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91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2" r:id="rId38"/>
    <p:sldId id="294" r:id="rId39"/>
    <p:sldId id="296" r:id="rId40"/>
    <p:sldId id="295" r:id="rId41"/>
    <p:sldId id="297" r:id="rId42"/>
    <p:sldId id="299" r:id="rId43"/>
    <p:sldId id="298" r:id="rId44"/>
    <p:sldId id="301" r:id="rId45"/>
    <p:sldId id="302" r:id="rId46"/>
    <p:sldId id="300" r:id="rId47"/>
    <p:sldId id="303" r:id="rId48"/>
    <p:sldId id="305" r:id="rId49"/>
    <p:sldId id="304" r:id="rId50"/>
    <p:sldId id="306" r:id="rId51"/>
    <p:sldId id="307" r:id="rId52"/>
    <p:sldId id="309" r:id="rId53"/>
    <p:sldId id="310" r:id="rId54"/>
    <p:sldId id="311" r:id="rId55"/>
    <p:sldId id="308" r:id="rId56"/>
    <p:sldId id="312" r:id="rId57"/>
    <p:sldId id="313" r:id="rId58"/>
    <p:sldId id="315" r:id="rId59"/>
    <p:sldId id="314" r:id="rId60"/>
    <p:sldId id="316" r:id="rId61"/>
    <p:sldId id="318" r:id="rId62"/>
    <p:sldId id="317" r:id="rId63"/>
    <p:sldId id="320" r:id="rId64"/>
    <p:sldId id="319" r:id="rId65"/>
    <p:sldId id="321" r:id="rId66"/>
    <p:sldId id="322" r:id="rId67"/>
    <p:sldId id="323" r:id="rId68"/>
    <p:sldId id="324" r:id="rId69"/>
  </p:sldIdLst>
  <p:sldSz cx="12192000" cy="6858000"/>
  <p:notesSz cx="12192000" cy="6858000"/>
  <p:custDataLst>
    <p:tags r:id="rId70"/>
  </p:custData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826" y="8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062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38562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38562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38562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07263" y="2002535"/>
            <a:ext cx="4776470" cy="4471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38562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627376" y="387095"/>
            <a:ext cx="4572000" cy="1687195"/>
          </a:xfrm>
          <a:custGeom>
            <a:avLst/>
            <a:gdLst/>
            <a:ahLst/>
            <a:cxnLst/>
            <a:rect l="l" t="t" r="r" b="b"/>
            <a:pathLst>
              <a:path w="4572000" h="1687195">
                <a:moveTo>
                  <a:pt x="4290822" y="0"/>
                </a:moveTo>
                <a:lnTo>
                  <a:pt x="0" y="0"/>
                </a:lnTo>
                <a:lnTo>
                  <a:pt x="0" y="1687067"/>
                </a:lnTo>
                <a:lnTo>
                  <a:pt x="4290822" y="1687067"/>
                </a:lnTo>
                <a:lnTo>
                  <a:pt x="4336437" y="1683388"/>
                </a:lnTo>
                <a:lnTo>
                  <a:pt x="4379707" y="1672736"/>
                </a:lnTo>
                <a:lnTo>
                  <a:pt x="4420053" y="1655689"/>
                </a:lnTo>
                <a:lnTo>
                  <a:pt x="4456895" y="1632825"/>
                </a:lnTo>
                <a:lnTo>
                  <a:pt x="4489656" y="1604724"/>
                </a:lnTo>
                <a:lnTo>
                  <a:pt x="4517757" y="1571963"/>
                </a:lnTo>
                <a:lnTo>
                  <a:pt x="4540621" y="1535121"/>
                </a:lnTo>
                <a:lnTo>
                  <a:pt x="4557668" y="1494775"/>
                </a:lnTo>
                <a:lnTo>
                  <a:pt x="4568320" y="1451505"/>
                </a:lnTo>
                <a:lnTo>
                  <a:pt x="4572000" y="1405889"/>
                </a:lnTo>
                <a:lnTo>
                  <a:pt x="4572000" y="281177"/>
                </a:lnTo>
                <a:lnTo>
                  <a:pt x="4568320" y="235562"/>
                </a:lnTo>
                <a:lnTo>
                  <a:pt x="4557668" y="192292"/>
                </a:lnTo>
                <a:lnTo>
                  <a:pt x="4540621" y="151946"/>
                </a:lnTo>
                <a:lnTo>
                  <a:pt x="4517757" y="115104"/>
                </a:lnTo>
                <a:lnTo>
                  <a:pt x="4489656" y="82343"/>
                </a:lnTo>
                <a:lnTo>
                  <a:pt x="4456895" y="54242"/>
                </a:lnTo>
                <a:lnTo>
                  <a:pt x="4420053" y="31378"/>
                </a:lnTo>
                <a:lnTo>
                  <a:pt x="4379707" y="14331"/>
                </a:lnTo>
                <a:lnTo>
                  <a:pt x="4336437" y="3679"/>
                </a:lnTo>
                <a:lnTo>
                  <a:pt x="4290822" y="0"/>
                </a:lnTo>
                <a:close/>
              </a:path>
            </a:pathLst>
          </a:custGeom>
          <a:solidFill>
            <a:srgbClr val="CFD4EA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627376" y="387095"/>
            <a:ext cx="4572000" cy="1687195"/>
          </a:xfrm>
          <a:custGeom>
            <a:avLst/>
            <a:gdLst/>
            <a:ahLst/>
            <a:cxnLst/>
            <a:rect l="l" t="t" r="r" b="b"/>
            <a:pathLst>
              <a:path w="4572000" h="1687195">
                <a:moveTo>
                  <a:pt x="4572000" y="281177"/>
                </a:moveTo>
                <a:lnTo>
                  <a:pt x="4572000" y="1405889"/>
                </a:lnTo>
                <a:lnTo>
                  <a:pt x="4568320" y="1451505"/>
                </a:lnTo>
                <a:lnTo>
                  <a:pt x="4557668" y="1494775"/>
                </a:lnTo>
                <a:lnTo>
                  <a:pt x="4540621" y="1535121"/>
                </a:lnTo>
                <a:lnTo>
                  <a:pt x="4517757" y="1571963"/>
                </a:lnTo>
                <a:lnTo>
                  <a:pt x="4489656" y="1604724"/>
                </a:lnTo>
                <a:lnTo>
                  <a:pt x="4456895" y="1632825"/>
                </a:lnTo>
                <a:lnTo>
                  <a:pt x="4420053" y="1655689"/>
                </a:lnTo>
                <a:lnTo>
                  <a:pt x="4379707" y="1672736"/>
                </a:lnTo>
                <a:lnTo>
                  <a:pt x="4336437" y="1683388"/>
                </a:lnTo>
                <a:lnTo>
                  <a:pt x="4290822" y="1687067"/>
                </a:lnTo>
                <a:lnTo>
                  <a:pt x="0" y="1687067"/>
                </a:lnTo>
                <a:lnTo>
                  <a:pt x="0" y="0"/>
                </a:lnTo>
                <a:lnTo>
                  <a:pt x="4290822" y="0"/>
                </a:lnTo>
                <a:lnTo>
                  <a:pt x="4336437" y="3679"/>
                </a:lnTo>
                <a:lnTo>
                  <a:pt x="4379707" y="14331"/>
                </a:lnTo>
                <a:lnTo>
                  <a:pt x="4420053" y="31378"/>
                </a:lnTo>
                <a:lnTo>
                  <a:pt x="4456895" y="54242"/>
                </a:lnTo>
                <a:lnTo>
                  <a:pt x="4489656" y="82343"/>
                </a:lnTo>
                <a:lnTo>
                  <a:pt x="4517757" y="115104"/>
                </a:lnTo>
                <a:lnTo>
                  <a:pt x="4540621" y="151946"/>
                </a:lnTo>
                <a:lnTo>
                  <a:pt x="4557668" y="192292"/>
                </a:lnTo>
                <a:lnTo>
                  <a:pt x="4568320" y="235562"/>
                </a:lnTo>
                <a:lnTo>
                  <a:pt x="4572000" y="281177"/>
                </a:lnTo>
                <a:close/>
              </a:path>
            </a:pathLst>
          </a:custGeom>
          <a:ln w="12700">
            <a:solidFill>
              <a:srgbClr val="CFD4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17272"/>
            <a:ext cx="12034520" cy="1300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38562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944065"/>
            <a:ext cx="9797415" cy="42094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mailto:Nouha.farhat15@gmail.com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49244" y="1855978"/>
            <a:ext cx="523303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36700" algn="l"/>
              </a:tabLst>
            </a:pPr>
            <a:r>
              <a:rPr sz="6000" spc="-25" dirty="0">
                <a:solidFill>
                  <a:srgbClr val="44536A"/>
                </a:solidFill>
              </a:rPr>
              <a:t>Les</a:t>
            </a:r>
            <a:r>
              <a:rPr sz="6000" dirty="0">
                <a:solidFill>
                  <a:srgbClr val="44536A"/>
                </a:solidFill>
              </a:rPr>
              <a:t>	</a:t>
            </a:r>
            <a:r>
              <a:rPr sz="6000" spc="-10" dirty="0">
                <a:solidFill>
                  <a:srgbClr val="44536A"/>
                </a:solidFill>
              </a:rPr>
              <a:t>céphalées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152400" y="4495800"/>
            <a:ext cx="10896600" cy="15177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47595" marR="2332355" indent="873125">
              <a:lnSpc>
                <a:spcPct val="119800"/>
              </a:lnSpc>
              <a:spcBef>
                <a:spcPts val="95"/>
              </a:spcBef>
            </a:pPr>
            <a:r>
              <a:rPr sz="2000" spc="-65" dirty="0">
                <a:latin typeface="Arial MT"/>
                <a:cs typeface="Arial MT"/>
              </a:rPr>
              <a:t>Pr.</a:t>
            </a:r>
            <a:r>
              <a:rPr sz="2000" spc="-1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Nouha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5" dirty="0">
                <a:latin typeface="Arial MT"/>
                <a:cs typeface="Arial MT"/>
              </a:rPr>
              <a:t>FARHAT</a:t>
            </a:r>
            <a:r>
              <a:rPr lang="fr-FR" sz="2000" spc="-55" dirty="0">
                <a:latin typeface="Arial MT"/>
                <a:cs typeface="Arial MT"/>
              </a:rPr>
              <a:t>, Pr Ag </a:t>
            </a:r>
            <a:r>
              <a:rPr lang="fr-FR" sz="2000" spc="-55" dirty="0" err="1">
                <a:latin typeface="Arial MT"/>
                <a:cs typeface="Arial MT"/>
              </a:rPr>
              <a:t>Sawsan</a:t>
            </a:r>
            <a:r>
              <a:rPr lang="fr-FR" sz="2000" spc="-55" dirty="0">
                <a:latin typeface="Arial MT"/>
                <a:cs typeface="Arial MT"/>
              </a:rPr>
              <a:t> DAOUD </a:t>
            </a:r>
            <a:endParaRPr sz="2000" dirty="0">
              <a:latin typeface="Arial MT"/>
              <a:cs typeface="Arial MT"/>
            </a:endParaRPr>
          </a:p>
          <a:p>
            <a:pPr marL="12700" marR="5080" algn="ctr">
              <a:lnSpc>
                <a:spcPct val="119600"/>
              </a:lnSpc>
              <a:spcBef>
                <a:spcPts val="5"/>
              </a:spcBef>
            </a:pPr>
            <a:r>
              <a:rPr sz="2000" dirty="0">
                <a:latin typeface="Arial MT"/>
                <a:cs typeface="Arial MT"/>
              </a:rPr>
              <a:t>Service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Neurologie,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CHU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Habib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Bourguiba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Sfax </a:t>
            </a:r>
            <a:endParaRPr lang="fr-FR" sz="2000" spc="-20" dirty="0">
              <a:latin typeface="Arial MT"/>
              <a:cs typeface="Arial MT"/>
            </a:endParaRPr>
          </a:p>
          <a:p>
            <a:pPr marL="12700" marR="5080" algn="ctr">
              <a:lnSpc>
                <a:spcPct val="119600"/>
              </a:lnSpc>
              <a:spcBef>
                <a:spcPts val="5"/>
              </a:spcBef>
            </a:pPr>
            <a:r>
              <a:rPr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2"/>
              </a:rPr>
              <a:t>nouha.farhat15@gmail.com</a:t>
            </a:r>
            <a:endParaRPr sz="2000" dirty="0">
              <a:latin typeface="Arial MT"/>
              <a:cs typeface="Arial MT"/>
            </a:endParaRPr>
          </a:p>
          <a:p>
            <a:pPr marL="5715" algn="ctr">
              <a:lnSpc>
                <a:spcPct val="100000"/>
              </a:lnSpc>
              <a:spcBef>
                <a:spcPts val="675"/>
              </a:spcBef>
            </a:pPr>
            <a:r>
              <a:rPr sz="2000" dirty="0">
                <a:latin typeface="Arial MT"/>
                <a:cs typeface="Arial MT"/>
              </a:rPr>
              <a:t>Année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universitaire: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202</a:t>
            </a:r>
            <a:r>
              <a:rPr lang="fr-FR" sz="2000" spc="-10" dirty="0">
                <a:latin typeface="Arial MT"/>
                <a:cs typeface="Arial MT"/>
              </a:rPr>
              <a:t>4</a:t>
            </a:r>
            <a:r>
              <a:rPr sz="2000" spc="-10" dirty="0">
                <a:latin typeface="Arial MT"/>
                <a:cs typeface="Arial MT"/>
              </a:rPr>
              <a:t>-</a:t>
            </a:r>
            <a:r>
              <a:rPr sz="2000" spc="-20" dirty="0">
                <a:latin typeface="Arial MT"/>
                <a:cs typeface="Arial MT"/>
              </a:rPr>
              <a:t>202</a:t>
            </a:r>
            <a:r>
              <a:rPr lang="fr-FR" sz="2000" spc="-20" dirty="0">
                <a:latin typeface="Arial MT"/>
                <a:cs typeface="Arial MT"/>
              </a:rPr>
              <a:t>5</a:t>
            </a:r>
            <a:endParaRPr sz="20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76200"/>
            <a:ext cx="2057399" cy="20495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855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solidFill>
                  <a:srgbClr val="001F5F"/>
                </a:solidFill>
              </a:rPr>
              <a:t>Objectifs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5512" y="1723618"/>
            <a:ext cx="10379710" cy="473783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81000" indent="-368300">
              <a:lnSpc>
                <a:spcPct val="100000"/>
              </a:lnSpc>
              <a:spcBef>
                <a:spcPts val="785"/>
              </a:spcBef>
              <a:buAutoNum type="arabicPeriod"/>
              <a:tabLst>
                <a:tab pos="381000" algn="l"/>
              </a:tabLst>
            </a:pPr>
            <a:r>
              <a:rPr sz="2600" b="1" dirty="0">
                <a:solidFill>
                  <a:schemeClr val="accent6">
                    <a:lumMod val="75000"/>
                  </a:schemeClr>
                </a:solidFill>
                <a:latin typeface="Arial MT"/>
                <a:cs typeface="Arial MT"/>
              </a:rPr>
              <a:t>Expliquer</a:t>
            </a:r>
            <a:r>
              <a:rPr sz="2600" b="1" spc="-40" dirty="0">
                <a:solidFill>
                  <a:schemeClr val="accent6">
                    <a:lumMod val="75000"/>
                  </a:schemeClr>
                </a:solidFill>
                <a:latin typeface="Arial MT"/>
                <a:cs typeface="Arial MT"/>
              </a:rPr>
              <a:t> </a:t>
            </a:r>
            <a:r>
              <a:rPr sz="2600" b="1" dirty="0">
                <a:solidFill>
                  <a:schemeClr val="accent6">
                    <a:lumMod val="75000"/>
                  </a:schemeClr>
                </a:solidFill>
                <a:latin typeface="Arial MT"/>
                <a:cs typeface="Arial MT"/>
              </a:rPr>
              <a:t>la</a:t>
            </a:r>
            <a:r>
              <a:rPr sz="2600" b="1" spc="-15" dirty="0">
                <a:solidFill>
                  <a:schemeClr val="accent6">
                    <a:lumMod val="75000"/>
                  </a:schemeClr>
                </a:solidFill>
                <a:latin typeface="Arial MT"/>
                <a:cs typeface="Arial MT"/>
              </a:rPr>
              <a:t> </a:t>
            </a:r>
            <a:r>
              <a:rPr sz="2600" b="1" spc="-10" dirty="0">
                <a:solidFill>
                  <a:schemeClr val="accent6">
                    <a:lumMod val="75000"/>
                  </a:schemeClr>
                </a:solidFill>
                <a:latin typeface="Arial MT"/>
                <a:cs typeface="Arial MT"/>
              </a:rPr>
              <a:t>physiopathologie</a:t>
            </a:r>
            <a:r>
              <a:rPr sz="2600" b="1" spc="-40" dirty="0">
                <a:solidFill>
                  <a:schemeClr val="accent6">
                    <a:lumMod val="75000"/>
                  </a:schemeClr>
                </a:solidFill>
                <a:latin typeface="Arial MT"/>
                <a:cs typeface="Arial MT"/>
              </a:rPr>
              <a:t> </a:t>
            </a:r>
            <a:r>
              <a:rPr sz="2600" b="1" dirty="0">
                <a:solidFill>
                  <a:schemeClr val="accent6">
                    <a:lumMod val="75000"/>
                  </a:schemeClr>
                </a:solidFill>
                <a:latin typeface="Arial MT"/>
                <a:cs typeface="Arial MT"/>
              </a:rPr>
              <a:t>de</a:t>
            </a:r>
            <a:r>
              <a:rPr sz="2600" b="1" spc="-10" dirty="0">
                <a:solidFill>
                  <a:schemeClr val="accent6">
                    <a:lumMod val="75000"/>
                  </a:schemeClr>
                </a:solidFill>
                <a:latin typeface="Arial MT"/>
                <a:cs typeface="Arial MT"/>
              </a:rPr>
              <a:t> </a:t>
            </a:r>
            <a:r>
              <a:rPr sz="2600" b="1" dirty="0">
                <a:solidFill>
                  <a:schemeClr val="accent6">
                    <a:lumMod val="75000"/>
                  </a:schemeClr>
                </a:solidFill>
                <a:latin typeface="Arial MT"/>
                <a:cs typeface="Arial MT"/>
              </a:rPr>
              <a:t>la</a:t>
            </a:r>
            <a:r>
              <a:rPr sz="2600" b="1" spc="-15" dirty="0">
                <a:solidFill>
                  <a:schemeClr val="accent6">
                    <a:lumMod val="75000"/>
                  </a:schemeClr>
                </a:solidFill>
                <a:latin typeface="Arial MT"/>
                <a:cs typeface="Arial MT"/>
              </a:rPr>
              <a:t> </a:t>
            </a:r>
            <a:r>
              <a:rPr sz="2600" b="1" spc="-10" dirty="0">
                <a:solidFill>
                  <a:schemeClr val="accent6">
                    <a:lumMod val="75000"/>
                  </a:schemeClr>
                </a:solidFill>
                <a:latin typeface="Arial MT"/>
                <a:cs typeface="Arial MT"/>
              </a:rPr>
              <a:t>migraine</a:t>
            </a:r>
            <a:r>
              <a:rPr sz="2600" spc="-10" dirty="0">
                <a:solidFill>
                  <a:schemeClr val="accent6">
                    <a:lumMod val="75000"/>
                  </a:schemeClr>
                </a:solidFill>
                <a:latin typeface="Arial MT"/>
                <a:cs typeface="Arial MT"/>
              </a:rPr>
              <a:t>.</a:t>
            </a:r>
            <a:endParaRPr sz="2600" dirty="0">
              <a:solidFill>
                <a:schemeClr val="accent6">
                  <a:lumMod val="75000"/>
                </a:schemeClr>
              </a:solidFill>
              <a:latin typeface="Arial MT"/>
              <a:cs typeface="Arial MT"/>
            </a:endParaRPr>
          </a:p>
          <a:p>
            <a:pPr marL="12700" marR="828675" indent="368300">
              <a:lnSpc>
                <a:spcPts val="2810"/>
              </a:lnSpc>
              <a:spcBef>
                <a:spcPts val="1040"/>
              </a:spcBef>
              <a:buAutoNum type="arabicPeriod"/>
              <a:tabLst>
                <a:tab pos="381000" algn="l"/>
              </a:tabLst>
            </a:pPr>
            <a:r>
              <a:rPr sz="2600" dirty="0">
                <a:latin typeface="Arial MT"/>
                <a:cs typeface="Arial MT"/>
              </a:rPr>
              <a:t>Etablir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la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démarche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diagnostique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(positive,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différentielle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et </a:t>
            </a:r>
            <a:r>
              <a:rPr sz="2600" spc="-10" dirty="0">
                <a:latin typeface="Arial MT"/>
                <a:cs typeface="Arial MT"/>
              </a:rPr>
              <a:t>étiologique)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devant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une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 err="1">
                <a:latin typeface="Arial MT"/>
                <a:cs typeface="Arial MT"/>
              </a:rPr>
              <a:t>céphalée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lang="fr-FR" sz="2600" b="1" spc="-60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récente</a:t>
            </a:r>
            <a:r>
              <a:rPr sz="2600" b="1" spc="-55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primaire</a:t>
            </a:r>
            <a:r>
              <a:rPr sz="2600" b="1" spc="-40" dirty="0">
                <a:latin typeface="Arial"/>
                <a:cs typeface="Arial"/>
              </a:rPr>
              <a:t> </a:t>
            </a:r>
            <a:r>
              <a:rPr sz="2600" dirty="0">
                <a:latin typeface="Arial MT"/>
                <a:cs typeface="Arial MT"/>
              </a:rPr>
              <a:t>et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b="1" spc="-10" dirty="0">
                <a:latin typeface="Arial"/>
                <a:cs typeface="Arial"/>
              </a:rPr>
              <a:t>secondaire</a:t>
            </a:r>
            <a:r>
              <a:rPr sz="2600" spc="-10" dirty="0">
                <a:latin typeface="Arial MT"/>
                <a:cs typeface="Arial MT"/>
              </a:rPr>
              <a:t>.</a:t>
            </a:r>
            <a:endParaRPr sz="2600" dirty="0">
              <a:latin typeface="Arial MT"/>
              <a:cs typeface="Arial MT"/>
            </a:endParaRPr>
          </a:p>
          <a:p>
            <a:pPr marL="12700" marR="184785" indent="368300">
              <a:lnSpc>
                <a:spcPts val="2810"/>
              </a:lnSpc>
              <a:spcBef>
                <a:spcPts val="990"/>
              </a:spcBef>
              <a:buAutoNum type="arabicPeriod"/>
              <a:tabLst>
                <a:tab pos="381000" algn="l"/>
              </a:tabLst>
            </a:pPr>
            <a:r>
              <a:rPr sz="2600" dirty="0">
                <a:latin typeface="Arial MT"/>
                <a:cs typeface="Arial MT"/>
              </a:rPr>
              <a:t>Etablir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la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démarche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diagnostique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(positive,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différentielle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et </a:t>
            </a:r>
            <a:r>
              <a:rPr sz="2600" dirty="0">
                <a:latin typeface="Arial MT"/>
                <a:cs typeface="Arial MT"/>
              </a:rPr>
              <a:t>étiologique)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devant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une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céphalée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b="1" dirty="0">
                <a:solidFill>
                  <a:srgbClr val="7030A0"/>
                </a:solidFill>
                <a:latin typeface="Arial"/>
                <a:cs typeface="Arial"/>
              </a:rPr>
              <a:t>chronique</a:t>
            </a:r>
            <a:r>
              <a:rPr sz="2600" b="1" spc="-55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primaire</a:t>
            </a:r>
            <a:r>
              <a:rPr sz="2600" b="1" spc="-45" dirty="0">
                <a:latin typeface="Arial"/>
                <a:cs typeface="Arial"/>
              </a:rPr>
              <a:t> </a:t>
            </a:r>
            <a:r>
              <a:rPr sz="2600" dirty="0">
                <a:latin typeface="Arial MT"/>
                <a:cs typeface="Arial MT"/>
              </a:rPr>
              <a:t>et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b="1" spc="-10" dirty="0">
                <a:latin typeface="Arial"/>
                <a:cs typeface="Arial"/>
              </a:rPr>
              <a:t>secondaire</a:t>
            </a:r>
            <a:endParaRPr sz="2600" dirty="0">
              <a:latin typeface="Arial"/>
              <a:cs typeface="Arial"/>
            </a:endParaRPr>
          </a:p>
          <a:p>
            <a:pPr marL="381000" indent="-368300">
              <a:lnSpc>
                <a:spcPct val="100000"/>
              </a:lnSpc>
              <a:spcBef>
                <a:spcPts val="655"/>
              </a:spcBef>
              <a:buAutoNum type="arabicPeriod"/>
              <a:tabLst>
                <a:tab pos="381000" algn="l"/>
              </a:tabLst>
            </a:pPr>
            <a:r>
              <a:rPr sz="2600" dirty="0">
                <a:latin typeface="Arial MT"/>
                <a:cs typeface="Arial MT"/>
              </a:rPr>
              <a:t>Poser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diagnostic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d’une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b="1" dirty="0">
                <a:latin typeface="Arial"/>
                <a:cs typeface="Arial"/>
              </a:rPr>
              <a:t>urgence</a:t>
            </a:r>
            <a:r>
              <a:rPr sz="2600" b="1" spc="-60" dirty="0">
                <a:latin typeface="Arial"/>
                <a:cs typeface="Arial"/>
              </a:rPr>
              <a:t> </a:t>
            </a:r>
            <a:r>
              <a:rPr sz="2600" dirty="0">
                <a:latin typeface="Arial MT"/>
                <a:cs typeface="Arial MT"/>
              </a:rPr>
              <a:t>devant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des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céphalées</a:t>
            </a:r>
            <a:endParaRPr sz="2600" dirty="0">
              <a:latin typeface="Arial MT"/>
              <a:cs typeface="Arial MT"/>
            </a:endParaRPr>
          </a:p>
          <a:p>
            <a:pPr marL="381000" indent="-368300">
              <a:lnSpc>
                <a:spcPct val="100000"/>
              </a:lnSpc>
              <a:spcBef>
                <a:spcPts val="685"/>
              </a:spcBef>
              <a:buAutoNum type="arabicPeriod"/>
              <a:tabLst>
                <a:tab pos="381000" algn="l"/>
              </a:tabLst>
            </a:pPr>
            <a:r>
              <a:rPr sz="2600" dirty="0">
                <a:latin typeface="Arial MT"/>
                <a:cs typeface="Arial MT"/>
              </a:rPr>
              <a:t>Etablir,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à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partir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des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données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cliniques,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le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diagnostic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d’une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b="1" spc="-10" dirty="0">
                <a:latin typeface="Arial"/>
                <a:cs typeface="Arial"/>
              </a:rPr>
              <a:t>migraine</a:t>
            </a:r>
            <a:r>
              <a:rPr sz="2600" spc="-10" dirty="0">
                <a:latin typeface="Arial MT"/>
                <a:cs typeface="Arial MT"/>
              </a:rPr>
              <a:t>.</a:t>
            </a:r>
            <a:endParaRPr sz="2600" dirty="0">
              <a:latin typeface="Arial MT"/>
              <a:cs typeface="Arial MT"/>
            </a:endParaRPr>
          </a:p>
          <a:p>
            <a:pPr marL="12700" marR="133350" indent="368300">
              <a:lnSpc>
                <a:spcPts val="2810"/>
              </a:lnSpc>
              <a:spcBef>
                <a:spcPts val="1040"/>
              </a:spcBef>
              <a:buAutoNum type="arabicPeriod"/>
              <a:tabLst>
                <a:tab pos="381000" algn="l"/>
              </a:tabLst>
            </a:pPr>
            <a:r>
              <a:rPr sz="2600" dirty="0">
                <a:latin typeface="Arial MT"/>
                <a:cs typeface="Arial MT"/>
              </a:rPr>
              <a:t>Etablir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à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partir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des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données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cliniques,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diagnostic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d’une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b="1" spc="-10" dirty="0">
                <a:latin typeface="Arial"/>
                <a:cs typeface="Arial"/>
              </a:rPr>
              <a:t>céphalée </a:t>
            </a:r>
            <a:r>
              <a:rPr sz="2600" b="1" dirty="0">
                <a:latin typeface="Arial"/>
                <a:cs typeface="Arial"/>
              </a:rPr>
              <a:t>de</a:t>
            </a:r>
            <a:r>
              <a:rPr sz="2600" b="1" spc="-45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tension</a:t>
            </a:r>
            <a:r>
              <a:rPr sz="2600" dirty="0">
                <a:latin typeface="Arial MT"/>
                <a:cs typeface="Arial MT"/>
              </a:rPr>
              <a:t>,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d’une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b="1" dirty="0">
                <a:latin typeface="Arial"/>
                <a:cs typeface="Arial"/>
              </a:rPr>
              <a:t>névralgie</a:t>
            </a:r>
            <a:r>
              <a:rPr sz="2600" b="1" spc="-55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du</a:t>
            </a:r>
            <a:r>
              <a:rPr sz="2600" b="1" spc="-55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trijumeau</a:t>
            </a:r>
            <a:r>
              <a:rPr sz="2600" b="1" spc="-25" dirty="0">
                <a:latin typeface="Arial"/>
                <a:cs typeface="Arial"/>
              </a:rPr>
              <a:t> </a:t>
            </a:r>
            <a:r>
              <a:rPr sz="2600" dirty="0">
                <a:latin typeface="Arial MT"/>
                <a:cs typeface="Arial MT"/>
              </a:rPr>
              <a:t>et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d’une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b="1" dirty="0">
                <a:latin typeface="Arial"/>
                <a:cs typeface="Arial"/>
              </a:rPr>
              <a:t>algie</a:t>
            </a:r>
            <a:r>
              <a:rPr sz="2600" b="1" spc="-45" dirty="0">
                <a:latin typeface="Arial"/>
                <a:cs typeface="Arial"/>
              </a:rPr>
              <a:t> </a:t>
            </a:r>
            <a:r>
              <a:rPr sz="2600" b="1" spc="-10" dirty="0">
                <a:latin typeface="Arial"/>
                <a:cs typeface="Arial"/>
              </a:rPr>
              <a:t>vasculaire </a:t>
            </a:r>
            <a:r>
              <a:rPr sz="2600" b="1" dirty="0">
                <a:latin typeface="Arial"/>
                <a:cs typeface="Arial"/>
              </a:rPr>
              <a:t>de</a:t>
            </a:r>
            <a:r>
              <a:rPr sz="2600" b="1" spc="-15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la</a:t>
            </a:r>
            <a:r>
              <a:rPr sz="2600" b="1" spc="-20" dirty="0">
                <a:latin typeface="Arial"/>
                <a:cs typeface="Arial"/>
              </a:rPr>
              <a:t> face</a:t>
            </a:r>
            <a:endParaRPr sz="2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198" y="624966"/>
            <a:ext cx="3742690" cy="145693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har char="•"/>
              <a:tabLst>
                <a:tab pos="240665" algn="l"/>
                <a:tab pos="1836420" algn="l"/>
              </a:tabLst>
            </a:pPr>
            <a:r>
              <a:rPr sz="2000" dirty="0">
                <a:latin typeface="Arial MT"/>
                <a:cs typeface="Arial MT"/>
              </a:rPr>
              <a:t>Maximale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en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	</a:t>
            </a:r>
            <a:r>
              <a:rPr lang="fr-FR" sz="2000" b="1" spc="-25" dirty="0">
                <a:solidFill>
                  <a:srgbClr val="C00000"/>
                </a:solidFill>
                <a:latin typeface="Arial"/>
                <a:cs typeface="Arial"/>
              </a:rPr>
              <a:t>moins 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1 </a:t>
            </a:r>
            <a:r>
              <a:rPr sz="2000" b="1" spc="-10" dirty="0">
                <a:solidFill>
                  <a:srgbClr val="C00000"/>
                </a:solidFill>
                <a:latin typeface="Arial"/>
                <a:cs typeface="Arial"/>
              </a:rPr>
              <a:t>heure</a:t>
            </a:r>
            <a:endParaRPr sz="2000" dirty="0">
              <a:latin typeface="Arial"/>
              <a:cs typeface="Arial"/>
            </a:endParaRPr>
          </a:p>
          <a:p>
            <a:pPr marL="241300" marR="5080" indent="-228600">
              <a:lnSpc>
                <a:spcPct val="86200"/>
              </a:lnSpc>
              <a:spcBef>
                <a:spcPts val="34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Coup</a:t>
            </a:r>
            <a:r>
              <a:rPr sz="20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de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tonnerre</a:t>
            </a:r>
            <a:r>
              <a:rPr sz="20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en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intensité </a:t>
            </a:r>
            <a:r>
              <a:rPr sz="2000" dirty="0">
                <a:latin typeface="Arial MT"/>
                <a:cs typeface="Arial MT"/>
              </a:rPr>
              <a:t>maximale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avec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EVA&gt;7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en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moins</a:t>
            </a:r>
            <a:r>
              <a:rPr sz="20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 err="1">
                <a:solidFill>
                  <a:srgbClr val="C00000"/>
                </a:solidFill>
                <a:latin typeface="Arial"/>
                <a:cs typeface="Arial"/>
              </a:rPr>
              <a:t>d’une</a:t>
            </a:r>
            <a:r>
              <a:rPr sz="20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Arial"/>
                <a:cs typeface="Arial"/>
              </a:rPr>
              <a:t>minute</a:t>
            </a:r>
            <a:endParaRPr lang="fr-FR" sz="2000" b="1" spc="-10" dirty="0">
              <a:solidFill>
                <a:srgbClr val="C00000"/>
              </a:solidFill>
              <a:latin typeface="Arial"/>
              <a:cs typeface="Arial"/>
            </a:endParaRPr>
          </a:p>
          <a:p>
            <a:pPr marL="241300" marR="5080" indent="-228600">
              <a:lnSpc>
                <a:spcPct val="86200"/>
              </a:lnSpc>
              <a:spcBef>
                <a:spcPts val="340"/>
              </a:spcBef>
              <a:buFont typeface="Arial MT"/>
              <a:buChar char="•"/>
              <a:tabLst>
                <a:tab pos="241300" algn="l"/>
              </a:tabLst>
            </a:pPr>
            <a:r>
              <a:rPr lang="fr-FR" sz="2000" b="1" spc="-10" dirty="0">
                <a:solidFill>
                  <a:srgbClr val="C00000"/>
                </a:solidFill>
                <a:latin typeface="Arial"/>
                <a:cs typeface="Arial"/>
              </a:rPr>
              <a:t>Faire attention aux urgences 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8513" y="168910"/>
            <a:ext cx="2585720" cy="2123440"/>
            <a:chOff x="48513" y="168910"/>
            <a:chExt cx="2585720" cy="2123440"/>
          </a:xfrm>
        </p:grpSpPr>
        <p:sp>
          <p:nvSpPr>
            <p:cNvPr id="4" name="object 4"/>
            <p:cNvSpPr/>
            <p:nvPr/>
          </p:nvSpPr>
          <p:spPr>
            <a:xfrm>
              <a:off x="54863" y="175260"/>
              <a:ext cx="2573020" cy="2110740"/>
            </a:xfrm>
            <a:custGeom>
              <a:avLst/>
              <a:gdLst/>
              <a:ahLst/>
              <a:cxnLst/>
              <a:rect l="l" t="t" r="r" b="b"/>
              <a:pathLst>
                <a:path w="2573020" h="2110740">
                  <a:moveTo>
                    <a:pt x="2220722" y="0"/>
                  </a:moveTo>
                  <a:lnTo>
                    <a:pt x="351790" y="0"/>
                  </a:lnTo>
                  <a:lnTo>
                    <a:pt x="304054" y="3211"/>
                  </a:lnTo>
                  <a:lnTo>
                    <a:pt x="258271" y="12564"/>
                  </a:lnTo>
                  <a:lnTo>
                    <a:pt x="214858" y="27642"/>
                  </a:lnTo>
                  <a:lnTo>
                    <a:pt x="174236" y="48024"/>
                  </a:lnTo>
                  <a:lnTo>
                    <a:pt x="136823" y="73293"/>
                  </a:lnTo>
                  <a:lnTo>
                    <a:pt x="103038" y="103028"/>
                  </a:lnTo>
                  <a:lnTo>
                    <a:pt x="73300" y="136812"/>
                  </a:lnTo>
                  <a:lnTo>
                    <a:pt x="48030" y="174225"/>
                  </a:lnTo>
                  <a:lnTo>
                    <a:pt x="27645" y="214848"/>
                  </a:lnTo>
                  <a:lnTo>
                    <a:pt x="12566" y="258262"/>
                  </a:lnTo>
                  <a:lnTo>
                    <a:pt x="3211" y="304049"/>
                  </a:lnTo>
                  <a:lnTo>
                    <a:pt x="0" y="351790"/>
                  </a:lnTo>
                  <a:lnTo>
                    <a:pt x="0" y="1758950"/>
                  </a:lnTo>
                  <a:lnTo>
                    <a:pt x="3211" y="1806690"/>
                  </a:lnTo>
                  <a:lnTo>
                    <a:pt x="12566" y="1852477"/>
                  </a:lnTo>
                  <a:lnTo>
                    <a:pt x="27645" y="1895891"/>
                  </a:lnTo>
                  <a:lnTo>
                    <a:pt x="48030" y="1936514"/>
                  </a:lnTo>
                  <a:lnTo>
                    <a:pt x="73300" y="1973927"/>
                  </a:lnTo>
                  <a:lnTo>
                    <a:pt x="103038" y="2007711"/>
                  </a:lnTo>
                  <a:lnTo>
                    <a:pt x="136823" y="2037446"/>
                  </a:lnTo>
                  <a:lnTo>
                    <a:pt x="174236" y="2062715"/>
                  </a:lnTo>
                  <a:lnTo>
                    <a:pt x="214858" y="2083097"/>
                  </a:lnTo>
                  <a:lnTo>
                    <a:pt x="258271" y="2098175"/>
                  </a:lnTo>
                  <a:lnTo>
                    <a:pt x="304054" y="2107528"/>
                  </a:lnTo>
                  <a:lnTo>
                    <a:pt x="351790" y="2110740"/>
                  </a:lnTo>
                  <a:lnTo>
                    <a:pt x="2220722" y="2110740"/>
                  </a:lnTo>
                  <a:lnTo>
                    <a:pt x="2268462" y="2107528"/>
                  </a:lnTo>
                  <a:lnTo>
                    <a:pt x="2314249" y="2098175"/>
                  </a:lnTo>
                  <a:lnTo>
                    <a:pt x="2357663" y="2083097"/>
                  </a:lnTo>
                  <a:lnTo>
                    <a:pt x="2398286" y="2062715"/>
                  </a:lnTo>
                  <a:lnTo>
                    <a:pt x="2435699" y="2037446"/>
                  </a:lnTo>
                  <a:lnTo>
                    <a:pt x="2469483" y="2007711"/>
                  </a:lnTo>
                  <a:lnTo>
                    <a:pt x="2499218" y="1973927"/>
                  </a:lnTo>
                  <a:lnTo>
                    <a:pt x="2524487" y="1936514"/>
                  </a:lnTo>
                  <a:lnTo>
                    <a:pt x="2544869" y="1895891"/>
                  </a:lnTo>
                  <a:lnTo>
                    <a:pt x="2559947" y="1852477"/>
                  </a:lnTo>
                  <a:lnTo>
                    <a:pt x="2569300" y="1806690"/>
                  </a:lnTo>
                  <a:lnTo>
                    <a:pt x="2572512" y="1758950"/>
                  </a:lnTo>
                  <a:lnTo>
                    <a:pt x="2572512" y="351790"/>
                  </a:lnTo>
                  <a:lnTo>
                    <a:pt x="2569300" y="304049"/>
                  </a:lnTo>
                  <a:lnTo>
                    <a:pt x="2559947" y="258262"/>
                  </a:lnTo>
                  <a:lnTo>
                    <a:pt x="2544869" y="214848"/>
                  </a:lnTo>
                  <a:lnTo>
                    <a:pt x="2524487" y="174225"/>
                  </a:lnTo>
                  <a:lnTo>
                    <a:pt x="2499218" y="136812"/>
                  </a:lnTo>
                  <a:lnTo>
                    <a:pt x="2469483" y="103028"/>
                  </a:lnTo>
                  <a:lnTo>
                    <a:pt x="2435699" y="73293"/>
                  </a:lnTo>
                  <a:lnTo>
                    <a:pt x="2398286" y="48024"/>
                  </a:lnTo>
                  <a:lnTo>
                    <a:pt x="2357663" y="27642"/>
                  </a:lnTo>
                  <a:lnTo>
                    <a:pt x="2314249" y="12564"/>
                  </a:lnTo>
                  <a:lnTo>
                    <a:pt x="2268462" y="3211"/>
                  </a:lnTo>
                  <a:lnTo>
                    <a:pt x="222072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63" y="175260"/>
              <a:ext cx="2573020" cy="2110740"/>
            </a:xfrm>
            <a:custGeom>
              <a:avLst/>
              <a:gdLst/>
              <a:ahLst/>
              <a:cxnLst/>
              <a:rect l="l" t="t" r="r" b="b"/>
              <a:pathLst>
                <a:path w="2573020" h="2110740">
                  <a:moveTo>
                    <a:pt x="0" y="351790"/>
                  </a:moveTo>
                  <a:lnTo>
                    <a:pt x="3211" y="304049"/>
                  </a:lnTo>
                  <a:lnTo>
                    <a:pt x="12566" y="258262"/>
                  </a:lnTo>
                  <a:lnTo>
                    <a:pt x="27645" y="214848"/>
                  </a:lnTo>
                  <a:lnTo>
                    <a:pt x="48030" y="174225"/>
                  </a:lnTo>
                  <a:lnTo>
                    <a:pt x="73300" y="136812"/>
                  </a:lnTo>
                  <a:lnTo>
                    <a:pt x="103038" y="103028"/>
                  </a:lnTo>
                  <a:lnTo>
                    <a:pt x="136823" y="73293"/>
                  </a:lnTo>
                  <a:lnTo>
                    <a:pt x="174236" y="48024"/>
                  </a:lnTo>
                  <a:lnTo>
                    <a:pt x="214858" y="27642"/>
                  </a:lnTo>
                  <a:lnTo>
                    <a:pt x="258271" y="12564"/>
                  </a:lnTo>
                  <a:lnTo>
                    <a:pt x="304054" y="3211"/>
                  </a:lnTo>
                  <a:lnTo>
                    <a:pt x="351790" y="0"/>
                  </a:lnTo>
                  <a:lnTo>
                    <a:pt x="2220722" y="0"/>
                  </a:lnTo>
                  <a:lnTo>
                    <a:pt x="2268462" y="3211"/>
                  </a:lnTo>
                  <a:lnTo>
                    <a:pt x="2314249" y="12564"/>
                  </a:lnTo>
                  <a:lnTo>
                    <a:pt x="2357663" y="27642"/>
                  </a:lnTo>
                  <a:lnTo>
                    <a:pt x="2398286" y="48024"/>
                  </a:lnTo>
                  <a:lnTo>
                    <a:pt x="2435699" y="73293"/>
                  </a:lnTo>
                  <a:lnTo>
                    <a:pt x="2469483" y="103028"/>
                  </a:lnTo>
                  <a:lnTo>
                    <a:pt x="2499218" y="136812"/>
                  </a:lnTo>
                  <a:lnTo>
                    <a:pt x="2524487" y="174225"/>
                  </a:lnTo>
                  <a:lnTo>
                    <a:pt x="2544869" y="214848"/>
                  </a:lnTo>
                  <a:lnTo>
                    <a:pt x="2559947" y="258262"/>
                  </a:lnTo>
                  <a:lnTo>
                    <a:pt x="2569300" y="304049"/>
                  </a:lnTo>
                  <a:lnTo>
                    <a:pt x="2572512" y="351790"/>
                  </a:lnTo>
                  <a:lnTo>
                    <a:pt x="2572512" y="1758950"/>
                  </a:lnTo>
                  <a:lnTo>
                    <a:pt x="2569300" y="1806690"/>
                  </a:lnTo>
                  <a:lnTo>
                    <a:pt x="2559947" y="1852477"/>
                  </a:lnTo>
                  <a:lnTo>
                    <a:pt x="2544869" y="1895891"/>
                  </a:lnTo>
                  <a:lnTo>
                    <a:pt x="2524487" y="1936514"/>
                  </a:lnTo>
                  <a:lnTo>
                    <a:pt x="2499218" y="1973927"/>
                  </a:lnTo>
                  <a:lnTo>
                    <a:pt x="2469483" y="2007711"/>
                  </a:lnTo>
                  <a:lnTo>
                    <a:pt x="2435699" y="2037446"/>
                  </a:lnTo>
                  <a:lnTo>
                    <a:pt x="2398286" y="2062715"/>
                  </a:lnTo>
                  <a:lnTo>
                    <a:pt x="2357663" y="2083097"/>
                  </a:lnTo>
                  <a:lnTo>
                    <a:pt x="2314249" y="2098175"/>
                  </a:lnTo>
                  <a:lnTo>
                    <a:pt x="2268462" y="2107528"/>
                  </a:lnTo>
                  <a:lnTo>
                    <a:pt x="2220722" y="2110740"/>
                  </a:lnTo>
                  <a:lnTo>
                    <a:pt x="351790" y="2110740"/>
                  </a:lnTo>
                  <a:lnTo>
                    <a:pt x="304054" y="2107528"/>
                  </a:lnTo>
                  <a:lnTo>
                    <a:pt x="258271" y="2098175"/>
                  </a:lnTo>
                  <a:lnTo>
                    <a:pt x="214858" y="2083097"/>
                  </a:lnTo>
                  <a:lnTo>
                    <a:pt x="174236" y="2062715"/>
                  </a:lnTo>
                  <a:lnTo>
                    <a:pt x="136823" y="2037446"/>
                  </a:lnTo>
                  <a:lnTo>
                    <a:pt x="103038" y="2007711"/>
                  </a:lnTo>
                  <a:lnTo>
                    <a:pt x="73300" y="1973927"/>
                  </a:lnTo>
                  <a:lnTo>
                    <a:pt x="48030" y="1936514"/>
                  </a:lnTo>
                  <a:lnTo>
                    <a:pt x="27645" y="1895891"/>
                  </a:lnTo>
                  <a:lnTo>
                    <a:pt x="12566" y="1852477"/>
                  </a:lnTo>
                  <a:lnTo>
                    <a:pt x="3211" y="1806690"/>
                  </a:lnTo>
                  <a:lnTo>
                    <a:pt x="0" y="1758950"/>
                  </a:lnTo>
                  <a:lnTo>
                    <a:pt x="0" y="35179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68807" y="953515"/>
            <a:ext cx="1144270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b="1" spc="-10" dirty="0">
                <a:solidFill>
                  <a:srgbClr val="FFFFFF"/>
                </a:solidFill>
                <a:latin typeface="Calibri"/>
                <a:cs typeface="Calibri"/>
              </a:rPr>
              <a:t>Brutale</a:t>
            </a:r>
            <a:endParaRPr sz="29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621026" y="2596642"/>
            <a:ext cx="4584700" cy="1699895"/>
            <a:chOff x="2621026" y="2596642"/>
            <a:chExt cx="4584700" cy="1699895"/>
          </a:xfrm>
        </p:grpSpPr>
        <p:sp>
          <p:nvSpPr>
            <p:cNvPr id="8" name="object 8"/>
            <p:cNvSpPr/>
            <p:nvPr/>
          </p:nvSpPr>
          <p:spPr>
            <a:xfrm>
              <a:off x="2627376" y="2602992"/>
              <a:ext cx="4572000" cy="1687195"/>
            </a:xfrm>
            <a:custGeom>
              <a:avLst/>
              <a:gdLst/>
              <a:ahLst/>
              <a:cxnLst/>
              <a:rect l="l" t="t" r="r" b="b"/>
              <a:pathLst>
                <a:path w="4572000" h="1687195">
                  <a:moveTo>
                    <a:pt x="4290822" y="0"/>
                  </a:moveTo>
                  <a:lnTo>
                    <a:pt x="0" y="0"/>
                  </a:lnTo>
                  <a:lnTo>
                    <a:pt x="0" y="1687068"/>
                  </a:lnTo>
                  <a:lnTo>
                    <a:pt x="4290822" y="1687068"/>
                  </a:lnTo>
                  <a:lnTo>
                    <a:pt x="4336437" y="1683388"/>
                  </a:lnTo>
                  <a:lnTo>
                    <a:pt x="4379707" y="1672736"/>
                  </a:lnTo>
                  <a:lnTo>
                    <a:pt x="4420053" y="1655689"/>
                  </a:lnTo>
                  <a:lnTo>
                    <a:pt x="4456895" y="1632825"/>
                  </a:lnTo>
                  <a:lnTo>
                    <a:pt x="4489656" y="1604724"/>
                  </a:lnTo>
                  <a:lnTo>
                    <a:pt x="4517757" y="1571963"/>
                  </a:lnTo>
                  <a:lnTo>
                    <a:pt x="4540621" y="1535121"/>
                  </a:lnTo>
                  <a:lnTo>
                    <a:pt x="4557668" y="1494775"/>
                  </a:lnTo>
                  <a:lnTo>
                    <a:pt x="4568320" y="1451505"/>
                  </a:lnTo>
                  <a:lnTo>
                    <a:pt x="4572000" y="1405890"/>
                  </a:lnTo>
                  <a:lnTo>
                    <a:pt x="4572000" y="281178"/>
                  </a:lnTo>
                  <a:lnTo>
                    <a:pt x="4568320" y="235562"/>
                  </a:lnTo>
                  <a:lnTo>
                    <a:pt x="4557668" y="192292"/>
                  </a:lnTo>
                  <a:lnTo>
                    <a:pt x="4540621" y="151946"/>
                  </a:lnTo>
                  <a:lnTo>
                    <a:pt x="4517757" y="115104"/>
                  </a:lnTo>
                  <a:lnTo>
                    <a:pt x="4489656" y="82343"/>
                  </a:lnTo>
                  <a:lnTo>
                    <a:pt x="4456895" y="54242"/>
                  </a:lnTo>
                  <a:lnTo>
                    <a:pt x="4420053" y="31378"/>
                  </a:lnTo>
                  <a:lnTo>
                    <a:pt x="4379707" y="14331"/>
                  </a:lnTo>
                  <a:lnTo>
                    <a:pt x="4336437" y="3679"/>
                  </a:lnTo>
                  <a:lnTo>
                    <a:pt x="4290822" y="0"/>
                  </a:lnTo>
                  <a:close/>
                </a:path>
              </a:pathLst>
            </a:custGeom>
            <a:solidFill>
              <a:srgbClr val="CFD4EA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27376" y="2602992"/>
              <a:ext cx="4572000" cy="1687195"/>
            </a:xfrm>
            <a:custGeom>
              <a:avLst/>
              <a:gdLst/>
              <a:ahLst/>
              <a:cxnLst/>
              <a:rect l="l" t="t" r="r" b="b"/>
              <a:pathLst>
                <a:path w="4572000" h="1687195">
                  <a:moveTo>
                    <a:pt x="4572000" y="281178"/>
                  </a:moveTo>
                  <a:lnTo>
                    <a:pt x="4572000" y="1405890"/>
                  </a:lnTo>
                  <a:lnTo>
                    <a:pt x="4568320" y="1451505"/>
                  </a:lnTo>
                  <a:lnTo>
                    <a:pt x="4557668" y="1494775"/>
                  </a:lnTo>
                  <a:lnTo>
                    <a:pt x="4540621" y="1535121"/>
                  </a:lnTo>
                  <a:lnTo>
                    <a:pt x="4517757" y="1571963"/>
                  </a:lnTo>
                  <a:lnTo>
                    <a:pt x="4489656" y="1604724"/>
                  </a:lnTo>
                  <a:lnTo>
                    <a:pt x="4456895" y="1632825"/>
                  </a:lnTo>
                  <a:lnTo>
                    <a:pt x="4420053" y="1655689"/>
                  </a:lnTo>
                  <a:lnTo>
                    <a:pt x="4379707" y="1672736"/>
                  </a:lnTo>
                  <a:lnTo>
                    <a:pt x="4336437" y="1683388"/>
                  </a:lnTo>
                  <a:lnTo>
                    <a:pt x="4290822" y="1687068"/>
                  </a:lnTo>
                  <a:lnTo>
                    <a:pt x="0" y="1687068"/>
                  </a:lnTo>
                  <a:lnTo>
                    <a:pt x="0" y="0"/>
                  </a:lnTo>
                  <a:lnTo>
                    <a:pt x="4290822" y="0"/>
                  </a:lnTo>
                  <a:lnTo>
                    <a:pt x="4336437" y="3679"/>
                  </a:lnTo>
                  <a:lnTo>
                    <a:pt x="4379707" y="14331"/>
                  </a:lnTo>
                  <a:lnTo>
                    <a:pt x="4420053" y="31378"/>
                  </a:lnTo>
                  <a:lnTo>
                    <a:pt x="4456895" y="54242"/>
                  </a:lnTo>
                  <a:lnTo>
                    <a:pt x="4489656" y="82343"/>
                  </a:lnTo>
                  <a:lnTo>
                    <a:pt x="4517757" y="115104"/>
                  </a:lnTo>
                  <a:lnTo>
                    <a:pt x="4540621" y="151946"/>
                  </a:lnTo>
                  <a:lnTo>
                    <a:pt x="4557668" y="192292"/>
                  </a:lnTo>
                  <a:lnTo>
                    <a:pt x="4568320" y="235562"/>
                  </a:lnTo>
                  <a:lnTo>
                    <a:pt x="4572000" y="281178"/>
                  </a:lnTo>
                  <a:close/>
                </a:path>
              </a:pathLst>
            </a:custGeom>
            <a:ln w="12700">
              <a:solidFill>
                <a:srgbClr val="CFD4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034410" y="3257550"/>
            <a:ext cx="19062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105"/>
              </a:spcBef>
              <a:buChar char="•"/>
              <a:tabLst>
                <a:tab pos="182245" algn="l"/>
              </a:tabLst>
            </a:pPr>
            <a:r>
              <a:rPr sz="2000" dirty="0">
                <a:latin typeface="Arial MT"/>
                <a:cs typeface="Arial MT"/>
              </a:rPr>
              <a:t>Quelques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jours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513" y="2384805"/>
            <a:ext cx="2585720" cy="2123440"/>
            <a:chOff x="48513" y="2384805"/>
            <a:chExt cx="2585720" cy="2123440"/>
          </a:xfrm>
        </p:grpSpPr>
        <p:sp>
          <p:nvSpPr>
            <p:cNvPr id="12" name="object 12"/>
            <p:cNvSpPr/>
            <p:nvPr/>
          </p:nvSpPr>
          <p:spPr>
            <a:xfrm>
              <a:off x="54863" y="2391155"/>
              <a:ext cx="2573020" cy="2110740"/>
            </a:xfrm>
            <a:custGeom>
              <a:avLst/>
              <a:gdLst/>
              <a:ahLst/>
              <a:cxnLst/>
              <a:rect l="l" t="t" r="r" b="b"/>
              <a:pathLst>
                <a:path w="2573020" h="2110740">
                  <a:moveTo>
                    <a:pt x="2220722" y="0"/>
                  </a:moveTo>
                  <a:lnTo>
                    <a:pt x="351790" y="0"/>
                  </a:lnTo>
                  <a:lnTo>
                    <a:pt x="304054" y="3211"/>
                  </a:lnTo>
                  <a:lnTo>
                    <a:pt x="258271" y="12564"/>
                  </a:lnTo>
                  <a:lnTo>
                    <a:pt x="214858" y="27642"/>
                  </a:lnTo>
                  <a:lnTo>
                    <a:pt x="174236" y="48024"/>
                  </a:lnTo>
                  <a:lnTo>
                    <a:pt x="136823" y="73293"/>
                  </a:lnTo>
                  <a:lnTo>
                    <a:pt x="103038" y="103028"/>
                  </a:lnTo>
                  <a:lnTo>
                    <a:pt x="73300" y="136812"/>
                  </a:lnTo>
                  <a:lnTo>
                    <a:pt x="48030" y="174225"/>
                  </a:lnTo>
                  <a:lnTo>
                    <a:pt x="27645" y="214848"/>
                  </a:lnTo>
                  <a:lnTo>
                    <a:pt x="12566" y="258262"/>
                  </a:lnTo>
                  <a:lnTo>
                    <a:pt x="3211" y="304049"/>
                  </a:lnTo>
                  <a:lnTo>
                    <a:pt x="0" y="351790"/>
                  </a:lnTo>
                  <a:lnTo>
                    <a:pt x="0" y="1758950"/>
                  </a:lnTo>
                  <a:lnTo>
                    <a:pt x="3211" y="1806690"/>
                  </a:lnTo>
                  <a:lnTo>
                    <a:pt x="12566" y="1852477"/>
                  </a:lnTo>
                  <a:lnTo>
                    <a:pt x="27645" y="1895891"/>
                  </a:lnTo>
                  <a:lnTo>
                    <a:pt x="48030" y="1936514"/>
                  </a:lnTo>
                  <a:lnTo>
                    <a:pt x="73300" y="1973927"/>
                  </a:lnTo>
                  <a:lnTo>
                    <a:pt x="103038" y="2007711"/>
                  </a:lnTo>
                  <a:lnTo>
                    <a:pt x="136823" y="2037446"/>
                  </a:lnTo>
                  <a:lnTo>
                    <a:pt x="174236" y="2062715"/>
                  </a:lnTo>
                  <a:lnTo>
                    <a:pt x="214858" y="2083097"/>
                  </a:lnTo>
                  <a:lnTo>
                    <a:pt x="258271" y="2098175"/>
                  </a:lnTo>
                  <a:lnTo>
                    <a:pt x="304054" y="2107528"/>
                  </a:lnTo>
                  <a:lnTo>
                    <a:pt x="351790" y="2110740"/>
                  </a:lnTo>
                  <a:lnTo>
                    <a:pt x="2220722" y="2110740"/>
                  </a:lnTo>
                  <a:lnTo>
                    <a:pt x="2268462" y="2107528"/>
                  </a:lnTo>
                  <a:lnTo>
                    <a:pt x="2314249" y="2098175"/>
                  </a:lnTo>
                  <a:lnTo>
                    <a:pt x="2357663" y="2083097"/>
                  </a:lnTo>
                  <a:lnTo>
                    <a:pt x="2398286" y="2062715"/>
                  </a:lnTo>
                  <a:lnTo>
                    <a:pt x="2435699" y="2037446"/>
                  </a:lnTo>
                  <a:lnTo>
                    <a:pt x="2469483" y="2007711"/>
                  </a:lnTo>
                  <a:lnTo>
                    <a:pt x="2499218" y="1973927"/>
                  </a:lnTo>
                  <a:lnTo>
                    <a:pt x="2524487" y="1936514"/>
                  </a:lnTo>
                  <a:lnTo>
                    <a:pt x="2544869" y="1895891"/>
                  </a:lnTo>
                  <a:lnTo>
                    <a:pt x="2559947" y="1852477"/>
                  </a:lnTo>
                  <a:lnTo>
                    <a:pt x="2569300" y="1806690"/>
                  </a:lnTo>
                  <a:lnTo>
                    <a:pt x="2572512" y="1758950"/>
                  </a:lnTo>
                  <a:lnTo>
                    <a:pt x="2572512" y="351790"/>
                  </a:lnTo>
                  <a:lnTo>
                    <a:pt x="2569300" y="304049"/>
                  </a:lnTo>
                  <a:lnTo>
                    <a:pt x="2559947" y="258262"/>
                  </a:lnTo>
                  <a:lnTo>
                    <a:pt x="2544869" y="214848"/>
                  </a:lnTo>
                  <a:lnTo>
                    <a:pt x="2524487" y="174225"/>
                  </a:lnTo>
                  <a:lnTo>
                    <a:pt x="2499218" y="136812"/>
                  </a:lnTo>
                  <a:lnTo>
                    <a:pt x="2469483" y="103028"/>
                  </a:lnTo>
                  <a:lnTo>
                    <a:pt x="2435699" y="73293"/>
                  </a:lnTo>
                  <a:lnTo>
                    <a:pt x="2398286" y="48024"/>
                  </a:lnTo>
                  <a:lnTo>
                    <a:pt x="2357663" y="27642"/>
                  </a:lnTo>
                  <a:lnTo>
                    <a:pt x="2314249" y="12564"/>
                  </a:lnTo>
                  <a:lnTo>
                    <a:pt x="2268462" y="3211"/>
                  </a:lnTo>
                  <a:lnTo>
                    <a:pt x="222072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863" y="2391155"/>
              <a:ext cx="2573020" cy="2110740"/>
            </a:xfrm>
            <a:custGeom>
              <a:avLst/>
              <a:gdLst/>
              <a:ahLst/>
              <a:cxnLst/>
              <a:rect l="l" t="t" r="r" b="b"/>
              <a:pathLst>
                <a:path w="2573020" h="2110740">
                  <a:moveTo>
                    <a:pt x="0" y="351790"/>
                  </a:moveTo>
                  <a:lnTo>
                    <a:pt x="3211" y="304049"/>
                  </a:lnTo>
                  <a:lnTo>
                    <a:pt x="12566" y="258262"/>
                  </a:lnTo>
                  <a:lnTo>
                    <a:pt x="27645" y="214848"/>
                  </a:lnTo>
                  <a:lnTo>
                    <a:pt x="48030" y="174225"/>
                  </a:lnTo>
                  <a:lnTo>
                    <a:pt x="73300" y="136812"/>
                  </a:lnTo>
                  <a:lnTo>
                    <a:pt x="103038" y="103028"/>
                  </a:lnTo>
                  <a:lnTo>
                    <a:pt x="136823" y="73293"/>
                  </a:lnTo>
                  <a:lnTo>
                    <a:pt x="174236" y="48024"/>
                  </a:lnTo>
                  <a:lnTo>
                    <a:pt x="214858" y="27642"/>
                  </a:lnTo>
                  <a:lnTo>
                    <a:pt x="258271" y="12564"/>
                  </a:lnTo>
                  <a:lnTo>
                    <a:pt x="304054" y="3211"/>
                  </a:lnTo>
                  <a:lnTo>
                    <a:pt x="351790" y="0"/>
                  </a:lnTo>
                  <a:lnTo>
                    <a:pt x="2220722" y="0"/>
                  </a:lnTo>
                  <a:lnTo>
                    <a:pt x="2268462" y="3211"/>
                  </a:lnTo>
                  <a:lnTo>
                    <a:pt x="2314249" y="12564"/>
                  </a:lnTo>
                  <a:lnTo>
                    <a:pt x="2357663" y="27642"/>
                  </a:lnTo>
                  <a:lnTo>
                    <a:pt x="2398286" y="48024"/>
                  </a:lnTo>
                  <a:lnTo>
                    <a:pt x="2435699" y="73293"/>
                  </a:lnTo>
                  <a:lnTo>
                    <a:pt x="2469483" y="103028"/>
                  </a:lnTo>
                  <a:lnTo>
                    <a:pt x="2499218" y="136812"/>
                  </a:lnTo>
                  <a:lnTo>
                    <a:pt x="2524487" y="174225"/>
                  </a:lnTo>
                  <a:lnTo>
                    <a:pt x="2544869" y="214848"/>
                  </a:lnTo>
                  <a:lnTo>
                    <a:pt x="2559947" y="258262"/>
                  </a:lnTo>
                  <a:lnTo>
                    <a:pt x="2569300" y="304049"/>
                  </a:lnTo>
                  <a:lnTo>
                    <a:pt x="2572512" y="351790"/>
                  </a:lnTo>
                  <a:lnTo>
                    <a:pt x="2572512" y="1758950"/>
                  </a:lnTo>
                  <a:lnTo>
                    <a:pt x="2569300" y="1806690"/>
                  </a:lnTo>
                  <a:lnTo>
                    <a:pt x="2559947" y="1852477"/>
                  </a:lnTo>
                  <a:lnTo>
                    <a:pt x="2544869" y="1895891"/>
                  </a:lnTo>
                  <a:lnTo>
                    <a:pt x="2524487" y="1936514"/>
                  </a:lnTo>
                  <a:lnTo>
                    <a:pt x="2499218" y="1973927"/>
                  </a:lnTo>
                  <a:lnTo>
                    <a:pt x="2469483" y="2007711"/>
                  </a:lnTo>
                  <a:lnTo>
                    <a:pt x="2435699" y="2037446"/>
                  </a:lnTo>
                  <a:lnTo>
                    <a:pt x="2398286" y="2062715"/>
                  </a:lnTo>
                  <a:lnTo>
                    <a:pt x="2357663" y="2083097"/>
                  </a:lnTo>
                  <a:lnTo>
                    <a:pt x="2314249" y="2098175"/>
                  </a:lnTo>
                  <a:lnTo>
                    <a:pt x="2268462" y="2107528"/>
                  </a:lnTo>
                  <a:lnTo>
                    <a:pt x="2220722" y="2110740"/>
                  </a:lnTo>
                  <a:lnTo>
                    <a:pt x="351790" y="2110740"/>
                  </a:lnTo>
                  <a:lnTo>
                    <a:pt x="304054" y="2107528"/>
                  </a:lnTo>
                  <a:lnTo>
                    <a:pt x="258271" y="2098175"/>
                  </a:lnTo>
                  <a:lnTo>
                    <a:pt x="214858" y="2083097"/>
                  </a:lnTo>
                  <a:lnTo>
                    <a:pt x="174236" y="2062715"/>
                  </a:lnTo>
                  <a:lnTo>
                    <a:pt x="136823" y="2037446"/>
                  </a:lnTo>
                  <a:lnTo>
                    <a:pt x="103038" y="2007711"/>
                  </a:lnTo>
                  <a:lnTo>
                    <a:pt x="73300" y="1973927"/>
                  </a:lnTo>
                  <a:lnTo>
                    <a:pt x="48030" y="1936514"/>
                  </a:lnTo>
                  <a:lnTo>
                    <a:pt x="27645" y="1895891"/>
                  </a:lnTo>
                  <a:lnTo>
                    <a:pt x="12566" y="1852477"/>
                  </a:lnTo>
                  <a:lnTo>
                    <a:pt x="3211" y="1806690"/>
                  </a:lnTo>
                  <a:lnTo>
                    <a:pt x="0" y="1758950"/>
                  </a:lnTo>
                  <a:lnTo>
                    <a:pt x="0" y="35179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94843" y="2764612"/>
            <a:ext cx="2092325" cy="127825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 indent="259079">
              <a:lnSpc>
                <a:spcPct val="91600"/>
              </a:lnSpc>
              <a:spcBef>
                <a:spcPts val="395"/>
              </a:spcBef>
            </a:pPr>
            <a:r>
              <a:rPr sz="2900" b="1" spc="-10" dirty="0">
                <a:solidFill>
                  <a:srgbClr val="FFFFFF"/>
                </a:solidFill>
                <a:latin typeface="Calibri"/>
                <a:cs typeface="Calibri"/>
              </a:rPr>
              <a:t>Subaiguës </a:t>
            </a:r>
            <a:r>
              <a:rPr sz="2900" b="1" spc="-35" dirty="0">
                <a:solidFill>
                  <a:srgbClr val="FFFFFF"/>
                </a:solidFill>
                <a:latin typeface="Calibri"/>
                <a:cs typeface="Calibri"/>
              </a:rPr>
              <a:t>d’aggravation </a:t>
            </a:r>
            <a:r>
              <a:rPr sz="2900" b="1" spc="-10" dirty="0">
                <a:solidFill>
                  <a:srgbClr val="FFFFFF"/>
                </a:solidFill>
                <a:latin typeface="Calibri"/>
                <a:cs typeface="Calibri"/>
              </a:rPr>
              <a:t>progressive</a:t>
            </a:r>
            <a:endParaRPr sz="29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621026" y="4811014"/>
            <a:ext cx="4584700" cy="1701800"/>
            <a:chOff x="2621026" y="4811014"/>
            <a:chExt cx="4584700" cy="1701800"/>
          </a:xfrm>
        </p:grpSpPr>
        <p:sp>
          <p:nvSpPr>
            <p:cNvPr id="16" name="object 16"/>
            <p:cNvSpPr/>
            <p:nvPr/>
          </p:nvSpPr>
          <p:spPr>
            <a:xfrm>
              <a:off x="2627376" y="4817364"/>
              <a:ext cx="4572000" cy="1689100"/>
            </a:xfrm>
            <a:custGeom>
              <a:avLst/>
              <a:gdLst/>
              <a:ahLst/>
              <a:cxnLst/>
              <a:rect l="l" t="t" r="r" b="b"/>
              <a:pathLst>
                <a:path w="4572000" h="1689100">
                  <a:moveTo>
                    <a:pt x="4290568" y="0"/>
                  </a:moveTo>
                  <a:lnTo>
                    <a:pt x="0" y="0"/>
                  </a:lnTo>
                  <a:lnTo>
                    <a:pt x="0" y="1688592"/>
                  </a:lnTo>
                  <a:lnTo>
                    <a:pt x="4290568" y="1688592"/>
                  </a:lnTo>
                  <a:lnTo>
                    <a:pt x="4336221" y="1684908"/>
                  </a:lnTo>
                  <a:lnTo>
                    <a:pt x="4379528" y="1674243"/>
                  </a:lnTo>
                  <a:lnTo>
                    <a:pt x="4419909" y="1657177"/>
                  </a:lnTo>
                  <a:lnTo>
                    <a:pt x="4456785" y="1634289"/>
                  </a:lnTo>
                  <a:lnTo>
                    <a:pt x="4489577" y="1606159"/>
                  </a:lnTo>
                  <a:lnTo>
                    <a:pt x="4517704" y="1573366"/>
                  </a:lnTo>
                  <a:lnTo>
                    <a:pt x="4540590" y="1536490"/>
                  </a:lnTo>
                  <a:lnTo>
                    <a:pt x="4557654" y="1496111"/>
                  </a:lnTo>
                  <a:lnTo>
                    <a:pt x="4568317" y="1452807"/>
                  </a:lnTo>
                  <a:lnTo>
                    <a:pt x="4572000" y="1407160"/>
                  </a:lnTo>
                  <a:lnTo>
                    <a:pt x="4572000" y="281431"/>
                  </a:lnTo>
                  <a:lnTo>
                    <a:pt x="4568317" y="235778"/>
                  </a:lnTo>
                  <a:lnTo>
                    <a:pt x="4557654" y="192471"/>
                  </a:lnTo>
                  <a:lnTo>
                    <a:pt x="4540590" y="152090"/>
                  </a:lnTo>
                  <a:lnTo>
                    <a:pt x="4517704" y="115214"/>
                  </a:lnTo>
                  <a:lnTo>
                    <a:pt x="4489577" y="82422"/>
                  </a:lnTo>
                  <a:lnTo>
                    <a:pt x="4456785" y="54295"/>
                  </a:lnTo>
                  <a:lnTo>
                    <a:pt x="4419909" y="31409"/>
                  </a:lnTo>
                  <a:lnTo>
                    <a:pt x="4379528" y="14345"/>
                  </a:lnTo>
                  <a:lnTo>
                    <a:pt x="4336221" y="3682"/>
                  </a:lnTo>
                  <a:lnTo>
                    <a:pt x="4290568" y="0"/>
                  </a:lnTo>
                  <a:close/>
                </a:path>
              </a:pathLst>
            </a:custGeom>
            <a:solidFill>
              <a:srgbClr val="CFD4EA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27376" y="4817364"/>
              <a:ext cx="4572000" cy="1689100"/>
            </a:xfrm>
            <a:custGeom>
              <a:avLst/>
              <a:gdLst/>
              <a:ahLst/>
              <a:cxnLst/>
              <a:rect l="l" t="t" r="r" b="b"/>
              <a:pathLst>
                <a:path w="4572000" h="1689100">
                  <a:moveTo>
                    <a:pt x="4572000" y="281431"/>
                  </a:moveTo>
                  <a:lnTo>
                    <a:pt x="4572000" y="1407160"/>
                  </a:lnTo>
                  <a:lnTo>
                    <a:pt x="4568317" y="1452807"/>
                  </a:lnTo>
                  <a:lnTo>
                    <a:pt x="4557654" y="1496111"/>
                  </a:lnTo>
                  <a:lnTo>
                    <a:pt x="4540590" y="1536490"/>
                  </a:lnTo>
                  <a:lnTo>
                    <a:pt x="4517704" y="1573366"/>
                  </a:lnTo>
                  <a:lnTo>
                    <a:pt x="4489577" y="1606159"/>
                  </a:lnTo>
                  <a:lnTo>
                    <a:pt x="4456785" y="1634289"/>
                  </a:lnTo>
                  <a:lnTo>
                    <a:pt x="4419909" y="1657177"/>
                  </a:lnTo>
                  <a:lnTo>
                    <a:pt x="4379528" y="1674243"/>
                  </a:lnTo>
                  <a:lnTo>
                    <a:pt x="4336221" y="1684908"/>
                  </a:lnTo>
                  <a:lnTo>
                    <a:pt x="4290568" y="1688592"/>
                  </a:lnTo>
                  <a:lnTo>
                    <a:pt x="0" y="1688592"/>
                  </a:lnTo>
                  <a:lnTo>
                    <a:pt x="0" y="0"/>
                  </a:lnTo>
                  <a:lnTo>
                    <a:pt x="4290568" y="0"/>
                  </a:lnTo>
                  <a:lnTo>
                    <a:pt x="4336221" y="3682"/>
                  </a:lnTo>
                  <a:lnTo>
                    <a:pt x="4379528" y="14345"/>
                  </a:lnTo>
                  <a:lnTo>
                    <a:pt x="4419909" y="31409"/>
                  </a:lnTo>
                  <a:lnTo>
                    <a:pt x="4456785" y="54295"/>
                  </a:lnTo>
                  <a:lnTo>
                    <a:pt x="4489577" y="82422"/>
                  </a:lnTo>
                  <a:lnTo>
                    <a:pt x="4517704" y="115214"/>
                  </a:lnTo>
                  <a:lnTo>
                    <a:pt x="4540590" y="152090"/>
                  </a:lnTo>
                  <a:lnTo>
                    <a:pt x="4557654" y="192471"/>
                  </a:lnTo>
                  <a:lnTo>
                    <a:pt x="4568317" y="235778"/>
                  </a:lnTo>
                  <a:lnTo>
                    <a:pt x="4572000" y="281431"/>
                  </a:lnTo>
                  <a:close/>
                </a:path>
              </a:pathLst>
            </a:custGeom>
            <a:ln w="12700">
              <a:solidFill>
                <a:srgbClr val="CFD4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862198" y="4860163"/>
            <a:ext cx="3311525" cy="1558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Mois</a:t>
            </a:r>
            <a:r>
              <a:rPr sz="20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ou</a:t>
            </a:r>
            <a:r>
              <a:rPr sz="20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des</a:t>
            </a:r>
            <a:r>
              <a:rPr sz="20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Arial"/>
                <a:cs typeface="Arial"/>
              </a:rPr>
              <a:t>années</a:t>
            </a:r>
            <a:endParaRPr sz="2000" dirty="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b="1" spc="-10" dirty="0">
                <a:latin typeface="Arial"/>
                <a:cs typeface="Arial"/>
              </a:rPr>
              <a:t>Secondaire</a:t>
            </a:r>
            <a:endParaRPr sz="2000" dirty="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b="1" spc="-10" dirty="0">
                <a:latin typeface="Arial"/>
                <a:cs typeface="Arial"/>
              </a:rPr>
              <a:t>Primaire:</a:t>
            </a:r>
            <a:endParaRPr sz="2000" dirty="0">
              <a:latin typeface="Arial"/>
              <a:cs typeface="Arial"/>
            </a:endParaRPr>
          </a:p>
          <a:p>
            <a:pPr marL="469265" lvl="1" indent="-227965">
              <a:lnSpc>
                <a:spcPct val="100000"/>
              </a:lnSpc>
              <a:spcBef>
                <a:spcPts val="10"/>
              </a:spcBef>
              <a:buChar char="•"/>
              <a:tabLst>
                <a:tab pos="469265" algn="l"/>
              </a:tabLst>
            </a:pPr>
            <a:r>
              <a:rPr sz="2000" dirty="0">
                <a:latin typeface="Arial MT"/>
                <a:cs typeface="Arial MT"/>
              </a:rPr>
              <a:t>Sans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lésion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sous-</a:t>
            </a:r>
            <a:r>
              <a:rPr sz="2000" spc="-10" dirty="0">
                <a:latin typeface="Arial MT"/>
                <a:cs typeface="Arial MT"/>
              </a:rPr>
              <a:t>jacente</a:t>
            </a:r>
            <a:endParaRPr sz="2000" dirty="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10"/>
              </a:spcBef>
              <a:buChar char="•"/>
              <a:tabLst>
                <a:tab pos="469265" algn="l"/>
              </a:tabLst>
            </a:pPr>
            <a:r>
              <a:rPr lang="fr-FR" sz="2000" spc="-10" dirty="0">
                <a:latin typeface="Arial MT"/>
                <a:cs typeface="Arial MT"/>
              </a:rPr>
              <a:t>épisodique</a:t>
            </a:r>
            <a:endParaRPr sz="2000" dirty="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8513" y="4600702"/>
            <a:ext cx="2585720" cy="2123440"/>
            <a:chOff x="48513" y="4600702"/>
            <a:chExt cx="2585720" cy="2123440"/>
          </a:xfrm>
        </p:grpSpPr>
        <p:sp>
          <p:nvSpPr>
            <p:cNvPr id="20" name="object 20"/>
            <p:cNvSpPr/>
            <p:nvPr/>
          </p:nvSpPr>
          <p:spPr>
            <a:xfrm>
              <a:off x="54863" y="4607052"/>
              <a:ext cx="2573020" cy="2110740"/>
            </a:xfrm>
            <a:custGeom>
              <a:avLst/>
              <a:gdLst/>
              <a:ahLst/>
              <a:cxnLst/>
              <a:rect l="l" t="t" r="r" b="b"/>
              <a:pathLst>
                <a:path w="2573020" h="2110740">
                  <a:moveTo>
                    <a:pt x="2220722" y="0"/>
                  </a:moveTo>
                  <a:lnTo>
                    <a:pt x="351790" y="0"/>
                  </a:lnTo>
                  <a:lnTo>
                    <a:pt x="304054" y="3211"/>
                  </a:lnTo>
                  <a:lnTo>
                    <a:pt x="258271" y="12564"/>
                  </a:lnTo>
                  <a:lnTo>
                    <a:pt x="214858" y="27642"/>
                  </a:lnTo>
                  <a:lnTo>
                    <a:pt x="174236" y="48024"/>
                  </a:lnTo>
                  <a:lnTo>
                    <a:pt x="136823" y="73293"/>
                  </a:lnTo>
                  <a:lnTo>
                    <a:pt x="103038" y="103028"/>
                  </a:lnTo>
                  <a:lnTo>
                    <a:pt x="73300" y="136812"/>
                  </a:lnTo>
                  <a:lnTo>
                    <a:pt x="48030" y="174225"/>
                  </a:lnTo>
                  <a:lnTo>
                    <a:pt x="27645" y="214848"/>
                  </a:lnTo>
                  <a:lnTo>
                    <a:pt x="12566" y="258262"/>
                  </a:lnTo>
                  <a:lnTo>
                    <a:pt x="3211" y="304049"/>
                  </a:lnTo>
                  <a:lnTo>
                    <a:pt x="0" y="351790"/>
                  </a:lnTo>
                  <a:lnTo>
                    <a:pt x="0" y="1758937"/>
                  </a:lnTo>
                  <a:lnTo>
                    <a:pt x="3211" y="1806675"/>
                  </a:lnTo>
                  <a:lnTo>
                    <a:pt x="12566" y="1852461"/>
                  </a:lnTo>
                  <a:lnTo>
                    <a:pt x="27645" y="1895875"/>
                  </a:lnTo>
                  <a:lnTo>
                    <a:pt x="48030" y="1936499"/>
                  </a:lnTo>
                  <a:lnTo>
                    <a:pt x="73300" y="1973914"/>
                  </a:lnTo>
                  <a:lnTo>
                    <a:pt x="103038" y="2007700"/>
                  </a:lnTo>
                  <a:lnTo>
                    <a:pt x="136823" y="2037438"/>
                  </a:lnTo>
                  <a:lnTo>
                    <a:pt x="174236" y="2062709"/>
                  </a:lnTo>
                  <a:lnTo>
                    <a:pt x="214858" y="2083093"/>
                  </a:lnTo>
                  <a:lnTo>
                    <a:pt x="258271" y="2098173"/>
                  </a:lnTo>
                  <a:lnTo>
                    <a:pt x="304054" y="2107528"/>
                  </a:lnTo>
                  <a:lnTo>
                    <a:pt x="351790" y="2110740"/>
                  </a:lnTo>
                  <a:lnTo>
                    <a:pt x="2220722" y="2110740"/>
                  </a:lnTo>
                  <a:lnTo>
                    <a:pt x="2268462" y="2107528"/>
                  </a:lnTo>
                  <a:lnTo>
                    <a:pt x="2314249" y="2098173"/>
                  </a:lnTo>
                  <a:lnTo>
                    <a:pt x="2357663" y="2083093"/>
                  </a:lnTo>
                  <a:lnTo>
                    <a:pt x="2398286" y="2062709"/>
                  </a:lnTo>
                  <a:lnTo>
                    <a:pt x="2435699" y="2037438"/>
                  </a:lnTo>
                  <a:lnTo>
                    <a:pt x="2469483" y="2007700"/>
                  </a:lnTo>
                  <a:lnTo>
                    <a:pt x="2499218" y="1973914"/>
                  </a:lnTo>
                  <a:lnTo>
                    <a:pt x="2524487" y="1936499"/>
                  </a:lnTo>
                  <a:lnTo>
                    <a:pt x="2544869" y="1895875"/>
                  </a:lnTo>
                  <a:lnTo>
                    <a:pt x="2559947" y="1852461"/>
                  </a:lnTo>
                  <a:lnTo>
                    <a:pt x="2569300" y="1806675"/>
                  </a:lnTo>
                  <a:lnTo>
                    <a:pt x="2572512" y="1758937"/>
                  </a:lnTo>
                  <a:lnTo>
                    <a:pt x="2572512" y="351790"/>
                  </a:lnTo>
                  <a:lnTo>
                    <a:pt x="2569300" y="304049"/>
                  </a:lnTo>
                  <a:lnTo>
                    <a:pt x="2559947" y="258262"/>
                  </a:lnTo>
                  <a:lnTo>
                    <a:pt x="2544869" y="214848"/>
                  </a:lnTo>
                  <a:lnTo>
                    <a:pt x="2524487" y="174225"/>
                  </a:lnTo>
                  <a:lnTo>
                    <a:pt x="2499218" y="136812"/>
                  </a:lnTo>
                  <a:lnTo>
                    <a:pt x="2469483" y="103028"/>
                  </a:lnTo>
                  <a:lnTo>
                    <a:pt x="2435699" y="73293"/>
                  </a:lnTo>
                  <a:lnTo>
                    <a:pt x="2398286" y="48024"/>
                  </a:lnTo>
                  <a:lnTo>
                    <a:pt x="2357663" y="27642"/>
                  </a:lnTo>
                  <a:lnTo>
                    <a:pt x="2314249" y="12564"/>
                  </a:lnTo>
                  <a:lnTo>
                    <a:pt x="2268462" y="3211"/>
                  </a:lnTo>
                  <a:lnTo>
                    <a:pt x="222072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4863" y="4607052"/>
              <a:ext cx="2573020" cy="2110740"/>
            </a:xfrm>
            <a:custGeom>
              <a:avLst/>
              <a:gdLst/>
              <a:ahLst/>
              <a:cxnLst/>
              <a:rect l="l" t="t" r="r" b="b"/>
              <a:pathLst>
                <a:path w="2573020" h="2110740">
                  <a:moveTo>
                    <a:pt x="0" y="351790"/>
                  </a:moveTo>
                  <a:lnTo>
                    <a:pt x="3211" y="304049"/>
                  </a:lnTo>
                  <a:lnTo>
                    <a:pt x="12566" y="258262"/>
                  </a:lnTo>
                  <a:lnTo>
                    <a:pt x="27645" y="214848"/>
                  </a:lnTo>
                  <a:lnTo>
                    <a:pt x="48030" y="174225"/>
                  </a:lnTo>
                  <a:lnTo>
                    <a:pt x="73300" y="136812"/>
                  </a:lnTo>
                  <a:lnTo>
                    <a:pt x="103038" y="103028"/>
                  </a:lnTo>
                  <a:lnTo>
                    <a:pt x="136823" y="73293"/>
                  </a:lnTo>
                  <a:lnTo>
                    <a:pt x="174236" y="48024"/>
                  </a:lnTo>
                  <a:lnTo>
                    <a:pt x="214858" y="27642"/>
                  </a:lnTo>
                  <a:lnTo>
                    <a:pt x="258271" y="12564"/>
                  </a:lnTo>
                  <a:lnTo>
                    <a:pt x="304054" y="3211"/>
                  </a:lnTo>
                  <a:lnTo>
                    <a:pt x="351790" y="0"/>
                  </a:lnTo>
                  <a:lnTo>
                    <a:pt x="2220722" y="0"/>
                  </a:lnTo>
                  <a:lnTo>
                    <a:pt x="2268462" y="3211"/>
                  </a:lnTo>
                  <a:lnTo>
                    <a:pt x="2314249" y="12564"/>
                  </a:lnTo>
                  <a:lnTo>
                    <a:pt x="2357663" y="27642"/>
                  </a:lnTo>
                  <a:lnTo>
                    <a:pt x="2398286" y="48024"/>
                  </a:lnTo>
                  <a:lnTo>
                    <a:pt x="2435699" y="73293"/>
                  </a:lnTo>
                  <a:lnTo>
                    <a:pt x="2469483" y="103028"/>
                  </a:lnTo>
                  <a:lnTo>
                    <a:pt x="2499218" y="136812"/>
                  </a:lnTo>
                  <a:lnTo>
                    <a:pt x="2524487" y="174225"/>
                  </a:lnTo>
                  <a:lnTo>
                    <a:pt x="2544869" y="214848"/>
                  </a:lnTo>
                  <a:lnTo>
                    <a:pt x="2559947" y="258262"/>
                  </a:lnTo>
                  <a:lnTo>
                    <a:pt x="2569300" y="304049"/>
                  </a:lnTo>
                  <a:lnTo>
                    <a:pt x="2572512" y="351790"/>
                  </a:lnTo>
                  <a:lnTo>
                    <a:pt x="2572512" y="1758937"/>
                  </a:lnTo>
                  <a:lnTo>
                    <a:pt x="2569300" y="1806675"/>
                  </a:lnTo>
                  <a:lnTo>
                    <a:pt x="2559947" y="1852461"/>
                  </a:lnTo>
                  <a:lnTo>
                    <a:pt x="2544869" y="1895875"/>
                  </a:lnTo>
                  <a:lnTo>
                    <a:pt x="2524487" y="1936499"/>
                  </a:lnTo>
                  <a:lnTo>
                    <a:pt x="2499218" y="1973914"/>
                  </a:lnTo>
                  <a:lnTo>
                    <a:pt x="2469483" y="2007700"/>
                  </a:lnTo>
                  <a:lnTo>
                    <a:pt x="2435699" y="2037438"/>
                  </a:lnTo>
                  <a:lnTo>
                    <a:pt x="2398286" y="2062709"/>
                  </a:lnTo>
                  <a:lnTo>
                    <a:pt x="2357663" y="2083093"/>
                  </a:lnTo>
                  <a:lnTo>
                    <a:pt x="2314249" y="2098173"/>
                  </a:lnTo>
                  <a:lnTo>
                    <a:pt x="2268462" y="2107528"/>
                  </a:lnTo>
                  <a:lnTo>
                    <a:pt x="2220722" y="2110740"/>
                  </a:lnTo>
                  <a:lnTo>
                    <a:pt x="351790" y="2110740"/>
                  </a:lnTo>
                  <a:lnTo>
                    <a:pt x="304054" y="2107528"/>
                  </a:lnTo>
                  <a:lnTo>
                    <a:pt x="258271" y="2098173"/>
                  </a:lnTo>
                  <a:lnTo>
                    <a:pt x="214858" y="2083093"/>
                  </a:lnTo>
                  <a:lnTo>
                    <a:pt x="174236" y="2062709"/>
                  </a:lnTo>
                  <a:lnTo>
                    <a:pt x="136823" y="2037438"/>
                  </a:lnTo>
                  <a:lnTo>
                    <a:pt x="103038" y="2007700"/>
                  </a:lnTo>
                  <a:lnTo>
                    <a:pt x="73300" y="1973914"/>
                  </a:lnTo>
                  <a:lnTo>
                    <a:pt x="48030" y="1936499"/>
                  </a:lnTo>
                  <a:lnTo>
                    <a:pt x="27645" y="1895875"/>
                  </a:lnTo>
                  <a:lnTo>
                    <a:pt x="12566" y="1852461"/>
                  </a:lnTo>
                  <a:lnTo>
                    <a:pt x="3211" y="1806675"/>
                  </a:lnTo>
                  <a:lnTo>
                    <a:pt x="0" y="1758937"/>
                  </a:lnTo>
                  <a:lnTo>
                    <a:pt x="0" y="35179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55219" y="5183504"/>
            <a:ext cx="1571625" cy="87249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080">
              <a:lnSpc>
                <a:spcPts val="3180"/>
              </a:lnSpc>
              <a:spcBef>
                <a:spcPts val="459"/>
              </a:spcBef>
            </a:pPr>
            <a:r>
              <a:rPr sz="2900" b="1" spc="-10" dirty="0">
                <a:solidFill>
                  <a:srgbClr val="FFFFFF"/>
                </a:solidFill>
                <a:latin typeface="Calibri"/>
                <a:cs typeface="Calibri"/>
              </a:rPr>
              <a:t>Céphalée chronique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276843" y="330708"/>
            <a:ext cx="3700779" cy="2018501"/>
          </a:xfrm>
          <a:prstGeom prst="rect">
            <a:avLst/>
          </a:prstGeom>
          <a:solidFill>
            <a:srgbClr val="F8CAAC"/>
          </a:solidFill>
        </p:spPr>
        <p:txBody>
          <a:bodyPr vert="horz" wrap="square" lIns="0" tIns="127000" rIns="0" bIns="0" rtlCol="0">
            <a:spAutoFit/>
          </a:bodyPr>
          <a:lstStyle/>
          <a:p>
            <a:pPr marL="396240">
              <a:lnSpc>
                <a:spcPct val="100000"/>
              </a:lnSpc>
              <a:spcBef>
                <a:spcPts val="1000"/>
              </a:spcBef>
            </a:pPr>
            <a:r>
              <a:rPr sz="1800" b="1" spc="-10" dirty="0" err="1">
                <a:latin typeface="Arial MT"/>
                <a:cs typeface="Arial MT"/>
              </a:rPr>
              <a:t>Hémorragie</a:t>
            </a:r>
            <a:r>
              <a:rPr sz="1800" b="1" spc="-30" dirty="0">
                <a:latin typeface="Arial MT"/>
                <a:cs typeface="Arial MT"/>
              </a:rPr>
              <a:t> </a:t>
            </a:r>
            <a:r>
              <a:rPr sz="1800" b="1" spc="-10" dirty="0" err="1">
                <a:latin typeface="Arial MT"/>
                <a:cs typeface="Arial MT"/>
              </a:rPr>
              <a:t>méningée</a:t>
            </a:r>
            <a:r>
              <a:rPr lang="fr-FR" sz="1800" spc="-10" dirty="0">
                <a:latin typeface="Arial MT"/>
                <a:cs typeface="Arial MT"/>
              </a:rPr>
              <a:t>: 10-30%</a:t>
            </a:r>
            <a:endParaRPr sz="1800" dirty="0">
              <a:latin typeface="Arial MT"/>
              <a:cs typeface="Arial MT"/>
            </a:endParaRPr>
          </a:p>
          <a:p>
            <a:pPr marL="39624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Arial MT"/>
                <a:cs typeface="Arial MT"/>
              </a:rPr>
              <a:t>HTIC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aiguë</a:t>
            </a:r>
            <a:endParaRPr sz="1800" dirty="0">
              <a:latin typeface="Arial MT"/>
              <a:cs typeface="Arial MT"/>
            </a:endParaRPr>
          </a:p>
          <a:p>
            <a:pPr marL="396240" marR="312420">
              <a:lnSpc>
                <a:spcPct val="150000"/>
              </a:lnSpc>
            </a:pPr>
            <a:r>
              <a:rPr sz="1800" dirty="0">
                <a:latin typeface="Arial MT"/>
                <a:cs typeface="Arial MT"/>
              </a:rPr>
              <a:t>Causes</a:t>
            </a:r>
            <a:r>
              <a:rPr sz="1800" spc="38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vasculaires </a:t>
            </a:r>
            <a:r>
              <a:rPr sz="1800" dirty="0">
                <a:latin typeface="Arial MT"/>
                <a:cs typeface="Arial MT"/>
              </a:rPr>
              <a:t>Glaucome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aigu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à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angle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fermé </a:t>
            </a:r>
            <a:r>
              <a:rPr sz="1800" dirty="0">
                <a:latin typeface="Arial MT"/>
                <a:cs typeface="Arial MT"/>
              </a:rPr>
              <a:t>Sinusite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aiguë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559040" y="330708"/>
            <a:ext cx="338455" cy="2095500"/>
          </a:xfrm>
          <a:custGeom>
            <a:avLst/>
            <a:gdLst/>
            <a:ahLst/>
            <a:cxnLst/>
            <a:rect l="l" t="t" r="r" b="b"/>
            <a:pathLst>
              <a:path w="338454" h="2095500">
                <a:moveTo>
                  <a:pt x="338327" y="2095500"/>
                </a:moveTo>
                <a:lnTo>
                  <a:pt x="272462" y="2093291"/>
                </a:lnTo>
                <a:lnTo>
                  <a:pt x="218694" y="2087260"/>
                </a:lnTo>
                <a:lnTo>
                  <a:pt x="182451" y="2078301"/>
                </a:lnTo>
                <a:lnTo>
                  <a:pt x="169163" y="2067306"/>
                </a:lnTo>
                <a:lnTo>
                  <a:pt x="169163" y="1075944"/>
                </a:lnTo>
                <a:lnTo>
                  <a:pt x="155876" y="1064948"/>
                </a:lnTo>
                <a:lnTo>
                  <a:pt x="119633" y="1055989"/>
                </a:lnTo>
                <a:lnTo>
                  <a:pt x="65865" y="1049958"/>
                </a:lnTo>
                <a:lnTo>
                  <a:pt x="0" y="1047750"/>
                </a:lnTo>
                <a:lnTo>
                  <a:pt x="65865" y="1045541"/>
                </a:lnTo>
                <a:lnTo>
                  <a:pt x="119633" y="1039510"/>
                </a:lnTo>
                <a:lnTo>
                  <a:pt x="155876" y="1030551"/>
                </a:lnTo>
                <a:lnTo>
                  <a:pt x="169163" y="1019556"/>
                </a:lnTo>
                <a:lnTo>
                  <a:pt x="169163" y="28194"/>
                </a:lnTo>
                <a:lnTo>
                  <a:pt x="182451" y="17198"/>
                </a:lnTo>
                <a:lnTo>
                  <a:pt x="218693" y="8239"/>
                </a:lnTo>
                <a:lnTo>
                  <a:pt x="272462" y="2208"/>
                </a:lnTo>
                <a:lnTo>
                  <a:pt x="338327" y="0"/>
                </a:lnTo>
              </a:path>
            </a:pathLst>
          </a:custGeom>
          <a:ln w="63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834883" y="2558795"/>
            <a:ext cx="4255135" cy="1934210"/>
          </a:xfrm>
          <a:prstGeom prst="rect">
            <a:avLst/>
          </a:prstGeom>
          <a:solidFill>
            <a:srgbClr val="DEEBF7"/>
          </a:solidFill>
        </p:spPr>
        <p:txBody>
          <a:bodyPr vert="horz" wrap="square" lIns="0" tIns="127000" rIns="0" bIns="0" rtlCol="0">
            <a:spAutoFit/>
          </a:bodyPr>
          <a:lstStyle/>
          <a:p>
            <a:pPr marL="63373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latin typeface="Arial MT"/>
                <a:cs typeface="Arial MT"/>
              </a:rPr>
              <a:t>Méningite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subaiguë</a:t>
            </a:r>
            <a:endParaRPr sz="1800">
              <a:latin typeface="Arial MT"/>
              <a:cs typeface="Arial MT"/>
            </a:endParaRPr>
          </a:p>
          <a:p>
            <a:pPr marL="63373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Arial MT"/>
                <a:cs typeface="Arial MT"/>
              </a:rPr>
              <a:t>méningoencéphalite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00">
              <a:latin typeface="Arial MT"/>
              <a:cs typeface="Arial MT"/>
            </a:endParaRPr>
          </a:p>
          <a:p>
            <a:pPr marL="63373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HTIC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subaiguë</a:t>
            </a:r>
            <a:endParaRPr sz="1800">
              <a:latin typeface="Arial MT"/>
              <a:cs typeface="Arial MT"/>
            </a:endParaRPr>
          </a:p>
          <a:p>
            <a:pPr marL="618490">
              <a:lnSpc>
                <a:spcPct val="100000"/>
              </a:lnSpc>
              <a:spcBef>
                <a:spcPts val="1880"/>
              </a:spcBef>
            </a:pPr>
            <a:r>
              <a:rPr sz="1800" dirty="0">
                <a:latin typeface="Arial MT"/>
                <a:cs typeface="Arial MT"/>
              </a:rPr>
              <a:t>Maladie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Horton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199376" y="2558795"/>
            <a:ext cx="338455" cy="1934210"/>
          </a:xfrm>
          <a:custGeom>
            <a:avLst/>
            <a:gdLst/>
            <a:ahLst/>
            <a:cxnLst/>
            <a:rect l="l" t="t" r="r" b="b"/>
            <a:pathLst>
              <a:path w="338454" h="1934210">
                <a:moveTo>
                  <a:pt x="338327" y="1933955"/>
                </a:moveTo>
                <a:lnTo>
                  <a:pt x="272462" y="1931747"/>
                </a:lnTo>
                <a:lnTo>
                  <a:pt x="218694" y="1925716"/>
                </a:lnTo>
                <a:lnTo>
                  <a:pt x="182451" y="1916757"/>
                </a:lnTo>
                <a:lnTo>
                  <a:pt x="169164" y="1905761"/>
                </a:lnTo>
                <a:lnTo>
                  <a:pt x="169164" y="995171"/>
                </a:lnTo>
                <a:lnTo>
                  <a:pt x="155876" y="984176"/>
                </a:lnTo>
                <a:lnTo>
                  <a:pt x="119634" y="975217"/>
                </a:lnTo>
                <a:lnTo>
                  <a:pt x="65865" y="969186"/>
                </a:lnTo>
                <a:lnTo>
                  <a:pt x="0" y="966977"/>
                </a:lnTo>
                <a:lnTo>
                  <a:pt x="65865" y="964769"/>
                </a:lnTo>
                <a:lnTo>
                  <a:pt x="119633" y="958738"/>
                </a:lnTo>
                <a:lnTo>
                  <a:pt x="155876" y="949779"/>
                </a:lnTo>
                <a:lnTo>
                  <a:pt x="169164" y="938783"/>
                </a:lnTo>
                <a:lnTo>
                  <a:pt x="169164" y="28193"/>
                </a:lnTo>
                <a:lnTo>
                  <a:pt x="182451" y="17198"/>
                </a:lnTo>
                <a:lnTo>
                  <a:pt x="218694" y="8239"/>
                </a:lnTo>
                <a:lnTo>
                  <a:pt x="272462" y="2208"/>
                </a:lnTo>
                <a:lnTo>
                  <a:pt x="338327" y="0"/>
                </a:lnTo>
              </a:path>
            </a:pathLst>
          </a:custGeom>
          <a:ln w="63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198" y="624966"/>
            <a:ext cx="3742690" cy="11633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har char="•"/>
              <a:tabLst>
                <a:tab pos="240665" algn="l"/>
                <a:tab pos="1836420" algn="l"/>
              </a:tabLst>
            </a:pPr>
            <a:r>
              <a:rPr sz="2000" dirty="0">
                <a:latin typeface="Arial MT"/>
                <a:cs typeface="Arial MT"/>
              </a:rPr>
              <a:t>Maximale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en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	1</a:t>
            </a:r>
            <a:r>
              <a:rPr sz="2000" b="1" spc="-10" dirty="0">
                <a:solidFill>
                  <a:srgbClr val="C00000"/>
                </a:solidFill>
                <a:latin typeface="Arial"/>
                <a:cs typeface="Arial"/>
              </a:rPr>
              <a:t> heure</a:t>
            </a:r>
            <a:endParaRPr sz="2000">
              <a:latin typeface="Arial"/>
              <a:cs typeface="Arial"/>
            </a:endParaRPr>
          </a:p>
          <a:p>
            <a:pPr marL="241300" marR="5080" indent="-228600">
              <a:lnSpc>
                <a:spcPct val="86200"/>
              </a:lnSpc>
              <a:spcBef>
                <a:spcPts val="34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Coup</a:t>
            </a:r>
            <a:r>
              <a:rPr sz="20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de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tonnerre</a:t>
            </a:r>
            <a:r>
              <a:rPr sz="20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en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intensité </a:t>
            </a:r>
            <a:r>
              <a:rPr sz="2000" dirty="0">
                <a:latin typeface="Arial MT"/>
                <a:cs typeface="Arial MT"/>
              </a:rPr>
              <a:t>maximale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avec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EVA&gt;7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en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moins</a:t>
            </a:r>
            <a:r>
              <a:rPr sz="20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d’une</a:t>
            </a:r>
            <a:r>
              <a:rPr sz="20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Arial"/>
                <a:cs typeface="Arial"/>
              </a:rPr>
              <a:t>minute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8513" y="168910"/>
            <a:ext cx="2585720" cy="2123440"/>
            <a:chOff x="48513" y="168910"/>
            <a:chExt cx="2585720" cy="2123440"/>
          </a:xfrm>
        </p:grpSpPr>
        <p:sp>
          <p:nvSpPr>
            <p:cNvPr id="4" name="object 4"/>
            <p:cNvSpPr/>
            <p:nvPr/>
          </p:nvSpPr>
          <p:spPr>
            <a:xfrm>
              <a:off x="54863" y="175260"/>
              <a:ext cx="2573020" cy="2110740"/>
            </a:xfrm>
            <a:custGeom>
              <a:avLst/>
              <a:gdLst/>
              <a:ahLst/>
              <a:cxnLst/>
              <a:rect l="l" t="t" r="r" b="b"/>
              <a:pathLst>
                <a:path w="2573020" h="2110740">
                  <a:moveTo>
                    <a:pt x="2220722" y="0"/>
                  </a:moveTo>
                  <a:lnTo>
                    <a:pt x="351790" y="0"/>
                  </a:lnTo>
                  <a:lnTo>
                    <a:pt x="304054" y="3211"/>
                  </a:lnTo>
                  <a:lnTo>
                    <a:pt x="258271" y="12564"/>
                  </a:lnTo>
                  <a:lnTo>
                    <a:pt x="214858" y="27642"/>
                  </a:lnTo>
                  <a:lnTo>
                    <a:pt x="174236" y="48024"/>
                  </a:lnTo>
                  <a:lnTo>
                    <a:pt x="136823" y="73293"/>
                  </a:lnTo>
                  <a:lnTo>
                    <a:pt x="103038" y="103028"/>
                  </a:lnTo>
                  <a:lnTo>
                    <a:pt x="73300" y="136812"/>
                  </a:lnTo>
                  <a:lnTo>
                    <a:pt x="48030" y="174225"/>
                  </a:lnTo>
                  <a:lnTo>
                    <a:pt x="27645" y="214848"/>
                  </a:lnTo>
                  <a:lnTo>
                    <a:pt x="12566" y="258262"/>
                  </a:lnTo>
                  <a:lnTo>
                    <a:pt x="3211" y="304049"/>
                  </a:lnTo>
                  <a:lnTo>
                    <a:pt x="0" y="351790"/>
                  </a:lnTo>
                  <a:lnTo>
                    <a:pt x="0" y="1758950"/>
                  </a:lnTo>
                  <a:lnTo>
                    <a:pt x="3211" y="1806690"/>
                  </a:lnTo>
                  <a:lnTo>
                    <a:pt x="12566" y="1852477"/>
                  </a:lnTo>
                  <a:lnTo>
                    <a:pt x="27645" y="1895891"/>
                  </a:lnTo>
                  <a:lnTo>
                    <a:pt x="48030" y="1936514"/>
                  </a:lnTo>
                  <a:lnTo>
                    <a:pt x="73300" y="1973927"/>
                  </a:lnTo>
                  <a:lnTo>
                    <a:pt x="103038" y="2007711"/>
                  </a:lnTo>
                  <a:lnTo>
                    <a:pt x="136823" y="2037446"/>
                  </a:lnTo>
                  <a:lnTo>
                    <a:pt x="174236" y="2062715"/>
                  </a:lnTo>
                  <a:lnTo>
                    <a:pt x="214858" y="2083097"/>
                  </a:lnTo>
                  <a:lnTo>
                    <a:pt x="258271" y="2098175"/>
                  </a:lnTo>
                  <a:lnTo>
                    <a:pt x="304054" y="2107528"/>
                  </a:lnTo>
                  <a:lnTo>
                    <a:pt x="351790" y="2110740"/>
                  </a:lnTo>
                  <a:lnTo>
                    <a:pt x="2220722" y="2110740"/>
                  </a:lnTo>
                  <a:lnTo>
                    <a:pt x="2268462" y="2107528"/>
                  </a:lnTo>
                  <a:lnTo>
                    <a:pt x="2314249" y="2098175"/>
                  </a:lnTo>
                  <a:lnTo>
                    <a:pt x="2357663" y="2083097"/>
                  </a:lnTo>
                  <a:lnTo>
                    <a:pt x="2398286" y="2062715"/>
                  </a:lnTo>
                  <a:lnTo>
                    <a:pt x="2435699" y="2037446"/>
                  </a:lnTo>
                  <a:lnTo>
                    <a:pt x="2469483" y="2007711"/>
                  </a:lnTo>
                  <a:lnTo>
                    <a:pt x="2499218" y="1973927"/>
                  </a:lnTo>
                  <a:lnTo>
                    <a:pt x="2524487" y="1936514"/>
                  </a:lnTo>
                  <a:lnTo>
                    <a:pt x="2544869" y="1895891"/>
                  </a:lnTo>
                  <a:lnTo>
                    <a:pt x="2559947" y="1852477"/>
                  </a:lnTo>
                  <a:lnTo>
                    <a:pt x="2569300" y="1806690"/>
                  </a:lnTo>
                  <a:lnTo>
                    <a:pt x="2572512" y="1758950"/>
                  </a:lnTo>
                  <a:lnTo>
                    <a:pt x="2572512" y="351790"/>
                  </a:lnTo>
                  <a:lnTo>
                    <a:pt x="2569300" y="304049"/>
                  </a:lnTo>
                  <a:lnTo>
                    <a:pt x="2559947" y="258262"/>
                  </a:lnTo>
                  <a:lnTo>
                    <a:pt x="2544869" y="214848"/>
                  </a:lnTo>
                  <a:lnTo>
                    <a:pt x="2524487" y="174225"/>
                  </a:lnTo>
                  <a:lnTo>
                    <a:pt x="2499218" y="136812"/>
                  </a:lnTo>
                  <a:lnTo>
                    <a:pt x="2469483" y="103028"/>
                  </a:lnTo>
                  <a:lnTo>
                    <a:pt x="2435699" y="73293"/>
                  </a:lnTo>
                  <a:lnTo>
                    <a:pt x="2398286" y="48024"/>
                  </a:lnTo>
                  <a:lnTo>
                    <a:pt x="2357663" y="27642"/>
                  </a:lnTo>
                  <a:lnTo>
                    <a:pt x="2314249" y="12564"/>
                  </a:lnTo>
                  <a:lnTo>
                    <a:pt x="2268462" y="3211"/>
                  </a:lnTo>
                  <a:lnTo>
                    <a:pt x="222072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63" y="175260"/>
              <a:ext cx="2573020" cy="2110740"/>
            </a:xfrm>
            <a:custGeom>
              <a:avLst/>
              <a:gdLst/>
              <a:ahLst/>
              <a:cxnLst/>
              <a:rect l="l" t="t" r="r" b="b"/>
              <a:pathLst>
                <a:path w="2573020" h="2110740">
                  <a:moveTo>
                    <a:pt x="0" y="351790"/>
                  </a:moveTo>
                  <a:lnTo>
                    <a:pt x="3211" y="304049"/>
                  </a:lnTo>
                  <a:lnTo>
                    <a:pt x="12566" y="258262"/>
                  </a:lnTo>
                  <a:lnTo>
                    <a:pt x="27645" y="214848"/>
                  </a:lnTo>
                  <a:lnTo>
                    <a:pt x="48030" y="174225"/>
                  </a:lnTo>
                  <a:lnTo>
                    <a:pt x="73300" y="136812"/>
                  </a:lnTo>
                  <a:lnTo>
                    <a:pt x="103038" y="103028"/>
                  </a:lnTo>
                  <a:lnTo>
                    <a:pt x="136823" y="73293"/>
                  </a:lnTo>
                  <a:lnTo>
                    <a:pt x="174236" y="48024"/>
                  </a:lnTo>
                  <a:lnTo>
                    <a:pt x="214858" y="27642"/>
                  </a:lnTo>
                  <a:lnTo>
                    <a:pt x="258271" y="12564"/>
                  </a:lnTo>
                  <a:lnTo>
                    <a:pt x="304054" y="3211"/>
                  </a:lnTo>
                  <a:lnTo>
                    <a:pt x="351790" y="0"/>
                  </a:lnTo>
                  <a:lnTo>
                    <a:pt x="2220722" y="0"/>
                  </a:lnTo>
                  <a:lnTo>
                    <a:pt x="2268462" y="3211"/>
                  </a:lnTo>
                  <a:lnTo>
                    <a:pt x="2314249" y="12564"/>
                  </a:lnTo>
                  <a:lnTo>
                    <a:pt x="2357663" y="27642"/>
                  </a:lnTo>
                  <a:lnTo>
                    <a:pt x="2398286" y="48024"/>
                  </a:lnTo>
                  <a:lnTo>
                    <a:pt x="2435699" y="73293"/>
                  </a:lnTo>
                  <a:lnTo>
                    <a:pt x="2469483" y="103028"/>
                  </a:lnTo>
                  <a:lnTo>
                    <a:pt x="2499218" y="136812"/>
                  </a:lnTo>
                  <a:lnTo>
                    <a:pt x="2524487" y="174225"/>
                  </a:lnTo>
                  <a:lnTo>
                    <a:pt x="2544869" y="214848"/>
                  </a:lnTo>
                  <a:lnTo>
                    <a:pt x="2559947" y="258262"/>
                  </a:lnTo>
                  <a:lnTo>
                    <a:pt x="2569300" y="304049"/>
                  </a:lnTo>
                  <a:lnTo>
                    <a:pt x="2572512" y="351790"/>
                  </a:lnTo>
                  <a:lnTo>
                    <a:pt x="2572512" y="1758950"/>
                  </a:lnTo>
                  <a:lnTo>
                    <a:pt x="2569300" y="1806690"/>
                  </a:lnTo>
                  <a:lnTo>
                    <a:pt x="2559947" y="1852477"/>
                  </a:lnTo>
                  <a:lnTo>
                    <a:pt x="2544869" y="1895891"/>
                  </a:lnTo>
                  <a:lnTo>
                    <a:pt x="2524487" y="1936514"/>
                  </a:lnTo>
                  <a:lnTo>
                    <a:pt x="2499218" y="1973927"/>
                  </a:lnTo>
                  <a:lnTo>
                    <a:pt x="2469483" y="2007711"/>
                  </a:lnTo>
                  <a:lnTo>
                    <a:pt x="2435699" y="2037446"/>
                  </a:lnTo>
                  <a:lnTo>
                    <a:pt x="2398286" y="2062715"/>
                  </a:lnTo>
                  <a:lnTo>
                    <a:pt x="2357663" y="2083097"/>
                  </a:lnTo>
                  <a:lnTo>
                    <a:pt x="2314249" y="2098175"/>
                  </a:lnTo>
                  <a:lnTo>
                    <a:pt x="2268462" y="2107528"/>
                  </a:lnTo>
                  <a:lnTo>
                    <a:pt x="2220722" y="2110740"/>
                  </a:lnTo>
                  <a:lnTo>
                    <a:pt x="351790" y="2110740"/>
                  </a:lnTo>
                  <a:lnTo>
                    <a:pt x="304054" y="2107528"/>
                  </a:lnTo>
                  <a:lnTo>
                    <a:pt x="258271" y="2098175"/>
                  </a:lnTo>
                  <a:lnTo>
                    <a:pt x="214858" y="2083097"/>
                  </a:lnTo>
                  <a:lnTo>
                    <a:pt x="174236" y="2062715"/>
                  </a:lnTo>
                  <a:lnTo>
                    <a:pt x="136823" y="2037446"/>
                  </a:lnTo>
                  <a:lnTo>
                    <a:pt x="103038" y="2007711"/>
                  </a:lnTo>
                  <a:lnTo>
                    <a:pt x="73300" y="1973927"/>
                  </a:lnTo>
                  <a:lnTo>
                    <a:pt x="48030" y="1936514"/>
                  </a:lnTo>
                  <a:lnTo>
                    <a:pt x="27645" y="1895891"/>
                  </a:lnTo>
                  <a:lnTo>
                    <a:pt x="12566" y="1852477"/>
                  </a:lnTo>
                  <a:lnTo>
                    <a:pt x="3211" y="1806690"/>
                  </a:lnTo>
                  <a:lnTo>
                    <a:pt x="0" y="1758950"/>
                  </a:lnTo>
                  <a:lnTo>
                    <a:pt x="0" y="35179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68807" y="953515"/>
            <a:ext cx="1144270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b="1" spc="-10" dirty="0">
                <a:solidFill>
                  <a:srgbClr val="FFFFFF"/>
                </a:solidFill>
                <a:latin typeface="Calibri"/>
                <a:cs typeface="Calibri"/>
              </a:rPr>
              <a:t>Brutale</a:t>
            </a:r>
            <a:endParaRPr sz="29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621026" y="2596642"/>
            <a:ext cx="4584700" cy="1699895"/>
            <a:chOff x="2621026" y="2596642"/>
            <a:chExt cx="4584700" cy="1699895"/>
          </a:xfrm>
        </p:grpSpPr>
        <p:sp>
          <p:nvSpPr>
            <p:cNvPr id="8" name="object 8"/>
            <p:cNvSpPr/>
            <p:nvPr/>
          </p:nvSpPr>
          <p:spPr>
            <a:xfrm>
              <a:off x="2627376" y="2602992"/>
              <a:ext cx="4572000" cy="1687195"/>
            </a:xfrm>
            <a:custGeom>
              <a:avLst/>
              <a:gdLst/>
              <a:ahLst/>
              <a:cxnLst/>
              <a:rect l="l" t="t" r="r" b="b"/>
              <a:pathLst>
                <a:path w="4572000" h="1687195">
                  <a:moveTo>
                    <a:pt x="4290822" y="0"/>
                  </a:moveTo>
                  <a:lnTo>
                    <a:pt x="0" y="0"/>
                  </a:lnTo>
                  <a:lnTo>
                    <a:pt x="0" y="1687068"/>
                  </a:lnTo>
                  <a:lnTo>
                    <a:pt x="4290822" y="1687068"/>
                  </a:lnTo>
                  <a:lnTo>
                    <a:pt x="4336437" y="1683388"/>
                  </a:lnTo>
                  <a:lnTo>
                    <a:pt x="4379707" y="1672736"/>
                  </a:lnTo>
                  <a:lnTo>
                    <a:pt x="4420053" y="1655689"/>
                  </a:lnTo>
                  <a:lnTo>
                    <a:pt x="4456895" y="1632825"/>
                  </a:lnTo>
                  <a:lnTo>
                    <a:pt x="4489656" y="1604724"/>
                  </a:lnTo>
                  <a:lnTo>
                    <a:pt x="4517757" y="1571963"/>
                  </a:lnTo>
                  <a:lnTo>
                    <a:pt x="4540621" y="1535121"/>
                  </a:lnTo>
                  <a:lnTo>
                    <a:pt x="4557668" y="1494775"/>
                  </a:lnTo>
                  <a:lnTo>
                    <a:pt x="4568320" y="1451505"/>
                  </a:lnTo>
                  <a:lnTo>
                    <a:pt x="4572000" y="1405890"/>
                  </a:lnTo>
                  <a:lnTo>
                    <a:pt x="4572000" y="281178"/>
                  </a:lnTo>
                  <a:lnTo>
                    <a:pt x="4568320" y="235562"/>
                  </a:lnTo>
                  <a:lnTo>
                    <a:pt x="4557668" y="192292"/>
                  </a:lnTo>
                  <a:lnTo>
                    <a:pt x="4540621" y="151946"/>
                  </a:lnTo>
                  <a:lnTo>
                    <a:pt x="4517757" y="115104"/>
                  </a:lnTo>
                  <a:lnTo>
                    <a:pt x="4489656" y="82343"/>
                  </a:lnTo>
                  <a:lnTo>
                    <a:pt x="4456895" y="54242"/>
                  </a:lnTo>
                  <a:lnTo>
                    <a:pt x="4420053" y="31378"/>
                  </a:lnTo>
                  <a:lnTo>
                    <a:pt x="4379707" y="14331"/>
                  </a:lnTo>
                  <a:lnTo>
                    <a:pt x="4336437" y="3679"/>
                  </a:lnTo>
                  <a:lnTo>
                    <a:pt x="4290822" y="0"/>
                  </a:lnTo>
                  <a:close/>
                </a:path>
              </a:pathLst>
            </a:custGeom>
            <a:solidFill>
              <a:srgbClr val="CFD4EA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27376" y="2602992"/>
              <a:ext cx="4572000" cy="1687195"/>
            </a:xfrm>
            <a:custGeom>
              <a:avLst/>
              <a:gdLst/>
              <a:ahLst/>
              <a:cxnLst/>
              <a:rect l="l" t="t" r="r" b="b"/>
              <a:pathLst>
                <a:path w="4572000" h="1687195">
                  <a:moveTo>
                    <a:pt x="4572000" y="281178"/>
                  </a:moveTo>
                  <a:lnTo>
                    <a:pt x="4572000" y="1405890"/>
                  </a:lnTo>
                  <a:lnTo>
                    <a:pt x="4568320" y="1451505"/>
                  </a:lnTo>
                  <a:lnTo>
                    <a:pt x="4557668" y="1494775"/>
                  </a:lnTo>
                  <a:lnTo>
                    <a:pt x="4540621" y="1535121"/>
                  </a:lnTo>
                  <a:lnTo>
                    <a:pt x="4517757" y="1571963"/>
                  </a:lnTo>
                  <a:lnTo>
                    <a:pt x="4489656" y="1604724"/>
                  </a:lnTo>
                  <a:lnTo>
                    <a:pt x="4456895" y="1632825"/>
                  </a:lnTo>
                  <a:lnTo>
                    <a:pt x="4420053" y="1655689"/>
                  </a:lnTo>
                  <a:lnTo>
                    <a:pt x="4379707" y="1672736"/>
                  </a:lnTo>
                  <a:lnTo>
                    <a:pt x="4336437" y="1683388"/>
                  </a:lnTo>
                  <a:lnTo>
                    <a:pt x="4290822" y="1687068"/>
                  </a:lnTo>
                  <a:lnTo>
                    <a:pt x="0" y="1687068"/>
                  </a:lnTo>
                  <a:lnTo>
                    <a:pt x="0" y="0"/>
                  </a:lnTo>
                  <a:lnTo>
                    <a:pt x="4290822" y="0"/>
                  </a:lnTo>
                  <a:lnTo>
                    <a:pt x="4336437" y="3679"/>
                  </a:lnTo>
                  <a:lnTo>
                    <a:pt x="4379707" y="14331"/>
                  </a:lnTo>
                  <a:lnTo>
                    <a:pt x="4420053" y="31378"/>
                  </a:lnTo>
                  <a:lnTo>
                    <a:pt x="4456895" y="54242"/>
                  </a:lnTo>
                  <a:lnTo>
                    <a:pt x="4489656" y="82343"/>
                  </a:lnTo>
                  <a:lnTo>
                    <a:pt x="4517757" y="115104"/>
                  </a:lnTo>
                  <a:lnTo>
                    <a:pt x="4540621" y="151946"/>
                  </a:lnTo>
                  <a:lnTo>
                    <a:pt x="4557668" y="192292"/>
                  </a:lnTo>
                  <a:lnTo>
                    <a:pt x="4568320" y="235562"/>
                  </a:lnTo>
                  <a:lnTo>
                    <a:pt x="4572000" y="281178"/>
                  </a:lnTo>
                  <a:close/>
                </a:path>
              </a:pathLst>
            </a:custGeom>
            <a:ln w="12700">
              <a:solidFill>
                <a:srgbClr val="CFD4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034410" y="3257550"/>
            <a:ext cx="19062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105"/>
              </a:spcBef>
              <a:buChar char="•"/>
              <a:tabLst>
                <a:tab pos="182245" algn="l"/>
              </a:tabLst>
            </a:pPr>
            <a:r>
              <a:rPr sz="2000" dirty="0">
                <a:solidFill>
                  <a:srgbClr val="BCD6ED"/>
                </a:solidFill>
                <a:latin typeface="Arial MT"/>
                <a:cs typeface="Arial MT"/>
              </a:rPr>
              <a:t>Quelques</a:t>
            </a:r>
            <a:r>
              <a:rPr sz="2000" spc="-45" dirty="0">
                <a:solidFill>
                  <a:srgbClr val="BCD6E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BCD6ED"/>
                </a:solidFill>
                <a:latin typeface="Arial MT"/>
                <a:cs typeface="Arial MT"/>
              </a:rPr>
              <a:t>jours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513" y="2384805"/>
            <a:ext cx="7492365" cy="2123440"/>
            <a:chOff x="48513" y="2384805"/>
            <a:chExt cx="7492365" cy="2123440"/>
          </a:xfrm>
        </p:grpSpPr>
        <p:sp>
          <p:nvSpPr>
            <p:cNvPr id="12" name="object 12"/>
            <p:cNvSpPr/>
            <p:nvPr/>
          </p:nvSpPr>
          <p:spPr>
            <a:xfrm>
              <a:off x="54863" y="2391155"/>
              <a:ext cx="2573020" cy="2110740"/>
            </a:xfrm>
            <a:custGeom>
              <a:avLst/>
              <a:gdLst/>
              <a:ahLst/>
              <a:cxnLst/>
              <a:rect l="l" t="t" r="r" b="b"/>
              <a:pathLst>
                <a:path w="2573020" h="2110740">
                  <a:moveTo>
                    <a:pt x="2220722" y="0"/>
                  </a:moveTo>
                  <a:lnTo>
                    <a:pt x="351790" y="0"/>
                  </a:lnTo>
                  <a:lnTo>
                    <a:pt x="304054" y="3211"/>
                  </a:lnTo>
                  <a:lnTo>
                    <a:pt x="258271" y="12564"/>
                  </a:lnTo>
                  <a:lnTo>
                    <a:pt x="214858" y="27642"/>
                  </a:lnTo>
                  <a:lnTo>
                    <a:pt x="174236" y="48024"/>
                  </a:lnTo>
                  <a:lnTo>
                    <a:pt x="136823" y="73293"/>
                  </a:lnTo>
                  <a:lnTo>
                    <a:pt x="103038" y="103028"/>
                  </a:lnTo>
                  <a:lnTo>
                    <a:pt x="73300" y="136812"/>
                  </a:lnTo>
                  <a:lnTo>
                    <a:pt x="48030" y="174225"/>
                  </a:lnTo>
                  <a:lnTo>
                    <a:pt x="27645" y="214848"/>
                  </a:lnTo>
                  <a:lnTo>
                    <a:pt x="12566" y="258262"/>
                  </a:lnTo>
                  <a:lnTo>
                    <a:pt x="3211" y="304049"/>
                  </a:lnTo>
                  <a:lnTo>
                    <a:pt x="0" y="351790"/>
                  </a:lnTo>
                  <a:lnTo>
                    <a:pt x="0" y="1758950"/>
                  </a:lnTo>
                  <a:lnTo>
                    <a:pt x="3211" y="1806690"/>
                  </a:lnTo>
                  <a:lnTo>
                    <a:pt x="12566" y="1852477"/>
                  </a:lnTo>
                  <a:lnTo>
                    <a:pt x="27645" y="1895891"/>
                  </a:lnTo>
                  <a:lnTo>
                    <a:pt x="48030" y="1936514"/>
                  </a:lnTo>
                  <a:lnTo>
                    <a:pt x="73300" y="1973927"/>
                  </a:lnTo>
                  <a:lnTo>
                    <a:pt x="103038" y="2007711"/>
                  </a:lnTo>
                  <a:lnTo>
                    <a:pt x="136823" y="2037446"/>
                  </a:lnTo>
                  <a:lnTo>
                    <a:pt x="174236" y="2062715"/>
                  </a:lnTo>
                  <a:lnTo>
                    <a:pt x="214858" y="2083097"/>
                  </a:lnTo>
                  <a:lnTo>
                    <a:pt x="258271" y="2098175"/>
                  </a:lnTo>
                  <a:lnTo>
                    <a:pt x="304054" y="2107528"/>
                  </a:lnTo>
                  <a:lnTo>
                    <a:pt x="351790" y="2110740"/>
                  </a:lnTo>
                  <a:lnTo>
                    <a:pt x="2220722" y="2110740"/>
                  </a:lnTo>
                  <a:lnTo>
                    <a:pt x="2268462" y="2107528"/>
                  </a:lnTo>
                  <a:lnTo>
                    <a:pt x="2314249" y="2098175"/>
                  </a:lnTo>
                  <a:lnTo>
                    <a:pt x="2357663" y="2083097"/>
                  </a:lnTo>
                  <a:lnTo>
                    <a:pt x="2398286" y="2062715"/>
                  </a:lnTo>
                  <a:lnTo>
                    <a:pt x="2435699" y="2037446"/>
                  </a:lnTo>
                  <a:lnTo>
                    <a:pt x="2469483" y="2007711"/>
                  </a:lnTo>
                  <a:lnTo>
                    <a:pt x="2499218" y="1973927"/>
                  </a:lnTo>
                  <a:lnTo>
                    <a:pt x="2524487" y="1936514"/>
                  </a:lnTo>
                  <a:lnTo>
                    <a:pt x="2544869" y="1895891"/>
                  </a:lnTo>
                  <a:lnTo>
                    <a:pt x="2559947" y="1852477"/>
                  </a:lnTo>
                  <a:lnTo>
                    <a:pt x="2569300" y="1806690"/>
                  </a:lnTo>
                  <a:lnTo>
                    <a:pt x="2572512" y="1758950"/>
                  </a:lnTo>
                  <a:lnTo>
                    <a:pt x="2572512" y="351790"/>
                  </a:lnTo>
                  <a:lnTo>
                    <a:pt x="2569300" y="304049"/>
                  </a:lnTo>
                  <a:lnTo>
                    <a:pt x="2559947" y="258262"/>
                  </a:lnTo>
                  <a:lnTo>
                    <a:pt x="2544869" y="214848"/>
                  </a:lnTo>
                  <a:lnTo>
                    <a:pt x="2524487" y="174225"/>
                  </a:lnTo>
                  <a:lnTo>
                    <a:pt x="2499218" y="136812"/>
                  </a:lnTo>
                  <a:lnTo>
                    <a:pt x="2469483" y="103028"/>
                  </a:lnTo>
                  <a:lnTo>
                    <a:pt x="2435699" y="73293"/>
                  </a:lnTo>
                  <a:lnTo>
                    <a:pt x="2398286" y="48024"/>
                  </a:lnTo>
                  <a:lnTo>
                    <a:pt x="2357663" y="27642"/>
                  </a:lnTo>
                  <a:lnTo>
                    <a:pt x="2314249" y="12564"/>
                  </a:lnTo>
                  <a:lnTo>
                    <a:pt x="2268462" y="3211"/>
                  </a:lnTo>
                  <a:lnTo>
                    <a:pt x="222072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863" y="2391155"/>
              <a:ext cx="2573020" cy="2110740"/>
            </a:xfrm>
            <a:custGeom>
              <a:avLst/>
              <a:gdLst/>
              <a:ahLst/>
              <a:cxnLst/>
              <a:rect l="l" t="t" r="r" b="b"/>
              <a:pathLst>
                <a:path w="2573020" h="2110740">
                  <a:moveTo>
                    <a:pt x="0" y="351790"/>
                  </a:moveTo>
                  <a:lnTo>
                    <a:pt x="3211" y="304049"/>
                  </a:lnTo>
                  <a:lnTo>
                    <a:pt x="12566" y="258262"/>
                  </a:lnTo>
                  <a:lnTo>
                    <a:pt x="27645" y="214848"/>
                  </a:lnTo>
                  <a:lnTo>
                    <a:pt x="48030" y="174225"/>
                  </a:lnTo>
                  <a:lnTo>
                    <a:pt x="73300" y="136812"/>
                  </a:lnTo>
                  <a:lnTo>
                    <a:pt x="103038" y="103028"/>
                  </a:lnTo>
                  <a:lnTo>
                    <a:pt x="136823" y="73293"/>
                  </a:lnTo>
                  <a:lnTo>
                    <a:pt x="174236" y="48024"/>
                  </a:lnTo>
                  <a:lnTo>
                    <a:pt x="214858" y="27642"/>
                  </a:lnTo>
                  <a:lnTo>
                    <a:pt x="258271" y="12564"/>
                  </a:lnTo>
                  <a:lnTo>
                    <a:pt x="304054" y="3211"/>
                  </a:lnTo>
                  <a:lnTo>
                    <a:pt x="351790" y="0"/>
                  </a:lnTo>
                  <a:lnTo>
                    <a:pt x="2220722" y="0"/>
                  </a:lnTo>
                  <a:lnTo>
                    <a:pt x="2268462" y="3211"/>
                  </a:lnTo>
                  <a:lnTo>
                    <a:pt x="2314249" y="12564"/>
                  </a:lnTo>
                  <a:lnTo>
                    <a:pt x="2357663" y="27642"/>
                  </a:lnTo>
                  <a:lnTo>
                    <a:pt x="2398286" y="48024"/>
                  </a:lnTo>
                  <a:lnTo>
                    <a:pt x="2435699" y="73293"/>
                  </a:lnTo>
                  <a:lnTo>
                    <a:pt x="2469483" y="103028"/>
                  </a:lnTo>
                  <a:lnTo>
                    <a:pt x="2499218" y="136812"/>
                  </a:lnTo>
                  <a:lnTo>
                    <a:pt x="2524487" y="174225"/>
                  </a:lnTo>
                  <a:lnTo>
                    <a:pt x="2544869" y="214848"/>
                  </a:lnTo>
                  <a:lnTo>
                    <a:pt x="2559947" y="258262"/>
                  </a:lnTo>
                  <a:lnTo>
                    <a:pt x="2569300" y="304049"/>
                  </a:lnTo>
                  <a:lnTo>
                    <a:pt x="2572512" y="351790"/>
                  </a:lnTo>
                  <a:lnTo>
                    <a:pt x="2572512" y="1758950"/>
                  </a:lnTo>
                  <a:lnTo>
                    <a:pt x="2569300" y="1806690"/>
                  </a:lnTo>
                  <a:lnTo>
                    <a:pt x="2559947" y="1852477"/>
                  </a:lnTo>
                  <a:lnTo>
                    <a:pt x="2544869" y="1895891"/>
                  </a:lnTo>
                  <a:lnTo>
                    <a:pt x="2524487" y="1936514"/>
                  </a:lnTo>
                  <a:lnTo>
                    <a:pt x="2499218" y="1973927"/>
                  </a:lnTo>
                  <a:lnTo>
                    <a:pt x="2469483" y="2007711"/>
                  </a:lnTo>
                  <a:lnTo>
                    <a:pt x="2435699" y="2037446"/>
                  </a:lnTo>
                  <a:lnTo>
                    <a:pt x="2398286" y="2062715"/>
                  </a:lnTo>
                  <a:lnTo>
                    <a:pt x="2357663" y="2083097"/>
                  </a:lnTo>
                  <a:lnTo>
                    <a:pt x="2314249" y="2098175"/>
                  </a:lnTo>
                  <a:lnTo>
                    <a:pt x="2268462" y="2107528"/>
                  </a:lnTo>
                  <a:lnTo>
                    <a:pt x="2220722" y="2110740"/>
                  </a:lnTo>
                  <a:lnTo>
                    <a:pt x="351790" y="2110740"/>
                  </a:lnTo>
                  <a:lnTo>
                    <a:pt x="304054" y="2107528"/>
                  </a:lnTo>
                  <a:lnTo>
                    <a:pt x="258271" y="2098175"/>
                  </a:lnTo>
                  <a:lnTo>
                    <a:pt x="214858" y="2083097"/>
                  </a:lnTo>
                  <a:lnTo>
                    <a:pt x="174236" y="2062715"/>
                  </a:lnTo>
                  <a:lnTo>
                    <a:pt x="136823" y="2037446"/>
                  </a:lnTo>
                  <a:lnTo>
                    <a:pt x="103038" y="2007711"/>
                  </a:lnTo>
                  <a:lnTo>
                    <a:pt x="73300" y="1973927"/>
                  </a:lnTo>
                  <a:lnTo>
                    <a:pt x="48030" y="1936514"/>
                  </a:lnTo>
                  <a:lnTo>
                    <a:pt x="27645" y="1895891"/>
                  </a:lnTo>
                  <a:lnTo>
                    <a:pt x="12566" y="1852477"/>
                  </a:lnTo>
                  <a:lnTo>
                    <a:pt x="3211" y="1806690"/>
                  </a:lnTo>
                  <a:lnTo>
                    <a:pt x="0" y="1758950"/>
                  </a:lnTo>
                  <a:lnTo>
                    <a:pt x="0" y="35179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199375" y="2558795"/>
              <a:ext cx="338455" cy="1934210"/>
            </a:xfrm>
            <a:custGeom>
              <a:avLst/>
              <a:gdLst/>
              <a:ahLst/>
              <a:cxnLst/>
              <a:rect l="l" t="t" r="r" b="b"/>
              <a:pathLst>
                <a:path w="338454" h="1934210">
                  <a:moveTo>
                    <a:pt x="338327" y="1933955"/>
                  </a:moveTo>
                  <a:lnTo>
                    <a:pt x="272462" y="1931747"/>
                  </a:lnTo>
                  <a:lnTo>
                    <a:pt x="218694" y="1925716"/>
                  </a:lnTo>
                  <a:lnTo>
                    <a:pt x="182451" y="1916757"/>
                  </a:lnTo>
                  <a:lnTo>
                    <a:pt x="169164" y="1905761"/>
                  </a:lnTo>
                  <a:lnTo>
                    <a:pt x="169164" y="995171"/>
                  </a:lnTo>
                  <a:lnTo>
                    <a:pt x="155876" y="984176"/>
                  </a:lnTo>
                  <a:lnTo>
                    <a:pt x="119634" y="975217"/>
                  </a:lnTo>
                  <a:lnTo>
                    <a:pt x="65865" y="969186"/>
                  </a:lnTo>
                  <a:lnTo>
                    <a:pt x="0" y="966977"/>
                  </a:lnTo>
                  <a:lnTo>
                    <a:pt x="65865" y="964769"/>
                  </a:lnTo>
                  <a:lnTo>
                    <a:pt x="119633" y="958738"/>
                  </a:lnTo>
                  <a:lnTo>
                    <a:pt x="155876" y="949779"/>
                  </a:lnTo>
                  <a:lnTo>
                    <a:pt x="169164" y="938783"/>
                  </a:lnTo>
                  <a:lnTo>
                    <a:pt x="169164" y="28193"/>
                  </a:lnTo>
                  <a:lnTo>
                    <a:pt x="182451" y="17198"/>
                  </a:lnTo>
                  <a:lnTo>
                    <a:pt x="218694" y="8239"/>
                  </a:lnTo>
                  <a:lnTo>
                    <a:pt x="272462" y="2208"/>
                  </a:lnTo>
                  <a:lnTo>
                    <a:pt x="338327" y="0"/>
                  </a:lnTo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2621026" y="4811014"/>
            <a:ext cx="4584700" cy="1701800"/>
            <a:chOff x="2621026" y="4811014"/>
            <a:chExt cx="4584700" cy="1701800"/>
          </a:xfrm>
        </p:grpSpPr>
        <p:sp>
          <p:nvSpPr>
            <p:cNvPr id="16" name="object 16"/>
            <p:cNvSpPr/>
            <p:nvPr/>
          </p:nvSpPr>
          <p:spPr>
            <a:xfrm>
              <a:off x="2627376" y="4817364"/>
              <a:ext cx="4572000" cy="1689100"/>
            </a:xfrm>
            <a:custGeom>
              <a:avLst/>
              <a:gdLst/>
              <a:ahLst/>
              <a:cxnLst/>
              <a:rect l="l" t="t" r="r" b="b"/>
              <a:pathLst>
                <a:path w="4572000" h="1689100">
                  <a:moveTo>
                    <a:pt x="4290568" y="0"/>
                  </a:moveTo>
                  <a:lnTo>
                    <a:pt x="0" y="0"/>
                  </a:lnTo>
                  <a:lnTo>
                    <a:pt x="0" y="1688592"/>
                  </a:lnTo>
                  <a:lnTo>
                    <a:pt x="4290568" y="1688592"/>
                  </a:lnTo>
                  <a:lnTo>
                    <a:pt x="4336221" y="1684908"/>
                  </a:lnTo>
                  <a:lnTo>
                    <a:pt x="4379528" y="1674243"/>
                  </a:lnTo>
                  <a:lnTo>
                    <a:pt x="4419909" y="1657177"/>
                  </a:lnTo>
                  <a:lnTo>
                    <a:pt x="4456785" y="1634289"/>
                  </a:lnTo>
                  <a:lnTo>
                    <a:pt x="4489577" y="1606159"/>
                  </a:lnTo>
                  <a:lnTo>
                    <a:pt x="4517704" y="1573366"/>
                  </a:lnTo>
                  <a:lnTo>
                    <a:pt x="4540590" y="1536490"/>
                  </a:lnTo>
                  <a:lnTo>
                    <a:pt x="4557654" y="1496111"/>
                  </a:lnTo>
                  <a:lnTo>
                    <a:pt x="4568317" y="1452807"/>
                  </a:lnTo>
                  <a:lnTo>
                    <a:pt x="4572000" y="1407160"/>
                  </a:lnTo>
                  <a:lnTo>
                    <a:pt x="4572000" y="281431"/>
                  </a:lnTo>
                  <a:lnTo>
                    <a:pt x="4568317" y="235778"/>
                  </a:lnTo>
                  <a:lnTo>
                    <a:pt x="4557654" y="192471"/>
                  </a:lnTo>
                  <a:lnTo>
                    <a:pt x="4540590" y="152090"/>
                  </a:lnTo>
                  <a:lnTo>
                    <a:pt x="4517704" y="115214"/>
                  </a:lnTo>
                  <a:lnTo>
                    <a:pt x="4489577" y="82422"/>
                  </a:lnTo>
                  <a:lnTo>
                    <a:pt x="4456785" y="54295"/>
                  </a:lnTo>
                  <a:lnTo>
                    <a:pt x="4419909" y="31409"/>
                  </a:lnTo>
                  <a:lnTo>
                    <a:pt x="4379528" y="14345"/>
                  </a:lnTo>
                  <a:lnTo>
                    <a:pt x="4336221" y="3682"/>
                  </a:lnTo>
                  <a:lnTo>
                    <a:pt x="4290568" y="0"/>
                  </a:lnTo>
                  <a:close/>
                </a:path>
              </a:pathLst>
            </a:custGeom>
            <a:solidFill>
              <a:srgbClr val="CFD4EA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27376" y="4817364"/>
              <a:ext cx="4572000" cy="1689100"/>
            </a:xfrm>
            <a:custGeom>
              <a:avLst/>
              <a:gdLst/>
              <a:ahLst/>
              <a:cxnLst/>
              <a:rect l="l" t="t" r="r" b="b"/>
              <a:pathLst>
                <a:path w="4572000" h="1689100">
                  <a:moveTo>
                    <a:pt x="4572000" y="281431"/>
                  </a:moveTo>
                  <a:lnTo>
                    <a:pt x="4572000" y="1407160"/>
                  </a:lnTo>
                  <a:lnTo>
                    <a:pt x="4568317" y="1452807"/>
                  </a:lnTo>
                  <a:lnTo>
                    <a:pt x="4557654" y="1496111"/>
                  </a:lnTo>
                  <a:lnTo>
                    <a:pt x="4540590" y="1536490"/>
                  </a:lnTo>
                  <a:lnTo>
                    <a:pt x="4517704" y="1573366"/>
                  </a:lnTo>
                  <a:lnTo>
                    <a:pt x="4489577" y="1606159"/>
                  </a:lnTo>
                  <a:lnTo>
                    <a:pt x="4456785" y="1634289"/>
                  </a:lnTo>
                  <a:lnTo>
                    <a:pt x="4419909" y="1657177"/>
                  </a:lnTo>
                  <a:lnTo>
                    <a:pt x="4379528" y="1674243"/>
                  </a:lnTo>
                  <a:lnTo>
                    <a:pt x="4336221" y="1684908"/>
                  </a:lnTo>
                  <a:lnTo>
                    <a:pt x="4290568" y="1688592"/>
                  </a:lnTo>
                  <a:lnTo>
                    <a:pt x="0" y="1688592"/>
                  </a:lnTo>
                  <a:lnTo>
                    <a:pt x="0" y="0"/>
                  </a:lnTo>
                  <a:lnTo>
                    <a:pt x="4290568" y="0"/>
                  </a:lnTo>
                  <a:lnTo>
                    <a:pt x="4336221" y="3682"/>
                  </a:lnTo>
                  <a:lnTo>
                    <a:pt x="4379528" y="14345"/>
                  </a:lnTo>
                  <a:lnTo>
                    <a:pt x="4419909" y="31409"/>
                  </a:lnTo>
                  <a:lnTo>
                    <a:pt x="4456785" y="54295"/>
                  </a:lnTo>
                  <a:lnTo>
                    <a:pt x="4489577" y="82422"/>
                  </a:lnTo>
                  <a:lnTo>
                    <a:pt x="4517704" y="115214"/>
                  </a:lnTo>
                  <a:lnTo>
                    <a:pt x="4540590" y="152090"/>
                  </a:lnTo>
                  <a:lnTo>
                    <a:pt x="4557654" y="192471"/>
                  </a:lnTo>
                  <a:lnTo>
                    <a:pt x="4568317" y="235778"/>
                  </a:lnTo>
                  <a:lnTo>
                    <a:pt x="4572000" y="281431"/>
                  </a:lnTo>
                  <a:close/>
                </a:path>
              </a:pathLst>
            </a:custGeom>
            <a:ln w="12700">
              <a:solidFill>
                <a:srgbClr val="CFD4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862198" y="4860163"/>
            <a:ext cx="3311525" cy="1558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b="1" dirty="0">
                <a:solidFill>
                  <a:srgbClr val="DAE2F3"/>
                </a:solidFill>
                <a:latin typeface="Arial"/>
                <a:cs typeface="Arial"/>
              </a:rPr>
              <a:t>Mois</a:t>
            </a:r>
            <a:r>
              <a:rPr sz="2000" b="1" spc="-20" dirty="0">
                <a:solidFill>
                  <a:srgbClr val="DAE2F3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DAE2F3"/>
                </a:solidFill>
                <a:latin typeface="Arial"/>
                <a:cs typeface="Arial"/>
              </a:rPr>
              <a:t>ou</a:t>
            </a:r>
            <a:r>
              <a:rPr sz="2000" b="1" spc="-20" dirty="0">
                <a:solidFill>
                  <a:srgbClr val="DAE2F3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DAE2F3"/>
                </a:solidFill>
                <a:latin typeface="Arial"/>
                <a:cs typeface="Arial"/>
              </a:rPr>
              <a:t>des</a:t>
            </a:r>
            <a:r>
              <a:rPr sz="2000" b="1" spc="-30" dirty="0">
                <a:solidFill>
                  <a:srgbClr val="DAE2F3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DAE2F3"/>
                </a:solidFill>
                <a:latin typeface="Arial"/>
                <a:cs typeface="Arial"/>
              </a:rPr>
              <a:t>années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b="1" spc="-10" dirty="0">
                <a:solidFill>
                  <a:srgbClr val="DAE2F3"/>
                </a:solidFill>
                <a:latin typeface="Arial"/>
                <a:cs typeface="Arial"/>
              </a:rPr>
              <a:t>Secondaire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b="1" spc="-10" dirty="0">
                <a:solidFill>
                  <a:srgbClr val="DAE2F3"/>
                </a:solidFill>
                <a:latin typeface="Arial"/>
                <a:cs typeface="Arial"/>
              </a:rPr>
              <a:t>Primaire:</a:t>
            </a:r>
            <a:endParaRPr sz="2000">
              <a:latin typeface="Arial"/>
              <a:cs typeface="Arial"/>
            </a:endParaRPr>
          </a:p>
          <a:p>
            <a:pPr marL="469265" lvl="1" indent="-227965">
              <a:lnSpc>
                <a:spcPct val="100000"/>
              </a:lnSpc>
              <a:spcBef>
                <a:spcPts val="10"/>
              </a:spcBef>
              <a:buChar char="•"/>
              <a:tabLst>
                <a:tab pos="469265" algn="l"/>
              </a:tabLst>
            </a:pPr>
            <a:r>
              <a:rPr sz="2000" dirty="0">
                <a:solidFill>
                  <a:srgbClr val="DAE2F3"/>
                </a:solidFill>
                <a:latin typeface="Arial MT"/>
                <a:cs typeface="Arial MT"/>
              </a:rPr>
              <a:t>Sans</a:t>
            </a:r>
            <a:r>
              <a:rPr sz="2000" spc="-40" dirty="0">
                <a:solidFill>
                  <a:srgbClr val="DAE2F3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DAE2F3"/>
                </a:solidFill>
                <a:latin typeface="Arial MT"/>
                <a:cs typeface="Arial MT"/>
              </a:rPr>
              <a:t>lésion</a:t>
            </a:r>
            <a:r>
              <a:rPr sz="2000" spc="-40" dirty="0">
                <a:solidFill>
                  <a:srgbClr val="DAE2F3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DAE2F3"/>
                </a:solidFill>
                <a:latin typeface="Arial MT"/>
                <a:cs typeface="Arial MT"/>
              </a:rPr>
              <a:t>sous-</a:t>
            </a:r>
            <a:r>
              <a:rPr sz="2000" spc="-10" dirty="0">
                <a:solidFill>
                  <a:srgbClr val="DAE2F3"/>
                </a:solidFill>
                <a:latin typeface="Arial MT"/>
                <a:cs typeface="Arial MT"/>
              </a:rPr>
              <a:t>jacente</a:t>
            </a:r>
            <a:endParaRPr sz="20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10"/>
              </a:spcBef>
              <a:buChar char="•"/>
              <a:tabLst>
                <a:tab pos="469265" algn="l"/>
              </a:tabLst>
            </a:pPr>
            <a:r>
              <a:rPr sz="2000" spc="-10" dirty="0">
                <a:solidFill>
                  <a:srgbClr val="DAE2F3"/>
                </a:solidFill>
                <a:latin typeface="Arial MT"/>
                <a:cs typeface="Arial MT"/>
              </a:rPr>
              <a:t>Paroxystique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8513" y="4600702"/>
            <a:ext cx="2585720" cy="2123440"/>
            <a:chOff x="48513" y="4600702"/>
            <a:chExt cx="2585720" cy="2123440"/>
          </a:xfrm>
        </p:grpSpPr>
        <p:sp>
          <p:nvSpPr>
            <p:cNvPr id="20" name="object 20"/>
            <p:cNvSpPr/>
            <p:nvPr/>
          </p:nvSpPr>
          <p:spPr>
            <a:xfrm>
              <a:off x="54863" y="4607052"/>
              <a:ext cx="2573020" cy="2110740"/>
            </a:xfrm>
            <a:custGeom>
              <a:avLst/>
              <a:gdLst/>
              <a:ahLst/>
              <a:cxnLst/>
              <a:rect l="l" t="t" r="r" b="b"/>
              <a:pathLst>
                <a:path w="2573020" h="2110740">
                  <a:moveTo>
                    <a:pt x="2220722" y="0"/>
                  </a:moveTo>
                  <a:lnTo>
                    <a:pt x="351790" y="0"/>
                  </a:lnTo>
                  <a:lnTo>
                    <a:pt x="304054" y="3211"/>
                  </a:lnTo>
                  <a:lnTo>
                    <a:pt x="258271" y="12564"/>
                  </a:lnTo>
                  <a:lnTo>
                    <a:pt x="214858" y="27642"/>
                  </a:lnTo>
                  <a:lnTo>
                    <a:pt x="174236" y="48024"/>
                  </a:lnTo>
                  <a:lnTo>
                    <a:pt x="136823" y="73293"/>
                  </a:lnTo>
                  <a:lnTo>
                    <a:pt x="103038" y="103028"/>
                  </a:lnTo>
                  <a:lnTo>
                    <a:pt x="73300" y="136812"/>
                  </a:lnTo>
                  <a:lnTo>
                    <a:pt x="48030" y="174225"/>
                  </a:lnTo>
                  <a:lnTo>
                    <a:pt x="27645" y="214848"/>
                  </a:lnTo>
                  <a:lnTo>
                    <a:pt x="12566" y="258262"/>
                  </a:lnTo>
                  <a:lnTo>
                    <a:pt x="3211" y="304049"/>
                  </a:lnTo>
                  <a:lnTo>
                    <a:pt x="0" y="351790"/>
                  </a:lnTo>
                  <a:lnTo>
                    <a:pt x="0" y="1758937"/>
                  </a:lnTo>
                  <a:lnTo>
                    <a:pt x="3211" y="1806675"/>
                  </a:lnTo>
                  <a:lnTo>
                    <a:pt x="12566" y="1852461"/>
                  </a:lnTo>
                  <a:lnTo>
                    <a:pt x="27645" y="1895875"/>
                  </a:lnTo>
                  <a:lnTo>
                    <a:pt x="48030" y="1936499"/>
                  </a:lnTo>
                  <a:lnTo>
                    <a:pt x="73300" y="1973914"/>
                  </a:lnTo>
                  <a:lnTo>
                    <a:pt x="103038" y="2007700"/>
                  </a:lnTo>
                  <a:lnTo>
                    <a:pt x="136823" y="2037438"/>
                  </a:lnTo>
                  <a:lnTo>
                    <a:pt x="174236" y="2062709"/>
                  </a:lnTo>
                  <a:lnTo>
                    <a:pt x="214858" y="2083093"/>
                  </a:lnTo>
                  <a:lnTo>
                    <a:pt x="258271" y="2098173"/>
                  </a:lnTo>
                  <a:lnTo>
                    <a:pt x="304054" y="2107528"/>
                  </a:lnTo>
                  <a:lnTo>
                    <a:pt x="351790" y="2110740"/>
                  </a:lnTo>
                  <a:lnTo>
                    <a:pt x="2220722" y="2110740"/>
                  </a:lnTo>
                  <a:lnTo>
                    <a:pt x="2268462" y="2107528"/>
                  </a:lnTo>
                  <a:lnTo>
                    <a:pt x="2314249" y="2098173"/>
                  </a:lnTo>
                  <a:lnTo>
                    <a:pt x="2357663" y="2083093"/>
                  </a:lnTo>
                  <a:lnTo>
                    <a:pt x="2398286" y="2062709"/>
                  </a:lnTo>
                  <a:lnTo>
                    <a:pt x="2435699" y="2037438"/>
                  </a:lnTo>
                  <a:lnTo>
                    <a:pt x="2469483" y="2007700"/>
                  </a:lnTo>
                  <a:lnTo>
                    <a:pt x="2499218" y="1973914"/>
                  </a:lnTo>
                  <a:lnTo>
                    <a:pt x="2524487" y="1936499"/>
                  </a:lnTo>
                  <a:lnTo>
                    <a:pt x="2544869" y="1895875"/>
                  </a:lnTo>
                  <a:lnTo>
                    <a:pt x="2559947" y="1852461"/>
                  </a:lnTo>
                  <a:lnTo>
                    <a:pt x="2569300" y="1806675"/>
                  </a:lnTo>
                  <a:lnTo>
                    <a:pt x="2572512" y="1758937"/>
                  </a:lnTo>
                  <a:lnTo>
                    <a:pt x="2572512" y="351790"/>
                  </a:lnTo>
                  <a:lnTo>
                    <a:pt x="2569300" y="304049"/>
                  </a:lnTo>
                  <a:lnTo>
                    <a:pt x="2559947" y="258262"/>
                  </a:lnTo>
                  <a:lnTo>
                    <a:pt x="2544869" y="214848"/>
                  </a:lnTo>
                  <a:lnTo>
                    <a:pt x="2524487" y="174225"/>
                  </a:lnTo>
                  <a:lnTo>
                    <a:pt x="2499218" y="136812"/>
                  </a:lnTo>
                  <a:lnTo>
                    <a:pt x="2469483" y="103028"/>
                  </a:lnTo>
                  <a:lnTo>
                    <a:pt x="2435699" y="73293"/>
                  </a:lnTo>
                  <a:lnTo>
                    <a:pt x="2398286" y="48024"/>
                  </a:lnTo>
                  <a:lnTo>
                    <a:pt x="2357663" y="27642"/>
                  </a:lnTo>
                  <a:lnTo>
                    <a:pt x="2314249" y="12564"/>
                  </a:lnTo>
                  <a:lnTo>
                    <a:pt x="2268462" y="3211"/>
                  </a:lnTo>
                  <a:lnTo>
                    <a:pt x="222072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4863" y="4607052"/>
              <a:ext cx="2573020" cy="2110740"/>
            </a:xfrm>
            <a:custGeom>
              <a:avLst/>
              <a:gdLst/>
              <a:ahLst/>
              <a:cxnLst/>
              <a:rect l="l" t="t" r="r" b="b"/>
              <a:pathLst>
                <a:path w="2573020" h="2110740">
                  <a:moveTo>
                    <a:pt x="0" y="351790"/>
                  </a:moveTo>
                  <a:lnTo>
                    <a:pt x="3211" y="304049"/>
                  </a:lnTo>
                  <a:lnTo>
                    <a:pt x="12566" y="258262"/>
                  </a:lnTo>
                  <a:lnTo>
                    <a:pt x="27645" y="214848"/>
                  </a:lnTo>
                  <a:lnTo>
                    <a:pt x="48030" y="174225"/>
                  </a:lnTo>
                  <a:lnTo>
                    <a:pt x="73300" y="136812"/>
                  </a:lnTo>
                  <a:lnTo>
                    <a:pt x="103038" y="103028"/>
                  </a:lnTo>
                  <a:lnTo>
                    <a:pt x="136823" y="73293"/>
                  </a:lnTo>
                  <a:lnTo>
                    <a:pt x="174236" y="48024"/>
                  </a:lnTo>
                  <a:lnTo>
                    <a:pt x="214858" y="27642"/>
                  </a:lnTo>
                  <a:lnTo>
                    <a:pt x="258271" y="12564"/>
                  </a:lnTo>
                  <a:lnTo>
                    <a:pt x="304054" y="3211"/>
                  </a:lnTo>
                  <a:lnTo>
                    <a:pt x="351790" y="0"/>
                  </a:lnTo>
                  <a:lnTo>
                    <a:pt x="2220722" y="0"/>
                  </a:lnTo>
                  <a:lnTo>
                    <a:pt x="2268462" y="3211"/>
                  </a:lnTo>
                  <a:lnTo>
                    <a:pt x="2314249" y="12564"/>
                  </a:lnTo>
                  <a:lnTo>
                    <a:pt x="2357663" y="27642"/>
                  </a:lnTo>
                  <a:lnTo>
                    <a:pt x="2398286" y="48024"/>
                  </a:lnTo>
                  <a:lnTo>
                    <a:pt x="2435699" y="73293"/>
                  </a:lnTo>
                  <a:lnTo>
                    <a:pt x="2469483" y="103028"/>
                  </a:lnTo>
                  <a:lnTo>
                    <a:pt x="2499218" y="136812"/>
                  </a:lnTo>
                  <a:lnTo>
                    <a:pt x="2524487" y="174225"/>
                  </a:lnTo>
                  <a:lnTo>
                    <a:pt x="2544869" y="214848"/>
                  </a:lnTo>
                  <a:lnTo>
                    <a:pt x="2559947" y="258262"/>
                  </a:lnTo>
                  <a:lnTo>
                    <a:pt x="2569300" y="304049"/>
                  </a:lnTo>
                  <a:lnTo>
                    <a:pt x="2572512" y="351790"/>
                  </a:lnTo>
                  <a:lnTo>
                    <a:pt x="2572512" y="1758937"/>
                  </a:lnTo>
                  <a:lnTo>
                    <a:pt x="2569300" y="1806675"/>
                  </a:lnTo>
                  <a:lnTo>
                    <a:pt x="2559947" y="1852461"/>
                  </a:lnTo>
                  <a:lnTo>
                    <a:pt x="2544869" y="1895875"/>
                  </a:lnTo>
                  <a:lnTo>
                    <a:pt x="2524487" y="1936499"/>
                  </a:lnTo>
                  <a:lnTo>
                    <a:pt x="2499218" y="1973914"/>
                  </a:lnTo>
                  <a:lnTo>
                    <a:pt x="2469483" y="2007700"/>
                  </a:lnTo>
                  <a:lnTo>
                    <a:pt x="2435699" y="2037438"/>
                  </a:lnTo>
                  <a:lnTo>
                    <a:pt x="2398286" y="2062709"/>
                  </a:lnTo>
                  <a:lnTo>
                    <a:pt x="2357663" y="2083093"/>
                  </a:lnTo>
                  <a:lnTo>
                    <a:pt x="2314249" y="2098173"/>
                  </a:lnTo>
                  <a:lnTo>
                    <a:pt x="2268462" y="2107528"/>
                  </a:lnTo>
                  <a:lnTo>
                    <a:pt x="2220722" y="2110740"/>
                  </a:lnTo>
                  <a:lnTo>
                    <a:pt x="351790" y="2110740"/>
                  </a:lnTo>
                  <a:lnTo>
                    <a:pt x="304054" y="2107528"/>
                  </a:lnTo>
                  <a:lnTo>
                    <a:pt x="258271" y="2098173"/>
                  </a:lnTo>
                  <a:lnTo>
                    <a:pt x="214858" y="2083093"/>
                  </a:lnTo>
                  <a:lnTo>
                    <a:pt x="174236" y="2062709"/>
                  </a:lnTo>
                  <a:lnTo>
                    <a:pt x="136823" y="2037438"/>
                  </a:lnTo>
                  <a:lnTo>
                    <a:pt x="103038" y="2007700"/>
                  </a:lnTo>
                  <a:lnTo>
                    <a:pt x="73300" y="1973914"/>
                  </a:lnTo>
                  <a:lnTo>
                    <a:pt x="48030" y="1936499"/>
                  </a:lnTo>
                  <a:lnTo>
                    <a:pt x="27645" y="1895875"/>
                  </a:lnTo>
                  <a:lnTo>
                    <a:pt x="12566" y="1852461"/>
                  </a:lnTo>
                  <a:lnTo>
                    <a:pt x="3211" y="1806675"/>
                  </a:lnTo>
                  <a:lnTo>
                    <a:pt x="0" y="1758937"/>
                  </a:lnTo>
                  <a:lnTo>
                    <a:pt x="0" y="35179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276843" y="330708"/>
            <a:ext cx="3700779" cy="2120265"/>
          </a:xfrm>
          <a:prstGeom prst="rect">
            <a:avLst/>
          </a:prstGeom>
          <a:solidFill>
            <a:srgbClr val="F8CAAC"/>
          </a:solidFill>
        </p:spPr>
        <p:txBody>
          <a:bodyPr vert="horz" wrap="square" lIns="0" tIns="127000" rIns="0" bIns="0" rtlCol="0">
            <a:spAutoFit/>
          </a:bodyPr>
          <a:lstStyle/>
          <a:p>
            <a:pPr marL="396240">
              <a:lnSpc>
                <a:spcPct val="100000"/>
              </a:lnSpc>
              <a:spcBef>
                <a:spcPts val="1000"/>
              </a:spcBef>
            </a:pPr>
            <a:r>
              <a:rPr sz="1800" spc="-10" dirty="0">
                <a:latin typeface="Arial MT"/>
                <a:cs typeface="Arial MT"/>
              </a:rPr>
              <a:t>Hémorragie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méningée</a:t>
            </a:r>
            <a:endParaRPr sz="1800">
              <a:latin typeface="Arial MT"/>
              <a:cs typeface="Arial MT"/>
            </a:endParaRPr>
          </a:p>
          <a:p>
            <a:pPr marL="39624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Arial MT"/>
                <a:cs typeface="Arial MT"/>
              </a:rPr>
              <a:t>HTIC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aiguë</a:t>
            </a:r>
            <a:endParaRPr sz="1800">
              <a:latin typeface="Arial MT"/>
              <a:cs typeface="Arial MT"/>
            </a:endParaRPr>
          </a:p>
          <a:p>
            <a:pPr marL="396240" marR="312420">
              <a:lnSpc>
                <a:spcPct val="150000"/>
              </a:lnSpc>
            </a:pPr>
            <a:r>
              <a:rPr sz="1800" dirty="0">
                <a:latin typeface="Arial MT"/>
                <a:cs typeface="Arial MT"/>
              </a:rPr>
              <a:t>Causes</a:t>
            </a:r>
            <a:r>
              <a:rPr sz="1800" spc="38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vasculaires </a:t>
            </a:r>
            <a:r>
              <a:rPr sz="1800" dirty="0">
                <a:latin typeface="Arial MT"/>
                <a:cs typeface="Arial MT"/>
              </a:rPr>
              <a:t>Glaucome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aigu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à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angle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fermé </a:t>
            </a:r>
            <a:r>
              <a:rPr sz="1800" dirty="0">
                <a:latin typeface="Arial MT"/>
                <a:cs typeface="Arial MT"/>
              </a:rPr>
              <a:t>Sinusite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aiguë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559040" y="330708"/>
            <a:ext cx="338455" cy="2095500"/>
          </a:xfrm>
          <a:custGeom>
            <a:avLst/>
            <a:gdLst/>
            <a:ahLst/>
            <a:cxnLst/>
            <a:rect l="l" t="t" r="r" b="b"/>
            <a:pathLst>
              <a:path w="338454" h="2095500">
                <a:moveTo>
                  <a:pt x="338327" y="2095500"/>
                </a:moveTo>
                <a:lnTo>
                  <a:pt x="272462" y="2093291"/>
                </a:lnTo>
                <a:lnTo>
                  <a:pt x="218694" y="2087260"/>
                </a:lnTo>
                <a:lnTo>
                  <a:pt x="182451" y="2078301"/>
                </a:lnTo>
                <a:lnTo>
                  <a:pt x="169163" y="2067306"/>
                </a:lnTo>
                <a:lnTo>
                  <a:pt x="169163" y="1075944"/>
                </a:lnTo>
                <a:lnTo>
                  <a:pt x="155876" y="1064948"/>
                </a:lnTo>
                <a:lnTo>
                  <a:pt x="119633" y="1055989"/>
                </a:lnTo>
                <a:lnTo>
                  <a:pt x="65865" y="1049958"/>
                </a:lnTo>
                <a:lnTo>
                  <a:pt x="0" y="1047750"/>
                </a:lnTo>
                <a:lnTo>
                  <a:pt x="65865" y="1045541"/>
                </a:lnTo>
                <a:lnTo>
                  <a:pt x="119633" y="1039510"/>
                </a:lnTo>
                <a:lnTo>
                  <a:pt x="155876" y="1030551"/>
                </a:lnTo>
                <a:lnTo>
                  <a:pt x="169163" y="1019556"/>
                </a:lnTo>
                <a:lnTo>
                  <a:pt x="169163" y="28194"/>
                </a:lnTo>
                <a:lnTo>
                  <a:pt x="182451" y="17198"/>
                </a:lnTo>
                <a:lnTo>
                  <a:pt x="218693" y="8239"/>
                </a:lnTo>
                <a:lnTo>
                  <a:pt x="272462" y="2208"/>
                </a:lnTo>
                <a:lnTo>
                  <a:pt x="338327" y="0"/>
                </a:lnTo>
              </a:path>
            </a:pathLst>
          </a:custGeom>
          <a:ln w="63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834883" y="2558795"/>
            <a:ext cx="4255135" cy="1934210"/>
          </a:xfrm>
          <a:prstGeom prst="rect">
            <a:avLst/>
          </a:prstGeom>
          <a:solidFill>
            <a:srgbClr val="DEEBF7"/>
          </a:solidFill>
        </p:spPr>
        <p:txBody>
          <a:bodyPr vert="horz" wrap="square" lIns="0" tIns="127000" rIns="0" bIns="0" rtlCol="0">
            <a:spAutoFit/>
          </a:bodyPr>
          <a:lstStyle/>
          <a:p>
            <a:pPr marL="63373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solidFill>
                  <a:srgbClr val="DAE2F3"/>
                </a:solidFill>
                <a:latin typeface="Arial MT"/>
                <a:cs typeface="Arial MT"/>
              </a:rPr>
              <a:t>Méningite</a:t>
            </a:r>
            <a:r>
              <a:rPr sz="1800" spc="-95" dirty="0">
                <a:solidFill>
                  <a:srgbClr val="DAE2F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DAE2F3"/>
                </a:solidFill>
                <a:latin typeface="Arial MT"/>
                <a:cs typeface="Arial MT"/>
              </a:rPr>
              <a:t>subaiguë</a:t>
            </a:r>
            <a:endParaRPr sz="1800">
              <a:latin typeface="Arial MT"/>
              <a:cs typeface="Arial MT"/>
            </a:endParaRPr>
          </a:p>
          <a:p>
            <a:pPr marL="63373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solidFill>
                  <a:srgbClr val="DAE2F3"/>
                </a:solidFill>
                <a:latin typeface="Arial MT"/>
                <a:cs typeface="Arial MT"/>
              </a:rPr>
              <a:t>méningoencéphalite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00">
              <a:latin typeface="Arial MT"/>
              <a:cs typeface="Arial MT"/>
            </a:endParaRPr>
          </a:p>
          <a:p>
            <a:pPr marL="63373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DAE2F3"/>
                </a:solidFill>
                <a:latin typeface="Arial MT"/>
                <a:cs typeface="Arial MT"/>
              </a:rPr>
              <a:t>HTIC</a:t>
            </a:r>
            <a:r>
              <a:rPr sz="1800" spc="-25" dirty="0">
                <a:solidFill>
                  <a:srgbClr val="DAE2F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DAE2F3"/>
                </a:solidFill>
                <a:latin typeface="Arial MT"/>
                <a:cs typeface="Arial MT"/>
              </a:rPr>
              <a:t>subaiguë</a:t>
            </a:r>
            <a:endParaRPr sz="1800">
              <a:latin typeface="Arial MT"/>
              <a:cs typeface="Arial MT"/>
            </a:endParaRPr>
          </a:p>
          <a:p>
            <a:pPr marL="618490">
              <a:lnSpc>
                <a:spcPct val="100000"/>
              </a:lnSpc>
              <a:spcBef>
                <a:spcPts val="1880"/>
              </a:spcBef>
            </a:pPr>
            <a:r>
              <a:rPr sz="1800" dirty="0">
                <a:solidFill>
                  <a:srgbClr val="DAE2F3"/>
                </a:solidFill>
                <a:latin typeface="Arial MT"/>
                <a:cs typeface="Arial MT"/>
              </a:rPr>
              <a:t>Maladie</a:t>
            </a:r>
            <a:r>
              <a:rPr sz="1800" spc="-55" dirty="0">
                <a:solidFill>
                  <a:srgbClr val="DAE2F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DAE2F3"/>
                </a:solidFill>
                <a:latin typeface="Arial MT"/>
                <a:cs typeface="Arial MT"/>
              </a:rPr>
              <a:t>de</a:t>
            </a:r>
            <a:r>
              <a:rPr sz="1800" spc="-55" dirty="0">
                <a:solidFill>
                  <a:srgbClr val="DAE2F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DAE2F3"/>
                </a:solidFill>
                <a:latin typeface="Arial MT"/>
                <a:cs typeface="Arial MT"/>
              </a:rPr>
              <a:t>Horton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807" rIns="0" bIns="0" rtlCol="0">
            <a:spAutoFit/>
          </a:bodyPr>
          <a:lstStyle/>
          <a:p>
            <a:pPr marL="61976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Hémorragie</a:t>
            </a:r>
            <a:r>
              <a:rPr sz="4800" spc="-65" dirty="0"/>
              <a:t> </a:t>
            </a:r>
            <a:r>
              <a:rPr sz="4800" spc="-10" dirty="0"/>
              <a:t>méningée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468274" y="1323042"/>
            <a:ext cx="8896985" cy="128397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Urgence</a:t>
            </a:r>
            <a:r>
              <a:rPr sz="24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diagnostique</a:t>
            </a:r>
            <a:r>
              <a:rPr sz="2400" b="1" spc="-7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et</a:t>
            </a:r>
            <a:r>
              <a:rPr sz="24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Arial"/>
                <a:cs typeface="Arial"/>
              </a:rPr>
              <a:t>thérapeutique</a:t>
            </a:r>
            <a:endParaRPr sz="2400">
              <a:latin typeface="Arial"/>
              <a:cs typeface="Arial"/>
            </a:endParaRPr>
          </a:p>
          <a:p>
            <a:pPr marL="240029" indent="-227329">
              <a:lnSpc>
                <a:spcPct val="100000"/>
              </a:lnSpc>
              <a:spcBef>
                <a:spcPts val="420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Céphalée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d’apparition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«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explosive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»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en</a:t>
            </a:r>
            <a:r>
              <a:rPr sz="2400" b="1" spc="-7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«</a:t>
            </a:r>
            <a:r>
              <a:rPr sz="2400" b="1" spc="-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coup</a:t>
            </a:r>
            <a:r>
              <a:rPr sz="2400" b="1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de</a:t>
            </a:r>
            <a:r>
              <a:rPr sz="2400" b="1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tonnerre</a:t>
            </a:r>
            <a:r>
              <a:rPr sz="2400" b="1" spc="-7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C00000"/>
                </a:solidFill>
                <a:latin typeface="Arial"/>
                <a:cs typeface="Arial"/>
              </a:rPr>
              <a:t>»),</a:t>
            </a:r>
            <a:endParaRPr sz="2400">
              <a:latin typeface="Arial"/>
              <a:cs typeface="Arial"/>
            </a:endParaRPr>
          </a:p>
          <a:p>
            <a:pPr marL="240029" indent="-227329">
              <a:lnSpc>
                <a:spcPct val="100000"/>
              </a:lnSpc>
              <a:spcBef>
                <a:spcPts val="420"/>
              </a:spcBef>
              <a:buChar char="•"/>
              <a:tabLst>
                <a:tab pos="240029" algn="l"/>
              </a:tabLst>
            </a:pPr>
            <a:r>
              <a:rPr sz="2400" spc="-10" dirty="0">
                <a:latin typeface="Arial MT"/>
                <a:cs typeface="Arial MT"/>
              </a:rPr>
              <a:t>Syndrome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méningé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b="1" spc="-10" dirty="0">
                <a:latin typeface="Arial"/>
                <a:cs typeface="Arial"/>
              </a:rPr>
              <a:t>subfébrile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8274" y="5861710"/>
            <a:ext cx="10500360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7329">
              <a:lnSpc>
                <a:spcPct val="114599"/>
              </a:lnSpc>
              <a:spcBef>
                <a:spcPts val="100"/>
              </a:spcBef>
              <a:buChar char="•"/>
              <a:tabLst>
                <a:tab pos="240029" algn="l"/>
              </a:tabLst>
            </a:pPr>
            <a:r>
              <a:rPr sz="2400" spc="-10" dirty="0">
                <a:latin typeface="Arial MT"/>
                <a:cs typeface="Arial MT"/>
              </a:rPr>
              <a:t>Même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b="1" spc="-10" dirty="0">
                <a:solidFill>
                  <a:srgbClr val="385622"/>
                </a:solidFill>
                <a:latin typeface="Arial"/>
                <a:cs typeface="Arial"/>
              </a:rPr>
              <a:t>l’imagerie</a:t>
            </a:r>
            <a:r>
              <a:rPr sz="2400" b="1" spc="-135" dirty="0">
                <a:solidFill>
                  <a:srgbClr val="385622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85622"/>
                </a:solidFill>
                <a:latin typeface="Arial"/>
                <a:cs typeface="Arial"/>
              </a:rPr>
              <a:t>cérébrale</a:t>
            </a:r>
            <a:r>
              <a:rPr sz="2400" b="1" spc="-95" dirty="0">
                <a:solidFill>
                  <a:srgbClr val="385622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85622"/>
                </a:solidFill>
                <a:latin typeface="Arial"/>
                <a:cs typeface="Arial"/>
              </a:rPr>
              <a:t>normale</a:t>
            </a:r>
            <a:r>
              <a:rPr sz="2400" b="1" spc="-80" dirty="0">
                <a:solidFill>
                  <a:srgbClr val="385622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ponction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lombaire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xanthochromie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pigments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biliaires)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58029" y="2834385"/>
            <a:ext cx="4889500" cy="1344930"/>
            <a:chOff x="4558029" y="2834385"/>
            <a:chExt cx="4889500" cy="1344930"/>
          </a:xfrm>
        </p:grpSpPr>
        <p:sp>
          <p:nvSpPr>
            <p:cNvPr id="6" name="object 6"/>
            <p:cNvSpPr/>
            <p:nvPr/>
          </p:nvSpPr>
          <p:spPr>
            <a:xfrm>
              <a:off x="4564379" y="2840735"/>
              <a:ext cx="4876800" cy="1332230"/>
            </a:xfrm>
            <a:custGeom>
              <a:avLst/>
              <a:gdLst/>
              <a:ahLst/>
              <a:cxnLst/>
              <a:rect l="l" t="t" r="r" b="b"/>
              <a:pathLst>
                <a:path w="4876800" h="1332229">
                  <a:moveTo>
                    <a:pt x="4210812" y="0"/>
                  </a:moveTo>
                  <a:lnTo>
                    <a:pt x="4210812" y="166497"/>
                  </a:lnTo>
                  <a:lnTo>
                    <a:pt x="0" y="166497"/>
                  </a:lnTo>
                  <a:lnTo>
                    <a:pt x="0" y="1165478"/>
                  </a:lnTo>
                  <a:lnTo>
                    <a:pt x="4210812" y="1165478"/>
                  </a:lnTo>
                  <a:lnTo>
                    <a:pt x="4210812" y="1331976"/>
                  </a:lnTo>
                  <a:lnTo>
                    <a:pt x="4876800" y="665988"/>
                  </a:lnTo>
                  <a:lnTo>
                    <a:pt x="4210812" y="0"/>
                  </a:lnTo>
                  <a:close/>
                </a:path>
              </a:pathLst>
            </a:custGeom>
            <a:solidFill>
              <a:srgbClr val="CFD4EA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64379" y="2840735"/>
              <a:ext cx="4876800" cy="1332230"/>
            </a:xfrm>
            <a:custGeom>
              <a:avLst/>
              <a:gdLst/>
              <a:ahLst/>
              <a:cxnLst/>
              <a:rect l="l" t="t" r="r" b="b"/>
              <a:pathLst>
                <a:path w="4876800" h="1332229">
                  <a:moveTo>
                    <a:pt x="0" y="166497"/>
                  </a:moveTo>
                  <a:lnTo>
                    <a:pt x="4210812" y="166497"/>
                  </a:lnTo>
                  <a:lnTo>
                    <a:pt x="4210812" y="0"/>
                  </a:lnTo>
                  <a:lnTo>
                    <a:pt x="4876800" y="665988"/>
                  </a:lnTo>
                  <a:lnTo>
                    <a:pt x="4210812" y="1331976"/>
                  </a:lnTo>
                  <a:lnTo>
                    <a:pt x="4210812" y="1165478"/>
                  </a:lnTo>
                  <a:lnTo>
                    <a:pt x="0" y="1165478"/>
                  </a:lnTo>
                  <a:lnTo>
                    <a:pt x="0" y="166497"/>
                  </a:lnTo>
                  <a:close/>
                </a:path>
              </a:pathLst>
            </a:custGeom>
            <a:ln w="12700">
              <a:solidFill>
                <a:srgbClr val="CFD4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565650" y="2961589"/>
            <a:ext cx="4222750" cy="596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ts val="2245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Hyperdensité</a:t>
            </a:r>
            <a:r>
              <a:rPr sz="20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spontanée</a:t>
            </a:r>
            <a:r>
              <a:rPr sz="2000" b="1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dans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les</a:t>
            </a:r>
            <a:endParaRPr sz="2000">
              <a:latin typeface="Arial MT"/>
              <a:cs typeface="Arial MT"/>
            </a:endParaRPr>
          </a:p>
          <a:p>
            <a:pPr marL="241300">
              <a:lnSpc>
                <a:spcPts val="2245"/>
              </a:lnSpc>
            </a:pPr>
            <a:r>
              <a:rPr sz="2000" dirty="0">
                <a:latin typeface="Arial MT"/>
                <a:cs typeface="Arial MT"/>
              </a:rPr>
              <a:t>espaces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sous-</a:t>
            </a:r>
            <a:r>
              <a:rPr sz="2000" spc="-10" dirty="0">
                <a:latin typeface="Arial MT"/>
                <a:cs typeface="Arial MT"/>
              </a:rPr>
              <a:t>arachnoïdiens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307338" y="2834385"/>
            <a:ext cx="3263900" cy="1344930"/>
            <a:chOff x="1307338" y="2834385"/>
            <a:chExt cx="3263900" cy="1344930"/>
          </a:xfrm>
        </p:grpSpPr>
        <p:sp>
          <p:nvSpPr>
            <p:cNvPr id="10" name="object 10"/>
            <p:cNvSpPr/>
            <p:nvPr/>
          </p:nvSpPr>
          <p:spPr>
            <a:xfrm>
              <a:off x="1313688" y="2840735"/>
              <a:ext cx="3251200" cy="1332230"/>
            </a:xfrm>
            <a:custGeom>
              <a:avLst/>
              <a:gdLst/>
              <a:ahLst/>
              <a:cxnLst/>
              <a:rect l="l" t="t" r="r" b="b"/>
              <a:pathLst>
                <a:path w="3251200" h="1332229">
                  <a:moveTo>
                    <a:pt x="3028696" y="0"/>
                  </a:moveTo>
                  <a:lnTo>
                    <a:pt x="221996" y="0"/>
                  </a:lnTo>
                  <a:lnTo>
                    <a:pt x="177270" y="4512"/>
                  </a:lnTo>
                  <a:lnTo>
                    <a:pt x="135606" y="17452"/>
                  </a:lnTo>
                  <a:lnTo>
                    <a:pt x="97897" y="37926"/>
                  </a:lnTo>
                  <a:lnTo>
                    <a:pt x="65039" y="65039"/>
                  </a:lnTo>
                  <a:lnTo>
                    <a:pt x="37926" y="97897"/>
                  </a:lnTo>
                  <a:lnTo>
                    <a:pt x="17452" y="135606"/>
                  </a:lnTo>
                  <a:lnTo>
                    <a:pt x="4512" y="177270"/>
                  </a:lnTo>
                  <a:lnTo>
                    <a:pt x="0" y="221996"/>
                  </a:lnTo>
                  <a:lnTo>
                    <a:pt x="0" y="1109980"/>
                  </a:lnTo>
                  <a:lnTo>
                    <a:pt x="4512" y="1154705"/>
                  </a:lnTo>
                  <a:lnTo>
                    <a:pt x="17452" y="1196369"/>
                  </a:lnTo>
                  <a:lnTo>
                    <a:pt x="37926" y="1234078"/>
                  </a:lnTo>
                  <a:lnTo>
                    <a:pt x="65039" y="1266936"/>
                  </a:lnTo>
                  <a:lnTo>
                    <a:pt x="97897" y="1294049"/>
                  </a:lnTo>
                  <a:lnTo>
                    <a:pt x="135606" y="1314523"/>
                  </a:lnTo>
                  <a:lnTo>
                    <a:pt x="177270" y="1327463"/>
                  </a:lnTo>
                  <a:lnTo>
                    <a:pt x="221996" y="1331976"/>
                  </a:lnTo>
                  <a:lnTo>
                    <a:pt x="3028696" y="1331976"/>
                  </a:lnTo>
                  <a:lnTo>
                    <a:pt x="3073421" y="1327463"/>
                  </a:lnTo>
                  <a:lnTo>
                    <a:pt x="3115085" y="1314523"/>
                  </a:lnTo>
                  <a:lnTo>
                    <a:pt x="3152794" y="1294049"/>
                  </a:lnTo>
                  <a:lnTo>
                    <a:pt x="3185652" y="1266936"/>
                  </a:lnTo>
                  <a:lnTo>
                    <a:pt x="3212765" y="1234078"/>
                  </a:lnTo>
                  <a:lnTo>
                    <a:pt x="3233239" y="1196369"/>
                  </a:lnTo>
                  <a:lnTo>
                    <a:pt x="3246179" y="1154705"/>
                  </a:lnTo>
                  <a:lnTo>
                    <a:pt x="3250691" y="1109980"/>
                  </a:lnTo>
                  <a:lnTo>
                    <a:pt x="3250691" y="221996"/>
                  </a:lnTo>
                  <a:lnTo>
                    <a:pt x="3246179" y="177270"/>
                  </a:lnTo>
                  <a:lnTo>
                    <a:pt x="3233239" y="135606"/>
                  </a:lnTo>
                  <a:lnTo>
                    <a:pt x="3212765" y="97897"/>
                  </a:lnTo>
                  <a:lnTo>
                    <a:pt x="3185652" y="65039"/>
                  </a:lnTo>
                  <a:lnTo>
                    <a:pt x="3152794" y="37926"/>
                  </a:lnTo>
                  <a:lnTo>
                    <a:pt x="3115085" y="17452"/>
                  </a:lnTo>
                  <a:lnTo>
                    <a:pt x="3073421" y="4512"/>
                  </a:lnTo>
                  <a:lnTo>
                    <a:pt x="302869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13688" y="2840735"/>
              <a:ext cx="3251200" cy="1332230"/>
            </a:xfrm>
            <a:custGeom>
              <a:avLst/>
              <a:gdLst/>
              <a:ahLst/>
              <a:cxnLst/>
              <a:rect l="l" t="t" r="r" b="b"/>
              <a:pathLst>
                <a:path w="3251200" h="1332229">
                  <a:moveTo>
                    <a:pt x="0" y="221996"/>
                  </a:moveTo>
                  <a:lnTo>
                    <a:pt x="4512" y="177270"/>
                  </a:lnTo>
                  <a:lnTo>
                    <a:pt x="17452" y="135606"/>
                  </a:lnTo>
                  <a:lnTo>
                    <a:pt x="37926" y="97897"/>
                  </a:lnTo>
                  <a:lnTo>
                    <a:pt x="65039" y="65039"/>
                  </a:lnTo>
                  <a:lnTo>
                    <a:pt x="97897" y="37926"/>
                  </a:lnTo>
                  <a:lnTo>
                    <a:pt x="135606" y="17452"/>
                  </a:lnTo>
                  <a:lnTo>
                    <a:pt x="177270" y="4512"/>
                  </a:lnTo>
                  <a:lnTo>
                    <a:pt x="221996" y="0"/>
                  </a:lnTo>
                  <a:lnTo>
                    <a:pt x="3028696" y="0"/>
                  </a:lnTo>
                  <a:lnTo>
                    <a:pt x="3073421" y="4512"/>
                  </a:lnTo>
                  <a:lnTo>
                    <a:pt x="3115085" y="17452"/>
                  </a:lnTo>
                  <a:lnTo>
                    <a:pt x="3152794" y="37926"/>
                  </a:lnTo>
                  <a:lnTo>
                    <a:pt x="3185652" y="65039"/>
                  </a:lnTo>
                  <a:lnTo>
                    <a:pt x="3212765" y="97897"/>
                  </a:lnTo>
                  <a:lnTo>
                    <a:pt x="3233239" y="135606"/>
                  </a:lnTo>
                  <a:lnTo>
                    <a:pt x="3246179" y="177270"/>
                  </a:lnTo>
                  <a:lnTo>
                    <a:pt x="3250691" y="221996"/>
                  </a:lnTo>
                  <a:lnTo>
                    <a:pt x="3250691" y="1109980"/>
                  </a:lnTo>
                  <a:lnTo>
                    <a:pt x="3246179" y="1154705"/>
                  </a:lnTo>
                  <a:lnTo>
                    <a:pt x="3233239" y="1196369"/>
                  </a:lnTo>
                  <a:lnTo>
                    <a:pt x="3212765" y="1234078"/>
                  </a:lnTo>
                  <a:lnTo>
                    <a:pt x="3185652" y="1266936"/>
                  </a:lnTo>
                  <a:lnTo>
                    <a:pt x="3152794" y="1294049"/>
                  </a:lnTo>
                  <a:lnTo>
                    <a:pt x="3115085" y="1314523"/>
                  </a:lnTo>
                  <a:lnTo>
                    <a:pt x="3073421" y="1327463"/>
                  </a:lnTo>
                  <a:lnTo>
                    <a:pt x="3028696" y="1331976"/>
                  </a:lnTo>
                  <a:lnTo>
                    <a:pt x="221996" y="1331976"/>
                  </a:lnTo>
                  <a:lnTo>
                    <a:pt x="177270" y="1327463"/>
                  </a:lnTo>
                  <a:lnTo>
                    <a:pt x="135606" y="1314523"/>
                  </a:lnTo>
                  <a:lnTo>
                    <a:pt x="97897" y="1294049"/>
                  </a:lnTo>
                  <a:lnTo>
                    <a:pt x="65039" y="1266936"/>
                  </a:lnTo>
                  <a:lnTo>
                    <a:pt x="37926" y="1234078"/>
                  </a:lnTo>
                  <a:lnTo>
                    <a:pt x="17452" y="1196369"/>
                  </a:lnTo>
                  <a:lnTo>
                    <a:pt x="4512" y="1154705"/>
                  </a:lnTo>
                  <a:lnTo>
                    <a:pt x="0" y="1109980"/>
                  </a:lnTo>
                  <a:lnTo>
                    <a:pt x="0" y="22199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581403" y="2995041"/>
            <a:ext cx="2715895" cy="594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24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Scanner</a:t>
            </a:r>
            <a:r>
              <a:rPr sz="20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cérébral</a:t>
            </a:r>
            <a:r>
              <a:rPr sz="20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sans</a:t>
            </a:r>
            <a:endParaRPr sz="2000">
              <a:latin typeface="Arial"/>
              <a:cs typeface="Arial"/>
            </a:endParaRPr>
          </a:p>
          <a:p>
            <a:pPr marL="1905" algn="ctr">
              <a:lnSpc>
                <a:spcPts val="2240"/>
              </a:lnSpc>
            </a:pP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injection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58029" y="4298950"/>
            <a:ext cx="4889500" cy="1344930"/>
            <a:chOff x="4558029" y="4298950"/>
            <a:chExt cx="4889500" cy="1344930"/>
          </a:xfrm>
        </p:grpSpPr>
        <p:sp>
          <p:nvSpPr>
            <p:cNvPr id="14" name="object 14"/>
            <p:cNvSpPr/>
            <p:nvPr/>
          </p:nvSpPr>
          <p:spPr>
            <a:xfrm>
              <a:off x="4564379" y="4305300"/>
              <a:ext cx="4876800" cy="1332230"/>
            </a:xfrm>
            <a:custGeom>
              <a:avLst/>
              <a:gdLst/>
              <a:ahLst/>
              <a:cxnLst/>
              <a:rect l="l" t="t" r="r" b="b"/>
              <a:pathLst>
                <a:path w="4876800" h="1332229">
                  <a:moveTo>
                    <a:pt x="4210812" y="0"/>
                  </a:moveTo>
                  <a:lnTo>
                    <a:pt x="4210812" y="166497"/>
                  </a:lnTo>
                  <a:lnTo>
                    <a:pt x="0" y="166497"/>
                  </a:lnTo>
                  <a:lnTo>
                    <a:pt x="0" y="1165479"/>
                  </a:lnTo>
                  <a:lnTo>
                    <a:pt x="4210812" y="1165479"/>
                  </a:lnTo>
                  <a:lnTo>
                    <a:pt x="4210812" y="1331976"/>
                  </a:lnTo>
                  <a:lnTo>
                    <a:pt x="4876800" y="665988"/>
                  </a:lnTo>
                  <a:lnTo>
                    <a:pt x="4210812" y="0"/>
                  </a:lnTo>
                  <a:close/>
                </a:path>
              </a:pathLst>
            </a:custGeom>
            <a:solidFill>
              <a:srgbClr val="CFD4EA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64379" y="4305300"/>
              <a:ext cx="4876800" cy="1332230"/>
            </a:xfrm>
            <a:custGeom>
              <a:avLst/>
              <a:gdLst/>
              <a:ahLst/>
              <a:cxnLst/>
              <a:rect l="l" t="t" r="r" b="b"/>
              <a:pathLst>
                <a:path w="4876800" h="1332229">
                  <a:moveTo>
                    <a:pt x="0" y="166497"/>
                  </a:moveTo>
                  <a:lnTo>
                    <a:pt x="4210812" y="166497"/>
                  </a:lnTo>
                  <a:lnTo>
                    <a:pt x="4210812" y="0"/>
                  </a:lnTo>
                  <a:lnTo>
                    <a:pt x="4876800" y="665988"/>
                  </a:lnTo>
                  <a:lnTo>
                    <a:pt x="4210812" y="1331976"/>
                  </a:lnTo>
                  <a:lnTo>
                    <a:pt x="4210812" y="1165479"/>
                  </a:lnTo>
                  <a:lnTo>
                    <a:pt x="0" y="1165479"/>
                  </a:lnTo>
                  <a:lnTo>
                    <a:pt x="0" y="166497"/>
                  </a:lnTo>
                  <a:close/>
                </a:path>
              </a:pathLst>
            </a:custGeom>
            <a:ln w="12700">
              <a:solidFill>
                <a:srgbClr val="CFD4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565650" y="4755007"/>
            <a:ext cx="175196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har char="•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Plus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sensible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307338" y="4298950"/>
            <a:ext cx="3263900" cy="1344930"/>
            <a:chOff x="1307338" y="4298950"/>
            <a:chExt cx="3263900" cy="1344930"/>
          </a:xfrm>
        </p:grpSpPr>
        <p:sp>
          <p:nvSpPr>
            <p:cNvPr id="18" name="object 18"/>
            <p:cNvSpPr/>
            <p:nvPr/>
          </p:nvSpPr>
          <p:spPr>
            <a:xfrm>
              <a:off x="1313688" y="4305300"/>
              <a:ext cx="3251200" cy="1332230"/>
            </a:xfrm>
            <a:custGeom>
              <a:avLst/>
              <a:gdLst/>
              <a:ahLst/>
              <a:cxnLst/>
              <a:rect l="l" t="t" r="r" b="b"/>
              <a:pathLst>
                <a:path w="3251200" h="1332229">
                  <a:moveTo>
                    <a:pt x="3028696" y="0"/>
                  </a:moveTo>
                  <a:lnTo>
                    <a:pt x="221996" y="0"/>
                  </a:lnTo>
                  <a:lnTo>
                    <a:pt x="177270" y="4512"/>
                  </a:lnTo>
                  <a:lnTo>
                    <a:pt x="135606" y="17452"/>
                  </a:lnTo>
                  <a:lnTo>
                    <a:pt x="97897" y="37926"/>
                  </a:lnTo>
                  <a:lnTo>
                    <a:pt x="65039" y="65039"/>
                  </a:lnTo>
                  <a:lnTo>
                    <a:pt x="37926" y="97897"/>
                  </a:lnTo>
                  <a:lnTo>
                    <a:pt x="17452" y="135606"/>
                  </a:lnTo>
                  <a:lnTo>
                    <a:pt x="4512" y="177270"/>
                  </a:lnTo>
                  <a:lnTo>
                    <a:pt x="0" y="221995"/>
                  </a:lnTo>
                  <a:lnTo>
                    <a:pt x="0" y="1109980"/>
                  </a:lnTo>
                  <a:lnTo>
                    <a:pt x="4512" y="1154705"/>
                  </a:lnTo>
                  <a:lnTo>
                    <a:pt x="17452" y="1196369"/>
                  </a:lnTo>
                  <a:lnTo>
                    <a:pt x="37926" y="1234078"/>
                  </a:lnTo>
                  <a:lnTo>
                    <a:pt x="65039" y="1266936"/>
                  </a:lnTo>
                  <a:lnTo>
                    <a:pt x="97897" y="1294049"/>
                  </a:lnTo>
                  <a:lnTo>
                    <a:pt x="135606" y="1314523"/>
                  </a:lnTo>
                  <a:lnTo>
                    <a:pt x="177270" y="1327463"/>
                  </a:lnTo>
                  <a:lnTo>
                    <a:pt x="221996" y="1331976"/>
                  </a:lnTo>
                  <a:lnTo>
                    <a:pt x="3028696" y="1331976"/>
                  </a:lnTo>
                  <a:lnTo>
                    <a:pt x="3073421" y="1327463"/>
                  </a:lnTo>
                  <a:lnTo>
                    <a:pt x="3115085" y="1314523"/>
                  </a:lnTo>
                  <a:lnTo>
                    <a:pt x="3152794" y="1294049"/>
                  </a:lnTo>
                  <a:lnTo>
                    <a:pt x="3185652" y="1266936"/>
                  </a:lnTo>
                  <a:lnTo>
                    <a:pt x="3212765" y="1234078"/>
                  </a:lnTo>
                  <a:lnTo>
                    <a:pt x="3233239" y="1196369"/>
                  </a:lnTo>
                  <a:lnTo>
                    <a:pt x="3246179" y="1154705"/>
                  </a:lnTo>
                  <a:lnTo>
                    <a:pt x="3250691" y="1109980"/>
                  </a:lnTo>
                  <a:lnTo>
                    <a:pt x="3250691" y="221995"/>
                  </a:lnTo>
                  <a:lnTo>
                    <a:pt x="3246179" y="177270"/>
                  </a:lnTo>
                  <a:lnTo>
                    <a:pt x="3233239" y="135606"/>
                  </a:lnTo>
                  <a:lnTo>
                    <a:pt x="3212765" y="97897"/>
                  </a:lnTo>
                  <a:lnTo>
                    <a:pt x="3185652" y="65039"/>
                  </a:lnTo>
                  <a:lnTo>
                    <a:pt x="3152794" y="37926"/>
                  </a:lnTo>
                  <a:lnTo>
                    <a:pt x="3115085" y="17452"/>
                  </a:lnTo>
                  <a:lnTo>
                    <a:pt x="3073421" y="4512"/>
                  </a:lnTo>
                  <a:lnTo>
                    <a:pt x="302869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13688" y="4305300"/>
              <a:ext cx="3251200" cy="1332230"/>
            </a:xfrm>
            <a:custGeom>
              <a:avLst/>
              <a:gdLst/>
              <a:ahLst/>
              <a:cxnLst/>
              <a:rect l="l" t="t" r="r" b="b"/>
              <a:pathLst>
                <a:path w="3251200" h="1332229">
                  <a:moveTo>
                    <a:pt x="0" y="221995"/>
                  </a:moveTo>
                  <a:lnTo>
                    <a:pt x="4512" y="177270"/>
                  </a:lnTo>
                  <a:lnTo>
                    <a:pt x="17452" y="135606"/>
                  </a:lnTo>
                  <a:lnTo>
                    <a:pt x="37926" y="97897"/>
                  </a:lnTo>
                  <a:lnTo>
                    <a:pt x="65039" y="65039"/>
                  </a:lnTo>
                  <a:lnTo>
                    <a:pt x="97897" y="37926"/>
                  </a:lnTo>
                  <a:lnTo>
                    <a:pt x="135606" y="17452"/>
                  </a:lnTo>
                  <a:lnTo>
                    <a:pt x="177270" y="4512"/>
                  </a:lnTo>
                  <a:lnTo>
                    <a:pt x="221996" y="0"/>
                  </a:lnTo>
                  <a:lnTo>
                    <a:pt x="3028696" y="0"/>
                  </a:lnTo>
                  <a:lnTo>
                    <a:pt x="3073421" y="4512"/>
                  </a:lnTo>
                  <a:lnTo>
                    <a:pt x="3115085" y="17452"/>
                  </a:lnTo>
                  <a:lnTo>
                    <a:pt x="3152794" y="37926"/>
                  </a:lnTo>
                  <a:lnTo>
                    <a:pt x="3185652" y="65039"/>
                  </a:lnTo>
                  <a:lnTo>
                    <a:pt x="3212765" y="97897"/>
                  </a:lnTo>
                  <a:lnTo>
                    <a:pt x="3233239" y="135606"/>
                  </a:lnTo>
                  <a:lnTo>
                    <a:pt x="3246179" y="177270"/>
                  </a:lnTo>
                  <a:lnTo>
                    <a:pt x="3250691" y="221995"/>
                  </a:lnTo>
                  <a:lnTo>
                    <a:pt x="3250691" y="1109980"/>
                  </a:lnTo>
                  <a:lnTo>
                    <a:pt x="3246179" y="1154705"/>
                  </a:lnTo>
                  <a:lnTo>
                    <a:pt x="3233239" y="1196369"/>
                  </a:lnTo>
                  <a:lnTo>
                    <a:pt x="3212765" y="1234078"/>
                  </a:lnTo>
                  <a:lnTo>
                    <a:pt x="3185652" y="1266936"/>
                  </a:lnTo>
                  <a:lnTo>
                    <a:pt x="3152794" y="1294049"/>
                  </a:lnTo>
                  <a:lnTo>
                    <a:pt x="3115085" y="1314523"/>
                  </a:lnTo>
                  <a:lnTo>
                    <a:pt x="3073421" y="1327463"/>
                  </a:lnTo>
                  <a:lnTo>
                    <a:pt x="3028696" y="1331976"/>
                  </a:lnTo>
                  <a:lnTo>
                    <a:pt x="221996" y="1331976"/>
                  </a:lnTo>
                  <a:lnTo>
                    <a:pt x="177270" y="1327463"/>
                  </a:lnTo>
                  <a:lnTo>
                    <a:pt x="135606" y="1314523"/>
                  </a:lnTo>
                  <a:lnTo>
                    <a:pt x="97897" y="1294049"/>
                  </a:lnTo>
                  <a:lnTo>
                    <a:pt x="65039" y="1266936"/>
                  </a:lnTo>
                  <a:lnTo>
                    <a:pt x="37926" y="1234078"/>
                  </a:lnTo>
                  <a:lnTo>
                    <a:pt x="17452" y="1196369"/>
                  </a:lnTo>
                  <a:lnTo>
                    <a:pt x="4512" y="1154705"/>
                  </a:lnTo>
                  <a:lnTo>
                    <a:pt x="0" y="1109980"/>
                  </a:lnTo>
                  <a:lnTo>
                    <a:pt x="0" y="22199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493011" y="4643120"/>
            <a:ext cx="2893695" cy="59626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 indent="20955">
              <a:lnSpc>
                <a:spcPts val="2090"/>
              </a:lnSpc>
              <a:spcBef>
                <a:spcPts val="430"/>
              </a:spcBef>
            </a:pP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L’IRM</a:t>
            </a:r>
            <a:r>
              <a:rPr sz="20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(séquences</a:t>
            </a:r>
            <a:r>
              <a:rPr sz="20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 MT"/>
                <a:cs typeface="Arial MT"/>
              </a:rPr>
              <a:t>FLAIR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et</a:t>
            </a:r>
            <a:r>
              <a:rPr sz="2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T2* écho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gradient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807" rIns="0" bIns="0" rtlCol="0">
            <a:spAutoFit/>
          </a:bodyPr>
          <a:lstStyle/>
          <a:p>
            <a:pPr marL="61976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Hémorragie</a:t>
            </a:r>
            <a:r>
              <a:rPr sz="4800" spc="-65" dirty="0"/>
              <a:t> </a:t>
            </a:r>
            <a:r>
              <a:rPr sz="4800" spc="-10" dirty="0"/>
              <a:t>méningée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468274" y="1487259"/>
            <a:ext cx="6148705" cy="291465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65"/>
              </a:spcBef>
              <a:buChar char="•"/>
              <a:tabLst>
                <a:tab pos="240029" algn="l"/>
              </a:tabLst>
            </a:pPr>
            <a:r>
              <a:rPr sz="2800" dirty="0">
                <a:latin typeface="Arial MT"/>
                <a:cs typeface="Arial MT"/>
              </a:rPr>
              <a:t>Anévrisme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rompu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dans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80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%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cas</a:t>
            </a:r>
            <a:endParaRPr sz="28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Char char="•"/>
              <a:tabLst>
                <a:tab pos="240029" algn="l"/>
              </a:tabLst>
            </a:pPr>
            <a:r>
              <a:rPr sz="2800" dirty="0">
                <a:latin typeface="Arial MT"/>
                <a:cs typeface="Arial MT"/>
              </a:rPr>
              <a:t>Les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principales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complications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75"/>
              </a:spcBef>
              <a:buFont typeface="Arial MT"/>
              <a:buChar char="•"/>
            </a:pPr>
            <a:endParaRPr sz="2800">
              <a:latin typeface="Arial MT"/>
              <a:cs typeface="Arial MT"/>
            </a:endParaRPr>
          </a:p>
          <a:p>
            <a:pPr marL="812165" lvl="1" indent="-342265">
              <a:lnSpc>
                <a:spcPct val="100000"/>
              </a:lnSpc>
              <a:buSzPct val="50000"/>
              <a:buFont typeface="Symbol"/>
              <a:buChar char=""/>
              <a:tabLst>
                <a:tab pos="812165" algn="l"/>
              </a:tabLst>
            </a:pPr>
            <a:r>
              <a:rPr sz="2800" spc="-10" dirty="0">
                <a:latin typeface="Arial MT"/>
                <a:cs typeface="Arial MT"/>
              </a:rPr>
              <a:t>Vasospasme</a:t>
            </a:r>
            <a:endParaRPr sz="2800">
              <a:latin typeface="Arial MT"/>
              <a:cs typeface="Arial MT"/>
            </a:endParaRPr>
          </a:p>
          <a:p>
            <a:pPr marL="812165" lvl="1" indent="-342265">
              <a:lnSpc>
                <a:spcPct val="100000"/>
              </a:lnSpc>
              <a:spcBef>
                <a:spcPts val="459"/>
              </a:spcBef>
              <a:buSzPct val="50000"/>
              <a:buFont typeface="Symbol"/>
              <a:buChar char=""/>
              <a:tabLst>
                <a:tab pos="812165" algn="l"/>
              </a:tabLst>
            </a:pPr>
            <a:r>
              <a:rPr sz="2800" spc="-10" dirty="0">
                <a:latin typeface="Arial MT"/>
                <a:cs typeface="Arial MT"/>
              </a:rPr>
              <a:t>Resaignement</a:t>
            </a:r>
            <a:endParaRPr sz="2800">
              <a:latin typeface="Arial MT"/>
              <a:cs typeface="Arial MT"/>
            </a:endParaRPr>
          </a:p>
          <a:p>
            <a:pPr marL="812165" lvl="1" indent="-342265">
              <a:lnSpc>
                <a:spcPct val="100000"/>
              </a:lnSpc>
              <a:spcBef>
                <a:spcPts val="470"/>
              </a:spcBef>
              <a:buSzPct val="50000"/>
              <a:buFont typeface="Symbol"/>
              <a:buChar char=""/>
              <a:tabLst>
                <a:tab pos="812165" algn="l"/>
              </a:tabLst>
            </a:pPr>
            <a:r>
              <a:rPr sz="2800" spc="-10" dirty="0">
                <a:latin typeface="Arial MT"/>
                <a:cs typeface="Arial MT"/>
              </a:rPr>
              <a:t>Hydrocéphalie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995159" y="1325880"/>
            <a:ext cx="4677410" cy="4762500"/>
            <a:chOff x="6995159" y="1325880"/>
            <a:chExt cx="4677410" cy="47625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95159" y="1325880"/>
              <a:ext cx="4677156" cy="47625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918447" y="3305556"/>
              <a:ext cx="1083945" cy="492759"/>
            </a:xfrm>
            <a:custGeom>
              <a:avLst/>
              <a:gdLst/>
              <a:ahLst/>
              <a:cxnLst/>
              <a:rect l="l" t="t" r="r" b="b"/>
              <a:pathLst>
                <a:path w="1083945" h="492760">
                  <a:moveTo>
                    <a:pt x="0" y="246126"/>
                  </a:moveTo>
                  <a:lnTo>
                    <a:pt x="14309" y="189704"/>
                  </a:lnTo>
                  <a:lnTo>
                    <a:pt x="55068" y="137904"/>
                  </a:lnTo>
                  <a:lnTo>
                    <a:pt x="119025" y="92204"/>
                  </a:lnTo>
                  <a:lnTo>
                    <a:pt x="158686" y="72104"/>
                  </a:lnTo>
                  <a:lnTo>
                    <a:pt x="202927" y="54084"/>
                  </a:lnTo>
                  <a:lnTo>
                    <a:pt x="251341" y="38329"/>
                  </a:lnTo>
                  <a:lnTo>
                    <a:pt x="303522" y="25023"/>
                  </a:lnTo>
                  <a:lnTo>
                    <a:pt x="359063" y="14353"/>
                  </a:lnTo>
                  <a:lnTo>
                    <a:pt x="417558" y="6502"/>
                  </a:lnTo>
                  <a:lnTo>
                    <a:pt x="478599" y="1656"/>
                  </a:lnTo>
                  <a:lnTo>
                    <a:pt x="541781" y="0"/>
                  </a:lnTo>
                  <a:lnTo>
                    <a:pt x="604964" y="1656"/>
                  </a:lnTo>
                  <a:lnTo>
                    <a:pt x="666005" y="6502"/>
                  </a:lnTo>
                  <a:lnTo>
                    <a:pt x="724500" y="14353"/>
                  </a:lnTo>
                  <a:lnTo>
                    <a:pt x="780041" y="25023"/>
                  </a:lnTo>
                  <a:lnTo>
                    <a:pt x="832222" y="38329"/>
                  </a:lnTo>
                  <a:lnTo>
                    <a:pt x="880636" y="54084"/>
                  </a:lnTo>
                  <a:lnTo>
                    <a:pt x="924877" y="72104"/>
                  </a:lnTo>
                  <a:lnTo>
                    <a:pt x="964538" y="92204"/>
                  </a:lnTo>
                  <a:lnTo>
                    <a:pt x="999213" y="114199"/>
                  </a:lnTo>
                  <a:lnTo>
                    <a:pt x="1051978" y="163134"/>
                  </a:lnTo>
                  <a:lnTo>
                    <a:pt x="1079918" y="217430"/>
                  </a:lnTo>
                  <a:lnTo>
                    <a:pt x="1083563" y="246126"/>
                  </a:lnTo>
                  <a:lnTo>
                    <a:pt x="1079918" y="274821"/>
                  </a:lnTo>
                  <a:lnTo>
                    <a:pt x="1051978" y="329117"/>
                  </a:lnTo>
                  <a:lnTo>
                    <a:pt x="999213" y="378052"/>
                  </a:lnTo>
                  <a:lnTo>
                    <a:pt x="964538" y="400047"/>
                  </a:lnTo>
                  <a:lnTo>
                    <a:pt x="924877" y="420147"/>
                  </a:lnTo>
                  <a:lnTo>
                    <a:pt x="880636" y="438167"/>
                  </a:lnTo>
                  <a:lnTo>
                    <a:pt x="832222" y="453922"/>
                  </a:lnTo>
                  <a:lnTo>
                    <a:pt x="780041" y="467228"/>
                  </a:lnTo>
                  <a:lnTo>
                    <a:pt x="724500" y="477898"/>
                  </a:lnTo>
                  <a:lnTo>
                    <a:pt x="666005" y="485749"/>
                  </a:lnTo>
                  <a:lnTo>
                    <a:pt x="604964" y="490595"/>
                  </a:lnTo>
                  <a:lnTo>
                    <a:pt x="541781" y="492252"/>
                  </a:lnTo>
                  <a:lnTo>
                    <a:pt x="478599" y="490595"/>
                  </a:lnTo>
                  <a:lnTo>
                    <a:pt x="417558" y="485749"/>
                  </a:lnTo>
                  <a:lnTo>
                    <a:pt x="359063" y="477898"/>
                  </a:lnTo>
                  <a:lnTo>
                    <a:pt x="303522" y="467228"/>
                  </a:lnTo>
                  <a:lnTo>
                    <a:pt x="251341" y="453922"/>
                  </a:lnTo>
                  <a:lnTo>
                    <a:pt x="202927" y="438167"/>
                  </a:lnTo>
                  <a:lnTo>
                    <a:pt x="158686" y="420147"/>
                  </a:lnTo>
                  <a:lnTo>
                    <a:pt x="119025" y="400047"/>
                  </a:lnTo>
                  <a:lnTo>
                    <a:pt x="84350" y="378052"/>
                  </a:lnTo>
                  <a:lnTo>
                    <a:pt x="31585" y="329117"/>
                  </a:lnTo>
                  <a:lnTo>
                    <a:pt x="3645" y="274821"/>
                  </a:lnTo>
                  <a:lnTo>
                    <a:pt x="0" y="246126"/>
                  </a:lnTo>
                  <a:close/>
                </a:path>
              </a:pathLst>
            </a:custGeom>
            <a:ln w="5715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6306" rIns="0" bIns="0" rtlCol="0">
            <a:spAutoFit/>
          </a:bodyPr>
          <a:lstStyle/>
          <a:p>
            <a:pPr marL="255904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Accidents</a:t>
            </a:r>
            <a:r>
              <a:rPr sz="4800" spc="-250" dirty="0"/>
              <a:t> </a:t>
            </a:r>
            <a:r>
              <a:rPr sz="4800" dirty="0"/>
              <a:t>vasculaires</a:t>
            </a:r>
            <a:r>
              <a:rPr sz="4800" spc="-229" dirty="0"/>
              <a:t> </a:t>
            </a:r>
            <a:r>
              <a:rPr sz="4800" spc="-10" dirty="0"/>
              <a:t>cérébraux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226872" y="1655445"/>
            <a:ext cx="11132185" cy="4370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har char="•"/>
              <a:tabLst>
                <a:tab pos="241300" algn="l"/>
              </a:tabLst>
            </a:pPr>
            <a:r>
              <a:rPr sz="2600" dirty="0">
                <a:latin typeface="Arial MT"/>
                <a:cs typeface="Arial MT"/>
              </a:rPr>
              <a:t>Hématome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et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infarctus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cérébraux</a:t>
            </a:r>
            <a:endParaRPr sz="2600" dirty="0">
              <a:latin typeface="Arial MT"/>
              <a:cs typeface="Arial MT"/>
            </a:endParaRPr>
          </a:p>
          <a:p>
            <a:pPr marL="698500" lvl="1" indent="-228600">
              <a:lnSpc>
                <a:spcPct val="100000"/>
              </a:lnSpc>
              <a:spcBef>
                <a:spcPts val="2050"/>
              </a:spcBef>
              <a:buChar char="•"/>
              <a:tabLst>
                <a:tab pos="698500" algn="l"/>
              </a:tabLst>
            </a:pPr>
            <a:r>
              <a:rPr sz="2600" dirty="0">
                <a:latin typeface="Arial MT"/>
                <a:cs typeface="Arial MT"/>
              </a:rPr>
              <a:t>hématome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intra-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parenchymateux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(surtout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localisation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cérébelleuse)</a:t>
            </a:r>
            <a:endParaRPr sz="2600" dirty="0">
              <a:latin typeface="Arial MT"/>
              <a:cs typeface="Arial MT"/>
            </a:endParaRPr>
          </a:p>
          <a:p>
            <a:pPr marL="698500" lvl="1" indent="-228600">
              <a:lnSpc>
                <a:spcPct val="100000"/>
              </a:lnSpc>
              <a:spcBef>
                <a:spcPts val="2065"/>
              </a:spcBef>
              <a:buChar char="•"/>
              <a:tabLst>
                <a:tab pos="698500" algn="l"/>
              </a:tabLst>
            </a:pPr>
            <a:r>
              <a:rPr sz="2600" dirty="0">
                <a:latin typeface="Arial MT"/>
                <a:cs typeface="Arial MT"/>
              </a:rPr>
              <a:t>Déficit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focal++++</a:t>
            </a:r>
            <a:endParaRPr sz="2600" dirty="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2555"/>
              </a:spcBef>
              <a:buChar char="•"/>
              <a:tabLst>
                <a:tab pos="241300" algn="l"/>
              </a:tabLst>
            </a:pPr>
            <a:r>
              <a:rPr sz="2600" dirty="0">
                <a:latin typeface="Arial MT"/>
                <a:cs typeface="Arial MT"/>
              </a:rPr>
              <a:t>Dissection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artérielle</a:t>
            </a:r>
            <a:endParaRPr sz="2600" dirty="0">
              <a:latin typeface="Arial MT"/>
              <a:cs typeface="Arial MT"/>
            </a:endParaRPr>
          </a:p>
          <a:p>
            <a:pPr marL="698500" lvl="1" indent="-228600">
              <a:lnSpc>
                <a:spcPct val="100000"/>
              </a:lnSpc>
              <a:spcBef>
                <a:spcPts val="2070"/>
              </a:spcBef>
              <a:buChar char="•"/>
              <a:tabLst>
                <a:tab pos="698500" algn="l"/>
              </a:tabLst>
            </a:pPr>
            <a:r>
              <a:rPr sz="2600" dirty="0">
                <a:latin typeface="Arial MT"/>
                <a:cs typeface="Arial MT"/>
              </a:rPr>
              <a:t>50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à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70%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(Les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céphalées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sont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le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symptôme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le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plus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fréquent)</a:t>
            </a:r>
            <a:endParaRPr sz="2600" dirty="0">
              <a:latin typeface="Arial MT"/>
              <a:cs typeface="Arial MT"/>
            </a:endParaRPr>
          </a:p>
          <a:p>
            <a:pPr marL="698500" marR="184785" lvl="1" indent="-228600">
              <a:lnSpc>
                <a:spcPct val="150000"/>
              </a:lnSpc>
              <a:spcBef>
                <a:spcPts val="500"/>
              </a:spcBef>
              <a:buChar char="•"/>
              <a:tabLst>
                <a:tab pos="698500" algn="l"/>
              </a:tabLst>
            </a:pPr>
            <a:r>
              <a:rPr sz="2600" dirty="0">
                <a:latin typeface="Arial MT"/>
                <a:cs typeface="Arial MT"/>
              </a:rPr>
              <a:t>Signes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associés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: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un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syndrome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de</a:t>
            </a:r>
            <a:r>
              <a:rPr sz="2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CBH</a:t>
            </a:r>
            <a:r>
              <a:rPr sz="2600" dirty="0">
                <a:latin typeface="Arial MT"/>
                <a:cs typeface="Arial MT"/>
              </a:rPr>
              <a:t>,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à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un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déficit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d’un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ou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plusieurs </a:t>
            </a:r>
            <a:r>
              <a:rPr sz="2600" dirty="0">
                <a:latin typeface="Arial MT"/>
                <a:cs typeface="Arial MT"/>
              </a:rPr>
              <a:t>nerfs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crâniens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(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IX,</a:t>
            </a:r>
            <a:r>
              <a:rPr sz="26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X,</a:t>
            </a:r>
            <a:r>
              <a:rPr sz="2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XI,</a:t>
            </a:r>
            <a:r>
              <a:rPr sz="26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C00000"/>
                </a:solidFill>
                <a:latin typeface="Arial"/>
                <a:cs typeface="Arial"/>
              </a:rPr>
              <a:t>XII</a:t>
            </a:r>
            <a:r>
              <a:rPr sz="2600" dirty="0">
                <a:latin typeface="Arial MT"/>
                <a:cs typeface="Arial MT"/>
              </a:rPr>
              <a:t>)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et/ou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des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acouphènes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pulsatiles</a:t>
            </a:r>
            <a:endParaRPr sz="2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40" y="337365"/>
            <a:ext cx="12034520" cy="1300480"/>
          </a:xfrm>
          <a:prstGeom prst="rect">
            <a:avLst/>
          </a:prstGeom>
        </p:spPr>
        <p:txBody>
          <a:bodyPr vert="horz" wrap="square" lIns="0" tIns="73913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Dissection</a:t>
            </a:r>
            <a:r>
              <a:rPr sz="4800" spc="-280" dirty="0"/>
              <a:t> </a:t>
            </a:r>
            <a:r>
              <a:rPr sz="4800" spc="-10" dirty="0"/>
              <a:t>artérielle</a:t>
            </a:r>
            <a:endParaRPr sz="4800" dirty="0"/>
          </a:p>
        </p:txBody>
      </p:sp>
      <p:sp>
        <p:nvSpPr>
          <p:cNvPr id="3" name="object 3"/>
          <p:cNvSpPr txBox="1"/>
          <p:nvPr/>
        </p:nvSpPr>
        <p:spPr>
          <a:xfrm>
            <a:off x="651459" y="1605637"/>
            <a:ext cx="11109325" cy="4575810"/>
          </a:xfrm>
          <a:prstGeom prst="rect">
            <a:avLst/>
          </a:prstGeom>
        </p:spPr>
        <p:txBody>
          <a:bodyPr vert="horz" wrap="square" lIns="0" tIns="1879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48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Arial"/>
                <a:cs typeface="Arial"/>
              </a:rPr>
              <a:t>Céphalées</a:t>
            </a:r>
            <a:r>
              <a:rPr sz="2600" b="1" spc="-40" dirty="0">
                <a:latin typeface="Arial"/>
                <a:cs typeface="Arial"/>
              </a:rPr>
              <a:t> </a:t>
            </a:r>
            <a:r>
              <a:rPr sz="2600" b="1" spc="-50" dirty="0">
                <a:latin typeface="Arial"/>
                <a:cs typeface="Arial"/>
              </a:rPr>
              <a:t>:</a:t>
            </a:r>
            <a:endParaRPr sz="2600">
              <a:latin typeface="Arial"/>
              <a:cs typeface="Arial"/>
            </a:endParaRPr>
          </a:p>
          <a:p>
            <a:pPr marL="696595" marR="5080" lvl="1" indent="-227329">
              <a:lnSpc>
                <a:spcPct val="130000"/>
              </a:lnSpc>
              <a:spcBef>
                <a:spcPts val="459"/>
              </a:spcBef>
              <a:buChar char="•"/>
              <a:tabLst>
                <a:tab pos="698500" algn="l"/>
              </a:tabLst>
            </a:pPr>
            <a:r>
              <a:rPr sz="2800" dirty="0">
                <a:latin typeface="Arial MT"/>
                <a:cs typeface="Arial MT"/>
              </a:rPr>
              <a:t>Ipsilatérales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à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la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dissection,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topographie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faciale,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rétro-</a:t>
            </a:r>
            <a:r>
              <a:rPr sz="2800" spc="-10" dirty="0">
                <a:latin typeface="Arial MT"/>
                <a:cs typeface="Arial MT"/>
              </a:rPr>
              <a:t>orbitaire, 	</a:t>
            </a:r>
            <a:r>
              <a:rPr sz="2800" dirty="0">
                <a:latin typeface="Arial MT"/>
                <a:cs typeface="Arial MT"/>
              </a:rPr>
              <a:t>temporale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ou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occipitale,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tensives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ou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pulsatiles,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constantes, 	</a:t>
            </a:r>
            <a:r>
              <a:rPr sz="2800" b="1" dirty="0">
                <a:latin typeface="Arial"/>
                <a:cs typeface="Arial"/>
              </a:rPr>
              <a:t>sévères</a:t>
            </a:r>
            <a:r>
              <a:rPr sz="2800" b="1" spc="-9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rarement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brutale</a:t>
            </a:r>
            <a:endParaRPr sz="28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spc="-10" dirty="0">
                <a:solidFill>
                  <a:srgbClr val="6F2F9F"/>
                </a:solidFill>
                <a:latin typeface="Arial"/>
                <a:cs typeface="Arial"/>
              </a:rPr>
              <a:t>Topographie</a:t>
            </a:r>
            <a:endParaRPr sz="2600">
              <a:latin typeface="Arial"/>
              <a:cs typeface="Arial"/>
            </a:endParaRPr>
          </a:p>
          <a:p>
            <a:pPr marL="698500" lvl="1" indent="-228600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698500" algn="l"/>
              </a:tabLst>
            </a:pPr>
            <a:r>
              <a:rPr sz="2600" b="1" dirty="0">
                <a:solidFill>
                  <a:srgbClr val="385622"/>
                </a:solidFill>
                <a:latin typeface="Arial"/>
                <a:cs typeface="Arial"/>
              </a:rPr>
              <a:t>Antérieure</a:t>
            </a:r>
            <a:r>
              <a:rPr sz="2600" b="1" spc="-30" dirty="0">
                <a:solidFill>
                  <a:srgbClr val="385622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 MT"/>
                <a:cs typeface="Arial MT"/>
              </a:rPr>
              <a:t>dans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les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dissections</a:t>
            </a:r>
            <a:r>
              <a:rPr sz="2600" spc="-10" dirty="0">
                <a:latin typeface="Arial MT"/>
                <a:cs typeface="Arial MT"/>
              </a:rPr>
              <a:t> carotidiennes</a:t>
            </a:r>
            <a:endParaRPr sz="2600">
              <a:latin typeface="Arial MT"/>
              <a:cs typeface="Arial MT"/>
            </a:endParaRPr>
          </a:p>
          <a:p>
            <a:pPr marL="698500" marR="1250950" lvl="1" indent="-229235">
              <a:lnSpc>
                <a:spcPct val="130000"/>
              </a:lnSpc>
              <a:spcBef>
                <a:spcPts val="495"/>
              </a:spcBef>
              <a:buFont typeface="Arial MT"/>
              <a:buChar char="•"/>
              <a:tabLst>
                <a:tab pos="698500" algn="l"/>
              </a:tabLst>
            </a:pPr>
            <a:r>
              <a:rPr sz="2600" b="1" dirty="0">
                <a:solidFill>
                  <a:srgbClr val="385622"/>
                </a:solidFill>
                <a:latin typeface="Arial"/>
                <a:cs typeface="Arial"/>
              </a:rPr>
              <a:t>Postérieure</a:t>
            </a:r>
            <a:r>
              <a:rPr sz="2600" b="1" spc="-40" dirty="0">
                <a:solidFill>
                  <a:srgbClr val="385622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 MT"/>
                <a:cs typeface="Arial MT"/>
              </a:rPr>
              <a:t>associées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à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des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cervicalgies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dans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les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dissections vertébrales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6367" y="3459637"/>
            <a:ext cx="10993755" cy="3019096"/>
          </a:xfrm>
          <a:prstGeom prst="rect">
            <a:avLst/>
          </a:prstGeom>
        </p:spPr>
        <p:txBody>
          <a:bodyPr vert="horz" wrap="square" lIns="0" tIns="17843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40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dirty="0">
                <a:latin typeface="Arial"/>
                <a:cs typeface="Arial"/>
              </a:rPr>
              <a:t>Dissection</a:t>
            </a:r>
            <a:r>
              <a:rPr sz="2800" b="1" spc="-18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artérielle</a:t>
            </a:r>
            <a:endParaRPr sz="2800" dirty="0">
              <a:latin typeface="Arial"/>
              <a:cs typeface="Arial"/>
            </a:endParaRPr>
          </a:p>
          <a:p>
            <a:pPr marL="697230" marR="5080" lvl="1" indent="-227329">
              <a:lnSpc>
                <a:spcPct val="140000"/>
              </a:lnSpc>
              <a:spcBef>
                <a:spcPts val="495"/>
              </a:spcBef>
              <a:buChar char="•"/>
              <a:tabLst>
                <a:tab pos="698500" algn="l"/>
              </a:tabLst>
            </a:pPr>
            <a:r>
              <a:rPr sz="2800" dirty="0" err="1">
                <a:latin typeface="Arial MT"/>
                <a:cs typeface="Arial MT"/>
              </a:rPr>
              <a:t>échodoppler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et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surtout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b="1" spc="-10" dirty="0">
                <a:latin typeface="Arial"/>
                <a:cs typeface="Arial"/>
              </a:rPr>
              <a:t>l’angioscanner</a:t>
            </a:r>
            <a:r>
              <a:rPr sz="2800" b="1" spc="-4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et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l’IRM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cervicale</a:t>
            </a:r>
            <a:r>
              <a:rPr sz="2800" b="1" spc="-30" dirty="0">
                <a:latin typeface="Arial"/>
                <a:cs typeface="Arial"/>
              </a:rPr>
              <a:t> </a:t>
            </a:r>
            <a:r>
              <a:rPr sz="2800" spc="-10" dirty="0">
                <a:latin typeface="Arial MT"/>
                <a:cs typeface="Arial MT"/>
              </a:rPr>
              <a:t>(avec 	</a:t>
            </a:r>
            <a:r>
              <a:rPr sz="2800" spc="-20" dirty="0">
                <a:latin typeface="Arial MT"/>
                <a:cs typeface="Arial MT"/>
              </a:rPr>
              <a:t>angio-</a:t>
            </a:r>
            <a:r>
              <a:rPr sz="2800" dirty="0">
                <a:latin typeface="Arial MT"/>
                <a:cs typeface="Arial MT"/>
              </a:rPr>
              <a:t>IRM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coupes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cervicales)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permettent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diagnostic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en 	</a:t>
            </a:r>
            <a:r>
              <a:rPr sz="2800" dirty="0">
                <a:latin typeface="Arial MT"/>
                <a:cs typeface="Arial MT"/>
              </a:rPr>
              <a:t>visualisant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un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rétrécissement</a:t>
            </a:r>
            <a:r>
              <a:rPr sz="2800" b="1" spc="-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artériel</a:t>
            </a:r>
            <a:r>
              <a:rPr sz="2800" b="1" spc="-1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avec</a:t>
            </a:r>
            <a:r>
              <a:rPr sz="2800" b="1" spc="-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un</a:t>
            </a:r>
            <a:r>
              <a:rPr sz="2800" b="1" spc="-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hématome</a:t>
            </a:r>
            <a:r>
              <a:rPr sz="2800" b="1" spc="-7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de</a:t>
            </a:r>
            <a:r>
              <a:rPr sz="2800" b="1" spc="-9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C00000"/>
                </a:solidFill>
                <a:latin typeface="Arial"/>
                <a:cs typeface="Arial"/>
              </a:rPr>
              <a:t>la 	</a:t>
            </a:r>
            <a:r>
              <a:rPr sz="2800" b="1" spc="-10" dirty="0">
                <a:solidFill>
                  <a:srgbClr val="C00000"/>
                </a:solidFill>
                <a:latin typeface="Arial"/>
                <a:cs typeface="Arial"/>
              </a:rPr>
              <a:t>paroi</a:t>
            </a:r>
            <a:endParaRPr sz="28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4800" y="134112"/>
            <a:ext cx="4088891" cy="398068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93370" y="405976"/>
            <a:ext cx="580263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Dissection</a:t>
            </a:r>
            <a:r>
              <a:rPr sz="4800" spc="-290" dirty="0"/>
              <a:t> </a:t>
            </a:r>
            <a:r>
              <a:rPr sz="4800" spc="-10" dirty="0"/>
              <a:t>artérielle</a:t>
            </a:r>
            <a:endParaRPr sz="4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256" y="151333"/>
            <a:ext cx="8939530" cy="141605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 marR="5080">
              <a:lnSpc>
                <a:spcPts val="5190"/>
              </a:lnSpc>
              <a:spcBef>
                <a:spcPts val="750"/>
              </a:spcBef>
            </a:pPr>
            <a:r>
              <a:rPr sz="4800" dirty="0"/>
              <a:t>Syndrome</a:t>
            </a:r>
            <a:r>
              <a:rPr sz="4800" spc="-90" dirty="0"/>
              <a:t> </a:t>
            </a:r>
            <a:r>
              <a:rPr sz="4800" dirty="0"/>
              <a:t>de</a:t>
            </a:r>
            <a:r>
              <a:rPr sz="4800" spc="-105" dirty="0"/>
              <a:t> </a:t>
            </a:r>
            <a:r>
              <a:rPr sz="4800" spc="-10" dirty="0"/>
              <a:t>vasoconstriction </a:t>
            </a:r>
            <a:r>
              <a:rPr sz="4800" dirty="0"/>
              <a:t>cérébrale</a:t>
            </a:r>
            <a:r>
              <a:rPr sz="4800" spc="-204" dirty="0"/>
              <a:t> </a:t>
            </a:r>
            <a:r>
              <a:rPr sz="4800" spc="-10" dirty="0"/>
              <a:t>réversible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336295" y="2080082"/>
            <a:ext cx="11562080" cy="461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Céphalée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isolée</a:t>
            </a:r>
            <a:endParaRPr sz="24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150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006FC0"/>
                </a:solidFill>
                <a:latin typeface="Arial"/>
                <a:cs typeface="Arial"/>
              </a:rPr>
              <a:t>début</a:t>
            </a:r>
            <a:r>
              <a:rPr sz="2400" b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6FC0"/>
                </a:solidFill>
                <a:latin typeface="Arial"/>
                <a:cs typeface="Arial"/>
              </a:rPr>
              <a:t>brutal</a:t>
            </a:r>
            <a:r>
              <a:rPr sz="2400" b="1" spc="-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durant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quelques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minutes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à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quelques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heures</a:t>
            </a:r>
            <a:endParaRPr sz="2400">
              <a:latin typeface="Arial"/>
              <a:cs typeface="Arial"/>
            </a:endParaRPr>
          </a:p>
          <a:p>
            <a:pPr marL="240029" indent="-227329">
              <a:lnSpc>
                <a:spcPct val="100000"/>
              </a:lnSpc>
              <a:spcBef>
                <a:spcPts val="2160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se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répétant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quelques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jours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à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mois</a:t>
            </a:r>
            <a:endParaRPr sz="2400">
              <a:latin typeface="Arial MT"/>
              <a:cs typeface="Arial MT"/>
            </a:endParaRPr>
          </a:p>
          <a:p>
            <a:pPr marL="239395" marR="1108710" indent="-227329">
              <a:lnSpc>
                <a:spcPct val="140000"/>
              </a:lnSpc>
              <a:spcBef>
                <a:spcPts val="1000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b="1" spc="-10" dirty="0">
                <a:latin typeface="Arial"/>
                <a:cs typeface="Arial"/>
              </a:rPr>
              <a:t>spontanés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ou</a:t>
            </a:r>
            <a:r>
              <a:rPr sz="2400" b="1" spc="-12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favorisés</a:t>
            </a:r>
            <a:r>
              <a:rPr sz="2400" b="1" spc="-10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par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l’effort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physique,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l’exposition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à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des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substances 	</a:t>
            </a:r>
            <a:r>
              <a:rPr sz="2400" dirty="0">
                <a:latin typeface="Arial MT"/>
                <a:cs typeface="Arial MT"/>
              </a:rPr>
              <a:t>vasoactives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contexte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du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post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partum</a:t>
            </a:r>
            <a:endParaRPr sz="24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150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TDM,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sont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normaux</a:t>
            </a:r>
            <a:endParaRPr sz="2400">
              <a:latin typeface="Arial MT"/>
              <a:cs typeface="Arial MT"/>
            </a:endParaRPr>
          </a:p>
          <a:p>
            <a:pPr marL="239395" marR="5080" indent="-227329">
              <a:lnSpc>
                <a:spcPct val="140100"/>
              </a:lnSpc>
              <a:spcBef>
                <a:spcPts val="1005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l’IRM</a:t>
            </a:r>
            <a:r>
              <a:rPr sz="2400" b="1" spc="-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ave</a:t>
            </a:r>
            <a:r>
              <a:rPr sz="2400" b="1" spc="-1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ARM</a:t>
            </a:r>
            <a:r>
              <a:rPr sz="24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cérébrale:</a:t>
            </a:r>
            <a:r>
              <a:rPr sz="24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latin typeface="Arial MT"/>
                <a:cs typeface="Arial MT"/>
              </a:rPr>
              <a:t>rétrécissements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et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des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dilatations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des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artères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cérébrales 	réversible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</a:t>
            </a:r>
            <a:r>
              <a:rPr sz="2400" spc="-25" dirty="0">
                <a:latin typeface="Arial MT"/>
                <a:cs typeface="Arial MT"/>
              </a:rPr>
              <a:t> 1-</a:t>
            </a:r>
            <a:r>
              <a:rPr sz="2400" dirty="0">
                <a:latin typeface="Arial MT"/>
                <a:cs typeface="Arial MT"/>
              </a:rPr>
              <a:t>3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mois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95331" y="134112"/>
            <a:ext cx="2124455" cy="19903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595960"/>
            <a:ext cx="195707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0" dirty="0"/>
              <a:t>Autres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916939" y="1983689"/>
            <a:ext cx="9169400" cy="39706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Char char="•"/>
              <a:tabLst>
                <a:tab pos="240029" algn="l"/>
              </a:tabLst>
            </a:pPr>
            <a:r>
              <a:rPr sz="2800" dirty="0">
                <a:latin typeface="Arial MT"/>
                <a:cs typeface="Arial MT"/>
              </a:rPr>
              <a:t>Glaucome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à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angle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fermé</a:t>
            </a:r>
            <a:endParaRPr sz="28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680"/>
              </a:spcBef>
              <a:buChar char="•"/>
              <a:tabLst>
                <a:tab pos="240029" algn="l"/>
              </a:tabLst>
            </a:pPr>
            <a:r>
              <a:rPr sz="2800" dirty="0">
                <a:latin typeface="Arial MT"/>
                <a:cs typeface="Arial MT"/>
              </a:rPr>
              <a:t>Sinusite</a:t>
            </a:r>
            <a:r>
              <a:rPr sz="2800" spc="-13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aiguë</a:t>
            </a:r>
            <a:endParaRPr sz="2800">
              <a:latin typeface="Arial MT"/>
              <a:cs typeface="Arial MT"/>
            </a:endParaRPr>
          </a:p>
          <a:p>
            <a:pPr marL="697230" lvl="1" indent="-227329">
              <a:lnSpc>
                <a:spcPct val="100000"/>
              </a:lnSpc>
              <a:spcBef>
                <a:spcPts val="2185"/>
              </a:spcBef>
              <a:buChar char="•"/>
              <a:tabLst>
                <a:tab pos="697230" algn="l"/>
              </a:tabLst>
            </a:pPr>
            <a:r>
              <a:rPr sz="2800" dirty="0">
                <a:latin typeface="Arial MT"/>
                <a:cs typeface="Arial MT"/>
              </a:rPr>
              <a:t>Céphalée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frontale</a:t>
            </a:r>
            <a:endParaRPr sz="2800">
              <a:latin typeface="Arial MT"/>
              <a:cs typeface="Arial MT"/>
            </a:endParaRPr>
          </a:p>
          <a:p>
            <a:pPr marL="697230" marR="5080" lvl="1" indent="-227329">
              <a:lnSpc>
                <a:spcPct val="150000"/>
              </a:lnSpc>
              <a:spcBef>
                <a:spcPts val="505"/>
              </a:spcBef>
              <a:buChar char="•"/>
              <a:tabLst>
                <a:tab pos="698500" algn="l"/>
              </a:tabLst>
            </a:pPr>
            <a:r>
              <a:rPr sz="2800" dirty="0">
                <a:latin typeface="Arial MT"/>
                <a:cs typeface="Arial MT"/>
              </a:rPr>
              <a:t>Pression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régions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sinusiennes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majore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la</a:t>
            </a:r>
            <a:r>
              <a:rPr sz="2800" spc="-1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douleur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+ 	</a:t>
            </a:r>
            <a:r>
              <a:rPr sz="2800" dirty="0">
                <a:latin typeface="Arial MT"/>
                <a:cs typeface="Arial MT"/>
              </a:rPr>
              <a:t>écoulement</a:t>
            </a:r>
            <a:r>
              <a:rPr sz="2800" spc="-1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purulent</a:t>
            </a:r>
            <a:r>
              <a:rPr sz="2800" spc="-1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nasal</a:t>
            </a:r>
            <a:endParaRPr sz="2800">
              <a:latin typeface="Arial MT"/>
              <a:cs typeface="Arial MT"/>
            </a:endParaRPr>
          </a:p>
          <a:p>
            <a:pPr marL="697230" lvl="1" indent="-227329">
              <a:lnSpc>
                <a:spcPct val="100000"/>
              </a:lnSpc>
              <a:spcBef>
                <a:spcPts val="2175"/>
              </a:spcBef>
              <a:buChar char="•"/>
              <a:tabLst>
                <a:tab pos="697230" algn="l"/>
              </a:tabLst>
            </a:pPr>
            <a:r>
              <a:rPr sz="2800" dirty="0">
                <a:latin typeface="Arial MT"/>
                <a:cs typeface="Arial MT"/>
              </a:rPr>
              <a:t>Scanner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des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sinus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198" y="624966"/>
            <a:ext cx="3742690" cy="11633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har char="•"/>
              <a:tabLst>
                <a:tab pos="240665" algn="l"/>
                <a:tab pos="1836420" algn="l"/>
              </a:tabLst>
            </a:pPr>
            <a:r>
              <a:rPr sz="2000" dirty="0">
                <a:solidFill>
                  <a:srgbClr val="BCD6ED"/>
                </a:solidFill>
                <a:latin typeface="Arial MT"/>
                <a:cs typeface="Arial MT"/>
              </a:rPr>
              <a:t>Maximale</a:t>
            </a:r>
            <a:r>
              <a:rPr sz="2000" spc="-65" dirty="0">
                <a:solidFill>
                  <a:srgbClr val="BCD6ED"/>
                </a:solidFill>
                <a:latin typeface="Arial MT"/>
                <a:cs typeface="Arial MT"/>
              </a:rPr>
              <a:t> </a:t>
            </a:r>
            <a:r>
              <a:rPr sz="2000" b="1" spc="-25" dirty="0">
                <a:solidFill>
                  <a:srgbClr val="BCD6ED"/>
                </a:solidFill>
                <a:latin typeface="Arial"/>
                <a:cs typeface="Arial"/>
              </a:rPr>
              <a:t>en</a:t>
            </a:r>
            <a:r>
              <a:rPr sz="2000" b="1" dirty="0">
                <a:solidFill>
                  <a:srgbClr val="BCD6ED"/>
                </a:solidFill>
                <a:latin typeface="Arial"/>
                <a:cs typeface="Arial"/>
              </a:rPr>
              <a:t>	1</a:t>
            </a:r>
            <a:r>
              <a:rPr sz="2000" b="1" spc="-10" dirty="0">
                <a:solidFill>
                  <a:srgbClr val="BCD6ED"/>
                </a:solidFill>
                <a:latin typeface="Arial"/>
                <a:cs typeface="Arial"/>
              </a:rPr>
              <a:t> heure</a:t>
            </a:r>
            <a:endParaRPr sz="2000">
              <a:latin typeface="Arial"/>
              <a:cs typeface="Arial"/>
            </a:endParaRPr>
          </a:p>
          <a:p>
            <a:pPr marL="241300" marR="5080" indent="-228600">
              <a:lnSpc>
                <a:spcPct val="86200"/>
              </a:lnSpc>
              <a:spcBef>
                <a:spcPts val="34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BCD6ED"/>
                </a:solidFill>
                <a:latin typeface="Arial"/>
                <a:cs typeface="Arial"/>
              </a:rPr>
              <a:t>Coup</a:t>
            </a:r>
            <a:r>
              <a:rPr sz="2000" b="1" spc="-40" dirty="0">
                <a:solidFill>
                  <a:srgbClr val="BCD6ED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BCD6ED"/>
                </a:solidFill>
                <a:latin typeface="Arial"/>
                <a:cs typeface="Arial"/>
              </a:rPr>
              <a:t>de</a:t>
            </a:r>
            <a:r>
              <a:rPr sz="2000" b="1" spc="-25" dirty="0">
                <a:solidFill>
                  <a:srgbClr val="BCD6ED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BCD6ED"/>
                </a:solidFill>
                <a:latin typeface="Arial"/>
                <a:cs typeface="Arial"/>
              </a:rPr>
              <a:t>tonnerre</a:t>
            </a:r>
            <a:r>
              <a:rPr sz="2000" b="1" spc="-45" dirty="0">
                <a:solidFill>
                  <a:srgbClr val="BCD6E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BCD6ED"/>
                </a:solidFill>
                <a:latin typeface="Arial MT"/>
                <a:cs typeface="Arial MT"/>
              </a:rPr>
              <a:t>en</a:t>
            </a:r>
            <a:r>
              <a:rPr sz="2000" spc="-25" dirty="0">
                <a:solidFill>
                  <a:srgbClr val="BCD6E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BCD6ED"/>
                </a:solidFill>
                <a:latin typeface="Arial MT"/>
                <a:cs typeface="Arial MT"/>
              </a:rPr>
              <a:t>intensité </a:t>
            </a:r>
            <a:r>
              <a:rPr sz="2000" dirty="0">
                <a:solidFill>
                  <a:srgbClr val="BCD6ED"/>
                </a:solidFill>
                <a:latin typeface="Arial MT"/>
                <a:cs typeface="Arial MT"/>
              </a:rPr>
              <a:t>maximale</a:t>
            </a:r>
            <a:r>
              <a:rPr sz="2000" spc="-50" dirty="0">
                <a:solidFill>
                  <a:srgbClr val="BCD6E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BCD6ED"/>
                </a:solidFill>
                <a:latin typeface="Arial MT"/>
                <a:cs typeface="Arial MT"/>
              </a:rPr>
              <a:t>avec</a:t>
            </a:r>
            <a:r>
              <a:rPr sz="2000" spc="-35" dirty="0">
                <a:solidFill>
                  <a:srgbClr val="BCD6E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BCD6ED"/>
                </a:solidFill>
                <a:latin typeface="Arial MT"/>
                <a:cs typeface="Arial MT"/>
              </a:rPr>
              <a:t>un</a:t>
            </a:r>
            <a:r>
              <a:rPr sz="2000" spc="-30" dirty="0">
                <a:solidFill>
                  <a:srgbClr val="BCD6ED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BCD6ED"/>
                </a:solidFill>
                <a:latin typeface="Arial MT"/>
                <a:cs typeface="Arial MT"/>
              </a:rPr>
              <a:t>EVA&gt;7</a:t>
            </a:r>
            <a:r>
              <a:rPr sz="2000" spc="-50" dirty="0">
                <a:solidFill>
                  <a:srgbClr val="BCD6ED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BCD6ED"/>
                </a:solidFill>
                <a:latin typeface="Arial MT"/>
                <a:cs typeface="Arial MT"/>
              </a:rPr>
              <a:t>en </a:t>
            </a:r>
            <a:r>
              <a:rPr sz="2000" b="1" dirty="0">
                <a:solidFill>
                  <a:srgbClr val="BCD6ED"/>
                </a:solidFill>
                <a:latin typeface="Arial"/>
                <a:cs typeface="Arial"/>
              </a:rPr>
              <a:t>moins</a:t>
            </a:r>
            <a:r>
              <a:rPr sz="2000" b="1" spc="-20" dirty="0">
                <a:solidFill>
                  <a:srgbClr val="BCD6ED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BCD6ED"/>
                </a:solidFill>
                <a:latin typeface="Arial"/>
                <a:cs typeface="Arial"/>
              </a:rPr>
              <a:t>d’une</a:t>
            </a:r>
            <a:r>
              <a:rPr sz="2000" b="1" spc="-20" dirty="0">
                <a:solidFill>
                  <a:srgbClr val="BCD6ED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BCD6ED"/>
                </a:solidFill>
                <a:latin typeface="Arial"/>
                <a:cs typeface="Arial"/>
              </a:rPr>
              <a:t>minute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8513" y="168910"/>
            <a:ext cx="2585720" cy="2123440"/>
            <a:chOff x="48513" y="168910"/>
            <a:chExt cx="2585720" cy="2123440"/>
          </a:xfrm>
        </p:grpSpPr>
        <p:sp>
          <p:nvSpPr>
            <p:cNvPr id="4" name="object 4"/>
            <p:cNvSpPr/>
            <p:nvPr/>
          </p:nvSpPr>
          <p:spPr>
            <a:xfrm>
              <a:off x="54863" y="175260"/>
              <a:ext cx="2573020" cy="2110740"/>
            </a:xfrm>
            <a:custGeom>
              <a:avLst/>
              <a:gdLst/>
              <a:ahLst/>
              <a:cxnLst/>
              <a:rect l="l" t="t" r="r" b="b"/>
              <a:pathLst>
                <a:path w="2573020" h="2110740">
                  <a:moveTo>
                    <a:pt x="2220722" y="0"/>
                  </a:moveTo>
                  <a:lnTo>
                    <a:pt x="351790" y="0"/>
                  </a:lnTo>
                  <a:lnTo>
                    <a:pt x="304054" y="3211"/>
                  </a:lnTo>
                  <a:lnTo>
                    <a:pt x="258271" y="12564"/>
                  </a:lnTo>
                  <a:lnTo>
                    <a:pt x="214858" y="27642"/>
                  </a:lnTo>
                  <a:lnTo>
                    <a:pt x="174236" y="48024"/>
                  </a:lnTo>
                  <a:lnTo>
                    <a:pt x="136823" y="73293"/>
                  </a:lnTo>
                  <a:lnTo>
                    <a:pt x="103038" y="103028"/>
                  </a:lnTo>
                  <a:lnTo>
                    <a:pt x="73300" y="136812"/>
                  </a:lnTo>
                  <a:lnTo>
                    <a:pt x="48030" y="174225"/>
                  </a:lnTo>
                  <a:lnTo>
                    <a:pt x="27645" y="214848"/>
                  </a:lnTo>
                  <a:lnTo>
                    <a:pt x="12566" y="258262"/>
                  </a:lnTo>
                  <a:lnTo>
                    <a:pt x="3211" y="304049"/>
                  </a:lnTo>
                  <a:lnTo>
                    <a:pt x="0" y="351790"/>
                  </a:lnTo>
                  <a:lnTo>
                    <a:pt x="0" y="1758950"/>
                  </a:lnTo>
                  <a:lnTo>
                    <a:pt x="3211" y="1806690"/>
                  </a:lnTo>
                  <a:lnTo>
                    <a:pt x="12566" y="1852477"/>
                  </a:lnTo>
                  <a:lnTo>
                    <a:pt x="27645" y="1895891"/>
                  </a:lnTo>
                  <a:lnTo>
                    <a:pt x="48030" y="1936514"/>
                  </a:lnTo>
                  <a:lnTo>
                    <a:pt x="73300" y="1973927"/>
                  </a:lnTo>
                  <a:lnTo>
                    <a:pt x="103038" y="2007711"/>
                  </a:lnTo>
                  <a:lnTo>
                    <a:pt x="136823" y="2037446"/>
                  </a:lnTo>
                  <a:lnTo>
                    <a:pt x="174236" y="2062715"/>
                  </a:lnTo>
                  <a:lnTo>
                    <a:pt x="214858" y="2083097"/>
                  </a:lnTo>
                  <a:lnTo>
                    <a:pt x="258271" y="2098175"/>
                  </a:lnTo>
                  <a:lnTo>
                    <a:pt x="304054" y="2107528"/>
                  </a:lnTo>
                  <a:lnTo>
                    <a:pt x="351790" y="2110740"/>
                  </a:lnTo>
                  <a:lnTo>
                    <a:pt x="2220722" y="2110740"/>
                  </a:lnTo>
                  <a:lnTo>
                    <a:pt x="2268462" y="2107528"/>
                  </a:lnTo>
                  <a:lnTo>
                    <a:pt x="2314249" y="2098175"/>
                  </a:lnTo>
                  <a:lnTo>
                    <a:pt x="2357663" y="2083097"/>
                  </a:lnTo>
                  <a:lnTo>
                    <a:pt x="2398286" y="2062715"/>
                  </a:lnTo>
                  <a:lnTo>
                    <a:pt x="2435699" y="2037446"/>
                  </a:lnTo>
                  <a:lnTo>
                    <a:pt x="2469483" y="2007711"/>
                  </a:lnTo>
                  <a:lnTo>
                    <a:pt x="2499218" y="1973927"/>
                  </a:lnTo>
                  <a:lnTo>
                    <a:pt x="2524487" y="1936514"/>
                  </a:lnTo>
                  <a:lnTo>
                    <a:pt x="2544869" y="1895891"/>
                  </a:lnTo>
                  <a:lnTo>
                    <a:pt x="2559947" y="1852477"/>
                  </a:lnTo>
                  <a:lnTo>
                    <a:pt x="2569300" y="1806690"/>
                  </a:lnTo>
                  <a:lnTo>
                    <a:pt x="2572512" y="1758950"/>
                  </a:lnTo>
                  <a:lnTo>
                    <a:pt x="2572512" y="351790"/>
                  </a:lnTo>
                  <a:lnTo>
                    <a:pt x="2569300" y="304049"/>
                  </a:lnTo>
                  <a:lnTo>
                    <a:pt x="2559947" y="258262"/>
                  </a:lnTo>
                  <a:lnTo>
                    <a:pt x="2544869" y="214848"/>
                  </a:lnTo>
                  <a:lnTo>
                    <a:pt x="2524487" y="174225"/>
                  </a:lnTo>
                  <a:lnTo>
                    <a:pt x="2499218" y="136812"/>
                  </a:lnTo>
                  <a:lnTo>
                    <a:pt x="2469483" y="103028"/>
                  </a:lnTo>
                  <a:lnTo>
                    <a:pt x="2435699" y="73293"/>
                  </a:lnTo>
                  <a:lnTo>
                    <a:pt x="2398286" y="48024"/>
                  </a:lnTo>
                  <a:lnTo>
                    <a:pt x="2357663" y="27642"/>
                  </a:lnTo>
                  <a:lnTo>
                    <a:pt x="2314249" y="12564"/>
                  </a:lnTo>
                  <a:lnTo>
                    <a:pt x="2268462" y="3211"/>
                  </a:lnTo>
                  <a:lnTo>
                    <a:pt x="222072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63" y="175260"/>
              <a:ext cx="2573020" cy="2110740"/>
            </a:xfrm>
            <a:custGeom>
              <a:avLst/>
              <a:gdLst/>
              <a:ahLst/>
              <a:cxnLst/>
              <a:rect l="l" t="t" r="r" b="b"/>
              <a:pathLst>
                <a:path w="2573020" h="2110740">
                  <a:moveTo>
                    <a:pt x="0" y="351790"/>
                  </a:moveTo>
                  <a:lnTo>
                    <a:pt x="3211" y="304049"/>
                  </a:lnTo>
                  <a:lnTo>
                    <a:pt x="12566" y="258262"/>
                  </a:lnTo>
                  <a:lnTo>
                    <a:pt x="27645" y="214848"/>
                  </a:lnTo>
                  <a:lnTo>
                    <a:pt x="48030" y="174225"/>
                  </a:lnTo>
                  <a:lnTo>
                    <a:pt x="73300" y="136812"/>
                  </a:lnTo>
                  <a:lnTo>
                    <a:pt x="103038" y="103028"/>
                  </a:lnTo>
                  <a:lnTo>
                    <a:pt x="136823" y="73293"/>
                  </a:lnTo>
                  <a:lnTo>
                    <a:pt x="174236" y="48024"/>
                  </a:lnTo>
                  <a:lnTo>
                    <a:pt x="214858" y="27642"/>
                  </a:lnTo>
                  <a:lnTo>
                    <a:pt x="258271" y="12564"/>
                  </a:lnTo>
                  <a:lnTo>
                    <a:pt x="304054" y="3211"/>
                  </a:lnTo>
                  <a:lnTo>
                    <a:pt x="351790" y="0"/>
                  </a:lnTo>
                  <a:lnTo>
                    <a:pt x="2220722" y="0"/>
                  </a:lnTo>
                  <a:lnTo>
                    <a:pt x="2268462" y="3211"/>
                  </a:lnTo>
                  <a:lnTo>
                    <a:pt x="2314249" y="12564"/>
                  </a:lnTo>
                  <a:lnTo>
                    <a:pt x="2357663" y="27642"/>
                  </a:lnTo>
                  <a:lnTo>
                    <a:pt x="2398286" y="48024"/>
                  </a:lnTo>
                  <a:lnTo>
                    <a:pt x="2435699" y="73293"/>
                  </a:lnTo>
                  <a:lnTo>
                    <a:pt x="2469483" y="103028"/>
                  </a:lnTo>
                  <a:lnTo>
                    <a:pt x="2499218" y="136812"/>
                  </a:lnTo>
                  <a:lnTo>
                    <a:pt x="2524487" y="174225"/>
                  </a:lnTo>
                  <a:lnTo>
                    <a:pt x="2544869" y="214848"/>
                  </a:lnTo>
                  <a:lnTo>
                    <a:pt x="2559947" y="258262"/>
                  </a:lnTo>
                  <a:lnTo>
                    <a:pt x="2569300" y="304049"/>
                  </a:lnTo>
                  <a:lnTo>
                    <a:pt x="2572512" y="351790"/>
                  </a:lnTo>
                  <a:lnTo>
                    <a:pt x="2572512" y="1758950"/>
                  </a:lnTo>
                  <a:lnTo>
                    <a:pt x="2569300" y="1806690"/>
                  </a:lnTo>
                  <a:lnTo>
                    <a:pt x="2559947" y="1852477"/>
                  </a:lnTo>
                  <a:lnTo>
                    <a:pt x="2544869" y="1895891"/>
                  </a:lnTo>
                  <a:lnTo>
                    <a:pt x="2524487" y="1936514"/>
                  </a:lnTo>
                  <a:lnTo>
                    <a:pt x="2499218" y="1973927"/>
                  </a:lnTo>
                  <a:lnTo>
                    <a:pt x="2469483" y="2007711"/>
                  </a:lnTo>
                  <a:lnTo>
                    <a:pt x="2435699" y="2037446"/>
                  </a:lnTo>
                  <a:lnTo>
                    <a:pt x="2398286" y="2062715"/>
                  </a:lnTo>
                  <a:lnTo>
                    <a:pt x="2357663" y="2083097"/>
                  </a:lnTo>
                  <a:lnTo>
                    <a:pt x="2314249" y="2098175"/>
                  </a:lnTo>
                  <a:lnTo>
                    <a:pt x="2268462" y="2107528"/>
                  </a:lnTo>
                  <a:lnTo>
                    <a:pt x="2220722" y="2110740"/>
                  </a:lnTo>
                  <a:lnTo>
                    <a:pt x="351790" y="2110740"/>
                  </a:lnTo>
                  <a:lnTo>
                    <a:pt x="304054" y="2107528"/>
                  </a:lnTo>
                  <a:lnTo>
                    <a:pt x="258271" y="2098175"/>
                  </a:lnTo>
                  <a:lnTo>
                    <a:pt x="214858" y="2083097"/>
                  </a:lnTo>
                  <a:lnTo>
                    <a:pt x="174236" y="2062715"/>
                  </a:lnTo>
                  <a:lnTo>
                    <a:pt x="136823" y="2037446"/>
                  </a:lnTo>
                  <a:lnTo>
                    <a:pt x="103038" y="2007711"/>
                  </a:lnTo>
                  <a:lnTo>
                    <a:pt x="73300" y="1973927"/>
                  </a:lnTo>
                  <a:lnTo>
                    <a:pt x="48030" y="1936514"/>
                  </a:lnTo>
                  <a:lnTo>
                    <a:pt x="27645" y="1895891"/>
                  </a:lnTo>
                  <a:lnTo>
                    <a:pt x="12566" y="1852477"/>
                  </a:lnTo>
                  <a:lnTo>
                    <a:pt x="3211" y="1806690"/>
                  </a:lnTo>
                  <a:lnTo>
                    <a:pt x="0" y="1758950"/>
                  </a:lnTo>
                  <a:lnTo>
                    <a:pt x="0" y="35179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68807" y="953515"/>
            <a:ext cx="1144270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b="1" spc="-10" dirty="0">
                <a:solidFill>
                  <a:srgbClr val="006FC0"/>
                </a:solidFill>
                <a:latin typeface="Calibri"/>
                <a:cs typeface="Calibri"/>
              </a:rPr>
              <a:t>Brutale</a:t>
            </a:r>
            <a:endParaRPr sz="29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621026" y="2596642"/>
            <a:ext cx="4584700" cy="1699895"/>
            <a:chOff x="2621026" y="2596642"/>
            <a:chExt cx="4584700" cy="1699895"/>
          </a:xfrm>
        </p:grpSpPr>
        <p:sp>
          <p:nvSpPr>
            <p:cNvPr id="8" name="object 8"/>
            <p:cNvSpPr/>
            <p:nvPr/>
          </p:nvSpPr>
          <p:spPr>
            <a:xfrm>
              <a:off x="2627376" y="2602992"/>
              <a:ext cx="4572000" cy="1687195"/>
            </a:xfrm>
            <a:custGeom>
              <a:avLst/>
              <a:gdLst/>
              <a:ahLst/>
              <a:cxnLst/>
              <a:rect l="l" t="t" r="r" b="b"/>
              <a:pathLst>
                <a:path w="4572000" h="1687195">
                  <a:moveTo>
                    <a:pt x="4290822" y="0"/>
                  </a:moveTo>
                  <a:lnTo>
                    <a:pt x="0" y="0"/>
                  </a:lnTo>
                  <a:lnTo>
                    <a:pt x="0" y="1687068"/>
                  </a:lnTo>
                  <a:lnTo>
                    <a:pt x="4290822" y="1687068"/>
                  </a:lnTo>
                  <a:lnTo>
                    <a:pt x="4336437" y="1683388"/>
                  </a:lnTo>
                  <a:lnTo>
                    <a:pt x="4379707" y="1672736"/>
                  </a:lnTo>
                  <a:lnTo>
                    <a:pt x="4420053" y="1655689"/>
                  </a:lnTo>
                  <a:lnTo>
                    <a:pt x="4456895" y="1632825"/>
                  </a:lnTo>
                  <a:lnTo>
                    <a:pt x="4489656" y="1604724"/>
                  </a:lnTo>
                  <a:lnTo>
                    <a:pt x="4517757" y="1571963"/>
                  </a:lnTo>
                  <a:lnTo>
                    <a:pt x="4540621" y="1535121"/>
                  </a:lnTo>
                  <a:lnTo>
                    <a:pt x="4557668" y="1494775"/>
                  </a:lnTo>
                  <a:lnTo>
                    <a:pt x="4568320" y="1451505"/>
                  </a:lnTo>
                  <a:lnTo>
                    <a:pt x="4572000" y="1405890"/>
                  </a:lnTo>
                  <a:lnTo>
                    <a:pt x="4572000" y="281178"/>
                  </a:lnTo>
                  <a:lnTo>
                    <a:pt x="4568320" y="235562"/>
                  </a:lnTo>
                  <a:lnTo>
                    <a:pt x="4557668" y="192292"/>
                  </a:lnTo>
                  <a:lnTo>
                    <a:pt x="4540621" y="151946"/>
                  </a:lnTo>
                  <a:lnTo>
                    <a:pt x="4517757" y="115104"/>
                  </a:lnTo>
                  <a:lnTo>
                    <a:pt x="4489656" y="82343"/>
                  </a:lnTo>
                  <a:lnTo>
                    <a:pt x="4456895" y="54242"/>
                  </a:lnTo>
                  <a:lnTo>
                    <a:pt x="4420053" y="31378"/>
                  </a:lnTo>
                  <a:lnTo>
                    <a:pt x="4379707" y="14331"/>
                  </a:lnTo>
                  <a:lnTo>
                    <a:pt x="4336437" y="3679"/>
                  </a:lnTo>
                  <a:lnTo>
                    <a:pt x="4290822" y="0"/>
                  </a:lnTo>
                  <a:close/>
                </a:path>
              </a:pathLst>
            </a:custGeom>
            <a:solidFill>
              <a:srgbClr val="CFD4EA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27376" y="2602992"/>
              <a:ext cx="4572000" cy="1687195"/>
            </a:xfrm>
            <a:custGeom>
              <a:avLst/>
              <a:gdLst/>
              <a:ahLst/>
              <a:cxnLst/>
              <a:rect l="l" t="t" r="r" b="b"/>
              <a:pathLst>
                <a:path w="4572000" h="1687195">
                  <a:moveTo>
                    <a:pt x="4572000" y="281178"/>
                  </a:moveTo>
                  <a:lnTo>
                    <a:pt x="4572000" y="1405890"/>
                  </a:lnTo>
                  <a:lnTo>
                    <a:pt x="4568320" y="1451505"/>
                  </a:lnTo>
                  <a:lnTo>
                    <a:pt x="4557668" y="1494775"/>
                  </a:lnTo>
                  <a:lnTo>
                    <a:pt x="4540621" y="1535121"/>
                  </a:lnTo>
                  <a:lnTo>
                    <a:pt x="4517757" y="1571963"/>
                  </a:lnTo>
                  <a:lnTo>
                    <a:pt x="4489656" y="1604724"/>
                  </a:lnTo>
                  <a:lnTo>
                    <a:pt x="4456895" y="1632825"/>
                  </a:lnTo>
                  <a:lnTo>
                    <a:pt x="4420053" y="1655689"/>
                  </a:lnTo>
                  <a:lnTo>
                    <a:pt x="4379707" y="1672736"/>
                  </a:lnTo>
                  <a:lnTo>
                    <a:pt x="4336437" y="1683388"/>
                  </a:lnTo>
                  <a:lnTo>
                    <a:pt x="4290822" y="1687068"/>
                  </a:lnTo>
                  <a:lnTo>
                    <a:pt x="0" y="1687068"/>
                  </a:lnTo>
                  <a:lnTo>
                    <a:pt x="0" y="0"/>
                  </a:lnTo>
                  <a:lnTo>
                    <a:pt x="4290822" y="0"/>
                  </a:lnTo>
                  <a:lnTo>
                    <a:pt x="4336437" y="3679"/>
                  </a:lnTo>
                  <a:lnTo>
                    <a:pt x="4379707" y="14331"/>
                  </a:lnTo>
                  <a:lnTo>
                    <a:pt x="4420053" y="31378"/>
                  </a:lnTo>
                  <a:lnTo>
                    <a:pt x="4456895" y="54242"/>
                  </a:lnTo>
                  <a:lnTo>
                    <a:pt x="4489656" y="82343"/>
                  </a:lnTo>
                  <a:lnTo>
                    <a:pt x="4517757" y="115104"/>
                  </a:lnTo>
                  <a:lnTo>
                    <a:pt x="4540621" y="151946"/>
                  </a:lnTo>
                  <a:lnTo>
                    <a:pt x="4557668" y="192292"/>
                  </a:lnTo>
                  <a:lnTo>
                    <a:pt x="4568320" y="235562"/>
                  </a:lnTo>
                  <a:lnTo>
                    <a:pt x="4572000" y="281178"/>
                  </a:lnTo>
                  <a:close/>
                </a:path>
              </a:pathLst>
            </a:custGeom>
            <a:ln w="12700">
              <a:solidFill>
                <a:srgbClr val="CFD4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034410" y="3187954"/>
            <a:ext cx="27825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82245" algn="l"/>
              </a:tabLst>
            </a:pPr>
            <a:r>
              <a:rPr sz="2800" b="1" dirty="0">
                <a:latin typeface="Arial"/>
                <a:cs typeface="Arial"/>
              </a:rPr>
              <a:t>Quelques</a:t>
            </a:r>
            <a:r>
              <a:rPr sz="2800" b="1" spc="-15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jours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513" y="2384805"/>
            <a:ext cx="2585720" cy="2123440"/>
            <a:chOff x="48513" y="2384805"/>
            <a:chExt cx="2585720" cy="2123440"/>
          </a:xfrm>
        </p:grpSpPr>
        <p:sp>
          <p:nvSpPr>
            <p:cNvPr id="12" name="object 12"/>
            <p:cNvSpPr/>
            <p:nvPr/>
          </p:nvSpPr>
          <p:spPr>
            <a:xfrm>
              <a:off x="54863" y="2391155"/>
              <a:ext cx="2573020" cy="2110740"/>
            </a:xfrm>
            <a:custGeom>
              <a:avLst/>
              <a:gdLst/>
              <a:ahLst/>
              <a:cxnLst/>
              <a:rect l="l" t="t" r="r" b="b"/>
              <a:pathLst>
                <a:path w="2573020" h="2110740">
                  <a:moveTo>
                    <a:pt x="2220722" y="0"/>
                  </a:moveTo>
                  <a:lnTo>
                    <a:pt x="351790" y="0"/>
                  </a:lnTo>
                  <a:lnTo>
                    <a:pt x="304054" y="3211"/>
                  </a:lnTo>
                  <a:lnTo>
                    <a:pt x="258271" y="12564"/>
                  </a:lnTo>
                  <a:lnTo>
                    <a:pt x="214858" y="27642"/>
                  </a:lnTo>
                  <a:lnTo>
                    <a:pt x="174236" y="48024"/>
                  </a:lnTo>
                  <a:lnTo>
                    <a:pt x="136823" y="73293"/>
                  </a:lnTo>
                  <a:lnTo>
                    <a:pt x="103038" y="103028"/>
                  </a:lnTo>
                  <a:lnTo>
                    <a:pt x="73300" y="136812"/>
                  </a:lnTo>
                  <a:lnTo>
                    <a:pt x="48030" y="174225"/>
                  </a:lnTo>
                  <a:lnTo>
                    <a:pt x="27645" y="214848"/>
                  </a:lnTo>
                  <a:lnTo>
                    <a:pt x="12566" y="258262"/>
                  </a:lnTo>
                  <a:lnTo>
                    <a:pt x="3211" y="304049"/>
                  </a:lnTo>
                  <a:lnTo>
                    <a:pt x="0" y="351790"/>
                  </a:lnTo>
                  <a:lnTo>
                    <a:pt x="0" y="1758950"/>
                  </a:lnTo>
                  <a:lnTo>
                    <a:pt x="3211" y="1806690"/>
                  </a:lnTo>
                  <a:lnTo>
                    <a:pt x="12566" y="1852477"/>
                  </a:lnTo>
                  <a:lnTo>
                    <a:pt x="27645" y="1895891"/>
                  </a:lnTo>
                  <a:lnTo>
                    <a:pt x="48030" y="1936514"/>
                  </a:lnTo>
                  <a:lnTo>
                    <a:pt x="73300" y="1973927"/>
                  </a:lnTo>
                  <a:lnTo>
                    <a:pt x="103038" y="2007711"/>
                  </a:lnTo>
                  <a:lnTo>
                    <a:pt x="136823" y="2037446"/>
                  </a:lnTo>
                  <a:lnTo>
                    <a:pt x="174236" y="2062715"/>
                  </a:lnTo>
                  <a:lnTo>
                    <a:pt x="214858" y="2083097"/>
                  </a:lnTo>
                  <a:lnTo>
                    <a:pt x="258271" y="2098175"/>
                  </a:lnTo>
                  <a:lnTo>
                    <a:pt x="304054" y="2107528"/>
                  </a:lnTo>
                  <a:lnTo>
                    <a:pt x="351790" y="2110740"/>
                  </a:lnTo>
                  <a:lnTo>
                    <a:pt x="2220722" y="2110740"/>
                  </a:lnTo>
                  <a:lnTo>
                    <a:pt x="2268462" y="2107528"/>
                  </a:lnTo>
                  <a:lnTo>
                    <a:pt x="2314249" y="2098175"/>
                  </a:lnTo>
                  <a:lnTo>
                    <a:pt x="2357663" y="2083097"/>
                  </a:lnTo>
                  <a:lnTo>
                    <a:pt x="2398286" y="2062715"/>
                  </a:lnTo>
                  <a:lnTo>
                    <a:pt x="2435699" y="2037446"/>
                  </a:lnTo>
                  <a:lnTo>
                    <a:pt x="2469483" y="2007711"/>
                  </a:lnTo>
                  <a:lnTo>
                    <a:pt x="2499218" y="1973927"/>
                  </a:lnTo>
                  <a:lnTo>
                    <a:pt x="2524487" y="1936514"/>
                  </a:lnTo>
                  <a:lnTo>
                    <a:pt x="2544869" y="1895891"/>
                  </a:lnTo>
                  <a:lnTo>
                    <a:pt x="2559947" y="1852477"/>
                  </a:lnTo>
                  <a:lnTo>
                    <a:pt x="2569300" y="1806690"/>
                  </a:lnTo>
                  <a:lnTo>
                    <a:pt x="2572512" y="1758950"/>
                  </a:lnTo>
                  <a:lnTo>
                    <a:pt x="2572512" y="351790"/>
                  </a:lnTo>
                  <a:lnTo>
                    <a:pt x="2569300" y="304049"/>
                  </a:lnTo>
                  <a:lnTo>
                    <a:pt x="2559947" y="258262"/>
                  </a:lnTo>
                  <a:lnTo>
                    <a:pt x="2544869" y="214848"/>
                  </a:lnTo>
                  <a:lnTo>
                    <a:pt x="2524487" y="174225"/>
                  </a:lnTo>
                  <a:lnTo>
                    <a:pt x="2499218" y="136812"/>
                  </a:lnTo>
                  <a:lnTo>
                    <a:pt x="2469483" y="103028"/>
                  </a:lnTo>
                  <a:lnTo>
                    <a:pt x="2435699" y="73293"/>
                  </a:lnTo>
                  <a:lnTo>
                    <a:pt x="2398286" y="48024"/>
                  </a:lnTo>
                  <a:lnTo>
                    <a:pt x="2357663" y="27642"/>
                  </a:lnTo>
                  <a:lnTo>
                    <a:pt x="2314249" y="12564"/>
                  </a:lnTo>
                  <a:lnTo>
                    <a:pt x="2268462" y="3211"/>
                  </a:lnTo>
                  <a:lnTo>
                    <a:pt x="222072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863" y="2391155"/>
              <a:ext cx="2573020" cy="2110740"/>
            </a:xfrm>
            <a:custGeom>
              <a:avLst/>
              <a:gdLst/>
              <a:ahLst/>
              <a:cxnLst/>
              <a:rect l="l" t="t" r="r" b="b"/>
              <a:pathLst>
                <a:path w="2573020" h="2110740">
                  <a:moveTo>
                    <a:pt x="0" y="351790"/>
                  </a:moveTo>
                  <a:lnTo>
                    <a:pt x="3211" y="304049"/>
                  </a:lnTo>
                  <a:lnTo>
                    <a:pt x="12566" y="258262"/>
                  </a:lnTo>
                  <a:lnTo>
                    <a:pt x="27645" y="214848"/>
                  </a:lnTo>
                  <a:lnTo>
                    <a:pt x="48030" y="174225"/>
                  </a:lnTo>
                  <a:lnTo>
                    <a:pt x="73300" y="136812"/>
                  </a:lnTo>
                  <a:lnTo>
                    <a:pt x="103038" y="103028"/>
                  </a:lnTo>
                  <a:lnTo>
                    <a:pt x="136823" y="73293"/>
                  </a:lnTo>
                  <a:lnTo>
                    <a:pt x="174236" y="48024"/>
                  </a:lnTo>
                  <a:lnTo>
                    <a:pt x="214858" y="27642"/>
                  </a:lnTo>
                  <a:lnTo>
                    <a:pt x="258271" y="12564"/>
                  </a:lnTo>
                  <a:lnTo>
                    <a:pt x="304054" y="3211"/>
                  </a:lnTo>
                  <a:lnTo>
                    <a:pt x="351790" y="0"/>
                  </a:lnTo>
                  <a:lnTo>
                    <a:pt x="2220722" y="0"/>
                  </a:lnTo>
                  <a:lnTo>
                    <a:pt x="2268462" y="3211"/>
                  </a:lnTo>
                  <a:lnTo>
                    <a:pt x="2314249" y="12564"/>
                  </a:lnTo>
                  <a:lnTo>
                    <a:pt x="2357663" y="27642"/>
                  </a:lnTo>
                  <a:lnTo>
                    <a:pt x="2398286" y="48024"/>
                  </a:lnTo>
                  <a:lnTo>
                    <a:pt x="2435699" y="73293"/>
                  </a:lnTo>
                  <a:lnTo>
                    <a:pt x="2469483" y="103028"/>
                  </a:lnTo>
                  <a:lnTo>
                    <a:pt x="2499218" y="136812"/>
                  </a:lnTo>
                  <a:lnTo>
                    <a:pt x="2524487" y="174225"/>
                  </a:lnTo>
                  <a:lnTo>
                    <a:pt x="2544869" y="214848"/>
                  </a:lnTo>
                  <a:lnTo>
                    <a:pt x="2559947" y="258262"/>
                  </a:lnTo>
                  <a:lnTo>
                    <a:pt x="2569300" y="304049"/>
                  </a:lnTo>
                  <a:lnTo>
                    <a:pt x="2572512" y="351790"/>
                  </a:lnTo>
                  <a:lnTo>
                    <a:pt x="2572512" y="1758950"/>
                  </a:lnTo>
                  <a:lnTo>
                    <a:pt x="2569300" y="1806690"/>
                  </a:lnTo>
                  <a:lnTo>
                    <a:pt x="2559947" y="1852477"/>
                  </a:lnTo>
                  <a:lnTo>
                    <a:pt x="2544869" y="1895891"/>
                  </a:lnTo>
                  <a:lnTo>
                    <a:pt x="2524487" y="1936514"/>
                  </a:lnTo>
                  <a:lnTo>
                    <a:pt x="2499218" y="1973927"/>
                  </a:lnTo>
                  <a:lnTo>
                    <a:pt x="2469483" y="2007711"/>
                  </a:lnTo>
                  <a:lnTo>
                    <a:pt x="2435699" y="2037446"/>
                  </a:lnTo>
                  <a:lnTo>
                    <a:pt x="2398286" y="2062715"/>
                  </a:lnTo>
                  <a:lnTo>
                    <a:pt x="2357663" y="2083097"/>
                  </a:lnTo>
                  <a:lnTo>
                    <a:pt x="2314249" y="2098175"/>
                  </a:lnTo>
                  <a:lnTo>
                    <a:pt x="2268462" y="2107528"/>
                  </a:lnTo>
                  <a:lnTo>
                    <a:pt x="2220722" y="2110740"/>
                  </a:lnTo>
                  <a:lnTo>
                    <a:pt x="351790" y="2110740"/>
                  </a:lnTo>
                  <a:lnTo>
                    <a:pt x="304054" y="2107528"/>
                  </a:lnTo>
                  <a:lnTo>
                    <a:pt x="258271" y="2098175"/>
                  </a:lnTo>
                  <a:lnTo>
                    <a:pt x="214858" y="2083097"/>
                  </a:lnTo>
                  <a:lnTo>
                    <a:pt x="174236" y="2062715"/>
                  </a:lnTo>
                  <a:lnTo>
                    <a:pt x="136823" y="2037446"/>
                  </a:lnTo>
                  <a:lnTo>
                    <a:pt x="103038" y="2007711"/>
                  </a:lnTo>
                  <a:lnTo>
                    <a:pt x="73300" y="1973927"/>
                  </a:lnTo>
                  <a:lnTo>
                    <a:pt x="48030" y="1936514"/>
                  </a:lnTo>
                  <a:lnTo>
                    <a:pt x="27645" y="1895891"/>
                  </a:lnTo>
                  <a:lnTo>
                    <a:pt x="12566" y="1852477"/>
                  </a:lnTo>
                  <a:lnTo>
                    <a:pt x="3211" y="1806690"/>
                  </a:lnTo>
                  <a:lnTo>
                    <a:pt x="0" y="1758950"/>
                  </a:lnTo>
                  <a:lnTo>
                    <a:pt x="0" y="35179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94843" y="2764612"/>
            <a:ext cx="2092325" cy="127825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 indent="259079">
              <a:lnSpc>
                <a:spcPct val="91600"/>
              </a:lnSpc>
              <a:spcBef>
                <a:spcPts val="395"/>
              </a:spcBef>
            </a:pPr>
            <a:r>
              <a:rPr lang="fr-FR" sz="2900" b="1" spc="-35" dirty="0">
                <a:solidFill>
                  <a:srgbClr val="FFFFFF"/>
                </a:solidFill>
                <a:latin typeface="Calibri"/>
                <a:cs typeface="Calibri"/>
              </a:rPr>
              <a:t>Récente </a:t>
            </a:r>
            <a:r>
              <a:rPr sz="2900" b="1" spc="-35" dirty="0" err="1">
                <a:solidFill>
                  <a:srgbClr val="FFFFFF"/>
                </a:solidFill>
                <a:latin typeface="Calibri"/>
                <a:cs typeface="Calibri"/>
              </a:rPr>
              <a:t>d’aggravation</a:t>
            </a:r>
            <a:r>
              <a:rPr sz="29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900" b="1" spc="-10" dirty="0">
                <a:solidFill>
                  <a:srgbClr val="FFFFFF"/>
                </a:solidFill>
                <a:latin typeface="Calibri"/>
                <a:cs typeface="Calibri"/>
              </a:rPr>
              <a:t>progressive</a:t>
            </a:r>
            <a:endParaRPr sz="2900" dirty="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621026" y="4811014"/>
            <a:ext cx="4584700" cy="1701800"/>
            <a:chOff x="2621026" y="4811014"/>
            <a:chExt cx="4584700" cy="1701800"/>
          </a:xfrm>
        </p:grpSpPr>
        <p:sp>
          <p:nvSpPr>
            <p:cNvPr id="16" name="object 16"/>
            <p:cNvSpPr/>
            <p:nvPr/>
          </p:nvSpPr>
          <p:spPr>
            <a:xfrm>
              <a:off x="2627376" y="4817364"/>
              <a:ext cx="4572000" cy="1689100"/>
            </a:xfrm>
            <a:custGeom>
              <a:avLst/>
              <a:gdLst/>
              <a:ahLst/>
              <a:cxnLst/>
              <a:rect l="l" t="t" r="r" b="b"/>
              <a:pathLst>
                <a:path w="4572000" h="1689100">
                  <a:moveTo>
                    <a:pt x="4290568" y="0"/>
                  </a:moveTo>
                  <a:lnTo>
                    <a:pt x="0" y="0"/>
                  </a:lnTo>
                  <a:lnTo>
                    <a:pt x="0" y="1688592"/>
                  </a:lnTo>
                  <a:lnTo>
                    <a:pt x="4290568" y="1688592"/>
                  </a:lnTo>
                  <a:lnTo>
                    <a:pt x="4336221" y="1684908"/>
                  </a:lnTo>
                  <a:lnTo>
                    <a:pt x="4379528" y="1674243"/>
                  </a:lnTo>
                  <a:lnTo>
                    <a:pt x="4419909" y="1657177"/>
                  </a:lnTo>
                  <a:lnTo>
                    <a:pt x="4456785" y="1634289"/>
                  </a:lnTo>
                  <a:lnTo>
                    <a:pt x="4489577" y="1606159"/>
                  </a:lnTo>
                  <a:lnTo>
                    <a:pt x="4517704" y="1573366"/>
                  </a:lnTo>
                  <a:lnTo>
                    <a:pt x="4540590" y="1536490"/>
                  </a:lnTo>
                  <a:lnTo>
                    <a:pt x="4557654" y="1496111"/>
                  </a:lnTo>
                  <a:lnTo>
                    <a:pt x="4568317" y="1452807"/>
                  </a:lnTo>
                  <a:lnTo>
                    <a:pt x="4572000" y="1407160"/>
                  </a:lnTo>
                  <a:lnTo>
                    <a:pt x="4572000" y="281431"/>
                  </a:lnTo>
                  <a:lnTo>
                    <a:pt x="4568317" y="235778"/>
                  </a:lnTo>
                  <a:lnTo>
                    <a:pt x="4557654" y="192471"/>
                  </a:lnTo>
                  <a:lnTo>
                    <a:pt x="4540590" y="152090"/>
                  </a:lnTo>
                  <a:lnTo>
                    <a:pt x="4517704" y="115214"/>
                  </a:lnTo>
                  <a:lnTo>
                    <a:pt x="4489577" y="82422"/>
                  </a:lnTo>
                  <a:lnTo>
                    <a:pt x="4456785" y="54295"/>
                  </a:lnTo>
                  <a:lnTo>
                    <a:pt x="4419909" y="31409"/>
                  </a:lnTo>
                  <a:lnTo>
                    <a:pt x="4379528" y="14345"/>
                  </a:lnTo>
                  <a:lnTo>
                    <a:pt x="4336221" y="3682"/>
                  </a:lnTo>
                  <a:lnTo>
                    <a:pt x="4290568" y="0"/>
                  </a:lnTo>
                  <a:close/>
                </a:path>
              </a:pathLst>
            </a:custGeom>
            <a:solidFill>
              <a:srgbClr val="CFD4EA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27376" y="4817364"/>
              <a:ext cx="4572000" cy="1689100"/>
            </a:xfrm>
            <a:custGeom>
              <a:avLst/>
              <a:gdLst/>
              <a:ahLst/>
              <a:cxnLst/>
              <a:rect l="l" t="t" r="r" b="b"/>
              <a:pathLst>
                <a:path w="4572000" h="1689100">
                  <a:moveTo>
                    <a:pt x="4572000" y="281431"/>
                  </a:moveTo>
                  <a:lnTo>
                    <a:pt x="4572000" y="1407160"/>
                  </a:lnTo>
                  <a:lnTo>
                    <a:pt x="4568317" y="1452807"/>
                  </a:lnTo>
                  <a:lnTo>
                    <a:pt x="4557654" y="1496111"/>
                  </a:lnTo>
                  <a:lnTo>
                    <a:pt x="4540590" y="1536490"/>
                  </a:lnTo>
                  <a:lnTo>
                    <a:pt x="4517704" y="1573366"/>
                  </a:lnTo>
                  <a:lnTo>
                    <a:pt x="4489577" y="1606159"/>
                  </a:lnTo>
                  <a:lnTo>
                    <a:pt x="4456785" y="1634289"/>
                  </a:lnTo>
                  <a:lnTo>
                    <a:pt x="4419909" y="1657177"/>
                  </a:lnTo>
                  <a:lnTo>
                    <a:pt x="4379528" y="1674243"/>
                  </a:lnTo>
                  <a:lnTo>
                    <a:pt x="4336221" y="1684908"/>
                  </a:lnTo>
                  <a:lnTo>
                    <a:pt x="4290568" y="1688592"/>
                  </a:lnTo>
                  <a:lnTo>
                    <a:pt x="0" y="1688592"/>
                  </a:lnTo>
                  <a:lnTo>
                    <a:pt x="0" y="0"/>
                  </a:lnTo>
                  <a:lnTo>
                    <a:pt x="4290568" y="0"/>
                  </a:lnTo>
                  <a:lnTo>
                    <a:pt x="4336221" y="3682"/>
                  </a:lnTo>
                  <a:lnTo>
                    <a:pt x="4379528" y="14345"/>
                  </a:lnTo>
                  <a:lnTo>
                    <a:pt x="4419909" y="31409"/>
                  </a:lnTo>
                  <a:lnTo>
                    <a:pt x="4456785" y="54295"/>
                  </a:lnTo>
                  <a:lnTo>
                    <a:pt x="4489577" y="82422"/>
                  </a:lnTo>
                  <a:lnTo>
                    <a:pt x="4517704" y="115214"/>
                  </a:lnTo>
                  <a:lnTo>
                    <a:pt x="4540590" y="152090"/>
                  </a:lnTo>
                  <a:lnTo>
                    <a:pt x="4557654" y="192471"/>
                  </a:lnTo>
                  <a:lnTo>
                    <a:pt x="4568317" y="235778"/>
                  </a:lnTo>
                  <a:lnTo>
                    <a:pt x="4572000" y="281431"/>
                  </a:lnTo>
                  <a:close/>
                </a:path>
              </a:pathLst>
            </a:custGeom>
            <a:ln w="12700">
              <a:solidFill>
                <a:srgbClr val="CFD4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862198" y="4860163"/>
            <a:ext cx="3311525" cy="1558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b="1" dirty="0">
                <a:solidFill>
                  <a:srgbClr val="DEEBF7"/>
                </a:solidFill>
                <a:latin typeface="Arial"/>
                <a:cs typeface="Arial"/>
              </a:rPr>
              <a:t>Mois</a:t>
            </a:r>
            <a:r>
              <a:rPr sz="2000" b="1" spc="-20" dirty="0">
                <a:solidFill>
                  <a:srgbClr val="DEEBF7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DEEBF7"/>
                </a:solidFill>
                <a:latin typeface="Arial"/>
                <a:cs typeface="Arial"/>
              </a:rPr>
              <a:t>ou</a:t>
            </a:r>
            <a:r>
              <a:rPr sz="2000" b="1" spc="-20" dirty="0">
                <a:solidFill>
                  <a:srgbClr val="DEEBF7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DEEBF7"/>
                </a:solidFill>
                <a:latin typeface="Arial"/>
                <a:cs typeface="Arial"/>
              </a:rPr>
              <a:t>des</a:t>
            </a:r>
            <a:r>
              <a:rPr sz="2000" b="1" spc="-30" dirty="0">
                <a:solidFill>
                  <a:srgbClr val="DEEBF7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DEEBF7"/>
                </a:solidFill>
                <a:latin typeface="Arial"/>
                <a:cs typeface="Arial"/>
              </a:rPr>
              <a:t>années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b="1" spc="-10" dirty="0">
                <a:solidFill>
                  <a:srgbClr val="DEEBF7"/>
                </a:solidFill>
                <a:latin typeface="Arial"/>
                <a:cs typeface="Arial"/>
              </a:rPr>
              <a:t>Secondaire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b="1" spc="-10" dirty="0">
                <a:solidFill>
                  <a:srgbClr val="DEEBF7"/>
                </a:solidFill>
                <a:latin typeface="Arial"/>
                <a:cs typeface="Arial"/>
              </a:rPr>
              <a:t>Primaire:</a:t>
            </a:r>
            <a:endParaRPr sz="2000">
              <a:latin typeface="Arial"/>
              <a:cs typeface="Arial"/>
            </a:endParaRPr>
          </a:p>
          <a:p>
            <a:pPr marL="469265" lvl="1" indent="-227965">
              <a:lnSpc>
                <a:spcPct val="100000"/>
              </a:lnSpc>
              <a:spcBef>
                <a:spcPts val="10"/>
              </a:spcBef>
              <a:buChar char="•"/>
              <a:tabLst>
                <a:tab pos="469265" algn="l"/>
              </a:tabLst>
            </a:pPr>
            <a:r>
              <a:rPr sz="2000" dirty="0">
                <a:solidFill>
                  <a:srgbClr val="DEEBF7"/>
                </a:solidFill>
                <a:latin typeface="Arial MT"/>
                <a:cs typeface="Arial MT"/>
              </a:rPr>
              <a:t>Sans</a:t>
            </a:r>
            <a:r>
              <a:rPr sz="2000" spc="-40" dirty="0">
                <a:solidFill>
                  <a:srgbClr val="DEEBF7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DEEBF7"/>
                </a:solidFill>
                <a:latin typeface="Arial MT"/>
                <a:cs typeface="Arial MT"/>
              </a:rPr>
              <a:t>lésion</a:t>
            </a:r>
            <a:r>
              <a:rPr sz="2000" spc="-40" dirty="0">
                <a:solidFill>
                  <a:srgbClr val="DEEBF7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DEEBF7"/>
                </a:solidFill>
                <a:latin typeface="Arial MT"/>
                <a:cs typeface="Arial MT"/>
              </a:rPr>
              <a:t>sous-</a:t>
            </a:r>
            <a:r>
              <a:rPr sz="2000" spc="-10" dirty="0">
                <a:solidFill>
                  <a:srgbClr val="DEEBF7"/>
                </a:solidFill>
                <a:latin typeface="Arial MT"/>
                <a:cs typeface="Arial MT"/>
              </a:rPr>
              <a:t>jacente</a:t>
            </a:r>
            <a:endParaRPr sz="20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10"/>
              </a:spcBef>
              <a:buChar char="•"/>
              <a:tabLst>
                <a:tab pos="469265" algn="l"/>
              </a:tabLst>
            </a:pPr>
            <a:r>
              <a:rPr sz="2000" spc="-10" dirty="0">
                <a:solidFill>
                  <a:srgbClr val="DEEBF7"/>
                </a:solidFill>
                <a:latin typeface="Arial MT"/>
                <a:cs typeface="Arial MT"/>
              </a:rPr>
              <a:t>Paroxystique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8513" y="4600702"/>
            <a:ext cx="2585720" cy="2123440"/>
            <a:chOff x="48513" y="4600702"/>
            <a:chExt cx="2585720" cy="2123440"/>
          </a:xfrm>
        </p:grpSpPr>
        <p:sp>
          <p:nvSpPr>
            <p:cNvPr id="20" name="object 20"/>
            <p:cNvSpPr/>
            <p:nvPr/>
          </p:nvSpPr>
          <p:spPr>
            <a:xfrm>
              <a:off x="54863" y="4607052"/>
              <a:ext cx="2573020" cy="2110740"/>
            </a:xfrm>
            <a:custGeom>
              <a:avLst/>
              <a:gdLst/>
              <a:ahLst/>
              <a:cxnLst/>
              <a:rect l="l" t="t" r="r" b="b"/>
              <a:pathLst>
                <a:path w="2573020" h="2110740">
                  <a:moveTo>
                    <a:pt x="2220722" y="0"/>
                  </a:moveTo>
                  <a:lnTo>
                    <a:pt x="351790" y="0"/>
                  </a:lnTo>
                  <a:lnTo>
                    <a:pt x="304054" y="3211"/>
                  </a:lnTo>
                  <a:lnTo>
                    <a:pt x="258271" y="12564"/>
                  </a:lnTo>
                  <a:lnTo>
                    <a:pt x="214858" y="27642"/>
                  </a:lnTo>
                  <a:lnTo>
                    <a:pt x="174236" y="48024"/>
                  </a:lnTo>
                  <a:lnTo>
                    <a:pt x="136823" y="73293"/>
                  </a:lnTo>
                  <a:lnTo>
                    <a:pt x="103038" y="103028"/>
                  </a:lnTo>
                  <a:lnTo>
                    <a:pt x="73300" y="136812"/>
                  </a:lnTo>
                  <a:lnTo>
                    <a:pt x="48030" y="174225"/>
                  </a:lnTo>
                  <a:lnTo>
                    <a:pt x="27645" y="214848"/>
                  </a:lnTo>
                  <a:lnTo>
                    <a:pt x="12566" y="258262"/>
                  </a:lnTo>
                  <a:lnTo>
                    <a:pt x="3211" y="304049"/>
                  </a:lnTo>
                  <a:lnTo>
                    <a:pt x="0" y="351790"/>
                  </a:lnTo>
                  <a:lnTo>
                    <a:pt x="0" y="1758937"/>
                  </a:lnTo>
                  <a:lnTo>
                    <a:pt x="3211" y="1806675"/>
                  </a:lnTo>
                  <a:lnTo>
                    <a:pt x="12566" y="1852461"/>
                  </a:lnTo>
                  <a:lnTo>
                    <a:pt x="27645" y="1895875"/>
                  </a:lnTo>
                  <a:lnTo>
                    <a:pt x="48030" y="1936499"/>
                  </a:lnTo>
                  <a:lnTo>
                    <a:pt x="73300" y="1973914"/>
                  </a:lnTo>
                  <a:lnTo>
                    <a:pt x="103038" y="2007700"/>
                  </a:lnTo>
                  <a:lnTo>
                    <a:pt x="136823" y="2037438"/>
                  </a:lnTo>
                  <a:lnTo>
                    <a:pt x="174236" y="2062709"/>
                  </a:lnTo>
                  <a:lnTo>
                    <a:pt x="214858" y="2083093"/>
                  </a:lnTo>
                  <a:lnTo>
                    <a:pt x="258271" y="2098173"/>
                  </a:lnTo>
                  <a:lnTo>
                    <a:pt x="304054" y="2107528"/>
                  </a:lnTo>
                  <a:lnTo>
                    <a:pt x="351790" y="2110740"/>
                  </a:lnTo>
                  <a:lnTo>
                    <a:pt x="2220722" y="2110740"/>
                  </a:lnTo>
                  <a:lnTo>
                    <a:pt x="2268462" y="2107528"/>
                  </a:lnTo>
                  <a:lnTo>
                    <a:pt x="2314249" y="2098173"/>
                  </a:lnTo>
                  <a:lnTo>
                    <a:pt x="2357663" y="2083093"/>
                  </a:lnTo>
                  <a:lnTo>
                    <a:pt x="2398286" y="2062709"/>
                  </a:lnTo>
                  <a:lnTo>
                    <a:pt x="2435699" y="2037438"/>
                  </a:lnTo>
                  <a:lnTo>
                    <a:pt x="2469483" y="2007700"/>
                  </a:lnTo>
                  <a:lnTo>
                    <a:pt x="2499218" y="1973914"/>
                  </a:lnTo>
                  <a:lnTo>
                    <a:pt x="2524487" y="1936499"/>
                  </a:lnTo>
                  <a:lnTo>
                    <a:pt x="2544869" y="1895875"/>
                  </a:lnTo>
                  <a:lnTo>
                    <a:pt x="2559947" y="1852461"/>
                  </a:lnTo>
                  <a:lnTo>
                    <a:pt x="2569300" y="1806675"/>
                  </a:lnTo>
                  <a:lnTo>
                    <a:pt x="2572512" y="1758937"/>
                  </a:lnTo>
                  <a:lnTo>
                    <a:pt x="2572512" y="351790"/>
                  </a:lnTo>
                  <a:lnTo>
                    <a:pt x="2569300" y="304049"/>
                  </a:lnTo>
                  <a:lnTo>
                    <a:pt x="2559947" y="258262"/>
                  </a:lnTo>
                  <a:lnTo>
                    <a:pt x="2544869" y="214848"/>
                  </a:lnTo>
                  <a:lnTo>
                    <a:pt x="2524487" y="174225"/>
                  </a:lnTo>
                  <a:lnTo>
                    <a:pt x="2499218" y="136812"/>
                  </a:lnTo>
                  <a:lnTo>
                    <a:pt x="2469483" y="103028"/>
                  </a:lnTo>
                  <a:lnTo>
                    <a:pt x="2435699" y="73293"/>
                  </a:lnTo>
                  <a:lnTo>
                    <a:pt x="2398286" y="48024"/>
                  </a:lnTo>
                  <a:lnTo>
                    <a:pt x="2357663" y="27642"/>
                  </a:lnTo>
                  <a:lnTo>
                    <a:pt x="2314249" y="12564"/>
                  </a:lnTo>
                  <a:lnTo>
                    <a:pt x="2268462" y="3211"/>
                  </a:lnTo>
                  <a:lnTo>
                    <a:pt x="222072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4863" y="4607052"/>
              <a:ext cx="2573020" cy="2110740"/>
            </a:xfrm>
            <a:custGeom>
              <a:avLst/>
              <a:gdLst/>
              <a:ahLst/>
              <a:cxnLst/>
              <a:rect l="l" t="t" r="r" b="b"/>
              <a:pathLst>
                <a:path w="2573020" h="2110740">
                  <a:moveTo>
                    <a:pt x="0" y="351790"/>
                  </a:moveTo>
                  <a:lnTo>
                    <a:pt x="3211" y="304049"/>
                  </a:lnTo>
                  <a:lnTo>
                    <a:pt x="12566" y="258262"/>
                  </a:lnTo>
                  <a:lnTo>
                    <a:pt x="27645" y="214848"/>
                  </a:lnTo>
                  <a:lnTo>
                    <a:pt x="48030" y="174225"/>
                  </a:lnTo>
                  <a:lnTo>
                    <a:pt x="73300" y="136812"/>
                  </a:lnTo>
                  <a:lnTo>
                    <a:pt x="103038" y="103028"/>
                  </a:lnTo>
                  <a:lnTo>
                    <a:pt x="136823" y="73293"/>
                  </a:lnTo>
                  <a:lnTo>
                    <a:pt x="174236" y="48024"/>
                  </a:lnTo>
                  <a:lnTo>
                    <a:pt x="214858" y="27642"/>
                  </a:lnTo>
                  <a:lnTo>
                    <a:pt x="258271" y="12564"/>
                  </a:lnTo>
                  <a:lnTo>
                    <a:pt x="304054" y="3211"/>
                  </a:lnTo>
                  <a:lnTo>
                    <a:pt x="351790" y="0"/>
                  </a:lnTo>
                  <a:lnTo>
                    <a:pt x="2220722" y="0"/>
                  </a:lnTo>
                  <a:lnTo>
                    <a:pt x="2268462" y="3211"/>
                  </a:lnTo>
                  <a:lnTo>
                    <a:pt x="2314249" y="12564"/>
                  </a:lnTo>
                  <a:lnTo>
                    <a:pt x="2357663" y="27642"/>
                  </a:lnTo>
                  <a:lnTo>
                    <a:pt x="2398286" y="48024"/>
                  </a:lnTo>
                  <a:lnTo>
                    <a:pt x="2435699" y="73293"/>
                  </a:lnTo>
                  <a:lnTo>
                    <a:pt x="2469483" y="103028"/>
                  </a:lnTo>
                  <a:lnTo>
                    <a:pt x="2499218" y="136812"/>
                  </a:lnTo>
                  <a:lnTo>
                    <a:pt x="2524487" y="174225"/>
                  </a:lnTo>
                  <a:lnTo>
                    <a:pt x="2544869" y="214848"/>
                  </a:lnTo>
                  <a:lnTo>
                    <a:pt x="2559947" y="258262"/>
                  </a:lnTo>
                  <a:lnTo>
                    <a:pt x="2569300" y="304049"/>
                  </a:lnTo>
                  <a:lnTo>
                    <a:pt x="2572512" y="351790"/>
                  </a:lnTo>
                  <a:lnTo>
                    <a:pt x="2572512" y="1758937"/>
                  </a:lnTo>
                  <a:lnTo>
                    <a:pt x="2569300" y="1806675"/>
                  </a:lnTo>
                  <a:lnTo>
                    <a:pt x="2559947" y="1852461"/>
                  </a:lnTo>
                  <a:lnTo>
                    <a:pt x="2544869" y="1895875"/>
                  </a:lnTo>
                  <a:lnTo>
                    <a:pt x="2524487" y="1936499"/>
                  </a:lnTo>
                  <a:lnTo>
                    <a:pt x="2499218" y="1973914"/>
                  </a:lnTo>
                  <a:lnTo>
                    <a:pt x="2469483" y="2007700"/>
                  </a:lnTo>
                  <a:lnTo>
                    <a:pt x="2435699" y="2037438"/>
                  </a:lnTo>
                  <a:lnTo>
                    <a:pt x="2398286" y="2062709"/>
                  </a:lnTo>
                  <a:lnTo>
                    <a:pt x="2357663" y="2083093"/>
                  </a:lnTo>
                  <a:lnTo>
                    <a:pt x="2314249" y="2098173"/>
                  </a:lnTo>
                  <a:lnTo>
                    <a:pt x="2268462" y="2107528"/>
                  </a:lnTo>
                  <a:lnTo>
                    <a:pt x="2220722" y="2110740"/>
                  </a:lnTo>
                  <a:lnTo>
                    <a:pt x="351790" y="2110740"/>
                  </a:lnTo>
                  <a:lnTo>
                    <a:pt x="304054" y="2107528"/>
                  </a:lnTo>
                  <a:lnTo>
                    <a:pt x="258271" y="2098173"/>
                  </a:lnTo>
                  <a:lnTo>
                    <a:pt x="214858" y="2083093"/>
                  </a:lnTo>
                  <a:lnTo>
                    <a:pt x="174236" y="2062709"/>
                  </a:lnTo>
                  <a:lnTo>
                    <a:pt x="136823" y="2037438"/>
                  </a:lnTo>
                  <a:lnTo>
                    <a:pt x="103038" y="2007700"/>
                  </a:lnTo>
                  <a:lnTo>
                    <a:pt x="73300" y="1973914"/>
                  </a:lnTo>
                  <a:lnTo>
                    <a:pt x="48030" y="1936499"/>
                  </a:lnTo>
                  <a:lnTo>
                    <a:pt x="27645" y="1895875"/>
                  </a:lnTo>
                  <a:lnTo>
                    <a:pt x="12566" y="1852461"/>
                  </a:lnTo>
                  <a:lnTo>
                    <a:pt x="3211" y="1806675"/>
                  </a:lnTo>
                  <a:lnTo>
                    <a:pt x="0" y="1758937"/>
                  </a:lnTo>
                  <a:lnTo>
                    <a:pt x="0" y="35179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55219" y="5183504"/>
            <a:ext cx="1571625" cy="87249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080">
              <a:lnSpc>
                <a:spcPts val="3180"/>
              </a:lnSpc>
              <a:spcBef>
                <a:spcPts val="459"/>
              </a:spcBef>
            </a:pPr>
            <a:r>
              <a:rPr sz="2900" b="1" spc="-10" dirty="0">
                <a:solidFill>
                  <a:srgbClr val="2D75B6"/>
                </a:solidFill>
                <a:latin typeface="Calibri"/>
                <a:cs typeface="Calibri"/>
              </a:rPr>
              <a:t>Céphalée chronique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276843" y="330708"/>
            <a:ext cx="3700779" cy="2120265"/>
          </a:xfrm>
          <a:prstGeom prst="rect">
            <a:avLst/>
          </a:prstGeom>
          <a:solidFill>
            <a:srgbClr val="F8CAAC"/>
          </a:solidFill>
        </p:spPr>
        <p:txBody>
          <a:bodyPr vert="horz" wrap="square" lIns="0" tIns="127000" rIns="0" bIns="0" rtlCol="0">
            <a:spAutoFit/>
          </a:bodyPr>
          <a:lstStyle/>
          <a:p>
            <a:pPr marL="396240">
              <a:lnSpc>
                <a:spcPct val="100000"/>
              </a:lnSpc>
              <a:spcBef>
                <a:spcPts val="1000"/>
              </a:spcBef>
            </a:pPr>
            <a:r>
              <a:rPr sz="1800" spc="-10" dirty="0">
                <a:solidFill>
                  <a:srgbClr val="FFD966"/>
                </a:solidFill>
                <a:latin typeface="Arial MT"/>
                <a:cs typeface="Arial MT"/>
              </a:rPr>
              <a:t>Hémorragie</a:t>
            </a:r>
            <a:r>
              <a:rPr sz="1800" spc="-30" dirty="0">
                <a:solidFill>
                  <a:srgbClr val="FFD966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D966"/>
                </a:solidFill>
                <a:latin typeface="Arial MT"/>
                <a:cs typeface="Arial MT"/>
              </a:rPr>
              <a:t>méningée</a:t>
            </a:r>
            <a:endParaRPr sz="1800">
              <a:latin typeface="Arial MT"/>
              <a:cs typeface="Arial MT"/>
            </a:endParaRPr>
          </a:p>
          <a:p>
            <a:pPr marL="39624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solidFill>
                  <a:srgbClr val="FFD966"/>
                </a:solidFill>
                <a:latin typeface="Arial MT"/>
                <a:cs typeface="Arial MT"/>
              </a:rPr>
              <a:t>HTIC</a:t>
            </a:r>
            <a:r>
              <a:rPr sz="1800" spc="-15" dirty="0">
                <a:solidFill>
                  <a:srgbClr val="FFD966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FFD966"/>
                </a:solidFill>
                <a:latin typeface="Arial MT"/>
                <a:cs typeface="Arial MT"/>
              </a:rPr>
              <a:t>aiguë</a:t>
            </a:r>
            <a:endParaRPr sz="1800">
              <a:latin typeface="Arial MT"/>
              <a:cs typeface="Arial MT"/>
            </a:endParaRPr>
          </a:p>
          <a:p>
            <a:pPr marL="396240" marR="312420">
              <a:lnSpc>
                <a:spcPct val="150000"/>
              </a:lnSpc>
            </a:pPr>
            <a:r>
              <a:rPr sz="1800" dirty="0">
                <a:solidFill>
                  <a:srgbClr val="FFD966"/>
                </a:solidFill>
                <a:latin typeface="Arial MT"/>
                <a:cs typeface="Arial MT"/>
              </a:rPr>
              <a:t>Causes</a:t>
            </a:r>
            <a:r>
              <a:rPr sz="1800" spc="380" dirty="0">
                <a:solidFill>
                  <a:srgbClr val="FFD966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D966"/>
                </a:solidFill>
                <a:latin typeface="Arial MT"/>
                <a:cs typeface="Arial MT"/>
              </a:rPr>
              <a:t>vasculaires </a:t>
            </a:r>
            <a:r>
              <a:rPr sz="1800" dirty="0">
                <a:solidFill>
                  <a:srgbClr val="FFD966"/>
                </a:solidFill>
                <a:latin typeface="Arial MT"/>
                <a:cs typeface="Arial MT"/>
              </a:rPr>
              <a:t>Glaucome</a:t>
            </a:r>
            <a:r>
              <a:rPr sz="1800" spc="-65" dirty="0">
                <a:solidFill>
                  <a:srgbClr val="FFD96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D966"/>
                </a:solidFill>
                <a:latin typeface="Arial MT"/>
                <a:cs typeface="Arial MT"/>
              </a:rPr>
              <a:t>aigu</a:t>
            </a:r>
            <a:r>
              <a:rPr sz="1800" spc="-40" dirty="0">
                <a:solidFill>
                  <a:srgbClr val="FFD96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D966"/>
                </a:solidFill>
                <a:latin typeface="Arial MT"/>
                <a:cs typeface="Arial MT"/>
              </a:rPr>
              <a:t>à</a:t>
            </a:r>
            <a:r>
              <a:rPr sz="1800" spc="-55" dirty="0">
                <a:solidFill>
                  <a:srgbClr val="FFD96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D966"/>
                </a:solidFill>
                <a:latin typeface="Arial MT"/>
                <a:cs typeface="Arial MT"/>
              </a:rPr>
              <a:t>angle</a:t>
            </a:r>
            <a:r>
              <a:rPr sz="1800" spc="-35" dirty="0">
                <a:solidFill>
                  <a:srgbClr val="FFD966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D966"/>
                </a:solidFill>
                <a:latin typeface="Arial MT"/>
                <a:cs typeface="Arial MT"/>
              </a:rPr>
              <a:t>fermé </a:t>
            </a:r>
            <a:r>
              <a:rPr sz="1800" dirty="0">
                <a:solidFill>
                  <a:srgbClr val="FFD966"/>
                </a:solidFill>
                <a:latin typeface="Arial MT"/>
                <a:cs typeface="Arial MT"/>
              </a:rPr>
              <a:t>Sinusite</a:t>
            </a:r>
            <a:r>
              <a:rPr sz="1800" spc="-75" dirty="0">
                <a:solidFill>
                  <a:srgbClr val="FFD966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FFD966"/>
                </a:solidFill>
                <a:latin typeface="Arial MT"/>
                <a:cs typeface="Arial MT"/>
              </a:rPr>
              <a:t>aiguë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559040" y="330708"/>
            <a:ext cx="338455" cy="2095500"/>
          </a:xfrm>
          <a:custGeom>
            <a:avLst/>
            <a:gdLst/>
            <a:ahLst/>
            <a:cxnLst/>
            <a:rect l="l" t="t" r="r" b="b"/>
            <a:pathLst>
              <a:path w="338454" h="2095500">
                <a:moveTo>
                  <a:pt x="338327" y="2095500"/>
                </a:moveTo>
                <a:lnTo>
                  <a:pt x="272462" y="2093291"/>
                </a:lnTo>
                <a:lnTo>
                  <a:pt x="218694" y="2087260"/>
                </a:lnTo>
                <a:lnTo>
                  <a:pt x="182451" y="2078301"/>
                </a:lnTo>
                <a:lnTo>
                  <a:pt x="169163" y="2067306"/>
                </a:lnTo>
                <a:lnTo>
                  <a:pt x="169163" y="1075944"/>
                </a:lnTo>
                <a:lnTo>
                  <a:pt x="155876" y="1064948"/>
                </a:lnTo>
                <a:lnTo>
                  <a:pt x="119633" y="1055989"/>
                </a:lnTo>
                <a:lnTo>
                  <a:pt x="65865" y="1049958"/>
                </a:lnTo>
                <a:lnTo>
                  <a:pt x="0" y="1047750"/>
                </a:lnTo>
                <a:lnTo>
                  <a:pt x="65865" y="1045541"/>
                </a:lnTo>
                <a:lnTo>
                  <a:pt x="119633" y="1039510"/>
                </a:lnTo>
                <a:lnTo>
                  <a:pt x="155876" y="1030551"/>
                </a:lnTo>
                <a:lnTo>
                  <a:pt x="169163" y="1019556"/>
                </a:lnTo>
                <a:lnTo>
                  <a:pt x="169163" y="28194"/>
                </a:lnTo>
                <a:lnTo>
                  <a:pt x="182451" y="17198"/>
                </a:lnTo>
                <a:lnTo>
                  <a:pt x="218693" y="8239"/>
                </a:lnTo>
                <a:lnTo>
                  <a:pt x="272462" y="2208"/>
                </a:lnTo>
                <a:lnTo>
                  <a:pt x="338327" y="0"/>
                </a:lnTo>
              </a:path>
            </a:pathLst>
          </a:custGeom>
          <a:ln w="63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834883" y="2558795"/>
            <a:ext cx="4255135" cy="1934210"/>
          </a:xfrm>
          <a:prstGeom prst="rect">
            <a:avLst/>
          </a:prstGeom>
          <a:solidFill>
            <a:srgbClr val="DEEBF7"/>
          </a:solidFill>
        </p:spPr>
        <p:txBody>
          <a:bodyPr vert="horz" wrap="square" lIns="0" tIns="127000" rIns="0" bIns="0" rtlCol="0">
            <a:spAutoFit/>
          </a:bodyPr>
          <a:lstStyle/>
          <a:p>
            <a:pPr marL="63373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latin typeface="Arial MT"/>
                <a:cs typeface="Arial MT"/>
              </a:rPr>
              <a:t>Méningite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subaiguë</a:t>
            </a:r>
            <a:endParaRPr sz="1800">
              <a:latin typeface="Arial MT"/>
              <a:cs typeface="Arial MT"/>
            </a:endParaRPr>
          </a:p>
          <a:p>
            <a:pPr marL="63373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Arial MT"/>
                <a:cs typeface="Arial MT"/>
              </a:rPr>
              <a:t>méningoencéphalite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00">
              <a:latin typeface="Arial MT"/>
              <a:cs typeface="Arial MT"/>
            </a:endParaRPr>
          </a:p>
          <a:p>
            <a:pPr marL="63373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HTIC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subaiguë</a:t>
            </a:r>
            <a:endParaRPr sz="1800">
              <a:latin typeface="Arial MT"/>
              <a:cs typeface="Arial MT"/>
            </a:endParaRPr>
          </a:p>
          <a:p>
            <a:pPr marL="618490">
              <a:lnSpc>
                <a:spcPct val="100000"/>
              </a:lnSpc>
              <a:spcBef>
                <a:spcPts val="1880"/>
              </a:spcBef>
            </a:pPr>
            <a:r>
              <a:rPr sz="1800" dirty="0">
                <a:latin typeface="Arial MT"/>
                <a:cs typeface="Arial MT"/>
              </a:rPr>
              <a:t>Maladie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Horton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199376" y="2558795"/>
            <a:ext cx="338455" cy="1934210"/>
          </a:xfrm>
          <a:custGeom>
            <a:avLst/>
            <a:gdLst/>
            <a:ahLst/>
            <a:cxnLst/>
            <a:rect l="l" t="t" r="r" b="b"/>
            <a:pathLst>
              <a:path w="338454" h="1934210">
                <a:moveTo>
                  <a:pt x="338327" y="1933955"/>
                </a:moveTo>
                <a:lnTo>
                  <a:pt x="272462" y="1931747"/>
                </a:lnTo>
                <a:lnTo>
                  <a:pt x="218694" y="1925716"/>
                </a:lnTo>
                <a:lnTo>
                  <a:pt x="182451" y="1916757"/>
                </a:lnTo>
                <a:lnTo>
                  <a:pt x="169164" y="1905761"/>
                </a:lnTo>
                <a:lnTo>
                  <a:pt x="169164" y="995171"/>
                </a:lnTo>
                <a:lnTo>
                  <a:pt x="155876" y="984176"/>
                </a:lnTo>
                <a:lnTo>
                  <a:pt x="119634" y="975217"/>
                </a:lnTo>
                <a:lnTo>
                  <a:pt x="65865" y="969186"/>
                </a:lnTo>
                <a:lnTo>
                  <a:pt x="0" y="966977"/>
                </a:lnTo>
                <a:lnTo>
                  <a:pt x="65865" y="964769"/>
                </a:lnTo>
                <a:lnTo>
                  <a:pt x="119633" y="958738"/>
                </a:lnTo>
                <a:lnTo>
                  <a:pt x="155876" y="949779"/>
                </a:lnTo>
                <a:lnTo>
                  <a:pt x="169164" y="938783"/>
                </a:lnTo>
                <a:lnTo>
                  <a:pt x="169164" y="28193"/>
                </a:lnTo>
                <a:lnTo>
                  <a:pt x="182451" y="17198"/>
                </a:lnTo>
                <a:lnTo>
                  <a:pt x="218694" y="8239"/>
                </a:lnTo>
                <a:lnTo>
                  <a:pt x="272462" y="2208"/>
                </a:lnTo>
                <a:lnTo>
                  <a:pt x="338327" y="0"/>
                </a:lnTo>
              </a:path>
            </a:pathLst>
          </a:custGeom>
          <a:ln w="63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8564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Méningite</a:t>
            </a:r>
            <a:r>
              <a:rPr sz="4800" spc="-130" dirty="0"/>
              <a:t> </a:t>
            </a:r>
            <a:r>
              <a:rPr sz="4800" dirty="0"/>
              <a:t>et</a:t>
            </a:r>
            <a:r>
              <a:rPr sz="4800" spc="-170" dirty="0"/>
              <a:t> </a:t>
            </a:r>
            <a:r>
              <a:rPr sz="4800" spc="-10" dirty="0"/>
              <a:t>méningoencéphalite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695045" y="1637792"/>
            <a:ext cx="9855200" cy="3267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Char char="•"/>
              <a:tabLst>
                <a:tab pos="240029" algn="l"/>
              </a:tabLst>
            </a:pPr>
            <a:r>
              <a:rPr sz="2800" dirty="0">
                <a:latin typeface="Arial MT"/>
                <a:cs typeface="Arial MT"/>
              </a:rPr>
              <a:t>Méningite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: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syndrome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méningé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fébrile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: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PL</a:t>
            </a:r>
            <a:r>
              <a:rPr sz="2800" spc="-1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après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scanner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++</a:t>
            </a:r>
            <a:endParaRPr sz="2800">
              <a:latin typeface="Arial MT"/>
              <a:cs typeface="Arial MT"/>
            </a:endParaRPr>
          </a:p>
          <a:p>
            <a:pPr marL="239395" marR="5080" indent="-227329">
              <a:lnSpc>
                <a:spcPct val="150000"/>
              </a:lnSpc>
              <a:spcBef>
                <a:spcPts val="994"/>
              </a:spcBef>
              <a:buChar char="•"/>
              <a:tabLst>
                <a:tab pos="240665" algn="l"/>
              </a:tabLst>
            </a:pPr>
            <a:r>
              <a:rPr sz="2800" spc="-10" dirty="0">
                <a:latin typeface="Arial MT"/>
                <a:cs typeface="Arial MT"/>
              </a:rPr>
              <a:t>Méningoencéphalite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: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les</a:t>
            </a:r>
            <a:r>
              <a:rPr sz="2800" spc="-170" dirty="0">
                <a:latin typeface="Arial MT"/>
                <a:cs typeface="Arial MT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signes</a:t>
            </a:r>
            <a:r>
              <a:rPr sz="2800" b="1" spc="-1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neurologiques</a:t>
            </a:r>
            <a:r>
              <a:rPr sz="28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focaux</a:t>
            </a:r>
            <a:r>
              <a:rPr sz="2800" dirty="0">
                <a:latin typeface="Arial MT"/>
                <a:cs typeface="Arial MT"/>
              </a:rPr>
              <a:t>,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les 	</a:t>
            </a:r>
            <a:r>
              <a:rPr sz="2800" dirty="0">
                <a:latin typeface="Arial MT"/>
                <a:cs typeface="Arial MT"/>
              </a:rPr>
              <a:t>crises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épileptiques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troubles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la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vigilance</a:t>
            </a:r>
            <a:endParaRPr sz="2800">
              <a:latin typeface="Arial MT"/>
              <a:cs typeface="Arial MT"/>
            </a:endParaRPr>
          </a:p>
          <a:p>
            <a:pPr marL="696595" lvl="1" indent="-227329">
              <a:lnSpc>
                <a:spcPct val="100000"/>
              </a:lnSpc>
              <a:spcBef>
                <a:spcPts val="2190"/>
              </a:spcBef>
              <a:buChar char="•"/>
              <a:tabLst>
                <a:tab pos="696595" algn="l"/>
              </a:tabLst>
            </a:pPr>
            <a:r>
              <a:rPr sz="2800" spc="-10" dirty="0">
                <a:latin typeface="Arial MT"/>
                <a:cs typeface="Arial MT"/>
              </a:rPr>
              <a:t>Méningoencéphalite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lymphocytaire: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PCR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Herpes++++</a:t>
            </a:r>
            <a:endParaRPr sz="2800">
              <a:latin typeface="Arial MT"/>
              <a:cs typeface="Arial MT"/>
            </a:endParaRPr>
          </a:p>
          <a:p>
            <a:pPr marL="696595" lvl="1" indent="-227329">
              <a:lnSpc>
                <a:spcPct val="100000"/>
              </a:lnSpc>
              <a:spcBef>
                <a:spcPts val="2185"/>
              </a:spcBef>
              <a:buChar char="•"/>
              <a:tabLst>
                <a:tab pos="696595" algn="l"/>
              </a:tabLst>
            </a:pPr>
            <a:r>
              <a:rPr sz="2800" dirty="0">
                <a:latin typeface="Arial MT"/>
                <a:cs typeface="Arial MT"/>
              </a:rPr>
              <a:t>traitement</a:t>
            </a:r>
            <a:r>
              <a:rPr sz="2800" spc="-1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antiherpétique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(acyclovir)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Hypertension</a:t>
            </a:r>
            <a:r>
              <a:rPr sz="4800" spc="-290" dirty="0"/>
              <a:t> </a:t>
            </a:r>
            <a:r>
              <a:rPr sz="4800" spc="-10" dirty="0"/>
              <a:t>intracrânienne</a:t>
            </a:r>
            <a:r>
              <a:rPr sz="4800" spc="-280" dirty="0"/>
              <a:t> </a:t>
            </a:r>
            <a:r>
              <a:rPr sz="4800" spc="-10" dirty="0"/>
              <a:t>subaiguë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730707" y="1849373"/>
            <a:ext cx="9600565" cy="3393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Char char="•"/>
              <a:tabLst>
                <a:tab pos="240029" algn="l"/>
              </a:tabLst>
            </a:pPr>
            <a:r>
              <a:rPr sz="2800" dirty="0">
                <a:latin typeface="Arial MT"/>
                <a:cs typeface="Arial MT"/>
              </a:rPr>
              <a:t>Excès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synthèse</a:t>
            </a:r>
            <a:endParaRPr sz="2800">
              <a:latin typeface="Arial MT"/>
              <a:cs typeface="Arial MT"/>
            </a:endParaRPr>
          </a:p>
          <a:p>
            <a:pPr marL="240029" marR="290830" indent="-227329">
              <a:lnSpc>
                <a:spcPct val="150100"/>
              </a:lnSpc>
              <a:spcBef>
                <a:spcPts val="990"/>
              </a:spcBef>
              <a:buChar char="•"/>
              <a:tabLst>
                <a:tab pos="241300" algn="l"/>
              </a:tabLst>
            </a:pPr>
            <a:r>
              <a:rPr sz="2800" dirty="0">
                <a:latin typeface="Arial MT"/>
                <a:cs typeface="Arial MT"/>
              </a:rPr>
              <a:t>Augmentation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la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masse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cérébrale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(œdème,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processus 	</a:t>
            </a:r>
            <a:r>
              <a:rPr sz="2800" dirty="0">
                <a:latin typeface="Arial MT"/>
                <a:cs typeface="Arial MT"/>
              </a:rPr>
              <a:t>expansif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intracérébral)</a:t>
            </a:r>
            <a:endParaRPr sz="28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690"/>
              </a:spcBef>
              <a:buChar char="•"/>
              <a:tabLst>
                <a:tab pos="240029" algn="l"/>
              </a:tabLst>
            </a:pPr>
            <a:r>
              <a:rPr sz="2800" dirty="0">
                <a:latin typeface="Arial MT"/>
                <a:cs typeface="Arial MT"/>
              </a:rPr>
              <a:t>Défaut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résorption,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notamment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par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blocage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circulation</a:t>
            </a:r>
            <a:endParaRPr sz="28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680"/>
              </a:spcBef>
              <a:buChar char="•"/>
              <a:tabLst>
                <a:tab pos="240029" algn="l"/>
              </a:tabLst>
            </a:pPr>
            <a:r>
              <a:rPr sz="2800" dirty="0">
                <a:latin typeface="Arial MT"/>
                <a:cs typeface="Arial MT"/>
              </a:rPr>
              <a:t>Origine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vasculaire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(thrombose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veineuse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cérébrale)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8661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Céphalées</a:t>
            </a:r>
            <a:r>
              <a:rPr sz="4800" spc="-225" dirty="0"/>
              <a:t> </a:t>
            </a:r>
            <a:r>
              <a:rPr sz="4800" spc="-10" dirty="0"/>
              <a:t>(HTIC)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304800" y="1713693"/>
            <a:ext cx="4776470" cy="4850302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34950" rIns="0" bIns="0" rtlCol="0">
            <a:spAutoFit/>
          </a:bodyPr>
          <a:lstStyle/>
          <a:p>
            <a:pPr marL="532765">
              <a:lnSpc>
                <a:spcPct val="100000"/>
              </a:lnSpc>
              <a:spcBef>
                <a:spcPts val="1850"/>
              </a:spcBef>
            </a:pPr>
            <a:r>
              <a:rPr sz="2400" dirty="0">
                <a:latin typeface="Arial MT"/>
                <a:cs typeface="Arial MT"/>
              </a:rPr>
              <a:t>Diffuses,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«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casque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»</a:t>
            </a:r>
            <a:endParaRPr sz="2400" dirty="0">
              <a:latin typeface="Arial MT"/>
              <a:cs typeface="Arial MT"/>
            </a:endParaRPr>
          </a:p>
          <a:p>
            <a:pPr marL="532765" marR="455295" indent="-8255">
              <a:lnSpc>
                <a:spcPct val="150000"/>
              </a:lnSpc>
              <a:spcBef>
                <a:spcPts val="5"/>
              </a:spcBef>
              <a:buSzPct val="95833"/>
              <a:buChar char="•"/>
              <a:tabLst>
                <a:tab pos="638810" algn="l"/>
              </a:tabLst>
            </a:pPr>
            <a:r>
              <a:rPr sz="2400" dirty="0">
                <a:latin typeface="Arial MT"/>
                <a:cs typeface="Arial MT"/>
              </a:rPr>
              <a:t>	Souvent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intenses,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atroces </a:t>
            </a:r>
            <a:r>
              <a:rPr sz="2400" dirty="0">
                <a:latin typeface="Arial MT"/>
                <a:cs typeface="Arial MT"/>
              </a:rPr>
              <a:t>(broiement,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éclatement,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…),</a:t>
            </a:r>
            <a:endParaRPr sz="2400" dirty="0">
              <a:latin typeface="Arial MT"/>
              <a:cs typeface="Arial MT"/>
            </a:endParaRPr>
          </a:p>
          <a:p>
            <a:pPr marL="532765" marR="441959" indent="-8255">
              <a:lnSpc>
                <a:spcPct val="150000"/>
              </a:lnSpc>
              <a:buSzPct val="95833"/>
              <a:buChar char="•"/>
              <a:tabLst>
                <a:tab pos="638810" algn="l"/>
              </a:tabLst>
            </a:pPr>
            <a:r>
              <a:rPr sz="2400" dirty="0">
                <a:latin typeface="Arial MT"/>
                <a:cs typeface="Arial MT"/>
              </a:rPr>
              <a:t>	Réveillant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la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nuit, </a:t>
            </a:r>
            <a:r>
              <a:rPr sz="2400" b="1" dirty="0">
                <a:latin typeface="Arial"/>
                <a:cs typeface="Arial"/>
              </a:rPr>
              <a:t>notamment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au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petit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matin</a:t>
            </a:r>
            <a:r>
              <a:rPr sz="2400" spc="-10" dirty="0">
                <a:latin typeface="Arial MT"/>
                <a:cs typeface="Arial MT"/>
              </a:rPr>
              <a:t>,</a:t>
            </a:r>
            <a:endParaRPr sz="2400" dirty="0">
              <a:latin typeface="Arial MT"/>
              <a:cs typeface="Arial MT"/>
            </a:endParaRPr>
          </a:p>
          <a:p>
            <a:pPr marL="532765" marR="320675" indent="-8255">
              <a:lnSpc>
                <a:spcPct val="150000"/>
              </a:lnSpc>
              <a:buSzPct val="95833"/>
              <a:buChar char="•"/>
              <a:tabLst>
                <a:tab pos="638810" algn="l"/>
              </a:tabLst>
            </a:pPr>
            <a:r>
              <a:rPr sz="2400" dirty="0">
                <a:latin typeface="Arial MT"/>
                <a:cs typeface="Arial MT"/>
              </a:rPr>
              <a:t>	Accrues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par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le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moindre </a:t>
            </a:r>
            <a:r>
              <a:rPr sz="2400" b="1" dirty="0">
                <a:latin typeface="Arial"/>
                <a:cs typeface="Arial"/>
              </a:rPr>
              <a:t>effort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(marche,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rotation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la </a:t>
            </a:r>
            <a:r>
              <a:rPr sz="2400" dirty="0">
                <a:latin typeface="Arial MT"/>
                <a:cs typeface="Arial MT"/>
              </a:rPr>
              <a:t>tête,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0" dirty="0" err="1">
                <a:latin typeface="Arial MT"/>
                <a:cs typeface="Arial MT"/>
              </a:rPr>
              <a:t>toux</a:t>
            </a:r>
            <a:r>
              <a:rPr sz="2400" spc="-20" dirty="0">
                <a:latin typeface="Arial MT"/>
                <a:cs typeface="Arial MT"/>
              </a:rPr>
              <a:t>)</a:t>
            </a:r>
            <a:endParaRPr lang="fr-FR" sz="2400" spc="-20" dirty="0">
              <a:latin typeface="Arial MT"/>
              <a:cs typeface="Arial MT"/>
            </a:endParaRPr>
          </a:p>
          <a:p>
            <a:pPr marL="100330" marR="320675" indent="-97155" algn="just">
              <a:spcBef>
                <a:spcPts val="105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lang="fr-FR" sz="2000" b="1" dirty="0">
                <a:solidFill>
                  <a:srgbClr val="4471C4"/>
                </a:solidFill>
                <a:latin typeface="Arial"/>
                <a:cs typeface="Arial"/>
              </a:rPr>
              <a:t>Aggravées par la position couchée </a:t>
            </a:r>
          </a:p>
        </p:txBody>
      </p:sp>
      <p:sp>
        <p:nvSpPr>
          <p:cNvPr id="4" name="object 4"/>
          <p:cNvSpPr/>
          <p:nvPr/>
        </p:nvSpPr>
        <p:spPr>
          <a:xfrm>
            <a:off x="5190744" y="1912620"/>
            <a:ext cx="6891655" cy="4651375"/>
          </a:xfrm>
          <a:custGeom>
            <a:avLst/>
            <a:gdLst/>
            <a:ahLst/>
            <a:cxnLst/>
            <a:rect l="l" t="t" r="r" b="b"/>
            <a:pathLst>
              <a:path w="6891655" h="4651375">
                <a:moveTo>
                  <a:pt x="0" y="4651248"/>
                </a:moveTo>
                <a:lnTo>
                  <a:pt x="6891528" y="4651248"/>
                </a:lnTo>
                <a:lnTo>
                  <a:pt x="6891528" y="0"/>
                </a:lnTo>
                <a:lnTo>
                  <a:pt x="0" y="0"/>
                </a:lnTo>
                <a:lnTo>
                  <a:pt x="0" y="465124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69738" y="2033727"/>
            <a:ext cx="24142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0330" indent="-97155">
              <a:lnSpc>
                <a:spcPct val="100000"/>
              </a:lnSpc>
              <a:spcBef>
                <a:spcPts val="105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000" b="1" dirty="0">
                <a:solidFill>
                  <a:srgbClr val="4471C4"/>
                </a:solidFill>
                <a:latin typeface="Arial"/>
                <a:cs typeface="Arial"/>
              </a:rPr>
              <a:t>Des</a:t>
            </a:r>
            <a:r>
              <a:rPr sz="2000" b="1" spc="-35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471C4"/>
                </a:solidFill>
                <a:latin typeface="Arial"/>
                <a:cs typeface="Arial"/>
              </a:rPr>
              <a:t>vomissements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69738" y="3863466"/>
            <a:ext cx="2102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330" indent="-97155">
              <a:lnSpc>
                <a:spcPct val="100000"/>
              </a:lnSpc>
              <a:spcBef>
                <a:spcPts val="100"/>
              </a:spcBef>
              <a:buSzPct val="95000"/>
              <a:buFont typeface="Arial MT"/>
              <a:buChar char="•"/>
              <a:tabLst>
                <a:tab pos="100330" algn="l"/>
              </a:tabLst>
            </a:pPr>
            <a:r>
              <a:rPr sz="2000" b="1" spc="-10" dirty="0">
                <a:solidFill>
                  <a:srgbClr val="4471C4"/>
                </a:solidFill>
                <a:latin typeface="Arial"/>
                <a:cs typeface="Arial"/>
              </a:rPr>
              <a:t>Troubles</a:t>
            </a:r>
            <a:r>
              <a:rPr sz="2000" b="1" spc="-95" dirty="0">
                <a:solidFill>
                  <a:srgbClr val="4471C4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471C4"/>
                </a:solidFill>
                <a:latin typeface="Arial"/>
                <a:cs typeface="Arial"/>
              </a:rPr>
              <a:t>visuels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69738" y="2339695"/>
            <a:ext cx="6337300" cy="414147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300"/>
              </a:spcBef>
              <a:buChar char="•"/>
              <a:tabLst>
                <a:tab pos="299085" algn="l"/>
              </a:tabLst>
            </a:pPr>
            <a:r>
              <a:rPr sz="2000" spc="-10" dirty="0">
                <a:latin typeface="Arial MT"/>
                <a:cs typeface="Arial MT"/>
              </a:rPr>
              <a:t>Typiquement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«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jet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»,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au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paroxysme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céphalée</a:t>
            </a:r>
            <a:endParaRPr sz="20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b="1" dirty="0">
                <a:latin typeface="Arial"/>
                <a:cs typeface="Arial"/>
              </a:rPr>
              <a:t>Améliorent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les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céphalées</a:t>
            </a:r>
            <a:endParaRPr sz="20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Char char="•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Mais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inconstants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(parfois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seulement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des</a:t>
            </a:r>
            <a:r>
              <a:rPr sz="2000" spc="-10" dirty="0">
                <a:latin typeface="Arial MT"/>
                <a:cs typeface="Arial MT"/>
              </a:rPr>
              <a:t> nausées)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Font typeface="Arial MT"/>
              <a:buChar char="•"/>
            </a:pPr>
            <a:endParaRPr sz="20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Impression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de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flou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 MT"/>
                <a:cs typeface="Arial MT"/>
              </a:rPr>
              <a:t>bilatérale</a:t>
            </a:r>
            <a:endParaRPr sz="20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Char char="•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Avec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parfois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«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éclipses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visuelles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spc="-50" dirty="0">
                <a:latin typeface="Arial MT"/>
                <a:cs typeface="Arial MT"/>
              </a:rPr>
              <a:t>»</a:t>
            </a:r>
            <a:endParaRPr sz="2000">
              <a:latin typeface="Arial MT"/>
              <a:cs typeface="Arial MT"/>
            </a:endParaRPr>
          </a:p>
          <a:p>
            <a:pPr marL="299085" marR="287655" indent="-287020">
              <a:lnSpc>
                <a:spcPct val="15000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Une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diplopie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atteinte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du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VI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(long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fragile):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non </a:t>
            </a:r>
            <a:r>
              <a:rPr sz="2000" spc="-10" dirty="0">
                <a:latin typeface="Arial MT"/>
                <a:cs typeface="Arial MT"/>
              </a:rPr>
              <a:t>localisatrice</a:t>
            </a:r>
            <a:endParaRPr sz="20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Un</a:t>
            </a:r>
            <a:r>
              <a:rPr sz="20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œdème</a:t>
            </a:r>
            <a:r>
              <a:rPr sz="20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papillaire</a:t>
            </a:r>
            <a:r>
              <a:rPr sz="2000" b="1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au</a:t>
            </a:r>
            <a:r>
              <a:rPr sz="20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fond</a:t>
            </a:r>
            <a:r>
              <a:rPr sz="20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Arial"/>
                <a:cs typeface="Arial"/>
              </a:rPr>
              <a:t>d’œil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-17272"/>
            <a:ext cx="12034520" cy="1090632"/>
          </a:xfrm>
          <a:prstGeom prst="rect">
            <a:avLst/>
          </a:prstGeom>
        </p:spPr>
        <p:txBody>
          <a:bodyPr vert="horz" wrap="square" lIns="0" tIns="348564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100"/>
              </a:spcBef>
            </a:pPr>
            <a:r>
              <a:rPr lang="fr-FR" sz="4800" dirty="0"/>
              <a:t>1. </a:t>
            </a:r>
            <a:r>
              <a:rPr sz="4800" dirty="0"/>
              <a:t>Thrombose</a:t>
            </a:r>
            <a:r>
              <a:rPr sz="4800" spc="-300" dirty="0"/>
              <a:t> </a:t>
            </a:r>
            <a:r>
              <a:rPr sz="4800" dirty="0"/>
              <a:t>veineuse</a:t>
            </a:r>
            <a:r>
              <a:rPr sz="4800" spc="-275" dirty="0"/>
              <a:t> </a:t>
            </a:r>
            <a:r>
              <a:rPr sz="4800" spc="-10" dirty="0"/>
              <a:t>cérébrale</a:t>
            </a:r>
            <a:endParaRPr sz="4800" dirty="0"/>
          </a:p>
        </p:txBody>
      </p:sp>
      <p:sp>
        <p:nvSpPr>
          <p:cNvPr id="3" name="object 3"/>
          <p:cNvSpPr txBox="1"/>
          <p:nvPr/>
        </p:nvSpPr>
        <p:spPr>
          <a:xfrm>
            <a:off x="814069" y="1905000"/>
            <a:ext cx="10563860" cy="3872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 algn="just">
              <a:spcBef>
                <a:spcPts val="100"/>
              </a:spcBef>
              <a:buFontTx/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Récente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progressive,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est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quasi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 err="1">
                <a:latin typeface="Arial MT"/>
                <a:cs typeface="Arial MT"/>
              </a:rPr>
              <a:t>constante</a:t>
            </a:r>
            <a:r>
              <a:rPr lang="fr-FR" sz="2400" spc="-10" dirty="0">
                <a:latin typeface="Arial MT"/>
                <a:cs typeface="Arial MT"/>
              </a:rPr>
              <a:t>. </a:t>
            </a:r>
            <a:r>
              <a:rPr lang="fr-FR" sz="2400" spc="-10" dirty="0">
                <a:solidFill>
                  <a:srgbClr val="00B0F0"/>
                </a:solidFill>
                <a:latin typeface="Arial MT"/>
              </a:rPr>
              <a:t>Un début brutal peut se voir.</a:t>
            </a:r>
            <a:endParaRPr sz="2400" spc="-10" dirty="0">
              <a:solidFill>
                <a:srgbClr val="00B0F0"/>
              </a:solidFill>
              <a:latin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1864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signes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focaux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bilatéraux</a:t>
            </a:r>
            <a:r>
              <a:rPr sz="2400" b="1" spc="-9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et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à</a:t>
            </a:r>
            <a:r>
              <a:rPr sz="2400" b="1" spc="-9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bascule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sont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évocateurs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du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diagnostic</a:t>
            </a:r>
            <a:endParaRPr sz="2400" dirty="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1870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Même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le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 err="1">
                <a:latin typeface="Arial"/>
                <a:cs typeface="Arial"/>
              </a:rPr>
              <a:t>contexte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spc="-10" dirty="0">
                <a:latin typeface="Arial"/>
                <a:cs typeface="Arial"/>
              </a:rPr>
              <a:t>postpartum</a:t>
            </a:r>
            <a:r>
              <a:rPr sz="2400" spc="-10" dirty="0">
                <a:latin typeface="Arial MT"/>
                <a:cs typeface="Arial MT"/>
              </a:rPr>
              <a:t>…)</a:t>
            </a:r>
            <a:endParaRPr sz="2400" dirty="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1865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infarctus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veineux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ou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hémorragique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hétérogène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++)</a:t>
            </a:r>
            <a:endParaRPr sz="2400" dirty="0">
              <a:latin typeface="Arial"/>
              <a:cs typeface="Arial"/>
            </a:endParaRPr>
          </a:p>
          <a:p>
            <a:pPr marL="240029" indent="-227329">
              <a:lnSpc>
                <a:spcPct val="100000"/>
              </a:lnSpc>
              <a:spcBef>
                <a:spcPts val="1860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IRM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cérébrale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avec</a:t>
            </a:r>
            <a:r>
              <a:rPr sz="2400" spc="-1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ARM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veineuse</a:t>
            </a:r>
            <a:endParaRPr sz="2400" dirty="0">
              <a:latin typeface="Arial MT"/>
              <a:cs typeface="Arial MT"/>
            </a:endParaRPr>
          </a:p>
          <a:p>
            <a:pPr marL="240029" marR="5080" indent="-227329">
              <a:lnSpc>
                <a:spcPct val="13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spc="-10" dirty="0">
                <a:solidFill>
                  <a:srgbClr val="C00000"/>
                </a:solidFill>
                <a:latin typeface="Arial"/>
                <a:cs typeface="Arial"/>
              </a:rPr>
              <a:t>Traitement</a:t>
            </a:r>
            <a:r>
              <a:rPr sz="2400" b="1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anticoagulant</a:t>
            </a:r>
            <a:r>
              <a:rPr sz="2400" b="1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doit</a:t>
            </a:r>
            <a:r>
              <a:rPr sz="2400" b="1" spc="-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être</a:t>
            </a:r>
            <a:r>
              <a:rPr sz="2400" b="1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instauré</a:t>
            </a:r>
            <a:r>
              <a:rPr sz="2400" b="1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en</a:t>
            </a:r>
            <a:r>
              <a:rPr sz="2400" b="1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urgence</a:t>
            </a:r>
            <a:r>
              <a:rPr sz="2400" b="1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même</a:t>
            </a:r>
            <a:r>
              <a:rPr sz="24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en</a:t>
            </a:r>
            <a:r>
              <a:rPr sz="2400" b="1" spc="-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cas</a:t>
            </a:r>
            <a:r>
              <a:rPr sz="2400" b="1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C00000"/>
                </a:solidFill>
                <a:latin typeface="Arial"/>
                <a:cs typeface="Arial"/>
              </a:rPr>
              <a:t>de 	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suffusion</a:t>
            </a:r>
            <a:r>
              <a:rPr sz="24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-10" dirty="0" err="1">
                <a:solidFill>
                  <a:srgbClr val="C00000"/>
                </a:solidFill>
                <a:latin typeface="Arial"/>
                <a:cs typeface="Arial"/>
              </a:rPr>
              <a:t>hémorragique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-17272"/>
            <a:ext cx="12034520" cy="1090632"/>
          </a:xfrm>
          <a:prstGeom prst="rect">
            <a:avLst/>
          </a:prstGeom>
        </p:spPr>
        <p:txBody>
          <a:bodyPr vert="horz" wrap="square" lIns="0" tIns="348564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100"/>
              </a:spcBef>
            </a:pPr>
            <a:r>
              <a:rPr lang="fr-FR" sz="4800" dirty="0"/>
              <a:t>2. </a:t>
            </a:r>
            <a:r>
              <a:rPr sz="4800" dirty="0" err="1"/>
              <a:t>Processus</a:t>
            </a:r>
            <a:r>
              <a:rPr sz="4800" spc="-275" dirty="0"/>
              <a:t> </a:t>
            </a:r>
            <a:r>
              <a:rPr sz="4800" dirty="0"/>
              <a:t>expansif</a:t>
            </a:r>
            <a:r>
              <a:rPr sz="4800" spc="-254" dirty="0"/>
              <a:t> </a:t>
            </a:r>
            <a:r>
              <a:rPr sz="4800" spc="-10" dirty="0"/>
              <a:t>intracrânien</a:t>
            </a:r>
            <a:endParaRPr sz="480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6939" y="1944065"/>
            <a:ext cx="9797415" cy="2037352"/>
          </a:xfrm>
          <a:prstGeom prst="rect">
            <a:avLst/>
          </a:prstGeom>
        </p:spPr>
        <p:txBody>
          <a:bodyPr vert="horz" wrap="square" lIns="0" tIns="51688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Char char="•"/>
              <a:tabLst>
                <a:tab pos="240029" algn="l"/>
              </a:tabLst>
            </a:pPr>
            <a:r>
              <a:rPr sz="2800" dirty="0">
                <a:latin typeface="Arial MT"/>
                <a:cs typeface="Arial MT"/>
              </a:rPr>
              <a:t>Céphalée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récente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souvent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b="1" spc="-10" dirty="0"/>
              <a:t>progressive</a:t>
            </a:r>
            <a:endParaRPr sz="2800" dirty="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680"/>
              </a:spcBef>
              <a:buChar char="•"/>
              <a:tabLst>
                <a:tab pos="240029" algn="l"/>
              </a:tabLst>
            </a:pPr>
            <a:r>
              <a:rPr sz="2800" dirty="0">
                <a:latin typeface="Arial MT"/>
                <a:cs typeface="Arial MT"/>
              </a:rPr>
              <a:t>Signe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HTIC</a:t>
            </a:r>
            <a:r>
              <a:rPr sz="2800" b="1" dirty="0"/>
              <a:t>+</a:t>
            </a:r>
            <a:r>
              <a:rPr sz="2800" b="1" spc="-55" dirty="0"/>
              <a:t> </a:t>
            </a:r>
            <a:r>
              <a:rPr sz="2800" b="1" dirty="0" err="1"/>
              <a:t>signe</a:t>
            </a:r>
            <a:r>
              <a:rPr sz="2800" b="1" spc="-60" dirty="0"/>
              <a:t> </a:t>
            </a:r>
            <a:r>
              <a:rPr sz="2800" b="1" dirty="0"/>
              <a:t>de</a:t>
            </a:r>
            <a:r>
              <a:rPr lang="fr-FR" sz="2800" b="1" dirty="0"/>
              <a:t> localisation </a:t>
            </a:r>
            <a:endParaRPr sz="2800" dirty="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690"/>
              </a:spcBef>
              <a:buChar char="•"/>
              <a:tabLst>
                <a:tab pos="240029" algn="l"/>
              </a:tabLst>
            </a:pPr>
            <a:r>
              <a:rPr sz="2800" spc="-10" dirty="0">
                <a:latin typeface="Arial MT"/>
                <a:cs typeface="Arial MT"/>
              </a:rPr>
              <a:t>L’IRM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ou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scanner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</a:t>
            </a:r>
            <a:r>
              <a:rPr sz="2800" b="1" dirty="0"/>
              <a:t>avec</a:t>
            </a:r>
            <a:r>
              <a:rPr sz="2800" b="1" spc="-65" dirty="0"/>
              <a:t> </a:t>
            </a:r>
            <a:r>
              <a:rPr sz="2800" b="1" dirty="0"/>
              <a:t>injection</a:t>
            </a:r>
            <a:r>
              <a:rPr sz="2800" b="1" spc="-50" dirty="0"/>
              <a:t> </a:t>
            </a:r>
            <a:r>
              <a:rPr sz="2800" dirty="0">
                <a:latin typeface="Arial MT"/>
                <a:cs typeface="Arial MT"/>
              </a:rPr>
              <a:t>de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produit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contraste)</a:t>
            </a:r>
            <a:endParaRPr sz="2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-62103"/>
            <a:ext cx="8284209" cy="143052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 marR="5080">
              <a:lnSpc>
                <a:spcPts val="5180"/>
              </a:lnSpc>
              <a:spcBef>
                <a:spcPts val="755"/>
              </a:spcBef>
            </a:pPr>
            <a:r>
              <a:rPr lang="fr-FR" sz="4800" spc="-10" dirty="0">
                <a:solidFill>
                  <a:schemeClr val="accent6">
                    <a:lumMod val="75000"/>
                  </a:schemeClr>
                </a:solidFill>
              </a:rPr>
              <a:t>3. </a:t>
            </a:r>
            <a:r>
              <a:rPr sz="4800" spc="-10" dirty="0">
                <a:solidFill>
                  <a:schemeClr val="accent6">
                    <a:lumMod val="75000"/>
                  </a:schemeClr>
                </a:solidFill>
              </a:rPr>
              <a:t>Hypertension</a:t>
            </a:r>
            <a:r>
              <a:rPr sz="4800" spc="-235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sz="4800" spc="-10" dirty="0">
                <a:solidFill>
                  <a:schemeClr val="accent6">
                    <a:lumMod val="75000"/>
                  </a:schemeClr>
                </a:solidFill>
              </a:rPr>
              <a:t>intracrânienne idiopathique</a:t>
            </a:r>
            <a:endParaRPr sz="4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983689"/>
            <a:ext cx="10249535" cy="3267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Char char="•"/>
              <a:tabLst>
                <a:tab pos="240029" algn="l"/>
              </a:tabLst>
            </a:pPr>
            <a:r>
              <a:rPr sz="2800" dirty="0">
                <a:latin typeface="Arial MT"/>
                <a:cs typeface="Arial MT"/>
              </a:rPr>
              <a:t>Diagnostic</a:t>
            </a:r>
            <a:r>
              <a:rPr sz="2800" spc="-1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d’élimination</a:t>
            </a:r>
            <a:endParaRPr sz="2800">
              <a:latin typeface="Arial MT"/>
              <a:cs typeface="Arial MT"/>
            </a:endParaRPr>
          </a:p>
          <a:p>
            <a:pPr marL="240029" marR="5080" indent="-227329">
              <a:lnSpc>
                <a:spcPct val="15000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sz="2800" dirty="0">
                <a:latin typeface="Arial MT"/>
                <a:cs typeface="Arial MT"/>
              </a:rPr>
              <a:t>Contexte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est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souvent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évocateur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</a:t>
            </a:r>
            <a:r>
              <a:rPr sz="2800" b="1" dirty="0">
                <a:solidFill>
                  <a:srgbClr val="006FC0"/>
                </a:solidFill>
                <a:latin typeface="Arial"/>
                <a:cs typeface="Arial"/>
              </a:rPr>
              <a:t>jeune</a:t>
            </a:r>
            <a:r>
              <a:rPr sz="2800" b="1" spc="-6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6FC0"/>
                </a:solidFill>
                <a:latin typeface="Arial"/>
                <a:cs typeface="Arial"/>
              </a:rPr>
              <a:t>femme</a:t>
            </a:r>
            <a:r>
              <a:rPr sz="2800" b="1" spc="-7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6FC0"/>
                </a:solidFill>
                <a:latin typeface="Arial"/>
                <a:cs typeface="Arial"/>
              </a:rPr>
              <a:t>obèse</a:t>
            </a:r>
            <a:r>
              <a:rPr sz="2800" dirty="0">
                <a:latin typeface="Arial MT"/>
                <a:cs typeface="Arial MT"/>
              </a:rPr>
              <a:t>,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prise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de 	</a:t>
            </a:r>
            <a:r>
              <a:rPr sz="2800" dirty="0">
                <a:latin typeface="Arial MT"/>
                <a:cs typeface="Arial MT"/>
              </a:rPr>
              <a:t>corticoïdes,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vitamine</a:t>
            </a:r>
            <a:r>
              <a:rPr sz="2800" spc="-18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A)</a:t>
            </a:r>
            <a:endParaRPr sz="2800">
              <a:latin typeface="Arial MT"/>
              <a:cs typeface="Arial MT"/>
            </a:endParaRPr>
          </a:p>
          <a:p>
            <a:pPr marL="240029" marR="562610" indent="-227329">
              <a:lnSpc>
                <a:spcPct val="150000"/>
              </a:lnSpc>
              <a:spcBef>
                <a:spcPts val="1010"/>
              </a:spcBef>
              <a:buChar char="•"/>
              <a:tabLst>
                <a:tab pos="241300" algn="l"/>
              </a:tabLst>
            </a:pPr>
            <a:r>
              <a:rPr sz="2800" dirty="0">
                <a:latin typeface="Arial MT"/>
                <a:cs typeface="Arial MT"/>
              </a:rPr>
              <a:t>La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ponction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lombaire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avec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prise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pression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(réalisée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après 	</a:t>
            </a:r>
            <a:r>
              <a:rPr sz="2800" dirty="0">
                <a:latin typeface="Arial MT"/>
                <a:cs typeface="Arial MT"/>
              </a:rPr>
              <a:t>imagerie)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+++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-17272"/>
            <a:ext cx="12034520" cy="914943"/>
          </a:xfrm>
          <a:prstGeom prst="rect">
            <a:avLst/>
          </a:prstGeom>
        </p:spPr>
        <p:txBody>
          <a:bodyPr vert="horz" wrap="square" lIns="0" tIns="296494" rIns="0" bIns="0" rtlCol="0">
            <a:spAutoFit/>
          </a:bodyPr>
          <a:lstStyle/>
          <a:p>
            <a:pPr marL="376555">
              <a:lnSpc>
                <a:spcPct val="100000"/>
              </a:lnSpc>
              <a:spcBef>
                <a:spcPts val="105"/>
              </a:spcBef>
            </a:pPr>
            <a:r>
              <a:rPr lang="fr-FR" sz="4000" dirty="0"/>
              <a:t>Maladie</a:t>
            </a:r>
            <a:r>
              <a:rPr lang="fr-FR" sz="4000" spc="-95" dirty="0"/>
              <a:t> </a:t>
            </a:r>
            <a:r>
              <a:rPr lang="fr-FR" sz="4000" dirty="0"/>
              <a:t>de</a:t>
            </a:r>
            <a:r>
              <a:rPr lang="fr-FR" sz="4000" spc="-45" dirty="0"/>
              <a:t> </a:t>
            </a:r>
            <a:r>
              <a:rPr lang="fr-FR" sz="4000" dirty="0"/>
              <a:t>Horton</a:t>
            </a:r>
            <a:r>
              <a:rPr lang="fr-FR" sz="4000" spc="-85" dirty="0"/>
              <a:t> </a:t>
            </a:r>
            <a:r>
              <a:rPr lang="fr-FR" sz="4000" dirty="0"/>
              <a:t>(artérite gigantocellulaire )</a:t>
            </a:r>
            <a:endParaRPr sz="4000" spc="-1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8200" y="864677"/>
            <a:ext cx="11122661" cy="6531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200000"/>
              </a:lnSpc>
              <a:spcBef>
                <a:spcPts val="95"/>
              </a:spcBef>
              <a:buChar char="•"/>
              <a:tabLst>
                <a:tab pos="240029" algn="l"/>
              </a:tabLst>
            </a:pPr>
            <a:r>
              <a:rPr sz="2800" b="1" dirty="0">
                <a:latin typeface="Arial MT"/>
                <a:cs typeface="Arial MT"/>
              </a:rPr>
              <a:t>Plus</a:t>
            </a:r>
            <a:r>
              <a:rPr sz="2800" b="1" spc="-35" dirty="0">
                <a:latin typeface="Arial MT"/>
                <a:cs typeface="Arial MT"/>
              </a:rPr>
              <a:t> </a:t>
            </a:r>
            <a:r>
              <a:rPr sz="2800" b="1" dirty="0">
                <a:latin typeface="Arial MT"/>
                <a:cs typeface="Arial MT"/>
              </a:rPr>
              <a:t>de</a:t>
            </a:r>
            <a:r>
              <a:rPr sz="2800" b="1" spc="-30" dirty="0">
                <a:latin typeface="Arial MT"/>
                <a:cs typeface="Arial MT"/>
              </a:rPr>
              <a:t> </a:t>
            </a:r>
            <a:r>
              <a:rPr sz="2800" b="1" dirty="0">
                <a:latin typeface="Arial MT"/>
                <a:cs typeface="Arial MT"/>
              </a:rPr>
              <a:t>50</a:t>
            </a:r>
            <a:r>
              <a:rPr sz="2800" b="1" spc="-25" dirty="0">
                <a:latin typeface="Arial MT"/>
                <a:cs typeface="Arial MT"/>
              </a:rPr>
              <a:t> </a:t>
            </a:r>
            <a:r>
              <a:rPr sz="2800" b="1" spc="-25" dirty="0" err="1">
                <a:latin typeface="Arial MT"/>
                <a:cs typeface="Arial MT"/>
              </a:rPr>
              <a:t>ans</a:t>
            </a:r>
            <a:r>
              <a:rPr lang="fr-FR" sz="2800" b="1" spc="-25" dirty="0">
                <a:latin typeface="Arial MT"/>
                <a:cs typeface="Arial MT"/>
              </a:rPr>
              <a:t>+++</a:t>
            </a:r>
          </a:p>
          <a:p>
            <a:pPr marL="240029" indent="-227329">
              <a:lnSpc>
                <a:spcPct val="200000"/>
              </a:lnSpc>
              <a:spcBef>
                <a:spcPts val="95"/>
              </a:spcBef>
              <a:buChar char="•"/>
              <a:tabLst>
                <a:tab pos="240029" algn="l"/>
              </a:tabLst>
            </a:pPr>
            <a:r>
              <a:rPr lang="fr-FR" sz="2800" b="1" dirty="0">
                <a:latin typeface="Arial MT"/>
              </a:rPr>
              <a:t>Les manifestations de la maladie de Horton peuvent être classées en 4 grandes catégories+++ ( à retenir ) </a:t>
            </a:r>
          </a:p>
          <a:p>
            <a:pPr marL="240029" indent="-227329">
              <a:lnSpc>
                <a:spcPct val="200000"/>
              </a:lnSpc>
              <a:spcBef>
                <a:spcPts val="95"/>
              </a:spcBef>
              <a:buChar char="•"/>
              <a:tabLst>
                <a:tab pos="240029" algn="l"/>
              </a:tabLst>
            </a:pPr>
            <a:r>
              <a:rPr lang="fr-FR" sz="2000" b="1" dirty="0">
                <a:solidFill>
                  <a:schemeClr val="accent6">
                    <a:lumMod val="50000"/>
                  </a:schemeClr>
                </a:solidFill>
                <a:latin typeface="Arial MT"/>
              </a:rPr>
              <a:t>Syndrome céphaliques</a:t>
            </a:r>
          </a:p>
          <a:p>
            <a:pPr marL="240029" lvl="2" indent="-227329">
              <a:lnSpc>
                <a:spcPct val="200000"/>
              </a:lnSpc>
              <a:spcBef>
                <a:spcPts val="95"/>
              </a:spcBef>
              <a:buChar char="•"/>
              <a:tabLst>
                <a:tab pos="240029" algn="l"/>
              </a:tabLst>
            </a:pPr>
            <a:r>
              <a:rPr lang="fr-FR" sz="2000" b="1" dirty="0">
                <a:solidFill>
                  <a:schemeClr val="accent6">
                    <a:lumMod val="50000"/>
                  </a:schemeClr>
                </a:solidFill>
                <a:latin typeface="Arial MT"/>
              </a:rPr>
              <a:t>Signes ophtalmologiques </a:t>
            </a:r>
          </a:p>
          <a:p>
            <a:pPr marL="240029" lvl="2" indent="-227329">
              <a:lnSpc>
                <a:spcPct val="200000"/>
              </a:lnSpc>
              <a:spcBef>
                <a:spcPts val="95"/>
              </a:spcBef>
              <a:buChar char="•"/>
              <a:tabLst>
                <a:tab pos="240029" algn="l"/>
              </a:tabLst>
            </a:pPr>
            <a:r>
              <a:rPr lang="fr-FR" sz="2000" b="1" dirty="0">
                <a:solidFill>
                  <a:schemeClr val="accent6">
                    <a:lumMod val="50000"/>
                  </a:schemeClr>
                </a:solidFill>
                <a:latin typeface="Arial MT"/>
              </a:rPr>
              <a:t>Syndrome rhumatismal </a:t>
            </a:r>
          </a:p>
          <a:p>
            <a:pPr marL="240029" lvl="2" indent="-227329">
              <a:lnSpc>
                <a:spcPct val="200000"/>
              </a:lnSpc>
              <a:spcBef>
                <a:spcPts val="95"/>
              </a:spcBef>
              <a:buChar char="•"/>
              <a:tabLst>
                <a:tab pos="240029" algn="l"/>
              </a:tabLst>
            </a:pPr>
            <a:r>
              <a:rPr lang="fr-FR" sz="2000" b="1" dirty="0">
                <a:solidFill>
                  <a:schemeClr val="accent6">
                    <a:lumMod val="50000"/>
                  </a:schemeClr>
                </a:solidFill>
                <a:latin typeface="Arial MT"/>
              </a:rPr>
              <a:t>Signes généraux</a:t>
            </a:r>
          </a:p>
          <a:p>
            <a:pPr marL="240029" lvl="2" indent="-227329" algn="just">
              <a:lnSpc>
                <a:spcPct val="200000"/>
              </a:lnSpc>
              <a:spcBef>
                <a:spcPts val="95"/>
              </a:spcBef>
              <a:buFontTx/>
              <a:buChar char="•"/>
              <a:tabLst>
                <a:tab pos="240029" algn="l"/>
              </a:tabLst>
            </a:pPr>
            <a:r>
              <a:rPr lang="fr-FR" sz="2800" b="1" dirty="0">
                <a:solidFill>
                  <a:srgbClr val="548DD4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Aucun signe n’est constant et chacun peut révéler la maladie. </a:t>
            </a:r>
            <a:endParaRPr lang="fr-FR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700" lvl="2">
              <a:lnSpc>
                <a:spcPct val="200000"/>
              </a:lnSpc>
              <a:spcBef>
                <a:spcPts val="95"/>
              </a:spcBef>
              <a:tabLst>
                <a:tab pos="240029" algn="l"/>
              </a:tabLst>
            </a:pPr>
            <a:endParaRPr lang="fr-FR" sz="2000" b="1" dirty="0">
              <a:solidFill>
                <a:schemeClr val="accent6">
                  <a:lumMod val="50000"/>
                </a:schemeClr>
              </a:solidFill>
              <a:latin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4983D4-339B-82A0-851E-A80AD2F77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7272"/>
            <a:ext cx="12034520" cy="677108"/>
          </a:xfrm>
        </p:spPr>
        <p:txBody>
          <a:bodyPr/>
          <a:lstStyle/>
          <a:p>
            <a:r>
              <a:rPr lang="fr-FR" sz="4400" dirty="0"/>
              <a:t>Maladie</a:t>
            </a:r>
            <a:r>
              <a:rPr lang="fr-FR" sz="4400" spc="-95" dirty="0"/>
              <a:t> </a:t>
            </a:r>
            <a:r>
              <a:rPr lang="fr-FR" sz="4400" dirty="0"/>
              <a:t>de</a:t>
            </a:r>
            <a:r>
              <a:rPr lang="fr-FR" sz="4400" spc="-45" dirty="0"/>
              <a:t> </a:t>
            </a:r>
            <a:r>
              <a:rPr lang="fr-FR" sz="4400" dirty="0"/>
              <a:t>Horton</a:t>
            </a:r>
            <a:r>
              <a:rPr lang="fr-FR" sz="4400" spc="-85" dirty="0"/>
              <a:t> </a:t>
            </a:r>
            <a:r>
              <a:rPr lang="fr-FR" sz="4400" dirty="0"/>
              <a:t>(artérite gigantocellulaire )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E3D51A9-380F-328E-0D89-E9CC6C619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9" y="1944065"/>
            <a:ext cx="9797415" cy="4439677"/>
          </a:xfrm>
        </p:spPr>
        <p:txBody>
          <a:bodyPr/>
          <a:lstStyle/>
          <a:p>
            <a:pPr marL="240029" lvl="2" indent="-227329">
              <a:spcBef>
                <a:spcPts val="95"/>
              </a:spcBef>
              <a:buChar char="•"/>
              <a:tabLst>
                <a:tab pos="240029" algn="l"/>
              </a:tabLst>
            </a:pPr>
            <a:r>
              <a:rPr lang="fr-FR" sz="2800" dirty="0">
                <a:latin typeface="Arial MT"/>
                <a:cs typeface="Arial MT"/>
              </a:rPr>
              <a:t>Signes</a:t>
            </a:r>
            <a:r>
              <a:rPr lang="fr-FR" sz="2800" spc="-60" dirty="0">
                <a:latin typeface="Arial MT"/>
                <a:cs typeface="Arial MT"/>
              </a:rPr>
              <a:t> </a:t>
            </a:r>
            <a:r>
              <a:rPr lang="fr-FR" sz="2800" dirty="0">
                <a:latin typeface="Arial MT"/>
                <a:cs typeface="Arial MT"/>
              </a:rPr>
              <a:t>locaux</a:t>
            </a:r>
            <a:r>
              <a:rPr lang="fr-FR" sz="2800" spc="-60" dirty="0">
                <a:latin typeface="Arial MT"/>
                <a:cs typeface="Arial MT"/>
              </a:rPr>
              <a:t> </a:t>
            </a:r>
            <a:r>
              <a:rPr lang="fr-FR" sz="2800" dirty="0">
                <a:latin typeface="Arial MT"/>
                <a:cs typeface="Arial MT"/>
              </a:rPr>
              <a:t>et</a:t>
            </a:r>
            <a:r>
              <a:rPr lang="fr-FR" sz="2800" spc="-65" dirty="0">
                <a:latin typeface="Arial MT"/>
                <a:cs typeface="Arial MT"/>
              </a:rPr>
              <a:t> </a:t>
            </a:r>
            <a:r>
              <a:rPr lang="fr-FR" sz="2800" dirty="0">
                <a:latin typeface="Arial MT"/>
                <a:cs typeface="Arial MT"/>
              </a:rPr>
              <a:t>généraux</a:t>
            </a:r>
            <a:r>
              <a:rPr lang="fr-FR" sz="2800" spc="-40" dirty="0">
                <a:latin typeface="Arial MT"/>
                <a:cs typeface="Arial MT"/>
              </a:rPr>
              <a:t> </a:t>
            </a:r>
            <a:r>
              <a:rPr lang="fr-FR" sz="2800" spc="-50" dirty="0">
                <a:latin typeface="Arial MT"/>
                <a:cs typeface="Arial MT"/>
              </a:rPr>
              <a:t>:</a:t>
            </a:r>
            <a:endParaRPr lang="fr-FR" sz="2800" dirty="0">
              <a:latin typeface="Arial MT"/>
              <a:cs typeface="Arial MT"/>
            </a:endParaRPr>
          </a:p>
          <a:p>
            <a:pPr marL="698500" lvl="1" indent="-228600">
              <a:lnSpc>
                <a:spcPct val="100000"/>
              </a:lnSpc>
              <a:spcBef>
                <a:spcPts val="2255"/>
              </a:spcBef>
              <a:buChar char="•"/>
              <a:tabLst>
                <a:tab pos="698500" algn="l"/>
              </a:tabLst>
            </a:pPr>
            <a:r>
              <a:rPr lang="fr-FR" sz="2200" dirty="0">
                <a:latin typeface="Arial MT"/>
                <a:cs typeface="Arial MT"/>
              </a:rPr>
              <a:t>Artère</a:t>
            </a:r>
            <a:r>
              <a:rPr lang="fr-FR" sz="2200" spc="-65" dirty="0">
                <a:latin typeface="Arial MT"/>
                <a:cs typeface="Arial MT"/>
              </a:rPr>
              <a:t> </a:t>
            </a:r>
            <a:r>
              <a:rPr lang="fr-FR" sz="2200" dirty="0">
                <a:latin typeface="Arial MT"/>
                <a:cs typeface="Arial MT"/>
              </a:rPr>
              <a:t>temporale</a:t>
            </a:r>
            <a:r>
              <a:rPr lang="fr-FR" sz="2200" spc="-60" dirty="0">
                <a:latin typeface="Arial MT"/>
                <a:cs typeface="Arial MT"/>
              </a:rPr>
              <a:t> </a:t>
            </a:r>
            <a:r>
              <a:rPr lang="fr-FR" sz="2200" dirty="0">
                <a:latin typeface="Arial MT"/>
                <a:cs typeface="Arial MT"/>
              </a:rPr>
              <a:t>indurée</a:t>
            </a:r>
            <a:r>
              <a:rPr lang="fr-FR" sz="2200" spc="-75" dirty="0">
                <a:latin typeface="Arial MT"/>
                <a:cs typeface="Arial MT"/>
              </a:rPr>
              <a:t> </a:t>
            </a:r>
            <a:r>
              <a:rPr lang="fr-FR" sz="2200" dirty="0">
                <a:latin typeface="Arial MT"/>
                <a:cs typeface="Arial MT"/>
              </a:rPr>
              <a:t>douloureuse</a:t>
            </a:r>
            <a:r>
              <a:rPr lang="fr-FR" sz="2200" spc="-70" dirty="0">
                <a:latin typeface="Arial MT"/>
                <a:cs typeface="Arial MT"/>
              </a:rPr>
              <a:t> </a:t>
            </a:r>
            <a:r>
              <a:rPr lang="fr-FR" sz="2200" dirty="0">
                <a:latin typeface="Arial MT"/>
                <a:cs typeface="Arial MT"/>
              </a:rPr>
              <a:t>et</a:t>
            </a:r>
            <a:r>
              <a:rPr lang="fr-FR" sz="2200" spc="-85" dirty="0">
                <a:latin typeface="Arial MT"/>
                <a:cs typeface="Arial MT"/>
              </a:rPr>
              <a:t> </a:t>
            </a:r>
            <a:r>
              <a:rPr lang="fr-FR" sz="2200" dirty="0">
                <a:latin typeface="Arial MT"/>
                <a:cs typeface="Arial MT"/>
              </a:rPr>
              <a:t>non</a:t>
            </a:r>
            <a:r>
              <a:rPr lang="fr-FR" sz="2200" spc="-75" dirty="0">
                <a:latin typeface="Arial MT"/>
                <a:cs typeface="Arial MT"/>
              </a:rPr>
              <a:t> </a:t>
            </a:r>
            <a:r>
              <a:rPr lang="fr-FR" sz="2200" spc="-10" dirty="0">
                <a:latin typeface="Arial MT"/>
                <a:cs typeface="Arial MT"/>
              </a:rPr>
              <a:t>pulsatile</a:t>
            </a:r>
            <a:endParaRPr lang="fr-FR" sz="2200" dirty="0">
              <a:latin typeface="Arial MT"/>
              <a:cs typeface="Arial MT"/>
            </a:endParaRPr>
          </a:p>
          <a:p>
            <a:pPr marL="698500" lvl="1" indent="-228600">
              <a:lnSpc>
                <a:spcPct val="100000"/>
              </a:lnSpc>
              <a:spcBef>
                <a:spcPts val="2090"/>
              </a:spcBef>
              <a:buChar char="•"/>
              <a:tabLst>
                <a:tab pos="698500" algn="l"/>
              </a:tabLst>
            </a:pPr>
            <a:r>
              <a:rPr lang="fr-FR" sz="2200" dirty="0">
                <a:latin typeface="Arial MT"/>
                <a:cs typeface="Arial MT"/>
              </a:rPr>
              <a:t>Altération</a:t>
            </a:r>
            <a:r>
              <a:rPr lang="fr-FR" sz="2200" spc="-60" dirty="0">
                <a:latin typeface="Arial MT"/>
                <a:cs typeface="Arial MT"/>
              </a:rPr>
              <a:t> </a:t>
            </a:r>
            <a:r>
              <a:rPr lang="fr-FR" sz="2200" dirty="0">
                <a:latin typeface="Arial MT"/>
                <a:cs typeface="Arial MT"/>
              </a:rPr>
              <a:t>de</a:t>
            </a:r>
            <a:r>
              <a:rPr lang="fr-FR" sz="2200" spc="-65" dirty="0">
                <a:latin typeface="Arial MT"/>
                <a:cs typeface="Arial MT"/>
              </a:rPr>
              <a:t> </a:t>
            </a:r>
            <a:r>
              <a:rPr lang="fr-FR" sz="2200" dirty="0">
                <a:latin typeface="Arial MT"/>
                <a:cs typeface="Arial MT"/>
              </a:rPr>
              <a:t>l’état</a:t>
            </a:r>
            <a:r>
              <a:rPr lang="fr-FR" sz="2200" spc="-60" dirty="0">
                <a:latin typeface="Arial MT"/>
                <a:cs typeface="Arial MT"/>
              </a:rPr>
              <a:t> </a:t>
            </a:r>
            <a:r>
              <a:rPr lang="fr-FR" sz="2200" spc="-10" dirty="0">
                <a:latin typeface="Arial MT"/>
                <a:cs typeface="Arial MT"/>
              </a:rPr>
              <a:t>général</a:t>
            </a:r>
            <a:endParaRPr lang="fr-FR" sz="2200" dirty="0">
              <a:latin typeface="Arial MT"/>
              <a:cs typeface="Arial MT"/>
            </a:endParaRPr>
          </a:p>
          <a:p>
            <a:pPr marL="698500" lvl="1" indent="-228600">
              <a:lnSpc>
                <a:spcPct val="100000"/>
              </a:lnSpc>
              <a:spcBef>
                <a:spcPts val="2075"/>
              </a:spcBef>
              <a:buChar char="•"/>
              <a:tabLst>
                <a:tab pos="698500" algn="l"/>
              </a:tabLst>
            </a:pPr>
            <a:r>
              <a:rPr lang="fr-FR" sz="2200" spc="-10" dirty="0">
                <a:latin typeface="Arial MT"/>
                <a:cs typeface="Arial MT"/>
              </a:rPr>
              <a:t>Pseudopolyarthrite</a:t>
            </a:r>
            <a:r>
              <a:rPr lang="fr-FR" sz="2200" spc="-55" dirty="0">
                <a:latin typeface="Arial MT"/>
                <a:cs typeface="Arial MT"/>
              </a:rPr>
              <a:t> </a:t>
            </a:r>
            <a:r>
              <a:rPr lang="fr-FR" sz="2200" dirty="0">
                <a:latin typeface="Arial MT"/>
                <a:cs typeface="Arial MT"/>
              </a:rPr>
              <a:t>rhizomélique</a:t>
            </a:r>
            <a:r>
              <a:rPr lang="fr-FR" sz="2200" spc="-45" dirty="0">
                <a:latin typeface="Arial MT"/>
                <a:cs typeface="Arial MT"/>
              </a:rPr>
              <a:t> </a:t>
            </a:r>
            <a:r>
              <a:rPr lang="fr-FR" sz="2200" dirty="0">
                <a:latin typeface="Arial MT"/>
                <a:cs typeface="Arial MT"/>
              </a:rPr>
              <a:t>(association</a:t>
            </a:r>
            <a:r>
              <a:rPr lang="fr-FR" sz="2200" spc="-50" dirty="0">
                <a:latin typeface="Arial MT"/>
                <a:cs typeface="Arial MT"/>
              </a:rPr>
              <a:t> </a:t>
            </a:r>
            <a:r>
              <a:rPr lang="fr-FR" sz="2200" dirty="0">
                <a:latin typeface="Arial MT"/>
                <a:cs typeface="Arial MT"/>
              </a:rPr>
              <a:t>dans</a:t>
            </a:r>
            <a:r>
              <a:rPr lang="fr-FR" sz="2200" spc="-95" dirty="0">
                <a:latin typeface="Arial MT"/>
                <a:cs typeface="Arial MT"/>
              </a:rPr>
              <a:t> </a:t>
            </a:r>
            <a:r>
              <a:rPr lang="fr-FR" sz="2200" dirty="0">
                <a:latin typeface="Arial MT"/>
                <a:cs typeface="Arial MT"/>
              </a:rPr>
              <a:t>50</a:t>
            </a:r>
            <a:r>
              <a:rPr lang="fr-FR" sz="2200" spc="-80" dirty="0">
                <a:latin typeface="Arial MT"/>
                <a:cs typeface="Arial MT"/>
              </a:rPr>
              <a:t> </a:t>
            </a:r>
            <a:r>
              <a:rPr lang="fr-FR" sz="2200" dirty="0">
                <a:latin typeface="Arial MT"/>
                <a:cs typeface="Arial MT"/>
              </a:rPr>
              <a:t>%</a:t>
            </a:r>
            <a:r>
              <a:rPr lang="fr-FR" sz="2200" spc="-95" dirty="0">
                <a:latin typeface="Arial MT"/>
                <a:cs typeface="Arial MT"/>
              </a:rPr>
              <a:t> </a:t>
            </a:r>
            <a:r>
              <a:rPr lang="fr-FR" sz="2200" dirty="0">
                <a:latin typeface="Arial MT"/>
                <a:cs typeface="Arial MT"/>
              </a:rPr>
              <a:t>des</a:t>
            </a:r>
            <a:r>
              <a:rPr lang="fr-FR" sz="2200" spc="-90" dirty="0">
                <a:latin typeface="Arial MT"/>
                <a:cs typeface="Arial MT"/>
              </a:rPr>
              <a:t> </a:t>
            </a:r>
            <a:r>
              <a:rPr lang="fr-FR" sz="2200" spc="-10" dirty="0">
                <a:latin typeface="Arial MT"/>
                <a:cs typeface="Arial MT"/>
              </a:rPr>
              <a:t>cas),</a:t>
            </a:r>
            <a:endParaRPr lang="fr-FR" sz="2200" dirty="0">
              <a:latin typeface="Arial MT"/>
              <a:cs typeface="Arial MT"/>
            </a:endParaRPr>
          </a:p>
          <a:p>
            <a:pPr marL="698500" lvl="1" indent="-228600">
              <a:lnSpc>
                <a:spcPct val="100000"/>
              </a:lnSpc>
              <a:spcBef>
                <a:spcPts val="2090"/>
              </a:spcBef>
              <a:buChar char="•"/>
              <a:tabLst>
                <a:tab pos="698500" algn="l"/>
              </a:tabLst>
            </a:pPr>
            <a:r>
              <a:rPr lang="fr-FR" sz="2200" dirty="0">
                <a:latin typeface="Arial MT"/>
                <a:cs typeface="Arial MT"/>
              </a:rPr>
              <a:t>Épisodes</a:t>
            </a:r>
            <a:r>
              <a:rPr lang="fr-FR" sz="2200" spc="-120" dirty="0">
                <a:latin typeface="Arial MT"/>
                <a:cs typeface="Arial MT"/>
              </a:rPr>
              <a:t> </a:t>
            </a:r>
            <a:r>
              <a:rPr lang="fr-FR" sz="2200" dirty="0">
                <a:latin typeface="Arial MT"/>
                <a:cs typeface="Arial MT"/>
              </a:rPr>
              <a:t>de</a:t>
            </a:r>
            <a:r>
              <a:rPr lang="fr-FR" sz="2200" spc="-120" dirty="0">
                <a:latin typeface="Arial MT"/>
                <a:cs typeface="Arial MT"/>
              </a:rPr>
              <a:t> </a:t>
            </a:r>
            <a:r>
              <a:rPr lang="fr-FR" sz="2200" b="1" dirty="0">
                <a:latin typeface="Arial"/>
                <a:cs typeface="Arial"/>
              </a:rPr>
              <a:t>cécité</a:t>
            </a:r>
            <a:r>
              <a:rPr lang="fr-FR" sz="2200" b="1" spc="-105" dirty="0">
                <a:latin typeface="Arial"/>
                <a:cs typeface="Arial"/>
              </a:rPr>
              <a:t> </a:t>
            </a:r>
            <a:r>
              <a:rPr lang="fr-FR" sz="2200" b="1" dirty="0">
                <a:latin typeface="Arial"/>
                <a:cs typeface="Arial"/>
              </a:rPr>
              <a:t>monoculaire</a:t>
            </a:r>
            <a:r>
              <a:rPr lang="fr-FR" sz="2200" b="1" spc="-85" dirty="0">
                <a:latin typeface="Arial"/>
                <a:cs typeface="Arial"/>
              </a:rPr>
              <a:t> </a:t>
            </a:r>
            <a:r>
              <a:rPr lang="fr-FR" sz="2200" b="1" dirty="0">
                <a:latin typeface="Arial"/>
                <a:cs typeface="Arial"/>
              </a:rPr>
              <a:t>transitoire</a:t>
            </a:r>
            <a:r>
              <a:rPr lang="fr-FR" sz="2200" b="1" spc="-65" dirty="0">
                <a:latin typeface="Arial"/>
                <a:cs typeface="Arial"/>
              </a:rPr>
              <a:t> </a:t>
            </a:r>
            <a:r>
              <a:rPr lang="fr-FR" sz="2200" dirty="0">
                <a:latin typeface="Arial MT"/>
                <a:cs typeface="Arial MT"/>
              </a:rPr>
              <a:t>(qui</a:t>
            </a:r>
            <a:r>
              <a:rPr lang="fr-FR" sz="2200" spc="-90" dirty="0">
                <a:latin typeface="Arial MT"/>
                <a:cs typeface="Arial MT"/>
              </a:rPr>
              <a:t> </a:t>
            </a:r>
            <a:r>
              <a:rPr lang="fr-FR" sz="2200" dirty="0">
                <a:latin typeface="Arial MT"/>
                <a:cs typeface="Arial MT"/>
              </a:rPr>
              <a:t>annoncent</a:t>
            </a:r>
            <a:r>
              <a:rPr lang="fr-FR" sz="2200" spc="-90" dirty="0">
                <a:latin typeface="Arial MT"/>
                <a:cs typeface="Arial MT"/>
              </a:rPr>
              <a:t> </a:t>
            </a:r>
            <a:r>
              <a:rPr lang="fr-FR" sz="2200" spc="-10" dirty="0">
                <a:latin typeface="Arial MT"/>
                <a:cs typeface="Arial MT"/>
              </a:rPr>
              <a:t>l’imminence</a:t>
            </a:r>
            <a:endParaRPr lang="fr-FR" sz="2200" dirty="0">
              <a:latin typeface="Arial MT"/>
              <a:cs typeface="Arial MT"/>
            </a:endParaRPr>
          </a:p>
          <a:p>
            <a:pPr marL="698500">
              <a:lnSpc>
                <a:spcPct val="100000"/>
              </a:lnSpc>
              <a:spcBef>
                <a:spcPts val="1585"/>
              </a:spcBef>
            </a:pPr>
            <a:r>
              <a:rPr lang="fr-FR" sz="2200" dirty="0">
                <a:latin typeface="Arial MT"/>
                <a:cs typeface="Arial MT"/>
              </a:rPr>
              <a:t>d’une</a:t>
            </a:r>
            <a:r>
              <a:rPr lang="fr-FR" sz="2200" spc="-65" dirty="0">
                <a:latin typeface="Arial MT"/>
                <a:cs typeface="Arial MT"/>
              </a:rPr>
              <a:t> </a:t>
            </a:r>
            <a:r>
              <a:rPr lang="fr-FR" sz="2200" dirty="0">
                <a:latin typeface="Arial MT"/>
                <a:cs typeface="Arial MT"/>
              </a:rPr>
              <a:t>cécité</a:t>
            </a:r>
            <a:r>
              <a:rPr lang="fr-FR" sz="2200" spc="-75" dirty="0">
                <a:latin typeface="Arial MT"/>
                <a:cs typeface="Arial MT"/>
              </a:rPr>
              <a:t> </a:t>
            </a:r>
            <a:r>
              <a:rPr lang="fr-FR" sz="2200" spc="-10" dirty="0">
                <a:latin typeface="Arial MT"/>
                <a:cs typeface="Arial MT"/>
              </a:rPr>
              <a:t>définitive)</a:t>
            </a:r>
            <a:endParaRPr lang="fr-FR" sz="2200" dirty="0">
              <a:latin typeface="Arial MT"/>
              <a:cs typeface="Arial MT"/>
            </a:endParaRPr>
          </a:p>
          <a:p>
            <a:pPr marL="698500" lvl="1" indent="-228600">
              <a:lnSpc>
                <a:spcPct val="100000"/>
              </a:lnSpc>
              <a:spcBef>
                <a:spcPts val="2090"/>
              </a:spcBef>
              <a:buChar char="•"/>
              <a:tabLst>
                <a:tab pos="698500" algn="l"/>
              </a:tabLst>
            </a:pPr>
            <a:r>
              <a:rPr lang="fr-FR" sz="2200" dirty="0">
                <a:latin typeface="Arial MT"/>
                <a:cs typeface="Arial MT"/>
              </a:rPr>
              <a:t>Infarctus</a:t>
            </a:r>
            <a:r>
              <a:rPr lang="fr-FR" sz="2200" spc="-75" dirty="0">
                <a:latin typeface="Arial MT"/>
                <a:cs typeface="Arial MT"/>
              </a:rPr>
              <a:t> </a:t>
            </a:r>
            <a:r>
              <a:rPr lang="fr-FR" sz="2200" dirty="0">
                <a:latin typeface="Arial MT"/>
                <a:cs typeface="Arial MT"/>
              </a:rPr>
              <a:t>cérébraux,</a:t>
            </a:r>
            <a:r>
              <a:rPr lang="fr-FR" sz="2200" spc="-60" dirty="0">
                <a:latin typeface="Arial MT"/>
                <a:cs typeface="Arial MT"/>
              </a:rPr>
              <a:t> </a:t>
            </a:r>
            <a:r>
              <a:rPr lang="fr-FR" sz="2200" dirty="0">
                <a:latin typeface="Arial MT"/>
                <a:cs typeface="Arial MT"/>
              </a:rPr>
              <a:t>claudication</a:t>
            </a:r>
            <a:r>
              <a:rPr lang="fr-FR" sz="2200" spc="-80" dirty="0">
                <a:latin typeface="Arial MT"/>
                <a:cs typeface="Arial MT"/>
              </a:rPr>
              <a:t> </a:t>
            </a:r>
            <a:r>
              <a:rPr lang="fr-FR" sz="2200" dirty="0">
                <a:latin typeface="Arial MT"/>
                <a:cs typeface="Arial MT"/>
              </a:rPr>
              <a:t>de</a:t>
            </a:r>
            <a:r>
              <a:rPr lang="fr-FR" sz="2200" spc="-85" dirty="0">
                <a:latin typeface="Arial MT"/>
                <a:cs typeface="Arial MT"/>
              </a:rPr>
              <a:t> </a:t>
            </a:r>
            <a:r>
              <a:rPr lang="fr-FR" sz="2200" dirty="0">
                <a:latin typeface="Arial MT"/>
                <a:cs typeface="Arial MT"/>
              </a:rPr>
              <a:t>la</a:t>
            </a:r>
            <a:r>
              <a:rPr lang="fr-FR" sz="2200" spc="-80" dirty="0">
                <a:latin typeface="Arial MT"/>
                <a:cs typeface="Arial MT"/>
              </a:rPr>
              <a:t> </a:t>
            </a:r>
            <a:r>
              <a:rPr lang="fr-FR" sz="2200" spc="-10" dirty="0">
                <a:latin typeface="Arial MT"/>
                <a:cs typeface="Arial MT"/>
              </a:rPr>
              <a:t>mâchoire</a:t>
            </a:r>
            <a:endParaRPr lang="fr-FR" sz="2200" dirty="0">
              <a:latin typeface="Arial MT"/>
              <a:cs typeface="Arial MT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701878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-17272"/>
            <a:ext cx="12034520" cy="914943"/>
          </a:xfrm>
          <a:prstGeom prst="rect">
            <a:avLst/>
          </a:prstGeom>
        </p:spPr>
        <p:txBody>
          <a:bodyPr vert="horz" wrap="square" lIns="0" tIns="296494" rIns="0" bIns="0" rtlCol="0">
            <a:spAutoFit/>
          </a:bodyPr>
          <a:lstStyle/>
          <a:p>
            <a:pPr marL="376555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Maladie</a:t>
            </a:r>
            <a:r>
              <a:rPr sz="4000" spc="-95" dirty="0"/>
              <a:t> </a:t>
            </a:r>
            <a:r>
              <a:rPr sz="4000" dirty="0"/>
              <a:t>de</a:t>
            </a:r>
            <a:r>
              <a:rPr sz="4000" spc="-45" dirty="0"/>
              <a:t> </a:t>
            </a:r>
            <a:r>
              <a:rPr sz="4000" dirty="0"/>
              <a:t>Horton</a:t>
            </a:r>
            <a:r>
              <a:rPr sz="4000" spc="-85" dirty="0"/>
              <a:t> </a:t>
            </a:r>
            <a:r>
              <a:rPr sz="4000" dirty="0"/>
              <a:t>(</a:t>
            </a:r>
            <a:r>
              <a:rPr sz="4000" dirty="0" err="1"/>
              <a:t>artérit</a:t>
            </a:r>
            <a:r>
              <a:rPr lang="fr-FR" sz="4000" dirty="0"/>
              <a:t>e </a:t>
            </a:r>
            <a:r>
              <a:rPr lang="en-US" sz="4000" dirty="0" err="1"/>
              <a:t>gigantocellulaire</a:t>
            </a:r>
            <a:r>
              <a:rPr lang="en-US" sz="4000" dirty="0"/>
              <a:t> </a:t>
            </a:r>
            <a:r>
              <a:rPr sz="4000"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465325"/>
            <a:ext cx="10309225" cy="37357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Char char="•"/>
              <a:tabLst>
                <a:tab pos="240029" algn="l"/>
              </a:tabLst>
            </a:pPr>
            <a:r>
              <a:rPr sz="2800" dirty="0">
                <a:latin typeface="Arial MT"/>
                <a:cs typeface="Arial MT"/>
              </a:rPr>
              <a:t>Élévation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la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VS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et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la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CRP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;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profil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inflammatoire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à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l’EPP….</a:t>
            </a:r>
            <a:endParaRPr sz="2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Font typeface="Arial MT"/>
              <a:buChar char="•"/>
            </a:pPr>
            <a:endParaRPr sz="2800" dirty="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buChar char="•"/>
              <a:tabLst>
                <a:tab pos="240029" algn="l"/>
              </a:tabLst>
            </a:pPr>
            <a:r>
              <a:rPr sz="2800" spc="-30" dirty="0">
                <a:latin typeface="Arial MT"/>
                <a:cs typeface="Arial MT"/>
              </a:rPr>
              <a:t>Écho-</a:t>
            </a:r>
            <a:r>
              <a:rPr sz="2800" spc="-10" dirty="0">
                <a:latin typeface="Arial MT"/>
                <a:cs typeface="Arial MT"/>
              </a:rPr>
              <a:t>doppler</a:t>
            </a:r>
            <a:endParaRPr sz="2800" dirty="0">
              <a:latin typeface="Arial MT"/>
              <a:cs typeface="Arial MT"/>
            </a:endParaRPr>
          </a:p>
          <a:p>
            <a:pPr marL="240029" marR="2456815" indent="-227329">
              <a:lnSpc>
                <a:spcPct val="170100"/>
              </a:lnSpc>
              <a:spcBef>
                <a:spcPts val="1005"/>
              </a:spcBef>
              <a:buChar char="•"/>
              <a:tabLst>
                <a:tab pos="241300" algn="l"/>
              </a:tabLst>
            </a:pPr>
            <a:r>
              <a:rPr sz="2800" dirty="0">
                <a:latin typeface="Arial MT"/>
                <a:cs typeface="Arial MT"/>
              </a:rPr>
              <a:t>artérite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gigantocellulaire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à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la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b="1" dirty="0">
                <a:latin typeface="Arial"/>
                <a:cs typeface="Arial"/>
              </a:rPr>
              <a:t>biopsie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de</a:t>
            </a:r>
            <a:r>
              <a:rPr sz="2800" b="1" spc="-8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l’artère 	temporale++</a:t>
            </a:r>
            <a:r>
              <a:rPr sz="2800" spc="-10" dirty="0">
                <a:latin typeface="Arial MT"/>
                <a:cs typeface="Arial MT"/>
              </a:rPr>
              <a:t>++</a:t>
            </a:r>
            <a:endParaRPr sz="2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Font typeface="Arial MT"/>
              <a:buChar char="•"/>
            </a:pPr>
            <a:endParaRPr sz="2800" dirty="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buChar char="•"/>
              <a:tabLst>
                <a:tab pos="240029" algn="l"/>
              </a:tabLst>
            </a:pPr>
            <a:r>
              <a:rPr sz="2800" dirty="0">
                <a:latin typeface="Arial MT"/>
                <a:cs typeface="Arial MT"/>
              </a:rPr>
              <a:t>corticothérapie</a:t>
            </a:r>
            <a:r>
              <a:rPr sz="2800" spc="-18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urgente</a:t>
            </a:r>
            <a:endParaRPr sz="2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198" y="624966"/>
            <a:ext cx="3742690" cy="11633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har char="•"/>
              <a:tabLst>
                <a:tab pos="240665" algn="l"/>
                <a:tab pos="1836420" algn="l"/>
              </a:tabLst>
            </a:pPr>
            <a:r>
              <a:rPr sz="2000" dirty="0">
                <a:solidFill>
                  <a:srgbClr val="BCD6ED"/>
                </a:solidFill>
                <a:latin typeface="Arial MT"/>
                <a:cs typeface="Arial MT"/>
              </a:rPr>
              <a:t>Maximale</a:t>
            </a:r>
            <a:r>
              <a:rPr sz="2000" spc="-65" dirty="0">
                <a:solidFill>
                  <a:srgbClr val="BCD6ED"/>
                </a:solidFill>
                <a:latin typeface="Arial MT"/>
                <a:cs typeface="Arial MT"/>
              </a:rPr>
              <a:t> </a:t>
            </a:r>
            <a:r>
              <a:rPr sz="2000" b="1" spc="-25" dirty="0">
                <a:solidFill>
                  <a:srgbClr val="BCD6ED"/>
                </a:solidFill>
                <a:latin typeface="Arial"/>
                <a:cs typeface="Arial"/>
              </a:rPr>
              <a:t>en</a:t>
            </a:r>
            <a:r>
              <a:rPr sz="2000" b="1" dirty="0">
                <a:solidFill>
                  <a:srgbClr val="BCD6ED"/>
                </a:solidFill>
                <a:latin typeface="Arial"/>
                <a:cs typeface="Arial"/>
              </a:rPr>
              <a:t>	1</a:t>
            </a:r>
            <a:r>
              <a:rPr sz="2000" b="1" spc="-10" dirty="0">
                <a:solidFill>
                  <a:srgbClr val="BCD6ED"/>
                </a:solidFill>
                <a:latin typeface="Arial"/>
                <a:cs typeface="Arial"/>
              </a:rPr>
              <a:t> heure</a:t>
            </a:r>
            <a:endParaRPr sz="2000">
              <a:latin typeface="Arial"/>
              <a:cs typeface="Arial"/>
            </a:endParaRPr>
          </a:p>
          <a:p>
            <a:pPr marL="241300" marR="5080" indent="-228600">
              <a:lnSpc>
                <a:spcPct val="86200"/>
              </a:lnSpc>
              <a:spcBef>
                <a:spcPts val="34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b="1" dirty="0">
                <a:solidFill>
                  <a:srgbClr val="BCD6ED"/>
                </a:solidFill>
                <a:latin typeface="Arial"/>
                <a:cs typeface="Arial"/>
              </a:rPr>
              <a:t>Coup</a:t>
            </a:r>
            <a:r>
              <a:rPr sz="2000" b="1" spc="-40" dirty="0">
                <a:solidFill>
                  <a:srgbClr val="BCD6ED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BCD6ED"/>
                </a:solidFill>
                <a:latin typeface="Arial"/>
                <a:cs typeface="Arial"/>
              </a:rPr>
              <a:t>de</a:t>
            </a:r>
            <a:r>
              <a:rPr sz="2000" b="1" spc="-25" dirty="0">
                <a:solidFill>
                  <a:srgbClr val="BCD6ED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BCD6ED"/>
                </a:solidFill>
                <a:latin typeface="Arial"/>
                <a:cs typeface="Arial"/>
              </a:rPr>
              <a:t>tonnerre</a:t>
            </a:r>
            <a:r>
              <a:rPr sz="2000" b="1" spc="-45" dirty="0">
                <a:solidFill>
                  <a:srgbClr val="BCD6E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BCD6ED"/>
                </a:solidFill>
                <a:latin typeface="Arial MT"/>
                <a:cs typeface="Arial MT"/>
              </a:rPr>
              <a:t>en</a:t>
            </a:r>
            <a:r>
              <a:rPr sz="2000" spc="-25" dirty="0">
                <a:solidFill>
                  <a:srgbClr val="BCD6E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BCD6ED"/>
                </a:solidFill>
                <a:latin typeface="Arial MT"/>
                <a:cs typeface="Arial MT"/>
              </a:rPr>
              <a:t>intensité </a:t>
            </a:r>
            <a:r>
              <a:rPr sz="2000" dirty="0">
                <a:solidFill>
                  <a:srgbClr val="BCD6ED"/>
                </a:solidFill>
                <a:latin typeface="Arial MT"/>
                <a:cs typeface="Arial MT"/>
              </a:rPr>
              <a:t>maximale</a:t>
            </a:r>
            <a:r>
              <a:rPr sz="2000" spc="-50" dirty="0">
                <a:solidFill>
                  <a:srgbClr val="BCD6E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BCD6ED"/>
                </a:solidFill>
                <a:latin typeface="Arial MT"/>
                <a:cs typeface="Arial MT"/>
              </a:rPr>
              <a:t>avec</a:t>
            </a:r>
            <a:r>
              <a:rPr sz="2000" spc="-35" dirty="0">
                <a:solidFill>
                  <a:srgbClr val="BCD6ED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BCD6ED"/>
                </a:solidFill>
                <a:latin typeface="Arial MT"/>
                <a:cs typeface="Arial MT"/>
              </a:rPr>
              <a:t>un</a:t>
            </a:r>
            <a:r>
              <a:rPr sz="2000" spc="-30" dirty="0">
                <a:solidFill>
                  <a:srgbClr val="BCD6ED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BCD6ED"/>
                </a:solidFill>
                <a:latin typeface="Arial MT"/>
                <a:cs typeface="Arial MT"/>
              </a:rPr>
              <a:t>EVA&gt;7</a:t>
            </a:r>
            <a:r>
              <a:rPr sz="2000" spc="-50" dirty="0">
                <a:solidFill>
                  <a:srgbClr val="BCD6ED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BCD6ED"/>
                </a:solidFill>
                <a:latin typeface="Arial MT"/>
                <a:cs typeface="Arial MT"/>
              </a:rPr>
              <a:t>en </a:t>
            </a:r>
            <a:r>
              <a:rPr sz="2000" b="1" dirty="0">
                <a:solidFill>
                  <a:srgbClr val="BCD6ED"/>
                </a:solidFill>
                <a:latin typeface="Arial"/>
                <a:cs typeface="Arial"/>
              </a:rPr>
              <a:t>moins</a:t>
            </a:r>
            <a:r>
              <a:rPr sz="2000" b="1" spc="-20" dirty="0">
                <a:solidFill>
                  <a:srgbClr val="BCD6ED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BCD6ED"/>
                </a:solidFill>
                <a:latin typeface="Arial"/>
                <a:cs typeface="Arial"/>
              </a:rPr>
              <a:t>d’une</a:t>
            </a:r>
            <a:r>
              <a:rPr sz="2000" b="1" spc="-20" dirty="0">
                <a:solidFill>
                  <a:srgbClr val="BCD6ED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BCD6ED"/>
                </a:solidFill>
                <a:latin typeface="Arial"/>
                <a:cs typeface="Arial"/>
              </a:rPr>
              <a:t>minute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8513" y="168910"/>
            <a:ext cx="2585720" cy="2123440"/>
            <a:chOff x="48513" y="168910"/>
            <a:chExt cx="2585720" cy="2123440"/>
          </a:xfrm>
        </p:grpSpPr>
        <p:sp>
          <p:nvSpPr>
            <p:cNvPr id="4" name="object 4"/>
            <p:cNvSpPr/>
            <p:nvPr/>
          </p:nvSpPr>
          <p:spPr>
            <a:xfrm>
              <a:off x="54863" y="175260"/>
              <a:ext cx="2573020" cy="2110740"/>
            </a:xfrm>
            <a:custGeom>
              <a:avLst/>
              <a:gdLst/>
              <a:ahLst/>
              <a:cxnLst/>
              <a:rect l="l" t="t" r="r" b="b"/>
              <a:pathLst>
                <a:path w="2573020" h="2110740">
                  <a:moveTo>
                    <a:pt x="2220722" y="0"/>
                  </a:moveTo>
                  <a:lnTo>
                    <a:pt x="351790" y="0"/>
                  </a:lnTo>
                  <a:lnTo>
                    <a:pt x="304054" y="3211"/>
                  </a:lnTo>
                  <a:lnTo>
                    <a:pt x="258271" y="12564"/>
                  </a:lnTo>
                  <a:lnTo>
                    <a:pt x="214858" y="27642"/>
                  </a:lnTo>
                  <a:lnTo>
                    <a:pt x="174236" y="48024"/>
                  </a:lnTo>
                  <a:lnTo>
                    <a:pt x="136823" y="73293"/>
                  </a:lnTo>
                  <a:lnTo>
                    <a:pt x="103038" y="103028"/>
                  </a:lnTo>
                  <a:lnTo>
                    <a:pt x="73300" y="136812"/>
                  </a:lnTo>
                  <a:lnTo>
                    <a:pt x="48030" y="174225"/>
                  </a:lnTo>
                  <a:lnTo>
                    <a:pt x="27645" y="214848"/>
                  </a:lnTo>
                  <a:lnTo>
                    <a:pt x="12566" y="258262"/>
                  </a:lnTo>
                  <a:lnTo>
                    <a:pt x="3211" y="304049"/>
                  </a:lnTo>
                  <a:lnTo>
                    <a:pt x="0" y="351790"/>
                  </a:lnTo>
                  <a:lnTo>
                    <a:pt x="0" y="1758950"/>
                  </a:lnTo>
                  <a:lnTo>
                    <a:pt x="3211" y="1806690"/>
                  </a:lnTo>
                  <a:lnTo>
                    <a:pt x="12566" y="1852477"/>
                  </a:lnTo>
                  <a:lnTo>
                    <a:pt x="27645" y="1895891"/>
                  </a:lnTo>
                  <a:lnTo>
                    <a:pt x="48030" y="1936514"/>
                  </a:lnTo>
                  <a:lnTo>
                    <a:pt x="73300" y="1973927"/>
                  </a:lnTo>
                  <a:lnTo>
                    <a:pt x="103038" y="2007711"/>
                  </a:lnTo>
                  <a:lnTo>
                    <a:pt x="136823" y="2037446"/>
                  </a:lnTo>
                  <a:lnTo>
                    <a:pt x="174236" y="2062715"/>
                  </a:lnTo>
                  <a:lnTo>
                    <a:pt x="214858" y="2083097"/>
                  </a:lnTo>
                  <a:lnTo>
                    <a:pt x="258271" y="2098175"/>
                  </a:lnTo>
                  <a:lnTo>
                    <a:pt x="304054" y="2107528"/>
                  </a:lnTo>
                  <a:lnTo>
                    <a:pt x="351790" y="2110740"/>
                  </a:lnTo>
                  <a:lnTo>
                    <a:pt x="2220722" y="2110740"/>
                  </a:lnTo>
                  <a:lnTo>
                    <a:pt x="2268462" y="2107528"/>
                  </a:lnTo>
                  <a:lnTo>
                    <a:pt x="2314249" y="2098175"/>
                  </a:lnTo>
                  <a:lnTo>
                    <a:pt x="2357663" y="2083097"/>
                  </a:lnTo>
                  <a:lnTo>
                    <a:pt x="2398286" y="2062715"/>
                  </a:lnTo>
                  <a:lnTo>
                    <a:pt x="2435699" y="2037446"/>
                  </a:lnTo>
                  <a:lnTo>
                    <a:pt x="2469483" y="2007711"/>
                  </a:lnTo>
                  <a:lnTo>
                    <a:pt x="2499218" y="1973927"/>
                  </a:lnTo>
                  <a:lnTo>
                    <a:pt x="2524487" y="1936514"/>
                  </a:lnTo>
                  <a:lnTo>
                    <a:pt x="2544869" y="1895891"/>
                  </a:lnTo>
                  <a:lnTo>
                    <a:pt x="2559947" y="1852477"/>
                  </a:lnTo>
                  <a:lnTo>
                    <a:pt x="2569300" y="1806690"/>
                  </a:lnTo>
                  <a:lnTo>
                    <a:pt x="2572512" y="1758950"/>
                  </a:lnTo>
                  <a:lnTo>
                    <a:pt x="2572512" y="351790"/>
                  </a:lnTo>
                  <a:lnTo>
                    <a:pt x="2569300" y="304049"/>
                  </a:lnTo>
                  <a:lnTo>
                    <a:pt x="2559947" y="258262"/>
                  </a:lnTo>
                  <a:lnTo>
                    <a:pt x="2544869" y="214848"/>
                  </a:lnTo>
                  <a:lnTo>
                    <a:pt x="2524487" y="174225"/>
                  </a:lnTo>
                  <a:lnTo>
                    <a:pt x="2499218" y="136812"/>
                  </a:lnTo>
                  <a:lnTo>
                    <a:pt x="2469483" y="103028"/>
                  </a:lnTo>
                  <a:lnTo>
                    <a:pt x="2435699" y="73293"/>
                  </a:lnTo>
                  <a:lnTo>
                    <a:pt x="2398286" y="48024"/>
                  </a:lnTo>
                  <a:lnTo>
                    <a:pt x="2357663" y="27642"/>
                  </a:lnTo>
                  <a:lnTo>
                    <a:pt x="2314249" y="12564"/>
                  </a:lnTo>
                  <a:lnTo>
                    <a:pt x="2268462" y="3211"/>
                  </a:lnTo>
                  <a:lnTo>
                    <a:pt x="222072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863" y="175260"/>
              <a:ext cx="2573020" cy="2110740"/>
            </a:xfrm>
            <a:custGeom>
              <a:avLst/>
              <a:gdLst/>
              <a:ahLst/>
              <a:cxnLst/>
              <a:rect l="l" t="t" r="r" b="b"/>
              <a:pathLst>
                <a:path w="2573020" h="2110740">
                  <a:moveTo>
                    <a:pt x="0" y="351790"/>
                  </a:moveTo>
                  <a:lnTo>
                    <a:pt x="3211" y="304049"/>
                  </a:lnTo>
                  <a:lnTo>
                    <a:pt x="12566" y="258262"/>
                  </a:lnTo>
                  <a:lnTo>
                    <a:pt x="27645" y="214848"/>
                  </a:lnTo>
                  <a:lnTo>
                    <a:pt x="48030" y="174225"/>
                  </a:lnTo>
                  <a:lnTo>
                    <a:pt x="73300" y="136812"/>
                  </a:lnTo>
                  <a:lnTo>
                    <a:pt x="103038" y="103028"/>
                  </a:lnTo>
                  <a:lnTo>
                    <a:pt x="136823" y="73293"/>
                  </a:lnTo>
                  <a:lnTo>
                    <a:pt x="174236" y="48024"/>
                  </a:lnTo>
                  <a:lnTo>
                    <a:pt x="214858" y="27642"/>
                  </a:lnTo>
                  <a:lnTo>
                    <a:pt x="258271" y="12564"/>
                  </a:lnTo>
                  <a:lnTo>
                    <a:pt x="304054" y="3211"/>
                  </a:lnTo>
                  <a:lnTo>
                    <a:pt x="351790" y="0"/>
                  </a:lnTo>
                  <a:lnTo>
                    <a:pt x="2220722" y="0"/>
                  </a:lnTo>
                  <a:lnTo>
                    <a:pt x="2268462" y="3211"/>
                  </a:lnTo>
                  <a:lnTo>
                    <a:pt x="2314249" y="12564"/>
                  </a:lnTo>
                  <a:lnTo>
                    <a:pt x="2357663" y="27642"/>
                  </a:lnTo>
                  <a:lnTo>
                    <a:pt x="2398286" y="48024"/>
                  </a:lnTo>
                  <a:lnTo>
                    <a:pt x="2435699" y="73293"/>
                  </a:lnTo>
                  <a:lnTo>
                    <a:pt x="2469483" y="103028"/>
                  </a:lnTo>
                  <a:lnTo>
                    <a:pt x="2499218" y="136812"/>
                  </a:lnTo>
                  <a:lnTo>
                    <a:pt x="2524487" y="174225"/>
                  </a:lnTo>
                  <a:lnTo>
                    <a:pt x="2544869" y="214848"/>
                  </a:lnTo>
                  <a:lnTo>
                    <a:pt x="2559947" y="258262"/>
                  </a:lnTo>
                  <a:lnTo>
                    <a:pt x="2569300" y="304049"/>
                  </a:lnTo>
                  <a:lnTo>
                    <a:pt x="2572512" y="351790"/>
                  </a:lnTo>
                  <a:lnTo>
                    <a:pt x="2572512" y="1758950"/>
                  </a:lnTo>
                  <a:lnTo>
                    <a:pt x="2569300" y="1806690"/>
                  </a:lnTo>
                  <a:lnTo>
                    <a:pt x="2559947" y="1852477"/>
                  </a:lnTo>
                  <a:lnTo>
                    <a:pt x="2544869" y="1895891"/>
                  </a:lnTo>
                  <a:lnTo>
                    <a:pt x="2524487" y="1936514"/>
                  </a:lnTo>
                  <a:lnTo>
                    <a:pt x="2499218" y="1973927"/>
                  </a:lnTo>
                  <a:lnTo>
                    <a:pt x="2469483" y="2007711"/>
                  </a:lnTo>
                  <a:lnTo>
                    <a:pt x="2435699" y="2037446"/>
                  </a:lnTo>
                  <a:lnTo>
                    <a:pt x="2398286" y="2062715"/>
                  </a:lnTo>
                  <a:lnTo>
                    <a:pt x="2357663" y="2083097"/>
                  </a:lnTo>
                  <a:lnTo>
                    <a:pt x="2314249" y="2098175"/>
                  </a:lnTo>
                  <a:lnTo>
                    <a:pt x="2268462" y="2107528"/>
                  </a:lnTo>
                  <a:lnTo>
                    <a:pt x="2220722" y="2110740"/>
                  </a:lnTo>
                  <a:lnTo>
                    <a:pt x="351790" y="2110740"/>
                  </a:lnTo>
                  <a:lnTo>
                    <a:pt x="304054" y="2107528"/>
                  </a:lnTo>
                  <a:lnTo>
                    <a:pt x="258271" y="2098175"/>
                  </a:lnTo>
                  <a:lnTo>
                    <a:pt x="214858" y="2083097"/>
                  </a:lnTo>
                  <a:lnTo>
                    <a:pt x="174236" y="2062715"/>
                  </a:lnTo>
                  <a:lnTo>
                    <a:pt x="136823" y="2037446"/>
                  </a:lnTo>
                  <a:lnTo>
                    <a:pt x="103038" y="2007711"/>
                  </a:lnTo>
                  <a:lnTo>
                    <a:pt x="73300" y="1973927"/>
                  </a:lnTo>
                  <a:lnTo>
                    <a:pt x="48030" y="1936514"/>
                  </a:lnTo>
                  <a:lnTo>
                    <a:pt x="27645" y="1895891"/>
                  </a:lnTo>
                  <a:lnTo>
                    <a:pt x="12566" y="1852477"/>
                  </a:lnTo>
                  <a:lnTo>
                    <a:pt x="3211" y="1806690"/>
                  </a:lnTo>
                  <a:lnTo>
                    <a:pt x="0" y="1758950"/>
                  </a:lnTo>
                  <a:lnTo>
                    <a:pt x="0" y="35179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68807" y="953515"/>
            <a:ext cx="1144270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b="1" spc="-10" dirty="0">
                <a:solidFill>
                  <a:srgbClr val="006FC0"/>
                </a:solidFill>
                <a:latin typeface="Calibri"/>
                <a:cs typeface="Calibri"/>
              </a:rPr>
              <a:t>Brutale</a:t>
            </a:r>
            <a:endParaRPr sz="29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621026" y="2596642"/>
            <a:ext cx="4584700" cy="1699895"/>
            <a:chOff x="2621026" y="2596642"/>
            <a:chExt cx="4584700" cy="1699895"/>
          </a:xfrm>
        </p:grpSpPr>
        <p:sp>
          <p:nvSpPr>
            <p:cNvPr id="8" name="object 8"/>
            <p:cNvSpPr/>
            <p:nvPr/>
          </p:nvSpPr>
          <p:spPr>
            <a:xfrm>
              <a:off x="2627376" y="2602992"/>
              <a:ext cx="4572000" cy="1687195"/>
            </a:xfrm>
            <a:custGeom>
              <a:avLst/>
              <a:gdLst/>
              <a:ahLst/>
              <a:cxnLst/>
              <a:rect l="l" t="t" r="r" b="b"/>
              <a:pathLst>
                <a:path w="4572000" h="1687195">
                  <a:moveTo>
                    <a:pt x="4290822" y="0"/>
                  </a:moveTo>
                  <a:lnTo>
                    <a:pt x="0" y="0"/>
                  </a:lnTo>
                  <a:lnTo>
                    <a:pt x="0" y="1687068"/>
                  </a:lnTo>
                  <a:lnTo>
                    <a:pt x="4290822" y="1687068"/>
                  </a:lnTo>
                  <a:lnTo>
                    <a:pt x="4336437" y="1683388"/>
                  </a:lnTo>
                  <a:lnTo>
                    <a:pt x="4379707" y="1672736"/>
                  </a:lnTo>
                  <a:lnTo>
                    <a:pt x="4420053" y="1655689"/>
                  </a:lnTo>
                  <a:lnTo>
                    <a:pt x="4456895" y="1632825"/>
                  </a:lnTo>
                  <a:lnTo>
                    <a:pt x="4489656" y="1604724"/>
                  </a:lnTo>
                  <a:lnTo>
                    <a:pt x="4517757" y="1571963"/>
                  </a:lnTo>
                  <a:lnTo>
                    <a:pt x="4540621" y="1535121"/>
                  </a:lnTo>
                  <a:lnTo>
                    <a:pt x="4557668" y="1494775"/>
                  </a:lnTo>
                  <a:lnTo>
                    <a:pt x="4568320" y="1451505"/>
                  </a:lnTo>
                  <a:lnTo>
                    <a:pt x="4572000" y="1405890"/>
                  </a:lnTo>
                  <a:lnTo>
                    <a:pt x="4572000" y="281178"/>
                  </a:lnTo>
                  <a:lnTo>
                    <a:pt x="4568320" y="235562"/>
                  </a:lnTo>
                  <a:lnTo>
                    <a:pt x="4557668" y="192292"/>
                  </a:lnTo>
                  <a:lnTo>
                    <a:pt x="4540621" y="151946"/>
                  </a:lnTo>
                  <a:lnTo>
                    <a:pt x="4517757" y="115104"/>
                  </a:lnTo>
                  <a:lnTo>
                    <a:pt x="4489656" y="82343"/>
                  </a:lnTo>
                  <a:lnTo>
                    <a:pt x="4456895" y="54242"/>
                  </a:lnTo>
                  <a:lnTo>
                    <a:pt x="4420053" y="31378"/>
                  </a:lnTo>
                  <a:lnTo>
                    <a:pt x="4379707" y="14331"/>
                  </a:lnTo>
                  <a:lnTo>
                    <a:pt x="4336437" y="3679"/>
                  </a:lnTo>
                  <a:lnTo>
                    <a:pt x="4290822" y="0"/>
                  </a:lnTo>
                  <a:close/>
                </a:path>
              </a:pathLst>
            </a:custGeom>
            <a:solidFill>
              <a:srgbClr val="CFD4EA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27376" y="2602992"/>
              <a:ext cx="4572000" cy="1687195"/>
            </a:xfrm>
            <a:custGeom>
              <a:avLst/>
              <a:gdLst/>
              <a:ahLst/>
              <a:cxnLst/>
              <a:rect l="l" t="t" r="r" b="b"/>
              <a:pathLst>
                <a:path w="4572000" h="1687195">
                  <a:moveTo>
                    <a:pt x="4572000" y="281178"/>
                  </a:moveTo>
                  <a:lnTo>
                    <a:pt x="4572000" y="1405890"/>
                  </a:lnTo>
                  <a:lnTo>
                    <a:pt x="4568320" y="1451505"/>
                  </a:lnTo>
                  <a:lnTo>
                    <a:pt x="4557668" y="1494775"/>
                  </a:lnTo>
                  <a:lnTo>
                    <a:pt x="4540621" y="1535121"/>
                  </a:lnTo>
                  <a:lnTo>
                    <a:pt x="4517757" y="1571963"/>
                  </a:lnTo>
                  <a:lnTo>
                    <a:pt x="4489656" y="1604724"/>
                  </a:lnTo>
                  <a:lnTo>
                    <a:pt x="4456895" y="1632825"/>
                  </a:lnTo>
                  <a:lnTo>
                    <a:pt x="4420053" y="1655689"/>
                  </a:lnTo>
                  <a:lnTo>
                    <a:pt x="4379707" y="1672736"/>
                  </a:lnTo>
                  <a:lnTo>
                    <a:pt x="4336437" y="1683388"/>
                  </a:lnTo>
                  <a:lnTo>
                    <a:pt x="4290822" y="1687068"/>
                  </a:lnTo>
                  <a:lnTo>
                    <a:pt x="0" y="1687068"/>
                  </a:lnTo>
                  <a:lnTo>
                    <a:pt x="0" y="0"/>
                  </a:lnTo>
                  <a:lnTo>
                    <a:pt x="4290822" y="0"/>
                  </a:lnTo>
                  <a:lnTo>
                    <a:pt x="4336437" y="3679"/>
                  </a:lnTo>
                  <a:lnTo>
                    <a:pt x="4379707" y="14331"/>
                  </a:lnTo>
                  <a:lnTo>
                    <a:pt x="4420053" y="31378"/>
                  </a:lnTo>
                  <a:lnTo>
                    <a:pt x="4456895" y="54242"/>
                  </a:lnTo>
                  <a:lnTo>
                    <a:pt x="4489656" y="82343"/>
                  </a:lnTo>
                  <a:lnTo>
                    <a:pt x="4517757" y="115104"/>
                  </a:lnTo>
                  <a:lnTo>
                    <a:pt x="4540621" y="151946"/>
                  </a:lnTo>
                  <a:lnTo>
                    <a:pt x="4557668" y="192292"/>
                  </a:lnTo>
                  <a:lnTo>
                    <a:pt x="4568320" y="235562"/>
                  </a:lnTo>
                  <a:lnTo>
                    <a:pt x="4572000" y="281178"/>
                  </a:lnTo>
                  <a:close/>
                </a:path>
              </a:pathLst>
            </a:custGeom>
            <a:ln w="12700">
              <a:solidFill>
                <a:srgbClr val="CFD4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034410" y="3257550"/>
            <a:ext cx="19062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105"/>
              </a:spcBef>
              <a:buChar char="•"/>
              <a:tabLst>
                <a:tab pos="182245" algn="l"/>
              </a:tabLst>
            </a:pPr>
            <a:r>
              <a:rPr sz="2000" dirty="0">
                <a:solidFill>
                  <a:srgbClr val="BCD6ED"/>
                </a:solidFill>
                <a:latin typeface="Arial MT"/>
                <a:cs typeface="Arial MT"/>
              </a:rPr>
              <a:t>Quelques</a:t>
            </a:r>
            <a:r>
              <a:rPr sz="2000" spc="-45" dirty="0">
                <a:solidFill>
                  <a:srgbClr val="BCD6ED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BCD6ED"/>
                </a:solidFill>
                <a:latin typeface="Arial MT"/>
                <a:cs typeface="Arial MT"/>
              </a:rPr>
              <a:t>jours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513" y="2384805"/>
            <a:ext cx="2585720" cy="2123440"/>
            <a:chOff x="48513" y="2384805"/>
            <a:chExt cx="2585720" cy="2123440"/>
          </a:xfrm>
        </p:grpSpPr>
        <p:sp>
          <p:nvSpPr>
            <p:cNvPr id="12" name="object 12"/>
            <p:cNvSpPr/>
            <p:nvPr/>
          </p:nvSpPr>
          <p:spPr>
            <a:xfrm>
              <a:off x="54863" y="2391155"/>
              <a:ext cx="2573020" cy="2110740"/>
            </a:xfrm>
            <a:custGeom>
              <a:avLst/>
              <a:gdLst/>
              <a:ahLst/>
              <a:cxnLst/>
              <a:rect l="l" t="t" r="r" b="b"/>
              <a:pathLst>
                <a:path w="2573020" h="2110740">
                  <a:moveTo>
                    <a:pt x="2220722" y="0"/>
                  </a:moveTo>
                  <a:lnTo>
                    <a:pt x="351790" y="0"/>
                  </a:lnTo>
                  <a:lnTo>
                    <a:pt x="304054" y="3211"/>
                  </a:lnTo>
                  <a:lnTo>
                    <a:pt x="258271" y="12564"/>
                  </a:lnTo>
                  <a:lnTo>
                    <a:pt x="214858" y="27642"/>
                  </a:lnTo>
                  <a:lnTo>
                    <a:pt x="174236" y="48024"/>
                  </a:lnTo>
                  <a:lnTo>
                    <a:pt x="136823" y="73293"/>
                  </a:lnTo>
                  <a:lnTo>
                    <a:pt x="103038" y="103028"/>
                  </a:lnTo>
                  <a:lnTo>
                    <a:pt x="73300" y="136812"/>
                  </a:lnTo>
                  <a:lnTo>
                    <a:pt x="48030" y="174225"/>
                  </a:lnTo>
                  <a:lnTo>
                    <a:pt x="27645" y="214848"/>
                  </a:lnTo>
                  <a:lnTo>
                    <a:pt x="12566" y="258262"/>
                  </a:lnTo>
                  <a:lnTo>
                    <a:pt x="3211" y="304049"/>
                  </a:lnTo>
                  <a:lnTo>
                    <a:pt x="0" y="351790"/>
                  </a:lnTo>
                  <a:lnTo>
                    <a:pt x="0" y="1758950"/>
                  </a:lnTo>
                  <a:lnTo>
                    <a:pt x="3211" y="1806690"/>
                  </a:lnTo>
                  <a:lnTo>
                    <a:pt x="12566" y="1852477"/>
                  </a:lnTo>
                  <a:lnTo>
                    <a:pt x="27645" y="1895891"/>
                  </a:lnTo>
                  <a:lnTo>
                    <a:pt x="48030" y="1936514"/>
                  </a:lnTo>
                  <a:lnTo>
                    <a:pt x="73300" y="1973927"/>
                  </a:lnTo>
                  <a:lnTo>
                    <a:pt x="103038" y="2007711"/>
                  </a:lnTo>
                  <a:lnTo>
                    <a:pt x="136823" y="2037446"/>
                  </a:lnTo>
                  <a:lnTo>
                    <a:pt x="174236" y="2062715"/>
                  </a:lnTo>
                  <a:lnTo>
                    <a:pt x="214858" y="2083097"/>
                  </a:lnTo>
                  <a:lnTo>
                    <a:pt x="258271" y="2098175"/>
                  </a:lnTo>
                  <a:lnTo>
                    <a:pt x="304054" y="2107528"/>
                  </a:lnTo>
                  <a:lnTo>
                    <a:pt x="351790" y="2110740"/>
                  </a:lnTo>
                  <a:lnTo>
                    <a:pt x="2220722" y="2110740"/>
                  </a:lnTo>
                  <a:lnTo>
                    <a:pt x="2268462" y="2107528"/>
                  </a:lnTo>
                  <a:lnTo>
                    <a:pt x="2314249" y="2098175"/>
                  </a:lnTo>
                  <a:lnTo>
                    <a:pt x="2357663" y="2083097"/>
                  </a:lnTo>
                  <a:lnTo>
                    <a:pt x="2398286" y="2062715"/>
                  </a:lnTo>
                  <a:lnTo>
                    <a:pt x="2435699" y="2037446"/>
                  </a:lnTo>
                  <a:lnTo>
                    <a:pt x="2469483" y="2007711"/>
                  </a:lnTo>
                  <a:lnTo>
                    <a:pt x="2499218" y="1973927"/>
                  </a:lnTo>
                  <a:lnTo>
                    <a:pt x="2524487" y="1936514"/>
                  </a:lnTo>
                  <a:lnTo>
                    <a:pt x="2544869" y="1895891"/>
                  </a:lnTo>
                  <a:lnTo>
                    <a:pt x="2559947" y="1852477"/>
                  </a:lnTo>
                  <a:lnTo>
                    <a:pt x="2569300" y="1806690"/>
                  </a:lnTo>
                  <a:lnTo>
                    <a:pt x="2572512" y="1758950"/>
                  </a:lnTo>
                  <a:lnTo>
                    <a:pt x="2572512" y="351790"/>
                  </a:lnTo>
                  <a:lnTo>
                    <a:pt x="2569300" y="304049"/>
                  </a:lnTo>
                  <a:lnTo>
                    <a:pt x="2559947" y="258262"/>
                  </a:lnTo>
                  <a:lnTo>
                    <a:pt x="2544869" y="214848"/>
                  </a:lnTo>
                  <a:lnTo>
                    <a:pt x="2524487" y="174225"/>
                  </a:lnTo>
                  <a:lnTo>
                    <a:pt x="2499218" y="136812"/>
                  </a:lnTo>
                  <a:lnTo>
                    <a:pt x="2469483" y="103028"/>
                  </a:lnTo>
                  <a:lnTo>
                    <a:pt x="2435699" y="73293"/>
                  </a:lnTo>
                  <a:lnTo>
                    <a:pt x="2398286" y="48024"/>
                  </a:lnTo>
                  <a:lnTo>
                    <a:pt x="2357663" y="27642"/>
                  </a:lnTo>
                  <a:lnTo>
                    <a:pt x="2314249" y="12564"/>
                  </a:lnTo>
                  <a:lnTo>
                    <a:pt x="2268462" y="3211"/>
                  </a:lnTo>
                  <a:lnTo>
                    <a:pt x="222072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863" y="2391155"/>
              <a:ext cx="2573020" cy="2110740"/>
            </a:xfrm>
            <a:custGeom>
              <a:avLst/>
              <a:gdLst/>
              <a:ahLst/>
              <a:cxnLst/>
              <a:rect l="l" t="t" r="r" b="b"/>
              <a:pathLst>
                <a:path w="2573020" h="2110740">
                  <a:moveTo>
                    <a:pt x="0" y="351790"/>
                  </a:moveTo>
                  <a:lnTo>
                    <a:pt x="3211" y="304049"/>
                  </a:lnTo>
                  <a:lnTo>
                    <a:pt x="12566" y="258262"/>
                  </a:lnTo>
                  <a:lnTo>
                    <a:pt x="27645" y="214848"/>
                  </a:lnTo>
                  <a:lnTo>
                    <a:pt x="48030" y="174225"/>
                  </a:lnTo>
                  <a:lnTo>
                    <a:pt x="73300" y="136812"/>
                  </a:lnTo>
                  <a:lnTo>
                    <a:pt x="103038" y="103028"/>
                  </a:lnTo>
                  <a:lnTo>
                    <a:pt x="136823" y="73293"/>
                  </a:lnTo>
                  <a:lnTo>
                    <a:pt x="174236" y="48024"/>
                  </a:lnTo>
                  <a:lnTo>
                    <a:pt x="214858" y="27642"/>
                  </a:lnTo>
                  <a:lnTo>
                    <a:pt x="258271" y="12564"/>
                  </a:lnTo>
                  <a:lnTo>
                    <a:pt x="304054" y="3211"/>
                  </a:lnTo>
                  <a:lnTo>
                    <a:pt x="351790" y="0"/>
                  </a:lnTo>
                  <a:lnTo>
                    <a:pt x="2220722" y="0"/>
                  </a:lnTo>
                  <a:lnTo>
                    <a:pt x="2268462" y="3211"/>
                  </a:lnTo>
                  <a:lnTo>
                    <a:pt x="2314249" y="12564"/>
                  </a:lnTo>
                  <a:lnTo>
                    <a:pt x="2357663" y="27642"/>
                  </a:lnTo>
                  <a:lnTo>
                    <a:pt x="2398286" y="48024"/>
                  </a:lnTo>
                  <a:lnTo>
                    <a:pt x="2435699" y="73293"/>
                  </a:lnTo>
                  <a:lnTo>
                    <a:pt x="2469483" y="103028"/>
                  </a:lnTo>
                  <a:lnTo>
                    <a:pt x="2499218" y="136812"/>
                  </a:lnTo>
                  <a:lnTo>
                    <a:pt x="2524487" y="174225"/>
                  </a:lnTo>
                  <a:lnTo>
                    <a:pt x="2544869" y="214848"/>
                  </a:lnTo>
                  <a:lnTo>
                    <a:pt x="2559947" y="258262"/>
                  </a:lnTo>
                  <a:lnTo>
                    <a:pt x="2569300" y="304049"/>
                  </a:lnTo>
                  <a:lnTo>
                    <a:pt x="2572512" y="351790"/>
                  </a:lnTo>
                  <a:lnTo>
                    <a:pt x="2572512" y="1758950"/>
                  </a:lnTo>
                  <a:lnTo>
                    <a:pt x="2569300" y="1806690"/>
                  </a:lnTo>
                  <a:lnTo>
                    <a:pt x="2559947" y="1852477"/>
                  </a:lnTo>
                  <a:lnTo>
                    <a:pt x="2544869" y="1895891"/>
                  </a:lnTo>
                  <a:lnTo>
                    <a:pt x="2524487" y="1936514"/>
                  </a:lnTo>
                  <a:lnTo>
                    <a:pt x="2499218" y="1973927"/>
                  </a:lnTo>
                  <a:lnTo>
                    <a:pt x="2469483" y="2007711"/>
                  </a:lnTo>
                  <a:lnTo>
                    <a:pt x="2435699" y="2037446"/>
                  </a:lnTo>
                  <a:lnTo>
                    <a:pt x="2398286" y="2062715"/>
                  </a:lnTo>
                  <a:lnTo>
                    <a:pt x="2357663" y="2083097"/>
                  </a:lnTo>
                  <a:lnTo>
                    <a:pt x="2314249" y="2098175"/>
                  </a:lnTo>
                  <a:lnTo>
                    <a:pt x="2268462" y="2107528"/>
                  </a:lnTo>
                  <a:lnTo>
                    <a:pt x="2220722" y="2110740"/>
                  </a:lnTo>
                  <a:lnTo>
                    <a:pt x="351790" y="2110740"/>
                  </a:lnTo>
                  <a:lnTo>
                    <a:pt x="304054" y="2107528"/>
                  </a:lnTo>
                  <a:lnTo>
                    <a:pt x="258271" y="2098175"/>
                  </a:lnTo>
                  <a:lnTo>
                    <a:pt x="214858" y="2083097"/>
                  </a:lnTo>
                  <a:lnTo>
                    <a:pt x="174236" y="2062715"/>
                  </a:lnTo>
                  <a:lnTo>
                    <a:pt x="136823" y="2037446"/>
                  </a:lnTo>
                  <a:lnTo>
                    <a:pt x="103038" y="2007711"/>
                  </a:lnTo>
                  <a:lnTo>
                    <a:pt x="73300" y="1973927"/>
                  </a:lnTo>
                  <a:lnTo>
                    <a:pt x="48030" y="1936514"/>
                  </a:lnTo>
                  <a:lnTo>
                    <a:pt x="27645" y="1895891"/>
                  </a:lnTo>
                  <a:lnTo>
                    <a:pt x="12566" y="1852477"/>
                  </a:lnTo>
                  <a:lnTo>
                    <a:pt x="3211" y="1806690"/>
                  </a:lnTo>
                  <a:lnTo>
                    <a:pt x="0" y="1758950"/>
                  </a:lnTo>
                  <a:lnTo>
                    <a:pt x="0" y="35179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94843" y="2764612"/>
            <a:ext cx="2092325" cy="127825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 indent="259079">
              <a:lnSpc>
                <a:spcPct val="91600"/>
              </a:lnSpc>
              <a:spcBef>
                <a:spcPts val="395"/>
              </a:spcBef>
            </a:pPr>
            <a:r>
              <a:rPr sz="2900" b="1" spc="-10" dirty="0">
                <a:solidFill>
                  <a:srgbClr val="2D75B6"/>
                </a:solidFill>
                <a:latin typeface="Calibri"/>
                <a:cs typeface="Calibri"/>
              </a:rPr>
              <a:t>Subaiguës </a:t>
            </a:r>
            <a:r>
              <a:rPr sz="2900" b="1" spc="-35" dirty="0">
                <a:solidFill>
                  <a:srgbClr val="2D75B6"/>
                </a:solidFill>
                <a:latin typeface="Calibri"/>
                <a:cs typeface="Calibri"/>
              </a:rPr>
              <a:t>d’aggravation </a:t>
            </a:r>
            <a:r>
              <a:rPr sz="2900" b="1" spc="-10" dirty="0">
                <a:solidFill>
                  <a:srgbClr val="2D75B6"/>
                </a:solidFill>
                <a:latin typeface="Calibri"/>
                <a:cs typeface="Calibri"/>
              </a:rPr>
              <a:t>progressive</a:t>
            </a:r>
            <a:endParaRPr sz="29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621026" y="4811014"/>
            <a:ext cx="4584700" cy="1701800"/>
            <a:chOff x="2621026" y="4811014"/>
            <a:chExt cx="4584700" cy="1701800"/>
          </a:xfrm>
        </p:grpSpPr>
        <p:sp>
          <p:nvSpPr>
            <p:cNvPr id="16" name="object 16"/>
            <p:cNvSpPr/>
            <p:nvPr/>
          </p:nvSpPr>
          <p:spPr>
            <a:xfrm>
              <a:off x="2627376" y="4817364"/>
              <a:ext cx="4572000" cy="1689100"/>
            </a:xfrm>
            <a:custGeom>
              <a:avLst/>
              <a:gdLst/>
              <a:ahLst/>
              <a:cxnLst/>
              <a:rect l="l" t="t" r="r" b="b"/>
              <a:pathLst>
                <a:path w="4572000" h="1689100">
                  <a:moveTo>
                    <a:pt x="4290568" y="0"/>
                  </a:moveTo>
                  <a:lnTo>
                    <a:pt x="0" y="0"/>
                  </a:lnTo>
                  <a:lnTo>
                    <a:pt x="0" y="1688592"/>
                  </a:lnTo>
                  <a:lnTo>
                    <a:pt x="4290568" y="1688592"/>
                  </a:lnTo>
                  <a:lnTo>
                    <a:pt x="4336221" y="1684908"/>
                  </a:lnTo>
                  <a:lnTo>
                    <a:pt x="4379528" y="1674243"/>
                  </a:lnTo>
                  <a:lnTo>
                    <a:pt x="4419909" y="1657177"/>
                  </a:lnTo>
                  <a:lnTo>
                    <a:pt x="4456785" y="1634289"/>
                  </a:lnTo>
                  <a:lnTo>
                    <a:pt x="4489577" y="1606159"/>
                  </a:lnTo>
                  <a:lnTo>
                    <a:pt x="4517704" y="1573366"/>
                  </a:lnTo>
                  <a:lnTo>
                    <a:pt x="4540590" y="1536490"/>
                  </a:lnTo>
                  <a:lnTo>
                    <a:pt x="4557654" y="1496111"/>
                  </a:lnTo>
                  <a:lnTo>
                    <a:pt x="4568317" y="1452807"/>
                  </a:lnTo>
                  <a:lnTo>
                    <a:pt x="4572000" y="1407160"/>
                  </a:lnTo>
                  <a:lnTo>
                    <a:pt x="4572000" y="281431"/>
                  </a:lnTo>
                  <a:lnTo>
                    <a:pt x="4568317" y="235778"/>
                  </a:lnTo>
                  <a:lnTo>
                    <a:pt x="4557654" y="192471"/>
                  </a:lnTo>
                  <a:lnTo>
                    <a:pt x="4540590" y="152090"/>
                  </a:lnTo>
                  <a:lnTo>
                    <a:pt x="4517704" y="115214"/>
                  </a:lnTo>
                  <a:lnTo>
                    <a:pt x="4489577" y="82422"/>
                  </a:lnTo>
                  <a:lnTo>
                    <a:pt x="4456785" y="54295"/>
                  </a:lnTo>
                  <a:lnTo>
                    <a:pt x="4419909" y="31409"/>
                  </a:lnTo>
                  <a:lnTo>
                    <a:pt x="4379528" y="14345"/>
                  </a:lnTo>
                  <a:lnTo>
                    <a:pt x="4336221" y="3682"/>
                  </a:lnTo>
                  <a:lnTo>
                    <a:pt x="4290568" y="0"/>
                  </a:lnTo>
                  <a:close/>
                </a:path>
              </a:pathLst>
            </a:custGeom>
            <a:solidFill>
              <a:srgbClr val="CFD4EA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27376" y="4817364"/>
              <a:ext cx="4572000" cy="1689100"/>
            </a:xfrm>
            <a:custGeom>
              <a:avLst/>
              <a:gdLst/>
              <a:ahLst/>
              <a:cxnLst/>
              <a:rect l="l" t="t" r="r" b="b"/>
              <a:pathLst>
                <a:path w="4572000" h="1689100">
                  <a:moveTo>
                    <a:pt x="4572000" y="281431"/>
                  </a:moveTo>
                  <a:lnTo>
                    <a:pt x="4572000" y="1407160"/>
                  </a:lnTo>
                  <a:lnTo>
                    <a:pt x="4568317" y="1452807"/>
                  </a:lnTo>
                  <a:lnTo>
                    <a:pt x="4557654" y="1496111"/>
                  </a:lnTo>
                  <a:lnTo>
                    <a:pt x="4540590" y="1536490"/>
                  </a:lnTo>
                  <a:lnTo>
                    <a:pt x="4517704" y="1573366"/>
                  </a:lnTo>
                  <a:lnTo>
                    <a:pt x="4489577" y="1606159"/>
                  </a:lnTo>
                  <a:lnTo>
                    <a:pt x="4456785" y="1634289"/>
                  </a:lnTo>
                  <a:lnTo>
                    <a:pt x="4419909" y="1657177"/>
                  </a:lnTo>
                  <a:lnTo>
                    <a:pt x="4379528" y="1674243"/>
                  </a:lnTo>
                  <a:lnTo>
                    <a:pt x="4336221" y="1684908"/>
                  </a:lnTo>
                  <a:lnTo>
                    <a:pt x="4290568" y="1688592"/>
                  </a:lnTo>
                  <a:lnTo>
                    <a:pt x="0" y="1688592"/>
                  </a:lnTo>
                  <a:lnTo>
                    <a:pt x="0" y="0"/>
                  </a:lnTo>
                  <a:lnTo>
                    <a:pt x="4290568" y="0"/>
                  </a:lnTo>
                  <a:lnTo>
                    <a:pt x="4336221" y="3682"/>
                  </a:lnTo>
                  <a:lnTo>
                    <a:pt x="4379528" y="14345"/>
                  </a:lnTo>
                  <a:lnTo>
                    <a:pt x="4419909" y="31409"/>
                  </a:lnTo>
                  <a:lnTo>
                    <a:pt x="4456785" y="54295"/>
                  </a:lnTo>
                  <a:lnTo>
                    <a:pt x="4489577" y="82422"/>
                  </a:lnTo>
                  <a:lnTo>
                    <a:pt x="4517704" y="115214"/>
                  </a:lnTo>
                  <a:lnTo>
                    <a:pt x="4540590" y="152090"/>
                  </a:lnTo>
                  <a:lnTo>
                    <a:pt x="4557654" y="192471"/>
                  </a:lnTo>
                  <a:lnTo>
                    <a:pt x="4568317" y="235778"/>
                  </a:lnTo>
                  <a:lnTo>
                    <a:pt x="4572000" y="281431"/>
                  </a:lnTo>
                  <a:close/>
                </a:path>
              </a:pathLst>
            </a:custGeom>
            <a:ln w="12700">
              <a:solidFill>
                <a:srgbClr val="CFD4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862198" y="5013452"/>
            <a:ext cx="3312160" cy="1251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b="1" dirty="0">
                <a:latin typeface="Arial"/>
                <a:cs typeface="Arial"/>
              </a:rPr>
              <a:t>Mois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ou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des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années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b="1" spc="-10" dirty="0">
                <a:latin typeface="Arial"/>
                <a:cs typeface="Arial"/>
              </a:rPr>
              <a:t>Secondaire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b="1" spc="-10" dirty="0">
                <a:latin typeface="Arial"/>
                <a:cs typeface="Arial"/>
              </a:rPr>
              <a:t>Primaire:</a:t>
            </a:r>
            <a:endParaRPr sz="2000">
              <a:latin typeface="Arial"/>
              <a:cs typeface="Arial"/>
            </a:endParaRPr>
          </a:p>
          <a:p>
            <a:pPr marL="469265" lvl="1" indent="-227965">
              <a:lnSpc>
                <a:spcPct val="100000"/>
              </a:lnSpc>
              <a:spcBef>
                <a:spcPts val="10"/>
              </a:spcBef>
              <a:buChar char="•"/>
              <a:tabLst>
                <a:tab pos="469265" algn="l"/>
              </a:tabLst>
            </a:pPr>
            <a:r>
              <a:rPr sz="2000" dirty="0">
                <a:latin typeface="Arial MT"/>
                <a:cs typeface="Arial MT"/>
              </a:rPr>
              <a:t>Sans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lésion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sous-</a:t>
            </a:r>
            <a:r>
              <a:rPr sz="2000" spc="-10" dirty="0">
                <a:latin typeface="Arial MT"/>
                <a:cs typeface="Arial MT"/>
              </a:rPr>
              <a:t>jacente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8513" y="4600702"/>
            <a:ext cx="2585720" cy="2123440"/>
            <a:chOff x="48513" y="4600702"/>
            <a:chExt cx="2585720" cy="2123440"/>
          </a:xfrm>
        </p:grpSpPr>
        <p:sp>
          <p:nvSpPr>
            <p:cNvPr id="20" name="object 20"/>
            <p:cNvSpPr/>
            <p:nvPr/>
          </p:nvSpPr>
          <p:spPr>
            <a:xfrm>
              <a:off x="54863" y="4607052"/>
              <a:ext cx="2573020" cy="2110740"/>
            </a:xfrm>
            <a:custGeom>
              <a:avLst/>
              <a:gdLst/>
              <a:ahLst/>
              <a:cxnLst/>
              <a:rect l="l" t="t" r="r" b="b"/>
              <a:pathLst>
                <a:path w="2573020" h="2110740">
                  <a:moveTo>
                    <a:pt x="2220722" y="0"/>
                  </a:moveTo>
                  <a:lnTo>
                    <a:pt x="351790" y="0"/>
                  </a:lnTo>
                  <a:lnTo>
                    <a:pt x="304054" y="3211"/>
                  </a:lnTo>
                  <a:lnTo>
                    <a:pt x="258271" y="12564"/>
                  </a:lnTo>
                  <a:lnTo>
                    <a:pt x="214858" y="27642"/>
                  </a:lnTo>
                  <a:lnTo>
                    <a:pt x="174236" y="48024"/>
                  </a:lnTo>
                  <a:lnTo>
                    <a:pt x="136823" y="73293"/>
                  </a:lnTo>
                  <a:lnTo>
                    <a:pt x="103038" y="103028"/>
                  </a:lnTo>
                  <a:lnTo>
                    <a:pt x="73300" y="136812"/>
                  </a:lnTo>
                  <a:lnTo>
                    <a:pt x="48030" y="174225"/>
                  </a:lnTo>
                  <a:lnTo>
                    <a:pt x="27645" y="214848"/>
                  </a:lnTo>
                  <a:lnTo>
                    <a:pt x="12566" y="258262"/>
                  </a:lnTo>
                  <a:lnTo>
                    <a:pt x="3211" y="304049"/>
                  </a:lnTo>
                  <a:lnTo>
                    <a:pt x="0" y="351790"/>
                  </a:lnTo>
                  <a:lnTo>
                    <a:pt x="0" y="1758937"/>
                  </a:lnTo>
                  <a:lnTo>
                    <a:pt x="3211" y="1806675"/>
                  </a:lnTo>
                  <a:lnTo>
                    <a:pt x="12566" y="1852461"/>
                  </a:lnTo>
                  <a:lnTo>
                    <a:pt x="27645" y="1895875"/>
                  </a:lnTo>
                  <a:lnTo>
                    <a:pt x="48030" y="1936499"/>
                  </a:lnTo>
                  <a:lnTo>
                    <a:pt x="73300" y="1973914"/>
                  </a:lnTo>
                  <a:lnTo>
                    <a:pt x="103038" y="2007700"/>
                  </a:lnTo>
                  <a:lnTo>
                    <a:pt x="136823" y="2037438"/>
                  </a:lnTo>
                  <a:lnTo>
                    <a:pt x="174236" y="2062709"/>
                  </a:lnTo>
                  <a:lnTo>
                    <a:pt x="214858" y="2083093"/>
                  </a:lnTo>
                  <a:lnTo>
                    <a:pt x="258271" y="2098173"/>
                  </a:lnTo>
                  <a:lnTo>
                    <a:pt x="304054" y="2107528"/>
                  </a:lnTo>
                  <a:lnTo>
                    <a:pt x="351790" y="2110740"/>
                  </a:lnTo>
                  <a:lnTo>
                    <a:pt x="2220722" y="2110740"/>
                  </a:lnTo>
                  <a:lnTo>
                    <a:pt x="2268462" y="2107528"/>
                  </a:lnTo>
                  <a:lnTo>
                    <a:pt x="2314249" y="2098173"/>
                  </a:lnTo>
                  <a:lnTo>
                    <a:pt x="2357663" y="2083093"/>
                  </a:lnTo>
                  <a:lnTo>
                    <a:pt x="2398286" y="2062709"/>
                  </a:lnTo>
                  <a:lnTo>
                    <a:pt x="2435699" y="2037438"/>
                  </a:lnTo>
                  <a:lnTo>
                    <a:pt x="2469483" y="2007700"/>
                  </a:lnTo>
                  <a:lnTo>
                    <a:pt x="2499218" y="1973914"/>
                  </a:lnTo>
                  <a:lnTo>
                    <a:pt x="2524487" y="1936499"/>
                  </a:lnTo>
                  <a:lnTo>
                    <a:pt x="2544869" y="1895875"/>
                  </a:lnTo>
                  <a:lnTo>
                    <a:pt x="2559947" y="1852461"/>
                  </a:lnTo>
                  <a:lnTo>
                    <a:pt x="2569300" y="1806675"/>
                  </a:lnTo>
                  <a:lnTo>
                    <a:pt x="2572512" y="1758937"/>
                  </a:lnTo>
                  <a:lnTo>
                    <a:pt x="2572512" y="351790"/>
                  </a:lnTo>
                  <a:lnTo>
                    <a:pt x="2569300" y="304049"/>
                  </a:lnTo>
                  <a:lnTo>
                    <a:pt x="2559947" y="258262"/>
                  </a:lnTo>
                  <a:lnTo>
                    <a:pt x="2544869" y="214848"/>
                  </a:lnTo>
                  <a:lnTo>
                    <a:pt x="2524487" y="174225"/>
                  </a:lnTo>
                  <a:lnTo>
                    <a:pt x="2499218" y="136812"/>
                  </a:lnTo>
                  <a:lnTo>
                    <a:pt x="2469483" y="103028"/>
                  </a:lnTo>
                  <a:lnTo>
                    <a:pt x="2435699" y="73293"/>
                  </a:lnTo>
                  <a:lnTo>
                    <a:pt x="2398286" y="48024"/>
                  </a:lnTo>
                  <a:lnTo>
                    <a:pt x="2357663" y="27642"/>
                  </a:lnTo>
                  <a:lnTo>
                    <a:pt x="2314249" y="12564"/>
                  </a:lnTo>
                  <a:lnTo>
                    <a:pt x="2268462" y="3211"/>
                  </a:lnTo>
                  <a:lnTo>
                    <a:pt x="222072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4863" y="4607052"/>
              <a:ext cx="2573020" cy="2110740"/>
            </a:xfrm>
            <a:custGeom>
              <a:avLst/>
              <a:gdLst/>
              <a:ahLst/>
              <a:cxnLst/>
              <a:rect l="l" t="t" r="r" b="b"/>
              <a:pathLst>
                <a:path w="2573020" h="2110740">
                  <a:moveTo>
                    <a:pt x="0" y="351790"/>
                  </a:moveTo>
                  <a:lnTo>
                    <a:pt x="3211" y="304049"/>
                  </a:lnTo>
                  <a:lnTo>
                    <a:pt x="12566" y="258262"/>
                  </a:lnTo>
                  <a:lnTo>
                    <a:pt x="27645" y="214848"/>
                  </a:lnTo>
                  <a:lnTo>
                    <a:pt x="48030" y="174225"/>
                  </a:lnTo>
                  <a:lnTo>
                    <a:pt x="73300" y="136812"/>
                  </a:lnTo>
                  <a:lnTo>
                    <a:pt x="103038" y="103028"/>
                  </a:lnTo>
                  <a:lnTo>
                    <a:pt x="136823" y="73293"/>
                  </a:lnTo>
                  <a:lnTo>
                    <a:pt x="174236" y="48024"/>
                  </a:lnTo>
                  <a:lnTo>
                    <a:pt x="214858" y="27642"/>
                  </a:lnTo>
                  <a:lnTo>
                    <a:pt x="258271" y="12564"/>
                  </a:lnTo>
                  <a:lnTo>
                    <a:pt x="304054" y="3211"/>
                  </a:lnTo>
                  <a:lnTo>
                    <a:pt x="351790" y="0"/>
                  </a:lnTo>
                  <a:lnTo>
                    <a:pt x="2220722" y="0"/>
                  </a:lnTo>
                  <a:lnTo>
                    <a:pt x="2268462" y="3211"/>
                  </a:lnTo>
                  <a:lnTo>
                    <a:pt x="2314249" y="12564"/>
                  </a:lnTo>
                  <a:lnTo>
                    <a:pt x="2357663" y="27642"/>
                  </a:lnTo>
                  <a:lnTo>
                    <a:pt x="2398286" y="48024"/>
                  </a:lnTo>
                  <a:lnTo>
                    <a:pt x="2435699" y="73293"/>
                  </a:lnTo>
                  <a:lnTo>
                    <a:pt x="2469483" y="103028"/>
                  </a:lnTo>
                  <a:lnTo>
                    <a:pt x="2499218" y="136812"/>
                  </a:lnTo>
                  <a:lnTo>
                    <a:pt x="2524487" y="174225"/>
                  </a:lnTo>
                  <a:lnTo>
                    <a:pt x="2544869" y="214848"/>
                  </a:lnTo>
                  <a:lnTo>
                    <a:pt x="2559947" y="258262"/>
                  </a:lnTo>
                  <a:lnTo>
                    <a:pt x="2569300" y="304049"/>
                  </a:lnTo>
                  <a:lnTo>
                    <a:pt x="2572512" y="351790"/>
                  </a:lnTo>
                  <a:lnTo>
                    <a:pt x="2572512" y="1758937"/>
                  </a:lnTo>
                  <a:lnTo>
                    <a:pt x="2569300" y="1806675"/>
                  </a:lnTo>
                  <a:lnTo>
                    <a:pt x="2559947" y="1852461"/>
                  </a:lnTo>
                  <a:lnTo>
                    <a:pt x="2544869" y="1895875"/>
                  </a:lnTo>
                  <a:lnTo>
                    <a:pt x="2524487" y="1936499"/>
                  </a:lnTo>
                  <a:lnTo>
                    <a:pt x="2499218" y="1973914"/>
                  </a:lnTo>
                  <a:lnTo>
                    <a:pt x="2469483" y="2007700"/>
                  </a:lnTo>
                  <a:lnTo>
                    <a:pt x="2435699" y="2037438"/>
                  </a:lnTo>
                  <a:lnTo>
                    <a:pt x="2398286" y="2062709"/>
                  </a:lnTo>
                  <a:lnTo>
                    <a:pt x="2357663" y="2083093"/>
                  </a:lnTo>
                  <a:lnTo>
                    <a:pt x="2314249" y="2098173"/>
                  </a:lnTo>
                  <a:lnTo>
                    <a:pt x="2268462" y="2107528"/>
                  </a:lnTo>
                  <a:lnTo>
                    <a:pt x="2220722" y="2110740"/>
                  </a:lnTo>
                  <a:lnTo>
                    <a:pt x="351790" y="2110740"/>
                  </a:lnTo>
                  <a:lnTo>
                    <a:pt x="304054" y="2107528"/>
                  </a:lnTo>
                  <a:lnTo>
                    <a:pt x="258271" y="2098173"/>
                  </a:lnTo>
                  <a:lnTo>
                    <a:pt x="214858" y="2083093"/>
                  </a:lnTo>
                  <a:lnTo>
                    <a:pt x="174236" y="2062709"/>
                  </a:lnTo>
                  <a:lnTo>
                    <a:pt x="136823" y="2037438"/>
                  </a:lnTo>
                  <a:lnTo>
                    <a:pt x="103038" y="2007700"/>
                  </a:lnTo>
                  <a:lnTo>
                    <a:pt x="73300" y="1973914"/>
                  </a:lnTo>
                  <a:lnTo>
                    <a:pt x="48030" y="1936499"/>
                  </a:lnTo>
                  <a:lnTo>
                    <a:pt x="27645" y="1895875"/>
                  </a:lnTo>
                  <a:lnTo>
                    <a:pt x="12566" y="1852461"/>
                  </a:lnTo>
                  <a:lnTo>
                    <a:pt x="3211" y="1806675"/>
                  </a:lnTo>
                  <a:lnTo>
                    <a:pt x="0" y="1758937"/>
                  </a:lnTo>
                  <a:lnTo>
                    <a:pt x="0" y="35179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55219" y="5183504"/>
            <a:ext cx="1571625" cy="87249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080">
              <a:lnSpc>
                <a:spcPts val="3180"/>
              </a:lnSpc>
              <a:spcBef>
                <a:spcPts val="459"/>
              </a:spcBef>
            </a:pPr>
            <a:r>
              <a:rPr sz="2900" b="1" spc="-10" dirty="0">
                <a:solidFill>
                  <a:srgbClr val="FFFFFF"/>
                </a:solidFill>
                <a:latin typeface="Calibri"/>
                <a:cs typeface="Calibri"/>
              </a:rPr>
              <a:t>Céphalée chronique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276843" y="330708"/>
            <a:ext cx="3700779" cy="2120265"/>
          </a:xfrm>
          <a:prstGeom prst="rect">
            <a:avLst/>
          </a:prstGeom>
          <a:solidFill>
            <a:srgbClr val="F8CAAC"/>
          </a:solidFill>
        </p:spPr>
        <p:txBody>
          <a:bodyPr vert="horz" wrap="square" lIns="0" tIns="127000" rIns="0" bIns="0" rtlCol="0">
            <a:spAutoFit/>
          </a:bodyPr>
          <a:lstStyle/>
          <a:p>
            <a:pPr marL="396240">
              <a:lnSpc>
                <a:spcPct val="100000"/>
              </a:lnSpc>
              <a:spcBef>
                <a:spcPts val="1000"/>
              </a:spcBef>
            </a:pPr>
            <a:r>
              <a:rPr sz="1800" spc="-10" dirty="0">
                <a:solidFill>
                  <a:srgbClr val="FFD966"/>
                </a:solidFill>
                <a:latin typeface="Arial MT"/>
                <a:cs typeface="Arial MT"/>
              </a:rPr>
              <a:t>Hémorragie</a:t>
            </a:r>
            <a:r>
              <a:rPr sz="1800" spc="-30" dirty="0">
                <a:solidFill>
                  <a:srgbClr val="FFD966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D966"/>
                </a:solidFill>
                <a:latin typeface="Arial MT"/>
                <a:cs typeface="Arial MT"/>
              </a:rPr>
              <a:t>méningée</a:t>
            </a:r>
            <a:endParaRPr sz="1800">
              <a:latin typeface="Arial MT"/>
              <a:cs typeface="Arial MT"/>
            </a:endParaRPr>
          </a:p>
          <a:p>
            <a:pPr marL="39624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solidFill>
                  <a:srgbClr val="FFD966"/>
                </a:solidFill>
                <a:latin typeface="Arial MT"/>
                <a:cs typeface="Arial MT"/>
              </a:rPr>
              <a:t>HTIC</a:t>
            </a:r>
            <a:r>
              <a:rPr sz="1800" spc="-15" dirty="0">
                <a:solidFill>
                  <a:srgbClr val="FFD966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FFD966"/>
                </a:solidFill>
                <a:latin typeface="Arial MT"/>
                <a:cs typeface="Arial MT"/>
              </a:rPr>
              <a:t>aiguë</a:t>
            </a:r>
            <a:endParaRPr sz="1800">
              <a:latin typeface="Arial MT"/>
              <a:cs typeface="Arial MT"/>
            </a:endParaRPr>
          </a:p>
          <a:p>
            <a:pPr marL="396240" marR="312420">
              <a:lnSpc>
                <a:spcPct val="150000"/>
              </a:lnSpc>
            </a:pPr>
            <a:r>
              <a:rPr sz="1800" dirty="0">
                <a:solidFill>
                  <a:srgbClr val="FFD966"/>
                </a:solidFill>
                <a:latin typeface="Arial MT"/>
                <a:cs typeface="Arial MT"/>
              </a:rPr>
              <a:t>Causes</a:t>
            </a:r>
            <a:r>
              <a:rPr sz="1800" spc="380" dirty="0">
                <a:solidFill>
                  <a:srgbClr val="FFD966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D966"/>
                </a:solidFill>
                <a:latin typeface="Arial MT"/>
                <a:cs typeface="Arial MT"/>
              </a:rPr>
              <a:t>vasculaires </a:t>
            </a:r>
            <a:r>
              <a:rPr sz="1800" dirty="0">
                <a:solidFill>
                  <a:srgbClr val="FFD966"/>
                </a:solidFill>
                <a:latin typeface="Arial MT"/>
                <a:cs typeface="Arial MT"/>
              </a:rPr>
              <a:t>Glaucome</a:t>
            </a:r>
            <a:r>
              <a:rPr sz="1800" spc="-65" dirty="0">
                <a:solidFill>
                  <a:srgbClr val="FFD96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D966"/>
                </a:solidFill>
                <a:latin typeface="Arial MT"/>
                <a:cs typeface="Arial MT"/>
              </a:rPr>
              <a:t>aigu</a:t>
            </a:r>
            <a:r>
              <a:rPr sz="1800" spc="-40" dirty="0">
                <a:solidFill>
                  <a:srgbClr val="FFD96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D966"/>
                </a:solidFill>
                <a:latin typeface="Arial MT"/>
                <a:cs typeface="Arial MT"/>
              </a:rPr>
              <a:t>à</a:t>
            </a:r>
            <a:r>
              <a:rPr sz="1800" spc="-55" dirty="0">
                <a:solidFill>
                  <a:srgbClr val="FFD96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D966"/>
                </a:solidFill>
                <a:latin typeface="Arial MT"/>
                <a:cs typeface="Arial MT"/>
              </a:rPr>
              <a:t>angle</a:t>
            </a:r>
            <a:r>
              <a:rPr sz="1800" spc="-35" dirty="0">
                <a:solidFill>
                  <a:srgbClr val="FFD966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D966"/>
                </a:solidFill>
                <a:latin typeface="Arial MT"/>
                <a:cs typeface="Arial MT"/>
              </a:rPr>
              <a:t>fermé </a:t>
            </a:r>
            <a:r>
              <a:rPr sz="1800" dirty="0">
                <a:solidFill>
                  <a:srgbClr val="FFD966"/>
                </a:solidFill>
                <a:latin typeface="Arial MT"/>
                <a:cs typeface="Arial MT"/>
              </a:rPr>
              <a:t>Sinusite</a:t>
            </a:r>
            <a:r>
              <a:rPr sz="1800" spc="-75" dirty="0">
                <a:solidFill>
                  <a:srgbClr val="FFD966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FFD966"/>
                </a:solidFill>
                <a:latin typeface="Arial MT"/>
                <a:cs typeface="Arial MT"/>
              </a:rPr>
              <a:t>aiguë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559040" y="330708"/>
            <a:ext cx="338455" cy="2095500"/>
          </a:xfrm>
          <a:custGeom>
            <a:avLst/>
            <a:gdLst/>
            <a:ahLst/>
            <a:cxnLst/>
            <a:rect l="l" t="t" r="r" b="b"/>
            <a:pathLst>
              <a:path w="338454" h="2095500">
                <a:moveTo>
                  <a:pt x="338327" y="2095500"/>
                </a:moveTo>
                <a:lnTo>
                  <a:pt x="272462" y="2093291"/>
                </a:lnTo>
                <a:lnTo>
                  <a:pt x="218694" y="2087260"/>
                </a:lnTo>
                <a:lnTo>
                  <a:pt x="182451" y="2078301"/>
                </a:lnTo>
                <a:lnTo>
                  <a:pt x="169163" y="2067306"/>
                </a:lnTo>
                <a:lnTo>
                  <a:pt x="169163" y="1075944"/>
                </a:lnTo>
                <a:lnTo>
                  <a:pt x="155876" y="1064948"/>
                </a:lnTo>
                <a:lnTo>
                  <a:pt x="119633" y="1055989"/>
                </a:lnTo>
                <a:lnTo>
                  <a:pt x="65865" y="1049958"/>
                </a:lnTo>
                <a:lnTo>
                  <a:pt x="0" y="1047750"/>
                </a:lnTo>
                <a:lnTo>
                  <a:pt x="65865" y="1045541"/>
                </a:lnTo>
                <a:lnTo>
                  <a:pt x="119633" y="1039510"/>
                </a:lnTo>
                <a:lnTo>
                  <a:pt x="155876" y="1030551"/>
                </a:lnTo>
                <a:lnTo>
                  <a:pt x="169163" y="1019556"/>
                </a:lnTo>
                <a:lnTo>
                  <a:pt x="169163" y="28194"/>
                </a:lnTo>
                <a:lnTo>
                  <a:pt x="182451" y="17198"/>
                </a:lnTo>
                <a:lnTo>
                  <a:pt x="218693" y="8239"/>
                </a:lnTo>
                <a:lnTo>
                  <a:pt x="272462" y="2208"/>
                </a:lnTo>
                <a:lnTo>
                  <a:pt x="338327" y="0"/>
                </a:lnTo>
              </a:path>
            </a:pathLst>
          </a:custGeom>
          <a:ln w="63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834883" y="2558795"/>
            <a:ext cx="4255135" cy="1934210"/>
          </a:xfrm>
          <a:prstGeom prst="rect">
            <a:avLst/>
          </a:prstGeom>
          <a:solidFill>
            <a:srgbClr val="DEEBF7"/>
          </a:solidFill>
        </p:spPr>
        <p:txBody>
          <a:bodyPr vert="horz" wrap="square" lIns="0" tIns="127000" rIns="0" bIns="0" rtlCol="0">
            <a:spAutoFit/>
          </a:bodyPr>
          <a:lstStyle/>
          <a:p>
            <a:pPr marL="63373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solidFill>
                  <a:srgbClr val="BCD6ED"/>
                </a:solidFill>
                <a:latin typeface="Arial MT"/>
                <a:cs typeface="Arial MT"/>
              </a:rPr>
              <a:t>Méningite</a:t>
            </a:r>
            <a:r>
              <a:rPr sz="1800" spc="-95" dirty="0">
                <a:solidFill>
                  <a:srgbClr val="BCD6ED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BCD6ED"/>
                </a:solidFill>
                <a:latin typeface="Arial MT"/>
                <a:cs typeface="Arial MT"/>
              </a:rPr>
              <a:t>subaiguë</a:t>
            </a:r>
            <a:endParaRPr sz="1800">
              <a:latin typeface="Arial MT"/>
              <a:cs typeface="Arial MT"/>
            </a:endParaRPr>
          </a:p>
          <a:p>
            <a:pPr marL="63373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solidFill>
                  <a:srgbClr val="BCD6ED"/>
                </a:solidFill>
                <a:latin typeface="Arial MT"/>
                <a:cs typeface="Arial MT"/>
              </a:rPr>
              <a:t>méningoencéphalite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00">
              <a:latin typeface="Arial MT"/>
              <a:cs typeface="Arial MT"/>
            </a:endParaRPr>
          </a:p>
          <a:p>
            <a:pPr marL="63373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BCD6ED"/>
                </a:solidFill>
                <a:latin typeface="Arial MT"/>
                <a:cs typeface="Arial MT"/>
              </a:rPr>
              <a:t>HTIC</a:t>
            </a:r>
            <a:r>
              <a:rPr sz="1800" spc="-25" dirty="0">
                <a:solidFill>
                  <a:srgbClr val="BCD6ED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BCD6ED"/>
                </a:solidFill>
                <a:latin typeface="Arial MT"/>
                <a:cs typeface="Arial MT"/>
              </a:rPr>
              <a:t>subaiguë</a:t>
            </a:r>
            <a:endParaRPr sz="1800">
              <a:latin typeface="Arial MT"/>
              <a:cs typeface="Arial MT"/>
            </a:endParaRPr>
          </a:p>
          <a:p>
            <a:pPr marL="618490">
              <a:lnSpc>
                <a:spcPct val="100000"/>
              </a:lnSpc>
              <a:spcBef>
                <a:spcPts val="1880"/>
              </a:spcBef>
            </a:pPr>
            <a:r>
              <a:rPr sz="1800" dirty="0">
                <a:solidFill>
                  <a:srgbClr val="BCD6ED"/>
                </a:solidFill>
                <a:latin typeface="Arial MT"/>
                <a:cs typeface="Arial MT"/>
              </a:rPr>
              <a:t>Maladie</a:t>
            </a:r>
            <a:r>
              <a:rPr sz="1800" spc="-55" dirty="0">
                <a:solidFill>
                  <a:srgbClr val="BCD6ED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BCD6ED"/>
                </a:solidFill>
                <a:latin typeface="Arial MT"/>
                <a:cs typeface="Arial MT"/>
              </a:rPr>
              <a:t>de</a:t>
            </a:r>
            <a:r>
              <a:rPr sz="1800" spc="-55" dirty="0">
                <a:solidFill>
                  <a:srgbClr val="BCD6ED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BCD6ED"/>
                </a:solidFill>
                <a:latin typeface="Arial MT"/>
                <a:cs typeface="Arial MT"/>
              </a:rPr>
              <a:t>Horton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199376" y="2558795"/>
            <a:ext cx="338455" cy="1934210"/>
          </a:xfrm>
          <a:custGeom>
            <a:avLst/>
            <a:gdLst/>
            <a:ahLst/>
            <a:cxnLst/>
            <a:rect l="l" t="t" r="r" b="b"/>
            <a:pathLst>
              <a:path w="338454" h="1934210">
                <a:moveTo>
                  <a:pt x="338327" y="1933955"/>
                </a:moveTo>
                <a:lnTo>
                  <a:pt x="272462" y="1931747"/>
                </a:lnTo>
                <a:lnTo>
                  <a:pt x="218694" y="1925716"/>
                </a:lnTo>
                <a:lnTo>
                  <a:pt x="182451" y="1916757"/>
                </a:lnTo>
                <a:lnTo>
                  <a:pt x="169164" y="1905761"/>
                </a:lnTo>
                <a:lnTo>
                  <a:pt x="169164" y="995171"/>
                </a:lnTo>
                <a:lnTo>
                  <a:pt x="155876" y="984176"/>
                </a:lnTo>
                <a:lnTo>
                  <a:pt x="119634" y="975217"/>
                </a:lnTo>
                <a:lnTo>
                  <a:pt x="65865" y="969186"/>
                </a:lnTo>
                <a:lnTo>
                  <a:pt x="0" y="966977"/>
                </a:lnTo>
                <a:lnTo>
                  <a:pt x="65865" y="964769"/>
                </a:lnTo>
                <a:lnTo>
                  <a:pt x="119633" y="958738"/>
                </a:lnTo>
                <a:lnTo>
                  <a:pt x="155876" y="949779"/>
                </a:lnTo>
                <a:lnTo>
                  <a:pt x="169164" y="938783"/>
                </a:lnTo>
                <a:lnTo>
                  <a:pt x="169164" y="28193"/>
                </a:lnTo>
                <a:lnTo>
                  <a:pt x="182451" y="17198"/>
                </a:lnTo>
                <a:lnTo>
                  <a:pt x="218694" y="8239"/>
                </a:lnTo>
                <a:lnTo>
                  <a:pt x="272462" y="2208"/>
                </a:lnTo>
                <a:lnTo>
                  <a:pt x="338327" y="0"/>
                </a:lnTo>
              </a:path>
            </a:pathLst>
          </a:custGeom>
          <a:ln w="63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2039" rIns="0" bIns="0" rtlCol="0">
            <a:spAutoFit/>
          </a:bodyPr>
          <a:lstStyle/>
          <a:p>
            <a:pPr marL="22034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843B0C"/>
                </a:solidFill>
              </a:rPr>
              <a:t>Céphalées</a:t>
            </a:r>
            <a:r>
              <a:rPr spc="-50" dirty="0">
                <a:solidFill>
                  <a:srgbClr val="843B0C"/>
                </a:solidFill>
              </a:rPr>
              <a:t> </a:t>
            </a:r>
            <a:r>
              <a:rPr spc="-10" dirty="0">
                <a:solidFill>
                  <a:srgbClr val="843B0C"/>
                </a:solidFill>
              </a:rPr>
              <a:t>chroniques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24939" y="766572"/>
            <a:ext cx="8944610" cy="2155190"/>
            <a:chOff x="1424939" y="766572"/>
            <a:chExt cx="8944610" cy="2155190"/>
          </a:xfrm>
        </p:grpSpPr>
        <p:sp>
          <p:nvSpPr>
            <p:cNvPr id="4" name="object 4"/>
            <p:cNvSpPr/>
            <p:nvPr/>
          </p:nvSpPr>
          <p:spPr>
            <a:xfrm>
              <a:off x="1424939" y="766572"/>
              <a:ext cx="8944610" cy="2155190"/>
            </a:xfrm>
            <a:custGeom>
              <a:avLst/>
              <a:gdLst/>
              <a:ahLst/>
              <a:cxnLst/>
              <a:rect l="l" t="t" r="r" b="b"/>
              <a:pathLst>
                <a:path w="8944610" h="2155190">
                  <a:moveTo>
                    <a:pt x="1077467" y="0"/>
                  </a:moveTo>
                  <a:lnTo>
                    <a:pt x="0" y="897889"/>
                  </a:lnTo>
                  <a:lnTo>
                    <a:pt x="1077467" y="1795779"/>
                  </a:lnTo>
                  <a:lnTo>
                    <a:pt x="1077467" y="1436624"/>
                  </a:lnTo>
                  <a:lnTo>
                    <a:pt x="4192651" y="1436624"/>
                  </a:lnTo>
                  <a:lnTo>
                    <a:pt x="4192651" y="1705990"/>
                  </a:lnTo>
                  <a:lnTo>
                    <a:pt x="4200030" y="1726560"/>
                  </a:lnTo>
                  <a:lnTo>
                    <a:pt x="4254043" y="1762124"/>
                  </a:lnTo>
                  <a:lnTo>
                    <a:pt x="4297325" y="1776035"/>
                  </a:lnTo>
                  <a:lnTo>
                    <a:pt x="4349225" y="1786643"/>
                  </a:lnTo>
                  <a:lnTo>
                    <a:pt x="4408068" y="1793405"/>
                  </a:lnTo>
                  <a:lnTo>
                    <a:pt x="4472178" y="1795779"/>
                  </a:lnTo>
                  <a:lnTo>
                    <a:pt x="7866887" y="1795779"/>
                  </a:lnTo>
                  <a:lnTo>
                    <a:pt x="7866887" y="2154936"/>
                  </a:lnTo>
                  <a:lnTo>
                    <a:pt x="8944356" y="1257045"/>
                  </a:lnTo>
                  <a:lnTo>
                    <a:pt x="7866887" y="359155"/>
                  </a:lnTo>
                  <a:lnTo>
                    <a:pt x="7866887" y="718312"/>
                  </a:lnTo>
                  <a:lnTo>
                    <a:pt x="4472178" y="718312"/>
                  </a:lnTo>
                  <a:lnTo>
                    <a:pt x="4408068" y="715937"/>
                  </a:lnTo>
                  <a:lnTo>
                    <a:pt x="4349225" y="709175"/>
                  </a:lnTo>
                  <a:lnTo>
                    <a:pt x="4297325" y="698567"/>
                  </a:lnTo>
                  <a:lnTo>
                    <a:pt x="4254043" y="684656"/>
                  </a:lnTo>
                  <a:lnTo>
                    <a:pt x="4200030" y="649092"/>
                  </a:lnTo>
                  <a:lnTo>
                    <a:pt x="4192651" y="628523"/>
                  </a:lnTo>
                  <a:lnTo>
                    <a:pt x="4200030" y="607913"/>
                  </a:lnTo>
                  <a:lnTo>
                    <a:pt x="4254043" y="572336"/>
                  </a:lnTo>
                  <a:lnTo>
                    <a:pt x="4297325" y="558438"/>
                  </a:lnTo>
                  <a:lnTo>
                    <a:pt x="4349225" y="547848"/>
                  </a:lnTo>
                  <a:lnTo>
                    <a:pt x="4408068" y="541101"/>
                  </a:lnTo>
                  <a:lnTo>
                    <a:pt x="4536287" y="536359"/>
                  </a:lnTo>
                  <a:lnTo>
                    <a:pt x="4595130" y="529597"/>
                  </a:lnTo>
                  <a:lnTo>
                    <a:pt x="4647030" y="518989"/>
                  </a:lnTo>
                  <a:lnTo>
                    <a:pt x="4690312" y="505078"/>
                  </a:lnTo>
                  <a:lnTo>
                    <a:pt x="4744325" y="469514"/>
                  </a:lnTo>
                  <a:lnTo>
                    <a:pt x="4751705" y="448944"/>
                  </a:lnTo>
                  <a:lnTo>
                    <a:pt x="4744325" y="428375"/>
                  </a:lnTo>
                  <a:lnTo>
                    <a:pt x="4690312" y="392811"/>
                  </a:lnTo>
                  <a:lnTo>
                    <a:pt x="4647030" y="378900"/>
                  </a:lnTo>
                  <a:lnTo>
                    <a:pt x="4595130" y="368292"/>
                  </a:lnTo>
                  <a:lnTo>
                    <a:pt x="4536287" y="361530"/>
                  </a:lnTo>
                  <a:lnTo>
                    <a:pt x="4472178" y="359155"/>
                  </a:lnTo>
                  <a:lnTo>
                    <a:pt x="1077467" y="359155"/>
                  </a:lnTo>
                  <a:lnTo>
                    <a:pt x="107746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17591" y="1215516"/>
              <a:ext cx="559435" cy="269875"/>
            </a:xfrm>
            <a:custGeom>
              <a:avLst/>
              <a:gdLst/>
              <a:ahLst/>
              <a:cxnLst/>
              <a:rect l="l" t="t" r="r" b="b"/>
              <a:pathLst>
                <a:path w="559435" h="269875">
                  <a:moveTo>
                    <a:pt x="559054" y="0"/>
                  </a:moveTo>
                  <a:lnTo>
                    <a:pt x="530651" y="39461"/>
                  </a:lnTo>
                  <a:lnTo>
                    <a:pt x="454379" y="70044"/>
                  </a:lnTo>
                  <a:lnTo>
                    <a:pt x="402479" y="80652"/>
                  </a:lnTo>
                  <a:lnTo>
                    <a:pt x="343636" y="87414"/>
                  </a:lnTo>
                  <a:lnTo>
                    <a:pt x="215417" y="92156"/>
                  </a:lnTo>
                  <a:lnTo>
                    <a:pt x="156574" y="98903"/>
                  </a:lnTo>
                  <a:lnTo>
                    <a:pt x="104674" y="109493"/>
                  </a:lnTo>
                  <a:lnTo>
                    <a:pt x="61392" y="123391"/>
                  </a:lnTo>
                  <a:lnTo>
                    <a:pt x="7379" y="158968"/>
                  </a:lnTo>
                  <a:lnTo>
                    <a:pt x="0" y="179578"/>
                  </a:lnTo>
                  <a:lnTo>
                    <a:pt x="7379" y="200147"/>
                  </a:lnTo>
                  <a:lnTo>
                    <a:pt x="61392" y="235711"/>
                  </a:lnTo>
                  <a:lnTo>
                    <a:pt x="104674" y="249622"/>
                  </a:lnTo>
                  <a:lnTo>
                    <a:pt x="156574" y="260230"/>
                  </a:lnTo>
                  <a:lnTo>
                    <a:pt x="215417" y="266992"/>
                  </a:lnTo>
                  <a:lnTo>
                    <a:pt x="279526" y="269367"/>
                  </a:lnTo>
                  <a:lnTo>
                    <a:pt x="559054" y="269367"/>
                  </a:lnTo>
                  <a:lnTo>
                    <a:pt x="559054" y="0"/>
                  </a:lnTo>
                  <a:close/>
                </a:path>
              </a:pathLst>
            </a:custGeom>
            <a:solidFill>
              <a:srgbClr val="375C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17591" y="1215516"/>
              <a:ext cx="559435" cy="988060"/>
            </a:xfrm>
            <a:custGeom>
              <a:avLst/>
              <a:gdLst/>
              <a:ahLst/>
              <a:cxnLst/>
              <a:rect l="l" t="t" r="r" b="b"/>
              <a:pathLst>
                <a:path w="559435" h="988060">
                  <a:moveTo>
                    <a:pt x="559054" y="0"/>
                  </a:moveTo>
                  <a:lnTo>
                    <a:pt x="559054" y="269367"/>
                  </a:lnTo>
                </a:path>
                <a:path w="559435" h="988060">
                  <a:moveTo>
                    <a:pt x="0" y="179578"/>
                  </a:moveTo>
                  <a:lnTo>
                    <a:pt x="0" y="98767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701545" y="1311655"/>
            <a:ext cx="3808729" cy="815608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711835" marR="5080" indent="-699770">
              <a:lnSpc>
                <a:spcPts val="2920"/>
              </a:lnSpc>
              <a:spcBef>
                <a:spcPts val="560"/>
              </a:spcBef>
            </a:pPr>
            <a:r>
              <a:rPr sz="2800" b="1" spc="-10" dirty="0" err="1">
                <a:solidFill>
                  <a:srgbClr val="FFFFFF"/>
                </a:solidFill>
                <a:latin typeface="Arial"/>
                <a:cs typeface="Arial"/>
              </a:rPr>
              <a:t>Céphalées</a:t>
            </a:r>
            <a:r>
              <a:rPr sz="2800" b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 err="1">
                <a:solidFill>
                  <a:srgbClr val="FFFFFF"/>
                </a:solidFill>
                <a:latin typeface="Arial"/>
                <a:cs typeface="Arial"/>
              </a:rPr>
              <a:t>chroniques</a:t>
            </a:r>
            <a:r>
              <a:rPr lang="fr-FR" sz="2800" b="1" spc="-10" dirty="0">
                <a:solidFill>
                  <a:srgbClr val="FFFFFF"/>
                </a:solidFill>
                <a:latin typeface="Arial"/>
                <a:cs typeface="Arial"/>
              </a:rPr>
              <a:t> épisodiques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09564" y="1625600"/>
            <a:ext cx="3673475" cy="79565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006475" marR="5080" indent="-994410">
              <a:lnSpc>
                <a:spcPts val="2820"/>
              </a:lnSpc>
              <a:spcBef>
                <a:spcPts val="540"/>
              </a:spcBef>
            </a:pP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Céphalées</a:t>
            </a:r>
            <a:r>
              <a:rPr sz="27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b="1" spc="-10" dirty="0">
                <a:solidFill>
                  <a:srgbClr val="FFFFFF"/>
                </a:solidFill>
                <a:latin typeface="Arial"/>
                <a:cs typeface="Arial"/>
              </a:rPr>
              <a:t>chroniques Continues</a:t>
            </a:r>
            <a:endParaRPr sz="2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8788" y="2921507"/>
            <a:ext cx="4796155" cy="382714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318135" indent="-227329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318135" algn="l"/>
              </a:tabLst>
            </a:pPr>
            <a:r>
              <a:rPr sz="2400" b="1" u="heavy" spc="-1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Arial"/>
                <a:cs typeface="Arial"/>
              </a:rPr>
              <a:t>Primaires</a:t>
            </a:r>
            <a:endParaRPr sz="2400">
              <a:latin typeface="Arial"/>
              <a:cs typeface="Arial"/>
            </a:endParaRPr>
          </a:p>
          <a:p>
            <a:pPr marL="890905" marR="1496695" lvl="1" indent="-342900">
              <a:lnSpc>
                <a:spcPct val="100000"/>
              </a:lnSpc>
              <a:spcBef>
                <a:spcPts val="600"/>
              </a:spcBef>
              <a:buSzPct val="58333"/>
              <a:buFont typeface="Segoe UI Symbol"/>
              <a:buChar char="⚫"/>
              <a:tabLst>
                <a:tab pos="890905" algn="l"/>
              </a:tabLst>
            </a:pPr>
            <a:r>
              <a:rPr sz="2400" b="1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Migraine</a:t>
            </a:r>
            <a:r>
              <a:rPr sz="2400" b="1" i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</a:t>
            </a:r>
            <a:r>
              <a:rPr sz="2400" b="1" dirty="0">
                <a:latin typeface="Arial"/>
                <a:cs typeface="Arial"/>
              </a:rPr>
              <a:t>la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plus </a:t>
            </a:r>
            <a:r>
              <a:rPr sz="2400" b="1" spc="-10" dirty="0">
                <a:latin typeface="Arial"/>
                <a:cs typeface="Arial"/>
              </a:rPr>
              <a:t>fréquente)</a:t>
            </a:r>
            <a:endParaRPr sz="2400">
              <a:latin typeface="Arial"/>
              <a:cs typeface="Arial"/>
            </a:endParaRPr>
          </a:p>
          <a:p>
            <a:pPr marL="890905" lvl="1" indent="-342900">
              <a:lnSpc>
                <a:spcPct val="100000"/>
              </a:lnSpc>
              <a:spcBef>
                <a:spcPts val="605"/>
              </a:spcBef>
              <a:buSzPct val="58333"/>
              <a:buFont typeface="Segoe UI Symbol"/>
              <a:buChar char="⚫"/>
              <a:tabLst>
                <a:tab pos="890905" algn="l"/>
              </a:tabLst>
            </a:pPr>
            <a:r>
              <a:rPr sz="2400" b="1" dirty="0">
                <a:latin typeface="Arial"/>
                <a:cs typeface="Arial"/>
              </a:rPr>
              <a:t>Algie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vasculaire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la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face</a:t>
            </a:r>
            <a:endParaRPr sz="2400">
              <a:latin typeface="Arial"/>
              <a:cs typeface="Arial"/>
            </a:endParaRPr>
          </a:p>
          <a:p>
            <a:pPr marL="890905" lvl="1" indent="-342900">
              <a:lnSpc>
                <a:spcPct val="100000"/>
              </a:lnSpc>
              <a:spcBef>
                <a:spcPts val="600"/>
              </a:spcBef>
              <a:buSzPct val="58333"/>
              <a:buFont typeface="Segoe UI Symbol"/>
              <a:buChar char="⚫"/>
              <a:tabLst>
                <a:tab pos="890905" algn="l"/>
              </a:tabLst>
            </a:pPr>
            <a:r>
              <a:rPr sz="2400" b="1" dirty="0">
                <a:latin typeface="Arial"/>
                <a:cs typeface="Arial"/>
              </a:rPr>
              <a:t>Névralgie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du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trijumeau</a:t>
            </a:r>
            <a:endParaRPr sz="2400">
              <a:latin typeface="Arial"/>
              <a:cs typeface="Arial"/>
            </a:endParaRPr>
          </a:p>
          <a:p>
            <a:pPr marL="318135" indent="-227329">
              <a:lnSpc>
                <a:spcPct val="100000"/>
              </a:lnSpc>
              <a:spcBef>
                <a:spcPts val="190"/>
              </a:spcBef>
              <a:buFont typeface="Arial MT"/>
              <a:buChar char="•"/>
              <a:tabLst>
                <a:tab pos="318135" algn="l"/>
              </a:tabLst>
            </a:pPr>
            <a:r>
              <a:rPr sz="2400" b="1" u="heavy" spc="-1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Arial"/>
                <a:cs typeface="Arial"/>
              </a:rPr>
              <a:t>Secondaires</a:t>
            </a:r>
            <a:endParaRPr sz="2400">
              <a:latin typeface="Arial"/>
              <a:cs typeface="Arial"/>
            </a:endParaRPr>
          </a:p>
          <a:p>
            <a:pPr marL="890905" marR="1834514" lvl="1" indent="-342900">
              <a:lnSpc>
                <a:spcPct val="100000"/>
              </a:lnSpc>
              <a:spcBef>
                <a:spcPts val="605"/>
              </a:spcBef>
              <a:buSzPct val="58333"/>
              <a:buFont typeface="Segoe UI Symbol"/>
              <a:buChar char="⚫"/>
              <a:tabLst>
                <a:tab pos="890905" algn="l"/>
              </a:tabLst>
            </a:pPr>
            <a:r>
              <a:rPr sz="2400" spc="-10" dirty="0">
                <a:latin typeface="Arial MT"/>
                <a:cs typeface="Arial MT"/>
              </a:rPr>
              <a:t>Malformation </a:t>
            </a:r>
            <a:r>
              <a:rPr sz="2400" spc="-25" dirty="0">
                <a:latin typeface="Arial MT"/>
                <a:cs typeface="Arial MT"/>
              </a:rPr>
              <a:t>artérioveineuse</a:t>
            </a:r>
            <a:endParaRPr sz="2400">
              <a:latin typeface="Arial MT"/>
              <a:cs typeface="Arial MT"/>
            </a:endParaRPr>
          </a:p>
          <a:p>
            <a:pPr marL="890905" lvl="1" indent="-342900">
              <a:lnSpc>
                <a:spcPct val="100000"/>
              </a:lnSpc>
              <a:spcBef>
                <a:spcPts val="600"/>
              </a:spcBef>
              <a:buSzPct val="58333"/>
              <a:buFont typeface="Segoe UI Symbol"/>
              <a:buChar char="⚫"/>
              <a:tabLst>
                <a:tab pos="890905" algn="l"/>
              </a:tabLst>
            </a:pPr>
            <a:r>
              <a:rPr sz="2400" spc="-10" dirty="0">
                <a:latin typeface="Arial MT"/>
                <a:cs typeface="Arial MT"/>
              </a:rPr>
              <a:t>Phéochromocytome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076444" y="3015995"/>
            <a:ext cx="6894830" cy="3636645"/>
          </a:xfrm>
          <a:custGeom>
            <a:avLst/>
            <a:gdLst/>
            <a:ahLst/>
            <a:cxnLst/>
            <a:rect l="l" t="t" r="r" b="b"/>
            <a:pathLst>
              <a:path w="6894830" h="3636645">
                <a:moveTo>
                  <a:pt x="0" y="3636264"/>
                </a:moveTo>
                <a:lnTo>
                  <a:pt x="6894576" y="3636264"/>
                </a:lnTo>
                <a:lnTo>
                  <a:pt x="6894576" y="0"/>
                </a:lnTo>
                <a:lnTo>
                  <a:pt x="0" y="0"/>
                </a:lnTo>
                <a:lnTo>
                  <a:pt x="0" y="363626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168772" y="2964942"/>
            <a:ext cx="6084570" cy="361315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27329" indent="-227329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227329" algn="l"/>
              </a:tabLst>
            </a:pPr>
            <a:r>
              <a:rPr sz="2400" b="1" u="heavy" spc="-1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Arial"/>
                <a:cs typeface="Arial"/>
              </a:rPr>
              <a:t>Primaires</a:t>
            </a:r>
            <a:endParaRPr sz="2400">
              <a:latin typeface="Arial"/>
              <a:cs typeface="Arial"/>
            </a:endParaRPr>
          </a:p>
          <a:p>
            <a:pPr marL="342265" indent="-342265">
              <a:lnSpc>
                <a:spcPct val="100000"/>
              </a:lnSpc>
              <a:spcBef>
                <a:spcPts val="600"/>
              </a:spcBef>
              <a:buSzPct val="58333"/>
              <a:buFont typeface="Segoe UI Symbol"/>
              <a:buChar char="⚫"/>
              <a:tabLst>
                <a:tab pos="342265" algn="l"/>
              </a:tabLst>
            </a:pPr>
            <a:r>
              <a:rPr sz="2400" dirty="0">
                <a:latin typeface="Arial MT"/>
                <a:cs typeface="Arial MT"/>
              </a:rPr>
              <a:t>Céphalées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dites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tension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(psychogènes)</a:t>
            </a:r>
            <a:endParaRPr sz="2400">
              <a:latin typeface="Arial MT"/>
              <a:cs typeface="Arial MT"/>
            </a:endParaRPr>
          </a:p>
          <a:p>
            <a:pPr marL="342265" indent="-342265">
              <a:lnSpc>
                <a:spcPct val="100000"/>
              </a:lnSpc>
              <a:spcBef>
                <a:spcPts val="600"/>
              </a:spcBef>
              <a:buSzPct val="58333"/>
              <a:buFont typeface="Segoe UI Symbol"/>
              <a:buChar char="⚫"/>
              <a:tabLst>
                <a:tab pos="342265" algn="l"/>
              </a:tabLst>
            </a:pPr>
            <a:r>
              <a:rPr sz="2400" spc="-10" dirty="0">
                <a:latin typeface="Arial MT"/>
                <a:cs typeface="Arial MT"/>
              </a:rPr>
              <a:t>Céphalées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post-</a:t>
            </a:r>
            <a:r>
              <a:rPr sz="2400" spc="-10" dirty="0">
                <a:latin typeface="Arial MT"/>
                <a:cs typeface="Arial MT"/>
              </a:rPr>
              <a:t>traumatiques</a:t>
            </a:r>
            <a:endParaRPr sz="2400">
              <a:latin typeface="Arial MT"/>
              <a:cs typeface="Arial MT"/>
            </a:endParaRPr>
          </a:p>
          <a:p>
            <a:pPr marL="342265" indent="-342265">
              <a:lnSpc>
                <a:spcPct val="100000"/>
              </a:lnSpc>
              <a:spcBef>
                <a:spcPts val="495"/>
              </a:spcBef>
              <a:buSzPct val="58333"/>
              <a:buFont typeface="Segoe UI Symbol"/>
              <a:buChar char="⚫"/>
              <a:tabLst>
                <a:tab pos="342265" algn="l"/>
              </a:tabLst>
            </a:pPr>
            <a:r>
              <a:rPr sz="2400" dirty="0">
                <a:latin typeface="Arial MT"/>
                <a:cs typeface="Arial MT"/>
              </a:rPr>
              <a:t>Céphalées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abus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d’antalgiques</a:t>
            </a:r>
            <a:endParaRPr sz="2400">
              <a:latin typeface="Arial MT"/>
              <a:cs typeface="Arial MT"/>
            </a:endParaRPr>
          </a:p>
          <a:p>
            <a:pPr marL="342265" indent="-342265">
              <a:lnSpc>
                <a:spcPct val="100000"/>
              </a:lnSpc>
              <a:spcBef>
                <a:spcPts val="600"/>
              </a:spcBef>
              <a:buSzPct val="58333"/>
              <a:buFont typeface="Segoe UI Symbol"/>
              <a:buChar char="⚫"/>
              <a:tabLst>
                <a:tab pos="342265" algn="l"/>
              </a:tabLst>
            </a:pPr>
            <a:r>
              <a:rPr sz="2400" spc="-10" dirty="0">
                <a:latin typeface="Arial MT"/>
                <a:cs typeface="Arial MT"/>
              </a:rPr>
              <a:t>Cervicalgies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chroniques</a:t>
            </a:r>
            <a:endParaRPr sz="2400">
              <a:latin typeface="Arial MT"/>
              <a:cs typeface="Arial MT"/>
            </a:endParaRPr>
          </a:p>
          <a:p>
            <a:pPr marL="2273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27329" algn="l"/>
              </a:tabLst>
            </a:pPr>
            <a:r>
              <a:rPr sz="2400" b="1" u="heavy" spc="-1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Arial"/>
                <a:cs typeface="Arial"/>
              </a:rPr>
              <a:t>Secondaires</a:t>
            </a:r>
            <a:endParaRPr sz="2400">
              <a:latin typeface="Arial"/>
              <a:cs typeface="Arial"/>
            </a:endParaRPr>
          </a:p>
          <a:p>
            <a:pPr marL="342265" indent="-342265">
              <a:lnSpc>
                <a:spcPct val="100000"/>
              </a:lnSpc>
              <a:spcBef>
                <a:spcPts val="600"/>
              </a:spcBef>
              <a:buSzPct val="58333"/>
              <a:buFont typeface="Segoe UI Symbol"/>
              <a:buChar char="⚫"/>
              <a:tabLst>
                <a:tab pos="342265" algn="l"/>
                <a:tab pos="2229485" algn="l"/>
                <a:tab pos="4144010" algn="l"/>
              </a:tabLst>
            </a:pPr>
            <a:r>
              <a:rPr sz="2400" spc="-10" dirty="0">
                <a:latin typeface="Arial MT"/>
                <a:cs typeface="Arial MT"/>
              </a:rPr>
              <a:t>Céphalées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d’origine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diverse</a:t>
            </a:r>
            <a:endParaRPr sz="2400">
              <a:latin typeface="Arial MT"/>
              <a:cs typeface="Arial MT"/>
            </a:endParaRPr>
          </a:p>
          <a:p>
            <a:pPr marL="342265" indent="-342265">
              <a:lnSpc>
                <a:spcPct val="100000"/>
              </a:lnSpc>
              <a:spcBef>
                <a:spcPts val="1000"/>
              </a:spcBef>
              <a:buSzPct val="58333"/>
              <a:buFont typeface="Segoe UI Symbol"/>
              <a:buChar char="⚫"/>
              <a:tabLst>
                <a:tab pos="342265" algn="l"/>
              </a:tabLst>
            </a:pPr>
            <a:r>
              <a:rPr sz="2400" spc="-10" dirty="0">
                <a:latin typeface="Arial MT"/>
                <a:cs typeface="Arial MT"/>
              </a:rPr>
              <a:t>Tumorale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95529"/>
            <a:ext cx="101752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F4E79"/>
                </a:solidFill>
                <a:latin typeface="Arial"/>
                <a:cs typeface="Arial"/>
              </a:rPr>
              <a:t>POSER</a:t>
            </a:r>
            <a:r>
              <a:rPr sz="2400" b="1" spc="-80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F4E79"/>
                </a:solidFill>
                <a:latin typeface="Arial"/>
                <a:cs typeface="Arial"/>
              </a:rPr>
              <a:t>LE</a:t>
            </a:r>
            <a:r>
              <a:rPr sz="2400" b="1" spc="-55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F4E79"/>
                </a:solidFill>
                <a:latin typeface="Arial"/>
                <a:cs typeface="Arial"/>
              </a:rPr>
              <a:t>DIAGNOSTIC</a:t>
            </a:r>
            <a:r>
              <a:rPr sz="2400" b="1" spc="-65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F4E79"/>
                </a:solidFill>
                <a:latin typeface="Arial"/>
                <a:cs typeface="Arial"/>
              </a:rPr>
              <a:t>D’UNE</a:t>
            </a:r>
            <a:r>
              <a:rPr sz="2400" b="1" spc="-55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F4E79"/>
                </a:solidFill>
                <a:latin typeface="Arial"/>
                <a:cs typeface="Arial"/>
              </a:rPr>
              <a:t>URGENCE</a:t>
            </a:r>
            <a:r>
              <a:rPr sz="2400" b="1" spc="-50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1F4E79"/>
                </a:solidFill>
                <a:latin typeface="Arial"/>
                <a:cs typeface="Arial"/>
              </a:rPr>
              <a:t>DEVANT</a:t>
            </a:r>
            <a:r>
              <a:rPr sz="2400" b="1" spc="-20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F4E79"/>
                </a:solidFill>
                <a:latin typeface="Arial"/>
                <a:cs typeface="Arial"/>
              </a:rPr>
              <a:t>DES</a:t>
            </a:r>
            <a:r>
              <a:rPr sz="2400" b="1" spc="-55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1F4E79"/>
                </a:solidFill>
                <a:latin typeface="Arial"/>
                <a:cs typeface="Arial"/>
              </a:rPr>
              <a:t>CEPHALEES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506" y="1332992"/>
            <a:ext cx="10946765" cy="43537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00" indent="-184150">
              <a:lnSpc>
                <a:spcPts val="3304"/>
              </a:lnSpc>
              <a:spcBef>
                <a:spcPts val="95"/>
              </a:spcBef>
              <a:buSzPct val="96428"/>
              <a:buChar char="•"/>
              <a:tabLst>
                <a:tab pos="190500" algn="l"/>
              </a:tabLst>
            </a:pPr>
            <a:r>
              <a:rPr sz="2800" u="sng" spc="-20" dirty="0" err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Interrogatoire</a:t>
            </a:r>
            <a:r>
              <a:rPr sz="28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506" y="1759711"/>
            <a:ext cx="202818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00" indent="-184150">
              <a:lnSpc>
                <a:spcPct val="100000"/>
              </a:lnSpc>
              <a:spcBef>
                <a:spcPts val="95"/>
              </a:spcBef>
              <a:buSzPct val="96428"/>
              <a:buChar char="•"/>
              <a:tabLst>
                <a:tab pos="190500" algn="l"/>
              </a:tabLst>
            </a:pPr>
            <a:r>
              <a:rPr sz="2800" dirty="0">
                <a:latin typeface="Calibri"/>
                <a:cs typeface="Calibri"/>
              </a:rPr>
              <a:t>Age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&gt;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50 </a:t>
            </a:r>
            <a:r>
              <a:rPr sz="2800" spc="-25" dirty="0">
                <a:latin typeface="Calibri"/>
                <a:cs typeface="Calibri"/>
              </a:rPr>
              <a:t>ans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106" y="2186686"/>
            <a:ext cx="117386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900" indent="-184150">
              <a:lnSpc>
                <a:spcPct val="100000"/>
              </a:lnSpc>
              <a:spcBef>
                <a:spcPts val="95"/>
              </a:spcBef>
              <a:buSzPct val="96428"/>
              <a:buChar char="•"/>
              <a:tabLst>
                <a:tab pos="215900" algn="l"/>
                <a:tab pos="9504680" algn="l"/>
              </a:tabLst>
            </a:pPr>
            <a:r>
              <a:rPr sz="2800" spc="-10" dirty="0">
                <a:latin typeface="Calibri"/>
                <a:cs typeface="Calibri"/>
              </a:rPr>
              <a:t>Existence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néoplasie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sous-</a:t>
            </a:r>
            <a:r>
              <a:rPr sz="2800" dirty="0">
                <a:latin typeface="Calibri"/>
                <a:cs typeface="Calibri"/>
              </a:rPr>
              <a:t>jacente,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HTA,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45" dirty="0">
                <a:latin typeface="Calibri"/>
                <a:cs typeface="Calibri"/>
              </a:rPr>
              <a:t>HIV,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maladie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système</a:t>
            </a:r>
            <a:r>
              <a:rPr sz="2800" dirty="0">
                <a:latin typeface="Calibri"/>
                <a:cs typeface="Calibri"/>
              </a:rPr>
              <a:t>	</a:t>
            </a:r>
            <a:endParaRPr sz="3000" baseline="-13888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506" y="2613405"/>
            <a:ext cx="87090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00" indent="-184150">
              <a:lnSpc>
                <a:spcPct val="100000"/>
              </a:lnSpc>
              <a:spcBef>
                <a:spcPts val="95"/>
              </a:spcBef>
              <a:buSzPct val="96428"/>
              <a:buChar char="•"/>
              <a:tabLst>
                <a:tab pos="190500" algn="l"/>
              </a:tabLst>
            </a:pPr>
            <a:r>
              <a:rPr sz="2800" dirty="0">
                <a:latin typeface="Calibri"/>
                <a:cs typeface="Calibri"/>
              </a:rPr>
              <a:t>Céphalée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récente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et</a:t>
            </a:r>
            <a:r>
              <a:rPr sz="2800" b="1" spc="-10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d’installation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rapidement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progressive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506" y="3040125"/>
            <a:ext cx="8372475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00" indent="-184150">
              <a:lnSpc>
                <a:spcPct val="100000"/>
              </a:lnSpc>
              <a:spcBef>
                <a:spcPts val="95"/>
              </a:spcBef>
              <a:buSzPct val="96428"/>
              <a:buChar char="•"/>
              <a:tabLst>
                <a:tab pos="190500" algn="l"/>
              </a:tabLst>
            </a:pPr>
            <a:r>
              <a:rPr sz="2800" dirty="0">
                <a:latin typeface="Calibri"/>
                <a:cs typeface="Calibri"/>
              </a:rPr>
              <a:t>Céphalée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récente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et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spc="-10" dirty="0" err="1">
                <a:latin typeface="Calibri"/>
                <a:cs typeface="Calibri"/>
              </a:rPr>
              <a:t>d’installation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bru</a:t>
            </a:r>
            <a:r>
              <a:rPr lang="fr-FR" sz="2800" b="1" spc="-10" dirty="0">
                <a:latin typeface="Calibri"/>
                <a:cs typeface="Calibri"/>
              </a:rPr>
              <a:t>tale</a:t>
            </a:r>
            <a:endParaRPr sz="2800" dirty="0">
              <a:latin typeface="Calibri"/>
              <a:cs typeface="Calibri"/>
            </a:endParaRPr>
          </a:p>
          <a:p>
            <a:pPr marL="190500" indent="-184150">
              <a:lnSpc>
                <a:spcPct val="100000"/>
              </a:lnSpc>
              <a:buSzPct val="96428"/>
              <a:buChar char="•"/>
              <a:tabLst>
                <a:tab pos="190500" algn="l"/>
              </a:tabLst>
            </a:pPr>
            <a:r>
              <a:rPr sz="2800" dirty="0">
                <a:latin typeface="Calibri"/>
                <a:cs typeface="Calibri"/>
              </a:rPr>
              <a:t>Céphalée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inhabituelle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chez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céphalalgique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connu</a:t>
            </a:r>
            <a:endParaRPr sz="2800" dirty="0">
              <a:latin typeface="Calibri"/>
              <a:cs typeface="Calibri"/>
            </a:endParaRPr>
          </a:p>
          <a:p>
            <a:pPr marL="190500" indent="-184150">
              <a:lnSpc>
                <a:spcPct val="100000"/>
              </a:lnSpc>
              <a:spcBef>
                <a:spcPts val="5"/>
              </a:spcBef>
              <a:buSzPct val="96428"/>
              <a:buChar char="•"/>
              <a:tabLst>
                <a:tab pos="190500" algn="l"/>
              </a:tabLst>
            </a:pPr>
            <a:r>
              <a:rPr sz="2800" dirty="0">
                <a:latin typeface="Calibri"/>
                <a:cs typeface="Calibri"/>
              </a:rPr>
              <a:t>Céphalée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+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signe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neurologique</a:t>
            </a:r>
            <a:endParaRPr sz="2800" dirty="0">
              <a:latin typeface="Calibri"/>
              <a:cs typeface="Calibri"/>
            </a:endParaRPr>
          </a:p>
          <a:p>
            <a:pPr marL="190500" indent="-184150">
              <a:lnSpc>
                <a:spcPct val="100000"/>
              </a:lnSpc>
              <a:buSzPct val="96428"/>
              <a:buChar char="•"/>
              <a:tabLst>
                <a:tab pos="190500" algn="l"/>
              </a:tabLst>
            </a:pPr>
            <a:r>
              <a:rPr sz="2800" dirty="0">
                <a:latin typeface="Calibri"/>
                <a:cs typeface="Calibri"/>
              </a:rPr>
              <a:t>Céphalée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+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signes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généraux</a:t>
            </a:r>
            <a:r>
              <a:rPr sz="2800" b="1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(fièvre,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augmentée,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AEG)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107" y="4747082"/>
            <a:ext cx="8769044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900" indent="-184150">
              <a:lnSpc>
                <a:spcPct val="100000"/>
              </a:lnSpc>
              <a:spcBef>
                <a:spcPts val="95"/>
              </a:spcBef>
              <a:buSzPct val="96428"/>
              <a:buChar char="•"/>
              <a:tabLst>
                <a:tab pos="215900" algn="l"/>
              </a:tabLst>
            </a:pPr>
            <a:r>
              <a:rPr sz="2800" dirty="0">
                <a:latin typeface="Calibri"/>
                <a:cs typeface="Calibri"/>
              </a:rPr>
              <a:t>Céphalée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suite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accouchement,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traumatisme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crânien,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 err="1">
                <a:latin typeface="Calibri"/>
                <a:cs typeface="Calibri"/>
              </a:rPr>
              <a:t>po</a:t>
            </a:r>
            <a:r>
              <a:rPr sz="2800" spc="-25" dirty="0" err="1">
                <a:latin typeface="Calibri"/>
                <a:cs typeface="Calibri"/>
              </a:rPr>
              <a:t>n</a:t>
            </a:r>
            <a:r>
              <a:rPr sz="2800" spc="-135" dirty="0" err="1">
                <a:latin typeface="Calibri"/>
                <a:cs typeface="Calibri"/>
              </a:rPr>
              <a:t>c</a:t>
            </a:r>
            <a:r>
              <a:rPr lang="fr-FR" sz="2800" spc="-135" dirty="0">
                <a:latin typeface="Calibri"/>
                <a:cs typeface="Calibri"/>
              </a:rPr>
              <a:t>t</a:t>
            </a:r>
            <a:endParaRPr sz="3000" baseline="1250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2506" y="5174360"/>
            <a:ext cx="10312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durale.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205536" y="744982"/>
            <a:ext cx="29819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u="heavy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Drapeaux</a:t>
            </a:r>
            <a:r>
              <a:rPr sz="3200" u="heavy" spc="-13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 </a:t>
            </a:r>
            <a:r>
              <a:rPr sz="3200" u="heavy" spc="-1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rouges</a:t>
            </a:r>
            <a:r>
              <a:rPr sz="3200" spc="-10" dirty="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95529"/>
            <a:ext cx="101752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F4E79"/>
                </a:solidFill>
                <a:latin typeface="Arial"/>
                <a:cs typeface="Arial"/>
              </a:rPr>
              <a:t>POSER</a:t>
            </a:r>
            <a:r>
              <a:rPr sz="2400" b="1" spc="-80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F4E79"/>
                </a:solidFill>
                <a:latin typeface="Arial"/>
                <a:cs typeface="Arial"/>
              </a:rPr>
              <a:t>LE</a:t>
            </a:r>
            <a:r>
              <a:rPr sz="2400" b="1" spc="-55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F4E79"/>
                </a:solidFill>
                <a:latin typeface="Arial"/>
                <a:cs typeface="Arial"/>
              </a:rPr>
              <a:t>DIAGNOSTIC</a:t>
            </a:r>
            <a:r>
              <a:rPr sz="2400" b="1" spc="-65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F4E79"/>
                </a:solidFill>
                <a:latin typeface="Arial"/>
                <a:cs typeface="Arial"/>
              </a:rPr>
              <a:t>D’UNE</a:t>
            </a:r>
            <a:r>
              <a:rPr sz="2400" b="1" spc="-55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F4E79"/>
                </a:solidFill>
                <a:latin typeface="Arial"/>
                <a:cs typeface="Arial"/>
              </a:rPr>
              <a:t>URGENCE</a:t>
            </a:r>
            <a:r>
              <a:rPr sz="2400" b="1" spc="-50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1F4E79"/>
                </a:solidFill>
                <a:latin typeface="Arial"/>
                <a:cs typeface="Arial"/>
              </a:rPr>
              <a:t>DEVANT</a:t>
            </a:r>
            <a:r>
              <a:rPr sz="2400" b="1" spc="-20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F4E79"/>
                </a:solidFill>
                <a:latin typeface="Arial"/>
                <a:cs typeface="Arial"/>
              </a:rPr>
              <a:t>DES</a:t>
            </a:r>
            <a:r>
              <a:rPr sz="2400" b="1" spc="-55" dirty="0">
                <a:solidFill>
                  <a:srgbClr val="1F4E79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1F4E79"/>
                </a:solidFill>
                <a:latin typeface="Arial"/>
                <a:cs typeface="Arial"/>
              </a:rPr>
              <a:t>CEPHALEES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1136980"/>
            <a:ext cx="11808461" cy="57881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>
              <a:lnSpc>
                <a:spcPts val="3354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-</a:t>
            </a:r>
            <a:r>
              <a:rPr sz="2800" b="1" i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Examen</a:t>
            </a:r>
            <a:r>
              <a:rPr sz="2800" b="1" i="1" u="heavy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i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clinique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spc="-5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ts val="3835"/>
              </a:lnSpc>
            </a:pPr>
            <a:r>
              <a:rPr sz="2800" b="1" dirty="0">
                <a:latin typeface="Calibri"/>
                <a:cs typeface="Calibri"/>
              </a:rPr>
              <a:t>à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3200" b="1" u="heavy" dirty="0">
                <a:solidFill>
                  <a:srgbClr val="538235"/>
                </a:solidFill>
                <a:uFill>
                  <a:solidFill>
                    <a:srgbClr val="538235"/>
                  </a:solidFill>
                </a:uFill>
                <a:latin typeface="Calibri"/>
                <a:cs typeface="Calibri"/>
              </a:rPr>
              <a:t>Examen</a:t>
            </a:r>
            <a:r>
              <a:rPr sz="3200" b="1" u="heavy" spc="-95" dirty="0">
                <a:solidFill>
                  <a:srgbClr val="538235"/>
                </a:solidFill>
                <a:uFill>
                  <a:solidFill>
                    <a:srgbClr val="538235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heavy" dirty="0">
                <a:solidFill>
                  <a:srgbClr val="538235"/>
                </a:solidFill>
                <a:uFill>
                  <a:solidFill>
                    <a:srgbClr val="538235"/>
                  </a:solidFill>
                </a:uFill>
                <a:latin typeface="Calibri"/>
                <a:cs typeface="Calibri"/>
              </a:rPr>
              <a:t>neurologique</a:t>
            </a:r>
            <a:r>
              <a:rPr sz="3200" b="1" spc="-110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800" b="1" spc="-50" dirty="0">
                <a:solidFill>
                  <a:srgbClr val="538235"/>
                </a:solidFill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927100" marR="2818130">
              <a:lnSpc>
                <a:spcPct val="100000"/>
              </a:lnSpc>
              <a:spcBef>
                <a:spcPts val="20"/>
              </a:spcBef>
            </a:pPr>
            <a:r>
              <a:rPr sz="2800" dirty="0">
                <a:latin typeface="Calibri"/>
                <a:cs typeface="Calibri"/>
              </a:rPr>
              <a:t>Signes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localisation </a:t>
            </a:r>
            <a:r>
              <a:rPr sz="2800" dirty="0" err="1">
                <a:latin typeface="Calibri"/>
                <a:cs typeface="Calibri"/>
              </a:rPr>
              <a:t>Signes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 err="1">
                <a:latin typeface="Calibri"/>
                <a:cs typeface="Calibri"/>
              </a:rPr>
              <a:t>méningés</a:t>
            </a:r>
            <a:r>
              <a:rPr lang="fr-FR" sz="2800" spc="-10" dirty="0">
                <a:latin typeface="Calibri"/>
                <a:cs typeface="Calibri"/>
              </a:rPr>
              <a:t>, Syndrome confusionnel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ts val="3825"/>
              </a:lnSpc>
            </a:pPr>
            <a:r>
              <a:rPr sz="3200" b="1" dirty="0">
                <a:latin typeface="Calibri"/>
                <a:cs typeface="Calibri"/>
              </a:rPr>
              <a:t>à</a:t>
            </a:r>
            <a:r>
              <a:rPr sz="3200" b="1" spc="-40" dirty="0">
                <a:latin typeface="Calibri"/>
                <a:cs typeface="Calibri"/>
              </a:rPr>
              <a:t> </a:t>
            </a:r>
            <a:r>
              <a:rPr sz="3200" b="1" u="heavy" dirty="0">
                <a:solidFill>
                  <a:srgbClr val="538235"/>
                </a:solidFill>
                <a:uFill>
                  <a:solidFill>
                    <a:srgbClr val="538235"/>
                  </a:solidFill>
                </a:uFill>
                <a:latin typeface="Calibri"/>
                <a:cs typeface="Calibri"/>
              </a:rPr>
              <a:t>Examen</a:t>
            </a:r>
            <a:r>
              <a:rPr sz="3200" b="1" u="heavy" spc="-60" dirty="0">
                <a:solidFill>
                  <a:srgbClr val="538235"/>
                </a:solidFill>
                <a:uFill>
                  <a:solidFill>
                    <a:srgbClr val="538235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heavy" dirty="0">
                <a:solidFill>
                  <a:srgbClr val="538235"/>
                </a:solidFill>
                <a:uFill>
                  <a:solidFill>
                    <a:srgbClr val="538235"/>
                  </a:solidFill>
                </a:uFill>
                <a:latin typeface="Calibri"/>
                <a:cs typeface="Calibri"/>
              </a:rPr>
              <a:t>du</a:t>
            </a:r>
            <a:r>
              <a:rPr sz="3200" b="1" u="heavy" spc="-50" dirty="0">
                <a:solidFill>
                  <a:srgbClr val="538235"/>
                </a:solidFill>
                <a:uFill>
                  <a:solidFill>
                    <a:srgbClr val="538235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heavy" dirty="0">
                <a:solidFill>
                  <a:srgbClr val="538235"/>
                </a:solidFill>
                <a:uFill>
                  <a:solidFill>
                    <a:srgbClr val="538235"/>
                  </a:solidFill>
                </a:uFill>
                <a:latin typeface="Calibri"/>
                <a:cs typeface="Calibri"/>
              </a:rPr>
              <a:t>segment</a:t>
            </a:r>
            <a:r>
              <a:rPr sz="3200" b="1" u="heavy" spc="-55" dirty="0">
                <a:solidFill>
                  <a:srgbClr val="538235"/>
                </a:solidFill>
                <a:uFill>
                  <a:solidFill>
                    <a:srgbClr val="538235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heavy" dirty="0">
                <a:solidFill>
                  <a:srgbClr val="538235"/>
                </a:solidFill>
                <a:uFill>
                  <a:solidFill>
                    <a:srgbClr val="538235"/>
                  </a:solidFill>
                </a:uFill>
                <a:latin typeface="Calibri"/>
                <a:cs typeface="Calibri"/>
              </a:rPr>
              <a:t>céphalique</a:t>
            </a:r>
            <a:r>
              <a:rPr sz="3200" b="1" spc="-70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3200" b="1" spc="-50" dirty="0">
                <a:solidFill>
                  <a:srgbClr val="538235"/>
                </a:solidFill>
                <a:latin typeface="Calibri"/>
                <a:cs typeface="Calibri"/>
              </a:rPr>
              <a:t>:</a:t>
            </a:r>
            <a:endParaRPr sz="3200" dirty="0">
              <a:latin typeface="Calibri"/>
              <a:cs typeface="Calibri"/>
            </a:endParaRPr>
          </a:p>
          <a:p>
            <a:pPr marL="927100" marR="394335">
              <a:lnSpc>
                <a:spcPct val="100000"/>
              </a:lnSpc>
              <a:spcBef>
                <a:spcPts val="15"/>
              </a:spcBef>
            </a:pPr>
            <a:r>
              <a:rPr sz="2800" dirty="0">
                <a:latin typeface="Calibri"/>
                <a:cs typeface="Calibri"/>
              </a:rPr>
              <a:t>Artères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temporales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faibles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 err="1">
                <a:latin typeface="Calibri"/>
                <a:cs typeface="Calibri"/>
              </a:rPr>
              <a:t>indurées</a:t>
            </a:r>
            <a:r>
              <a:rPr sz="2800" spc="-10" dirty="0">
                <a:latin typeface="Calibri"/>
                <a:cs typeface="Calibri"/>
              </a:rPr>
              <a:t> </a:t>
            </a:r>
            <a:endParaRPr lang="fr-FR" sz="2800" spc="-10" dirty="0">
              <a:latin typeface="Calibri"/>
              <a:cs typeface="Calibri"/>
            </a:endParaRPr>
          </a:p>
          <a:p>
            <a:pPr marL="927100" marR="394335">
              <a:lnSpc>
                <a:spcPct val="100000"/>
              </a:lnSpc>
              <a:spcBef>
                <a:spcPts val="15"/>
              </a:spcBef>
            </a:pPr>
            <a:r>
              <a:rPr sz="2800" dirty="0" err="1">
                <a:latin typeface="Calibri"/>
                <a:cs typeface="Calibri"/>
              </a:rPr>
              <a:t>Rougeur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oculaire</a:t>
            </a:r>
            <a:endParaRPr sz="2800" dirty="0">
              <a:latin typeface="Calibri"/>
              <a:cs typeface="Calibri"/>
            </a:endParaRPr>
          </a:p>
          <a:p>
            <a:pPr marL="927100" marR="5080" algn="just"/>
            <a:r>
              <a:rPr sz="2800" spc="-10" dirty="0">
                <a:latin typeface="Calibri"/>
                <a:cs typeface="Calibri"/>
              </a:rPr>
              <a:t>Auscultation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cervicale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 err="1">
                <a:latin typeface="Calibri"/>
                <a:cs typeface="Calibri"/>
              </a:rPr>
              <a:t>crânienne</a:t>
            </a:r>
            <a:r>
              <a:rPr lang="fr-FR" sz="2800" spc="-10" dirty="0">
                <a:latin typeface="Calibri"/>
                <a:cs typeface="Calibri"/>
              </a:rPr>
              <a:t>: 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lang="fr-FR" sz="2800" dirty="0">
                <a:latin typeface="Calibri"/>
                <a:cs typeface="Calibri"/>
              </a:rPr>
              <a:t>Souffle</a:t>
            </a:r>
          </a:p>
          <a:p>
            <a:pPr marL="927100" marR="5080">
              <a:lnSpc>
                <a:spcPct val="100000"/>
              </a:lnSpc>
            </a:pPr>
            <a:r>
              <a:rPr sz="2800" dirty="0" err="1">
                <a:latin typeface="Calibri"/>
                <a:cs typeface="Calibri"/>
              </a:rPr>
              <a:t>Douleurs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sinusiennes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et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10" dirty="0" err="1">
                <a:latin typeface="Calibri"/>
                <a:cs typeface="Calibri"/>
              </a:rPr>
              <a:t>dentaires</a:t>
            </a:r>
            <a:r>
              <a:rPr sz="2800" spc="-10" dirty="0">
                <a:latin typeface="Calibri"/>
                <a:cs typeface="Calibri"/>
              </a:rPr>
              <a:t> </a:t>
            </a:r>
            <a:endParaRPr lang="fr-FR" sz="2800" spc="-10" dirty="0">
              <a:latin typeface="Calibri"/>
              <a:cs typeface="Calibri"/>
            </a:endParaRPr>
          </a:p>
          <a:p>
            <a:pPr marL="927100" marR="5080">
              <a:lnSpc>
                <a:spcPct val="100000"/>
              </a:lnSpc>
            </a:pPr>
            <a:r>
              <a:rPr sz="2800" dirty="0" err="1">
                <a:latin typeface="Calibri"/>
                <a:cs typeface="Calibri"/>
              </a:rPr>
              <a:t>Douleurs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palpation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du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rachis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cervical</a:t>
            </a:r>
            <a:endParaRPr lang="fr-FR" sz="2800" spc="-10" dirty="0">
              <a:latin typeface="Calibri"/>
              <a:cs typeface="Calibri"/>
            </a:endParaRPr>
          </a:p>
          <a:p>
            <a:pPr marL="12700">
              <a:lnSpc>
                <a:spcPts val="3825"/>
              </a:lnSpc>
            </a:pPr>
            <a:r>
              <a:rPr sz="2800" dirty="0">
                <a:latin typeface="Calibri"/>
                <a:cs typeface="Calibri"/>
              </a:rPr>
              <a:t>à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3200" b="1" u="heavy" dirty="0">
                <a:solidFill>
                  <a:srgbClr val="538235"/>
                </a:solidFill>
                <a:uFill>
                  <a:solidFill>
                    <a:srgbClr val="538235"/>
                  </a:solidFill>
                </a:uFill>
                <a:latin typeface="Calibri"/>
                <a:cs typeface="Calibri"/>
              </a:rPr>
              <a:t>Examen</a:t>
            </a:r>
            <a:r>
              <a:rPr sz="3200" b="1" u="heavy" spc="-100" dirty="0">
                <a:solidFill>
                  <a:srgbClr val="538235"/>
                </a:solidFill>
                <a:uFill>
                  <a:solidFill>
                    <a:srgbClr val="538235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heavy" dirty="0">
                <a:solidFill>
                  <a:srgbClr val="538235"/>
                </a:solidFill>
                <a:uFill>
                  <a:solidFill>
                    <a:srgbClr val="538235"/>
                  </a:solidFill>
                </a:uFill>
                <a:latin typeface="Calibri"/>
                <a:cs typeface="Calibri"/>
              </a:rPr>
              <a:t>général</a:t>
            </a:r>
            <a:r>
              <a:rPr sz="3200" b="1" spc="-90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3200" b="1" spc="-50" dirty="0">
                <a:solidFill>
                  <a:srgbClr val="538235"/>
                </a:solidFill>
                <a:latin typeface="Calibri"/>
                <a:cs typeface="Calibri"/>
              </a:rPr>
              <a:t>:</a:t>
            </a:r>
            <a:endParaRPr sz="320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15"/>
              </a:spcBef>
            </a:pPr>
            <a:r>
              <a:rPr sz="2800" spc="-10" dirty="0">
                <a:latin typeface="Calibri"/>
                <a:cs typeface="Calibri"/>
              </a:rPr>
              <a:t>Fièvre</a:t>
            </a:r>
            <a:endParaRPr sz="280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Chiffres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tensionnels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élevés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739" y="549097"/>
            <a:ext cx="298196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u="heavy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Drapeaux</a:t>
            </a:r>
            <a:r>
              <a:rPr sz="3200" u="heavy" spc="-16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 </a:t>
            </a:r>
            <a:r>
              <a:rPr sz="3200" u="heavy" spc="-1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rouges</a:t>
            </a:r>
            <a:r>
              <a:rPr sz="3200" spc="-10" dirty="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807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100"/>
              </a:spcBef>
            </a:pPr>
            <a:r>
              <a:rPr sz="4800" spc="-10" dirty="0">
                <a:solidFill>
                  <a:srgbClr val="538235"/>
                </a:solidFill>
              </a:rPr>
              <a:t>Migraine</a:t>
            </a:r>
            <a:endParaRPr sz="4800" dirty="0"/>
          </a:p>
        </p:txBody>
      </p:sp>
      <p:sp>
        <p:nvSpPr>
          <p:cNvPr id="3" name="object 3"/>
          <p:cNvSpPr txBox="1"/>
          <p:nvPr/>
        </p:nvSpPr>
        <p:spPr>
          <a:xfrm>
            <a:off x="762000" y="1371600"/>
            <a:ext cx="9533890" cy="50094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Char char="•"/>
              <a:tabLst>
                <a:tab pos="240029" algn="l"/>
              </a:tabLst>
            </a:pPr>
            <a:r>
              <a:rPr lang="fr-FR" sz="2800" dirty="0">
                <a:latin typeface="Arial MT"/>
              </a:rPr>
              <a:t>Cause la plus fréquente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Char char="•"/>
              <a:tabLst>
                <a:tab pos="240029" algn="l"/>
              </a:tabLst>
            </a:pPr>
            <a:r>
              <a:rPr sz="2800" spc="-10" dirty="0">
                <a:latin typeface="Arial MT"/>
                <a:cs typeface="Arial MT"/>
              </a:rPr>
              <a:t>Femme</a:t>
            </a:r>
            <a:endParaRPr sz="2800" dirty="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2345"/>
              </a:spcBef>
              <a:buChar char="•"/>
              <a:tabLst>
                <a:tab pos="240665" algn="l"/>
              </a:tabLst>
            </a:pPr>
            <a:r>
              <a:rPr sz="2800" dirty="0">
                <a:latin typeface="Arial MT"/>
                <a:cs typeface="Arial MT"/>
              </a:rPr>
              <a:t>Avant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40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ans</a:t>
            </a:r>
            <a:endParaRPr sz="2800" dirty="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350"/>
              </a:spcBef>
              <a:buChar char="•"/>
              <a:tabLst>
                <a:tab pos="240029" algn="l"/>
              </a:tabLst>
            </a:pPr>
            <a:r>
              <a:rPr sz="2800" dirty="0">
                <a:latin typeface="Arial MT"/>
                <a:cs typeface="Arial MT"/>
              </a:rPr>
              <a:t>Interrogatoire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et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la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normalité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l'examen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clinique</a:t>
            </a:r>
            <a:endParaRPr sz="2800" dirty="0">
              <a:latin typeface="Arial MT"/>
              <a:cs typeface="Arial MT"/>
            </a:endParaRPr>
          </a:p>
          <a:p>
            <a:pPr marL="240029" marR="5080" indent="-227965">
              <a:lnSpc>
                <a:spcPct val="14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Aucune</a:t>
            </a:r>
            <a:r>
              <a:rPr sz="2800" b="1" spc="-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investigation</a:t>
            </a:r>
            <a:r>
              <a:rPr sz="2800" b="1" spc="-10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Arial"/>
                <a:cs typeface="Arial"/>
              </a:rPr>
              <a:t>complémentaire</a:t>
            </a:r>
            <a:r>
              <a:rPr sz="2800" b="1" spc="-9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n'est</a:t>
            </a:r>
            <a:r>
              <a:rPr sz="2800" b="1" spc="-1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Arial"/>
                <a:cs typeface="Arial"/>
              </a:rPr>
              <a:t>nécessaire 	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lorsque</a:t>
            </a:r>
            <a:r>
              <a:rPr sz="2800" b="1" spc="-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la</a:t>
            </a:r>
            <a:r>
              <a:rPr sz="2800" b="1" spc="-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sémiologie</a:t>
            </a:r>
            <a:r>
              <a:rPr sz="2800" b="1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est</a:t>
            </a:r>
            <a:r>
              <a:rPr sz="2800" b="1" spc="-8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Arial"/>
                <a:cs typeface="Arial"/>
              </a:rPr>
              <a:t>typique</a:t>
            </a:r>
            <a:endParaRPr sz="2800" dirty="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234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1" dirty="0">
                <a:latin typeface="Arial"/>
                <a:cs typeface="Arial"/>
              </a:rPr>
              <a:t>Critères</a:t>
            </a:r>
            <a:r>
              <a:rPr sz="2800" b="1" spc="-114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diagnostiques</a:t>
            </a:r>
            <a:r>
              <a:rPr sz="2800" b="1" spc="-8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selon</a:t>
            </a:r>
            <a:r>
              <a:rPr sz="2800" b="1" spc="-114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la</a:t>
            </a:r>
            <a:r>
              <a:rPr sz="2800" b="1" spc="-13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classification</a:t>
            </a:r>
            <a:r>
              <a:rPr sz="2800" b="1" spc="-110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de</a:t>
            </a:r>
            <a:endParaRPr sz="2800" dirty="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1345"/>
              </a:spcBef>
            </a:pPr>
            <a:r>
              <a:rPr sz="2800" b="1" i="1" spc="-10" dirty="0">
                <a:latin typeface="Arial"/>
                <a:cs typeface="Arial"/>
              </a:rPr>
              <a:t>l’International</a:t>
            </a:r>
            <a:r>
              <a:rPr sz="2800" b="1" i="1" spc="-125" dirty="0">
                <a:latin typeface="Arial"/>
                <a:cs typeface="Arial"/>
              </a:rPr>
              <a:t> </a:t>
            </a:r>
            <a:r>
              <a:rPr sz="2800" b="1" i="1" dirty="0">
                <a:latin typeface="Arial"/>
                <a:cs typeface="Arial"/>
              </a:rPr>
              <a:t>Headache</a:t>
            </a:r>
            <a:r>
              <a:rPr sz="2800" b="1" i="1" spc="-105" dirty="0">
                <a:latin typeface="Arial"/>
                <a:cs typeface="Arial"/>
              </a:rPr>
              <a:t> </a:t>
            </a:r>
            <a:r>
              <a:rPr sz="2800" b="1" i="1" dirty="0">
                <a:latin typeface="Arial"/>
                <a:cs typeface="Arial"/>
              </a:rPr>
              <a:t>Society</a:t>
            </a:r>
            <a:r>
              <a:rPr sz="2800" b="1" i="1" spc="-12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ICHD</a:t>
            </a:r>
            <a:r>
              <a:rPr sz="2800" b="1" spc="-125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3+++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40" y="-228600"/>
            <a:ext cx="12034520" cy="1300480"/>
          </a:xfrm>
          <a:prstGeom prst="rect">
            <a:avLst/>
          </a:prstGeom>
        </p:spPr>
        <p:txBody>
          <a:bodyPr vert="horz" wrap="square" lIns="0" tIns="148081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538235"/>
                </a:solidFill>
              </a:rPr>
              <a:t>Migraine</a:t>
            </a:r>
            <a:r>
              <a:rPr sz="4800" spc="-204" dirty="0">
                <a:solidFill>
                  <a:srgbClr val="538235"/>
                </a:solidFill>
              </a:rPr>
              <a:t> </a:t>
            </a:r>
            <a:r>
              <a:rPr sz="4800" dirty="0">
                <a:solidFill>
                  <a:srgbClr val="538235"/>
                </a:solidFill>
              </a:rPr>
              <a:t>avec</a:t>
            </a:r>
            <a:r>
              <a:rPr sz="4800" spc="-204" dirty="0">
                <a:solidFill>
                  <a:srgbClr val="538235"/>
                </a:solidFill>
              </a:rPr>
              <a:t> </a:t>
            </a:r>
            <a:r>
              <a:rPr sz="4800" spc="-20" dirty="0">
                <a:solidFill>
                  <a:srgbClr val="538235"/>
                </a:solidFill>
              </a:rPr>
              <a:t>aura</a:t>
            </a:r>
            <a:endParaRPr sz="4800" dirty="0"/>
          </a:p>
        </p:txBody>
      </p:sp>
      <p:sp>
        <p:nvSpPr>
          <p:cNvPr id="3" name="object 3"/>
          <p:cNvSpPr txBox="1"/>
          <p:nvPr/>
        </p:nvSpPr>
        <p:spPr>
          <a:xfrm>
            <a:off x="228600" y="857667"/>
            <a:ext cx="11612245" cy="57778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i="1" dirty="0">
                <a:latin typeface="Arial"/>
                <a:cs typeface="Arial"/>
              </a:rPr>
              <a:t>Signes</a:t>
            </a:r>
            <a:r>
              <a:rPr sz="2400" i="1" spc="-8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neurologiques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Arial"/>
                <a:cs typeface="Arial"/>
              </a:rPr>
              <a:t>focalisés</a:t>
            </a:r>
            <a:r>
              <a:rPr sz="2400" b="1" i="1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(le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plus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souvent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«</a:t>
            </a:r>
            <a:r>
              <a:rPr sz="2400" b="1" spc="-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positifs</a:t>
            </a:r>
            <a:r>
              <a:rPr sz="2400" b="1" spc="-7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C00000"/>
                </a:solidFill>
                <a:latin typeface="Arial"/>
                <a:cs typeface="Arial"/>
              </a:rPr>
              <a:t>»</a:t>
            </a:r>
            <a:r>
              <a:rPr sz="2400" spc="-25" dirty="0">
                <a:latin typeface="Arial MT"/>
                <a:cs typeface="Arial MT"/>
              </a:rPr>
              <a:t>)</a:t>
            </a:r>
            <a:endParaRPr sz="2400" dirty="0">
              <a:latin typeface="Arial MT"/>
              <a:cs typeface="Arial MT"/>
            </a:endParaRPr>
          </a:p>
          <a:p>
            <a:pPr marL="240029" indent="-227329">
              <a:spcBef>
                <a:spcPts val="2675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Critères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l’aura+++</a:t>
            </a:r>
            <a:endParaRPr sz="2400" dirty="0">
              <a:latin typeface="Arial MT"/>
              <a:cs typeface="Arial MT"/>
            </a:endParaRPr>
          </a:p>
          <a:p>
            <a:pPr marL="240029" indent="-227329">
              <a:spcBef>
                <a:spcPts val="2675"/>
              </a:spcBef>
              <a:buFont typeface="Arial MT"/>
              <a:buChar char="•"/>
              <a:tabLst>
                <a:tab pos="240029" algn="l"/>
              </a:tabLst>
            </a:pPr>
            <a:r>
              <a:rPr lang="fr-FR" sz="2400" b="1" dirty="0">
                <a:solidFill>
                  <a:srgbClr val="FF0000"/>
                </a:solidFill>
                <a:latin typeface="Arial MT"/>
              </a:rPr>
              <a:t>Précédant ou accompagnant </a:t>
            </a:r>
            <a:r>
              <a:rPr lang="fr-FR" sz="2400" dirty="0">
                <a:latin typeface="Arial MT"/>
              </a:rPr>
              <a:t>la céphalée migraineuse et classiquement controlatérale </a:t>
            </a:r>
          </a:p>
          <a:p>
            <a:pPr marL="240029" indent="-227329">
              <a:spcBef>
                <a:spcPts val="2690"/>
              </a:spcBef>
              <a:buFont typeface="Arial MT"/>
              <a:buChar char="•"/>
              <a:tabLst>
                <a:tab pos="240029" algn="l"/>
              </a:tabLst>
            </a:pPr>
            <a:r>
              <a:rPr lang="fr-FR" sz="2400" dirty="0">
                <a:latin typeface="Arial MT"/>
              </a:rPr>
              <a:t>Progressive ≥ 5 minutes, régression complète en moins </a:t>
            </a:r>
            <a:r>
              <a:rPr lang="fr-FR" sz="2400" b="1" dirty="0">
                <a:latin typeface="Arial MT"/>
              </a:rPr>
              <a:t>d'une heure </a:t>
            </a:r>
            <a:r>
              <a:rPr lang="fr-FR" sz="2400" dirty="0">
                <a:latin typeface="Arial MT"/>
              </a:rPr>
              <a:t>avant ou parallèlement à la céphalée</a:t>
            </a:r>
          </a:p>
          <a:p>
            <a:pPr marL="240029" indent="-227329">
              <a:spcBef>
                <a:spcPts val="269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i="1" dirty="0" err="1">
                <a:latin typeface="Arial"/>
                <a:cs typeface="Arial"/>
              </a:rPr>
              <a:t>Scotome</a:t>
            </a:r>
            <a:r>
              <a:rPr sz="2400" i="1" spc="-13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scintillant</a:t>
            </a:r>
            <a:r>
              <a:rPr sz="2400" i="1" spc="-16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est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le</a:t>
            </a:r>
            <a:r>
              <a:rPr sz="2400" b="1" spc="-1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plus</a:t>
            </a:r>
            <a:r>
              <a:rPr sz="2400" b="1" spc="-1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fréquent</a:t>
            </a:r>
            <a:r>
              <a:rPr sz="2400" b="1" spc="-11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des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symptômes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visuels</a:t>
            </a:r>
            <a:endParaRPr sz="2400" dirty="0">
              <a:latin typeface="Arial MT"/>
              <a:cs typeface="Arial MT"/>
            </a:endParaRPr>
          </a:p>
          <a:p>
            <a:pPr marL="239395" marR="615315" indent="-227329">
              <a:spcBef>
                <a:spcPts val="994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auras</a:t>
            </a:r>
            <a:r>
              <a:rPr sz="2400" b="1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C00000"/>
                </a:solidFill>
                <a:latin typeface="Arial"/>
                <a:cs typeface="Arial"/>
              </a:rPr>
              <a:t>atypiques</a:t>
            </a:r>
            <a:r>
              <a:rPr lang="fr-FR" sz="2400" b="1">
                <a:solidFill>
                  <a:srgbClr val="C00000"/>
                </a:solidFill>
                <a:latin typeface="Arial"/>
                <a:cs typeface="Arial"/>
              </a:rPr>
              <a:t>+++</a:t>
            </a:r>
            <a:r>
              <a:rPr sz="2400" b="1" spc="-3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doivent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conduire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à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examens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complémentaires 	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IRM</a:t>
            </a:r>
            <a:r>
              <a:rPr sz="2400" b="1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Arial"/>
                <a:cs typeface="Arial"/>
              </a:rPr>
              <a:t>cérébrale</a:t>
            </a:r>
            <a:r>
              <a:rPr sz="2400" spc="-10" dirty="0">
                <a:latin typeface="Arial MT"/>
                <a:cs typeface="Arial MT"/>
              </a:rPr>
              <a:t>)</a:t>
            </a:r>
            <a:endParaRPr sz="2400" dirty="0">
              <a:latin typeface="Arial MT"/>
              <a:cs typeface="Arial MT"/>
            </a:endParaRPr>
          </a:p>
          <a:p>
            <a:pPr marL="88900" marR="5080" indent="-76200">
              <a:spcBef>
                <a:spcPts val="990"/>
              </a:spcBef>
              <a:buFont typeface="Arial MT"/>
              <a:buChar char="•"/>
              <a:tabLst>
                <a:tab pos="88900" algn="l"/>
                <a:tab pos="240029" algn="l"/>
                <a:tab pos="2161540" algn="l"/>
                <a:tab pos="3412490" algn="l"/>
                <a:tab pos="4621530" algn="l"/>
                <a:tab pos="5197475" algn="l"/>
                <a:tab pos="7042150" algn="l"/>
                <a:tab pos="9913620" algn="l"/>
                <a:tab pos="11298555" algn="l"/>
              </a:tabLst>
            </a:pPr>
            <a:r>
              <a:rPr sz="2400" b="1" spc="-10" dirty="0">
                <a:latin typeface="Arial"/>
                <a:cs typeface="Arial"/>
              </a:rPr>
              <a:t>Migraine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2400" b="1" spc="-20" dirty="0">
                <a:latin typeface="Arial"/>
                <a:cs typeface="Arial"/>
              </a:rPr>
              <a:t>avec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2400" b="1" spc="-20" dirty="0">
                <a:latin typeface="Arial"/>
                <a:cs typeface="Arial"/>
              </a:rPr>
              <a:t>aura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2400" b="1" spc="-50" dirty="0">
                <a:latin typeface="Arial"/>
                <a:cs typeface="Arial"/>
              </a:rPr>
              <a:t>: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2400" b="1" spc="-30" dirty="0">
                <a:latin typeface="Arial"/>
                <a:cs typeface="Arial"/>
              </a:rPr>
              <a:t>C</a:t>
            </a:r>
            <a:r>
              <a:rPr sz="2400" b="1" spc="-45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ritères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2400" b="1" spc="-10" dirty="0">
                <a:latin typeface="Arial"/>
                <a:cs typeface="Arial"/>
              </a:rPr>
              <a:t>diagnostiques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2400" b="1" spc="-10" dirty="0">
                <a:latin typeface="Arial"/>
                <a:cs typeface="Arial"/>
              </a:rPr>
              <a:t>selon</a:t>
            </a:r>
            <a:r>
              <a:rPr sz="2400" b="1" dirty="0">
                <a:latin typeface="Arial"/>
                <a:cs typeface="Arial"/>
              </a:rPr>
              <a:t>	</a:t>
            </a:r>
            <a:r>
              <a:rPr sz="2400" b="1" spc="-25" dirty="0">
                <a:latin typeface="Arial"/>
                <a:cs typeface="Arial"/>
              </a:rPr>
              <a:t>la </a:t>
            </a:r>
            <a:r>
              <a:rPr sz="2400" b="1" dirty="0">
                <a:latin typeface="Arial"/>
                <a:cs typeface="Arial"/>
              </a:rPr>
              <a:t>classification</a:t>
            </a:r>
            <a:r>
              <a:rPr sz="2400" b="1" spc="2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</a:t>
            </a:r>
            <a:r>
              <a:rPr sz="2400" b="1" spc="-114" dirty="0">
                <a:latin typeface="Arial"/>
                <a:cs typeface="Arial"/>
              </a:rPr>
              <a:t> </a:t>
            </a:r>
            <a:r>
              <a:rPr sz="2400" b="1" i="1" spc="-10" dirty="0">
                <a:latin typeface="Arial"/>
                <a:cs typeface="Arial"/>
              </a:rPr>
              <a:t>l’International</a:t>
            </a:r>
            <a:r>
              <a:rPr sz="2400" b="1" i="1" spc="-100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Headache</a:t>
            </a:r>
            <a:r>
              <a:rPr sz="2400" b="1" i="1" spc="-85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Society</a:t>
            </a:r>
            <a:r>
              <a:rPr sz="2400" b="1" i="1" spc="-1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ICHD</a:t>
            </a:r>
            <a:r>
              <a:rPr sz="2400" b="1" spc="-1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3</a:t>
            </a:r>
            <a:r>
              <a:rPr sz="2800" b="1" spc="-13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(2018)+++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0947" y="623392"/>
            <a:ext cx="761682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Algie</a:t>
            </a:r>
            <a:r>
              <a:rPr sz="4800" spc="-140" dirty="0"/>
              <a:t> </a:t>
            </a:r>
            <a:r>
              <a:rPr sz="4800" dirty="0"/>
              <a:t>vasculaire</a:t>
            </a:r>
            <a:r>
              <a:rPr sz="4800" spc="-105" dirty="0"/>
              <a:t> </a:t>
            </a:r>
            <a:r>
              <a:rPr sz="4800" dirty="0"/>
              <a:t>de</a:t>
            </a:r>
            <a:r>
              <a:rPr sz="4800" spc="-130" dirty="0"/>
              <a:t> </a:t>
            </a:r>
            <a:r>
              <a:rPr sz="4800" dirty="0"/>
              <a:t>la</a:t>
            </a:r>
            <a:r>
              <a:rPr sz="4800" spc="-145" dirty="0"/>
              <a:t> </a:t>
            </a:r>
            <a:r>
              <a:rPr sz="4800" spc="-20" dirty="0"/>
              <a:t>face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559409" y="2056841"/>
            <a:ext cx="11202035" cy="3867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Char char="•"/>
              <a:tabLst>
                <a:tab pos="469265" algn="l"/>
              </a:tabLst>
            </a:pPr>
            <a:r>
              <a:rPr sz="2800" dirty="0">
                <a:latin typeface="Arial MT"/>
                <a:cs typeface="Arial MT"/>
              </a:rPr>
              <a:t>Diagnostic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repose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sur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l'interrogatoire</a:t>
            </a:r>
            <a:endParaRPr sz="2800">
              <a:latin typeface="Arial MT"/>
              <a:cs typeface="Arial MT"/>
            </a:endParaRPr>
          </a:p>
          <a:p>
            <a:pPr marL="467995" marR="5080" indent="-455295" algn="just">
              <a:lnSpc>
                <a:spcPct val="200000"/>
              </a:lnSpc>
              <a:spcBef>
                <a:spcPts val="5"/>
              </a:spcBef>
              <a:buFont typeface="Arial MT"/>
              <a:buChar char="•"/>
              <a:tabLst>
                <a:tab pos="469900" algn="l"/>
              </a:tabLst>
            </a:pPr>
            <a:r>
              <a:rPr sz="2800" b="1" dirty="0">
                <a:latin typeface="Arial"/>
                <a:cs typeface="Arial"/>
              </a:rPr>
              <a:t>Souvent</a:t>
            </a:r>
            <a:r>
              <a:rPr sz="2800" b="1" spc="39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nécessaire</a:t>
            </a:r>
            <a:r>
              <a:rPr sz="2800" b="1" spc="38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de</a:t>
            </a:r>
            <a:r>
              <a:rPr sz="2800" spc="3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réaliser</a:t>
            </a:r>
            <a:r>
              <a:rPr sz="2800" spc="380" dirty="0">
                <a:latin typeface="Arial MT"/>
                <a:cs typeface="Arial MT"/>
              </a:rPr>
              <a:t> </a:t>
            </a:r>
            <a:r>
              <a:rPr sz="2800" b="1" dirty="0">
                <a:latin typeface="Arial"/>
                <a:cs typeface="Arial"/>
              </a:rPr>
              <a:t>une</a:t>
            </a:r>
            <a:r>
              <a:rPr sz="2800" b="1" spc="38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imagerie</a:t>
            </a:r>
            <a:r>
              <a:rPr sz="2800" b="1" spc="38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devant</a:t>
            </a:r>
            <a:r>
              <a:rPr sz="2800" spc="3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tout</a:t>
            </a:r>
            <a:r>
              <a:rPr sz="2800" spc="3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doute 	</a:t>
            </a:r>
            <a:r>
              <a:rPr sz="2800" dirty="0">
                <a:latin typeface="Arial MT"/>
                <a:cs typeface="Arial MT"/>
              </a:rPr>
              <a:t>diagnostic</a:t>
            </a:r>
            <a:r>
              <a:rPr sz="2800" spc="27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pour</a:t>
            </a:r>
            <a:r>
              <a:rPr sz="2800" spc="254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éliminer</a:t>
            </a:r>
            <a:r>
              <a:rPr sz="2800" spc="26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une</a:t>
            </a:r>
            <a:r>
              <a:rPr sz="2800" spc="26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autre</a:t>
            </a:r>
            <a:r>
              <a:rPr sz="2800" spc="27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affection,</a:t>
            </a:r>
            <a:r>
              <a:rPr sz="2800" spc="26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notamment</a:t>
            </a:r>
            <a:r>
              <a:rPr sz="2800" spc="270" dirty="0">
                <a:latin typeface="Arial MT"/>
                <a:cs typeface="Arial MT"/>
              </a:rPr>
              <a:t>  </a:t>
            </a:r>
            <a:r>
              <a:rPr sz="2800" spc="-25" dirty="0">
                <a:latin typeface="Arial MT"/>
                <a:cs typeface="Arial MT"/>
              </a:rPr>
              <a:t>une 	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dissection</a:t>
            </a:r>
            <a:r>
              <a:rPr sz="2800" b="1" spc="60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carotide</a:t>
            </a:r>
            <a:r>
              <a:rPr sz="2800" b="1" spc="60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(en</a:t>
            </a:r>
            <a:r>
              <a:rPr sz="2800" spc="5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cas</a:t>
            </a:r>
            <a:r>
              <a:rPr sz="2800" spc="5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</a:t>
            </a:r>
            <a:r>
              <a:rPr sz="2800" spc="5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syndrome</a:t>
            </a:r>
            <a:r>
              <a:rPr sz="2800" spc="6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</a:t>
            </a:r>
            <a:r>
              <a:rPr sz="2800" spc="595" dirty="0">
                <a:latin typeface="Arial MT"/>
                <a:cs typeface="Arial MT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Claude</a:t>
            </a:r>
            <a:r>
              <a:rPr sz="2800" b="1" spc="59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Arial"/>
                <a:cs typeface="Arial"/>
              </a:rPr>
              <a:t>Bernard- 	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Horner</a:t>
            </a:r>
            <a:r>
              <a:rPr sz="2800" b="1" spc="-10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Arial"/>
                <a:cs typeface="Arial"/>
              </a:rPr>
              <a:t>douloureux</a:t>
            </a:r>
            <a:r>
              <a:rPr sz="2800" spc="-10" dirty="0">
                <a:latin typeface="Arial MT"/>
                <a:cs typeface="Arial MT"/>
              </a:rPr>
              <a:t>)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776" y="124714"/>
            <a:ext cx="76180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Algie</a:t>
            </a:r>
            <a:r>
              <a:rPr sz="4800" spc="-135" dirty="0"/>
              <a:t> </a:t>
            </a:r>
            <a:r>
              <a:rPr sz="4800" dirty="0"/>
              <a:t>vasculaire</a:t>
            </a:r>
            <a:r>
              <a:rPr sz="4800" spc="-90" dirty="0"/>
              <a:t> </a:t>
            </a:r>
            <a:r>
              <a:rPr sz="4800" dirty="0"/>
              <a:t>de</a:t>
            </a:r>
            <a:r>
              <a:rPr sz="4800" spc="-130" dirty="0"/>
              <a:t> </a:t>
            </a:r>
            <a:r>
              <a:rPr sz="4800" dirty="0"/>
              <a:t>la</a:t>
            </a:r>
            <a:r>
              <a:rPr sz="4800" spc="-140" dirty="0"/>
              <a:t> </a:t>
            </a:r>
            <a:r>
              <a:rPr sz="4800" spc="-20" dirty="0"/>
              <a:t>face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37691" y="1137772"/>
            <a:ext cx="10603865" cy="5513070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sz="2400" b="1" dirty="0">
                <a:solidFill>
                  <a:srgbClr val="7E5F00"/>
                </a:solidFill>
                <a:latin typeface="Arial"/>
                <a:cs typeface="Arial"/>
              </a:rPr>
              <a:t>Homme</a:t>
            </a:r>
            <a:r>
              <a:rPr sz="2400" b="1" spc="-35" dirty="0">
                <a:solidFill>
                  <a:srgbClr val="7E5F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7E5F00"/>
                </a:solidFill>
                <a:latin typeface="Arial"/>
                <a:cs typeface="Arial"/>
              </a:rPr>
              <a:t>jeune</a:t>
            </a:r>
            <a:r>
              <a:rPr sz="2400" b="1" spc="-55" dirty="0">
                <a:solidFill>
                  <a:srgbClr val="7E5F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7E5F00"/>
                </a:solidFill>
                <a:latin typeface="Arial"/>
                <a:cs typeface="Arial"/>
              </a:rPr>
              <a:t>(20</a:t>
            </a:r>
            <a:r>
              <a:rPr sz="2400" b="1" spc="-50" dirty="0">
                <a:solidFill>
                  <a:srgbClr val="7E5F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7E5F00"/>
                </a:solidFill>
                <a:latin typeface="Arial"/>
                <a:cs typeface="Arial"/>
              </a:rPr>
              <a:t>à</a:t>
            </a:r>
            <a:r>
              <a:rPr sz="2400" b="1" spc="-40" dirty="0">
                <a:solidFill>
                  <a:srgbClr val="7E5F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7E5F00"/>
                </a:solidFill>
                <a:latin typeface="Arial"/>
                <a:cs typeface="Arial"/>
              </a:rPr>
              <a:t>40</a:t>
            </a:r>
            <a:r>
              <a:rPr sz="2400" b="1" spc="-40" dirty="0">
                <a:solidFill>
                  <a:srgbClr val="7E5F00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7E5F00"/>
                </a:solidFill>
                <a:latin typeface="Arial"/>
                <a:cs typeface="Arial"/>
              </a:rPr>
              <a:t>ans)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Arial MT"/>
                <a:cs typeface="Arial MT"/>
              </a:rPr>
              <a:t>Crises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douloureuses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stéréotypées,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parfois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déclenchées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prise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d'alcool.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Douleur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:</a:t>
            </a:r>
            <a:endParaRPr sz="2400" dirty="0">
              <a:latin typeface="Arial MT"/>
              <a:cs typeface="Arial MT"/>
            </a:endParaRPr>
          </a:p>
          <a:p>
            <a:pPr marL="12700" marR="5734050">
              <a:lnSpc>
                <a:spcPct val="150000"/>
              </a:lnSpc>
            </a:pPr>
            <a:r>
              <a:rPr sz="2400" dirty="0">
                <a:latin typeface="Arial MT"/>
                <a:cs typeface="Arial MT"/>
              </a:rPr>
              <a:t>maximale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en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quelques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minutes </a:t>
            </a:r>
            <a:r>
              <a:rPr sz="2400" dirty="0">
                <a:latin typeface="Arial MT"/>
                <a:cs typeface="Arial MT"/>
              </a:rPr>
              <a:t>localisation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b="1" i="1" dirty="0">
                <a:latin typeface="Arial"/>
                <a:cs typeface="Arial"/>
              </a:rPr>
              <a:t>strictement</a:t>
            </a:r>
            <a:r>
              <a:rPr sz="2400" b="1" i="1" spc="-150" dirty="0">
                <a:latin typeface="Arial"/>
                <a:cs typeface="Arial"/>
              </a:rPr>
              <a:t> </a:t>
            </a:r>
            <a:r>
              <a:rPr sz="2400" b="1" i="1" spc="-10" dirty="0">
                <a:latin typeface="Arial"/>
                <a:cs typeface="Arial"/>
              </a:rPr>
              <a:t>unilatérale </a:t>
            </a:r>
            <a:r>
              <a:rPr sz="2400" b="1" spc="-10" dirty="0">
                <a:latin typeface="Arial"/>
                <a:cs typeface="Arial"/>
              </a:rPr>
              <a:t>périorbitaires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Arial MT"/>
                <a:cs typeface="Arial MT"/>
              </a:rPr>
              <a:t>durant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b="1" i="1" dirty="0">
                <a:latin typeface="Arial"/>
                <a:cs typeface="Arial"/>
              </a:rPr>
              <a:t>15</a:t>
            </a:r>
            <a:r>
              <a:rPr sz="2400" b="1" i="1" spc="-40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à</a:t>
            </a:r>
            <a:r>
              <a:rPr sz="2400" b="1" i="1" spc="-30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180</a:t>
            </a:r>
            <a:r>
              <a:rPr sz="2400" b="1" i="1" spc="-30" dirty="0">
                <a:latin typeface="Arial"/>
                <a:cs typeface="Arial"/>
              </a:rPr>
              <a:t> </a:t>
            </a:r>
            <a:r>
              <a:rPr sz="2400" b="1" i="1" spc="-10" dirty="0">
                <a:latin typeface="Arial"/>
                <a:cs typeface="Arial"/>
              </a:rPr>
              <a:t>minutes</a:t>
            </a:r>
            <a:endParaRPr sz="2400" dirty="0">
              <a:latin typeface="Arial"/>
              <a:cs typeface="Arial"/>
            </a:endParaRPr>
          </a:p>
          <a:p>
            <a:pPr marL="12700" marR="5080">
              <a:lnSpc>
                <a:spcPct val="150000"/>
              </a:lnSpc>
            </a:pPr>
            <a:r>
              <a:rPr sz="2400" b="1" i="1" dirty="0">
                <a:latin typeface="Arial"/>
                <a:cs typeface="Arial"/>
              </a:rPr>
              <a:t>Manifestations</a:t>
            </a:r>
            <a:r>
              <a:rPr sz="2400" b="1" i="1" spc="-85" dirty="0">
                <a:latin typeface="Arial"/>
                <a:cs typeface="Arial"/>
              </a:rPr>
              <a:t> </a:t>
            </a:r>
            <a:r>
              <a:rPr sz="2400" b="1" i="1" spc="-10" dirty="0">
                <a:latin typeface="Arial"/>
                <a:cs typeface="Arial"/>
              </a:rPr>
              <a:t>neurovégétatives</a:t>
            </a:r>
            <a:r>
              <a:rPr sz="2400" b="1" i="1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 MT"/>
                <a:cs typeface="Arial MT"/>
              </a:rPr>
              <a:t>(parasympathiques)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b="1" spc="-10" dirty="0">
                <a:latin typeface="Arial"/>
                <a:cs typeface="Arial"/>
              </a:rPr>
              <a:t>homolatérales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spc="-50" dirty="0">
                <a:latin typeface="Arial MT"/>
                <a:cs typeface="Arial MT"/>
              </a:rPr>
              <a:t>: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larmoiement,</a:t>
            </a:r>
            <a:r>
              <a:rPr sz="2400" b="1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congestion</a:t>
            </a:r>
            <a:r>
              <a:rPr sz="2400" b="1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nasale,</a:t>
            </a:r>
            <a:r>
              <a:rPr sz="24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sudation</a:t>
            </a:r>
            <a:r>
              <a:rPr sz="2400" b="1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cutanée</a:t>
            </a:r>
            <a:r>
              <a:rPr sz="24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;</a:t>
            </a:r>
            <a:r>
              <a:rPr sz="24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syndrome</a:t>
            </a:r>
            <a:r>
              <a:rPr sz="24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de</a:t>
            </a:r>
            <a:r>
              <a:rPr sz="2400" b="1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Arial"/>
                <a:cs typeface="Arial"/>
              </a:rPr>
              <a:t>Claude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Bernard-</a:t>
            </a:r>
            <a:r>
              <a:rPr sz="2400" b="1" spc="-10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Arial"/>
                <a:cs typeface="Arial"/>
              </a:rPr>
              <a:t>Horner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807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Algie</a:t>
            </a:r>
            <a:r>
              <a:rPr sz="4800" spc="-140" dirty="0"/>
              <a:t> </a:t>
            </a:r>
            <a:r>
              <a:rPr sz="4800" dirty="0"/>
              <a:t>vasculaire</a:t>
            </a:r>
            <a:r>
              <a:rPr sz="4800" spc="-105" dirty="0"/>
              <a:t> </a:t>
            </a:r>
            <a:r>
              <a:rPr sz="4800" dirty="0"/>
              <a:t>de</a:t>
            </a:r>
            <a:r>
              <a:rPr sz="4800" spc="-130" dirty="0"/>
              <a:t> </a:t>
            </a:r>
            <a:r>
              <a:rPr sz="4800" dirty="0"/>
              <a:t>la</a:t>
            </a:r>
            <a:r>
              <a:rPr sz="4800" spc="-145" dirty="0"/>
              <a:t> </a:t>
            </a:r>
            <a:r>
              <a:rPr sz="4800" spc="-20" dirty="0"/>
              <a:t>face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649325" y="1635734"/>
            <a:ext cx="9998075" cy="4415790"/>
          </a:xfrm>
          <a:prstGeom prst="rect">
            <a:avLst/>
          </a:prstGeom>
        </p:spPr>
        <p:txBody>
          <a:bodyPr vert="horz" wrap="square" lIns="0" tIns="25654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2020"/>
              </a:spcBef>
            </a:pPr>
            <a:r>
              <a:rPr sz="32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Mode</a:t>
            </a:r>
            <a:r>
              <a:rPr sz="3200" u="sng" spc="-5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32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évolutif</a:t>
            </a:r>
            <a:r>
              <a:rPr sz="3200" u="sng" spc="-5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3200" u="sng" spc="-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:</a:t>
            </a:r>
            <a:endParaRPr sz="3200">
              <a:latin typeface="Arial MT"/>
              <a:cs typeface="Arial MT"/>
            </a:endParaRPr>
          </a:p>
          <a:p>
            <a:pPr marL="12700" marR="7620" algn="just">
              <a:lnSpc>
                <a:spcPct val="150000"/>
              </a:lnSpc>
            </a:pPr>
            <a:r>
              <a:rPr sz="3200" dirty="0">
                <a:latin typeface="Arial MT"/>
                <a:cs typeface="Arial MT"/>
              </a:rPr>
              <a:t>Plusieurs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crises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b="1" dirty="0">
                <a:solidFill>
                  <a:srgbClr val="C00000"/>
                </a:solidFill>
                <a:latin typeface="Arial"/>
                <a:cs typeface="Arial"/>
              </a:rPr>
              <a:t>quotidiennes</a:t>
            </a:r>
            <a:r>
              <a:rPr sz="32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200" dirty="0">
                <a:latin typeface="Arial MT"/>
                <a:cs typeface="Arial MT"/>
              </a:rPr>
              <a:t>(une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à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huit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;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deux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à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trois </a:t>
            </a:r>
            <a:r>
              <a:rPr sz="3200" dirty="0">
                <a:latin typeface="Arial MT"/>
                <a:cs typeface="Arial MT"/>
              </a:rPr>
              <a:t>en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moyenne)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spc="-50" dirty="0">
                <a:latin typeface="Arial MT"/>
                <a:cs typeface="Arial MT"/>
              </a:rPr>
              <a:t>;</a:t>
            </a:r>
            <a:endParaRPr sz="3200">
              <a:latin typeface="Arial MT"/>
              <a:cs typeface="Arial MT"/>
            </a:endParaRPr>
          </a:p>
          <a:p>
            <a:pPr marL="12700" marR="5080" algn="just">
              <a:lnSpc>
                <a:spcPct val="150000"/>
              </a:lnSpc>
              <a:spcBef>
                <a:spcPts val="5"/>
              </a:spcBef>
            </a:pPr>
            <a:r>
              <a:rPr sz="3200" i="1" dirty="0">
                <a:latin typeface="Arial"/>
                <a:cs typeface="Arial"/>
              </a:rPr>
              <a:t>périodes</a:t>
            </a:r>
            <a:r>
              <a:rPr sz="3200" i="1" spc="229" dirty="0">
                <a:latin typeface="Arial"/>
                <a:cs typeface="Arial"/>
              </a:rPr>
              <a:t>  </a:t>
            </a:r>
            <a:r>
              <a:rPr sz="3200" i="1" dirty="0">
                <a:latin typeface="Arial"/>
                <a:cs typeface="Arial"/>
              </a:rPr>
              <a:t>de</a:t>
            </a:r>
            <a:r>
              <a:rPr sz="3200" i="1" spc="235" dirty="0">
                <a:latin typeface="Arial"/>
                <a:cs typeface="Arial"/>
              </a:rPr>
              <a:t>  </a:t>
            </a:r>
            <a:r>
              <a:rPr sz="3200" i="1" dirty="0">
                <a:latin typeface="Arial"/>
                <a:cs typeface="Arial"/>
              </a:rPr>
              <a:t>crises</a:t>
            </a:r>
            <a:r>
              <a:rPr sz="3200" i="1" spc="235" dirty="0">
                <a:latin typeface="Arial"/>
                <a:cs typeface="Arial"/>
              </a:rPr>
              <a:t>  </a:t>
            </a:r>
            <a:r>
              <a:rPr sz="3200" i="1" dirty="0">
                <a:latin typeface="Arial"/>
                <a:cs typeface="Arial"/>
              </a:rPr>
              <a:t>quotidiennes</a:t>
            </a:r>
            <a:r>
              <a:rPr sz="3200" i="1" spc="240" dirty="0">
                <a:latin typeface="Arial"/>
                <a:cs typeface="Arial"/>
              </a:rPr>
              <a:t>  </a:t>
            </a:r>
            <a:r>
              <a:rPr sz="3200" i="1" dirty="0">
                <a:latin typeface="Arial"/>
                <a:cs typeface="Arial"/>
              </a:rPr>
              <a:t>durant</a:t>
            </a:r>
            <a:r>
              <a:rPr sz="3200" i="1" spc="240" dirty="0">
                <a:latin typeface="Arial"/>
                <a:cs typeface="Arial"/>
              </a:rPr>
              <a:t>  </a:t>
            </a:r>
            <a:r>
              <a:rPr sz="3200" i="1" dirty="0">
                <a:latin typeface="Arial"/>
                <a:cs typeface="Arial"/>
              </a:rPr>
              <a:t>de</a:t>
            </a:r>
            <a:r>
              <a:rPr sz="3200" i="1" spc="229" dirty="0">
                <a:latin typeface="Arial"/>
                <a:cs typeface="Arial"/>
              </a:rPr>
              <a:t>  </a:t>
            </a:r>
            <a:r>
              <a:rPr sz="3200" b="1" i="1" dirty="0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sz="3200" b="1" i="1" spc="240" dirty="0">
                <a:solidFill>
                  <a:srgbClr val="C00000"/>
                </a:solidFill>
                <a:latin typeface="Arial"/>
                <a:cs typeface="Arial"/>
              </a:rPr>
              <a:t>  </a:t>
            </a:r>
            <a:r>
              <a:rPr sz="3200" b="1" i="1" dirty="0">
                <a:solidFill>
                  <a:srgbClr val="C00000"/>
                </a:solidFill>
                <a:latin typeface="Arial"/>
                <a:cs typeface="Arial"/>
              </a:rPr>
              <a:t>à</a:t>
            </a:r>
            <a:r>
              <a:rPr sz="3200" b="1" i="1" spc="235" dirty="0">
                <a:solidFill>
                  <a:srgbClr val="C00000"/>
                </a:solidFill>
                <a:latin typeface="Arial"/>
                <a:cs typeface="Arial"/>
              </a:rPr>
              <a:t>  </a:t>
            </a:r>
            <a:r>
              <a:rPr sz="3200" b="1" i="1" spc="-50" dirty="0">
                <a:solidFill>
                  <a:srgbClr val="C00000"/>
                </a:solidFill>
                <a:latin typeface="Arial"/>
                <a:cs typeface="Arial"/>
              </a:rPr>
              <a:t>8 </a:t>
            </a:r>
            <a:r>
              <a:rPr sz="3200" b="1" i="1" dirty="0">
                <a:solidFill>
                  <a:srgbClr val="C00000"/>
                </a:solidFill>
                <a:latin typeface="Arial"/>
                <a:cs typeface="Arial"/>
              </a:rPr>
              <a:t>semaines</a:t>
            </a:r>
            <a:r>
              <a:rPr sz="3200" dirty="0">
                <a:latin typeface="Arial MT"/>
                <a:cs typeface="Arial MT"/>
              </a:rPr>
              <a:t>,</a:t>
            </a:r>
            <a:r>
              <a:rPr sz="3200" spc="4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volontiers</a:t>
            </a:r>
            <a:r>
              <a:rPr sz="3200" spc="50" dirty="0">
                <a:latin typeface="Arial MT"/>
                <a:cs typeface="Arial MT"/>
              </a:rPr>
              <a:t>  </a:t>
            </a:r>
            <a:r>
              <a:rPr sz="3200" b="1" dirty="0">
                <a:solidFill>
                  <a:srgbClr val="C00000"/>
                </a:solidFill>
                <a:latin typeface="Arial"/>
                <a:cs typeface="Arial"/>
              </a:rPr>
              <a:t>saisonnières</a:t>
            </a:r>
            <a:r>
              <a:rPr sz="3200" dirty="0">
                <a:latin typeface="Arial MT"/>
                <a:cs typeface="Arial MT"/>
              </a:rPr>
              <a:t>,</a:t>
            </a:r>
            <a:r>
              <a:rPr sz="3200" spc="4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algie</a:t>
            </a:r>
            <a:r>
              <a:rPr sz="3200" spc="50" dirty="0">
                <a:latin typeface="Arial MT"/>
                <a:cs typeface="Arial MT"/>
              </a:rPr>
              <a:t>  </a:t>
            </a:r>
            <a:r>
              <a:rPr sz="3200" spc="-10" dirty="0">
                <a:latin typeface="Arial MT"/>
                <a:cs typeface="Arial MT"/>
              </a:rPr>
              <a:t>vasculaire </a:t>
            </a:r>
            <a:r>
              <a:rPr sz="3200" dirty="0">
                <a:latin typeface="Arial MT"/>
                <a:cs typeface="Arial MT"/>
              </a:rPr>
              <a:t>de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la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face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b="1" i="1" spc="-10" dirty="0">
                <a:solidFill>
                  <a:srgbClr val="C00000"/>
                </a:solidFill>
                <a:latin typeface="Arial"/>
                <a:cs typeface="Arial"/>
              </a:rPr>
              <a:t>épisodique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319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95"/>
              </a:spcBef>
            </a:pPr>
            <a:r>
              <a:rPr sz="4300" dirty="0"/>
              <a:t>Névralgies</a:t>
            </a:r>
            <a:r>
              <a:rPr sz="4300" spc="-170" dirty="0"/>
              <a:t> </a:t>
            </a:r>
            <a:r>
              <a:rPr sz="4300" dirty="0"/>
              <a:t>du</a:t>
            </a:r>
            <a:r>
              <a:rPr sz="4300" spc="-170" dirty="0"/>
              <a:t> </a:t>
            </a:r>
            <a:r>
              <a:rPr sz="4300" spc="-10" dirty="0"/>
              <a:t>Trijumeau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916939" y="1807210"/>
            <a:ext cx="58337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Char char="•"/>
              <a:tabLst>
                <a:tab pos="240029" algn="l"/>
              </a:tabLst>
            </a:pPr>
            <a:r>
              <a:rPr sz="2800" dirty="0">
                <a:latin typeface="Arial MT"/>
                <a:cs typeface="Arial MT"/>
              </a:rPr>
              <a:t>Le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/>
                <a:cs typeface="Arial"/>
              </a:rPr>
              <a:t>diagnostic</a:t>
            </a:r>
            <a:r>
              <a:rPr sz="2800" i="1" spc="-65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est</a:t>
            </a:r>
            <a:r>
              <a:rPr sz="2800" i="1" spc="-75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purement</a:t>
            </a:r>
            <a:r>
              <a:rPr sz="2800" i="1" spc="-60" dirty="0">
                <a:latin typeface="Arial"/>
                <a:cs typeface="Arial"/>
              </a:rPr>
              <a:t> </a:t>
            </a:r>
            <a:r>
              <a:rPr sz="2800" i="1" spc="-10" dirty="0">
                <a:latin typeface="Arial"/>
                <a:cs typeface="Arial"/>
              </a:rPr>
              <a:t>clinique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23188" y="2523744"/>
            <a:ext cx="8128000" cy="3251200"/>
            <a:chOff x="1123188" y="2523744"/>
            <a:chExt cx="8128000" cy="3251200"/>
          </a:xfrm>
        </p:grpSpPr>
        <p:sp>
          <p:nvSpPr>
            <p:cNvPr id="5" name="object 5"/>
            <p:cNvSpPr/>
            <p:nvPr/>
          </p:nvSpPr>
          <p:spPr>
            <a:xfrm>
              <a:off x="1123188" y="2523744"/>
              <a:ext cx="8128000" cy="3251200"/>
            </a:xfrm>
            <a:custGeom>
              <a:avLst/>
              <a:gdLst/>
              <a:ahLst/>
              <a:cxnLst/>
              <a:rect l="l" t="t" r="r" b="b"/>
              <a:pathLst>
                <a:path w="8128000" h="3251200">
                  <a:moveTo>
                    <a:pt x="1625345" y="0"/>
                  </a:moveTo>
                  <a:lnTo>
                    <a:pt x="0" y="1354454"/>
                  </a:lnTo>
                  <a:lnTo>
                    <a:pt x="1625345" y="2708909"/>
                  </a:lnTo>
                  <a:lnTo>
                    <a:pt x="1625345" y="2167128"/>
                  </a:lnTo>
                  <a:lnTo>
                    <a:pt x="3809746" y="2167128"/>
                  </a:lnTo>
                  <a:lnTo>
                    <a:pt x="3809746" y="2573400"/>
                  </a:lnTo>
                  <a:lnTo>
                    <a:pt x="3816451" y="2604500"/>
                  </a:lnTo>
                  <a:lnTo>
                    <a:pt x="3865529" y="2658192"/>
                  </a:lnTo>
                  <a:lnTo>
                    <a:pt x="3904859" y="2679168"/>
                  </a:lnTo>
                  <a:lnTo>
                    <a:pt x="3952019" y="2695152"/>
                  </a:lnTo>
                  <a:lnTo>
                    <a:pt x="4005488" y="2705335"/>
                  </a:lnTo>
                  <a:lnTo>
                    <a:pt x="4063746" y="2708909"/>
                  </a:lnTo>
                  <a:lnTo>
                    <a:pt x="6502145" y="2708909"/>
                  </a:lnTo>
                  <a:lnTo>
                    <a:pt x="6502145" y="3250691"/>
                  </a:lnTo>
                  <a:lnTo>
                    <a:pt x="8127492" y="1896236"/>
                  </a:lnTo>
                  <a:lnTo>
                    <a:pt x="6502145" y="541781"/>
                  </a:lnTo>
                  <a:lnTo>
                    <a:pt x="6502145" y="1083563"/>
                  </a:lnTo>
                  <a:lnTo>
                    <a:pt x="4063746" y="1083563"/>
                  </a:lnTo>
                  <a:lnTo>
                    <a:pt x="4005488" y="1079990"/>
                  </a:lnTo>
                  <a:lnTo>
                    <a:pt x="3952019" y="1069809"/>
                  </a:lnTo>
                  <a:lnTo>
                    <a:pt x="3904859" y="1053832"/>
                  </a:lnTo>
                  <a:lnTo>
                    <a:pt x="3865529" y="1032870"/>
                  </a:lnTo>
                  <a:lnTo>
                    <a:pt x="3835553" y="1007734"/>
                  </a:lnTo>
                  <a:lnTo>
                    <a:pt x="3809746" y="948181"/>
                  </a:lnTo>
                  <a:lnTo>
                    <a:pt x="3816451" y="917122"/>
                  </a:lnTo>
                  <a:lnTo>
                    <a:pt x="3865529" y="863443"/>
                  </a:lnTo>
                  <a:lnTo>
                    <a:pt x="3904859" y="842454"/>
                  </a:lnTo>
                  <a:lnTo>
                    <a:pt x="3952019" y="826452"/>
                  </a:lnTo>
                  <a:lnTo>
                    <a:pt x="4005488" y="816253"/>
                  </a:lnTo>
                  <a:lnTo>
                    <a:pt x="4121963" y="809099"/>
                  </a:lnTo>
                  <a:lnTo>
                    <a:pt x="4175417" y="798918"/>
                  </a:lnTo>
                  <a:lnTo>
                    <a:pt x="4222579" y="782941"/>
                  </a:lnTo>
                  <a:lnTo>
                    <a:pt x="4261922" y="761979"/>
                  </a:lnTo>
                  <a:lnTo>
                    <a:pt x="4291916" y="736843"/>
                  </a:lnTo>
                  <a:lnTo>
                    <a:pt x="4317746" y="677290"/>
                  </a:lnTo>
                  <a:lnTo>
                    <a:pt x="4311033" y="646191"/>
                  </a:lnTo>
                  <a:lnTo>
                    <a:pt x="4261922" y="592499"/>
                  </a:lnTo>
                  <a:lnTo>
                    <a:pt x="4222579" y="571523"/>
                  </a:lnTo>
                  <a:lnTo>
                    <a:pt x="4175417" y="555539"/>
                  </a:lnTo>
                  <a:lnTo>
                    <a:pt x="4121963" y="545356"/>
                  </a:lnTo>
                  <a:lnTo>
                    <a:pt x="4063746" y="541781"/>
                  </a:lnTo>
                  <a:lnTo>
                    <a:pt x="1625345" y="541781"/>
                  </a:lnTo>
                  <a:lnTo>
                    <a:pt x="162534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32934" y="3200908"/>
              <a:ext cx="508000" cy="406400"/>
            </a:xfrm>
            <a:custGeom>
              <a:avLst/>
              <a:gdLst/>
              <a:ahLst/>
              <a:cxnLst/>
              <a:rect l="l" t="t" r="r" b="b"/>
              <a:pathLst>
                <a:path w="508000" h="406400">
                  <a:moveTo>
                    <a:pt x="508000" y="0"/>
                  </a:moveTo>
                  <a:lnTo>
                    <a:pt x="482170" y="59577"/>
                  </a:lnTo>
                  <a:lnTo>
                    <a:pt x="452176" y="84738"/>
                  </a:lnTo>
                  <a:lnTo>
                    <a:pt x="412833" y="105727"/>
                  </a:lnTo>
                  <a:lnTo>
                    <a:pt x="365671" y="121729"/>
                  </a:lnTo>
                  <a:lnTo>
                    <a:pt x="312217" y="131928"/>
                  </a:lnTo>
                  <a:lnTo>
                    <a:pt x="195742" y="139083"/>
                  </a:lnTo>
                  <a:lnTo>
                    <a:pt x="142273" y="149266"/>
                  </a:lnTo>
                  <a:lnTo>
                    <a:pt x="95113" y="165250"/>
                  </a:lnTo>
                  <a:lnTo>
                    <a:pt x="55783" y="186226"/>
                  </a:lnTo>
                  <a:lnTo>
                    <a:pt x="25807" y="211385"/>
                  </a:lnTo>
                  <a:lnTo>
                    <a:pt x="0" y="271017"/>
                  </a:lnTo>
                  <a:lnTo>
                    <a:pt x="6705" y="302070"/>
                  </a:lnTo>
                  <a:lnTo>
                    <a:pt x="55783" y="355706"/>
                  </a:lnTo>
                  <a:lnTo>
                    <a:pt x="95113" y="376668"/>
                  </a:lnTo>
                  <a:lnTo>
                    <a:pt x="142273" y="392645"/>
                  </a:lnTo>
                  <a:lnTo>
                    <a:pt x="195742" y="402826"/>
                  </a:lnTo>
                  <a:lnTo>
                    <a:pt x="254000" y="406399"/>
                  </a:lnTo>
                  <a:lnTo>
                    <a:pt x="508000" y="406399"/>
                  </a:lnTo>
                  <a:lnTo>
                    <a:pt x="508000" y="0"/>
                  </a:lnTo>
                  <a:close/>
                </a:path>
              </a:pathLst>
            </a:custGeom>
            <a:solidFill>
              <a:srgbClr val="375C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32934" y="3200908"/>
              <a:ext cx="508000" cy="1490345"/>
            </a:xfrm>
            <a:custGeom>
              <a:avLst/>
              <a:gdLst/>
              <a:ahLst/>
              <a:cxnLst/>
              <a:rect l="l" t="t" r="r" b="b"/>
              <a:pathLst>
                <a:path w="508000" h="1490345">
                  <a:moveTo>
                    <a:pt x="508000" y="0"/>
                  </a:moveTo>
                  <a:lnTo>
                    <a:pt x="508000" y="406399"/>
                  </a:lnTo>
                </a:path>
                <a:path w="508000" h="1490345">
                  <a:moveTo>
                    <a:pt x="0" y="271017"/>
                  </a:moveTo>
                  <a:lnTo>
                    <a:pt x="0" y="1489964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111501" y="3493770"/>
            <a:ext cx="2654935" cy="704039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433070" marR="5080" indent="-421005">
              <a:lnSpc>
                <a:spcPts val="2510"/>
              </a:lnSpc>
              <a:spcBef>
                <a:spcPts val="490"/>
              </a:spcBef>
            </a:pPr>
            <a:r>
              <a:rPr sz="2400" b="1" dirty="0" err="1">
                <a:solidFill>
                  <a:srgbClr val="FFFFFF"/>
                </a:solidFill>
                <a:latin typeface="Times New Roman"/>
                <a:cs typeface="Times New Roman"/>
              </a:rPr>
              <a:t>Névralgie</a:t>
            </a:r>
            <a:r>
              <a:rPr sz="2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fr-FR" sz="24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classique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2400" b="1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Trijumeau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61228" y="4013961"/>
            <a:ext cx="3023870" cy="70993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5080" indent="25400">
              <a:lnSpc>
                <a:spcPts val="2510"/>
              </a:lnSpc>
              <a:spcBef>
                <a:spcPts val="49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Névralgies</a:t>
            </a:r>
            <a:r>
              <a:rPr sz="240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secondaires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(dites</a:t>
            </a:r>
            <a:r>
              <a:rPr sz="24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symptomatiques)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-17272"/>
            <a:ext cx="12034520" cy="1035873"/>
          </a:xfrm>
          <a:prstGeom prst="rect">
            <a:avLst/>
          </a:prstGeom>
        </p:spPr>
        <p:txBody>
          <a:bodyPr vert="horz" wrap="square" lIns="0" tIns="355295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105"/>
              </a:spcBef>
            </a:pPr>
            <a:r>
              <a:rPr dirty="0" err="1">
                <a:latin typeface="Times New Roman"/>
                <a:cs typeface="Times New Roman"/>
              </a:rPr>
              <a:t>Névralgie</a:t>
            </a:r>
            <a:r>
              <a:rPr spc="-125" dirty="0">
                <a:latin typeface="Times New Roman"/>
                <a:cs typeface="Times New Roman"/>
              </a:rPr>
              <a:t> </a:t>
            </a:r>
            <a:r>
              <a:rPr lang="fr-FR" spc="-125">
                <a:latin typeface="Times New Roman"/>
                <a:cs typeface="Times New Roman"/>
              </a:rPr>
              <a:t>CLASSIQUE </a:t>
            </a:r>
            <a:r>
              <a:rPr>
                <a:latin typeface="Times New Roman"/>
                <a:cs typeface="Times New Roman"/>
              </a:rPr>
              <a:t>du</a:t>
            </a:r>
            <a:r>
              <a:rPr spc="-150">
                <a:latin typeface="Times New Roman"/>
                <a:cs typeface="Times New Roman"/>
              </a:rPr>
              <a:t> </a:t>
            </a:r>
            <a:r>
              <a:rPr spc="-20" dirty="0">
                <a:latin typeface="Times New Roman"/>
                <a:cs typeface="Times New Roman"/>
              </a:rPr>
              <a:t>Trijumeau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(nerf</a:t>
            </a:r>
            <a:r>
              <a:rPr spc="-175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V)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9403" y="1485976"/>
            <a:ext cx="10372090" cy="4780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solidFill>
                  <a:srgbClr val="7E5F00"/>
                </a:solidFill>
                <a:latin typeface="Arial"/>
                <a:cs typeface="Arial"/>
              </a:rPr>
              <a:t>Femme</a:t>
            </a:r>
            <a:r>
              <a:rPr sz="2400" b="1" spc="-85" dirty="0">
                <a:solidFill>
                  <a:srgbClr val="7E5F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7E5F00"/>
                </a:solidFill>
                <a:latin typeface="Arial"/>
                <a:cs typeface="Arial"/>
              </a:rPr>
              <a:t>après</a:t>
            </a:r>
            <a:r>
              <a:rPr sz="2400" b="1" spc="-70" dirty="0">
                <a:solidFill>
                  <a:srgbClr val="7E5F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7E5F00"/>
                </a:solidFill>
                <a:latin typeface="Arial"/>
                <a:cs typeface="Arial"/>
              </a:rPr>
              <a:t>50</a:t>
            </a:r>
            <a:r>
              <a:rPr sz="2400" b="1" spc="-80" dirty="0">
                <a:solidFill>
                  <a:srgbClr val="7E5F00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7E5F00"/>
                </a:solidFill>
                <a:latin typeface="Arial"/>
                <a:cs typeface="Arial"/>
              </a:rPr>
              <a:t>ans</a:t>
            </a:r>
            <a:endParaRPr sz="2400" dirty="0">
              <a:latin typeface="Arial"/>
              <a:cs typeface="Arial"/>
            </a:endParaRPr>
          </a:p>
          <a:p>
            <a:pPr marL="88900" marR="412750" indent="-76200">
              <a:lnSpc>
                <a:spcPct val="150000"/>
              </a:lnSpc>
              <a:spcBef>
                <a:spcPts val="270"/>
              </a:spcBef>
              <a:buChar char="•"/>
              <a:tabLst>
                <a:tab pos="88900" algn="l"/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Siège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toujours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unilatéral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touchant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branche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V2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(40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%),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V3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(20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%), </a:t>
            </a:r>
            <a:r>
              <a:rPr sz="2400" spc="-10" dirty="0">
                <a:latin typeface="Arial MT"/>
                <a:cs typeface="Arial MT"/>
              </a:rPr>
              <a:t>exceptionnellement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V1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(10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%),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parfois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deux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branches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(comportant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V2),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jamais</a:t>
            </a:r>
            <a:r>
              <a:rPr sz="2400" b="1" spc="-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les</a:t>
            </a:r>
            <a:r>
              <a:rPr sz="2400" b="1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Arial"/>
                <a:cs typeface="Arial"/>
              </a:rPr>
              <a:t>trois.</a:t>
            </a:r>
            <a:endParaRPr sz="2400" dirty="0">
              <a:latin typeface="Arial"/>
              <a:cs typeface="Arial"/>
            </a:endParaRPr>
          </a:p>
          <a:p>
            <a:pPr marL="240029" indent="-227329">
              <a:lnSpc>
                <a:spcPct val="100000"/>
              </a:lnSpc>
              <a:spcBef>
                <a:spcPts val="1390"/>
              </a:spcBef>
              <a:buChar char="•"/>
              <a:tabLst>
                <a:tab pos="240029" algn="l"/>
              </a:tabLst>
            </a:pPr>
            <a:r>
              <a:rPr sz="2400" spc="-20" dirty="0">
                <a:latin typeface="Arial MT"/>
                <a:cs typeface="Arial MT"/>
              </a:rPr>
              <a:t>Type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b="1" i="1" spc="-10" dirty="0">
                <a:latin typeface="Arial"/>
                <a:cs typeface="Arial"/>
              </a:rPr>
              <a:t>décharges</a:t>
            </a:r>
            <a:r>
              <a:rPr sz="2400" b="1" i="1" spc="-80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électriques</a:t>
            </a:r>
            <a:r>
              <a:rPr sz="2400" b="1" i="1" spc="-10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fulgurantes,</a:t>
            </a:r>
            <a:r>
              <a:rPr sz="2400" i="1" spc="-105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de</a:t>
            </a:r>
            <a:r>
              <a:rPr sz="2400" b="1" i="1" spc="-100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durée</a:t>
            </a:r>
            <a:r>
              <a:rPr sz="2400" b="1" i="1" spc="-80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très</a:t>
            </a:r>
            <a:r>
              <a:rPr sz="2400" b="1" i="1" spc="-70" dirty="0">
                <a:latin typeface="Arial"/>
                <a:cs typeface="Arial"/>
              </a:rPr>
              <a:t> </a:t>
            </a:r>
            <a:r>
              <a:rPr sz="2400" b="1" i="1" dirty="0">
                <a:latin typeface="Arial"/>
                <a:cs typeface="Arial"/>
              </a:rPr>
              <a:t>brève</a:t>
            </a:r>
            <a:r>
              <a:rPr sz="2400" b="1" i="1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 MT"/>
                <a:cs typeface="Arial MT"/>
              </a:rPr>
              <a:t>(quelques</a:t>
            </a:r>
            <a:endParaRPr sz="2400" dirty="0">
              <a:latin typeface="Arial MT"/>
              <a:cs typeface="Arial MT"/>
            </a:endParaRPr>
          </a:p>
          <a:p>
            <a:pPr marL="88900">
              <a:lnSpc>
                <a:spcPct val="100000"/>
              </a:lnSpc>
              <a:spcBef>
                <a:spcPts val="1380"/>
              </a:spcBef>
            </a:pPr>
            <a:r>
              <a:rPr sz="2400" b="1" spc="-10" dirty="0">
                <a:solidFill>
                  <a:srgbClr val="C00000"/>
                </a:solidFill>
                <a:latin typeface="Arial"/>
                <a:cs typeface="Arial"/>
              </a:rPr>
              <a:t>secondes</a:t>
            </a:r>
            <a:r>
              <a:rPr sz="2400" spc="-10" dirty="0">
                <a:latin typeface="Arial MT"/>
                <a:cs typeface="Arial MT"/>
              </a:rPr>
              <a:t>)</a:t>
            </a:r>
            <a:endParaRPr sz="2400" dirty="0">
              <a:latin typeface="Arial MT"/>
              <a:cs typeface="Arial MT"/>
            </a:endParaRPr>
          </a:p>
          <a:p>
            <a:pPr marL="88900" marR="5080">
              <a:lnSpc>
                <a:spcPct val="148000"/>
              </a:lnSpc>
              <a:spcBef>
                <a:spcPts val="10"/>
              </a:spcBef>
            </a:pPr>
            <a:r>
              <a:rPr sz="2400" dirty="0">
                <a:latin typeface="Arial MT"/>
                <a:cs typeface="Arial MT"/>
              </a:rPr>
              <a:t>Évolution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en</a:t>
            </a:r>
            <a:r>
              <a:rPr sz="2400" b="1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Arial"/>
                <a:cs typeface="Arial"/>
              </a:rPr>
              <a:t>salves</a:t>
            </a:r>
            <a:r>
              <a:rPr sz="2400" b="1" i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Arial"/>
                <a:cs typeface="Arial"/>
              </a:rPr>
              <a:t>sur</a:t>
            </a:r>
            <a:r>
              <a:rPr sz="2400" b="1" i="1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Arial"/>
                <a:cs typeface="Arial"/>
              </a:rPr>
              <a:t>quelques</a:t>
            </a:r>
            <a:r>
              <a:rPr sz="2400" b="1" i="1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Arial"/>
                <a:cs typeface="Arial"/>
              </a:rPr>
              <a:t>minutes</a:t>
            </a:r>
            <a:r>
              <a:rPr sz="2400" b="1" i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séparées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Arial"/>
                <a:cs typeface="Arial"/>
              </a:rPr>
              <a:t>intervalles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libres</a:t>
            </a:r>
            <a:r>
              <a:rPr sz="2400" b="1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toute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douleur,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répétant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plusieurs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fois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jour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pendant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quelques </a:t>
            </a:r>
            <a:r>
              <a:rPr sz="2400" dirty="0">
                <a:latin typeface="Arial MT"/>
                <a:cs typeface="Arial MT"/>
              </a:rPr>
              <a:t>jours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à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semaines.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-17272"/>
            <a:ext cx="12034520" cy="781701"/>
          </a:xfrm>
          <a:prstGeom prst="rect">
            <a:avLst/>
          </a:prstGeom>
        </p:spPr>
        <p:txBody>
          <a:bodyPr vert="horz" wrap="square" lIns="0" tIns="103581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5"/>
              </a:spcBef>
            </a:pPr>
            <a:r>
              <a:rPr dirty="0" err="1"/>
              <a:t>Névralgie</a:t>
            </a:r>
            <a:r>
              <a:rPr spc="-130" dirty="0"/>
              <a:t> </a:t>
            </a:r>
            <a:r>
              <a:rPr lang="fr-FR" spc="-130" dirty="0"/>
              <a:t>classique </a:t>
            </a:r>
            <a:r>
              <a:rPr dirty="0"/>
              <a:t>du</a:t>
            </a:r>
            <a:r>
              <a:rPr spc="-114" dirty="0"/>
              <a:t> </a:t>
            </a:r>
            <a:r>
              <a:rPr spc="-10" dirty="0"/>
              <a:t>Trijumeau</a:t>
            </a:r>
            <a:r>
              <a:rPr spc="-125" dirty="0"/>
              <a:t> </a:t>
            </a:r>
            <a:r>
              <a:rPr dirty="0"/>
              <a:t>(nerf</a:t>
            </a:r>
            <a:r>
              <a:rPr spc="-135" dirty="0"/>
              <a:t> </a:t>
            </a:r>
            <a:r>
              <a:rPr spc="-25" dirty="0"/>
              <a:t>V)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5912" y="1299794"/>
            <a:ext cx="11383010" cy="5041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2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Mode</a:t>
            </a:r>
            <a:r>
              <a:rPr sz="2800" b="1" u="sng" spc="-9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</a:t>
            </a:r>
            <a:r>
              <a:rPr sz="2800" b="1" u="sng" spc="-8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8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déclenchement</a:t>
            </a:r>
            <a:endParaRPr sz="2800" dirty="0">
              <a:latin typeface="Arial"/>
              <a:cs typeface="Arial"/>
            </a:endParaRPr>
          </a:p>
          <a:p>
            <a:pPr marL="88900" marR="5715" indent="-76200" algn="just">
              <a:lnSpc>
                <a:spcPct val="140000"/>
              </a:lnSpc>
              <a:spcBef>
                <a:spcPts val="810"/>
              </a:spcBef>
              <a:buChar char="•"/>
              <a:tabLst>
                <a:tab pos="88900" algn="l"/>
                <a:tab pos="240029" algn="l"/>
              </a:tabLst>
            </a:pPr>
            <a:r>
              <a:rPr sz="2800" dirty="0">
                <a:latin typeface="Arial MT"/>
                <a:cs typeface="Arial MT"/>
              </a:rPr>
              <a:t>	Spontané.</a:t>
            </a:r>
            <a:r>
              <a:rPr sz="2800" spc="8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Ou</a:t>
            </a:r>
            <a:r>
              <a:rPr sz="2800" spc="9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lors</a:t>
            </a:r>
            <a:r>
              <a:rPr sz="2800" spc="95" dirty="0">
                <a:latin typeface="Arial MT"/>
                <a:cs typeface="Arial MT"/>
              </a:rPr>
              <a:t>  </a:t>
            </a:r>
            <a:r>
              <a:rPr sz="2800" i="1" dirty="0">
                <a:latin typeface="Arial"/>
                <a:cs typeface="Arial"/>
              </a:rPr>
              <a:t>d’activités</a:t>
            </a:r>
            <a:r>
              <a:rPr sz="2800" i="1" spc="100" dirty="0">
                <a:latin typeface="Arial"/>
                <a:cs typeface="Arial"/>
              </a:rPr>
              <a:t>  </a:t>
            </a:r>
            <a:r>
              <a:rPr sz="2800" i="1" dirty="0">
                <a:latin typeface="Arial"/>
                <a:cs typeface="Arial"/>
              </a:rPr>
              <a:t>spécifiques</a:t>
            </a:r>
            <a:r>
              <a:rPr sz="2800" i="1" spc="95" dirty="0">
                <a:latin typeface="Arial"/>
                <a:cs typeface="Arial"/>
              </a:rPr>
              <a:t>  </a:t>
            </a:r>
            <a:r>
              <a:rPr sz="2800" i="1" dirty="0">
                <a:latin typeface="Arial"/>
                <a:cs typeface="Arial"/>
              </a:rPr>
              <a:t>repérées</a:t>
            </a:r>
            <a:r>
              <a:rPr sz="2800" i="1" spc="90" dirty="0">
                <a:latin typeface="Arial"/>
                <a:cs typeface="Arial"/>
              </a:rPr>
              <a:t>  </a:t>
            </a:r>
            <a:r>
              <a:rPr sz="2800" dirty="0">
                <a:latin typeface="Arial MT"/>
                <a:cs typeface="Arial MT"/>
              </a:rPr>
              <a:t>par</a:t>
            </a:r>
            <a:r>
              <a:rPr sz="2800" spc="9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le</a:t>
            </a:r>
            <a:r>
              <a:rPr sz="2800" spc="90" dirty="0">
                <a:latin typeface="Arial MT"/>
                <a:cs typeface="Arial MT"/>
              </a:rPr>
              <a:t>  </a:t>
            </a:r>
            <a:r>
              <a:rPr sz="2800" spc="-10" dirty="0">
                <a:latin typeface="Arial MT"/>
                <a:cs typeface="Arial MT"/>
              </a:rPr>
              <a:t>patient </a:t>
            </a:r>
            <a:r>
              <a:rPr sz="2800" dirty="0">
                <a:latin typeface="Arial MT"/>
                <a:cs typeface="Arial MT"/>
              </a:rPr>
              <a:t>(ouverture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la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bouche,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mastication,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etc.)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ou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par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simple</a:t>
            </a:r>
            <a:r>
              <a:rPr sz="28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Arial"/>
                <a:cs typeface="Arial"/>
              </a:rPr>
              <a:t>effleurement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d'une</a:t>
            </a:r>
            <a:r>
              <a:rPr sz="2800" b="1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zone</a:t>
            </a:r>
            <a:r>
              <a:rPr sz="2800" b="1" spc="-7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cutanée</a:t>
            </a:r>
            <a:r>
              <a:rPr sz="2800" b="1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ou</a:t>
            </a:r>
            <a:r>
              <a:rPr sz="2800" b="1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muqueuse</a:t>
            </a:r>
            <a:r>
              <a:rPr sz="28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limitée</a:t>
            </a:r>
            <a:r>
              <a:rPr sz="2800" b="1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(dite</a:t>
            </a:r>
            <a:r>
              <a:rPr sz="2800" b="1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«</a:t>
            </a:r>
            <a:r>
              <a:rPr sz="2800" b="1" spc="-8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solidFill>
                  <a:srgbClr val="C00000"/>
                </a:solidFill>
                <a:latin typeface="Arial"/>
                <a:cs typeface="Arial"/>
              </a:rPr>
              <a:t>zone</a:t>
            </a:r>
            <a:r>
              <a:rPr sz="2800" b="1" i="1" spc="-8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solidFill>
                  <a:srgbClr val="C00000"/>
                </a:solidFill>
                <a:latin typeface="Arial"/>
                <a:cs typeface="Arial"/>
              </a:rPr>
              <a:t>gâchette</a:t>
            </a:r>
            <a:r>
              <a:rPr sz="2800" b="1" i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C00000"/>
                </a:solidFill>
                <a:latin typeface="Arial"/>
                <a:cs typeface="Arial"/>
              </a:rPr>
              <a:t>»)</a:t>
            </a:r>
            <a:endParaRPr sz="28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2135"/>
              </a:spcBef>
            </a:pPr>
            <a:r>
              <a:rPr sz="2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Examen</a:t>
            </a:r>
            <a:r>
              <a:rPr sz="2800" b="1" u="sng" spc="-1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8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clinique</a:t>
            </a:r>
            <a:endParaRPr sz="2800" dirty="0">
              <a:latin typeface="Arial"/>
              <a:cs typeface="Arial"/>
            </a:endParaRPr>
          </a:p>
          <a:p>
            <a:pPr marL="240029" indent="-227329" algn="just">
              <a:lnSpc>
                <a:spcPct val="100000"/>
              </a:lnSpc>
              <a:spcBef>
                <a:spcPts val="2150"/>
              </a:spcBef>
              <a:buChar char="•"/>
              <a:tabLst>
                <a:tab pos="240029" algn="l"/>
              </a:tabLst>
            </a:pPr>
            <a:r>
              <a:rPr sz="2800" dirty="0">
                <a:latin typeface="Arial MT"/>
                <a:cs typeface="Arial MT"/>
              </a:rPr>
              <a:t>Il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est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par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définition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b="1" i="1" dirty="0">
                <a:solidFill>
                  <a:srgbClr val="C00000"/>
                </a:solidFill>
                <a:latin typeface="Arial"/>
                <a:cs typeface="Arial"/>
              </a:rPr>
              <a:t>normal</a:t>
            </a:r>
            <a:r>
              <a:rPr sz="2800" b="1" i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dans</a:t>
            </a:r>
            <a:r>
              <a:rPr sz="2800" i="1" spc="-6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la</a:t>
            </a:r>
            <a:r>
              <a:rPr sz="2800" i="1" spc="-55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névralgie</a:t>
            </a:r>
            <a:r>
              <a:rPr sz="2800" i="1" spc="-3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«</a:t>
            </a:r>
            <a:r>
              <a:rPr sz="2800" i="1" spc="-70" dirty="0">
                <a:latin typeface="Arial"/>
                <a:cs typeface="Arial"/>
              </a:rPr>
              <a:t> </a:t>
            </a:r>
            <a:r>
              <a:rPr lang="fr-FR" sz="2800" i="1" spc="-70" dirty="0">
                <a:latin typeface="Arial"/>
                <a:cs typeface="Arial"/>
              </a:rPr>
              <a:t>classique</a:t>
            </a:r>
            <a:r>
              <a:rPr sz="2800" i="1" spc="-35" dirty="0">
                <a:latin typeface="Arial"/>
                <a:cs typeface="Arial"/>
              </a:rPr>
              <a:t> </a:t>
            </a:r>
            <a:r>
              <a:rPr sz="2800" i="1" spc="-50" dirty="0">
                <a:latin typeface="Arial"/>
                <a:cs typeface="Arial"/>
              </a:rPr>
              <a:t>»</a:t>
            </a:r>
            <a:endParaRPr sz="2800" dirty="0">
              <a:latin typeface="Arial"/>
              <a:cs typeface="Arial"/>
            </a:endParaRPr>
          </a:p>
          <a:p>
            <a:pPr marL="88900" marR="5080" indent="-76200" algn="just">
              <a:lnSpc>
                <a:spcPct val="140100"/>
              </a:lnSpc>
              <a:spcBef>
                <a:spcPts val="800"/>
              </a:spcBef>
              <a:buChar char="•"/>
              <a:tabLst>
                <a:tab pos="88900" algn="l"/>
                <a:tab pos="240029" algn="l"/>
              </a:tabLst>
            </a:pPr>
            <a:r>
              <a:rPr sz="2800" dirty="0">
                <a:latin typeface="Arial MT"/>
                <a:cs typeface="Arial MT"/>
              </a:rPr>
              <a:t>	La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moindre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anomalie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l'examen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clinique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impose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la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réalisation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Arial"/>
                <a:cs typeface="Arial"/>
              </a:rPr>
              <a:t>d'une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IRM</a:t>
            </a:r>
            <a:r>
              <a:rPr sz="2800" b="1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cérébrale:</a:t>
            </a:r>
            <a:r>
              <a:rPr sz="2800" b="1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conflit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vasculo-</a:t>
            </a:r>
            <a:r>
              <a:rPr sz="2800" spc="-10" dirty="0">
                <a:latin typeface="Times New Roman"/>
                <a:cs typeface="Times New Roman"/>
              </a:rPr>
              <a:t>nerveux)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/>
              <a:t>Névralgies</a:t>
            </a:r>
            <a:r>
              <a:rPr spc="-95" dirty="0"/>
              <a:t> </a:t>
            </a:r>
            <a:r>
              <a:rPr dirty="0"/>
              <a:t>secondaires</a:t>
            </a:r>
            <a:r>
              <a:rPr spc="-95" dirty="0"/>
              <a:t> </a:t>
            </a:r>
            <a:r>
              <a:rPr spc="-10" dirty="0"/>
              <a:t>(dites symptomatiques)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4227" y="1661871"/>
            <a:ext cx="10015220" cy="5101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Char char="•"/>
              <a:tabLst>
                <a:tab pos="240029" algn="l"/>
              </a:tabLst>
            </a:pPr>
            <a:r>
              <a:rPr sz="2800" dirty="0">
                <a:latin typeface="Arial MT"/>
                <a:cs typeface="Arial MT"/>
              </a:rPr>
              <a:t>Douleur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moins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intense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40"/>
              </a:spcBef>
              <a:buFont typeface="Arial MT"/>
              <a:buChar char="•"/>
            </a:pPr>
            <a:endParaRPr sz="28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buChar char="•"/>
              <a:tabLst>
                <a:tab pos="240029" algn="l"/>
              </a:tabLst>
            </a:pPr>
            <a:r>
              <a:rPr sz="2800" dirty="0">
                <a:latin typeface="Arial MT"/>
                <a:cs typeface="Arial MT"/>
              </a:rPr>
              <a:t>Douleur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dans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territoire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du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b="1" spc="-25" dirty="0">
                <a:latin typeface="Arial"/>
                <a:cs typeface="Arial"/>
              </a:rPr>
              <a:t>V1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50"/>
              </a:spcBef>
              <a:buFont typeface="Arial MT"/>
              <a:buChar char="•"/>
            </a:pPr>
            <a:endParaRPr sz="2800">
              <a:latin typeface="Arial"/>
              <a:cs typeface="Arial"/>
            </a:endParaRPr>
          </a:p>
          <a:p>
            <a:pPr marL="240029" indent="-227329">
              <a:lnSpc>
                <a:spcPct val="100000"/>
              </a:lnSpc>
              <a:buChar char="•"/>
              <a:tabLst>
                <a:tab pos="240029" algn="l"/>
              </a:tabLst>
            </a:pPr>
            <a:r>
              <a:rPr sz="2800" dirty="0">
                <a:latin typeface="Arial MT"/>
                <a:cs typeface="Arial MT"/>
              </a:rPr>
              <a:t>Persistance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d'un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fond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douloureux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entre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accès</a:t>
            </a:r>
            <a:endParaRPr sz="2800">
              <a:latin typeface="Arial MT"/>
              <a:cs typeface="Arial MT"/>
            </a:endParaRPr>
          </a:p>
          <a:p>
            <a:pPr marL="240029" marR="5080" indent="-227329">
              <a:lnSpc>
                <a:spcPct val="20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Anomalies</a:t>
            </a:r>
            <a:r>
              <a:rPr sz="2800" b="1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à</a:t>
            </a:r>
            <a:r>
              <a:rPr sz="2800" b="1" spc="-9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l'examen</a:t>
            </a:r>
            <a:r>
              <a:rPr sz="2800" b="1" spc="-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clinique</a:t>
            </a:r>
            <a:r>
              <a:rPr sz="2800" b="1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: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hypoesthésie,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V3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moteur 	</a:t>
            </a:r>
            <a:r>
              <a:rPr sz="2800" dirty="0">
                <a:latin typeface="Arial MT"/>
                <a:cs typeface="Arial MT"/>
              </a:rPr>
              <a:t>(masséters,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ptérygoïdiens),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atteinte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d'autres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nerfs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crâniens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ou 	</a:t>
            </a:r>
            <a:r>
              <a:rPr sz="2800" dirty="0">
                <a:latin typeface="Arial MT"/>
                <a:cs typeface="Arial MT"/>
              </a:rPr>
              <a:t>autres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signes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localisation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3742" y="72897"/>
            <a:ext cx="7883525" cy="141541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 marR="5080">
              <a:lnSpc>
                <a:spcPts val="5180"/>
              </a:lnSpc>
              <a:spcBef>
                <a:spcPts val="755"/>
              </a:spcBef>
            </a:pPr>
            <a:r>
              <a:rPr sz="4800" dirty="0"/>
              <a:t>Céphalée</a:t>
            </a:r>
            <a:r>
              <a:rPr sz="4800" spc="-160" dirty="0"/>
              <a:t> </a:t>
            </a:r>
            <a:r>
              <a:rPr sz="4800" dirty="0"/>
              <a:t>de</a:t>
            </a:r>
            <a:r>
              <a:rPr sz="4800" spc="-170" dirty="0"/>
              <a:t> </a:t>
            </a:r>
            <a:r>
              <a:rPr sz="4800" dirty="0"/>
              <a:t>tension,</a:t>
            </a:r>
            <a:r>
              <a:rPr sz="4800" spc="-140" dirty="0"/>
              <a:t> </a:t>
            </a:r>
            <a:r>
              <a:rPr sz="4800" dirty="0"/>
              <a:t>dite</a:t>
            </a:r>
            <a:r>
              <a:rPr sz="4800" spc="-160" dirty="0"/>
              <a:t> </a:t>
            </a:r>
            <a:r>
              <a:rPr sz="4800" spc="-50" dirty="0"/>
              <a:t>« </a:t>
            </a:r>
            <a:r>
              <a:rPr sz="4800" dirty="0"/>
              <a:t>psychogène</a:t>
            </a:r>
            <a:r>
              <a:rPr sz="4800" spc="-300" dirty="0"/>
              <a:t> </a:t>
            </a:r>
            <a:r>
              <a:rPr sz="4800" spc="-50" dirty="0"/>
              <a:t>»</a:t>
            </a:r>
            <a:endParaRPr sz="48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har char="•"/>
              <a:tabLst>
                <a:tab pos="241300" algn="l"/>
              </a:tabLst>
            </a:pPr>
            <a:r>
              <a:rPr dirty="0">
                <a:latin typeface="Arial MT"/>
                <a:cs typeface="Arial MT"/>
              </a:rPr>
              <a:t>Elle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est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b="1" dirty="0"/>
              <a:t>chronique</a:t>
            </a:r>
            <a:r>
              <a:rPr b="1" spc="-45" dirty="0"/>
              <a:t> </a:t>
            </a:r>
            <a:r>
              <a:rPr dirty="0">
                <a:latin typeface="Arial MT"/>
                <a:cs typeface="Arial MT"/>
              </a:rPr>
              <a:t>et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souvent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b="1" spc="-10" dirty="0"/>
              <a:t>permanente</a:t>
            </a:r>
          </a:p>
          <a:p>
            <a:pPr marL="241300" indent="-228600">
              <a:lnSpc>
                <a:spcPct val="100000"/>
              </a:lnSpc>
              <a:spcBef>
                <a:spcPts val="2150"/>
              </a:spcBef>
              <a:buFont typeface="Arial MT"/>
              <a:buChar char="•"/>
              <a:tabLst>
                <a:tab pos="241300" algn="l"/>
                <a:tab pos="1763395" algn="l"/>
                <a:tab pos="3009265" algn="l"/>
                <a:tab pos="5026660" algn="l"/>
                <a:tab pos="5574030" algn="l"/>
                <a:tab pos="6654800" algn="l"/>
                <a:tab pos="7202170" algn="l"/>
                <a:tab pos="8098155" algn="l"/>
                <a:tab pos="8700135" algn="l"/>
              </a:tabLst>
            </a:pPr>
            <a:r>
              <a:rPr i="1" spc="-10" dirty="0">
                <a:latin typeface="Arial"/>
                <a:cs typeface="Arial"/>
              </a:rPr>
              <a:t>céphalée</a:t>
            </a:r>
            <a:r>
              <a:rPr i="1" dirty="0">
                <a:latin typeface="Arial"/>
                <a:cs typeface="Arial"/>
              </a:rPr>
              <a:t>	</a:t>
            </a:r>
            <a:r>
              <a:rPr i="1" spc="-10" dirty="0">
                <a:latin typeface="Arial"/>
                <a:cs typeface="Arial"/>
              </a:rPr>
              <a:t>diffuse</a:t>
            </a:r>
            <a:r>
              <a:rPr spc="-10" dirty="0">
                <a:latin typeface="Arial MT"/>
                <a:cs typeface="Arial MT"/>
              </a:rPr>
              <a:t>,</a:t>
            </a:r>
            <a:r>
              <a:rPr dirty="0">
                <a:latin typeface="Arial MT"/>
                <a:cs typeface="Arial MT"/>
              </a:rPr>
              <a:t>	</a:t>
            </a:r>
            <a:r>
              <a:rPr spc="-10" dirty="0">
                <a:latin typeface="Arial MT"/>
                <a:cs typeface="Arial MT"/>
              </a:rPr>
              <a:t>prédominant</a:t>
            </a:r>
            <a:r>
              <a:rPr dirty="0">
                <a:latin typeface="Arial MT"/>
                <a:cs typeface="Arial MT"/>
              </a:rPr>
              <a:t>	</a:t>
            </a:r>
            <a:r>
              <a:rPr spc="-25" dirty="0">
                <a:latin typeface="Arial MT"/>
                <a:cs typeface="Arial MT"/>
              </a:rPr>
              <a:t>au</a:t>
            </a:r>
            <a:r>
              <a:rPr dirty="0">
                <a:latin typeface="Arial MT"/>
                <a:cs typeface="Arial MT"/>
              </a:rPr>
              <a:t>	</a:t>
            </a:r>
            <a:r>
              <a:rPr spc="-10" dirty="0">
                <a:latin typeface="Arial MT"/>
                <a:cs typeface="Arial MT"/>
              </a:rPr>
              <a:t>vertex</a:t>
            </a:r>
            <a:r>
              <a:rPr dirty="0">
                <a:latin typeface="Arial MT"/>
                <a:cs typeface="Arial MT"/>
              </a:rPr>
              <a:t>	</a:t>
            </a:r>
            <a:r>
              <a:rPr spc="-25" dirty="0">
                <a:latin typeface="Arial MT"/>
                <a:cs typeface="Arial MT"/>
              </a:rPr>
              <a:t>ou</a:t>
            </a:r>
            <a:r>
              <a:rPr dirty="0">
                <a:latin typeface="Arial MT"/>
                <a:cs typeface="Arial MT"/>
              </a:rPr>
              <a:t>	</a:t>
            </a:r>
            <a:r>
              <a:rPr spc="-20" dirty="0">
                <a:latin typeface="Arial MT"/>
                <a:cs typeface="Arial MT"/>
              </a:rPr>
              <a:t>dans</a:t>
            </a:r>
            <a:r>
              <a:rPr dirty="0">
                <a:latin typeface="Arial MT"/>
                <a:cs typeface="Arial MT"/>
              </a:rPr>
              <a:t>	</a:t>
            </a:r>
            <a:r>
              <a:rPr spc="-25" dirty="0">
                <a:latin typeface="Arial MT"/>
                <a:cs typeface="Arial MT"/>
              </a:rPr>
              <a:t>les</a:t>
            </a:r>
            <a:r>
              <a:rPr dirty="0">
                <a:latin typeface="Arial MT"/>
                <a:cs typeface="Arial MT"/>
              </a:rPr>
              <a:t>	</a:t>
            </a:r>
            <a:r>
              <a:rPr spc="-10" dirty="0">
                <a:latin typeface="Arial MT"/>
                <a:cs typeface="Arial MT"/>
              </a:rPr>
              <a:t>régions</a:t>
            </a:r>
          </a:p>
          <a:p>
            <a:pPr marL="88900">
              <a:lnSpc>
                <a:spcPct val="100000"/>
              </a:lnSpc>
              <a:spcBef>
                <a:spcPts val="1250"/>
              </a:spcBef>
            </a:pPr>
            <a:r>
              <a:rPr b="1" spc="-20" dirty="0"/>
              <a:t>cervico-</a:t>
            </a:r>
            <a:r>
              <a:rPr b="1" spc="-10" dirty="0"/>
              <a:t>occipitales</a:t>
            </a:r>
          </a:p>
          <a:p>
            <a:pPr marL="241300" indent="-228600">
              <a:lnSpc>
                <a:spcPct val="100000"/>
              </a:lnSpc>
              <a:spcBef>
                <a:spcPts val="2150"/>
              </a:spcBef>
              <a:buChar char="•"/>
              <a:tabLst>
                <a:tab pos="241300" algn="l"/>
              </a:tabLst>
            </a:pPr>
            <a:r>
              <a:rPr dirty="0">
                <a:latin typeface="Arial MT"/>
                <a:cs typeface="Arial MT"/>
              </a:rPr>
              <a:t>Aggravation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i="1" dirty="0">
                <a:latin typeface="Arial"/>
                <a:cs typeface="Arial"/>
              </a:rPr>
              <a:t>en</a:t>
            </a:r>
            <a:r>
              <a:rPr i="1" spc="-3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périodes</a:t>
            </a:r>
            <a:r>
              <a:rPr i="1" spc="-30" dirty="0">
                <a:latin typeface="Arial"/>
                <a:cs typeface="Arial"/>
              </a:rPr>
              <a:t> </a:t>
            </a:r>
            <a:r>
              <a:rPr b="1" i="1" dirty="0">
                <a:latin typeface="Arial"/>
                <a:cs typeface="Arial"/>
              </a:rPr>
              <a:t>de</a:t>
            </a:r>
            <a:r>
              <a:rPr b="1" i="1" spc="-45" dirty="0">
                <a:latin typeface="Arial"/>
                <a:cs typeface="Arial"/>
              </a:rPr>
              <a:t> </a:t>
            </a:r>
            <a:r>
              <a:rPr b="1" i="1" dirty="0">
                <a:latin typeface="Arial"/>
                <a:cs typeface="Arial"/>
              </a:rPr>
              <a:t>tension</a:t>
            </a:r>
            <a:r>
              <a:rPr b="1" i="1" spc="-45" dirty="0">
                <a:latin typeface="Arial"/>
                <a:cs typeface="Arial"/>
              </a:rPr>
              <a:t> </a:t>
            </a:r>
            <a:r>
              <a:rPr b="1" i="1" dirty="0">
                <a:latin typeface="Arial"/>
                <a:cs typeface="Arial"/>
              </a:rPr>
              <a:t>psychologique,</a:t>
            </a:r>
            <a:r>
              <a:rPr b="1" i="1" spc="-6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de</a:t>
            </a:r>
            <a:r>
              <a:rPr i="1" spc="-30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fatigue</a:t>
            </a:r>
          </a:p>
          <a:p>
            <a:pPr marL="88900" marR="6350" indent="-76200">
              <a:lnSpc>
                <a:spcPct val="140100"/>
              </a:lnSpc>
              <a:spcBef>
                <a:spcPts val="894"/>
              </a:spcBef>
              <a:buChar char="•"/>
              <a:tabLst>
                <a:tab pos="88900" algn="l"/>
                <a:tab pos="241300" algn="l"/>
                <a:tab pos="3051810" algn="l"/>
                <a:tab pos="7375525" algn="l"/>
              </a:tabLst>
            </a:pPr>
            <a:r>
              <a:rPr dirty="0">
                <a:latin typeface="Arial MT"/>
                <a:cs typeface="Arial MT"/>
              </a:rPr>
              <a:t>	L’examen</a:t>
            </a:r>
            <a:r>
              <a:rPr spc="17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clinique</a:t>
            </a:r>
            <a:r>
              <a:rPr dirty="0">
                <a:latin typeface="Arial MT"/>
                <a:cs typeface="Arial MT"/>
              </a:rPr>
              <a:t>	peut</a:t>
            </a:r>
            <a:r>
              <a:rPr spc="29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révéler</a:t>
            </a:r>
            <a:r>
              <a:rPr spc="29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des</a:t>
            </a:r>
            <a:r>
              <a:rPr spc="29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douleurs</a:t>
            </a:r>
            <a:r>
              <a:rPr spc="290" dirty="0">
                <a:latin typeface="Arial MT"/>
                <a:cs typeface="Arial MT"/>
              </a:rPr>
              <a:t> </a:t>
            </a:r>
            <a:r>
              <a:rPr spc="-50" dirty="0">
                <a:latin typeface="Arial MT"/>
                <a:cs typeface="Arial MT"/>
              </a:rPr>
              <a:t>à</a:t>
            </a:r>
            <a:r>
              <a:rPr dirty="0">
                <a:latin typeface="Arial MT"/>
                <a:cs typeface="Arial MT"/>
              </a:rPr>
              <a:t>	la</a:t>
            </a:r>
            <a:r>
              <a:rPr spc="26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palpation</a:t>
            </a:r>
            <a:r>
              <a:rPr spc="280" dirty="0">
                <a:latin typeface="Arial MT"/>
                <a:cs typeface="Arial MT"/>
              </a:rPr>
              <a:t> </a:t>
            </a:r>
            <a:r>
              <a:rPr spc="-25" dirty="0">
                <a:latin typeface="Arial MT"/>
                <a:cs typeface="Arial MT"/>
              </a:rPr>
              <a:t>des </a:t>
            </a:r>
            <a:r>
              <a:rPr dirty="0">
                <a:latin typeface="Arial MT"/>
                <a:cs typeface="Arial MT"/>
              </a:rPr>
              <a:t>muscles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cervicaux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paravertébraux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et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des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trapèzes.</a:t>
            </a:r>
          </a:p>
          <a:p>
            <a:pPr marL="241300" indent="-228600">
              <a:lnSpc>
                <a:spcPct val="100000"/>
              </a:lnSpc>
              <a:spcBef>
                <a:spcPts val="2150"/>
              </a:spcBef>
              <a:buChar char="•"/>
              <a:tabLst>
                <a:tab pos="241300" algn="l"/>
              </a:tabLst>
            </a:pPr>
            <a:r>
              <a:rPr spc="-10" dirty="0">
                <a:latin typeface="Arial MT"/>
                <a:cs typeface="Arial MT"/>
              </a:rPr>
              <a:t>L’examen</a:t>
            </a:r>
            <a:r>
              <a:rPr spc="-8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neuro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est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b="1" dirty="0"/>
              <a:t>sans</a:t>
            </a:r>
            <a:r>
              <a:rPr b="1" spc="-55" dirty="0"/>
              <a:t> </a:t>
            </a:r>
            <a:r>
              <a:rPr b="1" spc="-10" dirty="0"/>
              <a:t>anomalies.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1012"/>
            <a:ext cx="30734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5536"/>
            <a:ext cx="10330815" cy="4768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527685" algn="l"/>
              </a:tabLst>
            </a:pPr>
            <a:r>
              <a:rPr sz="2400" dirty="0">
                <a:latin typeface="Arial MT"/>
                <a:cs typeface="Arial MT"/>
              </a:rPr>
              <a:t>Classer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selon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mode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d’évolution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et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signes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l’examen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clinique</a:t>
            </a:r>
            <a:endParaRPr sz="2400">
              <a:latin typeface="Arial MT"/>
              <a:cs typeface="Arial MT"/>
            </a:endParaRPr>
          </a:p>
          <a:p>
            <a:pPr marL="527685" marR="757555" indent="-515620">
              <a:lnSpc>
                <a:spcPct val="130000"/>
              </a:lnSpc>
              <a:spcBef>
                <a:spcPts val="1000"/>
              </a:spcBef>
              <a:buAutoNum type="arabicPeriod"/>
              <a:tabLst>
                <a:tab pos="527685" algn="l"/>
              </a:tabLst>
            </a:pPr>
            <a:r>
              <a:rPr sz="2400" dirty="0">
                <a:latin typeface="Arial MT"/>
                <a:cs typeface="Arial MT"/>
              </a:rPr>
              <a:t>Éliminer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causes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secondaires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traitables: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drapeaux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rouges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de </a:t>
            </a:r>
            <a:r>
              <a:rPr sz="2400" dirty="0">
                <a:latin typeface="Arial MT"/>
                <a:cs typeface="Arial MT"/>
              </a:rPr>
              <a:t>céphalées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primaires</a:t>
            </a:r>
            <a:endParaRPr sz="2400">
              <a:latin typeface="Arial MT"/>
              <a:cs typeface="Arial MT"/>
            </a:endParaRPr>
          </a:p>
          <a:p>
            <a:pPr marL="527685" marR="5080" indent="-515620">
              <a:lnSpc>
                <a:spcPct val="130000"/>
              </a:lnSpc>
              <a:spcBef>
                <a:spcPts val="1010"/>
              </a:spcBef>
              <a:buAutoNum type="arabicPeriod"/>
              <a:tabLst>
                <a:tab pos="527685" algn="l"/>
              </a:tabLst>
            </a:pP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Urgences</a:t>
            </a:r>
            <a:r>
              <a:rPr sz="2400" b="1" spc="-1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sz="2400" b="1" spc="-10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hémorragie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méningée,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AVC,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Dissection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artérielle,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méningite, méningoencéphalite,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thrombophlébite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cérébrale</a:t>
            </a:r>
            <a:endParaRPr sz="2400">
              <a:latin typeface="Arial MT"/>
              <a:cs typeface="Arial MT"/>
            </a:endParaRPr>
          </a:p>
          <a:p>
            <a:pPr marL="527685" indent="-514984">
              <a:lnSpc>
                <a:spcPct val="100000"/>
              </a:lnSpc>
              <a:spcBef>
                <a:spcPts val="1860"/>
              </a:spcBef>
              <a:buAutoNum type="arabicPeriod"/>
              <a:tabLst>
                <a:tab pos="527685" algn="l"/>
              </a:tabLst>
            </a:pP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Critères</a:t>
            </a:r>
            <a:r>
              <a:rPr sz="2400" b="1" spc="-9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00000"/>
                </a:solidFill>
                <a:latin typeface="Arial"/>
                <a:cs typeface="Arial"/>
              </a:rPr>
              <a:t>diagnostiques</a:t>
            </a:r>
            <a:r>
              <a:rPr sz="2400" b="1" spc="-9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Arial"/>
                <a:cs typeface="Arial"/>
              </a:rPr>
              <a:t>cliniques</a:t>
            </a:r>
            <a:endParaRPr sz="2400">
              <a:latin typeface="Arial"/>
              <a:cs typeface="Arial"/>
            </a:endParaRPr>
          </a:p>
          <a:p>
            <a:pPr marL="984885" lvl="1" indent="-514984">
              <a:lnSpc>
                <a:spcPct val="100000"/>
              </a:lnSpc>
              <a:spcBef>
                <a:spcPts val="1370"/>
              </a:spcBef>
              <a:buAutoNum type="arabicPeriod"/>
              <a:tabLst>
                <a:tab pos="984885" algn="l"/>
              </a:tabLst>
            </a:pPr>
            <a:r>
              <a:rPr sz="2400" b="1" dirty="0">
                <a:latin typeface="Arial"/>
                <a:cs typeface="Arial"/>
              </a:rPr>
              <a:t>Migraine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avec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et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sans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aura</a:t>
            </a:r>
            <a:endParaRPr sz="2400">
              <a:latin typeface="Arial"/>
              <a:cs typeface="Arial"/>
            </a:endParaRPr>
          </a:p>
          <a:p>
            <a:pPr marL="984885" lvl="1" indent="-514984">
              <a:lnSpc>
                <a:spcPct val="100000"/>
              </a:lnSpc>
              <a:spcBef>
                <a:spcPts val="1355"/>
              </a:spcBef>
              <a:buAutoNum type="arabicPeriod"/>
              <a:tabLst>
                <a:tab pos="984885" algn="l"/>
              </a:tabLst>
            </a:pPr>
            <a:r>
              <a:rPr sz="2400" b="1" dirty="0">
                <a:latin typeface="Arial"/>
                <a:cs typeface="Arial"/>
              </a:rPr>
              <a:t>Névralgie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du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trijumeau</a:t>
            </a:r>
            <a:endParaRPr sz="2400">
              <a:latin typeface="Arial"/>
              <a:cs typeface="Arial"/>
            </a:endParaRPr>
          </a:p>
          <a:p>
            <a:pPr marL="984885" lvl="1" indent="-514984">
              <a:lnSpc>
                <a:spcPct val="100000"/>
              </a:lnSpc>
              <a:spcBef>
                <a:spcPts val="1370"/>
              </a:spcBef>
              <a:buAutoNum type="arabicPeriod"/>
              <a:tabLst>
                <a:tab pos="984885" algn="l"/>
              </a:tabLst>
            </a:pPr>
            <a:r>
              <a:rPr sz="2400" b="1" dirty="0">
                <a:latin typeface="Arial"/>
                <a:cs typeface="Arial"/>
              </a:rPr>
              <a:t>Algie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vasculaire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la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face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A73755-E224-2BDB-DF6F-4B0D5D5F4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7272"/>
            <a:ext cx="12034520" cy="677108"/>
          </a:xfrm>
        </p:spPr>
        <p:txBody>
          <a:bodyPr/>
          <a:lstStyle/>
          <a:p>
            <a:r>
              <a:rPr lang="fr-FR" b="0" dirty="0">
                <a:latin typeface="Segoe UI Historic" panose="020B0502040204020203" pitchFamily="34" charset="0"/>
              </a:rPr>
              <a:t>1. Les caractéristiques d’une migraine sont  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92DBF2-21A4-38A3-47E0-0BBCD5C94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9" y="1944065"/>
            <a:ext cx="9797415" cy="3876510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Douleur bilatérale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Douleur du cuir de chevelu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Douleur résistante aux antalgiques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Accompagnés parfois de signes vasomoteurs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Récupération complète après la crise </a:t>
            </a:r>
          </a:p>
        </p:txBody>
      </p:sp>
    </p:spTree>
    <p:extLst>
      <p:ext uri="{BB962C8B-B14F-4D97-AF65-F5344CB8AC3E}">
        <p14:creationId xmlns:p14="http://schemas.microsoft.com/office/powerpoint/2010/main" val="8403089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A73755-E224-2BDB-DF6F-4B0D5D5F4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7272"/>
            <a:ext cx="12034520" cy="677108"/>
          </a:xfrm>
        </p:spPr>
        <p:txBody>
          <a:bodyPr/>
          <a:lstStyle/>
          <a:p>
            <a:r>
              <a:rPr lang="fr-FR" b="0" dirty="0">
                <a:latin typeface="Segoe UI Historic" panose="020B0502040204020203" pitchFamily="34" charset="0"/>
              </a:rPr>
              <a:t>Les caractéristiques d’une migraine sont: 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92DBF2-21A4-38A3-47E0-0BBCD5C94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9" y="1944065"/>
            <a:ext cx="9797415" cy="3876510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Douleur bilatérale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Douleur du cuir de chevelu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Douleur résistante aux antalgiques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Accompagnés parfois de signes vasomoteurs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Récupération complète après la crise </a:t>
            </a:r>
          </a:p>
        </p:txBody>
      </p:sp>
    </p:spTree>
    <p:extLst>
      <p:ext uri="{BB962C8B-B14F-4D97-AF65-F5344CB8AC3E}">
        <p14:creationId xmlns:p14="http://schemas.microsoft.com/office/powerpoint/2010/main" val="11644708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EA156D-C79A-D178-A9D0-B70A07B37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7272"/>
            <a:ext cx="12034520" cy="677108"/>
          </a:xfrm>
        </p:spPr>
        <p:txBody>
          <a:bodyPr/>
          <a:lstStyle/>
          <a:p>
            <a:r>
              <a:rPr lang="fr-FR" dirty="0">
                <a:latin typeface="Times New Roman" panose="02020603050405020304" pitchFamily="18" charset="0"/>
                <a:ea typeface="SimSun" panose="02010600030101010101" pitchFamily="2" charset="-122"/>
              </a:rPr>
              <a:t>2. Les Auras typiques 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3E23AE-0F09-D1D1-D89A-354A87609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76400"/>
            <a:ext cx="9797415" cy="4093428"/>
          </a:xfrm>
        </p:spPr>
        <p:txBody>
          <a:bodyPr/>
          <a:lstStyle/>
          <a:p>
            <a:pPr algn="just">
              <a:lnSpc>
                <a:spcPct val="150000"/>
              </a:lnSpc>
              <a:buClr>
                <a:srgbClr val="00B050"/>
              </a:buClr>
            </a:pPr>
            <a:r>
              <a:rPr lang="fr-FR" sz="3200" dirty="0">
                <a:latin typeface="Times New Roman" panose="02020603050405020304" pitchFamily="18" charset="0"/>
                <a:ea typeface="SimSun" panose="02010600030101010101" pitchFamily="2" charset="-122"/>
              </a:rPr>
              <a:t> A. Aura Visuelle </a:t>
            </a:r>
          </a:p>
          <a:p>
            <a:pPr algn="just">
              <a:lnSpc>
                <a:spcPct val="150000"/>
              </a:lnSpc>
              <a:buClr>
                <a:srgbClr val="00B050"/>
              </a:buClr>
            </a:pPr>
            <a:r>
              <a:rPr lang="fr-FR" sz="3200" dirty="0">
                <a:latin typeface="Times New Roman" panose="02020603050405020304" pitchFamily="18" charset="0"/>
                <a:ea typeface="SimSun" panose="02010600030101010101" pitchFamily="2" charset="-122"/>
              </a:rPr>
              <a:t>B. Aura Sensitive </a:t>
            </a:r>
          </a:p>
          <a:p>
            <a:pPr algn="just">
              <a:lnSpc>
                <a:spcPct val="150000"/>
              </a:lnSpc>
              <a:buClr>
                <a:srgbClr val="00B050"/>
              </a:buClr>
            </a:pPr>
            <a:r>
              <a:rPr lang="fr-FR" sz="3200" dirty="0">
                <a:latin typeface="Times New Roman" panose="02020603050405020304" pitchFamily="18" charset="0"/>
                <a:ea typeface="SimSun" panose="02010600030101010101" pitchFamily="2" charset="-122"/>
              </a:rPr>
              <a:t>C. Aura Phasique </a:t>
            </a:r>
          </a:p>
          <a:p>
            <a:pPr algn="just">
              <a:lnSpc>
                <a:spcPct val="150000"/>
              </a:lnSpc>
              <a:buClr>
                <a:srgbClr val="00B050"/>
              </a:buClr>
            </a:pPr>
            <a:r>
              <a:rPr lang="fr-FR" sz="3200" dirty="0">
                <a:latin typeface="Times New Roman" panose="02020603050405020304" pitchFamily="18" charset="0"/>
                <a:ea typeface="SimSun" panose="02010600030101010101" pitchFamily="2" charset="-122"/>
              </a:rPr>
              <a:t>D. Aura Hémiplégique </a:t>
            </a:r>
          </a:p>
          <a:p>
            <a:pPr lvl="0" algn="just">
              <a:lnSpc>
                <a:spcPct val="150000"/>
              </a:lnSpc>
            </a:pPr>
            <a:r>
              <a:rPr lang="fr-FR" sz="3200" dirty="0">
                <a:latin typeface="Times New Roman" panose="02020603050405020304" pitchFamily="18" charset="0"/>
                <a:ea typeface="SimSun" panose="02010600030101010101" pitchFamily="2" charset="-122"/>
              </a:rPr>
              <a:t>E. Aura Rétinienne</a:t>
            </a:r>
          </a:p>
          <a:p>
            <a:endParaRPr lang="fr-FR" dirty="0"/>
          </a:p>
        </p:txBody>
      </p:sp>
      <p:sp>
        <p:nvSpPr>
          <p:cNvPr id="4" name="Éclair 3" descr="-">
            <a:extLst>
              <a:ext uri="{FF2B5EF4-FFF2-40B4-BE49-F238E27FC236}">
                <a16:creationId xmlns:a16="http://schemas.microsoft.com/office/drawing/2014/main" id="{676325C2-E77A-C75A-933C-9B35539F78B9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Éclair 4" descr="-">
            <a:extLst>
              <a:ext uri="{FF2B5EF4-FFF2-40B4-BE49-F238E27FC236}">
                <a16:creationId xmlns:a16="http://schemas.microsoft.com/office/drawing/2014/main" id="{C337AA3A-030A-ADE8-EAF1-E32FB031297F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3532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EA156D-C79A-D178-A9D0-B70A07B37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7272"/>
            <a:ext cx="12034520" cy="677108"/>
          </a:xfrm>
        </p:spPr>
        <p:txBody>
          <a:bodyPr/>
          <a:lstStyle/>
          <a:p>
            <a:r>
              <a:rPr lang="fr-FR" dirty="0">
                <a:latin typeface="Times New Roman" panose="02020603050405020304" pitchFamily="18" charset="0"/>
                <a:ea typeface="SimSun" panose="02010600030101010101" pitchFamily="2" charset="-122"/>
              </a:rPr>
              <a:t>Les Auras typiques 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3E23AE-0F09-D1D1-D89A-354A87609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76400"/>
            <a:ext cx="9797415" cy="4093428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Clr>
                <a:srgbClr val="00B050"/>
              </a:buClr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fr-FR" sz="3200" dirty="0">
                <a:solidFill>
                  <a:srgbClr val="00B05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Aura Visuelle 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UcPeriod"/>
            </a:pPr>
            <a:r>
              <a:rPr lang="fr-FR" sz="3200" dirty="0">
                <a:solidFill>
                  <a:srgbClr val="00B05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Aura Sensitive 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lphaUcPeriod"/>
            </a:pPr>
            <a:r>
              <a:rPr lang="fr-FR" sz="3200" dirty="0">
                <a:solidFill>
                  <a:srgbClr val="00B050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Aura Phasique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ea typeface="SimSun" panose="02010600030101010101" pitchFamily="2" charset="-122"/>
              </a:rPr>
              <a:t>Aura Hémiplégique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lphaUcPeriod"/>
            </a:pPr>
            <a:r>
              <a:rPr lang="fr-FR" sz="3200" dirty="0">
                <a:latin typeface="Times New Roman" panose="02020603050405020304" pitchFamily="18" charset="0"/>
                <a:ea typeface="SimSun" panose="02010600030101010101" pitchFamily="2" charset="-122"/>
              </a:rPr>
              <a:t>Aura Rétinienne</a:t>
            </a:r>
          </a:p>
          <a:p>
            <a:endParaRPr lang="fr-FR" dirty="0"/>
          </a:p>
        </p:txBody>
      </p:sp>
      <p:sp>
        <p:nvSpPr>
          <p:cNvPr id="4" name="Éclair 3" descr="-">
            <a:extLst>
              <a:ext uri="{FF2B5EF4-FFF2-40B4-BE49-F238E27FC236}">
                <a16:creationId xmlns:a16="http://schemas.microsoft.com/office/drawing/2014/main" id="{676325C2-E77A-C75A-933C-9B35539F78B9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Éclair 4" descr="-">
            <a:extLst>
              <a:ext uri="{FF2B5EF4-FFF2-40B4-BE49-F238E27FC236}">
                <a16:creationId xmlns:a16="http://schemas.microsoft.com/office/drawing/2014/main" id="{C337AA3A-030A-ADE8-EAF1-E32FB031297F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79278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90D582-373D-0907-C819-D5D1E9892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7272"/>
            <a:ext cx="12034520" cy="1354217"/>
          </a:xfrm>
        </p:spPr>
        <p:txBody>
          <a:bodyPr/>
          <a:lstStyle/>
          <a:p>
            <a:r>
              <a:rPr lang="fr-FR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La durée habituelle d’une crise de migraine sans traitement est 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C81C59-4C73-DB9F-35E6-817DFEBE9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9" y="1944065"/>
            <a:ext cx="9797415" cy="4401205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Moins de 30 minutes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à 2 heures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Entre 4 et 72 heures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Plus d’une semaine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Entre 15 et 30 minutes </a:t>
            </a:r>
          </a:p>
          <a:p>
            <a:pPr marL="514350" indent="-514350">
              <a:buAutoNum type="alphaUcPeriod"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2084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90D582-373D-0907-C819-D5D1E9892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7272"/>
            <a:ext cx="12034520" cy="1354217"/>
          </a:xfrm>
        </p:spPr>
        <p:txBody>
          <a:bodyPr/>
          <a:lstStyle/>
          <a:p>
            <a:r>
              <a:rPr lang="fr-FR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durée habituelle d’une crise de migraine sans traitement est 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C81C59-4C73-DB9F-35E6-817DFEBE9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9" y="1944065"/>
            <a:ext cx="9797415" cy="4401205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Moins de 30 minutes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à 2 heures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Entre 4 et 72 heures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Plus d’une semaine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Entre 15 et 30 minutes </a:t>
            </a:r>
          </a:p>
          <a:p>
            <a:pPr marL="514350" indent="-514350">
              <a:buAutoNum type="alphaUcPeriod"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1191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270DFE-719B-CAED-BB18-4D1C42C8C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7272"/>
            <a:ext cx="12034520" cy="1354217"/>
          </a:xfrm>
        </p:spPr>
        <p:txBody>
          <a:bodyPr/>
          <a:lstStyle/>
          <a:p>
            <a:r>
              <a:rPr lang="fr-FR" b="0" dirty="0">
                <a:latin typeface="Segoe UI Historic" panose="020B0502040204020203" pitchFamily="34" charset="0"/>
              </a:rPr>
              <a:t>4. Quel symptôme peut précéder la migraine (appelé aura) est : 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C16401D-ADC1-DD29-78AE-375E54C5E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9" y="1944065"/>
            <a:ext cx="9797415" cy="3879203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Nausées uniquement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Toux sèche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Troubles visuels comme des éclairs lumineux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Démangeaisons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Manque du mot</a:t>
            </a:r>
          </a:p>
        </p:txBody>
      </p:sp>
    </p:spTree>
    <p:extLst>
      <p:ext uri="{BB962C8B-B14F-4D97-AF65-F5344CB8AC3E}">
        <p14:creationId xmlns:p14="http://schemas.microsoft.com/office/powerpoint/2010/main" val="26509667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270DFE-719B-CAED-BB18-4D1C42C8C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7272"/>
            <a:ext cx="12034520" cy="1354217"/>
          </a:xfrm>
        </p:spPr>
        <p:txBody>
          <a:bodyPr/>
          <a:lstStyle/>
          <a:p>
            <a:r>
              <a:rPr lang="fr-FR" b="0" dirty="0">
                <a:latin typeface="Segoe UI Historic" panose="020B0502040204020203" pitchFamily="34" charset="0"/>
              </a:rPr>
              <a:t>Quel symptôme peut précéder la migraine (appelé aura) est : 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C16401D-ADC1-DD29-78AE-375E54C5E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9" y="1944065"/>
            <a:ext cx="9797415" cy="3879203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Nausées uniquement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Toux sèche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Troubles visuels comme des éclairs lumineux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Démangeaisons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Manque du mot</a:t>
            </a:r>
          </a:p>
        </p:txBody>
      </p:sp>
    </p:spTree>
    <p:extLst>
      <p:ext uri="{BB962C8B-B14F-4D97-AF65-F5344CB8AC3E}">
        <p14:creationId xmlns:p14="http://schemas.microsoft.com/office/powerpoint/2010/main" val="9204769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1FBAB9-6C91-B281-B148-BC1EE60D6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7272"/>
            <a:ext cx="12034520" cy="1354217"/>
          </a:xfrm>
        </p:spPr>
        <p:txBody>
          <a:bodyPr/>
          <a:lstStyle/>
          <a:p>
            <a:r>
              <a:rPr lang="fr-FR" b="0" dirty="0">
                <a:latin typeface="Segoe UI Historic" panose="020B0502040204020203" pitchFamily="34" charset="0"/>
              </a:rPr>
              <a:t>5. Les caractéristiques principales de la douleur dans l’algie vasculaire de la face sont : 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B0C0E94-BF37-826B-7B74-7D84ACEF6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9" y="1944065"/>
            <a:ext cx="9797415" cy="3879203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Douleur modérée et diffuse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Douleur bilatérale dans tout le crâne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Douleur très intense, autour de l’œil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Douleur liée à une vasoconstriction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Douleur ayant une intensité extrême, maximale en quelques minutes </a:t>
            </a:r>
          </a:p>
        </p:txBody>
      </p:sp>
    </p:spTree>
    <p:extLst>
      <p:ext uri="{BB962C8B-B14F-4D97-AF65-F5344CB8AC3E}">
        <p14:creationId xmlns:p14="http://schemas.microsoft.com/office/powerpoint/2010/main" val="32796886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1FBAB9-6C91-B281-B148-BC1EE60D6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7272"/>
            <a:ext cx="12034520" cy="1354217"/>
          </a:xfrm>
        </p:spPr>
        <p:txBody>
          <a:bodyPr/>
          <a:lstStyle/>
          <a:p>
            <a:r>
              <a:rPr lang="fr-FR" b="0" dirty="0">
                <a:latin typeface="Segoe UI Historic" panose="020B0502040204020203" pitchFamily="34" charset="0"/>
              </a:rPr>
              <a:t>Les caractéristiques principales de la douleur dans l’algie vasculaire de la face sont : 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B0C0E94-BF37-826B-7B74-7D84ACEF6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9" y="1944065"/>
            <a:ext cx="9797415" cy="4679423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Douleur modérée et diffuse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Douleur bilatérale dans tout le crâne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Douleur très intense, autour de l’œil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Douleur liée à une vasoconstriction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Douleur ayant une intensité extrême, maximale en quelques minutes </a:t>
            </a:r>
          </a:p>
        </p:txBody>
      </p:sp>
    </p:spTree>
    <p:extLst>
      <p:ext uri="{BB962C8B-B14F-4D97-AF65-F5344CB8AC3E}">
        <p14:creationId xmlns:p14="http://schemas.microsoft.com/office/powerpoint/2010/main" val="37224360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B3A23B-AC53-8A9C-C7D0-6AB716B8A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7272"/>
            <a:ext cx="12034520" cy="1354217"/>
          </a:xfrm>
        </p:spPr>
        <p:txBody>
          <a:bodyPr/>
          <a:lstStyle/>
          <a:p>
            <a:r>
              <a:rPr lang="fr-FR" b="0" dirty="0">
                <a:latin typeface="Segoe UI Historic" panose="020B0502040204020203" pitchFamily="34" charset="0"/>
              </a:rPr>
              <a:t>6. La durée typique d'une crise d’algie vasculaire de la face 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2C9C29-844C-3BFB-F4B5-FFA64603C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9" y="1944065"/>
            <a:ext cx="9797415" cy="4177554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Quelques secondes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Moins de 15 minutes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Entre 15 minutes et 3 heures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Plus de 24 heures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plus de 72 heures </a:t>
            </a:r>
          </a:p>
        </p:txBody>
      </p:sp>
    </p:spTree>
    <p:extLst>
      <p:ext uri="{BB962C8B-B14F-4D97-AF65-F5344CB8AC3E}">
        <p14:creationId xmlns:p14="http://schemas.microsoft.com/office/powerpoint/2010/main" val="13309947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B3A23B-AC53-8A9C-C7D0-6AB716B8A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7272"/>
            <a:ext cx="12034520" cy="1354217"/>
          </a:xfrm>
        </p:spPr>
        <p:txBody>
          <a:bodyPr/>
          <a:lstStyle/>
          <a:p>
            <a:r>
              <a:rPr lang="fr-FR" b="0" dirty="0">
                <a:latin typeface="Segoe UI Historic" panose="020B0502040204020203" pitchFamily="34" charset="0"/>
              </a:rPr>
              <a:t>6. La durée typique d'une crise d’algie vasculaire de la face 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2C9C29-844C-3BFB-F4B5-FFA64603C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9" y="1944065"/>
            <a:ext cx="9797415" cy="4177554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Quelques secondes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Moins de 15 minutes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sz="28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Entre 15 minutes et 3 heures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Plus de 24 heures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plus de 72 heures </a:t>
            </a:r>
          </a:p>
        </p:txBody>
      </p:sp>
    </p:spTree>
    <p:extLst>
      <p:ext uri="{BB962C8B-B14F-4D97-AF65-F5344CB8AC3E}">
        <p14:creationId xmlns:p14="http://schemas.microsoft.com/office/powerpoint/2010/main" val="41470395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128E78-2BBE-FE44-0A72-C5BDC953E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7272"/>
            <a:ext cx="12034520" cy="1354217"/>
          </a:xfrm>
        </p:spPr>
        <p:txBody>
          <a:bodyPr/>
          <a:lstStyle/>
          <a:p>
            <a:r>
              <a:rPr lang="fr-FR" b="0" dirty="0">
                <a:latin typeface="Segoe UI Historic" panose="020B0502040204020203" pitchFamily="34" charset="0"/>
              </a:rPr>
              <a:t>7. Les symptômes associé à une crise d’algie vasculaire de la face sont : 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A68DE99-9A56-6754-5612-94EF16F03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9" y="1944065"/>
            <a:ext cx="9797415" cy="4177554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Gonflement des lèvres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Larmoiement et congestion nasale du même côté que la douleur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Engourdissement des mains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Fièvre modérée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sz="28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syndrome de Claude Bernard Horner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3189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128E78-2BBE-FE44-0A72-C5BDC953E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7272"/>
            <a:ext cx="12034520" cy="1354217"/>
          </a:xfrm>
        </p:spPr>
        <p:txBody>
          <a:bodyPr/>
          <a:lstStyle/>
          <a:p>
            <a:r>
              <a:rPr lang="fr-FR" b="0" dirty="0">
                <a:latin typeface="Segoe UI Historic" panose="020B0502040204020203" pitchFamily="34" charset="0"/>
              </a:rPr>
              <a:t>Les symptômes associé à une crise d’algie vasculaire de la face sont : 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A68DE99-9A56-6754-5612-94EF16F03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24000"/>
            <a:ext cx="9797415" cy="5039328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Gonflement des lèvres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sz="28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Larmoiement et congestion nasale du même côté que la douleur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Engourdissement des mains 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Fièvre modérée</a:t>
            </a:r>
          </a:p>
          <a:p>
            <a:pPr marL="514350" indent="-514350">
              <a:lnSpc>
                <a:spcPct val="200000"/>
              </a:lnSpc>
              <a:buAutoNum type="alphaUcPeriod"/>
            </a:pPr>
            <a:r>
              <a:rPr lang="fr-FR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syndrome de Claude Bernard Horner</a:t>
            </a:r>
            <a:endParaRPr lang="fr-FR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9609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F5A481-0576-F4CF-83A1-983F35102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7272"/>
            <a:ext cx="12034520" cy="677108"/>
          </a:xfrm>
        </p:spPr>
        <p:txBody>
          <a:bodyPr/>
          <a:lstStyle/>
          <a:p>
            <a:r>
              <a:rPr lang="fr-FR" b="0" dirty="0">
                <a:latin typeface="Segoe UI Historic" panose="020B0502040204020203" pitchFamily="34" charset="0"/>
              </a:rPr>
              <a:t>8. Les symptômes de la maladie de Horton sont :  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F9E3AEB-7327-ACFF-A884-220F77DB3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143000"/>
            <a:ext cx="9797415" cy="4177554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Douleurs articulaires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Céphalées pariétales 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Éruption cutanée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en-US" sz="28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Une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nécrose</a:t>
            </a:r>
            <a:r>
              <a:rPr lang="en-US" sz="28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linguale</a:t>
            </a:r>
            <a:endParaRPr lang="fr-FR" sz="28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scotome central </a:t>
            </a:r>
            <a:endParaRPr lang="fr-FR" sz="2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460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F5A481-0576-F4CF-83A1-983F35102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7272"/>
            <a:ext cx="12034520" cy="677108"/>
          </a:xfrm>
        </p:spPr>
        <p:txBody>
          <a:bodyPr/>
          <a:lstStyle/>
          <a:p>
            <a:r>
              <a:rPr lang="fr-FR" b="0" dirty="0">
                <a:latin typeface="Segoe UI Historic" panose="020B0502040204020203" pitchFamily="34" charset="0"/>
              </a:rPr>
              <a:t>Les symptômes de la maladie de Horton sont :  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F9E3AEB-7327-ACFF-A884-220F77DB3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143000"/>
            <a:ext cx="9797415" cy="4177554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Douleurs articulaires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Céphalées pariétales 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Éruption cutanée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en-US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Une </a:t>
            </a:r>
            <a:r>
              <a:rPr lang="en-US" sz="2800" b="1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nécrose</a:t>
            </a:r>
            <a:r>
              <a:rPr lang="en-US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linguale</a:t>
            </a:r>
            <a:endParaRPr lang="fr-FR" sz="2800" b="1" dirty="0">
              <a:solidFill>
                <a:srgbClr val="00B05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scotome central </a:t>
            </a:r>
            <a:endParaRPr lang="fr-FR" sz="2800" b="1" i="0" dirty="0">
              <a:solidFill>
                <a:srgbClr val="00B05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9490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0A7E81-EEA7-CF59-0B5B-F309A0561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7272"/>
            <a:ext cx="12034520" cy="1354217"/>
          </a:xfrm>
        </p:spPr>
        <p:txBody>
          <a:bodyPr/>
          <a:lstStyle/>
          <a:p>
            <a:r>
              <a:rPr lang="fr-FR" b="0" dirty="0">
                <a:latin typeface="Segoe UI Historic" panose="020B0502040204020203" pitchFamily="34" charset="0"/>
              </a:rPr>
              <a:t>9. Quels examens demandés pour confirmer le diagnostic de la maladie d’Horton? 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D623ED3-7B8F-8804-C72A-23F775439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9" y="1944065"/>
            <a:ext cx="9797415" cy="3879203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Scanner cérébral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Ponction lombaire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Biopsie de l'artère temporale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Radiographie du crâne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Echo doppler</a:t>
            </a:r>
          </a:p>
        </p:txBody>
      </p:sp>
    </p:spTree>
    <p:extLst>
      <p:ext uri="{BB962C8B-B14F-4D97-AF65-F5344CB8AC3E}">
        <p14:creationId xmlns:p14="http://schemas.microsoft.com/office/powerpoint/2010/main" val="24466732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0A7E81-EEA7-CF59-0B5B-F309A0561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7272"/>
            <a:ext cx="12034520" cy="1354217"/>
          </a:xfrm>
        </p:spPr>
        <p:txBody>
          <a:bodyPr/>
          <a:lstStyle/>
          <a:p>
            <a:r>
              <a:rPr lang="fr-FR" b="0" dirty="0">
                <a:latin typeface="Segoe UI Historic" panose="020B0502040204020203" pitchFamily="34" charset="0"/>
              </a:rPr>
              <a:t>Quels examens demandés pour confirmer le diagnostic de la maladie d’Horton? 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D623ED3-7B8F-8804-C72A-23F775439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9" y="1944065"/>
            <a:ext cx="9797415" cy="3879203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Scanner cérébral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Ponction lombaire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Biopsie de l'artère temporale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Radiographie du crâne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Echo doppler</a:t>
            </a:r>
          </a:p>
        </p:txBody>
      </p:sp>
    </p:spTree>
    <p:extLst>
      <p:ext uri="{BB962C8B-B14F-4D97-AF65-F5344CB8AC3E}">
        <p14:creationId xmlns:p14="http://schemas.microsoft.com/office/powerpoint/2010/main" val="25117327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13C494-2F78-DAC4-4B19-D2C51AE96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7272"/>
            <a:ext cx="12034520" cy="1354217"/>
          </a:xfrm>
        </p:spPr>
        <p:txBody>
          <a:bodyPr/>
          <a:lstStyle/>
          <a:p>
            <a:r>
              <a:rPr lang="fr-FR" b="0" dirty="0">
                <a:latin typeface="Segoe UI Historic" panose="020B0502040204020203" pitchFamily="34" charset="0"/>
              </a:rPr>
              <a:t>10. Les risques associé à la maladie de Horton sont :  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FB147CE-CCFE-AD81-AB8C-7D033509B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9" y="1944065"/>
            <a:ext cx="9797415" cy="4708981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Infarctus du myocarde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Perte de poids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Cécité brutale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Paralysie faciale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un AVC occipital </a:t>
            </a:r>
            <a:endParaRPr lang="fr-FR" sz="2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lphaUcParenR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575158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13C494-2F78-DAC4-4B19-D2C51AE96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7272"/>
            <a:ext cx="12034520" cy="677108"/>
          </a:xfrm>
        </p:spPr>
        <p:txBody>
          <a:bodyPr/>
          <a:lstStyle/>
          <a:p>
            <a:r>
              <a:rPr lang="fr-FR" b="0" dirty="0">
                <a:latin typeface="Segoe UI Historic" panose="020B0502040204020203" pitchFamily="34" charset="0"/>
              </a:rPr>
              <a:t>Les risques associé à la maladie de Horton sont :  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FB147CE-CCFE-AD81-AB8C-7D033509B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9" y="1944065"/>
            <a:ext cx="9797415" cy="4708981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Infarctus du myocarde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Perte de poids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Cécité brutale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Paralysie faciale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un AVC occipital </a:t>
            </a:r>
            <a:endParaRPr lang="fr-FR" sz="2800" b="1" i="0" dirty="0">
              <a:solidFill>
                <a:srgbClr val="00B05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lphaUcParenR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305946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58FEAC-DED0-E7A6-7661-4D13E898B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7272"/>
            <a:ext cx="12034520" cy="1354217"/>
          </a:xfrm>
        </p:spPr>
        <p:txBody>
          <a:bodyPr/>
          <a:lstStyle/>
          <a:p>
            <a:r>
              <a:rPr lang="fr-FR" b="0" dirty="0">
                <a:latin typeface="Segoe UI Historic" panose="020B0502040204020203" pitchFamily="34" charset="0"/>
              </a:rPr>
              <a:t>11. Quel est le traitement de première intention de la maladie de Horton ? 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D8491A7-3F8C-972E-1247-208B272AB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9" y="1944065"/>
            <a:ext cx="9797415" cy="3879203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Antibiotiques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AINS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Corticoïdes à forte dose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Immunothérapie ciblée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Aspirine </a:t>
            </a:r>
          </a:p>
        </p:txBody>
      </p:sp>
    </p:spTree>
    <p:extLst>
      <p:ext uri="{BB962C8B-B14F-4D97-AF65-F5344CB8AC3E}">
        <p14:creationId xmlns:p14="http://schemas.microsoft.com/office/powerpoint/2010/main" val="11533769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58FEAC-DED0-E7A6-7661-4D13E898B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7272"/>
            <a:ext cx="12034520" cy="1354217"/>
          </a:xfrm>
        </p:spPr>
        <p:txBody>
          <a:bodyPr/>
          <a:lstStyle/>
          <a:p>
            <a:r>
              <a:rPr lang="fr-FR" b="0" dirty="0">
                <a:latin typeface="Segoe UI Historic" panose="020B0502040204020203" pitchFamily="34" charset="0"/>
              </a:rPr>
              <a:t>11. Quel est le traitement de première intention de la maladie de Horton ? 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D8491A7-3F8C-972E-1247-208B272AB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9" y="1944065"/>
            <a:ext cx="9797415" cy="3879203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Antibiotiques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AINS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Corticoïdes à forte dose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Immunothérapie ciblée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Aspirine </a:t>
            </a:r>
          </a:p>
        </p:txBody>
      </p:sp>
    </p:spTree>
    <p:extLst>
      <p:ext uri="{BB962C8B-B14F-4D97-AF65-F5344CB8AC3E}">
        <p14:creationId xmlns:p14="http://schemas.microsoft.com/office/powerpoint/2010/main" val="332817078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E9CB8D-CFA9-0223-4718-C27147C37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7272"/>
            <a:ext cx="12034520" cy="1354217"/>
          </a:xfrm>
        </p:spPr>
        <p:txBody>
          <a:bodyPr/>
          <a:lstStyle/>
          <a:p>
            <a:r>
              <a:rPr lang="fr-FR" b="0" dirty="0">
                <a:latin typeface="Segoe UI Historic" panose="020B0502040204020203" pitchFamily="34" charset="0"/>
              </a:rPr>
              <a:t>12. La branche du nerf trijumeau le plus souvent atteinte dans la névralgie du trijumeau est: 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42A4D25-5C77-7D2B-9D5E-1CD94692E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9" y="1944065"/>
            <a:ext cx="9797415" cy="4677178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b="0" i="0" dirty="0">
                <a:effectLst/>
                <a:latin typeface="Segoe UI Historic" panose="020B0502040204020203" pitchFamily="34" charset="0"/>
              </a:rPr>
              <a:t>V1 (ophtalmique)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b="0" i="0" dirty="0">
                <a:effectLst/>
                <a:latin typeface="Segoe UI Historic" panose="020B0502040204020203" pitchFamily="34" charset="0"/>
              </a:rPr>
              <a:t>V2 (maxillaire)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b="0" i="0" dirty="0">
                <a:effectLst/>
                <a:latin typeface="Segoe UI Historic" panose="020B0502040204020203" pitchFamily="34" charset="0"/>
              </a:rPr>
              <a:t>V3 (mandibulaire)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b="0" i="0" dirty="0">
                <a:effectLst/>
                <a:latin typeface="Segoe UI Historic" panose="020B0502040204020203" pitchFamily="34" charset="0"/>
              </a:rPr>
              <a:t>V2 et V3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dirty="0">
                <a:latin typeface="Segoe UI Historic" panose="020B0502040204020203" pitchFamily="34" charset="0"/>
              </a:rPr>
              <a:t>V1 et V3 </a:t>
            </a:r>
            <a:r>
              <a:rPr lang="fr-FR" b="0" i="0" dirty="0">
                <a:effectLst/>
                <a:latin typeface="Segoe UI Historic" panose="020B0502040204020203" pitchFamily="34" charset="0"/>
              </a:rPr>
              <a:t> </a:t>
            </a:r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154305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E9CB8D-CFA9-0223-4718-C27147C37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7272"/>
            <a:ext cx="12034520" cy="1354217"/>
          </a:xfrm>
        </p:spPr>
        <p:txBody>
          <a:bodyPr/>
          <a:lstStyle/>
          <a:p>
            <a:r>
              <a:rPr lang="fr-FR" b="0" dirty="0">
                <a:latin typeface="Segoe UI Historic" panose="020B0502040204020203" pitchFamily="34" charset="0"/>
              </a:rPr>
              <a:t>La branche du nerf trijumeau le plus souvent atteinte dans la névralgie du trijumeau est: 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42A4D25-5C77-7D2B-9D5E-1CD94692E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9" y="1944065"/>
            <a:ext cx="9797415" cy="4677178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b="0" i="0" dirty="0">
                <a:effectLst/>
                <a:latin typeface="Segoe UI Historic" panose="020B0502040204020203" pitchFamily="34" charset="0"/>
              </a:rPr>
              <a:t>V1 (ophtalmique)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i="0" dirty="0">
                <a:effectLst/>
                <a:latin typeface="Segoe UI Historic" panose="020B0502040204020203" pitchFamily="34" charset="0"/>
              </a:rPr>
              <a:t>V2 (maxillaire)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b="0" i="0" dirty="0">
                <a:effectLst/>
                <a:latin typeface="Segoe UI Historic" panose="020B0502040204020203" pitchFamily="34" charset="0"/>
              </a:rPr>
              <a:t>V3 (mandibulaire)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b="1" i="0" dirty="0">
                <a:solidFill>
                  <a:srgbClr val="00B050"/>
                </a:solidFill>
                <a:effectLst/>
                <a:latin typeface="Segoe UI Historic" panose="020B0502040204020203" pitchFamily="34" charset="0"/>
              </a:rPr>
              <a:t>V2 et V3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dirty="0">
                <a:latin typeface="Segoe UI Historic" panose="020B0502040204020203" pitchFamily="34" charset="0"/>
              </a:rPr>
              <a:t>V1 et V3 </a:t>
            </a:r>
            <a:r>
              <a:rPr lang="fr-FR" b="0" i="0" dirty="0">
                <a:effectLst/>
                <a:latin typeface="Segoe UI Historic" panose="020B0502040204020203" pitchFamily="34" charset="0"/>
              </a:rPr>
              <a:t> </a:t>
            </a:r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0307746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650660-50E5-DB11-6ECD-E92419418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7272"/>
            <a:ext cx="12034520" cy="1354217"/>
          </a:xfrm>
        </p:spPr>
        <p:txBody>
          <a:bodyPr/>
          <a:lstStyle/>
          <a:p>
            <a:r>
              <a:rPr lang="fr-FR" b="0" dirty="0">
                <a:latin typeface="Segoe UI Historic" panose="020B0502040204020203" pitchFamily="34" charset="0"/>
              </a:rPr>
              <a:t>13. Les caractéristiques de la douleur dans la névralgie faciale classique est :  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023A0BF-91B7-AAFC-58E4-B635BEAA5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00200"/>
            <a:ext cx="9797415" cy="5901103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Continue, sourde et profonde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Pulsatile, nocturne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Brève, fulgurante et en éclair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Permanente et bilatérale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survient en salves sur quelques minutes séparées par des intervalles libres de toute douleur</a:t>
            </a:r>
            <a:r>
              <a:rPr lang="fr-FR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53590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650660-50E5-DB11-6ECD-E92419418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7272"/>
            <a:ext cx="12034520" cy="1354217"/>
          </a:xfrm>
        </p:spPr>
        <p:txBody>
          <a:bodyPr/>
          <a:lstStyle/>
          <a:p>
            <a:r>
              <a:rPr lang="fr-FR" b="0" dirty="0">
                <a:latin typeface="Segoe UI Historic" panose="020B0502040204020203" pitchFamily="34" charset="0"/>
              </a:rPr>
              <a:t>13. Les caractéristiques de la douleur dans la névralgie faciale classique est :  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023A0BF-91B7-AAFC-58E4-B635BEAA5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00200"/>
            <a:ext cx="9797415" cy="5901103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Continue, sourde et profonde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Pulsatile, nocturne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Brève, fulgurante et en éclair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Permanente et bilatérale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survient en salves sur quelques minutes séparées par des intervalles libres de toute douleur</a:t>
            </a:r>
            <a:r>
              <a:rPr lang="fr-FR" sz="28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72178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6C17D3-5C07-CB3C-C3D8-967C00F6C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7272"/>
            <a:ext cx="12034520" cy="677108"/>
          </a:xfrm>
        </p:spPr>
        <p:txBody>
          <a:bodyPr/>
          <a:lstStyle/>
          <a:p>
            <a:r>
              <a:rPr lang="fr-FR" b="0" dirty="0">
                <a:latin typeface="Segoe UI Historic" panose="020B0502040204020203" pitchFamily="34" charset="0"/>
              </a:rPr>
              <a:t>14. Une zone dite "gâchette" est: 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6B6DA3-D985-4799-73EA-05305FAF3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219200"/>
            <a:ext cx="10896600" cy="5039328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Une zone cutanée qui déclenche une crise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Une zone où on applique un traitement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Une lésion visible sur IRM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Une zone de douleur spontanée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zone caractérisée par une hypoesthésie à l’examen neurologique </a:t>
            </a:r>
          </a:p>
        </p:txBody>
      </p:sp>
    </p:spTree>
    <p:extLst>
      <p:ext uri="{BB962C8B-B14F-4D97-AF65-F5344CB8AC3E}">
        <p14:creationId xmlns:p14="http://schemas.microsoft.com/office/powerpoint/2010/main" val="165586011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6C17D3-5C07-CB3C-C3D8-967C00F6C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7272"/>
            <a:ext cx="12034520" cy="677108"/>
          </a:xfrm>
        </p:spPr>
        <p:txBody>
          <a:bodyPr/>
          <a:lstStyle/>
          <a:p>
            <a:r>
              <a:rPr lang="fr-FR" b="0" dirty="0">
                <a:latin typeface="Segoe UI Historic" panose="020B0502040204020203" pitchFamily="34" charset="0"/>
              </a:rPr>
              <a:t>Une zone dite "gâchette" est: 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6B6DA3-D985-4799-73EA-05305FAF3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219200"/>
            <a:ext cx="10896600" cy="4177554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Une zone cutanée qui déclenche une crise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Une zone où on applique un traitement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Une lésion visible sur IRM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Une zone de douleur spontanée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zone caractérisée par une hypoesthésie à l’examen neurologique </a:t>
            </a:r>
          </a:p>
        </p:txBody>
      </p:sp>
    </p:spTree>
    <p:extLst>
      <p:ext uri="{BB962C8B-B14F-4D97-AF65-F5344CB8AC3E}">
        <p14:creationId xmlns:p14="http://schemas.microsoft.com/office/powerpoint/2010/main" val="104443998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99AF38-FAD3-B3CA-1F68-D2D9E1542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7272"/>
            <a:ext cx="12034520" cy="1354217"/>
          </a:xfrm>
        </p:spPr>
        <p:txBody>
          <a:bodyPr/>
          <a:lstStyle/>
          <a:p>
            <a:r>
              <a:rPr lang="fr-FR" b="0" dirty="0">
                <a:latin typeface="Segoe UI Historic" panose="020B0502040204020203" pitchFamily="34" charset="0"/>
              </a:rPr>
              <a:t>15. Quel facteur peut déclencher une crise de névralgie du trijumeau ? 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220F819-E01D-0C9A-CFED-B21483D2B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9" y="1944065"/>
            <a:ext cx="9797415" cy="4177554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 stress uniquement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 froid, le brossage des dents ou la mastication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L’exercice physique intense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 sommeil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L’alcool </a:t>
            </a:r>
          </a:p>
        </p:txBody>
      </p:sp>
    </p:spTree>
    <p:extLst>
      <p:ext uri="{BB962C8B-B14F-4D97-AF65-F5344CB8AC3E}">
        <p14:creationId xmlns:p14="http://schemas.microsoft.com/office/powerpoint/2010/main" val="195097741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99AF38-FAD3-B3CA-1F68-D2D9E1542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7272"/>
            <a:ext cx="12034520" cy="1354217"/>
          </a:xfrm>
        </p:spPr>
        <p:txBody>
          <a:bodyPr/>
          <a:lstStyle/>
          <a:p>
            <a:r>
              <a:rPr lang="fr-FR" b="0" dirty="0">
                <a:latin typeface="Segoe UI Historic" panose="020B0502040204020203" pitchFamily="34" charset="0"/>
              </a:rPr>
              <a:t>15. Quel facteur peut déclencher une crise de névralgie du trijumeau ? 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220F819-E01D-0C9A-CFED-B21483D2B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9" y="1944065"/>
            <a:ext cx="9797415" cy="4177554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 stress uniquement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 froid, le brossage des dents ou la mastication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L’exercice physique intense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 sommeil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L’alcool </a:t>
            </a:r>
          </a:p>
        </p:txBody>
      </p:sp>
    </p:spTree>
    <p:extLst>
      <p:ext uri="{BB962C8B-B14F-4D97-AF65-F5344CB8AC3E}">
        <p14:creationId xmlns:p14="http://schemas.microsoft.com/office/powerpoint/2010/main" val="40082747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A76D88-8109-3044-D72C-DB36399B9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7272"/>
            <a:ext cx="12034520" cy="1354217"/>
          </a:xfrm>
        </p:spPr>
        <p:txBody>
          <a:bodyPr/>
          <a:lstStyle/>
          <a:p>
            <a:r>
              <a:rPr lang="fr-FR" b="0" dirty="0">
                <a:latin typeface="Segoe UI Historic" panose="020B0502040204020203" pitchFamily="34" charset="0"/>
              </a:rPr>
              <a:t>16. La cause la plus fréquente de la névralgie faciale classique est : 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C54B6E4-8F3F-0CAD-7453-603C6216B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9" y="1944065"/>
            <a:ext cx="9797415" cy="4177554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Une tumeur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Une infection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 conflit vasculo-nerveux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Une sclérose en plaques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neurinome du V </a:t>
            </a:r>
          </a:p>
        </p:txBody>
      </p:sp>
    </p:spTree>
    <p:extLst>
      <p:ext uri="{BB962C8B-B14F-4D97-AF65-F5344CB8AC3E}">
        <p14:creationId xmlns:p14="http://schemas.microsoft.com/office/powerpoint/2010/main" val="250937278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A76D88-8109-3044-D72C-DB36399B9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-17272"/>
            <a:ext cx="12034520" cy="1354217"/>
          </a:xfrm>
        </p:spPr>
        <p:txBody>
          <a:bodyPr/>
          <a:lstStyle/>
          <a:p>
            <a:r>
              <a:rPr lang="fr-FR" b="0" dirty="0">
                <a:latin typeface="Segoe UI Historic" panose="020B0502040204020203" pitchFamily="34" charset="0"/>
              </a:rPr>
              <a:t>16. La cause la plus fréquente de la névralgie faciale classique est : 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C54B6E4-8F3F-0CAD-7453-603C6216B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9" y="1944065"/>
            <a:ext cx="9797415" cy="4177554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Une tumeur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Une infection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 conflit vasculo-nerveux 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Une sclérose en plaques</a:t>
            </a:r>
          </a:p>
          <a:p>
            <a:pPr marL="514350" indent="-514350">
              <a:lnSpc>
                <a:spcPct val="200000"/>
              </a:lnSpc>
              <a:buAutoNum type="alphaUcParenR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neurinome du V </a:t>
            </a:r>
          </a:p>
        </p:txBody>
      </p:sp>
    </p:spTree>
    <p:extLst>
      <p:ext uri="{BB962C8B-B14F-4D97-AF65-F5344CB8AC3E}">
        <p14:creationId xmlns:p14="http://schemas.microsoft.com/office/powerpoint/2010/main" val="20108493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7bd04045-975f-4e7a-b9c5-19d75b4f623b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462C1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462C1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</TotalTime>
  <Words>2953</Words>
  <Application>Microsoft Office PowerPoint</Application>
  <PresentationFormat>Grand écran</PresentationFormat>
  <Paragraphs>502</Paragraphs>
  <Slides>68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68</vt:i4>
      </vt:variant>
    </vt:vector>
  </HeadingPairs>
  <TitlesOfParts>
    <vt:vector size="76" baseType="lpstr">
      <vt:lpstr>Arial</vt:lpstr>
      <vt:lpstr>Arial MT</vt:lpstr>
      <vt:lpstr>Calibri</vt:lpstr>
      <vt:lpstr>Segoe UI Historic</vt:lpstr>
      <vt:lpstr>Segoe UI Symbol</vt:lpstr>
      <vt:lpstr>Symbol</vt:lpstr>
      <vt:lpstr>Times New Roman</vt:lpstr>
      <vt:lpstr>Office Theme</vt:lpstr>
      <vt:lpstr>Les céphalées</vt:lpstr>
      <vt:lpstr>Objectifs</vt:lpstr>
      <vt:lpstr>Présentation PowerPoint</vt:lpstr>
      <vt:lpstr>Présentation PowerPoint</vt:lpstr>
      <vt:lpstr>Hémorragie méningée</vt:lpstr>
      <vt:lpstr>Hémorragie méningée</vt:lpstr>
      <vt:lpstr>Accidents vasculaires cérébraux</vt:lpstr>
      <vt:lpstr>Dissection artérielle</vt:lpstr>
      <vt:lpstr>Dissection artérielle</vt:lpstr>
      <vt:lpstr>Syndrome de vasoconstriction cérébrale réversible</vt:lpstr>
      <vt:lpstr>Autres</vt:lpstr>
      <vt:lpstr>Présentation PowerPoint</vt:lpstr>
      <vt:lpstr>Méningite et méningoencéphalite</vt:lpstr>
      <vt:lpstr>Hypertension intracrânienne subaiguë</vt:lpstr>
      <vt:lpstr>Céphalées (HTIC)</vt:lpstr>
      <vt:lpstr>1. Thrombose veineuse cérébrale</vt:lpstr>
      <vt:lpstr>2. Processus expansif intracrânien</vt:lpstr>
      <vt:lpstr>3. Hypertension intracrânienne idiopathique</vt:lpstr>
      <vt:lpstr>Maladie de Horton (artérite gigantocellulaire )</vt:lpstr>
      <vt:lpstr>Maladie de Horton (artérite gigantocellulaire )</vt:lpstr>
      <vt:lpstr>Maladie de Horton (artérite gigantocellulaire )</vt:lpstr>
      <vt:lpstr>Présentation PowerPoint</vt:lpstr>
      <vt:lpstr>Céphalées chroniques</vt:lpstr>
      <vt:lpstr>Drapeaux rouges:</vt:lpstr>
      <vt:lpstr>Drapeaux rouges:</vt:lpstr>
      <vt:lpstr>Migraine</vt:lpstr>
      <vt:lpstr>Migraine avec aura</vt:lpstr>
      <vt:lpstr>Algie vasculaire de la face</vt:lpstr>
      <vt:lpstr>Algie vasculaire de la face</vt:lpstr>
      <vt:lpstr>Algie vasculaire de la face</vt:lpstr>
      <vt:lpstr>Névralgies du Trijumeau</vt:lpstr>
      <vt:lpstr>Névralgie CLASSIQUE du Trijumeau (nerf V)</vt:lpstr>
      <vt:lpstr>Névralgie classique du Trijumeau (nerf V)</vt:lpstr>
      <vt:lpstr>Névralgies secondaires (dites symptomatiques)</vt:lpstr>
      <vt:lpstr>Céphalée de tension, dite « psychogène »</vt:lpstr>
      <vt:lpstr>Conclusion</vt:lpstr>
      <vt:lpstr>1. Les caractéristiques d’une migraine sont  </vt:lpstr>
      <vt:lpstr>Les caractéristiques d’une migraine sont: </vt:lpstr>
      <vt:lpstr>2. Les Auras typiques </vt:lpstr>
      <vt:lpstr>Les Auras typiques </vt:lpstr>
      <vt:lpstr>3. La durée habituelle d’une crise de migraine sans traitement est </vt:lpstr>
      <vt:lpstr>La durée habituelle d’une crise de migraine sans traitement est </vt:lpstr>
      <vt:lpstr>4. Quel symptôme peut précéder la migraine (appelé aura) est : </vt:lpstr>
      <vt:lpstr>Quel symptôme peut précéder la migraine (appelé aura) est : </vt:lpstr>
      <vt:lpstr>5. Les caractéristiques principales de la douleur dans l’algie vasculaire de la face sont : </vt:lpstr>
      <vt:lpstr>Les caractéristiques principales de la douleur dans l’algie vasculaire de la face sont : </vt:lpstr>
      <vt:lpstr>6. La durée typique d'une crise d’algie vasculaire de la face </vt:lpstr>
      <vt:lpstr>6. La durée typique d'une crise d’algie vasculaire de la face </vt:lpstr>
      <vt:lpstr>7. Les symptômes associé à une crise d’algie vasculaire de la face sont : </vt:lpstr>
      <vt:lpstr>Les symptômes associé à une crise d’algie vasculaire de la face sont : </vt:lpstr>
      <vt:lpstr>8. Les symptômes de la maladie de Horton sont :  </vt:lpstr>
      <vt:lpstr>Les symptômes de la maladie de Horton sont :  </vt:lpstr>
      <vt:lpstr>9. Quels examens demandés pour confirmer le diagnostic de la maladie d’Horton? </vt:lpstr>
      <vt:lpstr>Quels examens demandés pour confirmer le diagnostic de la maladie d’Horton? </vt:lpstr>
      <vt:lpstr>10. Les risques associé à la maladie de Horton sont :  </vt:lpstr>
      <vt:lpstr>Les risques associé à la maladie de Horton sont :  </vt:lpstr>
      <vt:lpstr>11. Quel est le traitement de première intention de la maladie de Horton ? </vt:lpstr>
      <vt:lpstr>11. Quel est le traitement de première intention de la maladie de Horton ? </vt:lpstr>
      <vt:lpstr>12. La branche du nerf trijumeau le plus souvent atteinte dans la névralgie du trijumeau est: </vt:lpstr>
      <vt:lpstr>La branche du nerf trijumeau le plus souvent atteinte dans la névralgie du trijumeau est: </vt:lpstr>
      <vt:lpstr>13. Les caractéristiques de la douleur dans la névralgie faciale classique est :  </vt:lpstr>
      <vt:lpstr>13. Les caractéristiques de la douleur dans la névralgie faciale classique est :  </vt:lpstr>
      <vt:lpstr>14. Une zone dite "gâchette" est: </vt:lpstr>
      <vt:lpstr>Une zone dite "gâchette" est: </vt:lpstr>
      <vt:lpstr>15. Quel facteur peut déclencher une crise de névralgie du trijumeau ? </vt:lpstr>
      <vt:lpstr>15. Quel facteur peut déclencher une crise de névralgie du trijumeau ? </vt:lpstr>
      <vt:lpstr>16. La cause la plus fréquente de la névralgie faciale classique est : </vt:lpstr>
      <vt:lpstr>16. La cause la plus fréquente de la névralgie faciale classique est 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céphalées</dc:title>
  <dc:creator>MSI</dc:creator>
  <cp:lastModifiedBy>nouha farhat</cp:lastModifiedBy>
  <cp:revision>83</cp:revision>
  <dcterms:created xsi:type="dcterms:W3CDTF">2024-09-05T09:39:59Z</dcterms:created>
  <dcterms:modified xsi:type="dcterms:W3CDTF">2025-07-03T15:55:38Z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2024-09-05T00:00:00Z</vt:filetime>
  </property>
  <property fmtid="{D5CDD505-2E9C-101B-9397-08002B2CF9AE}" pid="3" name="Producer">
    <vt:lpwstr>iLovePDF</vt:lpwstr>
  </property>
</Properties>
</file>
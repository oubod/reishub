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Lst>
  <p:sldSz cy="6858000" cx="9144000"/>
  <p:notesSz cx="6858000" cy="9144000"/>
  <p:embeddedFontLst>
    <p:embeddedFont>
      <p:font typeface="Coming Soon"/>
      <p:regular r:id="rId113"/>
    </p:embeddedFont>
    <p:embeddedFont>
      <p:font typeface="Quintessential"/>
      <p:regular r:id="rId1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15" roundtripDataSignature="AMtx7mgewkzr4uhnh7spaR0Xw0V7Z1k3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29A695-04D7-4066-8B29-3934B9ECBAD7}">
  <a:tblStyle styleId="{5429A695-04D7-4066-8B29-3934B9ECBAD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31871F7C-9020-4AF0-9F19-80E7EBDFFE0E}"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4E6"/>
          </a:solidFill>
        </a:fill>
      </a:tcStyle>
    </a:wholeTbl>
    <a:band1H>
      <a:tcTxStyle/>
      <a:tcStyle>
        <a:fill>
          <a:solidFill>
            <a:srgbClr val="FFE8CA"/>
          </a:solidFill>
        </a:fill>
      </a:tcStyle>
    </a:band1H>
    <a:band2H>
      <a:tcTxStyle/>
    </a:band2H>
    <a:band1V>
      <a:tcTxStyle/>
      <a:tcStyle>
        <a:fill>
          <a:solidFill>
            <a:srgbClr val="FFE8CA"/>
          </a:solidFill>
        </a:fill>
      </a:tcStyle>
    </a:band1V>
    <a:band2V>
      <a:tcTxStyle/>
    </a:band2V>
    <a:lastCol>
      <a:tcTxStyle b="on" i="off">
        <a:font>
          <a:latin typeface="Calibri"/>
          <a:ea typeface="Calibri"/>
          <a:cs typeface="Calibri"/>
        </a:font>
        <a:schemeClr val="lt1"/>
      </a:tcTxStyle>
      <a:tcStyle>
        <a:fill>
          <a:solidFill>
            <a:schemeClr val="accent4"/>
          </a:solidFill>
        </a:fill>
      </a:tcStyle>
    </a:lastCol>
    <a:firstCol>
      <a:tcTxStyle b="on" i="off">
        <a:font>
          <a:latin typeface="Calibri"/>
          <a:ea typeface="Calibri"/>
          <a:cs typeface="Calibri"/>
        </a:font>
        <a:schemeClr val="lt1"/>
      </a:tcTxStyle>
      <a:tcStyle>
        <a:fill>
          <a:solidFill>
            <a:schemeClr val="accent4"/>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5" Type="http://customschemas.google.com/relationships/presentationmetadata" Target="meta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Quintessential-regular.fntdata"/><Relationship Id="rId18" Type="http://schemas.openxmlformats.org/officeDocument/2006/relationships/slide" Target="slides/slide11.xml"/><Relationship Id="rId113" Type="http://schemas.openxmlformats.org/officeDocument/2006/relationships/font" Target="fonts/ComingSoon-regular.fntdata"/><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2 à 3 épisode d’IVRS chez l’adulte contre 5 à 7 chez l’enfant </a:t>
            </a:r>
            <a:endParaRPr/>
          </a:p>
          <a:p>
            <a:pPr indent="0" lvl="0" marL="0" rtl="0" algn="l">
              <a:spcBef>
                <a:spcPts val="0"/>
              </a:spcBef>
              <a:spcAft>
                <a:spcPts val="0"/>
              </a:spcAft>
              <a:buNone/>
            </a:pPr>
            <a:r>
              <a:rPr lang="fr-FR"/>
              <a:t>10% d’origine bactérienne, majorité virale avec 200 virus recencés. 20 à 30 % reste d’origine inconnue mais présumés être d’origine virale </a:t>
            </a:r>
            <a:endParaRPr/>
          </a:p>
          <a:p>
            <a:pPr indent="0" lvl="0" marL="0" rtl="0" algn="l">
              <a:spcBef>
                <a:spcPts val="0"/>
              </a:spcBef>
              <a:spcAft>
                <a:spcPts val="0"/>
              </a:spcAft>
              <a:buNone/>
            </a:pPr>
            <a:r>
              <a:rPr lang="fr-FR"/>
              <a:t>60 à 80 % de prescription d’ATB alors que la majorité sont d’origine virale</a:t>
            </a:r>
            <a:endParaRPr/>
          </a:p>
        </p:txBody>
      </p:sp>
      <p:sp>
        <p:nvSpPr>
          <p:cNvPr id="239" name="Google Shape;23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Les IVAS se transmettent entre humains par les sécrétions respiratoires des individus atteints qui peuvent disséminer l’agent infectieux par l’éternuement, la toux et les mains directement ou indirectement par l’intermédiaire d’une surface.</a:t>
            </a:r>
            <a:endParaRPr/>
          </a:p>
        </p:txBody>
      </p:sp>
      <p:sp>
        <p:nvSpPr>
          <p:cNvPr id="264" name="Google Shape;26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 </a:t>
            </a:r>
            <a:r>
              <a:rPr b="0" i="0" lang="fr-FR" sz="1200" u="none" strike="noStrike">
                <a:solidFill>
                  <a:schemeClr val="dk1"/>
                </a:solidFill>
                <a:latin typeface="Calibri"/>
                <a:ea typeface="Calibri"/>
                <a:cs typeface="Calibri"/>
                <a:sym typeface="Calibri"/>
              </a:rPr>
              <a:t>Les atteintes mycosiques des voies aeriennes superieures sont des pathologies rares mais leur</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incidence est en augmentation du fait du nombre croissant des patients immunodeprimes.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B. 20-30%des episodes d’IVAS restent de cause inconnue et presumes dus a des virus.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C. les adultes developpent en moyenne 2-3 episodes d’IVAS par an alors que les enfants d’age prescolaire en ont 5-7.</a:t>
            </a:r>
            <a:endParaRPr/>
          </a:p>
          <a:p>
            <a:pPr indent="0" lvl="0" marL="0" rtl="0" algn="l">
              <a:spcBef>
                <a:spcPts val="0"/>
              </a:spcBef>
              <a:spcAft>
                <a:spcPts val="0"/>
              </a:spcAft>
              <a:buNone/>
            </a:pPr>
            <a:r>
              <a:rPr lang="fr-FR"/>
              <a:t>D. </a:t>
            </a:r>
            <a:r>
              <a:rPr b="0" i="0" lang="fr-FR" sz="1200" u="none" strike="noStrike">
                <a:solidFill>
                  <a:schemeClr val="dk1"/>
                </a:solidFill>
                <a:latin typeface="Calibri"/>
                <a:ea typeface="Calibri"/>
                <a:cs typeface="Calibri"/>
                <a:sym typeface="Calibri"/>
              </a:rPr>
              <a:t>60-80% des patients recoivent une prescription d’antibiotique/ moins de 10% sont d’origine bacterienne.</a:t>
            </a:r>
            <a:endParaRPr/>
          </a:p>
          <a:p>
            <a:pPr indent="0" lvl="0" marL="0" rtl="0" algn="l">
              <a:spcBef>
                <a:spcPts val="0"/>
              </a:spcBef>
              <a:spcAft>
                <a:spcPts val="0"/>
              </a:spcAft>
              <a:buNone/>
            </a:pPr>
            <a:r>
              <a:rPr lang="fr-FR"/>
              <a:t>E.</a:t>
            </a:r>
            <a:r>
              <a:rPr b="0" i="0" lang="fr-FR" sz="1200" u="none" strike="noStrike">
                <a:solidFill>
                  <a:schemeClr val="dk1"/>
                </a:solidFill>
                <a:latin typeface="Calibri"/>
                <a:ea typeface="Calibri"/>
                <a:cs typeface="Calibri"/>
                <a:sym typeface="Calibri"/>
              </a:rPr>
              <a:t> Traitement abusif dans 60 à 80 % des cas alors que l’infection est virale </a:t>
            </a:r>
            <a:endParaRPr/>
          </a:p>
        </p:txBody>
      </p:sp>
      <p:sp>
        <p:nvSpPr>
          <p:cNvPr id="279" name="Google Shape;279;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Il s’agit d’une affection extrêmement frequente, a laquelle aucun enfant ne peut echapper</a:t>
            </a:r>
            <a:endParaRPr b="0" i="0" sz="1200" u="none" strike="noStrike">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d'evolution spontanément favorable en 7 a 10 jours.</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Ces virus induisent une immunite de courte duree ne protegeant pas contre les types heterologues, permettant les reinfections et expliquent la frequence des episodes.</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Fréquente entre 6 mois et 8 ans</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Favorisée par RGO</a:t>
            </a:r>
            <a:endParaRPr/>
          </a:p>
        </p:txBody>
      </p:sp>
      <p:sp>
        <p:nvSpPr>
          <p:cNvPr id="287" name="Google Shape;28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Les virus sont de tres loin les principaux agents pathogenes : rhinovirus, coronavirus, VRS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(Virus respiratoire syncitial), virus </a:t>
            </a:r>
            <a:r>
              <a:rPr b="0" i="1" lang="fr-FR" sz="1200" u="none" strike="noStrike">
                <a:solidFill>
                  <a:schemeClr val="dk1"/>
                </a:solidFill>
                <a:latin typeface="Calibri"/>
                <a:ea typeface="Calibri"/>
                <a:cs typeface="Calibri"/>
                <a:sym typeface="Calibri"/>
              </a:rPr>
              <a:t>influenza </a:t>
            </a:r>
            <a:r>
              <a:rPr b="0" i="0" lang="fr-FR" sz="1200" u="none" strike="noStrike">
                <a:solidFill>
                  <a:schemeClr val="dk1"/>
                </a:solidFill>
                <a:latin typeface="Calibri"/>
                <a:ea typeface="Calibri"/>
                <a:cs typeface="Calibri"/>
                <a:sym typeface="Calibri"/>
              </a:rPr>
              <a:t>et </a:t>
            </a:r>
            <a:r>
              <a:rPr b="0" i="1" lang="fr-FR" sz="1200" u="none" strike="noStrike">
                <a:solidFill>
                  <a:schemeClr val="dk1"/>
                </a:solidFill>
                <a:latin typeface="Calibri"/>
                <a:ea typeface="Calibri"/>
                <a:cs typeface="Calibri"/>
                <a:sym typeface="Calibri"/>
              </a:rPr>
              <a:t>parainfluenza</a:t>
            </a:r>
            <a:r>
              <a:rPr b="0" i="0" lang="fr-FR" sz="1200" u="none" strike="noStrike">
                <a:solidFill>
                  <a:schemeClr val="dk1"/>
                </a:solidFill>
                <a:latin typeface="Calibri"/>
                <a:ea typeface="Calibri"/>
                <a:cs typeface="Calibri"/>
                <a:sym typeface="Calibri"/>
              </a:rPr>
              <a:t>, adenovirus, enterovirus… Plus de 200 virus sont susceptibles d’induire une rhinopharyngite. Ces virus induisent une immunite de courte duree ne protegeant pas contre les types heterologues, permettant les reinfections et expliquent la frequence des episodes.</a:t>
            </a:r>
            <a:endParaRPr/>
          </a:p>
        </p:txBody>
      </p:sp>
      <p:sp>
        <p:nvSpPr>
          <p:cNvPr id="302" name="Google Shape;30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Dénutrition: maladie inflammatoire de l’intestin par exemples</a:t>
            </a:r>
            <a:endParaRPr/>
          </a:p>
          <a:p>
            <a:pPr indent="0" lvl="0" marL="0" rtl="0" algn="l">
              <a:spcBef>
                <a:spcPts val="0"/>
              </a:spcBef>
              <a:spcAft>
                <a:spcPts val="0"/>
              </a:spcAft>
              <a:buNone/>
            </a:pPr>
            <a:r>
              <a:rPr lang="fr-FR"/>
              <a:t>Reniflement: rhinite allergique par exemple</a:t>
            </a:r>
            <a:endParaRPr/>
          </a:p>
        </p:txBody>
      </p:sp>
      <p:sp>
        <p:nvSpPr>
          <p:cNvPr id="316" name="Google Shape;316;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Facteurs indirects</a:t>
            </a:r>
            <a:endParaRPr/>
          </a:p>
        </p:txBody>
      </p:sp>
      <p:sp>
        <p:nvSpPr>
          <p:cNvPr id="323" name="Google Shape;323;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Fièvre variable, n’est pas constante</a:t>
            </a:r>
            <a:endParaRPr/>
          </a:p>
          <a:p>
            <a:pPr indent="-228600" lvl="0" marL="228600" rtl="0" algn="l">
              <a:spcBef>
                <a:spcPts val="0"/>
              </a:spcBef>
              <a:spcAft>
                <a:spcPts val="0"/>
              </a:spcAft>
              <a:buClr>
                <a:schemeClr val="dk1"/>
              </a:buClr>
              <a:buSzPts val="1200"/>
              <a:buFont typeface="Calibri"/>
              <a:buAutoNum type="alphaUcPeriod"/>
            </a:pPr>
            <a:r>
              <a:rPr lang="fr-FR"/>
              <a:t>L’état général est conservé en l’absence de complications</a:t>
            </a:r>
            <a:endParaRPr/>
          </a:p>
          <a:p>
            <a:pPr indent="-228600" lvl="0" marL="228600" rtl="0" algn="l">
              <a:spcBef>
                <a:spcPts val="0"/>
              </a:spcBef>
              <a:spcAft>
                <a:spcPts val="0"/>
              </a:spcAft>
              <a:buClr>
                <a:schemeClr val="dk1"/>
              </a:buClr>
              <a:buSzPts val="1200"/>
              <a:buFont typeface="Calibri"/>
              <a:buAutoNum type="alphaUcPeriod"/>
            </a:pPr>
            <a:r>
              <a:rPr lang="fr-FR"/>
              <a:t>Une rhinorrhée purulente unilatérale doit faire rechercher un corps étranger nasal</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Le caractere purulent de la rhinorrhee et l’existence d’une fievre (dans les delais normaux de la rhinopharyngite) ne sont pas des signes, ni des facteurs de risque d’infection ou de surinfection bacteriennes</a:t>
            </a:r>
            <a:endParaRPr b="0" i="0" sz="1200" u="none" strike="noStrike">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lang="fr-FR"/>
              <a:t>En l’absence de complications, les prélèvements bactériologiques des sécrétions nasales et les examens virologiques sont inutiles</a:t>
            </a:r>
            <a:endParaRPr/>
          </a:p>
        </p:txBody>
      </p:sp>
      <p:sp>
        <p:nvSpPr>
          <p:cNvPr id="332" name="Google Shape;33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l’otalgie fébrile est en faveur d’une OMA, la forme congestive n’est pas une indication à l’ATB</a:t>
            </a:r>
            <a:endParaRPr/>
          </a:p>
          <a:p>
            <a:pPr indent="-228600" lvl="0" marL="228600" rtl="0" algn="l">
              <a:spcBef>
                <a:spcPts val="0"/>
              </a:spcBef>
              <a:spcAft>
                <a:spcPts val="0"/>
              </a:spcAft>
              <a:buClr>
                <a:schemeClr val="dk1"/>
              </a:buClr>
              <a:buSzPts val="1200"/>
              <a:buFont typeface="Calibri"/>
              <a:buAutoNum type="alphaUcPeriod"/>
            </a:pPr>
            <a:r>
              <a:rPr lang="fr-FR"/>
              <a:t>Abcès para et rétropharyngien</a:t>
            </a:r>
            <a:endParaRPr/>
          </a:p>
          <a:p>
            <a:pPr indent="-228600" lvl="0" marL="228600" rtl="0" algn="l">
              <a:spcBef>
                <a:spcPts val="0"/>
              </a:spcBef>
              <a:spcAft>
                <a:spcPts val="0"/>
              </a:spcAft>
              <a:buClr>
                <a:schemeClr val="dk1"/>
              </a:buClr>
              <a:buSzPts val="1200"/>
              <a:buFont typeface="Calibri"/>
              <a:buAutoNum type="alphaUcPeriod"/>
            </a:pPr>
            <a:r>
              <a:rPr lang="fr-FR"/>
              <a:t>Oui</a:t>
            </a:r>
            <a:endParaRPr/>
          </a:p>
          <a:p>
            <a:pPr indent="-228600" lvl="0" marL="228600" rtl="0" algn="l">
              <a:spcBef>
                <a:spcPts val="0"/>
              </a:spcBef>
              <a:spcAft>
                <a:spcPts val="0"/>
              </a:spcAft>
              <a:buClr>
                <a:schemeClr val="dk1"/>
              </a:buClr>
              <a:buSzPts val="1200"/>
              <a:buFont typeface="Calibri"/>
              <a:buAutoNum type="alphaUcPeriod"/>
            </a:pPr>
            <a:r>
              <a:rPr lang="fr-FR"/>
              <a:t>Conjonctivite uniquement unilatérale purulente</a:t>
            </a:r>
            <a:endParaRPr/>
          </a:p>
          <a:p>
            <a:pPr indent="-228600" lvl="0" marL="228600" rtl="0" algn="l">
              <a:spcBef>
                <a:spcPts val="0"/>
              </a:spcBef>
              <a:spcAft>
                <a:spcPts val="0"/>
              </a:spcAft>
              <a:buClr>
                <a:schemeClr val="dk1"/>
              </a:buClr>
              <a:buSzPts val="1200"/>
              <a:buFont typeface="Calibri"/>
              <a:buAutoNum type="alphaUcPeriod"/>
            </a:pPr>
            <a:r>
              <a:rPr lang="fr-FR"/>
              <a:t>Les formes de laryngite au décours d’une rhinopharyngite sont les formes sous glottique et striduleuse</a:t>
            </a:r>
            <a:endParaRPr/>
          </a:p>
        </p:txBody>
      </p:sp>
      <p:sp>
        <p:nvSpPr>
          <p:cNvPr id="340" name="Google Shape;34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les anti-inflammatoires non steroidiens a dose anti-inflammatoire ainsi que les corticoides par voie generale ne sont pas indiques</a:t>
            </a:r>
            <a:endParaRPr/>
          </a:p>
          <a:p>
            <a:pPr indent="-152400" lvl="0" marL="228600" rtl="0" algn="l">
              <a:spcBef>
                <a:spcPts val="0"/>
              </a:spcBef>
              <a:spcAft>
                <a:spcPts val="0"/>
              </a:spcAft>
              <a:buClr>
                <a:schemeClr val="dk1"/>
              </a:buClr>
              <a:buSzPts val="1200"/>
              <a:buFont typeface="Calibri"/>
              <a:buNone/>
            </a:pPr>
            <a:r>
              <a:t/>
            </a:r>
            <a:endParaRPr b="0" i="0" sz="1200" u="none" strike="noStrike">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lang="fr-FR"/>
              <a:t>Attention la persistance de la rhinorrhée peut évoquer une surinfection bactérienne comme elle peut cacher une rhinite allergique donc il faut réévaluer le malade</a:t>
            </a:r>
            <a:endParaRPr/>
          </a:p>
          <a:p>
            <a:pPr indent="-228600" lvl="0" marL="228600" rtl="0" algn="l">
              <a:spcBef>
                <a:spcPts val="0"/>
              </a:spcBef>
              <a:spcAft>
                <a:spcPts val="0"/>
              </a:spcAft>
              <a:buClr>
                <a:schemeClr val="dk1"/>
              </a:buClr>
              <a:buSzPts val="1200"/>
              <a:buFont typeface="Calibri"/>
              <a:buAutoNum type="alphaUcPeriod"/>
            </a:pPr>
            <a:r>
              <a:rPr lang="fr-FR"/>
              <a:t>La sinusite max ne se voit pas avant 2 ans , en plus l’ATB n’est pas sytématique</a:t>
            </a:r>
            <a:endParaRPr/>
          </a:p>
          <a:p>
            <a:pPr indent="-152400" lvl="0" marL="228600" rtl="0" algn="l">
              <a:spcBef>
                <a:spcPts val="0"/>
              </a:spcBef>
              <a:spcAft>
                <a:spcPts val="0"/>
              </a:spcAft>
              <a:buClr>
                <a:schemeClr val="dk1"/>
              </a:buClr>
              <a:buSzPts val="1200"/>
              <a:buFont typeface="Calibri"/>
              <a:buNone/>
            </a:pPr>
            <a:r>
              <a:t/>
            </a:r>
            <a:endParaRPr/>
          </a:p>
        </p:txBody>
      </p:sp>
      <p:sp>
        <p:nvSpPr>
          <p:cNvPr id="348" name="Google Shape;348;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inflammation d’origine infectieuse localisee au tissu lymphoide des amygdales palatines</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Est rare avant 18 moiscas d’angine de l’enfant et 10 a 25% des angines de l’adulte</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Foyer infectieux de localisation différente</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C’est la rhinopharyngite qui est favorisée par hygiène nasale defectueuse</a:t>
            </a:r>
            <a:endParaRPr b="0" i="0" sz="1200" u="none" strike="noStrike">
              <a:solidFill>
                <a:schemeClr val="dk1"/>
              </a:solidFill>
              <a:latin typeface="Calibri"/>
              <a:ea typeface="Calibri"/>
              <a:cs typeface="Calibri"/>
              <a:sym typeface="Calibri"/>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Oui l’angine de vincent</a:t>
            </a:r>
            <a:endParaRPr/>
          </a:p>
        </p:txBody>
      </p:sp>
      <p:sp>
        <p:nvSpPr>
          <p:cNvPr id="399" name="Google Shape;399;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a:solidFill>
                  <a:schemeClr val="dk1"/>
                </a:solidFill>
                <a:latin typeface="Calibri"/>
                <a:ea typeface="Calibri"/>
                <a:cs typeface="Calibri"/>
                <a:sym typeface="Calibri"/>
              </a:rPr>
              <a:t>l’amaygdales palatines(1). </a:t>
            </a:r>
            <a:r>
              <a:rPr b="1" i="0" lang="fr-FR" sz="1200">
                <a:solidFill>
                  <a:schemeClr val="dk1"/>
                </a:solidFill>
                <a:latin typeface="Calibri"/>
                <a:ea typeface="Calibri"/>
                <a:cs typeface="Calibri"/>
                <a:sym typeface="Calibri"/>
              </a:rPr>
              <a:t>L'amygdale linguale</a:t>
            </a:r>
            <a:r>
              <a:rPr b="0" i="0" lang="fr-FR" sz="1200">
                <a:solidFill>
                  <a:schemeClr val="dk1"/>
                </a:solidFill>
                <a:latin typeface="Calibri"/>
                <a:ea typeface="Calibri"/>
                <a:cs typeface="Calibri"/>
                <a:sym typeface="Calibri"/>
              </a:rPr>
              <a:t> (2), </a:t>
            </a:r>
            <a:r>
              <a:rPr b="1" i="0" lang="fr-FR" sz="1200">
                <a:solidFill>
                  <a:schemeClr val="dk1"/>
                </a:solidFill>
                <a:latin typeface="Calibri"/>
                <a:ea typeface="Calibri"/>
                <a:cs typeface="Calibri"/>
                <a:sym typeface="Calibri"/>
              </a:rPr>
              <a:t>l'amygdale pharyngée</a:t>
            </a:r>
            <a:r>
              <a:rPr b="0" i="0" lang="fr-FR" sz="1200">
                <a:solidFill>
                  <a:schemeClr val="dk1"/>
                </a:solidFill>
                <a:latin typeface="Calibri"/>
                <a:ea typeface="Calibri"/>
                <a:cs typeface="Calibri"/>
                <a:sym typeface="Calibri"/>
              </a:rPr>
              <a:t> (3) et les </a:t>
            </a:r>
            <a:r>
              <a:rPr b="1" i="0" lang="fr-FR" sz="1200">
                <a:solidFill>
                  <a:schemeClr val="dk1"/>
                </a:solidFill>
                <a:latin typeface="Calibri"/>
                <a:ea typeface="Calibri"/>
                <a:cs typeface="Calibri"/>
                <a:sym typeface="Calibri"/>
              </a:rPr>
              <a:t>amygdales tubaires</a:t>
            </a:r>
            <a:r>
              <a:rPr b="0" i="0" lang="fr-FR" sz="1200">
                <a:solidFill>
                  <a:schemeClr val="dk1"/>
                </a:solidFill>
                <a:latin typeface="Calibri"/>
                <a:ea typeface="Calibri"/>
                <a:cs typeface="Calibri"/>
                <a:sym typeface="Calibri"/>
              </a:rPr>
              <a:t> (4) sont moins bien individualisées.</a:t>
            </a:r>
            <a:endParaRPr/>
          </a:p>
        </p:txBody>
      </p:sp>
      <p:sp>
        <p:nvSpPr>
          <p:cNvPr id="407" name="Google Shape;407;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Otalgie reflexe peut toujours se voir vu qe l’amygdale est innervée par trijumeau et glossopharyngien, l’oreille moyenne est aussi innervé en partie par glossopharyngien, </a:t>
            </a:r>
            <a:endParaRPr/>
          </a:p>
        </p:txBody>
      </p:sp>
      <p:sp>
        <p:nvSpPr>
          <p:cNvPr id="415" name="Google Shape;415;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Voir photo , mais attention ca peut évoquer les malaadies bulleuses quand c’est diffus à toute la cavité buccale avec lesions cutanés (voir dg diff</a:t>
            </a:r>
            <a:endParaRPr/>
          </a:p>
          <a:p>
            <a:pPr indent="-228600" lvl="0" marL="228600" rtl="0" algn="l">
              <a:spcBef>
                <a:spcPts val="0"/>
              </a:spcBef>
              <a:spcAft>
                <a:spcPts val="0"/>
              </a:spcAft>
              <a:buClr>
                <a:schemeClr val="dk1"/>
              </a:buClr>
              <a:buSzPts val="1200"/>
              <a:buFont typeface="Calibri"/>
              <a:buAutoNum type="alphaUcPeriod"/>
            </a:pPr>
            <a:r>
              <a:rPr lang="fr-FR"/>
              <a:t>En règle , elle est unilatérale mais elle peut être bilat</a:t>
            </a:r>
            <a:endParaRPr/>
          </a:p>
          <a:p>
            <a:pPr indent="-228600" lvl="0" marL="228600" rtl="0" algn="l">
              <a:spcBef>
                <a:spcPts val="0"/>
              </a:spcBef>
              <a:spcAft>
                <a:spcPts val="0"/>
              </a:spcAft>
              <a:buClr>
                <a:schemeClr val="dk1"/>
              </a:buClr>
              <a:buSzPts val="1200"/>
              <a:buFont typeface="Calibri"/>
              <a:buAutoNum type="alphaUcPeriod"/>
            </a:pPr>
            <a:r>
              <a:rPr b="1" i="0" lang="fr-FR" sz="1200" u="none" strike="noStrike">
                <a:solidFill>
                  <a:schemeClr val="dk1"/>
                </a:solidFill>
                <a:latin typeface="Calibri"/>
                <a:ea typeface="Calibri"/>
                <a:cs typeface="Calibri"/>
                <a:sym typeface="Calibri"/>
              </a:rPr>
              <a:t>Aspect différent</a:t>
            </a:r>
            <a:endParaRPr/>
          </a:p>
          <a:p>
            <a:pPr indent="-228600" lvl="0" marL="228600" rtl="0" algn="l">
              <a:spcBef>
                <a:spcPts val="0"/>
              </a:spcBef>
              <a:spcAft>
                <a:spcPts val="0"/>
              </a:spcAft>
              <a:buClr>
                <a:schemeClr val="dk1"/>
              </a:buClr>
              <a:buSzPts val="1200"/>
              <a:buFont typeface="Calibri"/>
              <a:buAutoNum type="alphaUcPeriod"/>
            </a:pPr>
            <a:r>
              <a:rPr b="1" i="0" lang="fr-FR" sz="1200" u="none" strike="noStrike">
                <a:solidFill>
                  <a:schemeClr val="dk1"/>
                </a:solidFill>
                <a:latin typeface="Calibri"/>
                <a:ea typeface="Calibri"/>
                <a:cs typeface="Calibri"/>
                <a:sym typeface="Calibri"/>
              </a:rPr>
              <a:t>ADP svt présente et douloureuse mais inconstante</a:t>
            </a:r>
            <a:endParaRPr/>
          </a:p>
          <a:p>
            <a:pPr indent="-152400" lvl="0" marL="228600" rtl="0" algn="l">
              <a:spcBef>
                <a:spcPts val="0"/>
              </a:spcBef>
              <a:spcAft>
                <a:spcPts val="0"/>
              </a:spcAft>
              <a:buClr>
                <a:schemeClr val="dk1"/>
              </a:buClr>
              <a:buSzPts val="1200"/>
              <a:buFont typeface="Calibri"/>
              <a:buNone/>
            </a:pPr>
            <a:r>
              <a:t/>
            </a:r>
            <a:endParaRPr/>
          </a:p>
        </p:txBody>
      </p:sp>
      <p:sp>
        <p:nvSpPr>
          <p:cNvPr id="423" name="Google Shape;42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A. Il est tres important de se rappeler, que dans la majorite des cas il n’existe pas de</a:t>
            </a:r>
            <a:endParaRPr/>
          </a:p>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correlation entre la presentation clinique et l’agent pathogene en cause.</a:t>
            </a:r>
            <a:r>
              <a:rPr lang="fr-FR"/>
              <a:t>EBV donne forme </a:t>
            </a:r>
            <a:r>
              <a:rPr b="1" i="0" lang="fr-FR" sz="1200" u="none" strike="noStrike">
                <a:solidFill>
                  <a:schemeClr val="dk1"/>
                </a:solidFill>
                <a:latin typeface="Calibri"/>
                <a:ea typeface="Calibri"/>
                <a:cs typeface="Calibri"/>
                <a:sym typeface="Calibri"/>
              </a:rPr>
              <a:t>érythémateuses et érythémato-pultacées  ou pseudo-membraneuses</a:t>
            </a:r>
            <a:endParaRPr/>
          </a:p>
          <a:p>
            <a:pPr indent="0" lvl="0" marL="0" rtl="0" algn="l">
              <a:spcBef>
                <a:spcPts val="0"/>
              </a:spcBef>
              <a:spcAft>
                <a:spcPts val="0"/>
              </a:spcAft>
              <a:buClr>
                <a:schemeClr val="dk1"/>
              </a:buClr>
              <a:buSzPts val="1200"/>
              <a:buFont typeface="Calibri"/>
              <a:buNone/>
            </a:pPr>
            <a:r>
              <a:rPr lang="fr-FR"/>
              <a:t>B. Vrai</a:t>
            </a:r>
            <a:endParaRPr/>
          </a:p>
          <a:p>
            <a:pPr indent="0" lvl="0" marL="0" rtl="0" algn="l">
              <a:spcBef>
                <a:spcPts val="0"/>
              </a:spcBef>
              <a:spcAft>
                <a:spcPts val="0"/>
              </a:spcAft>
              <a:buClr>
                <a:schemeClr val="dk1"/>
              </a:buClr>
              <a:buSzPts val="1200"/>
              <a:buFont typeface="Calibri"/>
              <a:buNone/>
            </a:pPr>
            <a:r>
              <a:rPr lang="fr-FR"/>
              <a:t>C. Par leur localisation et leur nombre</a:t>
            </a:r>
            <a:endParaRPr/>
          </a:p>
          <a:p>
            <a:pPr indent="0" lvl="0" marL="0" rtl="0" algn="l">
              <a:spcBef>
                <a:spcPts val="0"/>
              </a:spcBef>
              <a:spcAft>
                <a:spcPts val="0"/>
              </a:spcAft>
              <a:buClr>
                <a:schemeClr val="dk1"/>
              </a:buClr>
              <a:buSzPts val="1200"/>
              <a:buFont typeface="Calibri"/>
              <a:buNone/>
            </a:pPr>
            <a:r>
              <a:rPr lang="fr-FR"/>
              <a:t>D. Le score est valable pour l’indication du test de dg rapide et donc pour le dg du strepto, donc il est indiquée quand il y a suspicion de strepto à savoir E et EP</a:t>
            </a:r>
            <a:endParaRPr/>
          </a:p>
        </p:txBody>
      </p:sp>
      <p:sp>
        <p:nvSpPr>
          <p:cNvPr id="431" name="Google Shape;43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Toujours virale</a:t>
            </a:r>
            <a:endParaRPr/>
          </a:p>
          <a:p>
            <a:pPr indent="-228600" lvl="0" marL="228600" rtl="0" algn="l">
              <a:spcBef>
                <a:spcPts val="0"/>
              </a:spcBef>
              <a:spcAft>
                <a:spcPts val="0"/>
              </a:spcAft>
              <a:buClr>
                <a:schemeClr val="dk1"/>
              </a:buClr>
              <a:buSzPts val="1200"/>
              <a:buFont typeface="Calibri"/>
              <a:buAutoNum type="alphaUcPeriod"/>
            </a:pPr>
            <a:r>
              <a:rPr lang="fr-FR"/>
              <a:t>Gonocoque et syphilis bactérienne, HIV virale</a:t>
            </a:r>
            <a:endParaRPr/>
          </a:p>
          <a:p>
            <a:pPr indent="-228600" lvl="0" marL="228600" rtl="0" algn="l">
              <a:spcBef>
                <a:spcPts val="0"/>
              </a:spcBef>
              <a:spcAft>
                <a:spcPts val="0"/>
              </a:spcAft>
              <a:buClr>
                <a:schemeClr val="dk1"/>
              </a:buClr>
              <a:buSzPts val="1200"/>
              <a:buFont typeface="Calibri"/>
              <a:buAutoNum type="alphaUcPeriod"/>
            </a:pPr>
            <a:r>
              <a:rPr lang="fr-FR"/>
              <a:t>Non, exanthème peut se voir dans plusieurs maladies virale, rubéole, virose…</a:t>
            </a:r>
            <a:endParaRPr/>
          </a:p>
          <a:p>
            <a:pPr indent="-228600" lvl="0" marL="228600" rtl="0" algn="l">
              <a:spcBef>
                <a:spcPts val="0"/>
              </a:spcBef>
              <a:spcAft>
                <a:spcPts val="0"/>
              </a:spcAft>
              <a:buClr>
                <a:schemeClr val="dk1"/>
              </a:buClr>
              <a:buSzPts val="1200"/>
              <a:buFont typeface="Calibri"/>
              <a:buAutoNum type="alphaUcPeriod"/>
            </a:pPr>
            <a:r>
              <a:rPr lang="fr-FR"/>
              <a:t>Scarlatine</a:t>
            </a:r>
            <a:endParaRPr/>
          </a:p>
          <a:p>
            <a:pPr indent="0" lvl="0" marL="0" rtl="0" algn="l">
              <a:spcBef>
                <a:spcPts val="0"/>
              </a:spcBef>
              <a:spcAft>
                <a:spcPts val="0"/>
              </a:spcAft>
              <a:buClr>
                <a:schemeClr val="dk1"/>
              </a:buClr>
              <a:buSzPts val="1200"/>
              <a:buFont typeface="Calibri"/>
              <a:buNone/>
            </a:pPr>
            <a:r>
              <a:rPr lang="fr-FR"/>
              <a:t>E. Svt fait suite ç une rhinopharyngite et n’est pas obligatoirement bactérienne</a:t>
            </a:r>
            <a:endParaRPr/>
          </a:p>
        </p:txBody>
      </p:sp>
      <p:sp>
        <p:nvSpPr>
          <p:cNvPr id="439" name="Google Shape;439;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Douleur intense peut se voir dans les formes à coxsackie</a:t>
            </a:r>
            <a:endParaRPr/>
          </a:p>
        </p:txBody>
      </p:sp>
      <p:sp>
        <p:nvSpPr>
          <p:cNvPr id="478" name="Google Shape;478;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Le premier groupe est celui qui est pathogène</a:t>
            </a:r>
            <a:endParaRPr/>
          </a:p>
          <a:p>
            <a:pPr indent="0" lvl="0" marL="0" rtl="0" algn="l">
              <a:spcBef>
                <a:spcPts val="0"/>
              </a:spcBef>
              <a:spcAft>
                <a:spcPts val="0"/>
              </a:spcAft>
              <a:buNone/>
            </a:pPr>
            <a:r>
              <a:rPr lang="fr-FR"/>
              <a:t>Le deuxième est sujet de portage chronique et non pathogène</a:t>
            </a:r>
            <a:endParaRPr/>
          </a:p>
          <a:p>
            <a:pPr indent="0" lvl="0" marL="0" rtl="0" algn="l">
              <a:spcBef>
                <a:spcPts val="0"/>
              </a:spcBef>
              <a:spcAft>
                <a:spcPts val="0"/>
              </a:spcAft>
              <a:buNone/>
            </a:pPr>
            <a:r>
              <a:rPr lang="fr-FR"/>
              <a:t>Le sérotype M1 du groupe A est responsable des formes grave comme choc toxinique suite à la synthèse de la toxine erythrogène A, B, ou C</a:t>
            </a:r>
            <a:endParaRPr/>
          </a:p>
        </p:txBody>
      </p:sp>
      <p:sp>
        <p:nvSpPr>
          <p:cNvPr id="520" name="Google Shape;52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fr-FR" sz="1200" u="none" strike="noStrike">
                <a:solidFill>
                  <a:schemeClr val="dk1"/>
                </a:solidFill>
                <a:latin typeface="Calibri"/>
                <a:ea typeface="Calibri"/>
                <a:cs typeface="Calibri"/>
                <a:sym typeface="Calibri"/>
              </a:rPr>
              <a:t>Scarlatine</a:t>
            </a:r>
            <a:r>
              <a:rPr b="0" i="0" lang="fr-FR" sz="1200" u="none" strike="noStrike">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C’est une forme particulière d’angine due à un streptocoque du groupe A (producteur d’une toxine érythrogène).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Après une incubation de trois à cinq jours, le tableau clinique associe une angine rouge, des céphalées, des vomissements et une fièvre à 39°-40°. L'exanthème et surtout l'énanthème permettent le diagnostic.</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L’énanthème est </a:t>
            </a:r>
            <a:r>
              <a:rPr b="1" i="0" lang="fr-FR" sz="1200" u="none" strike="noStrike">
                <a:solidFill>
                  <a:schemeClr val="dk1"/>
                </a:solidFill>
                <a:latin typeface="Calibri"/>
                <a:ea typeface="Calibri"/>
                <a:cs typeface="Calibri"/>
                <a:sym typeface="Calibri"/>
              </a:rPr>
              <a:t>constant</a:t>
            </a:r>
            <a:r>
              <a:rPr b="0" i="0" lang="fr-FR" sz="1200" u="none" strike="noStrike">
                <a:solidFill>
                  <a:schemeClr val="dk1"/>
                </a:solidFill>
                <a:latin typeface="Calibri"/>
                <a:ea typeface="Calibri"/>
                <a:cs typeface="Calibri"/>
                <a:sym typeface="Calibri"/>
              </a:rPr>
              <a:t> et caractéristique, associant une pharyngite et des modifications de l’aspect de la langue. Celle-ci </a:t>
            </a:r>
            <a:r>
              <a:rPr b="1" i="0" lang="fr-FR" sz="1200" u="none" strike="noStrike">
                <a:solidFill>
                  <a:schemeClr val="dk1"/>
                </a:solidFill>
                <a:latin typeface="Calibri"/>
                <a:ea typeface="Calibri"/>
                <a:cs typeface="Calibri"/>
                <a:sym typeface="Calibri"/>
              </a:rPr>
              <a:t>desquame de la périphérie vers le centre </a:t>
            </a:r>
            <a:r>
              <a:rPr b="0" i="0" lang="fr-FR" sz="1200" u="none" strike="noStrike">
                <a:solidFill>
                  <a:schemeClr val="dk1"/>
                </a:solidFill>
                <a:latin typeface="Calibri"/>
                <a:ea typeface="Calibri"/>
                <a:cs typeface="Calibri"/>
                <a:sym typeface="Calibri"/>
              </a:rPr>
              <a:t>pour devenir uniformément rouge au </a:t>
            </a:r>
            <a:r>
              <a:rPr b="1" i="0" lang="fr-FR" sz="1200" u="none" strike="noStrike">
                <a:solidFill>
                  <a:schemeClr val="dk1"/>
                </a:solidFill>
                <a:latin typeface="Calibri"/>
                <a:ea typeface="Calibri"/>
                <a:cs typeface="Calibri"/>
                <a:sym typeface="Calibri"/>
              </a:rPr>
              <a:t>6ème j</a:t>
            </a:r>
            <a:r>
              <a:rPr b="0" i="0" lang="fr-FR" sz="1200" u="none" strike="noStrike">
                <a:solidFill>
                  <a:schemeClr val="dk1"/>
                </a:solidFill>
                <a:latin typeface="Calibri"/>
                <a:ea typeface="Calibri"/>
                <a:cs typeface="Calibri"/>
                <a:sym typeface="Calibri"/>
              </a:rPr>
              <a:t> (langue framboisée). Elle prend l’aspect particulier d’un V rouge délimitant un triangle blanc « leV scarlatin ». L’exanthème apparaît, secondairement, d’abord sur le thorax et à la racine des membres, puis s’étend en 1 à 2 j sur tout le tronc ; il atteint les extrémités en respectant paumes et plantes ainsi que la région péribuccale.</a:t>
            </a:r>
            <a:endParaRPr/>
          </a:p>
          <a:p>
            <a:pPr indent="0" lvl="0" marL="0" rtl="0" algn="l">
              <a:spcBef>
                <a:spcPts val="0"/>
              </a:spcBef>
              <a:spcAft>
                <a:spcPts val="0"/>
              </a:spcAft>
              <a:buNone/>
            </a:pPr>
            <a:r>
              <a:t/>
            </a:r>
            <a:endParaRPr/>
          </a:p>
        </p:txBody>
      </p:sp>
      <p:sp>
        <p:nvSpPr>
          <p:cNvPr id="543" name="Google Shape;54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fr-FR" sz="1200" u="none" strike="noStrike">
                <a:solidFill>
                  <a:schemeClr val="dk1"/>
                </a:solidFill>
                <a:latin typeface="Calibri"/>
                <a:ea typeface="Calibri"/>
                <a:cs typeface="Calibri"/>
                <a:sym typeface="Calibri"/>
              </a:rPr>
              <a:t>Scarlatine</a:t>
            </a:r>
            <a:r>
              <a:rPr b="0" i="0" lang="fr-FR" sz="1200" u="none" strike="noStrike">
                <a:solidFill>
                  <a:schemeClr val="dk1"/>
                </a:solidFill>
                <a:latin typeface="Calibri"/>
                <a:ea typeface="Calibri"/>
                <a:cs typeface="Calibri"/>
                <a:sym typeface="Calibri"/>
              </a:rPr>
              <a:t>:</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C’est une forme particulière d’angine due à un streptocoque du groupe A (producteur d’une toxine érythrogène).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Après une incubation de trois à cinq jours, le tableau clinique associe une angine rouge, des céphalées, des vomissements et une fièvre à 39°-40°. L'exanthème et surtout l'énanthème permettent le diagnostic.</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L’énanthème est </a:t>
            </a:r>
            <a:r>
              <a:rPr b="1" i="0" lang="fr-FR" sz="1200" u="none" strike="noStrike">
                <a:solidFill>
                  <a:schemeClr val="dk1"/>
                </a:solidFill>
                <a:latin typeface="Calibri"/>
                <a:ea typeface="Calibri"/>
                <a:cs typeface="Calibri"/>
                <a:sym typeface="Calibri"/>
              </a:rPr>
              <a:t>constant</a:t>
            </a:r>
            <a:r>
              <a:rPr b="0" i="0" lang="fr-FR" sz="1200" u="none" strike="noStrike">
                <a:solidFill>
                  <a:schemeClr val="dk1"/>
                </a:solidFill>
                <a:latin typeface="Calibri"/>
                <a:ea typeface="Calibri"/>
                <a:cs typeface="Calibri"/>
                <a:sym typeface="Calibri"/>
              </a:rPr>
              <a:t> et caractéristique, associant une pharyngite et des modifications de l’aspect de la langue. Celle-ci </a:t>
            </a:r>
            <a:r>
              <a:rPr b="1" i="0" lang="fr-FR" sz="1200" u="none" strike="noStrike">
                <a:solidFill>
                  <a:schemeClr val="dk1"/>
                </a:solidFill>
                <a:latin typeface="Calibri"/>
                <a:ea typeface="Calibri"/>
                <a:cs typeface="Calibri"/>
                <a:sym typeface="Calibri"/>
              </a:rPr>
              <a:t>desquame de la périphérie vers le centre </a:t>
            </a:r>
            <a:r>
              <a:rPr b="0" i="0" lang="fr-FR" sz="1200" u="none" strike="noStrike">
                <a:solidFill>
                  <a:schemeClr val="dk1"/>
                </a:solidFill>
                <a:latin typeface="Calibri"/>
                <a:ea typeface="Calibri"/>
                <a:cs typeface="Calibri"/>
                <a:sym typeface="Calibri"/>
              </a:rPr>
              <a:t>pour devenir uniformément rouge au </a:t>
            </a:r>
            <a:r>
              <a:rPr b="1" i="0" lang="fr-FR" sz="1200" u="none" strike="noStrike">
                <a:solidFill>
                  <a:schemeClr val="dk1"/>
                </a:solidFill>
                <a:latin typeface="Calibri"/>
                <a:ea typeface="Calibri"/>
                <a:cs typeface="Calibri"/>
                <a:sym typeface="Calibri"/>
              </a:rPr>
              <a:t>6ème j</a:t>
            </a:r>
            <a:r>
              <a:rPr b="0" i="0" lang="fr-FR" sz="1200" u="none" strike="noStrike">
                <a:solidFill>
                  <a:schemeClr val="dk1"/>
                </a:solidFill>
                <a:latin typeface="Calibri"/>
                <a:ea typeface="Calibri"/>
                <a:cs typeface="Calibri"/>
                <a:sym typeface="Calibri"/>
              </a:rPr>
              <a:t> (langue framboisée). Elle prend l’aspect particulier d’un V rouge délimitant un triangle blanc « leV scarlatin ». L’exanthème apparaît, secondairement, d’abord sur le thorax et à la racine des membres, puis s’étend en 1 à 2 j sur tout le tronc ; il atteint les extrémités en respectant paumes et plantes ainsi que la région péribuccale.</a:t>
            </a:r>
            <a:endParaRPr/>
          </a:p>
          <a:p>
            <a:pPr indent="0" lvl="0" marL="0" rtl="0" algn="l">
              <a:spcBef>
                <a:spcPts val="0"/>
              </a:spcBef>
              <a:spcAft>
                <a:spcPts val="0"/>
              </a:spcAft>
              <a:buNone/>
            </a:pPr>
            <a:r>
              <a:t/>
            </a:r>
            <a:endParaRPr/>
          </a:p>
        </p:txBody>
      </p:sp>
      <p:sp>
        <p:nvSpPr>
          <p:cNvPr id="554" name="Google Shape;554;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Enfant &lt;3 ans pas d’ex compl: non obligatoire </a:t>
            </a:r>
            <a:endParaRPr/>
          </a:p>
          <a:p>
            <a:pPr indent="-228600" lvl="0" marL="228600" rtl="0" algn="l">
              <a:spcBef>
                <a:spcPts val="0"/>
              </a:spcBef>
              <a:spcAft>
                <a:spcPts val="0"/>
              </a:spcAft>
              <a:buClr>
                <a:schemeClr val="dk1"/>
              </a:buClr>
              <a:buSzPts val="1200"/>
              <a:buFont typeface="Calibri"/>
              <a:buAutoNum type="alphaUcPeriod"/>
            </a:pPr>
            <a:r>
              <a:rPr lang="fr-FR"/>
              <a:t>Oui MNI test et ou pvt et examen cultutre</a:t>
            </a:r>
            <a:endParaRPr/>
          </a:p>
          <a:p>
            <a:pPr indent="-228600" lvl="0" marL="228600" rtl="0" algn="l">
              <a:spcBef>
                <a:spcPts val="0"/>
              </a:spcBef>
              <a:spcAft>
                <a:spcPts val="0"/>
              </a:spcAft>
              <a:buClr>
                <a:schemeClr val="dk1"/>
              </a:buClr>
              <a:buSzPts val="1200"/>
              <a:buFont typeface="Calibri"/>
              <a:buAutoNum type="alphaUcPeriod"/>
            </a:pPr>
            <a:r>
              <a:rPr lang="fr-FR"/>
              <a:t>Formes hyperalgique svt virale coxsackie</a:t>
            </a:r>
            <a:endParaRPr/>
          </a:p>
          <a:p>
            <a:pPr indent="-228600" lvl="0" marL="228600" rtl="0" algn="l">
              <a:spcBef>
                <a:spcPts val="0"/>
              </a:spcBef>
              <a:spcAft>
                <a:spcPts val="0"/>
              </a:spcAft>
              <a:buClr>
                <a:schemeClr val="dk1"/>
              </a:buClr>
              <a:buSzPts val="1200"/>
              <a:buFont typeface="Calibri"/>
              <a:buAutoNum type="alphaUcPeriod"/>
            </a:pPr>
            <a:r>
              <a:rPr lang="fr-FR"/>
              <a:t>Scarlatine</a:t>
            </a:r>
            <a:endParaRPr/>
          </a:p>
          <a:p>
            <a:pPr indent="-228600" lvl="0" marL="228600" rtl="0" algn="l">
              <a:spcBef>
                <a:spcPts val="0"/>
              </a:spcBef>
              <a:spcAft>
                <a:spcPts val="0"/>
              </a:spcAft>
              <a:buClr>
                <a:schemeClr val="dk1"/>
              </a:buClr>
              <a:buSzPts val="1200"/>
              <a:buFont typeface="Calibri"/>
              <a:buAutoNum type="alphaUcPeriod"/>
            </a:pPr>
            <a:r>
              <a:rPr lang="fr-FR"/>
              <a:t>Oui pour dg leucémie aigue (de mm si ulcéronecrotique bilat)</a:t>
            </a:r>
            <a:endParaRPr/>
          </a:p>
        </p:txBody>
      </p:sp>
      <p:sp>
        <p:nvSpPr>
          <p:cNvPr id="566" name="Google Shape;566;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Manifestation buccopharyngee d’une hemopathie :</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Agranulocytose : neutropenie d’origine medicamenteuse, toxique, idiopathique…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Les lesions, sphaceliques et pseudomembraneuses sont diffuses sur tout le pharynx et d’extension rapide. Elles ne saignent pas et ne suppurent pas. Il n’y a pas d’adenopathie cervicales associees.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L’hemogramme et le myelogramme montent l’agranulocytose sans atteinte des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autres lignees sanguines.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Leucose aigue : l’atteinte amygdalienne est associee a une gingivite hypertrophique. Son evolution necrotique (angine ulcero-necrotique bilaterale) et sa tendance hemorragique doivent faire pratiquer un hemogramme et un myelogramme</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Eruptions bulleuses : Ce sont des affections rares, qui interessent surtout la</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dermatologie. Elles peuvent etre confondus avec une angine vesiculeuse mais l’atteinte est diffuse a toute la muqueuse buccale avec presence de lesion cutanees (exemple : pemphigus) qui affirment le diagnostic.</a:t>
            </a:r>
            <a:endParaRPr/>
          </a:p>
        </p:txBody>
      </p:sp>
      <p:sp>
        <p:nvSpPr>
          <p:cNvPr id="574" name="Google Shape;574;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suppuration de l'atmosphere celluleuse extra-capsulaire de la loge amygdalienne</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L'agent microbien habituel de ces phlegmons peri-amygdaliens est dans l'immense majorite des cas le SGA, les bacteries anaerobies venant en seconde position.</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Se voit dans les agranulocytoses (dg différentiel </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Peut se voir mm dans les formes virale</a:t>
            </a:r>
            <a:endParaRPr/>
          </a:p>
          <a:p>
            <a:pPr indent="-228600" lvl="0" marL="228600" rtl="0" algn="l">
              <a:spcBef>
                <a:spcPts val="0"/>
              </a:spcBef>
              <a:spcAft>
                <a:spcPts val="0"/>
              </a:spcAft>
              <a:buClr>
                <a:schemeClr val="dk1"/>
              </a:buClr>
              <a:buSzPts val="1200"/>
              <a:buFont typeface="Calibri"/>
              <a:buAutoNum type="alphaUcPeriod"/>
            </a:pPr>
            <a:r>
              <a:rPr b="0" i="0" lang="fr-FR" sz="1200" u="none" strike="noStrike">
                <a:solidFill>
                  <a:schemeClr val="dk1"/>
                </a:solidFill>
                <a:latin typeface="Calibri"/>
                <a:ea typeface="Calibri"/>
                <a:cs typeface="Calibri"/>
                <a:sym typeface="Calibri"/>
              </a:rPr>
              <a:t>Amygdale refoulee en dedans.</a:t>
            </a:r>
            <a:endParaRPr/>
          </a:p>
        </p:txBody>
      </p:sp>
      <p:sp>
        <p:nvSpPr>
          <p:cNvPr id="593" name="Google Shape;59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Atmosphère celluleuse extra capsulaire de la loge amygdalienne , siège entre amygdale et fascia pharyngo basilaire </a:t>
            </a:r>
            <a:endParaRPr/>
          </a:p>
        </p:txBody>
      </p:sp>
      <p:sp>
        <p:nvSpPr>
          <p:cNvPr id="601" name="Google Shape;60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C'est une suppuration de l'atmosphère celluleuse extra-capsulaire de la loge amygdalienne, à point de départ amygdalien. Dans 80 % des cas, il est de localisation antéro-supérieure.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L'agent microbien habituel de ces phlegmons péri-amygdaliens est dans l'immense majorité des cas le SGA, les bactéries anaérobies venant en seconde position.</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La symptomatologie associe une douleur pharyngée unilatérale intense, une dysphagie, un état général altéré avec une fièvre élevée à 39-40°.</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L'examen, souvent gêné par le trismus, retrouve une tuméfaction de la partie supérieure du pilier antérieur, une luette déviée du côté controlatéral, oedématiée, translucide et une amygdale refoulée en dedans.</a:t>
            </a:r>
            <a:endParaRPr/>
          </a:p>
          <a:p>
            <a:pPr indent="0" lvl="0" marL="0" rtl="0" algn="l">
              <a:spcBef>
                <a:spcPts val="0"/>
              </a:spcBef>
              <a:spcAft>
                <a:spcPts val="0"/>
              </a:spcAft>
              <a:buNone/>
            </a:pPr>
            <a:r>
              <a:t/>
            </a:r>
            <a:endParaRPr/>
          </a:p>
        </p:txBody>
      </p:sp>
      <p:sp>
        <p:nvSpPr>
          <p:cNvPr id="608" name="Google Shape;60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Locorégionale</a:t>
            </a:r>
            <a:endParaRPr/>
          </a:p>
          <a:p>
            <a:pPr indent="-228600" lvl="0" marL="228600" rtl="0" algn="l">
              <a:spcBef>
                <a:spcPts val="0"/>
              </a:spcBef>
              <a:spcAft>
                <a:spcPts val="0"/>
              </a:spcAft>
              <a:buClr>
                <a:schemeClr val="dk1"/>
              </a:buClr>
              <a:buSzPts val="1200"/>
              <a:buFont typeface="Calibri"/>
              <a:buAutoNum type="alphaUcPeriod"/>
            </a:pPr>
            <a:r>
              <a:rPr lang="fr-FR"/>
              <a:t>Complication suppurative</a:t>
            </a:r>
            <a:endParaRPr/>
          </a:p>
          <a:p>
            <a:pPr indent="-228600" lvl="0" marL="228600" rtl="0" algn="l">
              <a:spcBef>
                <a:spcPts val="0"/>
              </a:spcBef>
              <a:spcAft>
                <a:spcPts val="0"/>
              </a:spcAft>
              <a:buClr>
                <a:schemeClr val="dk1"/>
              </a:buClr>
              <a:buSzPts val="1200"/>
              <a:buFont typeface="Calibri"/>
              <a:buAutoNum type="alphaUcPeriod"/>
            </a:pPr>
            <a:r>
              <a:rPr lang="fr-FR"/>
              <a:t>Oui</a:t>
            </a:r>
            <a:endParaRPr/>
          </a:p>
          <a:p>
            <a:pPr indent="-228600" lvl="0" marL="228600" rtl="0" algn="l">
              <a:spcBef>
                <a:spcPts val="0"/>
              </a:spcBef>
              <a:spcAft>
                <a:spcPts val="0"/>
              </a:spcAft>
              <a:buClr>
                <a:schemeClr val="dk1"/>
              </a:buClr>
              <a:buSzPts val="1200"/>
              <a:buFont typeface="Calibri"/>
              <a:buAutoNum type="alphaUcPeriod"/>
            </a:pPr>
            <a:r>
              <a:rPr lang="fr-FR"/>
              <a:t>C’est l’adénophlegmon</a:t>
            </a:r>
            <a:endParaRPr/>
          </a:p>
          <a:p>
            <a:pPr indent="-228600" lvl="0" marL="228600" rtl="0" algn="l">
              <a:spcBef>
                <a:spcPts val="0"/>
              </a:spcBef>
              <a:spcAft>
                <a:spcPts val="0"/>
              </a:spcAft>
              <a:buClr>
                <a:schemeClr val="dk1"/>
              </a:buClr>
              <a:buSzPts val="1200"/>
              <a:buFont typeface="Calibri"/>
              <a:buAutoNum type="alphaUcPeriod"/>
            </a:pPr>
            <a:r>
              <a:rPr lang="fr-FR"/>
              <a:t>TDM cervico thoracique </a:t>
            </a:r>
            <a:endParaRPr/>
          </a:p>
          <a:p>
            <a:pPr indent="-152400" lvl="0" marL="228600" rtl="0" algn="l">
              <a:spcBef>
                <a:spcPts val="0"/>
              </a:spcBef>
              <a:spcAft>
                <a:spcPts val="0"/>
              </a:spcAft>
              <a:buClr>
                <a:schemeClr val="dk1"/>
              </a:buClr>
              <a:buSzPts val="1200"/>
              <a:buFont typeface="Calibri"/>
              <a:buNone/>
            </a:pPr>
            <a:r>
              <a:t/>
            </a:r>
            <a:endParaRPr/>
          </a:p>
        </p:txBody>
      </p:sp>
      <p:sp>
        <p:nvSpPr>
          <p:cNvPr id="615" name="Google Shape;615;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7-3 Amygdalite chronique Elle se manifeste cliniquement par : - Des angines à répétition, souvent blanches, prolongées, avec adénopathies importantes et asthénie durable - - La persistance, entre ces angines : • d’une odynophagie chronique • d’un état inflammatoire des amygdales, donnant issue à leur pression à un liquide louche ou purulent • d'un syndrome biologique inflammatoire : hyperleucocytose, CRP augmentée • de ganglions cervicaux sous-angulo-maxillaires chroniques Le peu d'efficacité d’une éventuelle antibiothérapie générale. Ce tableau persiste trois mois ou plus et ne répond pas à un traitement bien conduit.</a:t>
            </a:r>
            <a:endParaRPr/>
          </a:p>
        </p:txBody>
      </p:sp>
      <p:sp>
        <p:nvSpPr>
          <p:cNvPr id="651" name="Google Shape;651;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c. Prévient jusqu’à  9j</a:t>
            </a:r>
            <a:endParaRPr/>
          </a:p>
          <a:p>
            <a:pPr indent="0" lvl="0" marL="0" rtl="0" algn="l">
              <a:spcBef>
                <a:spcPts val="0"/>
              </a:spcBef>
              <a:spcAft>
                <a:spcPts val="0"/>
              </a:spcAft>
              <a:buNone/>
            </a:pPr>
            <a:r>
              <a:rPr lang="fr-FR"/>
              <a:t>D. Pour l’amoxicilline,pour les autres ATB durée de 4 j pour C2G, 3j pour azithro</a:t>
            </a:r>
            <a:endParaRPr/>
          </a:p>
          <a:p>
            <a:pPr indent="0" lvl="0" marL="0" rtl="0" algn="l">
              <a:spcBef>
                <a:spcPts val="0"/>
              </a:spcBef>
              <a:spcAft>
                <a:spcPts val="0"/>
              </a:spcAft>
              <a:buNone/>
            </a:pPr>
            <a:r>
              <a:rPr lang="fr-FR"/>
              <a:t>E azithromicine 5 j</a:t>
            </a:r>
            <a:endParaRPr/>
          </a:p>
          <a:p>
            <a:pPr indent="0" lvl="0" marL="0" rtl="0" algn="l">
              <a:spcBef>
                <a:spcPts val="0"/>
              </a:spcBef>
              <a:spcAft>
                <a:spcPts val="0"/>
              </a:spcAft>
              <a:buNone/>
            </a:pPr>
            <a:r>
              <a:t/>
            </a:r>
            <a:endParaRPr/>
          </a:p>
        </p:txBody>
      </p:sp>
      <p:sp>
        <p:nvSpPr>
          <p:cNvPr id="670" name="Google Shape;67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Fièvre &gt;38 °: 1</a:t>
            </a:r>
            <a:endParaRPr/>
          </a:p>
          <a:p>
            <a:pPr indent="0" lvl="0" marL="0" rtl="0" algn="l">
              <a:spcBef>
                <a:spcPts val="0"/>
              </a:spcBef>
              <a:spcAft>
                <a:spcPts val="0"/>
              </a:spcAft>
              <a:buNone/>
            </a:pPr>
            <a:r>
              <a:rPr lang="fr-FR"/>
              <a:t>Absence de toux: 1</a:t>
            </a:r>
            <a:endParaRPr/>
          </a:p>
          <a:p>
            <a:pPr indent="0" lvl="0" marL="0" rtl="0" algn="l">
              <a:spcBef>
                <a:spcPts val="0"/>
              </a:spcBef>
              <a:spcAft>
                <a:spcPts val="0"/>
              </a:spcAft>
              <a:buNone/>
            </a:pPr>
            <a:r>
              <a:rPr lang="fr-FR"/>
              <a:t>Adénopathies cervicales sensible:1</a:t>
            </a:r>
            <a:endParaRPr/>
          </a:p>
          <a:p>
            <a:pPr indent="0" lvl="0" marL="0" rtl="0" algn="l">
              <a:spcBef>
                <a:spcPts val="0"/>
              </a:spcBef>
              <a:spcAft>
                <a:spcPts val="0"/>
              </a:spcAft>
              <a:buNone/>
            </a:pPr>
            <a:r>
              <a:rPr lang="fr-FR"/>
              <a:t>Atteinte amyg: 1 </a:t>
            </a:r>
            <a:endParaRPr/>
          </a:p>
        </p:txBody>
      </p:sp>
      <p:sp>
        <p:nvSpPr>
          <p:cNvPr id="685" name="Google Shape;685;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Paracetamol 5j pour agir sur la douleur et fièvre</a:t>
            </a:r>
            <a:endParaRPr/>
          </a:p>
          <a:p>
            <a:pPr indent="0" lvl="0" marL="0" rtl="0" algn="l">
              <a:spcBef>
                <a:spcPts val="0"/>
              </a:spcBef>
              <a:spcAft>
                <a:spcPts val="0"/>
              </a:spcAft>
              <a:buNone/>
            </a:pPr>
            <a:r>
              <a:rPr lang="fr-FR"/>
              <a:t>Ibupr</a:t>
            </a:r>
            <a:r>
              <a:rPr b="0" i="0" lang="fr-FR" sz="1200">
                <a:solidFill>
                  <a:schemeClr val="dk1"/>
                </a:solidFill>
                <a:latin typeface="Calibri"/>
                <a:ea typeface="Calibri"/>
                <a:cs typeface="Calibri"/>
                <a:sym typeface="Calibri"/>
              </a:rPr>
              <a:t>médical.</a:t>
            </a:r>
            <a:r>
              <a:rPr lang="fr-FR"/>
              <a:t>ofène </a:t>
            </a:r>
            <a:endParaRPr/>
          </a:p>
          <a:p>
            <a:pPr indent="0" lvl="0" marL="0" rtl="0" algn="l">
              <a:spcBef>
                <a:spcPts val="0"/>
              </a:spcBef>
              <a:spcAft>
                <a:spcPts val="0"/>
              </a:spcAft>
              <a:buNone/>
            </a:pPr>
            <a:r>
              <a:rPr b="0" i="0" lang="fr-FR" sz="1200">
                <a:solidFill>
                  <a:schemeClr val="dk1"/>
                </a:solidFill>
                <a:latin typeface="Calibri"/>
                <a:ea typeface="Calibri"/>
                <a:cs typeface="Calibri"/>
                <a:sym typeface="Calibri"/>
              </a:rPr>
              <a:t>L’</a:t>
            </a:r>
            <a:r>
              <a:rPr b="1" i="0" lang="fr-FR" sz="1200">
                <a:solidFill>
                  <a:schemeClr val="dk1"/>
                </a:solidFill>
                <a:latin typeface="Calibri"/>
                <a:ea typeface="Calibri"/>
                <a:cs typeface="Calibri"/>
                <a:sym typeface="Calibri"/>
              </a:rPr>
              <a:t>ibuprofène</a:t>
            </a:r>
            <a:r>
              <a:rPr b="0" i="0" lang="fr-FR" sz="1200">
                <a:solidFill>
                  <a:schemeClr val="dk1"/>
                </a:solidFill>
                <a:latin typeface="Calibri"/>
                <a:ea typeface="Calibri"/>
                <a:cs typeface="Calibri"/>
                <a:sym typeface="Calibri"/>
              </a:rPr>
              <a:t> est l’anti-inflammatoire non stéroïdien (AINS) recommandé en premier lieu pour soulager la plupart des </a:t>
            </a:r>
            <a:r>
              <a:rPr b="1" i="0" lang="fr-FR" sz="1200">
                <a:solidFill>
                  <a:schemeClr val="dk1"/>
                </a:solidFill>
                <a:latin typeface="Calibri"/>
                <a:ea typeface="Calibri"/>
                <a:cs typeface="Calibri"/>
                <a:sym typeface="Calibri"/>
              </a:rPr>
              <a:t>douleurs aiguës modérées à intenses</a:t>
            </a:r>
            <a:r>
              <a:rPr b="0" i="0" lang="fr-FR" sz="1200">
                <a:solidFill>
                  <a:schemeClr val="dk1"/>
                </a:solidFill>
                <a:latin typeface="Calibri"/>
                <a:ea typeface="Calibri"/>
                <a:cs typeface="Calibri"/>
                <a:sym typeface="Calibri"/>
              </a:rPr>
              <a:t> chez l’</a:t>
            </a:r>
            <a:r>
              <a:rPr b="1" i="0" lang="fr-FR" sz="1200">
                <a:solidFill>
                  <a:schemeClr val="dk1"/>
                </a:solidFill>
                <a:latin typeface="Calibri"/>
                <a:ea typeface="Calibri"/>
                <a:cs typeface="Calibri"/>
                <a:sym typeface="Calibri"/>
              </a:rPr>
              <a:t>enfant de plus de 3 mois</a:t>
            </a:r>
            <a:r>
              <a:rPr b="0" i="0" lang="fr-FR" sz="1200">
                <a:solidFill>
                  <a:schemeClr val="dk1"/>
                </a:solidFill>
                <a:latin typeface="Calibri"/>
                <a:ea typeface="Calibri"/>
                <a:cs typeface="Calibri"/>
                <a:sym typeface="Calibri"/>
              </a:rPr>
              <a:t>. Il est utilisé à la dose de 30 mg par kilo de poids et par jour, en quatre prises. Ces posologies correspondent aux doses les plus efficaces et elles ne doivent pas être dépassées sans avis </a:t>
            </a:r>
            <a:r>
              <a:rPr lang="fr-FR"/>
              <a:t>à dose antiinflammatoire 400x2, dise antalgique est la moitié</a:t>
            </a:r>
            <a:endParaRPr/>
          </a:p>
          <a:p>
            <a:pPr indent="0" lvl="0" marL="0" rtl="0" algn="l">
              <a:spcBef>
                <a:spcPts val="0"/>
              </a:spcBef>
              <a:spcAft>
                <a:spcPts val="0"/>
              </a:spcAft>
              <a:buNone/>
            </a:pPr>
            <a:r>
              <a:rPr lang="fr-FR"/>
              <a:t>Azithromycine enlevé des indications de l’angine</a:t>
            </a:r>
            <a:endParaRPr/>
          </a:p>
        </p:txBody>
      </p:sp>
      <p:sp>
        <p:nvSpPr>
          <p:cNvPr id="694" name="Google Shape;69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Cefpodoxime-proxétil : cefpodox, orelox</a:t>
            </a:r>
            <a:endParaRPr/>
          </a:p>
        </p:txBody>
      </p:sp>
      <p:sp>
        <p:nvSpPr>
          <p:cNvPr id="702" name="Google Shape;702;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 name="Google Shape;772;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1" name="Google Shape;791;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5" name="Google Shape;805;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9" name="Google Shape;819;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6" name="Google Shape;846;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D: deficit en Ig A: sinusite bilat</a:t>
            </a:r>
            <a:endParaRPr/>
          </a:p>
        </p:txBody>
      </p:sp>
      <p:sp>
        <p:nvSpPr>
          <p:cNvPr id="863" name="Google Shape;863;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0" name="Google Shape;870;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dk1"/>
              </a:buClr>
              <a:buSzPts val="1200"/>
              <a:buFont typeface="Calibri"/>
              <a:buAutoNum type="alphaUcPeriod"/>
            </a:pPr>
            <a:r>
              <a:rPr lang="fr-FR"/>
              <a:t>Viral le plus fréquent</a:t>
            </a:r>
            <a:endParaRPr/>
          </a:p>
          <a:p>
            <a:pPr indent="-514350" lvl="0" marL="514350" rtl="0" algn="l">
              <a:spcBef>
                <a:spcPts val="0"/>
              </a:spcBef>
              <a:spcAft>
                <a:spcPts val="0"/>
              </a:spcAft>
              <a:buClr>
                <a:schemeClr val="dk1"/>
              </a:buClr>
              <a:buSzPts val="1200"/>
              <a:buFont typeface="Calibri"/>
              <a:buAutoNum type="alphaUcPeriod"/>
            </a:pPr>
            <a:r>
              <a:rPr lang="fr-FR"/>
              <a:t>Sinusite aigue dentaire : streptocoque A, anaérobies</a:t>
            </a:r>
            <a:endParaRPr/>
          </a:p>
          <a:p>
            <a:pPr indent="-514350" lvl="0" marL="514350" rtl="0" algn="l">
              <a:spcBef>
                <a:spcPts val="0"/>
              </a:spcBef>
              <a:spcAft>
                <a:spcPts val="0"/>
              </a:spcAft>
              <a:buClr>
                <a:schemeClr val="dk1"/>
              </a:buClr>
              <a:buSzPts val="1200"/>
              <a:buFont typeface="Calibri"/>
              <a:buAutoNum type="alphaUcPeriod"/>
            </a:pPr>
            <a:r>
              <a:rPr lang="fr-FR"/>
              <a:t>Sinusite chronique: bacteries anaerobies et de bacilles a Gram negatif aerobies</a:t>
            </a:r>
            <a:endParaRPr/>
          </a:p>
          <a:p>
            <a:pPr indent="-514350" lvl="0" marL="514350" rtl="0" algn="l">
              <a:spcBef>
                <a:spcPts val="0"/>
              </a:spcBef>
              <a:spcAft>
                <a:spcPts val="0"/>
              </a:spcAft>
              <a:buClr>
                <a:schemeClr val="dk1"/>
              </a:buClr>
              <a:buSzPts val="1200"/>
              <a:buFont typeface="Calibri"/>
              <a:buAutoNum type="alphaUcPeriod"/>
            </a:pPr>
            <a:r>
              <a:rPr lang="fr-FR"/>
              <a:t>Sinusite de l’enfant: Streptococcus pneumoniae, staphylocoque aureus, Haemophilus influenzae  et les anaérobies</a:t>
            </a:r>
            <a:endParaRPr/>
          </a:p>
          <a:p>
            <a:pPr indent="0" lvl="0" marL="0" rtl="0" algn="l">
              <a:spcBef>
                <a:spcPts val="0"/>
              </a:spcBef>
              <a:spcAft>
                <a:spcPts val="0"/>
              </a:spcAft>
              <a:buNone/>
            </a:pPr>
            <a:r>
              <a:t/>
            </a:r>
            <a:endParaRPr/>
          </a:p>
        </p:txBody>
      </p:sp>
      <p:sp>
        <p:nvSpPr>
          <p:cNvPr id="871" name="Google Shape;871;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8" name="Google Shape;878;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5" name="Google Shape;905;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1" name="Google Shape;911;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8" name="Google Shape;918;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Quand une origine dentaire est suspectee, les cliches retro-alveolaires ou un orthopantomogramme s’imposent. Un scanner des sinus ne sera realise dans ce cadre que lorsqu’une complication est suspectee.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Sinusite frontale: La TDM n’est realisee qu’en cas de suspicion de complications ou recidive</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Sinusite sphénoidale: systématique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Ethmoidite: systématique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Sinusite hyperalgique ou bloquée: sys</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Sinusite chroniques: systématique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Injection PC: formes compliquée</a:t>
            </a:r>
            <a:endParaRPr/>
          </a:p>
          <a:p>
            <a:pPr indent="0" lvl="0" marL="0" rtl="0" algn="l">
              <a:spcBef>
                <a:spcPts val="0"/>
              </a:spcBef>
              <a:spcAft>
                <a:spcPts val="0"/>
              </a:spcAft>
              <a:buNone/>
            </a:pPr>
            <a:r>
              <a:t/>
            </a:r>
            <a:endParaRPr/>
          </a:p>
        </p:txBody>
      </p:sp>
      <p:sp>
        <p:nvSpPr>
          <p:cNvPr id="919" name="Google Shape;919;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Quand une origine dentaire est suspectee, les cliches retro-alveolaires ou</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un orthopantomogramme s’imposent. Un scanner des sinus ne sera realise dans ce cadre que lorsqu’une complication est suspectee.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frontale: La TDM n’est realisee qu’en cas de suspicion de complications.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sphénoidale: systématique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Ethmoidite: systématique, TDM cérébrale systématique , injection </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hyperalgique ou bloquée: sys</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chroniques: systématique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Injection PC: formes compliquée</a:t>
            </a:r>
            <a:endParaRPr/>
          </a:p>
          <a:p>
            <a:pPr indent="0" lvl="0" marL="0" rtl="0" algn="l">
              <a:spcBef>
                <a:spcPts val="0"/>
              </a:spcBef>
              <a:spcAft>
                <a:spcPts val="0"/>
              </a:spcAft>
              <a:buNone/>
            </a:pPr>
            <a:r>
              <a:t/>
            </a:r>
            <a:endParaRPr/>
          </a:p>
        </p:txBody>
      </p:sp>
      <p:sp>
        <p:nvSpPr>
          <p:cNvPr id="927" name="Google Shape;927;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5" name="Google Shape;945;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 Quand une origine dentaire est suspectee, les cliches retro-alveolaires ou</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un orthopantomogramme s’imposent. Un scanner des sinus ne sera realise dans ce cadre que lorsqu’une complication est suspectee.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frontale: La TDM n’est realisee qu’en cas de suspicion de complications.</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sphénoidale: systématique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Ethmoidite: systématique, TDM cérébrale systématique , injection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hyperalgique ou bloquée: sys</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Sinusite chroniques: systématique</a:t>
            </a:r>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Injection PC: formes compliquée</a:t>
            </a:r>
            <a:endParaRPr/>
          </a:p>
          <a:p>
            <a:pPr indent="0" lvl="0" marL="0" rtl="0" algn="l">
              <a:spcBef>
                <a:spcPts val="0"/>
              </a:spcBef>
              <a:spcAft>
                <a:spcPts val="0"/>
              </a:spcAft>
              <a:buNone/>
            </a:pPr>
            <a:r>
              <a:t/>
            </a:r>
            <a:endParaRPr/>
          </a:p>
        </p:txBody>
      </p:sp>
      <p:sp>
        <p:nvSpPr>
          <p:cNvPr id="946" name="Google Shape;946;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4" name="Google Shape;964;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c. Au dessus du sourcil</a:t>
            </a:r>
            <a:endParaRPr/>
          </a:p>
          <a:p>
            <a:pPr indent="0" lvl="0" marL="0" rtl="0" algn="l">
              <a:spcBef>
                <a:spcPts val="0"/>
              </a:spcBef>
              <a:spcAft>
                <a:spcPts val="0"/>
              </a:spcAft>
              <a:buNone/>
            </a:pPr>
            <a:r>
              <a:t/>
            </a:r>
            <a:endParaRPr/>
          </a:p>
        </p:txBody>
      </p:sp>
      <p:sp>
        <p:nvSpPr>
          <p:cNvPr id="972" name="Google Shape;972;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 présence de pus conjonctival n’élimine pas l’éthmoidite parce que ca peut etre du à HI</a:t>
            </a:r>
            <a:endParaRPr/>
          </a:p>
        </p:txBody>
      </p:sp>
      <p:sp>
        <p:nvSpPr>
          <p:cNvPr id="980" name="Google Shape;980;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8" name="Google Shape;988;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5" name="Google Shape;100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2" name="Google Shape;1012;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Photo : chémosis</a:t>
            </a:r>
            <a:endParaRPr/>
          </a:p>
        </p:txBody>
      </p:sp>
      <p:sp>
        <p:nvSpPr>
          <p:cNvPr id="1013" name="Google Shape;1013;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0" name="Google Shape;1020;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1" name="Google Shape;1021;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9" name="Google Shape;1029;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La classification de Chandler est donnée par la TDM mais elle peut etre suspecter par la clinique </a:t>
            </a:r>
            <a:endParaRPr/>
          </a:p>
        </p:txBody>
      </p:sp>
      <p:sp>
        <p:nvSpPr>
          <p:cNvPr id="1037" name="Google Shape;1037;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7" name="Google Shape;1087;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B: aspergillus fumigatus </a:t>
            </a:r>
            <a:endParaRPr/>
          </a:p>
        </p:txBody>
      </p:sp>
      <p:sp>
        <p:nvSpPr>
          <p:cNvPr id="1088" name="Google Shape;1088;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3" name="Google Shape;1103;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 Si réchauffement </a:t>
            </a:r>
            <a:endParaRPr/>
          </a:p>
        </p:txBody>
      </p:sp>
      <p:sp>
        <p:nvSpPr>
          <p:cNvPr id="1104" name="Google Shape;1104;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1" name="Google Shape;1111;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9" name="Google Shape;1119;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Il faut rappeler qu’une ischemie de la retine ou du nerf optique superieure a 90 minutes entraine</a:t>
            </a:r>
            <a:endParaRPr/>
          </a:p>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des alterations irreversibles de la vision.</a:t>
            </a:r>
            <a:endParaRPr/>
          </a:p>
        </p:txBody>
      </p:sp>
      <p:sp>
        <p:nvSpPr>
          <p:cNvPr id="1120" name="Google Shape;1120;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8" name="Google Shape;1128;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5" name="Google Shape;1135;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6" name="Google Shape;1136;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D. L’epidemiologie bacterienne conditionne le traitement antibiotique probabiliste et varie dans le</a:t>
            </a:r>
            <a:endParaRPr/>
          </a:p>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temps et selon les pays. Seule la culture du pus recueilli par paracentese, d’indication limitee, a une valeur formelle pour l’identification de la bacterie causale.</a:t>
            </a:r>
            <a:endParaRPr/>
          </a:p>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E.Extension postéro latérale </a:t>
            </a:r>
            <a:endParaRPr/>
          </a:p>
        </p:txBody>
      </p:sp>
      <p:sp>
        <p:nvSpPr>
          <p:cNvPr id="1149" name="Google Shape;1149;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6" name="Google Shape;1156;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C. 10 % de rhinopharyngite</a:t>
            </a:r>
            <a:endParaRPr/>
          </a:p>
        </p:txBody>
      </p:sp>
      <p:sp>
        <p:nvSpPr>
          <p:cNvPr id="1157" name="Google Shape;1157;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4" name="Google Shape;1164;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2" name="Google Shape;1172;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3" name="Google Shape;1173;p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8" name="Google Shape;1198;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9" name="Google Shape;1199;p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 Brutale et précoce</a:t>
            </a:r>
            <a:endParaRPr/>
          </a:p>
        </p:txBody>
      </p:sp>
      <p:sp>
        <p:nvSpPr>
          <p:cNvPr id="1207" name="Google Shape;1207;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4" name="Google Shape;1214;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chemeClr val="dk1"/>
              </a:buClr>
              <a:buSzPts val="1200"/>
              <a:buFont typeface="Calibri"/>
              <a:buAutoNum type="alphaUcPeriod"/>
            </a:pPr>
            <a:r>
              <a:rPr lang="fr-FR"/>
              <a:t>Forme recidivante ou perforée ou échec</a:t>
            </a:r>
            <a:endParaRPr/>
          </a:p>
          <a:p>
            <a:pPr indent="-152400" lvl="0" marL="22860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rPr lang="fr-FR"/>
              <a:t>D. Erythromycine sulfafurazole (2 macrolides en association)=pediazole </a:t>
            </a:r>
            <a:endParaRPr/>
          </a:p>
        </p:txBody>
      </p:sp>
      <p:sp>
        <p:nvSpPr>
          <p:cNvPr id="1215" name="Google Shape;1215;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2" name="Google Shape;1222;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Les etudes cliniques de prescription d’antibiotiques versus placebo montrent que la majorite</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fr-FR" sz="1200" u="none" strike="noStrike">
                <a:solidFill>
                  <a:schemeClr val="dk1"/>
                </a:solidFill>
                <a:latin typeface="Calibri"/>
                <a:ea typeface="Calibri"/>
                <a:cs typeface="Calibri"/>
                <a:sym typeface="Calibri"/>
              </a:rPr>
              <a:t>des OMA purulentes guerit spontanement</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223" name="Google Shape;1223;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0" name="Google Shape;1230;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7" name="Google Shape;1237;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8" name="Google Shape;1238;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5" name="Google Shape;1245;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6" name="Google Shape;1246;p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4" name="Google Shape;1254;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la symptomatologie est bruyante (fievre</a:t>
            </a:r>
            <a:endParaRPr b="0" i="0" sz="1800" u="none" strike="noStrike">
              <a:latin typeface="Times New Roman"/>
              <a:ea typeface="Times New Roman"/>
              <a:cs typeface="Times New Roman"/>
              <a:sym typeface="Times New Roman"/>
            </a:endParaRPr>
          </a:p>
          <a:p>
            <a:pPr indent="0" lvl="0" marL="0" rtl="0" algn="l">
              <a:spcBef>
                <a:spcPts val="0"/>
              </a:spcBef>
              <a:spcAft>
                <a:spcPts val="0"/>
              </a:spcAft>
              <a:buNone/>
            </a:pPr>
            <a:r>
              <a:rPr b="0" i="0" lang="fr-FR" sz="1800" u="none" strike="noStrike">
                <a:latin typeface="Times New Roman"/>
                <a:ea typeface="Times New Roman"/>
                <a:cs typeface="Times New Roman"/>
                <a:sym typeface="Times New Roman"/>
              </a:rPr>
              <a:t>elevee, otalgie intense, otorrhee), une antibiotherapie doit etre prescrite</a:t>
            </a:r>
            <a:endParaRPr/>
          </a:p>
        </p:txBody>
      </p:sp>
      <p:sp>
        <p:nvSpPr>
          <p:cNvPr id="1255" name="Google Shape;1255;p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0" name="Google Shape;1290;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1" name="Google Shape;1291;p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6" name="Google Shape;1296;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p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2" name="Google Shape;1302;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3" name="Google Shape;1303;p10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7" name="Google Shape;1337;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8" name="Google Shape;1338;p1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5" name="Google Shape;1345;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6" name="Google Shape;1346;p1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0" name="Google Shape;1360;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1" name="Google Shape;1361;p1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8" name="Google Shape;1368;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107"/>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C0000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2F5496"/>
              </a:buClr>
              <a:buSzPts val="3200"/>
              <a:buNone/>
              <a:defRPr b="0" sz="3200">
                <a:solidFill>
                  <a:srgbClr val="2F5496"/>
                </a:solidFill>
                <a:latin typeface="Quintessential"/>
                <a:ea typeface="Quintessential"/>
                <a:cs typeface="Quintessential"/>
                <a:sym typeface="Quintessent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0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10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0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7" name="Shape 27"/>
        <p:cNvGrpSpPr/>
        <p:nvPr/>
      </p:nvGrpSpPr>
      <p:grpSpPr>
        <a:xfrm>
          <a:off x="0" y="0"/>
          <a:ext cx="0" cy="0"/>
          <a:chOff x="0" y="0"/>
          <a:chExt cx="0" cy="0"/>
        </a:xfrm>
      </p:grpSpPr>
      <p:sp>
        <p:nvSpPr>
          <p:cNvPr id="28" name="Google Shape;28;p10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0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1" name="Shape 31"/>
        <p:cNvGrpSpPr/>
        <p:nvPr/>
      </p:nvGrpSpPr>
      <p:grpSpPr>
        <a:xfrm>
          <a:off x="0" y="0"/>
          <a:ext cx="0" cy="0"/>
          <a:chOff x="0" y="0"/>
          <a:chExt cx="0" cy="0"/>
        </a:xfrm>
      </p:grpSpPr>
      <p:sp>
        <p:nvSpPr>
          <p:cNvPr id="32" name="Google Shape;32;p110"/>
          <p:cNvSpPr txBox="1"/>
          <p:nvPr>
            <p:ph type="title"/>
          </p:nvPr>
        </p:nvSpPr>
        <p:spPr>
          <a:xfrm>
            <a:off x="623887" y="1709738"/>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C0000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10"/>
          <p:cNvSpPr txBox="1"/>
          <p:nvPr>
            <p:ph idx="1" type="body"/>
          </p:nvPr>
        </p:nvSpPr>
        <p:spPr>
          <a:xfrm>
            <a:off x="623887"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1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7" name="Shape 37"/>
        <p:cNvGrpSpPr/>
        <p:nvPr/>
      </p:nvGrpSpPr>
      <p:grpSpPr>
        <a:xfrm>
          <a:off x="0" y="0"/>
          <a:ext cx="0" cy="0"/>
          <a:chOff x="0" y="0"/>
          <a:chExt cx="0" cy="0"/>
        </a:xfrm>
      </p:grpSpPr>
      <p:sp>
        <p:nvSpPr>
          <p:cNvPr id="38" name="Google Shape;38;p1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13"/>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13"/>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1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1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4" name="Shape 44"/>
        <p:cNvGrpSpPr/>
        <p:nvPr/>
      </p:nvGrpSpPr>
      <p:grpSpPr>
        <a:xfrm>
          <a:off x="0" y="0"/>
          <a:ext cx="0" cy="0"/>
          <a:chOff x="0" y="0"/>
          <a:chExt cx="0" cy="0"/>
        </a:xfrm>
      </p:grpSpPr>
      <p:sp>
        <p:nvSpPr>
          <p:cNvPr id="45" name="Google Shape;45;p114"/>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14"/>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14"/>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4"/>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14"/>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1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53" name="Shape 53"/>
        <p:cNvGrpSpPr/>
        <p:nvPr/>
      </p:nvGrpSpPr>
      <p:grpSpPr>
        <a:xfrm>
          <a:off x="0" y="0"/>
          <a:ext cx="0" cy="0"/>
          <a:chOff x="0" y="0"/>
          <a:chExt cx="0" cy="0"/>
        </a:xfrm>
      </p:grpSpPr>
      <p:sp>
        <p:nvSpPr>
          <p:cNvPr id="54" name="Google Shape;54;p1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1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1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58" name="Google Shape;58;p115"/>
          <p:cNvSpPr txBox="1"/>
          <p:nvPr>
            <p:ph idx="1" type="body"/>
          </p:nvPr>
        </p:nvSpPr>
        <p:spPr>
          <a:xfrm>
            <a:off x="1276350" y="2895600"/>
            <a:ext cx="6134100" cy="2082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9" name="Shape 59"/>
        <p:cNvGrpSpPr/>
        <p:nvPr/>
      </p:nvGrpSpPr>
      <p:grpSpPr>
        <a:xfrm>
          <a:off x="0" y="0"/>
          <a:ext cx="0" cy="0"/>
          <a:chOff x="0" y="0"/>
          <a:chExt cx="0" cy="0"/>
        </a:xfrm>
      </p:grpSpPr>
      <p:sp>
        <p:nvSpPr>
          <p:cNvPr id="60" name="Google Shape;60;p116"/>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C0000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16"/>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16"/>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1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1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6" name="Shape 66"/>
        <p:cNvGrpSpPr/>
        <p:nvPr/>
      </p:nvGrpSpPr>
      <p:grpSpPr>
        <a:xfrm>
          <a:off x="0" y="0"/>
          <a:ext cx="0" cy="0"/>
          <a:chOff x="0" y="0"/>
          <a:chExt cx="0" cy="0"/>
        </a:xfrm>
      </p:grpSpPr>
      <p:sp>
        <p:nvSpPr>
          <p:cNvPr id="67" name="Google Shape;67;p117"/>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C0000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7"/>
          <p:cNvSpPr/>
          <p:nvPr>
            <p:ph idx="2" type="pic"/>
          </p:nvPr>
        </p:nvSpPr>
        <p:spPr>
          <a:xfrm>
            <a:off x="3887391" y="987426"/>
            <a:ext cx="4629150" cy="4873625"/>
          </a:xfrm>
          <a:prstGeom prst="rect">
            <a:avLst/>
          </a:prstGeom>
          <a:noFill/>
          <a:ln>
            <a:noFill/>
          </a:ln>
        </p:spPr>
      </p:sp>
      <p:sp>
        <p:nvSpPr>
          <p:cNvPr id="69" name="Google Shape;69;p117"/>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3" name="Shape 73"/>
        <p:cNvGrpSpPr/>
        <p:nvPr/>
      </p:nvGrpSpPr>
      <p:grpSpPr>
        <a:xfrm>
          <a:off x="0" y="0"/>
          <a:ext cx="0" cy="0"/>
          <a:chOff x="0" y="0"/>
          <a:chExt cx="0" cy="0"/>
        </a:xfrm>
      </p:grpSpPr>
      <p:sp>
        <p:nvSpPr>
          <p:cNvPr id="74" name="Google Shape;74;p11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18"/>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9" name="Shape 79"/>
        <p:cNvGrpSpPr/>
        <p:nvPr/>
      </p:nvGrpSpPr>
      <p:grpSpPr>
        <a:xfrm>
          <a:off x="0" y="0"/>
          <a:ext cx="0" cy="0"/>
          <a:chOff x="0" y="0"/>
          <a:chExt cx="0" cy="0"/>
        </a:xfrm>
      </p:grpSpPr>
      <p:sp>
        <p:nvSpPr>
          <p:cNvPr id="80" name="Google Shape;80;p119"/>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19"/>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p:cSld name="Leer">
    <p:spTree>
      <p:nvGrpSpPr>
        <p:cNvPr id="85" name="Shape 85"/>
        <p:cNvGrpSpPr/>
        <p:nvPr/>
      </p:nvGrpSpPr>
      <p:grpSpPr>
        <a:xfrm>
          <a:off x="0" y="0"/>
          <a:ext cx="0" cy="0"/>
          <a:chOff x="0" y="0"/>
          <a:chExt cx="0" cy="0"/>
        </a:xfrm>
      </p:grpSpPr>
      <p:sp>
        <p:nvSpPr>
          <p:cNvPr id="86" name="Google Shape;86;p1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89" name="Google Shape;89;p120"/>
          <p:cNvSpPr/>
          <p:nvPr>
            <p:ph idx="2" type="pic"/>
          </p:nvPr>
        </p:nvSpPr>
        <p:spPr>
          <a:xfrm>
            <a:off x="4876800" y="279400"/>
            <a:ext cx="3810000" cy="25527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90" name="Shape 90"/>
        <p:cNvGrpSpPr/>
        <p:nvPr/>
      </p:nvGrpSpPr>
      <p:grpSpPr>
        <a:xfrm>
          <a:off x="0" y="0"/>
          <a:ext cx="0" cy="0"/>
          <a:chOff x="0" y="0"/>
          <a:chExt cx="0" cy="0"/>
        </a:xfrm>
      </p:grpSpPr>
      <p:sp>
        <p:nvSpPr>
          <p:cNvPr id="91" name="Google Shape;91;p121"/>
          <p:cNvSpPr txBox="1"/>
          <p:nvPr>
            <p:ph type="title"/>
          </p:nvPr>
        </p:nvSpPr>
        <p:spPr>
          <a:xfrm>
            <a:off x="2673000" y="3401200"/>
            <a:ext cx="3798000" cy="1087600"/>
          </a:xfrm>
          <a:prstGeom prst="rect">
            <a:avLst/>
          </a:prstGeom>
          <a:noFill/>
          <a:ln>
            <a:noFill/>
          </a:ln>
        </p:spPr>
        <p:txBody>
          <a:bodyPr anchorCtr="0" anchor="t" bIns="91425" lIns="91425" spcFirstLastPara="1" rIns="91425" wrap="square" tIns="91425">
            <a:noAutofit/>
          </a:bodyPr>
          <a:lstStyle>
            <a:lvl1pPr lvl="0" algn="ctr">
              <a:lnSpc>
                <a:spcPct val="90000"/>
              </a:lnSpc>
              <a:spcBef>
                <a:spcPts val="0"/>
              </a:spcBef>
              <a:spcAft>
                <a:spcPts val="0"/>
              </a:spcAft>
              <a:buClr>
                <a:srgbClr val="C00000"/>
              </a:buClr>
              <a:buSzPts val="4000"/>
              <a:buFont typeface="Calibri"/>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92" name="Google Shape;92;p121"/>
          <p:cNvSpPr txBox="1"/>
          <p:nvPr>
            <p:ph idx="1" type="subTitle"/>
          </p:nvPr>
        </p:nvSpPr>
        <p:spPr>
          <a:xfrm>
            <a:off x="2937741" y="4409800"/>
            <a:ext cx="3268500" cy="1056800"/>
          </a:xfrm>
          <a:prstGeom prst="rect">
            <a:avLst/>
          </a:prstGeom>
          <a:noFill/>
          <a:ln>
            <a:noFill/>
          </a:ln>
        </p:spPr>
        <p:txBody>
          <a:bodyPr anchorCtr="0" anchor="t" bIns="91425" lIns="91425" spcFirstLastPara="1" rIns="91425" wrap="square" tIns="91425">
            <a:noAutofit/>
          </a:bodyPr>
          <a:lstStyle>
            <a:lvl1pPr lvl="0" algn="ctr">
              <a:lnSpc>
                <a:spcPct val="90000"/>
              </a:lnSpc>
              <a:spcBef>
                <a:spcPts val="0"/>
              </a:spcBef>
              <a:spcAft>
                <a:spcPts val="0"/>
              </a:spcAft>
              <a:buClr>
                <a:schemeClr val="dk2"/>
              </a:buClr>
              <a:buSzPts val="1600"/>
              <a:buNone/>
              <a:defRPr sz="1600">
                <a:solidFill>
                  <a:schemeClr val="dk2"/>
                </a:solidFill>
              </a:defRPr>
            </a:lvl1pPr>
            <a:lvl2pPr lvl="1"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2pPr>
            <a:lvl3pPr lvl="2"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3pPr>
            <a:lvl4pPr lvl="3"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4pPr>
            <a:lvl5pPr lvl="4"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5pPr>
            <a:lvl6pPr lvl="5"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6pPr>
            <a:lvl7pPr lvl="6"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7pPr>
            <a:lvl8pPr lvl="7"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8pPr>
            <a:lvl9pPr lvl="8"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9pPr>
          </a:lstStyle>
          <a:p/>
        </p:txBody>
      </p:sp>
      <p:sp>
        <p:nvSpPr>
          <p:cNvPr id="93" name="Google Shape;93;p121"/>
          <p:cNvSpPr txBox="1"/>
          <p:nvPr>
            <p:ph idx="2" type="title"/>
          </p:nvPr>
        </p:nvSpPr>
        <p:spPr>
          <a:xfrm>
            <a:off x="3778200" y="1871733"/>
            <a:ext cx="1587600" cy="13360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chemeClr val="dk1"/>
              </a:buClr>
              <a:buSzPts val="4800"/>
              <a:buFont typeface="Calibri"/>
              <a:buNone/>
              <a:defRPr b="0" sz="4800">
                <a:solidFill>
                  <a:schemeClr val="dk1"/>
                </a:solidFill>
              </a:defRPr>
            </a:lvl1pPr>
            <a:lvl2pPr lvl="1" algn="ctr">
              <a:spcBef>
                <a:spcPts val="0"/>
              </a:spcBef>
              <a:spcAft>
                <a:spcPts val="0"/>
              </a:spcAft>
              <a:buClr>
                <a:schemeClr val="dk2"/>
              </a:buClr>
              <a:buSzPts val="4800"/>
              <a:buNone/>
              <a:defRPr sz="4800">
                <a:solidFill>
                  <a:schemeClr val="dk2"/>
                </a:solidFill>
              </a:defRPr>
            </a:lvl2pPr>
            <a:lvl3pPr lvl="2" algn="ctr">
              <a:spcBef>
                <a:spcPts val="0"/>
              </a:spcBef>
              <a:spcAft>
                <a:spcPts val="0"/>
              </a:spcAft>
              <a:buClr>
                <a:schemeClr val="dk2"/>
              </a:buClr>
              <a:buSzPts val="4800"/>
              <a:buNone/>
              <a:defRPr sz="4800">
                <a:solidFill>
                  <a:schemeClr val="dk2"/>
                </a:solidFill>
              </a:defRPr>
            </a:lvl3pPr>
            <a:lvl4pPr lvl="3" algn="ctr">
              <a:spcBef>
                <a:spcPts val="0"/>
              </a:spcBef>
              <a:spcAft>
                <a:spcPts val="0"/>
              </a:spcAft>
              <a:buClr>
                <a:schemeClr val="dk2"/>
              </a:buClr>
              <a:buSzPts val="4800"/>
              <a:buNone/>
              <a:defRPr sz="4800">
                <a:solidFill>
                  <a:schemeClr val="dk2"/>
                </a:solidFill>
              </a:defRPr>
            </a:lvl4pPr>
            <a:lvl5pPr lvl="4" algn="ctr">
              <a:spcBef>
                <a:spcPts val="0"/>
              </a:spcBef>
              <a:spcAft>
                <a:spcPts val="0"/>
              </a:spcAft>
              <a:buClr>
                <a:schemeClr val="dk2"/>
              </a:buClr>
              <a:buSzPts val="4800"/>
              <a:buNone/>
              <a:defRPr sz="4800">
                <a:solidFill>
                  <a:schemeClr val="dk2"/>
                </a:solidFill>
              </a:defRPr>
            </a:lvl5pPr>
            <a:lvl6pPr lvl="5" algn="ctr">
              <a:spcBef>
                <a:spcPts val="0"/>
              </a:spcBef>
              <a:spcAft>
                <a:spcPts val="0"/>
              </a:spcAft>
              <a:buClr>
                <a:schemeClr val="dk2"/>
              </a:buClr>
              <a:buSzPts val="4800"/>
              <a:buNone/>
              <a:defRPr sz="4800">
                <a:solidFill>
                  <a:schemeClr val="dk2"/>
                </a:solidFill>
              </a:defRPr>
            </a:lvl6pPr>
            <a:lvl7pPr lvl="6" algn="ctr">
              <a:spcBef>
                <a:spcPts val="0"/>
              </a:spcBef>
              <a:spcAft>
                <a:spcPts val="0"/>
              </a:spcAft>
              <a:buClr>
                <a:schemeClr val="dk2"/>
              </a:buClr>
              <a:buSzPts val="4800"/>
              <a:buNone/>
              <a:defRPr sz="4800">
                <a:solidFill>
                  <a:schemeClr val="dk2"/>
                </a:solidFill>
              </a:defRPr>
            </a:lvl7pPr>
            <a:lvl8pPr lvl="7" algn="ctr">
              <a:spcBef>
                <a:spcPts val="0"/>
              </a:spcBef>
              <a:spcAft>
                <a:spcPts val="0"/>
              </a:spcAft>
              <a:buClr>
                <a:schemeClr val="dk2"/>
              </a:buClr>
              <a:buSzPts val="4800"/>
              <a:buNone/>
              <a:defRPr sz="4800">
                <a:solidFill>
                  <a:schemeClr val="dk2"/>
                </a:solidFill>
              </a:defRPr>
            </a:lvl8pPr>
            <a:lvl9pPr lvl="8" algn="ctr">
              <a:spcBef>
                <a:spcPts val="0"/>
              </a:spcBef>
              <a:spcAft>
                <a:spcPts val="0"/>
              </a:spcAft>
              <a:buClr>
                <a:schemeClr val="dk2"/>
              </a:buClr>
              <a:buSzPts val="4800"/>
              <a:buNone/>
              <a:defRPr sz="4800">
                <a:solidFill>
                  <a:schemeClr val="dk2"/>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02" name="Shape 102"/>
        <p:cNvGrpSpPr/>
        <p:nvPr/>
      </p:nvGrpSpPr>
      <p:grpSpPr>
        <a:xfrm>
          <a:off x="0" y="0"/>
          <a:ext cx="0" cy="0"/>
          <a:chOff x="0" y="0"/>
          <a:chExt cx="0" cy="0"/>
        </a:xfrm>
      </p:grpSpPr>
      <p:sp>
        <p:nvSpPr>
          <p:cNvPr id="103" name="Google Shape;103;p11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1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5" name="Google Shape;105;p112"/>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12"/>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12"/>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08" name="Shape 108"/>
        <p:cNvGrpSpPr/>
        <p:nvPr/>
      </p:nvGrpSpPr>
      <p:grpSpPr>
        <a:xfrm>
          <a:off x="0" y="0"/>
          <a:ext cx="0" cy="0"/>
          <a:chOff x="0" y="0"/>
          <a:chExt cx="0" cy="0"/>
        </a:xfrm>
      </p:grpSpPr>
      <p:sp>
        <p:nvSpPr>
          <p:cNvPr id="109" name="Google Shape;109;p122"/>
          <p:cNvSpPr txBox="1"/>
          <p:nvPr>
            <p:ph type="ctrTitle"/>
          </p:nvPr>
        </p:nvSpPr>
        <p:spPr>
          <a:xfrm>
            <a:off x="685800" y="1371600"/>
            <a:ext cx="7848600" cy="192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22"/>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lvl1pPr lvl="0" algn="l">
              <a:spcBef>
                <a:spcPts val="480"/>
              </a:spcBef>
              <a:spcAft>
                <a:spcPts val="0"/>
              </a:spcAft>
              <a:buSzPts val="2040"/>
              <a:buNone/>
              <a:defRPr>
                <a:solidFill>
                  <a:srgbClr val="3F3F3F"/>
                </a:solidFill>
              </a:defRPr>
            </a:lvl1pPr>
            <a:lvl2pPr lvl="1" algn="ctr">
              <a:spcBef>
                <a:spcPts val="400"/>
              </a:spcBef>
              <a:spcAft>
                <a:spcPts val="0"/>
              </a:spcAft>
              <a:buSzPts val="1700"/>
              <a:buNone/>
              <a:defRPr>
                <a:solidFill>
                  <a:srgbClr val="888888"/>
                </a:solidFill>
              </a:defRPr>
            </a:lvl2pPr>
            <a:lvl3pPr lvl="2" algn="ctr">
              <a:spcBef>
                <a:spcPts val="360"/>
              </a:spcBef>
              <a:spcAft>
                <a:spcPts val="0"/>
              </a:spcAft>
              <a:buSzPts val="1620"/>
              <a:buNone/>
              <a:defRPr>
                <a:solidFill>
                  <a:srgbClr val="888888"/>
                </a:solidFill>
              </a:defRPr>
            </a:lvl3pPr>
            <a:lvl4pPr lvl="3" algn="ctr">
              <a:spcBef>
                <a:spcPts val="320"/>
              </a:spcBef>
              <a:spcAft>
                <a:spcPts val="0"/>
              </a:spcAft>
              <a:buSzPts val="1600"/>
              <a:buNone/>
              <a:defRPr>
                <a:solidFill>
                  <a:srgbClr val="888888"/>
                </a:solidFill>
              </a:defRPr>
            </a:lvl4pPr>
            <a:lvl5pPr lvl="4" algn="ctr">
              <a:spcBef>
                <a:spcPts val="280"/>
              </a:spcBef>
              <a:spcAft>
                <a:spcPts val="0"/>
              </a:spcAft>
              <a:buSzPts val="1400"/>
              <a:buNone/>
              <a:defRPr>
                <a:solidFill>
                  <a:srgbClr val="888888"/>
                </a:solidFill>
              </a:defRPr>
            </a:lvl5pPr>
            <a:lvl6pPr lvl="5" algn="ctr">
              <a:spcBef>
                <a:spcPts val="260"/>
              </a:spcBef>
              <a:spcAft>
                <a:spcPts val="0"/>
              </a:spcAft>
              <a:buSzPts val="1300"/>
              <a:buNone/>
              <a:defRPr>
                <a:solidFill>
                  <a:srgbClr val="888888"/>
                </a:solidFill>
              </a:defRPr>
            </a:lvl6pPr>
            <a:lvl7pPr lvl="6" algn="ctr">
              <a:spcBef>
                <a:spcPts val="260"/>
              </a:spcBef>
              <a:spcAft>
                <a:spcPts val="0"/>
              </a:spcAft>
              <a:buSzPts val="1300"/>
              <a:buNone/>
              <a:defRPr>
                <a:solidFill>
                  <a:srgbClr val="888888"/>
                </a:solidFill>
              </a:defRPr>
            </a:lvl7pPr>
            <a:lvl8pPr lvl="7" algn="ctr">
              <a:spcBef>
                <a:spcPts val="260"/>
              </a:spcBef>
              <a:spcAft>
                <a:spcPts val="0"/>
              </a:spcAft>
              <a:buSzPts val="1300"/>
              <a:buNone/>
              <a:defRPr>
                <a:solidFill>
                  <a:srgbClr val="888888"/>
                </a:solidFill>
              </a:defRPr>
            </a:lvl8pPr>
            <a:lvl9pPr lvl="8" algn="ctr">
              <a:spcBef>
                <a:spcPts val="260"/>
              </a:spcBef>
              <a:spcAft>
                <a:spcPts val="0"/>
              </a:spcAft>
              <a:buSzPts val="1300"/>
              <a:buNone/>
              <a:defRPr>
                <a:solidFill>
                  <a:srgbClr val="888888"/>
                </a:solidFill>
              </a:defRPr>
            </a:lvl9pPr>
          </a:lstStyle>
          <a:p/>
        </p:txBody>
      </p:sp>
      <p:sp>
        <p:nvSpPr>
          <p:cNvPr id="111" name="Google Shape;111;p122"/>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22"/>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22"/>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114" name="Google Shape;114;p122"/>
          <p:cNvCxnSpPr/>
          <p:nvPr/>
        </p:nvCxnSpPr>
        <p:spPr>
          <a:xfrm>
            <a:off x="685800" y="3398520"/>
            <a:ext cx="7848600" cy="15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bg>
      <p:bgPr>
        <a:solidFill>
          <a:schemeClr val="dk2"/>
        </a:solidFill>
      </p:bgPr>
    </p:bg>
    <p:spTree>
      <p:nvGrpSpPr>
        <p:cNvPr id="115" name="Shape 115"/>
        <p:cNvGrpSpPr/>
        <p:nvPr/>
      </p:nvGrpSpPr>
      <p:grpSpPr>
        <a:xfrm>
          <a:off x="0" y="0"/>
          <a:ext cx="0" cy="0"/>
          <a:chOff x="0" y="0"/>
          <a:chExt cx="0" cy="0"/>
        </a:xfrm>
      </p:grpSpPr>
      <p:sp>
        <p:nvSpPr>
          <p:cNvPr id="116" name="Google Shape;116;p123"/>
          <p:cNvSpPr txBox="1"/>
          <p:nvPr>
            <p:ph type="title"/>
          </p:nvPr>
        </p:nvSpPr>
        <p:spPr>
          <a:xfrm>
            <a:off x="722313" y="2362200"/>
            <a:ext cx="7772400" cy="2200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23"/>
          <p:cNvSpPr txBox="1"/>
          <p:nvPr>
            <p:ph idx="1" type="body"/>
          </p:nvPr>
        </p:nvSpPr>
        <p:spPr>
          <a:xfrm>
            <a:off x="722313" y="4626864"/>
            <a:ext cx="7772400" cy="150030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118" name="Google Shape;118;p123"/>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23"/>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23"/>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121" name="Google Shape;121;p123"/>
          <p:cNvCxnSpPr/>
          <p:nvPr/>
        </p:nvCxnSpPr>
        <p:spPr>
          <a:xfrm>
            <a:off x="731520" y="4599432"/>
            <a:ext cx="7848600" cy="1500"/>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122" name="Shape 122"/>
        <p:cNvGrpSpPr/>
        <p:nvPr/>
      </p:nvGrpSpPr>
      <p:grpSpPr>
        <a:xfrm>
          <a:off x="0" y="0"/>
          <a:ext cx="0" cy="0"/>
          <a:chOff x="0" y="0"/>
          <a:chExt cx="0" cy="0"/>
        </a:xfrm>
      </p:grpSpPr>
      <p:sp>
        <p:nvSpPr>
          <p:cNvPr id="123" name="Google Shape;123;p12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24"/>
          <p:cNvSpPr txBox="1"/>
          <p:nvPr>
            <p:ph idx="1" type="body"/>
          </p:nvPr>
        </p:nvSpPr>
        <p:spPr>
          <a:xfrm>
            <a:off x="457200" y="1673352"/>
            <a:ext cx="4038600" cy="4718400"/>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25" name="Google Shape;125;p124"/>
          <p:cNvSpPr txBox="1"/>
          <p:nvPr>
            <p:ph idx="2" type="body"/>
          </p:nvPr>
        </p:nvSpPr>
        <p:spPr>
          <a:xfrm>
            <a:off x="4648200" y="1673352"/>
            <a:ext cx="4038600" cy="4718400"/>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26" name="Google Shape;126;p124"/>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24"/>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24"/>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129" name="Shape 129"/>
        <p:cNvGrpSpPr/>
        <p:nvPr/>
      </p:nvGrpSpPr>
      <p:grpSpPr>
        <a:xfrm>
          <a:off x="0" y="0"/>
          <a:ext cx="0" cy="0"/>
          <a:chOff x="0" y="0"/>
          <a:chExt cx="0" cy="0"/>
        </a:xfrm>
      </p:grpSpPr>
      <p:sp>
        <p:nvSpPr>
          <p:cNvPr id="130" name="Google Shape;130;p12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125"/>
          <p:cNvSpPr txBox="1"/>
          <p:nvPr>
            <p:ph idx="1" type="body"/>
          </p:nvPr>
        </p:nvSpPr>
        <p:spPr>
          <a:xfrm>
            <a:off x="457200" y="1676400"/>
            <a:ext cx="3931800" cy="6399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32" name="Google Shape;132;p125"/>
          <p:cNvSpPr txBox="1"/>
          <p:nvPr>
            <p:ph idx="2" type="body"/>
          </p:nvPr>
        </p:nvSpPr>
        <p:spPr>
          <a:xfrm>
            <a:off x="457200" y="2438400"/>
            <a:ext cx="3931800" cy="3951300"/>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33" name="Google Shape;133;p125"/>
          <p:cNvSpPr txBox="1"/>
          <p:nvPr>
            <p:ph idx="3" type="body"/>
          </p:nvPr>
        </p:nvSpPr>
        <p:spPr>
          <a:xfrm>
            <a:off x="4754880" y="1676400"/>
            <a:ext cx="3931800" cy="6399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134" name="Google Shape;134;p125"/>
          <p:cNvSpPr txBox="1"/>
          <p:nvPr>
            <p:ph idx="4" type="body"/>
          </p:nvPr>
        </p:nvSpPr>
        <p:spPr>
          <a:xfrm>
            <a:off x="4754880" y="2438400"/>
            <a:ext cx="3931800" cy="3951300"/>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135" name="Google Shape;135;p125"/>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25"/>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25"/>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138" name="Google Shape;138;p125"/>
          <p:cNvCxnSpPr/>
          <p:nvPr/>
        </p:nvCxnSpPr>
        <p:spPr>
          <a:xfrm rot="5400000">
            <a:off x="2217794" y="4045740"/>
            <a:ext cx="4709100" cy="9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139" name="Shape 139"/>
        <p:cNvGrpSpPr/>
        <p:nvPr/>
      </p:nvGrpSpPr>
      <p:grpSpPr>
        <a:xfrm>
          <a:off x="0" y="0"/>
          <a:ext cx="0" cy="0"/>
          <a:chOff x="0" y="0"/>
          <a:chExt cx="0" cy="0"/>
        </a:xfrm>
      </p:grpSpPr>
      <p:sp>
        <p:nvSpPr>
          <p:cNvPr id="140" name="Google Shape;140;p12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126"/>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26"/>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26"/>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44" name="Shape 144"/>
        <p:cNvGrpSpPr/>
        <p:nvPr/>
      </p:nvGrpSpPr>
      <p:grpSpPr>
        <a:xfrm>
          <a:off x="0" y="0"/>
          <a:ext cx="0" cy="0"/>
          <a:chOff x="0" y="0"/>
          <a:chExt cx="0" cy="0"/>
        </a:xfrm>
      </p:grpSpPr>
      <p:sp>
        <p:nvSpPr>
          <p:cNvPr id="145" name="Google Shape;145;p127"/>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27"/>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27"/>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148" name="Shape 148"/>
        <p:cNvGrpSpPr/>
        <p:nvPr/>
      </p:nvGrpSpPr>
      <p:grpSpPr>
        <a:xfrm>
          <a:off x="0" y="0"/>
          <a:ext cx="0" cy="0"/>
          <a:chOff x="0" y="0"/>
          <a:chExt cx="0" cy="0"/>
        </a:xfrm>
      </p:grpSpPr>
      <p:sp>
        <p:nvSpPr>
          <p:cNvPr id="149" name="Google Shape;149;p128"/>
          <p:cNvSpPr txBox="1"/>
          <p:nvPr>
            <p:ph type="title"/>
          </p:nvPr>
        </p:nvSpPr>
        <p:spPr>
          <a:xfrm>
            <a:off x="457200" y="792080"/>
            <a:ext cx="2139600" cy="1261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28"/>
          <p:cNvSpPr txBox="1"/>
          <p:nvPr>
            <p:ph idx="1" type="body"/>
          </p:nvPr>
        </p:nvSpPr>
        <p:spPr>
          <a:xfrm>
            <a:off x="2971800" y="792080"/>
            <a:ext cx="5715000" cy="557790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151" name="Google Shape;151;p128"/>
          <p:cNvSpPr txBox="1"/>
          <p:nvPr>
            <p:ph idx="2" type="body"/>
          </p:nvPr>
        </p:nvSpPr>
        <p:spPr>
          <a:xfrm>
            <a:off x="457201" y="2130552"/>
            <a:ext cx="2139600" cy="42435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52" name="Google Shape;152;p128"/>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128"/>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28"/>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cxnSp>
        <p:nvCxnSpPr>
          <p:cNvPr id="155" name="Google Shape;155;p128"/>
          <p:cNvCxnSpPr/>
          <p:nvPr/>
        </p:nvCxnSpPr>
        <p:spPr>
          <a:xfrm rot="5400000">
            <a:off x="-13102" y="3580280"/>
            <a:ext cx="5577900" cy="15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156" name="Shape 156"/>
        <p:cNvGrpSpPr/>
        <p:nvPr/>
      </p:nvGrpSpPr>
      <p:grpSpPr>
        <a:xfrm>
          <a:off x="0" y="0"/>
          <a:ext cx="0" cy="0"/>
          <a:chOff x="0" y="0"/>
          <a:chExt cx="0" cy="0"/>
        </a:xfrm>
      </p:grpSpPr>
      <p:sp>
        <p:nvSpPr>
          <p:cNvPr id="157" name="Google Shape;157;p129"/>
          <p:cNvSpPr txBox="1"/>
          <p:nvPr>
            <p:ph type="title"/>
          </p:nvPr>
        </p:nvSpPr>
        <p:spPr>
          <a:xfrm>
            <a:off x="457200" y="792480"/>
            <a:ext cx="2142600" cy="1264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129"/>
          <p:cNvSpPr/>
          <p:nvPr>
            <p:ph idx="2" type="pic"/>
          </p:nvPr>
        </p:nvSpPr>
        <p:spPr>
          <a:xfrm>
            <a:off x="2858610" y="838201"/>
            <a:ext cx="5904300" cy="5500500"/>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19"/>
              </a:srgbClr>
            </a:outerShdw>
          </a:effectLst>
        </p:spPr>
      </p:sp>
      <p:sp>
        <p:nvSpPr>
          <p:cNvPr id="159" name="Google Shape;159;p129"/>
          <p:cNvSpPr txBox="1"/>
          <p:nvPr>
            <p:ph idx="1" type="body"/>
          </p:nvPr>
        </p:nvSpPr>
        <p:spPr>
          <a:xfrm>
            <a:off x="457200" y="2133600"/>
            <a:ext cx="2139600" cy="4242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60" name="Google Shape;160;p129"/>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29"/>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29"/>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163" name="Shape 163"/>
        <p:cNvGrpSpPr/>
        <p:nvPr/>
      </p:nvGrpSpPr>
      <p:grpSpPr>
        <a:xfrm>
          <a:off x="0" y="0"/>
          <a:ext cx="0" cy="0"/>
          <a:chOff x="0" y="0"/>
          <a:chExt cx="0" cy="0"/>
        </a:xfrm>
      </p:grpSpPr>
      <p:sp>
        <p:nvSpPr>
          <p:cNvPr id="164" name="Google Shape;164;p13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130"/>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6" name="Google Shape;166;p130"/>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130"/>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130"/>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169" name="Shape 169"/>
        <p:cNvGrpSpPr/>
        <p:nvPr/>
      </p:nvGrpSpPr>
      <p:grpSpPr>
        <a:xfrm>
          <a:off x="0" y="0"/>
          <a:ext cx="0" cy="0"/>
          <a:chOff x="0" y="0"/>
          <a:chExt cx="0" cy="0"/>
        </a:xfrm>
      </p:grpSpPr>
      <p:sp>
        <p:nvSpPr>
          <p:cNvPr id="170" name="Google Shape;170;p131"/>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 name="Google Shape;171;p131"/>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72" name="Google Shape;172;p131"/>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131"/>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31"/>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75" name="Shape 175"/>
        <p:cNvGrpSpPr/>
        <p:nvPr/>
      </p:nvGrpSpPr>
      <p:grpSpPr>
        <a:xfrm>
          <a:off x="0" y="0"/>
          <a:ext cx="0" cy="0"/>
          <a:chOff x="0" y="0"/>
          <a:chExt cx="0" cy="0"/>
        </a:xfrm>
      </p:grpSpPr>
      <p:sp>
        <p:nvSpPr>
          <p:cNvPr id="176" name="Google Shape;176;p132"/>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132"/>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132"/>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132"/>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1" sz="1400">
                <a:solidFill>
                  <a:srgbClr val="FFFFFF"/>
                </a:solidFill>
                <a:latin typeface="Arial"/>
                <a:ea typeface="Arial"/>
                <a:cs typeface="Arial"/>
                <a:sym typeface="Arial"/>
              </a:defRPr>
            </a:lvl1pPr>
            <a:lvl2pPr indent="0" lvl="1" marL="0" marR="0" algn="l">
              <a:spcBef>
                <a:spcPts val="0"/>
              </a:spcBef>
              <a:buNone/>
              <a:defRPr b="1" sz="1400">
                <a:solidFill>
                  <a:srgbClr val="FFFFFF"/>
                </a:solidFill>
                <a:latin typeface="Arial"/>
                <a:ea typeface="Arial"/>
                <a:cs typeface="Arial"/>
                <a:sym typeface="Arial"/>
              </a:defRPr>
            </a:lvl2pPr>
            <a:lvl3pPr indent="0" lvl="2" marL="0" marR="0" algn="l">
              <a:spcBef>
                <a:spcPts val="0"/>
              </a:spcBef>
              <a:buNone/>
              <a:defRPr b="1" sz="1400">
                <a:solidFill>
                  <a:srgbClr val="FFFFFF"/>
                </a:solidFill>
                <a:latin typeface="Arial"/>
                <a:ea typeface="Arial"/>
                <a:cs typeface="Arial"/>
                <a:sym typeface="Arial"/>
              </a:defRPr>
            </a:lvl3pPr>
            <a:lvl4pPr indent="0" lvl="3" marL="0" marR="0" algn="l">
              <a:spcBef>
                <a:spcPts val="0"/>
              </a:spcBef>
              <a:buNone/>
              <a:defRPr b="1" sz="1400">
                <a:solidFill>
                  <a:srgbClr val="FFFFFF"/>
                </a:solidFill>
                <a:latin typeface="Arial"/>
                <a:ea typeface="Arial"/>
                <a:cs typeface="Arial"/>
                <a:sym typeface="Arial"/>
              </a:defRPr>
            </a:lvl4pPr>
            <a:lvl5pPr indent="0" lvl="4" marL="0" marR="0" algn="l">
              <a:spcBef>
                <a:spcPts val="0"/>
              </a:spcBef>
              <a:buNone/>
              <a:defRPr b="1" sz="1400">
                <a:solidFill>
                  <a:srgbClr val="FFFFFF"/>
                </a:solidFill>
                <a:latin typeface="Arial"/>
                <a:ea typeface="Arial"/>
                <a:cs typeface="Arial"/>
                <a:sym typeface="Arial"/>
              </a:defRPr>
            </a:lvl5pPr>
            <a:lvl6pPr indent="0" lvl="5" marL="0" marR="0" algn="l">
              <a:spcBef>
                <a:spcPts val="0"/>
              </a:spcBef>
              <a:buNone/>
              <a:defRPr b="1" sz="1400">
                <a:solidFill>
                  <a:srgbClr val="FFFFFF"/>
                </a:solidFill>
                <a:latin typeface="Arial"/>
                <a:ea typeface="Arial"/>
                <a:cs typeface="Arial"/>
                <a:sym typeface="Arial"/>
              </a:defRPr>
            </a:lvl6pPr>
            <a:lvl7pPr indent="0" lvl="6" marL="0" marR="0" algn="l">
              <a:spcBef>
                <a:spcPts val="0"/>
              </a:spcBef>
              <a:buNone/>
              <a:defRPr b="1" sz="1400">
                <a:solidFill>
                  <a:srgbClr val="FFFFFF"/>
                </a:solidFill>
                <a:latin typeface="Arial"/>
                <a:ea typeface="Arial"/>
                <a:cs typeface="Arial"/>
                <a:sym typeface="Arial"/>
              </a:defRPr>
            </a:lvl7pPr>
            <a:lvl8pPr indent="0" lvl="7" marL="0" marR="0" algn="l">
              <a:spcBef>
                <a:spcPts val="0"/>
              </a:spcBef>
              <a:buNone/>
              <a:defRPr b="1" sz="1400">
                <a:solidFill>
                  <a:srgbClr val="FFFFFF"/>
                </a:solidFill>
                <a:latin typeface="Arial"/>
                <a:ea typeface="Arial"/>
                <a:cs typeface="Arial"/>
                <a:sym typeface="Arial"/>
              </a:defRPr>
            </a:lvl8pPr>
            <a:lvl9pPr indent="0" lvl="8" marL="0" marR="0" algn="l">
              <a:spcBef>
                <a:spcPts val="0"/>
              </a:spcBef>
              <a:buNone/>
              <a:defRPr b="1" sz="1400">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C00000"/>
              </a:buClr>
              <a:buSzPts val="4400"/>
              <a:buFont typeface="Calibri"/>
              <a:buNone/>
              <a:defRPr b="1" i="0" sz="4400" u="none" cap="none" strike="noStrike">
                <a:solidFill>
                  <a:srgbClr val="C0000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0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0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0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11"/>
          <p:cNvSpPr/>
          <p:nvPr/>
        </p:nvSpPr>
        <p:spPr>
          <a:xfrm>
            <a:off x="0" y="220786"/>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 name="Google Shape;96;p111"/>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7" name="Google Shape;97;p111"/>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58140" lvl="0" marL="457200" marR="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98" name="Google Shape;98;p111"/>
          <p:cNvSpPr/>
          <p:nvPr/>
        </p:nvSpPr>
        <p:spPr>
          <a:xfrm>
            <a:off x="0" y="0"/>
            <a:ext cx="9144000" cy="365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111"/>
          <p:cNvSpPr txBox="1"/>
          <p:nvPr>
            <p:ph idx="10" type="dt"/>
          </p:nvPr>
        </p:nvSpPr>
        <p:spPr>
          <a:xfrm>
            <a:off x="457200" y="18288"/>
            <a:ext cx="2895600" cy="329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sz="1200">
                <a:solidFill>
                  <a:srgbClr val="FFFFFF"/>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0" name="Google Shape;100;p111"/>
          <p:cNvSpPr txBox="1"/>
          <p:nvPr>
            <p:ph idx="11" type="ftr"/>
          </p:nvPr>
        </p:nvSpPr>
        <p:spPr>
          <a:xfrm>
            <a:off x="3429000" y="18288"/>
            <a:ext cx="4114800" cy="329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sz="1200">
                <a:solidFill>
                  <a:srgbClr val="FFFFFF"/>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1" name="Google Shape;101;p111"/>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b="1" sz="1400">
                <a:solidFill>
                  <a:srgbClr val="FFFFFF"/>
                </a:solidFill>
                <a:latin typeface="Arial"/>
                <a:ea typeface="Arial"/>
                <a:cs typeface="Arial"/>
                <a:sym typeface="Arial"/>
              </a:defRPr>
            </a:lvl1pPr>
            <a:lvl2pPr indent="0" lvl="1" marL="0" marR="0" algn="l">
              <a:spcBef>
                <a:spcPts val="0"/>
              </a:spcBef>
              <a:buNone/>
              <a:defRPr b="1" sz="1400">
                <a:solidFill>
                  <a:srgbClr val="FFFFFF"/>
                </a:solidFill>
                <a:latin typeface="Arial"/>
                <a:ea typeface="Arial"/>
                <a:cs typeface="Arial"/>
                <a:sym typeface="Arial"/>
              </a:defRPr>
            </a:lvl2pPr>
            <a:lvl3pPr indent="0" lvl="2" marL="0" marR="0" algn="l">
              <a:spcBef>
                <a:spcPts val="0"/>
              </a:spcBef>
              <a:buNone/>
              <a:defRPr b="1" sz="1400">
                <a:solidFill>
                  <a:srgbClr val="FFFFFF"/>
                </a:solidFill>
                <a:latin typeface="Arial"/>
                <a:ea typeface="Arial"/>
                <a:cs typeface="Arial"/>
                <a:sym typeface="Arial"/>
              </a:defRPr>
            </a:lvl3pPr>
            <a:lvl4pPr indent="0" lvl="3" marL="0" marR="0" algn="l">
              <a:spcBef>
                <a:spcPts val="0"/>
              </a:spcBef>
              <a:buNone/>
              <a:defRPr b="1" sz="1400">
                <a:solidFill>
                  <a:srgbClr val="FFFFFF"/>
                </a:solidFill>
                <a:latin typeface="Arial"/>
                <a:ea typeface="Arial"/>
                <a:cs typeface="Arial"/>
                <a:sym typeface="Arial"/>
              </a:defRPr>
            </a:lvl4pPr>
            <a:lvl5pPr indent="0" lvl="4" marL="0" marR="0" algn="l">
              <a:spcBef>
                <a:spcPts val="0"/>
              </a:spcBef>
              <a:buNone/>
              <a:defRPr b="1" sz="1400">
                <a:solidFill>
                  <a:srgbClr val="FFFFFF"/>
                </a:solidFill>
                <a:latin typeface="Arial"/>
                <a:ea typeface="Arial"/>
                <a:cs typeface="Arial"/>
                <a:sym typeface="Arial"/>
              </a:defRPr>
            </a:lvl5pPr>
            <a:lvl6pPr indent="0" lvl="5" marL="0" marR="0" algn="l">
              <a:spcBef>
                <a:spcPts val="0"/>
              </a:spcBef>
              <a:buNone/>
              <a:defRPr b="1" sz="1400">
                <a:solidFill>
                  <a:srgbClr val="FFFFFF"/>
                </a:solidFill>
                <a:latin typeface="Arial"/>
                <a:ea typeface="Arial"/>
                <a:cs typeface="Arial"/>
                <a:sym typeface="Arial"/>
              </a:defRPr>
            </a:lvl6pPr>
            <a:lvl7pPr indent="0" lvl="6" marL="0" marR="0" algn="l">
              <a:spcBef>
                <a:spcPts val="0"/>
              </a:spcBef>
              <a:buNone/>
              <a:defRPr b="1" sz="1400">
                <a:solidFill>
                  <a:srgbClr val="FFFFFF"/>
                </a:solidFill>
                <a:latin typeface="Arial"/>
                <a:ea typeface="Arial"/>
                <a:cs typeface="Arial"/>
                <a:sym typeface="Arial"/>
              </a:defRPr>
            </a:lvl7pPr>
            <a:lvl8pPr indent="0" lvl="7" marL="0" marR="0" algn="l">
              <a:spcBef>
                <a:spcPts val="0"/>
              </a:spcBef>
              <a:buNone/>
              <a:defRPr b="1" sz="1400">
                <a:solidFill>
                  <a:srgbClr val="FFFFFF"/>
                </a:solidFill>
                <a:latin typeface="Arial"/>
                <a:ea typeface="Arial"/>
                <a:cs typeface="Arial"/>
                <a:sym typeface="Arial"/>
              </a:defRPr>
            </a:lvl8pPr>
            <a:lvl9pPr indent="0" lvl="8" marL="0" marR="0" algn="l">
              <a:spcBef>
                <a:spcPts val="0"/>
              </a:spcBef>
              <a:buNone/>
              <a:defRPr b="1" sz="1400">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jp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jpg"/><Relationship Id="rId4" Type="http://schemas.openxmlformats.org/officeDocument/2006/relationships/image" Target="../media/image11.png"/><Relationship Id="rId5"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1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1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6.png"/><Relationship Id="rId4" Type="http://schemas.openxmlformats.org/officeDocument/2006/relationships/image" Target="../media/image25.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2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
          <p:cNvSpPr txBox="1"/>
          <p:nvPr>
            <p:ph type="ctrTitle"/>
          </p:nvPr>
        </p:nvSpPr>
        <p:spPr>
          <a:xfrm>
            <a:off x="685800" y="1052736"/>
            <a:ext cx="7772400" cy="2547715"/>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Calibri"/>
              <a:buNone/>
            </a:pPr>
            <a:r>
              <a:rPr lang="fr-FR"/>
              <a:t>Q 42- Infections des Voies Respiratoires Supérieures: diagnostic et traitement </a:t>
            </a:r>
            <a:endParaRPr/>
          </a:p>
        </p:txBody>
      </p:sp>
      <p:sp>
        <p:nvSpPr>
          <p:cNvPr id="186" name="Google Shape;186;p1"/>
          <p:cNvSpPr txBox="1"/>
          <p:nvPr>
            <p:ph idx="1" type="subTitle"/>
          </p:nvPr>
        </p:nvSpPr>
        <p:spPr>
          <a:xfrm>
            <a:off x="1143000" y="4077494"/>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2F5496"/>
              </a:buClr>
              <a:buSzPts val="2400"/>
              <a:buNone/>
            </a:pPr>
            <a:r>
              <a:rPr lang="fr-FR" sz="2400"/>
              <a:t>Pr B.Hammami</a:t>
            </a:r>
            <a:endParaRPr sz="2400"/>
          </a:p>
          <a:p>
            <a:pPr indent="0" lvl="0" marL="0" rtl="0" algn="ctr">
              <a:lnSpc>
                <a:spcPct val="90000"/>
              </a:lnSpc>
              <a:spcBef>
                <a:spcPts val="1000"/>
              </a:spcBef>
              <a:spcAft>
                <a:spcPts val="0"/>
              </a:spcAft>
              <a:buClr>
                <a:srgbClr val="2F5496"/>
              </a:buClr>
              <a:buSzPts val="2400"/>
              <a:buNone/>
            </a:pPr>
            <a:r>
              <a:rPr lang="fr-FR" sz="2400"/>
              <a:t>Service ORL Sfax- FMS</a:t>
            </a:r>
            <a:endParaRPr/>
          </a:p>
          <a:p>
            <a:pPr indent="0" lvl="0" marL="0" rtl="0" algn="ctr">
              <a:lnSpc>
                <a:spcPct val="90000"/>
              </a:lnSpc>
              <a:spcBef>
                <a:spcPts val="1000"/>
              </a:spcBef>
              <a:spcAft>
                <a:spcPts val="0"/>
              </a:spcAft>
              <a:buClr>
                <a:srgbClr val="2F5496"/>
              </a:buClr>
              <a:buSzPts val="2400"/>
              <a:buNone/>
            </a:pPr>
            <a:r>
              <a:rPr lang="fr-FR" sz="2400"/>
              <a:t>bouthainahk@gmail.com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IVRS</a:t>
            </a:r>
            <a:endParaRPr/>
          </a:p>
        </p:txBody>
      </p:sp>
      <p:grpSp>
        <p:nvGrpSpPr>
          <p:cNvPr id="192" name="Google Shape;192;p2"/>
          <p:cNvGrpSpPr/>
          <p:nvPr/>
        </p:nvGrpSpPr>
        <p:grpSpPr>
          <a:xfrm>
            <a:off x="1367546" y="1826843"/>
            <a:ext cx="6408907" cy="4348901"/>
            <a:chOff x="738896" y="1218"/>
            <a:chExt cx="6408907" cy="4348901"/>
          </a:xfrm>
        </p:grpSpPr>
        <p:sp>
          <p:nvSpPr>
            <p:cNvPr id="193" name="Google Shape;193;p2"/>
            <p:cNvSpPr/>
            <p:nvPr/>
          </p:nvSpPr>
          <p:spPr>
            <a:xfrm>
              <a:off x="738896" y="1218"/>
              <a:ext cx="1831116" cy="915558"/>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
            <p:cNvSpPr txBox="1"/>
            <p:nvPr/>
          </p:nvSpPr>
          <p:spPr>
            <a:xfrm>
              <a:off x="765712" y="28034"/>
              <a:ext cx="1777484"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lt1"/>
                </a:buClr>
                <a:buSzPts val="1900"/>
                <a:buFont typeface="Calibri"/>
                <a:buNone/>
              </a:pPr>
              <a:r>
                <a:rPr b="0" i="0" lang="fr-FR" sz="1900" u="none" cap="none" strike="noStrike">
                  <a:solidFill>
                    <a:schemeClr val="lt1"/>
                  </a:solidFill>
                  <a:latin typeface="Calibri"/>
                  <a:ea typeface="Calibri"/>
                  <a:cs typeface="Calibri"/>
                  <a:sym typeface="Calibri"/>
                </a:rPr>
                <a:t>Inflammation d’origine infectieuse</a:t>
              </a:r>
              <a:endParaRPr/>
            </a:p>
          </p:txBody>
        </p:sp>
        <p:sp>
          <p:nvSpPr>
            <p:cNvPr id="195" name="Google Shape;195;p2"/>
            <p:cNvSpPr/>
            <p:nvPr/>
          </p:nvSpPr>
          <p:spPr>
            <a:xfrm>
              <a:off x="922008" y="916776"/>
              <a:ext cx="183111" cy="686668"/>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96" name="Google Shape;196;p2"/>
            <p:cNvSpPr/>
            <p:nvPr/>
          </p:nvSpPr>
          <p:spPr>
            <a:xfrm>
              <a:off x="1105119" y="1145666"/>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
            <p:cNvSpPr txBox="1"/>
            <p:nvPr/>
          </p:nvSpPr>
          <p:spPr>
            <a:xfrm>
              <a:off x="1131935" y="1172482"/>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Virale </a:t>
              </a:r>
              <a:endParaRPr/>
            </a:p>
          </p:txBody>
        </p:sp>
        <p:sp>
          <p:nvSpPr>
            <p:cNvPr id="198" name="Google Shape;198;p2"/>
            <p:cNvSpPr/>
            <p:nvPr/>
          </p:nvSpPr>
          <p:spPr>
            <a:xfrm>
              <a:off x="922008" y="916776"/>
              <a:ext cx="183111" cy="183111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99" name="Google Shape;199;p2"/>
            <p:cNvSpPr/>
            <p:nvPr/>
          </p:nvSpPr>
          <p:spPr>
            <a:xfrm>
              <a:off x="1105119" y="2290113"/>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
            <p:cNvSpPr txBox="1"/>
            <p:nvPr/>
          </p:nvSpPr>
          <p:spPr>
            <a:xfrm>
              <a:off x="1131935" y="2316929"/>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Bactérienne </a:t>
              </a:r>
              <a:endParaRPr/>
            </a:p>
          </p:txBody>
        </p:sp>
        <p:sp>
          <p:nvSpPr>
            <p:cNvPr id="201" name="Google Shape;201;p2"/>
            <p:cNvSpPr/>
            <p:nvPr/>
          </p:nvSpPr>
          <p:spPr>
            <a:xfrm>
              <a:off x="922008" y="916776"/>
              <a:ext cx="183111" cy="2975563"/>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202" name="Google Shape;202;p2"/>
            <p:cNvSpPr/>
            <p:nvPr/>
          </p:nvSpPr>
          <p:spPr>
            <a:xfrm>
              <a:off x="1105119" y="3434561"/>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
            <p:cNvSpPr txBox="1"/>
            <p:nvPr/>
          </p:nvSpPr>
          <p:spPr>
            <a:xfrm>
              <a:off x="1131935" y="3461377"/>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Mycosique</a:t>
              </a:r>
              <a:endParaRPr/>
            </a:p>
            <a:p>
              <a:pPr indent="0" lvl="0" marL="0" marR="0" rtl="0" algn="ctr">
                <a:lnSpc>
                  <a:spcPct val="90000"/>
                </a:lnSpc>
                <a:spcBef>
                  <a:spcPts val="665"/>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rare </a:t>
              </a:r>
              <a:endParaRPr/>
            </a:p>
          </p:txBody>
        </p:sp>
        <p:sp>
          <p:nvSpPr>
            <p:cNvPr id="204" name="Google Shape;204;p2"/>
            <p:cNvSpPr/>
            <p:nvPr/>
          </p:nvSpPr>
          <p:spPr>
            <a:xfrm>
              <a:off x="3027791" y="1218"/>
              <a:ext cx="1831116" cy="915558"/>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
            <p:cNvSpPr txBox="1"/>
            <p:nvPr/>
          </p:nvSpPr>
          <p:spPr>
            <a:xfrm>
              <a:off x="3054607" y="28034"/>
              <a:ext cx="1777484"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lt1"/>
                </a:buClr>
                <a:buSzPts val="1900"/>
                <a:buFont typeface="Calibri"/>
                <a:buNone/>
              </a:pPr>
              <a:r>
                <a:rPr b="0" i="0" lang="fr-FR" sz="1900" u="none" cap="none" strike="noStrike">
                  <a:solidFill>
                    <a:schemeClr val="lt1"/>
                  </a:solidFill>
                  <a:latin typeface="Calibri"/>
                  <a:ea typeface="Calibri"/>
                  <a:cs typeface="Calibri"/>
                  <a:sym typeface="Calibri"/>
                </a:rPr>
                <a:t>Voies aériennse supérieures</a:t>
              </a:r>
              <a:endParaRPr/>
            </a:p>
          </p:txBody>
        </p:sp>
        <p:sp>
          <p:nvSpPr>
            <p:cNvPr id="206" name="Google Shape;206;p2"/>
            <p:cNvSpPr/>
            <p:nvPr/>
          </p:nvSpPr>
          <p:spPr>
            <a:xfrm>
              <a:off x="3210903" y="916776"/>
              <a:ext cx="183111" cy="686668"/>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207" name="Google Shape;207;p2"/>
            <p:cNvSpPr/>
            <p:nvPr/>
          </p:nvSpPr>
          <p:spPr>
            <a:xfrm>
              <a:off x="3394015" y="1145666"/>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
            <p:cNvSpPr txBox="1"/>
            <p:nvPr/>
          </p:nvSpPr>
          <p:spPr>
            <a:xfrm>
              <a:off x="3420831" y="1172482"/>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Nez et sinus</a:t>
              </a:r>
              <a:endParaRPr/>
            </a:p>
          </p:txBody>
        </p:sp>
        <p:sp>
          <p:nvSpPr>
            <p:cNvPr id="209" name="Google Shape;209;p2"/>
            <p:cNvSpPr/>
            <p:nvPr/>
          </p:nvSpPr>
          <p:spPr>
            <a:xfrm>
              <a:off x="3210903" y="916776"/>
              <a:ext cx="183111" cy="183111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210" name="Google Shape;210;p2"/>
            <p:cNvSpPr/>
            <p:nvPr/>
          </p:nvSpPr>
          <p:spPr>
            <a:xfrm>
              <a:off x="3394015" y="2290113"/>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
            <p:cNvSpPr txBox="1"/>
            <p:nvPr/>
          </p:nvSpPr>
          <p:spPr>
            <a:xfrm>
              <a:off x="3420831" y="2316929"/>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Pharyngo larynx</a:t>
              </a:r>
              <a:endParaRPr/>
            </a:p>
          </p:txBody>
        </p:sp>
        <p:sp>
          <p:nvSpPr>
            <p:cNvPr id="212" name="Google Shape;212;p2"/>
            <p:cNvSpPr/>
            <p:nvPr/>
          </p:nvSpPr>
          <p:spPr>
            <a:xfrm>
              <a:off x="3210903" y="916776"/>
              <a:ext cx="183111" cy="2975563"/>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213" name="Google Shape;213;p2"/>
            <p:cNvSpPr/>
            <p:nvPr/>
          </p:nvSpPr>
          <p:spPr>
            <a:xfrm>
              <a:off x="3394015" y="3434561"/>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
            <p:cNvSpPr txBox="1"/>
            <p:nvPr/>
          </p:nvSpPr>
          <p:spPr>
            <a:xfrm>
              <a:off x="3420831" y="3461377"/>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Oreille moyenne </a:t>
              </a:r>
              <a:endParaRPr/>
            </a:p>
          </p:txBody>
        </p:sp>
        <p:sp>
          <p:nvSpPr>
            <p:cNvPr id="215" name="Google Shape;215;p2"/>
            <p:cNvSpPr/>
            <p:nvPr/>
          </p:nvSpPr>
          <p:spPr>
            <a:xfrm>
              <a:off x="5316687" y="1218"/>
              <a:ext cx="1831116" cy="915558"/>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txBox="1"/>
            <p:nvPr/>
          </p:nvSpPr>
          <p:spPr>
            <a:xfrm>
              <a:off x="5343503" y="28034"/>
              <a:ext cx="1777484"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lt1"/>
                </a:buClr>
                <a:buSzPts val="1900"/>
                <a:buFont typeface="Calibri"/>
                <a:buNone/>
              </a:pPr>
              <a:r>
                <a:rPr b="0" i="0" lang="fr-FR" sz="1900" u="none" cap="none" strike="noStrike">
                  <a:solidFill>
                    <a:schemeClr val="lt1"/>
                  </a:solidFill>
                  <a:latin typeface="Calibri"/>
                  <a:ea typeface="Calibri"/>
                  <a:cs typeface="Calibri"/>
                  <a:sym typeface="Calibri"/>
                </a:rPr>
                <a:t>Immunité </a:t>
              </a:r>
              <a:endParaRPr/>
            </a:p>
          </p:txBody>
        </p:sp>
        <p:sp>
          <p:nvSpPr>
            <p:cNvPr id="217" name="Google Shape;217;p2"/>
            <p:cNvSpPr/>
            <p:nvPr/>
          </p:nvSpPr>
          <p:spPr>
            <a:xfrm>
              <a:off x="5499798" y="916776"/>
              <a:ext cx="183111" cy="686668"/>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218" name="Google Shape;218;p2"/>
            <p:cNvSpPr/>
            <p:nvPr/>
          </p:nvSpPr>
          <p:spPr>
            <a:xfrm>
              <a:off x="5682910" y="1145666"/>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
            <p:cNvSpPr txBox="1"/>
            <p:nvPr/>
          </p:nvSpPr>
          <p:spPr>
            <a:xfrm>
              <a:off x="5709726" y="1172482"/>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Normale</a:t>
              </a:r>
              <a:endParaRPr/>
            </a:p>
          </p:txBody>
        </p:sp>
        <p:sp>
          <p:nvSpPr>
            <p:cNvPr id="220" name="Google Shape;220;p2"/>
            <p:cNvSpPr/>
            <p:nvPr/>
          </p:nvSpPr>
          <p:spPr>
            <a:xfrm>
              <a:off x="5499798" y="916776"/>
              <a:ext cx="183111" cy="183111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221" name="Google Shape;221;p2"/>
            <p:cNvSpPr/>
            <p:nvPr/>
          </p:nvSpPr>
          <p:spPr>
            <a:xfrm>
              <a:off x="5682910" y="2290113"/>
              <a:ext cx="1464892" cy="915558"/>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
            <p:cNvSpPr txBox="1"/>
            <p:nvPr/>
          </p:nvSpPr>
          <p:spPr>
            <a:xfrm>
              <a:off x="5709726" y="2316929"/>
              <a:ext cx="1411260" cy="86192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b="0" i="0" lang="fr-FR" sz="1900" u="none" cap="none" strike="noStrike">
                  <a:solidFill>
                    <a:schemeClr val="dk1"/>
                  </a:solidFill>
                  <a:latin typeface="Calibri"/>
                  <a:ea typeface="Calibri"/>
                  <a:cs typeface="Calibri"/>
                  <a:sym typeface="Calibri"/>
                </a:rPr>
                <a:t>Déprimé =&gt; plus de mycose</a:t>
              </a:r>
              <a:endParaRPr/>
            </a:p>
          </p:txBody>
        </p:sp>
      </p:grpSp>
      <p:sp>
        <p:nvSpPr>
          <p:cNvPr id="223" name="Google Shape;223;p2"/>
          <p:cNvSpPr/>
          <p:nvPr/>
        </p:nvSpPr>
        <p:spPr>
          <a:xfrm>
            <a:off x="3635896" y="681037"/>
            <a:ext cx="1872208" cy="914400"/>
          </a:xfrm>
          <a:prstGeom prst="downArrowCallout">
            <a:avLst>
              <a:gd fmla="val 25000" name="adj1"/>
              <a:gd fmla="val 25000" name="adj2"/>
              <a:gd fmla="val 25000" name="adj3"/>
              <a:gd fmla="val 64977" name="adj4"/>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1800" u="none" cap="none" strike="noStrike">
                <a:solidFill>
                  <a:schemeClr val="lt1"/>
                </a:solidFill>
                <a:latin typeface="Calibri"/>
                <a:ea typeface="Calibri"/>
                <a:cs typeface="Calibri"/>
                <a:sym typeface="Calibri"/>
              </a:rPr>
              <a:t>Muqueuse commune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3"/>
          <p:cNvPicPr preferRelativeResize="0"/>
          <p:nvPr/>
        </p:nvPicPr>
        <p:blipFill rotWithShape="1">
          <a:blip r:embed="rId3">
            <a:alphaModFix/>
          </a:blip>
          <a:srcRect b="0" l="0" r="0" t="0"/>
          <a:stretch/>
        </p:blipFill>
        <p:spPr>
          <a:xfrm>
            <a:off x="5429131" y="4957118"/>
            <a:ext cx="3482752" cy="1935830"/>
          </a:xfrm>
          <a:prstGeom prst="rect">
            <a:avLst/>
          </a:prstGeom>
          <a:noFill/>
          <a:ln>
            <a:noFill/>
          </a:ln>
        </p:spPr>
      </p:pic>
      <p:sp>
        <p:nvSpPr>
          <p:cNvPr id="230" name="Google Shape;230;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Voies respiratoires supérieures </a:t>
            </a:r>
            <a:endParaRPr/>
          </a:p>
        </p:txBody>
      </p:sp>
      <p:sp>
        <p:nvSpPr>
          <p:cNvPr id="231" name="Google Shape;231;p3"/>
          <p:cNvSpPr txBox="1"/>
          <p:nvPr>
            <p:ph idx="1" type="body"/>
          </p:nvPr>
        </p:nvSpPr>
        <p:spPr>
          <a:xfrm>
            <a:off x="628650" y="1825625"/>
            <a:ext cx="4159374"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fr-FR" sz="3200"/>
              <a:t>Fosses nasales</a:t>
            </a:r>
            <a:endParaRPr/>
          </a:p>
          <a:p>
            <a:pPr indent="-228600" lvl="0" marL="228600" rtl="0" algn="l">
              <a:lnSpc>
                <a:spcPct val="90000"/>
              </a:lnSpc>
              <a:spcBef>
                <a:spcPts val="1000"/>
              </a:spcBef>
              <a:spcAft>
                <a:spcPts val="0"/>
              </a:spcAft>
              <a:buClr>
                <a:schemeClr val="dk1"/>
              </a:buClr>
              <a:buSzPts val="3200"/>
              <a:buChar char="•"/>
            </a:pPr>
            <a:r>
              <a:rPr lang="fr-FR" sz="3200"/>
              <a:t>Pharynx: rhino, oro, hypo</a:t>
            </a:r>
            <a:endParaRPr/>
          </a:p>
          <a:p>
            <a:pPr indent="-228600" lvl="0" marL="228600" rtl="0" algn="l">
              <a:lnSpc>
                <a:spcPct val="90000"/>
              </a:lnSpc>
              <a:spcBef>
                <a:spcPts val="1000"/>
              </a:spcBef>
              <a:spcAft>
                <a:spcPts val="0"/>
              </a:spcAft>
              <a:buClr>
                <a:schemeClr val="dk1"/>
              </a:buClr>
              <a:buSzPts val="3200"/>
              <a:buChar char="•"/>
            </a:pPr>
            <a:r>
              <a:rPr lang="fr-FR" sz="3200"/>
              <a:t>….</a:t>
            </a:r>
            <a:endParaRPr/>
          </a:p>
        </p:txBody>
      </p:sp>
      <p:pic>
        <p:nvPicPr>
          <p:cNvPr id="232" name="Google Shape;232;p3"/>
          <p:cNvPicPr preferRelativeResize="0"/>
          <p:nvPr/>
        </p:nvPicPr>
        <p:blipFill rotWithShape="1">
          <a:blip r:embed="rId4">
            <a:alphaModFix/>
          </a:blip>
          <a:srcRect b="0" l="0" r="0" t="0"/>
          <a:stretch/>
        </p:blipFill>
        <p:spPr>
          <a:xfrm>
            <a:off x="755576" y="3883868"/>
            <a:ext cx="3921981" cy="3001516"/>
          </a:xfrm>
          <a:prstGeom prst="rect">
            <a:avLst/>
          </a:prstGeom>
          <a:noFill/>
          <a:ln>
            <a:noFill/>
          </a:ln>
        </p:spPr>
      </p:pic>
      <p:sp>
        <p:nvSpPr>
          <p:cNvPr id="233" name="Google Shape;233;p3"/>
          <p:cNvSpPr txBox="1"/>
          <p:nvPr/>
        </p:nvSpPr>
        <p:spPr>
          <a:xfrm>
            <a:off x="4965589" y="1412776"/>
            <a:ext cx="3926891"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3200"/>
              <a:buFont typeface="Arial"/>
              <a:buChar char="•"/>
            </a:pPr>
            <a:r>
              <a:rPr b="0" i="0" lang="fr-FR" sz="3200" u="none" cap="none" strike="noStrike">
                <a:solidFill>
                  <a:schemeClr val="dk1"/>
                </a:solidFill>
                <a:latin typeface="Calibri"/>
                <a:ea typeface="Calibri"/>
                <a:cs typeface="Calibri"/>
                <a:sym typeface="Calibri"/>
              </a:rPr>
              <a:t>Oreille moyenne</a:t>
            </a:r>
            <a:endParaRPr/>
          </a:p>
          <a:p>
            <a:pPr indent="-228600" lvl="1" marL="685800" marR="0" rtl="0" algn="l">
              <a:lnSpc>
                <a:spcPct val="90000"/>
              </a:lnSpc>
              <a:spcBef>
                <a:spcPts val="500"/>
              </a:spcBef>
              <a:spcAft>
                <a:spcPts val="0"/>
              </a:spcAft>
              <a:buClr>
                <a:schemeClr val="dk1"/>
              </a:buClr>
              <a:buSzPts val="2400"/>
              <a:buFont typeface="Arial"/>
              <a:buChar char="•"/>
            </a:pPr>
            <a:r>
              <a:rPr b="0" i="0" lang="fr-FR" sz="2400" u="none" cap="none" strike="noStrike">
                <a:solidFill>
                  <a:schemeClr val="dk1"/>
                </a:solidFill>
                <a:latin typeface="Calibri"/>
                <a:ea typeface="Calibri"/>
                <a:cs typeface="Calibri"/>
                <a:sym typeface="Calibri"/>
              </a:rPr>
              <a:t>Communication :TA</a:t>
            </a:r>
            <a:endParaRPr/>
          </a:p>
          <a:p>
            <a:pPr indent="-228600" lvl="1" marL="685800" marR="0" rtl="0" algn="l">
              <a:lnSpc>
                <a:spcPct val="90000"/>
              </a:lnSpc>
              <a:spcBef>
                <a:spcPts val="500"/>
              </a:spcBef>
              <a:spcAft>
                <a:spcPts val="0"/>
              </a:spcAft>
              <a:buClr>
                <a:schemeClr val="dk1"/>
              </a:buClr>
              <a:buSzPts val="2400"/>
              <a:buFont typeface="Arial"/>
              <a:buChar char="•"/>
            </a:pPr>
            <a:r>
              <a:rPr b="0" i="0" lang="fr-FR" sz="2400" u="none" cap="none" strike="noStrike">
                <a:solidFill>
                  <a:schemeClr val="dk1"/>
                </a:solidFill>
                <a:latin typeface="Calibri"/>
                <a:ea typeface="Calibri"/>
                <a:cs typeface="Calibri"/>
                <a:sym typeface="Calibri"/>
              </a:rPr>
              <a:t>Muqueuse respiratoire</a:t>
            </a:r>
            <a:endParaRPr/>
          </a:p>
          <a:p>
            <a:pPr indent="-228600" lvl="0" marL="228600" marR="0" rtl="0" algn="l">
              <a:lnSpc>
                <a:spcPct val="90000"/>
              </a:lnSpc>
              <a:spcBef>
                <a:spcPts val="1000"/>
              </a:spcBef>
              <a:spcAft>
                <a:spcPts val="0"/>
              </a:spcAft>
              <a:buClr>
                <a:schemeClr val="dk1"/>
              </a:buClr>
              <a:buSzPts val="2800"/>
              <a:buFont typeface="Arial"/>
              <a:buChar char="•"/>
            </a:pPr>
            <a:r>
              <a:rPr b="0" i="0" lang="fr-FR" sz="2800" u="none" cap="none" strike="noStrike">
                <a:solidFill>
                  <a:schemeClr val="dk1"/>
                </a:solidFill>
                <a:latin typeface="Calibri"/>
                <a:ea typeface="Calibri"/>
                <a:cs typeface="Calibri"/>
                <a:sym typeface="Calibri"/>
              </a:rPr>
              <a:t>Sinus de la face : muq</a:t>
            </a:r>
            <a:endParaRPr b="0" i="0" sz="2800" u="none" cap="none" strike="noStrike">
              <a:solidFill>
                <a:schemeClr val="dk1"/>
              </a:solidFill>
              <a:latin typeface="Calibri"/>
              <a:ea typeface="Calibri"/>
              <a:cs typeface="Calibri"/>
              <a:sym typeface="Calibri"/>
            </a:endParaRPr>
          </a:p>
        </p:txBody>
      </p:sp>
      <p:pic>
        <p:nvPicPr>
          <p:cNvPr descr="Do you have ETD? - Coastal Ear Nose &amp; Throat Holmdel | ENT Manahawkin NJ |  ENT Neptune" id="234" name="Google Shape;234;p3"/>
          <p:cNvPicPr preferRelativeResize="0"/>
          <p:nvPr/>
        </p:nvPicPr>
        <p:blipFill rotWithShape="1">
          <a:blip r:embed="rId5">
            <a:alphaModFix/>
          </a:blip>
          <a:srcRect b="0" l="0" r="0" t="0"/>
          <a:stretch/>
        </p:blipFill>
        <p:spPr>
          <a:xfrm>
            <a:off x="5580112" y="3212976"/>
            <a:ext cx="3180790" cy="1658157"/>
          </a:xfrm>
          <a:prstGeom prst="rect">
            <a:avLst/>
          </a:prstGeom>
          <a:noFill/>
          <a:ln>
            <a:noFill/>
          </a:ln>
        </p:spPr>
      </p:pic>
      <p:sp>
        <p:nvSpPr>
          <p:cNvPr id="235" name="Google Shape;235;p3"/>
          <p:cNvSpPr/>
          <p:nvPr/>
        </p:nvSpPr>
        <p:spPr>
          <a:xfrm>
            <a:off x="2123728" y="3368402"/>
            <a:ext cx="4392488" cy="2016224"/>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3200" u="none" cap="none" strike="noStrike">
                <a:solidFill>
                  <a:schemeClr val="dk1"/>
                </a:solidFill>
                <a:latin typeface="Calibri"/>
                <a:ea typeface="Calibri"/>
                <a:cs typeface="Calibri"/>
                <a:sym typeface="Calibri"/>
              </a:rPr>
              <a:t>Multiples points communs entre les infections de ces organes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Devinez la correspondance des chiffres pour IVRS</a:t>
            </a:r>
            <a:endParaRPr/>
          </a:p>
        </p:txBody>
      </p:sp>
      <p:grpSp>
        <p:nvGrpSpPr>
          <p:cNvPr id="242" name="Google Shape;242;p4"/>
          <p:cNvGrpSpPr/>
          <p:nvPr/>
        </p:nvGrpSpPr>
        <p:grpSpPr>
          <a:xfrm>
            <a:off x="1672251" y="1828415"/>
            <a:ext cx="5799497" cy="4345756"/>
            <a:chOff x="1043601" y="2790"/>
            <a:chExt cx="5799497" cy="4345756"/>
          </a:xfrm>
        </p:grpSpPr>
        <p:sp>
          <p:nvSpPr>
            <p:cNvPr id="243" name="Google Shape;243;p4"/>
            <p:cNvSpPr/>
            <p:nvPr/>
          </p:nvSpPr>
          <p:spPr>
            <a:xfrm rot="5400000">
              <a:off x="3496466" y="107503"/>
              <a:ext cx="1610971" cy="1401545"/>
            </a:xfrm>
            <a:prstGeom prst="hexagon">
              <a:avLst>
                <a:gd fmla="val 25000" name="adj"/>
                <a:gd fmla="val 115470" name="vf"/>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
            <p:cNvSpPr txBox="1"/>
            <p:nvPr/>
          </p:nvSpPr>
          <p:spPr>
            <a:xfrm>
              <a:off x="3819586" y="253833"/>
              <a:ext cx="964731" cy="110888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alibri"/>
                <a:buNone/>
              </a:pPr>
              <a:r>
                <a:rPr b="0" i="0" lang="fr-FR" sz="1600" u="none" cap="none" strike="noStrike">
                  <a:solidFill>
                    <a:schemeClr val="lt1"/>
                  </a:solidFill>
                  <a:latin typeface="Calibri"/>
                  <a:ea typeface="Calibri"/>
                  <a:cs typeface="Calibri"/>
                  <a:sym typeface="Calibri"/>
                </a:rPr>
                <a:t>2 à 3</a:t>
              </a:r>
              <a:endParaRPr/>
            </a:p>
          </p:txBody>
        </p:sp>
        <p:sp>
          <p:nvSpPr>
            <p:cNvPr id="245" name="Google Shape;245;p4"/>
            <p:cNvSpPr/>
            <p:nvPr/>
          </p:nvSpPr>
          <p:spPr>
            <a:xfrm>
              <a:off x="5045254" y="324985"/>
              <a:ext cx="1797844" cy="96658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txBox="1"/>
            <p:nvPr/>
          </p:nvSpPr>
          <p:spPr>
            <a:xfrm>
              <a:off x="5045254" y="324985"/>
              <a:ext cx="1797844" cy="966582"/>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Calibri"/>
                <a:buNone/>
              </a:pPr>
              <a:r>
                <a:rPr b="0" i="0" lang="fr-FR" sz="1600" u="none" cap="none" strike="noStrike">
                  <a:solidFill>
                    <a:schemeClr val="dk1"/>
                  </a:solidFill>
                  <a:latin typeface="Calibri"/>
                  <a:ea typeface="Calibri"/>
                  <a:cs typeface="Calibri"/>
                  <a:sym typeface="Calibri"/>
                </a:rPr>
                <a:t>5 à 7 </a:t>
              </a:r>
              <a:endParaRPr/>
            </a:p>
          </p:txBody>
        </p:sp>
        <p:sp>
          <p:nvSpPr>
            <p:cNvPr id="247" name="Google Shape;247;p4"/>
            <p:cNvSpPr/>
            <p:nvPr/>
          </p:nvSpPr>
          <p:spPr>
            <a:xfrm rot="5400000">
              <a:off x="1982797" y="107503"/>
              <a:ext cx="1610971" cy="1401545"/>
            </a:xfrm>
            <a:prstGeom prst="hexagon">
              <a:avLst>
                <a:gd fmla="val 25000" name="adj"/>
                <a:gd fmla="val 115470" name="vf"/>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
            <p:cNvSpPr txBox="1"/>
            <p:nvPr/>
          </p:nvSpPr>
          <p:spPr>
            <a:xfrm>
              <a:off x="2305917" y="253833"/>
              <a:ext cx="964731" cy="1108885"/>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249" name="Google Shape;249;p4"/>
            <p:cNvSpPr/>
            <p:nvPr/>
          </p:nvSpPr>
          <p:spPr>
            <a:xfrm rot="5400000">
              <a:off x="2736732" y="1474896"/>
              <a:ext cx="1610971" cy="1401545"/>
            </a:xfrm>
            <a:prstGeom prst="hexagon">
              <a:avLst>
                <a:gd fmla="val 25000" name="adj"/>
                <a:gd fmla="val 115470" name="vf"/>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
            <p:cNvSpPr txBox="1"/>
            <p:nvPr/>
          </p:nvSpPr>
          <p:spPr>
            <a:xfrm>
              <a:off x="3059852" y="1621226"/>
              <a:ext cx="964731" cy="110888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alibri"/>
                <a:buNone/>
              </a:pPr>
              <a:r>
                <a:rPr b="0" i="0" lang="fr-FR" sz="1600" u="none" cap="none" strike="noStrike">
                  <a:solidFill>
                    <a:schemeClr val="lt1"/>
                  </a:solidFill>
                  <a:latin typeface="Calibri"/>
                  <a:ea typeface="Calibri"/>
                  <a:cs typeface="Calibri"/>
                  <a:sym typeface="Calibri"/>
                </a:rPr>
                <a:t>Majorité</a:t>
              </a:r>
              <a:endParaRPr/>
            </a:p>
            <a:p>
              <a:pPr indent="0" lvl="0" marL="0" marR="0" rtl="0" algn="ctr">
                <a:lnSpc>
                  <a:spcPct val="90000"/>
                </a:lnSpc>
                <a:spcBef>
                  <a:spcPts val="560"/>
                </a:spcBef>
                <a:spcAft>
                  <a:spcPts val="0"/>
                </a:spcAft>
                <a:buClr>
                  <a:schemeClr val="lt1"/>
                </a:buClr>
                <a:buSzPts val="1600"/>
                <a:buFont typeface="Calibri"/>
                <a:buNone/>
              </a:pPr>
              <a:r>
                <a:rPr b="0" i="0" lang="fr-FR" sz="1600" u="none" cap="none" strike="noStrike">
                  <a:solidFill>
                    <a:schemeClr val="lt1"/>
                  </a:solidFill>
                  <a:latin typeface="Calibri"/>
                  <a:ea typeface="Calibri"/>
                  <a:cs typeface="Calibri"/>
                  <a:sym typeface="Calibri"/>
                </a:rPr>
                <a:t> – 200- </a:t>
              </a:r>
              <a:endParaRPr/>
            </a:p>
            <a:p>
              <a:pPr indent="0" lvl="0" marL="0" marR="0" rtl="0" algn="ctr">
                <a:lnSpc>
                  <a:spcPct val="90000"/>
                </a:lnSpc>
                <a:spcBef>
                  <a:spcPts val="560"/>
                </a:spcBef>
                <a:spcAft>
                  <a:spcPts val="0"/>
                </a:spcAft>
                <a:buClr>
                  <a:schemeClr val="lt1"/>
                </a:buClr>
                <a:buSzPts val="1600"/>
                <a:buFont typeface="Calibri"/>
                <a:buNone/>
              </a:pPr>
              <a:r>
                <a:rPr b="0" i="0" lang="fr-FR" sz="1600" u="none" cap="none" strike="noStrike">
                  <a:solidFill>
                    <a:schemeClr val="lt1"/>
                  </a:solidFill>
                  <a:latin typeface="Calibri"/>
                  <a:ea typeface="Calibri"/>
                  <a:cs typeface="Calibri"/>
                  <a:sym typeface="Calibri"/>
                </a:rPr>
                <a:t>20 à 30 %</a:t>
              </a:r>
              <a:endParaRPr/>
            </a:p>
          </p:txBody>
        </p:sp>
        <p:sp>
          <p:nvSpPr>
            <p:cNvPr id="251" name="Google Shape;251;p4"/>
            <p:cNvSpPr/>
            <p:nvPr/>
          </p:nvSpPr>
          <p:spPr>
            <a:xfrm>
              <a:off x="1043601" y="1692377"/>
              <a:ext cx="1739849" cy="96658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
            <p:cNvSpPr txBox="1"/>
            <p:nvPr/>
          </p:nvSpPr>
          <p:spPr>
            <a:xfrm>
              <a:off x="1043601" y="1692377"/>
              <a:ext cx="1739849" cy="966582"/>
            </a:xfrm>
            <a:prstGeom prst="rect">
              <a:avLst/>
            </a:prstGeom>
            <a:noFill/>
            <a:ln>
              <a:noFill/>
            </a:ln>
          </p:spPr>
          <p:txBody>
            <a:bodyPr anchorCtr="0" anchor="ctr" bIns="60950" lIns="60950" spcFirstLastPara="1" rIns="60950" wrap="square" tIns="60950">
              <a:noAutofit/>
            </a:bodyPr>
            <a:lstStyle/>
            <a:p>
              <a:pPr indent="0" lvl="0" marL="0" marR="0" rtl="0" algn="r">
                <a:lnSpc>
                  <a:spcPct val="90000"/>
                </a:lnSpc>
                <a:spcBef>
                  <a:spcPts val="0"/>
                </a:spcBef>
                <a:spcAft>
                  <a:spcPts val="0"/>
                </a:spcAft>
                <a:buClr>
                  <a:schemeClr val="dk1"/>
                </a:buClr>
                <a:buSzPts val="1600"/>
                <a:buFont typeface="Calibri"/>
                <a:buNone/>
              </a:pPr>
              <a:r>
                <a:rPr b="0" i="0" lang="fr-FR" sz="1600" u="none" cap="none" strike="noStrike">
                  <a:solidFill>
                    <a:schemeClr val="dk1"/>
                  </a:solidFill>
                  <a:latin typeface="Calibri"/>
                  <a:ea typeface="Calibri"/>
                  <a:cs typeface="Calibri"/>
                  <a:sym typeface="Calibri"/>
                </a:rPr>
                <a:t>10%</a:t>
              </a:r>
              <a:endParaRPr/>
            </a:p>
          </p:txBody>
        </p:sp>
        <p:sp>
          <p:nvSpPr>
            <p:cNvPr id="253" name="Google Shape;253;p4"/>
            <p:cNvSpPr/>
            <p:nvPr/>
          </p:nvSpPr>
          <p:spPr>
            <a:xfrm rot="5400000">
              <a:off x="4250401" y="1474896"/>
              <a:ext cx="1610971" cy="1401545"/>
            </a:xfrm>
            <a:prstGeom prst="hexagon">
              <a:avLst>
                <a:gd fmla="val 25000" name="adj"/>
                <a:gd fmla="val 115470" name="vf"/>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
            <p:cNvSpPr txBox="1"/>
            <p:nvPr/>
          </p:nvSpPr>
          <p:spPr>
            <a:xfrm>
              <a:off x="4573521" y="1621226"/>
              <a:ext cx="964731" cy="1108885"/>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sp>
          <p:nvSpPr>
            <p:cNvPr id="255" name="Google Shape;255;p4"/>
            <p:cNvSpPr/>
            <p:nvPr/>
          </p:nvSpPr>
          <p:spPr>
            <a:xfrm rot="5400000">
              <a:off x="3496466" y="2842288"/>
              <a:ext cx="1610971" cy="1401545"/>
            </a:xfrm>
            <a:prstGeom prst="hexagon">
              <a:avLst>
                <a:gd fmla="val 25000" name="adj"/>
                <a:gd fmla="val 115470" name="vf"/>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
            <p:cNvSpPr txBox="1"/>
            <p:nvPr/>
          </p:nvSpPr>
          <p:spPr>
            <a:xfrm>
              <a:off x="3819586" y="2988618"/>
              <a:ext cx="964731" cy="1108885"/>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alibri"/>
                <a:buNone/>
              </a:pPr>
              <a:r>
                <a:rPr b="0" i="0" lang="fr-FR" sz="1600" u="none" cap="none" strike="noStrike">
                  <a:solidFill>
                    <a:schemeClr val="lt1"/>
                  </a:solidFill>
                  <a:latin typeface="Calibri"/>
                  <a:ea typeface="Calibri"/>
                  <a:cs typeface="Calibri"/>
                  <a:sym typeface="Calibri"/>
                </a:rPr>
                <a:t>60 à 80 % </a:t>
              </a:r>
              <a:endParaRPr/>
            </a:p>
          </p:txBody>
        </p:sp>
        <p:sp>
          <p:nvSpPr>
            <p:cNvPr id="257" name="Google Shape;257;p4"/>
            <p:cNvSpPr/>
            <p:nvPr/>
          </p:nvSpPr>
          <p:spPr>
            <a:xfrm>
              <a:off x="5045254" y="3059770"/>
              <a:ext cx="1797844" cy="96658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
            <p:cNvSpPr txBox="1"/>
            <p:nvPr/>
          </p:nvSpPr>
          <p:spPr>
            <a:xfrm>
              <a:off x="5045254" y="3059770"/>
              <a:ext cx="1797844" cy="966582"/>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Calibri"/>
                <a:buNone/>
              </a:pPr>
              <a:r>
                <a:rPr b="0" i="0" lang="fr-FR" sz="1600" u="none" cap="none" strike="noStrike">
                  <a:solidFill>
                    <a:schemeClr val="dk1"/>
                  </a:solidFill>
                  <a:latin typeface="Calibri"/>
                  <a:ea typeface="Calibri"/>
                  <a:cs typeface="Calibri"/>
                  <a:sym typeface="Calibri"/>
                </a:rPr>
                <a:t>Coût </a:t>
              </a:r>
              <a:endParaRPr/>
            </a:p>
          </p:txBody>
        </p:sp>
        <p:sp>
          <p:nvSpPr>
            <p:cNvPr id="259" name="Google Shape;259;p4"/>
            <p:cNvSpPr/>
            <p:nvPr/>
          </p:nvSpPr>
          <p:spPr>
            <a:xfrm rot="5400000">
              <a:off x="1982797" y="2842288"/>
              <a:ext cx="1610971" cy="1401545"/>
            </a:xfrm>
            <a:prstGeom prst="hexagon">
              <a:avLst>
                <a:gd fmla="val 25000" name="adj"/>
                <a:gd fmla="val 115470" name="vf"/>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
            <p:cNvSpPr txBox="1"/>
            <p:nvPr/>
          </p:nvSpPr>
          <p:spPr>
            <a:xfrm>
              <a:off x="2305917" y="2988618"/>
              <a:ext cx="964731" cy="1108885"/>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600"/>
                <a:buFont typeface="Calibri"/>
                <a:buNone/>
              </a:pPr>
              <a:r>
                <a:t/>
              </a:r>
              <a:endParaRPr b="0" i="0" sz="3600" u="none" cap="none" strike="noStrik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IVRS</a:t>
            </a:r>
            <a:endParaRPr/>
          </a:p>
        </p:txBody>
      </p:sp>
      <p:sp>
        <p:nvSpPr>
          <p:cNvPr id="267" name="Google Shape;267;p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600"/>
              <a:buFont typeface="Calibri"/>
              <a:buAutoNum type="arabicPeriod"/>
            </a:pPr>
            <a:r>
              <a:rPr b="1" lang="fr-FR" sz="2600"/>
              <a:t>Quels sont les modes de transmission des (IVRS) ?</a:t>
            </a:r>
            <a:endParaRPr/>
          </a:p>
          <a:p>
            <a:pPr indent="-165100" lvl="0" marL="514350" rtl="0" algn="l">
              <a:lnSpc>
                <a:spcPct val="90000"/>
              </a:lnSpc>
              <a:spcBef>
                <a:spcPts val="1000"/>
              </a:spcBef>
              <a:spcAft>
                <a:spcPts val="0"/>
              </a:spcAft>
              <a:buClr>
                <a:schemeClr val="dk1"/>
              </a:buClr>
              <a:buSzPts val="2600"/>
              <a:buFont typeface="Calibri"/>
              <a:buAutoNum type="alphaUcPeriod"/>
            </a:pPr>
            <a:r>
              <a:rPr lang="fr-FR" sz="2600"/>
              <a:t>Par les sécrétions respiratoires des individus atteints.</a:t>
            </a:r>
            <a:endParaRPr/>
          </a:p>
          <a:p>
            <a:pPr indent="-165100" lvl="0" marL="514350" rtl="0" algn="l">
              <a:lnSpc>
                <a:spcPct val="90000"/>
              </a:lnSpc>
              <a:spcBef>
                <a:spcPts val="1000"/>
              </a:spcBef>
              <a:spcAft>
                <a:spcPts val="0"/>
              </a:spcAft>
              <a:buClr>
                <a:schemeClr val="dk1"/>
              </a:buClr>
              <a:buSzPts val="2600"/>
              <a:buFont typeface="Calibri"/>
              <a:buAutoNum type="alphaUcPeriod"/>
            </a:pPr>
            <a:r>
              <a:rPr lang="fr-FR" sz="2600"/>
              <a:t>Par les aliments pourris.</a:t>
            </a:r>
            <a:endParaRPr/>
          </a:p>
          <a:p>
            <a:pPr indent="-165100" lvl="0" marL="514350" rtl="0" algn="l">
              <a:lnSpc>
                <a:spcPct val="90000"/>
              </a:lnSpc>
              <a:spcBef>
                <a:spcPts val="1000"/>
              </a:spcBef>
              <a:spcAft>
                <a:spcPts val="0"/>
              </a:spcAft>
              <a:buClr>
                <a:schemeClr val="dk1"/>
              </a:buClr>
              <a:buSzPts val="2600"/>
              <a:buFont typeface="Calibri"/>
              <a:buAutoNum type="alphaUcPeriod"/>
            </a:pPr>
            <a:r>
              <a:rPr lang="fr-FR" sz="2600"/>
              <a:t>Par contact avec des animaux.</a:t>
            </a:r>
            <a:endParaRPr/>
          </a:p>
          <a:p>
            <a:pPr indent="-165100" lvl="0" marL="514350" rtl="0" algn="l">
              <a:lnSpc>
                <a:spcPct val="90000"/>
              </a:lnSpc>
              <a:spcBef>
                <a:spcPts val="1000"/>
              </a:spcBef>
              <a:spcAft>
                <a:spcPts val="0"/>
              </a:spcAft>
              <a:buClr>
                <a:schemeClr val="dk1"/>
              </a:buClr>
              <a:buSzPts val="2600"/>
              <a:buFont typeface="Calibri"/>
              <a:buAutoNum type="alphaUcPeriod"/>
            </a:pPr>
            <a:r>
              <a:rPr lang="fr-FR" sz="2600"/>
              <a:t>Par les mains indirectement contaminées à partir d’une surface.</a:t>
            </a:r>
            <a:endParaRPr/>
          </a:p>
          <a:p>
            <a:pPr indent="-165100" lvl="0" marL="514350" rtl="0" algn="l">
              <a:lnSpc>
                <a:spcPct val="90000"/>
              </a:lnSpc>
              <a:spcBef>
                <a:spcPts val="1000"/>
              </a:spcBef>
              <a:spcAft>
                <a:spcPts val="0"/>
              </a:spcAft>
              <a:buClr>
                <a:schemeClr val="dk1"/>
              </a:buClr>
              <a:buSzPts val="2600"/>
              <a:buFont typeface="Calibri"/>
              <a:buAutoNum type="alphaUcPeriod"/>
            </a:pPr>
            <a:r>
              <a:rPr lang="fr-FR" sz="2600"/>
              <a:t>Par les eaux contaminées par les déchets.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68" name="Google Shape;268;p5"/>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4000" u="none" cap="none" strike="noStrike">
                <a:solidFill>
                  <a:schemeClr val="dk1"/>
                </a:solidFill>
                <a:latin typeface="Calibri"/>
                <a:ea typeface="Calibri"/>
                <a:cs typeface="Calibri"/>
                <a:sym typeface="Calibri"/>
              </a:rPr>
              <a:t>R: A,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IVRS</a:t>
            </a:r>
            <a:endParaRPr/>
          </a:p>
        </p:txBody>
      </p:sp>
      <p:sp>
        <p:nvSpPr>
          <p:cNvPr id="274" name="Google Shape;274;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lang="fr-FR"/>
              <a:t>2. </a:t>
            </a:r>
            <a:r>
              <a:rPr b="1" lang="fr-FR"/>
              <a:t>Comment limiter la résistance bactérienne lors du traitement des IVAS ?</a:t>
            </a:r>
            <a:endParaRPr/>
          </a:p>
          <a:p>
            <a:pPr indent="-164465" lvl="0" marL="514350" rtl="0" algn="l">
              <a:lnSpc>
                <a:spcPct val="90000"/>
              </a:lnSpc>
              <a:spcBef>
                <a:spcPts val="1000"/>
              </a:spcBef>
              <a:spcAft>
                <a:spcPts val="0"/>
              </a:spcAft>
              <a:buClr>
                <a:schemeClr val="dk1"/>
              </a:buClr>
              <a:buSzPct val="100000"/>
              <a:buFont typeface="Calibri"/>
              <a:buAutoNum type="alphaUcPeriod"/>
            </a:pPr>
            <a:r>
              <a:rPr lang="fr-FR"/>
              <a:t>Utiliser des antibiotiques pour toutes les IVRS.</a:t>
            </a:r>
            <a:endParaRPr/>
          </a:p>
          <a:p>
            <a:pPr indent="-164465" lvl="0" marL="514350" rtl="0" algn="l">
              <a:lnSpc>
                <a:spcPct val="90000"/>
              </a:lnSpc>
              <a:spcBef>
                <a:spcPts val="1000"/>
              </a:spcBef>
              <a:spcAft>
                <a:spcPts val="0"/>
              </a:spcAft>
              <a:buClr>
                <a:schemeClr val="dk1"/>
              </a:buClr>
              <a:buSzPct val="100000"/>
              <a:buFont typeface="Calibri"/>
              <a:buAutoNum type="alphaUcPeriod"/>
            </a:pPr>
            <a:r>
              <a:rPr lang="fr-FR"/>
              <a:t>Prescrire des antibiotiques lorsque leur efficacité est démontrée.</a:t>
            </a:r>
            <a:endParaRPr/>
          </a:p>
          <a:p>
            <a:pPr indent="-164465" lvl="0" marL="514350" rtl="0" algn="l">
              <a:lnSpc>
                <a:spcPct val="90000"/>
              </a:lnSpc>
              <a:spcBef>
                <a:spcPts val="1000"/>
              </a:spcBef>
              <a:spcAft>
                <a:spcPts val="0"/>
              </a:spcAft>
              <a:buClr>
                <a:schemeClr val="dk1"/>
              </a:buClr>
              <a:buSzPct val="100000"/>
              <a:buFont typeface="Calibri"/>
              <a:buAutoNum type="alphaUcPeriod"/>
            </a:pPr>
            <a:r>
              <a:rPr lang="fr-FR"/>
              <a:t>Donner des antibiotiques aux patients présentant des symptômes digestives associés aux IVRS.</a:t>
            </a:r>
            <a:endParaRPr/>
          </a:p>
          <a:p>
            <a:pPr indent="-164465" lvl="0" marL="514350" rtl="0" algn="l">
              <a:lnSpc>
                <a:spcPct val="90000"/>
              </a:lnSpc>
              <a:spcBef>
                <a:spcPts val="1000"/>
              </a:spcBef>
              <a:spcAft>
                <a:spcPts val="0"/>
              </a:spcAft>
              <a:buClr>
                <a:schemeClr val="dk1"/>
              </a:buClr>
              <a:buSzPct val="100000"/>
              <a:buFont typeface="Calibri"/>
              <a:buAutoNum type="alphaUcPeriod"/>
            </a:pPr>
            <a:r>
              <a:rPr lang="fr-FR"/>
              <a:t>Initier un traitement antibiotique après un diagnostic précis justifiant cette prescription.</a:t>
            </a:r>
            <a:endParaRPr/>
          </a:p>
          <a:p>
            <a:pPr indent="-164465" lvl="0" marL="514350" rtl="0" algn="l">
              <a:lnSpc>
                <a:spcPct val="90000"/>
              </a:lnSpc>
              <a:spcBef>
                <a:spcPts val="1000"/>
              </a:spcBef>
              <a:spcAft>
                <a:spcPts val="0"/>
              </a:spcAft>
              <a:buClr>
                <a:schemeClr val="dk1"/>
              </a:buClr>
              <a:buSzPct val="100000"/>
              <a:buFont typeface="Calibri"/>
              <a:buAutoNum type="alphaUcPeriod"/>
            </a:pPr>
            <a:r>
              <a:rPr lang="fr-FR"/>
              <a:t>Éviter l'utilisation des antibiotiques chez les enfants.</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275" name="Google Shape;275;p6"/>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4000" u="none" cap="none" strike="noStrike">
                <a:solidFill>
                  <a:schemeClr val="dk1"/>
                </a:solidFill>
                <a:latin typeface="Calibri"/>
                <a:ea typeface="Calibri"/>
                <a:cs typeface="Calibri"/>
                <a:sym typeface="Calibri"/>
              </a:rPr>
              <a:t>R: B,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La rhinopharyngite </a:t>
            </a:r>
            <a:endParaRPr/>
          </a:p>
        </p:txBody>
      </p:sp>
      <p:sp>
        <p:nvSpPr>
          <p:cNvPr id="282" name="Google Shape;282;p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fr-FR"/>
              <a:t>3. </a:t>
            </a:r>
            <a:r>
              <a:rPr b="1" lang="fr-FR"/>
              <a:t>La rhinopharyngite est</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Une atteinte inflammatoire de la partie supérieure du larynx</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Une infection de toutes les saisons </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Une infection de l’immunodéprimé</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Une infection virale aigue </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Une maladie immunitaire</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283" name="Google Shape;283;p7"/>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4000" u="none" cap="none" strike="noStrike">
                <a:solidFill>
                  <a:schemeClr val="dk1"/>
                </a:solidFill>
                <a:latin typeface="Calibri"/>
                <a:ea typeface="Calibri"/>
                <a:cs typeface="Calibri"/>
                <a:sym typeface="Calibri"/>
              </a:rPr>
              <a:t>R: B,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La rhinopharyngite </a:t>
            </a:r>
            <a:endParaRPr/>
          </a:p>
        </p:txBody>
      </p:sp>
      <p:sp>
        <p:nvSpPr>
          <p:cNvPr id="290" name="Google Shape;290;p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fr-FR"/>
              <a:t>4. </a:t>
            </a:r>
            <a:r>
              <a:rPr b="1" lang="fr-FR"/>
              <a:t>La rhinopharyngite de l’enfant de 2 ans peut évoluer vers :</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Otite moyenne aiguë</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Sinusite maxillaire</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Epiglottite </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Bronchite chronique</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Déshydratation</a:t>
            </a:r>
            <a:endParaRPr/>
          </a:p>
        </p:txBody>
      </p:sp>
      <p:sp>
        <p:nvSpPr>
          <p:cNvPr id="291" name="Google Shape;291;p8"/>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fr-FR" sz="4000" u="none" cap="none" strike="noStrike">
                <a:solidFill>
                  <a:schemeClr val="dk1"/>
                </a:solidFill>
                <a:latin typeface="Calibri"/>
                <a:ea typeface="Calibri"/>
                <a:cs typeface="Calibri"/>
                <a:sym typeface="Calibri"/>
              </a:rPr>
              <a:t>R: A,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Rhinopharyngite </a:t>
            </a:r>
            <a:endParaRPr/>
          </a:p>
        </p:txBody>
      </p:sp>
      <p:sp>
        <p:nvSpPr>
          <p:cNvPr id="298" name="Google Shape;298;p9"/>
          <p:cNvSpPr txBox="1"/>
          <p:nvPr>
            <p:ph idx="1" type="body"/>
          </p:nvPr>
        </p:nvSpPr>
        <p:spPr>
          <a:xfrm>
            <a:off x="457200" y="2337135"/>
            <a:ext cx="8229600" cy="311473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Affection </a:t>
            </a:r>
            <a:r>
              <a:rPr lang="fr-FR">
                <a:solidFill>
                  <a:srgbClr val="FF0000"/>
                </a:solidFill>
              </a:rPr>
              <a:t>fréquente</a:t>
            </a:r>
            <a:r>
              <a:rPr lang="fr-FR"/>
              <a:t>, première pathologie infectieuse de l’enfant</a:t>
            </a:r>
            <a:endParaRPr/>
          </a:p>
          <a:p>
            <a:pPr indent="-228600" lvl="0" marL="228600" rtl="0" algn="l">
              <a:lnSpc>
                <a:spcPct val="90000"/>
              </a:lnSpc>
              <a:spcBef>
                <a:spcPts val="1000"/>
              </a:spcBef>
              <a:spcAft>
                <a:spcPts val="0"/>
              </a:spcAft>
              <a:buClr>
                <a:schemeClr val="dk1"/>
              </a:buClr>
              <a:buSzPts val="2800"/>
              <a:buChar char="•"/>
            </a:pPr>
            <a:r>
              <a:rPr lang="fr-FR"/>
              <a:t>Pathologie souvent bénigne</a:t>
            </a:r>
            <a:endParaRPr/>
          </a:p>
          <a:p>
            <a:pPr indent="-228600" lvl="0" marL="228600" rtl="0" algn="l">
              <a:lnSpc>
                <a:spcPct val="90000"/>
              </a:lnSpc>
              <a:spcBef>
                <a:spcPts val="1000"/>
              </a:spcBef>
              <a:spcAft>
                <a:spcPts val="0"/>
              </a:spcAft>
              <a:buClr>
                <a:schemeClr val="dk1"/>
              </a:buClr>
              <a:buSzPts val="2800"/>
              <a:buChar char="•"/>
            </a:pPr>
            <a:r>
              <a:rPr lang="fr-FR"/>
              <a:t>Evolution spontanément </a:t>
            </a:r>
            <a:r>
              <a:rPr lang="fr-FR">
                <a:solidFill>
                  <a:srgbClr val="FF0000"/>
                </a:solidFill>
              </a:rPr>
              <a:t>favorable en 7 à 10 j</a:t>
            </a:r>
            <a:endParaRPr/>
          </a:p>
          <a:p>
            <a:pPr indent="-228600" lvl="0" marL="228600" rtl="0" algn="l">
              <a:lnSpc>
                <a:spcPct val="90000"/>
              </a:lnSpc>
              <a:spcBef>
                <a:spcPts val="1000"/>
              </a:spcBef>
              <a:spcAft>
                <a:spcPts val="0"/>
              </a:spcAft>
              <a:buClr>
                <a:schemeClr val="dk1"/>
              </a:buClr>
              <a:buSzPts val="2800"/>
              <a:buChar char="•"/>
            </a:pPr>
            <a:r>
              <a:rPr lang="fr-FR"/>
              <a:t>Maladie de l’adaptation⇨ acquisition de l’immunité</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Rhinopharyngite </a:t>
            </a:r>
            <a:endParaRPr/>
          </a:p>
        </p:txBody>
      </p:sp>
      <p:sp>
        <p:nvSpPr>
          <p:cNvPr id="305" name="Google Shape;305;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lang="fr-FR"/>
              <a:t>Agent en cause:  </a:t>
            </a:r>
            <a:endParaRPr/>
          </a:p>
          <a:p>
            <a:pPr indent="-228600" lvl="1" marL="685800" rtl="0" algn="l">
              <a:lnSpc>
                <a:spcPct val="150000"/>
              </a:lnSpc>
              <a:spcBef>
                <a:spcPts val="500"/>
              </a:spcBef>
              <a:spcAft>
                <a:spcPts val="0"/>
              </a:spcAft>
              <a:buClr>
                <a:schemeClr val="dk1"/>
              </a:buClr>
              <a:buSzPts val="2400"/>
              <a:buChar char="•"/>
            </a:pPr>
            <a:r>
              <a:rPr lang="fr-FR"/>
              <a:t>virus (rhinovirus, coronavirus, VRS, influenza et parainfluanzae… </a:t>
            </a:r>
            <a:r>
              <a:rPr lang="fr-FR">
                <a:solidFill>
                  <a:srgbClr val="FF0000"/>
                </a:solidFill>
              </a:rPr>
              <a:t>plus de 200 virus</a:t>
            </a:r>
            <a:endParaRPr/>
          </a:p>
          <a:p>
            <a:pPr indent="-228600" lvl="1" marL="685800" rtl="0" algn="l">
              <a:lnSpc>
                <a:spcPct val="150000"/>
              </a:lnSpc>
              <a:spcBef>
                <a:spcPts val="500"/>
              </a:spcBef>
              <a:spcAft>
                <a:spcPts val="0"/>
              </a:spcAft>
              <a:buClr>
                <a:srgbClr val="FF0000"/>
              </a:buClr>
              <a:buSzPts val="2400"/>
              <a:buChar char="•"/>
            </a:pPr>
            <a:r>
              <a:rPr lang="fr-FR">
                <a:solidFill>
                  <a:srgbClr val="FF0000"/>
                </a:solidFill>
              </a:rPr>
              <a:t>A!</a:t>
            </a:r>
            <a:r>
              <a:rPr lang="fr-FR"/>
              <a:t> Bactéries trouvées dans les secrétions du rhinopharynx: flore normale, induction de complications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Rhinopharyngite </a:t>
            </a:r>
            <a:endParaRPr/>
          </a:p>
        </p:txBody>
      </p:sp>
      <p:sp>
        <p:nvSpPr>
          <p:cNvPr id="312" name="Google Shape;312;p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b="1" lang="fr-FR" sz="3200"/>
              <a:t>Immunité induise par les virus en cause </a:t>
            </a:r>
            <a:endParaRPr/>
          </a:p>
          <a:p>
            <a:pPr indent="-228600" lvl="1" marL="685800" rtl="0" algn="l">
              <a:lnSpc>
                <a:spcPct val="90000"/>
              </a:lnSpc>
              <a:spcBef>
                <a:spcPts val="500"/>
              </a:spcBef>
              <a:spcAft>
                <a:spcPts val="0"/>
              </a:spcAft>
              <a:buClr>
                <a:schemeClr val="dk1"/>
              </a:buClr>
              <a:buSzPts val="2800"/>
              <a:buChar char="•"/>
            </a:pPr>
            <a:r>
              <a:rPr lang="fr-FR" sz="2800"/>
              <a:t>De courte durée  </a:t>
            </a:r>
            <a:endParaRPr/>
          </a:p>
          <a:p>
            <a:pPr indent="-228600" lvl="1" marL="685800" rtl="0" algn="l">
              <a:lnSpc>
                <a:spcPct val="90000"/>
              </a:lnSpc>
              <a:spcBef>
                <a:spcPts val="500"/>
              </a:spcBef>
              <a:spcAft>
                <a:spcPts val="0"/>
              </a:spcAft>
              <a:buClr>
                <a:schemeClr val="dk1"/>
              </a:buClr>
              <a:buSzPts val="2800"/>
              <a:buChar char="•"/>
            </a:pPr>
            <a:r>
              <a:rPr lang="fr-FR" sz="2800"/>
              <a:t>Ne protégeant pas contre les types hétérologues</a:t>
            </a:r>
            <a:endParaRPr/>
          </a:p>
          <a:p>
            <a:pPr indent="0" lvl="1" marL="457200" rtl="0" algn="l">
              <a:lnSpc>
                <a:spcPct val="90000"/>
              </a:lnSpc>
              <a:spcBef>
                <a:spcPts val="500"/>
              </a:spcBef>
              <a:spcAft>
                <a:spcPts val="0"/>
              </a:spcAft>
              <a:buClr>
                <a:schemeClr val="dk1"/>
              </a:buClr>
              <a:buSzPts val="2800"/>
              <a:buNone/>
            </a:pPr>
            <a:r>
              <a:rPr lang="fr-FR" sz="2800"/>
              <a:t> </a:t>
            </a:r>
            <a:endParaRPr/>
          </a:p>
          <a:p>
            <a:pPr indent="0" lvl="1" marL="457200" rtl="0" algn="l">
              <a:lnSpc>
                <a:spcPct val="90000"/>
              </a:lnSpc>
              <a:spcBef>
                <a:spcPts val="500"/>
              </a:spcBef>
              <a:spcAft>
                <a:spcPts val="0"/>
              </a:spcAft>
              <a:buClr>
                <a:schemeClr val="dk1"/>
              </a:buClr>
              <a:buSzPts val="2800"/>
              <a:buNone/>
            </a:pPr>
            <a:r>
              <a:rPr lang="fr-FR" sz="2800"/>
              <a:t>🢡possibilité de réinfection: fréquente</a:t>
            </a:r>
            <a:endParaRPr/>
          </a:p>
          <a:p>
            <a:pPr indent="0" lvl="1" marL="457200" rtl="0" algn="l">
              <a:lnSpc>
                <a:spcPct val="90000"/>
              </a:lnSpc>
              <a:spcBef>
                <a:spcPts val="500"/>
              </a:spcBef>
              <a:spcAft>
                <a:spcPts val="0"/>
              </a:spcAft>
              <a:buClr>
                <a:schemeClr val="dk1"/>
              </a:buClr>
              <a:buSzPts val="2800"/>
              <a:buNone/>
            </a:pPr>
            <a:r>
              <a:rPr lang="fr-FR" sz="2800"/>
              <a:t>🢡fréquences des épisodes  à différents virus </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Qui peut faire une rhinopharyngite?</a:t>
            </a:r>
            <a:endParaRPr/>
          </a:p>
        </p:txBody>
      </p:sp>
      <p:sp>
        <p:nvSpPr>
          <p:cNvPr id="319" name="Google Shape;319;p12"/>
          <p:cNvSpPr txBox="1"/>
          <p:nvPr>
            <p:ph idx="1" type="body"/>
          </p:nvPr>
        </p:nvSpPr>
        <p:spPr>
          <a:xfrm>
            <a:off x="366963" y="2039354"/>
            <a:ext cx="8229600" cy="4285246"/>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lang="fr-FR"/>
              <a:t>Tout âge mais surtout </a:t>
            </a:r>
            <a:r>
              <a:rPr lang="fr-FR">
                <a:solidFill>
                  <a:srgbClr val="FF0000"/>
                </a:solidFill>
              </a:rPr>
              <a:t>6 mois à 8 ans</a:t>
            </a:r>
            <a:r>
              <a:rPr lang="fr-FR"/>
              <a:t>, immaturité du système immunitaire</a:t>
            </a:r>
            <a:endParaRPr/>
          </a:p>
          <a:p>
            <a:pPr indent="-228600" lvl="0" marL="228600" rtl="0" algn="l">
              <a:lnSpc>
                <a:spcPct val="150000"/>
              </a:lnSpc>
              <a:spcBef>
                <a:spcPts val="1000"/>
              </a:spcBef>
              <a:spcAft>
                <a:spcPts val="0"/>
              </a:spcAft>
              <a:buClr>
                <a:schemeClr val="dk1"/>
              </a:buClr>
              <a:buSzPts val="2800"/>
              <a:buChar char="•"/>
            </a:pPr>
            <a:r>
              <a:rPr lang="fr-FR"/>
              <a:t>Pouvant atteindre </a:t>
            </a:r>
            <a:r>
              <a:rPr lang="fr-FR">
                <a:solidFill>
                  <a:srgbClr val="FF0000"/>
                </a:solidFill>
              </a:rPr>
              <a:t>jusqu’à 10 fois par an </a:t>
            </a:r>
            <a:r>
              <a:rPr lang="fr-FR"/>
              <a:t>: immunité acquise de </a:t>
            </a:r>
            <a:r>
              <a:rPr lang="fr-FR">
                <a:solidFill>
                  <a:srgbClr val="FF0000"/>
                </a:solidFill>
              </a:rPr>
              <a:t>courte durée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Rhinopharyngite </a:t>
            </a:r>
            <a:endParaRPr/>
          </a:p>
        </p:txBody>
      </p:sp>
      <p:sp>
        <p:nvSpPr>
          <p:cNvPr id="326" name="Google Shape;326;p13"/>
          <p:cNvSpPr txBox="1"/>
          <p:nvPr>
            <p:ph idx="1" type="body"/>
          </p:nvPr>
        </p:nvSpPr>
        <p:spPr>
          <a:xfrm>
            <a:off x="628650" y="1825624"/>
            <a:ext cx="7886700" cy="477172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3200"/>
              <a:buChar char="•"/>
            </a:pPr>
            <a:r>
              <a:rPr b="1" lang="fr-FR" sz="3200"/>
              <a:t>Facteurs favorisant la survenue de rhinopharyngite:  </a:t>
            </a:r>
            <a:endParaRPr/>
          </a:p>
          <a:p>
            <a:pPr indent="-228600" lvl="1" marL="685800" rtl="0" algn="l">
              <a:lnSpc>
                <a:spcPct val="90000"/>
              </a:lnSpc>
              <a:spcBef>
                <a:spcPts val="500"/>
              </a:spcBef>
              <a:spcAft>
                <a:spcPts val="0"/>
              </a:spcAft>
              <a:buClr>
                <a:schemeClr val="dk1"/>
              </a:buClr>
              <a:buSzPts val="2800"/>
              <a:buChar char="•"/>
            </a:pPr>
            <a:r>
              <a:rPr lang="fr-FR" sz="2800"/>
              <a:t>Tabagisme passif</a:t>
            </a:r>
            <a:endParaRPr/>
          </a:p>
          <a:p>
            <a:pPr indent="-228600" lvl="1" marL="685800" rtl="0" algn="l">
              <a:lnSpc>
                <a:spcPct val="90000"/>
              </a:lnSpc>
              <a:spcBef>
                <a:spcPts val="500"/>
              </a:spcBef>
              <a:spcAft>
                <a:spcPts val="0"/>
              </a:spcAft>
              <a:buClr>
                <a:schemeClr val="dk1"/>
              </a:buClr>
              <a:buSzPts val="2800"/>
              <a:buChar char="•"/>
            </a:pPr>
            <a:r>
              <a:rPr lang="fr-FR" sz="2800"/>
              <a:t>Promiscuité: fratrie nombreuse, milieu de vie inadapté au nombre de personnes qui y vivent</a:t>
            </a:r>
            <a:endParaRPr/>
          </a:p>
          <a:p>
            <a:pPr indent="-228600" lvl="1" marL="685800" rtl="0" algn="l">
              <a:lnSpc>
                <a:spcPct val="90000"/>
              </a:lnSpc>
              <a:spcBef>
                <a:spcPts val="500"/>
              </a:spcBef>
              <a:spcAft>
                <a:spcPts val="0"/>
              </a:spcAft>
              <a:buClr>
                <a:schemeClr val="dk1"/>
              </a:buClr>
              <a:buSzPts val="2800"/>
              <a:buChar char="•"/>
            </a:pPr>
            <a:r>
              <a:rPr lang="fr-FR" sz="2800"/>
              <a:t>Habitudes alimentaires: carence dénutrition </a:t>
            </a:r>
            <a:r>
              <a:rPr lang="fr-FR" sz="2800" u="sng"/>
              <a:t>maladie cœliaque</a:t>
            </a:r>
            <a:r>
              <a:rPr lang="fr-FR" sz="2800"/>
              <a:t>, …</a:t>
            </a:r>
            <a:endParaRPr/>
          </a:p>
          <a:p>
            <a:pPr indent="-228600" lvl="1" marL="685800" rtl="0" algn="l">
              <a:lnSpc>
                <a:spcPct val="90000"/>
              </a:lnSpc>
              <a:spcBef>
                <a:spcPts val="500"/>
              </a:spcBef>
              <a:spcAft>
                <a:spcPts val="0"/>
              </a:spcAft>
              <a:buClr>
                <a:schemeClr val="dk1"/>
              </a:buClr>
              <a:buSzPts val="2800"/>
              <a:buChar char="•"/>
            </a:pPr>
            <a:r>
              <a:rPr lang="fr-FR" sz="2800"/>
              <a:t>Hygiène nasale (reniflement), </a:t>
            </a:r>
            <a:r>
              <a:rPr lang="fr-FR" sz="2800" u="sng"/>
              <a:t>rhinite allergique, maladie de la muqueuse nasale</a:t>
            </a:r>
            <a:r>
              <a:rPr lang="fr-FR" sz="2800"/>
              <a:t>+++</a:t>
            </a:r>
            <a:endParaRPr/>
          </a:p>
          <a:p>
            <a:pPr indent="-228600" lvl="1" marL="685800" rtl="0" algn="l">
              <a:lnSpc>
                <a:spcPct val="90000"/>
              </a:lnSpc>
              <a:spcBef>
                <a:spcPts val="500"/>
              </a:spcBef>
              <a:spcAft>
                <a:spcPts val="0"/>
              </a:spcAft>
              <a:buClr>
                <a:schemeClr val="dk1"/>
              </a:buClr>
              <a:buSzPts val="2800"/>
              <a:buChar char="•"/>
            </a:pPr>
            <a:r>
              <a:rPr lang="fr-FR" sz="2800"/>
              <a:t>Animaux domestiques </a:t>
            </a:r>
            <a:endParaRPr/>
          </a:p>
          <a:p>
            <a:pPr indent="-228600" lvl="1" marL="685800" rtl="0" algn="l">
              <a:lnSpc>
                <a:spcPct val="90000"/>
              </a:lnSpc>
              <a:spcBef>
                <a:spcPts val="500"/>
              </a:spcBef>
              <a:spcAft>
                <a:spcPts val="0"/>
              </a:spcAft>
              <a:buClr>
                <a:schemeClr val="dk1"/>
              </a:buClr>
              <a:buSzPts val="2800"/>
              <a:buChar char="•"/>
            </a:pPr>
            <a:r>
              <a:rPr lang="fr-FR" sz="2800"/>
              <a:t>Fréquentation de collectivités (crèches)</a:t>
            </a:r>
            <a:endParaRPr/>
          </a:p>
        </p:txBody>
      </p:sp>
      <p:sp>
        <p:nvSpPr>
          <p:cNvPr descr="Attention images libres de droit, photos de Attention | Depositphotos" id="327" name="Google Shape;327;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28" name="Google Shape;328;p13"/>
          <p:cNvPicPr preferRelativeResize="0"/>
          <p:nvPr/>
        </p:nvPicPr>
        <p:blipFill rotWithShape="1">
          <a:blip r:embed="rId3">
            <a:alphaModFix/>
          </a:blip>
          <a:srcRect b="0" l="0" r="0" t="0"/>
          <a:stretch/>
        </p:blipFill>
        <p:spPr>
          <a:xfrm>
            <a:off x="6660232" y="332656"/>
            <a:ext cx="1440160" cy="14401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La rhinopharyngite </a:t>
            </a:r>
            <a:endParaRPr/>
          </a:p>
        </p:txBody>
      </p:sp>
      <p:sp>
        <p:nvSpPr>
          <p:cNvPr id="335" name="Google Shape;335;p1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fr-FR"/>
              <a:t>5. </a:t>
            </a:r>
            <a:r>
              <a:rPr b="1" lang="fr-FR"/>
              <a:t>Les signes d'une surinfection bactérienne incluent </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Fièvre persistant au-delà de 3 jours</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Persistance de la rhinorrhée jusqu’au 5eme jour</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Persistance de la toux au-delà de 10 jours</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Éruption cutanée</a:t>
            </a:r>
            <a:endParaRPr/>
          </a:p>
          <a:p>
            <a:pPr indent="-22225" lvl="0" marL="536575" rtl="0" algn="l">
              <a:lnSpc>
                <a:spcPct val="90000"/>
              </a:lnSpc>
              <a:spcBef>
                <a:spcPts val="1000"/>
              </a:spcBef>
              <a:spcAft>
                <a:spcPts val="0"/>
              </a:spcAft>
              <a:buClr>
                <a:schemeClr val="dk1"/>
              </a:buClr>
              <a:buSzPts val="2800"/>
              <a:buFont typeface="Calibri"/>
              <a:buAutoNum type="alphaUcPeriod"/>
            </a:pPr>
            <a:r>
              <a:rPr lang="fr-FR"/>
              <a:t>Changement de comportement de l’enfant</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336" name="Google Shape;336;p14"/>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C,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La rhinopharyngite </a:t>
            </a:r>
            <a:endParaRPr/>
          </a:p>
        </p:txBody>
      </p:sp>
      <p:sp>
        <p:nvSpPr>
          <p:cNvPr id="343" name="Google Shape;343;p1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b="1" lang="fr-FR"/>
              <a:t>6. Au cours d’une rhinopharyngite</a:t>
            </a:r>
            <a:r>
              <a:rPr lang="fr-FR"/>
              <a:t>:</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Dès la survenue d’une otalgie fébrile une antibiothérapie est indiquée</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La survenue d’un torticolis fébrile est en rapport avec un abcès des espaces profonds de la face</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La fluctuation de la fièvre, en l’absence de complication, se termine au 3</a:t>
            </a:r>
            <a:r>
              <a:rPr baseline="30000" lang="fr-FR"/>
              <a:t>ème</a:t>
            </a:r>
            <a:r>
              <a:rPr lang="fr-FR"/>
              <a:t> jour</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L’apparition de conjonctivite est une indication à l’antibiothérapie </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L’apparition d’une dysphonie est due à une laryngo-trachéite bactérienne</a:t>
            </a:r>
            <a:endParaRPr/>
          </a:p>
          <a:p>
            <a:pPr indent="-349885" lvl="0" marL="514350" rtl="0" algn="l">
              <a:lnSpc>
                <a:spcPct val="90000"/>
              </a:lnSpc>
              <a:spcBef>
                <a:spcPts val="1000"/>
              </a:spcBef>
              <a:spcAft>
                <a:spcPts val="0"/>
              </a:spcAft>
              <a:buClr>
                <a:schemeClr val="dk1"/>
              </a:buClr>
              <a:buSzPct val="100000"/>
              <a:buFont typeface="Calibri"/>
              <a:buNone/>
            </a:pPr>
            <a:r>
              <a:t/>
            </a:r>
            <a:endParaRPr/>
          </a:p>
        </p:txBody>
      </p:sp>
      <p:sp>
        <p:nvSpPr>
          <p:cNvPr id="344" name="Google Shape;344;p15"/>
          <p:cNvSpPr/>
          <p:nvPr/>
        </p:nvSpPr>
        <p:spPr>
          <a:xfrm>
            <a:off x="5652120" y="548680"/>
            <a:ext cx="2584136" cy="1008112"/>
          </a:xfrm>
          <a:prstGeom prst="rect">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La rhinopharyngite </a:t>
            </a:r>
            <a:endParaRPr/>
          </a:p>
        </p:txBody>
      </p:sp>
      <p:sp>
        <p:nvSpPr>
          <p:cNvPr id="351" name="Google Shape;351;p1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7. Le traitement des rhinopharyngites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Par antiinflammatoire diminue la durée des symptômes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Nécessite une antibiothérapie si persistance de rhinorrhée au delà de J10</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Compliquées d’une sinusite maxillaire nécessite une antibiothérapie avant l'âge de 2 ans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Par corticoïde général n’a pas de place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Doit être révisé en cas de persistance du refus alimentaire à j3</a:t>
            </a:r>
            <a:endParaRPr/>
          </a:p>
        </p:txBody>
      </p:sp>
      <p:sp>
        <p:nvSpPr>
          <p:cNvPr id="352" name="Google Shape;352;p16"/>
          <p:cNvSpPr/>
          <p:nvPr/>
        </p:nvSpPr>
        <p:spPr>
          <a:xfrm>
            <a:off x="5580112" y="548680"/>
            <a:ext cx="2656144" cy="1008112"/>
          </a:xfrm>
          <a:prstGeom prst="rect">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D,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Rhinopharyngite: évolution et complications</a:t>
            </a:r>
            <a:endParaRPr/>
          </a:p>
        </p:txBody>
      </p:sp>
      <p:sp>
        <p:nvSpPr>
          <p:cNvPr id="359" name="Google Shape;359;p1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FF0000"/>
              </a:buClr>
              <a:buSzPts val="2800"/>
              <a:buChar char="•"/>
            </a:pPr>
            <a:r>
              <a:rPr b="1" lang="fr-FR">
                <a:solidFill>
                  <a:srgbClr val="FF0000"/>
                </a:solidFill>
              </a:rPr>
              <a:t>NECESSITE DE RECONTACTER LE MEDECIN </a:t>
            </a:r>
            <a:r>
              <a:rPr lang="fr-FR"/>
              <a:t>si</a:t>
            </a:r>
            <a:endParaRPr/>
          </a:p>
          <a:p>
            <a:pPr indent="-228600" lvl="1" marL="685800" rtl="0" algn="l">
              <a:lnSpc>
                <a:spcPct val="90000"/>
              </a:lnSpc>
              <a:spcBef>
                <a:spcPts val="500"/>
              </a:spcBef>
              <a:spcAft>
                <a:spcPts val="0"/>
              </a:spcAft>
              <a:buClr>
                <a:schemeClr val="dk1"/>
              </a:buClr>
              <a:buSzPts val="2400"/>
              <a:buChar char="•"/>
            </a:pPr>
            <a:r>
              <a:rPr lang="fr-FR"/>
              <a:t>Fièvre  &gt; 3 jours ou réapparition secondaire après  ce délai</a:t>
            </a:r>
            <a:endParaRPr/>
          </a:p>
          <a:p>
            <a:pPr indent="-228600" lvl="1" marL="685800" rtl="0" algn="l">
              <a:lnSpc>
                <a:spcPct val="90000"/>
              </a:lnSpc>
              <a:spcBef>
                <a:spcPts val="500"/>
              </a:spcBef>
              <a:spcAft>
                <a:spcPts val="0"/>
              </a:spcAft>
              <a:buClr>
                <a:schemeClr val="dk1"/>
              </a:buClr>
              <a:buSzPts val="2400"/>
              <a:buChar char="•"/>
            </a:pPr>
            <a:r>
              <a:rPr lang="fr-FR"/>
              <a:t>Persistance sans tendance à l’amélioration d’autres symptômes  </a:t>
            </a:r>
            <a:endParaRPr/>
          </a:p>
          <a:p>
            <a:pPr indent="0" lvl="1" marL="342900" rtl="0" algn="l">
              <a:lnSpc>
                <a:spcPct val="90000"/>
              </a:lnSpc>
              <a:spcBef>
                <a:spcPts val="500"/>
              </a:spcBef>
              <a:spcAft>
                <a:spcPts val="0"/>
              </a:spcAft>
              <a:buClr>
                <a:schemeClr val="dk1"/>
              </a:buClr>
              <a:buSzPts val="2400"/>
              <a:buNone/>
            </a:pPr>
            <a:r>
              <a:rPr lang="fr-FR"/>
              <a:t>		&gt; 10è jour: toux, rhinorrhée, ON</a:t>
            </a:r>
            <a:endParaRPr/>
          </a:p>
          <a:p>
            <a:pPr indent="-228600" lvl="1" marL="685800" rtl="0" algn="l">
              <a:lnSpc>
                <a:spcPct val="90000"/>
              </a:lnSpc>
              <a:spcBef>
                <a:spcPts val="500"/>
              </a:spcBef>
              <a:spcAft>
                <a:spcPts val="0"/>
              </a:spcAft>
              <a:buClr>
                <a:schemeClr val="dk1"/>
              </a:buClr>
              <a:buSzPts val="2400"/>
              <a:buChar char="•"/>
            </a:pPr>
            <a:r>
              <a:rPr lang="fr-FR"/>
              <a:t>Changement du comportement de l’enfant: anorexie, irritabilité, réveils nocturnes ou au contraire somnolence</a:t>
            </a:r>
            <a:endParaRPr/>
          </a:p>
          <a:p>
            <a:pPr indent="-228600" lvl="1" marL="685800" rtl="0" algn="l">
              <a:lnSpc>
                <a:spcPct val="90000"/>
              </a:lnSpc>
              <a:spcBef>
                <a:spcPts val="500"/>
              </a:spcBef>
              <a:spcAft>
                <a:spcPts val="0"/>
              </a:spcAft>
              <a:buClr>
                <a:schemeClr val="dk1"/>
              </a:buClr>
              <a:buSzPts val="2400"/>
              <a:buChar char="•"/>
            </a:pPr>
            <a:r>
              <a:rPr lang="fr-FR"/>
              <a:t>Otalgie, otorrhée</a:t>
            </a:r>
            <a:endParaRPr/>
          </a:p>
          <a:p>
            <a:pPr indent="-228600" lvl="1" marL="685800" rtl="0" algn="l">
              <a:lnSpc>
                <a:spcPct val="90000"/>
              </a:lnSpc>
              <a:spcBef>
                <a:spcPts val="500"/>
              </a:spcBef>
              <a:spcAft>
                <a:spcPts val="0"/>
              </a:spcAft>
              <a:buClr>
                <a:schemeClr val="dk1"/>
              </a:buClr>
              <a:buSzPts val="2400"/>
              <a:buChar char="•"/>
            </a:pPr>
            <a:r>
              <a:rPr lang="fr-FR"/>
              <a:t>Conjonctivite purulente, œdème palpébral</a:t>
            </a:r>
            <a:endParaRPr/>
          </a:p>
          <a:p>
            <a:pPr indent="-228600" lvl="1" marL="685800" rtl="0" algn="l">
              <a:lnSpc>
                <a:spcPct val="90000"/>
              </a:lnSpc>
              <a:spcBef>
                <a:spcPts val="500"/>
              </a:spcBef>
              <a:spcAft>
                <a:spcPts val="0"/>
              </a:spcAft>
              <a:buClr>
                <a:schemeClr val="dk1"/>
              </a:buClr>
              <a:buSzPts val="2400"/>
              <a:buChar char="•"/>
            </a:pPr>
            <a:r>
              <a:rPr lang="fr-FR"/>
              <a:t>Gêne respiratoire surajoutée ou persistante , douleur thoracique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grpSp>
        <p:nvGrpSpPr>
          <p:cNvPr id="365" name="Google Shape;365;p18"/>
          <p:cNvGrpSpPr/>
          <p:nvPr/>
        </p:nvGrpSpPr>
        <p:grpSpPr>
          <a:xfrm>
            <a:off x="399479" y="1348689"/>
            <a:ext cx="8483401" cy="4304635"/>
            <a:chOff x="3943" y="1088041"/>
            <a:chExt cx="8483401" cy="4304635"/>
          </a:xfrm>
        </p:grpSpPr>
        <p:sp>
          <p:nvSpPr>
            <p:cNvPr id="366" name="Google Shape;366;p18"/>
            <p:cNvSpPr/>
            <p:nvPr/>
          </p:nvSpPr>
          <p:spPr>
            <a:xfrm>
              <a:off x="4094634" y="1807137"/>
              <a:ext cx="151010" cy="789973"/>
            </a:xfrm>
            <a:custGeom>
              <a:rect b="b" l="l" r="r" t="t"/>
              <a:pathLst>
                <a:path extrusionOk="0" h="120000" w="120000">
                  <a:moveTo>
                    <a:pt x="120000" y="0"/>
                  </a:moveTo>
                  <a:lnTo>
                    <a:pt x="120000" y="120000"/>
                  </a:lnTo>
                  <a:lnTo>
                    <a:pt x="0" y="120000"/>
                  </a:lnTo>
                </a:path>
              </a:pathLst>
            </a:custGeom>
            <a:noFill/>
            <a:ln cap="flat" cmpd="sng" w="12700">
              <a:solidFill>
                <a:srgbClr val="487AA8"/>
              </a:solidFill>
              <a:prstDash val="solid"/>
              <a:miter lim="800000"/>
              <a:headEnd len="sm" w="sm" type="none"/>
              <a:tailEnd len="sm" w="sm" type="none"/>
            </a:ln>
          </p:spPr>
        </p:sp>
        <p:sp>
          <p:nvSpPr>
            <p:cNvPr id="367" name="Google Shape;367;p18"/>
            <p:cNvSpPr/>
            <p:nvPr/>
          </p:nvSpPr>
          <p:spPr>
            <a:xfrm>
              <a:off x="6123536" y="4106179"/>
              <a:ext cx="393968" cy="794259"/>
            </a:xfrm>
            <a:custGeom>
              <a:rect b="b" l="l" r="r" t="t"/>
              <a:pathLst>
                <a:path extrusionOk="0" h="120000" w="120000">
                  <a:moveTo>
                    <a:pt x="0" y="0"/>
                  </a:moveTo>
                  <a:lnTo>
                    <a:pt x="0" y="120000"/>
                  </a:lnTo>
                  <a:lnTo>
                    <a:pt x="120000" y="120000"/>
                  </a:lnTo>
                </a:path>
              </a:pathLst>
            </a:custGeom>
            <a:noFill/>
            <a:ln cap="flat" cmpd="sng" w="12700">
              <a:solidFill>
                <a:srgbClr val="528CBE"/>
              </a:solidFill>
              <a:prstDash val="solid"/>
              <a:miter lim="800000"/>
              <a:headEnd len="sm" w="sm" type="none"/>
              <a:tailEnd len="sm" w="sm" type="none"/>
            </a:ln>
          </p:spPr>
        </p:sp>
        <p:sp>
          <p:nvSpPr>
            <p:cNvPr id="368" name="Google Shape;368;p18"/>
            <p:cNvSpPr/>
            <p:nvPr/>
          </p:nvSpPr>
          <p:spPr>
            <a:xfrm>
              <a:off x="4245644" y="1807137"/>
              <a:ext cx="2928473" cy="1579946"/>
            </a:xfrm>
            <a:custGeom>
              <a:rect b="b" l="l" r="r" t="t"/>
              <a:pathLst>
                <a:path extrusionOk="0" h="120000" w="120000">
                  <a:moveTo>
                    <a:pt x="0" y="0"/>
                  </a:moveTo>
                  <a:lnTo>
                    <a:pt x="0" y="108530"/>
                  </a:lnTo>
                  <a:lnTo>
                    <a:pt x="120000" y="108530"/>
                  </a:lnTo>
                  <a:lnTo>
                    <a:pt x="120000" y="120000"/>
                  </a:lnTo>
                </a:path>
              </a:pathLst>
            </a:custGeom>
            <a:noFill/>
            <a:ln cap="flat" cmpd="sng" w="12700">
              <a:solidFill>
                <a:srgbClr val="487AA8"/>
              </a:solidFill>
              <a:prstDash val="solid"/>
              <a:miter lim="800000"/>
              <a:headEnd len="sm" w="sm" type="none"/>
              <a:tailEnd len="sm" w="sm" type="none"/>
            </a:ln>
          </p:spPr>
        </p:sp>
        <p:sp>
          <p:nvSpPr>
            <p:cNvPr id="369" name="Google Shape;369;p18"/>
            <p:cNvSpPr/>
            <p:nvPr/>
          </p:nvSpPr>
          <p:spPr>
            <a:xfrm>
              <a:off x="3195062" y="4106179"/>
              <a:ext cx="393968" cy="794259"/>
            </a:xfrm>
            <a:custGeom>
              <a:rect b="b" l="l" r="r" t="t"/>
              <a:pathLst>
                <a:path extrusionOk="0" h="120000" w="120000">
                  <a:moveTo>
                    <a:pt x="0" y="0"/>
                  </a:moveTo>
                  <a:lnTo>
                    <a:pt x="0" y="120000"/>
                  </a:lnTo>
                  <a:lnTo>
                    <a:pt x="120000" y="120000"/>
                  </a:lnTo>
                </a:path>
              </a:pathLst>
            </a:custGeom>
            <a:noFill/>
            <a:ln cap="flat" cmpd="sng" w="12700">
              <a:solidFill>
                <a:srgbClr val="528CBE"/>
              </a:solidFill>
              <a:prstDash val="solid"/>
              <a:miter lim="800000"/>
              <a:headEnd len="sm" w="sm" type="none"/>
              <a:tailEnd len="sm" w="sm" type="none"/>
            </a:ln>
          </p:spPr>
        </p:sp>
        <p:sp>
          <p:nvSpPr>
            <p:cNvPr id="370" name="Google Shape;370;p18"/>
            <p:cNvSpPr/>
            <p:nvPr/>
          </p:nvSpPr>
          <p:spPr>
            <a:xfrm>
              <a:off x="4199924" y="1807137"/>
              <a:ext cx="91440" cy="1579946"/>
            </a:xfrm>
            <a:custGeom>
              <a:rect b="b" l="l" r="r" t="t"/>
              <a:pathLst>
                <a:path extrusionOk="0" h="120000" w="120000">
                  <a:moveTo>
                    <a:pt x="60000" y="0"/>
                  </a:moveTo>
                  <a:lnTo>
                    <a:pt x="60000" y="120000"/>
                  </a:lnTo>
                </a:path>
              </a:pathLst>
            </a:custGeom>
            <a:noFill/>
            <a:ln cap="flat" cmpd="sng" w="12700">
              <a:solidFill>
                <a:srgbClr val="487AA8"/>
              </a:solidFill>
              <a:prstDash val="solid"/>
              <a:miter lim="800000"/>
              <a:headEnd len="sm" w="sm" type="none"/>
              <a:tailEnd len="sm" w="sm" type="none"/>
            </a:ln>
          </p:spPr>
        </p:sp>
        <p:sp>
          <p:nvSpPr>
            <p:cNvPr id="371" name="Google Shape;371;p18"/>
            <p:cNvSpPr/>
            <p:nvPr/>
          </p:nvSpPr>
          <p:spPr>
            <a:xfrm>
              <a:off x="266589" y="4106179"/>
              <a:ext cx="393968" cy="794259"/>
            </a:xfrm>
            <a:custGeom>
              <a:rect b="b" l="l" r="r" t="t"/>
              <a:pathLst>
                <a:path extrusionOk="0" h="120000" w="120000">
                  <a:moveTo>
                    <a:pt x="0" y="0"/>
                  </a:moveTo>
                  <a:lnTo>
                    <a:pt x="0" y="120000"/>
                  </a:lnTo>
                  <a:lnTo>
                    <a:pt x="120000" y="120000"/>
                  </a:lnTo>
                </a:path>
              </a:pathLst>
            </a:custGeom>
            <a:noFill/>
            <a:ln cap="flat" cmpd="sng" w="12700">
              <a:solidFill>
                <a:srgbClr val="528CBE"/>
              </a:solidFill>
              <a:prstDash val="solid"/>
              <a:miter lim="800000"/>
              <a:headEnd len="sm" w="sm" type="none"/>
              <a:tailEnd len="sm" w="sm" type="none"/>
            </a:ln>
          </p:spPr>
        </p:sp>
        <p:sp>
          <p:nvSpPr>
            <p:cNvPr id="372" name="Google Shape;372;p18"/>
            <p:cNvSpPr/>
            <p:nvPr/>
          </p:nvSpPr>
          <p:spPr>
            <a:xfrm>
              <a:off x="1317170" y="1807137"/>
              <a:ext cx="2928473" cy="1579946"/>
            </a:xfrm>
            <a:custGeom>
              <a:rect b="b" l="l" r="r" t="t"/>
              <a:pathLst>
                <a:path extrusionOk="0" h="120000" w="120000">
                  <a:moveTo>
                    <a:pt x="120000" y="0"/>
                  </a:moveTo>
                  <a:lnTo>
                    <a:pt x="120000" y="108530"/>
                  </a:lnTo>
                  <a:lnTo>
                    <a:pt x="0" y="108530"/>
                  </a:lnTo>
                  <a:lnTo>
                    <a:pt x="0" y="120000"/>
                  </a:lnTo>
                </a:path>
              </a:pathLst>
            </a:custGeom>
            <a:noFill/>
            <a:ln cap="flat" cmpd="sng" w="12700">
              <a:solidFill>
                <a:srgbClr val="487AA8"/>
              </a:solidFill>
              <a:prstDash val="solid"/>
              <a:miter lim="800000"/>
              <a:headEnd len="sm" w="sm" type="none"/>
              <a:tailEnd len="sm" w="sm" type="none"/>
            </a:ln>
          </p:spPr>
        </p:sp>
        <p:sp>
          <p:nvSpPr>
            <p:cNvPr id="373" name="Google Shape;373;p18"/>
            <p:cNvSpPr/>
            <p:nvPr/>
          </p:nvSpPr>
          <p:spPr>
            <a:xfrm>
              <a:off x="1105777" y="1088041"/>
              <a:ext cx="6279733" cy="719095"/>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txBox="1"/>
            <p:nvPr/>
          </p:nvSpPr>
          <p:spPr>
            <a:xfrm>
              <a:off x="1105777" y="1088041"/>
              <a:ext cx="6279733" cy="719095"/>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Clr>
                  <a:schemeClr val="lt1"/>
                </a:buClr>
                <a:buSzPts val="3200"/>
                <a:buFont typeface="Calibri"/>
                <a:buNone/>
              </a:pPr>
              <a:r>
                <a:rPr lang="fr-FR" sz="3200">
                  <a:solidFill>
                    <a:schemeClr val="lt1"/>
                  </a:solidFill>
                  <a:latin typeface="Calibri"/>
                  <a:ea typeface="Calibri"/>
                  <a:cs typeface="Calibri"/>
                  <a:sym typeface="Calibri"/>
                </a:rPr>
                <a:t>Rhinopharyngite de l’enfant </a:t>
              </a:r>
              <a:endParaRPr/>
            </a:p>
          </p:txBody>
        </p:sp>
        <p:sp>
          <p:nvSpPr>
            <p:cNvPr id="375" name="Google Shape;375;p18"/>
            <p:cNvSpPr/>
            <p:nvPr/>
          </p:nvSpPr>
          <p:spPr>
            <a:xfrm>
              <a:off x="3943" y="3387083"/>
              <a:ext cx="2626453" cy="719095"/>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txBox="1"/>
            <p:nvPr/>
          </p:nvSpPr>
          <p:spPr>
            <a:xfrm>
              <a:off x="3943" y="3387083"/>
              <a:ext cx="2626453" cy="719095"/>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Non compliquée </a:t>
              </a:r>
              <a:endParaRPr/>
            </a:p>
          </p:txBody>
        </p:sp>
        <p:sp>
          <p:nvSpPr>
            <p:cNvPr id="377" name="Google Shape;377;p18"/>
            <p:cNvSpPr/>
            <p:nvPr/>
          </p:nvSpPr>
          <p:spPr>
            <a:xfrm>
              <a:off x="660557" y="4408199"/>
              <a:ext cx="1844322" cy="984477"/>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txBox="1"/>
            <p:nvPr/>
          </p:nvSpPr>
          <p:spPr>
            <a:xfrm>
              <a:off x="660557" y="4408199"/>
              <a:ext cx="1844322" cy="984477"/>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Antipyrétique</a:t>
              </a:r>
              <a:endParaRPr/>
            </a:p>
            <a:p>
              <a:pPr indent="0" lvl="0" marL="0" marR="0" rtl="0" algn="ctr">
                <a:lnSpc>
                  <a:spcPct val="90000"/>
                </a:lnSpc>
                <a:spcBef>
                  <a:spcPts val="63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Lavage solution saline</a:t>
              </a:r>
              <a:endParaRPr/>
            </a:p>
          </p:txBody>
        </p:sp>
        <p:sp>
          <p:nvSpPr>
            <p:cNvPr id="379" name="Google Shape;379;p18"/>
            <p:cNvSpPr/>
            <p:nvPr/>
          </p:nvSpPr>
          <p:spPr>
            <a:xfrm>
              <a:off x="2932417" y="3387083"/>
              <a:ext cx="2626453" cy="719095"/>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txBox="1"/>
            <p:nvPr/>
          </p:nvSpPr>
          <p:spPr>
            <a:xfrm>
              <a:off x="2932417" y="3387083"/>
              <a:ext cx="2626453" cy="719095"/>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Non compliquée, facteurs de risque de cpc </a:t>
              </a:r>
              <a:endParaRPr/>
            </a:p>
          </p:txBody>
        </p:sp>
        <p:sp>
          <p:nvSpPr>
            <p:cNvPr id="381" name="Google Shape;381;p18"/>
            <p:cNvSpPr/>
            <p:nvPr/>
          </p:nvSpPr>
          <p:spPr>
            <a:xfrm>
              <a:off x="3589031" y="4408199"/>
              <a:ext cx="1844322" cy="984477"/>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txBox="1"/>
            <p:nvPr/>
          </p:nvSpPr>
          <p:spPr>
            <a:xfrm>
              <a:off x="3589031" y="4408199"/>
              <a:ext cx="1844322" cy="984477"/>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Calibri"/>
                <a:buNone/>
              </a:pPr>
              <a:r>
                <a:rPr lang="fr-FR" sz="2000">
                  <a:solidFill>
                    <a:schemeClr val="lt1"/>
                  </a:solidFill>
                  <a:latin typeface="Calibri"/>
                  <a:ea typeface="Calibri"/>
                  <a:cs typeface="Calibri"/>
                  <a:sym typeface="Calibri"/>
                </a:rPr>
                <a:t>Même ttt</a:t>
              </a:r>
              <a:endParaRPr sz="2000">
                <a:solidFill>
                  <a:schemeClr val="lt1"/>
                </a:solidFill>
                <a:latin typeface="Calibri"/>
                <a:ea typeface="Calibri"/>
                <a:cs typeface="Calibri"/>
                <a:sym typeface="Calibri"/>
              </a:endParaRPr>
            </a:p>
            <a:p>
              <a:pPr indent="0" lvl="0" marL="0" marR="0" rtl="0" algn="ctr">
                <a:lnSpc>
                  <a:spcPct val="90000"/>
                </a:lnSpc>
                <a:spcBef>
                  <a:spcPts val="700"/>
                </a:spcBef>
                <a:spcAft>
                  <a:spcPts val="0"/>
                </a:spcAft>
                <a:buClr>
                  <a:schemeClr val="lt1"/>
                </a:buClr>
                <a:buSzPts val="2000"/>
                <a:buFont typeface="Calibri"/>
                <a:buNone/>
              </a:pPr>
              <a:r>
                <a:rPr lang="fr-FR" sz="2000">
                  <a:solidFill>
                    <a:schemeClr val="lt1"/>
                  </a:solidFill>
                  <a:latin typeface="Calibri"/>
                  <a:ea typeface="Calibri"/>
                  <a:cs typeface="Calibri"/>
                  <a:sym typeface="Calibri"/>
                </a:rPr>
                <a:t>Vigilance accrue </a:t>
              </a:r>
              <a:endParaRPr/>
            </a:p>
          </p:txBody>
        </p:sp>
        <p:sp>
          <p:nvSpPr>
            <p:cNvPr id="383" name="Google Shape;383;p18"/>
            <p:cNvSpPr/>
            <p:nvPr/>
          </p:nvSpPr>
          <p:spPr>
            <a:xfrm>
              <a:off x="5860891" y="3387083"/>
              <a:ext cx="2626453" cy="719095"/>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txBox="1"/>
            <p:nvPr/>
          </p:nvSpPr>
          <p:spPr>
            <a:xfrm>
              <a:off x="5860891" y="3387083"/>
              <a:ext cx="2626453" cy="719095"/>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Compliquée : cpc bactérienne</a:t>
              </a:r>
              <a:endParaRPr/>
            </a:p>
          </p:txBody>
        </p:sp>
        <p:sp>
          <p:nvSpPr>
            <p:cNvPr id="385" name="Google Shape;385;p18"/>
            <p:cNvSpPr/>
            <p:nvPr/>
          </p:nvSpPr>
          <p:spPr>
            <a:xfrm>
              <a:off x="6517505" y="4408199"/>
              <a:ext cx="1844322" cy="984477"/>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txBox="1"/>
            <p:nvPr/>
          </p:nvSpPr>
          <p:spPr>
            <a:xfrm>
              <a:off x="6517505" y="4408199"/>
              <a:ext cx="1844322" cy="984477"/>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ATB d’emblée</a:t>
              </a:r>
              <a:endParaRPr/>
            </a:p>
            <a:p>
              <a:pPr indent="0" lvl="0" marL="0" marR="0" rtl="0" algn="ctr">
                <a:lnSpc>
                  <a:spcPct val="90000"/>
                </a:lnSpc>
                <a:spcBef>
                  <a:spcPts val="63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Ttt adjuvant</a:t>
              </a:r>
              <a:r>
                <a:rPr lang="fr-FR" sz="2400">
                  <a:solidFill>
                    <a:schemeClr val="lt1"/>
                  </a:solidFill>
                  <a:latin typeface="Calibri"/>
                  <a:ea typeface="Calibri"/>
                  <a:cs typeface="Calibri"/>
                  <a:sym typeface="Calibri"/>
                </a:rPr>
                <a:t> </a:t>
              </a:r>
              <a:endParaRPr/>
            </a:p>
          </p:txBody>
        </p:sp>
        <p:sp>
          <p:nvSpPr>
            <p:cNvPr id="387" name="Google Shape;387;p18"/>
            <p:cNvSpPr/>
            <p:nvPr/>
          </p:nvSpPr>
          <p:spPr>
            <a:xfrm>
              <a:off x="1776442" y="2109157"/>
              <a:ext cx="2318191" cy="975906"/>
            </a:xfrm>
            <a:prstGeom prst="rect">
              <a:avLst/>
            </a:prstGeom>
            <a:solidFill>
              <a:schemeClr val="lt1"/>
            </a:solidFill>
            <a:ln cap="flat" cmpd="sng" w="12700">
              <a:solidFill>
                <a:srgbClr val="528CB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txBox="1"/>
            <p:nvPr/>
          </p:nvSpPr>
          <p:spPr>
            <a:xfrm>
              <a:off x="1776442" y="2109157"/>
              <a:ext cx="2318191" cy="97590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 Complications</a:t>
              </a:r>
              <a:endParaRPr/>
            </a:p>
            <a:p>
              <a:pPr indent="0" lvl="0" marL="0" marR="0" rtl="0" algn="ctr">
                <a:lnSpc>
                  <a:spcPct val="90000"/>
                </a:lnSpc>
                <a:spcBef>
                  <a:spcPts val="56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 Facteurs favorisants</a:t>
              </a:r>
              <a:endParaRPr/>
            </a:p>
            <a:p>
              <a:pPr indent="0" lvl="0" marL="0" marR="0" rtl="0" algn="ctr">
                <a:lnSpc>
                  <a:spcPct val="90000"/>
                </a:lnSpc>
                <a:spcBef>
                  <a:spcPts val="56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 Signe de gravité</a:t>
              </a:r>
              <a:endParaRPr/>
            </a:p>
          </p:txBody>
        </p:sp>
      </p:grpSp>
      <p:pic>
        <p:nvPicPr>
          <p:cNvPr descr="Résultat de recherche d'images pour &quot;point interrogation&quot;" id="389" name="Google Shape;389;p18"/>
          <p:cNvPicPr preferRelativeResize="0"/>
          <p:nvPr/>
        </p:nvPicPr>
        <p:blipFill rotWithShape="1">
          <a:blip r:embed="rId3">
            <a:alphaModFix/>
          </a:blip>
          <a:srcRect b="10000" l="20757" r="20152" t="13635"/>
          <a:stretch/>
        </p:blipFill>
        <p:spPr>
          <a:xfrm>
            <a:off x="1757873" y="2464594"/>
            <a:ext cx="585958" cy="7572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C00000"/>
              </a:buClr>
              <a:buSzPts val="6000"/>
              <a:buFont typeface="Calibri"/>
              <a:buNone/>
            </a:pPr>
            <a:r>
              <a:rPr lang="fr-FR"/>
              <a:t>Les angines </a:t>
            </a:r>
            <a:endParaRPr/>
          </a:p>
        </p:txBody>
      </p:sp>
      <p:sp>
        <p:nvSpPr>
          <p:cNvPr id="395" name="Google Shape;395;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2F5496"/>
              </a:buClr>
              <a:buSzPts val="32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L’angine agiue:</a:t>
            </a:r>
            <a:endParaRPr/>
          </a:p>
        </p:txBody>
      </p:sp>
      <p:sp>
        <p:nvSpPr>
          <p:cNvPr id="402" name="Google Shape;402;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8.  L’angine aigue </a:t>
            </a:r>
            <a:endParaRPr/>
          </a:p>
          <a:p>
            <a:pPr indent="0" lvl="0" marL="0" rtl="0" algn="l">
              <a:lnSpc>
                <a:spcPct val="90000"/>
              </a:lnSpc>
              <a:spcBef>
                <a:spcPts val="1000"/>
              </a:spcBef>
              <a:spcAft>
                <a:spcPts val="0"/>
              </a:spcAft>
              <a:buClr>
                <a:schemeClr val="dk1"/>
              </a:buClr>
              <a:buSzPts val="2800"/>
              <a:buNone/>
            </a:pPr>
            <a:r>
              <a:t/>
            </a:r>
            <a:endParaRPr b="1"/>
          </a:p>
          <a:p>
            <a:pPr indent="-514350" lvl="0" marL="514350" rtl="0" algn="l">
              <a:lnSpc>
                <a:spcPct val="90000"/>
              </a:lnSpc>
              <a:spcBef>
                <a:spcPts val="1000"/>
              </a:spcBef>
              <a:spcAft>
                <a:spcPts val="0"/>
              </a:spcAft>
              <a:buClr>
                <a:schemeClr val="dk1"/>
              </a:buClr>
              <a:buSzPts val="2800"/>
              <a:buFont typeface="Calibri"/>
              <a:buAutoNum type="alphaUcPeriod"/>
            </a:pPr>
            <a:r>
              <a:rPr lang="fr-FR"/>
              <a:t>Est une inflammation infectieuse de l’oropharynx</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rare avant 18 mois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Peut se compliquer de sinusite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favorisée par l’anémie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Peut être due à un mauvais état dentaire</a:t>
            </a:r>
            <a:endParaRPr/>
          </a:p>
        </p:txBody>
      </p:sp>
      <p:sp>
        <p:nvSpPr>
          <p:cNvPr id="403" name="Google Shape;403;p20"/>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D, 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Tissu lymphoïde oropharynx: anneau de Waldeyer </a:t>
            </a:r>
            <a:endParaRPr/>
          </a:p>
        </p:txBody>
      </p:sp>
      <p:sp>
        <p:nvSpPr>
          <p:cNvPr id="410" name="Google Shape;410;p21"/>
          <p:cNvSpPr txBox="1"/>
          <p:nvPr>
            <p:ph idx="1" type="body"/>
          </p:nvPr>
        </p:nvSpPr>
        <p:spPr>
          <a:xfrm>
            <a:off x="628650" y="1825625"/>
            <a:ext cx="430339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b="1" lang="fr-FR"/>
              <a:t>Amygdales palatines (1)</a:t>
            </a:r>
            <a:endParaRPr/>
          </a:p>
          <a:p>
            <a:pPr indent="-228600" lvl="0" marL="228600" rtl="0" algn="l">
              <a:lnSpc>
                <a:spcPct val="150000"/>
              </a:lnSpc>
              <a:spcBef>
                <a:spcPts val="1000"/>
              </a:spcBef>
              <a:spcAft>
                <a:spcPts val="0"/>
              </a:spcAft>
              <a:buClr>
                <a:schemeClr val="dk1"/>
              </a:buClr>
              <a:buSzPts val="2800"/>
              <a:buChar char="•"/>
            </a:pPr>
            <a:r>
              <a:rPr lang="fr-FR"/>
              <a:t>Amygdales linguales (2)</a:t>
            </a:r>
            <a:endParaRPr/>
          </a:p>
          <a:p>
            <a:pPr indent="-228600" lvl="0" marL="228600" rtl="0" algn="l">
              <a:lnSpc>
                <a:spcPct val="150000"/>
              </a:lnSpc>
              <a:spcBef>
                <a:spcPts val="1000"/>
              </a:spcBef>
              <a:spcAft>
                <a:spcPts val="0"/>
              </a:spcAft>
              <a:buClr>
                <a:schemeClr val="dk1"/>
              </a:buClr>
              <a:buSzPts val="2800"/>
              <a:buChar char="•"/>
            </a:pPr>
            <a:r>
              <a:rPr lang="fr-FR"/>
              <a:t>Amygdales pharyngiées (3)</a:t>
            </a:r>
            <a:endParaRPr/>
          </a:p>
          <a:p>
            <a:pPr indent="-228600" lvl="0" marL="228600" rtl="0" algn="l">
              <a:lnSpc>
                <a:spcPct val="150000"/>
              </a:lnSpc>
              <a:spcBef>
                <a:spcPts val="1000"/>
              </a:spcBef>
              <a:spcAft>
                <a:spcPts val="0"/>
              </a:spcAft>
              <a:buClr>
                <a:schemeClr val="dk1"/>
              </a:buClr>
              <a:buSzPts val="2800"/>
              <a:buChar char="•"/>
            </a:pPr>
            <a:r>
              <a:rPr lang="fr-FR"/>
              <a:t>Amygdales tubaires (4)</a:t>
            </a:r>
            <a:endParaRPr/>
          </a:p>
          <a:p>
            <a:pPr indent="-228600" lvl="0" marL="228600" rtl="0" algn="l">
              <a:lnSpc>
                <a:spcPct val="150000"/>
              </a:lnSpc>
              <a:spcBef>
                <a:spcPts val="1000"/>
              </a:spcBef>
              <a:spcAft>
                <a:spcPts val="0"/>
              </a:spcAft>
              <a:buClr>
                <a:schemeClr val="dk1"/>
              </a:buClr>
              <a:buSzPts val="2800"/>
              <a:buChar char="•"/>
            </a:pPr>
            <a:r>
              <a:rPr lang="fr-FR"/>
              <a:t>Tissu intramuqueux</a:t>
            </a:r>
            <a:endParaRPr/>
          </a:p>
        </p:txBody>
      </p:sp>
      <p:pic>
        <p:nvPicPr>
          <p:cNvPr id="411" name="Google Shape;411;p21"/>
          <p:cNvPicPr preferRelativeResize="0"/>
          <p:nvPr/>
        </p:nvPicPr>
        <p:blipFill rotWithShape="1">
          <a:blip r:embed="rId3">
            <a:alphaModFix/>
          </a:blip>
          <a:srcRect b="0" l="0" r="0" t="0"/>
          <a:stretch/>
        </p:blipFill>
        <p:spPr>
          <a:xfrm>
            <a:off x="4932040" y="1700808"/>
            <a:ext cx="3990975" cy="4714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9:</a:t>
            </a:r>
            <a:endParaRPr/>
          </a:p>
        </p:txBody>
      </p:sp>
      <p:sp>
        <p:nvSpPr>
          <p:cNvPr id="418" name="Google Shape;418;p2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9. Au cours de l’angine aigue: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L’otalgie est primaire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 trismus est signe d’un adénophlegmon</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 rhinorrhée est signe de streptocoque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L’œdème de la luette peut se voir en dehors de complication</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L’exsudat pultacé dans la forme erythémato pultacée est facilement décollable</a:t>
            </a:r>
            <a:endParaRPr/>
          </a:p>
        </p:txBody>
      </p:sp>
      <p:sp>
        <p:nvSpPr>
          <p:cNvPr id="419" name="Google Shape;419;p22"/>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D, 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Angine aigue </a:t>
            </a:r>
            <a:endParaRPr/>
          </a:p>
        </p:txBody>
      </p:sp>
      <p:sp>
        <p:nvSpPr>
          <p:cNvPr id="426" name="Google Shape;426;p2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10. Au cours de l’angine:</a:t>
            </a:r>
            <a:endParaRPr/>
          </a:p>
          <a:p>
            <a:pPr indent="0" lvl="0" marL="0" rtl="0" algn="l">
              <a:lnSpc>
                <a:spcPct val="90000"/>
              </a:lnSpc>
              <a:spcBef>
                <a:spcPts val="1000"/>
              </a:spcBef>
              <a:spcAft>
                <a:spcPts val="0"/>
              </a:spcAft>
              <a:buClr>
                <a:schemeClr val="dk1"/>
              </a:buClr>
              <a:buSzPts val="2800"/>
              <a:buNone/>
            </a:pPr>
            <a:r>
              <a:rPr lang="fr-FR"/>
              <a:t>A. vésiculeuse, les vésicules peuvent dépasser les amygdales</a:t>
            </a:r>
            <a:endParaRPr/>
          </a:p>
          <a:p>
            <a:pPr indent="0" lvl="0" marL="0" rtl="0" algn="l">
              <a:lnSpc>
                <a:spcPct val="90000"/>
              </a:lnSpc>
              <a:spcBef>
                <a:spcPts val="1000"/>
              </a:spcBef>
              <a:spcAft>
                <a:spcPts val="0"/>
              </a:spcAft>
              <a:buClr>
                <a:schemeClr val="dk1"/>
              </a:buClr>
              <a:buSzPts val="2800"/>
              <a:buNone/>
            </a:pPr>
            <a:r>
              <a:rPr lang="fr-FR"/>
              <a:t>B. Ulcéreuse de Vincent, la palpation de l’amygdale montre une induration</a:t>
            </a:r>
            <a:endParaRPr/>
          </a:p>
          <a:p>
            <a:pPr indent="0" lvl="0" marL="0" rtl="0" algn="l">
              <a:lnSpc>
                <a:spcPct val="90000"/>
              </a:lnSpc>
              <a:spcBef>
                <a:spcPts val="1000"/>
              </a:spcBef>
              <a:spcAft>
                <a:spcPts val="0"/>
              </a:spcAft>
              <a:buClr>
                <a:schemeClr val="dk1"/>
              </a:buClr>
              <a:buSzPts val="2800"/>
              <a:buNone/>
            </a:pPr>
            <a:r>
              <a:rPr lang="fr-FR"/>
              <a:t>C. Pseudomembraneuse, il est difficile de différencier cette forme de l’ulcéronécrotique</a:t>
            </a:r>
            <a:endParaRPr/>
          </a:p>
          <a:p>
            <a:pPr indent="0" lvl="0" marL="0" rtl="0" algn="l">
              <a:lnSpc>
                <a:spcPct val="90000"/>
              </a:lnSpc>
              <a:spcBef>
                <a:spcPts val="1000"/>
              </a:spcBef>
              <a:spcAft>
                <a:spcPts val="0"/>
              </a:spcAft>
              <a:buClr>
                <a:schemeClr val="dk1"/>
              </a:buClr>
              <a:buSzPts val="2800"/>
              <a:buNone/>
            </a:pPr>
            <a:r>
              <a:rPr lang="fr-FR"/>
              <a:t>D. l’absence d’adénopathie écarte le diagnostic </a:t>
            </a:r>
            <a:endParaRPr/>
          </a:p>
          <a:p>
            <a:pPr indent="0" lvl="0" marL="0" rtl="0" algn="l">
              <a:lnSpc>
                <a:spcPct val="90000"/>
              </a:lnSpc>
              <a:spcBef>
                <a:spcPts val="1000"/>
              </a:spcBef>
              <a:spcAft>
                <a:spcPts val="0"/>
              </a:spcAft>
              <a:buClr>
                <a:schemeClr val="dk1"/>
              </a:buClr>
              <a:buSzPts val="2800"/>
              <a:buNone/>
            </a:pPr>
            <a:r>
              <a:rPr lang="fr-FR"/>
              <a:t>E. l’adénopathie du secteur III est en faveur de l’origine bactérienne</a:t>
            </a:r>
            <a:endParaRPr/>
          </a:p>
        </p:txBody>
      </p:sp>
      <p:sp>
        <p:nvSpPr>
          <p:cNvPr id="427" name="Google Shape;427;p23"/>
          <p:cNvSpPr/>
          <p:nvPr/>
        </p:nvSpPr>
        <p:spPr>
          <a:xfrm>
            <a:off x="5292080" y="476672"/>
            <a:ext cx="2952328" cy="1008112"/>
          </a:xfrm>
          <a:prstGeom prst="rect">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11</a:t>
            </a:r>
            <a:endParaRPr/>
          </a:p>
        </p:txBody>
      </p:sp>
      <p:sp>
        <p:nvSpPr>
          <p:cNvPr id="434" name="Google Shape;434;p24"/>
          <p:cNvSpPr txBox="1"/>
          <p:nvPr>
            <p:ph idx="1" type="body"/>
          </p:nvPr>
        </p:nvSpPr>
        <p:spPr>
          <a:xfrm>
            <a:off x="628650" y="1825624"/>
            <a:ext cx="7886700" cy="4627711"/>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11. Parmi les formes cliniques de l’angine,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Chaque présentation est corrélée à un agent bactériologique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 présence d’une laryngite associée est en faveur d’une virose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L’examen des aires ganglionnaires peut orienter vers l’atteinte bactérienne par  leur taille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 score de Mac Isaac est nécessaire quelque soit la forme clinique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 forme erythémato pultacée peut être due à plusieurs groupes du streptocoque </a:t>
            </a:r>
            <a:endParaRPr/>
          </a:p>
        </p:txBody>
      </p:sp>
      <p:sp>
        <p:nvSpPr>
          <p:cNvPr id="435" name="Google Shape;435;p24"/>
          <p:cNvSpPr/>
          <p:nvPr/>
        </p:nvSpPr>
        <p:spPr>
          <a:xfrm>
            <a:off x="4932040" y="548680"/>
            <a:ext cx="3304216"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12</a:t>
            </a:r>
            <a:endParaRPr/>
          </a:p>
        </p:txBody>
      </p:sp>
      <p:sp>
        <p:nvSpPr>
          <p:cNvPr id="442" name="Google Shape;442;p2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fr-FR"/>
              <a:t>12. </a:t>
            </a:r>
            <a:r>
              <a:rPr b="1" lang="fr-FR"/>
              <a:t>Parmi les angines suivantes, quand est ce que l’origine bactérienne est retenu?</a:t>
            </a:r>
            <a:endParaRPr/>
          </a:p>
          <a:p>
            <a:pPr indent="-514350" lvl="0" marL="1069975" rtl="0" algn="l">
              <a:lnSpc>
                <a:spcPct val="90000"/>
              </a:lnSpc>
              <a:spcBef>
                <a:spcPts val="1000"/>
              </a:spcBef>
              <a:spcAft>
                <a:spcPts val="0"/>
              </a:spcAft>
              <a:buClr>
                <a:schemeClr val="dk1"/>
              </a:buClr>
              <a:buSzPts val="2800"/>
              <a:buFont typeface="Calibri"/>
              <a:buAutoNum type="alphaUcPeriod"/>
            </a:pPr>
            <a:r>
              <a:rPr lang="fr-FR"/>
              <a:t>Angine vésiculeuse</a:t>
            </a:r>
            <a:endParaRPr/>
          </a:p>
          <a:p>
            <a:pPr indent="-514350" lvl="0" marL="1069975" rtl="0" algn="l">
              <a:lnSpc>
                <a:spcPct val="90000"/>
              </a:lnSpc>
              <a:spcBef>
                <a:spcPts val="1000"/>
              </a:spcBef>
              <a:spcAft>
                <a:spcPts val="0"/>
              </a:spcAft>
              <a:buClr>
                <a:schemeClr val="dk1"/>
              </a:buClr>
              <a:buSzPts val="2800"/>
              <a:buFont typeface="Calibri"/>
              <a:buAutoNum type="alphaUcPeriod"/>
            </a:pPr>
            <a:r>
              <a:rPr lang="fr-FR"/>
              <a:t>Angine dans le cadre des MST</a:t>
            </a:r>
            <a:endParaRPr/>
          </a:p>
          <a:p>
            <a:pPr indent="-514350" lvl="0" marL="1069975" rtl="0" algn="l">
              <a:lnSpc>
                <a:spcPct val="90000"/>
              </a:lnSpc>
              <a:spcBef>
                <a:spcPts val="1000"/>
              </a:spcBef>
              <a:spcAft>
                <a:spcPts val="0"/>
              </a:spcAft>
              <a:buClr>
                <a:schemeClr val="dk1"/>
              </a:buClr>
              <a:buSzPts val="2800"/>
              <a:buFont typeface="Calibri"/>
              <a:buAutoNum type="alphaUcPeriod"/>
            </a:pPr>
            <a:r>
              <a:rPr lang="fr-FR"/>
              <a:t>Angine avec exanthème</a:t>
            </a:r>
            <a:endParaRPr/>
          </a:p>
          <a:p>
            <a:pPr indent="-514350" lvl="0" marL="1069975" rtl="0" algn="l">
              <a:lnSpc>
                <a:spcPct val="90000"/>
              </a:lnSpc>
              <a:spcBef>
                <a:spcPts val="1000"/>
              </a:spcBef>
              <a:spcAft>
                <a:spcPts val="0"/>
              </a:spcAft>
              <a:buClr>
                <a:schemeClr val="dk1"/>
              </a:buClr>
              <a:buSzPts val="2800"/>
              <a:buFont typeface="Calibri"/>
              <a:buAutoNum type="alphaUcPeriod"/>
            </a:pPr>
            <a:r>
              <a:rPr lang="fr-FR"/>
              <a:t>Angine avec énanthème</a:t>
            </a:r>
            <a:endParaRPr/>
          </a:p>
          <a:p>
            <a:pPr indent="-514350" lvl="0" marL="1069975" rtl="0" algn="l">
              <a:lnSpc>
                <a:spcPct val="90000"/>
              </a:lnSpc>
              <a:spcBef>
                <a:spcPts val="1000"/>
              </a:spcBef>
              <a:spcAft>
                <a:spcPts val="0"/>
              </a:spcAft>
              <a:buClr>
                <a:schemeClr val="dk1"/>
              </a:buClr>
              <a:buSzPts val="2800"/>
              <a:buFont typeface="Calibri"/>
              <a:buAutoNum type="alphaUcPeriod"/>
            </a:pPr>
            <a:r>
              <a:rPr lang="fr-FR"/>
              <a:t>L’association à une otite </a:t>
            </a:r>
            <a:endParaRPr/>
          </a:p>
        </p:txBody>
      </p:sp>
      <p:sp>
        <p:nvSpPr>
          <p:cNvPr id="443" name="Google Shape;443;p25"/>
          <p:cNvSpPr/>
          <p:nvPr/>
        </p:nvSpPr>
        <p:spPr>
          <a:xfrm>
            <a:off x="5580112" y="548680"/>
            <a:ext cx="2656144"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D </a:t>
            </a:r>
            <a:endParaRPr/>
          </a:p>
        </p:txBody>
      </p:sp>
      <p:sp>
        <p:nvSpPr>
          <p:cNvPr id="444" name="Google Shape;444;p25"/>
          <p:cNvSpPr/>
          <p:nvPr/>
        </p:nvSpPr>
        <p:spPr>
          <a:xfrm>
            <a:off x="3411720" y="4221088"/>
            <a:ext cx="2168392" cy="576064"/>
          </a:xfrm>
          <a:prstGeom prst="ellipse">
            <a:avLst/>
          </a:prstGeom>
          <a:no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L’exanthème associé </a:t>
            </a:r>
            <a:br>
              <a:rPr lang="fr-FR"/>
            </a:br>
            <a:r>
              <a:rPr lang="fr-FR"/>
              <a:t>à la scarlatine </a:t>
            </a:r>
            <a:endParaRPr/>
          </a:p>
        </p:txBody>
      </p:sp>
      <p:sp>
        <p:nvSpPr>
          <p:cNvPr id="450" name="Google Shape;450;p2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13. L’exantème associé à la scarlatine</a:t>
            </a:r>
            <a:r>
              <a:rPr lang="fr-FR"/>
              <a:t>:</a:t>
            </a:r>
            <a:endParaRPr/>
          </a:p>
          <a:p>
            <a:pPr indent="-514350" lvl="0" marL="1246188" rtl="0" algn="l">
              <a:lnSpc>
                <a:spcPct val="90000"/>
              </a:lnSpc>
              <a:spcBef>
                <a:spcPts val="1000"/>
              </a:spcBef>
              <a:spcAft>
                <a:spcPts val="0"/>
              </a:spcAft>
              <a:buClr>
                <a:schemeClr val="dk1"/>
              </a:buClr>
              <a:buSzPts val="2800"/>
              <a:buAutoNum type="alphaUcPeriod"/>
            </a:pPr>
            <a:r>
              <a:rPr lang="fr-FR"/>
              <a:t>Est prurigineux</a:t>
            </a:r>
            <a:endParaRPr/>
          </a:p>
          <a:p>
            <a:pPr indent="-514350" lvl="0" marL="1246188" rtl="0" algn="l">
              <a:lnSpc>
                <a:spcPct val="90000"/>
              </a:lnSpc>
              <a:spcBef>
                <a:spcPts val="1000"/>
              </a:spcBef>
              <a:spcAft>
                <a:spcPts val="0"/>
              </a:spcAft>
              <a:buClr>
                <a:schemeClr val="dk1"/>
              </a:buClr>
              <a:buSzPts val="2800"/>
              <a:buAutoNum type="alphaUcPeriod"/>
            </a:pPr>
            <a:r>
              <a:rPr lang="fr-FR"/>
              <a:t>Se voit sans intervalle de peau saine</a:t>
            </a:r>
            <a:endParaRPr/>
          </a:p>
          <a:p>
            <a:pPr indent="-514350" lvl="0" marL="1246188" rtl="0" algn="l">
              <a:lnSpc>
                <a:spcPct val="90000"/>
              </a:lnSpc>
              <a:spcBef>
                <a:spcPts val="1000"/>
              </a:spcBef>
              <a:spcAft>
                <a:spcPts val="0"/>
              </a:spcAft>
              <a:buClr>
                <a:schemeClr val="dk1"/>
              </a:buClr>
              <a:buSzPts val="2800"/>
              <a:buAutoNum type="alphaUcPeriod"/>
            </a:pPr>
            <a:r>
              <a:rPr lang="fr-FR"/>
              <a:t>Contient une fin piquetée s’effaçant à la pression</a:t>
            </a:r>
            <a:endParaRPr/>
          </a:p>
          <a:p>
            <a:pPr indent="-514350" lvl="0" marL="1246188" rtl="0" algn="l">
              <a:lnSpc>
                <a:spcPct val="90000"/>
              </a:lnSpc>
              <a:spcBef>
                <a:spcPts val="1000"/>
              </a:spcBef>
              <a:spcAft>
                <a:spcPts val="0"/>
              </a:spcAft>
              <a:buClr>
                <a:schemeClr val="dk1"/>
              </a:buClr>
              <a:buSzPts val="2800"/>
              <a:buAutoNum type="alphaUcPeriod"/>
            </a:pPr>
            <a:r>
              <a:rPr lang="fr-FR"/>
              <a:t>Débute au niveau de l’abdomen</a:t>
            </a:r>
            <a:endParaRPr/>
          </a:p>
          <a:p>
            <a:pPr indent="-514350" lvl="0" marL="1246188" rtl="0" algn="l">
              <a:lnSpc>
                <a:spcPct val="90000"/>
              </a:lnSpc>
              <a:spcBef>
                <a:spcPts val="1000"/>
              </a:spcBef>
              <a:spcAft>
                <a:spcPts val="0"/>
              </a:spcAft>
              <a:buClr>
                <a:schemeClr val="dk1"/>
              </a:buClr>
              <a:buSzPts val="2800"/>
              <a:buAutoNum type="alphaUcPeriod"/>
            </a:pPr>
            <a:r>
              <a:rPr lang="fr-FR"/>
              <a:t>Respecte l’orifice narinaire</a:t>
            </a:r>
            <a:endParaRPr/>
          </a:p>
        </p:txBody>
      </p:sp>
      <p:sp>
        <p:nvSpPr>
          <p:cNvPr id="451" name="Google Shape;451;p26"/>
          <p:cNvSpPr/>
          <p:nvPr/>
        </p:nvSpPr>
        <p:spPr>
          <a:xfrm>
            <a:off x="5580112" y="548680"/>
            <a:ext cx="2656144"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Formes cliniques de l’angine </a:t>
            </a:r>
            <a:endParaRPr/>
          </a:p>
        </p:txBody>
      </p:sp>
      <p:grpSp>
        <p:nvGrpSpPr>
          <p:cNvPr id="458" name="Google Shape;458;p27"/>
          <p:cNvGrpSpPr/>
          <p:nvPr/>
        </p:nvGrpSpPr>
        <p:grpSpPr>
          <a:xfrm>
            <a:off x="628650" y="1415406"/>
            <a:ext cx="7886699" cy="5251321"/>
            <a:chOff x="0" y="2630"/>
            <a:chExt cx="7886699" cy="5251321"/>
          </a:xfrm>
        </p:grpSpPr>
        <p:sp>
          <p:nvSpPr>
            <p:cNvPr id="459" name="Google Shape;459;p27"/>
            <p:cNvSpPr/>
            <p:nvPr/>
          </p:nvSpPr>
          <p:spPr>
            <a:xfrm rot="5400000">
              <a:off x="4856804" y="-1888423"/>
              <a:ext cx="1012302" cy="5047488"/>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7"/>
            <p:cNvSpPr txBox="1"/>
            <p:nvPr/>
          </p:nvSpPr>
          <p:spPr>
            <a:xfrm>
              <a:off x="2839212" y="178586"/>
              <a:ext cx="4998071" cy="913468"/>
            </a:xfrm>
            <a:prstGeom prst="rect">
              <a:avLst/>
            </a:prstGeom>
            <a:noFill/>
            <a:ln>
              <a:noFill/>
            </a:ln>
          </p:spPr>
          <p:txBody>
            <a:bodyPr anchorCtr="0" anchor="ctr" bIns="34275" lIns="68575" spcFirstLastPara="1" rIns="68575" wrap="square" tIns="3427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Viral 60-80%/VRS, </a:t>
              </a:r>
              <a:r>
                <a:rPr b="1" i="0" lang="fr-FR" sz="1800" u="none" cap="none" strike="noStrike">
                  <a:solidFill>
                    <a:schemeClr val="dk1"/>
                  </a:solidFill>
                  <a:latin typeface="Calibri"/>
                  <a:ea typeface="Calibri"/>
                  <a:cs typeface="Calibri"/>
                  <a:sym typeface="Calibri"/>
                </a:rPr>
                <a:t>EBV</a:t>
              </a:r>
              <a:r>
                <a:rPr b="0" i="0" lang="fr-FR" sz="1800" u="none" cap="none" strike="noStrike">
                  <a:solidFill>
                    <a:schemeClr val="dk1"/>
                  </a:solidFill>
                  <a:latin typeface="Calibri"/>
                  <a:ea typeface="Calibri"/>
                  <a:cs typeface="Calibri"/>
                  <a:sym typeface="Calibri"/>
                </a:rPr>
                <a:t>, CMV </a:t>
              </a:r>
              <a:r>
                <a:rPr b="1" i="0" lang="fr-FR" sz="1800" u="none" cap="none" strike="noStrike">
                  <a:solidFill>
                    <a:srgbClr val="FF0000"/>
                  </a:solidFill>
                  <a:latin typeface="Calibri"/>
                  <a:ea typeface="Calibri"/>
                  <a:cs typeface="Calibri"/>
                  <a:sym typeface="Calibri"/>
                </a:rPr>
                <a:t>HIV</a:t>
              </a:r>
              <a:endParaRPr/>
            </a:p>
            <a:p>
              <a:pPr indent="-171450" lvl="1" marL="171450" marR="0" rtl="0" algn="l">
                <a:lnSpc>
                  <a:spcPct val="90000"/>
                </a:lnSpc>
                <a:spcBef>
                  <a:spcPts val="27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Bactéries: </a:t>
              </a:r>
              <a:r>
                <a:rPr b="1" i="0" lang="fr-FR" sz="1800" u="none" cap="none" strike="noStrike">
                  <a:solidFill>
                    <a:schemeClr val="dk1"/>
                  </a:solidFill>
                  <a:latin typeface="Calibri"/>
                  <a:ea typeface="Calibri"/>
                  <a:cs typeface="Calibri"/>
                  <a:sym typeface="Calibri"/>
                </a:rPr>
                <a:t>SßA,</a:t>
              </a:r>
              <a:r>
                <a:rPr b="0" i="0" lang="fr-FR" sz="1800" u="none" cap="none" strike="noStrike">
                  <a:solidFill>
                    <a:schemeClr val="dk1"/>
                  </a:solidFill>
                  <a:latin typeface="Calibri"/>
                  <a:ea typeface="Calibri"/>
                  <a:cs typeface="Calibri"/>
                  <a:sym typeface="Calibri"/>
                </a:rPr>
                <a:t> strepto B, C, F, G; anaérobies, </a:t>
              </a:r>
              <a:r>
                <a:rPr b="1" i="0" lang="fr-FR" sz="1800" u="none" cap="none" strike="noStrike">
                  <a:solidFill>
                    <a:srgbClr val="FF0000"/>
                  </a:solidFill>
                  <a:latin typeface="Calibri"/>
                  <a:ea typeface="Calibri"/>
                  <a:cs typeface="Calibri"/>
                  <a:sym typeface="Calibri"/>
                </a:rPr>
                <a:t>Gonocoque</a:t>
              </a:r>
              <a:r>
                <a:rPr b="1" i="0" lang="fr-FR" sz="1800" u="none" cap="none" strike="noStrike">
                  <a:solidFill>
                    <a:schemeClr val="dk1"/>
                  </a:solidFill>
                  <a:latin typeface="Calibri"/>
                  <a:ea typeface="Calibri"/>
                  <a:cs typeface="Calibri"/>
                  <a:sym typeface="Calibri"/>
                </a:rPr>
                <a:t> </a:t>
              </a:r>
              <a:endParaRPr/>
            </a:p>
          </p:txBody>
        </p:sp>
        <p:sp>
          <p:nvSpPr>
            <p:cNvPr id="461" name="Google Shape;461;p27"/>
            <p:cNvSpPr/>
            <p:nvPr/>
          </p:nvSpPr>
          <p:spPr>
            <a:xfrm>
              <a:off x="0" y="2630"/>
              <a:ext cx="2839212" cy="1265378"/>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7"/>
            <p:cNvSpPr txBox="1"/>
            <p:nvPr/>
          </p:nvSpPr>
          <p:spPr>
            <a:xfrm>
              <a:off x="61771" y="64401"/>
              <a:ext cx="2715670" cy="1141836"/>
            </a:xfrm>
            <a:prstGeom prst="rect">
              <a:avLst/>
            </a:prstGeom>
            <a:noFill/>
            <a:ln>
              <a:noFill/>
            </a:ln>
          </p:spPr>
          <p:txBody>
            <a:bodyPr anchorCtr="0" anchor="ctr" bIns="70475" lIns="140950" spcFirstLastPara="1" rIns="140950" wrap="square" tIns="70475">
              <a:noAutofit/>
            </a:bodyPr>
            <a:lstStyle/>
            <a:p>
              <a:pPr indent="0" lvl="0" marL="0" marR="0" rtl="0" algn="ctr">
                <a:lnSpc>
                  <a:spcPct val="90000"/>
                </a:lnSpc>
                <a:spcBef>
                  <a:spcPts val="0"/>
                </a:spcBef>
                <a:spcAft>
                  <a:spcPts val="0"/>
                </a:spcAft>
                <a:buClr>
                  <a:schemeClr val="lt1"/>
                </a:buClr>
                <a:buSzPts val="3700"/>
                <a:buFont typeface="Calibri"/>
                <a:buNone/>
              </a:pPr>
              <a:r>
                <a:rPr lang="fr-FR" sz="3700">
                  <a:solidFill>
                    <a:schemeClr val="lt1"/>
                  </a:solidFill>
                  <a:latin typeface="Calibri"/>
                  <a:ea typeface="Calibri"/>
                  <a:cs typeface="Calibri"/>
                  <a:sym typeface="Calibri"/>
                </a:rPr>
                <a:t>E ou EP</a:t>
              </a:r>
              <a:endParaRPr/>
            </a:p>
          </p:txBody>
        </p:sp>
        <p:sp>
          <p:nvSpPr>
            <p:cNvPr id="463" name="Google Shape;463;p27"/>
            <p:cNvSpPr/>
            <p:nvPr/>
          </p:nvSpPr>
          <p:spPr>
            <a:xfrm rot="5400000">
              <a:off x="4856804" y="-559776"/>
              <a:ext cx="1012302" cy="5047488"/>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7"/>
            <p:cNvSpPr txBox="1"/>
            <p:nvPr/>
          </p:nvSpPr>
          <p:spPr>
            <a:xfrm>
              <a:off x="2839212" y="1507233"/>
              <a:ext cx="4998071" cy="913468"/>
            </a:xfrm>
            <a:prstGeom prst="rect">
              <a:avLst/>
            </a:prstGeom>
            <a:noFill/>
            <a:ln>
              <a:noFill/>
            </a:ln>
          </p:spPr>
          <p:txBody>
            <a:bodyPr anchorCtr="0" anchor="ctr" bIns="34275" lIns="68575" spcFirstLastPara="1" rIns="68575" wrap="square" tIns="3427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EBV +++</a:t>
              </a:r>
              <a:endParaRPr/>
            </a:p>
            <a:p>
              <a:pPr indent="-171450" lvl="1" marL="171450" marR="0" rtl="0" algn="l">
                <a:lnSpc>
                  <a:spcPct val="90000"/>
                </a:lnSpc>
                <a:spcBef>
                  <a:spcPts val="27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Diphtérie : bactérienne, sj mal vacciné pays d’endémie ‘europe est, voie de développement)</a:t>
              </a:r>
              <a:endParaRPr/>
            </a:p>
          </p:txBody>
        </p:sp>
        <p:sp>
          <p:nvSpPr>
            <p:cNvPr id="465" name="Google Shape;465;p27"/>
            <p:cNvSpPr/>
            <p:nvPr/>
          </p:nvSpPr>
          <p:spPr>
            <a:xfrm>
              <a:off x="0" y="1331278"/>
              <a:ext cx="2839212" cy="1265378"/>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7"/>
            <p:cNvSpPr txBox="1"/>
            <p:nvPr/>
          </p:nvSpPr>
          <p:spPr>
            <a:xfrm>
              <a:off x="61771" y="1393049"/>
              <a:ext cx="2715670" cy="1141836"/>
            </a:xfrm>
            <a:prstGeom prst="rect">
              <a:avLst/>
            </a:prstGeom>
            <a:noFill/>
            <a:ln>
              <a:noFill/>
            </a:ln>
          </p:spPr>
          <p:txBody>
            <a:bodyPr anchorCtr="0" anchor="ctr" bIns="70475" lIns="140950" spcFirstLastPara="1" rIns="140950" wrap="square" tIns="70475">
              <a:noAutofit/>
            </a:bodyPr>
            <a:lstStyle/>
            <a:p>
              <a:pPr indent="0" lvl="0" marL="0" marR="0" rtl="0" algn="ctr">
                <a:lnSpc>
                  <a:spcPct val="90000"/>
                </a:lnSpc>
                <a:spcBef>
                  <a:spcPts val="0"/>
                </a:spcBef>
                <a:spcAft>
                  <a:spcPts val="0"/>
                </a:spcAft>
                <a:buClr>
                  <a:schemeClr val="lt1"/>
                </a:buClr>
                <a:buSzPts val="3700"/>
                <a:buFont typeface="Calibri"/>
                <a:buNone/>
              </a:pPr>
              <a:r>
                <a:rPr lang="fr-FR" sz="3700">
                  <a:solidFill>
                    <a:schemeClr val="lt1"/>
                  </a:solidFill>
                  <a:latin typeface="Calibri"/>
                  <a:ea typeface="Calibri"/>
                  <a:cs typeface="Calibri"/>
                  <a:sym typeface="Calibri"/>
                </a:rPr>
                <a:t>Pseudo Mb</a:t>
              </a:r>
              <a:endParaRPr/>
            </a:p>
          </p:txBody>
        </p:sp>
        <p:sp>
          <p:nvSpPr>
            <p:cNvPr id="467" name="Google Shape;467;p27"/>
            <p:cNvSpPr/>
            <p:nvPr/>
          </p:nvSpPr>
          <p:spPr>
            <a:xfrm rot="5400000">
              <a:off x="4856804" y="768871"/>
              <a:ext cx="1012302" cy="5047488"/>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7"/>
            <p:cNvSpPr txBox="1"/>
            <p:nvPr/>
          </p:nvSpPr>
          <p:spPr>
            <a:xfrm>
              <a:off x="2839212" y="2835881"/>
              <a:ext cx="4998071" cy="913468"/>
            </a:xfrm>
            <a:prstGeom prst="rect">
              <a:avLst/>
            </a:prstGeom>
            <a:noFill/>
            <a:ln>
              <a:noFill/>
            </a:ln>
          </p:spPr>
          <p:txBody>
            <a:bodyPr anchorCtr="0" anchor="ctr" bIns="34275" lIns="68575" spcFirstLastPara="1" rIns="68575" wrap="square" tIns="3427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TOULOURS VIRALES</a:t>
              </a:r>
              <a:endParaRPr/>
            </a:p>
            <a:p>
              <a:pPr indent="-171450" lvl="1" marL="171450" marR="0" rtl="0" algn="l">
                <a:lnSpc>
                  <a:spcPct val="90000"/>
                </a:lnSpc>
                <a:spcBef>
                  <a:spcPts val="27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Entérovirus: echovirus, coxsackie</a:t>
              </a:r>
              <a:endParaRPr b="0" i="0" sz="1800" u="none" cap="none" strike="noStrike">
                <a:solidFill>
                  <a:schemeClr val="dk1"/>
                </a:solidFill>
                <a:latin typeface="Calibri"/>
                <a:ea typeface="Calibri"/>
                <a:cs typeface="Calibri"/>
                <a:sym typeface="Calibri"/>
              </a:endParaRPr>
            </a:p>
            <a:p>
              <a:pPr indent="-171450" lvl="1" marL="171450" marR="0" rtl="0" algn="l">
                <a:lnSpc>
                  <a:spcPct val="90000"/>
                </a:lnSpc>
                <a:spcBef>
                  <a:spcPts val="270"/>
                </a:spcBef>
                <a:spcAft>
                  <a:spcPts val="0"/>
                </a:spcAft>
                <a:buClr>
                  <a:srgbClr val="FF0000"/>
                </a:buClr>
                <a:buSzPts val="1800"/>
                <a:buFont typeface="Calibri"/>
                <a:buChar char="•"/>
              </a:pPr>
              <a:r>
                <a:rPr b="0" i="0" lang="fr-FR" sz="1800" u="none" cap="none" strike="noStrike">
                  <a:solidFill>
                    <a:srgbClr val="FF0000"/>
                  </a:solidFill>
                  <a:latin typeface="Calibri"/>
                  <a:ea typeface="Calibri"/>
                  <a:cs typeface="Calibri"/>
                  <a:sym typeface="Calibri"/>
                </a:rPr>
                <a:t>Herpes simplex virus</a:t>
              </a:r>
              <a:r>
                <a:rPr b="0" i="0" lang="fr-FR" sz="1800" u="none" cap="none" strike="noStrike">
                  <a:solidFill>
                    <a:schemeClr val="dk1"/>
                  </a:solidFill>
                  <a:latin typeface="Calibri"/>
                  <a:ea typeface="Calibri"/>
                  <a:cs typeface="Calibri"/>
                  <a:sym typeface="Calibri"/>
                </a:rPr>
                <a:t>, VZV</a:t>
              </a:r>
              <a:endParaRPr/>
            </a:p>
          </p:txBody>
        </p:sp>
        <p:sp>
          <p:nvSpPr>
            <p:cNvPr id="469" name="Google Shape;469;p27"/>
            <p:cNvSpPr/>
            <p:nvPr/>
          </p:nvSpPr>
          <p:spPr>
            <a:xfrm>
              <a:off x="0" y="2659925"/>
              <a:ext cx="2839212" cy="1265378"/>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7"/>
            <p:cNvSpPr txBox="1"/>
            <p:nvPr/>
          </p:nvSpPr>
          <p:spPr>
            <a:xfrm>
              <a:off x="61771" y="2721696"/>
              <a:ext cx="2715670" cy="1141836"/>
            </a:xfrm>
            <a:prstGeom prst="rect">
              <a:avLst/>
            </a:prstGeom>
            <a:noFill/>
            <a:ln>
              <a:noFill/>
            </a:ln>
          </p:spPr>
          <p:txBody>
            <a:bodyPr anchorCtr="0" anchor="ctr" bIns="70475" lIns="140950" spcFirstLastPara="1" rIns="140950" wrap="square" tIns="70475">
              <a:noAutofit/>
            </a:bodyPr>
            <a:lstStyle/>
            <a:p>
              <a:pPr indent="0" lvl="0" marL="0" marR="0" rtl="0" algn="ctr">
                <a:lnSpc>
                  <a:spcPct val="90000"/>
                </a:lnSpc>
                <a:spcBef>
                  <a:spcPts val="0"/>
                </a:spcBef>
                <a:spcAft>
                  <a:spcPts val="0"/>
                </a:spcAft>
                <a:buClr>
                  <a:schemeClr val="lt1"/>
                </a:buClr>
                <a:buSzPts val="3700"/>
                <a:buFont typeface="Calibri"/>
                <a:buNone/>
              </a:pPr>
              <a:r>
                <a:rPr lang="fr-FR" sz="3700">
                  <a:solidFill>
                    <a:schemeClr val="lt1"/>
                  </a:solidFill>
                  <a:latin typeface="Calibri"/>
                  <a:ea typeface="Calibri"/>
                  <a:cs typeface="Calibri"/>
                  <a:sym typeface="Calibri"/>
                </a:rPr>
                <a:t>Vésiculeuse </a:t>
              </a:r>
              <a:endParaRPr/>
            </a:p>
          </p:txBody>
        </p:sp>
        <p:sp>
          <p:nvSpPr>
            <p:cNvPr id="471" name="Google Shape;471;p27"/>
            <p:cNvSpPr/>
            <p:nvPr/>
          </p:nvSpPr>
          <p:spPr>
            <a:xfrm rot="5400000">
              <a:off x="4856804" y="2097518"/>
              <a:ext cx="1012302" cy="5047488"/>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7"/>
            <p:cNvSpPr txBox="1"/>
            <p:nvPr/>
          </p:nvSpPr>
          <p:spPr>
            <a:xfrm>
              <a:off x="2839212" y="4164528"/>
              <a:ext cx="4998071" cy="913468"/>
            </a:xfrm>
            <a:prstGeom prst="rect">
              <a:avLst/>
            </a:prstGeom>
            <a:noFill/>
            <a:ln>
              <a:noFill/>
            </a:ln>
          </p:spPr>
          <p:txBody>
            <a:bodyPr anchorCtr="0" anchor="ctr" bIns="34275" lIns="68575" spcFirstLastPara="1" rIns="68575" wrap="square" tIns="34275">
              <a:noAutofit/>
            </a:bodyPr>
            <a:lstStyle/>
            <a:p>
              <a:pPr indent="-171450" lvl="1" marL="171450" marR="0" rtl="0" algn="l">
                <a:lnSpc>
                  <a:spcPct val="90000"/>
                </a:lnSpc>
                <a:spcBef>
                  <a:spcPts val="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Fusobacterium necrophorum+Borrelia vincentii</a:t>
              </a:r>
              <a:endParaRPr b="0" i="0" sz="1800" u="none" cap="none" strike="noStrike">
                <a:solidFill>
                  <a:schemeClr val="dk1"/>
                </a:solidFill>
                <a:latin typeface="Calibri"/>
                <a:ea typeface="Calibri"/>
                <a:cs typeface="Calibri"/>
                <a:sym typeface="Calibri"/>
              </a:endParaRPr>
            </a:p>
            <a:p>
              <a:pPr indent="-171450" lvl="1" marL="171450" marR="0" rtl="0" algn="l">
                <a:lnSpc>
                  <a:spcPct val="90000"/>
                </a:lnSpc>
                <a:spcBef>
                  <a:spcPts val="270"/>
                </a:spcBef>
                <a:spcAft>
                  <a:spcPts val="0"/>
                </a:spcAft>
                <a:buClr>
                  <a:schemeClr val="dk1"/>
                </a:buClr>
                <a:buSzPts val="1800"/>
                <a:buFont typeface="Calibri"/>
                <a:buChar char="•"/>
              </a:pPr>
              <a:r>
                <a:rPr b="0" i="0" lang="fr-FR" sz="1800" u="none" cap="none" strike="noStrike">
                  <a:solidFill>
                    <a:schemeClr val="dk1"/>
                  </a:solidFill>
                  <a:latin typeface="Calibri"/>
                  <a:ea typeface="Calibri"/>
                  <a:cs typeface="Calibri"/>
                  <a:sym typeface="Calibri"/>
                </a:rPr>
                <a:t>Treponema pallidum</a:t>
              </a:r>
              <a:r>
                <a:rPr b="1" i="0" lang="fr-FR" sz="1800" u="none" cap="none" strike="noStrike">
                  <a:solidFill>
                    <a:srgbClr val="FF0000"/>
                  </a:solidFill>
                  <a:latin typeface="Calibri"/>
                  <a:ea typeface="Calibri"/>
                  <a:cs typeface="Calibri"/>
                  <a:sym typeface="Calibri"/>
                </a:rPr>
                <a:t>: syphilis </a:t>
              </a:r>
              <a:endParaRPr/>
            </a:p>
          </p:txBody>
        </p:sp>
        <p:sp>
          <p:nvSpPr>
            <p:cNvPr id="473" name="Google Shape;473;p27"/>
            <p:cNvSpPr/>
            <p:nvPr/>
          </p:nvSpPr>
          <p:spPr>
            <a:xfrm>
              <a:off x="0" y="3988573"/>
              <a:ext cx="2839212" cy="1265378"/>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txBox="1"/>
            <p:nvPr/>
          </p:nvSpPr>
          <p:spPr>
            <a:xfrm>
              <a:off x="61771" y="4050344"/>
              <a:ext cx="2715670" cy="1141836"/>
            </a:xfrm>
            <a:prstGeom prst="rect">
              <a:avLst/>
            </a:prstGeom>
            <a:noFill/>
            <a:ln>
              <a:noFill/>
            </a:ln>
          </p:spPr>
          <p:txBody>
            <a:bodyPr anchorCtr="0" anchor="ctr" bIns="70475" lIns="140950" spcFirstLastPara="1" rIns="140950" wrap="square" tIns="70475">
              <a:noAutofit/>
            </a:bodyPr>
            <a:lstStyle/>
            <a:p>
              <a:pPr indent="0" lvl="0" marL="0" marR="0" rtl="0" algn="ctr">
                <a:lnSpc>
                  <a:spcPct val="90000"/>
                </a:lnSpc>
                <a:spcBef>
                  <a:spcPts val="0"/>
                </a:spcBef>
                <a:spcAft>
                  <a:spcPts val="0"/>
                </a:spcAft>
                <a:buClr>
                  <a:schemeClr val="lt1"/>
                </a:buClr>
                <a:buSzPts val="3700"/>
                <a:buFont typeface="Calibri"/>
                <a:buNone/>
              </a:pPr>
              <a:r>
                <a:rPr lang="fr-FR" sz="3700">
                  <a:solidFill>
                    <a:schemeClr val="lt1"/>
                  </a:solidFill>
                  <a:latin typeface="Calibri"/>
                  <a:ea typeface="Calibri"/>
                  <a:cs typeface="Calibri"/>
                  <a:sym typeface="Calibri"/>
                </a:rPr>
                <a:t>U ou UN</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Origine de l’angine </a:t>
            </a:r>
            <a:endParaRPr/>
          </a:p>
        </p:txBody>
      </p:sp>
      <p:grpSp>
        <p:nvGrpSpPr>
          <p:cNvPr id="481" name="Google Shape;481;p28"/>
          <p:cNvGrpSpPr/>
          <p:nvPr/>
        </p:nvGrpSpPr>
        <p:grpSpPr>
          <a:xfrm>
            <a:off x="526942" y="1601724"/>
            <a:ext cx="8090115" cy="4522914"/>
            <a:chOff x="69742" y="1524"/>
            <a:chExt cx="8090115" cy="4522914"/>
          </a:xfrm>
        </p:grpSpPr>
        <p:sp>
          <p:nvSpPr>
            <p:cNvPr id="482" name="Google Shape;482;p28"/>
            <p:cNvSpPr/>
            <p:nvPr/>
          </p:nvSpPr>
          <p:spPr>
            <a:xfrm>
              <a:off x="69742" y="1524"/>
              <a:ext cx="3889095" cy="62385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8"/>
            <p:cNvSpPr txBox="1"/>
            <p:nvPr/>
          </p:nvSpPr>
          <p:spPr>
            <a:xfrm>
              <a:off x="88014" y="19796"/>
              <a:ext cx="3852551" cy="587306"/>
            </a:xfrm>
            <a:prstGeom prst="rect">
              <a:avLst/>
            </a:prstGeom>
            <a:noFill/>
            <a:ln>
              <a:noFill/>
            </a:ln>
          </p:spPr>
          <p:txBody>
            <a:bodyPr anchorCtr="0" anchor="ctr" bIns="44450" lIns="66675" spcFirstLastPara="1" rIns="66675" wrap="square" tIns="44450">
              <a:noAutofit/>
            </a:bodyPr>
            <a:lstStyle/>
            <a:p>
              <a:pPr indent="0" lvl="0" marL="0" marR="0" rtl="0" algn="ctr">
                <a:lnSpc>
                  <a:spcPct val="90000"/>
                </a:lnSpc>
                <a:spcBef>
                  <a:spcPts val="0"/>
                </a:spcBef>
                <a:spcAft>
                  <a:spcPts val="0"/>
                </a:spcAft>
                <a:buClr>
                  <a:schemeClr val="lt1"/>
                </a:buClr>
                <a:buSzPts val="3500"/>
                <a:buFont typeface="Calibri"/>
                <a:buNone/>
              </a:pPr>
              <a:r>
                <a:rPr lang="fr-FR" sz="3500">
                  <a:solidFill>
                    <a:schemeClr val="lt1"/>
                  </a:solidFill>
                  <a:latin typeface="Calibri"/>
                  <a:ea typeface="Calibri"/>
                  <a:cs typeface="Calibri"/>
                  <a:sym typeface="Calibri"/>
                </a:rPr>
                <a:t>Streptococcique </a:t>
              </a:r>
              <a:endParaRPr/>
            </a:p>
          </p:txBody>
        </p:sp>
        <p:sp>
          <p:nvSpPr>
            <p:cNvPr id="484" name="Google Shape;484;p28"/>
            <p:cNvSpPr/>
            <p:nvPr/>
          </p:nvSpPr>
          <p:spPr>
            <a:xfrm>
              <a:off x="458651" y="625374"/>
              <a:ext cx="388909" cy="467887"/>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485" name="Google Shape;485;p28"/>
            <p:cNvSpPr/>
            <p:nvPr/>
          </p:nvSpPr>
          <p:spPr>
            <a:xfrm>
              <a:off x="847561" y="781337"/>
              <a:ext cx="3111276"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8"/>
            <p:cNvSpPr txBox="1"/>
            <p:nvPr/>
          </p:nvSpPr>
          <p:spPr>
            <a:xfrm>
              <a:off x="865833" y="799609"/>
              <a:ext cx="3074732"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Début brutal</a:t>
              </a:r>
              <a:endParaRPr/>
            </a:p>
          </p:txBody>
        </p:sp>
        <p:sp>
          <p:nvSpPr>
            <p:cNvPr id="487" name="Google Shape;487;p28"/>
            <p:cNvSpPr/>
            <p:nvPr/>
          </p:nvSpPr>
          <p:spPr>
            <a:xfrm>
              <a:off x="458651" y="625374"/>
              <a:ext cx="388909" cy="1247700"/>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488" name="Google Shape;488;p28"/>
            <p:cNvSpPr/>
            <p:nvPr/>
          </p:nvSpPr>
          <p:spPr>
            <a:xfrm>
              <a:off x="847561" y="1561149"/>
              <a:ext cx="3111276"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8"/>
            <p:cNvSpPr txBox="1"/>
            <p:nvPr/>
          </p:nvSpPr>
          <p:spPr>
            <a:xfrm>
              <a:off x="865833" y="1579421"/>
              <a:ext cx="3074732"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Fièvre élevée</a:t>
              </a:r>
              <a:endParaRPr/>
            </a:p>
          </p:txBody>
        </p:sp>
        <p:sp>
          <p:nvSpPr>
            <p:cNvPr id="490" name="Google Shape;490;p28"/>
            <p:cNvSpPr/>
            <p:nvPr/>
          </p:nvSpPr>
          <p:spPr>
            <a:xfrm>
              <a:off x="458651" y="625374"/>
              <a:ext cx="388909" cy="2027513"/>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491" name="Google Shape;491;p28"/>
            <p:cNvSpPr/>
            <p:nvPr/>
          </p:nvSpPr>
          <p:spPr>
            <a:xfrm>
              <a:off x="847561" y="2340962"/>
              <a:ext cx="3111276"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8"/>
            <p:cNvSpPr txBox="1"/>
            <p:nvPr/>
          </p:nvSpPr>
          <p:spPr>
            <a:xfrm>
              <a:off x="865833" y="2359234"/>
              <a:ext cx="3074732"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Douleur pharyngée intense </a:t>
              </a:r>
              <a:endParaRPr/>
            </a:p>
          </p:txBody>
        </p:sp>
        <p:sp>
          <p:nvSpPr>
            <p:cNvPr id="493" name="Google Shape;493;p28"/>
            <p:cNvSpPr/>
            <p:nvPr/>
          </p:nvSpPr>
          <p:spPr>
            <a:xfrm>
              <a:off x="458651" y="625374"/>
              <a:ext cx="388909" cy="280732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494" name="Google Shape;494;p28"/>
            <p:cNvSpPr/>
            <p:nvPr/>
          </p:nvSpPr>
          <p:spPr>
            <a:xfrm>
              <a:off x="847561" y="3120775"/>
              <a:ext cx="3111276"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8"/>
            <p:cNvSpPr txBox="1"/>
            <p:nvPr/>
          </p:nvSpPr>
          <p:spPr>
            <a:xfrm>
              <a:off x="865833" y="3139047"/>
              <a:ext cx="3074732"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Absence d’atteinte nasale ou laryngo trachéale</a:t>
              </a:r>
              <a:endParaRPr/>
            </a:p>
          </p:txBody>
        </p:sp>
        <p:sp>
          <p:nvSpPr>
            <p:cNvPr id="496" name="Google Shape;496;p28"/>
            <p:cNvSpPr/>
            <p:nvPr/>
          </p:nvSpPr>
          <p:spPr>
            <a:xfrm>
              <a:off x="458651" y="625374"/>
              <a:ext cx="388909" cy="3587139"/>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497" name="Google Shape;497;p28"/>
            <p:cNvSpPr/>
            <p:nvPr/>
          </p:nvSpPr>
          <p:spPr>
            <a:xfrm>
              <a:off x="847561" y="3900588"/>
              <a:ext cx="3110397"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8"/>
            <p:cNvSpPr txBox="1"/>
            <p:nvPr/>
          </p:nvSpPr>
          <p:spPr>
            <a:xfrm>
              <a:off x="865833" y="3918860"/>
              <a:ext cx="3073853"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ADP limitée sous digastrique</a:t>
              </a:r>
              <a:endParaRPr/>
            </a:p>
          </p:txBody>
        </p:sp>
        <p:sp>
          <p:nvSpPr>
            <p:cNvPr id="499" name="Google Shape;499;p28"/>
            <p:cNvSpPr/>
            <p:nvPr/>
          </p:nvSpPr>
          <p:spPr>
            <a:xfrm>
              <a:off x="4270762" y="1524"/>
              <a:ext cx="3889095" cy="62385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8"/>
            <p:cNvSpPr txBox="1"/>
            <p:nvPr/>
          </p:nvSpPr>
          <p:spPr>
            <a:xfrm>
              <a:off x="4289034" y="19796"/>
              <a:ext cx="3852551" cy="587306"/>
            </a:xfrm>
            <a:prstGeom prst="rect">
              <a:avLst/>
            </a:prstGeom>
            <a:noFill/>
            <a:ln>
              <a:noFill/>
            </a:ln>
          </p:spPr>
          <p:txBody>
            <a:bodyPr anchorCtr="0" anchor="ctr" bIns="44450" lIns="66675" spcFirstLastPara="1" rIns="66675" wrap="square" tIns="44450">
              <a:noAutofit/>
            </a:bodyPr>
            <a:lstStyle/>
            <a:p>
              <a:pPr indent="0" lvl="0" marL="0" marR="0" rtl="0" algn="ctr">
                <a:lnSpc>
                  <a:spcPct val="90000"/>
                </a:lnSpc>
                <a:spcBef>
                  <a:spcPts val="0"/>
                </a:spcBef>
                <a:spcAft>
                  <a:spcPts val="0"/>
                </a:spcAft>
                <a:buClr>
                  <a:schemeClr val="lt1"/>
                </a:buClr>
                <a:buSzPts val="3500"/>
                <a:buFont typeface="Calibri"/>
                <a:buNone/>
              </a:pPr>
              <a:r>
                <a:rPr lang="fr-FR" sz="3500">
                  <a:solidFill>
                    <a:schemeClr val="lt1"/>
                  </a:solidFill>
                  <a:latin typeface="Calibri"/>
                  <a:ea typeface="Calibri"/>
                  <a:cs typeface="Calibri"/>
                  <a:sym typeface="Calibri"/>
                </a:rPr>
                <a:t>Virale </a:t>
              </a:r>
              <a:endParaRPr/>
            </a:p>
          </p:txBody>
        </p:sp>
        <p:sp>
          <p:nvSpPr>
            <p:cNvPr id="501" name="Google Shape;501;p28"/>
            <p:cNvSpPr/>
            <p:nvPr/>
          </p:nvSpPr>
          <p:spPr>
            <a:xfrm>
              <a:off x="4659672" y="625374"/>
              <a:ext cx="388909" cy="467887"/>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02" name="Google Shape;502;p28"/>
            <p:cNvSpPr/>
            <p:nvPr/>
          </p:nvSpPr>
          <p:spPr>
            <a:xfrm>
              <a:off x="5048581" y="781337"/>
              <a:ext cx="3110397"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8"/>
            <p:cNvSpPr txBox="1"/>
            <p:nvPr/>
          </p:nvSpPr>
          <p:spPr>
            <a:xfrm>
              <a:off x="5066853" y="799609"/>
              <a:ext cx="3073853"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t/>
              </a:r>
              <a:endParaRPr sz="1900">
                <a:solidFill>
                  <a:schemeClr val="dk1"/>
                </a:solidFill>
                <a:latin typeface="Calibri"/>
                <a:ea typeface="Calibri"/>
                <a:cs typeface="Calibri"/>
                <a:sym typeface="Calibri"/>
              </a:endParaRPr>
            </a:p>
          </p:txBody>
        </p:sp>
        <p:sp>
          <p:nvSpPr>
            <p:cNvPr id="504" name="Google Shape;504;p28"/>
            <p:cNvSpPr/>
            <p:nvPr/>
          </p:nvSpPr>
          <p:spPr>
            <a:xfrm>
              <a:off x="4659672" y="625374"/>
              <a:ext cx="388909" cy="1247700"/>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05" name="Google Shape;505;p28"/>
            <p:cNvSpPr/>
            <p:nvPr/>
          </p:nvSpPr>
          <p:spPr>
            <a:xfrm>
              <a:off x="5048581" y="1561149"/>
              <a:ext cx="3111276"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8"/>
            <p:cNvSpPr txBox="1"/>
            <p:nvPr/>
          </p:nvSpPr>
          <p:spPr>
            <a:xfrm>
              <a:off x="5066853" y="1579421"/>
              <a:ext cx="3074732"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Fièvre modérée</a:t>
              </a:r>
              <a:endParaRPr/>
            </a:p>
          </p:txBody>
        </p:sp>
        <p:sp>
          <p:nvSpPr>
            <p:cNvPr id="507" name="Google Shape;507;p28"/>
            <p:cNvSpPr/>
            <p:nvPr/>
          </p:nvSpPr>
          <p:spPr>
            <a:xfrm>
              <a:off x="4659672" y="625374"/>
              <a:ext cx="388909" cy="2027513"/>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08" name="Google Shape;508;p28"/>
            <p:cNvSpPr/>
            <p:nvPr/>
          </p:nvSpPr>
          <p:spPr>
            <a:xfrm>
              <a:off x="5048581" y="2340962"/>
              <a:ext cx="3111276"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8"/>
            <p:cNvSpPr txBox="1"/>
            <p:nvPr/>
          </p:nvSpPr>
          <p:spPr>
            <a:xfrm>
              <a:off x="5066853" y="2359234"/>
              <a:ext cx="3074732"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Toux</a:t>
              </a:r>
              <a:endParaRPr/>
            </a:p>
          </p:txBody>
        </p:sp>
        <p:sp>
          <p:nvSpPr>
            <p:cNvPr id="510" name="Google Shape;510;p28"/>
            <p:cNvSpPr/>
            <p:nvPr/>
          </p:nvSpPr>
          <p:spPr>
            <a:xfrm>
              <a:off x="4659672" y="625374"/>
              <a:ext cx="388909" cy="280732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11" name="Google Shape;511;p28"/>
            <p:cNvSpPr/>
            <p:nvPr/>
          </p:nvSpPr>
          <p:spPr>
            <a:xfrm>
              <a:off x="5048581" y="3120775"/>
              <a:ext cx="3110397"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8"/>
            <p:cNvSpPr txBox="1"/>
            <p:nvPr/>
          </p:nvSpPr>
          <p:spPr>
            <a:xfrm>
              <a:off x="5066853" y="3139047"/>
              <a:ext cx="3073853"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Rhinorrhée et obstruction nasale</a:t>
              </a:r>
              <a:endParaRPr/>
            </a:p>
          </p:txBody>
        </p:sp>
        <p:sp>
          <p:nvSpPr>
            <p:cNvPr id="513" name="Google Shape;513;p28"/>
            <p:cNvSpPr/>
            <p:nvPr/>
          </p:nvSpPr>
          <p:spPr>
            <a:xfrm>
              <a:off x="4659672" y="625374"/>
              <a:ext cx="388909" cy="3587139"/>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14" name="Google Shape;514;p28"/>
            <p:cNvSpPr/>
            <p:nvPr/>
          </p:nvSpPr>
          <p:spPr>
            <a:xfrm>
              <a:off x="5048581" y="3900588"/>
              <a:ext cx="3111276" cy="62385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8"/>
            <p:cNvSpPr txBox="1"/>
            <p:nvPr/>
          </p:nvSpPr>
          <p:spPr>
            <a:xfrm>
              <a:off x="5066853" y="3918860"/>
              <a:ext cx="3074732" cy="587306"/>
            </a:xfrm>
            <a:prstGeom prst="rect">
              <a:avLst/>
            </a:prstGeom>
            <a:noFill/>
            <a:ln>
              <a:noFill/>
            </a:ln>
          </p:spPr>
          <p:txBody>
            <a:bodyPr anchorCtr="0" anchor="ctr" bIns="24125" lIns="36175" spcFirstLastPara="1" rIns="36175" wrap="square" tIns="2412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Adénopathies cervicales multiples </a:t>
              </a:r>
              <a:endParaRPr/>
            </a:p>
          </p:txBody>
        </p:sp>
      </p:grpSp>
      <p:cxnSp>
        <p:nvCxnSpPr>
          <p:cNvPr id="516" name="Google Shape;516;p28"/>
          <p:cNvCxnSpPr/>
          <p:nvPr/>
        </p:nvCxnSpPr>
        <p:spPr>
          <a:xfrm flipH="1" rot="10800000">
            <a:off x="4355976" y="3861096"/>
            <a:ext cx="648000" cy="432000"/>
          </a:xfrm>
          <a:prstGeom prst="bentConnector3">
            <a:avLst>
              <a:gd fmla="val 50000" name="adj1"/>
            </a:avLst>
          </a:prstGeom>
          <a:noFill/>
          <a:ln cap="flat" cmpd="sng" w="57150">
            <a:solidFill>
              <a:schemeClr val="accent2"/>
            </a:solidFill>
            <a:prstDash val="dash"/>
            <a:miter lim="800000"/>
            <a:headEnd len="sm" w="sm" type="none"/>
            <a:tailEnd len="med" w="med" type="stealth"/>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Streptocoque </a:t>
            </a:r>
            <a:endParaRPr/>
          </a:p>
        </p:txBody>
      </p:sp>
      <p:grpSp>
        <p:nvGrpSpPr>
          <p:cNvPr id="523" name="Google Shape;523;p29"/>
          <p:cNvGrpSpPr/>
          <p:nvPr/>
        </p:nvGrpSpPr>
        <p:grpSpPr>
          <a:xfrm>
            <a:off x="1142076" y="1602352"/>
            <a:ext cx="6859847" cy="4521658"/>
            <a:chOff x="684876" y="2152"/>
            <a:chExt cx="6859847" cy="4521658"/>
          </a:xfrm>
        </p:grpSpPr>
        <p:sp>
          <p:nvSpPr>
            <p:cNvPr id="524" name="Google Shape;524;p29"/>
            <p:cNvSpPr/>
            <p:nvPr/>
          </p:nvSpPr>
          <p:spPr>
            <a:xfrm>
              <a:off x="684876" y="2152"/>
              <a:ext cx="3106948" cy="1291902"/>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9"/>
            <p:cNvSpPr txBox="1"/>
            <p:nvPr/>
          </p:nvSpPr>
          <p:spPr>
            <a:xfrm>
              <a:off x="722715" y="39991"/>
              <a:ext cx="3031270" cy="1216224"/>
            </a:xfrm>
            <a:prstGeom prst="rect">
              <a:avLst/>
            </a:prstGeom>
            <a:noFill/>
            <a:ln>
              <a:noFill/>
            </a:ln>
          </p:spPr>
          <p:txBody>
            <a:bodyPr anchorCtr="0" anchor="ctr" bIns="40625" lIns="60950" spcFirstLastPara="1" rIns="60950" wrap="square" tIns="40625">
              <a:noAutofit/>
            </a:bodyPr>
            <a:lstStyle/>
            <a:p>
              <a:pPr indent="0" lvl="0" marL="0" marR="0" rtl="0" algn="ctr">
                <a:lnSpc>
                  <a:spcPct val="90000"/>
                </a:lnSpc>
                <a:spcBef>
                  <a:spcPts val="0"/>
                </a:spcBef>
                <a:spcAft>
                  <a:spcPts val="0"/>
                </a:spcAft>
                <a:buClr>
                  <a:schemeClr val="lt1"/>
                </a:buClr>
                <a:buSzPts val="3200"/>
                <a:buFont typeface="Calibri"/>
                <a:buNone/>
              </a:pPr>
              <a:r>
                <a:rPr lang="fr-FR" sz="3200">
                  <a:solidFill>
                    <a:schemeClr val="lt1"/>
                  </a:solidFill>
                  <a:latin typeface="Calibri"/>
                  <a:ea typeface="Calibri"/>
                  <a:cs typeface="Calibri"/>
                  <a:sym typeface="Calibri"/>
                </a:rPr>
                <a:t>ßhémolytique ou pyogènes  </a:t>
              </a:r>
              <a:endParaRPr/>
            </a:p>
          </p:txBody>
        </p:sp>
        <p:sp>
          <p:nvSpPr>
            <p:cNvPr id="526" name="Google Shape;526;p29"/>
            <p:cNvSpPr/>
            <p:nvPr/>
          </p:nvSpPr>
          <p:spPr>
            <a:xfrm>
              <a:off x="995571" y="1294054"/>
              <a:ext cx="310694" cy="96892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27" name="Google Shape;527;p29"/>
            <p:cNvSpPr/>
            <p:nvPr/>
          </p:nvSpPr>
          <p:spPr>
            <a:xfrm>
              <a:off x="1306265" y="1617030"/>
              <a:ext cx="2485558" cy="1291902"/>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9"/>
            <p:cNvSpPr txBox="1"/>
            <p:nvPr/>
          </p:nvSpPr>
          <p:spPr>
            <a:xfrm>
              <a:off x="1344104" y="1654869"/>
              <a:ext cx="2409880" cy="1216224"/>
            </a:xfrm>
            <a:prstGeom prst="rect">
              <a:avLst/>
            </a:prstGeom>
            <a:noFill/>
            <a:ln>
              <a:noFill/>
            </a:ln>
          </p:spPr>
          <p:txBody>
            <a:bodyPr anchorCtr="0" anchor="ctr" bIns="35550" lIns="53325" spcFirstLastPara="1" rIns="53325" wrap="square" tIns="35550">
              <a:noAutofit/>
            </a:bodyPr>
            <a:lstStyle/>
            <a:p>
              <a:pPr indent="0" lvl="0" marL="0" marR="0" rtl="0" algn="ctr">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Groupe A</a:t>
              </a:r>
              <a:endParaRPr/>
            </a:p>
            <a:p>
              <a:pPr indent="0" lvl="0" marL="0" marR="0" rtl="0" algn="ctr">
                <a:lnSpc>
                  <a:spcPct val="90000"/>
                </a:lnSpc>
                <a:spcBef>
                  <a:spcPts val="98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A! sérotype M1</a:t>
              </a:r>
              <a:endParaRPr/>
            </a:p>
          </p:txBody>
        </p:sp>
        <p:sp>
          <p:nvSpPr>
            <p:cNvPr id="529" name="Google Shape;529;p29"/>
            <p:cNvSpPr/>
            <p:nvPr/>
          </p:nvSpPr>
          <p:spPr>
            <a:xfrm>
              <a:off x="995571" y="1294054"/>
              <a:ext cx="310694" cy="2583805"/>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30" name="Google Shape;530;p29"/>
            <p:cNvSpPr/>
            <p:nvPr/>
          </p:nvSpPr>
          <p:spPr>
            <a:xfrm>
              <a:off x="1306265" y="3231908"/>
              <a:ext cx="2485558" cy="1291902"/>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9"/>
            <p:cNvSpPr txBox="1"/>
            <p:nvPr/>
          </p:nvSpPr>
          <p:spPr>
            <a:xfrm>
              <a:off x="1344104" y="3269747"/>
              <a:ext cx="2409880" cy="1216224"/>
            </a:xfrm>
            <a:prstGeom prst="rect">
              <a:avLst/>
            </a:prstGeom>
            <a:noFill/>
            <a:ln>
              <a:noFill/>
            </a:ln>
          </p:spPr>
          <p:txBody>
            <a:bodyPr anchorCtr="0" anchor="ctr" bIns="35550" lIns="53325" spcFirstLastPara="1" rIns="53325" wrap="square" tIns="35550">
              <a:noAutofit/>
            </a:bodyPr>
            <a:lstStyle/>
            <a:p>
              <a:pPr indent="0" lvl="0" marL="0" marR="0" rtl="0" algn="ctr">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Groupe B, C, F, G</a:t>
              </a:r>
              <a:endParaRPr/>
            </a:p>
          </p:txBody>
        </p:sp>
        <p:sp>
          <p:nvSpPr>
            <p:cNvPr id="532" name="Google Shape;532;p29"/>
            <p:cNvSpPr/>
            <p:nvPr/>
          </p:nvSpPr>
          <p:spPr>
            <a:xfrm>
              <a:off x="4437775" y="2152"/>
              <a:ext cx="3106948" cy="1291902"/>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9"/>
            <p:cNvSpPr txBox="1"/>
            <p:nvPr/>
          </p:nvSpPr>
          <p:spPr>
            <a:xfrm>
              <a:off x="4475614" y="39991"/>
              <a:ext cx="3031270" cy="1216224"/>
            </a:xfrm>
            <a:prstGeom prst="rect">
              <a:avLst/>
            </a:prstGeom>
            <a:noFill/>
            <a:ln>
              <a:noFill/>
            </a:ln>
          </p:spPr>
          <p:txBody>
            <a:bodyPr anchorCtr="0" anchor="ctr" bIns="40625" lIns="60950" spcFirstLastPara="1" rIns="60950" wrap="square" tIns="40625">
              <a:noAutofit/>
            </a:bodyPr>
            <a:lstStyle/>
            <a:p>
              <a:pPr indent="0" lvl="0" marL="0" marR="0" rtl="0" algn="ctr">
                <a:lnSpc>
                  <a:spcPct val="90000"/>
                </a:lnSpc>
                <a:spcBef>
                  <a:spcPts val="0"/>
                </a:spcBef>
                <a:spcAft>
                  <a:spcPts val="0"/>
                </a:spcAft>
                <a:buClr>
                  <a:schemeClr val="lt1"/>
                </a:buClr>
                <a:buSzPts val="3200"/>
                <a:buFont typeface="Calibri"/>
                <a:buNone/>
              </a:pPr>
              <a:r>
                <a:rPr lang="fr-FR" sz="3200">
                  <a:solidFill>
                    <a:schemeClr val="lt1"/>
                  </a:solidFill>
                  <a:latin typeface="Calibri"/>
                  <a:ea typeface="Calibri"/>
                  <a:cs typeface="Calibri"/>
                  <a:sym typeface="Calibri"/>
                </a:rPr>
                <a:t>αhémolytique ou non hémolytique  </a:t>
              </a:r>
              <a:endParaRPr/>
            </a:p>
          </p:txBody>
        </p:sp>
        <p:sp>
          <p:nvSpPr>
            <p:cNvPr id="534" name="Google Shape;534;p29"/>
            <p:cNvSpPr/>
            <p:nvPr/>
          </p:nvSpPr>
          <p:spPr>
            <a:xfrm>
              <a:off x="4748470" y="1294054"/>
              <a:ext cx="310694" cy="96892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35" name="Google Shape;535;p29"/>
            <p:cNvSpPr/>
            <p:nvPr/>
          </p:nvSpPr>
          <p:spPr>
            <a:xfrm>
              <a:off x="5059165" y="1617030"/>
              <a:ext cx="2485558" cy="1291902"/>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9"/>
            <p:cNvSpPr txBox="1"/>
            <p:nvPr/>
          </p:nvSpPr>
          <p:spPr>
            <a:xfrm>
              <a:off x="5097004" y="1654869"/>
              <a:ext cx="2409880" cy="1216224"/>
            </a:xfrm>
            <a:prstGeom prst="rect">
              <a:avLst/>
            </a:prstGeom>
            <a:noFill/>
            <a:ln>
              <a:noFill/>
            </a:ln>
          </p:spPr>
          <p:txBody>
            <a:bodyPr anchorCtr="0" anchor="ctr" bIns="35550" lIns="53325" spcFirstLastPara="1" rIns="53325" wrap="square" tIns="35550">
              <a:noAutofit/>
            </a:bodyPr>
            <a:lstStyle/>
            <a:p>
              <a:pPr indent="0" lvl="0" marL="0" marR="0" rtl="0" algn="ctr">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Groupe D, H</a:t>
              </a:r>
              <a:endParaRPr/>
            </a:p>
          </p:txBody>
        </p:sp>
        <p:sp>
          <p:nvSpPr>
            <p:cNvPr id="537" name="Google Shape;537;p29"/>
            <p:cNvSpPr/>
            <p:nvPr/>
          </p:nvSpPr>
          <p:spPr>
            <a:xfrm>
              <a:off x="4748470" y="1294054"/>
              <a:ext cx="310694" cy="2583805"/>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538" name="Google Shape;538;p29"/>
            <p:cNvSpPr/>
            <p:nvPr/>
          </p:nvSpPr>
          <p:spPr>
            <a:xfrm>
              <a:off x="5059165" y="3231908"/>
              <a:ext cx="2485558" cy="1291902"/>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9"/>
            <p:cNvSpPr txBox="1"/>
            <p:nvPr/>
          </p:nvSpPr>
          <p:spPr>
            <a:xfrm>
              <a:off x="5097004" y="3269747"/>
              <a:ext cx="2409880" cy="1216224"/>
            </a:xfrm>
            <a:prstGeom prst="rect">
              <a:avLst/>
            </a:prstGeom>
            <a:noFill/>
            <a:ln>
              <a:noFill/>
            </a:ln>
          </p:spPr>
          <p:txBody>
            <a:bodyPr anchorCtr="0" anchor="ctr" bIns="35550" lIns="53325" spcFirstLastPara="1" rIns="53325" wrap="square" tIns="35550">
              <a:noAutofit/>
            </a:bodyPr>
            <a:lstStyle/>
            <a:p>
              <a:pPr indent="0" lvl="0" marL="0" marR="0" rtl="0" algn="ctr">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Non groupable E, H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4" name="Shape 544"/>
        <p:cNvGrpSpPr/>
        <p:nvPr/>
      </p:nvGrpSpPr>
      <p:grpSpPr>
        <a:xfrm>
          <a:off x="0" y="0"/>
          <a:ext cx="0" cy="0"/>
          <a:chOff x="0" y="0"/>
          <a:chExt cx="0" cy="0"/>
        </a:xfrm>
      </p:grpSpPr>
      <p:sp>
        <p:nvSpPr>
          <p:cNvPr id="545" name="Google Shape;545;p30"/>
          <p:cNvSpPr/>
          <p:nvPr/>
        </p:nvSpPr>
        <p:spPr>
          <a:xfrm>
            <a:off x="0" y="0"/>
            <a:ext cx="9141713"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6" name="Google Shape;546;p30"/>
          <p:cNvSpPr txBox="1"/>
          <p:nvPr>
            <p:ph type="title"/>
          </p:nvPr>
        </p:nvSpPr>
        <p:spPr>
          <a:xfrm>
            <a:off x="628650" y="556337"/>
            <a:ext cx="5098053" cy="16514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500"/>
              <a:buFont typeface="Calibri"/>
              <a:buNone/>
            </a:pPr>
            <a:r>
              <a:rPr lang="fr-FR" sz="3500"/>
              <a:t>Scarlatine </a:t>
            </a:r>
            <a:endParaRPr/>
          </a:p>
        </p:txBody>
      </p:sp>
      <p:sp>
        <p:nvSpPr>
          <p:cNvPr id="547" name="Google Shape;547;p30"/>
          <p:cNvSpPr txBox="1"/>
          <p:nvPr>
            <p:ph idx="1" type="body"/>
          </p:nvPr>
        </p:nvSpPr>
        <p:spPr>
          <a:xfrm>
            <a:off x="628650" y="1844824"/>
            <a:ext cx="5369517" cy="4275890"/>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fr-FR"/>
              <a:t>Due à une toxine érythrogène </a:t>
            </a:r>
            <a:r>
              <a:rPr lang="fr-FR">
                <a:solidFill>
                  <a:srgbClr val="C00000"/>
                </a:solidFill>
              </a:rPr>
              <a:t>Strepto groupe A</a:t>
            </a:r>
            <a:endParaRPr/>
          </a:p>
          <a:p>
            <a:pPr indent="-228600" lvl="0" marL="228600" rtl="0" algn="l">
              <a:lnSpc>
                <a:spcPct val="90000"/>
              </a:lnSpc>
              <a:spcBef>
                <a:spcPts val="1000"/>
              </a:spcBef>
              <a:spcAft>
                <a:spcPts val="0"/>
              </a:spcAft>
              <a:buClr>
                <a:schemeClr val="dk1"/>
              </a:buClr>
              <a:buSzPct val="100000"/>
              <a:buChar char="•"/>
            </a:pPr>
            <a:r>
              <a:rPr lang="fr-FR"/>
              <a:t>Incubation 3-5j</a:t>
            </a:r>
            <a:endParaRPr/>
          </a:p>
          <a:p>
            <a:pPr indent="-228600" lvl="0" marL="228600" rtl="0" algn="l">
              <a:lnSpc>
                <a:spcPct val="90000"/>
              </a:lnSpc>
              <a:spcBef>
                <a:spcPts val="1000"/>
              </a:spcBef>
              <a:spcAft>
                <a:spcPts val="0"/>
              </a:spcAft>
              <a:buClr>
                <a:schemeClr val="dk1"/>
              </a:buClr>
              <a:buSzPct val="100000"/>
              <a:buChar char="•"/>
            </a:pPr>
            <a:r>
              <a:rPr lang="fr-FR"/>
              <a:t>Angine rouge, céphalées, vomissements et fièvre 39-40°</a:t>
            </a:r>
            <a:endParaRPr/>
          </a:p>
          <a:p>
            <a:pPr indent="-228600" lvl="0" marL="228600" rtl="0" algn="l">
              <a:lnSpc>
                <a:spcPct val="90000"/>
              </a:lnSpc>
              <a:spcBef>
                <a:spcPts val="1000"/>
              </a:spcBef>
              <a:spcAft>
                <a:spcPts val="0"/>
              </a:spcAft>
              <a:buClr>
                <a:schemeClr val="dk1"/>
              </a:buClr>
              <a:buSzPct val="100000"/>
              <a:buChar char="•"/>
            </a:pPr>
            <a:r>
              <a:rPr lang="fr-FR"/>
              <a:t>Énanthème</a:t>
            </a:r>
            <a:r>
              <a:rPr lang="fr-FR">
                <a:solidFill>
                  <a:srgbClr val="C00000"/>
                </a:solidFill>
              </a:rPr>
              <a:t>: </a:t>
            </a:r>
            <a:r>
              <a:rPr b="1" lang="fr-FR">
                <a:solidFill>
                  <a:srgbClr val="C00000"/>
                </a:solidFill>
              </a:rPr>
              <a:t>constant</a:t>
            </a:r>
            <a:r>
              <a:rPr lang="fr-FR"/>
              <a:t>, permet le dg</a:t>
            </a:r>
            <a:endParaRPr/>
          </a:p>
          <a:p>
            <a:pPr indent="-228600" lvl="0" marL="228600" rtl="0" algn="l">
              <a:lnSpc>
                <a:spcPct val="90000"/>
              </a:lnSpc>
              <a:spcBef>
                <a:spcPts val="1000"/>
              </a:spcBef>
              <a:spcAft>
                <a:spcPts val="0"/>
              </a:spcAft>
              <a:buClr>
                <a:schemeClr val="dk1"/>
              </a:buClr>
              <a:buSzPct val="100000"/>
              <a:buChar char="•"/>
            </a:pPr>
            <a:r>
              <a:rPr lang="fr-FR"/>
              <a:t>Langue desquame de la périphérie                        vers le centre → V scarlatin</a:t>
            </a:r>
            <a:endParaRPr/>
          </a:p>
          <a:p>
            <a:pPr indent="-228600" lvl="0" marL="228600" rtl="0" algn="l">
              <a:lnSpc>
                <a:spcPct val="90000"/>
              </a:lnSpc>
              <a:spcBef>
                <a:spcPts val="1000"/>
              </a:spcBef>
              <a:spcAft>
                <a:spcPts val="0"/>
              </a:spcAft>
              <a:buClr>
                <a:schemeClr val="dk1"/>
              </a:buClr>
              <a:buSzPct val="155555"/>
              <a:buChar char="•"/>
            </a:pPr>
            <a:r>
              <a:rPr lang="fr-FR"/>
              <a:t>Rouge uniforme: 6</a:t>
            </a:r>
            <a:r>
              <a:rPr baseline="30000" lang="fr-FR"/>
              <a:t>ème</a:t>
            </a:r>
            <a:r>
              <a:rPr lang="fr-FR"/>
              <a:t> jour</a:t>
            </a:r>
            <a:endParaRPr sz="1800"/>
          </a:p>
        </p:txBody>
      </p:sp>
      <p:pic>
        <p:nvPicPr>
          <p:cNvPr id="548" name="Google Shape;548;p30"/>
          <p:cNvPicPr preferRelativeResize="0"/>
          <p:nvPr/>
        </p:nvPicPr>
        <p:blipFill rotWithShape="1">
          <a:blip r:embed="rId3">
            <a:alphaModFix/>
          </a:blip>
          <a:srcRect b="0" l="0" r="0" t="0"/>
          <a:stretch/>
        </p:blipFill>
        <p:spPr>
          <a:xfrm>
            <a:off x="6205502" y="168168"/>
            <a:ext cx="2582047" cy="3168155"/>
          </a:xfrm>
          <a:prstGeom prst="rect">
            <a:avLst/>
          </a:prstGeom>
          <a:noFill/>
          <a:ln>
            <a:noFill/>
          </a:ln>
        </p:spPr>
      </p:pic>
      <p:pic>
        <p:nvPicPr>
          <p:cNvPr id="549" name="Google Shape;549;p30"/>
          <p:cNvPicPr preferRelativeResize="0"/>
          <p:nvPr/>
        </p:nvPicPr>
        <p:blipFill rotWithShape="1">
          <a:blip r:embed="rId4">
            <a:alphaModFix/>
          </a:blip>
          <a:srcRect b="0" l="0" r="0" t="0"/>
          <a:stretch/>
        </p:blipFill>
        <p:spPr>
          <a:xfrm>
            <a:off x="5998167" y="3901574"/>
            <a:ext cx="2996717" cy="2019765"/>
          </a:xfrm>
          <a:prstGeom prst="rect">
            <a:avLst/>
          </a:prstGeom>
          <a:noFill/>
          <a:ln>
            <a:noFill/>
          </a:ln>
        </p:spPr>
      </p:pic>
      <p:sp>
        <p:nvSpPr>
          <p:cNvPr descr="LA SCARLATINE on voit dans les... - Pédiatre oran Kari karim ..." id="550" name="Google Shape;550;p3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Scarlatine </a:t>
            </a:r>
            <a:endParaRPr/>
          </a:p>
        </p:txBody>
      </p:sp>
      <p:sp>
        <p:nvSpPr>
          <p:cNvPr id="557" name="Google Shape;557;p31"/>
          <p:cNvSpPr txBox="1"/>
          <p:nvPr>
            <p:ph idx="1" type="body"/>
          </p:nvPr>
        </p:nvSpPr>
        <p:spPr>
          <a:xfrm>
            <a:off x="457200" y="1600200"/>
            <a:ext cx="5842992" cy="452596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fr-FR" sz="3200"/>
              <a:t>Exanthème: </a:t>
            </a:r>
            <a:endParaRPr/>
          </a:p>
          <a:p>
            <a:pPr indent="-228600" lvl="1" marL="685800" rtl="0" algn="l">
              <a:lnSpc>
                <a:spcPct val="90000"/>
              </a:lnSpc>
              <a:spcBef>
                <a:spcPts val="500"/>
              </a:spcBef>
              <a:spcAft>
                <a:spcPts val="0"/>
              </a:spcAft>
              <a:buClr>
                <a:schemeClr val="dk1"/>
              </a:buClr>
              <a:buSzPct val="100000"/>
              <a:buChar char="•"/>
            </a:pPr>
            <a:r>
              <a:rPr b="1" lang="fr-FR" sz="2800"/>
              <a:t>Non spécifique </a:t>
            </a:r>
            <a:r>
              <a:rPr lang="fr-FR" sz="2800"/>
              <a:t>de la scarlatine </a:t>
            </a:r>
            <a:endParaRPr/>
          </a:p>
          <a:p>
            <a:pPr indent="-228600" lvl="1" marL="685800" rtl="0" algn="l">
              <a:lnSpc>
                <a:spcPct val="90000"/>
              </a:lnSpc>
              <a:spcBef>
                <a:spcPts val="500"/>
              </a:spcBef>
              <a:spcAft>
                <a:spcPts val="0"/>
              </a:spcAft>
              <a:buClr>
                <a:schemeClr val="dk1"/>
              </a:buClr>
              <a:buSzPct val="100000"/>
              <a:buChar char="•"/>
            </a:pPr>
            <a:r>
              <a:rPr lang="fr-FR" sz="2800"/>
              <a:t>Apparition secondaire </a:t>
            </a:r>
            <a:r>
              <a:rPr b="1" lang="fr-FR" sz="2800"/>
              <a:t>après énanthème</a:t>
            </a:r>
            <a:endParaRPr/>
          </a:p>
          <a:p>
            <a:pPr indent="-228600" lvl="1" marL="685800" rtl="0" algn="l">
              <a:lnSpc>
                <a:spcPct val="90000"/>
              </a:lnSpc>
              <a:spcBef>
                <a:spcPts val="500"/>
              </a:spcBef>
              <a:spcAft>
                <a:spcPts val="0"/>
              </a:spcAft>
              <a:buClr>
                <a:schemeClr val="dk1"/>
              </a:buClr>
              <a:buSzPct val="100000"/>
              <a:buChar char="•"/>
            </a:pPr>
            <a:r>
              <a:rPr lang="fr-FR" sz="2800"/>
              <a:t>Début: sur le thorax et racine des membres</a:t>
            </a:r>
            <a:endParaRPr/>
          </a:p>
          <a:p>
            <a:pPr indent="-228600" lvl="1" marL="685800" rtl="0" algn="l">
              <a:lnSpc>
                <a:spcPct val="90000"/>
              </a:lnSpc>
              <a:spcBef>
                <a:spcPts val="500"/>
              </a:spcBef>
              <a:spcAft>
                <a:spcPts val="0"/>
              </a:spcAft>
              <a:buClr>
                <a:schemeClr val="dk1"/>
              </a:buClr>
              <a:buSzPct val="100000"/>
              <a:buChar char="•"/>
            </a:pPr>
            <a:r>
              <a:rPr lang="fr-FR" sz="2800"/>
              <a:t>S’étend en 1 à 2 jours sur tout le tronc</a:t>
            </a:r>
            <a:endParaRPr/>
          </a:p>
          <a:p>
            <a:pPr indent="-228600" lvl="1" marL="685800" rtl="0" algn="l">
              <a:lnSpc>
                <a:spcPct val="90000"/>
              </a:lnSpc>
              <a:spcBef>
                <a:spcPts val="500"/>
              </a:spcBef>
              <a:spcAft>
                <a:spcPts val="0"/>
              </a:spcAft>
              <a:buClr>
                <a:schemeClr val="dk1"/>
              </a:buClr>
              <a:buSzPct val="100000"/>
              <a:buChar char="•"/>
            </a:pPr>
            <a:r>
              <a:rPr lang="fr-FR" sz="2800"/>
              <a:t>Respecte les paumes , plantes et péribuccale</a:t>
            </a:r>
            <a:endParaRPr/>
          </a:p>
          <a:p>
            <a:pPr indent="-228600" lvl="1" marL="685800" rtl="0" algn="l">
              <a:lnSpc>
                <a:spcPct val="90000"/>
              </a:lnSpc>
              <a:spcBef>
                <a:spcPts val="500"/>
              </a:spcBef>
              <a:spcAft>
                <a:spcPts val="0"/>
              </a:spcAft>
              <a:buClr>
                <a:schemeClr val="dk1"/>
              </a:buClr>
              <a:buSzPct val="100000"/>
              <a:buChar char="•"/>
            </a:pPr>
            <a:r>
              <a:rPr lang="fr-FR" sz="2800"/>
              <a:t>Prédominance </a:t>
            </a:r>
            <a:r>
              <a:rPr b="1" lang="fr-FR" sz="2800"/>
              <a:t>aux plis de flexion </a:t>
            </a:r>
            <a:endParaRPr/>
          </a:p>
          <a:p>
            <a:pPr indent="-228600" lvl="1" marL="685800" rtl="0" algn="l">
              <a:lnSpc>
                <a:spcPct val="90000"/>
              </a:lnSpc>
              <a:spcBef>
                <a:spcPts val="500"/>
              </a:spcBef>
              <a:spcAft>
                <a:spcPts val="0"/>
              </a:spcAft>
              <a:buClr>
                <a:schemeClr val="dk1"/>
              </a:buClr>
              <a:buSzPct val="100000"/>
              <a:buChar char="•"/>
            </a:pPr>
            <a:r>
              <a:rPr lang="fr-FR" sz="2800"/>
              <a:t>Erythème diffus , en nappe, sans intervalle de peau saine </a:t>
            </a:r>
            <a:endParaRPr/>
          </a:p>
          <a:p>
            <a:pPr indent="-228600" lvl="1" marL="685800" rtl="0" algn="l">
              <a:lnSpc>
                <a:spcPct val="90000"/>
              </a:lnSpc>
              <a:spcBef>
                <a:spcPts val="500"/>
              </a:spcBef>
              <a:spcAft>
                <a:spcPts val="0"/>
              </a:spcAft>
              <a:buClr>
                <a:schemeClr val="dk1"/>
              </a:buClr>
              <a:buSzPct val="100000"/>
              <a:buChar char="•"/>
            </a:pPr>
            <a:r>
              <a:rPr lang="fr-FR" sz="2800"/>
              <a:t>Fin piqueté rouge ; s’efface à la pression </a:t>
            </a:r>
            <a:endParaRPr/>
          </a:p>
          <a:p>
            <a:pPr indent="-228600" lvl="1" marL="685800" rtl="0" algn="l">
              <a:lnSpc>
                <a:spcPct val="90000"/>
              </a:lnSpc>
              <a:spcBef>
                <a:spcPts val="500"/>
              </a:spcBef>
              <a:spcAft>
                <a:spcPts val="0"/>
              </a:spcAft>
              <a:buClr>
                <a:schemeClr val="dk1"/>
              </a:buClr>
              <a:buSzPct val="100000"/>
              <a:buChar char="•"/>
            </a:pPr>
            <a:r>
              <a:rPr lang="fr-FR" sz="2800"/>
              <a:t>Peut être prurigineux </a:t>
            </a:r>
            <a:endParaRPr/>
          </a:p>
        </p:txBody>
      </p:sp>
      <p:sp>
        <p:nvSpPr>
          <p:cNvPr descr="LA SCARLATINE on voit dans les... - Pédiatre oran Kari karim ..." id="558" name="Google Shape;558;p3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Exanthème fébrile chez l'adulte - Revue Médicale Suisse" id="559" name="Google Shape;559;p31"/>
          <p:cNvPicPr preferRelativeResize="0"/>
          <p:nvPr/>
        </p:nvPicPr>
        <p:blipFill rotWithShape="1">
          <a:blip r:embed="rId3">
            <a:alphaModFix/>
          </a:blip>
          <a:srcRect b="0" l="0" r="0" t="0"/>
          <a:stretch/>
        </p:blipFill>
        <p:spPr>
          <a:xfrm>
            <a:off x="6738508" y="332656"/>
            <a:ext cx="1819519" cy="2230710"/>
          </a:xfrm>
          <a:prstGeom prst="rect">
            <a:avLst/>
          </a:prstGeom>
          <a:noFill/>
          <a:ln>
            <a:noFill/>
          </a:ln>
        </p:spPr>
      </p:pic>
      <p:pic>
        <p:nvPicPr>
          <p:cNvPr descr="La scarlatine" id="560" name="Google Shape;560;p31"/>
          <p:cNvPicPr preferRelativeResize="0"/>
          <p:nvPr/>
        </p:nvPicPr>
        <p:blipFill rotWithShape="1">
          <a:blip r:embed="rId4">
            <a:alphaModFix/>
          </a:blip>
          <a:srcRect b="0" l="0" r="0" t="0"/>
          <a:stretch/>
        </p:blipFill>
        <p:spPr>
          <a:xfrm>
            <a:off x="6738508" y="2779390"/>
            <a:ext cx="1819519" cy="1846017"/>
          </a:xfrm>
          <a:prstGeom prst="rect">
            <a:avLst/>
          </a:prstGeom>
          <a:noFill/>
          <a:ln>
            <a:noFill/>
          </a:ln>
        </p:spPr>
      </p:pic>
      <p:sp>
        <p:nvSpPr>
          <p:cNvPr descr="Eruptions fébriles..." id="561" name="Google Shape;561;p31"/>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62" name="Google Shape;562;p31"/>
          <p:cNvPicPr preferRelativeResize="0"/>
          <p:nvPr/>
        </p:nvPicPr>
        <p:blipFill rotWithShape="1">
          <a:blip r:embed="rId5">
            <a:alphaModFix/>
          </a:blip>
          <a:srcRect b="0" l="0" r="0" t="0"/>
          <a:stretch/>
        </p:blipFill>
        <p:spPr>
          <a:xfrm>
            <a:off x="6794011" y="4795614"/>
            <a:ext cx="1708512" cy="146847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14</a:t>
            </a:r>
            <a:endParaRPr/>
          </a:p>
        </p:txBody>
      </p:sp>
      <p:sp>
        <p:nvSpPr>
          <p:cNvPr id="569" name="Google Shape;569;p3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14. Les examens complémentaires au cours de l’angine sont obligatoires:</a:t>
            </a:r>
            <a:endParaRPr/>
          </a:p>
          <a:p>
            <a:pPr indent="-514350" lvl="0" marL="996950" rtl="0" algn="l">
              <a:lnSpc>
                <a:spcPct val="90000"/>
              </a:lnSpc>
              <a:spcBef>
                <a:spcPts val="1000"/>
              </a:spcBef>
              <a:spcAft>
                <a:spcPts val="0"/>
              </a:spcAft>
              <a:buClr>
                <a:schemeClr val="dk1"/>
              </a:buClr>
              <a:buSzPts val="2800"/>
              <a:buFont typeface="Calibri"/>
              <a:buAutoNum type="alphaUcPeriod"/>
            </a:pPr>
            <a:r>
              <a:rPr lang="fr-FR"/>
              <a:t>Chez l’enfant </a:t>
            </a:r>
            <a:endParaRPr/>
          </a:p>
          <a:p>
            <a:pPr indent="-514350" lvl="0" marL="996950" rtl="0" algn="l">
              <a:lnSpc>
                <a:spcPct val="90000"/>
              </a:lnSpc>
              <a:spcBef>
                <a:spcPts val="1000"/>
              </a:spcBef>
              <a:spcAft>
                <a:spcPts val="0"/>
              </a:spcAft>
              <a:buClr>
                <a:schemeClr val="dk1"/>
              </a:buClr>
              <a:buSzPts val="2800"/>
              <a:buFont typeface="Calibri"/>
              <a:buAutoNum type="alphaUcPeriod"/>
            </a:pPr>
            <a:r>
              <a:rPr lang="fr-FR"/>
              <a:t>Pour la forme pseudomembraneuse</a:t>
            </a:r>
            <a:endParaRPr/>
          </a:p>
          <a:p>
            <a:pPr indent="-514350" lvl="0" marL="996950" rtl="0" algn="l">
              <a:lnSpc>
                <a:spcPct val="90000"/>
              </a:lnSpc>
              <a:spcBef>
                <a:spcPts val="1000"/>
              </a:spcBef>
              <a:spcAft>
                <a:spcPts val="0"/>
              </a:spcAft>
              <a:buClr>
                <a:schemeClr val="dk1"/>
              </a:buClr>
              <a:buSzPts val="2800"/>
              <a:buFont typeface="Calibri"/>
              <a:buAutoNum type="alphaUcPeriod"/>
            </a:pPr>
            <a:r>
              <a:rPr lang="fr-FR"/>
              <a:t>Pour les formes hyperalgiques</a:t>
            </a:r>
            <a:endParaRPr/>
          </a:p>
          <a:p>
            <a:pPr indent="-514350" lvl="0" marL="996950" rtl="0" algn="l">
              <a:lnSpc>
                <a:spcPct val="90000"/>
              </a:lnSpc>
              <a:spcBef>
                <a:spcPts val="1000"/>
              </a:spcBef>
              <a:spcAft>
                <a:spcPts val="0"/>
              </a:spcAft>
              <a:buClr>
                <a:schemeClr val="dk1"/>
              </a:buClr>
              <a:buSzPts val="2800"/>
              <a:buFont typeface="Calibri"/>
              <a:buAutoNum type="alphaUcPeriod"/>
            </a:pPr>
            <a:r>
              <a:rPr lang="fr-FR"/>
              <a:t>En cas d’érythème prurigineux</a:t>
            </a:r>
            <a:endParaRPr/>
          </a:p>
          <a:p>
            <a:pPr indent="-514350" lvl="0" marL="996950" rtl="0" algn="l">
              <a:lnSpc>
                <a:spcPct val="90000"/>
              </a:lnSpc>
              <a:spcBef>
                <a:spcPts val="1000"/>
              </a:spcBef>
              <a:spcAft>
                <a:spcPts val="0"/>
              </a:spcAft>
              <a:buClr>
                <a:schemeClr val="dk1"/>
              </a:buClr>
              <a:buSzPts val="2800"/>
              <a:buFont typeface="Calibri"/>
              <a:buAutoNum type="alphaUcPeriod"/>
            </a:pPr>
            <a:r>
              <a:rPr lang="fr-FR"/>
              <a:t>En cas d’association à une gingivite hypertrophique</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336550" lvl="0" marL="514350" rtl="0" algn="r">
              <a:lnSpc>
                <a:spcPct val="90000"/>
              </a:lnSpc>
              <a:spcBef>
                <a:spcPts val="1000"/>
              </a:spcBef>
              <a:spcAft>
                <a:spcPts val="0"/>
              </a:spcAft>
              <a:buClr>
                <a:schemeClr val="dk1"/>
              </a:buClr>
              <a:buSzPts val="2800"/>
              <a:buFont typeface="Calibri"/>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570" name="Google Shape;570;p32"/>
          <p:cNvSpPr/>
          <p:nvPr/>
        </p:nvSpPr>
        <p:spPr>
          <a:xfrm>
            <a:off x="5220072" y="548680"/>
            <a:ext cx="3016184"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C00000"/>
              </a:buClr>
              <a:buSzPct val="100000"/>
              <a:buFont typeface="Calibri"/>
              <a:buNone/>
            </a:pPr>
            <a:r>
              <a:rPr lang="fr-FR"/>
              <a:t>Examens complémentaires au cours de l’angine pour le diagnostic: </a:t>
            </a:r>
            <a:endParaRPr/>
          </a:p>
        </p:txBody>
      </p:sp>
      <p:grpSp>
        <p:nvGrpSpPr>
          <p:cNvPr id="577" name="Google Shape;577;p33"/>
          <p:cNvGrpSpPr/>
          <p:nvPr/>
        </p:nvGrpSpPr>
        <p:grpSpPr>
          <a:xfrm>
            <a:off x="628650" y="1827749"/>
            <a:ext cx="7886700" cy="4347088"/>
            <a:chOff x="0" y="2124"/>
            <a:chExt cx="7886700" cy="4347088"/>
          </a:xfrm>
        </p:grpSpPr>
        <p:sp>
          <p:nvSpPr>
            <p:cNvPr id="578" name="Google Shape;578;p33"/>
            <p:cNvSpPr/>
            <p:nvPr/>
          </p:nvSpPr>
          <p:spPr>
            <a:xfrm rot="5400000">
              <a:off x="4802041" y="-1820475"/>
              <a:ext cx="1121829" cy="5047488"/>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3"/>
            <p:cNvSpPr txBox="1"/>
            <p:nvPr/>
          </p:nvSpPr>
          <p:spPr>
            <a:xfrm>
              <a:off x="2839212" y="197117"/>
              <a:ext cx="4992725" cy="1012303"/>
            </a:xfrm>
            <a:prstGeom prst="rect">
              <a:avLst/>
            </a:prstGeom>
            <a:noFill/>
            <a:ln>
              <a:noFill/>
            </a:ln>
          </p:spPr>
          <p:txBody>
            <a:bodyPr anchorCtr="0" anchor="ctr" bIns="32375" lIns="64750" spcFirstLastPara="1" rIns="64750" wrap="square" tIns="323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fr-FR" sz="1700" u="none" cap="none" strike="noStrike">
                  <a:solidFill>
                    <a:schemeClr val="dk1"/>
                  </a:solidFill>
                  <a:latin typeface="Calibri"/>
                  <a:ea typeface="Calibri"/>
                  <a:cs typeface="Calibri"/>
                  <a:sym typeface="Calibri"/>
                </a:rPr>
                <a:t>TDR: enfant ≥3 ans, adulte avec score Mac Isaac ≥2</a:t>
              </a:r>
              <a:endParaRPr/>
            </a:p>
            <a:p>
              <a:pPr indent="-171450" lvl="1" marL="171450" marR="0" rtl="0" algn="l">
                <a:lnSpc>
                  <a:spcPct val="90000"/>
                </a:lnSpc>
                <a:spcBef>
                  <a:spcPts val="255"/>
                </a:spcBef>
                <a:spcAft>
                  <a:spcPts val="0"/>
                </a:spcAft>
                <a:buClr>
                  <a:schemeClr val="dk1"/>
                </a:buClr>
                <a:buSzPts val="1700"/>
                <a:buFont typeface="Calibri"/>
                <a:buChar char="•"/>
              </a:pPr>
              <a:r>
                <a:rPr b="0" i="0" lang="fr-FR" sz="1700" u="none" cap="none" strike="noStrike">
                  <a:solidFill>
                    <a:schemeClr val="dk1"/>
                  </a:solidFill>
                  <a:latin typeface="Calibri"/>
                  <a:ea typeface="Calibri"/>
                  <a:cs typeface="Calibri"/>
                  <a:sym typeface="Calibri"/>
                </a:rPr>
                <a:t>Pvt pour ex direct et culture: pseudo mb, ulcéronécrotique</a:t>
              </a:r>
              <a:endParaRPr b="0" i="0" sz="1700" u="none" cap="none" strike="noStrike">
                <a:solidFill>
                  <a:schemeClr val="dk1"/>
                </a:solidFill>
                <a:latin typeface="Calibri"/>
                <a:ea typeface="Calibri"/>
                <a:cs typeface="Calibri"/>
                <a:sym typeface="Calibri"/>
              </a:endParaRPr>
            </a:p>
          </p:txBody>
        </p:sp>
        <p:sp>
          <p:nvSpPr>
            <p:cNvPr id="580" name="Google Shape;580;p33"/>
            <p:cNvSpPr/>
            <p:nvPr/>
          </p:nvSpPr>
          <p:spPr>
            <a:xfrm>
              <a:off x="0" y="2124"/>
              <a:ext cx="2839212" cy="1402286"/>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3"/>
            <p:cNvSpPr txBox="1"/>
            <p:nvPr/>
          </p:nvSpPr>
          <p:spPr>
            <a:xfrm>
              <a:off x="68454" y="70578"/>
              <a:ext cx="2702304" cy="1265378"/>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lt1"/>
                </a:buClr>
                <a:buSzPts val="2800"/>
                <a:buFont typeface="Calibri"/>
                <a:buNone/>
              </a:pPr>
              <a:r>
                <a:rPr lang="fr-FR" sz="2800">
                  <a:solidFill>
                    <a:schemeClr val="lt1"/>
                  </a:solidFill>
                  <a:latin typeface="Calibri"/>
                  <a:ea typeface="Calibri"/>
                  <a:cs typeface="Calibri"/>
                  <a:sym typeface="Calibri"/>
                </a:rPr>
                <a:t>Bactériologique </a:t>
              </a:r>
              <a:endParaRPr/>
            </a:p>
          </p:txBody>
        </p:sp>
        <p:sp>
          <p:nvSpPr>
            <p:cNvPr id="582" name="Google Shape;582;p33"/>
            <p:cNvSpPr/>
            <p:nvPr/>
          </p:nvSpPr>
          <p:spPr>
            <a:xfrm rot="5400000">
              <a:off x="4802041" y="-348074"/>
              <a:ext cx="1121829" cy="5047488"/>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3"/>
            <p:cNvSpPr txBox="1"/>
            <p:nvPr/>
          </p:nvSpPr>
          <p:spPr>
            <a:xfrm>
              <a:off x="2839212" y="1669518"/>
              <a:ext cx="4992725" cy="1012303"/>
            </a:xfrm>
            <a:prstGeom prst="rect">
              <a:avLst/>
            </a:prstGeom>
            <a:noFill/>
            <a:ln>
              <a:noFill/>
            </a:ln>
          </p:spPr>
          <p:txBody>
            <a:bodyPr anchorCtr="0" anchor="ctr" bIns="32375" lIns="64750" spcFirstLastPara="1" rIns="64750" wrap="square" tIns="323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fr-FR" sz="1700" u="none" cap="none" strike="noStrike">
                  <a:solidFill>
                    <a:schemeClr val="dk1"/>
                  </a:solidFill>
                  <a:latin typeface="Calibri"/>
                  <a:ea typeface="Calibri"/>
                  <a:cs typeface="Calibri"/>
                  <a:sym typeface="Calibri"/>
                </a:rPr>
                <a:t>Imagerie </a:t>
              </a:r>
              <a:endParaRPr/>
            </a:p>
            <a:p>
              <a:pPr indent="-171450" lvl="1" marL="171450" marR="0" rtl="0" algn="l">
                <a:lnSpc>
                  <a:spcPct val="90000"/>
                </a:lnSpc>
                <a:spcBef>
                  <a:spcPts val="255"/>
                </a:spcBef>
                <a:spcAft>
                  <a:spcPts val="0"/>
                </a:spcAft>
                <a:buClr>
                  <a:schemeClr val="dk1"/>
                </a:buClr>
                <a:buSzPts val="1700"/>
                <a:buFont typeface="Calibri"/>
                <a:buChar char="•"/>
              </a:pPr>
              <a:r>
                <a:rPr b="0" i="0" lang="fr-FR" sz="1700" u="none" cap="none" strike="noStrike">
                  <a:solidFill>
                    <a:schemeClr val="dk1"/>
                  </a:solidFill>
                  <a:latin typeface="Calibri"/>
                  <a:ea typeface="Calibri"/>
                  <a:cs typeface="Calibri"/>
                  <a:sym typeface="Calibri"/>
                </a:rPr>
                <a:t>Biologie </a:t>
              </a:r>
              <a:endParaRPr/>
            </a:p>
          </p:txBody>
        </p:sp>
        <p:sp>
          <p:nvSpPr>
            <p:cNvPr id="584" name="Google Shape;584;p33"/>
            <p:cNvSpPr/>
            <p:nvPr/>
          </p:nvSpPr>
          <p:spPr>
            <a:xfrm>
              <a:off x="0" y="1474525"/>
              <a:ext cx="2839212" cy="1402286"/>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3"/>
            <p:cNvSpPr txBox="1"/>
            <p:nvPr/>
          </p:nvSpPr>
          <p:spPr>
            <a:xfrm>
              <a:off x="68454" y="1542979"/>
              <a:ext cx="2702304" cy="1265378"/>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lt1"/>
                </a:buClr>
                <a:buSzPts val="2800"/>
                <a:buFont typeface="Calibri"/>
                <a:buNone/>
              </a:pPr>
              <a:r>
                <a:rPr lang="fr-FR" sz="2800">
                  <a:solidFill>
                    <a:schemeClr val="lt1"/>
                  </a:solidFill>
                  <a:latin typeface="Calibri"/>
                  <a:ea typeface="Calibri"/>
                  <a:cs typeface="Calibri"/>
                  <a:sym typeface="Calibri"/>
                </a:rPr>
                <a:t>De complication</a:t>
              </a:r>
              <a:endParaRPr/>
            </a:p>
          </p:txBody>
        </p:sp>
        <p:sp>
          <p:nvSpPr>
            <p:cNvPr id="586" name="Google Shape;586;p33"/>
            <p:cNvSpPr/>
            <p:nvPr/>
          </p:nvSpPr>
          <p:spPr>
            <a:xfrm rot="5400000">
              <a:off x="4802041" y="1124325"/>
              <a:ext cx="1121829" cy="5047488"/>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3"/>
            <p:cNvSpPr txBox="1"/>
            <p:nvPr/>
          </p:nvSpPr>
          <p:spPr>
            <a:xfrm>
              <a:off x="2839212" y="3141918"/>
              <a:ext cx="4992725" cy="1012303"/>
            </a:xfrm>
            <a:prstGeom prst="rect">
              <a:avLst/>
            </a:prstGeom>
            <a:noFill/>
            <a:ln>
              <a:noFill/>
            </a:ln>
          </p:spPr>
          <p:txBody>
            <a:bodyPr anchorCtr="0" anchor="ctr" bIns="32375" lIns="64750" spcFirstLastPara="1" rIns="64750" wrap="square" tIns="32375">
              <a:noAutofit/>
            </a:bodyPr>
            <a:lstStyle/>
            <a:p>
              <a:pPr indent="-171450" lvl="1" marL="171450" marR="0" rtl="0" algn="l">
                <a:lnSpc>
                  <a:spcPct val="90000"/>
                </a:lnSpc>
                <a:spcBef>
                  <a:spcPts val="0"/>
                </a:spcBef>
                <a:spcAft>
                  <a:spcPts val="0"/>
                </a:spcAft>
                <a:buClr>
                  <a:schemeClr val="dk1"/>
                </a:buClr>
                <a:buSzPts val="1700"/>
                <a:buFont typeface="Calibri"/>
                <a:buChar char="•"/>
              </a:pPr>
              <a:r>
                <a:rPr b="0" i="0" lang="fr-FR" sz="1700" u="none" cap="none" strike="noStrike">
                  <a:solidFill>
                    <a:schemeClr val="dk1"/>
                  </a:solidFill>
                  <a:latin typeface="Calibri"/>
                  <a:ea typeface="Calibri"/>
                  <a:cs typeface="Calibri"/>
                  <a:sym typeface="Calibri"/>
                </a:rPr>
                <a:t>Ulcération sur induration: biopsie</a:t>
              </a:r>
              <a:endParaRPr/>
            </a:p>
            <a:p>
              <a:pPr indent="-171450" lvl="1" marL="171450" marR="0" rtl="0" algn="l">
                <a:lnSpc>
                  <a:spcPct val="90000"/>
                </a:lnSpc>
                <a:spcBef>
                  <a:spcPts val="255"/>
                </a:spcBef>
                <a:spcAft>
                  <a:spcPts val="0"/>
                </a:spcAft>
                <a:buClr>
                  <a:schemeClr val="dk1"/>
                </a:buClr>
                <a:buSzPts val="1700"/>
                <a:buFont typeface="Calibri"/>
                <a:buChar char="•"/>
              </a:pPr>
              <a:r>
                <a:rPr b="0" i="0" lang="fr-FR" sz="1700" u="none" cap="none" strike="noStrike">
                  <a:solidFill>
                    <a:schemeClr val="dk1"/>
                  </a:solidFill>
                  <a:latin typeface="Calibri"/>
                  <a:ea typeface="Calibri"/>
                  <a:cs typeface="Calibri"/>
                  <a:sym typeface="Calibri"/>
                </a:rPr>
                <a:t>Manifestations d’hémopathie : </a:t>
              </a:r>
              <a:r>
                <a:rPr b="1" i="0" lang="fr-FR" sz="1700" u="none" cap="none" strike="noStrike">
                  <a:solidFill>
                    <a:schemeClr val="dk1"/>
                  </a:solidFill>
                  <a:latin typeface="Calibri"/>
                  <a:ea typeface="Calibri"/>
                  <a:cs typeface="Calibri"/>
                  <a:sym typeface="Calibri"/>
                </a:rPr>
                <a:t>QCM+++</a:t>
              </a:r>
              <a:endParaRPr/>
            </a:p>
            <a:p>
              <a:pPr indent="-171450" lvl="1" marL="171450" marR="0" rtl="0" algn="l">
                <a:lnSpc>
                  <a:spcPct val="90000"/>
                </a:lnSpc>
                <a:spcBef>
                  <a:spcPts val="255"/>
                </a:spcBef>
                <a:spcAft>
                  <a:spcPts val="0"/>
                </a:spcAft>
                <a:buClr>
                  <a:schemeClr val="dk1"/>
                </a:buClr>
                <a:buSzPts val="1700"/>
                <a:buFont typeface="Calibri"/>
                <a:buChar char="•"/>
              </a:pPr>
              <a:r>
                <a:rPr b="0" i="0" lang="fr-FR" sz="1700" u="none" cap="none" strike="noStrike">
                  <a:solidFill>
                    <a:schemeClr val="dk1"/>
                  </a:solidFill>
                  <a:latin typeface="Calibri"/>
                  <a:ea typeface="Calibri"/>
                  <a:cs typeface="Calibri"/>
                  <a:sym typeface="Calibri"/>
                </a:rPr>
                <a:t>Eruptions bulleuses</a:t>
              </a:r>
              <a:endParaRPr/>
            </a:p>
          </p:txBody>
        </p:sp>
        <p:sp>
          <p:nvSpPr>
            <p:cNvPr id="588" name="Google Shape;588;p33"/>
            <p:cNvSpPr/>
            <p:nvPr/>
          </p:nvSpPr>
          <p:spPr>
            <a:xfrm>
              <a:off x="0" y="2946926"/>
              <a:ext cx="2839212" cy="1402286"/>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3"/>
            <p:cNvSpPr txBox="1"/>
            <p:nvPr/>
          </p:nvSpPr>
          <p:spPr>
            <a:xfrm>
              <a:off x="68454" y="3015380"/>
              <a:ext cx="2702304" cy="1265378"/>
            </a:xfrm>
            <a:prstGeom prst="rect">
              <a:avLst/>
            </a:prstGeom>
            <a:noFill/>
            <a:ln>
              <a:noFill/>
            </a:ln>
          </p:spPr>
          <p:txBody>
            <a:bodyPr anchorCtr="0" anchor="ctr" bIns="53325" lIns="106675" spcFirstLastPara="1" rIns="106675" wrap="square" tIns="53325">
              <a:noAutofit/>
            </a:bodyPr>
            <a:lstStyle/>
            <a:p>
              <a:pPr indent="0" lvl="0" marL="0" marR="0" rtl="0" algn="ctr">
                <a:lnSpc>
                  <a:spcPct val="90000"/>
                </a:lnSpc>
                <a:spcBef>
                  <a:spcPts val="0"/>
                </a:spcBef>
                <a:spcAft>
                  <a:spcPts val="0"/>
                </a:spcAft>
                <a:buClr>
                  <a:schemeClr val="lt1"/>
                </a:buClr>
                <a:buSzPts val="2800"/>
                <a:buFont typeface="Calibri"/>
                <a:buNone/>
              </a:pPr>
              <a:r>
                <a:rPr lang="fr-FR" sz="2800">
                  <a:solidFill>
                    <a:schemeClr val="lt1"/>
                  </a:solidFill>
                  <a:latin typeface="Calibri"/>
                  <a:ea typeface="Calibri"/>
                  <a:cs typeface="Calibri"/>
                  <a:sym typeface="Calibri"/>
                </a:rPr>
                <a:t>Différentiel </a:t>
              </a:r>
              <a:endParaRPr/>
            </a:p>
            <a:p>
              <a:pPr indent="0" lvl="0" marL="0" marR="0" rtl="0" algn="ctr">
                <a:lnSpc>
                  <a:spcPct val="90000"/>
                </a:lnSpc>
                <a:spcBef>
                  <a:spcPts val="980"/>
                </a:spcBef>
                <a:spcAft>
                  <a:spcPts val="0"/>
                </a:spcAft>
                <a:buClr>
                  <a:schemeClr val="lt1"/>
                </a:buClr>
                <a:buSzPts val="2800"/>
                <a:buFont typeface="Calibri"/>
                <a:buNone/>
              </a:pPr>
              <a:r>
                <a:rPr b="1" lang="fr-FR" sz="2800">
                  <a:solidFill>
                    <a:schemeClr val="lt1"/>
                  </a:solidFill>
                  <a:latin typeface="Calibri"/>
                  <a:ea typeface="Calibri"/>
                  <a:cs typeface="Calibri"/>
                  <a:sym typeface="Calibri"/>
                </a:rPr>
                <a:t>QCM+++</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15:</a:t>
            </a:r>
            <a:endParaRPr/>
          </a:p>
        </p:txBody>
      </p:sp>
      <p:sp>
        <p:nvSpPr>
          <p:cNvPr id="596" name="Google Shape;596;p34"/>
          <p:cNvSpPr txBox="1"/>
          <p:nvPr>
            <p:ph idx="1" type="body"/>
          </p:nvPr>
        </p:nvSpPr>
        <p:spPr>
          <a:xfrm>
            <a:off x="628650" y="2060847"/>
            <a:ext cx="7886700" cy="41161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15. Au cours du phlegmon périamygdalien</a:t>
            </a:r>
            <a:r>
              <a:rPr lang="fr-FR"/>
              <a:t>:</a:t>
            </a:r>
            <a:endParaRPr/>
          </a:p>
          <a:p>
            <a:pPr indent="-514350" lvl="0" marL="1171575" rtl="0" algn="l">
              <a:lnSpc>
                <a:spcPct val="90000"/>
              </a:lnSpc>
              <a:spcBef>
                <a:spcPts val="1000"/>
              </a:spcBef>
              <a:spcAft>
                <a:spcPts val="0"/>
              </a:spcAft>
              <a:buClr>
                <a:schemeClr val="dk1"/>
              </a:buClr>
              <a:buSzPts val="2800"/>
              <a:buFont typeface="Calibri"/>
              <a:buAutoNum type="alphaUcPeriod"/>
            </a:pPr>
            <a:r>
              <a:rPr lang="fr-FR"/>
              <a:t>La suppuration est extra capsulaire </a:t>
            </a:r>
            <a:endParaRPr/>
          </a:p>
          <a:p>
            <a:pPr indent="-514350" lvl="0" marL="1171575" rtl="0" algn="l">
              <a:lnSpc>
                <a:spcPct val="90000"/>
              </a:lnSpc>
              <a:spcBef>
                <a:spcPts val="1000"/>
              </a:spcBef>
              <a:spcAft>
                <a:spcPts val="0"/>
              </a:spcAft>
              <a:buClr>
                <a:schemeClr val="dk1"/>
              </a:buClr>
              <a:buSzPts val="2800"/>
              <a:buFont typeface="Calibri"/>
              <a:buAutoNum type="alphaUcPeriod"/>
            </a:pPr>
            <a:r>
              <a:rPr lang="fr-FR"/>
              <a:t>Les aérobies sont en cause après le SGA</a:t>
            </a:r>
            <a:endParaRPr/>
          </a:p>
          <a:p>
            <a:pPr indent="-514350" lvl="0" marL="1171575" rtl="0" algn="l">
              <a:lnSpc>
                <a:spcPct val="90000"/>
              </a:lnSpc>
              <a:spcBef>
                <a:spcPts val="1000"/>
              </a:spcBef>
              <a:spcAft>
                <a:spcPts val="0"/>
              </a:spcAft>
              <a:buClr>
                <a:schemeClr val="dk1"/>
              </a:buClr>
              <a:buSzPts val="2800"/>
              <a:buFont typeface="Calibri"/>
              <a:buAutoNum type="alphaUcPeriod"/>
            </a:pPr>
            <a:r>
              <a:rPr lang="fr-FR"/>
              <a:t>L’association à l’aspect sphacélique est constante</a:t>
            </a:r>
            <a:endParaRPr/>
          </a:p>
          <a:p>
            <a:pPr indent="-514350" lvl="0" marL="1171575" rtl="0" algn="l">
              <a:lnSpc>
                <a:spcPct val="90000"/>
              </a:lnSpc>
              <a:spcBef>
                <a:spcPts val="1000"/>
              </a:spcBef>
              <a:spcAft>
                <a:spcPts val="0"/>
              </a:spcAft>
              <a:buClr>
                <a:schemeClr val="dk1"/>
              </a:buClr>
              <a:buSzPts val="2800"/>
              <a:buFont typeface="Calibri"/>
              <a:buAutoNum type="alphaUcPeriod"/>
            </a:pPr>
            <a:r>
              <a:rPr lang="fr-FR"/>
              <a:t>L’œdème de la luette est pathognomonique</a:t>
            </a:r>
            <a:endParaRPr/>
          </a:p>
          <a:p>
            <a:pPr indent="-514350" lvl="0" marL="1171575" rtl="0" algn="l">
              <a:lnSpc>
                <a:spcPct val="90000"/>
              </a:lnSpc>
              <a:spcBef>
                <a:spcPts val="1000"/>
              </a:spcBef>
              <a:spcAft>
                <a:spcPts val="0"/>
              </a:spcAft>
              <a:buClr>
                <a:schemeClr val="dk1"/>
              </a:buClr>
              <a:buSzPts val="2800"/>
              <a:buFont typeface="Calibri"/>
              <a:buAutoNum type="alphaUcPeriod"/>
            </a:pPr>
            <a:r>
              <a:rPr lang="fr-FR"/>
              <a:t>Le trismus est source de difficulté dans le diagnostic </a:t>
            </a:r>
            <a:endParaRPr/>
          </a:p>
        </p:txBody>
      </p:sp>
      <p:sp>
        <p:nvSpPr>
          <p:cNvPr id="597" name="Google Shape;597;p34"/>
          <p:cNvSpPr/>
          <p:nvPr/>
        </p:nvSpPr>
        <p:spPr>
          <a:xfrm>
            <a:off x="5220072" y="548680"/>
            <a:ext cx="3016184"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Loge amygdalienne</a:t>
            </a:r>
            <a:endParaRPr/>
          </a:p>
        </p:txBody>
      </p:sp>
      <p:pic>
        <p:nvPicPr>
          <p:cNvPr id="604" name="Google Shape;604;p35"/>
          <p:cNvPicPr preferRelativeResize="0"/>
          <p:nvPr/>
        </p:nvPicPr>
        <p:blipFill rotWithShape="1">
          <a:blip r:embed="rId3">
            <a:alphaModFix/>
          </a:blip>
          <a:srcRect b="37393" l="42913" r="33461" t="23387"/>
          <a:stretch/>
        </p:blipFill>
        <p:spPr>
          <a:xfrm>
            <a:off x="4903812" y="1988840"/>
            <a:ext cx="3583310" cy="33444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3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Phlegmon périamygdalien </a:t>
            </a:r>
            <a:endParaRPr/>
          </a:p>
        </p:txBody>
      </p:sp>
      <p:sp>
        <p:nvSpPr>
          <p:cNvPr id="611" name="Google Shape;611;p36"/>
          <p:cNvSpPr txBox="1"/>
          <p:nvPr>
            <p:ph idx="1" type="body"/>
          </p:nvPr>
        </p:nvSpPr>
        <p:spPr>
          <a:xfrm>
            <a:off x="628650" y="1600200"/>
            <a:ext cx="8058150" cy="50691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Suppuration zone extra capsulaire de la loge amygdalienne, atmosphère cellulo graisseux </a:t>
            </a:r>
            <a:endParaRPr/>
          </a:p>
          <a:p>
            <a:pPr indent="-228600" lvl="0" marL="228600" rtl="0" algn="l">
              <a:lnSpc>
                <a:spcPct val="90000"/>
              </a:lnSpc>
              <a:spcBef>
                <a:spcPts val="1000"/>
              </a:spcBef>
              <a:spcAft>
                <a:spcPts val="0"/>
              </a:spcAft>
              <a:buClr>
                <a:schemeClr val="dk1"/>
              </a:buClr>
              <a:buSzPts val="2800"/>
              <a:buChar char="•"/>
            </a:pPr>
            <a:r>
              <a:rPr lang="fr-FR"/>
              <a:t>80%: antéro-supérieur</a:t>
            </a:r>
            <a:endParaRPr/>
          </a:p>
          <a:p>
            <a:pPr indent="-228600" lvl="0" marL="228600" rtl="0" algn="l">
              <a:lnSpc>
                <a:spcPct val="90000"/>
              </a:lnSpc>
              <a:spcBef>
                <a:spcPts val="1000"/>
              </a:spcBef>
              <a:spcAft>
                <a:spcPts val="0"/>
              </a:spcAft>
              <a:buClr>
                <a:schemeClr val="dk1"/>
              </a:buClr>
              <a:buSzPts val="2800"/>
              <a:buChar char="•"/>
            </a:pPr>
            <a:r>
              <a:rPr lang="fr-FR"/>
              <a:t>Agent: SGA&lt;a</a:t>
            </a:r>
            <a:r>
              <a:rPr b="1" lang="fr-FR">
                <a:solidFill>
                  <a:srgbClr val="C00000"/>
                </a:solidFill>
              </a:rPr>
              <a:t>na</a:t>
            </a:r>
            <a:r>
              <a:rPr lang="fr-FR"/>
              <a:t>érobie</a:t>
            </a:r>
            <a:endParaRPr/>
          </a:p>
          <a:p>
            <a:pPr indent="-228600" lvl="0" marL="228600" rtl="0" algn="l">
              <a:lnSpc>
                <a:spcPct val="90000"/>
              </a:lnSpc>
              <a:spcBef>
                <a:spcPts val="1000"/>
              </a:spcBef>
              <a:spcAft>
                <a:spcPts val="0"/>
              </a:spcAft>
              <a:buClr>
                <a:schemeClr val="dk1"/>
              </a:buClr>
              <a:buSzPts val="2800"/>
              <a:buChar char="•"/>
            </a:pPr>
            <a:r>
              <a:rPr lang="fr-FR"/>
              <a:t>Dl pharyngienne unilat intense</a:t>
            </a:r>
            <a:endParaRPr/>
          </a:p>
          <a:p>
            <a:pPr indent="-228600" lvl="0" marL="228600" rtl="0" algn="l">
              <a:lnSpc>
                <a:spcPct val="90000"/>
              </a:lnSpc>
              <a:spcBef>
                <a:spcPts val="1000"/>
              </a:spcBef>
              <a:spcAft>
                <a:spcPts val="0"/>
              </a:spcAft>
              <a:buClr>
                <a:schemeClr val="dk1"/>
              </a:buClr>
              <a:buSzPts val="2800"/>
              <a:buChar char="•"/>
            </a:pPr>
            <a:r>
              <a:rPr lang="fr-FR"/>
              <a:t>AEG, fièvre 39-40</a:t>
            </a:r>
            <a:endParaRPr/>
          </a:p>
          <a:p>
            <a:pPr indent="-228600" lvl="0" marL="228600" rtl="0" algn="l">
              <a:lnSpc>
                <a:spcPct val="90000"/>
              </a:lnSpc>
              <a:spcBef>
                <a:spcPts val="1000"/>
              </a:spcBef>
              <a:spcAft>
                <a:spcPts val="0"/>
              </a:spcAft>
              <a:buClr>
                <a:schemeClr val="dk1"/>
              </a:buClr>
              <a:buSzPts val="2800"/>
              <a:buChar char="•"/>
            </a:pPr>
            <a:r>
              <a:rPr lang="fr-FR"/>
              <a:t>Ex: trismus, tuméfaction </a:t>
            </a:r>
            <a:r>
              <a:rPr b="1" lang="fr-FR">
                <a:solidFill>
                  <a:srgbClr val="C00000"/>
                </a:solidFill>
              </a:rPr>
              <a:t>sup</a:t>
            </a:r>
            <a:r>
              <a:rPr lang="fr-FR"/>
              <a:t> du pilier ant, luette déviée controlat oedématiée, amyg refoulée en </a:t>
            </a:r>
            <a:r>
              <a:rPr b="1" lang="fr-FR">
                <a:solidFill>
                  <a:srgbClr val="C00000"/>
                </a:solidFill>
              </a:rPr>
              <a:t>DD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16:</a:t>
            </a:r>
            <a:endParaRPr/>
          </a:p>
        </p:txBody>
      </p:sp>
      <p:sp>
        <p:nvSpPr>
          <p:cNvPr id="618" name="Google Shape;618;p3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16.  L’angine avec suppurations profondes: </a:t>
            </a:r>
            <a:endParaRPr/>
          </a:p>
          <a:p>
            <a:pPr indent="-514350" lvl="0" marL="984250" rtl="0" algn="l">
              <a:lnSpc>
                <a:spcPct val="90000"/>
              </a:lnSpc>
              <a:spcBef>
                <a:spcPts val="1000"/>
              </a:spcBef>
              <a:spcAft>
                <a:spcPts val="0"/>
              </a:spcAft>
              <a:buClr>
                <a:schemeClr val="dk1"/>
              </a:buClr>
              <a:buSzPts val="2800"/>
              <a:buFont typeface="Calibri"/>
              <a:buAutoNum type="alphaUcPeriod"/>
            </a:pPr>
            <a:r>
              <a:rPr lang="fr-FR"/>
              <a:t>Se voit par dissémination hématogène de l’infection </a:t>
            </a:r>
            <a:endParaRPr/>
          </a:p>
          <a:p>
            <a:pPr indent="-514350" lvl="0" marL="984250" rtl="0" algn="l">
              <a:lnSpc>
                <a:spcPct val="90000"/>
              </a:lnSpc>
              <a:spcBef>
                <a:spcPts val="1000"/>
              </a:spcBef>
              <a:spcAft>
                <a:spcPts val="0"/>
              </a:spcAft>
              <a:buClr>
                <a:schemeClr val="dk1"/>
              </a:buClr>
              <a:buSzPts val="2800"/>
              <a:buFont typeface="Calibri"/>
              <a:buAutoNum type="alphaUcPeriod"/>
            </a:pPr>
            <a:r>
              <a:rPr lang="fr-FR"/>
              <a:t>Est une complication par toxine </a:t>
            </a:r>
            <a:endParaRPr/>
          </a:p>
          <a:p>
            <a:pPr indent="-514350" lvl="0" marL="984250" rtl="0" algn="l">
              <a:lnSpc>
                <a:spcPct val="90000"/>
              </a:lnSpc>
              <a:spcBef>
                <a:spcPts val="1000"/>
              </a:spcBef>
              <a:spcAft>
                <a:spcPts val="0"/>
              </a:spcAft>
              <a:buClr>
                <a:schemeClr val="dk1"/>
              </a:buClr>
              <a:buSzPts val="2800"/>
              <a:buFont typeface="Calibri"/>
              <a:buAutoNum type="alphaUcPeriod"/>
            </a:pPr>
            <a:r>
              <a:rPr lang="fr-FR"/>
              <a:t>Peut s’associer à une thrombophlébite</a:t>
            </a:r>
            <a:endParaRPr/>
          </a:p>
          <a:p>
            <a:pPr indent="-514350" lvl="0" marL="984250" rtl="0" algn="l">
              <a:lnSpc>
                <a:spcPct val="90000"/>
              </a:lnSpc>
              <a:spcBef>
                <a:spcPts val="1000"/>
              </a:spcBef>
              <a:spcAft>
                <a:spcPts val="0"/>
              </a:spcAft>
              <a:buClr>
                <a:schemeClr val="dk1"/>
              </a:buClr>
              <a:buSzPts val="2800"/>
              <a:buFont typeface="Calibri"/>
              <a:buAutoNum type="alphaUcPeriod"/>
            </a:pPr>
            <a:r>
              <a:rPr lang="fr-FR"/>
              <a:t>Se manifeste par tuméfaction ganglionnaire cervicale</a:t>
            </a:r>
            <a:endParaRPr/>
          </a:p>
          <a:p>
            <a:pPr indent="-514350" lvl="0" marL="984250" rtl="0" algn="l">
              <a:lnSpc>
                <a:spcPct val="90000"/>
              </a:lnSpc>
              <a:spcBef>
                <a:spcPts val="1000"/>
              </a:spcBef>
              <a:spcAft>
                <a:spcPts val="0"/>
              </a:spcAft>
              <a:buClr>
                <a:schemeClr val="dk1"/>
              </a:buClr>
              <a:buSzPts val="2800"/>
              <a:buFont typeface="Calibri"/>
              <a:buAutoNum type="alphaUcPeriod"/>
            </a:pPr>
            <a:r>
              <a:rPr lang="fr-FR"/>
              <a:t>Est une indication à la TDM cervico thoraco abdominale </a:t>
            </a:r>
            <a:endParaRPr/>
          </a:p>
        </p:txBody>
      </p:sp>
      <p:sp>
        <p:nvSpPr>
          <p:cNvPr id="619" name="Google Shape;619;p37"/>
          <p:cNvSpPr/>
          <p:nvPr/>
        </p:nvSpPr>
        <p:spPr>
          <a:xfrm>
            <a:off x="4788024" y="548680"/>
            <a:ext cx="3448232"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3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Complications au cours des angines </a:t>
            </a:r>
            <a:endParaRPr/>
          </a:p>
        </p:txBody>
      </p:sp>
      <p:grpSp>
        <p:nvGrpSpPr>
          <p:cNvPr id="625" name="Google Shape;625;p38"/>
          <p:cNvGrpSpPr/>
          <p:nvPr/>
        </p:nvGrpSpPr>
        <p:grpSpPr>
          <a:xfrm>
            <a:off x="629612" y="1825625"/>
            <a:ext cx="7884775" cy="4351338"/>
            <a:chOff x="962" y="0"/>
            <a:chExt cx="7884775" cy="4351338"/>
          </a:xfrm>
        </p:grpSpPr>
        <p:sp>
          <p:nvSpPr>
            <p:cNvPr id="626" name="Google Shape;626;p38"/>
            <p:cNvSpPr/>
            <p:nvPr/>
          </p:nvSpPr>
          <p:spPr>
            <a:xfrm>
              <a:off x="962" y="0"/>
              <a:ext cx="2503103" cy="4351338"/>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8"/>
            <p:cNvSpPr txBox="1"/>
            <p:nvPr/>
          </p:nvSpPr>
          <p:spPr>
            <a:xfrm>
              <a:off x="962" y="0"/>
              <a:ext cx="2503103" cy="130540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Loco-régionale suppurative </a:t>
              </a:r>
              <a:endParaRPr/>
            </a:p>
          </p:txBody>
        </p:sp>
        <p:sp>
          <p:nvSpPr>
            <p:cNvPr id="628" name="Google Shape;628;p38"/>
            <p:cNvSpPr/>
            <p:nvPr/>
          </p:nvSpPr>
          <p:spPr>
            <a:xfrm>
              <a:off x="251273" y="1305507"/>
              <a:ext cx="2002482" cy="63389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8"/>
            <p:cNvSpPr txBox="1"/>
            <p:nvPr/>
          </p:nvSpPr>
          <p:spPr>
            <a:xfrm>
              <a:off x="269839" y="1324073"/>
              <a:ext cx="1965350" cy="596765"/>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Phlegmon Péri A</a:t>
              </a:r>
              <a:endParaRPr/>
            </a:p>
          </p:txBody>
        </p:sp>
        <p:sp>
          <p:nvSpPr>
            <p:cNvPr id="630" name="Google Shape;630;p38"/>
            <p:cNvSpPr/>
            <p:nvPr/>
          </p:nvSpPr>
          <p:spPr>
            <a:xfrm>
              <a:off x="251273" y="2036927"/>
              <a:ext cx="2002482" cy="63389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8"/>
            <p:cNvSpPr txBox="1"/>
            <p:nvPr/>
          </p:nvSpPr>
          <p:spPr>
            <a:xfrm>
              <a:off x="269839" y="2055493"/>
              <a:ext cx="1965350" cy="596765"/>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Adénophlegmon </a:t>
              </a:r>
              <a:endParaRPr/>
            </a:p>
          </p:txBody>
        </p:sp>
        <p:sp>
          <p:nvSpPr>
            <p:cNvPr id="632" name="Google Shape;632;p38"/>
            <p:cNvSpPr/>
            <p:nvPr/>
          </p:nvSpPr>
          <p:spPr>
            <a:xfrm>
              <a:off x="251273" y="2768347"/>
              <a:ext cx="2002482" cy="63389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8"/>
            <p:cNvSpPr txBox="1"/>
            <p:nvPr/>
          </p:nvSpPr>
          <p:spPr>
            <a:xfrm>
              <a:off x="269839" y="2786913"/>
              <a:ext cx="1965350" cy="596765"/>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Suppu profondes</a:t>
              </a:r>
              <a:endParaRPr/>
            </a:p>
          </p:txBody>
        </p:sp>
        <p:sp>
          <p:nvSpPr>
            <p:cNvPr id="634" name="Google Shape;634;p38"/>
            <p:cNvSpPr/>
            <p:nvPr/>
          </p:nvSpPr>
          <p:spPr>
            <a:xfrm>
              <a:off x="251273" y="3499767"/>
              <a:ext cx="2002482" cy="63389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8"/>
            <p:cNvSpPr txBox="1"/>
            <p:nvPr/>
          </p:nvSpPr>
          <p:spPr>
            <a:xfrm>
              <a:off x="269839" y="3518333"/>
              <a:ext cx="1965350" cy="596765"/>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Sd Lemierre </a:t>
              </a:r>
              <a:endParaRPr/>
            </a:p>
          </p:txBody>
        </p:sp>
        <p:sp>
          <p:nvSpPr>
            <p:cNvPr id="636" name="Google Shape;636;p38"/>
            <p:cNvSpPr/>
            <p:nvPr/>
          </p:nvSpPr>
          <p:spPr>
            <a:xfrm>
              <a:off x="2691798" y="0"/>
              <a:ext cx="2503103" cy="4351338"/>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8"/>
            <p:cNvSpPr txBox="1"/>
            <p:nvPr/>
          </p:nvSpPr>
          <p:spPr>
            <a:xfrm>
              <a:off x="2691798" y="0"/>
              <a:ext cx="2503103" cy="130540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Toxinique </a:t>
              </a:r>
              <a:endParaRPr/>
            </a:p>
          </p:txBody>
        </p:sp>
        <p:sp>
          <p:nvSpPr>
            <p:cNvPr id="638" name="Google Shape;638;p38"/>
            <p:cNvSpPr/>
            <p:nvPr/>
          </p:nvSpPr>
          <p:spPr>
            <a:xfrm>
              <a:off x="2942108" y="1306676"/>
              <a:ext cx="2002482" cy="131198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8"/>
            <p:cNvSpPr txBox="1"/>
            <p:nvPr/>
          </p:nvSpPr>
          <p:spPr>
            <a:xfrm>
              <a:off x="2980535" y="1345103"/>
              <a:ext cx="1925628" cy="1235133"/>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Scarlatine </a:t>
              </a:r>
              <a:endParaRPr/>
            </a:p>
          </p:txBody>
        </p:sp>
        <p:sp>
          <p:nvSpPr>
            <p:cNvPr id="640" name="Google Shape;640;p38"/>
            <p:cNvSpPr/>
            <p:nvPr/>
          </p:nvSpPr>
          <p:spPr>
            <a:xfrm>
              <a:off x="2942108" y="2820508"/>
              <a:ext cx="2002482" cy="131198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8"/>
            <p:cNvSpPr txBox="1"/>
            <p:nvPr/>
          </p:nvSpPr>
          <p:spPr>
            <a:xfrm>
              <a:off x="2980535" y="2858935"/>
              <a:ext cx="1925628" cy="1235133"/>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Choc toxinique </a:t>
              </a:r>
              <a:endParaRPr/>
            </a:p>
          </p:txBody>
        </p:sp>
        <p:sp>
          <p:nvSpPr>
            <p:cNvPr id="642" name="Google Shape;642;p38"/>
            <p:cNvSpPr/>
            <p:nvPr/>
          </p:nvSpPr>
          <p:spPr>
            <a:xfrm>
              <a:off x="5382634" y="0"/>
              <a:ext cx="2503103" cy="4351338"/>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8"/>
            <p:cNvSpPr txBox="1"/>
            <p:nvPr/>
          </p:nvSpPr>
          <p:spPr>
            <a:xfrm>
              <a:off x="5382634" y="0"/>
              <a:ext cx="2503103" cy="1305401"/>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Inflammatoire immunologique  </a:t>
              </a:r>
              <a:endParaRPr/>
            </a:p>
          </p:txBody>
        </p:sp>
        <p:sp>
          <p:nvSpPr>
            <p:cNvPr id="644" name="Google Shape;644;p38"/>
            <p:cNvSpPr/>
            <p:nvPr/>
          </p:nvSpPr>
          <p:spPr>
            <a:xfrm>
              <a:off x="5632944" y="1306676"/>
              <a:ext cx="2002482" cy="131198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8"/>
            <p:cNvSpPr txBox="1"/>
            <p:nvPr/>
          </p:nvSpPr>
          <p:spPr>
            <a:xfrm>
              <a:off x="5671371" y="1345103"/>
              <a:ext cx="1925628" cy="1235133"/>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Mineures: </a:t>
              </a:r>
              <a:endParaRPr/>
            </a:p>
            <a:p>
              <a:pPr indent="0" lvl="0" marL="0" marR="0" rtl="0" algn="ctr">
                <a:lnSpc>
                  <a:spcPct val="90000"/>
                </a:lnSpc>
                <a:spcBef>
                  <a:spcPts val="735"/>
                </a:spcBef>
                <a:spcAft>
                  <a:spcPts val="0"/>
                </a:spcAft>
                <a:buClr>
                  <a:schemeClr val="lt1"/>
                </a:buClr>
                <a:buSzPts val="2100"/>
                <a:buFont typeface="Calibri"/>
                <a:buNone/>
              </a:pPr>
              <a:r>
                <a:rPr lang="fr-FR" sz="2100">
                  <a:solidFill>
                    <a:schemeClr val="lt1"/>
                  </a:solidFill>
                  <a:latin typeface="Calibri"/>
                  <a:ea typeface="Calibri"/>
                  <a:cs typeface="Calibri"/>
                  <a:sym typeface="Calibri"/>
                </a:rPr>
                <a:t>Erythem noueux</a:t>
              </a:r>
              <a:endParaRPr/>
            </a:p>
            <a:p>
              <a:pPr indent="0" lvl="0" marL="0" marR="0" rtl="0" algn="ctr">
                <a:lnSpc>
                  <a:spcPct val="90000"/>
                </a:lnSpc>
                <a:spcBef>
                  <a:spcPts val="735"/>
                </a:spcBef>
                <a:spcAft>
                  <a:spcPts val="0"/>
                </a:spcAft>
                <a:buClr>
                  <a:schemeClr val="lt1"/>
                </a:buClr>
                <a:buSzPts val="2100"/>
                <a:buFont typeface="Calibri"/>
                <a:buNone/>
              </a:pPr>
              <a:r>
                <a:rPr lang="fr-FR" sz="2100">
                  <a:solidFill>
                    <a:schemeClr val="lt1"/>
                  </a:solidFill>
                  <a:latin typeface="Calibri"/>
                  <a:ea typeface="Calibri"/>
                  <a:cs typeface="Calibri"/>
                  <a:sym typeface="Calibri"/>
                </a:rPr>
                <a:t>Sd arti isolé</a:t>
              </a:r>
              <a:endParaRPr/>
            </a:p>
          </p:txBody>
        </p:sp>
        <p:sp>
          <p:nvSpPr>
            <p:cNvPr id="646" name="Google Shape;646;p38"/>
            <p:cNvSpPr/>
            <p:nvPr/>
          </p:nvSpPr>
          <p:spPr>
            <a:xfrm>
              <a:off x="5632944" y="2820508"/>
              <a:ext cx="2002482" cy="1311987"/>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8"/>
            <p:cNvSpPr txBox="1"/>
            <p:nvPr/>
          </p:nvSpPr>
          <p:spPr>
            <a:xfrm>
              <a:off x="5671371" y="2858935"/>
              <a:ext cx="1925628" cy="1235133"/>
            </a:xfrm>
            <a:prstGeom prst="rect">
              <a:avLst/>
            </a:prstGeom>
            <a:noFill/>
            <a:ln>
              <a:noFill/>
            </a:ln>
          </p:spPr>
          <p:txBody>
            <a:bodyPr anchorCtr="0" anchor="ctr" bIns="40000" lIns="53325" spcFirstLastPara="1" rIns="53325" wrap="square" tIns="40000">
              <a:noAutofit/>
            </a:bodyPr>
            <a:lstStyle/>
            <a:p>
              <a:pPr indent="0" lvl="0" marL="0" marR="0" rtl="0" algn="ctr">
                <a:lnSpc>
                  <a:spcPct val="90000"/>
                </a:lnSpc>
                <a:spcBef>
                  <a:spcPts val="0"/>
                </a:spcBef>
                <a:spcAft>
                  <a:spcPts val="0"/>
                </a:spcAft>
                <a:buClr>
                  <a:schemeClr val="lt1"/>
                </a:buClr>
                <a:buSzPts val="2100"/>
                <a:buFont typeface="Calibri"/>
                <a:buNone/>
              </a:pPr>
              <a:r>
                <a:rPr lang="fr-FR" sz="2100">
                  <a:solidFill>
                    <a:schemeClr val="lt1"/>
                  </a:solidFill>
                  <a:latin typeface="Calibri"/>
                  <a:ea typeface="Calibri"/>
                  <a:cs typeface="Calibri"/>
                  <a:sym typeface="Calibri"/>
                </a:rPr>
                <a:t>Majeures</a:t>
              </a:r>
              <a:endParaRPr/>
            </a:p>
            <a:p>
              <a:pPr indent="0" lvl="0" marL="0" marR="0" rtl="0" algn="ctr">
                <a:lnSpc>
                  <a:spcPct val="90000"/>
                </a:lnSpc>
                <a:spcBef>
                  <a:spcPts val="735"/>
                </a:spcBef>
                <a:spcAft>
                  <a:spcPts val="0"/>
                </a:spcAft>
                <a:buClr>
                  <a:schemeClr val="lt1"/>
                </a:buClr>
                <a:buSzPts val="2100"/>
                <a:buFont typeface="Calibri"/>
                <a:buNone/>
              </a:pPr>
              <a:r>
                <a:rPr lang="fr-FR" sz="2100">
                  <a:solidFill>
                    <a:schemeClr val="lt1"/>
                  </a:solidFill>
                  <a:latin typeface="Calibri"/>
                  <a:ea typeface="Calibri"/>
                  <a:cs typeface="Calibri"/>
                  <a:sym typeface="Calibri"/>
                </a:rPr>
                <a:t>RAA</a:t>
              </a:r>
              <a:endParaRPr/>
            </a:p>
            <a:p>
              <a:pPr indent="0" lvl="0" marL="0" marR="0" rtl="0" algn="ctr">
                <a:lnSpc>
                  <a:spcPct val="90000"/>
                </a:lnSpc>
                <a:spcBef>
                  <a:spcPts val="735"/>
                </a:spcBef>
                <a:spcAft>
                  <a:spcPts val="0"/>
                </a:spcAft>
                <a:buClr>
                  <a:schemeClr val="lt1"/>
                </a:buClr>
                <a:buSzPts val="2100"/>
                <a:buFont typeface="Calibri"/>
                <a:buNone/>
              </a:pPr>
              <a:r>
                <a:rPr lang="fr-FR" sz="2100">
                  <a:solidFill>
                    <a:schemeClr val="lt1"/>
                  </a:solidFill>
                  <a:latin typeface="Calibri"/>
                  <a:ea typeface="Calibri"/>
                  <a:cs typeface="Calibri"/>
                  <a:sym typeface="Calibri"/>
                </a:rPr>
                <a:t>GNA </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3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Formes évolutives </a:t>
            </a:r>
            <a:endParaRPr/>
          </a:p>
        </p:txBody>
      </p:sp>
      <p:grpSp>
        <p:nvGrpSpPr>
          <p:cNvPr id="654" name="Google Shape;654;p39"/>
          <p:cNvGrpSpPr/>
          <p:nvPr/>
        </p:nvGrpSpPr>
        <p:grpSpPr>
          <a:xfrm>
            <a:off x="4116720" y="1828607"/>
            <a:ext cx="3341740" cy="4333713"/>
            <a:chOff x="1056888" y="2982"/>
            <a:chExt cx="3341740" cy="4333713"/>
          </a:xfrm>
        </p:grpSpPr>
        <p:sp>
          <p:nvSpPr>
            <p:cNvPr id="655" name="Google Shape;655;p39"/>
            <p:cNvSpPr/>
            <p:nvPr/>
          </p:nvSpPr>
          <p:spPr>
            <a:xfrm>
              <a:off x="1056888" y="2982"/>
              <a:ext cx="3341740" cy="912360"/>
            </a:xfrm>
            <a:prstGeom prst="roundRect">
              <a:avLst>
                <a:gd fmla="val 10000"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9"/>
            <p:cNvSpPr txBox="1"/>
            <p:nvPr/>
          </p:nvSpPr>
          <p:spPr>
            <a:xfrm>
              <a:off x="1083610" y="29704"/>
              <a:ext cx="3288296" cy="858916"/>
            </a:xfrm>
            <a:prstGeom prst="rect">
              <a:avLst/>
            </a:prstGeom>
            <a:noFill/>
            <a:ln>
              <a:noFill/>
            </a:ln>
          </p:spPr>
          <p:txBody>
            <a:bodyPr anchorCtr="0" anchor="ctr" bIns="36825" lIns="55225" spcFirstLastPara="1" rIns="55225" wrap="square" tIns="36825">
              <a:noAutofit/>
            </a:bodyPr>
            <a:lstStyle/>
            <a:p>
              <a:pPr indent="0" lvl="0" marL="0" marR="0" rtl="0" algn="ctr">
                <a:lnSpc>
                  <a:spcPct val="90000"/>
                </a:lnSpc>
                <a:spcBef>
                  <a:spcPts val="0"/>
                </a:spcBef>
                <a:spcAft>
                  <a:spcPts val="0"/>
                </a:spcAft>
                <a:buClr>
                  <a:schemeClr val="lt1"/>
                </a:buClr>
                <a:buSzPts val="2900"/>
                <a:buFont typeface="Calibri"/>
                <a:buNone/>
              </a:pPr>
              <a:r>
                <a:rPr lang="fr-FR" sz="2900">
                  <a:solidFill>
                    <a:schemeClr val="lt1"/>
                  </a:solidFill>
                  <a:latin typeface="Calibri"/>
                  <a:ea typeface="Calibri"/>
                  <a:cs typeface="Calibri"/>
                  <a:sym typeface="Calibri"/>
                </a:rPr>
                <a:t>Angines  récidivantes</a:t>
              </a:r>
              <a:endParaRPr/>
            </a:p>
          </p:txBody>
        </p:sp>
        <p:sp>
          <p:nvSpPr>
            <p:cNvPr id="657" name="Google Shape;657;p39"/>
            <p:cNvSpPr/>
            <p:nvPr/>
          </p:nvSpPr>
          <p:spPr>
            <a:xfrm>
              <a:off x="1391062" y="915343"/>
              <a:ext cx="334174" cy="684270"/>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658" name="Google Shape;658;p39"/>
            <p:cNvSpPr/>
            <p:nvPr/>
          </p:nvSpPr>
          <p:spPr>
            <a:xfrm>
              <a:off x="1725236" y="1143433"/>
              <a:ext cx="2361802" cy="91236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9"/>
            <p:cNvSpPr txBox="1"/>
            <p:nvPr/>
          </p:nvSpPr>
          <p:spPr>
            <a:xfrm>
              <a:off x="1751958" y="1170155"/>
              <a:ext cx="2308358" cy="858916"/>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Clr>
                  <a:schemeClr val="dk1"/>
                </a:buClr>
                <a:buSzPts val="2300"/>
                <a:buFont typeface="Calibri"/>
                <a:buNone/>
              </a:pPr>
              <a:r>
                <a:rPr lang="fr-FR" sz="2300">
                  <a:solidFill>
                    <a:schemeClr val="dk1"/>
                  </a:solidFill>
                  <a:latin typeface="Calibri"/>
                  <a:ea typeface="Calibri"/>
                  <a:cs typeface="Calibri"/>
                  <a:sym typeface="Calibri"/>
                </a:rPr>
                <a:t>≥7 fois/ an</a:t>
              </a:r>
              <a:endParaRPr/>
            </a:p>
          </p:txBody>
        </p:sp>
        <p:sp>
          <p:nvSpPr>
            <p:cNvPr id="660" name="Google Shape;660;p39"/>
            <p:cNvSpPr/>
            <p:nvPr/>
          </p:nvSpPr>
          <p:spPr>
            <a:xfrm>
              <a:off x="1391062" y="915343"/>
              <a:ext cx="334174" cy="1824721"/>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661" name="Google Shape;661;p39"/>
            <p:cNvSpPr/>
            <p:nvPr/>
          </p:nvSpPr>
          <p:spPr>
            <a:xfrm>
              <a:off x="1725236" y="2283884"/>
              <a:ext cx="2361802" cy="91236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9"/>
            <p:cNvSpPr txBox="1"/>
            <p:nvPr/>
          </p:nvSpPr>
          <p:spPr>
            <a:xfrm>
              <a:off x="1751958" y="2310606"/>
              <a:ext cx="2308358" cy="858916"/>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Clr>
                  <a:schemeClr val="dk1"/>
                </a:buClr>
                <a:buSzPts val="2300"/>
                <a:buFont typeface="Calibri"/>
                <a:buNone/>
              </a:pPr>
              <a:r>
                <a:rPr lang="fr-FR" sz="2300">
                  <a:solidFill>
                    <a:schemeClr val="dk1"/>
                  </a:solidFill>
                  <a:latin typeface="Calibri"/>
                  <a:ea typeface="Calibri"/>
                  <a:cs typeface="Calibri"/>
                  <a:sym typeface="Calibri"/>
                </a:rPr>
                <a:t>≥5 fois/an , </a:t>
              </a:r>
              <a:endParaRPr/>
            </a:p>
            <a:p>
              <a:pPr indent="0" lvl="0" marL="0" marR="0" rtl="0" algn="ctr">
                <a:lnSpc>
                  <a:spcPct val="90000"/>
                </a:lnSpc>
                <a:spcBef>
                  <a:spcPts val="805"/>
                </a:spcBef>
                <a:spcAft>
                  <a:spcPts val="0"/>
                </a:spcAft>
                <a:buClr>
                  <a:schemeClr val="dk1"/>
                </a:buClr>
                <a:buSzPts val="2300"/>
                <a:buFont typeface="Calibri"/>
                <a:buNone/>
              </a:pPr>
              <a:r>
                <a:rPr lang="fr-FR" sz="2300">
                  <a:solidFill>
                    <a:schemeClr val="dk1"/>
                  </a:solidFill>
                  <a:latin typeface="Calibri"/>
                  <a:ea typeface="Calibri"/>
                  <a:cs typeface="Calibri"/>
                  <a:sym typeface="Calibri"/>
                </a:rPr>
                <a:t>2 ans de suite</a:t>
              </a:r>
              <a:endParaRPr/>
            </a:p>
          </p:txBody>
        </p:sp>
        <p:sp>
          <p:nvSpPr>
            <p:cNvPr id="663" name="Google Shape;663;p39"/>
            <p:cNvSpPr/>
            <p:nvPr/>
          </p:nvSpPr>
          <p:spPr>
            <a:xfrm>
              <a:off x="1391062" y="915343"/>
              <a:ext cx="334174" cy="2965172"/>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664" name="Google Shape;664;p39"/>
            <p:cNvSpPr/>
            <p:nvPr/>
          </p:nvSpPr>
          <p:spPr>
            <a:xfrm>
              <a:off x="1725236" y="3424335"/>
              <a:ext cx="2361802" cy="912360"/>
            </a:xfrm>
            <a:prstGeom prst="roundRect">
              <a:avLst>
                <a:gd fmla="val 10000" name="adj"/>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9"/>
            <p:cNvSpPr txBox="1"/>
            <p:nvPr/>
          </p:nvSpPr>
          <p:spPr>
            <a:xfrm>
              <a:off x="1751958" y="3451057"/>
              <a:ext cx="2308358" cy="858916"/>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Clr>
                  <a:schemeClr val="dk1"/>
                </a:buClr>
                <a:buSzPts val="2300"/>
                <a:buFont typeface="Calibri"/>
                <a:buNone/>
              </a:pPr>
              <a:r>
                <a:rPr lang="fr-FR" sz="2300">
                  <a:solidFill>
                    <a:schemeClr val="dk1"/>
                  </a:solidFill>
                  <a:latin typeface="Calibri"/>
                  <a:ea typeface="Calibri"/>
                  <a:cs typeface="Calibri"/>
                  <a:sym typeface="Calibri"/>
                </a:rPr>
                <a:t>≥3 fois/ an,</a:t>
              </a:r>
              <a:endParaRPr/>
            </a:p>
            <a:p>
              <a:pPr indent="0" lvl="0" marL="0" marR="0" rtl="0" algn="ctr">
                <a:lnSpc>
                  <a:spcPct val="90000"/>
                </a:lnSpc>
                <a:spcBef>
                  <a:spcPts val="805"/>
                </a:spcBef>
                <a:spcAft>
                  <a:spcPts val="0"/>
                </a:spcAft>
                <a:buClr>
                  <a:schemeClr val="dk1"/>
                </a:buClr>
                <a:buSzPts val="2300"/>
                <a:buFont typeface="Calibri"/>
                <a:buNone/>
              </a:pPr>
              <a:r>
                <a:rPr lang="fr-FR" sz="2300">
                  <a:solidFill>
                    <a:schemeClr val="dk1"/>
                  </a:solidFill>
                  <a:latin typeface="Calibri"/>
                  <a:ea typeface="Calibri"/>
                  <a:cs typeface="Calibri"/>
                  <a:sym typeface="Calibri"/>
                </a:rPr>
                <a:t>3 ans de suite</a:t>
              </a:r>
              <a:endParaRPr/>
            </a:p>
          </p:txBody>
        </p:sp>
      </p:grpSp>
      <p:sp>
        <p:nvSpPr>
          <p:cNvPr id="666" name="Google Shape;666;p39"/>
          <p:cNvSpPr/>
          <p:nvPr/>
        </p:nvSpPr>
        <p:spPr>
          <a:xfrm>
            <a:off x="628650" y="2996952"/>
            <a:ext cx="3799334" cy="2952328"/>
          </a:xfrm>
          <a:prstGeom prst="rightArrowCallout">
            <a:avLst>
              <a:gd fmla="val 7302" name="adj1"/>
              <a:gd fmla="val 16151" name="adj2"/>
              <a:gd fmla="val 14233" name="adj3"/>
              <a:gd fmla="val 76671" name="adj4"/>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2400">
                <a:solidFill>
                  <a:schemeClr val="lt1"/>
                </a:solidFill>
                <a:latin typeface="Calibri"/>
                <a:ea typeface="Calibri"/>
                <a:cs typeface="Calibri"/>
                <a:sym typeface="Calibri"/>
              </a:rPr>
              <a:t>Au moins 1 signe à chaque épisode:</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 Fièvre&gt;38,3</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 ADP cervicale</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 Exsudat amygdalien </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 Strepto test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17</a:t>
            </a:r>
            <a:endParaRPr/>
          </a:p>
        </p:txBody>
      </p:sp>
      <p:sp>
        <p:nvSpPr>
          <p:cNvPr id="673" name="Google Shape;673;p4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17. Le traitement antibiotique, des angines bactériennes,</a:t>
            </a:r>
            <a:endParaRPr/>
          </a:p>
          <a:p>
            <a:pPr indent="-514350" lvl="0" marL="893763" rtl="0" algn="l">
              <a:lnSpc>
                <a:spcPct val="90000"/>
              </a:lnSpc>
              <a:spcBef>
                <a:spcPts val="1000"/>
              </a:spcBef>
              <a:spcAft>
                <a:spcPts val="0"/>
              </a:spcAft>
              <a:buClr>
                <a:schemeClr val="dk1"/>
              </a:buClr>
              <a:buSzPts val="2800"/>
              <a:buFont typeface="Calibri"/>
              <a:buAutoNum type="alphaUcPeriod"/>
            </a:pPr>
            <a:r>
              <a:rPr lang="fr-FR"/>
              <a:t>Précoce, accélère la disparition des symptômes </a:t>
            </a:r>
            <a:endParaRPr/>
          </a:p>
          <a:p>
            <a:pPr indent="-514350" lvl="0" marL="893763" rtl="0" algn="l">
              <a:lnSpc>
                <a:spcPct val="90000"/>
              </a:lnSpc>
              <a:spcBef>
                <a:spcPts val="1000"/>
              </a:spcBef>
              <a:spcAft>
                <a:spcPts val="0"/>
              </a:spcAft>
              <a:buClr>
                <a:schemeClr val="dk1"/>
              </a:buClr>
              <a:buSzPts val="2800"/>
              <a:buFont typeface="Calibri"/>
              <a:buAutoNum type="alphaUcPeriod"/>
            </a:pPr>
            <a:r>
              <a:rPr lang="fr-FR"/>
              <a:t>Réduit la période de contagiosité</a:t>
            </a:r>
            <a:endParaRPr/>
          </a:p>
          <a:p>
            <a:pPr indent="-514350" lvl="0" marL="893763" rtl="0" algn="l">
              <a:lnSpc>
                <a:spcPct val="90000"/>
              </a:lnSpc>
              <a:spcBef>
                <a:spcPts val="1000"/>
              </a:spcBef>
              <a:spcAft>
                <a:spcPts val="0"/>
              </a:spcAft>
              <a:buClr>
                <a:schemeClr val="dk1"/>
              </a:buClr>
              <a:buSzPts val="2800"/>
              <a:buFont typeface="Calibri"/>
              <a:buAutoNum type="alphaUcPeriod"/>
            </a:pPr>
            <a:r>
              <a:rPr lang="fr-FR"/>
              <a:t>Instauré au-delà de j9 prévient le RAA</a:t>
            </a:r>
            <a:endParaRPr/>
          </a:p>
          <a:p>
            <a:pPr indent="-514350" lvl="0" marL="893763" rtl="0" algn="l">
              <a:lnSpc>
                <a:spcPct val="90000"/>
              </a:lnSpc>
              <a:spcBef>
                <a:spcPts val="1000"/>
              </a:spcBef>
              <a:spcAft>
                <a:spcPts val="0"/>
              </a:spcAft>
              <a:buClr>
                <a:schemeClr val="dk1"/>
              </a:buClr>
              <a:buSzPts val="2800"/>
              <a:buFont typeface="Calibri"/>
              <a:buAutoNum type="alphaUcPeriod"/>
            </a:pPr>
            <a:r>
              <a:rPr lang="fr-FR"/>
              <a:t>La durée du traitement est de 6 jours </a:t>
            </a:r>
            <a:endParaRPr/>
          </a:p>
          <a:p>
            <a:pPr indent="-514350" lvl="0" marL="893763" rtl="0" algn="l">
              <a:lnSpc>
                <a:spcPct val="90000"/>
              </a:lnSpc>
              <a:spcBef>
                <a:spcPts val="1000"/>
              </a:spcBef>
              <a:spcAft>
                <a:spcPts val="0"/>
              </a:spcAft>
              <a:buClr>
                <a:schemeClr val="dk1"/>
              </a:buClr>
              <a:buSzPts val="2800"/>
              <a:buFont typeface="Calibri"/>
              <a:buAutoNum type="alphaUcPeriod"/>
            </a:pPr>
            <a:r>
              <a:rPr lang="fr-FR"/>
              <a:t>Se base sur le TDR dans toutes les formes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674" name="Google Shape;674;p40"/>
          <p:cNvSpPr/>
          <p:nvPr/>
        </p:nvSpPr>
        <p:spPr>
          <a:xfrm>
            <a:off x="4572000" y="548680"/>
            <a:ext cx="3664256"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4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Cas clinique 1</a:t>
            </a:r>
            <a:endParaRPr/>
          </a:p>
        </p:txBody>
      </p:sp>
      <p:sp>
        <p:nvSpPr>
          <p:cNvPr id="681" name="Google Shape;681;p4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fr-FR"/>
              <a:t>Amine, jeune de 19 ans, allergique à la pénicilline, consulte pour odynophagie intense dans un contexte fébrile d’installation brutale, sans toux ni rhinorrhée</a:t>
            </a:r>
            <a:endParaRPr/>
          </a:p>
          <a:p>
            <a:pPr indent="-228600" lvl="0" marL="228600" rtl="0" algn="l">
              <a:lnSpc>
                <a:spcPct val="90000"/>
              </a:lnSpc>
              <a:spcBef>
                <a:spcPts val="1000"/>
              </a:spcBef>
              <a:spcAft>
                <a:spcPts val="0"/>
              </a:spcAft>
              <a:buClr>
                <a:schemeClr val="dk1"/>
              </a:buClr>
              <a:buSzPts val="2800"/>
              <a:buChar char="•"/>
            </a:pPr>
            <a:r>
              <a:rPr lang="fr-FR"/>
              <a:t>A l’examen, </a:t>
            </a:r>
            <a:endParaRPr/>
          </a:p>
          <a:p>
            <a:pPr indent="-228600" lvl="1" marL="685800" rtl="0" algn="l">
              <a:lnSpc>
                <a:spcPct val="90000"/>
              </a:lnSpc>
              <a:spcBef>
                <a:spcPts val="500"/>
              </a:spcBef>
              <a:spcAft>
                <a:spcPts val="0"/>
              </a:spcAft>
              <a:buClr>
                <a:schemeClr val="dk1"/>
              </a:buClr>
              <a:buSzPts val="2400"/>
              <a:buChar char="•"/>
            </a:pPr>
            <a:r>
              <a:rPr lang="fr-FR"/>
              <a:t>Fièvre 39°8</a:t>
            </a:r>
            <a:endParaRPr/>
          </a:p>
          <a:p>
            <a:pPr indent="-228600" lvl="1" marL="685800" rtl="0" algn="l">
              <a:lnSpc>
                <a:spcPct val="90000"/>
              </a:lnSpc>
              <a:spcBef>
                <a:spcPts val="500"/>
              </a:spcBef>
              <a:spcAft>
                <a:spcPts val="0"/>
              </a:spcAft>
              <a:buClr>
                <a:schemeClr val="dk1"/>
              </a:buClr>
              <a:buSzPts val="2400"/>
              <a:buChar char="•"/>
            </a:pPr>
            <a:r>
              <a:rPr lang="fr-FR"/>
              <a:t>les amygdales sont hypertrophiées oedématiés, œdème de la luette</a:t>
            </a:r>
            <a:endParaRPr/>
          </a:p>
          <a:p>
            <a:pPr indent="-228600" lvl="1" marL="685800" rtl="0" algn="l">
              <a:lnSpc>
                <a:spcPct val="90000"/>
              </a:lnSpc>
              <a:spcBef>
                <a:spcPts val="500"/>
              </a:spcBef>
              <a:spcAft>
                <a:spcPts val="0"/>
              </a:spcAft>
              <a:buClr>
                <a:schemeClr val="dk1"/>
              </a:buClr>
              <a:buSzPts val="2400"/>
              <a:buChar char="•"/>
            </a:pPr>
            <a:r>
              <a:rPr lang="fr-FR"/>
              <a:t>Polyadénopathies cervicales diffuses douloureuses de 1 à 2 cm avec peau en regard saine</a:t>
            </a:r>
            <a:endParaRPr/>
          </a:p>
          <a:p>
            <a:pPr indent="-228600" lvl="0" marL="228600" rtl="0" algn="l">
              <a:lnSpc>
                <a:spcPct val="90000"/>
              </a:lnSpc>
              <a:spcBef>
                <a:spcPts val="1000"/>
              </a:spcBef>
              <a:spcAft>
                <a:spcPts val="0"/>
              </a:spcAft>
              <a:buClr>
                <a:schemeClr val="dk1"/>
              </a:buClr>
              <a:buSzPts val="2800"/>
              <a:buChar char="•"/>
            </a:pPr>
            <a:r>
              <a:rPr lang="fr-FR"/>
              <a:t>Diagnostic angine aigue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Cas clinique 1: </a:t>
            </a:r>
            <a:br>
              <a:rPr lang="fr-FR"/>
            </a:br>
            <a:r>
              <a:rPr lang="fr-FR"/>
              <a:t>QCM 18 </a:t>
            </a:r>
            <a:endParaRPr/>
          </a:p>
        </p:txBody>
      </p:sp>
      <p:sp>
        <p:nvSpPr>
          <p:cNvPr id="688" name="Google Shape;688;p4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18- Procédez au calcul du score de Mac Isaac chez ce malade: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0</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1</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2</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3</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4</a:t>
            </a:r>
            <a:endParaRPr/>
          </a:p>
        </p:txBody>
      </p:sp>
      <p:sp>
        <p:nvSpPr>
          <p:cNvPr id="689" name="Google Shape;689;p42"/>
          <p:cNvSpPr/>
          <p:nvPr/>
        </p:nvSpPr>
        <p:spPr>
          <a:xfrm>
            <a:off x="5652120" y="548680"/>
            <a:ext cx="2584136"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E</a:t>
            </a:r>
            <a:endParaRPr/>
          </a:p>
        </p:txBody>
      </p:sp>
      <p:sp>
        <p:nvSpPr>
          <p:cNvPr id="690" name="Google Shape;690;p42"/>
          <p:cNvSpPr/>
          <p:nvPr/>
        </p:nvSpPr>
        <p:spPr>
          <a:xfrm>
            <a:off x="2339752" y="2852936"/>
            <a:ext cx="5760640" cy="3600400"/>
          </a:xfrm>
          <a:prstGeom prst="rect">
            <a:avLst/>
          </a:prstGeom>
          <a:gradFill>
            <a:gsLst>
              <a:gs pos="0">
                <a:srgbClr val="F08B54"/>
              </a:gs>
              <a:gs pos="50000">
                <a:srgbClr val="F67A26"/>
              </a:gs>
              <a:gs pos="100000">
                <a:srgbClr val="E36A18"/>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b="1" lang="fr-FR" sz="2800">
                <a:solidFill>
                  <a:schemeClr val="lt1"/>
                </a:solidFill>
                <a:latin typeface="Calibri"/>
                <a:ea typeface="Calibri"/>
                <a:cs typeface="Calibri"/>
                <a:sym typeface="Calibri"/>
              </a:rPr>
              <a:t>Fièvre &gt;38 °: 1</a:t>
            </a:r>
            <a:endParaRPr/>
          </a:p>
          <a:p>
            <a:pPr indent="0" lvl="0" marL="0" marR="0" rtl="0" algn="l">
              <a:lnSpc>
                <a:spcPct val="150000"/>
              </a:lnSpc>
              <a:spcBef>
                <a:spcPts val="0"/>
              </a:spcBef>
              <a:spcAft>
                <a:spcPts val="0"/>
              </a:spcAft>
              <a:buNone/>
            </a:pPr>
            <a:r>
              <a:rPr b="1" lang="fr-FR" sz="2800">
                <a:solidFill>
                  <a:schemeClr val="lt1"/>
                </a:solidFill>
                <a:latin typeface="Calibri"/>
                <a:ea typeface="Calibri"/>
                <a:cs typeface="Calibri"/>
                <a:sym typeface="Calibri"/>
              </a:rPr>
              <a:t>Absence de toux: 1</a:t>
            </a:r>
            <a:endParaRPr/>
          </a:p>
          <a:p>
            <a:pPr indent="0" lvl="0" marL="0" marR="0" rtl="0" algn="l">
              <a:lnSpc>
                <a:spcPct val="150000"/>
              </a:lnSpc>
              <a:spcBef>
                <a:spcPts val="0"/>
              </a:spcBef>
              <a:spcAft>
                <a:spcPts val="0"/>
              </a:spcAft>
              <a:buNone/>
            </a:pPr>
            <a:r>
              <a:rPr b="1" lang="fr-FR" sz="2800">
                <a:solidFill>
                  <a:schemeClr val="lt1"/>
                </a:solidFill>
                <a:latin typeface="Calibri"/>
                <a:ea typeface="Calibri"/>
                <a:cs typeface="Calibri"/>
                <a:sym typeface="Calibri"/>
              </a:rPr>
              <a:t>Adénopathies cervicales sensibles:1</a:t>
            </a:r>
            <a:endParaRPr/>
          </a:p>
          <a:p>
            <a:pPr indent="0" lvl="0" marL="0" marR="0" rtl="0" algn="l">
              <a:lnSpc>
                <a:spcPct val="150000"/>
              </a:lnSpc>
              <a:spcBef>
                <a:spcPts val="0"/>
              </a:spcBef>
              <a:spcAft>
                <a:spcPts val="0"/>
              </a:spcAft>
              <a:buNone/>
            </a:pPr>
            <a:r>
              <a:rPr b="1" lang="fr-FR" sz="2800">
                <a:solidFill>
                  <a:schemeClr val="lt1"/>
                </a:solidFill>
                <a:latin typeface="Calibri"/>
                <a:ea typeface="Calibri"/>
                <a:cs typeface="Calibri"/>
                <a:sym typeface="Calibri"/>
              </a:rPr>
              <a:t>Atteinte amygdalienne: 1</a:t>
            </a:r>
            <a:endParaRPr/>
          </a:p>
          <a:p>
            <a:pPr indent="0" lvl="0" marL="0" marR="0" rtl="0" algn="l">
              <a:lnSpc>
                <a:spcPct val="150000"/>
              </a:lnSpc>
              <a:spcBef>
                <a:spcPts val="0"/>
              </a:spcBef>
              <a:spcAft>
                <a:spcPts val="0"/>
              </a:spcAft>
              <a:buNone/>
            </a:pPr>
            <a:r>
              <a:rPr b="1" lang="fr-FR" sz="2800">
                <a:solidFill>
                  <a:schemeClr val="lt1"/>
                </a:solidFill>
                <a:latin typeface="Calibri"/>
                <a:ea typeface="Calibri"/>
                <a:cs typeface="Calibri"/>
                <a:sym typeface="Calibri"/>
              </a:rPr>
              <a:t>Age 15-44 ans :0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4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Cas clinique 1</a:t>
            </a:r>
            <a:br>
              <a:rPr lang="fr-FR"/>
            </a:br>
            <a:r>
              <a:rPr lang="fr-FR"/>
              <a:t>QCM 19</a:t>
            </a:r>
            <a:endParaRPr/>
          </a:p>
        </p:txBody>
      </p:sp>
      <p:sp>
        <p:nvSpPr>
          <p:cNvPr id="697" name="Google Shape;697;p4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19. En l’absence d’allergie aux céphalosporines, Quelle (s) est (sont)l’(les)alternative(s) possible?</a:t>
            </a:r>
            <a:endParaRPr/>
          </a:p>
          <a:p>
            <a:pPr indent="-514350" lvl="0" marL="893763" rtl="0" algn="l">
              <a:lnSpc>
                <a:spcPct val="90000"/>
              </a:lnSpc>
              <a:spcBef>
                <a:spcPts val="1000"/>
              </a:spcBef>
              <a:spcAft>
                <a:spcPts val="0"/>
              </a:spcAft>
              <a:buClr>
                <a:schemeClr val="dk1"/>
              </a:buClr>
              <a:buSzPts val="2800"/>
              <a:buAutoNum type="alphaUcPeriod"/>
            </a:pPr>
            <a:r>
              <a:rPr lang="fr-FR"/>
              <a:t>Amoxicilline 1gx2/j 06j</a:t>
            </a:r>
            <a:endParaRPr/>
          </a:p>
          <a:p>
            <a:pPr indent="-514350" lvl="0" marL="893763" rtl="0" algn="l">
              <a:lnSpc>
                <a:spcPct val="90000"/>
              </a:lnSpc>
              <a:spcBef>
                <a:spcPts val="1000"/>
              </a:spcBef>
              <a:spcAft>
                <a:spcPts val="0"/>
              </a:spcAft>
              <a:buClr>
                <a:schemeClr val="dk1"/>
              </a:buClr>
              <a:buSzPts val="2800"/>
              <a:buAutoNum type="alphaUcPeriod"/>
            </a:pPr>
            <a:r>
              <a:rPr lang="fr-FR"/>
              <a:t>Céfuroxime axétil 250mg x 2/ j pendant 04j</a:t>
            </a:r>
            <a:endParaRPr/>
          </a:p>
          <a:p>
            <a:pPr indent="-514350" lvl="0" marL="893763" rtl="0" algn="l">
              <a:lnSpc>
                <a:spcPct val="90000"/>
              </a:lnSpc>
              <a:spcBef>
                <a:spcPts val="1000"/>
              </a:spcBef>
              <a:spcAft>
                <a:spcPts val="0"/>
              </a:spcAft>
              <a:buClr>
                <a:schemeClr val="dk1"/>
              </a:buClr>
              <a:buSzPts val="2800"/>
              <a:buAutoNum type="alphaUcPeriod"/>
            </a:pPr>
            <a:r>
              <a:rPr lang="fr-FR"/>
              <a:t>Paracétamol 1gx3/j 05j</a:t>
            </a:r>
            <a:endParaRPr/>
          </a:p>
          <a:p>
            <a:pPr indent="-514350" lvl="0" marL="893763" rtl="0" algn="l">
              <a:lnSpc>
                <a:spcPct val="90000"/>
              </a:lnSpc>
              <a:spcBef>
                <a:spcPts val="1000"/>
              </a:spcBef>
              <a:spcAft>
                <a:spcPts val="0"/>
              </a:spcAft>
              <a:buClr>
                <a:schemeClr val="dk1"/>
              </a:buClr>
              <a:buSzPts val="2800"/>
              <a:buAutoNum type="alphaUcPeriod"/>
            </a:pPr>
            <a:r>
              <a:rPr lang="fr-FR"/>
              <a:t>Azithromycine 500mg/j 03 j</a:t>
            </a:r>
            <a:endParaRPr/>
          </a:p>
          <a:p>
            <a:pPr indent="-514350" lvl="0" marL="893763" rtl="0" algn="l">
              <a:lnSpc>
                <a:spcPct val="90000"/>
              </a:lnSpc>
              <a:spcBef>
                <a:spcPts val="1000"/>
              </a:spcBef>
              <a:spcAft>
                <a:spcPts val="0"/>
              </a:spcAft>
              <a:buClr>
                <a:schemeClr val="dk1"/>
              </a:buClr>
              <a:buSzPts val="2800"/>
              <a:buAutoNum type="alphaUcPeriod"/>
            </a:pPr>
            <a:r>
              <a:rPr lang="fr-FR"/>
              <a:t>Ibuprofène 400mgx2/j 03j</a:t>
            </a:r>
            <a:endParaRPr/>
          </a:p>
        </p:txBody>
      </p:sp>
      <p:sp>
        <p:nvSpPr>
          <p:cNvPr id="698" name="Google Shape;698;p43"/>
          <p:cNvSpPr/>
          <p:nvPr/>
        </p:nvSpPr>
        <p:spPr>
          <a:xfrm>
            <a:off x="5580112" y="548680"/>
            <a:ext cx="2656144"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 angine eryth ou EP bact</a:t>
            </a:r>
            <a:endParaRPr/>
          </a:p>
        </p:txBody>
      </p:sp>
      <p:graphicFrame>
        <p:nvGraphicFramePr>
          <p:cNvPr id="705" name="Google Shape;705;p44"/>
          <p:cNvGraphicFramePr/>
          <p:nvPr/>
        </p:nvGraphicFramePr>
        <p:xfrm>
          <a:off x="628650" y="1628800"/>
          <a:ext cx="3000000" cy="3000000"/>
        </p:xfrm>
        <a:graphic>
          <a:graphicData uri="http://schemas.openxmlformats.org/drawingml/2006/table">
            <a:tbl>
              <a:tblPr bandRow="1" firstRow="1">
                <a:noFill/>
                <a:tableStyleId>{5429A695-04D7-4066-8B29-3934B9ECBAD7}</a:tableStyleId>
              </a:tblPr>
              <a:tblGrid>
                <a:gridCol w="1279050"/>
                <a:gridCol w="2160250"/>
                <a:gridCol w="1292725"/>
                <a:gridCol w="2091650"/>
                <a:gridCol w="1063025"/>
              </a:tblGrid>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fr-FR" sz="1800"/>
                        <a:t>Adulte </a:t>
                      </a:r>
                      <a:endParaRPr/>
                    </a:p>
                  </a:txBody>
                  <a:tcPr marT="45725" marB="45725" marR="91450" marL="91450"/>
                </a:tc>
                <a:tc hMerge="1"/>
                <a:tc gridSpan="2">
                  <a:txBody>
                    <a:bodyPr/>
                    <a:lstStyle/>
                    <a:p>
                      <a:pPr indent="0" lvl="0" marL="0" marR="0" rtl="0" algn="ctr">
                        <a:spcBef>
                          <a:spcPts val="0"/>
                        </a:spcBef>
                        <a:spcAft>
                          <a:spcPts val="0"/>
                        </a:spcAft>
                        <a:buNone/>
                      </a:pPr>
                      <a:r>
                        <a:rPr lang="fr-FR" sz="1800"/>
                        <a:t>Enfant </a:t>
                      </a:r>
                      <a:endParaRPr/>
                    </a:p>
                  </a:txBody>
                  <a:tcPr marT="45725" marB="45725" marR="91450" marL="91450"/>
                </a:tc>
                <a:tc hMerge="1"/>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 </a:t>
                      </a:r>
                      <a:endParaRPr/>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fr-FR" sz="1800"/>
                        <a:t>1</a:t>
                      </a:r>
                      <a:r>
                        <a:rPr baseline="30000" lang="fr-FR" sz="1800"/>
                        <a:t>ère</a:t>
                      </a:r>
                      <a:r>
                        <a:rPr lang="fr-FR" sz="1800"/>
                        <a:t> intention</a:t>
                      </a:r>
                      <a:endParaRPr/>
                    </a:p>
                  </a:txBody>
                  <a:tcPr marT="45725" marB="45725" marR="91450" marL="91450"/>
                </a:tc>
                <a:tc>
                  <a:txBody>
                    <a:bodyPr/>
                    <a:lstStyle/>
                    <a:p>
                      <a:pPr indent="0" lvl="0" marL="0" marR="0" rtl="0" algn="l">
                        <a:spcBef>
                          <a:spcPts val="0"/>
                        </a:spcBef>
                        <a:spcAft>
                          <a:spcPts val="0"/>
                        </a:spcAft>
                        <a:buNone/>
                      </a:pPr>
                      <a:r>
                        <a:rPr lang="fr-FR" sz="1800"/>
                        <a:t>Amoxicilline  1gx2/j</a:t>
                      </a:r>
                      <a:endParaRPr/>
                    </a:p>
                  </a:txBody>
                  <a:tcPr marT="45725" marB="45725" marR="91450" marL="91450"/>
                </a:tc>
                <a:tc>
                  <a:txBody>
                    <a:bodyPr/>
                    <a:lstStyle/>
                    <a:p>
                      <a:pPr indent="0" lvl="0" marL="0" marR="0" rtl="0" algn="l">
                        <a:spcBef>
                          <a:spcPts val="0"/>
                        </a:spcBef>
                        <a:spcAft>
                          <a:spcPts val="0"/>
                        </a:spcAft>
                        <a:buNone/>
                      </a:pPr>
                      <a:r>
                        <a:rPr lang="fr-FR" sz="1800"/>
                        <a:t>6j</a:t>
                      </a:r>
                      <a:endParaRPr/>
                    </a:p>
                  </a:txBody>
                  <a:tcPr marT="45725" marB="45725" marR="91450" marL="91450"/>
                </a:tc>
                <a:tc>
                  <a:txBody>
                    <a:bodyPr/>
                    <a:lstStyle/>
                    <a:p>
                      <a:pPr indent="0" lvl="0" marL="0" marR="0" rtl="0" algn="l">
                        <a:spcBef>
                          <a:spcPts val="0"/>
                        </a:spcBef>
                        <a:spcAft>
                          <a:spcPts val="0"/>
                        </a:spcAft>
                        <a:buNone/>
                      </a:pPr>
                      <a:r>
                        <a:rPr lang="fr-FR" sz="1800"/>
                        <a:t>50mg/kg/j en 2 prises</a:t>
                      </a:r>
                      <a:endParaRPr/>
                    </a:p>
                  </a:txBody>
                  <a:tcPr marT="45725" marB="45725" marR="91450" marL="91450"/>
                </a:tc>
                <a:tc>
                  <a:txBody>
                    <a:bodyPr/>
                    <a:lstStyle/>
                    <a:p>
                      <a:pPr indent="0" lvl="0" marL="0" marR="0" rtl="0" algn="l">
                        <a:spcBef>
                          <a:spcPts val="0"/>
                        </a:spcBef>
                        <a:spcAft>
                          <a:spcPts val="0"/>
                        </a:spcAft>
                        <a:buNone/>
                      </a:pPr>
                      <a:r>
                        <a:rPr lang="fr-FR" sz="1800"/>
                        <a:t>6j</a:t>
                      </a:r>
                      <a:endParaRPr/>
                    </a:p>
                  </a:txBody>
                  <a:tcPr marT="45725" marB="45725" marR="91450" marL="91450"/>
                </a:tc>
              </a:tr>
              <a:tr h="370850">
                <a:tc>
                  <a:txBody>
                    <a:bodyPr/>
                    <a:lstStyle/>
                    <a:p>
                      <a:pPr indent="0" lvl="0" marL="0" marR="0" rtl="0" algn="l">
                        <a:spcBef>
                          <a:spcPts val="0"/>
                        </a:spcBef>
                        <a:spcAft>
                          <a:spcPts val="0"/>
                        </a:spcAft>
                        <a:buNone/>
                      </a:pPr>
                      <a:r>
                        <a:rPr lang="fr-FR" sz="1800"/>
                        <a:t>Allergie péni</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fr-FR" sz="1800"/>
                        <a:t>-Céfuroxime-axétil 250mgx2/j</a:t>
                      </a:r>
                      <a:endParaRPr/>
                    </a:p>
                    <a:p>
                      <a:pPr indent="0" lvl="0" marL="0" marR="0" rtl="0" algn="l">
                        <a:lnSpc>
                          <a:spcPct val="100000"/>
                        </a:lnSpc>
                        <a:spcBef>
                          <a:spcPts val="0"/>
                        </a:spcBef>
                        <a:spcAft>
                          <a:spcPts val="0"/>
                        </a:spcAft>
                        <a:buClr>
                          <a:schemeClr val="dk1"/>
                        </a:buClr>
                        <a:buSzPts val="1800"/>
                        <a:buFont typeface="Calibri"/>
                        <a:buNone/>
                      </a:pPr>
                      <a:r>
                        <a:rPr lang="fr-FR" sz="1800"/>
                        <a:t>-Cefpodoxime-proxétil : 100 mgx2/j</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4j</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5j</a:t>
                      </a:r>
                      <a:endParaRPr/>
                    </a:p>
                  </a:txBody>
                  <a:tcPr marT="45725" marB="45725" marR="91450" marL="91450"/>
                </a:tc>
                <a:tc>
                  <a:txBody>
                    <a:bodyPr/>
                    <a:lstStyle/>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Cefpodoxime-proxétil  8mg/kg/j en 2 prises</a:t>
                      </a:r>
                      <a:endParaRPr/>
                    </a:p>
                  </a:txBody>
                  <a:tcPr marT="45725" marB="45725" marR="91450" marL="91450"/>
                </a:tc>
                <a:tc>
                  <a:txBody>
                    <a:bodyPr/>
                    <a:lstStyle/>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5j</a:t>
                      </a:r>
                      <a:endParaRPr/>
                    </a:p>
                  </a:txBody>
                  <a:tcPr marT="45725" marB="45725" marR="91450" marL="91450"/>
                </a:tc>
              </a:tr>
              <a:tr h="370850">
                <a:tc>
                  <a:txBody>
                    <a:bodyPr/>
                    <a:lstStyle/>
                    <a:p>
                      <a:pPr indent="0" lvl="0" marL="0" marR="0" rtl="0" algn="l">
                        <a:spcBef>
                          <a:spcPts val="0"/>
                        </a:spcBef>
                        <a:spcAft>
                          <a:spcPts val="0"/>
                        </a:spcAft>
                        <a:buNone/>
                      </a:pPr>
                      <a:r>
                        <a:rPr lang="fr-FR" sz="1800"/>
                        <a:t>Allergie Blact</a:t>
                      </a:r>
                      <a:endParaRPr sz="1800"/>
                    </a:p>
                  </a:txBody>
                  <a:tcPr marT="45725" marB="45725" marR="91450" marL="91450"/>
                </a:tc>
                <a:tc>
                  <a:txBody>
                    <a:bodyPr/>
                    <a:lstStyle/>
                    <a:p>
                      <a:pPr indent="0" lvl="0" marL="0" marR="0" rtl="0" algn="l">
                        <a:spcBef>
                          <a:spcPts val="0"/>
                        </a:spcBef>
                        <a:spcAft>
                          <a:spcPts val="0"/>
                        </a:spcAft>
                        <a:buNone/>
                      </a:pPr>
                      <a:r>
                        <a:rPr lang="fr-FR" sz="1800"/>
                        <a:t>-Clarithromycine: 500 mg/j</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fr-FR" sz="1800"/>
                        <a:t>5j</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-Clarithromycine: </a:t>
                      </a:r>
                      <a:endParaRPr/>
                    </a:p>
                    <a:p>
                      <a:pPr indent="0" lvl="0" marL="0" marR="0" rtl="0" algn="l">
                        <a:spcBef>
                          <a:spcPts val="0"/>
                        </a:spcBef>
                        <a:spcAft>
                          <a:spcPts val="0"/>
                        </a:spcAft>
                        <a:buNone/>
                      </a:pPr>
                      <a:r>
                        <a:rPr lang="fr-FR" sz="1800"/>
                        <a:t>15mg/kg/j en 2 prises</a:t>
                      </a:r>
                      <a:endParaRPr/>
                    </a:p>
                  </a:txBody>
                  <a:tcPr marT="45725" marB="45725" marR="91450" marL="91450"/>
                </a:tc>
                <a:tc>
                  <a:txBody>
                    <a:bodyPr/>
                    <a:lstStyle/>
                    <a:p>
                      <a:pPr indent="0" lvl="0" marL="0" marR="0" rtl="0" algn="l">
                        <a:spcBef>
                          <a:spcPts val="0"/>
                        </a:spcBef>
                        <a:spcAft>
                          <a:spcPts val="0"/>
                        </a:spcAft>
                        <a:buNone/>
                      </a:pPr>
                      <a:r>
                        <a:rPr lang="fr-FR" sz="1800"/>
                        <a:t>5j</a:t>
                      </a:r>
                      <a:endParaRPr/>
                    </a:p>
                  </a:txBody>
                  <a:tcPr marT="45725" marB="45725" marR="91450" marL="91450"/>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4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Autres angines</a:t>
            </a:r>
            <a:endParaRPr/>
          </a:p>
        </p:txBody>
      </p:sp>
      <p:graphicFrame>
        <p:nvGraphicFramePr>
          <p:cNvPr id="712" name="Google Shape;712;p45"/>
          <p:cNvGraphicFramePr/>
          <p:nvPr/>
        </p:nvGraphicFramePr>
        <p:xfrm>
          <a:off x="628650" y="2276872"/>
          <a:ext cx="3000000" cy="3000000"/>
        </p:xfrm>
        <a:graphic>
          <a:graphicData uri="http://schemas.openxmlformats.org/drawingml/2006/table">
            <a:tbl>
              <a:tblPr bandRow="1" firstRow="1">
                <a:noFill/>
                <a:tableStyleId>{31871F7C-9020-4AF0-9F19-80E7EBDFFE0E}</a:tableStyleId>
              </a:tblPr>
              <a:tblGrid>
                <a:gridCol w="1279050"/>
                <a:gridCol w="2160250"/>
                <a:gridCol w="1143750"/>
                <a:gridCol w="2240625"/>
                <a:gridCol w="1063025"/>
              </a:tblGrid>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fr-FR" sz="1800"/>
                        <a:t>Adulte </a:t>
                      </a:r>
                      <a:endParaRPr/>
                    </a:p>
                  </a:txBody>
                  <a:tcPr marT="45725" marB="45725" marR="91450" marL="91450"/>
                </a:tc>
                <a:tc hMerge="1"/>
                <a:tc gridSpan="2">
                  <a:txBody>
                    <a:bodyPr/>
                    <a:lstStyle/>
                    <a:p>
                      <a:pPr indent="0" lvl="0" marL="0" marR="0" rtl="0" algn="ctr">
                        <a:spcBef>
                          <a:spcPts val="0"/>
                        </a:spcBef>
                        <a:spcAft>
                          <a:spcPts val="0"/>
                        </a:spcAft>
                        <a:buNone/>
                      </a:pPr>
                      <a:r>
                        <a:rPr lang="fr-FR" sz="1800"/>
                        <a:t>Enfant </a:t>
                      </a:r>
                      <a:endParaRPr/>
                    </a:p>
                  </a:txBody>
                  <a:tcPr marT="45725" marB="45725" marR="91450" marL="91450"/>
                </a:tc>
                <a:tc hMerge="1"/>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 </a:t>
                      </a:r>
                      <a:endParaRPr/>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fr-FR" sz="1800"/>
                        <a:t>EP</a:t>
                      </a:r>
                      <a:endParaRPr/>
                    </a:p>
                  </a:txBody>
                  <a:tcPr marT="45725" marB="45725" marR="91450" marL="91450"/>
                </a:tc>
                <a:tc>
                  <a:txBody>
                    <a:bodyPr/>
                    <a:lstStyle/>
                    <a:p>
                      <a:pPr indent="0" lvl="0" marL="0" marR="0" rtl="0" algn="l">
                        <a:spcBef>
                          <a:spcPts val="0"/>
                        </a:spcBef>
                        <a:spcAft>
                          <a:spcPts val="0"/>
                        </a:spcAft>
                        <a:buNone/>
                      </a:pPr>
                      <a:r>
                        <a:rPr lang="fr-FR" sz="1800"/>
                        <a:t>Amoxicilline  1gx2/j</a:t>
                      </a:r>
                      <a:endParaRPr/>
                    </a:p>
                  </a:txBody>
                  <a:tcPr marT="45725" marB="45725" marR="91450" marL="91450"/>
                </a:tc>
                <a:tc>
                  <a:txBody>
                    <a:bodyPr/>
                    <a:lstStyle/>
                    <a:p>
                      <a:pPr indent="0" lvl="0" marL="0" marR="0" rtl="0" algn="l">
                        <a:spcBef>
                          <a:spcPts val="0"/>
                        </a:spcBef>
                        <a:spcAft>
                          <a:spcPts val="0"/>
                        </a:spcAft>
                        <a:buNone/>
                      </a:pPr>
                      <a:r>
                        <a:rPr lang="fr-FR" sz="1800"/>
                        <a:t>6j</a:t>
                      </a:r>
                      <a:endParaRPr/>
                    </a:p>
                  </a:txBody>
                  <a:tcPr marT="45725" marB="45725" marR="91450" marL="91450"/>
                </a:tc>
                <a:tc>
                  <a:txBody>
                    <a:bodyPr/>
                    <a:lstStyle/>
                    <a:p>
                      <a:pPr indent="0" lvl="0" marL="0" marR="0" rtl="0" algn="l">
                        <a:spcBef>
                          <a:spcPts val="0"/>
                        </a:spcBef>
                        <a:spcAft>
                          <a:spcPts val="0"/>
                        </a:spcAft>
                        <a:buNone/>
                      </a:pPr>
                      <a:r>
                        <a:rPr lang="fr-FR" sz="1800"/>
                        <a:t>50mg/kg/j en 2 prises</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6j</a:t>
                      </a:r>
                      <a:endParaRPr/>
                    </a:p>
                  </a:txBody>
                  <a:tcPr marT="45725" marB="45725" marR="91450" marL="91450"/>
                </a:tc>
              </a:tr>
              <a:tr h="370850">
                <a:tc>
                  <a:txBody>
                    <a:bodyPr/>
                    <a:lstStyle/>
                    <a:p>
                      <a:pPr indent="0" lvl="0" marL="0" marR="0" rtl="0" algn="l">
                        <a:spcBef>
                          <a:spcPts val="0"/>
                        </a:spcBef>
                        <a:spcAft>
                          <a:spcPts val="0"/>
                        </a:spcAft>
                        <a:buNone/>
                      </a:pPr>
                      <a:r>
                        <a:rPr lang="fr-FR" sz="1800"/>
                        <a:t>Diphtérie </a:t>
                      </a:r>
                      <a:endParaRPr/>
                    </a:p>
                  </a:txBody>
                  <a:tcPr marT="45725" marB="45725" marR="91450" marL="91450"/>
                </a:tc>
                <a:tc>
                  <a:txBody>
                    <a:bodyPr/>
                    <a:lstStyle/>
                    <a:p>
                      <a:pPr indent="0" lvl="0" marL="0" marR="0" rtl="0" algn="l">
                        <a:spcBef>
                          <a:spcPts val="0"/>
                        </a:spcBef>
                        <a:spcAft>
                          <a:spcPts val="0"/>
                        </a:spcAft>
                        <a:buNone/>
                      </a:pPr>
                      <a:r>
                        <a:rPr lang="fr-FR" sz="1800"/>
                        <a:t>Amoxicilline : </a:t>
                      </a:r>
                      <a:r>
                        <a:rPr b="1" lang="fr-FR" sz="1800"/>
                        <a:t>3 </a:t>
                      </a:r>
                      <a:r>
                        <a:rPr lang="fr-FR" sz="1800"/>
                        <a:t>g/ j</a:t>
                      </a:r>
                      <a:endParaRPr/>
                    </a:p>
                    <a:p>
                      <a:pPr indent="0" lvl="0" marL="0" marR="0" rtl="0" algn="l">
                        <a:spcBef>
                          <a:spcPts val="0"/>
                        </a:spcBef>
                        <a:spcAft>
                          <a:spcPts val="0"/>
                        </a:spcAft>
                        <a:buNone/>
                      </a:pPr>
                      <a:r>
                        <a:rPr lang="fr-FR" sz="1800"/>
                        <a:t>-Azithromycine: </a:t>
                      </a:r>
                      <a:endParaRPr/>
                    </a:p>
                    <a:p>
                      <a:pPr indent="0" lvl="0" marL="0" marR="0" rtl="0" algn="l">
                        <a:spcBef>
                          <a:spcPts val="0"/>
                        </a:spcBef>
                        <a:spcAft>
                          <a:spcPts val="0"/>
                        </a:spcAft>
                        <a:buNone/>
                      </a:pPr>
                      <a:r>
                        <a:rPr lang="fr-FR" sz="1800"/>
                        <a:t>500 mg/j</a:t>
                      </a:r>
                      <a:endParaRPr/>
                    </a:p>
                  </a:txBody>
                  <a:tcPr marT="45725" marB="45725" marR="91450" marL="91450"/>
                </a:tc>
                <a:tc>
                  <a:txBody>
                    <a:bodyPr/>
                    <a:lstStyle/>
                    <a:p>
                      <a:pPr indent="0" lvl="0" marL="0" marR="0" rtl="0" algn="l">
                        <a:spcBef>
                          <a:spcPts val="0"/>
                        </a:spcBef>
                        <a:spcAft>
                          <a:spcPts val="0"/>
                        </a:spcAft>
                        <a:buNone/>
                      </a:pPr>
                      <a:r>
                        <a:rPr b="1" lang="fr-FR" sz="1800"/>
                        <a:t>14j</a:t>
                      </a:r>
                      <a:endParaRPr/>
                    </a:p>
                    <a:p>
                      <a:pPr indent="0" lvl="0" marL="0" marR="0" rtl="0" algn="l">
                        <a:spcBef>
                          <a:spcPts val="0"/>
                        </a:spcBef>
                        <a:spcAft>
                          <a:spcPts val="0"/>
                        </a:spcAft>
                        <a:buNone/>
                      </a:pPr>
                      <a:r>
                        <a:rPr b="1" lang="fr-FR" sz="1800"/>
                        <a:t>5j</a:t>
                      </a:r>
                      <a:endParaRPr/>
                    </a:p>
                  </a:txBody>
                  <a:tcPr marT="45725" marB="45725" marR="91450" marL="91450"/>
                </a:tc>
                <a:tc>
                  <a:txBody>
                    <a:bodyPr/>
                    <a:lstStyle/>
                    <a:p>
                      <a:pPr indent="0" lvl="0" marL="0" marR="0" rtl="0" algn="l">
                        <a:spcBef>
                          <a:spcPts val="0"/>
                        </a:spcBef>
                        <a:spcAft>
                          <a:spcPts val="0"/>
                        </a:spcAft>
                        <a:buNone/>
                      </a:pPr>
                      <a:r>
                        <a:rPr lang="fr-FR" sz="1800"/>
                        <a:t>100mg/kg/j</a:t>
                      </a:r>
                      <a:endParaRPr/>
                    </a:p>
                  </a:txBody>
                  <a:tcPr marT="45725" marB="45725" marR="91450" marL="91450"/>
                </a:tc>
                <a:tc>
                  <a:txBody>
                    <a:bodyPr/>
                    <a:lstStyle/>
                    <a:p>
                      <a:pPr indent="0" lvl="0" marL="0" marR="0" rtl="0" algn="l">
                        <a:spcBef>
                          <a:spcPts val="0"/>
                        </a:spcBef>
                        <a:spcAft>
                          <a:spcPts val="0"/>
                        </a:spcAft>
                        <a:buNone/>
                      </a:pPr>
                      <a:r>
                        <a:rPr lang="fr-FR" sz="1800"/>
                        <a:t>14j</a:t>
                      </a:r>
                      <a:endParaRPr/>
                    </a:p>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fr-FR" sz="1800"/>
                        <a:t>Vincent</a:t>
                      </a:r>
                      <a:endParaRPr/>
                    </a:p>
                  </a:txBody>
                  <a:tcPr marT="45725" marB="45725" marR="91450" marL="91450"/>
                </a:tc>
                <a:tc>
                  <a:txBody>
                    <a:bodyPr/>
                    <a:lstStyle/>
                    <a:p>
                      <a:pPr indent="0" lvl="0" marL="0" marR="0" rtl="0" algn="l">
                        <a:spcBef>
                          <a:spcPts val="0"/>
                        </a:spcBef>
                        <a:spcAft>
                          <a:spcPts val="0"/>
                        </a:spcAft>
                        <a:buNone/>
                      </a:pPr>
                      <a:r>
                        <a:rPr lang="fr-FR" sz="1800"/>
                        <a:t>Amoxiclav</a:t>
                      </a:r>
                      <a:endParaRPr sz="1800"/>
                    </a:p>
                  </a:txBody>
                  <a:tcPr marT="45725" marB="45725" marR="91450" marL="91450"/>
                </a:tc>
                <a:tc>
                  <a:txBody>
                    <a:bodyPr/>
                    <a:lstStyle/>
                    <a:p>
                      <a:pPr indent="0" lvl="0" marL="0" marR="0" rtl="0" algn="l">
                        <a:spcBef>
                          <a:spcPts val="0"/>
                        </a:spcBef>
                        <a:spcAft>
                          <a:spcPts val="0"/>
                        </a:spcAft>
                        <a:buNone/>
                      </a:pPr>
                      <a:r>
                        <a:t/>
                      </a:r>
                      <a:endParaRPr b="1"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fr-FR" sz="1800"/>
                        <a:t>Phlegmon periamygdalien</a:t>
                      </a:r>
                      <a:endParaRPr sz="1800"/>
                    </a:p>
                  </a:txBody>
                  <a:tcPr marT="45725" marB="45725" marR="91450" marL="91450"/>
                </a:tc>
                <a:tc>
                  <a:txBody>
                    <a:bodyPr/>
                    <a:lstStyle/>
                    <a:p>
                      <a:pPr indent="0" lvl="0" marL="0" marR="0" rtl="0" algn="l">
                        <a:spcBef>
                          <a:spcPts val="0"/>
                        </a:spcBef>
                        <a:spcAft>
                          <a:spcPts val="0"/>
                        </a:spcAft>
                        <a:buNone/>
                      </a:pPr>
                      <a:r>
                        <a:rPr lang="fr-FR" sz="1800"/>
                        <a:t>Amoxiclav </a:t>
                      </a:r>
                      <a:endParaRPr/>
                    </a:p>
                    <a:p>
                      <a:pPr indent="0" lvl="0" marL="0" marR="0" rtl="0" algn="l">
                        <a:spcBef>
                          <a:spcPts val="0"/>
                        </a:spcBef>
                        <a:spcAft>
                          <a:spcPts val="0"/>
                        </a:spcAft>
                        <a:buNone/>
                      </a:pPr>
                      <a:r>
                        <a:rPr lang="fr-FR" sz="1800"/>
                        <a:t>-C3G+metronidazole IV ou clindamycine </a:t>
                      </a:r>
                      <a:endParaRPr/>
                    </a:p>
                  </a:txBody>
                  <a:tcPr marT="45725" marB="45725" marR="91450" marL="91450"/>
                </a:tc>
                <a:tc>
                  <a:txBody>
                    <a:bodyPr/>
                    <a:lstStyle/>
                    <a:p>
                      <a:pPr indent="0" lvl="0" marL="0" marR="0" rtl="0" algn="l">
                        <a:spcBef>
                          <a:spcPts val="0"/>
                        </a:spcBef>
                        <a:spcAft>
                          <a:spcPts val="0"/>
                        </a:spcAft>
                        <a:buNone/>
                      </a:pPr>
                      <a:r>
                        <a:rPr b="1" lang="fr-FR" sz="1800"/>
                        <a:t>10-14j</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4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Cas clinique 1</a:t>
            </a:r>
            <a:br>
              <a:rPr lang="fr-FR"/>
            </a:br>
            <a:r>
              <a:rPr lang="fr-FR"/>
              <a:t> </a:t>
            </a:r>
            <a:endParaRPr/>
          </a:p>
        </p:txBody>
      </p:sp>
      <p:sp>
        <p:nvSpPr>
          <p:cNvPr id="719" name="Google Shape;719;p4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800"/>
              <a:buNone/>
            </a:pPr>
            <a:r>
              <a:rPr b="1" lang="fr-FR"/>
              <a:t> Après guérison, Amine a reconsulté plusieurs fois pour angines blanches avec asthénie durable. En dehors des épisodes infectieux, il garde une odynophagie chronique .</a:t>
            </a:r>
            <a:endParaRPr/>
          </a:p>
          <a:p>
            <a:pPr indent="0" lvl="0" marL="0" rtl="0" algn="l">
              <a:lnSpc>
                <a:spcPct val="150000"/>
              </a:lnSpc>
              <a:spcBef>
                <a:spcPts val="1000"/>
              </a:spcBef>
              <a:spcAft>
                <a:spcPts val="0"/>
              </a:spcAft>
              <a:buClr>
                <a:schemeClr val="dk1"/>
              </a:buClr>
              <a:buSzPts val="2800"/>
              <a:buNone/>
            </a:pPr>
            <a:r>
              <a:rPr b="1" lang="fr-FR"/>
              <a:t>Le diagnostic d’amygdalite chronique est suspecté.</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Cas clinique 1</a:t>
            </a:r>
            <a:br>
              <a:rPr lang="fr-FR"/>
            </a:br>
            <a:endParaRPr/>
          </a:p>
        </p:txBody>
      </p:sp>
      <p:sp>
        <p:nvSpPr>
          <p:cNvPr id="726" name="Google Shape;726;p47"/>
          <p:cNvSpPr txBox="1"/>
          <p:nvPr>
            <p:ph idx="1" type="body"/>
          </p:nvPr>
        </p:nvSpPr>
        <p:spPr>
          <a:xfrm>
            <a:off x="628650" y="2060849"/>
            <a:ext cx="7886700" cy="4116114"/>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fr-FR"/>
              <a:t>20. L</a:t>
            </a:r>
            <a:r>
              <a:rPr b="1" lang="fr-FR"/>
              <a:t>a suspicion d’une amygdalite chronique est faite devant:</a:t>
            </a:r>
            <a:endParaRPr/>
          </a:p>
          <a:p>
            <a:pPr indent="-514350" lvl="0" marL="985838" rtl="0" algn="l">
              <a:lnSpc>
                <a:spcPct val="90000"/>
              </a:lnSpc>
              <a:spcBef>
                <a:spcPts val="1000"/>
              </a:spcBef>
              <a:spcAft>
                <a:spcPts val="0"/>
              </a:spcAft>
              <a:buClr>
                <a:schemeClr val="dk1"/>
              </a:buClr>
              <a:buSzPct val="100000"/>
              <a:buAutoNum type="alphaUcPeriod"/>
            </a:pPr>
            <a:r>
              <a:rPr lang="fr-FR"/>
              <a:t>Les amygdales qui reviennent à leur aspect normal</a:t>
            </a:r>
            <a:endParaRPr/>
          </a:p>
          <a:p>
            <a:pPr indent="-514350" lvl="0" marL="985838" rtl="0" algn="l">
              <a:lnSpc>
                <a:spcPct val="90000"/>
              </a:lnSpc>
              <a:spcBef>
                <a:spcPts val="1000"/>
              </a:spcBef>
              <a:spcAft>
                <a:spcPts val="0"/>
              </a:spcAft>
              <a:buClr>
                <a:schemeClr val="dk1"/>
              </a:buClr>
              <a:buSzPct val="100000"/>
              <a:buAutoNum type="alphaUcPeriod"/>
            </a:pPr>
            <a:r>
              <a:rPr lang="fr-FR"/>
              <a:t>Les adénopathies associées persistantes sont au groupe II</a:t>
            </a:r>
            <a:endParaRPr/>
          </a:p>
          <a:p>
            <a:pPr indent="-514350" lvl="0" marL="985838" rtl="0" algn="l">
              <a:lnSpc>
                <a:spcPct val="90000"/>
              </a:lnSpc>
              <a:spcBef>
                <a:spcPts val="1000"/>
              </a:spcBef>
              <a:spcAft>
                <a:spcPts val="0"/>
              </a:spcAft>
              <a:buClr>
                <a:schemeClr val="dk1"/>
              </a:buClr>
              <a:buSzPct val="100000"/>
              <a:buAutoNum type="alphaUcPeriod"/>
            </a:pPr>
            <a:r>
              <a:rPr lang="fr-FR"/>
              <a:t>Le bilan inflammatoire systématiquement demandé est pathologique </a:t>
            </a:r>
            <a:endParaRPr/>
          </a:p>
          <a:p>
            <a:pPr indent="-514350" lvl="0" marL="985838" rtl="0" algn="l">
              <a:lnSpc>
                <a:spcPct val="90000"/>
              </a:lnSpc>
              <a:spcBef>
                <a:spcPts val="1000"/>
              </a:spcBef>
              <a:spcAft>
                <a:spcPts val="0"/>
              </a:spcAft>
              <a:buClr>
                <a:schemeClr val="dk1"/>
              </a:buClr>
              <a:buSzPct val="100000"/>
              <a:buAutoNum type="alphaUcPeriod"/>
            </a:pPr>
            <a:r>
              <a:rPr lang="fr-FR"/>
              <a:t>Le traitement antiinflammatoire doit être prolongée </a:t>
            </a:r>
            <a:endParaRPr/>
          </a:p>
          <a:p>
            <a:pPr indent="-514350" lvl="0" marL="985838" rtl="0" algn="l">
              <a:lnSpc>
                <a:spcPct val="90000"/>
              </a:lnSpc>
              <a:spcBef>
                <a:spcPts val="1000"/>
              </a:spcBef>
              <a:spcAft>
                <a:spcPts val="0"/>
              </a:spcAft>
              <a:buClr>
                <a:schemeClr val="dk1"/>
              </a:buClr>
              <a:buSzPct val="100000"/>
              <a:buAutoNum type="alphaUcPeriod"/>
            </a:pPr>
            <a:r>
              <a:rPr lang="fr-FR"/>
              <a:t>  l’amygdalectomie est indiquée si échec du traitement antiinflammatoire </a:t>
            </a:r>
            <a:endParaRPr/>
          </a:p>
        </p:txBody>
      </p:sp>
      <p:sp>
        <p:nvSpPr>
          <p:cNvPr id="727" name="Google Shape;727;p47"/>
          <p:cNvSpPr/>
          <p:nvPr/>
        </p:nvSpPr>
        <p:spPr>
          <a:xfrm>
            <a:off x="4644008" y="548680"/>
            <a:ext cx="3592248" cy="1008112"/>
          </a:xfrm>
          <a:prstGeom prst="rect">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4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Groupes ganglionnaires</a:t>
            </a:r>
            <a:endParaRPr/>
          </a:p>
        </p:txBody>
      </p:sp>
      <p:sp>
        <p:nvSpPr>
          <p:cNvPr id="734" name="Google Shape;734;p4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fr-FR"/>
              <a:t>IA: sous mental</a:t>
            </a:r>
            <a:endParaRPr/>
          </a:p>
          <a:p>
            <a:pPr indent="-228600" lvl="0" marL="228600" rtl="0" algn="l">
              <a:lnSpc>
                <a:spcPct val="90000"/>
              </a:lnSpc>
              <a:spcBef>
                <a:spcPts val="1000"/>
              </a:spcBef>
              <a:spcAft>
                <a:spcPts val="0"/>
              </a:spcAft>
              <a:buClr>
                <a:schemeClr val="dk1"/>
              </a:buClr>
              <a:buSzPts val="2800"/>
              <a:buChar char="•"/>
            </a:pPr>
            <a:r>
              <a:rPr lang="fr-FR"/>
              <a:t>IB: Sous maxillaire</a:t>
            </a:r>
            <a:endParaRPr/>
          </a:p>
          <a:p>
            <a:pPr indent="-228600" lvl="0" marL="228600" rtl="0" algn="l">
              <a:lnSpc>
                <a:spcPct val="90000"/>
              </a:lnSpc>
              <a:spcBef>
                <a:spcPts val="1000"/>
              </a:spcBef>
              <a:spcAft>
                <a:spcPts val="0"/>
              </a:spcAft>
              <a:buClr>
                <a:schemeClr val="dk1"/>
              </a:buClr>
              <a:buSzPts val="2800"/>
              <a:buChar char="•"/>
            </a:pPr>
            <a:r>
              <a:rPr lang="fr-FR"/>
              <a:t>IIA: JC sup</a:t>
            </a:r>
            <a:endParaRPr/>
          </a:p>
          <a:p>
            <a:pPr indent="-228600" lvl="0" marL="228600" rtl="0" algn="l">
              <a:lnSpc>
                <a:spcPct val="90000"/>
              </a:lnSpc>
              <a:spcBef>
                <a:spcPts val="1000"/>
              </a:spcBef>
              <a:spcAft>
                <a:spcPts val="0"/>
              </a:spcAft>
              <a:buClr>
                <a:schemeClr val="dk1"/>
              </a:buClr>
              <a:buSzPts val="2800"/>
              <a:buChar char="•"/>
            </a:pPr>
            <a:r>
              <a:rPr lang="fr-FR"/>
              <a:t>IIB: rétrospinal</a:t>
            </a:r>
            <a:endParaRPr/>
          </a:p>
          <a:p>
            <a:pPr indent="-228600" lvl="0" marL="228600" rtl="0" algn="l">
              <a:lnSpc>
                <a:spcPct val="90000"/>
              </a:lnSpc>
              <a:spcBef>
                <a:spcPts val="1000"/>
              </a:spcBef>
              <a:spcAft>
                <a:spcPts val="0"/>
              </a:spcAft>
              <a:buClr>
                <a:schemeClr val="dk1"/>
              </a:buClr>
              <a:buSzPts val="2800"/>
              <a:buChar char="•"/>
            </a:pPr>
            <a:r>
              <a:rPr lang="fr-FR"/>
              <a:t>III: JC moyen</a:t>
            </a:r>
            <a:endParaRPr/>
          </a:p>
          <a:p>
            <a:pPr indent="-228600" lvl="0" marL="228600" rtl="0" algn="l">
              <a:lnSpc>
                <a:spcPct val="90000"/>
              </a:lnSpc>
              <a:spcBef>
                <a:spcPts val="1000"/>
              </a:spcBef>
              <a:spcAft>
                <a:spcPts val="0"/>
              </a:spcAft>
              <a:buClr>
                <a:schemeClr val="dk1"/>
              </a:buClr>
              <a:buSzPts val="2800"/>
              <a:buChar char="•"/>
            </a:pPr>
            <a:r>
              <a:rPr lang="fr-FR"/>
              <a:t>IV: JC inf , sus clav</a:t>
            </a:r>
            <a:endParaRPr/>
          </a:p>
          <a:p>
            <a:pPr indent="-228600" lvl="0" marL="228600" rtl="0" algn="l">
              <a:lnSpc>
                <a:spcPct val="90000"/>
              </a:lnSpc>
              <a:spcBef>
                <a:spcPts val="1000"/>
              </a:spcBef>
              <a:spcAft>
                <a:spcPts val="0"/>
              </a:spcAft>
              <a:buClr>
                <a:schemeClr val="dk1"/>
              </a:buClr>
              <a:buSzPts val="2800"/>
              <a:buChar char="•"/>
            </a:pPr>
            <a:r>
              <a:rPr lang="fr-FR"/>
              <a:t>VA: spinal sup</a:t>
            </a:r>
            <a:endParaRPr/>
          </a:p>
          <a:p>
            <a:pPr indent="-228600" lvl="0" marL="228600" rtl="0" algn="l">
              <a:lnSpc>
                <a:spcPct val="90000"/>
              </a:lnSpc>
              <a:spcBef>
                <a:spcPts val="1000"/>
              </a:spcBef>
              <a:spcAft>
                <a:spcPts val="0"/>
              </a:spcAft>
              <a:buClr>
                <a:schemeClr val="dk1"/>
              </a:buClr>
              <a:buSzPts val="2800"/>
              <a:buChar char="•"/>
            </a:pPr>
            <a:r>
              <a:rPr lang="fr-FR"/>
              <a:t>VB: spinal inf</a:t>
            </a:r>
            <a:endParaRPr/>
          </a:p>
          <a:p>
            <a:pPr indent="-228600" lvl="0" marL="228600" rtl="0" algn="l">
              <a:lnSpc>
                <a:spcPct val="90000"/>
              </a:lnSpc>
              <a:spcBef>
                <a:spcPts val="1000"/>
              </a:spcBef>
              <a:spcAft>
                <a:spcPts val="0"/>
              </a:spcAft>
              <a:buClr>
                <a:schemeClr val="dk1"/>
              </a:buClr>
              <a:buSzPts val="2800"/>
              <a:buChar char="•"/>
            </a:pPr>
            <a:r>
              <a:rPr lang="fr-FR"/>
              <a:t>VI: Mediastino récu.</a:t>
            </a:r>
            <a:endParaRPr/>
          </a:p>
        </p:txBody>
      </p:sp>
      <p:pic>
        <p:nvPicPr>
          <p:cNvPr descr="image" id="735" name="Google Shape;735;p48"/>
          <p:cNvPicPr preferRelativeResize="0"/>
          <p:nvPr/>
        </p:nvPicPr>
        <p:blipFill rotWithShape="1">
          <a:blip r:embed="rId3">
            <a:alphaModFix/>
          </a:blip>
          <a:srcRect b="0" l="0" r="0" t="0"/>
          <a:stretch/>
        </p:blipFill>
        <p:spPr>
          <a:xfrm>
            <a:off x="4330799" y="1628800"/>
            <a:ext cx="4561681" cy="504287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Attention aux autres formes et complications des angines </a:t>
            </a:r>
            <a:endParaRPr/>
          </a:p>
        </p:txBody>
      </p:sp>
      <p:sp>
        <p:nvSpPr>
          <p:cNvPr id="741" name="Google Shape;741;p4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5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Adénite/ Adénophlegmon/ Cellulite</a:t>
            </a:r>
            <a:endParaRPr/>
          </a:p>
        </p:txBody>
      </p:sp>
      <p:grpSp>
        <p:nvGrpSpPr>
          <p:cNvPr id="748" name="Google Shape;748;p50"/>
          <p:cNvGrpSpPr/>
          <p:nvPr/>
        </p:nvGrpSpPr>
        <p:grpSpPr>
          <a:xfrm>
            <a:off x="628650" y="1825625"/>
            <a:ext cx="7886700" cy="4351338"/>
            <a:chOff x="0" y="0"/>
            <a:chExt cx="7886700" cy="4351338"/>
          </a:xfrm>
        </p:grpSpPr>
        <p:sp>
          <p:nvSpPr>
            <p:cNvPr id="749" name="Google Shape;749;p50"/>
            <p:cNvSpPr/>
            <p:nvPr/>
          </p:nvSpPr>
          <p:spPr>
            <a:xfrm>
              <a:off x="0" y="0"/>
              <a:ext cx="7886700" cy="4351338"/>
            </a:xfrm>
            <a:prstGeom prst="roundRect">
              <a:avLst>
                <a:gd fmla="val 8500"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50"/>
            <p:cNvSpPr txBox="1"/>
            <p:nvPr/>
          </p:nvSpPr>
          <p:spPr>
            <a:xfrm>
              <a:off x="108329" y="108329"/>
              <a:ext cx="7670042" cy="4134680"/>
            </a:xfrm>
            <a:prstGeom prst="rect">
              <a:avLst/>
            </a:prstGeom>
            <a:noFill/>
            <a:ln>
              <a:noFill/>
            </a:ln>
          </p:spPr>
          <p:txBody>
            <a:bodyPr anchorCtr="0" anchor="t" bIns="337710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Calibri"/>
                <a:buNone/>
              </a:pPr>
              <a:r>
                <a:rPr lang="fr-FR" sz="3600">
                  <a:solidFill>
                    <a:schemeClr val="lt1"/>
                  </a:solidFill>
                  <a:latin typeface="Calibri"/>
                  <a:ea typeface="Calibri"/>
                  <a:cs typeface="Calibri"/>
                  <a:sym typeface="Calibri"/>
                </a:rPr>
                <a:t>Cellulite </a:t>
              </a:r>
              <a:endParaRPr/>
            </a:p>
          </p:txBody>
        </p:sp>
        <p:sp>
          <p:nvSpPr>
            <p:cNvPr id="751" name="Google Shape;751;p50"/>
            <p:cNvSpPr/>
            <p:nvPr/>
          </p:nvSpPr>
          <p:spPr>
            <a:xfrm>
              <a:off x="126932" y="1087834"/>
              <a:ext cx="1556834" cy="1493222"/>
            </a:xfrm>
            <a:prstGeom prst="roundRect">
              <a:avLst>
                <a:gd fmla="val 10500" name="adj"/>
              </a:avLst>
            </a:prstGeom>
            <a:solidFill>
              <a:schemeClr val="lt1">
                <a:alpha val="89803"/>
              </a:schemeClr>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50"/>
            <p:cNvSpPr txBox="1"/>
            <p:nvPr/>
          </p:nvSpPr>
          <p:spPr>
            <a:xfrm>
              <a:off x="172854" y="1133756"/>
              <a:ext cx="1464990" cy="140137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Tissu graisseux</a:t>
              </a:r>
              <a:endParaRPr/>
            </a:p>
          </p:txBody>
        </p:sp>
        <p:sp>
          <p:nvSpPr>
            <p:cNvPr id="753" name="Google Shape;753;p50"/>
            <p:cNvSpPr/>
            <p:nvPr/>
          </p:nvSpPr>
          <p:spPr>
            <a:xfrm>
              <a:off x="126932" y="2639052"/>
              <a:ext cx="1556834" cy="1493222"/>
            </a:xfrm>
            <a:prstGeom prst="roundRect">
              <a:avLst>
                <a:gd fmla="val 10500" name="adj"/>
              </a:avLst>
            </a:prstGeom>
            <a:solidFill>
              <a:schemeClr val="lt1">
                <a:alpha val="89803"/>
              </a:schemeClr>
            </a:solidFill>
            <a:ln cap="flat" cmpd="sng" w="12700">
              <a:solidFill>
                <a:srgbClr val="DE794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0"/>
            <p:cNvSpPr txBox="1"/>
            <p:nvPr/>
          </p:nvSpPr>
          <p:spPr>
            <a:xfrm>
              <a:off x="172854" y="2684974"/>
              <a:ext cx="1464990" cy="140137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Inflammation</a:t>
              </a:r>
              <a:endParaRPr/>
            </a:p>
            <a:p>
              <a:pPr indent="0" lvl="0" marL="0" marR="0" rtl="0" algn="ctr">
                <a:lnSpc>
                  <a:spcPct val="90000"/>
                </a:lnSpc>
                <a:spcBef>
                  <a:spcPts val="63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suppuration</a:t>
              </a:r>
              <a:endParaRPr/>
            </a:p>
          </p:txBody>
        </p:sp>
        <p:sp>
          <p:nvSpPr>
            <p:cNvPr id="755" name="Google Shape;755;p50"/>
            <p:cNvSpPr/>
            <p:nvPr/>
          </p:nvSpPr>
          <p:spPr>
            <a:xfrm>
              <a:off x="1863573" y="1087834"/>
              <a:ext cx="5824185" cy="3045936"/>
            </a:xfrm>
            <a:prstGeom prst="roundRect">
              <a:avLst>
                <a:gd fmla="val 10500" name="adj"/>
              </a:avLst>
            </a:prstGeom>
            <a:solidFill>
              <a:srgbClr val="C47F6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50"/>
            <p:cNvSpPr txBox="1"/>
            <p:nvPr/>
          </p:nvSpPr>
          <p:spPr>
            <a:xfrm>
              <a:off x="1957246" y="1181507"/>
              <a:ext cx="5636839" cy="2858590"/>
            </a:xfrm>
            <a:prstGeom prst="rect">
              <a:avLst/>
            </a:prstGeom>
            <a:noFill/>
            <a:ln>
              <a:noFill/>
            </a:ln>
          </p:spPr>
          <p:txBody>
            <a:bodyPr anchorCtr="0" anchor="t" bIns="1934150"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Calibri"/>
                <a:buNone/>
              </a:pPr>
              <a:r>
                <a:rPr lang="fr-FR" sz="3600">
                  <a:solidFill>
                    <a:schemeClr val="lt1"/>
                  </a:solidFill>
                  <a:latin typeface="Calibri"/>
                  <a:ea typeface="Calibri"/>
                  <a:cs typeface="Calibri"/>
                  <a:sym typeface="Calibri"/>
                </a:rPr>
                <a:t>Adénophlegmon </a:t>
              </a:r>
              <a:endParaRPr/>
            </a:p>
          </p:txBody>
        </p:sp>
        <p:sp>
          <p:nvSpPr>
            <p:cNvPr id="757" name="Google Shape;757;p50"/>
            <p:cNvSpPr/>
            <p:nvPr/>
          </p:nvSpPr>
          <p:spPr>
            <a:xfrm>
              <a:off x="2071137" y="2153912"/>
              <a:ext cx="1619792" cy="558434"/>
            </a:xfrm>
            <a:prstGeom prst="roundRect">
              <a:avLst>
                <a:gd fmla="val 10500" name="adj"/>
              </a:avLst>
            </a:prstGeom>
            <a:solidFill>
              <a:schemeClr val="lt1">
                <a:alpha val="89803"/>
              </a:schemeClr>
            </a:solidFill>
            <a:ln cap="flat" cmpd="sng" w="12700">
              <a:solidFill>
                <a:srgbClr val="D07A5B"/>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50"/>
            <p:cNvSpPr txBox="1"/>
            <p:nvPr/>
          </p:nvSpPr>
          <p:spPr>
            <a:xfrm>
              <a:off x="2088311" y="2171086"/>
              <a:ext cx="1585444" cy="524086"/>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Suppuration </a:t>
              </a:r>
              <a:endParaRPr/>
            </a:p>
          </p:txBody>
        </p:sp>
        <p:sp>
          <p:nvSpPr>
            <p:cNvPr id="759" name="Google Shape;759;p50"/>
            <p:cNvSpPr/>
            <p:nvPr/>
          </p:nvSpPr>
          <p:spPr>
            <a:xfrm>
              <a:off x="2071137" y="2750066"/>
              <a:ext cx="1619792" cy="558434"/>
            </a:xfrm>
            <a:prstGeom prst="roundRect">
              <a:avLst>
                <a:gd fmla="val 10500" name="adj"/>
              </a:avLst>
            </a:prstGeom>
            <a:solidFill>
              <a:schemeClr val="lt1">
                <a:alpha val="89803"/>
              </a:schemeClr>
            </a:solidFill>
            <a:ln cap="flat" cmpd="sng" w="12700">
              <a:solidFill>
                <a:srgbClr val="C47F6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50"/>
            <p:cNvSpPr txBox="1"/>
            <p:nvPr/>
          </p:nvSpPr>
          <p:spPr>
            <a:xfrm>
              <a:off x="2088311" y="2767240"/>
              <a:ext cx="1585444" cy="524086"/>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Inflammation</a:t>
              </a:r>
              <a:endParaRPr/>
            </a:p>
          </p:txBody>
        </p:sp>
        <p:sp>
          <p:nvSpPr>
            <p:cNvPr id="761" name="Google Shape;761;p50"/>
            <p:cNvSpPr/>
            <p:nvPr/>
          </p:nvSpPr>
          <p:spPr>
            <a:xfrm>
              <a:off x="2071137" y="3346220"/>
              <a:ext cx="1619792" cy="558434"/>
            </a:xfrm>
            <a:prstGeom prst="roundRect">
              <a:avLst>
                <a:gd fmla="val 10500" name="adj"/>
              </a:avLst>
            </a:prstGeom>
            <a:solidFill>
              <a:schemeClr val="lt1">
                <a:alpha val="89803"/>
              </a:schemeClr>
            </a:solidFill>
            <a:ln cap="flat" cmpd="sng" w="12700">
              <a:solidFill>
                <a:srgbClr val="B8888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0"/>
            <p:cNvSpPr txBox="1"/>
            <p:nvPr/>
          </p:nvSpPr>
          <p:spPr>
            <a:xfrm>
              <a:off x="2088311" y="3363394"/>
              <a:ext cx="1585444" cy="524086"/>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autour</a:t>
              </a:r>
              <a:endParaRPr/>
            </a:p>
          </p:txBody>
        </p:sp>
        <p:sp>
          <p:nvSpPr>
            <p:cNvPr id="763" name="Google Shape;763;p50"/>
            <p:cNvSpPr/>
            <p:nvPr/>
          </p:nvSpPr>
          <p:spPr>
            <a:xfrm>
              <a:off x="3886735" y="2175669"/>
              <a:ext cx="3584991" cy="1740535"/>
            </a:xfrm>
            <a:prstGeom prst="roundRect">
              <a:avLst>
                <a:gd fmla="val 10500" name="adj"/>
              </a:avLst>
            </a:prstGeom>
            <a:solidFill>
              <a:srgbClr val="A4A4A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50"/>
            <p:cNvSpPr txBox="1"/>
            <p:nvPr/>
          </p:nvSpPr>
          <p:spPr>
            <a:xfrm>
              <a:off x="3940262" y="2229196"/>
              <a:ext cx="3477937" cy="1633481"/>
            </a:xfrm>
            <a:prstGeom prst="rect">
              <a:avLst/>
            </a:prstGeom>
            <a:noFill/>
            <a:ln>
              <a:noFill/>
            </a:ln>
          </p:spPr>
          <p:txBody>
            <a:bodyPr anchorCtr="0" anchor="t" bIns="982425" lIns="137150" spcFirstLastPara="1" rIns="137150" wrap="square" tIns="137150">
              <a:noAutofit/>
            </a:bodyPr>
            <a:lstStyle/>
            <a:p>
              <a:pPr indent="0" lvl="0" marL="0" marR="0" rtl="0" algn="l">
                <a:lnSpc>
                  <a:spcPct val="90000"/>
                </a:lnSpc>
                <a:spcBef>
                  <a:spcPts val="0"/>
                </a:spcBef>
                <a:spcAft>
                  <a:spcPts val="0"/>
                </a:spcAft>
                <a:buClr>
                  <a:schemeClr val="lt1"/>
                </a:buClr>
                <a:buSzPts val="3600"/>
                <a:buFont typeface="Calibri"/>
                <a:buNone/>
              </a:pPr>
              <a:r>
                <a:rPr lang="fr-FR" sz="3600">
                  <a:solidFill>
                    <a:schemeClr val="lt1"/>
                  </a:solidFill>
                  <a:latin typeface="Calibri"/>
                  <a:ea typeface="Calibri"/>
                  <a:cs typeface="Calibri"/>
                  <a:sym typeface="Calibri"/>
                </a:rPr>
                <a:t>Adénite </a:t>
              </a:r>
              <a:endParaRPr/>
            </a:p>
          </p:txBody>
        </p:sp>
        <p:sp>
          <p:nvSpPr>
            <p:cNvPr id="765" name="Google Shape;765;p50"/>
            <p:cNvSpPr/>
            <p:nvPr/>
          </p:nvSpPr>
          <p:spPr>
            <a:xfrm>
              <a:off x="4117368" y="2958909"/>
              <a:ext cx="1517765" cy="783240"/>
            </a:xfrm>
            <a:prstGeom prst="roundRect">
              <a:avLst>
                <a:gd fmla="val 10500" name="adj"/>
              </a:avLst>
            </a:prstGeom>
            <a:solidFill>
              <a:schemeClr val="lt1">
                <a:alpha val="89803"/>
              </a:schemeClr>
            </a:solidFill>
            <a:ln cap="flat" cmpd="sng" w="12700">
              <a:solidFill>
                <a:srgbClr val="AD959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50"/>
            <p:cNvSpPr txBox="1"/>
            <p:nvPr/>
          </p:nvSpPr>
          <p:spPr>
            <a:xfrm>
              <a:off x="4141455" y="2982996"/>
              <a:ext cx="1469591" cy="735066"/>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Inflammation </a:t>
              </a:r>
              <a:endParaRPr/>
            </a:p>
          </p:txBody>
        </p:sp>
        <p:sp>
          <p:nvSpPr>
            <p:cNvPr id="767" name="Google Shape;767;p50"/>
            <p:cNvSpPr/>
            <p:nvPr/>
          </p:nvSpPr>
          <p:spPr>
            <a:xfrm>
              <a:off x="5753434" y="2958909"/>
              <a:ext cx="1517765" cy="783240"/>
            </a:xfrm>
            <a:prstGeom prst="roundRect">
              <a:avLst>
                <a:gd fmla="val 10500" name="adj"/>
              </a:avLst>
            </a:prstGeom>
            <a:solidFill>
              <a:schemeClr val="lt1">
                <a:alpha val="89803"/>
              </a:schemeClr>
            </a:solidFill>
            <a:ln cap="flat" cmpd="sng" w="12700">
              <a:solidFill>
                <a:srgbClr val="A4A4A4"/>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0"/>
            <p:cNvSpPr txBox="1"/>
            <p:nvPr/>
          </p:nvSpPr>
          <p:spPr>
            <a:xfrm>
              <a:off x="5777521" y="2982996"/>
              <a:ext cx="1469591" cy="735066"/>
            </a:xfrm>
            <a:prstGeom prst="rect">
              <a:avLst/>
            </a:prstGeom>
            <a:noFill/>
            <a:ln>
              <a:noFill/>
            </a:ln>
          </p:spPr>
          <p:txBody>
            <a:bodyPr anchorCtr="0" anchor="ctr" bIns="72375" lIns="72375" spcFirstLastPara="1" rIns="72375" wrap="square" tIns="72375">
              <a:noAutofit/>
            </a:bodyPr>
            <a:lstStyle/>
            <a:p>
              <a:pPr indent="0" lvl="0" marL="0" marR="0" rtl="0" algn="ctr">
                <a:lnSpc>
                  <a:spcPct val="90000"/>
                </a:lnSpc>
                <a:spcBef>
                  <a:spcPts val="0"/>
                </a:spcBef>
                <a:spcAft>
                  <a:spcPts val="0"/>
                </a:spcAft>
                <a:buClr>
                  <a:schemeClr val="dk1"/>
                </a:buClr>
                <a:buSzPts val="1900"/>
                <a:buFont typeface="Calibri"/>
                <a:buNone/>
              </a:pPr>
              <a:r>
                <a:rPr lang="fr-FR" sz="1900">
                  <a:solidFill>
                    <a:schemeClr val="dk1"/>
                  </a:solidFill>
                  <a:latin typeface="Calibri"/>
                  <a:ea typeface="Calibri"/>
                  <a:cs typeface="Calibri"/>
                  <a:sym typeface="Calibri"/>
                </a:rPr>
                <a:t>Ganglion </a:t>
              </a:r>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Adénite/ Adénophlegmon/ Cellulite</a:t>
            </a:r>
            <a:endParaRPr/>
          </a:p>
        </p:txBody>
      </p:sp>
      <p:grpSp>
        <p:nvGrpSpPr>
          <p:cNvPr id="775" name="Google Shape;775;p51"/>
          <p:cNvGrpSpPr/>
          <p:nvPr/>
        </p:nvGrpSpPr>
        <p:grpSpPr>
          <a:xfrm>
            <a:off x="628650" y="1827749"/>
            <a:ext cx="7886700" cy="4347088"/>
            <a:chOff x="0" y="2124"/>
            <a:chExt cx="7886700" cy="4347088"/>
          </a:xfrm>
        </p:grpSpPr>
        <p:sp>
          <p:nvSpPr>
            <p:cNvPr id="776" name="Google Shape;776;p51"/>
            <p:cNvSpPr/>
            <p:nvPr/>
          </p:nvSpPr>
          <p:spPr>
            <a:xfrm rot="5400000">
              <a:off x="4802041" y="-1820475"/>
              <a:ext cx="1121829" cy="5047488"/>
            </a:xfrm>
            <a:prstGeom prst="round2SameRect">
              <a:avLst>
                <a:gd fmla="val 16667" name="adj1"/>
                <a:gd fmla="val 0" name="adj2"/>
              </a:avLst>
            </a:prstGeom>
            <a:solidFill>
              <a:srgbClr val="E0E0E0">
                <a:alpha val="89803"/>
              </a:srgbClr>
            </a:solidFill>
            <a:ln cap="flat" cmpd="sng" w="12700">
              <a:solidFill>
                <a:srgbClr val="E0E0E0">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1"/>
            <p:cNvSpPr txBox="1"/>
            <p:nvPr/>
          </p:nvSpPr>
          <p:spPr>
            <a:xfrm>
              <a:off x="2839212" y="197117"/>
              <a:ext cx="4992725" cy="1012303"/>
            </a:xfrm>
            <a:prstGeom prst="rect">
              <a:avLst/>
            </a:prstGeom>
            <a:noFill/>
            <a:ln>
              <a:noFill/>
            </a:ln>
          </p:spPr>
          <p:txBody>
            <a:bodyPr anchorCtr="0" anchor="ctr" bIns="40000" lIns="80000" spcFirstLastPara="1" rIns="80000" wrap="square" tIns="40000">
              <a:noAutofit/>
            </a:bodyPr>
            <a:lstStyle/>
            <a:p>
              <a:pPr indent="-228600" lvl="1" marL="228600" marR="0" rtl="0" algn="l">
                <a:lnSpc>
                  <a:spcPct val="90000"/>
                </a:lnSpc>
                <a:spcBef>
                  <a:spcPts val="0"/>
                </a:spcBef>
                <a:spcAft>
                  <a:spcPts val="0"/>
                </a:spcAft>
                <a:buClr>
                  <a:schemeClr val="dk1"/>
                </a:buClr>
                <a:buSzPts val="2100"/>
                <a:buFont typeface="Calibri"/>
                <a:buChar char="•"/>
              </a:pPr>
              <a:r>
                <a:rPr b="0" i="0" lang="fr-FR" sz="2100" u="none" cap="none" strike="noStrike">
                  <a:solidFill>
                    <a:schemeClr val="dk1"/>
                  </a:solidFill>
                  <a:latin typeface="Calibri"/>
                  <a:ea typeface="Calibri"/>
                  <a:cs typeface="Calibri"/>
                  <a:sym typeface="Calibri"/>
                </a:rPr>
                <a:t>ADP augmenté de taille, dl++, mobile</a:t>
              </a:r>
              <a:endParaRPr/>
            </a:p>
            <a:p>
              <a:pPr indent="-228600" lvl="1" marL="228600" marR="0" rtl="0" algn="l">
                <a:lnSpc>
                  <a:spcPct val="90000"/>
                </a:lnSpc>
                <a:spcBef>
                  <a:spcPts val="315"/>
                </a:spcBef>
                <a:spcAft>
                  <a:spcPts val="0"/>
                </a:spcAft>
                <a:buClr>
                  <a:schemeClr val="dk1"/>
                </a:buClr>
                <a:buSzPts val="2100"/>
                <a:buFont typeface="Calibri"/>
                <a:buChar char="•"/>
              </a:pPr>
              <a:r>
                <a:rPr b="0" i="0" lang="fr-FR" sz="2100" u="none" cap="none" strike="noStrike">
                  <a:solidFill>
                    <a:schemeClr val="dk1"/>
                  </a:solidFill>
                  <a:latin typeface="Calibri"/>
                  <a:ea typeface="Calibri"/>
                  <a:cs typeface="Calibri"/>
                  <a:sym typeface="Calibri"/>
                </a:rPr>
                <a:t>Peau saine</a:t>
              </a:r>
              <a:endParaRPr/>
            </a:p>
          </p:txBody>
        </p:sp>
        <p:sp>
          <p:nvSpPr>
            <p:cNvPr id="778" name="Google Shape;778;p51"/>
            <p:cNvSpPr/>
            <p:nvPr/>
          </p:nvSpPr>
          <p:spPr>
            <a:xfrm>
              <a:off x="0" y="2124"/>
              <a:ext cx="2839212" cy="1402286"/>
            </a:xfrm>
            <a:prstGeom prst="roundRect">
              <a:avLst>
                <a:gd fmla="val 16667" name="adj"/>
              </a:avLst>
            </a:prstGeom>
            <a:solidFill>
              <a:schemeClr val="accent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51"/>
            <p:cNvSpPr txBox="1"/>
            <p:nvPr/>
          </p:nvSpPr>
          <p:spPr>
            <a:xfrm>
              <a:off x="68454" y="70578"/>
              <a:ext cx="2702304" cy="1265378"/>
            </a:xfrm>
            <a:prstGeom prst="rect">
              <a:avLst/>
            </a:prstGeom>
            <a:noFill/>
            <a:ln>
              <a:noFill/>
            </a:ln>
          </p:spPr>
          <p:txBody>
            <a:bodyPr anchorCtr="0" anchor="ctr" bIns="51425" lIns="102850" spcFirstLastPara="1" rIns="102850" wrap="square" tIns="51425">
              <a:noAutofit/>
            </a:bodyPr>
            <a:lstStyle/>
            <a:p>
              <a:pPr indent="0" lvl="0" marL="0" marR="0" rtl="0" algn="ctr">
                <a:lnSpc>
                  <a:spcPct val="90000"/>
                </a:lnSpc>
                <a:spcBef>
                  <a:spcPts val="0"/>
                </a:spcBef>
                <a:spcAft>
                  <a:spcPts val="0"/>
                </a:spcAft>
                <a:buClr>
                  <a:schemeClr val="lt1"/>
                </a:buClr>
                <a:buSzPts val="2700"/>
                <a:buFont typeface="Calibri"/>
                <a:buNone/>
              </a:pPr>
              <a:r>
                <a:rPr lang="fr-FR" sz="2700">
                  <a:solidFill>
                    <a:schemeClr val="lt1"/>
                  </a:solidFill>
                  <a:latin typeface="Calibri"/>
                  <a:ea typeface="Calibri"/>
                  <a:cs typeface="Calibri"/>
                  <a:sym typeface="Calibri"/>
                </a:rPr>
                <a:t>Adénite </a:t>
              </a:r>
              <a:endParaRPr/>
            </a:p>
          </p:txBody>
        </p:sp>
        <p:sp>
          <p:nvSpPr>
            <p:cNvPr id="780" name="Google Shape;780;p51"/>
            <p:cNvSpPr/>
            <p:nvPr/>
          </p:nvSpPr>
          <p:spPr>
            <a:xfrm rot="5400000">
              <a:off x="4802041" y="-348074"/>
              <a:ext cx="1121829" cy="5047488"/>
            </a:xfrm>
            <a:prstGeom prst="round2SameRect">
              <a:avLst>
                <a:gd fmla="val 16667" name="adj1"/>
                <a:gd fmla="val 0" name="adj2"/>
              </a:avLst>
            </a:prstGeom>
            <a:solidFill>
              <a:srgbClr val="F0D3D3">
                <a:alpha val="89803"/>
              </a:srgbClr>
            </a:solidFill>
            <a:ln cap="flat" cmpd="sng" w="12700">
              <a:solidFill>
                <a:srgbClr val="F0D3D3">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1"/>
            <p:cNvSpPr txBox="1"/>
            <p:nvPr/>
          </p:nvSpPr>
          <p:spPr>
            <a:xfrm>
              <a:off x="2839212" y="1669518"/>
              <a:ext cx="4992725" cy="1012303"/>
            </a:xfrm>
            <a:prstGeom prst="rect">
              <a:avLst/>
            </a:prstGeom>
            <a:noFill/>
            <a:ln>
              <a:noFill/>
            </a:ln>
          </p:spPr>
          <p:txBody>
            <a:bodyPr anchorCtr="0" anchor="ctr" bIns="40000" lIns="80000" spcFirstLastPara="1" rIns="80000" wrap="square" tIns="40000">
              <a:noAutofit/>
            </a:bodyPr>
            <a:lstStyle/>
            <a:p>
              <a:pPr indent="-228600" lvl="1" marL="228600" marR="0" rtl="0" algn="l">
                <a:lnSpc>
                  <a:spcPct val="90000"/>
                </a:lnSpc>
                <a:spcBef>
                  <a:spcPts val="0"/>
                </a:spcBef>
                <a:spcAft>
                  <a:spcPts val="0"/>
                </a:spcAft>
                <a:buClr>
                  <a:schemeClr val="dk1"/>
                </a:buClr>
                <a:buSzPts val="2100"/>
                <a:buFont typeface="Calibri"/>
                <a:buChar char="•"/>
              </a:pPr>
              <a:r>
                <a:rPr b="0" i="0" lang="fr-FR" sz="2100" u="none" cap="none" strike="noStrike">
                  <a:solidFill>
                    <a:schemeClr val="dk1"/>
                  </a:solidFill>
                  <a:latin typeface="Calibri"/>
                  <a:ea typeface="Calibri"/>
                  <a:cs typeface="Calibri"/>
                  <a:sym typeface="Calibri"/>
                </a:rPr>
                <a:t>Peau inflammatoire limitée en rager de l’ADP</a:t>
              </a:r>
              <a:endParaRPr/>
            </a:p>
            <a:p>
              <a:pPr indent="-228600" lvl="1" marL="228600" marR="0" rtl="0" algn="l">
                <a:lnSpc>
                  <a:spcPct val="90000"/>
                </a:lnSpc>
                <a:spcBef>
                  <a:spcPts val="315"/>
                </a:spcBef>
                <a:spcAft>
                  <a:spcPts val="0"/>
                </a:spcAft>
                <a:buClr>
                  <a:schemeClr val="dk1"/>
                </a:buClr>
                <a:buSzPts val="2100"/>
                <a:buFont typeface="Calibri"/>
                <a:buChar char="•"/>
              </a:pPr>
              <a:r>
                <a:rPr b="0" i="0" lang="fr-FR" sz="2100" u="none" cap="none" strike="noStrike">
                  <a:solidFill>
                    <a:schemeClr val="dk1"/>
                  </a:solidFill>
                  <a:latin typeface="Calibri"/>
                  <a:ea typeface="Calibri"/>
                  <a:cs typeface="Calibri"/>
                  <a:sym typeface="Calibri"/>
                </a:rPr>
                <a:t>Fluctuation </a:t>
              </a:r>
              <a:endParaRPr/>
            </a:p>
          </p:txBody>
        </p:sp>
        <p:sp>
          <p:nvSpPr>
            <p:cNvPr id="782" name="Google Shape;782;p51"/>
            <p:cNvSpPr/>
            <p:nvPr/>
          </p:nvSpPr>
          <p:spPr>
            <a:xfrm>
              <a:off x="0" y="1474525"/>
              <a:ext cx="2839212" cy="1402286"/>
            </a:xfrm>
            <a:prstGeom prst="roundRect">
              <a:avLst>
                <a:gd fmla="val 16667" name="adj"/>
              </a:avLst>
            </a:prstGeom>
            <a:solidFill>
              <a:srgbClr val="C85B5B"/>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1"/>
            <p:cNvSpPr txBox="1"/>
            <p:nvPr/>
          </p:nvSpPr>
          <p:spPr>
            <a:xfrm>
              <a:off x="68454" y="1542979"/>
              <a:ext cx="2702304" cy="1265378"/>
            </a:xfrm>
            <a:prstGeom prst="rect">
              <a:avLst/>
            </a:prstGeom>
            <a:noFill/>
            <a:ln>
              <a:noFill/>
            </a:ln>
          </p:spPr>
          <p:txBody>
            <a:bodyPr anchorCtr="0" anchor="ctr" bIns="51425" lIns="102850" spcFirstLastPara="1" rIns="102850" wrap="square" tIns="51425">
              <a:noAutofit/>
            </a:bodyPr>
            <a:lstStyle/>
            <a:p>
              <a:pPr indent="0" lvl="0" marL="0" marR="0" rtl="0" algn="ctr">
                <a:lnSpc>
                  <a:spcPct val="90000"/>
                </a:lnSpc>
                <a:spcBef>
                  <a:spcPts val="0"/>
                </a:spcBef>
                <a:spcAft>
                  <a:spcPts val="0"/>
                </a:spcAft>
                <a:buClr>
                  <a:schemeClr val="lt1"/>
                </a:buClr>
                <a:buSzPts val="2700"/>
                <a:buFont typeface="Calibri"/>
                <a:buNone/>
              </a:pPr>
              <a:r>
                <a:rPr lang="fr-FR" sz="2700">
                  <a:solidFill>
                    <a:schemeClr val="lt1"/>
                  </a:solidFill>
                  <a:latin typeface="Calibri"/>
                  <a:ea typeface="Calibri"/>
                  <a:cs typeface="Calibri"/>
                  <a:sym typeface="Calibri"/>
                </a:rPr>
                <a:t>Adénophlegmon </a:t>
              </a:r>
              <a:endParaRPr/>
            </a:p>
          </p:txBody>
        </p:sp>
        <p:sp>
          <p:nvSpPr>
            <p:cNvPr id="784" name="Google Shape;784;p51"/>
            <p:cNvSpPr/>
            <p:nvPr/>
          </p:nvSpPr>
          <p:spPr>
            <a:xfrm rot="5400000">
              <a:off x="4802041" y="1124325"/>
              <a:ext cx="1121829" cy="5047488"/>
            </a:xfrm>
            <a:prstGeom prst="round2SameRect">
              <a:avLst>
                <a:gd fmla="val 16667" name="adj1"/>
                <a:gd fmla="val 0" name="adj2"/>
              </a:avLst>
            </a:prstGeom>
            <a:solidFill>
              <a:srgbClr val="FEC9C9">
                <a:alpha val="89803"/>
              </a:srgbClr>
            </a:solidFill>
            <a:ln cap="flat" cmpd="sng" w="12700">
              <a:solidFill>
                <a:srgbClr val="FEC9C9">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1"/>
            <p:cNvSpPr txBox="1"/>
            <p:nvPr/>
          </p:nvSpPr>
          <p:spPr>
            <a:xfrm>
              <a:off x="2839212" y="3141918"/>
              <a:ext cx="4992725" cy="1012303"/>
            </a:xfrm>
            <a:prstGeom prst="rect">
              <a:avLst/>
            </a:prstGeom>
            <a:noFill/>
            <a:ln>
              <a:noFill/>
            </a:ln>
          </p:spPr>
          <p:txBody>
            <a:bodyPr anchorCtr="0" anchor="ctr" bIns="40000" lIns="80000" spcFirstLastPara="1" rIns="80000" wrap="square" tIns="40000">
              <a:noAutofit/>
            </a:bodyPr>
            <a:lstStyle/>
            <a:p>
              <a:pPr indent="-228600" lvl="1" marL="228600" marR="0" rtl="0" algn="l">
                <a:lnSpc>
                  <a:spcPct val="90000"/>
                </a:lnSpc>
                <a:spcBef>
                  <a:spcPts val="0"/>
                </a:spcBef>
                <a:spcAft>
                  <a:spcPts val="0"/>
                </a:spcAft>
                <a:buClr>
                  <a:schemeClr val="dk1"/>
                </a:buClr>
                <a:buSzPts val="2100"/>
                <a:buFont typeface="Calibri"/>
                <a:buChar char="•"/>
              </a:pPr>
              <a:r>
                <a:rPr b="0" i="0" lang="fr-FR" sz="2100" u="none" cap="none" strike="noStrike">
                  <a:solidFill>
                    <a:schemeClr val="dk1"/>
                  </a:solidFill>
                  <a:latin typeface="Calibri"/>
                  <a:ea typeface="Calibri"/>
                  <a:cs typeface="Calibri"/>
                  <a:sym typeface="Calibri"/>
                </a:rPr>
                <a:t>Extension de l’inflammation à distance de l’ADP</a:t>
              </a:r>
              <a:endParaRPr/>
            </a:p>
            <a:p>
              <a:pPr indent="-228600" lvl="1" marL="228600" marR="0" rtl="0" algn="l">
                <a:lnSpc>
                  <a:spcPct val="90000"/>
                </a:lnSpc>
                <a:spcBef>
                  <a:spcPts val="315"/>
                </a:spcBef>
                <a:spcAft>
                  <a:spcPts val="0"/>
                </a:spcAft>
                <a:buClr>
                  <a:schemeClr val="dk1"/>
                </a:buClr>
                <a:buSzPts val="2100"/>
                <a:buFont typeface="Calibri"/>
                <a:buChar char="•"/>
              </a:pPr>
              <a:r>
                <a:rPr b="0" i="0" lang="fr-FR" sz="2100" u="none" cap="none" strike="noStrike">
                  <a:solidFill>
                    <a:schemeClr val="dk1"/>
                  </a:solidFill>
                  <a:latin typeface="Calibri"/>
                  <a:ea typeface="Calibri"/>
                  <a:cs typeface="Calibri"/>
                  <a:sym typeface="Calibri"/>
                </a:rPr>
                <a:t>Fluctuation et douleur à distance</a:t>
              </a:r>
              <a:endParaRPr/>
            </a:p>
          </p:txBody>
        </p:sp>
        <p:sp>
          <p:nvSpPr>
            <p:cNvPr id="786" name="Google Shape;786;p51"/>
            <p:cNvSpPr/>
            <p:nvPr/>
          </p:nvSpPr>
          <p:spPr>
            <a:xfrm>
              <a:off x="0" y="2946926"/>
              <a:ext cx="2839212" cy="1402286"/>
            </a:xfrm>
            <a:prstGeom prst="roundRect">
              <a:avLst>
                <a:gd fmla="val 16667" name="adj"/>
              </a:avLst>
            </a:prstGeom>
            <a:solidFill>
              <a:srgbClr val="FE0000"/>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1"/>
            <p:cNvSpPr txBox="1"/>
            <p:nvPr/>
          </p:nvSpPr>
          <p:spPr>
            <a:xfrm>
              <a:off x="68454" y="3015380"/>
              <a:ext cx="2702304" cy="1265378"/>
            </a:xfrm>
            <a:prstGeom prst="rect">
              <a:avLst/>
            </a:prstGeom>
            <a:noFill/>
            <a:ln>
              <a:noFill/>
            </a:ln>
          </p:spPr>
          <p:txBody>
            <a:bodyPr anchorCtr="0" anchor="ctr" bIns="51425" lIns="102850" spcFirstLastPara="1" rIns="102850" wrap="square" tIns="51425">
              <a:noAutofit/>
            </a:bodyPr>
            <a:lstStyle/>
            <a:p>
              <a:pPr indent="0" lvl="0" marL="0" marR="0" rtl="0" algn="ctr">
                <a:lnSpc>
                  <a:spcPct val="90000"/>
                </a:lnSpc>
                <a:spcBef>
                  <a:spcPts val="0"/>
                </a:spcBef>
                <a:spcAft>
                  <a:spcPts val="0"/>
                </a:spcAft>
                <a:buClr>
                  <a:schemeClr val="lt1"/>
                </a:buClr>
                <a:buSzPts val="2700"/>
                <a:buFont typeface="Calibri"/>
                <a:buNone/>
              </a:pPr>
              <a:r>
                <a:rPr lang="fr-FR" sz="2700">
                  <a:solidFill>
                    <a:schemeClr val="lt1"/>
                  </a:solidFill>
                  <a:latin typeface="Calibri"/>
                  <a:ea typeface="Calibri"/>
                  <a:cs typeface="Calibri"/>
                  <a:sym typeface="Calibri"/>
                </a:rPr>
                <a:t>Cellulite </a:t>
              </a:r>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5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Mononucléose infectieuse</a:t>
            </a:r>
            <a:endParaRPr/>
          </a:p>
        </p:txBody>
      </p:sp>
      <p:sp>
        <p:nvSpPr>
          <p:cNvPr id="794" name="Google Shape;794;p5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50000"/>
              </a:lnSpc>
              <a:spcBef>
                <a:spcPts val="0"/>
              </a:spcBef>
              <a:spcAft>
                <a:spcPts val="0"/>
              </a:spcAft>
              <a:buClr>
                <a:schemeClr val="dk1"/>
              </a:buClr>
              <a:buSzPts val="2800"/>
              <a:buChar char="•"/>
            </a:pPr>
            <a:r>
              <a:rPr lang="fr-FR"/>
              <a:t>Fièvre 38 – 40°, asthénie intense</a:t>
            </a:r>
            <a:endParaRPr/>
          </a:p>
          <a:p>
            <a:pPr indent="-228600" lvl="0" marL="228600" rtl="0" algn="l">
              <a:lnSpc>
                <a:spcPct val="150000"/>
              </a:lnSpc>
              <a:spcBef>
                <a:spcPts val="1000"/>
              </a:spcBef>
              <a:spcAft>
                <a:spcPts val="0"/>
              </a:spcAft>
              <a:buClr>
                <a:schemeClr val="dk1"/>
              </a:buClr>
              <a:buSzPts val="2800"/>
              <a:buChar char="•"/>
            </a:pPr>
            <a:r>
              <a:rPr lang="fr-FR"/>
              <a:t>Angine le plus souvent E ou EP, rarement pseudomb</a:t>
            </a:r>
            <a:endParaRPr/>
          </a:p>
          <a:p>
            <a:pPr indent="-228600" lvl="0" marL="228600" rtl="0" algn="l">
              <a:lnSpc>
                <a:spcPct val="150000"/>
              </a:lnSpc>
              <a:spcBef>
                <a:spcPts val="1000"/>
              </a:spcBef>
              <a:spcAft>
                <a:spcPts val="0"/>
              </a:spcAft>
              <a:buClr>
                <a:schemeClr val="dk1"/>
              </a:buClr>
              <a:buSzPts val="2800"/>
              <a:buChar char="•"/>
            </a:pPr>
            <a:r>
              <a:rPr lang="fr-FR"/>
              <a:t>Purpura du voile, œdème luette</a:t>
            </a:r>
            <a:endParaRPr/>
          </a:p>
          <a:p>
            <a:pPr indent="-228600" lvl="0" marL="228600" rtl="0" algn="l">
              <a:lnSpc>
                <a:spcPct val="150000"/>
              </a:lnSpc>
              <a:spcBef>
                <a:spcPts val="1000"/>
              </a:spcBef>
              <a:spcAft>
                <a:spcPts val="0"/>
              </a:spcAft>
              <a:buClr>
                <a:schemeClr val="dk1"/>
              </a:buClr>
              <a:buSzPts val="2800"/>
              <a:buChar char="•"/>
            </a:pPr>
            <a:r>
              <a:rPr lang="fr-FR"/>
              <a:t>ADP diffuses, région cervical postérieure</a:t>
            </a:r>
            <a:endParaRPr/>
          </a:p>
          <a:p>
            <a:pPr indent="-228600" lvl="0" marL="228600" rtl="0" algn="l">
              <a:lnSpc>
                <a:spcPct val="150000"/>
              </a:lnSpc>
              <a:spcBef>
                <a:spcPts val="1000"/>
              </a:spcBef>
              <a:spcAft>
                <a:spcPts val="0"/>
              </a:spcAft>
              <a:buClr>
                <a:schemeClr val="dk1"/>
              </a:buClr>
              <a:buSzPts val="2800"/>
              <a:buChar char="•"/>
            </a:pPr>
            <a:r>
              <a:rPr b="1" lang="fr-FR"/>
              <a:t>SMG,</a:t>
            </a:r>
            <a:r>
              <a:rPr lang="fr-FR"/>
              <a:t> éruption spontanée ou après prise péni 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5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Bilan à demander devant suspicion MNI</a:t>
            </a:r>
            <a:endParaRPr/>
          </a:p>
        </p:txBody>
      </p:sp>
      <p:sp>
        <p:nvSpPr>
          <p:cNvPr id="801" name="Google Shape;801;p5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NFS: sd mononucléosique</a:t>
            </a:r>
            <a:endParaRPr/>
          </a:p>
          <a:p>
            <a:pPr indent="-228600" lvl="0" marL="228600" rtl="0" algn="l">
              <a:lnSpc>
                <a:spcPct val="90000"/>
              </a:lnSpc>
              <a:spcBef>
                <a:spcPts val="1000"/>
              </a:spcBef>
              <a:spcAft>
                <a:spcPts val="0"/>
              </a:spcAft>
              <a:buClr>
                <a:schemeClr val="dk1"/>
              </a:buClr>
              <a:buSzPts val="2800"/>
              <a:buChar char="•"/>
            </a:pPr>
            <a:r>
              <a:rPr lang="fr-FR"/>
              <a:t>Pvt gorge si forme pseudo mb: éliminer diphtérie</a:t>
            </a:r>
            <a:endParaRPr/>
          </a:p>
          <a:p>
            <a:pPr indent="-228600" lvl="0" marL="228600" rtl="0" algn="l">
              <a:lnSpc>
                <a:spcPct val="90000"/>
              </a:lnSpc>
              <a:spcBef>
                <a:spcPts val="1000"/>
              </a:spcBef>
              <a:spcAft>
                <a:spcPts val="0"/>
              </a:spcAft>
              <a:buClr>
                <a:schemeClr val="dk1"/>
              </a:buClr>
              <a:buSzPts val="2800"/>
              <a:buChar char="•"/>
            </a:pPr>
            <a:r>
              <a:rPr lang="fr-FR"/>
              <a:t>Sérologie EBV &gt;&gt;&gt; MNI test (faible sensibilité)</a:t>
            </a:r>
            <a:endParaRPr/>
          </a:p>
          <a:p>
            <a:pPr indent="-228600" lvl="0" marL="228600" rtl="0" algn="l">
              <a:lnSpc>
                <a:spcPct val="90000"/>
              </a:lnSpc>
              <a:spcBef>
                <a:spcPts val="1000"/>
              </a:spcBef>
              <a:spcAft>
                <a:spcPts val="0"/>
              </a:spcAft>
              <a:buClr>
                <a:schemeClr val="dk1"/>
              </a:buClr>
              <a:buSzPts val="2800"/>
              <a:buChar char="•"/>
            </a:pPr>
            <a:r>
              <a:rPr lang="fr-FR"/>
              <a:t>Sérologie EBV: </a:t>
            </a:r>
            <a:endParaRPr/>
          </a:p>
          <a:p>
            <a:pPr indent="-228600" lvl="1" marL="685800" rtl="0" algn="l">
              <a:lnSpc>
                <a:spcPct val="90000"/>
              </a:lnSpc>
              <a:spcBef>
                <a:spcPts val="500"/>
              </a:spcBef>
              <a:spcAft>
                <a:spcPts val="0"/>
              </a:spcAft>
              <a:buClr>
                <a:schemeClr val="dk1"/>
              </a:buClr>
              <a:buSzPts val="2400"/>
              <a:buChar char="•"/>
            </a:pPr>
            <a:r>
              <a:rPr lang="fr-FR"/>
              <a:t>Confirme dg</a:t>
            </a:r>
            <a:endParaRPr/>
          </a:p>
          <a:p>
            <a:pPr indent="-228600" lvl="1" marL="685800" rtl="0" algn="l">
              <a:lnSpc>
                <a:spcPct val="90000"/>
              </a:lnSpc>
              <a:spcBef>
                <a:spcPts val="500"/>
              </a:spcBef>
              <a:spcAft>
                <a:spcPts val="0"/>
              </a:spcAft>
              <a:buClr>
                <a:schemeClr val="dk1"/>
              </a:buClr>
              <a:buSzPts val="2400"/>
              <a:buChar char="•"/>
            </a:pPr>
            <a:r>
              <a:rPr b="1" lang="fr-FR"/>
              <a:t>IgM anti VCA (+) ET absence d’Ac anti EBNA</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Conduite à ne pas oublier+++</a:t>
            </a:r>
            <a:endParaRPr/>
          </a:p>
        </p:txBody>
      </p:sp>
      <p:sp>
        <p:nvSpPr>
          <p:cNvPr id="808" name="Google Shape;808;p54"/>
          <p:cNvSpPr txBox="1"/>
          <p:nvPr>
            <p:ph idx="1" type="body"/>
          </p:nvPr>
        </p:nvSpPr>
        <p:spPr>
          <a:xfrm>
            <a:off x="628650" y="1825625"/>
            <a:ext cx="7886700" cy="145935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fr-FR"/>
              <a:t>Si le diagnostic retenu est une mononucléose infectieuse, que proposez vous comme traitement?</a:t>
            </a:r>
            <a:endParaRPr/>
          </a:p>
        </p:txBody>
      </p:sp>
      <p:grpSp>
        <p:nvGrpSpPr>
          <p:cNvPr id="809" name="Google Shape;809;p54"/>
          <p:cNvGrpSpPr/>
          <p:nvPr/>
        </p:nvGrpSpPr>
        <p:grpSpPr>
          <a:xfrm>
            <a:off x="1043608" y="3169415"/>
            <a:ext cx="7560840" cy="3327480"/>
            <a:chOff x="0" y="28447"/>
            <a:chExt cx="7560840" cy="3327480"/>
          </a:xfrm>
        </p:grpSpPr>
        <p:sp>
          <p:nvSpPr>
            <p:cNvPr id="810" name="Google Shape;810;p54"/>
            <p:cNvSpPr/>
            <p:nvPr/>
          </p:nvSpPr>
          <p:spPr>
            <a:xfrm>
              <a:off x="0" y="604088"/>
              <a:ext cx="7560840" cy="982800"/>
            </a:xfrm>
            <a:prstGeom prst="rect">
              <a:avLst/>
            </a:prstGeom>
            <a:solidFill>
              <a:schemeClr val="lt1">
                <a:alpha val="89803"/>
              </a:schemeClr>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54"/>
            <p:cNvSpPr/>
            <p:nvPr/>
          </p:nvSpPr>
          <p:spPr>
            <a:xfrm>
              <a:off x="378042" y="28447"/>
              <a:ext cx="5292588" cy="1151280"/>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4"/>
            <p:cNvSpPr txBox="1"/>
            <p:nvPr/>
          </p:nvSpPr>
          <p:spPr>
            <a:xfrm>
              <a:off x="434243" y="84648"/>
              <a:ext cx="5180186" cy="1038878"/>
            </a:xfrm>
            <a:prstGeom prst="rect">
              <a:avLst/>
            </a:prstGeom>
            <a:noFill/>
            <a:ln>
              <a:noFill/>
            </a:ln>
          </p:spPr>
          <p:txBody>
            <a:bodyPr anchorCtr="0" anchor="ctr" bIns="0" lIns="200025" spcFirstLastPara="1" rIns="200025" wrap="square" tIns="0">
              <a:noAutofit/>
            </a:bodyPr>
            <a:lstStyle/>
            <a:p>
              <a:pPr indent="0" lvl="0" marL="0" marR="0" rtl="0" algn="l">
                <a:lnSpc>
                  <a:spcPct val="90000"/>
                </a:lnSpc>
                <a:spcBef>
                  <a:spcPts val="0"/>
                </a:spcBef>
                <a:spcAft>
                  <a:spcPts val="0"/>
                </a:spcAft>
                <a:buClr>
                  <a:schemeClr val="lt1"/>
                </a:buClr>
                <a:buSzPts val="3200"/>
                <a:buFont typeface="Calibri"/>
                <a:buNone/>
              </a:pPr>
              <a:r>
                <a:rPr lang="fr-FR" sz="3200">
                  <a:solidFill>
                    <a:schemeClr val="lt1"/>
                  </a:solidFill>
                  <a:latin typeface="Calibri"/>
                  <a:ea typeface="Calibri"/>
                  <a:cs typeface="Calibri"/>
                  <a:sym typeface="Calibri"/>
                </a:rPr>
                <a:t>Arrêt ATB +++</a:t>
              </a:r>
              <a:endParaRPr/>
            </a:p>
          </p:txBody>
        </p:sp>
        <p:sp>
          <p:nvSpPr>
            <p:cNvPr id="813" name="Google Shape;813;p54"/>
            <p:cNvSpPr/>
            <p:nvPr/>
          </p:nvSpPr>
          <p:spPr>
            <a:xfrm>
              <a:off x="0" y="2373127"/>
              <a:ext cx="7560840" cy="982800"/>
            </a:xfrm>
            <a:prstGeom prst="rect">
              <a:avLst/>
            </a:prstGeom>
            <a:solidFill>
              <a:schemeClr val="lt1">
                <a:alpha val="89803"/>
              </a:schemeClr>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4"/>
            <p:cNvSpPr/>
            <p:nvPr/>
          </p:nvSpPr>
          <p:spPr>
            <a:xfrm>
              <a:off x="378042" y="1797488"/>
              <a:ext cx="5292588" cy="1151280"/>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4"/>
            <p:cNvSpPr txBox="1"/>
            <p:nvPr/>
          </p:nvSpPr>
          <p:spPr>
            <a:xfrm>
              <a:off x="434243" y="1853689"/>
              <a:ext cx="5180186" cy="1038878"/>
            </a:xfrm>
            <a:prstGeom prst="rect">
              <a:avLst/>
            </a:prstGeom>
            <a:noFill/>
            <a:ln>
              <a:noFill/>
            </a:ln>
          </p:spPr>
          <p:txBody>
            <a:bodyPr anchorCtr="0" anchor="ctr" bIns="0" lIns="200025" spcFirstLastPara="1" rIns="200025" wrap="square" tIns="0">
              <a:noAutofit/>
            </a:bodyPr>
            <a:lstStyle/>
            <a:p>
              <a:pPr indent="0" lvl="0" marL="0" marR="0" rtl="0" algn="l">
                <a:lnSpc>
                  <a:spcPct val="90000"/>
                </a:lnSpc>
                <a:spcBef>
                  <a:spcPts val="0"/>
                </a:spcBef>
                <a:spcAft>
                  <a:spcPts val="0"/>
                </a:spcAft>
                <a:buClr>
                  <a:schemeClr val="lt1"/>
                </a:buClr>
                <a:buSzPts val="3200"/>
                <a:buFont typeface="Calibri"/>
                <a:buNone/>
              </a:pPr>
              <a:r>
                <a:rPr lang="fr-FR" sz="3200">
                  <a:solidFill>
                    <a:schemeClr val="lt1"/>
                  </a:solidFill>
                  <a:latin typeface="Calibri"/>
                  <a:ea typeface="Calibri"/>
                  <a:cs typeface="Calibri"/>
                  <a:sym typeface="Calibri"/>
                </a:rPr>
                <a:t>Asthénie majeure: corticothérapie </a:t>
              </a:r>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5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t/>
            </a:r>
            <a:endParaRPr/>
          </a:p>
        </p:txBody>
      </p:sp>
      <p:grpSp>
        <p:nvGrpSpPr>
          <p:cNvPr id="822" name="Google Shape;822;p55"/>
          <p:cNvGrpSpPr/>
          <p:nvPr/>
        </p:nvGrpSpPr>
        <p:grpSpPr>
          <a:xfrm>
            <a:off x="765430" y="1826429"/>
            <a:ext cx="7550991" cy="4349729"/>
            <a:chOff x="136780" y="804"/>
            <a:chExt cx="7550991" cy="4349729"/>
          </a:xfrm>
        </p:grpSpPr>
        <p:sp>
          <p:nvSpPr>
            <p:cNvPr id="823" name="Google Shape;823;p55"/>
            <p:cNvSpPr/>
            <p:nvPr/>
          </p:nvSpPr>
          <p:spPr>
            <a:xfrm rot="975477">
              <a:off x="1745467" y="2709573"/>
              <a:ext cx="2048364" cy="62226"/>
            </a:xfrm>
            <a:custGeom>
              <a:rect b="b" l="l" r="r" t="t"/>
              <a:pathLst>
                <a:path extrusionOk="0" h="120000" w="120000">
                  <a:moveTo>
                    <a:pt x="0" y="60000"/>
                  </a:moveTo>
                  <a:lnTo>
                    <a:pt x="120000" y="60000"/>
                  </a:lnTo>
                </a:path>
              </a:pathLst>
            </a:custGeom>
            <a:noFill/>
            <a:ln cap="flat" cmpd="sng" w="12700">
              <a:solidFill>
                <a:schemeClr val="accent2"/>
              </a:solidFill>
              <a:prstDash val="solid"/>
              <a:miter lim="800000"/>
              <a:headEnd len="sm" w="sm" type="none"/>
              <a:tailEnd len="sm" w="sm" type="none"/>
            </a:ln>
          </p:spPr>
        </p:sp>
        <p:sp>
          <p:nvSpPr>
            <p:cNvPr id="824" name="Google Shape;824;p55"/>
            <p:cNvSpPr/>
            <p:nvPr/>
          </p:nvSpPr>
          <p:spPr>
            <a:xfrm rot="-975477">
              <a:off x="1745467" y="1579538"/>
              <a:ext cx="2048364" cy="62226"/>
            </a:xfrm>
            <a:custGeom>
              <a:rect b="b" l="l" r="r" t="t"/>
              <a:pathLst>
                <a:path extrusionOk="0" h="120000" w="120000">
                  <a:moveTo>
                    <a:pt x="0" y="60000"/>
                  </a:moveTo>
                  <a:lnTo>
                    <a:pt x="120000" y="60000"/>
                  </a:lnTo>
                </a:path>
              </a:pathLst>
            </a:custGeom>
            <a:noFill/>
            <a:ln cap="flat" cmpd="sng" w="12700">
              <a:solidFill>
                <a:schemeClr val="accent2"/>
              </a:solidFill>
              <a:prstDash val="solid"/>
              <a:miter lim="800000"/>
              <a:headEnd len="sm" w="sm" type="none"/>
              <a:tailEnd len="sm" w="sm" type="none"/>
            </a:ln>
          </p:spPr>
        </p:sp>
        <p:sp>
          <p:nvSpPr>
            <p:cNvPr id="825" name="Google Shape;825;p55"/>
            <p:cNvSpPr/>
            <p:nvPr/>
          </p:nvSpPr>
          <p:spPr>
            <a:xfrm>
              <a:off x="136780" y="893143"/>
              <a:ext cx="2726456" cy="2726456"/>
            </a:xfrm>
            <a:prstGeom prst="roundRect">
              <a:avLst>
                <a:gd fmla="val 16667" name="adj"/>
              </a:avLst>
            </a:prstGeom>
            <a:blipFill rotWithShape="1">
              <a:blip r:embed="rId3">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55"/>
            <p:cNvSpPr/>
            <p:nvPr/>
          </p:nvSpPr>
          <p:spPr>
            <a:xfrm>
              <a:off x="3282559" y="804"/>
              <a:ext cx="4405212" cy="1635874"/>
            </a:xfrm>
            <a:prstGeom prst="ellipse">
              <a:avLst/>
            </a:prstGeom>
            <a:solidFill>
              <a:srgbClr val="C47F6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5"/>
            <p:cNvSpPr txBox="1"/>
            <p:nvPr/>
          </p:nvSpPr>
          <p:spPr>
            <a:xfrm>
              <a:off x="3927687" y="240372"/>
              <a:ext cx="3114956" cy="1156738"/>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Calibri"/>
                <a:buNone/>
              </a:pPr>
              <a:r>
                <a:rPr lang="fr-FR" sz="3500">
                  <a:solidFill>
                    <a:schemeClr val="lt1"/>
                  </a:solidFill>
                  <a:latin typeface="Calibri"/>
                  <a:ea typeface="Calibri"/>
                  <a:cs typeface="Calibri"/>
                  <a:sym typeface="Calibri"/>
                </a:rPr>
                <a:t>Rhinopharyngite </a:t>
              </a:r>
              <a:endParaRPr/>
            </a:p>
          </p:txBody>
        </p:sp>
        <p:sp>
          <p:nvSpPr>
            <p:cNvPr id="828" name="Google Shape;828;p55"/>
            <p:cNvSpPr/>
            <p:nvPr/>
          </p:nvSpPr>
          <p:spPr>
            <a:xfrm>
              <a:off x="3282559" y="2714659"/>
              <a:ext cx="4405212" cy="1635874"/>
            </a:xfrm>
            <a:prstGeom prst="ellipse">
              <a:avLst/>
            </a:prstGeom>
            <a:solidFill>
              <a:srgbClr val="A4A4A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55"/>
            <p:cNvSpPr txBox="1"/>
            <p:nvPr/>
          </p:nvSpPr>
          <p:spPr>
            <a:xfrm>
              <a:off x="3927687" y="2954227"/>
              <a:ext cx="3114956" cy="1156738"/>
            </a:xfrm>
            <a:prstGeom prst="rect">
              <a:avLst/>
            </a:prstGeom>
            <a:noFill/>
            <a:ln>
              <a:noFill/>
            </a:ln>
          </p:spPr>
          <p:txBody>
            <a:bodyPr anchorCtr="0" anchor="ctr" bIns="22225" lIns="22225" spcFirstLastPara="1" rIns="22225" wrap="square" tIns="22225">
              <a:noAutofit/>
            </a:bodyPr>
            <a:lstStyle/>
            <a:p>
              <a:pPr indent="0" lvl="0" marL="0" marR="0" rtl="0" algn="ctr">
                <a:lnSpc>
                  <a:spcPct val="90000"/>
                </a:lnSpc>
                <a:spcBef>
                  <a:spcPts val="0"/>
                </a:spcBef>
                <a:spcAft>
                  <a:spcPts val="0"/>
                </a:spcAft>
                <a:buClr>
                  <a:schemeClr val="lt1"/>
                </a:buClr>
                <a:buSzPts val="3500"/>
                <a:buFont typeface="Calibri"/>
                <a:buNone/>
              </a:pPr>
              <a:r>
                <a:rPr lang="fr-FR" sz="3500">
                  <a:solidFill>
                    <a:schemeClr val="lt1"/>
                  </a:solidFill>
                  <a:latin typeface="Calibri"/>
                  <a:ea typeface="Calibri"/>
                  <a:cs typeface="Calibri"/>
                  <a:sym typeface="Calibri"/>
                </a:rPr>
                <a:t>Angine </a:t>
              </a:r>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5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J’ai une question </a:t>
            </a:r>
            <a:endParaRPr/>
          </a:p>
        </p:txBody>
      </p:sp>
      <p:sp>
        <p:nvSpPr>
          <p:cNvPr id="836" name="Google Shape;836;p5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fr-FR" sz="3200"/>
              <a:t>Angine et conjonctivite</a:t>
            </a:r>
            <a:endParaRPr/>
          </a:p>
          <a:p>
            <a:pPr indent="-228600" lvl="1" marL="685800" rtl="0" algn="l">
              <a:lnSpc>
                <a:spcPct val="90000"/>
              </a:lnSpc>
              <a:spcBef>
                <a:spcPts val="500"/>
              </a:spcBef>
              <a:spcAft>
                <a:spcPts val="0"/>
              </a:spcAft>
              <a:buClr>
                <a:schemeClr val="dk1"/>
              </a:buClr>
              <a:buSzPts val="2800"/>
              <a:buChar char="•"/>
            </a:pPr>
            <a:r>
              <a:rPr lang="fr-FR" sz="2800"/>
              <a:t>Diagnostic?</a:t>
            </a:r>
            <a:endParaRPr/>
          </a:p>
          <a:p>
            <a:pPr indent="-228600" lvl="1" marL="685800" rtl="0" algn="l">
              <a:lnSpc>
                <a:spcPct val="90000"/>
              </a:lnSpc>
              <a:spcBef>
                <a:spcPts val="500"/>
              </a:spcBef>
              <a:spcAft>
                <a:spcPts val="0"/>
              </a:spcAft>
              <a:buClr>
                <a:schemeClr val="dk1"/>
              </a:buClr>
              <a:buSzPts val="2800"/>
              <a:buChar char="•"/>
            </a:pPr>
            <a:r>
              <a:rPr lang="fr-FR" sz="2800"/>
              <a:t>Examen complémentaire?</a:t>
            </a:r>
            <a:endParaRPr/>
          </a:p>
          <a:p>
            <a:pPr indent="-228600" lvl="1" marL="685800" rtl="0" algn="l">
              <a:lnSpc>
                <a:spcPct val="90000"/>
              </a:lnSpc>
              <a:spcBef>
                <a:spcPts val="500"/>
              </a:spcBef>
              <a:spcAft>
                <a:spcPts val="0"/>
              </a:spcAft>
              <a:buClr>
                <a:schemeClr val="dk1"/>
              </a:buClr>
              <a:buSzPts val="2800"/>
              <a:buChar char="•"/>
            </a:pPr>
            <a:r>
              <a:rPr lang="fr-FR" sz="2800"/>
              <a:t>Traitement? </a:t>
            </a:r>
            <a:endParaRPr/>
          </a:p>
        </p:txBody>
      </p:sp>
      <p:sp>
        <p:nvSpPr>
          <p:cNvPr id="837" name="Google Shape;837;p56"/>
          <p:cNvSpPr/>
          <p:nvPr/>
        </p:nvSpPr>
        <p:spPr>
          <a:xfrm>
            <a:off x="2051720" y="4005064"/>
            <a:ext cx="5544616" cy="2592288"/>
          </a:xfrm>
          <a:prstGeom prst="rect">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fr-FR" sz="2400">
                <a:solidFill>
                  <a:schemeClr val="lt1"/>
                </a:solidFill>
                <a:latin typeface="Calibri"/>
                <a:ea typeface="Calibri"/>
                <a:cs typeface="Calibri"/>
                <a:sym typeface="Calibri"/>
              </a:rPr>
              <a:t>Angine à adénovirus:</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Érythémateuse</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Collectivités d’enfants</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Fièvre modérée</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ADP bilatérales</a:t>
            </a:r>
            <a:endParaRPr/>
          </a:p>
          <a:p>
            <a:pPr indent="0" lvl="0" marL="0" marR="0" rtl="0" algn="ctr">
              <a:spcBef>
                <a:spcPts val="0"/>
              </a:spcBef>
              <a:spcAft>
                <a:spcPts val="0"/>
              </a:spcAft>
              <a:buNone/>
            </a:pPr>
            <a:r>
              <a:rPr lang="fr-FR" sz="2400">
                <a:solidFill>
                  <a:schemeClr val="lt1"/>
                </a:solidFill>
                <a:latin typeface="Calibri"/>
                <a:ea typeface="Calibri"/>
                <a:cs typeface="Calibri"/>
                <a:sym typeface="Calibri"/>
              </a:rPr>
              <a:t>Conjonctivite bilatérale: inconstante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57"/>
          <p:cNvSpPr txBox="1"/>
          <p:nvPr>
            <p:ph type="title"/>
          </p:nvPr>
        </p:nvSpPr>
        <p:spPr>
          <a:xfrm>
            <a:off x="623887" y="1709738"/>
            <a:ext cx="78867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C00000"/>
              </a:buClr>
              <a:buSzPts val="6000"/>
              <a:buFont typeface="Calibri"/>
              <a:buNone/>
            </a:pPr>
            <a:r>
              <a:rPr lang="fr-FR"/>
              <a:t>Les sinusites et leurs complications </a:t>
            </a:r>
            <a:endParaRPr/>
          </a:p>
        </p:txBody>
      </p:sp>
      <p:sp>
        <p:nvSpPr>
          <p:cNvPr id="843" name="Google Shape;843;p57"/>
          <p:cNvSpPr txBox="1"/>
          <p:nvPr>
            <p:ph idx="1" type="body"/>
          </p:nvPr>
        </p:nvSpPr>
        <p:spPr>
          <a:xfrm>
            <a:off x="623887" y="4589464"/>
            <a:ext cx="78867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5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Sinus et âge </a:t>
            </a:r>
            <a:endParaRPr/>
          </a:p>
        </p:txBody>
      </p:sp>
      <p:sp>
        <p:nvSpPr>
          <p:cNvPr id="850" name="Google Shape;850;p58"/>
          <p:cNvSpPr txBox="1"/>
          <p:nvPr>
            <p:ph idx="1" type="body"/>
          </p:nvPr>
        </p:nvSpPr>
        <p:spPr>
          <a:xfrm>
            <a:off x="628650" y="1825625"/>
            <a:ext cx="4087366"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Éthmoide: </a:t>
            </a:r>
            <a:endParaRPr/>
          </a:p>
          <a:p>
            <a:pPr indent="0" lvl="0" marL="0" rtl="0" algn="l">
              <a:lnSpc>
                <a:spcPct val="90000"/>
              </a:lnSpc>
              <a:spcBef>
                <a:spcPts val="1000"/>
              </a:spcBef>
              <a:spcAft>
                <a:spcPts val="0"/>
              </a:spcAft>
              <a:buClr>
                <a:schemeClr val="dk1"/>
              </a:buClr>
              <a:buSzPts val="2800"/>
              <a:buNone/>
            </a:pPr>
            <a:r>
              <a:rPr lang="fr-FR"/>
              <a:t>depuis la naissance jusqu’à 2 ans, le seul fonctionnel</a:t>
            </a:r>
            <a:endParaRPr/>
          </a:p>
          <a:p>
            <a:pPr indent="-228600" lvl="0" marL="228600" rtl="0" algn="l">
              <a:lnSpc>
                <a:spcPct val="90000"/>
              </a:lnSpc>
              <a:spcBef>
                <a:spcPts val="1000"/>
              </a:spcBef>
              <a:spcAft>
                <a:spcPts val="0"/>
              </a:spcAft>
              <a:buClr>
                <a:schemeClr val="dk1"/>
              </a:buClr>
              <a:buSzPts val="2800"/>
              <a:buChar char="•"/>
            </a:pPr>
            <a:r>
              <a:rPr lang="fr-FR"/>
              <a:t>Maxillaire: </a:t>
            </a:r>
            <a:endParaRPr/>
          </a:p>
          <a:p>
            <a:pPr indent="0" lvl="0" marL="0" rtl="0" algn="l">
              <a:lnSpc>
                <a:spcPct val="90000"/>
              </a:lnSpc>
              <a:spcBef>
                <a:spcPts val="1000"/>
              </a:spcBef>
              <a:spcAft>
                <a:spcPts val="0"/>
              </a:spcAft>
              <a:buClr>
                <a:schemeClr val="dk1"/>
              </a:buClr>
              <a:buSzPts val="2800"/>
              <a:buNone/>
            </a:pPr>
            <a:r>
              <a:rPr lang="fr-FR"/>
              <a:t>vers 6 ans</a:t>
            </a:r>
            <a:endParaRPr/>
          </a:p>
          <a:p>
            <a:pPr indent="-228600" lvl="0" marL="228600" rtl="0" algn="l">
              <a:lnSpc>
                <a:spcPct val="90000"/>
              </a:lnSpc>
              <a:spcBef>
                <a:spcPts val="1000"/>
              </a:spcBef>
              <a:spcAft>
                <a:spcPts val="0"/>
              </a:spcAft>
              <a:buClr>
                <a:schemeClr val="dk1"/>
              </a:buClr>
              <a:buSzPts val="2800"/>
              <a:buChar char="•"/>
            </a:pPr>
            <a:r>
              <a:rPr lang="fr-FR"/>
              <a:t>Frontal et sphénoidal: </a:t>
            </a:r>
            <a:endParaRPr/>
          </a:p>
          <a:p>
            <a:pPr indent="0" lvl="0" marL="0" rtl="0" algn="l">
              <a:lnSpc>
                <a:spcPct val="90000"/>
              </a:lnSpc>
              <a:spcBef>
                <a:spcPts val="1000"/>
              </a:spcBef>
              <a:spcAft>
                <a:spcPts val="0"/>
              </a:spcAft>
              <a:buClr>
                <a:schemeClr val="dk1"/>
              </a:buClr>
              <a:buSzPts val="2800"/>
              <a:buNone/>
            </a:pPr>
            <a:r>
              <a:rPr lang="fr-FR"/>
              <a:t>Après l’âge de 9 ans </a:t>
            </a:r>
            <a:endParaRPr/>
          </a:p>
        </p:txBody>
      </p:sp>
      <p:pic>
        <p:nvPicPr>
          <p:cNvPr id="851" name="Google Shape;851;p58"/>
          <p:cNvPicPr preferRelativeResize="0"/>
          <p:nvPr/>
        </p:nvPicPr>
        <p:blipFill rotWithShape="1">
          <a:blip r:embed="rId3">
            <a:alphaModFix/>
          </a:blip>
          <a:srcRect b="0" l="0" r="26000" t="0"/>
          <a:stretch/>
        </p:blipFill>
        <p:spPr>
          <a:xfrm>
            <a:off x="5148064" y="1052736"/>
            <a:ext cx="3733006" cy="524638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5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Les sinusites </a:t>
            </a:r>
            <a:endParaRPr/>
          </a:p>
        </p:txBody>
      </p:sp>
      <p:sp>
        <p:nvSpPr>
          <p:cNvPr id="858" name="Google Shape;858;p5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21,Les causes de sinusites aigues sont:</a:t>
            </a:r>
            <a:endParaRPr/>
          </a:p>
          <a:p>
            <a:pPr indent="-514350" lvl="0" marL="995363" rtl="0" algn="l">
              <a:lnSpc>
                <a:spcPct val="90000"/>
              </a:lnSpc>
              <a:spcBef>
                <a:spcPts val="1000"/>
              </a:spcBef>
              <a:spcAft>
                <a:spcPts val="0"/>
              </a:spcAft>
              <a:buClr>
                <a:schemeClr val="dk1"/>
              </a:buClr>
              <a:buSzPts val="2800"/>
              <a:buAutoNum type="alphaUcPeriod"/>
            </a:pPr>
            <a:r>
              <a:rPr lang="fr-FR"/>
              <a:t>Dentaires </a:t>
            </a:r>
            <a:endParaRPr/>
          </a:p>
          <a:p>
            <a:pPr indent="-514350" lvl="0" marL="995363" rtl="0" algn="l">
              <a:lnSpc>
                <a:spcPct val="90000"/>
              </a:lnSpc>
              <a:spcBef>
                <a:spcPts val="1000"/>
              </a:spcBef>
              <a:spcAft>
                <a:spcPts val="0"/>
              </a:spcAft>
              <a:buClr>
                <a:schemeClr val="dk1"/>
              </a:buClr>
              <a:buSzPts val="2800"/>
              <a:buAutoNum type="alphaUcPeriod"/>
            </a:pPr>
            <a:r>
              <a:rPr lang="fr-FR"/>
              <a:t>Infections sur hémosinus</a:t>
            </a:r>
            <a:endParaRPr/>
          </a:p>
          <a:p>
            <a:pPr indent="-514350" lvl="0" marL="995363" rtl="0" algn="l">
              <a:lnSpc>
                <a:spcPct val="90000"/>
              </a:lnSpc>
              <a:spcBef>
                <a:spcPts val="1000"/>
              </a:spcBef>
              <a:spcAft>
                <a:spcPts val="0"/>
              </a:spcAft>
              <a:buClr>
                <a:schemeClr val="dk1"/>
              </a:buClr>
              <a:buSzPts val="2800"/>
              <a:buAutoNum type="alphaUcPeriod"/>
            </a:pPr>
            <a:r>
              <a:rPr lang="fr-FR"/>
              <a:t>Déficit en Ig A</a:t>
            </a:r>
            <a:endParaRPr/>
          </a:p>
          <a:p>
            <a:pPr indent="-514350" lvl="0" marL="995363" rtl="0" algn="l">
              <a:lnSpc>
                <a:spcPct val="90000"/>
              </a:lnSpc>
              <a:spcBef>
                <a:spcPts val="1000"/>
              </a:spcBef>
              <a:spcAft>
                <a:spcPts val="0"/>
              </a:spcAft>
              <a:buClr>
                <a:schemeClr val="dk1"/>
              </a:buClr>
              <a:buSzPts val="2800"/>
              <a:buAutoNum type="alphaUcPeriod"/>
            </a:pPr>
            <a:r>
              <a:rPr lang="fr-FR"/>
              <a:t>Déviation septale </a:t>
            </a:r>
            <a:endParaRPr/>
          </a:p>
          <a:p>
            <a:pPr indent="-514350" lvl="0" marL="995363" rtl="0" algn="l">
              <a:lnSpc>
                <a:spcPct val="90000"/>
              </a:lnSpc>
              <a:spcBef>
                <a:spcPts val="1000"/>
              </a:spcBef>
              <a:spcAft>
                <a:spcPts val="0"/>
              </a:spcAft>
              <a:buClr>
                <a:schemeClr val="dk1"/>
              </a:buClr>
              <a:buSzPts val="2800"/>
              <a:buAutoNum type="alphaUcPeriod"/>
            </a:pPr>
            <a:r>
              <a:rPr lang="fr-FR"/>
              <a:t>Défaut de développement des sinus aux bas âge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859" name="Google Shape;859;p59"/>
          <p:cNvSpPr/>
          <p:nvPr/>
        </p:nvSpPr>
        <p:spPr>
          <a:xfrm>
            <a:off x="5148064" y="548680"/>
            <a:ext cx="3088192"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6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Les sinusites </a:t>
            </a:r>
            <a:endParaRPr/>
          </a:p>
        </p:txBody>
      </p:sp>
      <p:sp>
        <p:nvSpPr>
          <p:cNvPr id="866" name="Google Shape;866;p6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22. Les sinusites chroniques unilatérales peuvent être causées par:</a:t>
            </a:r>
            <a:endParaRPr/>
          </a:p>
          <a:p>
            <a:pPr indent="-514350" lvl="0" marL="985838" rtl="0" algn="l">
              <a:lnSpc>
                <a:spcPct val="90000"/>
              </a:lnSpc>
              <a:spcBef>
                <a:spcPts val="1000"/>
              </a:spcBef>
              <a:spcAft>
                <a:spcPts val="0"/>
              </a:spcAft>
              <a:buClr>
                <a:schemeClr val="dk1"/>
              </a:buClr>
              <a:buSzPts val="2800"/>
              <a:buFont typeface="Calibri"/>
              <a:buAutoNum type="alphaUcPeriod"/>
            </a:pPr>
            <a:r>
              <a:rPr lang="fr-FR"/>
              <a:t>Concha bullosa</a:t>
            </a:r>
            <a:endParaRPr/>
          </a:p>
          <a:p>
            <a:pPr indent="-514350" lvl="0" marL="985838" rtl="0" algn="l">
              <a:lnSpc>
                <a:spcPct val="90000"/>
              </a:lnSpc>
              <a:spcBef>
                <a:spcPts val="1000"/>
              </a:spcBef>
              <a:spcAft>
                <a:spcPts val="0"/>
              </a:spcAft>
              <a:buClr>
                <a:schemeClr val="dk1"/>
              </a:buClr>
              <a:buSzPts val="2800"/>
              <a:buFont typeface="Calibri"/>
              <a:buAutoNum type="alphaUcPeriod"/>
            </a:pPr>
            <a:r>
              <a:rPr lang="fr-FR"/>
              <a:t>Une origine dentaire </a:t>
            </a:r>
            <a:endParaRPr/>
          </a:p>
          <a:p>
            <a:pPr indent="-514350" lvl="0" marL="985838" rtl="0" algn="l">
              <a:lnSpc>
                <a:spcPct val="90000"/>
              </a:lnSpc>
              <a:spcBef>
                <a:spcPts val="1000"/>
              </a:spcBef>
              <a:spcAft>
                <a:spcPts val="0"/>
              </a:spcAft>
              <a:buClr>
                <a:schemeClr val="dk1"/>
              </a:buClr>
              <a:buSzPts val="2800"/>
              <a:buFont typeface="Calibri"/>
              <a:buAutoNum type="alphaUcPeriod"/>
            </a:pPr>
            <a:r>
              <a:rPr lang="fr-FR"/>
              <a:t>Dyskinésie ciliaire</a:t>
            </a:r>
            <a:endParaRPr/>
          </a:p>
          <a:p>
            <a:pPr indent="-514350" lvl="0" marL="985838" rtl="0" algn="l">
              <a:lnSpc>
                <a:spcPct val="90000"/>
              </a:lnSpc>
              <a:spcBef>
                <a:spcPts val="1000"/>
              </a:spcBef>
              <a:spcAft>
                <a:spcPts val="0"/>
              </a:spcAft>
              <a:buClr>
                <a:schemeClr val="dk1"/>
              </a:buClr>
              <a:buSzPts val="2800"/>
              <a:buFont typeface="Calibri"/>
              <a:buAutoNum type="alphaUcPeriod"/>
            </a:pPr>
            <a:r>
              <a:rPr lang="fr-FR"/>
              <a:t>Causes immunologiques</a:t>
            </a:r>
            <a:endParaRPr/>
          </a:p>
          <a:p>
            <a:pPr indent="-514350" lvl="0" marL="985838" rtl="0" algn="l">
              <a:lnSpc>
                <a:spcPct val="90000"/>
              </a:lnSpc>
              <a:spcBef>
                <a:spcPts val="1000"/>
              </a:spcBef>
              <a:spcAft>
                <a:spcPts val="0"/>
              </a:spcAft>
              <a:buClr>
                <a:schemeClr val="dk1"/>
              </a:buClr>
              <a:buSzPts val="2800"/>
              <a:buFont typeface="Calibri"/>
              <a:buAutoNum type="alphaUcPeriod"/>
            </a:pPr>
            <a:r>
              <a:rPr lang="fr-FR"/>
              <a:t>Barotraumatisme sinusien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867" name="Google Shape;867;p60"/>
          <p:cNvSpPr/>
          <p:nvPr/>
        </p:nvSpPr>
        <p:spPr>
          <a:xfrm>
            <a:off x="5364088" y="548680"/>
            <a:ext cx="287216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6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23</a:t>
            </a:r>
            <a:endParaRPr/>
          </a:p>
        </p:txBody>
      </p:sp>
      <p:sp>
        <p:nvSpPr>
          <p:cNvPr id="874" name="Google Shape;874;p61"/>
          <p:cNvSpPr txBox="1"/>
          <p:nvPr>
            <p:ph idx="1" type="body"/>
          </p:nvPr>
        </p:nvSpPr>
        <p:spPr>
          <a:xfrm>
            <a:off x="628650" y="1825625"/>
            <a:ext cx="8119814"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23.  Au cours des sinusites, les agents en causes sont :</a:t>
            </a:r>
            <a:endParaRPr/>
          </a:p>
          <a:p>
            <a:pPr indent="-514350" lvl="0" marL="885825" rtl="0" algn="l">
              <a:lnSpc>
                <a:spcPct val="90000"/>
              </a:lnSpc>
              <a:spcBef>
                <a:spcPts val="1000"/>
              </a:spcBef>
              <a:spcAft>
                <a:spcPts val="0"/>
              </a:spcAft>
              <a:buClr>
                <a:schemeClr val="dk1"/>
              </a:buClr>
              <a:buSzPts val="2800"/>
              <a:buFont typeface="Calibri"/>
              <a:buAutoNum type="alphaUcPeriod"/>
            </a:pPr>
            <a:r>
              <a:rPr lang="fr-FR"/>
              <a:t>Viral dans les formes chroniques </a:t>
            </a:r>
            <a:endParaRPr/>
          </a:p>
          <a:p>
            <a:pPr indent="-514350" lvl="0" marL="885825" rtl="0" algn="l">
              <a:lnSpc>
                <a:spcPct val="90000"/>
              </a:lnSpc>
              <a:spcBef>
                <a:spcPts val="1000"/>
              </a:spcBef>
              <a:spcAft>
                <a:spcPts val="0"/>
              </a:spcAft>
              <a:buClr>
                <a:schemeClr val="dk1"/>
              </a:buClr>
              <a:buSzPts val="2800"/>
              <a:buFont typeface="Calibri"/>
              <a:buAutoNum type="alphaUcPeriod"/>
            </a:pPr>
            <a:r>
              <a:rPr lang="fr-FR"/>
              <a:t>Streptocoque A et anaérobies dans les formes d’origine dentaire</a:t>
            </a:r>
            <a:endParaRPr/>
          </a:p>
          <a:p>
            <a:pPr indent="-514350" lvl="0" marL="885825" rtl="0" algn="l">
              <a:lnSpc>
                <a:spcPct val="90000"/>
              </a:lnSpc>
              <a:spcBef>
                <a:spcPts val="1000"/>
              </a:spcBef>
              <a:spcAft>
                <a:spcPts val="0"/>
              </a:spcAft>
              <a:buClr>
                <a:schemeClr val="dk1"/>
              </a:buClr>
              <a:buSzPts val="2800"/>
              <a:buFont typeface="Calibri"/>
              <a:buAutoNum type="alphaUcPeriod"/>
            </a:pPr>
            <a:r>
              <a:rPr lang="fr-FR"/>
              <a:t>BGN dans les formes aigues </a:t>
            </a:r>
            <a:endParaRPr/>
          </a:p>
          <a:p>
            <a:pPr indent="-514350" lvl="0" marL="885825" rtl="0" algn="l">
              <a:lnSpc>
                <a:spcPct val="90000"/>
              </a:lnSpc>
              <a:spcBef>
                <a:spcPts val="1000"/>
              </a:spcBef>
              <a:spcAft>
                <a:spcPts val="0"/>
              </a:spcAft>
              <a:buClr>
                <a:schemeClr val="dk1"/>
              </a:buClr>
              <a:buSzPts val="2800"/>
              <a:buFont typeface="Calibri"/>
              <a:buAutoNum type="alphaUcPeriod"/>
            </a:pPr>
            <a:r>
              <a:rPr lang="fr-FR"/>
              <a:t>Staphylocoque chez l’enfant plus fréquemment que l’adulte </a:t>
            </a:r>
            <a:endParaRPr/>
          </a:p>
          <a:p>
            <a:pPr indent="-514350" lvl="0" marL="885825" rtl="0" algn="l">
              <a:lnSpc>
                <a:spcPct val="90000"/>
              </a:lnSpc>
              <a:spcBef>
                <a:spcPts val="1000"/>
              </a:spcBef>
              <a:spcAft>
                <a:spcPts val="0"/>
              </a:spcAft>
              <a:buClr>
                <a:schemeClr val="dk1"/>
              </a:buClr>
              <a:buSzPts val="2800"/>
              <a:buFont typeface="Calibri"/>
              <a:buAutoNum type="alphaUcPeriod"/>
            </a:pPr>
            <a:r>
              <a:rPr lang="fr-FR"/>
              <a:t>Anaérobie dans les formes chroniques</a:t>
            </a:r>
            <a:endParaRPr/>
          </a:p>
        </p:txBody>
      </p:sp>
      <p:sp>
        <p:nvSpPr>
          <p:cNvPr id="875" name="Google Shape;875;p61"/>
          <p:cNvSpPr/>
          <p:nvPr/>
        </p:nvSpPr>
        <p:spPr>
          <a:xfrm>
            <a:off x="5580112" y="548680"/>
            <a:ext cx="2656144"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D, 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6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Bactériologie des sinusites</a:t>
            </a:r>
            <a:endParaRPr/>
          </a:p>
        </p:txBody>
      </p:sp>
      <p:grpSp>
        <p:nvGrpSpPr>
          <p:cNvPr id="882" name="Google Shape;882;p62"/>
          <p:cNvGrpSpPr/>
          <p:nvPr/>
        </p:nvGrpSpPr>
        <p:grpSpPr>
          <a:xfrm>
            <a:off x="628650" y="1415256"/>
            <a:ext cx="7759770" cy="5075136"/>
            <a:chOff x="0" y="2480"/>
            <a:chExt cx="7759770" cy="5075136"/>
          </a:xfrm>
        </p:grpSpPr>
        <p:sp>
          <p:nvSpPr>
            <p:cNvPr id="883" name="Google Shape;883;p62"/>
            <p:cNvSpPr/>
            <p:nvPr/>
          </p:nvSpPr>
          <p:spPr>
            <a:xfrm rot="5400000">
              <a:off x="4372078" y="-1911785"/>
              <a:ext cx="1309712" cy="5465672"/>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62"/>
            <p:cNvSpPr txBox="1"/>
            <p:nvPr/>
          </p:nvSpPr>
          <p:spPr>
            <a:xfrm>
              <a:off x="2294099" y="230129"/>
              <a:ext cx="5401737" cy="1181842"/>
            </a:xfrm>
            <a:prstGeom prst="rect">
              <a:avLst/>
            </a:prstGeom>
            <a:noFill/>
            <a:ln>
              <a:noFill/>
            </a:ln>
          </p:spPr>
          <p:txBody>
            <a:bodyPr anchorCtr="0" anchor="ctr" bIns="55225" lIns="110475" spcFirstLastPara="1" rIns="110475" wrap="square" tIns="55225">
              <a:noAutofit/>
            </a:bodyPr>
            <a:lstStyle/>
            <a:p>
              <a:pPr indent="-285750" lvl="1" marL="285750" marR="0" rtl="0" algn="l">
                <a:lnSpc>
                  <a:spcPct val="90000"/>
                </a:lnSpc>
                <a:spcBef>
                  <a:spcPts val="0"/>
                </a:spcBef>
                <a:spcAft>
                  <a:spcPts val="0"/>
                </a:spcAft>
                <a:buClr>
                  <a:schemeClr val="dk1"/>
                </a:buClr>
                <a:buSzPts val="2900"/>
                <a:buFont typeface="Calibri"/>
                <a:buChar char="•"/>
              </a:pPr>
              <a:r>
                <a:rPr b="0" i="0" lang="fr-FR" sz="2900" u="none" cap="none" strike="noStrike">
                  <a:solidFill>
                    <a:schemeClr val="dk1"/>
                  </a:solidFill>
                  <a:latin typeface="Calibri"/>
                  <a:ea typeface="Calibri"/>
                  <a:cs typeface="Calibri"/>
                  <a:sym typeface="Calibri"/>
                </a:rPr>
                <a:t>Viral </a:t>
              </a:r>
              <a:endParaRPr/>
            </a:p>
          </p:txBody>
        </p:sp>
        <p:sp>
          <p:nvSpPr>
            <p:cNvPr id="885" name="Google Shape;885;p62"/>
            <p:cNvSpPr/>
            <p:nvPr/>
          </p:nvSpPr>
          <p:spPr>
            <a:xfrm>
              <a:off x="0" y="2480"/>
              <a:ext cx="2167170" cy="163714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62"/>
            <p:cNvSpPr txBox="1"/>
            <p:nvPr/>
          </p:nvSpPr>
          <p:spPr>
            <a:xfrm>
              <a:off x="79919" y="82399"/>
              <a:ext cx="2007332" cy="1477302"/>
            </a:xfrm>
            <a:prstGeom prst="rect">
              <a:avLst/>
            </a:prstGeom>
            <a:noFill/>
            <a:ln>
              <a:noFill/>
            </a:ln>
          </p:spPr>
          <p:txBody>
            <a:bodyPr anchorCtr="0" anchor="ctr" bIns="49525" lIns="99050" spcFirstLastPara="1" rIns="99050" wrap="square" tIns="49525">
              <a:noAutofit/>
            </a:bodyPr>
            <a:lstStyle/>
            <a:p>
              <a:pPr indent="0" lvl="0" marL="0" marR="0" rtl="0" algn="ctr">
                <a:lnSpc>
                  <a:spcPct val="90000"/>
                </a:lnSpc>
                <a:spcBef>
                  <a:spcPts val="0"/>
                </a:spcBef>
                <a:spcAft>
                  <a:spcPts val="0"/>
                </a:spcAft>
                <a:buClr>
                  <a:schemeClr val="lt1"/>
                </a:buClr>
                <a:buSzPts val="2600"/>
                <a:buFont typeface="Calibri"/>
                <a:buNone/>
              </a:pPr>
              <a:r>
                <a:rPr lang="fr-FR" sz="2600">
                  <a:solidFill>
                    <a:schemeClr val="lt1"/>
                  </a:solidFill>
                  <a:latin typeface="Calibri"/>
                  <a:ea typeface="Calibri"/>
                  <a:cs typeface="Calibri"/>
                  <a:sym typeface="Calibri"/>
                </a:rPr>
                <a:t>Déclencheur </a:t>
              </a:r>
              <a:endParaRPr/>
            </a:p>
          </p:txBody>
        </p:sp>
        <p:sp>
          <p:nvSpPr>
            <p:cNvPr id="887" name="Google Shape;887;p62"/>
            <p:cNvSpPr/>
            <p:nvPr/>
          </p:nvSpPr>
          <p:spPr>
            <a:xfrm rot="5400000">
              <a:off x="4372078" y="-192787"/>
              <a:ext cx="1309712" cy="5465672"/>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2"/>
            <p:cNvSpPr txBox="1"/>
            <p:nvPr/>
          </p:nvSpPr>
          <p:spPr>
            <a:xfrm>
              <a:off x="2294099" y="1949127"/>
              <a:ext cx="5401737" cy="1181842"/>
            </a:xfrm>
            <a:prstGeom prst="rect">
              <a:avLst/>
            </a:prstGeom>
            <a:noFill/>
            <a:ln>
              <a:noFill/>
            </a:ln>
          </p:spPr>
          <p:txBody>
            <a:bodyPr anchorCtr="0" anchor="ctr" bIns="99050" lIns="198100" spcFirstLastPara="1" rIns="198100" wrap="square" tIns="99050">
              <a:noAutofit/>
            </a:bodyPr>
            <a:lstStyle/>
            <a:p>
              <a:pPr indent="-228600" lvl="1" marL="228600" marR="0" rtl="0" algn="l">
                <a:lnSpc>
                  <a:spcPct val="90000"/>
                </a:lnSpc>
                <a:spcBef>
                  <a:spcPts val="0"/>
                </a:spcBef>
                <a:spcAft>
                  <a:spcPts val="0"/>
                </a:spcAft>
                <a:buClr>
                  <a:schemeClr val="dk1"/>
                </a:buClr>
                <a:buSzPts val="2000"/>
                <a:buFont typeface="Calibri"/>
                <a:buChar char="•"/>
              </a:pPr>
              <a:r>
                <a:rPr b="0" i="0" lang="fr-FR" sz="2000" u="none" cap="none" strike="noStrike">
                  <a:solidFill>
                    <a:schemeClr val="dk1"/>
                  </a:solidFill>
                  <a:latin typeface="Calibri"/>
                  <a:ea typeface="Calibri"/>
                  <a:cs typeface="Calibri"/>
                  <a:sym typeface="Calibri"/>
                </a:rPr>
                <a:t>Aigue: HI, SP, MC</a:t>
              </a:r>
              <a:endParaRPr/>
            </a:p>
            <a:p>
              <a:pPr indent="-228600" lvl="1" marL="228600" marR="0" rtl="0" algn="l">
                <a:lnSpc>
                  <a:spcPct val="90000"/>
                </a:lnSpc>
                <a:spcBef>
                  <a:spcPts val="300"/>
                </a:spcBef>
                <a:spcAft>
                  <a:spcPts val="0"/>
                </a:spcAft>
                <a:buClr>
                  <a:schemeClr val="dk1"/>
                </a:buClr>
                <a:buSzPts val="2000"/>
                <a:buFont typeface="Calibri"/>
                <a:buChar char="•"/>
              </a:pPr>
              <a:r>
                <a:rPr b="0" i="0" lang="fr-FR" sz="2000" u="none" cap="none" strike="noStrike">
                  <a:solidFill>
                    <a:schemeClr val="dk1"/>
                  </a:solidFill>
                  <a:latin typeface="Calibri"/>
                  <a:ea typeface="Calibri"/>
                  <a:cs typeface="Calibri"/>
                  <a:sym typeface="Calibri"/>
                </a:rPr>
                <a:t>Aigue dentaire: streptocoque A, anaérobie</a:t>
              </a:r>
              <a:endParaRPr/>
            </a:p>
            <a:p>
              <a:pPr indent="-228600" lvl="1" marL="228600" marR="0" rtl="0" algn="l">
                <a:lnSpc>
                  <a:spcPct val="90000"/>
                </a:lnSpc>
                <a:spcBef>
                  <a:spcPts val="300"/>
                </a:spcBef>
                <a:spcAft>
                  <a:spcPts val="0"/>
                </a:spcAft>
                <a:buClr>
                  <a:schemeClr val="dk1"/>
                </a:buClr>
                <a:buSzPts val="2000"/>
                <a:buFont typeface="Calibri"/>
                <a:buChar char="•"/>
              </a:pPr>
              <a:r>
                <a:rPr b="0" i="0" lang="fr-FR" sz="2000" u="none" cap="none" strike="noStrike">
                  <a:solidFill>
                    <a:schemeClr val="dk1"/>
                  </a:solidFill>
                  <a:latin typeface="Calibri"/>
                  <a:ea typeface="Calibri"/>
                  <a:cs typeface="Calibri"/>
                  <a:sym typeface="Calibri"/>
                </a:rPr>
                <a:t>Chronique: anaérobies et BGN aérobies</a:t>
              </a:r>
              <a:r>
                <a:rPr b="0" i="0" lang="fr-FR" sz="1600" u="none" cap="none" strike="noStrike">
                  <a:solidFill>
                    <a:schemeClr val="dk1"/>
                  </a:solidFill>
                  <a:latin typeface="Calibri"/>
                  <a:ea typeface="Calibri"/>
                  <a:cs typeface="Calibri"/>
                  <a:sym typeface="Calibri"/>
                </a:rPr>
                <a:t>.</a:t>
              </a:r>
              <a:endParaRPr/>
            </a:p>
          </p:txBody>
        </p:sp>
        <p:sp>
          <p:nvSpPr>
            <p:cNvPr id="889" name="Google Shape;889;p62"/>
            <p:cNvSpPr/>
            <p:nvPr/>
          </p:nvSpPr>
          <p:spPr>
            <a:xfrm>
              <a:off x="0" y="1721478"/>
              <a:ext cx="2167170" cy="163714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62"/>
            <p:cNvSpPr txBox="1"/>
            <p:nvPr/>
          </p:nvSpPr>
          <p:spPr>
            <a:xfrm>
              <a:off x="79919" y="1801397"/>
              <a:ext cx="2007332" cy="1477302"/>
            </a:xfrm>
            <a:prstGeom prst="rect">
              <a:avLst/>
            </a:prstGeom>
            <a:noFill/>
            <a:ln>
              <a:noFill/>
            </a:ln>
          </p:spPr>
          <p:txBody>
            <a:bodyPr anchorCtr="0" anchor="ctr" bIns="49525" lIns="99050" spcFirstLastPara="1" rIns="99050" wrap="square" tIns="49525">
              <a:noAutofit/>
            </a:bodyPr>
            <a:lstStyle/>
            <a:p>
              <a:pPr indent="0" lvl="0" marL="0" marR="0" rtl="0" algn="ctr">
                <a:lnSpc>
                  <a:spcPct val="90000"/>
                </a:lnSpc>
                <a:spcBef>
                  <a:spcPts val="0"/>
                </a:spcBef>
                <a:spcAft>
                  <a:spcPts val="0"/>
                </a:spcAft>
                <a:buClr>
                  <a:schemeClr val="lt1"/>
                </a:buClr>
                <a:buSzPts val="2600"/>
                <a:buFont typeface="Calibri"/>
                <a:buNone/>
              </a:pPr>
              <a:r>
                <a:rPr lang="fr-FR" sz="2600">
                  <a:solidFill>
                    <a:schemeClr val="lt1"/>
                  </a:solidFill>
                  <a:latin typeface="Calibri"/>
                  <a:ea typeface="Calibri"/>
                  <a:cs typeface="Calibri"/>
                  <a:sym typeface="Calibri"/>
                </a:rPr>
                <a:t>Adulte </a:t>
              </a:r>
              <a:endParaRPr/>
            </a:p>
          </p:txBody>
        </p:sp>
        <p:sp>
          <p:nvSpPr>
            <p:cNvPr id="891" name="Google Shape;891;p62"/>
            <p:cNvSpPr/>
            <p:nvPr/>
          </p:nvSpPr>
          <p:spPr>
            <a:xfrm rot="5400000">
              <a:off x="4372078" y="1526210"/>
              <a:ext cx="1309712" cy="5465672"/>
            </a:xfrm>
            <a:prstGeom prst="round2SameRect">
              <a:avLst>
                <a:gd fmla="val 16667" name="adj1"/>
                <a:gd fmla="val 0" name="adj2"/>
              </a:avLst>
            </a:prstGeom>
            <a:solidFill>
              <a:srgbClr val="CCD3EA">
                <a:alpha val="89803"/>
              </a:srgbClr>
            </a:solidFill>
            <a:ln cap="flat" cmpd="sng" w="12700">
              <a:solidFill>
                <a:srgbClr val="CCD3EA">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62"/>
            <p:cNvSpPr txBox="1"/>
            <p:nvPr/>
          </p:nvSpPr>
          <p:spPr>
            <a:xfrm>
              <a:off x="2294099" y="3668125"/>
              <a:ext cx="5401737" cy="1181842"/>
            </a:xfrm>
            <a:prstGeom prst="rect">
              <a:avLst/>
            </a:prstGeom>
            <a:noFill/>
            <a:ln>
              <a:noFill/>
            </a:ln>
          </p:spPr>
          <p:txBody>
            <a:bodyPr anchorCtr="0" anchor="ctr" bIns="55225" lIns="110475" spcFirstLastPara="1" rIns="110475" wrap="square" tIns="55225">
              <a:noAutofit/>
            </a:bodyPr>
            <a:lstStyle/>
            <a:p>
              <a:pPr indent="-285750" lvl="1" marL="285750" marR="0" rtl="0" algn="l">
                <a:lnSpc>
                  <a:spcPct val="90000"/>
                </a:lnSpc>
                <a:spcBef>
                  <a:spcPts val="0"/>
                </a:spcBef>
                <a:spcAft>
                  <a:spcPts val="0"/>
                </a:spcAft>
                <a:buClr>
                  <a:schemeClr val="dk1"/>
                </a:buClr>
                <a:buSzPts val="2900"/>
                <a:buFont typeface="Calibri"/>
                <a:buChar char="•"/>
              </a:pPr>
              <a:r>
                <a:rPr b="0" i="0" lang="fr-FR" sz="2900" u="none" cap="none" strike="noStrike">
                  <a:solidFill>
                    <a:schemeClr val="dk1"/>
                  </a:solidFill>
                  <a:latin typeface="Calibri"/>
                  <a:ea typeface="Calibri"/>
                  <a:cs typeface="Calibri"/>
                  <a:sym typeface="Calibri"/>
                </a:rPr>
                <a:t>SP, Staph aureus, HI, anaérobies (pyocyanique, acinetobacter) </a:t>
              </a:r>
              <a:endParaRPr/>
            </a:p>
          </p:txBody>
        </p:sp>
        <p:sp>
          <p:nvSpPr>
            <p:cNvPr id="893" name="Google Shape;893;p62"/>
            <p:cNvSpPr/>
            <p:nvPr/>
          </p:nvSpPr>
          <p:spPr>
            <a:xfrm>
              <a:off x="0" y="3440476"/>
              <a:ext cx="2167170" cy="163714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2"/>
            <p:cNvSpPr txBox="1"/>
            <p:nvPr/>
          </p:nvSpPr>
          <p:spPr>
            <a:xfrm>
              <a:off x="79919" y="3520395"/>
              <a:ext cx="2007332" cy="1477302"/>
            </a:xfrm>
            <a:prstGeom prst="rect">
              <a:avLst/>
            </a:prstGeom>
            <a:noFill/>
            <a:ln>
              <a:noFill/>
            </a:ln>
          </p:spPr>
          <p:txBody>
            <a:bodyPr anchorCtr="0" anchor="ctr" bIns="49525" lIns="99050" spcFirstLastPara="1" rIns="99050" wrap="square" tIns="49525">
              <a:noAutofit/>
            </a:bodyPr>
            <a:lstStyle/>
            <a:p>
              <a:pPr indent="0" lvl="0" marL="0" marR="0" rtl="0" algn="ctr">
                <a:lnSpc>
                  <a:spcPct val="90000"/>
                </a:lnSpc>
                <a:spcBef>
                  <a:spcPts val="0"/>
                </a:spcBef>
                <a:spcAft>
                  <a:spcPts val="0"/>
                </a:spcAft>
                <a:buClr>
                  <a:schemeClr val="lt1"/>
                </a:buClr>
                <a:buSzPts val="2600"/>
                <a:buFont typeface="Calibri"/>
                <a:buNone/>
              </a:pPr>
              <a:r>
                <a:rPr lang="fr-FR" sz="2600">
                  <a:solidFill>
                    <a:schemeClr val="lt1"/>
                  </a:solidFill>
                  <a:latin typeface="Calibri"/>
                  <a:ea typeface="Calibri"/>
                  <a:cs typeface="Calibri"/>
                  <a:sym typeface="Calibri"/>
                </a:rPr>
                <a:t>Enfant </a:t>
              </a:r>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24 </a:t>
            </a:r>
            <a:endParaRPr/>
          </a:p>
        </p:txBody>
      </p:sp>
      <p:sp>
        <p:nvSpPr>
          <p:cNvPr id="901" name="Google Shape;901;p6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24. Le diagnostic d’une sinusite :</a:t>
            </a:r>
            <a:endParaRPr/>
          </a:p>
          <a:p>
            <a:pPr indent="-514350" lvl="0" marL="812800" rtl="0" algn="l">
              <a:lnSpc>
                <a:spcPct val="90000"/>
              </a:lnSpc>
              <a:spcBef>
                <a:spcPts val="1000"/>
              </a:spcBef>
              <a:spcAft>
                <a:spcPts val="0"/>
              </a:spcAft>
              <a:buClr>
                <a:schemeClr val="dk1"/>
              </a:buClr>
              <a:buSzPts val="2800"/>
              <a:buFont typeface="Calibri"/>
              <a:buAutoNum type="alphaUcPeriod"/>
            </a:pPr>
            <a:r>
              <a:rPr lang="fr-FR"/>
              <a:t>Est retenu devant une opacité comblant un sinus à l’imagerie</a:t>
            </a:r>
            <a:endParaRPr/>
          </a:p>
          <a:p>
            <a:pPr indent="-514350" lvl="0" marL="812800" rtl="0" algn="l">
              <a:lnSpc>
                <a:spcPct val="90000"/>
              </a:lnSpc>
              <a:spcBef>
                <a:spcPts val="1000"/>
              </a:spcBef>
              <a:spcAft>
                <a:spcPts val="0"/>
              </a:spcAft>
              <a:buClr>
                <a:schemeClr val="dk1"/>
              </a:buClr>
              <a:buSzPts val="2800"/>
              <a:buFont typeface="Calibri"/>
              <a:buAutoNum type="alphaUcPeriod"/>
            </a:pPr>
            <a:r>
              <a:rPr lang="fr-FR"/>
              <a:t>D’origine bactérienne nécessite un prélèvement </a:t>
            </a:r>
            <a:endParaRPr/>
          </a:p>
          <a:p>
            <a:pPr indent="-514350" lvl="0" marL="812800" rtl="0" algn="l">
              <a:lnSpc>
                <a:spcPct val="90000"/>
              </a:lnSpc>
              <a:spcBef>
                <a:spcPts val="1000"/>
              </a:spcBef>
              <a:spcAft>
                <a:spcPts val="0"/>
              </a:spcAft>
              <a:buClr>
                <a:schemeClr val="dk1"/>
              </a:buClr>
              <a:buSzPts val="2800"/>
              <a:buFont typeface="Calibri"/>
              <a:buAutoNum type="alphaUcPeriod"/>
            </a:pPr>
            <a:r>
              <a:rPr lang="fr-FR"/>
              <a:t>Est évoqué devant la présence d’au moins deux critères cliniques</a:t>
            </a:r>
            <a:endParaRPr/>
          </a:p>
          <a:p>
            <a:pPr indent="-514350" lvl="0" marL="812800" rtl="0" algn="l">
              <a:lnSpc>
                <a:spcPct val="90000"/>
              </a:lnSpc>
              <a:spcBef>
                <a:spcPts val="1000"/>
              </a:spcBef>
              <a:spcAft>
                <a:spcPts val="0"/>
              </a:spcAft>
              <a:buClr>
                <a:schemeClr val="dk1"/>
              </a:buClr>
              <a:buSzPts val="2800"/>
              <a:buFont typeface="Calibri"/>
              <a:buAutoNum type="alphaUcPeriod"/>
            </a:pPr>
            <a:r>
              <a:rPr lang="fr-FR"/>
              <a:t>Est évoqué devant une fièvre isolée chez un immunocompétent</a:t>
            </a:r>
            <a:endParaRPr/>
          </a:p>
          <a:p>
            <a:pPr indent="-514350" lvl="0" marL="812800" rtl="0" algn="l">
              <a:lnSpc>
                <a:spcPct val="90000"/>
              </a:lnSpc>
              <a:spcBef>
                <a:spcPts val="1000"/>
              </a:spcBef>
              <a:spcAft>
                <a:spcPts val="0"/>
              </a:spcAft>
              <a:buClr>
                <a:schemeClr val="dk1"/>
              </a:buClr>
              <a:buSzPts val="2800"/>
              <a:buFont typeface="Calibri"/>
              <a:buAutoNum type="alphaUcPeriod"/>
            </a:pPr>
            <a:r>
              <a:rPr lang="fr-FR"/>
              <a:t>Est différent selon le sinus </a:t>
            </a:r>
            <a:endParaRPr/>
          </a:p>
          <a:p>
            <a:pPr indent="-336550" lvl="0" marL="812800" rtl="0" algn="l">
              <a:lnSpc>
                <a:spcPct val="90000"/>
              </a:lnSpc>
              <a:spcBef>
                <a:spcPts val="1000"/>
              </a:spcBef>
              <a:spcAft>
                <a:spcPts val="0"/>
              </a:spcAft>
              <a:buClr>
                <a:schemeClr val="dk1"/>
              </a:buClr>
              <a:buSzPts val="2800"/>
              <a:buFont typeface="Calibri"/>
              <a:buNone/>
            </a:pPr>
            <a:r>
              <a:t/>
            </a:r>
            <a:endParaRPr/>
          </a:p>
          <a:p>
            <a:pPr indent="-336550" lvl="0" marL="812800" rtl="0" algn="l">
              <a:lnSpc>
                <a:spcPct val="90000"/>
              </a:lnSpc>
              <a:spcBef>
                <a:spcPts val="1000"/>
              </a:spcBef>
              <a:spcAft>
                <a:spcPts val="0"/>
              </a:spcAft>
              <a:buClr>
                <a:schemeClr val="dk1"/>
              </a:buClr>
              <a:buSzPts val="2800"/>
              <a:buFont typeface="Calibri"/>
              <a:buNone/>
            </a:pPr>
            <a:r>
              <a:t/>
            </a:r>
            <a:endParaRPr/>
          </a:p>
        </p:txBody>
      </p:sp>
      <p:sp>
        <p:nvSpPr>
          <p:cNvPr id="902" name="Google Shape;902;p63"/>
          <p:cNvSpPr/>
          <p:nvPr/>
        </p:nvSpPr>
        <p:spPr>
          <a:xfrm>
            <a:off x="5796136" y="548680"/>
            <a:ext cx="2440120"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C, 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6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Diagnostic positif de sinusite </a:t>
            </a:r>
            <a:endParaRPr/>
          </a:p>
        </p:txBody>
      </p:sp>
      <p:sp>
        <p:nvSpPr>
          <p:cNvPr id="908" name="Google Shape;908;p6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b="1" lang="fr-FR"/>
              <a:t>Clinique </a:t>
            </a:r>
            <a:r>
              <a:rPr lang="fr-FR"/>
              <a:t>devant la survenue brutale 2 parmi 3 des critères suivants, </a:t>
            </a:r>
            <a:endParaRPr/>
          </a:p>
          <a:p>
            <a:pPr indent="-228600" lvl="1" marL="685800" rtl="0" algn="l">
              <a:lnSpc>
                <a:spcPct val="150000"/>
              </a:lnSpc>
              <a:spcBef>
                <a:spcPts val="500"/>
              </a:spcBef>
              <a:spcAft>
                <a:spcPts val="0"/>
              </a:spcAft>
              <a:buClr>
                <a:schemeClr val="dk1"/>
              </a:buClr>
              <a:buSzPts val="2400"/>
              <a:buChar char="•"/>
            </a:pPr>
            <a:r>
              <a:rPr lang="fr-FR"/>
              <a:t>Obstruction ou congestion nasale et/ou </a:t>
            </a:r>
            <a:endParaRPr/>
          </a:p>
          <a:p>
            <a:pPr indent="-228600" lvl="1" marL="685800" rtl="0" algn="l">
              <a:lnSpc>
                <a:spcPct val="150000"/>
              </a:lnSpc>
              <a:spcBef>
                <a:spcPts val="500"/>
              </a:spcBef>
              <a:spcAft>
                <a:spcPts val="0"/>
              </a:spcAft>
              <a:buClr>
                <a:schemeClr val="dk1"/>
              </a:buClr>
              <a:buSzPts val="2400"/>
              <a:buChar char="•"/>
            </a:pPr>
            <a:r>
              <a:rPr lang="fr-FR"/>
              <a:t>Rhinorrhée antérieure ou postérieure (pouvant être incolore ou épaisse voire purulente) et/ou </a:t>
            </a:r>
            <a:endParaRPr/>
          </a:p>
          <a:p>
            <a:pPr indent="-228600" lvl="1" marL="685800" rtl="0" algn="l">
              <a:lnSpc>
                <a:spcPct val="150000"/>
              </a:lnSpc>
              <a:spcBef>
                <a:spcPts val="500"/>
              </a:spcBef>
              <a:spcAft>
                <a:spcPts val="0"/>
              </a:spcAft>
              <a:buClr>
                <a:schemeClr val="dk1"/>
              </a:buClr>
              <a:buSzPts val="2400"/>
              <a:buChar char="•"/>
            </a:pPr>
            <a:r>
              <a:rPr lang="fr-FR"/>
              <a:t>Douleur sous orbitaire/Sensation de pesanteur faciale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6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Sinusite suppurative, purulente, </a:t>
            </a:r>
            <a:r>
              <a:rPr lang="fr-FR" u="sng"/>
              <a:t>bactérienne</a:t>
            </a:r>
            <a:endParaRPr/>
          </a:p>
        </p:txBody>
      </p:sp>
      <p:sp>
        <p:nvSpPr>
          <p:cNvPr id="915" name="Google Shape;915;p65"/>
          <p:cNvSpPr txBox="1"/>
          <p:nvPr>
            <p:ph idx="1" type="body"/>
          </p:nvPr>
        </p:nvSpPr>
        <p:spPr>
          <a:xfrm>
            <a:off x="628650" y="1825624"/>
            <a:ext cx="7886700" cy="4627711"/>
          </a:xfrm>
          <a:prstGeom prst="rect">
            <a:avLst/>
          </a:prstGeom>
          <a:noFill/>
          <a:ln>
            <a:noFill/>
          </a:ln>
        </p:spPr>
        <p:txBody>
          <a:bodyPr anchorCtr="0" anchor="t" bIns="45700" lIns="91425" spcFirstLastPara="1" rIns="91425" wrap="square" tIns="45700">
            <a:normAutofit fontScale="47500" lnSpcReduction="20000"/>
          </a:bodyPr>
          <a:lstStyle/>
          <a:p>
            <a:pPr indent="-228631" lvl="0" marL="228600" rtl="0" algn="l">
              <a:lnSpc>
                <a:spcPct val="90000"/>
              </a:lnSpc>
              <a:spcBef>
                <a:spcPts val="0"/>
              </a:spcBef>
              <a:spcAft>
                <a:spcPts val="0"/>
              </a:spcAft>
              <a:buClr>
                <a:schemeClr val="dk1"/>
              </a:buClr>
              <a:buSzPct val="100000"/>
              <a:buChar char="•"/>
            </a:pPr>
            <a:r>
              <a:rPr lang="fr-FR" sz="5900"/>
              <a:t>AU moins 2/3 des </a:t>
            </a:r>
            <a:r>
              <a:rPr b="1" lang="fr-FR" sz="5900" u="sng">
                <a:solidFill>
                  <a:srgbClr val="C00000"/>
                </a:solidFill>
              </a:rPr>
              <a:t>critères majeurs </a:t>
            </a:r>
            <a:r>
              <a:rPr lang="fr-FR" sz="5900"/>
              <a:t>suivants</a:t>
            </a:r>
            <a:r>
              <a:rPr lang="fr-FR" sz="4000"/>
              <a:t>: </a:t>
            </a:r>
            <a:endParaRPr/>
          </a:p>
          <a:p>
            <a:pPr indent="0" lvl="0" marL="0" rtl="0" algn="l">
              <a:lnSpc>
                <a:spcPct val="90000"/>
              </a:lnSpc>
              <a:spcBef>
                <a:spcPts val="1000"/>
              </a:spcBef>
              <a:spcAft>
                <a:spcPts val="0"/>
              </a:spcAft>
              <a:buClr>
                <a:schemeClr val="dk1"/>
              </a:buClr>
              <a:buSzPct val="100000"/>
              <a:buNone/>
            </a:pPr>
            <a:r>
              <a:t/>
            </a:r>
            <a:endParaRPr sz="4000"/>
          </a:p>
          <a:p>
            <a:pPr indent="0" lvl="0" marL="0" rtl="0" algn="l">
              <a:lnSpc>
                <a:spcPct val="90000"/>
              </a:lnSpc>
              <a:spcBef>
                <a:spcPts val="1000"/>
              </a:spcBef>
              <a:spcAft>
                <a:spcPts val="0"/>
              </a:spcAft>
              <a:buClr>
                <a:schemeClr val="dk1"/>
              </a:buClr>
              <a:buSzPct val="100000"/>
              <a:buNone/>
            </a:pPr>
            <a:r>
              <a:rPr i="1" lang="fr-FR" sz="4400"/>
              <a:t>1- la persistance ou ⭧ des </a:t>
            </a:r>
            <a:r>
              <a:rPr i="1" lang="fr-FR" sz="4400">
                <a:solidFill>
                  <a:srgbClr val="FF0000"/>
                </a:solidFill>
              </a:rPr>
              <a:t>douleurs</a:t>
            </a:r>
            <a:r>
              <a:rPr lang="fr-FR" sz="4400"/>
              <a:t> sinusiennes infra-orbitaires malgré un </a:t>
            </a:r>
            <a:r>
              <a:rPr b="1" lang="fr-FR" sz="4400"/>
              <a:t>ttt symptomatique</a:t>
            </a:r>
            <a:r>
              <a:rPr lang="fr-FR" sz="4400"/>
              <a:t> pendant au moins 48 heures.  </a:t>
            </a:r>
            <a:endParaRPr/>
          </a:p>
          <a:p>
            <a:pPr indent="0" lvl="0" marL="0" rtl="0" algn="l">
              <a:lnSpc>
                <a:spcPct val="90000"/>
              </a:lnSpc>
              <a:spcBef>
                <a:spcPts val="1000"/>
              </a:spcBef>
              <a:spcAft>
                <a:spcPts val="0"/>
              </a:spcAft>
              <a:buClr>
                <a:schemeClr val="dk1"/>
              </a:buClr>
              <a:buSzPct val="100000"/>
              <a:buNone/>
            </a:pPr>
            <a:r>
              <a:t/>
            </a:r>
            <a:endParaRPr sz="1600"/>
          </a:p>
          <a:p>
            <a:pPr indent="0" lvl="0" marL="0" rtl="0" algn="l">
              <a:lnSpc>
                <a:spcPct val="90000"/>
              </a:lnSpc>
              <a:spcBef>
                <a:spcPts val="1000"/>
              </a:spcBef>
              <a:spcAft>
                <a:spcPts val="0"/>
              </a:spcAft>
              <a:buClr>
                <a:schemeClr val="dk1"/>
              </a:buClr>
              <a:buSzPct val="100000"/>
              <a:buNone/>
            </a:pPr>
            <a:r>
              <a:rPr lang="fr-FR" sz="4400"/>
              <a:t>2- le </a:t>
            </a:r>
            <a:r>
              <a:rPr b="1" lang="fr-FR" sz="4400"/>
              <a:t>type </a:t>
            </a:r>
            <a:r>
              <a:rPr lang="fr-FR" sz="4400"/>
              <a:t>de la </a:t>
            </a:r>
            <a:r>
              <a:rPr lang="fr-FR" sz="4400">
                <a:solidFill>
                  <a:srgbClr val="FF0000"/>
                </a:solidFill>
              </a:rPr>
              <a:t>douleur</a:t>
            </a:r>
            <a:r>
              <a:rPr lang="fr-FR" sz="4400"/>
              <a:t> : </a:t>
            </a:r>
            <a:endParaRPr sz="2900"/>
          </a:p>
          <a:p>
            <a:pPr indent="0" lvl="0" marL="0" rtl="0" algn="l">
              <a:lnSpc>
                <a:spcPct val="90000"/>
              </a:lnSpc>
              <a:spcBef>
                <a:spcPts val="1000"/>
              </a:spcBef>
              <a:spcAft>
                <a:spcPts val="0"/>
              </a:spcAft>
              <a:buClr>
                <a:schemeClr val="dk1"/>
              </a:buClr>
              <a:buSzPct val="100000"/>
              <a:buNone/>
            </a:pPr>
            <a:r>
              <a:rPr lang="fr-FR" sz="4400"/>
              <a:t>	- son caractère unilatéral,</a:t>
            </a:r>
            <a:endParaRPr sz="2900"/>
          </a:p>
          <a:p>
            <a:pPr indent="0" lvl="0" marL="0" rtl="0" algn="l">
              <a:lnSpc>
                <a:spcPct val="90000"/>
              </a:lnSpc>
              <a:spcBef>
                <a:spcPts val="1000"/>
              </a:spcBef>
              <a:spcAft>
                <a:spcPts val="0"/>
              </a:spcAft>
              <a:buClr>
                <a:schemeClr val="dk1"/>
              </a:buClr>
              <a:buSzPct val="100000"/>
              <a:buNone/>
            </a:pPr>
            <a:r>
              <a:rPr lang="fr-FR" sz="4400"/>
              <a:t>	- et/ou son augmentation quand la tête est penchée en avant,</a:t>
            </a:r>
            <a:endParaRPr sz="2900"/>
          </a:p>
          <a:p>
            <a:pPr indent="0" lvl="0" marL="0" rtl="0" algn="l">
              <a:lnSpc>
                <a:spcPct val="90000"/>
              </a:lnSpc>
              <a:spcBef>
                <a:spcPts val="1000"/>
              </a:spcBef>
              <a:spcAft>
                <a:spcPts val="0"/>
              </a:spcAft>
              <a:buClr>
                <a:schemeClr val="dk1"/>
              </a:buClr>
              <a:buSzPct val="100000"/>
              <a:buNone/>
            </a:pPr>
            <a:r>
              <a:rPr lang="fr-FR" sz="4400"/>
              <a:t>	- et/ou son caractère pulsatile,</a:t>
            </a:r>
            <a:endParaRPr sz="2900"/>
          </a:p>
          <a:p>
            <a:pPr indent="0" lvl="0" marL="0" rtl="0" algn="l">
              <a:lnSpc>
                <a:spcPct val="90000"/>
              </a:lnSpc>
              <a:spcBef>
                <a:spcPts val="1000"/>
              </a:spcBef>
              <a:spcAft>
                <a:spcPts val="0"/>
              </a:spcAft>
              <a:buClr>
                <a:schemeClr val="dk1"/>
              </a:buClr>
              <a:buSzPct val="100000"/>
              <a:buNone/>
            </a:pPr>
            <a:r>
              <a:rPr lang="fr-FR" sz="4400"/>
              <a:t>	- et/ou son acmé en fin d’après-midi et la nuit ; </a:t>
            </a:r>
            <a:endParaRPr/>
          </a:p>
          <a:p>
            <a:pPr indent="0" lvl="0" marL="0" rtl="0" algn="l">
              <a:lnSpc>
                <a:spcPct val="90000"/>
              </a:lnSpc>
              <a:spcBef>
                <a:spcPts val="1000"/>
              </a:spcBef>
              <a:spcAft>
                <a:spcPts val="0"/>
              </a:spcAft>
              <a:buClr>
                <a:schemeClr val="dk1"/>
              </a:buClr>
              <a:buSzPct val="100000"/>
              <a:buNone/>
            </a:pPr>
            <a:r>
              <a:t/>
            </a:r>
            <a:endParaRPr sz="2900"/>
          </a:p>
          <a:p>
            <a:pPr indent="0" lvl="0" marL="0" rtl="0" algn="l">
              <a:lnSpc>
                <a:spcPct val="90000"/>
              </a:lnSpc>
              <a:spcBef>
                <a:spcPts val="1000"/>
              </a:spcBef>
              <a:spcAft>
                <a:spcPts val="0"/>
              </a:spcAft>
              <a:buClr>
                <a:schemeClr val="dk1"/>
              </a:buClr>
              <a:buSzPct val="100000"/>
              <a:buNone/>
            </a:pPr>
            <a:r>
              <a:rPr lang="fr-FR" sz="4400"/>
              <a:t>3- l’</a:t>
            </a:r>
            <a:r>
              <a:rPr b="1" lang="fr-FR" sz="4400"/>
              <a:t>augmentation</a:t>
            </a:r>
            <a:r>
              <a:rPr lang="fr-FR" sz="4400"/>
              <a:t> de la </a:t>
            </a:r>
            <a:r>
              <a:rPr lang="fr-FR" sz="4400">
                <a:solidFill>
                  <a:srgbClr val="FF0000"/>
                </a:solidFill>
              </a:rPr>
              <a:t>rhinorrhée</a:t>
            </a:r>
            <a:r>
              <a:rPr lang="fr-FR" sz="4400"/>
              <a:t> et le caractère </a:t>
            </a:r>
            <a:r>
              <a:rPr b="1" lang="fr-FR" sz="4400"/>
              <a:t>continu</a:t>
            </a:r>
            <a:r>
              <a:rPr lang="fr-FR" sz="4400"/>
              <a:t> de la purulence. Ces signes ont d’autant plus de valeur qu’ils sont </a:t>
            </a:r>
            <a:r>
              <a:rPr b="1" lang="fr-FR" sz="4400"/>
              <a:t>unilatéraux</a:t>
            </a:r>
            <a:r>
              <a:rPr lang="fr-FR" sz="4400"/>
              <a:t>. </a:t>
            </a:r>
            <a:endParaRPr sz="2900"/>
          </a:p>
          <a:p>
            <a:pPr indent="-14414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6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25</a:t>
            </a:r>
            <a:endParaRPr/>
          </a:p>
        </p:txBody>
      </p:sp>
      <p:sp>
        <p:nvSpPr>
          <p:cNvPr id="922" name="Google Shape;922;p6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25. L’imagerie des sinus au cours des sinusites est systématique pour:</a:t>
            </a:r>
            <a:endParaRPr/>
          </a:p>
          <a:p>
            <a:pPr indent="-514350" lvl="0" marL="992188" rtl="0" algn="l">
              <a:lnSpc>
                <a:spcPct val="90000"/>
              </a:lnSpc>
              <a:spcBef>
                <a:spcPts val="1000"/>
              </a:spcBef>
              <a:spcAft>
                <a:spcPts val="0"/>
              </a:spcAft>
              <a:buClr>
                <a:schemeClr val="dk1"/>
              </a:buClr>
              <a:buSzPts val="2800"/>
              <a:buFont typeface="Calibri"/>
              <a:buAutoNum type="alphaUcPeriod"/>
            </a:pPr>
            <a:r>
              <a:rPr lang="fr-FR"/>
              <a:t>Les sinusites frontales</a:t>
            </a:r>
            <a:endParaRPr/>
          </a:p>
          <a:p>
            <a:pPr indent="-514350" lvl="0" marL="992188" rtl="0" algn="l">
              <a:lnSpc>
                <a:spcPct val="90000"/>
              </a:lnSpc>
              <a:spcBef>
                <a:spcPts val="1000"/>
              </a:spcBef>
              <a:spcAft>
                <a:spcPts val="0"/>
              </a:spcAft>
              <a:buClr>
                <a:schemeClr val="dk1"/>
              </a:buClr>
              <a:buSzPts val="2800"/>
              <a:buFont typeface="Calibri"/>
              <a:buAutoNum type="alphaUcPeriod"/>
            </a:pPr>
            <a:r>
              <a:rPr lang="fr-FR"/>
              <a:t>Les sinusites maxillaires d’origine dentaire</a:t>
            </a:r>
            <a:endParaRPr/>
          </a:p>
          <a:p>
            <a:pPr indent="-514350" lvl="0" marL="992188" rtl="0" algn="l">
              <a:lnSpc>
                <a:spcPct val="90000"/>
              </a:lnSpc>
              <a:spcBef>
                <a:spcPts val="1000"/>
              </a:spcBef>
              <a:spcAft>
                <a:spcPts val="0"/>
              </a:spcAft>
              <a:buClr>
                <a:schemeClr val="dk1"/>
              </a:buClr>
              <a:buSzPts val="2800"/>
              <a:buFont typeface="Calibri"/>
              <a:buAutoNum type="alphaUcPeriod"/>
            </a:pPr>
            <a:r>
              <a:rPr lang="fr-FR"/>
              <a:t>Les sphénoidites</a:t>
            </a:r>
            <a:endParaRPr/>
          </a:p>
          <a:p>
            <a:pPr indent="-514350" lvl="0" marL="992188" rtl="0" algn="l">
              <a:lnSpc>
                <a:spcPct val="90000"/>
              </a:lnSpc>
              <a:spcBef>
                <a:spcPts val="1000"/>
              </a:spcBef>
              <a:spcAft>
                <a:spcPts val="0"/>
              </a:spcAft>
              <a:buClr>
                <a:schemeClr val="dk1"/>
              </a:buClr>
              <a:buSzPts val="2800"/>
              <a:buFont typeface="Calibri"/>
              <a:buAutoNum type="alphaUcPeriod"/>
            </a:pPr>
            <a:r>
              <a:rPr lang="fr-FR"/>
              <a:t>L’éthmoidite extériorisée</a:t>
            </a:r>
            <a:endParaRPr/>
          </a:p>
          <a:p>
            <a:pPr indent="-514350" lvl="0" marL="992188" rtl="0" algn="l">
              <a:lnSpc>
                <a:spcPct val="90000"/>
              </a:lnSpc>
              <a:spcBef>
                <a:spcPts val="1000"/>
              </a:spcBef>
              <a:spcAft>
                <a:spcPts val="0"/>
              </a:spcAft>
              <a:buClr>
                <a:schemeClr val="dk1"/>
              </a:buClr>
              <a:buSzPts val="2800"/>
              <a:buFont typeface="Calibri"/>
              <a:buAutoNum type="alphaUcPeriod"/>
            </a:pPr>
            <a:r>
              <a:rPr lang="fr-FR"/>
              <a:t>Les sinusites chroniques</a:t>
            </a:r>
            <a:endParaRPr/>
          </a:p>
        </p:txBody>
      </p:sp>
      <p:sp>
        <p:nvSpPr>
          <p:cNvPr id="923" name="Google Shape;923;p66"/>
          <p:cNvSpPr/>
          <p:nvPr/>
        </p:nvSpPr>
        <p:spPr>
          <a:xfrm>
            <a:off x="5004048" y="548680"/>
            <a:ext cx="323220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C, D,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6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800"/>
              <a:buFont typeface="Calibri"/>
              <a:buNone/>
            </a:pPr>
            <a:r>
              <a:rPr lang="fr-FR" sz="4800"/>
              <a:t>TDM sinus systématique  </a:t>
            </a:r>
            <a:endParaRPr/>
          </a:p>
        </p:txBody>
      </p:sp>
      <p:sp>
        <p:nvSpPr>
          <p:cNvPr id="930" name="Google Shape;930;p67"/>
          <p:cNvSpPr/>
          <p:nvPr/>
        </p:nvSpPr>
        <p:spPr>
          <a:xfrm>
            <a:off x="-828600" y="1333217"/>
            <a:ext cx="7632848"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6000">
                <a:solidFill>
                  <a:srgbClr val="FF9356"/>
                </a:solidFill>
                <a:latin typeface="Calibri"/>
                <a:ea typeface="Calibri"/>
                <a:cs typeface="Calibri"/>
                <a:sym typeface="Calibri"/>
              </a:rPr>
              <a:t>Récapitulation </a:t>
            </a:r>
            <a:endParaRPr/>
          </a:p>
        </p:txBody>
      </p:sp>
      <p:grpSp>
        <p:nvGrpSpPr>
          <p:cNvPr id="931" name="Google Shape;931;p67"/>
          <p:cNvGrpSpPr/>
          <p:nvPr/>
        </p:nvGrpSpPr>
        <p:grpSpPr>
          <a:xfrm>
            <a:off x="543624" y="2242432"/>
            <a:ext cx="8128760" cy="3637726"/>
            <a:chOff x="4072" y="213136"/>
            <a:chExt cx="8128760" cy="3637726"/>
          </a:xfrm>
        </p:grpSpPr>
        <p:sp>
          <p:nvSpPr>
            <p:cNvPr id="932" name="Google Shape;932;p67"/>
            <p:cNvSpPr/>
            <p:nvPr/>
          </p:nvSpPr>
          <p:spPr>
            <a:xfrm rot="5400000">
              <a:off x="508927" y="1092342"/>
              <a:ext cx="1520701" cy="2530412"/>
            </a:xfrm>
            <a:prstGeom prst="corner">
              <a:avLst>
                <a:gd fmla="val 16120" name="adj1"/>
                <a:gd fmla="val 16110" name="adj2"/>
              </a:avLst>
            </a:prstGeom>
            <a:solidFill>
              <a:schemeClr val="accent2"/>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7"/>
            <p:cNvSpPr/>
            <p:nvPr/>
          </p:nvSpPr>
          <p:spPr>
            <a:xfrm>
              <a:off x="255084" y="1848390"/>
              <a:ext cx="2284470" cy="20024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7"/>
            <p:cNvSpPr txBox="1"/>
            <p:nvPr/>
          </p:nvSpPr>
          <p:spPr>
            <a:xfrm>
              <a:off x="255084" y="1848390"/>
              <a:ext cx="2284470" cy="2002472"/>
            </a:xfrm>
            <a:prstGeom prst="rect">
              <a:avLst/>
            </a:prstGeom>
            <a:noFill/>
            <a:ln>
              <a:noFill/>
            </a:ln>
          </p:spPr>
          <p:txBody>
            <a:bodyPr anchorCtr="0" anchor="t" bIns="95250" lIns="95250" spcFirstLastPara="1" rIns="95250" wrap="square" tIns="95250">
              <a:noAutofit/>
            </a:bodyPr>
            <a:lstStyle/>
            <a:p>
              <a:pPr indent="0" lvl="0" marL="0" marR="0" rtl="0" algn="l">
                <a:lnSpc>
                  <a:spcPct val="90000"/>
                </a:lnSpc>
                <a:spcBef>
                  <a:spcPts val="0"/>
                </a:spcBef>
                <a:spcAft>
                  <a:spcPts val="0"/>
                </a:spcAft>
                <a:buClr>
                  <a:schemeClr val="dk1"/>
                </a:buClr>
                <a:buSzPts val="2500"/>
                <a:buFont typeface="Calibri"/>
                <a:buNone/>
              </a:pPr>
              <a:r>
                <a:rPr b="1" lang="fr-FR" sz="2500">
                  <a:solidFill>
                    <a:schemeClr val="dk1"/>
                  </a:solidFill>
                  <a:latin typeface="Calibri"/>
                  <a:ea typeface="Calibri"/>
                  <a:cs typeface="Calibri"/>
                  <a:sym typeface="Calibri"/>
                </a:rPr>
                <a:t>Topographie</a:t>
              </a:r>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Sphénoide</a:t>
              </a:r>
              <a:endParaRPr sz="2500">
                <a:solidFill>
                  <a:schemeClr val="dk1"/>
                </a:solidFill>
                <a:latin typeface="Calibri"/>
                <a:ea typeface="Calibri"/>
                <a:cs typeface="Calibri"/>
                <a:sym typeface="Calibri"/>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Ethmoide </a:t>
              </a:r>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Pansinusite </a:t>
              </a:r>
              <a:endParaRPr/>
            </a:p>
          </p:txBody>
        </p:sp>
        <p:sp>
          <p:nvSpPr>
            <p:cNvPr id="935" name="Google Shape;935;p67"/>
            <p:cNvSpPr/>
            <p:nvPr/>
          </p:nvSpPr>
          <p:spPr>
            <a:xfrm>
              <a:off x="2108523" y="906050"/>
              <a:ext cx="431032" cy="431032"/>
            </a:xfrm>
            <a:prstGeom prst="triangle">
              <a:avLst>
                <a:gd fmla="val 100000" name="adj"/>
              </a:avLst>
            </a:prstGeom>
            <a:solidFill>
              <a:schemeClr val="accent3"/>
            </a:solidFill>
            <a:ln cap="flat" cmpd="sng" w="12700">
              <a:solidFill>
                <a:schemeClr val="accent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67"/>
            <p:cNvSpPr/>
            <p:nvPr/>
          </p:nvSpPr>
          <p:spPr>
            <a:xfrm rot="5400000">
              <a:off x="3305565" y="400311"/>
              <a:ext cx="1520701" cy="2530412"/>
            </a:xfrm>
            <a:prstGeom prst="corner">
              <a:avLst>
                <a:gd fmla="val 16120" name="adj1"/>
                <a:gd fmla="val 16110" name="adj2"/>
              </a:avLst>
            </a:prstGeom>
            <a:solidFill>
              <a:schemeClr val="accent4"/>
            </a:solidFill>
            <a:ln cap="flat" cmpd="sng" w="12700">
              <a:solidFill>
                <a:schemeClr val="accent4"/>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67"/>
            <p:cNvSpPr/>
            <p:nvPr/>
          </p:nvSpPr>
          <p:spPr>
            <a:xfrm>
              <a:off x="3051723" y="1156360"/>
              <a:ext cx="2284470" cy="20024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67"/>
            <p:cNvSpPr txBox="1"/>
            <p:nvPr/>
          </p:nvSpPr>
          <p:spPr>
            <a:xfrm>
              <a:off x="3051723" y="1156360"/>
              <a:ext cx="2284470" cy="2002472"/>
            </a:xfrm>
            <a:prstGeom prst="rect">
              <a:avLst/>
            </a:prstGeom>
            <a:noFill/>
            <a:ln>
              <a:noFill/>
            </a:ln>
          </p:spPr>
          <p:txBody>
            <a:bodyPr anchorCtr="0" anchor="t" bIns="95250" lIns="95250" spcFirstLastPara="1" rIns="95250" wrap="square" tIns="95250">
              <a:noAutofit/>
            </a:bodyPr>
            <a:lstStyle/>
            <a:p>
              <a:pPr indent="0" lvl="0" marL="0" marR="0" rtl="0" algn="l">
                <a:lnSpc>
                  <a:spcPct val="90000"/>
                </a:lnSpc>
                <a:spcBef>
                  <a:spcPts val="0"/>
                </a:spcBef>
                <a:spcAft>
                  <a:spcPts val="0"/>
                </a:spcAft>
                <a:buClr>
                  <a:schemeClr val="dk1"/>
                </a:buClr>
                <a:buSzPts val="2500"/>
                <a:buFont typeface="Calibri"/>
                <a:buNone/>
              </a:pPr>
              <a:r>
                <a:rPr b="1" lang="fr-FR" sz="2500">
                  <a:solidFill>
                    <a:schemeClr val="dk1"/>
                  </a:solidFill>
                  <a:latin typeface="Calibri"/>
                  <a:ea typeface="Calibri"/>
                  <a:cs typeface="Calibri"/>
                  <a:sym typeface="Calibri"/>
                </a:rPr>
                <a:t>Évolution</a:t>
              </a:r>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Chronique</a:t>
              </a:r>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Récidivante  </a:t>
              </a:r>
              <a:endParaRPr/>
            </a:p>
          </p:txBody>
        </p:sp>
        <p:sp>
          <p:nvSpPr>
            <p:cNvPr id="939" name="Google Shape;939;p67"/>
            <p:cNvSpPr/>
            <p:nvPr/>
          </p:nvSpPr>
          <p:spPr>
            <a:xfrm>
              <a:off x="4905161" y="214020"/>
              <a:ext cx="431032" cy="431032"/>
            </a:xfrm>
            <a:prstGeom prst="triangle">
              <a:avLst>
                <a:gd fmla="val 100000" name="adj"/>
              </a:avLst>
            </a:prstGeom>
            <a:solidFill>
              <a:srgbClr val="599BD5"/>
            </a:solidFill>
            <a:ln cap="flat" cmpd="sng" w="12700">
              <a:solidFill>
                <a:srgbClr val="599BD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7"/>
            <p:cNvSpPr/>
            <p:nvPr/>
          </p:nvSpPr>
          <p:spPr>
            <a:xfrm rot="5400000">
              <a:off x="6102204" y="-291719"/>
              <a:ext cx="1520701" cy="2530412"/>
            </a:xfrm>
            <a:prstGeom prst="corner">
              <a:avLst>
                <a:gd fmla="val 16120" name="adj1"/>
                <a:gd fmla="val 16110" name="adj2"/>
              </a:avLst>
            </a:prstGeom>
            <a:solidFill>
              <a:schemeClr val="accent6"/>
            </a:solidFill>
            <a:ln cap="flat" cmpd="sng" w="12700">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67"/>
            <p:cNvSpPr/>
            <p:nvPr/>
          </p:nvSpPr>
          <p:spPr>
            <a:xfrm>
              <a:off x="5848361" y="464329"/>
              <a:ext cx="2284470" cy="20024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67"/>
            <p:cNvSpPr txBox="1"/>
            <p:nvPr/>
          </p:nvSpPr>
          <p:spPr>
            <a:xfrm>
              <a:off x="5848361" y="464329"/>
              <a:ext cx="2284470" cy="2002472"/>
            </a:xfrm>
            <a:prstGeom prst="rect">
              <a:avLst/>
            </a:prstGeom>
            <a:noFill/>
            <a:ln>
              <a:noFill/>
            </a:ln>
          </p:spPr>
          <p:txBody>
            <a:bodyPr anchorCtr="0" anchor="t" bIns="95250" lIns="95250" spcFirstLastPara="1" rIns="95250" wrap="square" tIns="95250">
              <a:noAutofit/>
            </a:bodyPr>
            <a:lstStyle/>
            <a:p>
              <a:pPr indent="0" lvl="0" marL="0" marR="0" rtl="0" algn="l">
                <a:lnSpc>
                  <a:spcPct val="90000"/>
                </a:lnSpc>
                <a:spcBef>
                  <a:spcPts val="0"/>
                </a:spcBef>
                <a:spcAft>
                  <a:spcPts val="0"/>
                </a:spcAft>
                <a:buClr>
                  <a:schemeClr val="dk1"/>
                </a:buClr>
                <a:buSzPts val="2500"/>
                <a:buFont typeface="Calibri"/>
                <a:buNone/>
              </a:pPr>
              <a:r>
                <a:rPr b="1" lang="fr-FR" sz="2500">
                  <a:solidFill>
                    <a:schemeClr val="dk1"/>
                  </a:solidFill>
                  <a:latin typeface="Calibri"/>
                  <a:ea typeface="Calibri"/>
                  <a:cs typeface="Calibri"/>
                  <a:sym typeface="Calibri"/>
                </a:rPr>
                <a:t>Symptômes</a:t>
              </a:r>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Hyperalgique</a:t>
              </a:r>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Cpc</a:t>
              </a:r>
              <a:endParaRPr sz="2500">
                <a:solidFill>
                  <a:schemeClr val="dk1"/>
                </a:solidFill>
                <a:latin typeface="Calibri"/>
                <a:ea typeface="Calibri"/>
                <a:cs typeface="Calibri"/>
                <a:sym typeface="Calibri"/>
              </a:endParaRPr>
            </a:p>
            <a:p>
              <a:pPr indent="0" lvl="0" marL="0" marR="0" rtl="0" algn="l">
                <a:lnSpc>
                  <a:spcPct val="90000"/>
                </a:lnSpc>
                <a:spcBef>
                  <a:spcPts val="875"/>
                </a:spcBef>
                <a:spcAft>
                  <a:spcPts val="0"/>
                </a:spcAft>
                <a:buClr>
                  <a:schemeClr val="dk1"/>
                </a:buClr>
                <a:buSzPts val="2500"/>
                <a:buFont typeface="Calibri"/>
                <a:buNone/>
              </a:pPr>
              <a:r>
                <a:rPr lang="fr-FR" sz="2500">
                  <a:solidFill>
                    <a:schemeClr val="dk1"/>
                  </a:solidFill>
                  <a:latin typeface="Calibri"/>
                  <a:ea typeface="Calibri"/>
                  <a:cs typeface="Calibri"/>
                  <a:sym typeface="Calibri"/>
                </a:rPr>
                <a:t> </a:t>
              </a:r>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6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C00000"/>
              </a:buClr>
              <a:buSzPct val="100000"/>
              <a:buFont typeface="Calibri"/>
              <a:buNone/>
            </a:pPr>
            <a:r>
              <a:rPr lang="fr-FR" sz="4800"/>
              <a:t>Autres particularités de l’imagerie</a:t>
            </a:r>
            <a:endParaRPr/>
          </a:p>
        </p:txBody>
      </p:sp>
      <p:grpSp>
        <p:nvGrpSpPr>
          <p:cNvPr id="949" name="Google Shape;949;p68"/>
          <p:cNvGrpSpPr/>
          <p:nvPr/>
        </p:nvGrpSpPr>
        <p:grpSpPr>
          <a:xfrm>
            <a:off x="396507" y="1756545"/>
            <a:ext cx="8278976" cy="3704949"/>
            <a:chOff x="971" y="415777"/>
            <a:chExt cx="8278976" cy="3704949"/>
          </a:xfrm>
        </p:grpSpPr>
        <p:sp>
          <p:nvSpPr>
            <p:cNvPr id="950" name="Google Shape;950;p68"/>
            <p:cNvSpPr/>
            <p:nvPr/>
          </p:nvSpPr>
          <p:spPr>
            <a:xfrm rot="5400000">
              <a:off x="515156" y="1311230"/>
              <a:ext cx="1548803" cy="2577173"/>
            </a:xfrm>
            <a:prstGeom prst="corner">
              <a:avLst>
                <a:gd fmla="val 16120" name="adj1"/>
                <a:gd fmla="val 16110" name="adj2"/>
              </a:avLst>
            </a:prstGeom>
            <a:solidFill>
              <a:schemeClr val="accent2"/>
            </a:solidFill>
            <a:ln cap="flat" cmpd="sng" w="12700">
              <a:solidFill>
                <a:schemeClr val="accent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68"/>
            <p:cNvSpPr/>
            <p:nvPr/>
          </p:nvSpPr>
          <p:spPr>
            <a:xfrm>
              <a:off x="256622" y="2081249"/>
              <a:ext cx="2326686" cy="203947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68"/>
            <p:cNvSpPr txBox="1"/>
            <p:nvPr/>
          </p:nvSpPr>
          <p:spPr>
            <a:xfrm>
              <a:off x="256622" y="2081249"/>
              <a:ext cx="2326686" cy="2039477"/>
            </a:xfrm>
            <a:prstGeom prst="rect">
              <a:avLst/>
            </a:prstGeom>
            <a:noFill/>
            <a:ln>
              <a:noFill/>
            </a:ln>
          </p:spPr>
          <p:txBody>
            <a:bodyPr anchorCtr="0" anchor="t" bIns="106675" lIns="106675" spcFirstLastPara="1" rIns="106675" wrap="square" tIns="106675">
              <a:noAutofit/>
            </a:bodyPr>
            <a:lstStyle/>
            <a:p>
              <a:pPr indent="0" lvl="0" marL="0" marR="0" rtl="0" algn="l">
                <a:lnSpc>
                  <a:spcPct val="90000"/>
                </a:lnSpc>
                <a:spcBef>
                  <a:spcPts val="0"/>
                </a:spcBef>
                <a:spcAft>
                  <a:spcPts val="0"/>
                </a:spcAft>
                <a:buClr>
                  <a:schemeClr val="dk1"/>
                </a:buClr>
                <a:buSzPts val="2800"/>
                <a:buFont typeface="Calibri"/>
                <a:buNone/>
              </a:pPr>
              <a:r>
                <a:rPr b="1" lang="fr-FR" sz="2800">
                  <a:solidFill>
                    <a:schemeClr val="dk1"/>
                  </a:solidFill>
                  <a:latin typeface="Calibri"/>
                  <a:ea typeface="Calibri"/>
                  <a:cs typeface="Calibri"/>
                  <a:sym typeface="Calibri"/>
                </a:rPr>
                <a:t>Dentaire</a:t>
              </a:r>
              <a:endParaRPr/>
            </a:p>
            <a:p>
              <a:pPr indent="0" lvl="0" marL="0" marR="0" rtl="0" algn="l">
                <a:lnSpc>
                  <a:spcPct val="90000"/>
                </a:lnSpc>
                <a:spcBef>
                  <a:spcPts val="98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Rx dent</a:t>
              </a:r>
              <a:endParaRPr/>
            </a:p>
            <a:p>
              <a:pPr indent="0" lvl="0" marL="0" marR="0" rtl="0" algn="l">
                <a:lnSpc>
                  <a:spcPct val="90000"/>
                </a:lnSpc>
                <a:spcBef>
                  <a:spcPts val="63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TDM sinus si cpc ou chgie prévue </a:t>
              </a:r>
              <a:endParaRPr/>
            </a:p>
          </p:txBody>
        </p:sp>
        <p:sp>
          <p:nvSpPr>
            <p:cNvPr id="953" name="Google Shape;953;p68"/>
            <p:cNvSpPr/>
            <p:nvPr/>
          </p:nvSpPr>
          <p:spPr>
            <a:xfrm>
              <a:off x="2144312" y="1121495"/>
              <a:ext cx="438997" cy="438997"/>
            </a:xfrm>
            <a:prstGeom prst="triangle">
              <a:avLst>
                <a:gd fmla="val 100000" name="adj"/>
              </a:avLst>
            </a:prstGeom>
            <a:solidFill>
              <a:srgbClr val="D77850"/>
            </a:solidFill>
            <a:ln cap="flat" cmpd="sng" w="12700">
              <a:solidFill>
                <a:srgbClr val="D7785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68"/>
            <p:cNvSpPr/>
            <p:nvPr/>
          </p:nvSpPr>
          <p:spPr>
            <a:xfrm rot="5400000">
              <a:off x="3363476" y="606410"/>
              <a:ext cx="1548803" cy="2577173"/>
            </a:xfrm>
            <a:prstGeom prst="corner">
              <a:avLst>
                <a:gd fmla="val 16120" name="adj1"/>
                <a:gd fmla="val 16110" name="adj2"/>
              </a:avLst>
            </a:prstGeom>
            <a:solidFill>
              <a:srgbClr val="C47F6E"/>
            </a:solidFill>
            <a:ln cap="flat" cmpd="sng" w="12700">
              <a:solidFill>
                <a:srgbClr val="C47F6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68"/>
            <p:cNvSpPr/>
            <p:nvPr/>
          </p:nvSpPr>
          <p:spPr>
            <a:xfrm>
              <a:off x="3104942" y="1376430"/>
              <a:ext cx="2326686" cy="203947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68"/>
            <p:cNvSpPr txBox="1"/>
            <p:nvPr/>
          </p:nvSpPr>
          <p:spPr>
            <a:xfrm>
              <a:off x="3104942" y="1376430"/>
              <a:ext cx="2326686" cy="2039477"/>
            </a:xfrm>
            <a:prstGeom prst="rect">
              <a:avLst/>
            </a:prstGeom>
            <a:noFill/>
            <a:ln>
              <a:noFill/>
            </a:ln>
          </p:spPr>
          <p:txBody>
            <a:bodyPr anchorCtr="0" anchor="t" bIns="102850" lIns="102850" spcFirstLastPara="1" rIns="102850" wrap="square" tIns="102850">
              <a:noAutofit/>
            </a:bodyPr>
            <a:lstStyle/>
            <a:p>
              <a:pPr indent="0" lvl="0" marL="0" marR="0" rtl="0" algn="l">
                <a:lnSpc>
                  <a:spcPct val="90000"/>
                </a:lnSpc>
                <a:spcBef>
                  <a:spcPts val="0"/>
                </a:spcBef>
                <a:spcAft>
                  <a:spcPts val="0"/>
                </a:spcAft>
                <a:buClr>
                  <a:schemeClr val="dk1"/>
                </a:buClr>
                <a:buSzPts val="2700"/>
                <a:buFont typeface="Calibri"/>
                <a:buNone/>
              </a:pPr>
              <a:r>
                <a:rPr b="1" lang="fr-FR" sz="2700">
                  <a:solidFill>
                    <a:schemeClr val="dk1"/>
                  </a:solidFill>
                  <a:latin typeface="Calibri"/>
                  <a:ea typeface="Calibri"/>
                  <a:cs typeface="Calibri"/>
                  <a:sym typeface="Calibri"/>
                </a:rPr>
                <a:t>Injection</a:t>
              </a:r>
              <a:endParaRPr/>
            </a:p>
            <a:p>
              <a:pPr indent="0" lvl="0" marL="0" marR="0" rtl="0" algn="l">
                <a:lnSpc>
                  <a:spcPct val="90000"/>
                </a:lnSpc>
                <a:spcBef>
                  <a:spcPts val="945"/>
                </a:spcBef>
                <a:spcAft>
                  <a:spcPts val="0"/>
                </a:spcAft>
                <a:buClr>
                  <a:schemeClr val="dk1"/>
                </a:buClr>
                <a:buSzPts val="2700"/>
                <a:buFont typeface="Calibri"/>
                <a:buNone/>
              </a:pPr>
              <a:r>
                <a:rPr lang="fr-FR" sz="2700">
                  <a:solidFill>
                    <a:schemeClr val="dk1"/>
                  </a:solidFill>
                  <a:latin typeface="Calibri"/>
                  <a:ea typeface="Calibri"/>
                  <a:cs typeface="Calibri"/>
                  <a:sym typeface="Calibri"/>
                </a:rPr>
                <a:t>Complication </a:t>
              </a:r>
              <a:endParaRPr/>
            </a:p>
            <a:p>
              <a:pPr indent="0" lvl="0" marL="0" marR="0" rtl="0" algn="l">
                <a:lnSpc>
                  <a:spcPct val="90000"/>
                </a:lnSpc>
                <a:spcBef>
                  <a:spcPts val="945"/>
                </a:spcBef>
                <a:spcAft>
                  <a:spcPts val="0"/>
                </a:spcAft>
                <a:buClr>
                  <a:schemeClr val="dk1"/>
                </a:buClr>
                <a:buSzPts val="2700"/>
                <a:buFont typeface="Calibri"/>
                <a:buNone/>
              </a:pPr>
              <a:r>
                <a:rPr lang="fr-FR" sz="2700">
                  <a:solidFill>
                    <a:schemeClr val="dk1"/>
                  </a:solidFill>
                  <a:latin typeface="Calibri"/>
                  <a:ea typeface="Calibri"/>
                  <a:cs typeface="Calibri"/>
                  <a:sym typeface="Calibri"/>
                </a:rPr>
                <a:t>Ethmoidite ext </a:t>
              </a:r>
              <a:endParaRPr/>
            </a:p>
          </p:txBody>
        </p:sp>
        <p:sp>
          <p:nvSpPr>
            <p:cNvPr id="957" name="Google Shape;957;p68"/>
            <p:cNvSpPr/>
            <p:nvPr/>
          </p:nvSpPr>
          <p:spPr>
            <a:xfrm>
              <a:off x="4992631" y="416676"/>
              <a:ext cx="438997" cy="438997"/>
            </a:xfrm>
            <a:prstGeom prst="triangle">
              <a:avLst>
                <a:gd fmla="val 100000" name="adj"/>
              </a:avLst>
            </a:prstGeom>
            <a:solidFill>
              <a:srgbClr val="B38E8A"/>
            </a:solidFill>
            <a:ln cap="flat" cmpd="sng" w="12700">
              <a:solidFill>
                <a:srgbClr val="B38E8A"/>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68"/>
            <p:cNvSpPr/>
            <p:nvPr/>
          </p:nvSpPr>
          <p:spPr>
            <a:xfrm rot="5400000">
              <a:off x="6211795" y="-98408"/>
              <a:ext cx="1548803" cy="2577173"/>
            </a:xfrm>
            <a:prstGeom prst="corner">
              <a:avLst>
                <a:gd fmla="val 16120" name="adj1"/>
                <a:gd fmla="val 16110" name="adj2"/>
              </a:avLst>
            </a:prstGeom>
            <a:solidFill>
              <a:srgbClr val="A4A4A4"/>
            </a:solidFill>
            <a:ln cap="flat" cmpd="sng" w="12700">
              <a:solidFill>
                <a:srgbClr val="A4A4A4"/>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68"/>
            <p:cNvSpPr/>
            <p:nvPr/>
          </p:nvSpPr>
          <p:spPr>
            <a:xfrm>
              <a:off x="5953261" y="671611"/>
              <a:ext cx="2326686" cy="203947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68"/>
            <p:cNvSpPr txBox="1"/>
            <p:nvPr/>
          </p:nvSpPr>
          <p:spPr>
            <a:xfrm>
              <a:off x="5953261" y="671611"/>
              <a:ext cx="2326686" cy="2039477"/>
            </a:xfrm>
            <a:prstGeom prst="rect">
              <a:avLst/>
            </a:prstGeom>
            <a:noFill/>
            <a:ln>
              <a:noFill/>
            </a:ln>
          </p:spPr>
          <p:txBody>
            <a:bodyPr anchorCtr="0" anchor="t" bIns="102850" lIns="102850" spcFirstLastPara="1" rIns="102850" wrap="square" tIns="102850">
              <a:noAutofit/>
            </a:bodyPr>
            <a:lstStyle/>
            <a:p>
              <a:pPr indent="0" lvl="0" marL="0" marR="0" rtl="0" algn="l">
                <a:lnSpc>
                  <a:spcPct val="90000"/>
                </a:lnSpc>
                <a:spcBef>
                  <a:spcPts val="0"/>
                </a:spcBef>
                <a:spcAft>
                  <a:spcPts val="0"/>
                </a:spcAft>
                <a:buClr>
                  <a:schemeClr val="dk1"/>
                </a:buClr>
                <a:buSzPts val="2700"/>
                <a:buFont typeface="Calibri"/>
                <a:buNone/>
              </a:pPr>
              <a:r>
                <a:rPr b="1" lang="fr-FR" sz="2700">
                  <a:solidFill>
                    <a:schemeClr val="dk1"/>
                  </a:solidFill>
                  <a:latin typeface="Calibri"/>
                  <a:ea typeface="Calibri"/>
                  <a:cs typeface="Calibri"/>
                  <a:sym typeface="Calibri"/>
                </a:rPr>
                <a:t>Cérébrale</a:t>
              </a:r>
              <a:endParaRPr/>
            </a:p>
            <a:p>
              <a:pPr indent="0" lvl="0" marL="0" marR="0" rtl="0" algn="l">
                <a:lnSpc>
                  <a:spcPct val="90000"/>
                </a:lnSpc>
                <a:spcBef>
                  <a:spcPts val="945"/>
                </a:spcBef>
                <a:spcAft>
                  <a:spcPts val="0"/>
                </a:spcAft>
                <a:buClr>
                  <a:schemeClr val="dk1"/>
                </a:buClr>
                <a:buSzPts val="2700"/>
                <a:buFont typeface="Calibri"/>
                <a:buNone/>
              </a:pPr>
              <a:r>
                <a:rPr b="0" lang="fr-FR" sz="2700">
                  <a:solidFill>
                    <a:schemeClr val="dk1"/>
                  </a:solidFill>
                  <a:latin typeface="Calibri"/>
                  <a:ea typeface="Calibri"/>
                  <a:cs typeface="Calibri"/>
                  <a:sym typeface="Calibri"/>
                </a:rPr>
                <a:t>Clinique</a:t>
              </a:r>
              <a:endParaRPr/>
            </a:p>
            <a:p>
              <a:pPr indent="0" lvl="0" marL="0" marR="0" rtl="0" algn="l">
                <a:lnSpc>
                  <a:spcPct val="90000"/>
                </a:lnSpc>
                <a:spcBef>
                  <a:spcPts val="945"/>
                </a:spcBef>
                <a:spcAft>
                  <a:spcPts val="0"/>
                </a:spcAft>
                <a:buClr>
                  <a:schemeClr val="dk1"/>
                </a:buClr>
                <a:buSzPts val="2700"/>
                <a:buFont typeface="Calibri"/>
                <a:buNone/>
              </a:pPr>
              <a:r>
                <a:rPr b="0" lang="fr-FR" sz="2700">
                  <a:solidFill>
                    <a:schemeClr val="dk1"/>
                  </a:solidFill>
                  <a:latin typeface="Calibri"/>
                  <a:ea typeface="Calibri"/>
                  <a:cs typeface="Calibri"/>
                  <a:sym typeface="Calibri"/>
                </a:rPr>
                <a:t> ethmoidite ext</a:t>
              </a:r>
              <a:endParaRPr b="0" sz="2700">
                <a:solidFill>
                  <a:schemeClr val="dk1"/>
                </a:solidFill>
                <a:latin typeface="Calibri"/>
                <a:ea typeface="Calibri"/>
                <a:cs typeface="Calibri"/>
                <a:sym typeface="Calibri"/>
              </a:endParaRPr>
            </a:p>
          </p:txBody>
        </p:sp>
      </p:grpSp>
      <p:sp>
        <p:nvSpPr>
          <p:cNvPr id="961" name="Google Shape;961;p68"/>
          <p:cNvSpPr/>
          <p:nvPr/>
        </p:nvSpPr>
        <p:spPr>
          <a:xfrm>
            <a:off x="4355976" y="4797152"/>
            <a:ext cx="2880320" cy="1440160"/>
          </a:xfrm>
          <a:prstGeom prst="roundRect">
            <a:avLst>
              <a:gd fmla="val 16667" name="adj"/>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2800">
                <a:solidFill>
                  <a:schemeClr val="dk1"/>
                </a:solidFill>
                <a:latin typeface="Calibri"/>
                <a:ea typeface="Calibri"/>
                <a:cs typeface="Calibri"/>
                <a:sym typeface="Calibri"/>
              </a:rPr>
              <a:t>Echographie orbitaire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6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Le prélèvement </a:t>
            </a:r>
            <a:br>
              <a:rPr lang="fr-FR"/>
            </a:br>
            <a:r>
              <a:rPr lang="fr-FR"/>
              <a:t>bactériologique </a:t>
            </a:r>
            <a:endParaRPr/>
          </a:p>
        </p:txBody>
      </p:sp>
      <p:sp>
        <p:nvSpPr>
          <p:cNvPr id="967" name="Google Shape;967;p6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26. Le prélèvement bactériologique au cours des rhinosinusites:</a:t>
            </a:r>
            <a:endParaRPr/>
          </a:p>
          <a:p>
            <a:pPr indent="-514350" lvl="0" marL="514350" rtl="0" algn="l">
              <a:lnSpc>
                <a:spcPct val="90000"/>
              </a:lnSpc>
              <a:spcBef>
                <a:spcPts val="1000"/>
              </a:spcBef>
              <a:spcAft>
                <a:spcPts val="0"/>
              </a:spcAft>
              <a:buClr>
                <a:schemeClr val="dk1"/>
              </a:buClr>
              <a:buSzPts val="2800"/>
              <a:buAutoNum type="alphaUcPeriod"/>
            </a:pPr>
            <a:r>
              <a:rPr lang="fr-FR"/>
              <a:t>Doit être protégé</a:t>
            </a:r>
            <a:endParaRPr/>
          </a:p>
          <a:p>
            <a:pPr indent="-514350" lvl="0" marL="514350" rtl="0" algn="l">
              <a:lnSpc>
                <a:spcPct val="90000"/>
              </a:lnSpc>
              <a:spcBef>
                <a:spcPts val="1000"/>
              </a:spcBef>
              <a:spcAft>
                <a:spcPts val="0"/>
              </a:spcAft>
              <a:buClr>
                <a:schemeClr val="dk1"/>
              </a:buClr>
              <a:buSzPts val="2800"/>
              <a:buAutoNum type="alphaUcPeriod"/>
            </a:pPr>
            <a:r>
              <a:rPr lang="fr-FR"/>
              <a:t>Doit se faire dans la cavité nasale homolatérale</a:t>
            </a:r>
            <a:endParaRPr/>
          </a:p>
          <a:p>
            <a:pPr indent="-514350" lvl="0" marL="514350" rtl="0" algn="l">
              <a:lnSpc>
                <a:spcPct val="90000"/>
              </a:lnSpc>
              <a:spcBef>
                <a:spcPts val="1000"/>
              </a:spcBef>
              <a:spcAft>
                <a:spcPts val="0"/>
              </a:spcAft>
              <a:buClr>
                <a:schemeClr val="dk1"/>
              </a:buClr>
              <a:buSzPts val="2800"/>
              <a:buAutoNum type="alphaUcPeriod"/>
            </a:pPr>
            <a:r>
              <a:rPr lang="fr-FR"/>
              <a:t>Est indispensable si immunodépression</a:t>
            </a:r>
            <a:endParaRPr/>
          </a:p>
          <a:p>
            <a:pPr indent="-514350" lvl="0" marL="514350" rtl="0" algn="l">
              <a:lnSpc>
                <a:spcPct val="90000"/>
              </a:lnSpc>
              <a:spcBef>
                <a:spcPts val="1000"/>
              </a:spcBef>
              <a:spcAft>
                <a:spcPts val="0"/>
              </a:spcAft>
              <a:buClr>
                <a:schemeClr val="dk1"/>
              </a:buClr>
              <a:buSzPts val="2800"/>
              <a:buAutoNum type="alphaUcPeriod"/>
            </a:pPr>
            <a:r>
              <a:rPr lang="fr-FR"/>
              <a:t>Est indispensable en cas de complication </a:t>
            </a:r>
            <a:endParaRPr/>
          </a:p>
          <a:p>
            <a:pPr indent="-514350" lvl="0" marL="514350" rtl="0" algn="l">
              <a:lnSpc>
                <a:spcPct val="90000"/>
              </a:lnSpc>
              <a:spcBef>
                <a:spcPts val="1000"/>
              </a:spcBef>
              <a:spcAft>
                <a:spcPts val="0"/>
              </a:spcAft>
              <a:buClr>
                <a:schemeClr val="dk1"/>
              </a:buClr>
              <a:buSzPts val="2800"/>
              <a:buAutoNum type="alphaUcPeriod"/>
            </a:pPr>
            <a:r>
              <a:rPr lang="fr-FR"/>
              <a:t>Est indispensable devant une sinusite dentaire</a:t>
            </a:r>
            <a:endParaRPr/>
          </a:p>
          <a:p>
            <a:pPr indent="-336550" lvl="0" marL="514350" rtl="0" algn="l">
              <a:lnSpc>
                <a:spcPct val="90000"/>
              </a:lnSpc>
              <a:spcBef>
                <a:spcPts val="1000"/>
              </a:spcBef>
              <a:spcAft>
                <a:spcPts val="0"/>
              </a:spcAft>
              <a:buClr>
                <a:schemeClr val="dk1"/>
              </a:buClr>
              <a:buSzPts val="2800"/>
              <a:buNone/>
            </a:pPr>
            <a:r>
              <a:t/>
            </a:r>
            <a:endParaRPr/>
          </a:p>
        </p:txBody>
      </p:sp>
      <p:sp>
        <p:nvSpPr>
          <p:cNvPr id="968" name="Google Shape;968;p69"/>
          <p:cNvSpPr/>
          <p:nvPr/>
        </p:nvSpPr>
        <p:spPr>
          <a:xfrm>
            <a:off x="5004048" y="548680"/>
            <a:ext cx="323220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C,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7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QCM27</a:t>
            </a:r>
            <a:endParaRPr/>
          </a:p>
        </p:txBody>
      </p:sp>
      <p:sp>
        <p:nvSpPr>
          <p:cNvPr id="975" name="Google Shape;975;p7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fr-FR"/>
              <a:t>27. </a:t>
            </a:r>
            <a:r>
              <a:rPr b="1" lang="fr-FR"/>
              <a:t>Au cours des sinusites</a:t>
            </a:r>
            <a:r>
              <a:rPr lang="fr-FR"/>
              <a:t>:</a:t>
            </a:r>
            <a:endParaRPr/>
          </a:p>
          <a:p>
            <a:pPr indent="-514350" lvl="0" marL="514350" rtl="0" algn="l">
              <a:lnSpc>
                <a:spcPct val="90000"/>
              </a:lnSpc>
              <a:spcBef>
                <a:spcPts val="1000"/>
              </a:spcBef>
              <a:spcAft>
                <a:spcPts val="0"/>
              </a:spcAft>
              <a:buClr>
                <a:schemeClr val="dk1"/>
              </a:buClr>
              <a:buSzPts val="2800"/>
              <a:buAutoNum type="alphaUcPeriod"/>
            </a:pPr>
            <a:r>
              <a:rPr lang="fr-FR"/>
              <a:t>La forme hyperalgique touche le maxillaire et le frontal</a:t>
            </a:r>
            <a:endParaRPr/>
          </a:p>
          <a:p>
            <a:pPr indent="-514350" lvl="0" marL="514350" rtl="0" algn="l">
              <a:lnSpc>
                <a:spcPct val="90000"/>
              </a:lnSpc>
              <a:spcBef>
                <a:spcPts val="1000"/>
              </a:spcBef>
              <a:spcAft>
                <a:spcPts val="0"/>
              </a:spcAft>
              <a:buClr>
                <a:schemeClr val="dk1"/>
              </a:buClr>
              <a:buSzPts val="2800"/>
              <a:buAutoNum type="alphaUcPeriod"/>
            </a:pPr>
            <a:r>
              <a:rPr lang="fr-FR"/>
              <a:t>Maxillaire aigue ne s’extériorise jamais</a:t>
            </a:r>
            <a:endParaRPr/>
          </a:p>
          <a:p>
            <a:pPr indent="-514350" lvl="0" marL="514350" rtl="0" algn="l">
              <a:lnSpc>
                <a:spcPct val="90000"/>
              </a:lnSpc>
              <a:spcBef>
                <a:spcPts val="1000"/>
              </a:spcBef>
              <a:spcAft>
                <a:spcPts val="0"/>
              </a:spcAft>
              <a:buClr>
                <a:schemeClr val="dk1"/>
              </a:buClr>
              <a:buSzPts val="2800"/>
              <a:buAutoNum type="alphaUcPeriod"/>
            </a:pPr>
            <a:r>
              <a:rPr lang="fr-FR"/>
              <a:t>Frontale , l’extériorisation se fait au dessous du sourcil</a:t>
            </a:r>
            <a:endParaRPr/>
          </a:p>
          <a:p>
            <a:pPr indent="-514350" lvl="0" marL="514350" rtl="0" algn="l">
              <a:lnSpc>
                <a:spcPct val="90000"/>
              </a:lnSpc>
              <a:spcBef>
                <a:spcPts val="1000"/>
              </a:spcBef>
              <a:spcAft>
                <a:spcPts val="0"/>
              </a:spcAft>
              <a:buClr>
                <a:schemeClr val="dk1"/>
              </a:buClr>
              <a:buSzPts val="2800"/>
              <a:buAutoNum type="alphaUcPeriod"/>
            </a:pPr>
            <a:r>
              <a:rPr lang="fr-FR"/>
              <a:t>Sphénoidale, la douleur irradie vers l’arcade dentaire</a:t>
            </a:r>
            <a:endParaRPr/>
          </a:p>
          <a:p>
            <a:pPr indent="-514350" lvl="0" marL="514350" rtl="0" algn="l">
              <a:lnSpc>
                <a:spcPct val="90000"/>
              </a:lnSpc>
              <a:spcBef>
                <a:spcPts val="1000"/>
              </a:spcBef>
              <a:spcAft>
                <a:spcPts val="0"/>
              </a:spcAft>
              <a:buClr>
                <a:schemeClr val="dk1"/>
              </a:buClr>
              <a:buSzPts val="2800"/>
              <a:buAutoNum type="alphaUcPeriod"/>
            </a:pPr>
            <a:r>
              <a:rPr lang="fr-FR"/>
              <a:t>Frontale et sphénoidale, il y a risque accru de complications visuelles et méningoencéphaliques</a:t>
            </a:r>
            <a:endParaRPr/>
          </a:p>
        </p:txBody>
      </p:sp>
      <p:sp>
        <p:nvSpPr>
          <p:cNvPr id="976" name="Google Shape;976;p70"/>
          <p:cNvSpPr/>
          <p:nvPr/>
        </p:nvSpPr>
        <p:spPr>
          <a:xfrm>
            <a:off x="5004048" y="548680"/>
            <a:ext cx="323220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B,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7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28</a:t>
            </a:r>
            <a:endParaRPr/>
          </a:p>
        </p:txBody>
      </p:sp>
      <p:sp>
        <p:nvSpPr>
          <p:cNvPr id="983" name="Google Shape;983;p7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28. Devant une cellulite orbitaire, quels sont les signes qui font évoquer une éthmoidite?: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Rhinorrhée purulente homolatérale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Rougeur conjonctivale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Absence de pus conjonctival</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Trouble de l’odorat</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Obstruction nasale</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984" name="Google Shape;984;p71"/>
          <p:cNvSpPr/>
          <p:nvPr/>
        </p:nvSpPr>
        <p:spPr>
          <a:xfrm>
            <a:off x="4644008" y="54868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7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Classification Chandler</a:t>
            </a:r>
            <a:endParaRPr/>
          </a:p>
        </p:txBody>
      </p:sp>
      <p:pic>
        <p:nvPicPr>
          <p:cNvPr id="991" name="Google Shape;991;p72"/>
          <p:cNvPicPr preferRelativeResize="0"/>
          <p:nvPr/>
        </p:nvPicPr>
        <p:blipFill rotWithShape="1">
          <a:blip r:embed="rId3">
            <a:alphaModFix/>
          </a:blip>
          <a:srcRect b="0" l="0" r="0" t="0"/>
          <a:stretch/>
        </p:blipFill>
        <p:spPr>
          <a:xfrm>
            <a:off x="107504" y="2531109"/>
            <a:ext cx="1872208" cy="321310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992" name="Google Shape;992;p72"/>
          <p:cNvPicPr preferRelativeResize="0"/>
          <p:nvPr/>
        </p:nvPicPr>
        <p:blipFill rotWithShape="1">
          <a:blip r:embed="rId4">
            <a:alphaModFix/>
          </a:blip>
          <a:srcRect b="0" l="0" r="0" t="0"/>
          <a:stretch/>
        </p:blipFill>
        <p:spPr>
          <a:xfrm>
            <a:off x="2267744" y="2531109"/>
            <a:ext cx="1583080" cy="321310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993" name="Google Shape;993;p72"/>
          <p:cNvPicPr preferRelativeResize="0"/>
          <p:nvPr/>
        </p:nvPicPr>
        <p:blipFill rotWithShape="1">
          <a:blip r:embed="rId5">
            <a:alphaModFix/>
          </a:blip>
          <a:srcRect b="0" l="0" r="0" t="0"/>
          <a:stretch/>
        </p:blipFill>
        <p:spPr>
          <a:xfrm>
            <a:off x="4067944" y="2531109"/>
            <a:ext cx="1572410" cy="321310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994" name="Google Shape;994;p72"/>
          <p:cNvPicPr preferRelativeResize="0"/>
          <p:nvPr/>
        </p:nvPicPr>
        <p:blipFill rotWithShape="1">
          <a:blip r:embed="rId6">
            <a:alphaModFix/>
          </a:blip>
          <a:srcRect b="0" l="0" r="0" t="0"/>
          <a:stretch/>
        </p:blipFill>
        <p:spPr>
          <a:xfrm>
            <a:off x="5807965" y="2531109"/>
            <a:ext cx="1548406" cy="321310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995" name="Google Shape;995;p72"/>
          <p:cNvPicPr preferRelativeResize="0"/>
          <p:nvPr/>
        </p:nvPicPr>
        <p:blipFill rotWithShape="1">
          <a:blip r:embed="rId7">
            <a:alphaModFix/>
          </a:blip>
          <a:srcRect b="0" l="0" r="0" t="0"/>
          <a:stretch/>
        </p:blipFill>
        <p:spPr>
          <a:xfrm>
            <a:off x="7524328" y="2531109"/>
            <a:ext cx="1565742" cy="321310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996" name="Google Shape;996;p72"/>
          <p:cNvSpPr txBox="1"/>
          <p:nvPr/>
        </p:nvSpPr>
        <p:spPr>
          <a:xfrm>
            <a:off x="108292" y="5594922"/>
            <a:ext cx="1749287" cy="646331"/>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fr-FR" sz="1800" u="none" cap="none" strike="noStrike">
                <a:solidFill>
                  <a:srgbClr val="000000"/>
                </a:solidFill>
                <a:latin typeface="Calibri"/>
                <a:ea typeface="Calibri"/>
                <a:cs typeface="Calibri"/>
                <a:sym typeface="Calibri"/>
              </a:rPr>
              <a:t>Cellulite préseptale </a:t>
            </a:r>
            <a:endParaRPr/>
          </a:p>
        </p:txBody>
      </p:sp>
      <p:sp>
        <p:nvSpPr>
          <p:cNvPr id="997" name="Google Shape;997;p72"/>
          <p:cNvSpPr txBox="1"/>
          <p:nvPr/>
        </p:nvSpPr>
        <p:spPr>
          <a:xfrm>
            <a:off x="2291782" y="5606435"/>
            <a:ext cx="1480388" cy="646331"/>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fr-FR" sz="1800" u="none" cap="none" strike="noStrike">
                <a:solidFill>
                  <a:srgbClr val="000000"/>
                </a:solidFill>
                <a:latin typeface="Calibri"/>
                <a:ea typeface="Calibri"/>
                <a:cs typeface="Calibri"/>
                <a:sym typeface="Calibri"/>
              </a:rPr>
              <a:t>Cellulite orbitaire </a:t>
            </a:r>
            <a:endParaRPr/>
          </a:p>
        </p:txBody>
      </p:sp>
      <p:sp>
        <p:nvSpPr>
          <p:cNvPr id="998" name="Google Shape;998;p72"/>
          <p:cNvSpPr txBox="1"/>
          <p:nvPr/>
        </p:nvSpPr>
        <p:spPr>
          <a:xfrm>
            <a:off x="4097589" y="5596175"/>
            <a:ext cx="1480388" cy="646331"/>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fr-FR" sz="1800" u="none" cap="none" strike="noStrike">
                <a:solidFill>
                  <a:srgbClr val="000000"/>
                </a:solidFill>
                <a:latin typeface="Calibri"/>
                <a:ea typeface="Calibri"/>
                <a:cs typeface="Calibri"/>
                <a:sym typeface="Calibri"/>
              </a:rPr>
              <a:t>Abcès souspériosté</a:t>
            </a:r>
            <a:endParaRPr b="0" i="0" sz="1800" u="none" cap="none" strike="noStrike">
              <a:solidFill>
                <a:srgbClr val="000000"/>
              </a:solidFill>
              <a:latin typeface="Calibri"/>
              <a:ea typeface="Calibri"/>
              <a:cs typeface="Calibri"/>
              <a:sym typeface="Calibri"/>
            </a:endParaRPr>
          </a:p>
        </p:txBody>
      </p:sp>
      <p:sp>
        <p:nvSpPr>
          <p:cNvPr id="999" name="Google Shape;999;p72"/>
          <p:cNvSpPr txBox="1"/>
          <p:nvPr/>
        </p:nvSpPr>
        <p:spPr>
          <a:xfrm>
            <a:off x="5796136" y="5594921"/>
            <a:ext cx="1480388" cy="646331"/>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fr-FR" sz="1800" u="none" cap="none" strike="noStrike">
                <a:solidFill>
                  <a:srgbClr val="000000"/>
                </a:solidFill>
                <a:latin typeface="Calibri"/>
                <a:ea typeface="Calibri"/>
                <a:cs typeface="Calibri"/>
                <a:sym typeface="Calibri"/>
              </a:rPr>
              <a:t>Abcès </a:t>
            </a:r>
            <a:endParaRPr/>
          </a:p>
          <a:p>
            <a:pPr indent="0" lvl="0" marL="0" marR="0" rtl="0" algn="ctr">
              <a:lnSpc>
                <a:spcPct val="100000"/>
              </a:lnSpc>
              <a:spcBef>
                <a:spcPts val="0"/>
              </a:spcBef>
              <a:spcAft>
                <a:spcPts val="0"/>
              </a:spcAft>
              <a:buClr>
                <a:srgbClr val="000000"/>
              </a:buClr>
              <a:buSzPts val="1800"/>
              <a:buFont typeface="Calibri"/>
              <a:buNone/>
            </a:pPr>
            <a:r>
              <a:rPr b="0" i="0" lang="fr-FR" sz="1800" u="none" cap="none" strike="noStrike">
                <a:solidFill>
                  <a:srgbClr val="000000"/>
                </a:solidFill>
                <a:latin typeface="Calibri"/>
                <a:ea typeface="Calibri"/>
                <a:cs typeface="Calibri"/>
                <a:sym typeface="Calibri"/>
              </a:rPr>
              <a:t>orbitaire</a:t>
            </a:r>
            <a:endParaRPr/>
          </a:p>
        </p:txBody>
      </p:sp>
      <p:sp>
        <p:nvSpPr>
          <p:cNvPr id="1000" name="Google Shape;1000;p72"/>
          <p:cNvSpPr txBox="1"/>
          <p:nvPr/>
        </p:nvSpPr>
        <p:spPr>
          <a:xfrm>
            <a:off x="7549440" y="5596175"/>
            <a:ext cx="1480388" cy="923330"/>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fr-FR" sz="1800" u="none" cap="none" strike="noStrike">
                <a:solidFill>
                  <a:srgbClr val="000000"/>
                </a:solidFill>
                <a:latin typeface="Calibri"/>
                <a:ea typeface="Calibri"/>
                <a:cs typeface="Calibri"/>
                <a:sym typeface="Calibri"/>
              </a:rPr>
              <a:t>Thrombose sinus caverneux</a:t>
            </a:r>
            <a:endParaRPr/>
          </a:p>
        </p:txBody>
      </p:sp>
      <p:sp>
        <p:nvSpPr>
          <p:cNvPr id="1001" name="Google Shape;1001;p72"/>
          <p:cNvSpPr/>
          <p:nvPr/>
        </p:nvSpPr>
        <p:spPr>
          <a:xfrm>
            <a:off x="107504" y="1700808"/>
            <a:ext cx="3664666" cy="830301"/>
          </a:xfrm>
          <a:prstGeom prst="rect">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2800">
                <a:solidFill>
                  <a:schemeClr val="lt1"/>
                </a:solidFill>
                <a:latin typeface="Calibri"/>
                <a:ea typeface="Calibri"/>
                <a:cs typeface="Calibri"/>
                <a:sym typeface="Calibri"/>
              </a:rPr>
              <a:t>Inflammatoire </a:t>
            </a:r>
            <a:endParaRPr/>
          </a:p>
        </p:txBody>
      </p:sp>
      <p:sp>
        <p:nvSpPr>
          <p:cNvPr id="1002" name="Google Shape;1002;p72"/>
          <p:cNvSpPr/>
          <p:nvPr/>
        </p:nvSpPr>
        <p:spPr>
          <a:xfrm>
            <a:off x="4147694" y="1700808"/>
            <a:ext cx="4882134" cy="830301"/>
          </a:xfrm>
          <a:prstGeom prst="rect">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2800">
                <a:solidFill>
                  <a:schemeClr val="lt1"/>
                </a:solidFill>
                <a:latin typeface="Calibri"/>
                <a:ea typeface="Calibri"/>
                <a:cs typeface="Calibri"/>
                <a:sym typeface="Calibri"/>
              </a:rPr>
              <a:t>suppurée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500"/>
                                        <p:tgtEl>
                                          <p:spTgt spid="991"/>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500"/>
                                        <p:tgtEl>
                                          <p:spTgt spid="9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500"/>
                                        <p:tgtEl>
                                          <p:spTgt spid="992"/>
                                        </p:tgtEl>
                                      </p:cBhvr>
                                    </p:animEffect>
                                  </p:childTnLst>
                                </p:cTn>
                              </p:par>
                              <p:par>
                                <p:cTn fill="hold" nodeType="with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500"/>
                                        <p:tgtEl>
                                          <p:spTgt spid="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500"/>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500"/>
                                        <p:tgtEl>
                                          <p:spTgt spid="9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5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500"/>
                                        <p:tgtEl>
                                          <p:spTgt spid="9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500"/>
                                        <p:tgtEl>
                                          <p:spTgt spid="995"/>
                                        </p:tgtEl>
                                      </p:cBhvr>
                                    </p:animEffect>
                                  </p:childTnLst>
                                </p:cTn>
                              </p:par>
                              <p:par>
                                <p:cTn fill="hold" nodeType="withEffect" presetClass="entr" presetID="10" presetSubtype="0">
                                  <p:stCondLst>
                                    <p:cond delay="0"/>
                                  </p:stCondLst>
                                  <p:childTnLst>
                                    <p:set>
                                      <p:cBhvr>
                                        <p:cTn dur="1" fill="hold">
                                          <p:stCondLst>
                                            <p:cond delay="0"/>
                                          </p:stCondLst>
                                        </p:cTn>
                                        <p:tgtEl>
                                          <p:spTgt spid="1000"/>
                                        </p:tgtEl>
                                        <p:attrNameLst>
                                          <p:attrName>style.visibility</p:attrName>
                                        </p:attrNameLst>
                                      </p:cBhvr>
                                      <p:to>
                                        <p:strVal val="visible"/>
                                      </p:to>
                                    </p:set>
                                    <p:animEffect filter="fade" transition="in">
                                      <p:cBhvr>
                                        <p:cTn dur="500"/>
                                        <p:tgtEl>
                                          <p:spTgt spid="10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7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Au cours de l’éthmoidite</a:t>
            </a:r>
            <a:endParaRPr/>
          </a:p>
        </p:txBody>
      </p:sp>
      <p:sp>
        <p:nvSpPr>
          <p:cNvPr id="1008" name="Google Shape;1008;p7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29. Au cours de l’éthmoidite</a:t>
            </a:r>
            <a:endParaRPr b="1"/>
          </a:p>
          <a:p>
            <a:pPr indent="-514350" lvl="0" marL="514350" rtl="0" algn="l">
              <a:lnSpc>
                <a:spcPct val="90000"/>
              </a:lnSpc>
              <a:spcBef>
                <a:spcPts val="1000"/>
              </a:spcBef>
              <a:spcAft>
                <a:spcPts val="0"/>
              </a:spcAft>
              <a:buClr>
                <a:schemeClr val="dk1"/>
              </a:buClr>
              <a:buSzPts val="2800"/>
              <a:buAutoNum type="alphaUcPeriod"/>
            </a:pPr>
            <a:r>
              <a:rPr lang="fr-FR"/>
              <a:t>Le septum orbitaire est une barrière qui permet de différencier le stade III du stade IV</a:t>
            </a:r>
            <a:endParaRPr/>
          </a:p>
          <a:p>
            <a:pPr indent="-514350" lvl="0" marL="514350" rtl="0" algn="l">
              <a:lnSpc>
                <a:spcPct val="90000"/>
              </a:lnSpc>
              <a:spcBef>
                <a:spcPts val="1000"/>
              </a:spcBef>
              <a:spcAft>
                <a:spcPts val="0"/>
              </a:spcAft>
              <a:buClr>
                <a:schemeClr val="dk1"/>
              </a:buClr>
              <a:buSzPts val="2800"/>
              <a:buAutoNum type="alphaUcPeriod"/>
            </a:pPr>
            <a:r>
              <a:rPr lang="fr-FR"/>
              <a:t>Le périorbite est le périoste orbitaire</a:t>
            </a:r>
            <a:endParaRPr/>
          </a:p>
          <a:p>
            <a:pPr indent="-514350" lvl="0" marL="514350" rtl="0" algn="l">
              <a:lnSpc>
                <a:spcPct val="90000"/>
              </a:lnSpc>
              <a:spcBef>
                <a:spcPts val="1000"/>
              </a:spcBef>
              <a:spcAft>
                <a:spcPts val="0"/>
              </a:spcAft>
              <a:buClr>
                <a:schemeClr val="dk1"/>
              </a:buClr>
              <a:buSzPts val="2800"/>
              <a:buAutoNum type="alphaUcPeriod"/>
            </a:pPr>
            <a:r>
              <a:rPr lang="fr-FR"/>
              <a:t>La diffusion de l’éthmoide vers l’orbite est ralentie par le périorbite</a:t>
            </a:r>
            <a:endParaRPr/>
          </a:p>
          <a:p>
            <a:pPr indent="-514350" lvl="0" marL="514350" rtl="0" algn="l">
              <a:lnSpc>
                <a:spcPct val="90000"/>
              </a:lnSpc>
              <a:spcBef>
                <a:spcPts val="1000"/>
              </a:spcBef>
              <a:spcAft>
                <a:spcPts val="0"/>
              </a:spcAft>
              <a:buClr>
                <a:schemeClr val="dk1"/>
              </a:buClr>
              <a:buSzPts val="2800"/>
              <a:buAutoNum type="alphaUcPeriod"/>
            </a:pPr>
            <a:r>
              <a:rPr lang="fr-FR"/>
              <a:t>La survenue de collection sous périosté entraine une exophtalmie non axile</a:t>
            </a:r>
            <a:endParaRPr/>
          </a:p>
          <a:p>
            <a:pPr indent="-514350" lvl="0" marL="514350" rtl="0" algn="l">
              <a:lnSpc>
                <a:spcPct val="90000"/>
              </a:lnSpc>
              <a:spcBef>
                <a:spcPts val="1000"/>
              </a:spcBef>
              <a:spcAft>
                <a:spcPts val="0"/>
              </a:spcAft>
              <a:buClr>
                <a:schemeClr val="dk1"/>
              </a:buClr>
              <a:buSzPts val="2800"/>
              <a:buAutoNum type="alphaUcPeriod"/>
            </a:pPr>
            <a:r>
              <a:rPr lang="fr-FR"/>
              <a:t>L’atteinte préseptale ne se voit que dans le stade 1 de chandler</a:t>
            </a:r>
            <a:endParaRPr/>
          </a:p>
        </p:txBody>
      </p:sp>
      <p:sp>
        <p:nvSpPr>
          <p:cNvPr id="1009" name="Google Shape;1009;p73"/>
          <p:cNvSpPr/>
          <p:nvPr/>
        </p:nvSpPr>
        <p:spPr>
          <a:xfrm>
            <a:off x="6437364" y="817513"/>
            <a:ext cx="2080080"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 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7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Éthmoidite </a:t>
            </a:r>
            <a:endParaRPr/>
          </a:p>
        </p:txBody>
      </p:sp>
      <p:sp>
        <p:nvSpPr>
          <p:cNvPr id="1016" name="Google Shape;1016;p7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29. Au cours d’une éthmoidite, quel sont les signes communs à la cellulite orbitaire (stade II) et l’abcès intra orbitaire (stade IV)?</a:t>
            </a:r>
            <a:endParaRPr/>
          </a:p>
          <a:p>
            <a:pPr indent="-514350" lvl="0" marL="514350" rtl="0" algn="l">
              <a:lnSpc>
                <a:spcPct val="90000"/>
              </a:lnSpc>
              <a:spcBef>
                <a:spcPts val="1000"/>
              </a:spcBef>
              <a:spcAft>
                <a:spcPts val="0"/>
              </a:spcAft>
              <a:buClr>
                <a:schemeClr val="dk1"/>
              </a:buClr>
              <a:buSzPts val="2800"/>
              <a:buAutoNum type="alphaUcPeriod"/>
            </a:pPr>
            <a:r>
              <a:rPr lang="fr-FR"/>
              <a:t>Trouble de l’oculomotricité</a:t>
            </a:r>
            <a:endParaRPr/>
          </a:p>
          <a:p>
            <a:pPr indent="-514350" lvl="0" marL="514350" rtl="0" algn="l">
              <a:lnSpc>
                <a:spcPct val="90000"/>
              </a:lnSpc>
              <a:spcBef>
                <a:spcPts val="1000"/>
              </a:spcBef>
              <a:spcAft>
                <a:spcPts val="0"/>
              </a:spcAft>
              <a:buClr>
                <a:schemeClr val="dk1"/>
              </a:buClr>
              <a:buSzPts val="2800"/>
              <a:buAutoNum type="alphaUcPeriod"/>
            </a:pPr>
            <a:r>
              <a:rPr lang="fr-FR"/>
              <a:t>Baisse de l’acuité visuelle</a:t>
            </a:r>
            <a:endParaRPr/>
          </a:p>
          <a:p>
            <a:pPr indent="-514350" lvl="0" marL="514350" rtl="0" algn="l">
              <a:lnSpc>
                <a:spcPct val="90000"/>
              </a:lnSpc>
              <a:spcBef>
                <a:spcPts val="1000"/>
              </a:spcBef>
              <a:spcAft>
                <a:spcPts val="0"/>
              </a:spcAft>
              <a:buClr>
                <a:schemeClr val="dk1"/>
              </a:buClr>
              <a:buSzPts val="2800"/>
              <a:buAutoNum type="alphaUcPeriod"/>
            </a:pPr>
            <a:r>
              <a:rPr lang="fr-FR"/>
              <a:t>Exophtalmie</a:t>
            </a:r>
            <a:endParaRPr/>
          </a:p>
          <a:p>
            <a:pPr indent="-514350" lvl="0" marL="514350" rtl="0" algn="l">
              <a:lnSpc>
                <a:spcPct val="90000"/>
              </a:lnSpc>
              <a:spcBef>
                <a:spcPts val="1000"/>
              </a:spcBef>
              <a:spcAft>
                <a:spcPts val="0"/>
              </a:spcAft>
              <a:buClr>
                <a:schemeClr val="dk1"/>
              </a:buClr>
              <a:buSzPts val="2800"/>
              <a:buAutoNum type="alphaUcPeriod"/>
            </a:pPr>
            <a:r>
              <a:rPr lang="fr-FR"/>
              <a:t>Chémosis </a:t>
            </a:r>
            <a:endParaRPr/>
          </a:p>
          <a:p>
            <a:pPr indent="-514350" lvl="0" marL="514350" rtl="0" algn="l">
              <a:lnSpc>
                <a:spcPct val="90000"/>
              </a:lnSpc>
              <a:spcBef>
                <a:spcPts val="1000"/>
              </a:spcBef>
              <a:spcAft>
                <a:spcPts val="0"/>
              </a:spcAft>
              <a:buClr>
                <a:schemeClr val="dk1"/>
              </a:buClr>
              <a:buSzPts val="2800"/>
              <a:buAutoNum type="alphaUcPeriod"/>
            </a:pPr>
            <a:r>
              <a:rPr lang="fr-FR"/>
              <a:t>Atteinte œil controlatéral</a:t>
            </a:r>
            <a:endParaRPr/>
          </a:p>
          <a:p>
            <a:pPr indent="0" lvl="0" marL="0" rtl="0" algn="l">
              <a:lnSpc>
                <a:spcPct val="90000"/>
              </a:lnSpc>
              <a:spcBef>
                <a:spcPts val="1000"/>
              </a:spcBef>
              <a:spcAft>
                <a:spcPts val="0"/>
              </a:spcAft>
              <a:buClr>
                <a:schemeClr val="dk1"/>
              </a:buClr>
              <a:buSzPts val="2800"/>
              <a:buNone/>
            </a:pPr>
            <a:r>
              <a:t/>
            </a:r>
            <a:endParaRPr/>
          </a:p>
        </p:txBody>
      </p:sp>
      <p:sp>
        <p:nvSpPr>
          <p:cNvPr id="1017" name="Google Shape;1017;p74"/>
          <p:cNvSpPr/>
          <p:nvPr/>
        </p:nvSpPr>
        <p:spPr>
          <a:xfrm>
            <a:off x="5796136" y="548680"/>
            <a:ext cx="2440120"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C,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7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a:t>
            </a:r>
            <a:endParaRPr/>
          </a:p>
        </p:txBody>
      </p:sp>
      <p:sp>
        <p:nvSpPr>
          <p:cNvPr id="1024" name="Google Shape;1024;p7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30.Au cours d’une éthmoidite, quels sont les signes qui différencient la cellulite préseptale (Chandler I) et cellulite rétroseptale (Chandler II)</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Œdème palpébral</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Chémosis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Exophtalmie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Baisse de l’acuité visuelle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Ophtalmoplégie </a:t>
            </a:r>
            <a:endParaRPr/>
          </a:p>
        </p:txBody>
      </p:sp>
      <p:sp>
        <p:nvSpPr>
          <p:cNvPr id="1025" name="Google Shape;1025;p75"/>
          <p:cNvSpPr/>
          <p:nvPr/>
        </p:nvSpPr>
        <p:spPr>
          <a:xfrm>
            <a:off x="4644008" y="548680"/>
            <a:ext cx="3592248" cy="1008112"/>
          </a:xfrm>
          <a:prstGeom prst="rect">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7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Éthmoidite </a:t>
            </a:r>
            <a:endParaRPr/>
          </a:p>
        </p:txBody>
      </p:sp>
      <p:sp>
        <p:nvSpPr>
          <p:cNvPr id="1032" name="Google Shape;1032;p7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31 Au cours de l’éthmoidite, quel est le signe qui évoque le stade V de Chandler par rapport aux autres stades?</a:t>
            </a:r>
            <a:endParaRPr/>
          </a:p>
          <a:p>
            <a:pPr indent="-514350" lvl="0" marL="982663" rtl="0" algn="l">
              <a:lnSpc>
                <a:spcPct val="90000"/>
              </a:lnSpc>
              <a:spcBef>
                <a:spcPts val="1000"/>
              </a:spcBef>
              <a:spcAft>
                <a:spcPts val="0"/>
              </a:spcAft>
              <a:buClr>
                <a:schemeClr val="dk1"/>
              </a:buClr>
              <a:buSzPts val="2800"/>
              <a:buFont typeface="Calibri"/>
              <a:buAutoNum type="alphaUcPeriod"/>
            </a:pPr>
            <a:r>
              <a:rPr lang="fr-FR"/>
              <a:t>Œdème palpébral</a:t>
            </a:r>
            <a:endParaRPr/>
          </a:p>
          <a:p>
            <a:pPr indent="-514350" lvl="0" marL="982663" rtl="0" algn="l">
              <a:lnSpc>
                <a:spcPct val="90000"/>
              </a:lnSpc>
              <a:spcBef>
                <a:spcPts val="1000"/>
              </a:spcBef>
              <a:spcAft>
                <a:spcPts val="0"/>
              </a:spcAft>
              <a:buClr>
                <a:schemeClr val="dk1"/>
              </a:buClr>
              <a:buSzPts val="2800"/>
              <a:buFont typeface="Calibri"/>
              <a:buAutoNum type="alphaUcPeriod"/>
            </a:pPr>
            <a:r>
              <a:rPr lang="fr-FR"/>
              <a:t>Chémosis</a:t>
            </a:r>
            <a:endParaRPr/>
          </a:p>
          <a:p>
            <a:pPr indent="-514350" lvl="0" marL="982663" rtl="0" algn="l">
              <a:lnSpc>
                <a:spcPct val="90000"/>
              </a:lnSpc>
              <a:spcBef>
                <a:spcPts val="1000"/>
              </a:spcBef>
              <a:spcAft>
                <a:spcPts val="0"/>
              </a:spcAft>
              <a:buClr>
                <a:schemeClr val="dk1"/>
              </a:buClr>
              <a:buSzPts val="2800"/>
              <a:buFont typeface="Calibri"/>
              <a:buAutoNum type="alphaUcPeriod"/>
            </a:pPr>
            <a:r>
              <a:rPr lang="fr-FR"/>
              <a:t>Exophtalmie</a:t>
            </a:r>
            <a:endParaRPr/>
          </a:p>
          <a:p>
            <a:pPr indent="-514350" lvl="0" marL="982663" rtl="0" algn="l">
              <a:lnSpc>
                <a:spcPct val="90000"/>
              </a:lnSpc>
              <a:spcBef>
                <a:spcPts val="1000"/>
              </a:spcBef>
              <a:spcAft>
                <a:spcPts val="0"/>
              </a:spcAft>
              <a:buClr>
                <a:schemeClr val="dk1"/>
              </a:buClr>
              <a:buSzPts val="2800"/>
              <a:buFont typeface="Calibri"/>
              <a:buAutoNum type="alphaUcPeriod"/>
            </a:pPr>
            <a:r>
              <a:rPr lang="fr-FR"/>
              <a:t>Baisse de l’acuité visuelle</a:t>
            </a:r>
            <a:endParaRPr/>
          </a:p>
          <a:p>
            <a:pPr indent="-514350" lvl="0" marL="982663" rtl="0" algn="l">
              <a:lnSpc>
                <a:spcPct val="90000"/>
              </a:lnSpc>
              <a:spcBef>
                <a:spcPts val="1000"/>
              </a:spcBef>
              <a:spcAft>
                <a:spcPts val="0"/>
              </a:spcAft>
              <a:buClr>
                <a:schemeClr val="dk1"/>
              </a:buClr>
              <a:buSzPts val="2800"/>
              <a:buFont typeface="Calibri"/>
              <a:buAutoNum type="alphaUcPeriod"/>
            </a:pPr>
            <a:r>
              <a:rPr lang="fr-FR"/>
              <a:t>Atteinte orbitaire bilatérale  </a:t>
            </a:r>
            <a:endParaRPr/>
          </a:p>
        </p:txBody>
      </p:sp>
      <p:sp>
        <p:nvSpPr>
          <p:cNvPr id="1033" name="Google Shape;1033;p76"/>
          <p:cNvSpPr/>
          <p:nvPr/>
        </p:nvSpPr>
        <p:spPr>
          <a:xfrm>
            <a:off x="4644008" y="54868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7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Classification de Chandler</a:t>
            </a:r>
            <a:endParaRPr/>
          </a:p>
        </p:txBody>
      </p:sp>
      <p:sp>
        <p:nvSpPr>
          <p:cNvPr id="1040" name="Google Shape;1040;p77"/>
          <p:cNvSpPr txBox="1"/>
          <p:nvPr>
            <p:ph idx="1" type="body"/>
          </p:nvPr>
        </p:nvSpPr>
        <p:spPr>
          <a:xfrm>
            <a:off x="457200" y="1268760"/>
            <a:ext cx="8229600" cy="45259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Fournie par TDM/ suspecter par la clinique</a:t>
            </a:r>
            <a:endParaRPr/>
          </a:p>
        </p:txBody>
      </p:sp>
      <p:grpSp>
        <p:nvGrpSpPr>
          <p:cNvPr id="1041" name="Google Shape;1041;p77"/>
          <p:cNvGrpSpPr/>
          <p:nvPr/>
        </p:nvGrpSpPr>
        <p:grpSpPr>
          <a:xfrm>
            <a:off x="328014" y="1916832"/>
            <a:ext cx="8343955" cy="4464496"/>
            <a:chOff x="4486" y="0"/>
            <a:chExt cx="8343955" cy="4464496"/>
          </a:xfrm>
        </p:grpSpPr>
        <p:sp>
          <p:nvSpPr>
            <p:cNvPr id="1042" name="Google Shape;1042;p77"/>
            <p:cNvSpPr/>
            <p:nvPr/>
          </p:nvSpPr>
          <p:spPr>
            <a:xfrm>
              <a:off x="4486" y="0"/>
              <a:ext cx="1574331" cy="4464496"/>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77"/>
            <p:cNvSpPr txBox="1"/>
            <p:nvPr/>
          </p:nvSpPr>
          <p:spPr>
            <a:xfrm>
              <a:off x="4486" y="0"/>
              <a:ext cx="1574331" cy="1339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dk1"/>
                </a:buClr>
                <a:buSzPts val="2100"/>
                <a:buFont typeface="Calibri"/>
                <a:buNone/>
              </a:pPr>
              <a:r>
                <a:rPr lang="fr-FR" sz="2100">
                  <a:solidFill>
                    <a:schemeClr val="dk1"/>
                  </a:solidFill>
                  <a:latin typeface="Calibri"/>
                  <a:ea typeface="Calibri"/>
                  <a:cs typeface="Calibri"/>
                  <a:sym typeface="Calibri"/>
                </a:rPr>
                <a:t>Stade I: </a:t>
              </a:r>
              <a:endParaRPr/>
            </a:p>
            <a:p>
              <a:pPr indent="0" lvl="0" marL="0" marR="0" rtl="0" algn="ctr">
                <a:lnSpc>
                  <a:spcPct val="90000"/>
                </a:lnSpc>
                <a:spcBef>
                  <a:spcPts val="735"/>
                </a:spcBef>
                <a:spcAft>
                  <a:spcPts val="0"/>
                </a:spcAft>
                <a:buClr>
                  <a:schemeClr val="dk1"/>
                </a:buClr>
                <a:buSzPts val="2100"/>
                <a:buFont typeface="Calibri"/>
                <a:buNone/>
              </a:pPr>
              <a:r>
                <a:rPr lang="fr-FR" sz="2100">
                  <a:solidFill>
                    <a:schemeClr val="dk1"/>
                  </a:solidFill>
                  <a:latin typeface="Calibri"/>
                  <a:ea typeface="Calibri"/>
                  <a:cs typeface="Calibri"/>
                  <a:sym typeface="Calibri"/>
                </a:rPr>
                <a:t>cellulite préseptale</a:t>
              </a:r>
              <a:endParaRPr sz="2100">
                <a:solidFill>
                  <a:schemeClr val="dk1"/>
                </a:solidFill>
                <a:latin typeface="Calibri"/>
                <a:ea typeface="Calibri"/>
                <a:cs typeface="Calibri"/>
                <a:sym typeface="Calibri"/>
              </a:endParaRPr>
            </a:p>
          </p:txBody>
        </p:sp>
        <p:sp>
          <p:nvSpPr>
            <p:cNvPr id="1044" name="Google Shape;1044;p77"/>
            <p:cNvSpPr/>
            <p:nvPr/>
          </p:nvSpPr>
          <p:spPr>
            <a:xfrm>
              <a:off x="161919" y="1339457"/>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7"/>
            <p:cNvSpPr txBox="1"/>
            <p:nvPr/>
          </p:nvSpPr>
          <p:spPr>
            <a:xfrm>
              <a:off x="180968" y="1358506"/>
              <a:ext cx="1221366" cy="612284"/>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Œdème palpébral sup</a:t>
              </a:r>
              <a:endParaRPr/>
            </a:p>
          </p:txBody>
        </p:sp>
        <p:sp>
          <p:nvSpPr>
            <p:cNvPr id="1046" name="Google Shape;1046;p77"/>
            <p:cNvSpPr/>
            <p:nvPr/>
          </p:nvSpPr>
          <p:spPr>
            <a:xfrm>
              <a:off x="161919" y="2089898"/>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77"/>
            <p:cNvSpPr txBox="1"/>
            <p:nvPr/>
          </p:nvSpPr>
          <p:spPr>
            <a:xfrm>
              <a:off x="180968" y="2108947"/>
              <a:ext cx="1221366" cy="612284"/>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Pas de tr oculomoteur</a:t>
              </a:r>
              <a:endParaRPr/>
            </a:p>
          </p:txBody>
        </p:sp>
        <p:sp>
          <p:nvSpPr>
            <p:cNvPr id="1048" name="Google Shape;1048;p77"/>
            <p:cNvSpPr/>
            <p:nvPr/>
          </p:nvSpPr>
          <p:spPr>
            <a:xfrm>
              <a:off x="161919" y="2840339"/>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7"/>
            <p:cNvSpPr txBox="1"/>
            <p:nvPr/>
          </p:nvSpPr>
          <p:spPr>
            <a:xfrm>
              <a:off x="180968" y="2859388"/>
              <a:ext cx="1221366" cy="612284"/>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Pas de baisse visuelle</a:t>
              </a:r>
              <a:endParaRPr/>
            </a:p>
          </p:txBody>
        </p:sp>
        <p:sp>
          <p:nvSpPr>
            <p:cNvPr id="1050" name="Google Shape;1050;p77"/>
            <p:cNvSpPr/>
            <p:nvPr/>
          </p:nvSpPr>
          <p:spPr>
            <a:xfrm>
              <a:off x="161919" y="3590780"/>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7"/>
            <p:cNvSpPr txBox="1"/>
            <p:nvPr/>
          </p:nvSpPr>
          <p:spPr>
            <a:xfrm>
              <a:off x="180972" y="3604443"/>
              <a:ext cx="1326000" cy="617700"/>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Pas d’exophtalmie </a:t>
              </a:r>
              <a:endParaRPr/>
            </a:p>
            <a:p>
              <a:pPr indent="0" lvl="0" marL="0" marR="0" rtl="0" algn="ctr">
                <a:lnSpc>
                  <a:spcPct val="90000"/>
                </a:lnSpc>
                <a:spcBef>
                  <a:spcPts val="560"/>
                </a:spcBef>
                <a:spcAft>
                  <a:spcPts val="0"/>
                </a:spcAft>
                <a:buClr>
                  <a:schemeClr val="dk1"/>
                </a:buClr>
                <a:buSzPts val="1200"/>
                <a:buFont typeface="Calibri"/>
                <a:buNone/>
              </a:pPr>
              <a:r>
                <a:t/>
              </a:r>
              <a:endParaRPr sz="1200">
                <a:solidFill>
                  <a:schemeClr val="lt1"/>
                </a:solidFill>
                <a:latin typeface="Calibri"/>
                <a:ea typeface="Calibri"/>
                <a:cs typeface="Calibri"/>
                <a:sym typeface="Calibri"/>
              </a:endParaRPr>
            </a:p>
          </p:txBody>
        </p:sp>
        <p:sp>
          <p:nvSpPr>
            <p:cNvPr id="1052" name="Google Shape;1052;p77"/>
            <p:cNvSpPr/>
            <p:nvPr/>
          </p:nvSpPr>
          <p:spPr>
            <a:xfrm>
              <a:off x="1696892" y="0"/>
              <a:ext cx="1574331" cy="4464496"/>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77"/>
            <p:cNvSpPr txBox="1"/>
            <p:nvPr/>
          </p:nvSpPr>
          <p:spPr>
            <a:xfrm>
              <a:off x="1696892" y="0"/>
              <a:ext cx="1574331" cy="1339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dk1"/>
                </a:buClr>
                <a:buSzPts val="2100"/>
                <a:buFont typeface="Calibri"/>
                <a:buNone/>
              </a:pPr>
              <a:r>
                <a:rPr lang="fr-FR" sz="2100">
                  <a:solidFill>
                    <a:schemeClr val="dk1"/>
                  </a:solidFill>
                  <a:latin typeface="Calibri"/>
                  <a:ea typeface="Calibri"/>
                  <a:cs typeface="Calibri"/>
                  <a:sym typeface="Calibri"/>
                </a:rPr>
                <a:t>Stade II:</a:t>
              </a:r>
              <a:endParaRPr/>
            </a:p>
            <a:p>
              <a:pPr indent="0" lvl="0" marL="0" marR="0" rtl="0" algn="ctr">
                <a:lnSpc>
                  <a:spcPct val="90000"/>
                </a:lnSpc>
                <a:spcBef>
                  <a:spcPts val="735"/>
                </a:spcBef>
                <a:spcAft>
                  <a:spcPts val="0"/>
                </a:spcAft>
                <a:buClr>
                  <a:schemeClr val="dk1"/>
                </a:buClr>
                <a:buSzPts val="2100"/>
                <a:buFont typeface="Calibri"/>
                <a:buNone/>
              </a:pPr>
              <a:r>
                <a:rPr lang="fr-FR" sz="2100">
                  <a:solidFill>
                    <a:schemeClr val="dk1"/>
                  </a:solidFill>
                  <a:latin typeface="Calibri"/>
                  <a:ea typeface="Calibri"/>
                  <a:cs typeface="Calibri"/>
                  <a:sym typeface="Calibri"/>
                </a:rPr>
                <a:t>cellulite rétroseptale </a:t>
              </a:r>
              <a:endParaRPr/>
            </a:p>
          </p:txBody>
        </p:sp>
        <p:sp>
          <p:nvSpPr>
            <p:cNvPr id="1054" name="Google Shape;1054;p77"/>
            <p:cNvSpPr/>
            <p:nvPr/>
          </p:nvSpPr>
          <p:spPr>
            <a:xfrm>
              <a:off x="1854325" y="1339457"/>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77"/>
            <p:cNvSpPr txBox="1"/>
            <p:nvPr/>
          </p:nvSpPr>
          <p:spPr>
            <a:xfrm>
              <a:off x="1873374" y="1358506"/>
              <a:ext cx="1221366" cy="612284"/>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b="1" lang="fr-FR" sz="1600">
                  <a:solidFill>
                    <a:schemeClr val="lt1"/>
                  </a:solidFill>
                  <a:latin typeface="Calibri"/>
                  <a:ea typeface="Calibri"/>
                  <a:cs typeface="Calibri"/>
                  <a:sym typeface="Calibri"/>
                </a:rPr>
                <a:t>Chémosis </a:t>
              </a:r>
              <a:endParaRPr/>
            </a:p>
          </p:txBody>
        </p:sp>
        <p:sp>
          <p:nvSpPr>
            <p:cNvPr id="1056" name="Google Shape;1056;p77"/>
            <p:cNvSpPr/>
            <p:nvPr/>
          </p:nvSpPr>
          <p:spPr>
            <a:xfrm>
              <a:off x="1854325" y="2089898"/>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77"/>
            <p:cNvSpPr txBox="1"/>
            <p:nvPr/>
          </p:nvSpPr>
          <p:spPr>
            <a:xfrm>
              <a:off x="1873374" y="2108947"/>
              <a:ext cx="1221366" cy="612284"/>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b="1" lang="fr-FR" sz="1600">
                  <a:solidFill>
                    <a:schemeClr val="lt1"/>
                  </a:solidFill>
                  <a:latin typeface="Calibri"/>
                  <a:ea typeface="Calibri"/>
                  <a:cs typeface="Calibri"/>
                  <a:sym typeface="Calibri"/>
                </a:rPr>
                <a:t>Limitation de l’oculomotricité POSSIBLE</a:t>
              </a:r>
              <a:endParaRPr/>
            </a:p>
          </p:txBody>
        </p:sp>
        <p:sp>
          <p:nvSpPr>
            <p:cNvPr id="1058" name="Google Shape;1058;p77"/>
            <p:cNvSpPr/>
            <p:nvPr/>
          </p:nvSpPr>
          <p:spPr>
            <a:xfrm>
              <a:off x="1854325" y="2840339"/>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77"/>
            <p:cNvSpPr txBox="1"/>
            <p:nvPr/>
          </p:nvSpPr>
          <p:spPr>
            <a:xfrm>
              <a:off x="1873374" y="2859388"/>
              <a:ext cx="1221366" cy="612284"/>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  Pas de baisse visuelle</a:t>
              </a:r>
              <a:endParaRPr/>
            </a:p>
          </p:txBody>
        </p:sp>
        <p:sp>
          <p:nvSpPr>
            <p:cNvPr id="1060" name="Google Shape;1060;p77"/>
            <p:cNvSpPr/>
            <p:nvPr/>
          </p:nvSpPr>
          <p:spPr>
            <a:xfrm>
              <a:off x="1854325" y="3590780"/>
              <a:ext cx="1259464" cy="65038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77"/>
            <p:cNvSpPr txBox="1"/>
            <p:nvPr/>
          </p:nvSpPr>
          <p:spPr>
            <a:xfrm>
              <a:off x="1873374" y="3609829"/>
              <a:ext cx="1221366" cy="612284"/>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b="1" lang="fr-FR" sz="1600">
                  <a:solidFill>
                    <a:schemeClr val="lt1"/>
                  </a:solidFill>
                  <a:latin typeface="Calibri"/>
                  <a:ea typeface="Calibri"/>
                  <a:cs typeface="Calibri"/>
                  <a:sym typeface="Calibri"/>
                </a:rPr>
                <a:t>Exophtalmie </a:t>
              </a:r>
              <a:endParaRPr/>
            </a:p>
          </p:txBody>
        </p:sp>
        <p:sp>
          <p:nvSpPr>
            <p:cNvPr id="1062" name="Google Shape;1062;p77"/>
            <p:cNvSpPr/>
            <p:nvPr/>
          </p:nvSpPr>
          <p:spPr>
            <a:xfrm>
              <a:off x="3389298" y="0"/>
              <a:ext cx="1574331" cy="4464496"/>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77"/>
            <p:cNvSpPr txBox="1"/>
            <p:nvPr/>
          </p:nvSpPr>
          <p:spPr>
            <a:xfrm>
              <a:off x="3389298" y="0"/>
              <a:ext cx="1574331" cy="1339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dk1"/>
                </a:buClr>
                <a:buSzPts val="2100"/>
                <a:buFont typeface="Calibri"/>
                <a:buNone/>
              </a:pPr>
              <a:r>
                <a:rPr lang="fr-FR" sz="2100">
                  <a:solidFill>
                    <a:schemeClr val="dk1"/>
                  </a:solidFill>
                  <a:latin typeface="Calibri"/>
                  <a:ea typeface="Calibri"/>
                  <a:cs typeface="Calibri"/>
                  <a:sym typeface="Calibri"/>
                </a:rPr>
                <a:t>Stade III: </a:t>
              </a:r>
              <a:endParaRPr/>
            </a:p>
            <a:p>
              <a:pPr indent="0" lvl="0" marL="0" marR="0" rtl="0" algn="ctr">
                <a:lnSpc>
                  <a:spcPct val="90000"/>
                </a:lnSpc>
                <a:spcBef>
                  <a:spcPts val="735"/>
                </a:spcBef>
                <a:spcAft>
                  <a:spcPts val="0"/>
                </a:spcAft>
                <a:buClr>
                  <a:schemeClr val="dk1"/>
                </a:buClr>
                <a:buSzPts val="2100"/>
                <a:buFont typeface="Calibri"/>
                <a:buNone/>
              </a:pPr>
              <a:r>
                <a:rPr lang="fr-FR" sz="2100">
                  <a:solidFill>
                    <a:schemeClr val="dk1"/>
                  </a:solidFill>
                  <a:latin typeface="Calibri"/>
                  <a:ea typeface="Calibri"/>
                  <a:cs typeface="Calibri"/>
                  <a:sym typeface="Calibri"/>
                </a:rPr>
                <a:t>abcès sous périosté</a:t>
              </a:r>
              <a:endParaRPr sz="2100">
                <a:solidFill>
                  <a:schemeClr val="dk1"/>
                </a:solidFill>
                <a:latin typeface="Calibri"/>
                <a:ea typeface="Calibri"/>
                <a:cs typeface="Calibri"/>
                <a:sym typeface="Calibri"/>
              </a:endParaRPr>
            </a:p>
          </p:txBody>
        </p:sp>
        <p:sp>
          <p:nvSpPr>
            <p:cNvPr id="1064" name="Google Shape;1064;p77"/>
            <p:cNvSpPr/>
            <p:nvPr/>
          </p:nvSpPr>
          <p:spPr>
            <a:xfrm>
              <a:off x="3546731" y="1339348"/>
              <a:ext cx="1259464" cy="290192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77"/>
            <p:cNvSpPr txBox="1"/>
            <p:nvPr/>
          </p:nvSpPr>
          <p:spPr>
            <a:xfrm>
              <a:off x="3583622" y="1376218"/>
              <a:ext cx="1326000" cy="2828100"/>
            </a:xfrm>
            <a:prstGeom prst="rect">
              <a:avLst/>
            </a:prstGeom>
            <a:solidFill>
              <a:schemeClr val="dk2"/>
            </a:solidFill>
            <a:ln>
              <a:noFill/>
            </a:ln>
          </p:spPr>
          <p:txBody>
            <a:bodyPr anchorCtr="0" anchor="ctr" bIns="34275" lIns="45700" spcFirstLastPara="1" rIns="45700" wrap="square" tIns="34275">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Exophtalmie non axile </a:t>
              </a:r>
              <a:endParaRPr/>
            </a:p>
          </p:txBody>
        </p:sp>
        <p:sp>
          <p:nvSpPr>
            <p:cNvPr id="1066" name="Google Shape;1066;p77"/>
            <p:cNvSpPr/>
            <p:nvPr/>
          </p:nvSpPr>
          <p:spPr>
            <a:xfrm>
              <a:off x="5081704" y="0"/>
              <a:ext cx="1574331" cy="4464496"/>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7"/>
            <p:cNvSpPr txBox="1"/>
            <p:nvPr/>
          </p:nvSpPr>
          <p:spPr>
            <a:xfrm>
              <a:off x="5081704" y="0"/>
              <a:ext cx="1574331" cy="1339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dk1"/>
                </a:buClr>
                <a:buSzPts val="2100"/>
                <a:buFont typeface="Calibri"/>
                <a:buNone/>
              </a:pPr>
              <a:r>
                <a:rPr lang="fr-FR" sz="2100">
                  <a:solidFill>
                    <a:schemeClr val="dk1"/>
                  </a:solidFill>
                  <a:latin typeface="Calibri"/>
                  <a:ea typeface="Calibri"/>
                  <a:cs typeface="Calibri"/>
                  <a:sym typeface="Calibri"/>
                </a:rPr>
                <a:t>Stade IV: abcès intra orbitaire</a:t>
              </a:r>
              <a:endParaRPr/>
            </a:p>
          </p:txBody>
        </p:sp>
        <p:sp>
          <p:nvSpPr>
            <p:cNvPr id="1068" name="Google Shape;1068;p77"/>
            <p:cNvSpPr/>
            <p:nvPr/>
          </p:nvSpPr>
          <p:spPr>
            <a:xfrm>
              <a:off x="5239137" y="1340656"/>
              <a:ext cx="1259464" cy="1346106"/>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7"/>
            <p:cNvSpPr txBox="1"/>
            <p:nvPr/>
          </p:nvSpPr>
          <p:spPr>
            <a:xfrm>
              <a:off x="5276025" y="1377544"/>
              <a:ext cx="1185688" cy="1272330"/>
            </a:xfrm>
            <a:prstGeom prst="rect">
              <a:avLst/>
            </a:prstGeom>
            <a:solidFill>
              <a:schemeClr val="dk2"/>
            </a:solidFill>
            <a:ln>
              <a:noFill/>
            </a:ln>
          </p:spPr>
          <p:txBody>
            <a:bodyPr anchorCtr="0" anchor="ctr" bIns="34275" lIns="45700" spcFirstLastPara="1" rIns="45700" wrap="square" tIns="34275">
              <a:noAutofit/>
            </a:bodyPr>
            <a:lstStyle/>
            <a:p>
              <a:pPr indent="0" lvl="0" marL="0" marR="0" rtl="0" algn="ctr">
                <a:lnSpc>
                  <a:spcPct val="90000"/>
                </a:lnSpc>
                <a:spcBef>
                  <a:spcPts val="0"/>
                </a:spcBef>
                <a:spcAft>
                  <a:spcPts val="0"/>
                </a:spcAft>
                <a:buClr>
                  <a:schemeClr val="lt1"/>
                </a:buClr>
                <a:buSzPts val="1800"/>
                <a:buFont typeface="Calibri"/>
                <a:buNone/>
              </a:pPr>
              <a:r>
                <a:rPr b="1" lang="fr-FR" sz="1800">
                  <a:solidFill>
                    <a:schemeClr val="lt1"/>
                  </a:solidFill>
                  <a:latin typeface="Calibri"/>
                  <a:ea typeface="Calibri"/>
                  <a:cs typeface="Calibri"/>
                  <a:sym typeface="Calibri"/>
                </a:rPr>
                <a:t>BAISSE DE L’ACUITE VISUELLE</a:t>
              </a:r>
              <a:endParaRPr/>
            </a:p>
          </p:txBody>
        </p:sp>
        <p:sp>
          <p:nvSpPr>
            <p:cNvPr id="1070" name="Google Shape;1070;p77"/>
            <p:cNvSpPr/>
            <p:nvPr/>
          </p:nvSpPr>
          <p:spPr>
            <a:xfrm>
              <a:off x="5239137" y="2893856"/>
              <a:ext cx="1259464" cy="1346106"/>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7"/>
            <p:cNvSpPr txBox="1"/>
            <p:nvPr/>
          </p:nvSpPr>
          <p:spPr>
            <a:xfrm>
              <a:off x="5276022" y="2930743"/>
              <a:ext cx="1259400" cy="1272300"/>
            </a:xfrm>
            <a:prstGeom prst="rect">
              <a:avLst/>
            </a:prstGeom>
            <a:solidFill>
              <a:schemeClr val="dk2"/>
            </a:solidFill>
            <a:ln>
              <a:noFill/>
            </a:ln>
          </p:spPr>
          <p:txBody>
            <a:bodyPr anchorCtr="0" anchor="ctr" bIns="34275" lIns="45700" spcFirstLastPara="1" rIns="45700" wrap="square" tIns="34275">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Exophtalmie </a:t>
              </a:r>
              <a:endParaRPr/>
            </a:p>
          </p:txBody>
        </p:sp>
        <p:sp>
          <p:nvSpPr>
            <p:cNvPr id="1072" name="Google Shape;1072;p77"/>
            <p:cNvSpPr/>
            <p:nvPr/>
          </p:nvSpPr>
          <p:spPr>
            <a:xfrm>
              <a:off x="6774110" y="0"/>
              <a:ext cx="1574331" cy="4464496"/>
            </a:xfrm>
            <a:prstGeom prst="roundRect">
              <a:avLst>
                <a:gd fmla="val 10000" name="adj"/>
              </a:avLst>
            </a:prstGeom>
            <a:solidFill>
              <a:srgbClr val="CCD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7"/>
            <p:cNvSpPr txBox="1"/>
            <p:nvPr/>
          </p:nvSpPr>
          <p:spPr>
            <a:xfrm>
              <a:off x="6774110" y="0"/>
              <a:ext cx="1574331" cy="1339348"/>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dk1"/>
                </a:buClr>
                <a:buSzPts val="2100"/>
                <a:buFont typeface="Calibri"/>
                <a:buNone/>
              </a:pPr>
              <a:r>
                <a:rPr lang="fr-FR" sz="2100">
                  <a:solidFill>
                    <a:schemeClr val="dk1"/>
                  </a:solidFill>
                  <a:latin typeface="Calibri"/>
                  <a:ea typeface="Calibri"/>
                  <a:cs typeface="Calibri"/>
                  <a:sym typeface="Calibri"/>
                </a:rPr>
                <a:t>Stade V: thrombose sinus caverneux </a:t>
              </a:r>
              <a:endParaRPr/>
            </a:p>
          </p:txBody>
        </p:sp>
        <p:sp>
          <p:nvSpPr>
            <p:cNvPr id="1074" name="Google Shape;1074;p77"/>
            <p:cNvSpPr/>
            <p:nvPr/>
          </p:nvSpPr>
          <p:spPr>
            <a:xfrm>
              <a:off x="6931543" y="1339390"/>
              <a:ext cx="1259464" cy="61779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77"/>
            <p:cNvSpPr txBox="1"/>
            <p:nvPr/>
          </p:nvSpPr>
          <p:spPr>
            <a:xfrm>
              <a:off x="6949638" y="1357485"/>
              <a:ext cx="1223274" cy="581602"/>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Chémosis </a:t>
              </a:r>
              <a:endParaRPr/>
            </a:p>
          </p:txBody>
        </p:sp>
        <p:sp>
          <p:nvSpPr>
            <p:cNvPr id="1076" name="Google Shape;1076;p77"/>
            <p:cNvSpPr/>
            <p:nvPr/>
          </p:nvSpPr>
          <p:spPr>
            <a:xfrm>
              <a:off x="6931543" y="2052227"/>
              <a:ext cx="1259464" cy="1476164"/>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7"/>
            <p:cNvSpPr txBox="1"/>
            <p:nvPr/>
          </p:nvSpPr>
          <p:spPr>
            <a:xfrm>
              <a:off x="6968431" y="2089115"/>
              <a:ext cx="1185688" cy="1402388"/>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Trouble occulomotricicté </a:t>
              </a:r>
              <a:r>
                <a:rPr b="1" lang="fr-FR" sz="1600">
                  <a:solidFill>
                    <a:schemeClr val="lt1"/>
                  </a:solidFill>
                  <a:latin typeface="Calibri"/>
                  <a:ea typeface="Calibri"/>
                  <a:cs typeface="Calibri"/>
                  <a:sym typeface="Calibri"/>
                </a:rPr>
                <a:t>Ophtalmoplégie </a:t>
              </a:r>
              <a:endParaRPr/>
            </a:p>
          </p:txBody>
        </p:sp>
        <p:sp>
          <p:nvSpPr>
            <p:cNvPr id="1078" name="Google Shape;1078;p77"/>
            <p:cNvSpPr/>
            <p:nvPr/>
          </p:nvSpPr>
          <p:spPr>
            <a:xfrm>
              <a:off x="6931543" y="3623437"/>
              <a:ext cx="1259464" cy="617792"/>
            </a:xfrm>
            <a:prstGeom prst="roundRect">
              <a:avLst>
                <a:gd fmla="val 10000" name="adj"/>
              </a:avLst>
            </a:prstGeom>
            <a:gradFill>
              <a:gsLst>
                <a:gs pos="0">
                  <a:schemeClr val="lt1"/>
                </a:gs>
                <a:gs pos="50000">
                  <a:schemeClr val="lt1"/>
                </a:gs>
                <a:gs pos="100000">
                  <a:srgbClr val="E1E1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7"/>
            <p:cNvSpPr txBox="1"/>
            <p:nvPr/>
          </p:nvSpPr>
          <p:spPr>
            <a:xfrm>
              <a:off x="6949638" y="3641532"/>
              <a:ext cx="1223274" cy="581602"/>
            </a:xfrm>
            <a:prstGeom prst="rect">
              <a:avLst/>
            </a:prstGeom>
            <a:solidFill>
              <a:schemeClr val="dk2"/>
            </a:solidFill>
            <a:ln>
              <a:noFill/>
            </a:ln>
          </p:spPr>
          <p:txBody>
            <a:bodyPr anchorCtr="0" anchor="ctr" bIns="30475" lIns="40625" spcFirstLastPara="1" rIns="40625" wrap="square" tIns="30475">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Exophtalmie</a:t>
              </a:r>
              <a:endParaRPr/>
            </a:p>
          </p:txBody>
        </p:sp>
      </p:grpSp>
      <p:pic>
        <p:nvPicPr>
          <p:cNvPr id="1080" name="Google Shape;1080;p77"/>
          <p:cNvPicPr preferRelativeResize="0"/>
          <p:nvPr/>
        </p:nvPicPr>
        <p:blipFill rotWithShape="1">
          <a:blip r:embed="rId3">
            <a:alphaModFix/>
          </a:blip>
          <a:srcRect b="0" l="0" r="0" t="0"/>
          <a:stretch/>
        </p:blipFill>
        <p:spPr>
          <a:xfrm>
            <a:off x="530790" y="44624"/>
            <a:ext cx="1139980" cy="195644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1081" name="Google Shape;1081;p77"/>
          <p:cNvPicPr preferRelativeResize="0"/>
          <p:nvPr/>
        </p:nvPicPr>
        <p:blipFill rotWithShape="1">
          <a:blip r:embed="rId4">
            <a:alphaModFix/>
          </a:blip>
          <a:srcRect b="0" l="0" r="0" t="0"/>
          <a:stretch/>
        </p:blipFill>
        <p:spPr>
          <a:xfrm>
            <a:off x="2299434" y="44625"/>
            <a:ext cx="1034259" cy="195644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1082" name="Google Shape;1082;p77"/>
          <p:cNvPicPr preferRelativeResize="0"/>
          <p:nvPr/>
        </p:nvPicPr>
        <p:blipFill rotWithShape="1">
          <a:blip r:embed="rId5">
            <a:alphaModFix/>
          </a:blip>
          <a:srcRect b="0" l="0" r="0" t="0"/>
          <a:stretch/>
        </p:blipFill>
        <p:spPr>
          <a:xfrm>
            <a:off x="3923928" y="49189"/>
            <a:ext cx="1062527" cy="195188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1083" name="Google Shape;1083;p77"/>
          <p:cNvPicPr preferRelativeResize="0"/>
          <p:nvPr/>
        </p:nvPicPr>
        <p:blipFill rotWithShape="1">
          <a:blip r:embed="rId6">
            <a:alphaModFix/>
          </a:blip>
          <a:srcRect b="0" l="0" r="0" t="0"/>
          <a:stretch/>
        </p:blipFill>
        <p:spPr>
          <a:xfrm>
            <a:off x="5699490" y="44624"/>
            <a:ext cx="1030748" cy="1956445"/>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pic>
        <p:nvPicPr>
          <p:cNvPr id="1084" name="Google Shape;1084;p77"/>
          <p:cNvPicPr preferRelativeResize="0"/>
          <p:nvPr/>
        </p:nvPicPr>
        <p:blipFill rotWithShape="1">
          <a:blip r:embed="rId7">
            <a:alphaModFix/>
          </a:blip>
          <a:srcRect b="0" l="0" r="0" t="0"/>
          <a:stretch/>
        </p:blipFill>
        <p:spPr>
          <a:xfrm>
            <a:off x="7452320" y="38150"/>
            <a:ext cx="956529" cy="1962919"/>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7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32 </a:t>
            </a:r>
            <a:endParaRPr/>
          </a:p>
        </p:txBody>
      </p:sp>
      <p:sp>
        <p:nvSpPr>
          <p:cNvPr id="1091" name="Google Shape;1091;p7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32.La sinusite mycosique </a:t>
            </a:r>
            <a:endParaRPr/>
          </a:p>
          <a:p>
            <a:pPr indent="0" lvl="0" marL="0" rtl="0" algn="l">
              <a:lnSpc>
                <a:spcPct val="90000"/>
              </a:lnSpc>
              <a:spcBef>
                <a:spcPts val="1000"/>
              </a:spcBef>
              <a:spcAft>
                <a:spcPts val="0"/>
              </a:spcAft>
              <a:buClr>
                <a:schemeClr val="dk1"/>
              </a:buClr>
              <a:buSzPts val="2800"/>
              <a:buNone/>
            </a:pPr>
            <a:r>
              <a:t/>
            </a:r>
            <a:endParaRPr b="1"/>
          </a:p>
          <a:p>
            <a:pPr indent="-514350" lvl="0" marL="514350" rtl="0" algn="l">
              <a:lnSpc>
                <a:spcPct val="90000"/>
              </a:lnSpc>
              <a:spcBef>
                <a:spcPts val="1000"/>
              </a:spcBef>
              <a:spcAft>
                <a:spcPts val="0"/>
              </a:spcAft>
              <a:buClr>
                <a:schemeClr val="dk1"/>
              </a:buClr>
              <a:buSzPts val="2800"/>
              <a:buFont typeface="Calibri"/>
              <a:buAutoNum type="alphaUcPeriod"/>
            </a:pPr>
            <a:r>
              <a:rPr lang="fr-FR"/>
              <a:t>Touche surtout le sinus maxillaire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Agent en cause est le </a:t>
            </a:r>
            <a:r>
              <a:rPr i="1" lang="fr-FR"/>
              <a:t>Candida albicans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Se présente exclusivement sous forme chronique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 TDM montre une opacité calcique dans le sinus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 traitement se base sur le traitement antifongique principalement </a:t>
            </a:r>
            <a:endParaRPr/>
          </a:p>
        </p:txBody>
      </p:sp>
      <p:sp>
        <p:nvSpPr>
          <p:cNvPr id="1092" name="Google Shape;1092;p78"/>
          <p:cNvSpPr/>
          <p:nvPr/>
        </p:nvSpPr>
        <p:spPr>
          <a:xfrm>
            <a:off x="5436096" y="548680"/>
            <a:ext cx="2800160"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7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33 </a:t>
            </a:r>
            <a:endParaRPr/>
          </a:p>
        </p:txBody>
      </p:sp>
      <p:sp>
        <p:nvSpPr>
          <p:cNvPr id="1099" name="Google Shape;1099;p7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33- La sinusite d’origine dentaire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chronique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Les dents en causes: 2</a:t>
            </a:r>
            <a:r>
              <a:rPr baseline="30000" lang="fr-FR"/>
              <a:t>ème</a:t>
            </a:r>
            <a:r>
              <a:rPr lang="fr-FR"/>
              <a:t> prémolaire, 1</a:t>
            </a:r>
            <a:r>
              <a:rPr baseline="30000" lang="fr-FR"/>
              <a:t>ère</a:t>
            </a:r>
            <a:r>
              <a:rPr lang="fr-FR"/>
              <a:t> et 2</a:t>
            </a:r>
            <a:r>
              <a:rPr baseline="30000" lang="fr-FR"/>
              <a:t>ème</a:t>
            </a:r>
            <a:r>
              <a:rPr lang="fr-FR"/>
              <a:t> molaire supérieurs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Associe une cacosmie , obstruction nasale et rhinorrhée unilatérale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Nécessite une chirurgie sinusienne de1 ère intention</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L’antibiothérapie est la même qu’une sinusite maxillaire rhinogène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1100" name="Google Shape;1100;p79"/>
          <p:cNvSpPr/>
          <p:nvPr/>
        </p:nvSpPr>
        <p:spPr>
          <a:xfrm>
            <a:off x="4644008" y="548680"/>
            <a:ext cx="3592248" cy="1008112"/>
          </a:xfrm>
          <a:prstGeom prst="rect">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8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ATB des sinusites</a:t>
            </a:r>
            <a:endParaRPr/>
          </a:p>
        </p:txBody>
      </p:sp>
      <p:sp>
        <p:nvSpPr>
          <p:cNvPr id="1107" name="Google Shape;1107;p8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34. Au cours des sinusites, l’antibiothérapie est indiquée devant:</a:t>
            </a:r>
            <a:endParaRPr/>
          </a:p>
          <a:p>
            <a:pPr indent="-514350" lvl="0" marL="1073150" rtl="0" algn="l">
              <a:lnSpc>
                <a:spcPct val="90000"/>
              </a:lnSpc>
              <a:spcBef>
                <a:spcPts val="1000"/>
              </a:spcBef>
              <a:spcAft>
                <a:spcPts val="0"/>
              </a:spcAft>
              <a:buClr>
                <a:schemeClr val="dk1"/>
              </a:buClr>
              <a:buSzPts val="2800"/>
              <a:buAutoNum type="alphaUcPeriod"/>
            </a:pPr>
            <a:r>
              <a:rPr lang="fr-FR"/>
              <a:t>Toute sinusite chronique </a:t>
            </a:r>
            <a:endParaRPr/>
          </a:p>
          <a:p>
            <a:pPr indent="-514350" lvl="0" marL="1073150" rtl="0" algn="l">
              <a:lnSpc>
                <a:spcPct val="90000"/>
              </a:lnSpc>
              <a:spcBef>
                <a:spcPts val="1000"/>
              </a:spcBef>
              <a:spcAft>
                <a:spcPts val="0"/>
              </a:spcAft>
              <a:buClr>
                <a:schemeClr val="dk1"/>
              </a:buClr>
              <a:buSzPts val="2800"/>
              <a:buAutoNum type="alphaUcPeriod"/>
            </a:pPr>
            <a:r>
              <a:rPr lang="fr-FR"/>
              <a:t>Sinusite hyperalgique</a:t>
            </a:r>
            <a:endParaRPr/>
          </a:p>
          <a:p>
            <a:pPr indent="-514350" lvl="0" marL="1073150" rtl="0" algn="l">
              <a:lnSpc>
                <a:spcPct val="90000"/>
              </a:lnSpc>
              <a:spcBef>
                <a:spcPts val="1000"/>
              </a:spcBef>
              <a:spcAft>
                <a:spcPts val="0"/>
              </a:spcAft>
              <a:buClr>
                <a:schemeClr val="dk1"/>
              </a:buClr>
              <a:buSzPts val="2800"/>
              <a:buAutoNum type="alphaUcPeriod"/>
            </a:pPr>
            <a:r>
              <a:rPr lang="fr-FR"/>
              <a:t>Sphénoidite </a:t>
            </a:r>
            <a:endParaRPr/>
          </a:p>
          <a:p>
            <a:pPr indent="-514350" lvl="0" marL="1073150" rtl="0" algn="l">
              <a:lnSpc>
                <a:spcPct val="90000"/>
              </a:lnSpc>
              <a:spcBef>
                <a:spcPts val="1000"/>
              </a:spcBef>
              <a:spcAft>
                <a:spcPts val="0"/>
              </a:spcAft>
              <a:buClr>
                <a:schemeClr val="dk1"/>
              </a:buClr>
              <a:buSzPts val="2800"/>
              <a:buAutoNum type="alphaUcPeriod"/>
            </a:pPr>
            <a:r>
              <a:rPr lang="fr-FR"/>
              <a:t>Sinusite maxillaire du nourisson </a:t>
            </a:r>
            <a:endParaRPr/>
          </a:p>
          <a:p>
            <a:pPr indent="-514350" lvl="0" marL="1073150" rtl="0" algn="l">
              <a:lnSpc>
                <a:spcPct val="90000"/>
              </a:lnSpc>
              <a:spcBef>
                <a:spcPts val="1000"/>
              </a:spcBef>
              <a:spcAft>
                <a:spcPts val="0"/>
              </a:spcAft>
              <a:buClr>
                <a:schemeClr val="dk1"/>
              </a:buClr>
              <a:buSzPts val="2800"/>
              <a:buAutoNum type="alphaUcPeriod"/>
            </a:pPr>
            <a:r>
              <a:rPr lang="fr-FR"/>
              <a:t>L’association d’une conjonctivite unilatérale </a:t>
            </a:r>
            <a:endParaRPr/>
          </a:p>
        </p:txBody>
      </p:sp>
      <p:sp>
        <p:nvSpPr>
          <p:cNvPr id="1108" name="Google Shape;1108;p80"/>
          <p:cNvSpPr/>
          <p:nvPr/>
        </p:nvSpPr>
        <p:spPr>
          <a:xfrm>
            <a:off x="5436096" y="548680"/>
            <a:ext cx="2800160"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 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8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35 </a:t>
            </a:r>
            <a:endParaRPr/>
          </a:p>
        </p:txBody>
      </p:sp>
      <p:sp>
        <p:nvSpPr>
          <p:cNvPr id="1115" name="Google Shape;1115;p8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35- Le traitement recommandé devant une sinusite maxillaire bactérienne non compliquée:</a:t>
            </a:r>
            <a:endParaRPr/>
          </a:p>
          <a:p>
            <a:pPr indent="-514350" lvl="0" marL="514350" rtl="0" algn="l">
              <a:lnSpc>
                <a:spcPct val="90000"/>
              </a:lnSpc>
              <a:spcBef>
                <a:spcPts val="1000"/>
              </a:spcBef>
              <a:spcAft>
                <a:spcPts val="0"/>
              </a:spcAft>
              <a:buClr>
                <a:schemeClr val="dk1"/>
              </a:buClr>
              <a:buSzPts val="2800"/>
              <a:buAutoNum type="alphaUcPeriod"/>
            </a:pPr>
            <a:r>
              <a:rPr lang="fr-FR"/>
              <a:t>Amoxicilline pendant 7 jours pour l’adulte et l’enfant</a:t>
            </a:r>
            <a:endParaRPr/>
          </a:p>
          <a:p>
            <a:pPr indent="-514350" lvl="0" marL="514350" rtl="0" algn="l">
              <a:lnSpc>
                <a:spcPct val="90000"/>
              </a:lnSpc>
              <a:spcBef>
                <a:spcPts val="1000"/>
              </a:spcBef>
              <a:spcAft>
                <a:spcPts val="0"/>
              </a:spcAft>
              <a:buClr>
                <a:schemeClr val="dk1"/>
              </a:buClr>
              <a:buSzPts val="2800"/>
              <a:buAutoNum type="alphaUcPeriod"/>
            </a:pPr>
            <a:r>
              <a:rPr lang="fr-FR"/>
              <a:t>Céfixime en cas d’allergie à l’amoxicilline</a:t>
            </a:r>
            <a:endParaRPr/>
          </a:p>
          <a:p>
            <a:pPr indent="-514350" lvl="0" marL="514350" rtl="0" algn="l">
              <a:lnSpc>
                <a:spcPct val="90000"/>
              </a:lnSpc>
              <a:spcBef>
                <a:spcPts val="1000"/>
              </a:spcBef>
              <a:spcAft>
                <a:spcPts val="0"/>
              </a:spcAft>
              <a:buClr>
                <a:schemeClr val="dk1"/>
              </a:buClr>
              <a:buSzPts val="2800"/>
              <a:buAutoNum type="alphaUcPeriod"/>
            </a:pPr>
            <a:r>
              <a:rPr lang="fr-FR"/>
              <a:t>Pristinamycine en cas d’allergie aux bétalactamines</a:t>
            </a:r>
            <a:endParaRPr/>
          </a:p>
          <a:p>
            <a:pPr indent="-514350" lvl="0" marL="514350" rtl="0" algn="l">
              <a:lnSpc>
                <a:spcPct val="90000"/>
              </a:lnSpc>
              <a:spcBef>
                <a:spcPts val="1000"/>
              </a:spcBef>
              <a:spcAft>
                <a:spcPts val="0"/>
              </a:spcAft>
              <a:buClr>
                <a:schemeClr val="dk1"/>
              </a:buClr>
              <a:buSzPts val="2800"/>
              <a:buAutoNum type="alphaUcPeriod"/>
            </a:pPr>
            <a:r>
              <a:rPr lang="fr-FR"/>
              <a:t>Macrolide en cas d’allergie aux bétalactamines</a:t>
            </a:r>
            <a:endParaRPr/>
          </a:p>
          <a:p>
            <a:pPr indent="-514350" lvl="0" marL="514350" rtl="0" algn="l">
              <a:lnSpc>
                <a:spcPct val="90000"/>
              </a:lnSpc>
              <a:spcBef>
                <a:spcPts val="1000"/>
              </a:spcBef>
              <a:spcAft>
                <a:spcPts val="0"/>
              </a:spcAft>
              <a:buClr>
                <a:schemeClr val="dk1"/>
              </a:buClr>
              <a:buSzPts val="2800"/>
              <a:buAutoNum type="alphaUcPeriod"/>
            </a:pPr>
            <a:r>
              <a:rPr lang="fr-FR"/>
              <a:t>Fluroquinolone si allergie aux bétalactamines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116" name="Google Shape;1116;p81"/>
          <p:cNvSpPr/>
          <p:nvPr/>
        </p:nvSpPr>
        <p:spPr>
          <a:xfrm>
            <a:off x="4644008" y="548680"/>
            <a:ext cx="3592248" cy="1008112"/>
          </a:xfrm>
          <a:prstGeom prst="rect">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8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Antibiothérapie au cours des </a:t>
            </a:r>
            <a:br>
              <a:rPr lang="fr-FR"/>
            </a:br>
            <a:r>
              <a:rPr lang="fr-FR"/>
              <a:t>ethmoidites </a:t>
            </a:r>
            <a:endParaRPr/>
          </a:p>
        </p:txBody>
      </p:sp>
      <p:sp>
        <p:nvSpPr>
          <p:cNvPr id="1123" name="Google Shape;1123;p8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36. L’antibiothérapie au cours de l’éthmoidite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par amoxicilline-acide clavulanique quelques soit le stade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 durée du traitement intraveineux est de 10 jours minimum</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L’association céfotaxime fosfomycine est gardée pour les complications cérébrales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 relais se fait par par amoxicilline-acide clavulanique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généralement de durée totale de 15 jours </a:t>
            </a:r>
            <a:endParaRPr/>
          </a:p>
        </p:txBody>
      </p:sp>
      <p:sp>
        <p:nvSpPr>
          <p:cNvPr id="1124" name="Google Shape;1124;p82"/>
          <p:cNvSpPr/>
          <p:nvPr/>
        </p:nvSpPr>
        <p:spPr>
          <a:xfrm>
            <a:off x="6507278" y="949870"/>
            <a:ext cx="2008072" cy="87575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D, 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8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SINUSITE </a:t>
            </a:r>
            <a:endParaRPr/>
          </a:p>
        </p:txBody>
      </p:sp>
      <p:sp>
        <p:nvSpPr>
          <p:cNvPr id="1131" name="Google Shape;1131;p8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132" name="Google Shape;1132;p83"/>
          <p:cNvSpPr/>
          <p:nvPr/>
        </p:nvSpPr>
        <p:spPr>
          <a:xfrm>
            <a:off x="1259632" y="2065772"/>
            <a:ext cx="4675596" cy="3811500"/>
          </a:xfrm>
          <a:prstGeom prst="roundRect">
            <a:avLst>
              <a:gd fmla="val 16667" name="adj"/>
            </a:avLst>
          </a:prstGeom>
          <a:blipFill rotWithShape="1">
            <a:blip r:embed="rId3">
              <a:alphaModFix/>
            </a:blip>
            <a:stretch>
              <a:fillRect b="0" l="0" r="0" t="0"/>
            </a:stretch>
          </a:blip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8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Sinusite maxillaire aigue </a:t>
            </a:r>
            <a:endParaRPr/>
          </a:p>
        </p:txBody>
      </p:sp>
      <p:graphicFrame>
        <p:nvGraphicFramePr>
          <p:cNvPr id="1139" name="Google Shape;1139;p84"/>
          <p:cNvGraphicFramePr/>
          <p:nvPr/>
        </p:nvGraphicFramePr>
        <p:xfrm>
          <a:off x="628650" y="1422538"/>
          <a:ext cx="3000000" cy="3000000"/>
        </p:xfrm>
        <a:graphic>
          <a:graphicData uri="http://schemas.openxmlformats.org/drawingml/2006/table">
            <a:tbl>
              <a:tblPr bandRow="1" firstRow="1">
                <a:noFill/>
                <a:tableStyleId>{5429A695-04D7-4066-8B29-3934B9ECBAD7}</a:tableStyleId>
              </a:tblPr>
              <a:tblGrid>
                <a:gridCol w="1279050"/>
                <a:gridCol w="2160250"/>
                <a:gridCol w="936100"/>
                <a:gridCol w="2448275"/>
                <a:gridCol w="1063025"/>
              </a:tblGrid>
              <a:tr h="370850">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fr-FR" sz="1800"/>
                        <a:t>Adulte </a:t>
                      </a:r>
                      <a:endParaRPr/>
                    </a:p>
                  </a:txBody>
                  <a:tcPr marT="45725" marB="45725" marR="91450" marL="91450"/>
                </a:tc>
                <a:tc hMerge="1"/>
                <a:tc gridSpan="2">
                  <a:txBody>
                    <a:bodyPr/>
                    <a:lstStyle/>
                    <a:p>
                      <a:pPr indent="0" lvl="0" marL="0" marR="0" rtl="0" algn="ctr">
                        <a:spcBef>
                          <a:spcPts val="0"/>
                        </a:spcBef>
                        <a:spcAft>
                          <a:spcPts val="0"/>
                        </a:spcAft>
                        <a:buNone/>
                      </a:pPr>
                      <a:r>
                        <a:rPr lang="fr-FR" sz="1800"/>
                        <a:t>Enfant </a:t>
                      </a:r>
                      <a:endParaRPr/>
                    </a:p>
                  </a:txBody>
                  <a:tcPr marT="45725" marB="45725" marR="91450" marL="91450"/>
                </a:tc>
                <a:tc hMerge="1"/>
              </a:tr>
              <a:tr h="4932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 </a:t>
                      </a:r>
                      <a:endParaRPr/>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fr-FR" sz="1800"/>
                        <a:t>1</a:t>
                      </a:r>
                      <a:r>
                        <a:rPr baseline="30000" lang="fr-FR" sz="1800"/>
                        <a:t>ère</a:t>
                      </a:r>
                      <a:r>
                        <a:rPr lang="fr-FR" sz="1800"/>
                        <a:t> intention</a:t>
                      </a:r>
                      <a:endParaRPr/>
                    </a:p>
                  </a:txBody>
                  <a:tcPr marT="45725" marB="45725" marR="91450" marL="91450"/>
                </a:tc>
                <a:tc>
                  <a:txBody>
                    <a:bodyPr/>
                    <a:lstStyle/>
                    <a:p>
                      <a:pPr indent="0" lvl="0" marL="0" marR="0" rtl="0" algn="l">
                        <a:spcBef>
                          <a:spcPts val="0"/>
                        </a:spcBef>
                        <a:spcAft>
                          <a:spcPts val="0"/>
                        </a:spcAft>
                        <a:buNone/>
                      </a:pPr>
                      <a:r>
                        <a:rPr lang="fr-FR" sz="1800"/>
                        <a:t>Amoxicilline  1gx</a:t>
                      </a:r>
                      <a:r>
                        <a:rPr lang="fr-FR" sz="1800" strike="sngStrike"/>
                        <a:t>2</a:t>
                      </a:r>
                      <a:r>
                        <a:rPr b="1" lang="fr-FR" sz="2400">
                          <a:solidFill>
                            <a:srgbClr val="C55A11"/>
                          </a:solidFill>
                        </a:rPr>
                        <a:t>3</a:t>
                      </a:r>
                      <a:r>
                        <a:rPr lang="fr-FR" sz="1800"/>
                        <a:t>/j</a:t>
                      </a:r>
                      <a:endParaRPr/>
                    </a:p>
                  </a:txBody>
                  <a:tcPr marT="45725" marB="45725" marR="91450" marL="91450"/>
                </a:tc>
                <a:tc>
                  <a:txBody>
                    <a:bodyPr/>
                    <a:lstStyle/>
                    <a:p>
                      <a:pPr indent="0" lvl="0" marL="0" marR="0" rtl="0" algn="l">
                        <a:spcBef>
                          <a:spcPts val="0"/>
                        </a:spcBef>
                        <a:spcAft>
                          <a:spcPts val="0"/>
                        </a:spcAft>
                        <a:buNone/>
                      </a:pPr>
                      <a:r>
                        <a:rPr lang="fr-FR" sz="1800" strike="sngStrike"/>
                        <a:t>6 </a:t>
                      </a:r>
                      <a:r>
                        <a:rPr b="1" lang="fr-FR" sz="2800" strike="noStrike">
                          <a:solidFill>
                            <a:srgbClr val="C55A11"/>
                          </a:solidFill>
                        </a:rPr>
                        <a:t>7</a:t>
                      </a:r>
                      <a:r>
                        <a:rPr lang="fr-FR" sz="1800"/>
                        <a:t>j</a:t>
                      </a:r>
                      <a:endParaRPr/>
                    </a:p>
                  </a:txBody>
                  <a:tcPr marT="45725" marB="45725" marR="91450" marL="91450"/>
                </a:tc>
                <a:tc>
                  <a:txBody>
                    <a:bodyPr/>
                    <a:lstStyle/>
                    <a:p>
                      <a:pPr indent="0" lvl="0" marL="0" marR="0" rtl="0" algn="l">
                        <a:spcBef>
                          <a:spcPts val="0"/>
                        </a:spcBef>
                        <a:spcAft>
                          <a:spcPts val="0"/>
                        </a:spcAft>
                        <a:buNone/>
                      </a:pPr>
                      <a:r>
                        <a:rPr lang="fr-FR" sz="1800" strike="sngStrike"/>
                        <a:t>50 </a:t>
                      </a:r>
                      <a:r>
                        <a:rPr b="1" lang="fr-FR" sz="2400" strike="noStrike">
                          <a:solidFill>
                            <a:srgbClr val="C55A11"/>
                          </a:solidFill>
                        </a:rPr>
                        <a:t>80</a:t>
                      </a:r>
                      <a:r>
                        <a:rPr lang="fr-FR" sz="1800" strike="noStrike"/>
                        <a:t> </a:t>
                      </a:r>
                      <a:r>
                        <a:rPr lang="fr-FR" sz="1800"/>
                        <a:t>mg/kg/j en </a:t>
                      </a:r>
                      <a:r>
                        <a:rPr lang="fr-FR" sz="1800" strike="sngStrike"/>
                        <a:t>2 </a:t>
                      </a:r>
                      <a:r>
                        <a:rPr b="1" lang="fr-FR" sz="2400" strike="noStrike">
                          <a:solidFill>
                            <a:srgbClr val="C55A11"/>
                          </a:solidFill>
                        </a:rPr>
                        <a:t>3</a:t>
                      </a:r>
                      <a:r>
                        <a:rPr lang="fr-FR" sz="1800" strike="sngStrike"/>
                        <a:t> </a:t>
                      </a:r>
                      <a:r>
                        <a:rPr lang="fr-FR" sz="1800"/>
                        <a:t>prises </a:t>
                      </a:r>
                      <a:r>
                        <a:rPr b="1" lang="fr-FR" sz="1800"/>
                        <a:t>sans dépasser 3 g</a:t>
                      </a:r>
                      <a:endParaRPr/>
                    </a:p>
                  </a:txBody>
                  <a:tcPr marT="45725" marB="45725" marR="91450" marL="91450"/>
                </a:tc>
                <a:tc>
                  <a:txBody>
                    <a:bodyPr/>
                    <a:lstStyle/>
                    <a:p>
                      <a:pPr indent="0" lvl="0" marL="0" marR="0" rtl="0" algn="l">
                        <a:spcBef>
                          <a:spcPts val="0"/>
                        </a:spcBef>
                        <a:spcAft>
                          <a:spcPts val="0"/>
                        </a:spcAft>
                        <a:buNone/>
                      </a:pPr>
                      <a:r>
                        <a:rPr lang="fr-FR" sz="1800" strike="sngStrike"/>
                        <a:t>6  </a:t>
                      </a:r>
                      <a:r>
                        <a:rPr lang="fr-FR" sz="1800"/>
                        <a:t> </a:t>
                      </a:r>
                      <a:r>
                        <a:rPr b="1" lang="fr-FR" sz="2800">
                          <a:solidFill>
                            <a:srgbClr val="C55A11"/>
                          </a:solidFill>
                        </a:rPr>
                        <a:t>10j</a:t>
                      </a:r>
                      <a:endParaRPr b="1" sz="1800">
                        <a:solidFill>
                          <a:srgbClr val="C55A11"/>
                        </a:solidFill>
                      </a:endParaRPr>
                    </a:p>
                  </a:txBody>
                  <a:tcPr marT="45725" marB="45725" marR="91450" marL="91450"/>
                </a:tc>
              </a:tr>
              <a:tr h="370850">
                <a:tc>
                  <a:txBody>
                    <a:bodyPr/>
                    <a:lstStyle/>
                    <a:p>
                      <a:pPr indent="0" lvl="0" marL="0" marR="0" rtl="0" algn="l">
                        <a:spcBef>
                          <a:spcPts val="0"/>
                        </a:spcBef>
                        <a:spcAft>
                          <a:spcPts val="0"/>
                        </a:spcAft>
                        <a:buNone/>
                      </a:pPr>
                      <a:r>
                        <a:rPr lang="fr-FR" sz="1800"/>
                        <a:t>Allergie péni</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fr-FR" sz="1800"/>
                        <a:t>-Céfuroxime-axétil 250mgx2/j</a:t>
                      </a:r>
                      <a:endParaRPr/>
                    </a:p>
                    <a:p>
                      <a:pPr indent="0" lvl="0" marL="0" marR="0" rtl="0" algn="l">
                        <a:lnSpc>
                          <a:spcPct val="100000"/>
                        </a:lnSpc>
                        <a:spcBef>
                          <a:spcPts val="0"/>
                        </a:spcBef>
                        <a:spcAft>
                          <a:spcPts val="0"/>
                        </a:spcAft>
                        <a:buClr>
                          <a:schemeClr val="dk1"/>
                        </a:buClr>
                        <a:buSzPts val="1800"/>
                        <a:buFont typeface="Calibri"/>
                        <a:buNone/>
                      </a:pPr>
                      <a:r>
                        <a:rPr lang="fr-FR" sz="1800"/>
                        <a:t>-Cefpodoxime-proxétil : </a:t>
                      </a:r>
                      <a:r>
                        <a:rPr lang="fr-FR" sz="1800" strike="sngStrike"/>
                        <a:t>100</a:t>
                      </a:r>
                      <a:r>
                        <a:rPr lang="fr-FR" sz="1800"/>
                        <a:t> </a:t>
                      </a:r>
                      <a:r>
                        <a:rPr b="1" lang="fr-FR" sz="2000">
                          <a:solidFill>
                            <a:schemeClr val="accent2"/>
                          </a:solidFill>
                        </a:rPr>
                        <a:t>200</a:t>
                      </a:r>
                      <a:r>
                        <a:rPr lang="fr-FR" sz="1800"/>
                        <a:t>mgx2/j</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strike="sngStrike"/>
                        <a:t>4j  </a:t>
                      </a:r>
                      <a:r>
                        <a:rPr b="1" lang="fr-FR" sz="2800" strike="noStrike">
                          <a:solidFill>
                            <a:srgbClr val="C55A11"/>
                          </a:solidFill>
                        </a:rPr>
                        <a:t>5j</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5j</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fr-FR" sz="1800"/>
                        <a:t>Allergie Blact</a:t>
                      </a:r>
                      <a:endParaRPr sz="1800"/>
                    </a:p>
                  </a:txBody>
                  <a:tcPr marT="45725" marB="45725" marR="91450" marL="91450"/>
                </a:tc>
                <a:tc>
                  <a:txBody>
                    <a:bodyPr/>
                    <a:lstStyle/>
                    <a:p>
                      <a:pPr indent="0" lvl="0" marL="0" marR="0" rtl="0" algn="l">
                        <a:spcBef>
                          <a:spcPts val="0"/>
                        </a:spcBef>
                        <a:spcAft>
                          <a:spcPts val="0"/>
                        </a:spcAft>
                        <a:buNone/>
                      </a:pPr>
                      <a:r>
                        <a:rPr lang="fr-FR" sz="1800"/>
                        <a:t>-</a:t>
                      </a:r>
                      <a:r>
                        <a:rPr lang="fr-FR" sz="1800" strike="sngStrike"/>
                        <a:t>Azithromycine: </a:t>
                      </a:r>
                      <a:endParaRPr/>
                    </a:p>
                    <a:p>
                      <a:pPr indent="0" lvl="0" marL="0" marR="0" rtl="0" algn="l">
                        <a:spcBef>
                          <a:spcPts val="0"/>
                        </a:spcBef>
                        <a:spcAft>
                          <a:spcPts val="0"/>
                        </a:spcAft>
                        <a:buNone/>
                      </a:pPr>
                      <a:r>
                        <a:rPr lang="fr-FR" sz="1800" strike="sngStrike"/>
                        <a:t>500 mg/j</a:t>
                      </a:r>
                      <a:endParaRPr/>
                    </a:p>
                    <a:p>
                      <a:pPr indent="0" lvl="0" marL="0" marR="0" rtl="0" algn="l">
                        <a:spcBef>
                          <a:spcPts val="0"/>
                        </a:spcBef>
                        <a:spcAft>
                          <a:spcPts val="0"/>
                        </a:spcAft>
                        <a:buNone/>
                      </a:pPr>
                      <a:r>
                        <a:rPr lang="fr-FR" sz="1800" strike="sngStrike"/>
                        <a:t>-Clarithromycine: 500 mg/j</a:t>
                      </a:r>
                      <a:endParaRPr/>
                    </a:p>
                    <a:p>
                      <a:pPr indent="0" lvl="0" marL="0" marR="0" rtl="0" algn="l">
                        <a:spcBef>
                          <a:spcPts val="0"/>
                        </a:spcBef>
                        <a:spcAft>
                          <a:spcPts val="0"/>
                        </a:spcAft>
                        <a:buNone/>
                      </a:pPr>
                      <a:r>
                        <a:rPr lang="fr-FR" sz="1800" strike="noStrike"/>
                        <a:t>Pristinamycine 2-3g/j</a:t>
                      </a:r>
                      <a:endParaRPr/>
                    </a:p>
                  </a:txBody>
                  <a:tcPr marT="45725" marB="45725" marR="91450" marL="91450"/>
                </a:tc>
                <a:tc>
                  <a:txBody>
                    <a:bodyPr/>
                    <a:lstStyle/>
                    <a:p>
                      <a:pPr indent="0" lvl="0" marL="0" marR="0" rtl="0" algn="l">
                        <a:spcBef>
                          <a:spcPts val="0"/>
                        </a:spcBef>
                        <a:spcAft>
                          <a:spcPts val="0"/>
                        </a:spcAft>
                        <a:buNone/>
                      </a:pPr>
                      <a:r>
                        <a:t/>
                      </a:r>
                      <a:endParaRPr b="1" sz="2000">
                        <a:solidFill>
                          <a:srgbClr val="FF0000"/>
                        </a:solidFill>
                      </a:endParaRPr>
                    </a:p>
                    <a:p>
                      <a:pPr indent="0" lvl="0" marL="0" marR="0" rtl="0" algn="l">
                        <a:spcBef>
                          <a:spcPts val="0"/>
                        </a:spcBef>
                        <a:spcAft>
                          <a:spcPts val="0"/>
                        </a:spcAft>
                        <a:buNone/>
                      </a:pPr>
                      <a:r>
                        <a:t/>
                      </a:r>
                      <a:endParaRPr b="1" sz="2000">
                        <a:solidFill>
                          <a:srgbClr val="FF0000"/>
                        </a:solidFill>
                      </a:endParaRPr>
                    </a:p>
                    <a:p>
                      <a:pPr indent="0" lvl="0" marL="0" marR="0" rtl="0" algn="l">
                        <a:spcBef>
                          <a:spcPts val="0"/>
                        </a:spcBef>
                        <a:spcAft>
                          <a:spcPts val="0"/>
                        </a:spcAft>
                        <a:buNone/>
                      </a:pPr>
                      <a:r>
                        <a:t/>
                      </a:r>
                      <a:endParaRPr b="1" sz="2000">
                        <a:solidFill>
                          <a:srgbClr val="FF0000"/>
                        </a:solidFill>
                      </a:endParaRPr>
                    </a:p>
                    <a:p>
                      <a:pPr indent="0" lvl="0" marL="0" marR="0" rtl="0" algn="l">
                        <a:spcBef>
                          <a:spcPts val="0"/>
                        </a:spcBef>
                        <a:spcAft>
                          <a:spcPts val="0"/>
                        </a:spcAft>
                        <a:buNone/>
                      </a:pPr>
                      <a:r>
                        <a:t/>
                      </a:r>
                      <a:endParaRPr b="1" sz="2000">
                        <a:solidFill>
                          <a:srgbClr val="FF0000"/>
                        </a:solidFill>
                      </a:endParaRPr>
                    </a:p>
                    <a:p>
                      <a:pPr indent="0" lvl="0" marL="0" marR="0" rtl="0" algn="l">
                        <a:spcBef>
                          <a:spcPts val="0"/>
                        </a:spcBef>
                        <a:spcAft>
                          <a:spcPts val="0"/>
                        </a:spcAft>
                        <a:buNone/>
                      </a:pPr>
                      <a:r>
                        <a:rPr b="1" lang="fr-FR" sz="2000">
                          <a:solidFill>
                            <a:srgbClr val="FF0000"/>
                          </a:solidFill>
                        </a:rPr>
                        <a:t>4j</a:t>
                      </a:r>
                      <a:endParaRPr/>
                    </a:p>
                  </a:txBody>
                  <a:tcPr marT="45725" marB="45725" marR="91450" marL="91450"/>
                </a:tc>
                <a:tc>
                  <a:txBody>
                    <a:bodyPr/>
                    <a:lstStyle/>
                    <a:p>
                      <a:pPr indent="0" lvl="0" marL="0" marR="0" rtl="0" algn="l">
                        <a:spcBef>
                          <a:spcPts val="0"/>
                        </a:spcBef>
                        <a:spcAft>
                          <a:spcPts val="0"/>
                        </a:spcAft>
                        <a:buNone/>
                      </a:pPr>
                      <a:r>
                        <a:t/>
                      </a:r>
                      <a:endParaRPr sz="1800" strike="sngStrike"/>
                    </a:p>
                    <a:p>
                      <a:pPr indent="0" lvl="0" marL="0" marR="0" rtl="0" algn="l">
                        <a:spcBef>
                          <a:spcPts val="0"/>
                        </a:spcBef>
                        <a:spcAft>
                          <a:spcPts val="0"/>
                        </a:spcAft>
                        <a:buNone/>
                      </a:pPr>
                      <a:r>
                        <a:t/>
                      </a:r>
                      <a:endParaRPr sz="1800" strike="sngStrike"/>
                    </a:p>
                    <a:p>
                      <a:pPr indent="0" lvl="0" marL="0" marR="0" rtl="0" algn="l">
                        <a:spcBef>
                          <a:spcPts val="0"/>
                        </a:spcBef>
                        <a:spcAft>
                          <a:spcPts val="0"/>
                        </a:spcAft>
                        <a:buNone/>
                      </a:pPr>
                      <a:r>
                        <a:t/>
                      </a:r>
                      <a:endParaRPr sz="1800" strike="sngStrike"/>
                    </a:p>
                    <a:p>
                      <a:pPr indent="0" lvl="0" marL="0" marR="0" rtl="0" algn="l">
                        <a:spcBef>
                          <a:spcPts val="0"/>
                        </a:spcBef>
                        <a:spcAft>
                          <a:spcPts val="0"/>
                        </a:spcAft>
                        <a:buNone/>
                      </a:pPr>
                      <a:r>
                        <a:t/>
                      </a:r>
                      <a:endParaRPr sz="1800" strike="sngStrike"/>
                    </a:p>
                    <a:p>
                      <a:pPr indent="0" lvl="0" marL="0" marR="0" rtl="0" algn="l">
                        <a:spcBef>
                          <a:spcPts val="0"/>
                        </a:spcBef>
                        <a:spcAft>
                          <a:spcPts val="0"/>
                        </a:spcAft>
                        <a:buNone/>
                      </a:pPr>
                      <a:r>
                        <a:rPr lang="fr-FR" sz="1800" strike="noStrike"/>
                        <a:t>50mg/kg/j enfant &gt; 6 ans </a:t>
                      </a:r>
                      <a:endParaRPr/>
                    </a:p>
                  </a:txBody>
                  <a:tcPr marT="45725" marB="45725" marR="91450" marL="91450"/>
                </a:tc>
                <a:tc>
                  <a:txBody>
                    <a:bodyPr/>
                    <a:lstStyle/>
                    <a:p>
                      <a:pPr indent="0" lvl="0" marL="0" marR="0" rtl="0" algn="l">
                        <a:spcBef>
                          <a:spcPts val="0"/>
                        </a:spcBef>
                        <a:spcAft>
                          <a:spcPts val="0"/>
                        </a:spcAft>
                        <a:buNone/>
                      </a:pPr>
                      <a:r>
                        <a:t/>
                      </a:r>
                      <a:endParaRPr b="1" sz="2000">
                        <a:solidFill>
                          <a:srgbClr val="FF0000"/>
                        </a:solidFill>
                      </a:endParaRPr>
                    </a:p>
                    <a:p>
                      <a:pPr indent="0" lvl="0" marL="0" marR="0" rtl="0" algn="l">
                        <a:spcBef>
                          <a:spcPts val="0"/>
                        </a:spcBef>
                        <a:spcAft>
                          <a:spcPts val="0"/>
                        </a:spcAft>
                        <a:buNone/>
                      </a:pPr>
                      <a:r>
                        <a:t/>
                      </a:r>
                      <a:endParaRPr b="1" sz="2000">
                        <a:solidFill>
                          <a:srgbClr val="FF0000"/>
                        </a:solidFill>
                      </a:endParaRPr>
                    </a:p>
                    <a:p>
                      <a:pPr indent="0" lvl="0" marL="0" marR="0" rtl="0" algn="l">
                        <a:spcBef>
                          <a:spcPts val="0"/>
                        </a:spcBef>
                        <a:spcAft>
                          <a:spcPts val="0"/>
                        </a:spcAft>
                        <a:buNone/>
                      </a:pPr>
                      <a:r>
                        <a:t/>
                      </a:r>
                      <a:endParaRPr b="1" sz="2000">
                        <a:solidFill>
                          <a:srgbClr val="FF0000"/>
                        </a:solidFill>
                      </a:endParaRPr>
                    </a:p>
                    <a:p>
                      <a:pPr indent="0" lvl="0" marL="0" marR="0" rtl="0" algn="l">
                        <a:spcBef>
                          <a:spcPts val="0"/>
                        </a:spcBef>
                        <a:spcAft>
                          <a:spcPts val="0"/>
                        </a:spcAft>
                        <a:buNone/>
                      </a:pPr>
                      <a:r>
                        <a:rPr b="1" lang="fr-FR" sz="2000">
                          <a:solidFill>
                            <a:srgbClr val="FF0000"/>
                          </a:solidFill>
                        </a:rPr>
                        <a:t>4j</a:t>
                      </a:r>
                      <a:endParaRPr/>
                    </a:p>
                  </a:txBody>
                  <a:tcPr marT="45725" marB="45725" marR="91450" marL="91450"/>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85"/>
          <p:cNvSpPr txBox="1"/>
          <p:nvPr>
            <p:ph type="title"/>
          </p:nvPr>
        </p:nvSpPr>
        <p:spPr>
          <a:xfrm>
            <a:off x="623887" y="1709738"/>
            <a:ext cx="78867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C00000"/>
              </a:buClr>
              <a:buSzPts val="6000"/>
              <a:buFont typeface="Calibri"/>
              <a:buNone/>
            </a:pPr>
            <a:r>
              <a:rPr lang="fr-FR"/>
              <a:t>Otite moyenne aigue </a:t>
            </a:r>
            <a:endParaRPr/>
          </a:p>
        </p:txBody>
      </p:sp>
      <p:sp>
        <p:nvSpPr>
          <p:cNvPr id="1145" name="Google Shape;1145;p85"/>
          <p:cNvSpPr txBox="1"/>
          <p:nvPr>
            <p:ph idx="1" type="body"/>
          </p:nvPr>
        </p:nvSpPr>
        <p:spPr>
          <a:xfrm>
            <a:off x="623887" y="4589464"/>
            <a:ext cx="78867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8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L’otite moyenne </a:t>
            </a:r>
            <a:br>
              <a:rPr lang="fr-FR"/>
            </a:br>
            <a:r>
              <a:rPr lang="fr-FR"/>
              <a:t>aigue</a:t>
            </a:r>
            <a:endParaRPr/>
          </a:p>
        </p:txBody>
      </p:sp>
      <p:sp>
        <p:nvSpPr>
          <p:cNvPr id="1152" name="Google Shape;1152;p8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37. Au cours de l’otite moyenne aigue: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L’isolement des virus est exceptionnel</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 streptocoque du groupe A est fréquemment en cause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 culture des prélèvements revient négative dans 30 à 40 % des cas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L’épidemiologie bactérienne ne doit être considérée  que sur prélèvement par paracentèse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Représente l’extension antérieure d’une rhinopharyngite </a:t>
            </a:r>
            <a:endParaRPr/>
          </a:p>
        </p:txBody>
      </p:sp>
      <p:sp>
        <p:nvSpPr>
          <p:cNvPr id="1153" name="Google Shape;1153;p86"/>
          <p:cNvSpPr/>
          <p:nvPr/>
        </p:nvSpPr>
        <p:spPr>
          <a:xfrm>
            <a:off x="4644008" y="54868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C,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8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L’otite moyenne aigue</a:t>
            </a:r>
            <a:endParaRPr/>
          </a:p>
        </p:txBody>
      </p:sp>
      <p:sp>
        <p:nvSpPr>
          <p:cNvPr id="1160" name="Google Shape;1160;p8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b="1" lang="fr-FR"/>
              <a:t>38- L’otite moyenne aigue:</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Peut survenir le jour qui suit l’installation d’une rhinopharyngite</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Survient souvent dans la première semaine après rhinopharyngite</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Survient dans la moitié des cas de rhinopharyngites</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Associée à une conjonctivite bilatérale évoque l’HI</a:t>
            </a:r>
            <a:endParaRPr/>
          </a:p>
          <a:p>
            <a:pPr indent="-514350" lvl="0" marL="514350" rtl="0" algn="l">
              <a:lnSpc>
                <a:spcPct val="90000"/>
              </a:lnSpc>
              <a:spcBef>
                <a:spcPts val="1000"/>
              </a:spcBef>
              <a:spcAft>
                <a:spcPts val="0"/>
              </a:spcAft>
              <a:buClr>
                <a:schemeClr val="dk1"/>
              </a:buClr>
              <a:buSzPct val="100000"/>
              <a:buFont typeface="Calibri"/>
              <a:buAutoNum type="alphaUcPeriod"/>
            </a:pPr>
            <a:r>
              <a:rPr lang="fr-FR"/>
              <a:t>Doit être évoquée devant toute rhinopharyngite avec fièvre persistante après 72h chez l’enfant en préverbal</a:t>
            </a:r>
            <a:endParaRPr/>
          </a:p>
          <a:p>
            <a:pPr indent="-349885" lvl="0" marL="514350" rtl="0" algn="l">
              <a:lnSpc>
                <a:spcPct val="90000"/>
              </a:lnSpc>
              <a:spcBef>
                <a:spcPts val="1000"/>
              </a:spcBef>
              <a:spcAft>
                <a:spcPts val="0"/>
              </a:spcAft>
              <a:buClr>
                <a:schemeClr val="dk1"/>
              </a:buClr>
              <a:buSzPct val="100000"/>
              <a:buFont typeface="Calibri"/>
              <a:buNone/>
            </a:pPr>
            <a:r>
              <a:t/>
            </a:r>
            <a:endParaRPr/>
          </a:p>
        </p:txBody>
      </p:sp>
      <p:sp>
        <p:nvSpPr>
          <p:cNvPr id="1161" name="Google Shape;1161;p87"/>
          <p:cNvSpPr/>
          <p:nvPr/>
        </p:nvSpPr>
        <p:spPr>
          <a:xfrm>
            <a:off x="5724128" y="548680"/>
            <a:ext cx="2512128" cy="1008112"/>
          </a:xfrm>
          <a:prstGeom prst="rect">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B,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8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39</a:t>
            </a:r>
            <a:endParaRPr/>
          </a:p>
        </p:txBody>
      </p:sp>
      <p:sp>
        <p:nvSpPr>
          <p:cNvPr id="1168" name="Google Shape;1168;p8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b="1" lang="fr-FR"/>
              <a:t>39. Le diagnostic d’otite moyenne aigue</a:t>
            </a:r>
            <a:r>
              <a:rPr lang="fr-FR"/>
              <a:t>:</a:t>
            </a:r>
            <a:endParaRPr/>
          </a:p>
          <a:p>
            <a:pPr indent="-342900" lvl="0" marL="342900" rtl="0" algn="l">
              <a:lnSpc>
                <a:spcPct val="115000"/>
              </a:lnSpc>
              <a:spcBef>
                <a:spcPts val="1000"/>
              </a:spcBef>
              <a:spcAft>
                <a:spcPts val="0"/>
              </a:spcAft>
              <a:buClr>
                <a:schemeClr val="dk1"/>
              </a:buClr>
              <a:buSzPct val="100000"/>
              <a:buFont typeface="Calibri"/>
              <a:buAutoNum type="alphaUcPeriod"/>
            </a:pPr>
            <a:r>
              <a:rPr lang="fr-FR"/>
              <a:t>Doit être évoquée devant toute rhinopharyngite avec fièvre persistante après 72h chez l’enfant en préverbal</a:t>
            </a:r>
            <a:endParaRPr/>
          </a:p>
          <a:p>
            <a:pPr indent="-342900" lvl="0" marL="342900" rtl="0" algn="l">
              <a:lnSpc>
                <a:spcPct val="115000"/>
              </a:lnSpc>
              <a:spcBef>
                <a:spcPts val="2000"/>
              </a:spcBef>
              <a:spcAft>
                <a:spcPts val="0"/>
              </a:spcAft>
              <a:buClr>
                <a:schemeClr val="dk1"/>
              </a:buClr>
              <a:buSzPct val="100000"/>
              <a:buFont typeface="Calibri"/>
              <a:buAutoNum type="alphaUcPeriod"/>
            </a:pPr>
            <a:r>
              <a:rPr lang="fr-FR"/>
              <a:t>Est basé sur  la présence de signes inflammatoires du tympan avec comblement de l’oreille moyenne</a:t>
            </a:r>
            <a:endParaRPr/>
          </a:p>
          <a:p>
            <a:pPr indent="-342900" lvl="0" marL="342900" rtl="0" algn="l">
              <a:lnSpc>
                <a:spcPct val="115000"/>
              </a:lnSpc>
              <a:spcBef>
                <a:spcPts val="2000"/>
              </a:spcBef>
              <a:spcAft>
                <a:spcPts val="0"/>
              </a:spcAft>
              <a:buClr>
                <a:schemeClr val="dk1"/>
              </a:buClr>
              <a:buSzPct val="100000"/>
              <a:buFont typeface="Calibri"/>
              <a:buAutoNum type="alphaUcPeriod"/>
            </a:pPr>
            <a:r>
              <a:rPr lang="fr-FR"/>
              <a:t>Est porté en présence de liquide derrière le tympan </a:t>
            </a:r>
            <a:endParaRPr/>
          </a:p>
          <a:p>
            <a:pPr indent="-342900" lvl="0" marL="342900" rtl="0" algn="l">
              <a:lnSpc>
                <a:spcPct val="115000"/>
              </a:lnSpc>
              <a:spcBef>
                <a:spcPts val="2000"/>
              </a:spcBef>
              <a:spcAft>
                <a:spcPts val="0"/>
              </a:spcAft>
              <a:buClr>
                <a:schemeClr val="dk1"/>
              </a:buClr>
              <a:buSzPct val="100000"/>
              <a:buFont typeface="Calibri"/>
              <a:buAutoNum type="alphaUcPeriod"/>
            </a:pPr>
            <a:r>
              <a:rPr lang="fr-FR"/>
              <a:t>Perforée est retenu dès l’apparition d’otorrhée dans le conduit</a:t>
            </a:r>
            <a:endParaRPr/>
          </a:p>
          <a:p>
            <a:pPr indent="-342900" lvl="0" marL="342900" rtl="0" algn="l">
              <a:lnSpc>
                <a:spcPct val="115000"/>
              </a:lnSpc>
              <a:spcBef>
                <a:spcPts val="2000"/>
              </a:spcBef>
              <a:spcAft>
                <a:spcPts val="0"/>
              </a:spcAft>
              <a:buClr>
                <a:schemeClr val="dk1"/>
              </a:buClr>
              <a:buSzPct val="100000"/>
              <a:buFont typeface="Calibri"/>
              <a:buAutoNum type="alphaUcPeriod"/>
            </a:pPr>
            <a:r>
              <a:rPr lang="fr-FR"/>
              <a:t>Doit être évoquée devant des signes digestifs fébriles</a:t>
            </a:r>
            <a:endParaRPr/>
          </a:p>
        </p:txBody>
      </p:sp>
      <p:sp>
        <p:nvSpPr>
          <p:cNvPr id="1169" name="Google Shape;1169;p88"/>
          <p:cNvSpPr/>
          <p:nvPr/>
        </p:nvSpPr>
        <p:spPr>
          <a:xfrm>
            <a:off x="4644008" y="49153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B,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8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Otite moyenne aigue: otoscopie </a:t>
            </a:r>
            <a:endParaRPr/>
          </a:p>
        </p:txBody>
      </p:sp>
      <p:grpSp>
        <p:nvGrpSpPr>
          <p:cNvPr id="1176" name="Google Shape;1176;p89"/>
          <p:cNvGrpSpPr/>
          <p:nvPr/>
        </p:nvGrpSpPr>
        <p:grpSpPr>
          <a:xfrm>
            <a:off x="457200" y="1600255"/>
            <a:ext cx="7787208" cy="4525851"/>
            <a:chOff x="0" y="55"/>
            <a:chExt cx="7787208" cy="4525851"/>
          </a:xfrm>
        </p:grpSpPr>
        <p:sp>
          <p:nvSpPr>
            <p:cNvPr id="1177" name="Google Shape;1177;p89"/>
            <p:cNvSpPr/>
            <p:nvPr/>
          </p:nvSpPr>
          <p:spPr>
            <a:xfrm rot="5400000">
              <a:off x="4412208" y="-1387984"/>
              <a:ext cx="1766186" cy="4983813"/>
            </a:xfrm>
            <a:prstGeom prst="round2SameRect">
              <a:avLst>
                <a:gd fmla="val 16667" name="adj1"/>
                <a:gd fmla="val 0" name="adj2"/>
              </a:avLst>
            </a:prstGeom>
            <a:solidFill>
              <a:schemeClr val="lt1">
                <a:alpha val="89803"/>
              </a:schemeClr>
            </a:solidFill>
            <a:ln cap="flat" cmpd="sng" w="12700">
              <a:solidFill>
                <a:schemeClr val="dk1">
                  <a:alpha val="89803"/>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89"/>
            <p:cNvSpPr txBox="1"/>
            <p:nvPr/>
          </p:nvSpPr>
          <p:spPr>
            <a:xfrm>
              <a:off x="2803395" y="307047"/>
              <a:ext cx="4897595" cy="1593750"/>
            </a:xfrm>
            <a:prstGeom prst="rect">
              <a:avLst/>
            </a:prstGeom>
            <a:noFill/>
            <a:ln>
              <a:noFill/>
            </a:ln>
          </p:spPr>
          <p:txBody>
            <a:bodyPr anchorCtr="0" anchor="ctr" bIns="64750" lIns="129525" spcFirstLastPara="1" rIns="129525" wrap="square" tIns="64750">
              <a:noAutofit/>
            </a:bodyPr>
            <a:lstStyle/>
            <a:p>
              <a:pPr indent="-285750" lvl="1" marL="285750" marR="0" rtl="0" algn="l">
                <a:lnSpc>
                  <a:spcPct val="90000"/>
                </a:lnSpc>
                <a:spcBef>
                  <a:spcPts val="0"/>
                </a:spcBef>
                <a:spcAft>
                  <a:spcPts val="0"/>
                </a:spcAft>
                <a:buClr>
                  <a:schemeClr val="dk1"/>
                </a:buClr>
                <a:buSzPts val="3400"/>
                <a:buFont typeface="Calibri"/>
                <a:buChar char="•"/>
              </a:pPr>
              <a:r>
                <a:rPr b="0" i="0" lang="fr-FR" sz="3400" u="none" cap="none" strike="noStrike">
                  <a:solidFill>
                    <a:schemeClr val="dk1"/>
                  </a:solidFill>
                  <a:latin typeface="Calibri"/>
                  <a:ea typeface="Calibri"/>
                  <a:cs typeface="Calibri"/>
                  <a:sym typeface="Calibri"/>
                </a:rPr>
                <a:t>Hyperhémie du tympan , périphérie et centre</a:t>
              </a:r>
              <a:endParaRPr/>
            </a:p>
          </p:txBody>
        </p:sp>
        <p:sp>
          <p:nvSpPr>
            <p:cNvPr id="1179" name="Google Shape;1179;p89"/>
            <p:cNvSpPr/>
            <p:nvPr/>
          </p:nvSpPr>
          <p:spPr>
            <a:xfrm>
              <a:off x="0" y="55"/>
              <a:ext cx="2803394" cy="2207732"/>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89"/>
            <p:cNvSpPr txBox="1"/>
            <p:nvPr/>
          </p:nvSpPr>
          <p:spPr>
            <a:xfrm>
              <a:off x="107773" y="107828"/>
              <a:ext cx="2587848" cy="1992186"/>
            </a:xfrm>
            <a:prstGeom prst="rect">
              <a:avLst/>
            </a:prstGeom>
            <a:noFill/>
            <a:ln>
              <a:noFill/>
            </a:ln>
          </p:spPr>
          <p:txBody>
            <a:bodyPr anchorCtr="0" anchor="ctr" bIns="57150" lIns="114300" spcFirstLastPara="1" rIns="114300" wrap="square" tIns="57150">
              <a:noAutofit/>
            </a:bodyPr>
            <a:lstStyle/>
            <a:p>
              <a:pPr indent="0" lvl="0" marL="0" marR="0" rtl="0" algn="ctr">
                <a:lnSpc>
                  <a:spcPct val="90000"/>
                </a:lnSpc>
                <a:spcBef>
                  <a:spcPts val="0"/>
                </a:spcBef>
                <a:spcAft>
                  <a:spcPts val="0"/>
                </a:spcAft>
                <a:buClr>
                  <a:schemeClr val="lt1"/>
                </a:buClr>
                <a:buSzPts val="3000"/>
                <a:buFont typeface="Calibri"/>
                <a:buNone/>
              </a:pPr>
              <a:r>
                <a:rPr lang="fr-FR" sz="3000">
                  <a:solidFill>
                    <a:schemeClr val="lt1"/>
                  </a:solidFill>
                  <a:latin typeface="Calibri"/>
                  <a:ea typeface="Calibri"/>
                  <a:cs typeface="Calibri"/>
                  <a:sym typeface="Calibri"/>
                </a:rPr>
                <a:t>Signes de l’inflammation</a:t>
              </a:r>
              <a:endParaRPr/>
            </a:p>
          </p:txBody>
        </p:sp>
        <p:sp>
          <p:nvSpPr>
            <p:cNvPr id="1181" name="Google Shape;1181;p89"/>
            <p:cNvSpPr/>
            <p:nvPr/>
          </p:nvSpPr>
          <p:spPr>
            <a:xfrm rot="5400000">
              <a:off x="4412208" y="930134"/>
              <a:ext cx="1766186" cy="4983813"/>
            </a:xfrm>
            <a:prstGeom prst="round2SameRect">
              <a:avLst>
                <a:gd fmla="val 16667" name="adj1"/>
                <a:gd fmla="val 0" name="adj2"/>
              </a:avLst>
            </a:prstGeom>
            <a:solidFill>
              <a:schemeClr val="lt1">
                <a:alpha val="89803"/>
              </a:schemeClr>
            </a:solidFill>
            <a:ln cap="flat" cmpd="sng" w="12700">
              <a:solidFill>
                <a:schemeClr val="dk1">
                  <a:alpha val="89803"/>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89"/>
            <p:cNvSpPr txBox="1"/>
            <p:nvPr/>
          </p:nvSpPr>
          <p:spPr>
            <a:xfrm>
              <a:off x="2803395" y="2625165"/>
              <a:ext cx="4897595" cy="1593750"/>
            </a:xfrm>
            <a:prstGeom prst="rect">
              <a:avLst/>
            </a:prstGeom>
            <a:noFill/>
            <a:ln>
              <a:noFill/>
            </a:ln>
          </p:spPr>
          <p:txBody>
            <a:bodyPr anchorCtr="0" anchor="ctr" bIns="64750" lIns="129525" spcFirstLastPara="1" rIns="129525" wrap="square" tIns="64750">
              <a:noAutofit/>
            </a:bodyPr>
            <a:lstStyle/>
            <a:p>
              <a:pPr indent="-285750" lvl="1" marL="285750" marR="0" rtl="0" algn="l">
                <a:lnSpc>
                  <a:spcPct val="90000"/>
                </a:lnSpc>
                <a:spcBef>
                  <a:spcPts val="0"/>
                </a:spcBef>
                <a:spcAft>
                  <a:spcPts val="0"/>
                </a:spcAft>
                <a:buClr>
                  <a:schemeClr val="dk1"/>
                </a:buClr>
                <a:buSzPts val="3400"/>
                <a:buFont typeface="Calibri"/>
                <a:buChar char="•"/>
              </a:pPr>
              <a:r>
                <a:rPr b="0" i="0" lang="fr-FR" sz="3400" u="none" cap="none" strike="noStrike">
                  <a:solidFill>
                    <a:schemeClr val="dk1"/>
                  </a:solidFill>
                  <a:latin typeface="Calibri"/>
                  <a:ea typeface="Calibri"/>
                  <a:cs typeface="Calibri"/>
                  <a:sym typeface="Calibri"/>
                </a:rPr>
                <a:t>Disparition du triangle lumineux parfois même les reliefs</a:t>
              </a:r>
              <a:endParaRPr/>
            </a:p>
          </p:txBody>
        </p:sp>
        <p:sp>
          <p:nvSpPr>
            <p:cNvPr id="1183" name="Google Shape;1183;p89"/>
            <p:cNvSpPr/>
            <p:nvPr/>
          </p:nvSpPr>
          <p:spPr>
            <a:xfrm>
              <a:off x="0" y="2318174"/>
              <a:ext cx="2803394" cy="2207732"/>
            </a:xfrm>
            <a:prstGeom prst="roundRect">
              <a:avLst>
                <a:gd fmla="val 16667" name="adj"/>
              </a:avLst>
            </a:prstGeom>
            <a:solidFill>
              <a:schemeClr val="lt1"/>
            </a:solid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89"/>
            <p:cNvSpPr txBox="1"/>
            <p:nvPr/>
          </p:nvSpPr>
          <p:spPr>
            <a:xfrm>
              <a:off x="107773" y="2425947"/>
              <a:ext cx="2587848" cy="1992186"/>
            </a:xfrm>
            <a:prstGeom prst="rect">
              <a:avLst/>
            </a:prstGeom>
            <a:noFill/>
            <a:ln>
              <a:noFill/>
            </a:ln>
          </p:spPr>
          <p:txBody>
            <a:bodyPr anchorCtr="0" anchor="ctr" bIns="57150" lIns="114300" spcFirstLastPara="1" rIns="114300" wrap="square" tIns="57150">
              <a:noAutofit/>
            </a:bodyPr>
            <a:lstStyle/>
            <a:p>
              <a:pPr indent="0" lvl="0" marL="0" marR="0" rtl="0" algn="ctr">
                <a:lnSpc>
                  <a:spcPct val="90000"/>
                </a:lnSpc>
                <a:spcBef>
                  <a:spcPts val="0"/>
                </a:spcBef>
                <a:spcAft>
                  <a:spcPts val="0"/>
                </a:spcAft>
                <a:buClr>
                  <a:schemeClr val="lt1"/>
                </a:buClr>
                <a:buSzPts val="3000"/>
                <a:buFont typeface="Calibri"/>
                <a:buNone/>
              </a:pPr>
              <a:r>
                <a:rPr lang="fr-FR" sz="3000">
                  <a:solidFill>
                    <a:schemeClr val="lt1"/>
                  </a:solidFill>
                  <a:latin typeface="Calibri"/>
                  <a:ea typeface="Calibri"/>
                  <a:cs typeface="Calibri"/>
                  <a:sym typeface="Calibri"/>
                </a:rPr>
                <a:t>Liquide derrière le tympan </a:t>
              </a:r>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9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t/>
            </a:r>
            <a:endParaRPr/>
          </a:p>
        </p:txBody>
      </p:sp>
      <p:pic>
        <p:nvPicPr>
          <p:cNvPr id="1190" name="Google Shape;1190;p90"/>
          <p:cNvPicPr preferRelativeResize="0"/>
          <p:nvPr>
            <p:ph idx="1" type="body"/>
          </p:nvPr>
        </p:nvPicPr>
        <p:blipFill rotWithShape="1">
          <a:blip r:embed="rId3">
            <a:alphaModFix/>
          </a:blip>
          <a:srcRect b="0" l="0" r="0" t="0"/>
          <a:stretch/>
        </p:blipFill>
        <p:spPr>
          <a:xfrm>
            <a:off x="628650" y="2087764"/>
            <a:ext cx="3023878" cy="2682472"/>
          </a:xfrm>
          <a:prstGeom prst="rect">
            <a:avLst/>
          </a:prstGeom>
          <a:noFill/>
          <a:ln>
            <a:noFill/>
          </a:ln>
        </p:spPr>
      </p:pic>
      <p:sp>
        <p:nvSpPr>
          <p:cNvPr id="1191" name="Google Shape;1191;p90"/>
          <p:cNvSpPr txBox="1"/>
          <p:nvPr/>
        </p:nvSpPr>
        <p:spPr>
          <a:xfrm>
            <a:off x="628650" y="5015546"/>
            <a:ext cx="3024336" cy="1477328"/>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Couleur non gris</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hyperhémie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Non retracté</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 présent, reliefs présents</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2" name="Google Shape;1192;p90"/>
          <p:cNvSpPr/>
          <p:nvPr/>
        </p:nvSpPr>
        <p:spPr>
          <a:xfrm>
            <a:off x="908418" y="1209025"/>
            <a:ext cx="2376264" cy="504056"/>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800">
                <a:solidFill>
                  <a:schemeClr val="lt1"/>
                </a:solidFill>
                <a:latin typeface="Calibri"/>
                <a:ea typeface="Calibri"/>
                <a:cs typeface="Calibri"/>
                <a:sym typeface="Calibri"/>
              </a:rPr>
              <a:t>OMAigue congestive</a:t>
            </a:r>
            <a:endParaRPr/>
          </a:p>
        </p:txBody>
      </p:sp>
      <p:pic>
        <p:nvPicPr>
          <p:cNvPr descr="Otite moyenne (aiguë) - Affections de l'oreille, du nez et de la ..." id="1193" name="Google Shape;1193;p90"/>
          <p:cNvPicPr preferRelativeResize="0"/>
          <p:nvPr/>
        </p:nvPicPr>
        <p:blipFill rotWithShape="1">
          <a:blip r:embed="rId4">
            <a:alphaModFix/>
          </a:blip>
          <a:srcRect b="0" l="0" r="0" t="0"/>
          <a:stretch/>
        </p:blipFill>
        <p:spPr>
          <a:xfrm>
            <a:off x="3995936" y="2163043"/>
            <a:ext cx="2620028" cy="2607193"/>
          </a:xfrm>
          <a:prstGeom prst="rect">
            <a:avLst/>
          </a:prstGeom>
          <a:noFill/>
          <a:ln>
            <a:noFill/>
          </a:ln>
        </p:spPr>
      </p:pic>
      <p:sp>
        <p:nvSpPr>
          <p:cNvPr id="1194" name="Google Shape;1194;p90"/>
          <p:cNvSpPr txBox="1"/>
          <p:nvPr/>
        </p:nvSpPr>
        <p:spPr>
          <a:xfrm>
            <a:off x="3995936" y="5015546"/>
            <a:ext cx="2620028" cy="1477328"/>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Couleur non gris</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hyperhémie</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Non retracté</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 absent , reliefs absents</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5" name="Google Shape;1195;p90"/>
          <p:cNvSpPr/>
          <p:nvPr/>
        </p:nvSpPr>
        <p:spPr>
          <a:xfrm>
            <a:off x="4117818" y="1209025"/>
            <a:ext cx="2376264" cy="504056"/>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1800">
                <a:solidFill>
                  <a:schemeClr val="lt1"/>
                </a:solidFill>
                <a:latin typeface="Calibri"/>
                <a:ea typeface="Calibri"/>
                <a:cs typeface="Calibri"/>
                <a:sym typeface="Calibri"/>
              </a:rPr>
              <a:t>OMAigue suppurée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9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Mastoidite </a:t>
            </a:r>
            <a:endParaRPr/>
          </a:p>
        </p:txBody>
      </p:sp>
      <p:sp>
        <p:nvSpPr>
          <p:cNvPr id="1202" name="Google Shape;1202;p9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40. La mastoidite au cours d’une OMA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diagnostiquée sur la présence de comblement des cellules mastoidiennes à la TDM</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Doit être évoquée devant une otite avec apparition de tuméfaction cervicale aigue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Le traitement par voie orale peut être tenté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L’imagerie doit comporter obligatoirement une exploration cérébrale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La chirurgie peut être indiquée d’emblée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1203" name="Google Shape;1203;p91"/>
          <p:cNvSpPr/>
          <p:nvPr/>
        </p:nvSpPr>
        <p:spPr>
          <a:xfrm>
            <a:off x="4644008" y="54868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D,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9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Au cours des OMA </a:t>
            </a:r>
            <a:endParaRPr/>
          </a:p>
        </p:txBody>
      </p:sp>
      <p:sp>
        <p:nvSpPr>
          <p:cNvPr id="1210" name="Google Shape;1210;p9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20000"/>
              </a:lnSpc>
              <a:spcBef>
                <a:spcPts val="0"/>
              </a:spcBef>
              <a:spcAft>
                <a:spcPts val="0"/>
              </a:spcAft>
              <a:buClr>
                <a:schemeClr val="dk1"/>
              </a:buClr>
              <a:buSzPct val="100000"/>
              <a:buNone/>
            </a:pPr>
            <a:r>
              <a:rPr lang="fr-FR"/>
              <a:t>41. </a:t>
            </a:r>
            <a:r>
              <a:rPr b="1" lang="fr-FR"/>
              <a:t>Au cours la paralysie faciale associée à une otite moyenne aigue purulente :</a:t>
            </a:r>
            <a:endParaRPr/>
          </a:p>
          <a:p>
            <a:pPr indent="-342900" lvl="0" marL="342900" rtl="0" algn="l">
              <a:lnSpc>
                <a:spcPct val="120000"/>
              </a:lnSpc>
              <a:spcBef>
                <a:spcPts val="2000"/>
              </a:spcBef>
              <a:spcAft>
                <a:spcPts val="0"/>
              </a:spcAft>
              <a:buClr>
                <a:schemeClr val="dk1"/>
              </a:buClr>
              <a:buSzPct val="100000"/>
              <a:buFont typeface="Calibri"/>
              <a:buAutoNum type="alphaUcPeriod"/>
            </a:pPr>
            <a:r>
              <a:rPr lang="fr-FR"/>
              <a:t>L’atteinte est progressive</a:t>
            </a:r>
            <a:endParaRPr/>
          </a:p>
          <a:p>
            <a:pPr indent="-342900" lvl="0" marL="342900" rtl="0" algn="l">
              <a:lnSpc>
                <a:spcPct val="120000"/>
              </a:lnSpc>
              <a:spcBef>
                <a:spcPts val="1000"/>
              </a:spcBef>
              <a:spcAft>
                <a:spcPts val="0"/>
              </a:spcAft>
              <a:buClr>
                <a:schemeClr val="dk1"/>
              </a:buClr>
              <a:buSzPct val="100000"/>
              <a:buFont typeface="Calibri"/>
              <a:buAutoNum type="alphaUcPeriod"/>
            </a:pPr>
            <a:r>
              <a:rPr lang="fr-FR"/>
              <a:t>La corticothérapie est systématiquement associée à l’antibiothérapie </a:t>
            </a:r>
            <a:endParaRPr/>
          </a:p>
          <a:p>
            <a:pPr indent="-342900" lvl="0" marL="342900" rtl="0" algn="l">
              <a:lnSpc>
                <a:spcPct val="120000"/>
              </a:lnSpc>
              <a:spcBef>
                <a:spcPts val="1000"/>
              </a:spcBef>
              <a:spcAft>
                <a:spcPts val="0"/>
              </a:spcAft>
              <a:buClr>
                <a:schemeClr val="dk1"/>
              </a:buClr>
              <a:buSzPct val="100000"/>
              <a:buFont typeface="Calibri"/>
              <a:buAutoNum type="alphaUcPeriod"/>
            </a:pPr>
            <a:r>
              <a:rPr lang="fr-FR"/>
              <a:t>L’AINS n’est systématique que chez l’enfant de moins de deux ans </a:t>
            </a:r>
            <a:endParaRPr/>
          </a:p>
          <a:p>
            <a:pPr indent="-342900" lvl="0" marL="342900" rtl="0" algn="l">
              <a:lnSpc>
                <a:spcPct val="120000"/>
              </a:lnSpc>
              <a:spcBef>
                <a:spcPts val="1000"/>
              </a:spcBef>
              <a:spcAft>
                <a:spcPts val="0"/>
              </a:spcAft>
              <a:buClr>
                <a:schemeClr val="dk1"/>
              </a:buClr>
              <a:buSzPct val="100000"/>
              <a:buFont typeface="Calibri"/>
              <a:buAutoNum type="alphaUcPeriod"/>
            </a:pPr>
            <a:r>
              <a:rPr lang="fr-FR"/>
              <a:t>Le scanner est systématique</a:t>
            </a:r>
            <a:endParaRPr/>
          </a:p>
          <a:p>
            <a:pPr indent="-342900" lvl="0" marL="342900" rtl="0" algn="l">
              <a:lnSpc>
                <a:spcPct val="120000"/>
              </a:lnSpc>
              <a:spcBef>
                <a:spcPts val="1000"/>
              </a:spcBef>
              <a:spcAft>
                <a:spcPts val="0"/>
              </a:spcAft>
              <a:buClr>
                <a:schemeClr val="dk1"/>
              </a:buClr>
              <a:buSzPct val="100000"/>
              <a:buFont typeface="Calibri"/>
              <a:buAutoNum type="alphaUcPeriod"/>
            </a:pPr>
            <a:r>
              <a:rPr lang="fr-FR"/>
              <a:t>Elle est de type périphérique </a:t>
            </a:r>
            <a:endParaRPr/>
          </a:p>
          <a:p>
            <a:pPr indent="-77470" lvl="0" marL="228600" rtl="0" algn="l">
              <a:lnSpc>
                <a:spcPct val="90000"/>
              </a:lnSpc>
              <a:spcBef>
                <a:spcPts val="2000"/>
              </a:spcBef>
              <a:spcAft>
                <a:spcPts val="0"/>
              </a:spcAft>
              <a:buClr>
                <a:schemeClr val="dk1"/>
              </a:buClr>
              <a:buSzPct val="100000"/>
              <a:buNone/>
            </a:pPr>
            <a:r>
              <a:t/>
            </a:r>
            <a:endParaRPr/>
          </a:p>
        </p:txBody>
      </p:sp>
      <p:sp>
        <p:nvSpPr>
          <p:cNvPr id="1211" name="Google Shape;1211;p92"/>
          <p:cNvSpPr/>
          <p:nvPr/>
        </p:nvSpPr>
        <p:spPr>
          <a:xfrm>
            <a:off x="5436096" y="491530"/>
            <a:ext cx="2800160"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D,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9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L’ATB au cours </a:t>
            </a:r>
            <a:br>
              <a:rPr lang="fr-FR"/>
            </a:br>
            <a:r>
              <a:rPr lang="fr-FR"/>
              <a:t>des OMA</a:t>
            </a:r>
            <a:endParaRPr/>
          </a:p>
        </p:txBody>
      </p:sp>
      <p:sp>
        <p:nvSpPr>
          <p:cNvPr id="1218" name="Google Shape;1218;p9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fr-FR"/>
              <a:t>42. </a:t>
            </a:r>
            <a:r>
              <a:rPr b="1" lang="fr-FR"/>
              <a:t>L’ATB au cours des OMA</a:t>
            </a:r>
            <a:endParaRPr/>
          </a:p>
          <a:p>
            <a:pPr indent="-514350" lvl="0" marL="514350" rtl="0" algn="l">
              <a:lnSpc>
                <a:spcPct val="90000"/>
              </a:lnSpc>
              <a:spcBef>
                <a:spcPts val="1000"/>
              </a:spcBef>
              <a:spcAft>
                <a:spcPts val="0"/>
              </a:spcAft>
              <a:buClr>
                <a:schemeClr val="dk1"/>
              </a:buClr>
              <a:buSzPts val="2800"/>
              <a:buAutoNum type="alphaUcPeriod"/>
            </a:pPr>
            <a:r>
              <a:rPr lang="fr-FR"/>
              <a:t>Peut être de 10 jours pour les enfants de plus de 2 ans </a:t>
            </a:r>
            <a:endParaRPr/>
          </a:p>
          <a:p>
            <a:pPr indent="-514350" lvl="0" marL="514350" rtl="0" algn="l">
              <a:lnSpc>
                <a:spcPct val="90000"/>
              </a:lnSpc>
              <a:spcBef>
                <a:spcPts val="1000"/>
              </a:spcBef>
              <a:spcAft>
                <a:spcPts val="0"/>
              </a:spcAft>
              <a:buClr>
                <a:schemeClr val="dk1"/>
              </a:buClr>
              <a:buSzPts val="2800"/>
              <a:buAutoNum type="alphaUcPeriod"/>
            </a:pPr>
            <a:r>
              <a:rPr lang="fr-FR"/>
              <a:t>Est à base d’amoxi clav de première intention</a:t>
            </a:r>
            <a:endParaRPr/>
          </a:p>
          <a:p>
            <a:pPr indent="-514350" lvl="0" marL="514350" rtl="0" algn="l">
              <a:lnSpc>
                <a:spcPct val="90000"/>
              </a:lnSpc>
              <a:spcBef>
                <a:spcPts val="1000"/>
              </a:spcBef>
              <a:spcAft>
                <a:spcPts val="0"/>
              </a:spcAft>
              <a:buClr>
                <a:schemeClr val="dk1"/>
              </a:buClr>
              <a:buSzPts val="2800"/>
              <a:buAutoNum type="alphaUcPeriod"/>
            </a:pPr>
            <a:r>
              <a:rPr lang="fr-FR"/>
              <a:t>Est efficace par cefixime</a:t>
            </a:r>
            <a:endParaRPr/>
          </a:p>
          <a:p>
            <a:pPr indent="-514350" lvl="0" marL="514350" rtl="0" algn="l">
              <a:lnSpc>
                <a:spcPct val="90000"/>
              </a:lnSpc>
              <a:spcBef>
                <a:spcPts val="1000"/>
              </a:spcBef>
              <a:spcAft>
                <a:spcPts val="0"/>
              </a:spcAft>
              <a:buClr>
                <a:schemeClr val="dk1"/>
              </a:buClr>
              <a:buSzPts val="2800"/>
              <a:buAutoNum type="alphaUcPeriod"/>
            </a:pPr>
            <a:r>
              <a:rPr lang="fr-FR"/>
              <a:t>Erythromycine en cas de contre indication aux bétalactamine </a:t>
            </a:r>
            <a:endParaRPr/>
          </a:p>
          <a:p>
            <a:pPr indent="-514350" lvl="0" marL="514350" rtl="0" algn="l">
              <a:lnSpc>
                <a:spcPct val="90000"/>
              </a:lnSpc>
              <a:spcBef>
                <a:spcPts val="1000"/>
              </a:spcBef>
              <a:spcAft>
                <a:spcPts val="0"/>
              </a:spcAft>
              <a:buClr>
                <a:schemeClr val="dk1"/>
              </a:buClr>
              <a:buSzPts val="2800"/>
              <a:buAutoNum type="alphaUcPeriod"/>
            </a:pPr>
            <a:r>
              <a:rPr lang="fr-FR"/>
              <a:t>Ceftriaxone en IM est exceptionnellement indiqué </a:t>
            </a:r>
            <a:endParaRPr/>
          </a:p>
        </p:txBody>
      </p:sp>
      <p:sp>
        <p:nvSpPr>
          <p:cNvPr id="1219" name="Google Shape;1219;p93"/>
          <p:cNvSpPr/>
          <p:nvPr/>
        </p:nvSpPr>
        <p:spPr>
          <a:xfrm>
            <a:off x="4644008" y="54868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9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OMA</a:t>
            </a:r>
            <a:endParaRPr/>
          </a:p>
        </p:txBody>
      </p:sp>
      <p:sp>
        <p:nvSpPr>
          <p:cNvPr id="1226" name="Google Shape;1226;p9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fr-FR"/>
              <a:t>37. La guérison des OMA</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Nécessite dans la majorité des cas une antibiothérapie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spontanément se voit d’autant plus que le sujet est âgé</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Spontanément est moins probable en cas fièvre et douleur intense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Spontanément est peu probable en cas de pneumocoque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la disparition des symptômes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1227" name="Google Shape;1227;p94"/>
          <p:cNvSpPr/>
          <p:nvPr/>
        </p:nvSpPr>
        <p:spPr>
          <a:xfrm>
            <a:off x="4644008" y="54868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B, C, 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9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Critères de guérison des OMA</a:t>
            </a:r>
            <a:endParaRPr/>
          </a:p>
        </p:txBody>
      </p:sp>
      <p:sp>
        <p:nvSpPr>
          <p:cNvPr id="1234" name="Google Shape;1234;p9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disparition des </a:t>
            </a:r>
            <a:r>
              <a:rPr b="1" lang="fr-FR"/>
              <a:t>signes généraux</a:t>
            </a:r>
            <a:r>
              <a:rPr lang="fr-FR"/>
              <a:t>, </a:t>
            </a:r>
            <a:endParaRPr/>
          </a:p>
          <a:p>
            <a:pPr indent="-228600" lvl="0" marL="228600" rtl="0" algn="l">
              <a:lnSpc>
                <a:spcPct val="90000"/>
              </a:lnSpc>
              <a:spcBef>
                <a:spcPts val="1000"/>
              </a:spcBef>
              <a:spcAft>
                <a:spcPts val="0"/>
              </a:spcAft>
              <a:buClr>
                <a:schemeClr val="dk1"/>
              </a:buClr>
              <a:buSzPts val="2800"/>
              <a:buChar char="•"/>
            </a:pPr>
            <a:r>
              <a:rPr lang="fr-FR"/>
              <a:t>disparition de la </a:t>
            </a:r>
            <a:r>
              <a:rPr b="1" lang="fr-FR"/>
              <a:t>douleur</a:t>
            </a:r>
            <a:r>
              <a:rPr lang="fr-FR"/>
              <a:t>, absence d’</a:t>
            </a:r>
            <a:r>
              <a:rPr b="1" lang="fr-FR"/>
              <a:t>otorrhee</a:t>
            </a:r>
            <a:r>
              <a:rPr lang="fr-FR"/>
              <a:t>, </a:t>
            </a:r>
            <a:endParaRPr/>
          </a:p>
          <a:p>
            <a:pPr indent="-228600" lvl="0" marL="228600" rtl="0" algn="l">
              <a:lnSpc>
                <a:spcPct val="90000"/>
              </a:lnSpc>
              <a:spcBef>
                <a:spcPts val="1000"/>
              </a:spcBef>
              <a:spcAft>
                <a:spcPts val="0"/>
              </a:spcAft>
              <a:buClr>
                <a:schemeClr val="dk1"/>
              </a:buClr>
              <a:buSzPts val="2800"/>
              <a:buChar char="•"/>
            </a:pPr>
            <a:r>
              <a:rPr b="1" lang="fr-FR"/>
              <a:t>otoscopie normale: pas de signes inflammatoires </a:t>
            </a:r>
            <a:r>
              <a:rPr lang="fr-FR"/>
              <a:t>(la persistance d’un épanchement retro tympanique peut se prolonger pendant 3 semaines sans que ce soit pathologique) </a:t>
            </a:r>
            <a:endParaRPr/>
          </a:p>
          <a:p>
            <a:pPr indent="-228600" lvl="0" marL="228600" rtl="0" algn="l">
              <a:lnSpc>
                <a:spcPct val="90000"/>
              </a:lnSpc>
              <a:spcBef>
                <a:spcPts val="1000"/>
              </a:spcBef>
              <a:spcAft>
                <a:spcPts val="0"/>
              </a:spcAft>
              <a:buClr>
                <a:schemeClr val="dk1"/>
              </a:buClr>
              <a:buSzPts val="2800"/>
              <a:buChar char="•"/>
            </a:pPr>
            <a:r>
              <a:rPr lang="fr-FR"/>
              <a:t>et </a:t>
            </a:r>
            <a:r>
              <a:rPr b="1" lang="fr-FR"/>
              <a:t>audition normale</a:t>
            </a:r>
            <a:r>
              <a:rPr lang="fr-FR"/>
              <a:t>.</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9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37 </a:t>
            </a:r>
            <a:endParaRPr/>
          </a:p>
        </p:txBody>
      </p:sp>
      <p:sp>
        <p:nvSpPr>
          <p:cNvPr id="1241" name="Google Shape;1241;p9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37- L’antibiothérapie au cours des OM</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de 10 jours si inférieur à 2 ans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de 5 jours formes récidivantes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de 5 jours chez l’adulte </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non utile pour les nourrissons &lt; 3 mois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Est de 10 jours en cas d’échec de l’ATB de 1</a:t>
            </a:r>
            <a:r>
              <a:rPr baseline="30000" lang="fr-FR"/>
              <a:t>ère</a:t>
            </a:r>
            <a:r>
              <a:rPr lang="fr-FR"/>
              <a:t> intention de l’enfant</a:t>
            </a:r>
            <a:endParaRPr/>
          </a:p>
          <a:p>
            <a:pPr indent="0" lvl="0" marL="0" rtl="0" algn="l">
              <a:lnSpc>
                <a:spcPct val="90000"/>
              </a:lnSpc>
              <a:spcBef>
                <a:spcPts val="1000"/>
              </a:spcBef>
              <a:spcAft>
                <a:spcPts val="0"/>
              </a:spcAft>
              <a:buClr>
                <a:schemeClr val="dk1"/>
              </a:buClr>
              <a:buSzPts val="2800"/>
              <a:buNone/>
            </a:pPr>
            <a:r>
              <a:t/>
            </a:r>
            <a:endParaRPr/>
          </a:p>
        </p:txBody>
      </p:sp>
      <p:sp>
        <p:nvSpPr>
          <p:cNvPr id="1242" name="Google Shape;1242;p96"/>
          <p:cNvSpPr/>
          <p:nvPr/>
        </p:nvSpPr>
        <p:spPr>
          <a:xfrm>
            <a:off x="4644008" y="548680"/>
            <a:ext cx="3592248" cy="1008112"/>
          </a:xfrm>
          <a:prstGeom prst="rect">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A, C,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9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Abstention de l’antibiothérapie </a:t>
            </a:r>
            <a:endParaRPr/>
          </a:p>
        </p:txBody>
      </p:sp>
      <p:sp>
        <p:nvSpPr>
          <p:cNvPr id="1249" name="Google Shape;1249;p9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Enfants &gt; ou = 2 ans ET symptômes peu bruyants </a:t>
            </a:r>
            <a:endParaRPr/>
          </a:p>
          <a:p>
            <a:pPr indent="-228600" lvl="0" marL="228600" rtl="0" algn="l">
              <a:lnSpc>
                <a:spcPct val="90000"/>
              </a:lnSpc>
              <a:spcBef>
                <a:spcPts val="1000"/>
              </a:spcBef>
              <a:spcAft>
                <a:spcPts val="0"/>
              </a:spcAft>
              <a:buClr>
                <a:schemeClr val="dk1"/>
              </a:buClr>
              <a:buSzPts val="2800"/>
              <a:buChar char="•"/>
            </a:pPr>
            <a:r>
              <a:rPr lang="fr-FR"/>
              <a:t>Adultes: OMA congestives </a:t>
            </a:r>
            <a:endParaRPr/>
          </a:p>
        </p:txBody>
      </p:sp>
      <p:sp>
        <p:nvSpPr>
          <p:cNvPr id="1250" name="Google Shape;1250;p97"/>
          <p:cNvSpPr txBox="1"/>
          <p:nvPr/>
        </p:nvSpPr>
        <p:spPr>
          <a:xfrm>
            <a:off x="611560" y="3039541"/>
            <a:ext cx="78867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C00000"/>
              </a:buClr>
              <a:buSzPts val="4400"/>
              <a:buFont typeface="Calibri"/>
              <a:buNone/>
            </a:pPr>
            <a:r>
              <a:rPr b="1" lang="fr-FR" sz="4400">
                <a:solidFill>
                  <a:srgbClr val="C00000"/>
                </a:solidFill>
                <a:latin typeface="Calibri"/>
                <a:ea typeface="Calibri"/>
                <a:cs typeface="Calibri"/>
                <a:sym typeface="Calibri"/>
              </a:rPr>
              <a:t>Durée de l’ATB au cours des OMA</a:t>
            </a:r>
            <a:endParaRPr/>
          </a:p>
        </p:txBody>
      </p:sp>
      <p:sp>
        <p:nvSpPr>
          <p:cNvPr id="1251" name="Google Shape;1251;p97"/>
          <p:cNvSpPr txBox="1"/>
          <p:nvPr/>
        </p:nvSpPr>
        <p:spPr>
          <a:xfrm>
            <a:off x="611560" y="4365104"/>
            <a:ext cx="7886700" cy="435133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5 jours: adultes, enfants de plus 2 ans</a:t>
            </a:r>
            <a:endParaRPr/>
          </a:p>
          <a:p>
            <a:pPr indent="-228600" lvl="0" marL="228600" marR="0" rtl="0" algn="l">
              <a:lnSpc>
                <a:spcPct val="9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10 jours : enfants de moins de 2 ans, récidivantes ou perforée</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98"/>
          <p:cNvSpPr txBox="1"/>
          <p:nvPr>
            <p:ph type="title"/>
          </p:nvPr>
        </p:nvSpPr>
        <p:spPr>
          <a:xfrm rot="-5400000">
            <a:off x="-2741017" y="1741017"/>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Traitement des OMA</a:t>
            </a:r>
            <a:endParaRPr/>
          </a:p>
        </p:txBody>
      </p:sp>
      <p:grpSp>
        <p:nvGrpSpPr>
          <p:cNvPr id="1258" name="Google Shape;1258;p98"/>
          <p:cNvGrpSpPr/>
          <p:nvPr/>
        </p:nvGrpSpPr>
        <p:grpSpPr>
          <a:xfrm>
            <a:off x="1460843" y="119544"/>
            <a:ext cx="7446449" cy="6344678"/>
            <a:chOff x="2361451" y="2912"/>
            <a:chExt cx="7446449" cy="6344678"/>
          </a:xfrm>
        </p:grpSpPr>
        <p:sp>
          <p:nvSpPr>
            <p:cNvPr id="1259" name="Google Shape;1259;p98"/>
            <p:cNvSpPr/>
            <p:nvPr/>
          </p:nvSpPr>
          <p:spPr>
            <a:xfrm>
              <a:off x="7623355" y="3650152"/>
              <a:ext cx="284940" cy="2222537"/>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260" name="Google Shape;1260;p98"/>
            <p:cNvSpPr/>
            <p:nvPr/>
          </p:nvSpPr>
          <p:spPr>
            <a:xfrm>
              <a:off x="7623355" y="3650152"/>
              <a:ext cx="284940" cy="873818"/>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261" name="Google Shape;1261;p98"/>
            <p:cNvSpPr/>
            <p:nvPr/>
          </p:nvSpPr>
          <p:spPr>
            <a:xfrm>
              <a:off x="7233936" y="2301433"/>
              <a:ext cx="1149260" cy="398916"/>
            </a:xfrm>
            <a:custGeom>
              <a:rect b="b" l="l" r="r" t="t"/>
              <a:pathLst>
                <a:path extrusionOk="0" h="120000" w="120000">
                  <a:moveTo>
                    <a:pt x="0" y="0"/>
                  </a:moveTo>
                  <a:lnTo>
                    <a:pt x="0" y="60000"/>
                  </a:lnTo>
                  <a:lnTo>
                    <a:pt x="120000" y="60000"/>
                  </a:lnTo>
                  <a:lnTo>
                    <a:pt x="120000" y="120000"/>
                  </a:lnTo>
                </a:path>
              </a:pathLst>
            </a:custGeom>
            <a:noFill/>
            <a:ln cap="flat" cmpd="sng" w="12700">
              <a:solidFill>
                <a:srgbClr val="3A66B1"/>
              </a:solidFill>
              <a:prstDash val="solid"/>
              <a:miter lim="800000"/>
              <a:headEnd len="sm" w="sm" type="none"/>
              <a:tailEnd len="sm" w="sm" type="none"/>
            </a:ln>
          </p:spPr>
        </p:sp>
        <p:sp>
          <p:nvSpPr>
            <p:cNvPr id="1262" name="Google Shape;1262;p98"/>
            <p:cNvSpPr/>
            <p:nvPr/>
          </p:nvSpPr>
          <p:spPr>
            <a:xfrm>
              <a:off x="5324834" y="3650152"/>
              <a:ext cx="284940" cy="873818"/>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263" name="Google Shape;1263;p98"/>
            <p:cNvSpPr/>
            <p:nvPr/>
          </p:nvSpPr>
          <p:spPr>
            <a:xfrm>
              <a:off x="6084676" y="2301433"/>
              <a:ext cx="1149260" cy="398916"/>
            </a:xfrm>
            <a:custGeom>
              <a:rect b="b" l="l" r="r" t="t"/>
              <a:pathLst>
                <a:path extrusionOk="0" h="120000" w="120000">
                  <a:moveTo>
                    <a:pt x="120000" y="0"/>
                  </a:moveTo>
                  <a:lnTo>
                    <a:pt x="120000" y="60000"/>
                  </a:lnTo>
                  <a:lnTo>
                    <a:pt x="0" y="60000"/>
                  </a:lnTo>
                  <a:lnTo>
                    <a:pt x="0" y="120000"/>
                  </a:lnTo>
                </a:path>
              </a:pathLst>
            </a:custGeom>
            <a:noFill/>
            <a:ln cap="flat" cmpd="sng" w="12700">
              <a:solidFill>
                <a:srgbClr val="3A66B1"/>
              </a:solidFill>
              <a:prstDash val="solid"/>
              <a:miter lim="800000"/>
              <a:headEnd len="sm" w="sm" type="none"/>
              <a:tailEnd len="sm" w="sm" type="none"/>
            </a:ln>
          </p:spPr>
        </p:sp>
        <p:sp>
          <p:nvSpPr>
            <p:cNvPr id="1264" name="Google Shape;1264;p98"/>
            <p:cNvSpPr/>
            <p:nvPr/>
          </p:nvSpPr>
          <p:spPr>
            <a:xfrm>
              <a:off x="5272595" y="952714"/>
              <a:ext cx="1961341" cy="398916"/>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265" name="Google Shape;1265;p98"/>
            <p:cNvSpPr/>
            <p:nvPr/>
          </p:nvSpPr>
          <p:spPr>
            <a:xfrm>
              <a:off x="2551411" y="2301433"/>
              <a:ext cx="284940" cy="2222537"/>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266" name="Google Shape;1266;p98"/>
            <p:cNvSpPr/>
            <p:nvPr/>
          </p:nvSpPr>
          <p:spPr>
            <a:xfrm>
              <a:off x="2551411" y="2301433"/>
              <a:ext cx="284940" cy="873818"/>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267" name="Google Shape;1267;p98"/>
            <p:cNvSpPr/>
            <p:nvPr/>
          </p:nvSpPr>
          <p:spPr>
            <a:xfrm>
              <a:off x="3311253" y="952714"/>
              <a:ext cx="1961341" cy="398916"/>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268" name="Google Shape;1268;p98"/>
            <p:cNvSpPr/>
            <p:nvPr/>
          </p:nvSpPr>
          <p:spPr>
            <a:xfrm>
              <a:off x="4322792" y="2912"/>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98"/>
            <p:cNvSpPr txBox="1"/>
            <p:nvPr/>
          </p:nvSpPr>
          <p:spPr>
            <a:xfrm>
              <a:off x="4322792" y="2912"/>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OMA</a:t>
              </a:r>
              <a:endParaRPr/>
            </a:p>
          </p:txBody>
        </p:sp>
        <p:sp>
          <p:nvSpPr>
            <p:cNvPr id="1270" name="Google Shape;1270;p98"/>
            <p:cNvSpPr/>
            <p:nvPr/>
          </p:nvSpPr>
          <p:spPr>
            <a:xfrm>
              <a:off x="2361451" y="1351631"/>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8"/>
            <p:cNvSpPr txBox="1"/>
            <p:nvPr/>
          </p:nvSpPr>
          <p:spPr>
            <a:xfrm>
              <a:off x="2361451" y="1351631"/>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congestive</a:t>
              </a:r>
              <a:endParaRPr/>
            </a:p>
          </p:txBody>
        </p:sp>
        <p:sp>
          <p:nvSpPr>
            <p:cNvPr id="1272" name="Google Shape;1272;p98"/>
            <p:cNvSpPr/>
            <p:nvPr/>
          </p:nvSpPr>
          <p:spPr>
            <a:xfrm>
              <a:off x="2836352" y="2700350"/>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98"/>
            <p:cNvSpPr txBox="1"/>
            <p:nvPr/>
          </p:nvSpPr>
          <p:spPr>
            <a:xfrm>
              <a:off x="2836352" y="2700350"/>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Ttt antalgique + rhinopharyngite </a:t>
              </a:r>
              <a:endParaRPr/>
            </a:p>
          </p:txBody>
        </p:sp>
        <p:sp>
          <p:nvSpPr>
            <p:cNvPr id="1274" name="Google Shape;1274;p98"/>
            <p:cNvSpPr/>
            <p:nvPr/>
          </p:nvSpPr>
          <p:spPr>
            <a:xfrm>
              <a:off x="2836352" y="4049069"/>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98"/>
            <p:cNvSpPr txBox="1"/>
            <p:nvPr/>
          </p:nvSpPr>
          <p:spPr>
            <a:xfrm>
              <a:off x="2836352" y="4049069"/>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ATB si persistance sp après 48-72 h</a:t>
              </a:r>
              <a:endParaRPr/>
            </a:p>
          </p:txBody>
        </p:sp>
        <p:sp>
          <p:nvSpPr>
            <p:cNvPr id="1276" name="Google Shape;1276;p98"/>
            <p:cNvSpPr/>
            <p:nvPr/>
          </p:nvSpPr>
          <p:spPr>
            <a:xfrm>
              <a:off x="6284134" y="1351631"/>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98"/>
            <p:cNvSpPr txBox="1"/>
            <p:nvPr/>
          </p:nvSpPr>
          <p:spPr>
            <a:xfrm>
              <a:off x="6284134" y="1351631"/>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purulente  </a:t>
              </a:r>
              <a:endParaRPr/>
            </a:p>
          </p:txBody>
        </p:sp>
        <p:sp>
          <p:nvSpPr>
            <p:cNvPr id="1278" name="Google Shape;1278;p98"/>
            <p:cNvSpPr/>
            <p:nvPr/>
          </p:nvSpPr>
          <p:spPr>
            <a:xfrm>
              <a:off x="5134873" y="2700350"/>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98"/>
            <p:cNvSpPr txBox="1"/>
            <p:nvPr/>
          </p:nvSpPr>
          <p:spPr>
            <a:xfrm>
              <a:off x="5134873" y="2700350"/>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&lt;2 ans </a:t>
              </a:r>
              <a:endParaRPr/>
            </a:p>
          </p:txBody>
        </p:sp>
        <p:sp>
          <p:nvSpPr>
            <p:cNvPr id="1280" name="Google Shape;1280;p98"/>
            <p:cNvSpPr/>
            <p:nvPr/>
          </p:nvSpPr>
          <p:spPr>
            <a:xfrm>
              <a:off x="5609774" y="4049069"/>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98"/>
            <p:cNvSpPr txBox="1"/>
            <p:nvPr/>
          </p:nvSpPr>
          <p:spPr>
            <a:xfrm>
              <a:off x="5609774" y="4049069"/>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ATB systématique et d’emblée 10j  </a:t>
              </a:r>
              <a:endParaRPr/>
            </a:p>
          </p:txBody>
        </p:sp>
        <p:sp>
          <p:nvSpPr>
            <p:cNvPr id="1282" name="Google Shape;1282;p98"/>
            <p:cNvSpPr/>
            <p:nvPr/>
          </p:nvSpPr>
          <p:spPr>
            <a:xfrm>
              <a:off x="7433395" y="2700350"/>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98"/>
            <p:cNvSpPr txBox="1"/>
            <p:nvPr/>
          </p:nvSpPr>
          <p:spPr>
            <a:xfrm>
              <a:off x="7433395" y="2700350"/>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&gt;2 ans </a:t>
              </a:r>
              <a:endParaRPr/>
            </a:p>
          </p:txBody>
        </p:sp>
        <p:sp>
          <p:nvSpPr>
            <p:cNvPr id="1284" name="Google Shape;1284;p98"/>
            <p:cNvSpPr/>
            <p:nvPr/>
          </p:nvSpPr>
          <p:spPr>
            <a:xfrm>
              <a:off x="7908296" y="4049069"/>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98"/>
            <p:cNvSpPr txBox="1"/>
            <p:nvPr/>
          </p:nvSpPr>
          <p:spPr>
            <a:xfrm>
              <a:off x="7908296" y="4049069"/>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Peu symptomatique </a:t>
              </a:r>
              <a:endParaRPr/>
            </a:p>
            <a:p>
              <a:pPr indent="0" lvl="0" marL="0" marR="0" rtl="0" algn="ctr">
                <a:lnSpc>
                  <a:spcPct val="90000"/>
                </a:lnSpc>
                <a:spcBef>
                  <a:spcPts val="56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ABSTENTION </a:t>
              </a:r>
              <a:endParaRPr/>
            </a:p>
          </p:txBody>
        </p:sp>
        <p:sp>
          <p:nvSpPr>
            <p:cNvPr id="1286" name="Google Shape;1286;p98"/>
            <p:cNvSpPr/>
            <p:nvPr/>
          </p:nvSpPr>
          <p:spPr>
            <a:xfrm>
              <a:off x="7908296" y="5397788"/>
              <a:ext cx="1899604" cy="949802"/>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98"/>
            <p:cNvSpPr txBox="1"/>
            <p:nvPr/>
          </p:nvSpPr>
          <p:spPr>
            <a:xfrm>
              <a:off x="7908296" y="5397788"/>
              <a:ext cx="1899604" cy="949802"/>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Symptomatologie bruyante </a:t>
              </a:r>
              <a:endParaRPr/>
            </a:p>
            <a:p>
              <a:pPr indent="0" lvl="0" marL="0" marR="0" rtl="0" algn="ctr">
                <a:lnSpc>
                  <a:spcPct val="90000"/>
                </a:lnSpc>
                <a:spcBef>
                  <a:spcPts val="560"/>
                </a:spcBef>
                <a:spcAft>
                  <a:spcPts val="0"/>
                </a:spcAft>
                <a:buClr>
                  <a:schemeClr val="lt1"/>
                </a:buClr>
                <a:buSzPts val="1600"/>
                <a:buFont typeface="Calibri"/>
                <a:buNone/>
              </a:pPr>
              <a:r>
                <a:rPr lang="fr-FR" sz="1600">
                  <a:solidFill>
                    <a:schemeClr val="lt1"/>
                  </a:solidFill>
                  <a:latin typeface="Calibri"/>
                  <a:ea typeface="Calibri"/>
                  <a:cs typeface="Calibri"/>
                  <a:sym typeface="Calibri"/>
                </a:rPr>
                <a:t>ATB 5j</a:t>
              </a:r>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graphicFrame>
        <p:nvGraphicFramePr>
          <p:cNvPr id="1293" name="Google Shape;1293;p99"/>
          <p:cNvGraphicFramePr/>
          <p:nvPr/>
        </p:nvGraphicFramePr>
        <p:xfrm>
          <a:off x="24608" y="0"/>
          <a:ext cx="3000000" cy="3000000"/>
        </p:xfrm>
        <a:graphic>
          <a:graphicData uri="http://schemas.openxmlformats.org/drawingml/2006/table">
            <a:tbl>
              <a:tblPr bandRow="1" firstRow="1">
                <a:noFill/>
                <a:tableStyleId>{5429A695-04D7-4066-8B29-3934B9ECBAD7}</a:tableStyleId>
              </a:tblPr>
              <a:tblGrid>
                <a:gridCol w="1302675"/>
                <a:gridCol w="2185550"/>
                <a:gridCol w="1395775"/>
                <a:gridCol w="2258375"/>
                <a:gridCol w="2441225"/>
              </a:tblGrid>
              <a:tr h="474675">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fr-FR" sz="1800"/>
                        <a:t>Adulte </a:t>
                      </a:r>
                      <a:endParaRPr/>
                    </a:p>
                  </a:txBody>
                  <a:tcPr marT="45725" marB="45725" marR="91450" marL="91450"/>
                </a:tc>
                <a:tc hMerge="1"/>
                <a:tc gridSpan="2">
                  <a:txBody>
                    <a:bodyPr/>
                    <a:lstStyle/>
                    <a:p>
                      <a:pPr indent="0" lvl="0" marL="0" marR="0" rtl="0" algn="ctr">
                        <a:spcBef>
                          <a:spcPts val="0"/>
                        </a:spcBef>
                        <a:spcAft>
                          <a:spcPts val="0"/>
                        </a:spcAft>
                        <a:buNone/>
                      </a:pPr>
                      <a:r>
                        <a:rPr lang="fr-FR" sz="1800"/>
                        <a:t>Enfant </a:t>
                      </a:r>
                      <a:endParaRPr/>
                    </a:p>
                  </a:txBody>
                  <a:tcPr marT="45725" marB="45725" marR="91450" marL="91450"/>
                </a:tc>
                <a:tc hMerge="1"/>
              </a:tr>
              <a:tr h="47467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 </a:t>
                      </a:r>
                      <a:endParaRPr/>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a:t>
                      </a:r>
                      <a:endParaRPr/>
                    </a:p>
                  </a:txBody>
                  <a:tcPr marT="45725" marB="45725" marR="91450" marL="91450"/>
                </a:tc>
              </a:tr>
              <a:tr h="922850">
                <a:tc>
                  <a:txBody>
                    <a:bodyPr/>
                    <a:lstStyle/>
                    <a:p>
                      <a:pPr indent="0" lvl="0" marL="0" marR="0" rtl="0" algn="l">
                        <a:lnSpc>
                          <a:spcPct val="100000"/>
                        </a:lnSpc>
                        <a:spcBef>
                          <a:spcPts val="0"/>
                        </a:spcBef>
                        <a:spcAft>
                          <a:spcPts val="0"/>
                        </a:spcAft>
                        <a:buClr>
                          <a:schemeClr val="dk1"/>
                        </a:buClr>
                        <a:buSzPts val="1800"/>
                        <a:buFont typeface="Calibri"/>
                        <a:buNone/>
                      </a:pPr>
                      <a:r>
                        <a:rPr lang="fr-FR" sz="1800"/>
                        <a:t>1</a:t>
                      </a:r>
                      <a:r>
                        <a:rPr baseline="30000" lang="fr-FR" sz="1800"/>
                        <a:t>ère</a:t>
                      </a:r>
                      <a:r>
                        <a:rPr lang="fr-FR" sz="1800"/>
                        <a:t> intention</a:t>
                      </a:r>
                      <a:endParaRPr/>
                    </a:p>
                  </a:txBody>
                  <a:tcPr marT="45725" marB="45725" marR="91450" marL="91450"/>
                </a:tc>
                <a:tc>
                  <a:txBody>
                    <a:bodyPr/>
                    <a:lstStyle/>
                    <a:p>
                      <a:pPr indent="0" lvl="0" marL="0" marR="0" rtl="0" algn="l">
                        <a:spcBef>
                          <a:spcPts val="0"/>
                        </a:spcBef>
                        <a:spcAft>
                          <a:spcPts val="0"/>
                        </a:spcAft>
                        <a:buNone/>
                      </a:pPr>
                      <a:r>
                        <a:rPr lang="fr-FR" sz="1800"/>
                        <a:t>Amoxicilline</a:t>
                      </a:r>
                      <a:endParaRPr/>
                    </a:p>
                    <a:p>
                      <a:pPr indent="0" lvl="0" marL="0" marR="0" rtl="0" algn="l">
                        <a:spcBef>
                          <a:spcPts val="0"/>
                        </a:spcBef>
                        <a:spcAft>
                          <a:spcPts val="0"/>
                        </a:spcAft>
                        <a:buNone/>
                      </a:pPr>
                      <a:r>
                        <a:rPr b="0" i="0" lang="fr-FR" sz="1800" u="none" strike="noStrike">
                          <a:solidFill>
                            <a:schemeClr val="dk1"/>
                          </a:solidFill>
                          <a:latin typeface="Calibri"/>
                          <a:ea typeface="Calibri"/>
                          <a:cs typeface="Calibri"/>
                          <a:sym typeface="Calibri"/>
                        </a:rPr>
                        <a:t>3g/j</a:t>
                      </a:r>
                      <a:endParaRPr sz="1800"/>
                    </a:p>
                  </a:txBody>
                  <a:tcPr marT="45725" marB="45725" marR="91450" marL="91450"/>
                </a:tc>
                <a:tc>
                  <a:txBody>
                    <a:bodyPr/>
                    <a:lstStyle/>
                    <a:p>
                      <a:pPr indent="0" lvl="0" marL="0" marR="0" rtl="0" algn="l">
                        <a:spcBef>
                          <a:spcPts val="0"/>
                        </a:spcBef>
                        <a:spcAft>
                          <a:spcPts val="0"/>
                        </a:spcAft>
                        <a:buNone/>
                      </a:pPr>
                      <a:r>
                        <a:rPr lang="fr-FR" sz="1800"/>
                        <a:t>5j</a:t>
                      </a:r>
                      <a:endParaRPr/>
                    </a:p>
                  </a:txBody>
                  <a:tcPr marT="45725" marB="45725" marR="91450" marL="91450"/>
                </a:tc>
                <a:tc>
                  <a:txBody>
                    <a:bodyPr/>
                    <a:lstStyle/>
                    <a:p>
                      <a:pPr indent="0" lvl="0" marL="0" marR="0" rtl="0" algn="l">
                        <a:spcBef>
                          <a:spcPts val="0"/>
                        </a:spcBef>
                        <a:spcAft>
                          <a:spcPts val="0"/>
                        </a:spcAft>
                        <a:buNone/>
                      </a:pPr>
                      <a:r>
                        <a:rPr lang="fr-FR" sz="1800"/>
                        <a:t>Amoxicilline</a:t>
                      </a:r>
                      <a:endParaRPr/>
                    </a:p>
                    <a:p>
                      <a:pPr indent="0" lvl="0" marL="0" marR="0" rtl="0" algn="l">
                        <a:spcBef>
                          <a:spcPts val="0"/>
                        </a:spcBef>
                        <a:spcAft>
                          <a:spcPts val="0"/>
                        </a:spcAft>
                        <a:buNone/>
                      </a:pPr>
                      <a:r>
                        <a:rPr b="0" i="0" lang="fr-FR" sz="1800" u="none" strike="noStrike">
                          <a:solidFill>
                            <a:schemeClr val="dk1"/>
                          </a:solidFill>
                          <a:latin typeface="Calibri"/>
                          <a:ea typeface="Calibri"/>
                          <a:cs typeface="Calibri"/>
                          <a:sym typeface="Calibri"/>
                        </a:rPr>
                        <a:t>80mg/kg/j max 3g/j; 2 prises</a:t>
                      </a:r>
                      <a:endParaRPr sz="1800"/>
                    </a:p>
                  </a:txBody>
                  <a:tcPr marT="45725" marB="45725" marR="91450" marL="91450"/>
                </a:tc>
                <a:tc>
                  <a:txBody>
                    <a:bodyPr/>
                    <a:lstStyle/>
                    <a:p>
                      <a:pPr indent="0" lvl="0" marL="0" marR="0" rtl="0" algn="l">
                        <a:spcBef>
                          <a:spcPts val="0"/>
                        </a:spcBef>
                        <a:spcAft>
                          <a:spcPts val="0"/>
                        </a:spcAft>
                        <a:buNone/>
                      </a:pPr>
                      <a:r>
                        <a:rPr lang="fr-FR" sz="1800"/>
                        <a:t>10j &lt;2 ans</a:t>
                      </a:r>
                      <a:endParaRPr/>
                    </a:p>
                    <a:p>
                      <a:pPr indent="0" lvl="0" marL="0" marR="0" rtl="0" algn="l">
                        <a:spcBef>
                          <a:spcPts val="0"/>
                        </a:spcBef>
                        <a:spcAft>
                          <a:spcPts val="0"/>
                        </a:spcAft>
                        <a:buNone/>
                      </a:pPr>
                      <a:r>
                        <a:rPr lang="fr-FR" sz="1800"/>
                        <a:t>5j&gt;2 ans</a:t>
                      </a:r>
                      <a:endParaRPr/>
                    </a:p>
                  </a:txBody>
                  <a:tcPr marT="45725" marB="45725" marR="91450" marL="91450"/>
                </a:tc>
              </a:tr>
              <a:tr h="922850">
                <a:tc>
                  <a:txBody>
                    <a:bodyPr/>
                    <a:lstStyle/>
                    <a:p>
                      <a:pPr indent="0" lvl="0" marL="0" marR="0" rtl="0" algn="l">
                        <a:lnSpc>
                          <a:spcPct val="100000"/>
                        </a:lnSpc>
                        <a:spcBef>
                          <a:spcPts val="0"/>
                        </a:spcBef>
                        <a:spcAft>
                          <a:spcPts val="0"/>
                        </a:spcAft>
                        <a:buClr>
                          <a:schemeClr val="dk1"/>
                        </a:buClr>
                        <a:buSzPts val="1800"/>
                        <a:buFont typeface="Calibri"/>
                        <a:buNone/>
                      </a:pPr>
                      <a:r>
                        <a:rPr lang="fr-FR" sz="1800"/>
                        <a:t>Otite +conj</a:t>
                      </a:r>
                      <a:endParaRPr sz="1800"/>
                    </a:p>
                    <a:p>
                      <a:pPr indent="0" lvl="0" marL="0" marR="0" rtl="0" algn="l">
                        <a:lnSpc>
                          <a:spcPct val="100000"/>
                        </a:lnSpc>
                        <a:spcBef>
                          <a:spcPts val="0"/>
                        </a:spcBef>
                        <a:spcAft>
                          <a:spcPts val="0"/>
                        </a:spcAft>
                        <a:buClr>
                          <a:schemeClr val="dk1"/>
                        </a:buClr>
                        <a:buSzPts val="1800"/>
                        <a:buFont typeface="Calibri"/>
                        <a:buNone/>
                      </a:pPr>
                      <a:r>
                        <a:rPr lang="fr-FR" sz="1800"/>
                        <a:t>1</a:t>
                      </a:r>
                      <a:r>
                        <a:rPr baseline="30000" lang="fr-FR" sz="1800"/>
                        <a:t>ère</a:t>
                      </a:r>
                      <a:r>
                        <a:rPr lang="fr-FR" sz="1800"/>
                        <a:t> intention</a:t>
                      </a:r>
                      <a:endParaRPr/>
                    </a:p>
                  </a:txBody>
                  <a:tcPr marT="45725" marB="45725" marR="91450" marL="91450"/>
                </a:tc>
                <a:tc>
                  <a:txBody>
                    <a:bodyPr/>
                    <a:lstStyle/>
                    <a:p>
                      <a:pPr indent="0" lvl="0" marL="0" marR="0" rtl="0" algn="l">
                        <a:spcBef>
                          <a:spcPts val="0"/>
                        </a:spcBef>
                        <a:spcAft>
                          <a:spcPts val="0"/>
                        </a:spcAft>
                        <a:buNone/>
                      </a:pPr>
                      <a:r>
                        <a:rPr lang="fr-FR" sz="1800"/>
                        <a:t>Amoxiclav 3g/j</a:t>
                      </a:r>
                      <a:endParaRPr/>
                    </a:p>
                  </a:txBody>
                  <a:tcPr marT="45725" marB="45725" marR="91450" marL="91450"/>
                </a:tc>
                <a:tc>
                  <a:txBody>
                    <a:bodyPr/>
                    <a:lstStyle/>
                    <a:p>
                      <a:pPr indent="0" lvl="0" marL="0" marR="0" rtl="0" algn="l">
                        <a:spcBef>
                          <a:spcPts val="0"/>
                        </a:spcBef>
                        <a:spcAft>
                          <a:spcPts val="0"/>
                        </a:spcAft>
                        <a:buNone/>
                      </a:pPr>
                      <a:r>
                        <a:rPr lang="fr-FR" sz="1800"/>
                        <a:t>5j</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fr-FR" sz="1800"/>
                        <a:t>Amoxiclav</a:t>
                      </a:r>
                      <a:endParaRPr sz="1800"/>
                    </a:p>
                    <a:p>
                      <a:pPr indent="0" lvl="0" marL="0" marR="0" rtl="0" algn="l">
                        <a:spcBef>
                          <a:spcPts val="0"/>
                        </a:spcBef>
                        <a:spcAft>
                          <a:spcPts val="0"/>
                        </a:spcAft>
                        <a:buNone/>
                      </a:pPr>
                      <a:r>
                        <a:rPr lang="fr-FR" sz="1800"/>
                        <a:t>80mg/kg/j</a:t>
                      </a:r>
                      <a:endParaRPr/>
                    </a:p>
                  </a:txBody>
                  <a:tcPr marT="45725" marB="45725" marR="91450" marL="91450"/>
                </a:tc>
                <a:tc>
                  <a:txBody>
                    <a:bodyPr/>
                    <a:lstStyle/>
                    <a:p>
                      <a:pPr indent="0" lvl="0" marL="0" marR="0" rtl="0" algn="l">
                        <a:spcBef>
                          <a:spcPts val="0"/>
                        </a:spcBef>
                        <a:spcAft>
                          <a:spcPts val="0"/>
                        </a:spcAft>
                        <a:buNone/>
                      </a:pPr>
                      <a:r>
                        <a:rPr lang="fr-FR" sz="1800"/>
                        <a:t>10j &lt;2 ans</a:t>
                      </a:r>
                      <a:endParaRPr/>
                    </a:p>
                  </a:txBody>
                  <a:tcPr marT="45725" marB="45725" marR="91450" marL="91450"/>
                </a:tc>
              </a:tr>
              <a:tr h="474675">
                <a:tc>
                  <a:txBody>
                    <a:bodyPr/>
                    <a:lstStyle/>
                    <a:p>
                      <a:pPr indent="0" lvl="0" marL="0" marR="0" rtl="0" algn="l">
                        <a:spcBef>
                          <a:spcPts val="0"/>
                        </a:spcBef>
                        <a:spcAft>
                          <a:spcPts val="0"/>
                        </a:spcAft>
                        <a:buNone/>
                      </a:pPr>
                      <a:r>
                        <a:rPr lang="fr-FR" sz="1800"/>
                        <a:t>Allergie péni</a:t>
                      </a:r>
                      <a:endParaRPr sz="1800"/>
                    </a:p>
                  </a:txBody>
                  <a:tcPr marT="45725" marB="45725" marR="91450" marL="91450"/>
                </a:tc>
                <a:tc>
                  <a:txBody>
                    <a:bodyPr/>
                    <a:lstStyle/>
                    <a:p>
                      <a:pPr indent="0" lvl="0" marL="0" marR="0" rtl="0" algn="l">
                        <a:spcBef>
                          <a:spcPts val="0"/>
                        </a:spcBef>
                        <a:spcAft>
                          <a:spcPts val="0"/>
                        </a:spcAft>
                        <a:buNone/>
                      </a:pPr>
                      <a:r>
                        <a:rPr b="0" i="0" lang="fr-FR" sz="1800" u="none" strike="noStrike">
                          <a:solidFill>
                            <a:schemeClr val="dk1"/>
                          </a:solidFill>
                          <a:latin typeface="Calibri"/>
                          <a:ea typeface="Calibri"/>
                          <a:cs typeface="Calibri"/>
                          <a:sym typeface="Calibri"/>
                        </a:rPr>
                        <a:t>cefpodoxime (400mg/j) ou cefuroxime-axetil (500 mg/j)</a:t>
                      </a:r>
                      <a:endParaRPr sz="1800"/>
                    </a:p>
                  </a:txBody>
                  <a:tcPr marT="45725" marB="45725" marR="91450" marL="91450"/>
                </a:tc>
                <a:tc>
                  <a:txBody>
                    <a:bodyPr/>
                    <a:lstStyle/>
                    <a:p>
                      <a:pPr indent="0" lvl="0" marL="0" marR="0" rtl="0" algn="l">
                        <a:spcBef>
                          <a:spcPts val="0"/>
                        </a:spcBef>
                        <a:spcAft>
                          <a:spcPts val="0"/>
                        </a:spcAft>
                        <a:buNone/>
                      </a:pPr>
                      <a:r>
                        <a:rPr lang="fr-FR" sz="1800"/>
                        <a:t>5j</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5j</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fr-FR" sz="1800"/>
                        <a:t>Cefpodoxime 8mg/kg/j en 2 prises</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5j &gt;2ans</a:t>
                      </a:r>
                      <a:endParaRPr/>
                    </a:p>
                  </a:txBody>
                  <a:tcPr marT="45725" marB="45725" marR="91450" marL="91450"/>
                </a:tc>
              </a:tr>
              <a:tr h="819300">
                <a:tc>
                  <a:txBody>
                    <a:bodyPr/>
                    <a:lstStyle/>
                    <a:p>
                      <a:pPr indent="0" lvl="0" marL="0" marR="0" rtl="0" algn="l">
                        <a:spcBef>
                          <a:spcPts val="0"/>
                        </a:spcBef>
                        <a:spcAft>
                          <a:spcPts val="0"/>
                        </a:spcAft>
                        <a:buNone/>
                      </a:pPr>
                      <a:r>
                        <a:rPr lang="fr-FR" sz="1800"/>
                        <a:t>Allergie Blact</a:t>
                      </a:r>
                      <a:endParaRPr sz="1800"/>
                    </a:p>
                  </a:txBody>
                  <a:tcPr marT="45725" marB="45725" marR="91450" marL="91450"/>
                </a:tc>
                <a:tc>
                  <a:txBody>
                    <a:bodyPr/>
                    <a:lstStyle/>
                    <a:p>
                      <a:pPr indent="0" lvl="0" marL="0" marR="0" rtl="0" algn="l">
                        <a:spcBef>
                          <a:spcPts val="0"/>
                        </a:spcBef>
                        <a:spcAft>
                          <a:spcPts val="0"/>
                        </a:spcAft>
                        <a:buNone/>
                      </a:pPr>
                      <a:r>
                        <a:rPr b="0" i="0" lang="fr-FR" sz="1800" u="none" strike="noStrike">
                          <a:solidFill>
                            <a:schemeClr val="dk1"/>
                          </a:solidFill>
                          <a:latin typeface="Calibri"/>
                          <a:ea typeface="Calibri"/>
                          <a:cs typeface="Calibri"/>
                          <a:sym typeface="Calibri"/>
                        </a:rPr>
                        <a:t>Pristinamycine 2 g/j ou cotrimoxazole (800/j de sulfamethoxazole160 mg de trimethorpime  ou levofloxacine (500 mg/j </a:t>
                      </a:r>
                      <a:endParaRPr sz="1800"/>
                    </a:p>
                  </a:txBody>
                  <a:tcPr marT="45725" marB="45725" marR="91450" marL="91450"/>
                </a:tc>
                <a:tc>
                  <a:txBody>
                    <a:bodyPr/>
                    <a:lstStyle/>
                    <a:p>
                      <a:pPr indent="0" lvl="0" marL="0" marR="0" rtl="0" algn="l">
                        <a:spcBef>
                          <a:spcPts val="0"/>
                        </a:spcBef>
                        <a:spcAft>
                          <a:spcPts val="0"/>
                        </a:spcAft>
                        <a:buNone/>
                      </a:pPr>
                      <a:r>
                        <a:rPr lang="fr-FR" sz="1800"/>
                        <a:t>5j</a:t>
                      </a:r>
                      <a:endParaRPr/>
                    </a:p>
                    <a:p>
                      <a:pPr indent="0" lvl="0" marL="0" marR="0" rtl="0" algn="l">
                        <a:spcBef>
                          <a:spcPts val="0"/>
                        </a:spcBef>
                        <a:spcAft>
                          <a:spcPts val="0"/>
                        </a:spcAft>
                        <a:buNone/>
                      </a:pPr>
                      <a:r>
                        <a:rPr lang="fr-FR" sz="1800"/>
                        <a:t>5j</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5j</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fr-FR" sz="1800" u="none" strike="noStrike">
                          <a:solidFill>
                            <a:schemeClr val="dk1"/>
                          </a:solidFill>
                          <a:latin typeface="Calibri"/>
                          <a:ea typeface="Calibri"/>
                          <a:cs typeface="Calibri"/>
                          <a:sym typeface="Calibri"/>
                        </a:rPr>
                        <a:t>Erythromycine-sulfafurazole ou cotrimoxazole (trimethroprime-sulfamethoxazole),</a:t>
                      </a:r>
                      <a:endParaRPr sz="1800"/>
                    </a:p>
                  </a:txBody>
                  <a:tcPr marT="45725" marB="45725" marR="91450" marL="91450"/>
                </a:tc>
                <a:tc>
                  <a:txBody>
                    <a:bodyPr/>
                    <a:lstStyle/>
                    <a:p>
                      <a:pPr indent="0" lvl="0" marL="0" marR="0" rtl="0" algn="l">
                        <a:spcBef>
                          <a:spcPts val="0"/>
                        </a:spcBef>
                        <a:spcAft>
                          <a:spcPts val="0"/>
                        </a:spcAft>
                        <a:buNone/>
                      </a:pPr>
                      <a:r>
                        <a:rPr lang="fr-FR" sz="1800"/>
                        <a:t>10j</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10j &lt; 2 ans</a:t>
                      </a:r>
                      <a:endParaRPr/>
                    </a:p>
                    <a:p>
                      <a:pPr indent="0" lvl="0" marL="0" marR="0" rtl="0" algn="l">
                        <a:spcBef>
                          <a:spcPts val="0"/>
                        </a:spcBef>
                        <a:spcAft>
                          <a:spcPts val="0"/>
                        </a:spcAft>
                        <a:buNone/>
                      </a:pPr>
                      <a:r>
                        <a:rPr lang="fr-FR" sz="1800"/>
                        <a:t>5j &gt;2ans</a:t>
                      </a:r>
                      <a:endParaRPr/>
                    </a:p>
                  </a:txBody>
                  <a:tcPr marT="45725" marB="45725" marR="91450" marL="91450"/>
                </a:tc>
              </a:tr>
              <a:tr h="474675">
                <a:tc>
                  <a:txBody>
                    <a:bodyPr/>
                    <a:lstStyle/>
                    <a:p>
                      <a:pPr indent="0" lvl="0" marL="0" marR="0" rtl="0" algn="l">
                        <a:spcBef>
                          <a:spcPts val="0"/>
                        </a:spcBef>
                        <a:spcAft>
                          <a:spcPts val="0"/>
                        </a:spcAft>
                        <a:buNone/>
                      </a:pPr>
                      <a:r>
                        <a:rPr lang="fr-FR" sz="1800"/>
                        <a:t>Échec au cours du ttt</a:t>
                      </a:r>
                      <a:endParaRPr sz="1800"/>
                    </a:p>
                  </a:txBody>
                  <a:tcPr marT="45725" marB="45725" marR="91450" marL="91450"/>
                </a:tc>
                <a:tc>
                  <a:txBody>
                    <a:bodyPr/>
                    <a:lstStyle/>
                    <a:p>
                      <a:pPr indent="0" lvl="0" marL="0" marR="0" rtl="0" algn="l">
                        <a:spcBef>
                          <a:spcPts val="0"/>
                        </a:spcBef>
                        <a:spcAft>
                          <a:spcPts val="0"/>
                        </a:spcAft>
                        <a:buNone/>
                      </a:pPr>
                      <a:r>
                        <a:rPr b="0" i="0" lang="fr-FR" sz="1800" u="none" strike="noStrike">
                          <a:solidFill>
                            <a:schemeClr val="dk1"/>
                          </a:solidFill>
                          <a:latin typeface="Calibri"/>
                          <a:ea typeface="Calibri"/>
                          <a:cs typeface="Calibri"/>
                          <a:sym typeface="Calibri"/>
                        </a:rPr>
                        <a:t>Amoxicilline-acide clavulanique 3g</a:t>
                      </a:r>
                      <a:endParaRPr sz="1800"/>
                    </a:p>
                  </a:txBody>
                  <a:tcPr marT="45725" marB="45725" marR="91450" marL="91450"/>
                </a:tc>
                <a:tc>
                  <a:txBody>
                    <a:bodyPr/>
                    <a:lstStyle/>
                    <a:p>
                      <a:pPr indent="0" lvl="0" marL="0" marR="0" rtl="0" algn="l">
                        <a:spcBef>
                          <a:spcPts val="0"/>
                        </a:spcBef>
                        <a:spcAft>
                          <a:spcPts val="0"/>
                        </a:spcAft>
                        <a:buNone/>
                      </a:pPr>
                      <a:r>
                        <a:rPr lang="fr-FR" sz="1800"/>
                        <a:t>5j</a:t>
                      </a:r>
                      <a:endParaRPr/>
                    </a:p>
                  </a:txBody>
                  <a:tcPr marT="45725" marB="45725" marR="91450" marL="91450"/>
                </a:tc>
                <a:tc>
                  <a:txBody>
                    <a:bodyPr/>
                    <a:lstStyle/>
                    <a:p>
                      <a:pPr indent="0" lvl="0" marL="0" marR="0" rtl="0" algn="l">
                        <a:spcBef>
                          <a:spcPts val="0"/>
                        </a:spcBef>
                        <a:spcAft>
                          <a:spcPts val="0"/>
                        </a:spcAft>
                        <a:buNone/>
                      </a:pPr>
                      <a:r>
                        <a:rPr lang="fr-FR" sz="1800"/>
                        <a:t>Amoxi clav 80mg/kg/j</a:t>
                      </a:r>
                      <a:endParaRPr/>
                    </a:p>
                    <a:p>
                      <a:pPr indent="0" lvl="0" marL="0" marR="0" rtl="0" algn="l">
                        <a:spcBef>
                          <a:spcPts val="0"/>
                        </a:spcBef>
                        <a:spcAft>
                          <a:spcPts val="0"/>
                        </a:spcAft>
                        <a:buNone/>
                      </a:pPr>
                      <a:r>
                        <a:rPr lang="fr-FR" sz="1800"/>
                        <a:t>Ou cefpo proxétil 8mg/kg/j</a:t>
                      </a:r>
                      <a:endParaRPr/>
                    </a:p>
                  </a:txBody>
                  <a:tcPr marT="45725" marB="45725" marR="91450" marL="91450"/>
                </a:tc>
                <a:tc>
                  <a:txBody>
                    <a:bodyPr/>
                    <a:lstStyle/>
                    <a:p>
                      <a:pPr indent="0" lvl="0" marL="0" marR="0" rtl="0" algn="l">
                        <a:spcBef>
                          <a:spcPts val="0"/>
                        </a:spcBef>
                        <a:spcAft>
                          <a:spcPts val="0"/>
                        </a:spcAft>
                        <a:buNone/>
                      </a:pPr>
                      <a:r>
                        <a:rPr lang="fr-FR" sz="1800"/>
                        <a:t>10j</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10j</a:t>
                      </a:r>
                      <a:endParaRPr/>
                    </a:p>
                  </a:txBody>
                  <a:tcPr marT="45725" marB="45725" marR="91450" marL="91450"/>
                </a:tc>
              </a:tr>
              <a:tr h="474675">
                <a:tc>
                  <a:txBody>
                    <a:bodyPr/>
                    <a:lstStyle/>
                    <a:p>
                      <a:pPr indent="0" lvl="0" marL="0" marR="0" rtl="0" algn="l">
                        <a:spcBef>
                          <a:spcPts val="0"/>
                        </a:spcBef>
                        <a:spcAft>
                          <a:spcPts val="0"/>
                        </a:spcAft>
                        <a:buNone/>
                      </a:pPr>
                      <a:r>
                        <a:rPr lang="fr-FR" sz="1800"/>
                        <a:t>Récidive 4 j après la fin du ttt</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Amoxi clav 80</a:t>
                      </a:r>
                      <a:endParaRPr/>
                    </a:p>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m/kg/j+ amoxicilline (70 mg/kg/j) ou ceftriaxone IM ou IVL (50 mg/kg/j)</a:t>
                      </a:r>
                      <a:endParaRPr sz="1800"/>
                    </a:p>
                  </a:txBody>
                  <a:tcPr marT="45725" marB="45725" marR="91450" marL="91450"/>
                </a:tc>
                <a:tc>
                  <a:txBody>
                    <a:bodyPr/>
                    <a:lstStyle/>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8 à 10 jours</a:t>
                      </a:r>
                      <a:endParaRPr/>
                    </a:p>
                    <a:p>
                      <a:pPr indent="0" lvl="0" marL="0" marR="0" rtl="0" algn="l">
                        <a:spcBef>
                          <a:spcPts val="0"/>
                        </a:spcBef>
                        <a:spcAft>
                          <a:spcPts val="0"/>
                        </a:spcAft>
                        <a:buNone/>
                      </a:pPr>
                      <a:r>
                        <a:t/>
                      </a:r>
                      <a:endParaRPr b="1" i="0" sz="1800" u="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 3 jours</a:t>
                      </a:r>
                      <a:endParaRPr sz="1800"/>
                    </a:p>
                  </a:txBody>
                  <a:tcPr marT="45725" marB="45725" marR="91450" marL="91450"/>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graphicFrame>
        <p:nvGraphicFramePr>
          <p:cNvPr id="1299" name="Google Shape;1299;p100"/>
          <p:cNvGraphicFramePr/>
          <p:nvPr/>
        </p:nvGraphicFramePr>
        <p:xfrm>
          <a:off x="0" y="1196752"/>
          <a:ext cx="3000000" cy="3000000"/>
        </p:xfrm>
        <a:graphic>
          <a:graphicData uri="http://schemas.openxmlformats.org/drawingml/2006/table">
            <a:tbl>
              <a:tblPr bandRow="1" firstRow="1">
                <a:noFill/>
                <a:tableStyleId>{5429A695-04D7-4066-8B29-3934B9ECBAD7}</a:tableStyleId>
              </a:tblPr>
              <a:tblGrid>
                <a:gridCol w="1302675"/>
                <a:gridCol w="2185550"/>
                <a:gridCol w="1395775"/>
                <a:gridCol w="2258375"/>
                <a:gridCol w="2441225"/>
              </a:tblGrid>
              <a:tr h="474675">
                <a:tc>
                  <a:txBody>
                    <a:bodyPr/>
                    <a:lstStyle/>
                    <a:p>
                      <a:pPr indent="0" lvl="0" marL="0" marR="0" rtl="0" algn="l">
                        <a:spcBef>
                          <a:spcPts val="0"/>
                        </a:spcBef>
                        <a:spcAft>
                          <a:spcPts val="0"/>
                        </a:spcAft>
                        <a:buNone/>
                      </a:pPr>
                      <a:r>
                        <a:t/>
                      </a:r>
                      <a:endParaRPr sz="1800"/>
                    </a:p>
                  </a:txBody>
                  <a:tcPr marT="45725" marB="45725" marR="91450" marL="91450"/>
                </a:tc>
                <a:tc gridSpan="2">
                  <a:txBody>
                    <a:bodyPr/>
                    <a:lstStyle/>
                    <a:p>
                      <a:pPr indent="0" lvl="0" marL="0" marR="0" rtl="0" algn="ctr">
                        <a:spcBef>
                          <a:spcPts val="0"/>
                        </a:spcBef>
                        <a:spcAft>
                          <a:spcPts val="0"/>
                        </a:spcAft>
                        <a:buNone/>
                      </a:pPr>
                      <a:r>
                        <a:rPr lang="fr-FR" sz="1800"/>
                        <a:t>Adulte </a:t>
                      </a:r>
                      <a:endParaRPr/>
                    </a:p>
                  </a:txBody>
                  <a:tcPr marT="45725" marB="45725" marR="91450" marL="91450"/>
                </a:tc>
                <a:tc hMerge="1"/>
                <a:tc gridSpan="2">
                  <a:txBody>
                    <a:bodyPr/>
                    <a:lstStyle/>
                    <a:p>
                      <a:pPr indent="0" lvl="0" marL="0" marR="0" rtl="0" algn="ctr">
                        <a:spcBef>
                          <a:spcPts val="0"/>
                        </a:spcBef>
                        <a:spcAft>
                          <a:spcPts val="0"/>
                        </a:spcAft>
                        <a:buNone/>
                      </a:pPr>
                      <a:r>
                        <a:rPr lang="fr-FR" sz="1800"/>
                        <a:t>Enfant </a:t>
                      </a:r>
                      <a:endParaRPr/>
                    </a:p>
                  </a:txBody>
                  <a:tcPr marT="45725" marB="45725" marR="91450" marL="91450"/>
                </a:tc>
                <a:tc hMerge="1"/>
              </a:tr>
              <a:tr h="47467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 </a:t>
                      </a:r>
                      <a:endParaRPr/>
                    </a:p>
                  </a:txBody>
                  <a:tcPr marT="45725" marB="45725" marR="91450" marL="91450"/>
                </a:tc>
                <a:tc>
                  <a:txBody>
                    <a:bodyPr/>
                    <a:lstStyle/>
                    <a:p>
                      <a:pPr indent="0" lvl="0" marL="0" marR="0" rtl="0" algn="l">
                        <a:spcBef>
                          <a:spcPts val="0"/>
                        </a:spcBef>
                        <a:spcAft>
                          <a:spcPts val="0"/>
                        </a:spcAft>
                        <a:buNone/>
                      </a:pPr>
                      <a:r>
                        <a:rPr lang="fr-FR" sz="1800"/>
                        <a:t>Dose </a:t>
                      </a:r>
                      <a:endParaRPr/>
                    </a:p>
                  </a:txBody>
                  <a:tcPr marT="45725" marB="45725" marR="91450" marL="91450"/>
                </a:tc>
                <a:tc>
                  <a:txBody>
                    <a:bodyPr/>
                    <a:lstStyle/>
                    <a:p>
                      <a:pPr indent="0" lvl="0" marL="0" marR="0" rtl="0" algn="l">
                        <a:spcBef>
                          <a:spcPts val="0"/>
                        </a:spcBef>
                        <a:spcAft>
                          <a:spcPts val="0"/>
                        </a:spcAft>
                        <a:buNone/>
                      </a:pPr>
                      <a:r>
                        <a:rPr lang="fr-FR" sz="1800"/>
                        <a:t>durée</a:t>
                      </a:r>
                      <a:endParaRPr/>
                    </a:p>
                  </a:txBody>
                  <a:tcPr marT="45725" marB="45725" marR="91450" marL="91450"/>
                </a:tc>
              </a:tr>
              <a:tr h="474675">
                <a:tc>
                  <a:txBody>
                    <a:bodyPr/>
                    <a:lstStyle/>
                    <a:p>
                      <a:pPr indent="0" lvl="0" marL="0" marR="0" rtl="0" algn="l">
                        <a:spcBef>
                          <a:spcPts val="0"/>
                        </a:spcBef>
                        <a:spcAft>
                          <a:spcPts val="0"/>
                        </a:spcAft>
                        <a:buNone/>
                      </a:pPr>
                      <a:r>
                        <a:rPr lang="fr-FR" sz="1800"/>
                        <a:t>Échec au cours du ttt</a:t>
                      </a:r>
                      <a:endParaRPr sz="1800"/>
                    </a:p>
                  </a:txBody>
                  <a:tcPr marT="45725" marB="45725" marR="91450" marL="91450"/>
                </a:tc>
                <a:tc>
                  <a:txBody>
                    <a:bodyPr/>
                    <a:lstStyle/>
                    <a:p>
                      <a:pPr indent="0" lvl="0" marL="0" marR="0" rtl="0" algn="l">
                        <a:spcBef>
                          <a:spcPts val="0"/>
                        </a:spcBef>
                        <a:spcAft>
                          <a:spcPts val="0"/>
                        </a:spcAft>
                        <a:buNone/>
                      </a:pPr>
                      <a:r>
                        <a:rPr b="0" i="0" lang="fr-FR" sz="1800" u="none" strike="noStrike">
                          <a:solidFill>
                            <a:schemeClr val="dk1"/>
                          </a:solidFill>
                          <a:latin typeface="Calibri"/>
                          <a:ea typeface="Calibri"/>
                          <a:cs typeface="Calibri"/>
                          <a:sym typeface="Calibri"/>
                        </a:rPr>
                        <a:t>Amoxicilline-acide clavulanique 3g</a:t>
                      </a:r>
                      <a:endParaRPr sz="1800"/>
                    </a:p>
                  </a:txBody>
                  <a:tcPr marT="45725" marB="45725" marR="91450" marL="91450"/>
                </a:tc>
                <a:tc>
                  <a:txBody>
                    <a:bodyPr/>
                    <a:lstStyle/>
                    <a:p>
                      <a:pPr indent="0" lvl="0" marL="0" marR="0" rtl="0" algn="l">
                        <a:spcBef>
                          <a:spcPts val="0"/>
                        </a:spcBef>
                        <a:spcAft>
                          <a:spcPts val="0"/>
                        </a:spcAft>
                        <a:buNone/>
                      </a:pPr>
                      <a:r>
                        <a:rPr lang="fr-FR" sz="1800"/>
                        <a:t>5j</a:t>
                      </a:r>
                      <a:endParaRPr/>
                    </a:p>
                  </a:txBody>
                  <a:tcPr marT="45725" marB="45725" marR="91450" marL="91450"/>
                </a:tc>
                <a:tc>
                  <a:txBody>
                    <a:bodyPr/>
                    <a:lstStyle/>
                    <a:p>
                      <a:pPr indent="0" lvl="0" marL="0" marR="0" rtl="0" algn="l">
                        <a:spcBef>
                          <a:spcPts val="0"/>
                        </a:spcBef>
                        <a:spcAft>
                          <a:spcPts val="0"/>
                        </a:spcAft>
                        <a:buNone/>
                      </a:pPr>
                      <a:r>
                        <a:rPr lang="fr-FR" sz="1800"/>
                        <a:t>Amoxi clav 80mg/kg/j</a:t>
                      </a:r>
                      <a:endParaRPr/>
                    </a:p>
                    <a:p>
                      <a:pPr indent="0" lvl="0" marL="0" marR="0" rtl="0" algn="l">
                        <a:spcBef>
                          <a:spcPts val="0"/>
                        </a:spcBef>
                        <a:spcAft>
                          <a:spcPts val="0"/>
                        </a:spcAft>
                        <a:buNone/>
                      </a:pPr>
                      <a:r>
                        <a:rPr lang="fr-FR" sz="1800"/>
                        <a:t>Ou cefpo proxétil 8mg/kg/j</a:t>
                      </a:r>
                      <a:endParaRPr/>
                    </a:p>
                  </a:txBody>
                  <a:tcPr marT="45725" marB="45725" marR="91450" marL="91450"/>
                </a:tc>
                <a:tc>
                  <a:txBody>
                    <a:bodyPr/>
                    <a:lstStyle/>
                    <a:p>
                      <a:pPr indent="0" lvl="0" marL="0" marR="0" rtl="0" algn="l">
                        <a:spcBef>
                          <a:spcPts val="0"/>
                        </a:spcBef>
                        <a:spcAft>
                          <a:spcPts val="0"/>
                        </a:spcAft>
                        <a:buNone/>
                      </a:pPr>
                      <a:r>
                        <a:rPr lang="fr-FR" sz="1800"/>
                        <a:t>10j</a:t>
                      </a:r>
                      <a:endParaRPr/>
                    </a:p>
                    <a:p>
                      <a:pPr indent="0" lvl="0" marL="0" marR="0" rtl="0" algn="l">
                        <a:spcBef>
                          <a:spcPts val="0"/>
                        </a:spcBef>
                        <a:spcAft>
                          <a:spcPts val="0"/>
                        </a:spcAft>
                        <a:buNone/>
                      </a:pPr>
                      <a:r>
                        <a:t/>
                      </a:r>
                      <a:endParaRPr sz="1800"/>
                    </a:p>
                    <a:p>
                      <a:pPr indent="0" lvl="0" marL="0" marR="0" rtl="0" algn="l">
                        <a:spcBef>
                          <a:spcPts val="0"/>
                        </a:spcBef>
                        <a:spcAft>
                          <a:spcPts val="0"/>
                        </a:spcAft>
                        <a:buNone/>
                      </a:pPr>
                      <a:r>
                        <a:rPr lang="fr-FR" sz="1800"/>
                        <a:t>10j</a:t>
                      </a:r>
                      <a:endParaRPr/>
                    </a:p>
                  </a:txBody>
                  <a:tcPr marT="45725" marB="45725" marR="91450" marL="91450"/>
                </a:tc>
              </a:tr>
              <a:tr h="474675">
                <a:tc>
                  <a:txBody>
                    <a:bodyPr/>
                    <a:lstStyle/>
                    <a:p>
                      <a:pPr indent="0" lvl="0" marL="0" marR="0" rtl="0" algn="l">
                        <a:spcBef>
                          <a:spcPts val="0"/>
                        </a:spcBef>
                        <a:spcAft>
                          <a:spcPts val="0"/>
                        </a:spcAft>
                        <a:buNone/>
                      </a:pPr>
                      <a:r>
                        <a:rPr lang="fr-FR" sz="1800"/>
                        <a:t>Récidive 4 j après la fin du ttt</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Amoxi clav 80</a:t>
                      </a:r>
                      <a:endParaRPr/>
                    </a:p>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m/kg/j+ amoxicilline (70 mg/kg/j) ou ceftriaxone IM ou IVL (50 mg/kg/j)</a:t>
                      </a:r>
                      <a:endParaRPr sz="1800"/>
                    </a:p>
                  </a:txBody>
                  <a:tcPr marT="45725" marB="45725" marR="91450" marL="91450"/>
                </a:tc>
                <a:tc>
                  <a:txBody>
                    <a:bodyPr/>
                    <a:lstStyle/>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8 à 10 jours</a:t>
                      </a:r>
                      <a:endParaRPr/>
                    </a:p>
                    <a:p>
                      <a:pPr indent="0" lvl="0" marL="0" marR="0" rtl="0" algn="l">
                        <a:spcBef>
                          <a:spcPts val="0"/>
                        </a:spcBef>
                        <a:spcAft>
                          <a:spcPts val="0"/>
                        </a:spcAft>
                        <a:buNone/>
                      </a:pPr>
                      <a:r>
                        <a:t/>
                      </a:r>
                      <a:endParaRPr b="1" i="0" sz="1800" u="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i="0" lang="fr-FR" sz="1800" u="none" strike="noStrike">
                          <a:solidFill>
                            <a:schemeClr val="dk1"/>
                          </a:solidFill>
                          <a:latin typeface="Calibri"/>
                          <a:ea typeface="Calibri"/>
                          <a:cs typeface="Calibri"/>
                          <a:sym typeface="Calibri"/>
                        </a:rPr>
                        <a:t> 3 jours</a:t>
                      </a:r>
                      <a:endParaRPr sz="1800"/>
                    </a:p>
                  </a:txBody>
                  <a:tcPr marT="45725" marB="45725" marR="91450" marL="91450"/>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grpSp>
        <p:nvGrpSpPr>
          <p:cNvPr id="1305" name="Google Shape;1305;p101"/>
          <p:cNvGrpSpPr/>
          <p:nvPr/>
        </p:nvGrpSpPr>
        <p:grpSpPr>
          <a:xfrm>
            <a:off x="325667" y="1374445"/>
            <a:ext cx="8420656" cy="4241794"/>
            <a:chOff x="2139" y="969781"/>
            <a:chExt cx="8420656" cy="4241794"/>
          </a:xfrm>
        </p:grpSpPr>
        <p:sp>
          <p:nvSpPr>
            <p:cNvPr id="1306" name="Google Shape;1306;p101"/>
            <p:cNvSpPr/>
            <p:nvPr/>
          </p:nvSpPr>
          <p:spPr>
            <a:xfrm>
              <a:off x="2139" y="981110"/>
              <a:ext cx="1781248" cy="890624"/>
            </a:xfrm>
            <a:prstGeom prst="roundRect">
              <a:avLst>
                <a:gd fmla="val 10000" name="adj"/>
              </a:avLst>
            </a:prstGeom>
            <a:solidFill>
              <a:schemeClr val="lt1"/>
            </a:solidFill>
            <a:ln cap="flat" cmpd="sng" w="12700">
              <a:solidFill>
                <a:srgbClr val="3A66B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01"/>
            <p:cNvSpPr txBox="1"/>
            <p:nvPr/>
          </p:nvSpPr>
          <p:spPr>
            <a:xfrm>
              <a:off x="28224" y="1007195"/>
              <a:ext cx="1729078" cy="838454"/>
            </a:xfrm>
            <a:prstGeom prst="rect">
              <a:avLst/>
            </a:prstGeom>
            <a:noFill/>
            <a:ln>
              <a:noFill/>
            </a:ln>
          </p:spPr>
          <p:txBody>
            <a:bodyPr anchorCtr="0" anchor="ctr" bIns="45700" lIns="68575" spcFirstLastPara="1" rIns="68575" wrap="square" tIns="45700">
              <a:noAutofit/>
            </a:bodyPr>
            <a:lstStyle/>
            <a:p>
              <a:pPr indent="0" lvl="0" marL="0" marR="0" rtl="0" algn="ctr">
                <a:lnSpc>
                  <a:spcPct val="90000"/>
                </a:lnSpc>
                <a:spcBef>
                  <a:spcPts val="0"/>
                </a:spcBef>
                <a:spcAft>
                  <a:spcPts val="0"/>
                </a:spcAft>
                <a:buClr>
                  <a:schemeClr val="lt1"/>
                </a:buClr>
                <a:buSzPts val="3600"/>
                <a:buFont typeface="Calibri"/>
                <a:buNone/>
              </a:pPr>
              <a:r>
                <a:rPr lang="fr-FR" sz="3600">
                  <a:solidFill>
                    <a:schemeClr val="dk1"/>
                  </a:solidFill>
                  <a:latin typeface="Calibri"/>
                  <a:ea typeface="Calibri"/>
                  <a:cs typeface="Calibri"/>
                  <a:sym typeface="Calibri"/>
                </a:rPr>
                <a:t>&lt; 3 mois</a:t>
              </a:r>
              <a:endParaRPr>
                <a:solidFill>
                  <a:schemeClr val="dk1"/>
                </a:solidFill>
              </a:endParaRPr>
            </a:p>
          </p:txBody>
        </p:sp>
        <p:sp>
          <p:nvSpPr>
            <p:cNvPr id="1308" name="Google Shape;1308;p101"/>
            <p:cNvSpPr/>
            <p:nvPr/>
          </p:nvSpPr>
          <p:spPr>
            <a:xfrm>
              <a:off x="180264" y="1871735"/>
              <a:ext cx="178124" cy="1211347"/>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309" name="Google Shape;1309;p101"/>
            <p:cNvSpPr/>
            <p:nvPr/>
          </p:nvSpPr>
          <p:spPr>
            <a:xfrm>
              <a:off x="358389" y="2094391"/>
              <a:ext cx="1424998" cy="1977381"/>
            </a:xfrm>
            <a:prstGeom prst="roundRect">
              <a:avLst>
                <a:gd fmla="val 10000" name="adj"/>
              </a:avLst>
            </a:prstGeom>
            <a:solidFill>
              <a:srgbClr val="CCD3EA">
                <a:alpha val="89803"/>
              </a:srgb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01"/>
            <p:cNvSpPr txBox="1"/>
            <p:nvPr/>
          </p:nvSpPr>
          <p:spPr>
            <a:xfrm>
              <a:off x="400126" y="2136128"/>
              <a:ext cx="1341524" cy="1893907"/>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Avis spécialisé ORL paracentèse et pvt</a:t>
              </a:r>
              <a:endParaRPr sz="1800">
                <a:solidFill>
                  <a:schemeClr val="dk1"/>
                </a:solidFill>
                <a:latin typeface="Calibri"/>
                <a:ea typeface="Calibri"/>
                <a:cs typeface="Calibri"/>
                <a:sym typeface="Calibri"/>
              </a:endParaRPr>
            </a:p>
            <a:p>
              <a:pPr indent="0" lvl="0" marL="0" marR="0" rtl="0" algn="ctr">
                <a:lnSpc>
                  <a:spcPct val="90000"/>
                </a:lnSpc>
                <a:spcBef>
                  <a:spcPts val="63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Pseudomonas+++ </a:t>
              </a:r>
              <a:endParaRPr/>
            </a:p>
          </p:txBody>
        </p:sp>
        <p:sp>
          <p:nvSpPr>
            <p:cNvPr id="1311" name="Google Shape;1311;p101"/>
            <p:cNvSpPr/>
            <p:nvPr/>
          </p:nvSpPr>
          <p:spPr>
            <a:xfrm>
              <a:off x="2228700" y="981110"/>
              <a:ext cx="1781248" cy="890624"/>
            </a:xfrm>
            <a:prstGeom prst="roundRect">
              <a:avLst>
                <a:gd fmla="val 10000" name="adj"/>
              </a:avLst>
            </a:prstGeom>
            <a:solidFill>
              <a:schemeClr val="lt1"/>
            </a:solidFill>
            <a:ln cap="flat" cmpd="sng" w="12700">
              <a:solidFill>
                <a:srgbClr val="3A66B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01"/>
            <p:cNvSpPr txBox="1"/>
            <p:nvPr/>
          </p:nvSpPr>
          <p:spPr>
            <a:xfrm>
              <a:off x="2254785" y="1007195"/>
              <a:ext cx="1729078" cy="838454"/>
            </a:xfrm>
            <a:prstGeom prst="rect">
              <a:avLst/>
            </a:prstGeom>
            <a:noFill/>
            <a:ln>
              <a:noFill/>
            </a:ln>
          </p:spPr>
          <p:txBody>
            <a:bodyPr anchorCtr="0" anchor="ctr" bIns="45700" lIns="68575" spcFirstLastPara="1" rIns="68575" wrap="square" tIns="45700">
              <a:noAutofit/>
            </a:bodyPr>
            <a:lstStyle/>
            <a:p>
              <a:pPr indent="0" lvl="0" marL="0" marR="0" rtl="0" algn="ctr">
                <a:lnSpc>
                  <a:spcPct val="90000"/>
                </a:lnSpc>
                <a:spcBef>
                  <a:spcPts val="0"/>
                </a:spcBef>
                <a:spcAft>
                  <a:spcPts val="0"/>
                </a:spcAft>
                <a:buClr>
                  <a:schemeClr val="lt1"/>
                </a:buClr>
                <a:buSzPts val="3600"/>
                <a:buFont typeface="Calibri"/>
                <a:buNone/>
              </a:pPr>
              <a:r>
                <a:rPr lang="fr-FR" sz="3600">
                  <a:solidFill>
                    <a:schemeClr val="dk1"/>
                  </a:solidFill>
                  <a:latin typeface="Calibri"/>
                  <a:ea typeface="Calibri"/>
                  <a:cs typeface="Calibri"/>
                  <a:sym typeface="Calibri"/>
                </a:rPr>
                <a:t>&lt; 2 ans</a:t>
              </a:r>
              <a:endParaRPr>
                <a:solidFill>
                  <a:schemeClr val="dk1"/>
                </a:solidFill>
              </a:endParaRPr>
            </a:p>
          </p:txBody>
        </p:sp>
        <p:sp>
          <p:nvSpPr>
            <p:cNvPr id="1313" name="Google Shape;1313;p101"/>
            <p:cNvSpPr/>
            <p:nvPr/>
          </p:nvSpPr>
          <p:spPr>
            <a:xfrm>
              <a:off x="2406825" y="1871735"/>
              <a:ext cx="178124" cy="667968"/>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314" name="Google Shape;1314;p101"/>
            <p:cNvSpPr/>
            <p:nvPr/>
          </p:nvSpPr>
          <p:spPr>
            <a:xfrm>
              <a:off x="2584949" y="2094391"/>
              <a:ext cx="1424998" cy="890624"/>
            </a:xfrm>
            <a:prstGeom prst="roundRect">
              <a:avLst>
                <a:gd fmla="val 10000" name="adj"/>
              </a:avLst>
            </a:prstGeom>
            <a:solidFill>
              <a:srgbClr val="CCD3EA">
                <a:alpha val="89803"/>
              </a:srgb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01"/>
            <p:cNvSpPr txBox="1"/>
            <p:nvPr/>
          </p:nvSpPr>
          <p:spPr>
            <a:xfrm>
              <a:off x="2611034" y="2120476"/>
              <a:ext cx="1372828" cy="838454"/>
            </a:xfrm>
            <a:prstGeom prst="rect">
              <a:avLst/>
            </a:prstGeom>
            <a:noFill/>
            <a:ln>
              <a:noFill/>
            </a:ln>
          </p:spPr>
          <p:txBody>
            <a:bodyPr anchorCtr="0" anchor="ctr" bIns="25400" lIns="38100" spcFirstLastPara="1" rIns="38100" wrap="square" tIns="25400">
              <a:noAutofit/>
            </a:bodyPr>
            <a:lstStyle/>
            <a:p>
              <a:pPr indent="0" lvl="0" marL="0" marR="0" rtl="0" algn="ctr">
                <a:lnSpc>
                  <a:spcPct val="90000"/>
                </a:lnSpc>
                <a:spcBef>
                  <a:spcPts val="0"/>
                </a:spcBef>
                <a:spcAft>
                  <a:spcPts val="0"/>
                </a:spcAft>
                <a:buClr>
                  <a:schemeClr val="dk1"/>
                </a:buClr>
                <a:buSzPts val="2000"/>
                <a:buFont typeface="Calibri"/>
                <a:buNone/>
              </a:pPr>
              <a:r>
                <a:rPr lang="fr-FR" sz="2000">
                  <a:solidFill>
                    <a:schemeClr val="dk1"/>
                  </a:solidFill>
                  <a:latin typeface="Calibri"/>
                  <a:ea typeface="Calibri"/>
                  <a:cs typeface="Calibri"/>
                  <a:sym typeface="Calibri"/>
                </a:rPr>
                <a:t>ATB systématique</a:t>
              </a:r>
              <a:endParaRPr/>
            </a:p>
          </p:txBody>
        </p:sp>
        <p:sp>
          <p:nvSpPr>
            <p:cNvPr id="1316" name="Google Shape;1316;p101"/>
            <p:cNvSpPr/>
            <p:nvPr/>
          </p:nvSpPr>
          <p:spPr>
            <a:xfrm>
              <a:off x="4439586" y="969781"/>
              <a:ext cx="1740974" cy="890624"/>
            </a:xfrm>
            <a:prstGeom prst="roundRect">
              <a:avLst>
                <a:gd fmla="val 10000" name="adj"/>
              </a:avLst>
            </a:prstGeom>
            <a:solidFill>
              <a:schemeClr val="lt1"/>
            </a:solidFill>
            <a:ln cap="flat" cmpd="sng" w="12700">
              <a:solidFill>
                <a:srgbClr val="3A66B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01"/>
            <p:cNvSpPr txBox="1"/>
            <p:nvPr/>
          </p:nvSpPr>
          <p:spPr>
            <a:xfrm>
              <a:off x="4465671" y="995866"/>
              <a:ext cx="1688804" cy="838454"/>
            </a:xfrm>
            <a:prstGeom prst="rect">
              <a:avLst/>
            </a:prstGeom>
            <a:noFill/>
            <a:ln>
              <a:noFill/>
            </a:ln>
          </p:spPr>
          <p:txBody>
            <a:bodyPr anchorCtr="0" anchor="ctr" bIns="45700" lIns="68575" spcFirstLastPara="1" rIns="68575" wrap="square" tIns="45700">
              <a:noAutofit/>
            </a:bodyPr>
            <a:lstStyle/>
            <a:p>
              <a:pPr indent="0" lvl="0" marL="0" marR="0" rtl="0" algn="ctr">
                <a:lnSpc>
                  <a:spcPct val="90000"/>
                </a:lnSpc>
                <a:spcBef>
                  <a:spcPts val="0"/>
                </a:spcBef>
                <a:spcAft>
                  <a:spcPts val="0"/>
                </a:spcAft>
                <a:buClr>
                  <a:schemeClr val="lt1"/>
                </a:buClr>
                <a:buSzPts val="3600"/>
                <a:buFont typeface="Calibri"/>
                <a:buNone/>
              </a:pPr>
              <a:r>
                <a:rPr lang="fr-FR" sz="3600">
                  <a:solidFill>
                    <a:schemeClr val="dk1"/>
                  </a:solidFill>
                  <a:latin typeface="Calibri"/>
                  <a:ea typeface="Calibri"/>
                  <a:cs typeface="Calibri"/>
                  <a:sym typeface="Calibri"/>
                </a:rPr>
                <a:t>&gt; 2 ans</a:t>
              </a:r>
              <a:endParaRPr>
                <a:solidFill>
                  <a:schemeClr val="dk1"/>
                </a:solidFill>
              </a:endParaRPr>
            </a:p>
          </p:txBody>
        </p:sp>
        <p:sp>
          <p:nvSpPr>
            <p:cNvPr id="1318" name="Google Shape;1318;p101"/>
            <p:cNvSpPr/>
            <p:nvPr/>
          </p:nvSpPr>
          <p:spPr>
            <a:xfrm>
              <a:off x="4613683" y="1860406"/>
              <a:ext cx="189772" cy="679296"/>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319" name="Google Shape;1319;p101"/>
            <p:cNvSpPr/>
            <p:nvPr/>
          </p:nvSpPr>
          <p:spPr>
            <a:xfrm>
              <a:off x="4803456" y="2094391"/>
              <a:ext cx="1634773" cy="890624"/>
            </a:xfrm>
            <a:prstGeom prst="roundRect">
              <a:avLst>
                <a:gd fmla="val 10000" name="adj"/>
              </a:avLst>
            </a:prstGeom>
            <a:solidFill>
              <a:srgbClr val="CCD3EA">
                <a:alpha val="89803"/>
              </a:srgb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01"/>
            <p:cNvSpPr txBox="1"/>
            <p:nvPr/>
          </p:nvSpPr>
          <p:spPr>
            <a:xfrm>
              <a:off x="4829541" y="2120476"/>
              <a:ext cx="1582603" cy="838454"/>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Otite congestive ou Sympt peu bruyants</a:t>
              </a:r>
              <a:endParaRPr/>
            </a:p>
          </p:txBody>
        </p:sp>
        <p:sp>
          <p:nvSpPr>
            <p:cNvPr id="1321" name="Google Shape;1321;p101"/>
            <p:cNvSpPr/>
            <p:nvPr/>
          </p:nvSpPr>
          <p:spPr>
            <a:xfrm>
              <a:off x="4613683" y="1860406"/>
              <a:ext cx="189772" cy="1792577"/>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322" name="Google Shape;1322;p101"/>
            <p:cNvSpPr/>
            <p:nvPr/>
          </p:nvSpPr>
          <p:spPr>
            <a:xfrm>
              <a:off x="4803456" y="3207671"/>
              <a:ext cx="1634773" cy="890624"/>
            </a:xfrm>
            <a:prstGeom prst="roundRect">
              <a:avLst>
                <a:gd fmla="val 10000" name="adj"/>
              </a:avLst>
            </a:prstGeom>
            <a:solidFill>
              <a:srgbClr val="CCD3EA">
                <a:alpha val="89803"/>
              </a:srgb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01"/>
            <p:cNvSpPr txBox="1"/>
            <p:nvPr/>
          </p:nvSpPr>
          <p:spPr>
            <a:xfrm>
              <a:off x="4829541" y="3233756"/>
              <a:ext cx="1582603" cy="838454"/>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Abstention </a:t>
              </a:r>
              <a:endParaRPr/>
            </a:p>
            <a:p>
              <a:pPr indent="0" lvl="0" marL="0" marR="0" rtl="0" algn="ctr">
                <a:lnSpc>
                  <a:spcPct val="90000"/>
                </a:lnSpc>
                <a:spcBef>
                  <a:spcPts val="63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Evaluation 48-72 h</a:t>
              </a:r>
              <a:endParaRPr/>
            </a:p>
          </p:txBody>
        </p:sp>
        <p:sp>
          <p:nvSpPr>
            <p:cNvPr id="1324" name="Google Shape;1324;p101"/>
            <p:cNvSpPr/>
            <p:nvPr/>
          </p:nvSpPr>
          <p:spPr>
            <a:xfrm>
              <a:off x="4613683" y="1860406"/>
              <a:ext cx="189772" cy="2905857"/>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325" name="Google Shape;1325;p101"/>
            <p:cNvSpPr/>
            <p:nvPr/>
          </p:nvSpPr>
          <p:spPr>
            <a:xfrm>
              <a:off x="4803456" y="4320951"/>
              <a:ext cx="1634773" cy="890624"/>
            </a:xfrm>
            <a:prstGeom prst="roundRect">
              <a:avLst>
                <a:gd fmla="val 10000" name="adj"/>
              </a:avLst>
            </a:prstGeom>
            <a:solidFill>
              <a:srgbClr val="CCD3EA">
                <a:alpha val="89803"/>
              </a:srgb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01"/>
            <p:cNvSpPr txBox="1"/>
            <p:nvPr/>
          </p:nvSpPr>
          <p:spPr>
            <a:xfrm>
              <a:off x="4829541" y="4347036"/>
              <a:ext cx="1582603" cy="838454"/>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Absence d’amélioration/ aggravation</a:t>
              </a:r>
              <a:endParaRPr sz="1400">
                <a:solidFill>
                  <a:schemeClr val="dk1"/>
                </a:solidFill>
                <a:latin typeface="Calibri"/>
                <a:ea typeface="Calibri"/>
                <a:cs typeface="Calibri"/>
                <a:sym typeface="Calibri"/>
              </a:endParaRPr>
            </a:p>
          </p:txBody>
        </p:sp>
        <p:sp>
          <p:nvSpPr>
            <p:cNvPr id="1327" name="Google Shape;1327;p101"/>
            <p:cNvSpPr/>
            <p:nvPr/>
          </p:nvSpPr>
          <p:spPr>
            <a:xfrm>
              <a:off x="6625872" y="969781"/>
              <a:ext cx="1781248" cy="890624"/>
            </a:xfrm>
            <a:prstGeom prst="roundRect">
              <a:avLst>
                <a:gd fmla="val 10000" name="adj"/>
              </a:avLst>
            </a:prstGeom>
            <a:solidFill>
              <a:schemeClr val="lt1"/>
            </a:solidFill>
            <a:ln cap="flat" cmpd="sng" w="12700">
              <a:solidFill>
                <a:srgbClr val="3A66B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01"/>
            <p:cNvSpPr txBox="1"/>
            <p:nvPr/>
          </p:nvSpPr>
          <p:spPr>
            <a:xfrm>
              <a:off x="6651957" y="995866"/>
              <a:ext cx="1729078" cy="838454"/>
            </a:xfrm>
            <a:prstGeom prst="rect">
              <a:avLst/>
            </a:prstGeom>
            <a:noFill/>
            <a:ln>
              <a:noFill/>
            </a:ln>
          </p:spPr>
          <p:txBody>
            <a:bodyPr anchorCtr="0" anchor="ctr" bIns="45700" lIns="68575" spcFirstLastPara="1" rIns="68575" wrap="square" tIns="45700">
              <a:noAutofit/>
            </a:bodyPr>
            <a:lstStyle/>
            <a:p>
              <a:pPr indent="0" lvl="0" marL="0" marR="0" rtl="0" algn="ctr">
                <a:lnSpc>
                  <a:spcPct val="90000"/>
                </a:lnSpc>
                <a:spcBef>
                  <a:spcPts val="0"/>
                </a:spcBef>
                <a:spcAft>
                  <a:spcPts val="0"/>
                </a:spcAft>
                <a:buClr>
                  <a:schemeClr val="lt1"/>
                </a:buClr>
                <a:buSzPts val="3600"/>
                <a:buFont typeface="Calibri"/>
                <a:buNone/>
              </a:pPr>
              <a:r>
                <a:rPr lang="fr-FR" sz="3600">
                  <a:solidFill>
                    <a:schemeClr val="dk1"/>
                  </a:solidFill>
                  <a:latin typeface="Calibri"/>
                  <a:ea typeface="Calibri"/>
                  <a:cs typeface="Calibri"/>
                  <a:sym typeface="Calibri"/>
                </a:rPr>
                <a:t>&gt; 2 ans</a:t>
              </a:r>
              <a:endParaRPr>
                <a:solidFill>
                  <a:schemeClr val="dk1"/>
                </a:solidFill>
              </a:endParaRPr>
            </a:p>
          </p:txBody>
        </p:sp>
        <p:sp>
          <p:nvSpPr>
            <p:cNvPr id="1329" name="Google Shape;1329;p101"/>
            <p:cNvSpPr/>
            <p:nvPr/>
          </p:nvSpPr>
          <p:spPr>
            <a:xfrm>
              <a:off x="6803997" y="1860406"/>
              <a:ext cx="193799" cy="1150664"/>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330" name="Google Shape;1330;p101"/>
            <p:cNvSpPr/>
            <p:nvPr/>
          </p:nvSpPr>
          <p:spPr>
            <a:xfrm>
              <a:off x="6997797" y="2094391"/>
              <a:ext cx="1424998" cy="1833359"/>
            </a:xfrm>
            <a:prstGeom prst="roundRect">
              <a:avLst>
                <a:gd fmla="val 10000" name="adj"/>
              </a:avLst>
            </a:prstGeom>
            <a:solidFill>
              <a:srgbClr val="CCD3EA">
                <a:alpha val="89803"/>
              </a:srgb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01"/>
            <p:cNvSpPr txBox="1"/>
            <p:nvPr/>
          </p:nvSpPr>
          <p:spPr>
            <a:xfrm>
              <a:off x="7039534" y="2136128"/>
              <a:ext cx="1341524" cy="1749885"/>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Sympt bruyants/ difficultés de compréhension des consignes</a:t>
              </a:r>
              <a:endParaRPr/>
            </a:p>
          </p:txBody>
        </p:sp>
        <p:sp>
          <p:nvSpPr>
            <p:cNvPr id="1332" name="Google Shape;1332;p101"/>
            <p:cNvSpPr/>
            <p:nvPr/>
          </p:nvSpPr>
          <p:spPr>
            <a:xfrm>
              <a:off x="6803997" y="1860406"/>
              <a:ext cx="193799" cy="2735312"/>
            </a:xfrm>
            <a:custGeom>
              <a:rect b="b" l="l" r="r" t="t"/>
              <a:pathLst>
                <a:path extrusionOk="0" h="120000" w="120000">
                  <a:moveTo>
                    <a:pt x="0" y="0"/>
                  </a:moveTo>
                  <a:lnTo>
                    <a:pt x="0" y="120000"/>
                  </a:lnTo>
                  <a:lnTo>
                    <a:pt x="120000" y="120000"/>
                  </a:lnTo>
                </a:path>
              </a:pathLst>
            </a:custGeom>
            <a:noFill/>
            <a:ln cap="flat" cmpd="sng" w="12700">
              <a:solidFill>
                <a:srgbClr val="345A99"/>
              </a:solidFill>
              <a:prstDash val="solid"/>
              <a:miter lim="800000"/>
              <a:headEnd len="sm" w="sm" type="none"/>
              <a:tailEnd len="sm" w="sm" type="none"/>
            </a:ln>
          </p:spPr>
        </p:sp>
        <p:sp>
          <p:nvSpPr>
            <p:cNvPr id="1333" name="Google Shape;1333;p101"/>
            <p:cNvSpPr/>
            <p:nvPr/>
          </p:nvSpPr>
          <p:spPr>
            <a:xfrm>
              <a:off x="6997797" y="4150406"/>
              <a:ext cx="1424998" cy="890624"/>
            </a:xfrm>
            <a:prstGeom prst="roundRect">
              <a:avLst>
                <a:gd fmla="val 10000" name="adj"/>
              </a:avLst>
            </a:prstGeom>
            <a:solidFill>
              <a:srgbClr val="CCD3EA">
                <a:alpha val="89803"/>
              </a:srgb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01"/>
            <p:cNvSpPr txBox="1"/>
            <p:nvPr/>
          </p:nvSpPr>
          <p:spPr>
            <a:xfrm>
              <a:off x="7023882" y="4176491"/>
              <a:ext cx="1372828" cy="838454"/>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dk1"/>
                </a:buClr>
                <a:buSzPts val="1800"/>
                <a:buFont typeface="Calibri"/>
                <a:buNone/>
              </a:pPr>
              <a:r>
                <a:rPr lang="fr-FR" sz="1800">
                  <a:solidFill>
                    <a:schemeClr val="dk1"/>
                  </a:solidFill>
                  <a:latin typeface="Calibri"/>
                  <a:ea typeface="Calibri"/>
                  <a:cs typeface="Calibri"/>
                  <a:sym typeface="Calibri"/>
                </a:rPr>
                <a:t>ATB</a:t>
              </a:r>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0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QCM 43</a:t>
            </a:r>
            <a:endParaRPr/>
          </a:p>
        </p:txBody>
      </p:sp>
      <p:sp>
        <p:nvSpPr>
          <p:cNvPr id="1341" name="Google Shape;1341;p10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fr-FR"/>
              <a:t>43- La paracentèse dans la prise en charge des OMA est indiquée devant:</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Âge &gt; 3mois</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Forme perforée compliquée</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Persistance d’épanchement après la fin du traitement</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Terrain immunodéprimé</a:t>
            </a:r>
            <a:endParaRPr/>
          </a:p>
          <a:p>
            <a:pPr indent="-514350" lvl="0" marL="514350" rtl="0" algn="l">
              <a:lnSpc>
                <a:spcPct val="90000"/>
              </a:lnSpc>
              <a:spcBef>
                <a:spcPts val="1000"/>
              </a:spcBef>
              <a:spcAft>
                <a:spcPts val="0"/>
              </a:spcAft>
              <a:buClr>
                <a:schemeClr val="dk1"/>
              </a:buClr>
              <a:buSzPts val="2800"/>
              <a:buFont typeface="Calibri"/>
              <a:buAutoNum type="alphaUcPeriod"/>
            </a:pPr>
            <a:r>
              <a:rPr lang="fr-FR"/>
              <a:t>Forme hyperalgique persistante après traitement antalgique</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1342" name="Google Shape;1342;p102"/>
          <p:cNvSpPr/>
          <p:nvPr/>
        </p:nvSpPr>
        <p:spPr>
          <a:xfrm>
            <a:off x="4644008" y="548680"/>
            <a:ext cx="3592248" cy="100811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fr-FR" sz="4000">
                <a:solidFill>
                  <a:schemeClr val="dk1"/>
                </a:solidFill>
                <a:latin typeface="Calibri"/>
                <a:ea typeface="Calibri"/>
                <a:cs typeface="Calibri"/>
                <a:sym typeface="Calibri"/>
              </a:rPr>
              <a:t>R: D, 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7" name="Shape 1347"/>
        <p:cNvGrpSpPr/>
        <p:nvPr/>
      </p:nvGrpSpPr>
      <p:grpSpPr>
        <a:xfrm>
          <a:off x="0" y="0"/>
          <a:ext cx="0" cy="0"/>
          <a:chOff x="0" y="0"/>
          <a:chExt cx="0" cy="0"/>
        </a:xfrm>
      </p:grpSpPr>
      <p:sp>
        <p:nvSpPr>
          <p:cNvPr id="1348" name="Google Shape;1348;p10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Paracentèse </a:t>
            </a:r>
            <a:endParaRPr/>
          </a:p>
        </p:txBody>
      </p:sp>
      <p:grpSp>
        <p:nvGrpSpPr>
          <p:cNvPr id="1349" name="Google Shape;1349;p103"/>
          <p:cNvGrpSpPr/>
          <p:nvPr/>
        </p:nvGrpSpPr>
        <p:grpSpPr>
          <a:xfrm>
            <a:off x="612362" y="1556792"/>
            <a:ext cx="8227995" cy="4813994"/>
            <a:chOff x="802" y="0"/>
            <a:chExt cx="8227995" cy="4813994"/>
          </a:xfrm>
        </p:grpSpPr>
        <p:sp>
          <p:nvSpPr>
            <p:cNvPr id="1350" name="Google Shape;1350;p103"/>
            <p:cNvSpPr/>
            <p:nvPr/>
          </p:nvSpPr>
          <p:spPr>
            <a:xfrm>
              <a:off x="1527994" y="670845"/>
              <a:ext cx="2504442" cy="4143149"/>
            </a:xfrm>
            <a:prstGeom prst="rect">
              <a:avLst/>
            </a:prstGeom>
            <a:solidFill>
              <a:srgbClr val="CFDEEF">
                <a:alpha val="89803"/>
              </a:srgbClr>
            </a:solidFill>
            <a:ln cap="flat" cmpd="sng" w="12700">
              <a:solidFill>
                <a:srgbClr val="CFDEEF">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03"/>
            <p:cNvSpPr txBox="1"/>
            <p:nvPr/>
          </p:nvSpPr>
          <p:spPr>
            <a:xfrm>
              <a:off x="1928705" y="670845"/>
              <a:ext cx="2103731" cy="4143149"/>
            </a:xfrm>
            <a:prstGeom prst="rect">
              <a:avLst/>
            </a:prstGeom>
            <a:noFill/>
            <a:ln>
              <a:noFill/>
            </a:ln>
          </p:spPr>
          <p:txBody>
            <a:bodyPr anchorCtr="0" anchor="ctr" bIns="170675" lIns="0" spcFirstLastPara="1" rIns="170675" wrap="square" tIns="170675">
              <a:noAutofit/>
            </a:bodyPr>
            <a:lstStyle/>
            <a:p>
              <a:pPr indent="0" lvl="0" marL="0" marR="0" rtl="0" algn="l">
                <a:lnSpc>
                  <a:spcPct val="90000"/>
                </a:lnSpc>
                <a:spcBef>
                  <a:spcPts val="0"/>
                </a:spcBef>
                <a:spcAft>
                  <a:spcPts val="0"/>
                </a:spcAft>
                <a:buClr>
                  <a:schemeClr val="dk1"/>
                </a:buClr>
                <a:buSzPts val="2400"/>
                <a:buFont typeface="Calibri"/>
                <a:buNone/>
              </a:pPr>
              <a:r>
                <a:rPr lang="fr-FR" sz="2400">
                  <a:solidFill>
                    <a:schemeClr val="dk1"/>
                  </a:solidFill>
                  <a:latin typeface="Calibri"/>
                  <a:ea typeface="Calibri"/>
                  <a:cs typeface="Calibri"/>
                  <a:sym typeface="Calibri"/>
                </a:rPr>
                <a:t>- Fièvre persistante malgré ttt antipyrétique </a:t>
              </a:r>
              <a:endParaRPr/>
            </a:p>
            <a:p>
              <a:pPr indent="0" lvl="0" marL="0" marR="0" rtl="0" algn="l">
                <a:lnSpc>
                  <a:spcPct val="90000"/>
                </a:lnSpc>
                <a:spcBef>
                  <a:spcPts val="84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l">
                <a:lnSpc>
                  <a:spcPct val="90000"/>
                </a:lnSpc>
                <a:spcBef>
                  <a:spcPts val="840"/>
                </a:spcBef>
                <a:spcAft>
                  <a:spcPts val="0"/>
                </a:spcAft>
                <a:buClr>
                  <a:schemeClr val="dk1"/>
                </a:buClr>
                <a:buSzPts val="2400"/>
                <a:buFont typeface="Calibri"/>
                <a:buNone/>
              </a:pPr>
              <a:r>
                <a:rPr lang="fr-FR" sz="2400">
                  <a:solidFill>
                    <a:schemeClr val="dk1"/>
                  </a:solidFill>
                  <a:latin typeface="Calibri"/>
                  <a:ea typeface="Calibri"/>
                  <a:cs typeface="Calibri"/>
                  <a:sym typeface="Calibri"/>
                </a:rPr>
                <a:t>- OMA collectée hyperalgique résistante au ttt antalgiques</a:t>
              </a:r>
              <a:endParaRPr/>
            </a:p>
          </p:txBody>
        </p:sp>
        <p:sp>
          <p:nvSpPr>
            <p:cNvPr id="1352" name="Google Shape;1352;p103"/>
            <p:cNvSpPr/>
            <p:nvPr/>
          </p:nvSpPr>
          <p:spPr>
            <a:xfrm>
              <a:off x="802" y="0"/>
              <a:ext cx="1883407" cy="1669628"/>
            </a:xfrm>
            <a:prstGeom prst="ellipse">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03"/>
            <p:cNvSpPr txBox="1"/>
            <p:nvPr/>
          </p:nvSpPr>
          <p:spPr>
            <a:xfrm>
              <a:off x="276621" y="244511"/>
              <a:ext cx="1331769" cy="118060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Soulager les symptômes </a:t>
              </a:r>
              <a:endParaRPr/>
            </a:p>
          </p:txBody>
        </p:sp>
        <p:sp>
          <p:nvSpPr>
            <p:cNvPr id="1354" name="Google Shape;1354;p103"/>
            <p:cNvSpPr/>
            <p:nvPr/>
          </p:nvSpPr>
          <p:spPr>
            <a:xfrm>
              <a:off x="5724355" y="792094"/>
              <a:ext cx="2504442" cy="2933182"/>
            </a:xfrm>
            <a:prstGeom prst="rect">
              <a:avLst/>
            </a:prstGeom>
            <a:solidFill>
              <a:srgbClr val="D3E1CC">
                <a:alpha val="89803"/>
              </a:srgbClr>
            </a:solidFill>
            <a:ln cap="flat" cmpd="sng" w="12700">
              <a:solidFill>
                <a:srgbClr val="D3E1CC">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03"/>
            <p:cNvSpPr txBox="1"/>
            <p:nvPr/>
          </p:nvSpPr>
          <p:spPr>
            <a:xfrm>
              <a:off x="6125065" y="792094"/>
              <a:ext cx="2103731" cy="2933182"/>
            </a:xfrm>
            <a:prstGeom prst="rect">
              <a:avLst/>
            </a:prstGeom>
            <a:noFill/>
            <a:ln>
              <a:noFill/>
            </a:ln>
          </p:spPr>
          <p:txBody>
            <a:bodyPr anchorCtr="0" anchor="ctr" bIns="199125" lIns="0" spcFirstLastPara="1" rIns="199125" wrap="square" tIns="199125">
              <a:noAutofit/>
            </a:bodyPr>
            <a:lstStyle/>
            <a:p>
              <a:pPr indent="0" lvl="0" marL="0" marR="0" rtl="0" algn="l">
                <a:lnSpc>
                  <a:spcPct val="90000"/>
                </a:lnSpc>
                <a:spcBef>
                  <a:spcPts val="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 OMA compliquée </a:t>
              </a:r>
              <a:endParaRPr/>
            </a:p>
            <a:p>
              <a:pPr indent="0" lvl="0" marL="0" marR="0" rtl="0" algn="l">
                <a:lnSpc>
                  <a:spcPct val="90000"/>
                </a:lnSpc>
                <a:spcBef>
                  <a:spcPts val="98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 </a:t>
              </a:r>
              <a:r>
                <a:rPr b="1" lang="fr-FR" sz="2800">
                  <a:solidFill>
                    <a:schemeClr val="dk1"/>
                  </a:solidFill>
                  <a:latin typeface="Calibri"/>
                  <a:ea typeface="Calibri"/>
                  <a:cs typeface="Calibri"/>
                  <a:sym typeface="Calibri"/>
                </a:rPr>
                <a:t>Echec ATB</a:t>
              </a:r>
              <a:endParaRPr/>
            </a:p>
            <a:p>
              <a:pPr indent="0" lvl="0" marL="0" marR="0" rtl="0" algn="l">
                <a:lnSpc>
                  <a:spcPct val="90000"/>
                </a:lnSpc>
                <a:spcBef>
                  <a:spcPts val="98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 Âge &lt; 3mois</a:t>
              </a:r>
              <a:endParaRPr/>
            </a:p>
            <a:p>
              <a:pPr indent="0" lvl="0" marL="0" marR="0" rtl="0" algn="l">
                <a:lnSpc>
                  <a:spcPct val="90000"/>
                </a:lnSpc>
                <a:spcBef>
                  <a:spcPts val="980"/>
                </a:spcBef>
                <a:spcAft>
                  <a:spcPts val="0"/>
                </a:spcAft>
                <a:buClr>
                  <a:schemeClr val="dk1"/>
                </a:buClr>
                <a:buSzPts val="2800"/>
                <a:buFont typeface="Calibri"/>
                <a:buNone/>
              </a:pPr>
              <a:r>
                <a:rPr lang="fr-FR" sz="2800">
                  <a:solidFill>
                    <a:schemeClr val="dk1"/>
                  </a:solidFill>
                  <a:latin typeface="Calibri"/>
                  <a:ea typeface="Calibri"/>
                  <a:cs typeface="Calibri"/>
                  <a:sym typeface="Calibri"/>
                </a:rPr>
                <a:t>- Terrain ID</a:t>
              </a:r>
              <a:endParaRPr/>
            </a:p>
          </p:txBody>
        </p:sp>
        <p:sp>
          <p:nvSpPr>
            <p:cNvPr id="1356" name="Google Shape;1356;p103"/>
            <p:cNvSpPr/>
            <p:nvPr/>
          </p:nvSpPr>
          <p:spPr>
            <a:xfrm>
              <a:off x="4248487" y="0"/>
              <a:ext cx="1883407" cy="1669628"/>
            </a:xfrm>
            <a:prstGeom prst="ellipse">
              <a:avLst/>
            </a:prstGeom>
            <a:solidFill>
              <a:srgbClr val="6FAB4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03"/>
            <p:cNvSpPr txBox="1"/>
            <p:nvPr/>
          </p:nvSpPr>
          <p:spPr>
            <a:xfrm>
              <a:off x="4524306" y="244511"/>
              <a:ext cx="1331769" cy="118060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lt1"/>
                </a:buClr>
                <a:buSzPts val="1800"/>
                <a:buFont typeface="Calibri"/>
                <a:buNone/>
              </a:pPr>
              <a:r>
                <a:rPr lang="fr-FR" sz="1800">
                  <a:solidFill>
                    <a:schemeClr val="lt1"/>
                  </a:solidFill>
                  <a:latin typeface="Calibri"/>
                  <a:ea typeface="Calibri"/>
                  <a:cs typeface="Calibri"/>
                  <a:sym typeface="Calibri"/>
                </a:rPr>
                <a:t>Bactériologie </a:t>
              </a:r>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0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t>Otite  </a:t>
            </a:r>
            <a:endParaRPr/>
          </a:p>
        </p:txBody>
      </p:sp>
      <p:sp>
        <p:nvSpPr>
          <p:cNvPr id="1364" name="Google Shape;1364;p104"/>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1365" name="Google Shape;1365;p104"/>
          <p:cNvSpPr/>
          <p:nvPr/>
        </p:nvSpPr>
        <p:spPr>
          <a:xfrm>
            <a:off x="1259632" y="2065772"/>
            <a:ext cx="4675500" cy="3811500"/>
          </a:xfrm>
          <a:prstGeom prst="roundRect">
            <a:avLst>
              <a:gd fmla="val 16667" name="adj"/>
            </a:avLst>
          </a:prstGeom>
          <a:blipFill rotWithShape="1">
            <a:blip r:embed="rId3">
              <a:alphaModFix/>
            </a:blip>
            <a:stretch>
              <a:fillRect b="0" l="0" r="0" t="0"/>
            </a:stretch>
          </a:blip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105"/>
          <p:cNvSpPr txBox="1"/>
          <p:nvPr>
            <p:ph type="title"/>
          </p:nvPr>
        </p:nvSpPr>
        <p:spPr>
          <a:xfrm>
            <a:off x="457200" y="486882"/>
            <a:ext cx="8229600" cy="990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2"/>
              </a:buClr>
              <a:buSzPts val="4000"/>
              <a:buFont typeface="Arial"/>
              <a:buNone/>
            </a:pPr>
            <a:r>
              <a:rPr lang="fr-FR"/>
              <a:t>Laryngite</a:t>
            </a:r>
            <a:endParaRPr/>
          </a:p>
        </p:txBody>
      </p:sp>
      <p:graphicFrame>
        <p:nvGraphicFramePr>
          <p:cNvPr id="1371" name="Google Shape;1371;p105"/>
          <p:cNvGraphicFramePr/>
          <p:nvPr/>
        </p:nvGraphicFramePr>
        <p:xfrm>
          <a:off x="15672" y="1498650"/>
          <a:ext cx="3000000" cy="3000000"/>
        </p:xfrm>
        <a:graphic>
          <a:graphicData uri="http://schemas.openxmlformats.org/drawingml/2006/table">
            <a:tbl>
              <a:tblPr bandRow="1" firstCol="1" firstRow="1">
                <a:noFill/>
                <a:tableStyleId>{5429A695-04D7-4066-8B29-3934B9ECBAD7}</a:tableStyleId>
              </a:tblPr>
              <a:tblGrid>
                <a:gridCol w="1020000"/>
                <a:gridCol w="1073300"/>
                <a:gridCol w="712075"/>
                <a:gridCol w="2655425"/>
                <a:gridCol w="1435100"/>
                <a:gridCol w="875975"/>
                <a:gridCol w="1164850"/>
              </a:tblGrid>
              <a:tr h="276100">
                <a:tc>
                  <a:txBody>
                    <a:bodyPr/>
                    <a:lstStyle/>
                    <a:p>
                      <a:pPr indent="0" lvl="0" marL="457200" marR="0" rtl="0" algn="l">
                        <a:lnSpc>
                          <a:spcPct val="115000"/>
                        </a:lnSpc>
                        <a:spcBef>
                          <a:spcPts val="0"/>
                        </a:spcBef>
                        <a:spcAft>
                          <a:spcPts val="0"/>
                        </a:spcAft>
                        <a:buNone/>
                      </a:pPr>
                      <a:r>
                        <a:rPr lang="fr-FR" sz="1400" u="none" cap="none" strike="noStrike"/>
                        <a:t> </a:t>
                      </a:r>
                      <a:endParaRPr sz="18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1050" u="none" cap="none" strike="noStrike"/>
                        <a:t>Agent causal</a:t>
                      </a:r>
                      <a:endParaRPr sz="12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1050" u="none" cap="none" strike="noStrike"/>
                        <a:t>Age /sexe</a:t>
                      </a:r>
                      <a:endParaRPr sz="12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1050" u="none" cap="none" strike="noStrike"/>
                        <a:t>Symptomatologie </a:t>
                      </a:r>
                      <a:endParaRPr sz="1200" u="none" cap="none" strike="noStrike">
                        <a:latin typeface="Calibri"/>
                        <a:ea typeface="Calibri"/>
                        <a:cs typeface="Calibri"/>
                        <a:sym typeface="Calibri"/>
                      </a:endParaRPr>
                    </a:p>
                  </a:txBody>
                  <a:tcPr marT="0" marB="0" marR="30950" marL="30950" anchor="ctr"/>
                </a:tc>
                <a:tc>
                  <a:txBody>
                    <a:bodyPr/>
                    <a:lstStyle/>
                    <a:p>
                      <a:pPr indent="0" lvl="0" marL="457200" marR="0" rtl="0" algn="l">
                        <a:lnSpc>
                          <a:spcPct val="115000"/>
                        </a:lnSpc>
                        <a:spcBef>
                          <a:spcPts val="0"/>
                        </a:spcBef>
                        <a:spcAft>
                          <a:spcPts val="0"/>
                        </a:spcAft>
                        <a:buNone/>
                      </a:pPr>
                      <a:r>
                        <a:rPr lang="fr-FR" sz="1050" u="none" cap="none" strike="noStrike"/>
                        <a:t>Examen </a:t>
                      </a:r>
                      <a:endParaRPr sz="12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1050" u="none" cap="none" strike="noStrike"/>
                        <a:t>Diagnostic ex compl</a:t>
                      </a:r>
                      <a:endParaRPr sz="12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1050" u="none" cap="none" strike="noStrike"/>
                        <a:t>Traitement </a:t>
                      </a:r>
                      <a:endParaRPr sz="1200" u="none" cap="none" strike="noStrike">
                        <a:latin typeface="Calibri"/>
                        <a:ea typeface="Calibri"/>
                        <a:cs typeface="Calibri"/>
                        <a:sym typeface="Calibri"/>
                      </a:endParaRPr>
                    </a:p>
                  </a:txBody>
                  <a:tcPr marT="0" marB="0" marR="30950" marL="30950" anchor="ctr"/>
                </a:tc>
              </a:tr>
              <a:tr h="828325">
                <a:tc>
                  <a:txBody>
                    <a:bodyPr/>
                    <a:lstStyle/>
                    <a:p>
                      <a:pPr indent="0" lvl="0" marL="4762" marR="0" rtl="0" algn="l">
                        <a:lnSpc>
                          <a:spcPct val="115000"/>
                        </a:lnSpc>
                        <a:spcBef>
                          <a:spcPts val="0"/>
                        </a:spcBef>
                        <a:spcAft>
                          <a:spcPts val="0"/>
                        </a:spcAft>
                        <a:buNone/>
                      </a:pPr>
                      <a:r>
                        <a:rPr lang="fr-FR" sz="1100" u="none" cap="none" strike="noStrike"/>
                        <a:t>Laryngite sous glottique </a:t>
                      </a:r>
                      <a:endParaRPr sz="1400" u="none" cap="none" strike="noStrike">
                        <a:latin typeface="Calibri"/>
                        <a:ea typeface="Calibri"/>
                        <a:cs typeface="Calibri"/>
                        <a:sym typeface="Calibri"/>
                      </a:endParaRPr>
                    </a:p>
                  </a:txBody>
                  <a:tcPr marT="0" marB="0" marR="30950" marL="30950" anchor="ctr"/>
                </a:tc>
                <a:tc>
                  <a:txBody>
                    <a:bodyPr/>
                    <a:lstStyle/>
                    <a:p>
                      <a:pPr indent="0" lvl="0" marL="0" marR="0" rtl="0" algn="l">
                        <a:lnSpc>
                          <a:spcPct val="115000"/>
                        </a:lnSpc>
                        <a:spcBef>
                          <a:spcPts val="0"/>
                        </a:spcBef>
                        <a:spcAft>
                          <a:spcPts val="0"/>
                        </a:spcAft>
                        <a:buNone/>
                      </a:pPr>
                      <a:r>
                        <a:rPr lang="fr-FR" sz="900" u="none" cap="none" strike="noStrike"/>
                        <a:t>Viral :myxovirus, para-influenzae 1 et 3.</a:t>
                      </a:r>
                      <a:endParaRPr/>
                    </a:p>
                    <a:p>
                      <a:pPr indent="0" lvl="0" marL="0" marR="0" rtl="0" algn="l">
                        <a:lnSpc>
                          <a:spcPct val="115000"/>
                        </a:lnSpc>
                        <a:spcBef>
                          <a:spcPts val="0"/>
                        </a:spcBef>
                        <a:spcAft>
                          <a:spcPts val="0"/>
                        </a:spcAft>
                        <a:buNone/>
                      </a:pPr>
                      <a:r>
                        <a:rPr lang="fr-FR" sz="900" u="none" cap="none" strike="noStrike"/>
                        <a:t>Bactérienne : rare</a:t>
                      </a:r>
                      <a:endParaRPr sz="1050" u="none" cap="none" strike="noStrike">
                        <a:latin typeface="Calibri"/>
                        <a:ea typeface="Calibri"/>
                        <a:cs typeface="Calibri"/>
                        <a:sym typeface="Calibri"/>
                      </a:endParaRPr>
                    </a:p>
                  </a:txBody>
                  <a:tcPr marT="0" marB="0" marR="30950" marL="30950" anchor="ctr"/>
                </a:tc>
                <a:tc>
                  <a:txBody>
                    <a:bodyPr/>
                    <a:lstStyle/>
                    <a:p>
                      <a:pPr indent="0" lvl="0" marL="0" marR="0" rtl="0" algn="l">
                        <a:lnSpc>
                          <a:spcPct val="115000"/>
                        </a:lnSpc>
                        <a:spcBef>
                          <a:spcPts val="0"/>
                        </a:spcBef>
                        <a:spcAft>
                          <a:spcPts val="0"/>
                        </a:spcAft>
                        <a:buNone/>
                      </a:pPr>
                      <a:r>
                        <a:rPr lang="fr-FR" sz="900" u="none" cap="none" strike="noStrike"/>
                        <a:t>Garçon&gt;fille</a:t>
                      </a:r>
                      <a:endParaRPr sz="1050" u="none" cap="none" strike="noStrike"/>
                    </a:p>
                    <a:p>
                      <a:pPr indent="0" lvl="0" marL="4762" marR="0" rtl="0" algn="l">
                        <a:lnSpc>
                          <a:spcPct val="115000"/>
                        </a:lnSpc>
                        <a:spcBef>
                          <a:spcPts val="0"/>
                        </a:spcBef>
                        <a:spcAft>
                          <a:spcPts val="0"/>
                        </a:spcAft>
                        <a:buNone/>
                      </a:pPr>
                      <a:r>
                        <a:rPr lang="fr-FR" sz="900" u="none" cap="none" strike="noStrike"/>
                        <a:t>1-3 ans</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Svt suite à rhinopharyngite fébrile</a:t>
                      </a:r>
                      <a:endParaRPr sz="1050" u="none" cap="none" strike="noStrike"/>
                    </a:p>
                    <a:p>
                      <a:pPr indent="0" lvl="0" marL="4762" marR="0" rtl="0" algn="l">
                        <a:lnSpc>
                          <a:spcPct val="115000"/>
                        </a:lnSpc>
                        <a:spcBef>
                          <a:spcPts val="0"/>
                        </a:spcBef>
                        <a:spcAft>
                          <a:spcPts val="0"/>
                        </a:spcAft>
                        <a:buNone/>
                      </a:pPr>
                      <a:r>
                        <a:rPr lang="fr-FR" sz="900" u="none" cap="none" strike="noStrike"/>
                        <a:t>-dyspnée nocturne, progressive : bradypnée insp+tirage+ cornage</a:t>
                      </a:r>
                      <a:endParaRPr sz="1050" u="none" cap="none" strike="noStrike"/>
                    </a:p>
                    <a:p>
                      <a:pPr indent="0" lvl="0" marL="4762" marR="0" rtl="0" algn="l">
                        <a:lnSpc>
                          <a:spcPct val="115000"/>
                        </a:lnSpc>
                        <a:spcBef>
                          <a:spcPts val="0"/>
                        </a:spcBef>
                        <a:spcAft>
                          <a:spcPts val="0"/>
                        </a:spcAft>
                        <a:buNone/>
                      </a:pPr>
                      <a:r>
                        <a:rPr lang="fr-FR" sz="900" u="none" cap="none" strike="noStrike"/>
                        <a:t>- toux rauque, aboyante</a:t>
                      </a:r>
                      <a:endParaRPr sz="1050" u="none" cap="none" strike="noStrike"/>
                    </a:p>
                    <a:p>
                      <a:pPr indent="0" lvl="0" marL="4762" marR="0" rtl="0" algn="l">
                        <a:lnSpc>
                          <a:spcPct val="115000"/>
                        </a:lnSpc>
                        <a:spcBef>
                          <a:spcPts val="0"/>
                        </a:spcBef>
                        <a:spcAft>
                          <a:spcPts val="0"/>
                        </a:spcAft>
                        <a:buNone/>
                      </a:pPr>
                      <a:r>
                        <a:rPr lang="fr-FR" sz="900" u="none" cap="none" strike="noStrike"/>
                        <a:t>Voix nle ou grave</a:t>
                      </a:r>
                      <a:endParaRPr sz="1050" u="none" cap="none" strike="noStrike"/>
                    </a:p>
                    <a:p>
                      <a:pPr indent="0" lvl="0" marL="4762" marR="0" rtl="0" algn="l">
                        <a:lnSpc>
                          <a:spcPct val="115000"/>
                        </a:lnSpc>
                        <a:spcBef>
                          <a:spcPts val="0"/>
                        </a:spcBef>
                        <a:spcAft>
                          <a:spcPts val="0"/>
                        </a:spcAft>
                        <a:buNone/>
                      </a:pPr>
                      <a:r>
                        <a:rPr lang="fr-FR" sz="900" u="none" cap="none" strike="noStrike"/>
                        <a:t>-Déglutition nle</a:t>
                      </a:r>
                      <a:endParaRPr sz="1050" u="none" cap="none" strike="noStrike"/>
                    </a:p>
                    <a:p>
                      <a:pPr indent="0" lvl="0" marL="4762" marR="0" rtl="0" algn="l">
                        <a:lnSpc>
                          <a:spcPct val="115000"/>
                        </a:lnSpc>
                        <a:spcBef>
                          <a:spcPts val="0"/>
                        </a:spcBef>
                        <a:spcAft>
                          <a:spcPts val="0"/>
                        </a:spcAft>
                        <a:buNone/>
                      </a:pPr>
                      <a:r>
                        <a:rPr lang="fr-FR" sz="900" u="none" cap="none" strike="noStrike"/>
                        <a:t>-Etat gl conservé</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T°=38-38°5</a:t>
                      </a:r>
                      <a:endParaRPr sz="1050" u="none" cap="none" strike="noStrike"/>
                    </a:p>
                    <a:p>
                      <a:pPr indent="0" lvl="0" marL="4762" marR="0" rtl="0" algn="l">
                        <a:lnSpc>
                          <a:spcPct val="115000"/>
                        </a:lnSpc>
                        <a:spcBef>
                          <a:spcPts val="0"/>
                        </a:spcBef>
                        <a:spcAft>
                          <a:spcPts val="0"/>
                        </a:spcAft>
                        <a:buNone/>
                      </a:pPr>
                      <a:r>
                        <a:rPr lang="fr-FR" sz="900" u="none" cap="none" strike="noStrike"/>
                        <a:t>Signes de rhinopharyngite</a:t>
                      </a:r>
                      <a:endParaRPr sz="1050" u="none" cap="none" strike="noStrike"/>
                    </a:p>
                    <a:p>
                      <a:pPr indent="0" lvl="0" marL="4762" marR="0" rtl="0" algn="l">
                        <a:lnSpc>
                          <a:spcPct val="115000"/>
                        </a:lnSpc>
                        <a:spcBef>
                          <a:spcPts val="0"/>
                        </a:spcBef>
                        <a:spcAft>
                          <a:spcPts val="0"/>
                        </a:spcAft>
                        <a:buNone/>
                      </a:pPr>
                      <a:r>
                        <a:rPr lang="fr-FR" sz="900" u="none" cap="none" strike="noStrike"/>
                        <a:t>Ausc : nle</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Dg Clinique, pas d’ex compl</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-ambulatoire</a:t>
                      </a:r>
                      <a:endParaRPr sz="1050" u="none" cap="none" strike="noStrike"/>
                    </a:p>
                    <a:p>
                      <a:pPr indent="0" lvl="0" marL="4762" marR="0" rtl="0" algn="l">
                        <a:lnSpc>
                          <a:spcPct val="115000"/>
                        </a:lnSpc>
                        <a:spcBef>
                          <a:spcPts val="0"/>
                        </a:spcBef>
                        <a:spcAft>
                          <a:spcPts val="0"/>
                        </a:spcAft>
                        <a:buNone/>
                      </a:pPr>
                      <a:r>
                        <a:rPr lang="fr-FR" sz="900" u="none" cap="none" strike="noStrike"/>
                        <a:t>Corticothérapie 0.3mg/kg renouvelé après 30min si persistance dyspnée</a:t>
                      </a:r>
                      <a:endParaRPr sz="1050" u="none" cap="none" strike="noStrike">
                        <a:latin typeface="Calibri"/>
                        <a:ea typeface="Calibri"/>
                        <a:cs typeface="Calibri"/>
                        <a:sym typeface="Calibri"/>
                      </a:endParaRPr>
                    </a:p>
                  </a:txBody>
                  <a:tcPr marT="0" marB="0" marR="30950" marL="30950" anchor="ctr"/>
                </a:tc>
              </a:tr>
              <a:tr h="1073750">
                <a:tc>
                  <a:txBody>
                    <a:bodyPr/>
                    <a:lstStyle/>
                    <a:p>
                      <a:pPr indent="0" lvl="0" marL="4762" marR="0" rtl="0" algn="l">
                        <a:lnSpc>
                          <a:spcPct val="115000"/>
                        </a:lnSpc>
                        <a:spcBef>
                          <a:spcPts val="0"/>
                        </a:spcBef>
                        <a:spcAft>
                          <a:spcPts val="0"/>
                        </a:spcAft>
                        <a:buNone/>
                      </a:pPr>
                      <a:r>
                        <a:rPr lang="fr-FR" sz="1100" u="none" cap="none" strike="noStrike"/>
                        <a:t>L’épiglottite ou laryngite sus glottique </a:t>
                      </a:r>
                      <a:endParaRPr sz="14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Bactérie : septicémie à Haemophilus influenzae type B</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3-6 ans</a:t>
                      </a:r>
                      <a:endParaRPr sz="1050" u="none" cap="none" strike="noStrike"/>
                    </a:p>
                    <a:p>
                      <a:pPr indent="0" lvl="0" marL="4762" marR="0" rtl="0" algn="l">
                        <a:lnSpc>
                          <a:spcPct val="115000"/>
                        </a:lnSpc>
                        <a:spcBef>
                          <a:spcPts val="0"/>
                        </a:spcBef>
                        <a:spcAft>
                          <a:spcPts val="0"/>
                        </a:spcAft>
                        <a:buNone/>
                      </a:pPr>
                      <a:r>
                        <a:rPr lang="fr-FR" sz="900" u="none" cap="none" strike="noStrike"/>
                        <a:t>Rare chez nourrisson</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-rhinopharyngite très fébrile </a:t>
                      </a:r>
                      <a:endParaRPr sz="1050" u="none" cap="none" strike="noStrike"/>
                    </a:p>
                    <a:p>
                      <a:pPr indent="0" lvl="0" marL="4762" marR="0" rtl="0" algn="l">
                        <a:lnSpc>
                          <a:spcPct val="115000"/>
                        </a:lnSpc>
                        <a:spcBef>
                          <a:spcPts val="0"/>
                        </a:spcBef>
                        <a:spcAft>
                          <a:spcPts val="0"/>
                        </a:spcAft>
                        <a:buNone/>
                      </a:pPr>
                      <a:r>
                        <a:rPr lang="fr-FR" sz="900" u="none" cap="none" strike="noStrike"/>
                        <a:t>-installation rapide </a:t>
                      </a:r>
                      <a:endParaRPr sz="1050" u="none" cap="none" strike="noStrike"/>
                    </a:p>
                    <a:p>
                      <a:pPr indent="0" lvl="0" marL="4762" marR="0" rtl="0" algn="l">
                        <a:lnSpc>
                          <a:spcPct val="115000"/>
                        </a:lnSpc>
                        <a:spcBef>
                          <a:spcPts val="0"/>
                        </a:spcBef>
                        <a:spcAft>
                          <a:spcPts val="0"/>
                        </a:spcAft>
                        <a:buNone/>
                      </a:pPr>
                      <a:r>
                        <a:rPr lang="fr-FR" sz="900" u="none" cap="none" strike="noStrike"/>
                        <a:t>-dyspnée et tirage impressionnants</a:t>
                      </a:r>
                      <a:endParaRPr sz="1050" u="none" cap="none" strike="noStrike"/>
                    </a:p>
                    <a:p>
                      <a:pPr indent="0" lvl="0" marL="4762" marR="0" rtl="0" algn="l">
                        <a:lnSpc>
                          <a:spcPct val="115000"/>
                        </a:lnSpc>
                        <a:spcBef>
                          <a:spcPts val="0"/>
                        </a:spcBef>
                        <a:spcAft>
                          <a:spcPts val="0"/>
                        </a:spcAft>
                        <a:buNone/>
                      </a:pPr>
                      <a:r>
                        <a:rPr lang="fr-FR" sz="900" u="none" cap="none" strike="noStrike"/>
                        <a:t>- position ssise, tête penchée en avant, bouche ouverte écoulement salive : difficulté de la déglutition </a:t>
                      </a:r>
                      <a:endParaRPr sz="1050" u="none" cap="none" strike="noStrike"/>
                    </a:p>
                    <a:p>
                      <a:pPr indent="0" lvl="0" marL="4762" marR="0" rtl="0" algn="l">
                        <a:lnSpc>
                          <a:spcPct val="115000"/>
                        </a:lnSpc>
                        <a:spcBef>
                          <a:spcPts val="0"/>
                        </a:spcBef>
                        <a:spcAft>
                          <a:spcPts val="0"/>
                        </a:spcAft>
                        <a:buNone/>
                      </a:pPr>
                      <a:r>
                        <a:rPr lang="fr-FR" sz="900" u="none" cap="none" strike="noStrike"/>
                        <a:t>- altération état général</a:t>
                      </a:r>
                      <a:endParaRPr sz="1050" u="none" cap="none" strike="noStrike"/>
                    </a:p>
                    <a:p>
                      <a:pPr indent="0" lvl="0" marL="4762" marR="0" rtl="0" algn="l">
                        <a:lnSpc>
                          <a:spcPct val="115000"/>
                        </a:lnSpc>
                        <a:spcBef>
                          <a:spcPts val="0"/>
                        </a:spcBef>
                        <a:spcAft>
                          <a:spcPts val="0"/>
                        </a:spcAft>
                        <a:buNone/>
                      </a:pPr>
                      <a:r>
                        <a:rPr lang="fr-FR" sz="900" u="none" cap="none" strike="noStrike"/>
                        <a:t>-Voix couverte, lointaine </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Examen interdit : risque d’apnée mortelle  endh de l’inspection </a:t>
                      </a:r>
                      <a:endParaRPr sz="1050" u="none" cap="none" strike="noStrike"/>
                    </a:p>
                    <a:p>
                      <a:pPr indent="0" lvl="0" marL="4762" marR="0" rtl="0" algn="l">
                        <a:lnSpc>
                          <a:spcPct val="115000"/>
                        </a:lnSpc>
                        <a:spcBef>
                          <a:spcPts val="0"/>
                        </a:spcBef>
                        <a:spcAft>
                          <a:spcPts val="0"/>
                        </a:spcAft>
                        <a:buNone/>
                      </a:pPr>
                      <a:r>
                        <a:rPr lang="fr-FR" sz="900" u="none" cap="none" strike="noStrike"/>
                        <a:t>T°&gt;39°</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Pas de place aux ex compl</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Hospitalisation réa</a:t>
                      </a:r>
                      <a:endParaRPr sz="1050" u="none" cap="none" strike="noStrike"/>
                    </a:p>
                    <a:p>
                      <a:pPr indent="0" lvl="0" marL="4762" marR="0" rtl="0" algn="l">
                        <a:lnSpc>
                          <a:spcPct val="115000"/>
                        </a:lnSpc>
                        <a:spcBef>
                          <a:spcPts val="0"/>
                        </a:spcBef>
                        <a:spcAft>
                          <a:spcPts val="0"/>
                        </a:spcAft>
                        <a:buNone/>
                      </a:pPr>
                      <a:r>
                        <a:rPr lang="fr-FR" sz="900" u="none" cap="none" strike="noStrike"/>
                        <a:t>ATB : céfotaxime (claforan) 200mg/kg/j</a:t>
                      </a:r>
                      <a:endParaRPr sz="1050" u="none" cap="none" strike="noStrike"/>
                    </a:p>
                    <a:p>
                      <a:pPr indent="0" lvl="0" marL="4762" marR="0" rtl="0" algn="l">
                        <a:lnSpc>
                          <a:spcPct val="115000"/>
                        </a:lnSpc>
                        <a:spcBef>
                          <a:spcPts val="0"/>
                        </a:spcBef>
                        <a:spcAft>
                          <a:spcPts val="0"/>
                        </a:spcAft>
                        <a:buNone/>
                      </a:pPr>
                      <a:r>
                        <a:rPr lang="fr-FR" sz="900" u="none" cap="none" strike="noStrike"/>
                        <a:t>Corticoïde : inefficace</a:t>
                      </a:r>
                      <a:endParaRPr sz="1050" u="none" cap="none" strike="noStrike">
                        <a:latin typeface="Calibri"/>
                        <a:ea typeface="Calibri"/>
                        <a:cs typeface="Calibri"/>
                        <a:sym typeface="Calibri"/>
                      </a:endParaRPr>
                    </a:p>
                  </a:txBody>
                  <a:tcPr marT="0" marB="0" marR="30950" marL="30950" anchor="ctr"/>
                </a:tc>
              </a:tr>
              <a:tr h="429500">
                <a:tc>
                  <a:txBody>
                    <a:bodyPr/>
                    <a:lstStyle/>
                    <a:p>
                      <a:pPr indent="0" lvl="0" marL="4762" marR="0" rtl="0" algn="l">
                        <a:lnSpc>
                          <a:spcPct val="115000"/>
                        </a:lnSpc>
                        <a:spcBef>
                          <a:spcPts val="0"/>
                        </a:spcBef>
                        <a:spcAft>
                          <a:spcPts val="0"/>
                        </a:spcAft>
                        <a:buNone/>
                      </a:pPr>
                      <a:r>
                        <a:rPr lang="fr-FR" sz="1100" u="none" cap="none" strike="noStrike"/>
                        <a:t>Laryngite striduleuse</a:t>
                      </a:r>
                      <a:endParaRPr sz="14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Spasme laryngé</a:t>
                      </a:r>
                      <a:endParaRPr sz="1050" u="none" cap="none" strike="noStrike">
                        <a:latin typeface="Calibri"/>
                        <a:ea typeface="Calibri"/>
                        <a:cs typeface="Calibri"/>
                        <a:sym typeface="Calibri"/>
                      </a:endParaRPr>
                    </a:p>
                  </a:txBody>
                  <a:tcPr marT="0" marB="0" marR="30950" marL="30950" anchor="ctr"/>
                </a:tc>
                <a:tc>
                  <a:txBody>
                    <a:bodyPr/>
                    <a:lstStyle/>
                    <a:p>
                      <a:pPr indent="0" lvl="0" marL="457200" marR="0" rtl="0" algn="l">
                        <a:lnSpc>
                          <a:spcPct val="115000"/>
                        </a:lnSpc>
                        <a:spcBef>
                          <a:spcPts val="0"/>
                        </a:spcBef>
                        <a:spcAft>
                          <a:spcPts val="0"/>
                        </a:spcAft>
                        <a:buNone/>
                      </a:pPr>
                      <a:r>
                        <a:rPr lang="fr-FR" sz="900" u="none" cap="none" strike="noStrike"/>
                        <a:t> </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Dyspnée laryngée suffocante svt nocturne, pfs cyanose</a:t>
                      </a:r>
                      <a:endParaRPr sz="1050" u="none" cap="none" strike="noStrike"/>
                    </a:p>
                    <a:p>
                      <a:pPr indent="0" lvl="0" marL="4762" marR="0" rtl="0" algn="l">
                        <a:lnSpc>
                          <a:spcPct val="115000"/>
                        </a:lnSpc>
                        <a:spcBef>
                          <a:spcPts val="0"/>
                        </a:spcBef>
                        <a:spcAft>
                          <a:spcPts val="0"/>
                        </a:spcAft>
                        <a:buNone/>
                      </a:pPr>
                      <a:r>
                        <a:rPr lang="fr-FR" sz="900" u="none" cap="none" strike="noStrike"/>
                        <a:t>Quintes toux</a:t>
                      </a:r>
                      <a:endParaRPr sz="1050" u="none" cap="none" strike="noStrike"/>
                    </a:p>
                    <a:p>
                      <a:pPr indent="0" lvl="0" marL="4762" marR="0" rtl="0" algn="l">
                        <a:lnSpc>
                          <a:spcPct val="115000"/>
                        </a:lnSpc>
                        <a:spcBef>
                          <a:spcPts val="0"/>
                        </a:spcBef>
                        <a:spcAft>
                          <a:spcPts val="0"/>
                        </a:spcAft>
                        <a:buNone/>
                      </a:pPr>
                      <a:r>
                        <a:rPr lang="fr-FR" sz="900" u="none" cap="none" strike="noStrike"/>
                        <a:t>Crise résolutive spontanément en qq min, &lt;1h</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Subfébrile</a:t>
                      </a:r>
                      <a:endParaRPr sz="1050" u="none" cap="none" strike="noStrike"/>
                    </a:p>
                    <a:p>
                      <a:pPr indent="0" lvl="0" marL="4762" marR="0" rtl="0" algn="l">
                        <a:lnSpc>
                          <a:spcPct val="115000"/>
                        </a:lnSpc>
                        <a:spcBef>
                          <a:spcPts val="0"/>
                        </a:spcBef>
                        <a:spcAft>
                          <a:spcPts val="0"/>
                        </a:spcAft>
                        <a:buNone/>
                      </a:pPr>
                      <a:r>
                        <a:rPr lang="fr-FR" sz="900" u="none" cap="none" strike="noStrike"/>
                        <a:t>Pfs associé à rougeole, varicelle </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Pas d’ex compl</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Ambulatoire, corticottt 3-4j (locale ou gle)</a:t>
                      </a:r>
                      <a:endParaRPr sz="1050" u="none" cap="none" strike="noStrike">
                        <a:latin typeface="Calibri"/>
                        <a:ea typeface="Calibri"/>
                        <a:cs typeface="Calibri"/>
                        <a:sym typeface="Calibri"/>
                      </a:endParaRPr>
                    </a:p>
                  </a:txBody>
                  <a:tcPr marT="0" marB="0" marR="30950" marL="30950" anchor="ctr"/>
                </a:tc>
              </a:tr>
              <a:tr h="1503250">
                <a:tc>
                  <a:txBody>
                    <a:bodyPr/>
                    <a:lstStyle/>
                    <a:p>
                      <a:pPr indent="0" lvl="0" marL="4762" marR="0" rtl="0" algn="l">
                        <a:lnSpc>
                          <a:spcPct val="115000"/>
                        </a:lnSpc>
                        <a:spcBef>
                          <a:spcPts val="0"/>
                        </a:spcBef>
                        <a:spcAft>
                          <a:spcPts val="0"/>
                        </a:spcAft>
                        <a:buNone/>
                      </a:pPr>
                      <a:r>
                        <a:rPr lang="fr-FR" sz="1100" u="none" cap="none" strike="noStrike"/>
                        <a:t>Laryngo-trachéo-bronchite</a:t>
                      </a:r>
                      <a:endParaRPr sz="140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Bact : staph aureus, haemophilus influenzae</a:t>
                      </a:r>
                      <a:endParaRPr sz="1050" u="none" cap="none" strike="noStrike"/>
                    </a:p>
                    <a:p>
                      <a:pPr indent="0" lvl="0" marL="4762" marR="0" rtl="0" algn="l">
                        <a:lnSpc>
                          <a:spcPct val="115000"/>
                        </a:lnSpc>
                        <a:spcBef>
                          <a:spcPts val="0"/>
                        </a:spcBef>
                        <a:spcAft>
                          <a:spcPts val="0"/>
                        </a:spcAft>
                        <a:buNone/>
                      </a:pPr>
                      <a:r>
                        <a:rPr lang="fr-FR" sz="900" u="none" cap="none" strike="noStrike"/>
                        <a:t>Plus rare : </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Garçon &gt;fille</a:t>
                      </a:r>
                      <a:endParaRPr sz="1050" u="none" cap="none" strike="noStrike"/>
                    </a:p>
                    <a:p>
                      <a:pPr indent="0" lvl="0" marL="0" marR="0" rtl="0" algn="l">
                        <a:lnSpc>
                          <a:spcPct val="115000"/>
                        </a:lnSpc>
                        <a:spcBef>
                          <a:spcPts val="0"/>
                        </a:spcBef>
                        <a:spcAft>
                          <a:spcPts val="0"/>
                        </a:spcAft>
                        <a:buNone/>
                      </a:pPr>
                      <a:r>
                        <a:rPr lang="fr-FR" sz="900" u="none" cap="none" strike="noStrike"/>
                        <a:t>Stt nourisson</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Au décours d’une laryngite sous glottique : aggravation de la dyspnée au début insp puis en 2 temps+ etat septique </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LI : fausses membranes crouteuse adhérentes envahissant la trachée, </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Pvt bactério endoscopie laryngo-trachéaledésobstructive peut donner une hémorragie grave</a:t>
                      </a:r>
                      <a:endParaRPr sz="1050" u="none" cap="none" strike="noStrike"/>
                    </a:p>
                    <a:p>
                      <a:pPr indent="0" lvl="0" marL="4762" marR="0" rtl="0" algn="l">
                        <a:lnSpc>
                          <a:spcPct val="115000"/>
                        </a:lnSpc>
                        <a:spcBef>
                          <a:spcPts val="0"/>
                        </a:spcBef>
                        <a:spcAft>
                          <a:spcPts val="0"/>
                        </a:spcAft>
                        <a:buNone/>
                      </a:pPr>
                      <a:r>
                        <a:rPr lang="fr-FR" sz="900" u="none" cap="none" strike="noStrike"/>
                        <a:t> </a:t>
                      </a:r>
                      <a:endParaRPr sz="1050" u="none" cap="none" strike="noStrike">
                        <a:latin typeface="Calibri"/>
                        <a:ea typeface="Calibri"/>
                        <a:cs typeface="Calibri"/>
                        <a:sym typeface="Calibri"/>
                      </a:endParaRPr>
                    </a:p>
                  </a:txBody>
                  <a:tcPr marT="0" marB="0" marR="30950" marL="30950" anchor="ctr"/>
                </a:tc>
                <a:tc>
                  <a:txBody>
                    <a:bodyPr/>
                    <a:lstStyle/>
                    <a:p>
                      <a:pPr indent="0" lvl="0" marL="4762" marR="0" rtl="0" algn="l">
                        <a:lnSpc>
                          <a:spcPct val="115000"/>
                        </a:lnSpc>
                        <a:spcBef>
                          <a:spcPts val="0"/>
                        </a:spcBef>
                        <a:spcAft>
                          <a:spcPts val="0"/>
                        </a:spcAft>
                        <a:buNone/>
                      </a:pPr>
                      <a:r>
                        <a:rPr lang="fr-FR" sz="900" u="none" cap="none" strike="noStrike"/>
                        <a:t>Hospitalisation</a:t>
                      </a:r>
                      <a:endParaRPr sz="1050" u="none" cap="none" strike="noStrike"/>
                    </a:p>
                    <a:p>
                      <a:pPr indent="0" lvl="0" marL="4762" marR="0" rtl="0" algn="l">
                        <a:lnSpc>
                          <a:spcPct val="115000"/>
                        </a:lnSpc>
                        <a:spcBef>
                          <a:spcPts val="0"/>
                        </a:spcBef>
                        <a:spcAft>
                          <a:spcPts val="0"/>
                        </a:spcAft>
                        <a:buNone/>
                      </a:pPr>
                      <a:r>
                        <a:rPr lang="fr-FR" sz="900" u="none" cap="none" strike="noStrike"/>
                        <a:t>Intubation </a:t>
                      </a:r>
                      <a:endParaRPr sz="1050" u="none" cap="none" strike="noStrike"/>
                    </a:p>
                    <a:p>
                      <a:pPr indent="0" lvl="0" marL="4762" marR="0" rtl="0" algn="l">
                        <a:lnSpc>
                          <a:spcPct val="115000"/>
                        </a:lnSpc>
                        <a:spcBef>
                          <a:spcPts val="0"/>
                        </a:spcBef>
                        <a:spcAft>
                          <a:spcPts val="0"/>
                        </a:spcAft>
                        <a:buNone/>
                      </a:pPr>
                      <a:r>
                        <a:rPr lang="fr-FR" sz="900" u="none" cap="none" strike="noStrike"/>
                        <a:t>ATB prolongée </a:t>
                      </a:r>
                      <a:endParaRPr sz="1050" u="none" cap="none" strike="noStrike">
                        <a:latin typeface="Calibri"/>
                        <a:ea typeface="Calibri"/>
                        <a:cs typeface="Calibri"/>
                        <a:sym typeface="Calibri"/>
                      </a:endParaRPr>
                    </a:p>
                  </a:txBody>
                  <a:tcPr marT="0" marB="0" marR="30950" marL="30950" anchor="ct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1_Conception personnalisé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larté">
  <a:themeElements>
    <a:clrScheme name="Civil">
      <a:dk1>
        <a:srgbClr val="000000"/>
      </a:dk1>
      <a:lt1>
        <a:srgbClr val="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2022-08-08T17:22:20Z</dcterms:created>
  <dc:creator>LENOVO</dc:creator>
</cp:coreProperties>
</file>
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9" r:id="rId2"/>
    <p:sldId id="257" r:id="rId3"/>
    <p:sldId id="275" r:id="rId4"/>
    <p:sldId id="27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358" r:id="rId16"/>
    <p:sldId id="268" r:id="rId17"/>
    <p:sldId id="278" r:id="rId18"/>
    <p:sldId id="269" r:id="rId19"/>
    <p:sldId id="270" r:id="rId20"/>
    <p:sldId id="271" r:id="rId21"/>
    <p:sldId id="272" r:id="rId22"/>
    <p:sldId id="273" r:id="rId23"/>
    <p:sldId id="274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390" r:id="rId32"/>
    <p:sldId id="287" r:id="rId33"/>
    <p:sldId id="359" r:id="rId34"/>
    <p:sldId id="289" r:id="rId35"/>
    <p:sldId id="290" r:id="rId36"/>
    <p:sldId id="292" r:id="rId37"/>
    <p:sldId id="291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11" r:id="rId48"/>
    <p:sldId id="302" r:id="rId49"/>
    <p:sldId id="303" r:id="rId50"/>
    <p:sldId id="304" r:id="rId51"/>
    <p:sldId id="360" r:id="rId52"/>
    <p:sldId id="306" r:id="rId53"/>
    <p:sldId id="361" r:id="rId54"/>
    <p:sldId id="308" r:id="rId55"/>
    <p:sldId id="362" r:id="rId56"/>
    <p:sldId id="310" r:id="rId57"/>
    <p:sldId id="363" r:id="rId58"/>
    <p:sldId id="313" r:id="rId59"/>
    <p:sldId id="364" r:id="rId60"/>
    <p:sldId id="315" r:id="rId61"/>
    <p:sldId id="365" r:id="rId62"/>
    <p:sldId id="317" r:id="rId63"/>
    <p:sldId id="366" r:id="rId64"/>
    <p:sldId id="319" r:id="rId65"/>
    <p:sldId id="320" r:id="rId66"/>
    <p:sldId id="367" r:id="rId67"/>
    <p:sldId id="321" r:id="rId68"/>
    <p:sldId id="368" r:id="rId69"/>
    <p:sldId id="324" r:id="rId70"/>
    <p:sldId id="369" r:id="rId71"/>
    <p:sldId id="326" r:id="rId72"/>
    <p:sldId id="370" r:id="rId73"/>
    <p:sldId id="328" r:id="rId74"/>
    <p:sldId id="371" r:id="rId75"/>
    <p:sldId id="330" r:id="rId76"/>
    <p:sldId id="331" r:id="rId77"/>
    <p:sldId id="332" r:id="rId78"/>
    <p:sldId id="333" r:id="rId79"/>
    <p:sldId id="373" r:id="rId80"/>
    <p:sldId id="347" r:id="rId81"/>
    <p:sldId id="346" r:id="rId82"/>
    <p:sldId id="337" r:id="rId83"/>
    <p:sldId id="338" r:id="rId84"/>
    <p:sldId id="339" r:id="rId85"/>
    <p:sldId id="348" r:id="rId86"/>
    <p:sldId id="340" r:id="rId87"/>
    <p:sldId id="374" r:id="rId88"/>
    <p:sldId id="375" r:id="rId89"/>
    <p:sldId id="342" r:id="rId90"/>
    <p:sldId id="344" r:id="rId91"/>
    <p:sldId id="376" r:id="rId92"/>
    <p:sldId id="351" r:id="rId93"/>
    <p:sldId id="352" r:id="rId94"/>
    <p:sldId id="353" r:id="rId95"/>
    <p:sldId id="357" r:id="rId96"/>
    <p:sldId id="355" r:id="rId97"/>
    <p:sldId id="356" r:id="rId98"/>
    <p:sldId id="377" r:id="rId99"/>
    <p:sldId id="378" r:id="rId100"/>
    <p:sldId id="380" r:id="rId101"/>
    <p:sldId id="381" r:id="rId102"/>
    <p:sldId id="382" r:id="rId103"/>
    <p:sldId id="383" r:id="rId104"/>
    <p:sldId id="386" r:id="rId105"/>
    <p:sldId id="387" r:id="rId106"/>
    <p:sldId id="388" r:id="rId107"/>
    <p:sldId id="389" r:id="rId108"/>
    <p:sldId id="384" r:id="rId109"/>
    <p:sldId id="385" r:id="rId110"/>
    <p:sldId id="350" r:id="rId1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9CFB6-5B57-4639-8897-CDB28F197ED9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DB24-8402-4200-AAFB-D29A9239E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4154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9CFB6-5B57-4639-8897-CDB28F197ED9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DB24-8402-4200-AAFB-D29A9239E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5125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9CFB6-5B57-4639-8897-CDB28F197ED9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DB24-8402-4200-AAFB-D29A9239E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4939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9CFB6-5B57-4639-8897-CDB28F197ED9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DB24-8402-4200-AAFB-D29A9239E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9441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9CFB6-5B57-4639-8897-CDB28F197ED9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DB24-8402-4200-AAFB-D29A9239E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5104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9CFB6-5B57-4639-8897-CDB28F197ED9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DB24-8402-4200-AAFB-D29A9239E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1985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9CFB6-5B57-4639-8897-CDB28F197ED9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DB24-8402-4200-AAFB-D29A9239E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4901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9CFB6-5B57-4639-8897-CDB28F197ED9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DB24-8402-4200-AAFB-D29A9239E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3059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9CFB6-5B57-4639-8897-CDB28F197ED9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DB24-8402-4200-AAFB-D29A9239E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5727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9CFB6-5B57-4639-8897-CDB28F197ED9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DB24-8402-4200-AAFB-D29A9239E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383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9CFB6-5B57-4639-8897-CDB28F197ED9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DB24-8402-4200-AAFB-D29A9239E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7135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C9CFB6-5B57-4639-8897-CDB28F197ED9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8DB24-8402-4200-AAFB-D29A9239E4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9103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209800" y="1071547"/>
            <a:ext cx="7772400" cy="2528904"/>
          </a:xfrm>
        </p:spPr>
        <p:txBody>
          <a:bodyPr>
            <a:normAutofit/>
          </a:bodyPr>
          <a:lstStyle/>
          <a:p>
            <a:r>
              <a:rPr lang="fr-FR" sz="3000" b="1" dirty="0">
                <a:latin typeface="Andalus" panose="02020603050405020304" pitchFamily="18" charset="-78"/>
                <a:ea typeface="+mn-ea"/>
                <a:cs typeface="Andalus" panose="02020603050405020304" pitchFamily="18" charset="-78"/>
              </a:rPr>
              <a:t>Préparation de Résidanat 2025</a:t>
            </a:r>
            <a:br>
              <a:rPr lang="fr-FR" sz="3000" b="1" dirty="0">
                <a:latin typeface="Andalus" panose="02020603050405020304" pitchFamily="18" charset="-78"/>
                <a:ea typeface="+mn-ea"/>
                <a:cs typeface="Andalus" panose="02020603050405020304" pitchFamily="18" charset="-78"/>
              </a:rPr>
            </a:br>
            <a:r>
              <a:rPr lang="fr-FR" sz="3000" b="1" dirty="0">
                <a:latin typeface="Andalus" panose="02020603050405020304" pitchFamily="18" charset="-78"/>
                <a:ea typeface="+mn-ea"/>
                <a:cs typeface="Andalus" panose="02020603050405020304" pitchFamily="18" charset="-78"/>
              </a:rPr>
              <a:t>Objectif : 72</a:t>
            </a:r>
            <a:br>
              <a:rPr lang="fr-FR" sz="3000" b="1" dirty="0">
                <a:latin typeface="Andalus" panose="02020603050405020304" pitchFamily="18" charset="-78"/>
                <a:ea typeface="+mn-ea"/>
                <a:cs typeface="Andalus" panose="02020603050405020304" pitchFamily="18" charset="-78"/>
              </a:rPr>
            </a:br>
            <a:r>
              <a:rPr lang="fr-FR" sz="4400" b="1" dirty="0">
                <a:solidFill>
                  <a:srgbClr val="C00000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Tuberculose pulmonaire commune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895600" y="4143380"/>
            <a:ext cx="6400800" cy="1495420"/>
          </a:xfrm>
        </p:spPr>
        <p:txBody>
          <a:bodyPr>
            <a:normAutofit fontScale="92500" lnSpcReduction="10000"/>
          </a:bodyPr>
          <a:lstStyle/>
          <a:p>
            <a:r>
              <a:rPr lang="fr-FR" sz="3200" b="1" dirty="0">
                <a:latin typeface="Andalus" panose="02020603050405020304" pitchFamily="18" charset="-78"/>
                <a:cs typeface="Andalus" panose="02020603050405020304" pitchFamily="18" charset="-78"/>
              </a:rPr>
              <a:t>Dr </a:t>
            </a:r>
            <a:r>
              <a:rPr lang="fr-FR" sz="3200" b="1" dirty="0" err="1">
                <a:latin typeface="Andalus" panose="02020603050405020304" pitchFamily="18" charset="-78"/>
                <a:cs typeface="Andalus" panose="02020603050405020304" pitchFamily="18" charset="-78"/>
              </a:rPr>
              <a:t>Samah</a:t>
            </a:r>
            <a:r>
              <a:rPr lang="fr-FR" sz="3200" b="1" dirty="0">
                <a:latin typeface="Andalus" panose="02020603050405020304" pitchFamily="18" charset="-78"/>
                <a:cs typeface="Andalus" panose="02020603050405020304" pitchFamily="18" charset="-78"/>
              </a:rPr>
              <a:t> JOOBEUR</a:t>
            </a:r>
          </a:p>
          <a:p>
            <a:r>
              <a:rPr lang="fr-FR" sz="3200" b="1" dirty="0">
                <a:latin typeface="Andalus" panose="02020603050405020304" pitchFamily="18" charset="-78"/>
                <a:cs typeface="Andalus" panose="02020603050405020304" pitchFamily="18" charset="-78"/>
              </a:rPr>
              <a:t>Service de Pneumologie</a:t>
            </a:r>
          </a:p>
          <a:p>
            <a:r>
              <a:rPr lang="fr-FR" sz="3200" b="1" dirty="0">
                <a:latin typeface="Andalus" panose="02020603050405020304" pitchFamily="18" charset="-78"/>
                <a:cs typeface="Andalus" panose="02020603050405020304" pitchFamily="18" charset="-78"/>
              </a:rPr>
              <a:t>CHU Monastir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1736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Concernant l’épidémiologie de la tuberculose dans le monde 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la 13</a:t>
            </a:r>
            <a:r>
              <a:rPr lang="fr-FR" baseline="30000" dirty="0"/>
              <a:t> </a:t>
            </a:r>
            <a:r>
              <a:rPr lang="fr-FR" baseline="30000" dirty="0" err="1"/>
              <a:t>ème</a:t>
            </a:r>
            <a:r>
              <a:rPr lang="fr-FR" baseline="30000" dirty="0"/>
              <a:t> </a:t>
            </a:r>
            <a:r>
              <a:rPr lang="fr-FR" dirty="0"/>
              <a:t>cause de mortalité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C’est la 5</a:t>
            </a:r>
            <a:r>
              <a:rPr lang="fr-FR" baseline="30000" dirty="0"/>
              <a:t>ème</a:t>
            </a:r>
            <a:r>
              <a:rPr lang="fr-FR" dirty="0"/>
              <a:t> cause de mortalité par maladie infectieuse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plus fréquente dans les pays en voie de développement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 taux de mortalité lié à la tuberculose a diminué en 2023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tuberculose résistante est plus fréquente dans les pays où la prévalence du SIDA est importante</a:t>
            </a:r>
          </a:p>
          <a:p>
            <a:pPr marL="514350" indent="-514350">
              <a:buFont typeface="+mj-lt"/>
              <a:buAutoNum type="alphaU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26475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Concernant l’épidémiologie de la tuberculose dans le monde 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Est la 13</a:t>
            </a:r>
            <a:r>
              <a:rPr lang="fr-FR" baseline="30000" dirty="0">
                <a:solidFill>
                  <a:srgbClr val="FF0000"/>
                </a:solidFill>
              </a:rPr>
              <a:t> </a:t>
            </a:r>
            <a:r>
              <a:rPr lang="fr-FR" baseline="30000" dirty="0" err="1">
                <a:solidFill>
                  <a:srgbClr val="FF0000"/>
                </a:solidFill>
              </a:rPr>
              <a:t>ème</a:t>
            </a:r>
            <a:r>
              <a:rPr lang="fr-FR" baseline="30000" dirty="0">
                <a:solidFill>
                  <a:srgbClr val="FF0000"/>
                </a:solidFill>
              </a:rPr>
              <a:t> </a:t>
            </a:r>
            <a:r>
              <a:rPr lang="fr-FR" dirty="0">
                <a:solidFill>
                  <a:srgbClr val="FF0000"/>
                </a:solidFill>
              </a:rPr>
              <a:t>cause de mortalité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C’est la 5</a:t>
            </a:r>
            <a:r>
              <a:rPr lang="fr-FR" baseline="30000" dirty="0"/>
              <a:t>ème</a:t>
            </a:r>
            <a:r>
              <a:rPr lang="fr-FR" dirty="0"/>
              <a:t> cause de mortalité par maladie infectieuse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Est plus fréquente dans les pays en voie de développement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Le taux de mortalité lié à la tuberculose a diminué en 2023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La tuberculose résistante est plus fréquente dans les pays où la prévalence du SIDA est importante</a:t>
            </a:r>
          </a:p>
          <a:p>
            <a:pPr marL="514350" indent="-514350">
              <a:buFont typeface="+mj-lt"/>
              <a:buAutoNum type="alphaUcPeriod"/>
            </a:pP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CE6EBEB-2414-F7A9-E297-0D9ADCC15FFA}"/>
              </a:ext>
            </a:extLst>
          </p:cNvPr>
          <p:cNvSpPr txBox="1"/>
          <p:nvPr/>
        </p:nvSpPr>
        <p:spPr>
          <a:xfrm>
            <a:off x="1818968" y="6253316"/>
            <a:ext cx="4129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C’est la 2</a:t>
            </a:r>
            <a:r>
              <a:rPr lang="fr-FR" baseline="30000" dirty="0"/>
              <a:t>ème</a:t>
            </a:r>
            <a:r>
              <a:rPr lang="fr-FR" dirty="0"/>
              <a:t> cause de mortalité</a:t>
            </a:r>
          </a:p>
        </p:txBody>
      </p:sp>
    </p:spTree>
    <p:extLst>
      <p:ext uri="{BB962C8B-B14F-4D97-AF65-F5344CB8AC3E}">
        <p14:creationId xmlns:p14="http://schemas.microsoft.com/office/powerpoint/2010/main" val="3656603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Concernant la tuberculose en Tunisie 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 taux d’incidence est estimé à 30/100000 H en 2023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coïnfection VIH-</a:t>
            </a:r>
            <a:r>
              <a:rPr lang="fr-FR" dirty="0" err="1"/>
              <a:t>Tbc</a:t>
            </a:r>
            <a:r>
              <a:rPr lang="fr-FR" dirty="0"/>
              <a:t> représente 10% des nouveaux cas de </a:t>
            </a:r>
            <a:r>
              <a:rPr lang="fr-FR" dirty="0" err="1"/>
              <a:t>Tbc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tuberculose pulmonaire constitue 80 % de toutes les formes de la maladie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Il existe une variabilité des taux d’incidence entre les régions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Il existe un certain déclin des formes ganglionnaires entre 2017 et 2023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7735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Concernant la tuberculose en Tunisie 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 taux d’incidence est estimé à 30/100000 H en 2023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coïnfection VIH-</a:t>
            </a:r>
            <a:r>
              <a:rPr lang="fr-FR" dirty="0" err="1"/>
              <a:t>Tbc</a:t>
            </a:r>
            <a:r>
              <a:rPr lang="fr-FR" dirty="0"/>
              <a:t> représente 10% des nouveaux cas de </a:t>
            </a:r>
            <a:r>
              <a:rPr lang="fr-FR" dirty="0" err="1"/>
              <a:t>Tbc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tuberculose pulmonaire constitue 80 % de toutes les formes de la maladie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Il existe une variabilité des taux d’incidence entre les régions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Il existe un certain déclin des formes ganglionnaires entre 2017 et 2023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2402B30-A35C-B6FE-377C-39AB8CB95FBD}"/>
              </a:ext>
            </a:extLst>
          </p:cNvPr>
          <p:cNvSpPr txBox="1"/>
          <p:nvPr/>
        </p:nvSpPr>
        <p:spPr>
          <a:xfrm>
            <a:off x="1868129" y="5791199"/>
            <a:ext cx="3923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26,3/100000 H</a:t>
            </a:r>
          </a:p>
          <a:p>
            <a:r>
              <a:rPr lang="fr-FR" dirty="0"/>
              <a:t>3,5%</a:t>
            </a:r>
          </a:p>
          <a:p>
            <a:r>
              <a:rPr lang="fr-FR" dirty="0"/>
              <a:t>36,3%</a:t>
            </a:r>
          </a:p>
        </p:txBody>
      </p:sp>
    </p:spTree>
    <p:extLst>
      <p:ext uri="{BB962C8B-B14F-4D97-AF65-F5344CB8AC3E}">
        <p14:creationId xmlns:p14="http://schemas.microsoft.com/office/powerpoint/2010/main" val="2248307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Parmi les affirmations suivantes, on retient: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 BK est un germe aérobie strict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structure de la paroi du BK lui confère une résistance naturelle à des nombreux antibiotiques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 complexe </a:t>
            </a:r>
            <a:r>
              <a:rPr lang="fr-FR" dirty="0" err="1"/>
              <a:t>tuberculosis</a:t>
            </a:r>
            <a:r>
              <a:rPr lang="fr-FR" dirty="0"/>
              <a:t> est un groupe de mycobactéries ayant des exigences nutritionnelles élevées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coloration GRAM permet d'identifier le BK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/>
              <a:t>Le gène </a:t>
            </a:r>
            <a:r>
              <a:rPr lang="fr-FR" dirty="0" err="1"/>
              <a:t>Xpert</a:t>
            </a:r>
            <a:r>
              <a:rPr lang="fr-FR" dirty="0"/>
              <a:t> permet d’identifier la résistance du MT à la Rifampicine </a:t>
            </a:r>
          </a:p>
        </p:txBody>
      </p:sp>
    </p:spTree>
    <p:extLst>
      <p:ext uri="{BB962C8B-B14F-4D97-AF65-F5344CB8AC3E}">
        <p14:creationId xmlns:p14="http://schemas.microsoft.com/office/powerpoint/2010/main" val="1393420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Parmi les affirmations suivantes, on retient: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Le BK est un germe aérobie strict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La structure de la paroi du BK lui confère une résistance naturelle à des nombreux antibiotiques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Le complexe </a:t>
            </a:r>
            <a:r>
              <a:rPr lang="fr-FR" dirty="0" err="1">
                <a:solidFill>
                  <a:srgbClr val="FF0000"/>
                </a:solidFill>
              </a:rPr>
              <a:t>tuberculosis</a:t>
            </a:r>
            <a:r>
              <a:rPr lang="fr-FR" dirty="0">
                <a:solidFill>
                  <a:srgbClr val="FF0000"/>
                </a:solidFill>
              </a:rPr>
              <a:t> est un groupe de mycobactéries ayant des exigences nutritionnelles élevées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coloration GRAM permet d'identifier le BK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Le gène </a:t>
            </a:r>
            <a:r>
              <a:rPr lang="fr-FR" dirty="0" err="1">
                <a:solidFill>
                  <a:srgbClr val="FF0000"/>
                </a:solidFill>
              </a:rPr>
              <a:t>Xpert</a:t>
            </a:r>
            <a:r>
              <a:rPr lang="fr-FR" dirty="0">
                <a:solidFill>
                  <a:srgbClr val="FF0000"/>
                </a:solidFill>
              </a:rPr>
              <a:t> permet d’identifier la résistance du MT à la Rifampicine </a:t>
            </a:r>
          </a:p>
        </p:txBody>
      </p:sp>
    </p:spTree>
    <p:extLst>
      <p:ext uri="{BB962C8B-B14F-4D97-AF65-F5344CB8AC3E}">
        <p14:creationId xmlns:p14="http://schemas.microsoft.com/office/powerpoint/2010/main" val="3854228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Les facteurs qui augmentent le risque d'évolution d'une infection tuberculeuse latente à une tuberculose pulmonaire commune sont 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toxicomanie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L’infection au VIH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L’obésité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Les enfants âgés de plus de 5 ans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pré ménopause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1225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Les facteurs qui augmentent le risque d'évolution d'une infection tuberculeuse latente à une tuberculose pulmonaire commune sont 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La toxicomanie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L’infection au VIH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L’obésité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Les enfants âgés de plus de 5 ans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pré ménopause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5764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/>
              <a:t>Le diagnostic d’une PIT latente peut être retenu 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Chez un enfant âgé de 3 ans asymptomatique contact d’un tuberculeux </a:t>
            </a:r>
            <a:r>
              <a:rPr lang="fr-FR" dirty="0" err="1"/>
              <a:t>bacillifère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En cas de virage récent de l’IDR à la tuberculine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Chez un enfant ayant une toux avec infiltrat apical à la radiographie thoracique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Chez un sujet ayant un test de détection de la production d’interféron gamma (</a:t>
            </a:r>
            <a:r>
              <a:rPr lang="fr-FR" dirty="0" err="1"/>
              <a:t>Quantiféron</a:t>
            </a:r>
            <a:r>
              <a:rPr lang="fr-FR" dirty="0"/>
              <a:t>) positif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Chez un enfant vacciné asymptomatique sans facteur de risque ayant une IDR à 12 mm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48597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/>
              <a:t>Le diagnostic d’une PIT latente peut être retenu 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Chez un enfant âgé de 3 ans asymptomatique contact d’un tuberculeux </a:t>
            </a:r>
            <a:r>
              <a:rPr lang="fr-FR" dirty="0" err="1">
                <a:solidFill>
                  <a:srgbClr val="FF0000"/>
                </a:solidFill>
              </a:rPr>
              <a:t>bacillifère</a:t>
            </a:r>
            <a:endParaRPr lang="fr-FR" dirty="0">
              <a:solidFill>
                <a:srgbClr val="FF0000"/>
              </a:solidFill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En cas de virage récent de l’IDR à la tuberculine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Chez un enfant ayant une toux avec infiltrat apical à la radiographie thoracique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Chez un sujet ayant un test de détection de la production d’interféron gamma (</a:t>
            </a:r>
            <a:r>
              <a:rPr lang="fr-FR" dirty="0" err="1">
                <a:solidFill>
                  <a:srgbClr val="FF0000"/>
                </a:solidFill>
              </a:rPr>
              <a:t>Quantiféron</a:t>
            </a:r>
            <a:r>
              <a:rPr lang="fr-FR" dirty="0">
                <a:solidFill>
                  <a:srgbClr val="FF0000"/>
                </a:solidFill>
              </a:rPr>
              <a:t>) positif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Chez un enfant vacciné asymptomatique sans facteur de risque ayant une IDR à 12 mm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20277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Concernant l’immunité développée au cours de l’infection tuberculeuse 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Elle s'installe 2 semaines à 2 mois après le premier contact avec le BK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Il s’agit d’une réponse principalement à médiation humorale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Il s’agit d’une réponse principalement cellulaire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L’IDR explore l’hypersensibilité immédiate à la tuberculine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prise d’anti-TNFα augmente le risque de développer une tuberculose maladie en cas d’infection tuberculeuse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18251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Concernant l’immunité développée au cours de l’infection tuberculeuse 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Elle s'installe 2 semaines à 2 mois après le premier contact avec le BK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Il s’agit d’une réponse principalement à médiation humorale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Il s’agit d’une réponse principalement cellulaire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L’IDR explore l’hypersensibilité immédiate à la tuberculine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La prise d’anti-TNFα augmente le risque de développer une tuberculose maladie en cas d’infection tuberculeuse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76742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Les facteurs de risque de la tuberculose pulmonaire commune sont : 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 séjour en milieu carcéral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L’insuffisance rénale chronique dialysée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L’allaitement maternel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L’infection VIH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L’infection respiratoire basse traitée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56337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Les facteurs de risque de la tuberculose pulmonaire commune sont : 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Le séjour en milieu carcéral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L’insuffisance rénale chronique dialysée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L’allaitement maternel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L’infection VIH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L’infection respiratoire basse traitée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7826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Parmi les facteurs suivants lesquels augmentent le risque de développer une tuberculose en cas d’infection tuberculeuse latente 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 diabète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prise au long cours de corticoïdes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coïnfection par le virus de l'hépatite B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coïnfection par le VIH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L’éthylisme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96355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Parmi les facteurs suivants lesquels augmentent le risque de développer une tuberculose en cas d’infection tuberculeuse latente ?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Le diabète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La prise au long cours de corticoïdes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coïnfection par le virus de l'hépatite B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La coïnfection par le VIH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L’éthylisme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34935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 </a:t>
            </a:r>
            <a:r>
              <a:rPr lang="fr-FR" b="1" dirty="0"/>
              <a:t>Le risque de transmission du bacille tuberculeux est d'autant plus élevé en cas de 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BAAR visibles à l'examen microscopique des produits d'expectoration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Proximité et longue exposition avec la source de contamination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Retard dans l'instauration du traitement antituberculeux du malade contagieux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err="1"/>
              <a:t>Tbc</a:t>
            </a:r>
            <a:r>
              <a:rPr lang="fr-FR" dirty="0"/>
              <a:t> pulmonaire non excavée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Méningite tuberculeuse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23546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 </a:t>
            </a:r>
            <a:r>
              <a:rPr lang="fr-FR" b="1" dirty="0"/>
              <a:t>Le risque de transmission du bacille tuberculeux est d'autant plus élevé en cas de 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BAAR visibles à l'examen microscopique des produits d'expectoration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Proximité et longue exposition avec la source de contamination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Retard dans l'instauration du traitement antituberculeux du malade contagieux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err="1"/>
              <a:t>Tbc</a:t>
            </a:r>
            <a:r>
              <a:rPr lang="fr-FR" dirty="0"/>
              <a:t> pulmonaire non excavée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Méningite tuberculeuse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55301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Parmi les affirmations suivantes concernant la nécrose caséeuse, lesquelles sont exactes ?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Sa présence dans les biopsies tissulaires est très en faveur d’une infection tuberculeuse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Elle est contemporaine de la mise en place de l’immunité cellulaire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Elle est le siège d’une multiplication intense du bacille tuberculeux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Elle correspond à la lyse des macrophages infectés par le bacille tuberculeux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Son ramollissement est de bon pronostic et traduit la guérison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2200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Parmi les affirmations suivantes concernant la nécrose caséeuse, lesquelles sont exactes ?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Sa présence dans les biopsies tissulaires est très en faveur d’une infection tuberculeuse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Elle est contemporaine de la mise en place de l’immunité cellulaire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C000"/>
                </a:solidFill>
              </a:rPr>
              <a:t>Elle est le siège d’une multiplication intense du bacille tuberculeux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Elle correspond à la lyse des macrophages infectés par le bacille tuberculeux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Son ramollissement est de bon pronostic et traduit la guérison</a:t>
            </a:r>
          </a:p>
          <a:p>
            <a:pPr marL="514350" indent="-514350">
              <a:buFont typeface="+mj-lt"/>
              <a:buAutoNum type="alphaU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93718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L'infection tuberculeuse latente 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une forme clinique contagieuse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Se caractérise par des cultures positives des prélèvements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S'accompagne d'une IDR à la tuberculine et de tests IGRA positifs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Se caractérise par un titre élevé d’anticorps dirigés contre </a:t>
            </a:r>
            <a:r>
              <a:rPr lang="fr-FR" dirty="0" err="1"/>
              <a:t>Mycobacterium</a:t>
            </a:r>
            <a:r>
              <a:rPr lang="fr-FR" dirty="0"/>
              <a:t> </a:t>
            </a:r>
            <a:r>
              <a:rPr lang="fr-FR" dirty="0" err="1"/>
              <a:t>tuberculosis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Evolue dans 90% des cas vers une maladie tuberculeuse</a:t>
            </a:r>
          </a:p>
          <a:p>
            <a:pPr marL="514350" indent="-514350">
              <a:buFont typeface="+mj-lt"/>
              <a:buAutoNum type="alphaU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18615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L'infection tuberculeuse latente 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une forme clinique contagieuse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Se caractérise par des cultures positives des prélèvements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S'accompagne d'une IDR à la tuberculine et de tests IGRA positifs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Se caractérise par un titre élevé d’anticorps dirigés contre </a:t>
            </a:r>
            <a:r>
              <a:rPr lang="fr-FR" dirty="0" err="1"/>
              <a:t>Mycobacterium</a:t>
            </a:r>
            <a:r>
              <a:rPr lang="fr-FR" dirty="0"/>
              <a:t> </a:t>
            </a:r>
            <a:r>
              <a:rPr lang="fr-FR" dirty="0" err="1"/>
              <a:t>tuberculosis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Evolue dans 90% des cas vers une maladie tuberculeuse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8049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La présence de granulomes </a:t>
            </a:r>
            <a:r>
              <a:rPr lang="fr-FR" b="1" dirty="0" err="1"/>
              <a:t>épithélioïdes</a:t>
            </a:r>
            <a:r>
              <a:rPr lang="fr-FR" b="1" dirty="0"/>
              <a:t> et </a:t>
            </a:r>
            <a:r>
              <a:rPr lang="fr-FR" b="1" dirty="0" err="1"/>
              <a:t>giganto-cellulaires</a:t>
            </a:r>
            <a:r>
              <a:rPr lang="fr-FR" b="1" dirty="0"/>
              <a:t> sans nécrose caséeuse peut être en rapport avec 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Une pneumopathie d’hypersensibilité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Une tumeur </a:t>
            </a:r>
            <a:r>
              <a:rPr lang="fr-FR" dirty="0" err="1"/>
              <a:t>carcinoide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Une sarcoïdose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Une tuberculose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/>
              <a:t>Une silicose</a:t>
            </a:r>
          </a:p>
        </p:txBody>
      </p:sp>
    </p:spTree>
    <p:extLst>
      <p:ext uri="{BB962C8B-B14F-4D97-AF65-F5344CB8AC3E}">
        <p14:creationId xmlns:p14="http://schemas.microsoft.com/office/powerpoint/2010/main" val="2933080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La présence de granulomes </a:t>
            </a:r>
            <a:r>
              <a:rPr lang="fr-FR" b="1" dirty="0" err="1"/>
              <a:t>épithélioïdes</a:t>
            </a:r>
            <a:r>
              <a:rPr lang="fr-FR" b="1" dirty="0"/>
              <a:t> et </a:t>
            </a:r>
            <a:r>
              <a:rPr lang="fr-FR" b="1" dirty="0" err="1"/>
              <a:t>giganto-cellulaires</a:t>
            </a:r>
            <a:r>
              <a:rPr lang="fr-FR" b="1" dirty="0"/>
              <a:t> sans nécrose caséeuse peut être en rapport avec 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Une pneumopathie d’hypersensibilité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Une tumeur </a:t>
            </a:r>
            <a:r>
              <a:rPr lang="fr-FR" dirty="0" err="1"/>
              <a:t>carcinoide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Une sarcoïdose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Une tuberculose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Une silicose</a:t>
            </a:r>
          </a:p>
        </p:txBody>
      </p:sp>
    </p:spTree>
    <p:extLst>
      <p:ext uri="{BB962C8B-B14F-4D97-AF65-F5344CB8AC3E}">
        <p14:creationId xmlns:p14="http://schemas.microsoft.com/office/powerpoint/2010/main" val="3346853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/>
              <a:t>Concernant les tests cutanés tuberculiniques : 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réaction cutanée est à lire 72 heures après la réalisation du test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 test n’ayant entraîné aucune réaction permet d’exclure toute infection tuberculeuse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Chez l’enfant en bonne santé vacciné par le BCG, une réaction à plus de 10 mm est un critère suffisant pour confirmer une infection tuberculeuse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Une IDR supérieure à 12 mm chez un enfant en bonne santé âgé de 10 ans ayant un père tuberculeux indique une </a:t>
            </a:r>
            <a:r>
              <a:rPr lang="fr-FR" dirty="0" err="1"/>
              <a:t>chimioprophylaxie</a:t>
            </a:r>
            <a:r>
              <a:rPr lang="fr-FR" dirty="0"/>
              <a:t>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/>
              <a:t>Un sujet vacciné par le BCG, son IDR est constamment positive </a:t>
            </a:r>
          </a:p>
        </p:txBody>
      </p:sp>
    </p:spTree>
    <p:extLst>
      <p:ext uri="{BB962C8B-B14F-4D97-AF65-F5344CB8AC3E}">
        <p14:creationId xmlns:p14="http://schemas.microsoft.com/office/powerpoint/2010/main" val="2813936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/>
              <a:t>Concernant les tests cutanés tuberculiniques : 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La réaction cutanée est à lire 72 heures après la réalisation du test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 test n’ayant entraîné aucune réaction permet d’exclure toute infection tuberculeuse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Chez l’enfant en bonne santé vacciné par le BCG, une réaction à plus de 10 mm est un critère suffisant pour confirmer une infection tuberculeuse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Une IDR supérieure à 12 mm chez un enfant en bonne santé âgé de 10 ans ayant un père tuberculeux indique une </a:t>
            </a:r>
            <a:r>
              <a:rPr lang="fr-FR" dirty="0" err="1"/>
              <a:t>chimioprophylaxie</a:t>
            </a:r>
            <a:r>
              <a:rPr lang="fr-FR" dirty="0"/>
              <a:t>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/>
              <a:t>Un sujet vacciné par le BCG, son IDR est constamment positive </a:t>
            </a:r>
          </a:p>
        </p:txBody>
      </p:sp>
    </p:spTree>
    <p:extLst>
      <p:ext uri="{BB962C8B-B14F-4D97-AF65-F5344CB8AC3E}">
        <p14:creationId xmlns:p14="http://schemas.microsoft.com/office/powerpoint/2010/main" val="60443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Le diagnostic différentiel de la tuberculose – infection (forme patente) se pose avec 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Pneumopathie d’hypersensibilité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Syndrome de LOFGREN (sarcoïdose)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Erythème noueux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Bulle d’emphysème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Fièvre typhoïde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0813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Le diagnostic différentiel de la tuberculose – infection (forme patente) se pose avec 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Pneumopathie d’hypersensibilité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Syndrome de LOFGREN (sarcoïdose)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Erythème noueux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Bulle d’emphysème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Fièvre typhoïde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3947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/>
              <a:t>Parmi les assertions suivantes</a:t>
            </a:r>
            <a:r>
              <a:rPr lang="fr-FR" b="1" dirty="0" smtClean="0"/>
              <a:t>, on retient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tuberculose pulmonaire est une affection microbienne et transmissible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Une toux productive inexpliquée dépassant 2-3 semaines devrait être suspectée de tuberculose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L’identification des BK se faisant habituellement sur les crachats collectés le soir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caverne tuberculeuse est richement </a:t>
            </a:r>
            <a:r>
              <a:rPr lang="fr-FR" dirty="0" err="1"/>
              <a:t>bacillifère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L’apport du scanner thoracique est important pour le diagnostic de la tuberculose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09524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/>
              <a:t>Parmi les assertions suivantes</a:t>
            </a:r>
            <a:r>
              <a:rPr lang="fr-FR" b="1" dirty="0" smtClean="0"/>
              <a:t>, on retient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La tuberculose pulmonaire est une affection microbienne et transmissible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Une toux productive inexpliquée dépassant 2-3 semaines devrait être suspectée de tuberculose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L’identification des BK se faisant habituellement sur les crachats collectés le soir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La caverne tuberculeuse est richement </a:t>
            </a:r>
            <a:r>
              <a:rPr lang="fr-FR" dirty="0" err="1">
                <a:solidFill>
                  <a:srgbClr val="FF0000"/>
                </a:solidFill>
              </a:rPr>
              <a:t>bacillifère</a:t>
            </a:r>
            <a:endParaRPr lang="fr-FR" dirty="0">
              <a:solidFill>
                <a:srgbClr val="FF0000"/>
              </a:solidFill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L’apport du scanner thoracique est important pour le diagnostic de la tuberculose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70993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La tuberculose maladie est confirmée par 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 test sanguin IGRA positif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Une IDR à 15mm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présence de BAAR dans les expectorations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 </a:t>
            </a:r>
            <a:r>
              <a:rPr lang="fr-FR" dirty="0" err="1"/>
              <a:t>PETscan</a:t>
            </a:r>
            <a:r>
              <a:rPr lang="fr-FR" dirty="0"/>
              <a:t> avec une fixation métabolique importante (SUV &gt; 25)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présence de granulome(s) avec nécrose 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41981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La tuberculose maladie est confirmée par 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 test sanguin IGRA positif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Une IDR à 15mm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La présence de BAAR dans les expectorations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 </a:t>
            </a:r>
            <a:r>
              <a:rPr lang="fr-FR" dirty="0" err="1"/>
              <a:t>PETscan</a:t>
            </a:r>
            <a:r>
              <a:rPr lang="fr-FR" dirty="0"/>
              <a:t> avec une fixation métabolique importante (SUV &gt; 25)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La présence de granulome(s) avec nécrose 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67999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b="1" dirty="0"/>
              <a:t>Parmi les caractéristiques suivantes de la tuberculose pulmonaires, on retient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 diagnostic se base sur la </a:t>
            </a:r>
            <a:r>
              <a:rPr lang="fr-FR" dirty="0" err="1"/>
              <a:t>bacilloscopie</a:t>
            </a:r>
            <a:r>
              <a:rPr lang="fr-FR" dirty="0"/>
              <a:t>, notamment, l’examen microscopique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Une toux productive plus de trois semaines devra faire suspecter la tuberculose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L’intérêt de l’examen physique pulmonaire dans le diagnostic est primordial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miliaire tuberculeuse représente la forme la plus contagieuse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 monomorphisme radiologique est de règle dans la tuberculose pulmonaire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44535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b="1" dirty="0"/>
              <a:t>Parmi les caractéristiques suivantes de la tuberculose pulmonaires, on retient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Le diagnostic se base sur la </a:t>
            </a:r>
            <a:r>
              <a:rPr lang="fr-FR" dirty="0" err="1">
                <a:solidFill>
                  <a:srgbClr val="FF0000"/>
                </a:solidFill>
              </a:rPr>
              <a:t>bacilloscopie</a:t>
            </a:r>
            <a:r>
              <a:rPr lang="fr-FR" dirty="0">
                <a:solidFill>
                  <a:srgbClr val="FF0000"/>
                </a:solidFill>
              </a:rPr>
              <a:t>, notamment, l’examen microscopique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Une toux productive plus de trois semaines devra faire suspecter la tuberculose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L’intérêt de l’examen physique pulmonaire dans le diagnostic est primordial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miliaire tuberculeuse représente la forme la plus contagieuse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 monomorphisme radiologique est de règle dans la tuberculose pulmonaire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6056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/>
              <a:t>Concernant la tuberculose pulmonaire commune, on retient: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Une hémoptysie chez un jeune devra faire suspecter la tuberculose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 infiltrat apical sur la radiographie thoracique est en faveur du diagnostic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 diagnostic se base sur la positivité des tests cutanés tuberculiniques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Les formes nodulaires sont plus contagieuses que les formes cavitaires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 traitement antituberculeux dépend de l’étendue des anomalies radiologiques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43019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/>
              <a:t>Concernant la tuberculose pulmonaire commune, on retient: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Une hémoptysie chez un jeune devra faire suspecter la tuberculose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Un infiltrat apical sur la radiographie thoracique est en faveur du diagnostic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 diagnostic se base sur la positivité des tests cutanés tuberculiniques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Les formes nodulaires sont plus contagieuses que les formes cavitaires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 traitement antituberculeux dépend de l’étendue des anomalies radiologiques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32282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La tuberculose pulmonaire commune est évoquée radiologiquement devant 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une opacité excavée gauche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une opacité </a:t>
            </a:r>
            <a:r>
              <a:rPr lang="fr-FR" dirty="0" err="1"/>
              <a:t>médiastinopulmonaire</a:t>
            </a:r>
            <a:r>
              <a:rPr lang="fr-FR" dirty="0"/>
              <a:t> droite 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une opacité apicale avec lyse costale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 aspect en lâcher de ballons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des images nodulaires localisées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85126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La tuberculose pulmonaire commune est évoquée radiologiquement devant 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une opacité excavée gauche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une opacité </a:t>
            </a:r>
            <a:r>
              <a:rPr lang="fr-FR" dirty="0" err="1"/>
              <a:t>médiastinopulmonaire</a:t>
            </a:r>
            <a:r>
              <a:rPr lang="fr-FR" dirty="0"/>
              <a:t> droite 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une opacité apicale avec lyse costale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 aspect en lâcher de ballons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des images nodulaires localisées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8419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La tuberculose pulmonaire au cours du SIDA présente les particularités suivantes 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présence d'adénopathies multiples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IDR à la tuberculine </a:t>
            </a:r>
            <a:r>
              <a:rPr lang="fr-FR" dirty="0" err="1"/>
              <a:t>phlycténulaire</a:t>
            </a:r>
            <a:r>
              <a:rPr lang="fr-FR" dirty="0"/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fréquence accrue de la miliaire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les excavations sont fréquentes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 traitement antituberculeux doit être prolongé à 12 mois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5359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La tuberculose pulmonaire au cours du SIDA présente les particularités suivantes 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présence d'adénopathies multiples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IDR à la tuberculine </a:t>
            </a:r>
            <a:r>
              <a:rPr lang="fr-FR" dirty="0" err="1"/>
              <a:t>phlycténulaire</a:t>
            </a:r>
            <a:r>
              <a:rPr lang="fr-FR" dirty="0"/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fréquence accrue de la miliaire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les excavations sont fréquentes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 traitement antituberculeux doit être prolongé à 12 mois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74215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L’association tuberculose-diabète présente les caractéristiques suivantes 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des lésions radiologiques peu étendues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 retard de négativation bactériologique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une régression radiologique lente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 risque plus important de rechute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une IDR à la tuberculine constamment négative</a:t>
            </a:r>
          </a:p>
          <a:p>
            <a:pPr marL="514350" indent="-514350">
              <a:buFont typeface="+mj-lt"/>
              <a:buAutoNum type="alphaU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2779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L’association tuberculose-diabète présente les caractéristiques suivantes 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des lésions radiologiques peu étendues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un retard de négativation bactériologique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une régression radiologique lente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un risque plus important de rechute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une IDR à la tuberculine constamment négative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588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La tuberculose chez l’enfant présente les particularités suivantes 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 diagnostic bactériologique est difficile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Les enfants âgés de moins de 5 ans sont le plus à risque de développer la tuberculose maladie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Les formes disséminées sont fréquentes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Elle est souvent pauci bacillaire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son traitement est proche de celui de l’adulte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33487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La tuberculose chez l’enfant présente les particularités suivantes 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Le diagnostic bactériologique est difficile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Les enfants âgés de moins de 5 ans sont le plus à risque de développer la tuberculose maladie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Les formes disséminées sont fréquentes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Elle est souvent pauci bacillaire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son traitement est proche de celui de l’adulte</a:t>
            </a:r>
          </a:p>
          <a:p>
            <a:pPr marL="0" indent="0">
              <a:buNone/>
            </a:pPr>
            <a:r>
              <a:rPr lang="fr-FR" dirty="0"/>
              <a:t> 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831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Un patient, tabagique non sevré, aux antécédents pathologiques de tuberculose pulmonaire commune traitée et déclaré guéri, présente une hémoptysie de moyenne abondance récidivante, quels sont les étiologies possibles de cette hémoptysie? 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Rechute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Cancer broncho-pulmonaire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Dilatations de bronches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Pneumonie franche lobaire aigue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Greffe </a:t>
            </a:r>
            <a:r>
              <a:rPr lang="fr-FR" dirty="0" err="1"/>
              <a:t>aspergillaire</a:t>
            </a:r>
            <a:r>
              <a:rPr lang="fr-FR" dirty="0"/>
              <a:t>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04218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Un patient, tabagique non sevré, aux antécédents pathologiques de tuberculose pulmonaire commune traitée et déclaré guéri, présente une hémoptysie de moyenne abondance récidivante, quels sont les étiologies possibles de cette hémoptysie? 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Rechute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Cancer broncho-pulmonaire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Dilatations de bronches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Pneumonie franche lobaire aigue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Greffe </a:t>
            </a:r>
            <a:r>
              <a:rPr lang="fr-FR" dirty="0" err="1">
                <a:solidFill>
                  <a:srgbClr val="FF0000"/>
                </a:solidFill>
              </a:rPr>
              <a:t>aspergillaire</a:t>
            </a:r>
            <a:r>
              <a:rPr lang="fr-FR" dirty="0">
                <a:solidFill>
                  <a:srgbClr val="FF0000"/>
                </a:solidFill>
              </a:rPr>
              <a:t>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36144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Concernant la déclaration obligatoire de la tuberculose 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Elle est systématique en présence de BAAR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Elle est obligatoire pour tout sujet traité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Elle n'est pas indiquée en cas de récidive de </a:t>
            </a:r>
            <a:r>
              <a:rPr lang="fr-FR" dirty="0" err="1"/>
              <a:t>Tbc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Elle est anonyme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Permet de faire le dépistage dans l'entourage</a:t>
            </a:r>
          </a:p>
          <a:p>
            <a:pPr marL="514350" indent="-514350">
              <a:buFont typeface="+mj-lt"/>
              <a:buAutoNum type="alphaU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721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Concernant la déclaration obligatoire de la tuberculose 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Elle est systématique en présence de BAAR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Elle est obligatoire pour tout sujet traité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Elle n'est pas indiquée en cas de récidive de </a:t>
            </a:r>
            <a:r>
              <a:rPr lang="fr-FR" dirty="0" err="1"/>
              <a:t>Tbc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Elle est anonyme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Permet de faire le dépistage dans l'entourage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84349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Concernant le traitement de la tuberculose pulmonaire: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prise médicamenteuse se fait au cours des repas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durée du traitement est de 6 mois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L'association HRZE/HR est indiquée aux nouveaux cas de TPC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phase de continuation dure 2 mois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supervision directe du traitement est de règle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62932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Concernant le traitement de la tuberculose pulmonaire: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prise médicamenteuse se fait au cours des repas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La durée du traitement est de 6 mois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L'association HRZE/HR est indiquée aux nouveaux cas de TPC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phase de continuation dure 2 mois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La supervision directe du traitement est de règle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23312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Au cours du traitement de la tuberculose pulmonaire et selon le PNLT: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phase d’attaque dure 4 mois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 contrôle bactériologique se fait au 3</a:t>
            </a:r>
            <a:r>
              <a:rPr lang="fr-FR" baseline="30000" dirty="0"/>
              <a:t>ème</a:t>
            </a:r>
            <a:r>
              <a:rPr lang="fr-FR" dirty="0"/>
              <a:t> et 6</a:t>
            </a:r>
            <a:r>
              <a:rPr lang="fr-FR" baseline="30000" dirty="0"/>
              <a:t>ème</a:t>
            </a:r>
            <a:r>
              <a:rPr lang="fr-FR" dirty="0"/>
              <a:t> mois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 traitement doit être pris sous surveillance d’une tierce personne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L’apparition d’une réaction cutanée allergique indique l’arrêt de tous les antituberculeux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 contrôle radiologique se fait à 1 mois du traitement </a:t>
            </a:r>
          </a:p>
          <a:p>
            <a:pPr marL="0" indent="0">
              <a:buNone/>
            </a:pPr>
            <a:r>
              <a:rPr lang="fr-FR" dirty="0"/>
              <a:t> 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30469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Au cours du traitement de la tuberculose pulmonaire et selon le PNLT: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La phase d’attaque dure 4 mois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 contrôle bactériologique se fait au 3</a:t>
            </a:r>
            <a:r>
              <a:rPr lang="fr-FR" baseline="30000" dirty="0"/>
              <a:t>ème</a:t>
            </a:r>
            <a:r>
              <a:rPr lang="fr-FR" dirty="0"/>
              <a:t> et 6</a:t>
            </a:r>
            <a:r>
              <a:rPr lang="fr-FR" baseline="30000" dirty="0"/>
              <a:t>ème</a:t>
            </a:r>
            <a:r>
              <a:rPr lang="fr-FR" dirty="0"/>
              <a:t> mois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Le traitement doit être pris sous surveillance d’une tierce personne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L’apparition d’une réaction cutanée allergique indique l’arrêt de tous les antituberculeux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 contrôle radiologique se fait à 1 mois du traitement </a:t>
            </a:r>
          </a:p>
          <a:p>
            <a:pPr marL="0" indent="0">
              <a:buNone/>
            </a:pPr>
            <a:r>
              <a:rPr lang="fr-FR" dirty="0"/>
              <a:t> 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94583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La </a:t>
            </a:r>
            <a:r>
              <a:rPr lang="fr-FR" b="1" dirty="0" err="1"/>
              <a:t>chimioprophylaxie</a:t>
            </a:r>
            <a:r>
              <a:rPr lang="fr-FR" b="1" dirty="0"/>
              <a:t>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indiquée chez tout nouveau-né de mère tuberculeuse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indiquée chez les enfants âgés de plus de 5 ans contacts d’un tuberculeux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à base de HR pendant 3 mois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contre indiquée chez un sujet vivant avec le VIH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à base de </a:t>
            </a:r>
            <a:r>
              <a:rPr lang="fr-FR" dirty="0" err="1"/>
              <a:t>Rifadine</a:t>
            </a:r>
            <a:r>
              <a:rPr lang="fr-FR" dirty="0"/>
              <a:t> pendant 6 mois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5353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La </a:t>
            </a:r>
            <a:r>
              <a:rPr lang="fr-FR" b="1" dirty="0" err="1"/>
              <a:t>chimioprophylaxie</a:t>
            </a:r>
            <a:r>
              <a:rPr lang="fr-FR" b="1" dirty="0"/>
              <a:t>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est indiquée chez tout nouveau-né de mère tuberculeuse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indiquée chez les enfants âgés de plus de 5 ans contacts d’un tuberculeux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est à base de HR pendant 3 mois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contre indiquée chez un sujet vivant avec le VIH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à base de </a:t>
            </a:r>
            <a:r>
              <a:rPr lang="fr-FR" dirty="0" err="1"/>
              <a:t>Rifadine</a:t>
            </a:r>
            <a:r>
              <a:rPr lang="fr-FR" dirty="0"/>
              <a:t> pendant 6 mois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65670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La rifampicine :</a:t>
            </a:r>
            <a:endParaRPr lang="fr-FR" dirty="0"/>
          </a:p>
          <a:p>
            <a:pPr marL="514350" lvl="0" indent="-514350" eaLnBrk="0" fontAlgn="base" hangingPunct="0">
              <a:buFont typeface="+mj-lt"/>
              <a:buAutoNum type="alphaUcPeriod"/>
            </a:pPr>
            <a:r>
              <a:rPr lang="fr-FR" dirty="0"/>
              <a:t>Est bactéricide sur les populations extracellulaires et intracellulaires </a:t>
            </a:r>
          </a:p>
          <a:p>
            <a:pPr marL="514350" lvl="0" indent="-514350" fontAlgn="base">
              <a:buFont typeface="+mj-lt"/>
              <a:buAutoNum type="alphaUcPeriod"/>
            </a:pPr>
            <a:r>
              <a:rPr lang="fr-FR" dirty="0"/>
              <a:t>Est prescrit seulement dans la phase d’attaque</a:t>
            </a:r>
          </a:p>
          <a:p>
            <a:pPr marL="514350" lvl="0" indent="-514350" fontAlgn="base">
              <a:buFont typeface="+mj-lt"/>
              <a:buAutoNum type="alphaUcPeriod"/>
            </a:pPr>
            <a:r>
              <a:rPr lang="fr-FR" dirty="0"/>
              <a:t>A une mauvaise diffusion dans les méninges et le placenta </a:t>
            </a:r>
          </a:p>
          <a:p>
            <a:pPr marL="514350" lvl="0" indent="-514350" fontAlgn="base">
              <a:buFont typeface="+mj-lt"/>
              <a:buAutoNum type="alphaUcPeriod"/>
            </a:pPr>
            <a:r>
              <a:rPr lang="fr-FR" dirty="0"/>
              <a:t>Donne une coloration rouge des urines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un inducteur enzymatique hépatique</a:t>
            </a:r>
          </a:p>
          <a:p>
            <a:pPr marL="514350" indent="-514350">
              <a:buFont typeface="+mj-lt"/>
              <a:buAutoNum type="alphaU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41571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La rifampicine :</a:t>
            </a:r>
            <a:endParaRPr lang="fr-FR" dirty="0"/>
          </a:p>
          <a:p>
            <a:pPr marL="514350" lvl="0" indent="-514350" eaLnBrk="0" fontAlgn="base" hangingPunct="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Est bactéricide sur les populations extracellulaires et intracellulaires </a:t>
            </a:r>
          </a:p>
          <a:p>
            <a:pPr marL="514350" lvl="0" indent="-514350" fontAlgn="base">
              <a:buFont typeface="+mj-lt"/>
              <a:buAutoNum type="alphaUcPeriod"/>
            </a:pPr>
            <a:r>
              <a:rPr lang="fr-FR" dirty="0"/>
              <a:t>Est prescrit seulement dans la phase d’attaque</a:t>
            </a:r>
          </a:p>
          <a:p>
            <a:pPr marL="514350" lvl="0" indent="-514350" fontAlgn="base">
              <a:buFont typeface="+mj-lt"/>
              <a:buAutoNum type="alphaUcPeriod"/>
            </a:pPr>
            <a:r>
              <a:rPr lang="fr-FR" dirty="0"/>
              <a:t>A une mauvaise diffusion dans les méninges et le placenta </a:t>
            </a:r>
          </a:p>
          <a:p>
            <a:pPr marL="514350" lvl="0" indent="-514350" fontAlgn="base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Donne une coloration rouge des urines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Est un inducteur enzymatique hépatique</a:t>
            </a:r>
          </a:p>
          <a:p>
            <a:pPr marL="514350" indent="-514350">
              <a:buFont typeface="+mj-lt"/>
              <a:buAutoNum type="alphaU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5605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Parmi les propositions suivantes, on retient: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</a:t>
            </a:r>
            <a:r>
              <a:rPr lang="fr-FR" dirty="0" err="1"/>
              <a:t>pyrazinamide</a:t>
            </a:r>
            <a:r>
              <a:rPr lang="fr-FR" dirty="0"/>
              <a:t> est efficace en milieu acide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streptomycine est un antituberculeux majeur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rifampicine est prescrite dans les régimes de 2ᵉᵐᵉ ligne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L’isoniazide est indiqué dans la phase d’attaque et d’entretien dans le  traitement de la tuberculose pulmonaire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Le traitement </a:t>
            </a:r>
            <a:r>
              <a:rPr lang="fr-FR" dirty="0" err="1"/>
              <a:t>anti-tuberculeux</a:t>
            </a:r>
            <a:r>
              <a:rPr lang="fr-FR" dirty="0"/>
              <a:t>  recommandé actuellement est à base de combinaisons fixes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67041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Parmi les propositions suivantes, on retient: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La </a:t>
            </a:r>
            <a:r>
              <a:rPr lang="fr-FR" dirty="0" err="1">
                <a:solidFill>
                  <a:srgbClr val="FF0000"/>
                </a:solidFill>
              </a:rPr>
              <a:t>pyrazinamide</a:t>
            </a:r>
            <a:r>
              <a:rPr lang="fr-FR" dirty="0">
                <a:solidFill>
                  <a:srgbClr val="FF0000"/>
                </a:solidFill>
              </a:rPr>
              <a:t> est efficace en milieu acide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streptomycine est un antituberculeux majeur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rifampicine est prescrite dans les régimes de 2ᵉᵐᵉ ligne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L’isoniazide est indiqué dans la phase d’attaque et d’entretien dans le  traitement de la tuberculose pulmonaire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Le traitement </a:t>
            </a:r>
            <a:r>
              <a:rPr lang="fr-FR" dirty="0" err="1">
                <a:solidFill>
                  <a:srgbClr val="FF0000"/>
                </a:solidFill>
              </a:rPr>
              <a:t>anti-tuberculeux</a:t>
            </a:r>
            <a:r>
              <a:rPr lang="fr-FR" dirty="0">
                <a:solidFill>
                  <a:srgbClr val="FF0000"/>
                </a:solidFill>
              </a:rPr>
              <a:t>  recommandé actuellement est à base de combinaisons fixes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62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Chez la femme enceinte ayant une </a:t>
            </a:r>
            <a:r>
              <a:rPr lang="fr-FR" b="1" dirty="0" err="1"/>
              <a:t>Tbc</a:t>
            </a:r>
            <a:r>
              <a:rPr lang="fr-FR" b="1" dirty="0"/>
              <a:t> pulmonaire: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Streptomycine est CI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L’association à dose fixe (HRZE) peut être prescrite sans risque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Vit B6 doit être associée au traitement anti </a:t>
            </a:r>
            <a:r>
              <a:rPr lang="fr-FR" dirty="0" err="1"/>
              <a:t>tbc</a:t>
            </a:r>
            <a:r>
              <a:rPr lang="fr-FR" dirty="0"/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durée du traitement anti </a:t>
            </a:r>
            <a:r>
              <a:rPr lang="fr-FR" dirty="0" err="1"/>
              <a:t>tbc</a:t>
            </a:r>
            <a:r>
              <a:rPr lang="fr-FR" dirty="0"/>
              <a:t> est de 9 mois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Son Nouveau-né doit recevoir une </a:t>
            </a:r>
            <a:r>
              <a:rPr lang="fr-FR" dirty="0" err="1"/>
              <a:t>chimioprophylaxie</a:t>
            </a:r>
            <a:r>
              <a:rPr lang="fr-FR" dirty="0"/>
              <a:t> </a:t>
            </a:r>
          </a:p>
          <a:p>
            <a:pPr marL="0" indent="0">
              <a:buNone/>
            </a:pPr>
            <a:r>
              <a:rPr lang="fr-FR" dirty="0"/>
              <a:t> 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3382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Chez la femme enceinte ayant une </a:t>
            </a:r>
            <a:r>
              <a:rPr lang="fr-FR" b="1" dirty="0" err="1"/>
              <a:t>Tbc</a:t>
            </a:r>
            <a:r>
              <a:rPr lang="fr-FR" b="1" dirty="0"/>
              <a:t> pulmonaire: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Streptomycine est CI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L’association à dose fixe (HRZE) peut être prescrite sans risque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La Vit B6 doit être associée au traitement anti </a:t>
            </a:r>
            <a:r>
              <a:rPr lang="fr-FR" dirty="0" err="1">
                <a:solidFill>
                  <a:srgbClr val="FF0000"/>
                </a:solidFill>
              </a:rPr>
              <a:t>tbc</a:t>
            </a:r>
            <a:r>
              <a:rPr lang="fr-FR" dirty="0">
                <a:solidFill>
                  <a:srgbClr val="FF0000"/>
                </a:solidFill>
              </a:rPr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durée du traitement anti </a:t>
            </a:r>
            <a:r>
              <a:rPr lang="fr-FR" dirty="0" err="1"/>
              <a:t>tbc</a:t>
            </a:r>
            <a:r>
              <a:rPr lang="fr-FR" dirty="0"/>
              <a:t> est de 9 mois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Son Nouveau-né doit recevoir une </a:t>
            </a:r>
            <a:r>
              <a:rPr lang="fr-FR" dirty="0" err="1">
                <a:solidFill>
                  <a:srgbClr val="FF0000"/>
                </a:solidFill>
              </a:rPr>
              <a:t>chimioprophylaxie</a:t>
            </a:r>
            <a:r>
              <a:rPr lang="fr-FR" dirty="0"/>
              <a:t> </a:t>
            </a:r>
          </a:p>
          <a:p>
            <a:pPr marL="0" indent="0">
              <a:buNone/>
            </a:pPr>
            <a:r>
              <a:rPr lang="fr-FR" dirty="0"/>
              <a:t> 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3539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/>
              <a:t>Concernant le traitement de la tuberculose pulmonaire 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L’efficacité s’apprécie par la clinique et la radiologie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guérison est obtenue au 5ème mois si la recherche de BK à l’examen direct est négative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combinaison fixe est le protocole recommandé pour le traitement antituberculeux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supervision directe est indispensable durant la phase intensive du traitement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L’éducation sanitaire est primordiale dans l’observance du traitement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92771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/>
              <a:t>Concernant le traitement de la tuberculose pulmonaire 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L’efficacité s’apprécie par la clinique et la radiologie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La guérison est obtenue au 5ème mois si la recherche de BK à l’examen direct est négative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La combinaison fixe est le protocole recommandé pour le traitement antituberculeux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La supervision directe est indispensable durant la phase intensive du traitement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L’éducation sanitaire est primordiale dans l’observance du traitement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94321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u="sng" dirty="0"/>
              <a:t>Cas clinique</a:t>
            </a:r>
            <a:endParaRPr lang="fr-FR" u="sng" dirty="0"/>
          </a:p>
          <a:p>
            <a:pPr marL="0" indent="0">
              <a:buNone/>
            </a:pPr>
            <a:r>
              <a:rPr lang="fr-FR" b="1" dirty="0"/>
              <a:t>Un homme âgé de 30 ans, présente depuis un mois une toux évoluant dans un contexte d’altération de l’état général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Radiographie du thorax montre une opacité excavée apicale droite.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Le diagnostic de tuberculose pulmonaire commune a été retenu. 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 </a:t>
            </a:r>
          </a:p>
          <a:p>
            <a:pPr marL="0" indent="0">
              <a:buNone/>
            </a:pPr>
            <a:r>
              <a:rPr lang="fr-FR" b="1" dirty="0" smtClean="0"/>
              <a:t>Patient hospitalisé </a:t>
            </a:r>
            <a:r>
              <a:rPr lang="fr-FR" b="1" dirty="0"/>
              <a:t>et </a:t>
            </a:r>
            <a:r>
              <a:rPr lang="fr-FR" b="1" dirty="0" smtClean="0"/>
              <a:t>mis </a:t>
            </a:r>
            <a:r>
              <a:rPr lang="fr-FR" b="1" dirty="0"/>
              <a:t>sous HRZE 4 comprimés par jour après un bilan pré thérapeutique correcte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5711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/>
              <a:t>A J7 du traitement, le patient a présenté une douleur abdominale avec vomissement.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Le bilan hépatique a montré une cytolyse à 6 fois la normale 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Les antituberculeux pouvant être responsables de cette cytolyse sont: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INH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err="1"/>
              <a:t>Rifadine</a:t>
            </a:r>
            <a:r>
              <a:rPr lang="fr-FR" dirty="0"/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err="1"/>
              <a:t>Pyrazinamide</a:t>
            </a:r>
            <a:r>
              <a:rPr lang="fr-FR" dirty="0"/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err="1"/>
              <a:t>Ethambutol</a:t>
            </a:r>
            <a:r>
              <a:rPr lang="fr-FR" b="1" dirty="0"/>
              <a:t> 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Tous les antituberculeux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91151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/>
              <a:t>A J7 du traitement, le patient a présenté une douleur abdominale avec vomissement.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Le bilan hépatique a montré une cytolyse à 6 fois la normale 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Les antituberculeux pouvant être responsables de cette cytolyse sont: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INH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err="1">
                <a:solidFill>
                  <a:srgbClr val="FF0000"/>
                </a:solidFill>
              </a:rPr>
              <a:t>Rifadine</a:t>
            </a:r>
            <a:r>
              <a:rPr lang="fr-FR" dirty="0">
                <a:solidFill>
                  <a:srgbClr val="FF0000"/>
                </a:solidFill>
              </a:rPr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err="1">
                <a:solidFill>
                  <a:srgbClr val="FF0000"/>
                </a:solidFill>
              </a:rPr>
              <a:t>Pyrazinamide</a:t>
            </a:r>
            <a:r>
              <a:rPr lang="fr-FR" dirty="0">
                <a:solidFill>
                  <a:srgbClr val="FF0000"/>
                </a:solidFill>
              </a:rPr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err="1"/>
              <a:t>Ethambutol</a:t>
            </a:r>
            <a:r>
              <a:rPr lang="fr-FR" b="1" dirty="0"/>
              <a:t> 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Tous les antituberculeux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5697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La conduite serait: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Arrêter le traitement antituberculeux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Poursuivre le traitement avec contrôle du bilan hépatique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Arrêter la </a:t>
            </a:r>
            <a:r>
              <a:rPr lang="fr-FR" dirty="0" err="1"/>
              <a:t>Rifadine</a:t>
            </a:r>
            <a:r>
              <a:rPr lang="fr-FR" dirty="0"/>
              <a:t> et poursuivre les autres antituberculeux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Arrêter l’INH et poursuivre les autres antituberculeux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Arrêter la </a:t>
            </a:r>
            <a:r>
              <a:rPr lang="fr-FR" dirty="0" err="1"/>
              <a:t>Pyrazinamide</a:t>
            </a:r>
            <a:r>
              <a:rPr lang="fr-FR" dirty="0"/>
              <a:t> et poursuivre les autres antituberculeux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95145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La conduite serait: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Arrêter le traitement antituberculeux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Poursuivre le traitement avec contrôle du bilan hépatique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Arrêter la </a:t>
            </a:r>
            <a:r>
              <a:rPr lang="fr-FR" dirty="0" err="1"/>
              <a:t>Rifadine</a:t>
            </a:r>
            <a:r>
              <a:rPr lang="fr-FR" dirty="0"/>
              <a:t> et poursuivre les autres antituberculeux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Arrêter l’INH et poursuivre les autres antituberculeux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Arrêter la </a:t>
            </a:r>
            <a:r>
              <a:rPr lang="fr-FR" dirty="0" err="1"/>
              <a:t>Pyrazinamide</a:t>
            </a:r>
            <a:r>
              <a:rPr lang="fr-FR" dirty="0"/>
              <a:t> et poursuivre les autres antituberculeux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62798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Le </a:t>
            </a:r>
            <a:r>
              <a:rPr lang="fr-FR" b="1" dirty="0" err="1"/>
              <a:t>pyrazinamide</a:t>
            </a:r>
            <a:r>
              <a:rPr lang="fr-FR" b="1" dirty="0"/>
              <a:t> 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un antituberculeux majeur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bactériostatique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A une bonne diffusion intra et extracellulaire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CI en cas d’insuffisance hépatique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éliminé par voie biliaire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56538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Le </a:t>
            </a:r>
            <a:r>
              <a:rPr lang="fr-FR" b="1" dirty="0" err="1"/>
              <a:t>pyrazinamide</a:t>
            </a:r>
            <a:r>
              <a:rPr lang="fr-FR" b="1" dirty="0"/>
              <a:t> 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un antituberculeux majeur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bactériostatique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A une bonne diffusion intra et extracellulaire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Est CI en cas d’insuffisance hépatique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éliminé par voie biliaire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1348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L’isoniazide (INH) 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A un spectre large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Diffuse bien dans tous les organes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administré à doses élevées chez les </a:t>
            </a:r>
            <a:r>
              <a:rPr lang="fr-FR" dirty="0" err="1"/>
              <a:t>acétyleurs</a:t>
            </a:r>
            <a:r>
              <a:rPr lang="fr-FR" dirty="0"/>
              <a:t> lents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éliminé par voie rénale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administré à la dose de 10 mg/Kg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4878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L’isoniazide (INH) 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A un spectre large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Diffuse bien dans tous les organes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administré à doses élevées chez les </a:t>
            </a:r>
            <a:r>
              <a:rPr lang="fr-FR" dirty="0" err="1"/>
              <a:t>acétyleurs</a:t>
            </a:r>
            <a:r>
              <a:rPr lang="fr-FR" dirty="0"/>
              <a:t> lents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Est éliminé par voie rénale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administré à la dose de 10 mg/Kg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62794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La miliaire tuberculeuse 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une forme grave de tuberculose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Nécessite un traitement antituberculeux durant 12 mois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Est plus fréquente chez le sujet immunodéprimé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Nécessite un traitement corticoïde dans les formes </a:t>
            </a:r>
            <a:r>
              <a:rPr lang="fr-FR" dirty="0" err="1"/>
              <a:t>dyspnéisantes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Se caractérise typiquement par la présence de nodules à gros grains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57812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La miliaire tuberculeuse 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Est une forme grave de tuberculose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Nécessite un traitement antituberculeux durant 12 mois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Est plus fréquente chez le sujet immunodéprimé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Nécessite un traitement corticoïde dans les formes </a:t>
            </a:r>
            <a:r>
              <a:rPr lang="fr-FR" dirty="0" err="1"/>
              <a:t>dyspnéisantes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Se caractérise typiquement par la présence de nodules à gros grains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86672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b="1" u="sng" dirty="0"/>
              <a:t>Cas clinique</a:t>
            </a:r>
            <a:endParaRPr lang="fr-FR" u="sng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/>
              <a:t>Une femme âgée de 35 ans, diabétique, présente depuis un mois une toux productive, non améliorée par un traitement symptomatique, évoluant dans un contexte d’altération de l’état général.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Examen: Poids à 70Kg, T° à 38°C, reste de l'examen était sans particularités. 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Radiographie du thorax montre une opacité excavée se projetant au niveau du 1/3 supérieur du champ pulmonaire droit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Le diagnostic de tuberculose pulmonaire commune a été retenu.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 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88879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Le bilan pré thérapeutique selon le PNLT comporte: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 champ visuel avec vision de couleur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 dosage des ASAT et ALAT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 dosage de l’acide urique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 test d’acétylation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/>
              <a:t>Un audiogramme</a:t>
            </a:r>
          </a:p>
        </p:txBody>
      </p:sp>
    </p:spTree>
    <p:extLst>
      <p:ext uri="{BB962C8B-B14F-4D97-AF65-F5344CB8AC3E}">
        <p14:creationId xmlns:p14="http://schemas.microsoft.com/office/powerpoint/2010/main" val="2996260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Le bilan pré thérapeutique selon le PNLT comporte: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Un champ visuel avec vision de couleur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Un dosage des ASAT et ALAT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Un dosage de l’acide urique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C000"/>
                </a:solidFill>
              </a:rPr>
              <a:t>Un test d’acétylation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/>
              <a:t>Un audiogramme</a:t>
            </a:r>
          </a:p>
        </p:txBody>
      </p:sp>
    </p:spTree>
    <p:extLst>
      <p:ext uri="{BB962C8B-B14F-4D97-AF65-F5344CB8AC3E}">
        <p14:creationId xmlns:p14="http://schemas.microsoft.com/office/powerpoint/2010/main" val="827978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Le protocole thérapeutique comporte: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une phase d’attaque à base de HRZE 4 comprimés pendant 2mois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une phase d’attaque à base de HRZE 4 comprimés pendant 4mois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une phase d’attaque à base de HRZS 4 comprimés pendant 4mois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une phase d’entretien à base de HR pendant 2mois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une phase d’entretien à base de HR pendant 4mois</a:t>
            </a:r>
          </a:p>
          <a:p>
            <a:pPr marL="0" indent="0">
              <a:buNone/>
            </a:pPr>
            <a:r>
              <a:rPr lang="fr-FR" dirty="0"/>
              <a:t> 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37030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Le protocole thérapeutique comporte: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une phase d’attaque à base de HRZE 4 comprimés pendant 2mois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une phase d’attaque à base de HRZE 4 comprimés pendant 4mois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une phase d’attaque à base de HRZS 4 comprimés pendant 4mois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une phase d’entretien à base de HR pendant 2mois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une phase d’entretien à base de HR pendant 4mois</a:t>
            </a:r>
          </a:p>
          <a:p>
            <a:pPr marL="0" indent="0">
              <a:buNone/>
            </a:pPr>
            <a:r>
              <a:rPr lang="fr-FR" dirty="0"/>
              <a:t> 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33055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/>
              <a:t>A J7 du traitement, la patiente a présenté une douleur abdominale avec vomissement.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Le bilan hépatique a montré une cytolyse à 2 fois la normale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Les antituberculeux responsables de cette cytolyse sont: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INH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err="1"/>
              <a:t>Rifadine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 err="1"/>
              <a:t>Pyrazinamide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 err="1"/>
              <a:t>Ethambutol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Tous les antituberculeux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80258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/>
              <a:t>A J7 du traitement, la patiente a présenté une douleur abdominale avec vomissement.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Le bilan hépatique a montré une cytolyse à 2 fois la normale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Les antituberculeux responsables de cette cytolyse sont: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INH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err="1">
                <a:solidFill>
                  <a:srgbClr val="FF0000"/>
                </a:solidFill>
              </a:rPr>
              <a:t>Rifadine</a:t>
            </a:r>
            <a:endParaRPr lang="fr-FR" dirty="0">
              <a:solidFill>
                <a:srgbClr val="FF0000"/>
              </a:solidFill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 err="1">
                <a:solidFill>
                  <a:srgbClr val="FF0000"/>
                </a:solidFill>
              </a:rPr>
              <a:t>Pyrazinamide</a:t>
            </a:r>
            <a:endParaRPr lang="fr-FR" dirty="0">
              <a:solidFill>
                <a:srgbClr val="FF0000"/>
              </a:solidFill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 err="1"/>
              <a:t>Ethambutol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Tous les antituberculeux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13511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La conduite serait: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Arrêter le traitement antituberculeux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Poursuivre le traitement avec contrôle du bilan hépatique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Arrêter la </a:t>
            </a:r>
            <a:r>
              <a:rPr lang="fr-FR" dirty="0" err="1"/>
              <a:t>Rifadine</a:t>
            </a:r>
            <a:r>
              <a:rPr lang="fr-FR" dirty="0"/>
              <a:t> et poursuivre les autres antituberculeux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Arrêter l’INH et poursuivre les autres antituberculeux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Arrêter la </a:t>
            </a:r>
            <a:r>
              <a:rPr lang="fr-FR" dirty="0" err="1"/>
              <a:t>Pyrazinamide</a:t>
            </a:r>
            <a:r>
              <a:rPr lang="fr-FR" dirty="0"/>
              <a:t> et poursuivre les autres Antituberculeux</a:t>
            </a:r>
          </a:p>
          <a:p>
            <a:pPr marL="514350" indent="-514350">
              <a:buFont typeface="+mj-lt"/>
              <a:buAutoNum type="alphaU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84996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La conduite serait: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Arrêter le traitement antituberculeux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Poursuivre le traitement avec contrôle du bilan hépatique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Arrêter la </a:t>
            </a:r>
            <a:r>
              <a:rPr lang="fr-FR" dirty="0" err="1"/>
              <a:t>Rifadine</a:t>
            </a:r>
            <a:r>
              <a:rPr lang="fr-FR" dirty="0"/>
              <a:t> et poursuivre les autres antituberculeux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Arrêter l’INH et poursuivre les autres antituberculeux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Arrêter la </a:t>
            </a:r>
            <a:r>
              <a:rPr lang="fr-FR" dirty="0" err="1"/>
              <a:t>Pyrazinamide</a:t>
            </a:r>
            <a:r>
              <a:rPr lang="fr-FR" dirty="0"/>
              <a:t> et poursuivre les autres Antituberculeux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78197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/>
              <a:t>Cas clinique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Une femme âgée de 45 ans est hospitalisée pour prise en charge d’une tuberculose pulmonaire commune. Son poids est 65 Kg.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Le bilan pré thérapeutique doit comporter 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 test d’acétylation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 bilan rénal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 champ visuel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 dosage des ASAT et ALAT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 test au </a:t>
            </a:r>
            <a:r>
              <a:rPr lang="fr-FR" dirty="0" err="1"/>
              <a:t>Quantiferon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1775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/>
              <a:t>Cas clinique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Une femme âgée de 45 ans est hospitalisée pour prise en charge d’une tuberculose pulmonaire commune. Son poids est 65 Kg.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Le bilan pré thérapeutique doit comporter 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C000"/>
                </a:solidFill>
              </a:rPr>
              <a:t>Un test d’acétylation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Un bilan rénal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Un champ visuel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Un dosage des ASAT et ALAT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Un test au </a:t>
            </a:r>
            <a:r>
              <a:rPr lang="fr-FR" dirty="0" err="1"/>
              <a:t>Quantiferon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31493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Le bilan est normal, le schéma thérapeutique de la phase d’attaque est le suivant 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4 comprimés de HRZE pendant 4 mois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4 comprimés de HRZE pendant 2 mois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4 comprimés de HRE pendant 9 mois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3 comprimés de HRZE pendant 2 mois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3 comprimés de HR pendant 4 mois </a:t>
            </a:r>
          </a:p>
          <a:p>
            <a:pPr marL="0" indent="0">
              <a:buNone/>
            </a:pPr>
            <a:r>
              <a:rPr lang="fr-FR" dirty="0"/>
              <a:t> 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73965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Le bilan est normal, le schéma thérapeutique de la phase d’attaque est le suivant 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4 comprimés de HRZE pendant 4 mois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4 comprimés de HRZE pendant 2 mois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4 comprimés de HRE pendant 9 mois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3 comprimés de HRZE pendant 2 mois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3 comprimés de HR pendant 4 mois 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72678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A J3 du traitement, la patiente a présenté un prurit généralisé avec des lésions cutanées type urticaire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Les antituberculeux pouvant être responsables de cette réaction allergique sont: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INH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err="1"/>
              <a:t>Rifadine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 err="1"/>
              <a:t>Pyrazinamide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 err="1"/>
              <a:t>Ethambutol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Tous les antituberculeux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338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A J3 du traitement, la patiente a présenté un prurit généralisé avec des lésions cutanées type urticaire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Les antituberculeux pouvant être responsables de cette réaction allergique sont: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INH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err="1">
                <a:solidFill>
                  <a:srgbClr val="FF0000"/>
                </a:solidFill>
              </a:rPr>
              <a:t>Rifadine</a:t>
            </a:r>
            <a:endParaRPr lang="fr-FR" dirty="0">
              <a:solidFill>
                <a:srgbClr val="FF0000"/>
              </a:solidFill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 err="1">
                <a:solidFill>
                  <a:srgbClr val="FF0000"/>
                </a:solidFill>
              </a:rPr>
              <a:t>Pyrazinamide</a:t>
            </a:r>
            <a:endParaRPr lang="fr-FR" dirty="0">
              <a:solidFill>
                <a:srgbClr val="FF0000"/>
              </a:solidFill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 err="1">
                <a:solidFill>
                  <a:srgbClr val="FFC000"/>
                </a:solidFill>
              </a:rPr>
              <a:t>Ethambutol</a:t>
            </a:r>
            <a:endParaRPr lang="fr-FR" dirty="0">
              <a:solidFill>
                <a:srgbClr val="FFC000"/>
              </a:solidFill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Tous les antituberculeux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44953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La conduite serait: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Arrêter le traitement antituberculeux jusqu’à disparition des lésions cutanées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Traitement antihistaminique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Arrêter la </a:t>
            </a:r>
            <a:r>
              <a:rPr lang="fr-FR" dirty="0" err="1"/>
              <a:t>Rifadine</a:t>
            </a:r>
            <a:r>
              <a:rPr lang="fr-FR" dirty="0"/>
              <a:t> et l’INH et poursuivre les autres antituberculeux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Arrêter l’INH et poursuivre les autres antituberculeux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Arrêter la </a:t>
            </a:r>
            <a:r>
              <a:rPr lang="fr-FR" dirty="0" err="1"/>
              <a:t>Pyrazinamide</a:t>
            </a:r>
            <a:r>
              <a:rPr lang="fr-FR" dirty="0"/>
              <a:t> et poursuivre les autres Antituberculeux</a:t>
            </a:r>
          </a:p>
          <a:p>
            <a:pPr marL="0" indent="0">
              <a:buNone/>
            </a:pPr>
            <a:r>
              <a:rPr lang="fr-FR" dirty="0"/>
              <a:t> 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43898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La conduite serait:</a:t>
            </a:r>
            <a:endParaRPr lang="fr-FR" dirty="0"/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Arrêter le traitement antituberculeux jusqu’à disparition des lésions cutanées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</a:rPr>
              <a:t>Traitement antihistaminique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Arrêter la </a:t>
            </a:r>
            <a:r>
              <a:rPr lang="fr-FR" dirty="0" err="1"/>
              <a:t>Rifadine</a:t>
            </a:r>
            <a:r>
              <a:rPr lang="fr-FR" dirty="0"/>
              <a:t> et l’INH et poursuivre les autres antituberculeux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Arrêter l’INH et poursuivre les autres antituberculeux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/>
              <a:t>Arrêter la </a:t>
            </a:r>
            <a:r>
              <a:rPr lang="fr-FR" dirty="0" err="1"/>
              <a:t>Pyrazinamide</a:t>
            </a:r>
            <a:r>
              <a:rPr lang="fr-FR" dirty="0"/>
              <a:t> et poursuivre les autres Antituberculeux</a:t>
            </a:r>
          </a:p>
          <a:p>
            <a:pPr marL="0" indent="0">
              <a:buNone/>
            </a:pPr>
            <a:r>
              <a:rPr lang="fr-FR" dirty="0"/>
              <a:t> 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57874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u="sng" dirty="0"/>
              <a:t>Cas clinique </a:t>
            </a:r>
            <a:endParaRPr lang="fr-FR" u="sng" dirty="0"/>
          </a:p>
          <a:p>
            <a:pPr marL="0" indent="0">
              <a:buNone/>
            </a:pPr>
            <a:r>
              <a:rPr lang="fr-FR" b="1" dirty="0"/>
              <a:t>Une femme âgée de 30 ans mariée, mère de 3 enfants ( le premier  âgé de 2 ans, le deuxième âgé de 4 ans et le troisième âgé de 7 ans), consulte pour hémoptysie et altération de l'état général. 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Le diagnostic de tuberculose pulmonaire commune a été suspecté 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Pour confirmer ce diagnostic vous demandez: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A- Une IDR à la tuberculine</a:t>
            </a:r>
          </a:p>
          <a:p>
            <a:pPr marL="0" indent="0">
              <a:buNone/>
            </a:pPr>
            <a:r>
              <a:rPr lang="fr-FR" dirty="0"/>
              <a:t>B- Un examen cytobactériologique des crachats</a:t>
            </a:r>
          </a:p>
          <a:p>
            <a:pPr marL="0" indent="0">
              <a:buNone/>
            </a:pPr>
            <a:r>
              <a:rPr lang="fr-FR" dirty="0"/>
              <a:t>C- Recherche des BAAR dans les expectorations</a:t>
            </a:r>
          </a:p>
          <a:p>
            <a:pPr marL="0" indent="0">
              <a:buNone/>
            </a:pPr>
            <a:r>
              <a:rPr lang="fr-FR" dirty="0"/>
              <a:t>D- Un test au </a:t>
            </a:r>
            <a:r>
              <a:rPr lang="fr-FR" dirty="0" err="1"/>
              <a:t>Quantiféron</a:t>
            </a:r>
            <a:r>
              <a:rPr lang="fr-FR" dirty="0"/>
              <a:t> </a:t>
            </a:r>
          </a:p>
          <a:p>
            <a:pPr marL="0" indent="0">
              <a:buNone/>
            </a:pPr>
            <a:r>
              <a:rPr lang="fr-FR" dirty="0"/>
              <a:t>E- Un gène </a:t>
            </a:r>
            <a:r>
              <a:rPr lang="fr-FR" dirty="0" err="1"/>
              <a:t>Xpert</a:t>
            </a:r>
            <a:r>
              <a:rPr lang="fr-FR" dirty="0"/>
              <a:t>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8779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dirty="0"/>
              <a:t>Cas clinique 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Une femme âgée de 30 ans mariée, mère de 3 enfants ( le premier  âgé de 2 ans, le deuxième âgé de 4 ans et le troisième âgé de 7 ans), consulte pour hémoptysie et altération de l'état général. 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Le diagnostic de tuberculose pulmonaire commune a été suspecté 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Pour confirmer ce diagnostic vous demandez: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A- Une IDR à la tuberculine</a:t>
            </a:r>
          </a:p>
          <a:p>
            <a:pPr marL="0" indent="0">
              <a:buNone/>
            </a:pPr>
            <a:r>
              <a:rPr lang="fr-FR" dirty="0"/>
              <a:t>B- Un examen cytobactériologique des crachats</a:t>
            </a:r>
          </a:p>
          <a:p>
            <a:pPr marL="0" indent="0">
              <a:buNone/>
            </a:pPr>
            <a:r>
              <a:rPr lang="fr-FR" dirty="0">
                <a:solidFill>
                  <a:srgbClr val="C00000"/>
                </a:solidFill>
              </a:rPr>
              <a:t>C- </a:t>
            </a:r>
            <a:r>
              <a:rPr lang="fr-FR" dirty="0">
                <a:solidFill>
                  <a:srgbClr val="FF0000"/>
                </a:solidFill>
              </a:rPr>
              <a:t>Recherche des BAAR dans les expectorations</a:t>
            </a:r>
          </a:p>
          <a:p>
            <a:pPr marL="0" indent="0">
              <a:buNone/>
            </a:pPr>
            <a:r>
              <a:rPr lang="fr-FR" dirty="0"/>
              <a:t>D- Un test au </a:t>
            </a:r>
            <a:r>
              <a:rPr lang="fr-FR" dirty="0" err="1"/>
              <a:t>Quantiféron</a:t>
            </a:r>
            <a:r>
              <a:rPr lang="fr-FR" dirty="0"/>
              <a:t> </a:t>
            </a:r>
          </a:p>
          <a:p>
            <a:pPr marL="0" indent="0">
              <a:buNone/>
            </a:pPr>
            <a:r>
              <a:rPr lang="fr-FR" dirty="0"/>
              <a:t>E- Un gène </a:t>
            </a:r>
            <a:r>
              <a:rPr lang="fr-FR" dirty="0" err="1"/>
              <a:t>Xpert</a:t>
            </a:r>
            <a:r>
              <a:rPr lang="fr-FR" dirty="0"/>
              <a:t>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74891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Le diagnostic de TPC est retenu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Selon le programme national de lutte contre la tuberculose, le traitement est à base de (poids 58 Kg): 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A. 4 </a:t>
            </a:r>
            <a:r>
              <a:rPr lang="fr-FR" dirty="0" err="1"/>
              <a:t>cp</a:t>
            </a:r>
            <a:r>
              <a:rPr lang="fr-FR" dirty="0"/>
              <a:t> HRZE par jour pendant 4 mois/ 4 Cp HR pendant 2 mois</a:t>
            </a:r>
          </a:p>
          <a:p>
            <a:pPr marL="0" indent="0">
              <a:buNone/>
            </a:pPr>
            <a:r>
              <a:rPr lang="fr-FR" dirty="0"/>
              <a:t>B. 5 </a:t>
            </a:r>
            <a:r>
              <a:rPr lang="fr-FR" dirty="0" err="1"/>
              <a:t>cp</a:t>
            </a:r>
            <a:r>
              <a:rPr lang="fr-FR" dirty="0"/>
              <a:t> HRZE par jour pendant 4 mois/ 5 Cp HR pendant 2 mois </a:t>
            </a:r>
          </a:p>
          <a:p>
            <a:pPr marL="0" indent="0">
              <a:buNone/>
            </a:pPr>
            <a:r>
              <a:rPr lang="fr-FR" dirty="0"/>
              <a:t>C. 4 </a:t>
            </a:r>
            <a:r>
              <a:rPr lang="fr-FR" dirty="0" err="1"/>
              <a:t>cp</a:t>
            </a:r>
            <a:r>
              <a:rPr lang="fr-FR" dirty="0"/>
              <a:t> HRZE par jour pendant 2 mois/ 4 Cp HR pendant 4 mois </a:t>
            </a:r>
          </a:p>
          <a:p>
            <a:pPr marL="0" indent="0">
              <a:buNone/>
            </a:pPr>
            <a:r>
              <a:rPr lang="fr-FR" dirty="0"/>
              <a:t>D. 3 </a:t>
            </a:r>
            <a:r>
              <a:rPr lang="fr-FR" dirty="0" err="1"/>
              <a:t>cp</a:t>
            </a:r>
            <a:r>
              <a:rPr lang="fr-FR" dirty="0"/>
              <a:t> HRZE par jour pendant 2 mois/ 3 Cp HR pendant 4 mois</a:t>
            </a:r>
          </a:p>
          <a:p>
            <a:pPr marL="0" indent="0">
              <a:buNone/>
            </a:pPr>
            <a:r>
              <a:rPr lang="fr-FR" dirty="0"/>
              <a:t>E. HRE: 4 comprimés par jour pendant 9 mois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06320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Le diagnostic de TPC est retenu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Selon le programme national de lutte contre la tuberculose, le traitement est à base de (poids 58 Kg): 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A. 4 </a:t>
            </a:r>
            <a:r>
              <a:rPr lang="fr-FR" dirty="0" err="1"/>
              <a:t>cp</a:t>
            </a:r>
            <a:r>
              <a:rPr lang="fr-FR" dirty="0"/>
              <a:t> HRZE par jour pendant 4 mois/ 4 Cp HR pendant 2 mois</a:t>
            </a:r>
          </a:p>
          <a:p>
            <a:pPr marL="0" indent="0">
              <a:buNone/>
            </a:pPr>
            <a:r>
              <a:rPr lang="fr-FR" dirty="0"/>
              <a:t>B. 5 </a:t>
            </a:r>
            <a:r>
              <a:rPr lang="fr-FR" dirty="0" err="1"/>
              <a:t>cp</a:t>
            </a:r>
            <a:r>
              <a:rPr lang="fr-FR" dirty="0"/>
              <a:t> HRZE par jour pendant 4 mois/ 5 Cp HR pendant 2 mois 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C. 4 </a:t>
            </a:r>
            <a:r>
              <a:rPr lang="fr-FR" dirty="0" err="1">
                <a:solidFill>
                  <a:srgbClr val="FF0000"/>
                </a:solidFill>
              </a:rPr>
              <a:t>cp</a:t>
            </a:r>
            <a:r>
              <a:rPr lang="fr-FR" dirty="0">
                <a:solidFill>
                  <a:srgbClr val="FF0000"/>
                </a:solidFill>
              </a:rPr>
              <a:t> HRZE par jour pendant 2 mois/ 4 Cp HR pendant 4 mois </a:t>
            </a:r>
          </a:p>
          <a:p>
            <a:pPr marL="0" indent="0">
              <a:buNone/>
            </a:pPr>
            <a:r>
              <a:rPr lang="fr-FR" dirty="0"/>
              <a:t>D. 3 </a:t>
            </a:r>
            <a:r>
              <a:rPr lang="fr-FR" dirty="0" err="1"/>
              <a:t>cp</a:t>
            </a:r>
            <a:r>
              <a:rPr lang="fr-FR" dirty="0"/>
              <a:t> HRZE par jour pendant 2 mois/ 3 Cp HR pendant 4 mois</a:t>
            </a:r>
          </a:p>
          <a:p>
            <a:pPr marL="0" indent="0">
              <a:buNone/>
            </a:pPr>
            <a:r>
              <a:rPr lang="fr-FR" dirty="0"/>
              <a:t>E. HRE: 4 comprimés par jour pendant 9 mois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4703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/>
              <a:t>L'enquête dans l'entourage de la patiente ne trouve pas de signes en faveur de tuberculose active  chez les enfants et le marie. L'IDR à la tuberculine est négative pour tous les membres de la famille. Vous indiquez: 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A. Une </a:t>
            </a:r>
            <a:r>
              <a:rPr lang="fr-FR" dirty="0" err="1"/>
              <a:t>chimioprophylaxie</a:t>
            </a:r>
            <a:r>
              <a:rPr lang="fr-FR" dirty="0"/>
              <a:t> pour le marie</a:t>
            </a:r>
          </a:p>
          <a:p>
            <a:pPr marL="0" indent="0">
              <a:buNone/>
            </a:pPr>
            <a:r>
              <a:rPr lang="fr-FR" dirty="0"/>
              <a:t>B. Une </a:t>
            </a:r>
            <a:r>
              <a:rPr lang="fr-FR" dirty="0" err="1"/>
              <a:t>chimioprophylaxie</a:t>
            </a:r>
            <a:r>
              <a:rPr lang="fr-FR" dirty="0"/>
              <a:t> pour l'enfant âgé de 2 ans</a:t>
            </a:r>
          </a:p>
          <a:p>
            <a:pPr marL="0" indent="0">
              <a:buNone/>
            </a:pPr>
            <a:r>
              <a:rPr lang="fr-FR" dirty="0"/>
              <a:t>C. Une </a:t>
            </a:r>
            <a:r>
              <a:rPr lang="fr-FR" dirty="0" err="1"/>
              <a:t>chimioprophylaxie</a:t>
            </a:r>
            <a:r>
              <a:rPr lang="fr-FR" dirty="0"/>
              <a:t> pour l'enfant âgé de 4 ans</a:t>
            </a:r>
          </a:p>
          <a:p>
            <a:pPr marL="0" indent="0">
              <a:buNone/>
            </a:pPr>
            <a:r>
              <a:rPr lang="fr-FR" dirty="0"/>
              <a:t>D. Une </a:t>
            </a:r>
            <a:r>
              <a:rPr lang="fr-FR" dirty="0" err="1"/>
              <a:t>chimioprophylaxie</a:t>
            </a:r>
            <a:r>
              <a:rPr lang="fr-FR" dirty="0"/>
              <a:t> pour l'enfant âgé de 7 ans</a:t>
            </a:r>
          </a:p>
          <a:p>
            <a:pPr marL="0" indent="0">
              <a:buNone/>
            </a:pPr>
            <a:r>
              <a:rPr lang="fr-FR" dirty="0"/>
              <a:t>E. Une simple surveillance avec  contrôle de l'IDR dans 6 mois pour tous les enfants</a:t>
            </a:r>
          </a:p>
        </p:txBody>
      </p:sp>
    </p:spTree>
    <p:extLst>
      <p:ext uri="{BB962C8B-B14F-4D97-AF65-F5344CB8AC3E}">
        <p14:creationId xmlns:p14="http://schemas.microsoft.com/office/powerpoint/2010/main" val="2392693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/>
              <a:t>L'enquête dans l'entourage de la patiente ne trouve pas de signes en faveur de tuberculose active  chez les enfants et le marie. L'IDR à la tuberculine est négative pour tous les membres de la famille. Vous indiquez: 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A. Une </a:t>
            </a:r>
            <a:r>
              <a:rPr lang="fr-FR" dirty="0" err="1"/>
              <a:t>chimioprophylaxie</a:t>
            </a:r>
            <a:r>
              <a:rPr lang="fr-FR" dirty="0"/>
              <a:t> pour le marie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B. Une </a:t>
            </a:r>
            <a:r>
              <a:rPr lang="fr-FR" dirty="0" err="1">
                <a:solidFill>
                  <a:srgbClr val="FF0000"/>
                </a:solidFill>
              </a:rPr>
              <a:t>chimioprophylaxie</a:t>
            </a:r>
            <a:r>
              <a:rPr lang="fr-FR" dirty="0">
                <a:solidFill>
                  <a:srgbClr val="FF0000"/>
                </a:solidFill>
              </a:rPr>
              <a:t> pour l'enfant âgé de 2 ans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C. Une </a:t>
            </a:r>
            <a:r>
              <a:rPr lang="fr-FR" dirty="0" err="1">
                <a:solidFill>
                  <a:srgbClr val="FF0000"/>
                </a:solidFill>
              </a:rPr>
              <a:t>chimioprophylaxie</a:t>
            </a:r>
            <a:r>
              <a:rPr lang="fr-FR" dirty="0">
                <a:solidFill>
                  <a:srgbClr val="FF0000"/>
                </a:solidFill>
              </a:rPr>
              <a:t> pour l'enfant âgé de 4 ans</a:t>
            </a:r>
          </a:p>
          <a:p>
            <a:pPr marL="0" indent="0">
              <a:buNone/>
            </a:pPr>
            <a:r>
              <a:rPr lang="fr-FR" dirty="0"/>
              <a:t>D. Une </a:t>
            </a:r>
            <a:r>
              <a:rPr lang="fr-FR" dirty="0" err="1"/>
              <a:t>chimioprophylaxie</a:t>
            </a:r>
            <a:r>
              <a:rPr lang="fr-FR" dirty="0"/>
              <a:t> pour l'enfant âgé de 7 ans</a:t>
            </a:r>
          </a:p>
          <a:p>
            <a:pPr marL="0" indent="0">
              <a:buNone/>
            </a:pPr>
            <a:r>
              <a:rPr lang="fr-FR" dirty="0"/>
              <a:t>E. Une simple surveillance avec  contrôle de l'IDR dans 6 mois pour tous les enfants</a:t>
            </a:r>
          </a:p>
        </p:txBody>
      </p:sp>
    </p:spTree>
    <p:extLst>
      <p:ext uri="{BB962C8B-B14F-4D97-AF65-F5344CB8AC3E}">
        <p14:creationId xmlns:p14="http://schemas.microsoft.com/office/powerpoint/2010/main" val="1045822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La nécrose caséeuse dans le granulome tuberculeux: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A- est riche en polynucléaires neutrophiles et en BK</a:t>
            </a:r>
          </a:p>
          <a:p>
            <a:pPr marL="0" indent="0">
              <a:buNone/>
            </a:pPr>
            <a:r>
              <a:rPr lang="fr-FR" dirty="0"/>
              <a:t>B- est pathognomonique de la tuberculose</a:t>
            </a:r>
          </a:p>
          <a:p>
            <a:pPr marL="0" indent="0">
              <a:buNone/>
            </a:pPr>
            <a:r>
              <a:rPr lang="fr-FR" dirty="0"/>
              <a:t>C- constitue une couronne au tour des lymphocytes</a:t>
            </a:r>
          </a:p>
          <a:p>
            <a:pPr marL="0" indent="0">
              <a:buNone/>
            </a:pPr>
            <a:r>
              <a:rPr lang="fr-FR" dirty="0"/>
              <a:t>D- est de couleur rouge foncée</a:t>
            </a:r>
          </a:p>
          <a:p>
            <a:pPr marL="0" indent="0">
              <a:buNone/>
            </a:pPr>
            <a:r>
              <a:rPr lang="fr-FR" dirty="0"/>
              <a:t>E- peut se ramollir et s’ouvrir dans une bronche de drainage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2892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La nécrose caséeuse dans le granulome tuberculeux:</a:t>
            </a:r>
            <a:endParaRPr lang="fr-FR" dirty="0"/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A- est riche en polynucléaires neutrophiles et en BK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B- est pathognomonique de la tuberculose</a:t>
            </a:r>
          </a:p>
          <a:p>
            <a:pPr marL="0" indent="0">
              <a:buNone/>
            </a:pPr>
            <a:r>
              <a:rPr lang="fr-FR" dirty="0"/>
              <a:t>C- constitue une couronne au tour des lymphocytes</a:t>
            </a:r>
          </a:p>
          <a:p>
            <a:pPr marL="0" indent="0">
              <a:buNone/>
            </a:pPr>
            <a:r>
              <a:rPr lang="fr-FR" dirty="0"/>
              <a:t>D- est de couleur rouge foncée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E- peut se ramollir et s’ouvrir dans une bronche de drainage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58377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La bronchopneumonie tuberculeuse est caractérisée le plus souvent par :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A- une altération de l’état général</a:t>
            </a:r>
          </a:p>
          <a:p>
            <a:pPr marL="0" indent="0">
              <a:buNone/>
            </a:pPr>
            <a:r>
              <a:rPr lang="fr-FR" dirty="0"/>
              <a:t>B- des hémoptysies</a:t>
            </a:r>
          </a:p>
          <a:p>
            <a:pPr marL="0" indent="0">
              <a:buNone/>
            </a:pPr>
            <a:r>
              <a:rPr lang="fr-FR" dirty="0"/>
              <a:t>C- une fièvre</a:t>
            </a:r>
          </a:p>
          <a:p>
            <a:pPr marL="0" indent="0">
              <a:buNone/>
            </a:pPr>
            <a:r>
              <a:rPr lang="fr-FR" dirty="0"/>
              <a:t>D- des lésions radiologiques peu étendues </a:t>
            </a:r>
          </a:p>
          <a:p>
            <a:pPr marL="0" indent="0">
              <a:buNone/>
            </a:pPr>
            <a:r>
              <a:rPr lang="fr-FR" dirty="0"/>
              <a:t>E- des </a:t>
            </a:r>
            <a:r>
              <a:rPr lang="fr-FR" dirty="0" err="1"/>
              <a:t>bacilloscopies</a:t>
            </a:r>
            <a:r>
              <a:rPr lang="fr-FR" dirty="0"/>
              <a:t> négatives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0693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La bronchopneumonie tuberculeuse est caractérisée le plus souvent par :</a:t>
            </a:r>
            <a:endParaRPr lang="fr-FR" dirty="0"/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A- une altération de l’état général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B- des hémoptysies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C- une fièvre</a:t>
            </a:r>
          </a:p>
          <a:p>
            <a:pPr marL="0" indent="0">
              <a:buNone/>
            </a:pPr>
            <a:r>
              <a:rPr lang="fr-FR" dirty="0"/>
              <a:t>D- des lésions radiologiques peu étendues </a:t>
            </a:r>
          </a:p>
          <a:p>
            <a:pPr marL="0" indent="0">
              <a:buNone/>
            </a:pPr>
            <a:r>
              <a:rPr lang="fr-FR" dirty="0"/>
              <a:t>E- des </a:t>
            </a:r>
            <a:r>
              <a:rPr lang="fr-FR" dirty="0" err="1"/>
              <a:t>bacilloscopies</a:t>
            </a:r>
            <a:r>
              <a:rPr lang="fr-FR" dirty="0"/>
              <a:t> négatives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43135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Les critères de guérison d’une </a:t>
            </a:r>
            <a:r>
              <a:rPr lang="fr-FR" b="1" dirty="0" err="1"/>
              <a:t>Tbc</a:t>
            </a:r>
            <a:r>
              <a:rPr lang="fr-FR" b="1" dirty="0"/>
              <a:t> pulmonaire commune </a:t>
            </a:r>
            <a:r>
              <a:rPr lang="fr-FR" b="1" dirty="0" err="1"/>
              <a:t>bacillifère</a:t>
            </a:r>
            <a:r>
              <a:rPr lang="fr-FR" b="1" dirty="0"/>
              <a:t> sont: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A- Une amélioration clinique</a:t>
            </a:r>
          </a:p>
          <a:p>
            <a:pPr marL="0" indent="0">
              <a:buNone/>
            </a:pPr>
            <a:r>
              <a:rPr lang="fr-FR" dirty="0"/>
              <a:t>B- Une amélioration radiologique</a:t>
            </a:r>
          </a:p>
          <a:p>
            <a:pPr marL="0" indent="0">
              <a:buNone/>
            </a:pPr>
            <a:r>
              <a:rPr lang="fr-FR" dirty="0"/>
              <a:t>C- La négativation de la recherche de BK à 2 mois </a:t>
            </a:r>
          </a:p>
          <a:p>
            <a:pPr marL="0" indent="0">
              <a:buNone/>
            </a:pPr>
            <a:r>
              <a:rPr lang="fr-FR" dirty="0"/>
              <a:t>D- Une durée de traitement anti </a:t>
            </a:r>
            <a:r>
              <a:rPr lang="fr-FR" dirty="0" err="1"/>
              <a:t>tbc</a:t>
            </a:r>
            <a:r>
              <a:rPr lang="fr-FR" dirty="0"/>
              <a:t> de 4 mois</a:t>
            </a:r>
          </a:p>
          <a:p>
            <a:pPr marL="0" indent="0">
              <a:buNone/>
            </a:pPr>
            <a:r>
              <a:rPr lang="fr-FR" dirty="0"/>
              <a:t>E- Une bonne observance du traitement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7378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Les critères de guérison d’une </a:t>
            </a:r>
            <a:r>
              <a:rPr lang="fr-FR" b="1" dirty="0" err="1"/>
              <a:t>Tbc</a:t>
            </a:r>
            <a:r>
              <a:rPr lang="fr-FR" b="1" dirty="0"/>
              <a:t> pulmonaire commune </a:t>
            </a:r>
            <a:r>
              <a:rPr lang="fr-FR" b="1" dirty="0" err="1"/>
              <a:t>bacillifère</a:t>
            </a:r>
            <a:r>
              <a:rPr lang="fr-FR" b="1" dirty="0"/>
              <a:t> sont:</a:t>
            </a:r>
            <a:endParaRPr lang="fr-FR" dirty="0"/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A- Une amélioration clinique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B-</a:t>
            </a:r>
            <a:r>
              <a:rPr lang="fr-FR" dirty="0"/>
              <a:t> </a:t>
            </a:r>
            <a:r>
              <a:rPr lang="fr-FR" dirty="0">
                <a:solidFill>
                  <a:srgbClr val="FF0000"/>
                </a:solidFill>
              </a:rPr>
              <a:t>Une amélioration radiologique</a:t>
            </a:r>
          </a:p>
          <a:p>
            <a:pPr marL="0" indent="0">
              <a:buNone/>
            </a:pPr>
            <a:r>
              <a:rPr lang="fr-FR" dirty="0"/>
              <a:t>C- La négativation de la recherche de BK à 2 mois </a:t>
            </a:r>
          </a:p>
          <a:p>
            <a:pPr marL="0" indent="0">
              <a:buNone/>
            </a:pPr>
            <a:r>
              <a:rPr lang="fr-FR" dirty="0"/>
              <a:t>D- Une durée de traitement anti </a:t>
            </a:r>
            <a:r>
              <a:rPr lang="fr-FR" dirty="0" err="1"/>
              <a:t>tbc</a:t>
            </a:r>
            <a:r>
              <a:rPr lang="fr-FR" dirty="0"/>
              <a:t> de 4 mois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E- Une bonne observance du traitement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89869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5BB3F7-4C65-ECB0-E596-C47116F46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37C5F6-A06B-CD29-1A97-E3E49DE8F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L’échec du traitement dans la TPC est défini par</a:t>
            </a:r>
          </a:p>
          <a:p>
            <a:pPr marL="0" indent="0">
              <a:buNone/>
            </a:pPr>
            <a:r>
              <a:rPr lang="fr-FR" dirty="0"/>
              <a:t>A- la présence  de séquelles radiologiques</a:t>
            </a:r>
          </a:p>
          <a:p>
            <a:pPr marL="0" indent="0">
              <a:buNone/>
            </a:pPr>
            <a:r>
              <a:rPr lang="fr-FR" dirty="0"/>
              <a:t>B- la persistance de BAAR après 5 mois du </a:t>
            </a:r>
            <a:r>
              <a:rPr lang="fr-FR" dirty="0" err="1"/>
              <a:t>ttt</a:t>
            </a:r>
            <a:r>
              <a:rPr lang="fr-FR" dirty="0"/>
              <a:t> antituberculeux</a:t>
            </a:r>
          </a:p>
          <a:p>
            <a:pPr marL="0" indent="0">
              <a:buNone/>
            </a:pPr>
            <a:r>
              <a:rPr lang="fr-FR" dirty="0"/>
              <a:t>C- la </a:t>
            </a:r>
            <a:r>
              <a:rPr lang="fr-FR" dirty="0" err="1"/>
              <a:t>positivation</a:t>
            </a:r>
            <a:r>
              <a:rPr lang="fr-FR" dirty="0"/>
              <a:t> de la recherche de </a:t>
            </a:r>
            <a:r>
              <a:rPr lang="fr-FR" dirty="0" err="1"/>
              <a:t>Bk</a:t>
            </a:r>
            <a:r>
              <a:rPr lang="fr-FR" dirty="0"/>
              <a:t> après une guérison de 6 mois</a:t>
            </a:r>
          </a:p>
          <a:p>
            <a:pPr marL="0" indent="0">
              <a:buNone/>
            </a:pPr>
            <a:r>
              <a:rPr lang="fr-FR" dirty="0"/>
              <a:t>D- la persistance de toux et d’expectoration à la fin du </a:t>
            </a:r>
            <a:r>
              <a:rPr lang="fr-FR" dirty="0" err="1"/>
              <a:t>ttt</a:t>
            </a:r>
            <a:r>
              <a:rPr lang="fr-FR" dirty="0"/>
              <a:t> antituberculeux</a:t>
            </a:r>
          </a:p>
          <a:p>
            <a:pPr marL="0" indent="0">
              <a:buNone/>
            </a:pPr>
            <a:r>
              <a:rPr lang="fr-FR" dirty="0"/>
              <a:t>E- une IDR à la tuberculine phlycténulaire</a:t>
            </a:r>
          </a:p>
        </p:txBody>
      </p:sp>
    </p:spTree>
    <p:extLst>
      <p:ext uri="{BB962C8B-B14F-4D97-AF65-F5344CB8AC3E}">
        <p14:creationId xmlns:p14="http://schemas.microsoft.com/office/powerpoint/2010/main" val="2979080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99344-FFE5-6262-EEE3-8C8293387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FF37BA-2132-593E-7792-55A89C986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D84C39-F5EC-D6B4-6405-1BE215494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L’échec du traitement dans la TPC est défini par</a:t>
            </a:r>
          </a:p>
          <a:p>
            <a:pPr marL="0" indent="0">
              <a:buNone/>
            </a:pPr>
            <a:r>
              <a:rPr lang="fr-FR" dirty="0"/>
              <a:t>A- la présence  de séquelles radiologiques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B- la persistance de BAAR après 5 mois du </a:t>
            </a:r>
            <a:r>
              <a:rPr lang="fr-FR" dirty="0" err="1">
                <a:solidFill>
                  <a:srgbClr val="FF0000"/>
                </a:solidFill>
              </a:rPr>
              <a:t>ttt</a:t>
            </a:r>
            <a:r>
              <a:rPr lang="fr-FR" dirty="0">
                <a:solidFill>
                  <a:srgbClr val="FF0000"/>
                </a:solidFill>
              </a:rPr>
              <a:t> antituberculeux</a:t>
            </a:r>
          </a:p>
          <a:p>
            <a:pPr marL="0" indent="0">
              <a:buNone/>
            </a:pPr>
            <a:r>
              <a:rPr lang="fr-FR" dirty="0"/>
              <a:t>C- la </a:t>
            </a:r>
            <a:r>
              <a:rPr lang="fr-FR" dirty="0" err="1"/>
              <a:t>positivation</a:t>
            </a:r>
            <a:r>
              <a:rPr lang="fr-FR" dirty="0"/>
              <a:t> de la recherche de </a:t>
            </a:r>
            <a:r>
              <a:rPr lang="fr-FR" dirty="0" err="1"/>
              <a:t>Bk</a:t>
            </a:r>
            <a:r>
              <a:rPr lang="fr-FR" dirty="0"/>
              <a:t> après une guérison de 6 mois</a:t>
            </a:r>
          </a:p>
          <a:p>
            <a:pPr marL="0" indent="0">
              <a:buNone/>
            </a:pPr>
            <a:r>
              <a:rPr lang="fr-FR" dirty="0"/>
              <a:t>D- la persistance de toux et d’expectoration à la fin du </a:t>
            </a:r>
            <a:r>
              <a:rPr lang="fr-FR" dirty="0" err="1"/>
              <a:t>ttt</a:t>
            </a:r>
            <a:r>
              <a:rPr lang="fr-FR" dirty="0"/>
              <a:t> antituberculeux</a:t>
            </a:r>
          </a:p>
          <a:p>
            <a:pPr marL="0" indent="0">
              <a:buNone/>
            </a:pPr>
            <a:r>
              <a:rPr lang="fr-FR" dirty="0"/>
              <a:t>E- une IDR à la tuberculine phlycténulaire</a:t>
            </a:r>
          </a:p>
        </p:txBody>
      </p:sp>
    </p:spTree>
    <p:extLst>
      <p:ext uri="{BB962C8B-B14F-4D97-AF65-F5344CB8AC3E}">
        <p14:creationId xmlns:p14="http://schemas.microsoft.com/office/powerpoint/2010/main" val="3955660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816B55-83D8-7176-F96D-844AA2118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F6A6B2-FE21-59D5-2A50-D8193ADDD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L’échec du traitement au cours de la TPC peut être du à:</a:t>
            </a:r>
          </a:p>
          <a:p>
            <a:pPr marL="0" indent="0">
              <a:buNone/>
            </a:pPr>
            <a:r>
              <a:rPr lang="fr-FR" dirty="0"/>
              <a:t>A- un traitement mal prescrit</a:t>
            </a:r>
          </a:p>
          <a:p>
            <a:pPr marL="0" indent="0">
              <a:buNone/>
            </a:pPr>
            <a:r>
              <a:rPr lang="fr-FR" dirty="0"/>
              <a:t>B- une mauvaise observance thérapeutique</a:t>
            </a:r>
          </a:p>
          <a:p>
            <a:pPr marL="0" indent="0">
              <a:buNone/>
            </a:pPr>
            <a:r>
              <a:rPr lang="fr-FR" dirty="0"/>
              <a:t>C- une résistance du bacille aux </a:t>
            </a:r>
            <a:r>
              <a:rPr lang="fr-FR" dirty="0" err="1"/>
              <a:t>antitbc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D- une forme étendue de la maladie</a:t>
            </a:r>
          </a:p>
          <a:p>
            <a:pPr marL="0" indent="0">
              <a:buNone/>
            </a:pPr>
            <a:r>
              <a:rPr lang="fr-FR" dirty="0"/>
              <a:t>E- un terrain d’immunodépression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59825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DE44B-FE35-1F5B-BDD9-4D2ED2D1B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47FF6B-70A8-45F8-6C8B-55F88A514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2D03CE-FEA5-BBFA-66ED-8AC58B479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L’échec du traitement au cours de la TPC peut être du à: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A-</a:t>
            </a:r>
            <a:r>
              <a:rPr lang="fr-FR" dirty="0"/>
              <a:t> </a:t>
            </a:r>
            <a:r>
              <a:rPr lang="fr-FR" dirty="0">
                <a:solidFill>
                  <a:srgbClr val="FF0000"/>
                </a:solidFill>
              </a:rPr>
              <a:t>un traitement mal prescrit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B- une mauvaise observance thérapeutique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C- une résistance du bacille aux </a:t>
            </a:r>
            <a:r>
              <a:rPr lang="fr-FR" dirty="0" err="1">
                <a:solidFill>
                  <a:srgbClr val="FF0000"/>
                </a:solidFill>
              </a:rPr>
              <a:t>antitbc</a:t>
            </a:r>
            <a:endParaRPr lang="fr-F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fr-FR" dirty="0"/>
              <a:t>D- une forme étendue de la maladie</a:t>
            </a:r>
          </a:p>
          <a:p>
            <a:pPr marL="0" indent="0">
              <a:buNone/>
            </a:pPr>
            <a:r>
              <a:rPr lang="fr-FR" dirty="0"/>
              <a:t>E- un terrain d’immunodépression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15095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Concernant la prévention vaccinale (BCG)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A. Elle est obligatoire pour tout les nouveaux nés en Tunisie</a:t>
            </a:r>
          </a:p>
          <a:p>
            <a:pPr marL="0" indent="0">
              <a:buNone/>
            </a:pPr>
            <a:r>
              <a:rPr lang="fr-FR" dirty="0"/>
              <a:t>B. Elle prévient contre les formes grave de tuberculose</a:t>
            </a:r>
          </a:p>
          <a:p>
            <a:pPr marL="0" indent="0">
              <a:buNone/>
            </a:pPr>
            <a:r>
              <a:rPr lang="fr-FR" dirty="0"/>
              <a:t>C. Est administrée par voie sublinguale</a:t>
            </a:r>
          </a:p>
          <a:p>
            <a:pPr marL="0" indent="0">
              <a:buNone/>
            </a:pPr>
            <a:r>
              <a:rPr lang="fr-FR" dirty="0"/>
              <a:t>D. Elle est administrée à la naissance et à 2 ans</a:t>
            </a:r>
          </a:p>
          <a:p>
            <a:pPr marL="0" indent="0">
              <a:buNone/>
            </a:pPr>
            <a:r>
              <a:rPr lang="fr-FR" dirty="0"/>
              <a:t>E. Elle comporte un test préalable par IGRA ou IDR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71837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Concernant la prévention vaccinale (BCG)</a:t>
            </a:r>
            <a:endParaRPr lang="fr-FR" dirty="0"/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A. Elle est obligatoire pour tout les nouveaux nés en Tunisie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B. Elle prévient contre les formes grave de tuberculose</a:t>
            </a:r>
          </a:p>
          <a:p>
            <a:pPr marL="0" indent="0">
              <a:buNone/>
            </a:pPr>
            <a:r>
              <a:rPr lang="fr-FR" dirty="0"/>
              <a:t>C. Est administrée par voie sublinguale</a:t>
            </a:r>
          </a:p>
          <a:p>
            <a:pPr marL="0" indent="0">
              <a:buNone/>
            </a:pPr>
            <a:r>
              <a:rPr lang="fr-FR" dirty="0"/>
              <a:t>D. Elle est administrée à la naissance et à 2 ans</a:t>
            </a:r>
          </a:p>
          <a:p>
            <a:pPr marL="0" indent="0">
              <a:buNone/>
            </a:pPr>
            <a:r>
              <a:rPr lang="fr-FR" dirty="0"/>
              <a:t>E. Elle comporte un test préalable par IGRA ou IDR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4753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fr-FR" sz="4000" dirty="0">
              <a:latin typeface="Atalante" pitchFamily="2" charset="0"/>
            </a:endParaRPr>
          </a:p>
          <a:p>
            <a:pPr marL="0" indent="0" algn="ctr">
              <a:buNone/>
            </a:pPr>
            <a:endParaRPr lang="fr-FR" sz="4000" dirty="0">
              <a:latin typeface="Atalante" pitchFamily="2" charset="0"/>
            </a:endParaRPr>
          </a:p>
          <a:p>
            <a:pPr marL="0" indent="0" algn="ctr">
              <a:buNone/>
            </a:pPr>
            <a:r>
              <a:rPr lang="fr-FR" sz="4000" dirty="0">
                <a:solidFill>
                  <a:srgbClr val="C00000"/>
                </a:solidFill>
                <a:latin typeface="Atalante" pitchFamily="2" charset="0"/>
              </a:rPr>
              <a:t>BONNE CHANCE</a:t>
            </a:r>
          </a:p>
        </p:txBody>
      </p:sp>
    </p:spTree>
    <p:extLst>
      <p:ext uri="{BB962C8B-B14F-4D97-AF65-F5344CB8AC3E}">
        <p14:creationId xmlns:p14="http://schemas.microsoft.com/office/powerpoint/2010/main" val="3640928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5154</Words>
  <Application>Microsoft Office PowerPoint</Application>
  <PresentationFormat>Grand écran</PresentationFormat>
  <Paragraphs>692</Paragraphs>
  <Slides>110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110</vt:i4>
      </vt:variant>
    </vt:vector>
  </HeadingPairs>
  <TitlesOfParts>
    <vt:vector size="116" baseType="lpstr">
      <vt:lpstr>Andalus</vt:lpstr>
      <vt:lpstr>Arial</vt:lpstr>
      <vt:lpstr>Atalante</vt:lpstr>
      <vt:lpstr>Calibri</vt:lpstr>
      <vt:lpstr>Calibri Light</vt:lpstr>
      <vt:lpstr>Thème Office</vt:lpstr>
      <vt:lpstr>Préparation de Résidanat 2025 Objectif : 72 Tuberculose pulmonaire commune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Amphi</cp:lastModifiedBy>
  <cp:revision>45</cp:revision>
  <dcterms:created xsi:type="dcterms:W3CDTF">2025-09-16T14:46:40Z</dcterms:created>
  <dcterms:modified xsi:type="dcterms:W3CDTF">2025-09-17T10:56:07Z</dcterms:modified>
</cp:coreProperties>
</file>
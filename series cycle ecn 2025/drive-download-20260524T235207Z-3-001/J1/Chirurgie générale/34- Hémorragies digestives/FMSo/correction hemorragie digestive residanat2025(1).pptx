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94"/>
  </p:notesMasterIdLst>
  <p:sldIdLst>
    <p:sldId id="256" r:id="rId2"/>
    <p:sldId id="257" r:id="rId3"/>
    <p:sldId id="410" r:id="rId4"/>
    <p:sldId id="425" r:id="rId5"/>
    <p:sldId id="258" r:id="rId6"/>
    <p:sldId id="301" r:id="rId7"/>
    <p:sldId id="426" r:id="rId8"/>
    <p:sldId id="484" r:id="rId9"/>
    <p:sldId id="259" r:id="rId10"/>
    <p:sldId id="341" r:id="rId11"/>
    <p:sldId id="260" r:id="rId12"/>
    <p:sldId id="303" r:id="rId13"/>
    <p:sldId id="454" r:id="rId14"/>
    <p:sldId id="427" r:id="rId15"/>
    <p:sldId id="261" r:id="rId16"/>
    <p:sldId id="304" r:id="rId17"/>
    <p:sldId id="262" r:id="rId18"/>
    <p:sldId id="305" r:id="rId19"/>
    <p:sldId id="433" r:id="rId20"/>
    <p:sldId id="485" r:id="rId21"/>
    <p:sldId id="434" r:id="rId22"/>
    <p:sldId id="486" r:id="rId23"/>
    <p:sldId id="435" r:id="rId24"/>
    <p:sldId id="487" r:id="rId25"/>
    <p:sldId id="453" r:id="rId26"/>
    <p:sldId id="488" r:id="rId27"/>
    <p:sldId id="457" r:id="rId28"/>
    <p:sldId id="428" r:id="rId29"/>
    <p:sldId id="263" r:id="rId30"/>
    <p:sldId id="306" r:id="rId31"/>
    <p:sldId id="264" r:id="rId32"/>
    <p:sldId id="308" r:id="rId33"/>
    <p:sldId id="265" r:id="rId34"/>
    <p:sldId id="307" r:id="rId35"/>
    <p:sldId id="462" r:id="rId36"/>
    <p:sldId id="465" r:id="rId37"/>
    <p:sldId id="429" r:id="rId38"/>
    <p:sldId id="266" r:id="rId39"/>
    <p:sldId id="342" r:id="rId40"/>
    <p:sldId id="268" r:id="rId41"/>
    <p:sldId id="310" r:id="rId42"/>
    <p:sldId id="436" r:id="rId43"/>
    <p:sldId id="490" r:id="rId44"/>
    <p:sldId id="520" r:id="rId45"/>
    <p:sldId id="521" r:id="rId46"/>
    <p:sldId id="522" r:id="rId47"/>
    <p:sldId id="523" r:id="rId48"/>
    <p:sldId id="458" r:id="rId49"/>
    <p:sldId id="430" r:id="rId50"/>
    <p:sldId id="269" r:id="rId51"/>
    <p:sldId id="311" r:id="rId52"/>
    <p:sldId id="267" r:id="rId53"/>
    <p:sldId id="312" r:id="rId54"/>
    <p:sldId id="270" r:id="rId55"/>
    <p:sldId id="313" r:id="rId56"/>
    <p:sldId id="272" r:id="rId57"/>
    <p:sldId id="315" r:id="rId58"/>
    <p:sldId id="273" r:id="rId59"/>
    <p:sldId id="316" r:id="rId60"/>
    <p:sldId id="274" r:id="rId61"/>
    <p:sldId id="317" r:id="rId62"/>
    <p:sldId id="367" r:id="rId63"/>
    <p:sldId id="275" r:id="rId64"/>
    <p:sldId id="318" r:id="rId65"/>
    <p:sldId id="437" r:id="rId66"/>
    <p:sldId id="491" r:id="rId67"/>
    <p:sldId id="438" r:id="rId68"/>
    <p:sldId id="492" r:id="rId69"/>
    <p:sldId id="473" r:id="rId70"/>
    <p:sldId id="474" r:id="rId71"/>
    <p:sldId id="475" r:id="rId72"/>
    <p:sldId id="478" r:id="rId73"/>
    <p:sldId id="479" r:id="rId74"/>
    <p:sldId id="480" r:id="rId75"/>
    <p:sldId id="481" r:id="rId76"/>
    <p:sldId id="489" r:id="rId77"/>
    <p:sldId id="459" r:id="rId78"/>
    <p:sldId id="467" r:id="rId79"/>
    <p:sldId id="468" r:id="rId80"/>
    <p:sldId id="431" r:id="rId81"/>
    <p:sldId id="276" r:id="rId82"/>
    <p:sldId id="319" r:id="rId83"/>
    <p:sldId id="277" r:id="rId84"/>
    <p:sldId id="320" r:id="rId85"/>
    <p:sldId id="482" r:id="rId86"/>
    <p:sldId id="483" r:id="rId87"/>
    <p:sldId id="439" r:id="rId88"/>
    <p:sldId id="493" r:id="rId89"/>
    <p:sldId id="442" r:id="rId90"/>
    <p:sldId id="494" r:id="rId91"/>
    <p:sldId id="460" r:id="rId92"/>
    <p:sldId id="432" r:id="rId93"/>
    <p:sldId id="282" r:id="rId94"/>
    <p:sldId id="325" r:id="rId95"/>
    <p:sldId id="283" r:id="rId96"/>
    <p:sldId id="326" r:id="rId97"/>
    <p:sldId id="441" r:id="rId98"/>
    <p:sldId id="495" r:id="rId99"/>
    <p:sldId id="508" r:id="rId100"/>
    <p:sldId id="509" r:id="rId101"/>
    <p:sldId id="469" r:id="rId102"/>
    <p:sldId id="409" r:id="rId103"/>
    <p:sldId id="285" r:id="rId104"/>
    <p:sldId id="497" r:id="rId105"/>
    <p:sldId id="286" r:id="rId106"/>
    <p:sldId id="328" r:id="rId107"/>
    <p:sldId id="287" r:id="rId108"/>
    <p:sldId id="329" r:id="rId109"/>
    <p:sldId id="288" r:id="rId110"/>
    <p:sldId id="330" r:id="rId111"/>
    <p:sldId id="373" r:id="rId112"/>
    <p:sldId id="289" r:id="rId113"/>
    <p:sldId id="331" r:id="rId114"/>
    <p:sldId id="290" r:id="rId115"/>
    <p:sldId id="332" r:id="rId116"/>
    <p:sldId id="291" r:id="rId117"/>
    <p:sldId id="498" r:id="rId118"/>
    <p:sldId id="292" r:id="rId119"/>
    <p:sldId id="333" r:id="rId120"/>
    <p:sldId id="293" r:id="rId121"/>
    <p:sldId id="334" r:id="rId122"/>
    <p:sldId id="294" r:id="rId123"/>
    <p:sldId id="335" r:id="rId124"/>
    <p:sldId id="295" r:id="rId125"/>
    <p:sldId id="345" r:id="rId126"/>
    <p:sldId id="296" r:id="rId127"/>
    <p:sldId id="346" r:id="rId128"/>
    <p:sldId id="297" r:id="rId129"/>
    <p:sldId id="298" r:id="rId130"/>
    <p:sldId id="338" r:id="rId131"/>
    <p:sldId id="299" r:id="rId132"/>
    <p:sldId id="339" r:id="rId133"/>
    <p:sldId id="300" r:id="rId134"/>
    <p:sldId id="499" r:id="rId135"/>
    <p:sldId id="358" r:id="rId136"/>
    <p:sldId id="359" r:id="rId137"/>
    <p:sldId id="360" r:id="rId138"/>
    <p:sldId id="361" r:id="rId139"/>
    <p:sldId id="362" r:id="rId140"/>
    <p:sldId id="363" r:id="rId141"/>
    <p:sldId id="364" r:id="rId142"/>
    <p:sldId id="500" r:id="rId143"/>
    <p:sldId id="443" r:id="rId144"/>
    <p:sldId id="445" r:id="rId145"/>
    <p:sldId id="501" r:id="rId146"/>
    <p:sldId id="446" r:id="rId147"/>
    <p:sldId id="502" r:id="rId148"/>
    <p:sldId id="447" r:id="rId149"/>
    <p:sldId id="503" r:id="rId150"/>
    <p:sldId id="448" r:id="rId151"/>
    <p:sldId id="504" r:id="rId152"/>
    <p:sldId id="444" r:id="rId153"/>
    <p:sldId id="449" r:id="rId154"/>
    <p:sldId id="505" r:id="rId155"/>
    <p:sldId id="450" r:id="rId156"/>
    <p:sldId id="506" r:id="rId157"/>
    <p:sldId id="451" r:id="rId158"/>
    <p:sldId id="507" r:id="rId159"/>
    <p:sldId id="452" r:id="rId160"/>
    <p:sldId id="510" r:id="rId161"/>
    <p:sldId id="511" r:id="rId162"/>
    <p:sldId id="512" r:id="rId163"/>
    <p:sldId id="513" r:id="rId164"/>
    <p:sldId id="514" r:id="rId165"/>
    <p:sldId id="519" r:id="rId166"/>
    <p:sldId id="515" r:id="rId167"/>
    <p:sldId id="516" r:id="rId168"/>
    <p:sldId id="518" r:id="rId169"/>
    <p:sldId id="517" r:id="rId170"/>
    <p:sldId id="524" r:id="rId171"/>
    <p:sldId id="525" r:id="rId172"/>
    <p:sldId id="526" r:id="rId173"/>
    <p:sldId id="527" r:id="rId174"/>
    <p:sldId id="545" r:id="rId175"/>
    <p:sldId id="528" r:id="rId176"/>
    <p:sldId id="544" r:id="rId177"/>
    <p:sldId id="529" r:id="rId178"/>
    <p:sldId id="543" r:id="rId179"/>
    <p:sldId id="530" r:id="rId180"/>
    <p:sldId id="542" r:id="rId181"/>
    <p:sldId id="531" r:id="rId182"/>
    <p:sldId id="532" r:id="rId183"/>
    <p:sldId id="541" r:id="rId184"/>
    <p:sldId id="533" r:id="rId185"/>
    <p:sldId id="540" r:id="rId186"/>
    <p:sldId id="534" r:id="rId187"/>
    <p:sldId id="539" r:id="rId188"/>
    <p:sldId id="535" r:id="rId189"/>
    <p:sldId id="538" r:id="rId190"/>
    <p:sldId id="536" r:id="rId191"/>
    <p:sldId id="537" r:id="rId192"/>
    <p:sldId id="369" r:id="rId19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10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presProps" Target="presProps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7406E-999F-4CD5-90F3-E38471E33307}" type="datetimeFigureOut">
              <a:rPr lang="fr-FR" smtClean="0"/>
              <a:pPr/>
              <a:t>21/08/2025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99D17-AD54-43E3-BF26-02B01CF62E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84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99D17-AD54-43E3-BF26-02B01CF62E2C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42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99D17-AD54-43E3-BF26-02B01CF62E2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616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99D17-AD54-43E3-BF26-02B01CF62E2C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144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99D17-AD54-43E3-BF26-02B01CF62E2C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64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4AABD54-29EF-4885-9C4A-9314B166720D}" type="datetime1">
              <a:rPr lang="fr-FR" smtClean="0"/>
              <a:t>21/08/2025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54A77-06E3-42A7-A42C-F1E2D8BB140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8EAE9AC-13F9-40D9-8039-6B9D47C6B3B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51D53-AAAC-47FD-91E6-A49ED03198EF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C8C7-ACBD-4463-861A-D0F1FFCF6949}" type="datetime1">
              <a:rPr lang="fr-FR" smtClean="0"/>
              <a:t>21/08/2025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8E143-6655-42F7-B99E-6A1335FD2C94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6E31-0F1B-4957-9CEB-0E041CCD2B07}" type="datetime1">
              <a:rPr lang="fr-FR" smtClean="0"/>
              <a:t>21/08/2025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Connecteur droit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C51F-C748-40BD-9219-AD2B69B00A0E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7DB7D-0DCE-477B-8F29-F16DB41E4D0C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C58D-F98F-4ADE-AB4A-480224EA277C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4BA-F6CA-4BB0-AD53-8F625DC68FA6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angle isocè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3ACA979-BFC4-44C5-A656-58D83BE4CFDB}" type="datetime1">
              <a:rPr lang="fr-FR" smtClean="0"/>
              <a:t>21/08/2025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9096955-3A76-4396-892B-1913F6BCC17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8" name="Connecteur droit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necteur droit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le isocè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C00000"/>
                </a:solidFill>
              </a:rPr>
              <a:t>Les hémorragies digestives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85852" y="4929198"/>
            <a:ext cx="6858000" cy="1428760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  </a:t>
            </a:r>
            <a:endParaRPr lang="fr-FR" b="1" dirty="0">
              <a:solidFill>
                <a:schemeClr val="tx1"/>
              </a:solidFill>
            </a:endParaRPr>
          </a:p>
          <a:p>
            <a:pPr algn="l"/>
            <a:r>
              <a:rPr lang="fr-FR" sz="8000" dirty="0">
                <a:solidFill>
                  <a:schemeClr val="tx1"/>
                </a:solidFill>
              </a:rPr>
              <a:t>Pr </a:t>
            </a:r>
            <a:r>
              <a:rPr lang="fr-FR" sz="8000" dirty="0" smtClean="0">
                <a:solidFill>
                  <a:schemeClr val="tx1"/>
                </a:solidFill>
              </a:rPr>
              <a:t> </a:t>
            </a:r>
            <a:r>
              <a:rPr lang="fr-FR" sz="8000" dirty="0" err="1">
                <a:solidFill>
                  <a:schemeClr val="tx1"/>
                </a:solidFill>
              </a:rPr>
              <a:t>Jaziri</a:t>
            </a:r>
            <a:r>
              <a:rPr lang="fr-FR" sz="8000" dirty="0">
                <a:solidFill>
                  <a:schemeClr val="tx1"/>
                </a:solidFill>
              </a:rPr>
              <a:t> </a:t>
            </a:r>
            <a:r>
              <a:rPr lang="fr-FR" sz="8000" dirty="0" smtClean="0">
                <a:solidFill>
                  <a:schemeClr val="tx1"/>
                </a:solidFill>
              </a:rPr>
              <a:t>H</a:t>
            </a:r>
          </a:p>
          <a:p>
            <a:pPr algn="l"/>
            <a:r>
              <a:rPr lang="fr-FR" sz="8000" dirty="0" smtClean="0">
                <a:solidFill>
                  <a:schemeClr val="tx1"/>
                </a:solidFill>
              </a:rPr>
              <a:t>Pr Ag </a:t>
            </a:r>
            <a:r>
              <a:rPr lang="fr-FR" sz="8000" dirty="0" err="1" smtClean="0">
                <a:solidFill>
                  <a:schemeClr val="tx1"/>
                </a:solidFill>
              </a:rPr>
              <a:t>Akkari</a:t>
            </a:r>
            <a:r>
              <a:rPr lang="fr-FR" sz="8000" dirty="0" smtClean="0">
                <a:solidFill>
                  <a:schemeClr val="tx1"/>
                </a:solidFill>
              </a:rPr>
              <a:t> I</a:t>
            </a:r>
            <a:endParaRPr lang="fr-FR" sz="8000" dirty="0">
              <a:solidFill>
                <a:schemeClr val="tx1"/>
              </a:solidFill>
            </a:endParaRPr>
          </a:p>
          <a:p>
            <a:endParaRPr lang="fr-FR" sz="8000" dirty="0" smtClean="0">
              <a:solidFill>
                <a:schemeClr val="tx1"/>
              </a:solidFill>
            </a:endParaRPr>
          </a:p>
          <a:p>
            <a:r>
              <a:rPr lang="fr-FR" sz="8000" dirty="0" smtClean="0">
                <a:solidFill>
                  <a:schemeClr val="tx1"/>
                </a:solidFill>
              </a:rPr>
              <a:t>Faculté </a:t>
            </a:r>
            <a:r>
              <a:rPr lang="fr-FR" sz="8000" dirty="0">
                <a:solidFill>
                  <a:schemeClr val="tx1"/>
                </a:solidFill>
              </a:rPr>
              <a:t>de Médecine de Sousse </a:t>
            </a:r>
          </a:p>
          <a:p>
            <a:r>
              <a:rPr lang="fr-FR" sz="8000" dirty="0" smtClean="0">
                <a:solidFill>
                  <a:schemeClr val="tx1"/>
                </a:solidFill>
              </a:rPr>
              <a:t>2025/2026</a:t>
            </a:r>
            <a:endParaRPr lang="fr-FR" sz="8000" dirty="0">
              <a:solidFill>
                <a:schemeClr val="tx1"/>
              </a:solidFill>
            </a:endParaRPr>
          </a:p>
        </p:txBody>
      </p:sp>
      <p:pic>
        <p:nvPicPr>
          <p:cNvPr id="4" name="Image 3" descr="xfms-logo_0.jpg.pagespeed.ic.h9qkM6iv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88" y="285728"/>
            <a:ext cx="3524250" cy="2381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1068" y="1356336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AED5F-AAB2-4071-B3A9-FA8968B9F409}" type="datetime1">
              <a:rPr lang="fr-FR" smtClean="0"/>
              <a:t>21/08/2025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Cycle de résidanat - Sujet 34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14678" y="3000372"/>
            <a:ext cx="3143272" cy="1168400"/>
          </a:xfrm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rgbClr val="C00000"/>
                </a:solidFill>
              </a:rPr>
              <a:t>QCM</a:t>
            </a:r>
            <a:endParaRPr lang="fr-FR" sz="54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0DA3-C017-41E1-9C47-80BCC0240A88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1285860"/>
            <a:ext cx="6357982" cy="3571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F90B9-6389-46C0-802F-E2BDE37A826F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L’hémorragie digestive haute :</a:t>
            </a:r>
          </a:p>
          <a:p>
            <a:pPr>
              <a:buNone/>
            </a:pPr>
            <a:r>
              <a:rPr lang="fr-FR" sz="2600" dirty="0"/>
              <a:t>A- Est définie par un saignement provenant du tube digestif en amont de </a:t>
            </a:r>
            <a:r>
              <a:rPr lang="fr-FR" sz="2600" dirty="0" smtClean="0"/>
              <a:t>la valvule iléo-caecale</a:t>
            </a:r>
            <a:endParaRPr lang="fr-FR" sz="2600" dirty="0"/>
          </a:p>
          <a:p>
            <a:pPr>
              <a:buNone/>
            </a:pPr>
            <a:r>
              <a:rPr lang="fr-FR" sz="2600" dirty="0"/>
              <a:t>B- Est définie par un saignement provenant  de l’œsophage , l’estomac ou le duodénum</a:t>
            </a:r>
          </a:p>
          <a:p>
            <a:pPr>
              <a:buNone/>
            </a:pPr>
            <a:r>
              <a:rPr lang="fr-FR" sz="2600" dirty="0" smtClean="0"/>
              <a:t>C- Peut </a:t>
            </a:r>
            <a:r>
              <a:rPr lang="fr-FR" sz="2600" dirty="0"/>
              <a:t>être d’origine </a:t>
            </a:r>
            <a:r>
              <a:rPr lang="fr-FR" sz="2600" dirty="0" err="1" smtClean="0"/>
              <a:t>grêlique</a:t>
            </a:r>
            <a:r>
              <a:rPr lang="fr-FR" sz="2600" dirty="0" smtClean="0"/>
              <a:t> </a:t>
            </a:r>
            <a:endParaRPr lang="fr-FR" sz="2600" dirty="0"/>
          </a:p>
          <a:p>
            <a:pPr>
              <a:buNone/>
            </a:pPr>
            <a:r>
              <a:rPr lang="fr-FR" sz="2600" dirty="0" smtClean="0"/>
              <a:t>D- L</a:t>
            </a:r>
            <a:r>
              <a:rPr lang="fr-FR" dirty="0" smtClean="0"/>
              <a:t>a majorité des lésions est située au niveau de l’estomac et D1</a:t>
            </a:r>
            <a:endParaRPr lang="fr-FR" sz="2600" dirty="0"/>
          </a:p>
          <a:p>
            <a:pPr>
              <a:buNone/>
            </a:pPr>
            <a:r>
              <a:rPr lang="fr-FR" sz="2600" dirty="0" smtClean="0"/>
              <a:t>E- Constitue 80-90% </a:t>
            </a:r>
            <a:r>
              <a:rPr lang="fr-FR" sz="2600" dirty="0"/>
              <a:t>de toutes les hémorragies digestives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B463-6EF7-44DF-88A8-42664B14DFF4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L’hémorragie digestive haute :</a:t>
            </a:r>
          </a:p>
          <a:p>
            <a:pPr>
              <a:buNone/>
            </a:pPr>
            <a:r>
              <a:rPr lang="fr-FR" sz="2600" dirty="0"/>
              <a:t>A- Est définie par un saignement provenant du tube digestif en amont de </a:t>
            </a:r>
            <a:r>
              <a:rPr lang="fr-FR" sz="2600" dirty="0" smtClean="0"/>
              <a:t>la valvule iléo-caecale  </a:t>
            </a:r>
            <a:endParaRPr lang="fr-FR" sz="2600" dirty="0"/>
          </a:p>
          <a:p>
            <a:pPr>
              <a:buNone/>
            </a:pPr>
            <a:r>
              <a:rPr lang="fr-FR" sz="2600" dirty="0">
                <a:solidFill>
                  <a:srgbClr val="7030A0"/>
                </a:solidFill>
              </a:rPr>
              <a:t>B- Est définie par un saignement provenant  de l’œsophage , l’estomac ou le duodénum</a:t>
            </a:r>
          </a:p>
          <a:p>
            <a:pPr>
              <a:buNone/>
            </a:pPr>
            <a:r>
              <a:rPr lang="fr-FR" sz="2600" dirty="0" smtClean="0"/>
              <a:t>C- Peut </a:t>
            </a:r>
            <a:r>
              <a:rPr lang="fr-FR" sz="2600" dirty="0"/>
              <a:t>être d’origine </a:t>
            </a:r>
            <a:r>
              <a:rPr lang="fr-FR" sz="2600" dirty="0" err="1" smtClean="0"/>
              <a:t>grêlique</a:t>
            </a:r>
            <a:r>
              <a:rPr lang="fr-FR" sz="2600" dirty="0" smtClean="0"/>
              <a:t> </a:t>
            </a:r>
            <a:endParaRPr lang="fr-FR" sz="2600" dirty="0"/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D- La majorité des lésions est située au niveau de l’estomac et D1</a:t>
            </a:r>
            <a:endParaRPr lang="fr-FR" sz="2600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E- Constitue 80-90 % </a:t>
            </a:r>
            <a:r>
              <a:rPr lang="fr-FR" dirty="0">
                <a:solidFill>
                  <a:srgbClr val="7030A0"/>
                </a:solidFill>
              </a:rPr>
              <a:t>de toutes les hémorragies digestives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309-24B0-43CF-B52C-847368DA045A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33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hémorragie digestive haute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Est une hémorragie dont l’origine est situé en aval de l’angle </a:t>
            </a:r>
            <a:r>
              <a:rPr lang="fr-FR" sz="2800" dirty="0" err="1" smtClean="0"/>
              <a:t>duodéno</a:t>
            </a:r>
            <a:r>
              <a:rPr lang="fr-FR" sz="2800" dirty="0" smtClean="0"/>
              <a:t>-jéjunal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Peut être d’origine pancréatique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Est plus fréquente que l’hémorragie digestive basse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Peut être d’origine biliaire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Peut être secondaire à une atteinte de l’intestin grêle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5378B-D899-4932-BD30-F0CA68FDFCAB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hémorragie digestive haute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Est une hémorragie dont l’origine est situé en aval de l’angle </a:t>
            </a:r>
            <a:r>
              <a:rPr lang="fr-FR" sz="2800" dirty="0" err="1" smtClean="0"/>
              <a:t>duodéno</a:t>
            </a:r>
            <a:r>
              <a:rPr lang="fr-FR" sz="2800" dirty="0" smtClean="0"/>
              <a:t>-jéjunal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solidFill>
                  <a:srgbClr val="7030A0"/>
                </a:solidFill>
              </a:rPr>
              <a:t>Peut être d’origine pancréatique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solidFill>
                  <a:srgbClr val="7030A0"/>
                </a:solidFill>
              </a:rPr>
              <a:t>Est plus fréquente que l’hémorragie digestive basse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solidFill>
                  <a:srgbClr val="7030A0"/>
                </a:solidFill>
              </a:rPr>
              <a:t>Peut être d’origine biliaire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Peut être secondaire à une atteinte de l’intestin grêle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77FF-D42A-4490-8A4D-4420C602E335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Au cours de l’hémorragie digestive haute :</a:t>
            </a:r>
          </a:p>
          <a:p>
            <a:pPr>
              <a:buNone/>
            </a:pPr>
            <a:r>
              <a:rPr lang="fr-FR" sz="2800" dirty="0"/>
              <a:t>A-L’origine de saignement la plus fréquente est l’estomac ou le D1</a:t>
            </a:r>
          </a:p>
          <a:p>
            <a:pPr>
              <a:buNone/>
            </a:pPr>
            <a:r>
              <a:rPr lang="fr-FR" sz="2800" dirty="0"/>
              <a:t>B- Les wirsungorragies sont fréquentes</a:t>
            </a:r>
          </a:p>
          <a:p>
            <a:pPr>
              <a:buNone/>
            </a:pPr>
            <a:r>
              <a:rPr lang="fr-FR" sz="2800" dirty="0"/>
              <a:t>C- Le saignement d’origine biliaire est exceptionnel</a:t>
            </a:r>
          </a:p>
          <a:p>
            <a:pPr>
              <a:buNone/>
            </a:pPr>
            <a:r>
              <a:rPr lang="fr-FR" sz="2800" dirty="0" smtClean="0"/>
              <a:t>D- L’origine </a:t>
            </a:r>
            <a:r>
              <a:rPr lang="fr-FR" sz="2800" dirty="0"/>
              <a:t>ulcéreuse est la cause la plus fréquente</a:t>
            </a:r>
          </a:p>
          <a:p>
            <a:pPr>
              <a:buNone/>
            </a:pPr>
            <a:r>
              <a:rPr lang="fr-FR" sz="2800" dirty="0"/>
              <a:t>E- La survenue de rectorragies témoigne du caractère grave et actif du saignement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A615-7754-49E6-BA00-F3FF2E6BCE07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Au cours de l’hémorragie digestive haute :</a:t>
            </a:r>
          </a:p>
          <a:p>
            <a:pPr>
              <a:buNone/>
            </a:pPr>
            <a:r>
              <a:rPr lang="fr-FR" sz="2800" dirty="0">
                <a:solidFill>
                  <a:srgbClr val="7030A0"/>
                </a:solidFill>
              </a:rPr>
              <a:t>A-L’origine de saignement la plus fréquente est l’estomac ou le D1</a:t>
            </a:r>
          </a:p>
          <a:p>
            <a:pPr>
              <a:buNone/>
            </a:pPr>
            <a:r>
              <a:rPr lang="fr-FR" sz="2800" dirty="0"/>
              <a:t>B- Les wirsungorragies sont fréquentes</a:t>
            </a:r>
          </a:p>
          <a:p>
            <a:pPr>
              <a:buNone/>
            </a:pPr>
            <a:r>
              <a:rPr lang="fr-FR" sz="2800" dirty="0">
                <a:solidFill>
                  <a:srgbClr val="7030A0"/>
                </a:solidFill>
              </a:rPr>
              <a:t>C-</a:t>
            </a:r>
            <a:r>
              <a:rPr lang="fr-FR" sz="2800" dirty="0"/>
              <a:t> </a:t>
            </a:r>
            <a:r>
              <a:rPr lang="fr-FR" sz="2800" dirty="0">
                <a:solidFill>
                  <a:srgbClr val="7030A0"/>
                </a:solidFill>
              </a:rPr>
              <a:t>Le saignement d’origine biliaire est exceptionnel</a:t>
            </a:r>
          </a:p>
          <a:p>
            <a:pPr>
              <a:buNone/>
            </a:pPr>
            <a:r>
              <a:rPr lang="fr-FR" sz="2800" dirty="0" smtClean="0">
                <a:solidFill>
                  <a:srgbClr val="7030A0"/>
                </a:solidFill>
              </a:rPr>
              <a:t>D- L’origine </a:t>
            </a:r>
            <a:r>
              <a:rPr lang="fr-FR" sz="2800" dirty="0">
                <a:solidFill>
                  <a:srgbClr val="7030A0"/>
                </a:solidFill>
              </a:rPr>
              <a:t>ulcéreuse est la cause la plus fréquente</a:t>
            </a:r>
          </a:p>
          <a:p>
            <a:pPr>
              <a:buNone/>
            </a:pPr>
            <a:r>
              <a:rPr lang="fr-FR" sz="2800" dirty="0">
                <a:solidFill>
                  <a:srgbClr val="7030A0"/>
                </a:solidFill>
              </a:rPr>
              <a:t>E- La survenue de rectorragies témoigne du caractère grave et actif du saignement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C587-C4E6-4C7C-9B95-0E7A0B53F1B6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95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L’hémorragie digestive basse:</a:t>
            </a:r>
          </a:p>
          <a:p>
            <a:pPr>
              <a:buNone/>
            </a:pPr>
            <a:r>
              <a:rPr lang="fr-FR" dirty="0"/>
              <a:t>A- Est définie par un saignement du tube digestif en amont de l’angle de </a:t>
            </a:r>
            <a:r>
              <a:rPr lang="fr-FR" dirty="0" err="1"/>
              <a:t>Treitz</a:t>
            </a:r>
            <a:endParaRPr lang="fr-FR" dirty="0"/>
          </a:p>
          <a:p>
            <a:pPr>
              <a:buNone/>
            </a:pPr>
            <a:r>
              <a:rPr lang="fr-FR" dirty="0"/>
              <a:t>B- </a:t>
            </a:r>
            <a:r>
              <a:rPr lang="fr-FR" dirty="0" smtClean="0"/>
              <a:t>Secondaire dans la majorité des cas à une pathologie colique ou rectale</a:t>
            </a:r>
            <a:endParaRPr lang="fr-FR" dirty="0"/>
          </a:p>
          <a:p>
            <a:pPr>
              <a:buNone/>
            </a:pPr>
            <a:r>
              <a:rPr lang="fr-FR" dirty="0"/>
              <a:t>C- Se manifeste fréquemment par des rectorragies </a:t>
            </a:r>
          </a:p>
          <a:p>
            <a:pPr>
              <a:buNone/>
            </a:pPr>
            <a:r>
              <a:rPr lang="fr-FR" dirty="0"/>
              <a:t>D- Peut se manifester par un méléna </a:t>
            </a:r>
          </a:p>
          <a:p>
            <a:pPr>
              <a:buNone/>
            </a:pPr>
            <a:r>
              <a:rPr lang="fr-FR" dirty="0"/>
              <a:t>E-L’origine du saignement peut être duodénale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88EE1-E455-4006-95DD-77CD8D7A7E77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L’hémorragie digestive basse:</a:t>
            </a:r>
          </a:p>
          <a:p>
            <a:pPr>
              <a:buNone/>
            </a:pPr>
            <a:r>
              <a:rPr lang="fr-FR" dirty="0"/>
              <a:t>A- Est définie par un saignement du tube digestif en amont de l’angle de </a:t>
            </a:r>
            <a:r>
              <a:rPr lang="fr-FR" dirty="0" err="1"/>
              <a:t>Treitz</a:t>
            </a:r>
            <a:endParaRPr lang="fr-FR" dirty="0"/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B- </a:t>
            </a:r>
            <a:r>
              <a:rPr lang="fr-FR" dirty="0" smtClean="0">
                <a:solidFill>
                  <a:srgbClr val="7030A0"/>
                </a:solidFill>
              </a:rPr>
              <a:t>Secondaire dans la majorité des cas à une pathologie colique ou rectale</a:t>
            </a:r>
            <a:endParaRPr lang="fr-FR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C- Se manifeste fréquemment par des rectorragies 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D- Peut se manifester par un méléna </a:t>
            </a:r>
          </a:p>
          <a:p>
            <a:pPr>
              <a:buNone/>
            </a:pPr>
            <a:r>
              <a:rPr lang="fr-FR" dirty="0"/>
              <a:t>E-L’origine du saignement peut être duodénale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1CD10-DB9E-44DA-8A20-E141604B45B7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30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1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pic>
        <p:nvPicPr>
          <p:cNvPr id="5" name="Picture 2" descr="C:\Users\DELL\Desktop\treitz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5040560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715140" y="2357430"/>
            <a:ext cx="213712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b="1" dirty="0" smtClean="0"/>
              <a:t>Angle de </a:t>
            </a:r>
            <a:r>
              <a:rPr lang="fr-FR" b="1" dirty="0" err="1" smtClean="0"/>
              <a:t>Treitz</a:t>
            </a:r>
            <a:endParaRPr lang="fr-FR" b="1" dirty="0" smtClean="0"/>
          </a:p>
          <a:p>
            <a:pPr algn="ctr"/>
            <a:r>
              <a:rPr lang="fr-FR" b="1" dirty="0" smtClean="0"/>
              <a:t> =</a:t>
            </a:r>
          </a:p>
          <a:p>
            <a:pPr algn="ctr"/>
            <a:r>
              <a:rPr lang="fr-FR" b="1" dirty="0" smtClean="0"/>
              <a:t> angle </a:t>
            </a:r>
            <a:r>
              <a:rPr lang="fr-FR" b="1" dirty="0" err="1" smtClean="0"/>
              <a:t>duodénojéjunal</a:t>
            </a:r>
            <a:endParaRPr lang="fr-FR" b="1" dirty="0"/>
          </a:p>
        </p:txBody>
      </p:sp>
      <p:sp>
        <p:nvSpPr>
          <p:cNvPr id="9" name="Rectangle 8"/>
          <p:cNvSpPr/>
          <p:nvPr/>
        </p:nvSpPr>
        <p:spPr>
          <a:xfrm>
            <a:off x="571472" y="5500702"/>
            <a:ext cx="785818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/>
              <a:t>Elle représente 80 à 90% des HD, dans la majorité des cas la lésion causale est située au niveau de l’estomac ou la première portion duodénale.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63D9-55A1-45BB-A862-19A88B4C986C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2571744"/>
            <a:ext cx="6357982" cy="5715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4905-E3C5-44F6-9663-561A9E5D51CF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facteurs favorisants du saignement sur un ulcère gastrique ou duodénal sont :</a:t>
            </a:r>
          </a:p>
          <a:p>
            <a:pPr>
              <a:buNone/>
            </a:pPr>
            <a:r>
              <a:rPr lang="fr-FR" dirty="0"/>
              <a:t>A- Le tabac </a:t>
            </a:r>
          </a:p>
          <a:p>
            <a:pPr>
              <a:buNone/>
            </a:pPr>
            <a:r>
              <a:rPr lang="fr-FR" dirty="0"/>
              <a:t>B- L’alcool</a:t>
            </a:r>
          </a:p>
          <a:p>
            <a:pPr>
              <a:buNone/>
            </a:pPr>
            <a:r>
              <a:rPr lang="fr-FR" dirty="0" smtClean="0"/>
              <a:t>C- Les </a:t>
            </a:r>
            <a:r>
              <a:rPr lang="fr-FR" dirty="0"/>
              <a:t>corticoïdes</a:t>
            </a:r>
          </a:p>
          <a:p>
            <a:pPr>
              <a:buNone/>
            </a:pPr>
            <a:r>
              <a:rPr lang="fr-FR" dirty="0" smtClean="0"/>
              <a:t>D- Les </a:t>
            </a:r>
            <a:r>
              <a:rPr lang="fr-FR" dirty="0"/>
              <a:t>AINS</a:t>
            </a:r>
          </a:p>
          <a:p>
            <a:pPr>
              <a:buNone/>
            </a:pPr>
            <a:r>
              <a:rPr lang="fr-FR" dirty="0"/>
              <a:t>E-Les antiagrégants plaquettaires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F0F-D809-4ACD-B7E6-0455240910CA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facteurs favorisants du saignement sur un ulcère gastrique ou duodénal sont :</a:t>
            </a:r>
          </a:p>
          <a:p>
            <a:pPr>
              <a:buNone/>
            </a:pPr>
            <a:r>
              <a:rPr lang="fr-FR" dirty="0"/>
              <a:t>A- Le tabac 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B- L’alcool</a:t>
            </a:r>
          </a:p>
          <a:p>
            <a:pPr>
              <a:buNone/>
            </a:pPr>
            <a:r>
              <a:rPr lang="fr-FR" dirty="0" smtClean="0"/>
              <a:t>C- Les </a:t>
            </a:r>
            <a:r>
              <a:rPr lang="fr-FR" dirty="0"/>
              <a:t>corticoïdes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D- Les </a:t>
            </a:r>
            <a:r>
              <a:rPr lang="fr-FR" dirty="0">
                <a:solidFill>
                  <a:srgbClr val="7030A0"/>
                </a:solidFill>
              </a:rPr>
              <a:t>AINS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E-Les antiagrégants plaquettaires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AB97B-9620-4A44-9B89-D0DDEF3CA02C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6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Les facteurs favorisants le saignement chez un malade cirrhotique sont :</a:t>
            </a:r>
          </a:p>
          <a:p>
            <a:pPr>
              <a:buNone/>
            </a:pPr>
            <a:r>
              <a:rPr lang="fr-FR" dirty="0"/>
              <a:t>A- La prise d’AINS</a:t>
            </a:r>
          </a:p>
          <a:p>
            <a:pPr>
              <a:buNone/>
            </a:pPr>
            <a:r>
              <a:rPr lang="fr-FR" dirty="0"/>
              <a:t>B- La prise de corticoïdes</a:t>
            </a:r>
          </a:p>
          <a:p>
            <a:pPr>
              <a:buNone/>
            </a:pPr>
            <a:r>
              <a:rPr lang="fr-FR" dirty="0"/>
              <a:t>C- La prise de bétabloquants</a:t>
            </a:r>
          </a:p>
          <a:p>
            <a:pPr>
              <a:buNone/>
            </a:pPr>
            <a:r>
              <a:rPr lang="fr-FR" dirty="0"/>
              <a:t>D- La thrombose porte</a:t>
            </a:r>
          </a:p>
          <a:p>
            <a:pPr>
              <a:buNone/>
            </a:pPr>
            <a:r>
              <a:rPr lang="fr-FR" dirty="0"/>
              <a:t>E- La décompensation de cirrhose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CD63F-965B-4600-83D3-E12C40E7E609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Les facteurs favorisants le saignement chez un malade cirrhotique sont :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A- La prise d’AINS</a:t>
            </a:r>
          </a:p>
          <a:p>
            <a:pPr>
              <a:buNone/>
            </a:pPr>
            <a:r>
              <a:rPr lang="fr-FR" dirty="0"/>
              <a:t>B- La prise de corticoïdes</a:t>
            </a:r>
          </a:p>
          <a:p>
            <a:pPr>
              <a:buNone/>
            </a:pPr>
            <a:r>
              <a:rPr lang="fr-FR" dirty="0"/>
              <a:t>C- La prise de bétabloquants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D- La thrombose porte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E- La décompensation de cirrhose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083-B8ED-4929-B3C1-E368F34FA9CF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96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 risque d’HDH par UGD est plus important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 cas de prise d’aspirine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Chez les sujets tabagiques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 cas de traitement par corticothérapie forte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Chez les malades en réanimation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Chez un coronarien sous anti-</a:t>
            </a:r>
            <a:r>
              <a:rPr lang="fr-FR" dirty="0" err="1" smtClean="0"/>
              <a:t>aggrégant</a:t>
            </a:r>
            <a:r>
              <a:rPr lang="fr-FR" dirty="0" smtClean="0"/>
              <a:t> plaquettaire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9F4B-7380-4748-AD7B-0782576C99F2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 risque d’HDH par UGD est plus important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En cas de prise d’aspirine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Chez les sujets tabagiques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 cas de traitement par corticothérapie forte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Chez les malades en réanimation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Chez un coronarien sous anti-</a:t>
            </a:r>
            <a:r>
              <a:rPr lang="fr-FR" dirty="0" err="1" smtClean="0">
                <a:solidFill>
                  <a:srgbClr val="7030A0"/>
                </a:solidFill>
              </a:rPr>
              <a:t>aggrégant</a:t>
            </a:r>
            <a:r>
              <a:rPr lang="fr-FR" dirty="0" smtClean="0">
                <a:solidFill>
                  <a:srgbClr val="7030A0"/>
                </a:solidFill>
              </a:rPr>
              <a:t> plaquettaire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A54C3-C73E-47B9-8435-4C3E0CBDD54D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localisations de l’ulcère </a:t>
            </a:r>
            <a:r>
              <a:rPr lang="fr-FR" b="1" dirty="0" err="1" smtClean="0"/>
              <a:t>gastro-duodénale</a:t>
            </a:r>
            <a:r>
              <a:rPr lang="fr-FR" b="1" dirty="0" smtClean="0"/>
              <a:t>  les plus pourvoyeuses d’hémorragie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petite courbure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grosse tubérosité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jonction </a:t>
            </a:r>
            <a:r>
              <a:rPr lang="fr-FR" dirty="0" err="1" smtClean="0"/>
              <a:t>antro</a:t>
            </a:r>
            <a:r>
              <a:rPr lang="fr-FR" dirty="0" smtClean="0"/>
              <a:t>-</a:t>
            </a:r>
            <a:r>
              <a:rPr lang="fr-FR" dirty="0" err="1" smtClean="0"/>
              <a:t>fundique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face postérieure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bord supérieur du bulbe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8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13E9-DE10-4CEA-B684-78383F4451E1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localisations de l’ulcère </a:t>
            </a:r>
            <a:r>
              <a:rPr lang="fr-FR" b="1" dirty="0" err="1" smtClean="0"/>
              <a:t>gastro-duodénale</a:t>
            </a:r>
            <a:r>
              <a:rPr lang="fr-FR" b="1" dirty="0" smtClean="0"/>
              <a:t>  les plus pourvoyeuses d’hémorragie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petite courbure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grosse tubérosité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jonction </a:t>
            </a:r>
            <a:r>
              <a:rPr lang="fr-FR" dirty="0" err="1" smtClean="0"/>
              <a:t>antro</a:t>
            </a:r>
            <a:r>
              <a:rPr lang="fr-FR" dirty="0" smtClean="0"/>
              <a:t>-</a:t>
            </a:r>
            <a:r>
              <a:rPr lang="fr-FR" dirty="0" err="1" smtClean="0"/>
              <a:t>fundique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face postérieure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Le bord supérieur du bulbe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8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AE03-B7E5-4938-BD63-6804357ED1AE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rupture de varice chez un patient cirrhotique est favorisée par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signes rouges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varices grade 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L’association de varices œsophagiennes et gastriques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consommation d’alcool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mise en place de sonde gastrique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9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D2749-5B20-494C-AFF0-4E6EF18E78E0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rupture de varice chez un patient cirrhotique est favorisée par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présence de signes rouges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varices grade 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L’association de varices œsophagiennes et gastriques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consommation d’alcool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mise en place de sonde gastrique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9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1604-D28F-4623-B305-759743BCA08B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4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714488"/>
            <a:ext cx="8229600" cy="450059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fr-FR" dirty="0" smtClean="0"/>
          </a:p>
          <a:p>
            <a:pPr algn="ctr">
              <a:buNone/>
            </a:pPr>
            <a:r>
              <a:rPr lang="fr-FR" b="1" dirty="0" smtClean="0"/>
              <a:t>Les facteurs favorisant de l’HDH chez un patient porteur d’un Ulcère GD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Prise AINS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Prise des antiagrégants plaquettaires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Situation de stress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Consommation d’Alcool</a:t>
            </a:r>
          </a:p>
          <a:p>
            <a:pPr marL="514350" indent="-514350">
              <a:buNone/>
            </a:pPr>
            <a:endParaRPr lang="fr-FR" dirty="0" smtClean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6D21-6409-4B99-ADFB-F569336D4C47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4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714488"/>
            <a:ext cx="8229600" cy="450059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endParaRPr lang="fr-FR" dirty="0" smtClean="0"/>
          </a:p>
          <a:p>
            <a:pPr algn="ctr">
              <a:buNone/>
            </a:pPr>
            <a:r>
              <a:rPr lang="fr-FR" b="1" dirty="0" smtClean="0"/>
              <a:t>Les facteurs favorisant de l’HDH chez un patient porteur d’un Ulcère GD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 marL="514350" indent="-514350">
              <a:buNone/>
            </a:pPr>
            <a:endParaRPr lang="fr-FR" dirty="0" smtClean="0"/>
          </a:p>
          <a:p>
            <a:pPr marL="514350" indent="-514350">
              <a:buNone/>
            </a:pPr>
            <a:endParaRPr lang="fr-FR" dirty="0" smtClean="0"/>
          </a:p>
          <a:p>
            <a:r>
              <a:rPr lang="fr-FR" dirty="0" smtClean="0"/>
              <a:t>Les corticoïdes ne sont pas incriminés, sauf en association avec les AINS. </a:t>
            </a:r>
          </a:p>
          <a:p>
            <a:r>
              <a:rPr lang="fr-FR" dirty="0" smtClean="0"/>
              <a:t>Le  tabac: un facteur de retard de cicatrisation de l’ulcère et non pas de survenue d’une hémorragie digestive.</a:t>
            </a:r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pic>
        <p:nvPicPr>
          <p:cNvPr id="10" name="Image 9" descr="attention-veuillez-bubble-rouge-isole-sur-fond-blanc-television-simple-style-moderne-a-la-mode-illustration-d-erreur-concept-de-web-message-urgent-ou-attention-vecteur-d-infos-2anjajg.jpg"/>
          <p:cNvPicPr>
            <a:picLocks noChangeAspect="1"/>
          </p:cNvPicPr>
          <p:nvPr/>
        </p:nvPicPr>
        <p:blipFill>
          <a:blip r:embed="rId3" cstate="print"/>
          <a:srcRect b="9549"/>
          <a:stretch>
            <a:fillRect/>
          </a:stretch>
        </p:blipFill>
        <p:spPr>
          <a:xfrm>
            <a:off x="3500430" y="2928934"/>
            <a:ext cx="2266952" cy="1553630"/>
          </a:xfrm>
          <a:prstGeom prst="rect">
            <a:avLst/>
          </a:prstGeom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6512-6EF6-4D88-BE50-6D325969DF0B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4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705950"/>
            <a:ext cx="8229600" cy="458057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None/>
            </a:pPr>
            <a:endParaRPr lang="fr-FR" b="1" dirty="0" smtClean="0"/>
          </a:p>
          <a:p>
            <a:pPr algn="ctr">
              <a:buNone/>
            </a:pPr>
            <a:r>
              <a:rPr lang="fr-FR" sz="2800" b="1" dirty="0" smtClean="0"/>
              <a:t>Les hémorragies digestives secondaires à une rupture des </a:t>
            </a:r>
            <a:r>
              <a:rPr lang="fr-FR" sz="2800" b="1" dirty="0" err="1" smtClean="0"/>
              <a:t>varicesoeso</a:t>
            </a:r>
            <a:r>
              <a:rPr lang="fr-FR" sz="2800" b="1" dirty="0" smtClean="0"/>
              <a:t>-gastriques</a:t>
            </a:r>
            <a:endParaRPr lang="fr-FR" b="1" dirty="0" smtClean="0"/>
          </a:p>
          <a:p>
            <a:pPr>
              <a:buNone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La prise AINS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Un facteur entrainant une diminution de la pression du SIO: SNG, médicaments </a:t>
            </a:r>
            <a:r>
              <a:rPr lang="fr-FR" sz="1600" dirty="0" smtClean="0"/>
              <a:t>(anti cholinergiques, contraceptifs oraux …)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Une Décompensation de la cirrhose</a:t>
            </a:r>
          </a:p>
          <a:p>
            <a:pPr marL="514350" indent="-514350">
              <a:buFont typeface="+mj-lt"/>
              <a:buAutoNum type="arabicPeriod"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Eléments endoscopiques: 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Les varices sont de grade 2 ou 3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Présence de signes rouges sur les cordons variqueux</a:t>
            </a:r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Association de VO et VG </a:t>
            </a:r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97655-1851-4989-98E6-79EBDCA79EF4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3143248"/>
            <a:ext cx="6357982" cy="5715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42E3A-8DB9-4A7D-8B55-C05CBCA2DEE3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Au cours de l’hémorragie digestive :</a:t>
            </a:r>
          </a:p>
          <a:p>
            <a:pPr>
              <a:buNone/>
            </a:pPr>
            <a:r>
              <a:rPr lang="fr-FR" dirty="0" smtClean="0"/>
              <a:t>A- L’hématémèse </a:t>
            </a:r>
            <a:r>
              <a:rPr lang="fr-FR" dirty="0"/>
              <a:t>signe </a:t>
            </a:r>
            <a:r>
              <a:rPr lang="fr-FR" dirty="0" smtClean="0"/>
              <a:t>l’origine </a:t>
            </a:r>
            <a:r>
              <a:rPr lang="fr-FR" dirty="0"/>
              <a:t>haute du saignement </a:t>
            </a:r>
          </a:p>
          <a:p>
            <a:pPr>
              <a:buNone/>
            </a:pPr>
            <a:r>
              <a:rPr lang="fr-FR" dirty="0" smtClean="0"/>
              <a:t>B- Un </a:t>
            </a:r>
            <a:r>
              <a:rPr lang="fr-FR" dirty="0"/>
              <a:t>méléna peut être d’origine basse</a:t>
            </a:r>
          </a:p>
          <a:p>
            <a:pPr>
              <a:buNone/>
            </a:pPr>
            <a:r>
              <a:rPr lang="fr-FR" dirty="0" smtClean="0"/>
              <a:t>C- Des </a:t>
            </a:r>
            <a:r>
              <a:rPr lang="fr-FR" dirty="0"/>
              <a:t>rectorragies de </a:t>
            </a:r>
            <a:r>
              <a:rPr lang="fr-FR" dirty="0" smtClean="0"/>
              <a:t>faible abondance </a:t>
            </a:r>
            <a:r>
              <a:rPr lang="fr-FR" dirty="0"/>
              <a:t>peuvent être d’origine haute</a:t>
            </a:r>
          </a:p>
          <a:p>
            <a:pPr>
              <a:buNone/>
            </a:pPr>
            <a:r>
              <a:rPr lang="fr-FR" dirty="0" smtClean="0"/>
              <a:t>D- L’état de choc sans cause évidente est une circonstance de découverte rare</a:t>
            </a:r>
            <a:endParaRPr lang="fr-FR" dirty="0"/>
          </a:p>
          <a:p>
            <a:pPr>
              <a:buNone/>
            </a:pPr>
            <a:r>
              <a:rPr lang="fr-FR" dirty="0" smtClean="0"/>
              <a:t>E- Le </a:t>
            </a:r>
            <a:r>
              <a:rPr lang="fr-FR" dirty="0"/>
              <a:t>méléna </a:t>
            </a:r>
            <a:r>
              <a:rPr lang="fr-FR" dirty="0" smtClean="0"/>
              <a:t>peut être secondaire à une atteinte gastrique  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10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3838F-714B-4D57-95AD-82411065EEF7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Au cours de l’hémorragie digestive :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A- L’hématémèse </a:t>
            </a:r>
            <a:r>
              <a:rPr lang="fr-FR" dirty="0">
                <a:solidFill>
                  <a:srgbClr val="7030A0"/>
                </a:solidFill>
              </a:rPr>
              <a:t>signe </a:t>
            </a:r>
            <a:r>
              <a:rPr lang="fr-FR" dirty="0" smtClean="0">
                <a:solidFill>
                  <a:srgbClr val="7030A0"/>
                </a:solidFill>
              </a:rPr>
              <a:t>l’origine </a:t>
            </a:r>
            <a:r>
              <a:rPr lang="fr-FR" dirty="0">
                <a:solidFill>
                  <a:srgbClr val="7030A0"/>
                </a:solidFill>
              </a:rPr>
              <a:t>haute du saignement 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B- Un méléna peut être d’origine basse</a:t>
            </a:r>
          </a:p>
          <a:p>
            <a:pPr>
              <a:buNone/>
            </a:pPr>
            <a:r>
              <a:rPr lang="fr-FR" dirty="0">
                <a:solidFill>
                  <a:schemeClr val="tx2"/>
                </a:solidFill>
              </a:rPr>
              <a:t>C-</a:t>
            </a:r>
            <a:r>
              <a:rPr lang="fr-FR" dirty="0">
                <a:solidFill>
                  <a:srgbClr val="7030A0"/>
                </a:solidFill>
              </a:rPr>
              <a:t> </a:t>
            </a:r>
            <a:r>
              <a:rPr lang="fr-FR" dirty="0" smtClean="0"/>
              <a:t>Des </a:t>
            </a:r>
            <a:r>
              <a:rPr lang="fr-FR" dirty="0" err="1" smtClean="0"/>
              <a:t>rectorragies</a:t>
            </a:r>
            <a:r>
              <a:rPr lang="fr-FR" dirty="0" smtClean="0"/>
              <a:t> de faible abondance peuvent être d’origine haute</a:t>
            </a:r>
            <a:endParaRPr lang="fr-FR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D- L’état de choc sans cause évidente est une circonstance de découverte rare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E- Le méléna peut être secondaire à une atteinte gastrique  </a:t>
            </a:r>
            <a:endParaRPr lang="fr-FR" dirty="0">
              <a:solidFill>
                <a:srgbClr val="7030A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10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426B-5ACA-4699-B38E-C6C58793E27E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56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L’hémorragie digestive haute peut être révélée par :</a:t>
            </a:r>
          </a:p>
          <a:p>
            <a:pPr>
              <a:buNone/>
            </a:pPr>
            <a:r>
              <a:rPr lang="fr-FR" dirty="0"/>
              <a:t>A- </a:t>
            </a:r>
            <a:r>
              <a:rPr lang="fr-FR" dirty="0" smtClean="0"/>
              <a:t>Une hématémèse isolée</a:t>
            </a:r>
          </a:p>
          <a:p>
            <a:pPr>
              <a:buNone/>
            </a:pPr>
            <a:r>
              <a:rPr lang="fr-FR" dirty="0" smtClean="0"/>
              <a:t>B- Une hématémèse +méléna</a:t>
            </a:r>
          </a:p>
          <a:p>
            <a:pPr>
              <a:buNone/>
            </a:pPr>
            <a:r>
              <a:rPr lang="fr-FR" dirty="0" smtClean="0"/>
              <a:t>C- Des </a:t>
            </a:r>
            <a:r>
              <a:rPr lang="fr-FR" dirty="0" err="1" smtClean="0"/>
              <a:t>rectorragies</a:t>
            </a:r>
            <a:r>
              <a:rPr lang="fr-FR" dirty="0" smtClean="0"/>
              <a:t> de grande abondance</a:t>
            </a:r>
          </a:p>
          <a:p>
            <a:pPr>
              <a:buNone/>
            </a:pPr>
            <a:r>
              <a:rPr lang="fr-FR" dirty="0" smtClean="0"/>
              <a:t>D- Des </a:t>
            </a:r>
            <a:r>
              <a:rPr lang="fr-FR" dirty="0" err="1" smtClean="0"/>
              <a:t>rectorragies</a:t>
            </a:r>
            <a:r>
              <a:rPr lang="fr-FR" dirty="0" smtClean="0"/>
              <a:t> de faible abondance</a:t>
            </a:r>
          </a:p>
          <a:p>
            <a:pPr>
              <a:buNone/>
            </a:pPr>
            <a:r>
              <a:rPr lang="fr-FR" dirty="0" smtClean="0"/>
              <a:t>E- Un état de choc sans saignement extériorisé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4043-6A57-4DD8-8D67-4D9774673068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L’hémorragie digestive haute peut être révélée par :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A- </a:t>
            </a:r>
            <a:r>
              <a:rPr lang="fr-FR" dirty="0" smtClean="0">
                <a:solidFill>
                  <a:srgbClr val="7030A0"/>
                </a:solidFill>
              </a:rPr>
              <a:t>Une </a:t>
            </a:r>
            <a:r>
              <a:rPr lang="fr-FR" dirty="0">
                <a:solidFill>
                  <a:srgbClr val="7030A0"/>
                </a:solidFill>
              </a:rPr>
              <a:t>hématémèse isolée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B- </a:t>
            </a:r>
            <a:r>
              <a:rPr lang="fr-FR" dirty="0" smtClean="0">
                <a:solidFill>
                  <a:srgbClr val="7030A0"/>
                </a:solidFill>
              </a:rPr>
              <a:t>Une </a:t>
            </a:r>
            <a:r>
              <a:rPr lang="fr-FR" dirty="0">
                <a:solidFill>
                  <a:srgbClr val="7030A0"/>
                </a:solidFill>
              </a:rPr>
              <a:t>hématémèse +méléna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C- </a:t>
            </a:r>
            <a:r>
              <a:rPr lang="fr-FR" dirty="0" smtClean="0">
                <a:solidFill>
                  <a:srgbClr val="7030A0"/>
                </a:solidFill>
              </a:rPr>
              <a:t>Des </a:t>
            </a:r>
            <a:r>
              <a:rPr lang="fr-FR" dirty="0">
                <a:solidFill>
                  <a:srgbClr val="7030A0"/>
                </a:solidFill>
              </a:rPr>
              <a:t>rectorragies de grande abondance</a:t>
            </a:r>
          </a:p>
          <a:p>
            <a:pPr>
              <a:buNone/>
            </a:pPr>
            <a:r>
              <a:rPr lang="fr-FR" dirty="0" smtClean="0"/>
              <a:t>D- Des </a:t>
            </a:r>
            <a:r>
              <a:rPr lang="fr-FR" dirty="0"/>
              <a:t>rectorragies de faible abondance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E- Un </a:t>
            </a:r>
            <a:r>
              <a:rPr lang="fr-FR" dirty="0">
                <a:solidFill>
                  <a:srgbClr val="7030A0"/>
                </a:solidFill>
              </a:rPr>
              <a:t>état de choc sans saignement extériorisé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BFF0-CF14-4040-844D-1C34DE332E5D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27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L’hémorragie digestive basse peut être révélée par :</a:t>
            </a:r>
          </a:p>
          <a:p>
            <a:pPr>
              <a:buNone/>
            </a:pPr>
            <a:r>
              <a:rPr lang="fr-FR" dirty="0"/>
              <a:t>A- Une hématémèse </a:t>
            </a:r>
          </a:p>
          <a:p>
            <a:pPr>
              <a:buNone/>
            </a:pPr>
            <a:r>
              <a:rPr lang="fr-FR" dirty="0" smtClean="0"/>
              <a:t>B- Un </a:t>
            </a:r>
            <a:r>
              <a:rPr lang="fr-FR" dirty="0"/>
              <a:t>méléna </a:t>
            </a:r>
          </a:p>
          <a:p>
            <a:pPr>
              <a:buNone/>
            </a:pPr>
            <a:r>
              <a:rPr lang="fr-FR" dirty="0"/>
              <a:t>C- Des rectorragies de faible abondance</a:t>
            </a:r>
          </a:p>
          <a:p>
            <a:pPr>
              <a:buNone/>
            </a:pPr>
            <a:r>
              <a:rPr lang="fr-FR" dirty="0"/>
              <a:t>D-Des rectorragies de grandes abondances </a:t>
            </a:r>
          </a:p>
          <a:p>
            <a:pPr>
              <a:buNone/>
            </a:pPr>
            <a:r>
              <a:rPr lang="fr-FR" dirty="0"/>
              <a:t>E-Une hématémèse +méléna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F38D-12B1-4165-A972-9C3206F8F1F5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L’hémorragie digestive basse peut être révélée par :</a:t>
            </a:r>
          </a:p>
          <a:p>
            <a:pPr>
              <a:buNone/>
            </a:pPr>
            <a:r>
              <a:rPr lang="fr-FR" dirty="0"/>
              <a:t>A- Une hématémèse 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B- Un </a:t>
            </a:r>
            <a:r>
              <a:rPr lang="fr-FR" dirty="0">
                <a:solidFill>
                  <a:srgbClr val="7030A0"/>
                </a:solidFill>
              </a:rPr>
              <a:t>méléna 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C- Des rectorragies de faible abondance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D-Des rectorragies de grandes abondances </a:t>
            </a:r>
          </a:p>
          <a:p>
            <a:pPr>
              <a:buNone/>
            </a:pPr>
            <a:r>
              <a:rPr lang="fr-FR" dirty="0"/>
              <a:t>E-Une hématémèse +méléna </a:t>
            </a:r>
          </a:p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69F9-C23D-402A-A41A-57A845FA8D76}" type="datetime1">
              <a:rPr lang="fr-FR" smtClean="0"/>
              <a:t>21/08/2025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74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5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5143504" y="2416726"/>
            <a:ext cx="281474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Hémorragie digestive haute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286380" y="4143380"/>
            <a:ext cx="274902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Hémorragie digestive Basse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42910" y="1643050"/>
            <a:ext cx="147829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Hématémèse 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928662" y="2428868"/>
            <a:ext cx="9124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Méléna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57158" y="3643314"/>
            <a:ext cx="338842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Rectorragie</a:t>
            </a:r>
            <a:r>
              <a:rPr lang="fr-FR" dirty="0" smtClean="0"/>
              <a:t> de grande abondance 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57158" y="4357694"/>
            <a:ext cx="324255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Rectorragie</a:t>
            </a:r>
            <a:r>
              <a:rPr lang="fr-FR" dirty="0" smtClean="0"/>
              <a:t> de faible abondance </a:t>
            </a:r>
            <a:endParaRPr lang="fr-FR" dirty="0"/>
          </a:p>
        </p:txBody>
      </p:sp>
      <p:cxnSp>
        <p:nvCxnSpPr>
          <p:cNvPr id="12" name="Connecteur droit avec flèche 11"/>
          <p:cNvCxnSpPr>
            <a:stCxn id="7" idx="3"/>
            <a:endCxn id="5" idx="1"/>
          </p:cNvCxnSpPr>
          <p:nvPr/>
        </p:nvCxnSpPr>
        <p:spPr>
          <a:xfrm>
            <a:off x="2121200" y="1827716"/>
            <a:ext cx="3022304" cy="7736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8" idx="3"/>
            <a:endCxn id="5" idx="1"/>
          </p:cNvCxnSpPr>
          <p:nvPr/>
        </p:nvCxnSpPr>
        <p:spPr>
          <a:xfrm flipV="1">
            <a:off x="1841091" y="2601392"/>
            <a:ext cx="3302413" cy="121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9" idx="3"/>
            <a:endCxn id="5" idx="1"/>
          </p:cNvCxnSpPr>
          <p:nvPr/>
        </p:nvCxnSpPr>
        <p:spPr>
          <a:xfrm flipV="1">
            <a:off x="3745586" y="2601392"/>
            <a:ext cx="1397918" cy="1226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09D85-16DE-4336-A347-B4CAAD08D14A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5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5143504" y="2416726"/>
            <a:ext cx="281474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Hémorragie digestive haute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286380" y="4143380"/>
            <a:ext cx="274902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Hémorragie digestive Basse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42910" y="1643050"/>
            <a:ext cx="147829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Hématémèse 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928662" y="2428868"/>
            <a:ext cx="9124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Méléna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57158" y="3643314"/>
            <a:ext cx="338842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Rectorragie</a:t>
            </a:r>
            <a:r>
              <a:rPr lang="fr-FR" dirty="0" smtClean="0"/>
              <a:t> de grande abondance 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57158" y="4357694"/>
            <a:ext cx="324255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 smtClean="0"/>
              <a:t>Rectorragie</a:t>
            </a:r>
            <a:r>
              <a:rPr lang="fr-FR" dirty="0" smtClean="0"/>
              <a:t> de faible abondance </a:t>
            </a:r>
            <a:endParaRPr lang="fr-FR" dirty="0"/>
          </a:p>
        </p:txBody>
      </p:sp>
      <p:cxnSp>
        <p:nvCxnSpPr>
          <p:cNvPr id="12" name="Connecteur droit avec flèche 11"/>
          <p:cNvCxnSpPr>
            <a:stCxn id="8" idx="3"/>
            <a:endCxn id="6" idx="1"/>
          </p:cNvCxnSpPr>
          <p:nvPr/>
        </p:nvCxnSpPr>
        <p:spPr>
          <a:xfrm>
            <a:off x="1841091" y="2613534"/>
            <a:ext cx="3445289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10" idx="3"/>
            <a:endCxn id="6" idx="1"/>
          </p:cNvCxnSpPr>
          <p:nvPr/>
        </p:nvCxnSpPr>
        <p:spPr>
          <a:xfrm flipV="1">
            <a:off x="3599712" y="4328046"/>
            <a:ext cx="168666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9" idx="3"/>
            <a:endCxn id="6" idx="1"/>
          </p:cNvCxnSpPr>
          <p:nvPr/>
        </p:nvCxnSpPr>
        <p:spPr>
          <a:xfrm>
            <a:off x="3745586" y="3827980"/>
            <a:ext cx="154079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25" name="Espace réservé du pied de page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/>
          <a:srcRect l="35406" t="26667" r="36984" b="67305"/>
          <a:stretch>
            <a:fillRect/>
          </a:stretch>
        </p:blipFill>
        <p:spPr bwMode="auto">
          <a:xfrm>
            <a:off x="1785918" y="5143512"/>
            <a:ext cx="5817094" cy="714380"/>
          </a:xfrm>
          <a:prstGeom prst="rect">
            <a:avLst/>
          </a:prstGeom>
          <a:ln>
            <a:solidFill>
              <a:srgbClr val="C00000"/>
            </a:solidFill>
            <a:prstDash val="lgDash"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54D9-6E09-440C-A3AC-0D2F3E7BE2FC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3714752"/>
            <a:ext cx="6357982" cy="5000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36E8F-5951-4E6E-B588-7A423E77A3CB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signes de gravité d’une hémorragie digestive sont :</a:t>
            </a:r>
          </a:p>
          <a:p>
            <a:pPr>
              <a:buNone/>
            </a:pPr>
            <a:r>
              <a:rPr lang="fr-FR" dirty="0" smtClean="0"/>
              <a:t>A- La </a:t>
            </a:r>
            <a:r>
              <a:rPr lang="fr-FR" dirty="0"/>
              <a:t>survenue d’une syncope</a:t>
            </a:r>
          </a:p>
          <a:p>
            <a:pPr>
              <a:buNone/>
            </a:pPr>
            <a:r>
              <a:rPr lang="fr-FR" dirty="0" smtClean="0"/>
              <a:t>B- Une </a:t>
            </a:r>
            <a:r>
              <a:rPr lang="fr-FR" dirty="0"/>
              <a:t>quantité du sang évacuée par la bouche du patient estimée à 500ccc</a:t>
            </a:r>
          </a:p>
          <a:p>
            <a:pPr>
              <a:buNone/>
            </a:pPr>
            <a:r>
              <a:rPr lang="fr-FR" dirty="0" smtClean="0"/>
              <a:t>C- Une </a:t>
            </a:r>
            <a:r>
              <a:rPr lang="fr-FR" dirty="0"/>
              <a:t>anémie à 8g/dl</a:t>
            </a:r>
          </a:p>
          <a:p>
            <a:pPr>
              <a:buNone/>
            </a:pPr>
            <a:r>
              <a:rPr lang="fr-FR" dirty="0" smtClean="0"/>
              <a:t>D- Une </a:t>
            </a:r>
            <a:r>
              <a:rPr lang="fr-FR" dirty="0"/>
              <a:t>tension artérielle à 9/5 chez un malade hypertendu</a:t>
            </a:r>
          </a:p>
          <a:p>
            <a:pPr>
              <a:buNone/>
            </a:pPr>
            <a:r>
              <a:rPr lang="fr-FR" dirty="0"/>
              <a:t>E-Un taux d’urée à 25mmol/l (VN:3,6-6,1mmol/l)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7C7E5-6494-485A-A99B-0774A6872E3C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signes de gravité d’une hémorragie digestive sont :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A- La </a:t>
            </a:r>
            <a:r>
              <a:rPr lang="fr-FR" dirty="0">
                <a:solidFill>
                  <a:srgbClr val="7030A0"/>
                </a:solidFill>
              </a:rPr>
              <a:t>survenue d’une syncope</a:t>
            </a:r>
          </a:p>
          <a:p>
            <a:pPr>
              <a:buNone/>
            </a:pPr>
            <a:r>
              <a:rPr lang="fr-FR" dirty="0"/>
              <a:t>B-Une quantité du sang évacuée par la bouche du patient estimée à </a:t>
            </a:r>
            <a:r>
              <a:rPr lang="fr-FR" dirty="0" smtClean="0"/>
              <a:t>500cc</a:t>
            </a:r>
            <a:endParaRPr lang="fr-FR" dirty="0"/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C- Une </a:t>
            </a:r>
            <a:r>
              <a:rPr lang="fr-FR" dirty="0">
                <a:solidFill>
                  <a:srgbClr val="7030A0"/>
                </a:solidFill>
              </a:rPr>
              <a:t>anémie à 8g/dl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D- Une </a:t>
            </a:r>
            <a:r>
              <a:rPr lang="fr-FR" dirty="0">
                <a:solidFill>
                  <a:srgbClr val="7030A0"/>
                </a:solidFill>
              </a:rPr>
              <a:t>tension artérielle à 9/5 chez un malade hypertendu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E-Un taux d’urée à 25mmol/l (VN:3,6-6,1mmol/l)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E4BAF-B025-4269-96E3-C72B1D7A8D4D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13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51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signes de gravité d’une hémorragie digestive sont :</a:t>
            </a:r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/>
              <a:t>A- La survenue chez un malade sous antidiabétiques oraux  </a:t>
            </a:r>
          </a:p>
          <a:p>
            <a:pPr marL="114300" indent="0">
              <a:buNone/>
            </a:pPr>
            <a:r>
              <a:rPr lang="fr-FR" dirty="0"/>
              <a:t>B- </a:t>
            </a:r>
            <a:r>
              <a:rPr lang="fr-FR" dirty="0" smtClean="0"/>
              <a:t>La présence de signes d’hypertension portale 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C- Une </a:t>
            </a:r>
            <a:r>
              <a:rPr lang="fr-FR" dirty="0"/>
              <a:t>tachycardie à 120b/mn</a:t>
            </a:r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/>
              <a:t>transfusion de 8 culots globulaires pour restaurer un bon état hémodynamique </a:t>
            </a:r>
          </a:p>
          <a:p>
            <a:pPr marL="114300" indent="0">
              <a:buNone/>
            </a:pPr>
            <a:r>
              <a:rPr lang="fr-FR" dirty="0" smtClean="0"/>
              <a:t>E- La </a:t>
            </a:r>
            <a:r>
              <a:rPr lang="fr-FR" dirty="0"/>
              <a:t>survenue chez un malade sous anticoagulants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E36E-69A3-4BE7-A23A-464A5E89E224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Les signes de gravité d’une hémorragie digestive sont :</a:t>
            </a:r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/>
              <a:t>A- La survenue chez un malade sous antidiabétiques oraux 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</a:t>
            </a:r>
            <a:r>
              <a:rPr lang="fr-FR" dirty="0"/>
              <a:t> </a:t>
            </a:r>
            <a:r>
              <a:rPr lang="fr-FR" dirty="0" smtClean="0">
                <a:solidFill>
                  <a:srgbClr val="7030A0"/>
                </a:solidFill>
              </a:rPr>
              <a:t>La présence de signes d’hypertension portale 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C- Une </a:t>
            </a:r>
            <a:r>
              <a:rPr lang="fr-FR" dirty="0">
                <a:solidFill>
                  <a:srgbClr val="7030A0"/>
                </a:solidFill>
              </a:rPr>
              <a:t>tachycardie à 120b/mn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La </a:t>
            </a:r>
            <a:r>
              <a:rPr lang="fr-FR" dirty="0">
                <a:solidFill>
                  <a:srgbClr val="7030A0"/>
                </a:solidFill>
              </a:rPr>
              <a:t>transfusion de 8 culots globulaires pour restaurer un bon état hémodynamique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E- La </a:t>
            </a:r>
            <a:r>
              <a:rPr lang="fr-FR" dirty="0">
                <a:solidFill>
                  <a:srgbClr val="7030A0"/>
                </a:solidFill>
              </a:rPr>
              <a:t>survenue chez un malade sous anticoagulants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468CF-EDA6-47B7-895F-35FA700B680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14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61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hématémèse est jugée sévère si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quantité du sang vomi dépasse 3 litres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Déglobulisation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patient est âgé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Associée à une </a:t>
            </a:r>
            <a:r>
              <a:rPr lang="fr-FR" dirty="0" err="1" smtClean="0"/>
              <a:t>rectorragie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Prise de corticoïdes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33D5-EFFB-4125-B0E2-A5C00FF2DB66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hématémèse est jugée sévère si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quantité du sang vomi dépasse 3 litres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Déglobulisation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Le patient est âgé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Associée à une </a:t>
            </a:r>
            <a:r>
              <a:rPr lang="fr-FR" dirty="0" err="1" smtClean="0">
                <a:solidFill>
                  <a:srgbClr val="7030A0"/>
                </a:solidFill>
              </a:rPr>
              <a:t>rectorragie</a:t>
            </a:r>
            <a:r>
              <a:rPr lang="fr-FR" dirty="0" smtClean="0">
                <a:solidFill>
                  <a:srgbClr val="7030A0"/>
                </a:solidFill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Prise de corticoïdes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DA613-D981-4E9E-BE0D-123CBF78E7EF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hémorragie digestive haute est grave si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survient chez un malade diabétique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Associée à une BPCO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Associée à une insuffisance rénale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survient chez un malade sous antipsychotique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est persistante 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4F2F-42B7-4BE7-A1A4-AF7C97F32C9D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hémorragie digestive haute est grave si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survient chez un malade diabétique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Associée à une BPCO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Associée à une insuffisance rénale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Elle survient chez un malade sous antipsychotique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Elle est persistante 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42080-0CAB-41B5-AB29-025EA747AE2C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constations endoscopiques suivantes sont des signes de gravité d’une </a:t>
            </a:r>
            <a:r>
              <a:rPr lang="fr-FR" b="1" dirty="0" err="1" smtClean="0"/>
              <a:t>hemorragie</a:t>
            </a:r>
            <a:r>
              <a:rPr lang="fr-FR" b="1" dirty="0" smtClean="0"/>
              <a:t> digestive haute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ulcère bulbaire Forrest III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tumeur gastrique ulcérée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Des varices œsophagiennes avec signes rouges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œsophagite peptique grade </a:t>
            </a:r>
            <a:r>
              <a:rPr lang="fr-FR" dirty="0" smtClean="0"/>
              <a:t>B </a:t>
            </a:r>
            <a:r>
              <a:rPr lang="fr-FR" dirty="0" smtClean="0"/>
              <a:t>de Los Angeles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saignement en jet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6335D-E532-45E8-B040-48457E2FAFF8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constations endoscopiques suivantes sont des signes de gravité d’une </a:t>
            </a:r>
            <a:r>
              <a:rPr lang="fr-FR" b="1" dirty="0" err="1" smtClean="0"/>
              <a:t>hemorragie</a:t>
            </a:r>
            <a:r>
              <a:rPr lang="fr-FR" b="1" dirty="0" smtClean="0"/>
              <a:t> digestive haute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ulcère bulbaire Forrest III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Une tumeur gastrique ulcérée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Des varices œsophagiennes avec signes rouges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œsophagite peptique grade </a:t>
            </a:r>
            <a:r>
              <a:rPr lang="fr-FR" dirty="0" smtClean="0"/>
              <a:t>B </a:t>
            </a:r>
            <a:r>
              <a:rPr lang="fr-FR" dirty="0" smtClean="0"/>
              <a:t>de Los Angeles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b="1" dirty="0" smtClean="0">
                <a:solidFill>
                  <a:srgbClr val="7030A0"/>
                </a:solidFill>
              </a:rPr>
              <a:t>Un saignement en jet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5DCB-CC99-4A1E-B554-E2869880F3C7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 descr="Images de Urgent – Téléchargement gratuit sur Freepi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612" y="3000372"/>
            <a:ext cx="1857388" cy="1857388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6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FF2F-C74F-4812-888B-7DB7E03A21A9}" type="datetime1">
              <a:rPr lang="fr-FR" smtClean="0"/>
              <a:t>21/08/2025</a:t>
            </a:fld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48</a:t>
            </a:fld>
            <a:endParaRPr lang="fr-FR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pic>
        <p:nvPicPr>
          <p:cNvPr id="203778" name="Picture 2"/>
          <p:cNvPicPr>
            <a:picLocks noChangeAspect="1" noChangeArrowheads="1"/>
          </p:cNvPicPr>
          <p:nvPr/>
        </p:nvPicPr>
        <p:blipFill>
          <a:blip r:embed="rId4"/>
          <a:srcRect l="27187" t="35833" r="25000" b="25833"/>
          <a:stretch>
            <a:fillRect/>
          </a:stretch>
        </p:blipFill>
        <p:spPr bwMode="auto">
          <a:xfrm>
            <a:off x="428596" y="2714620"/>
            <a:ext cx="728667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3779" name="Picture 3"/>
          <p:cNvPicPr>
            <a:picLocks noChangeAspect="1" noChangeArrowheads="1"/>
          </p:cNvPicPr>
          <p:nvPr/>
        </p:nvPicPr>
        <p:blipFill>
          <a:blip r:embed="rId5"/>
          <a:srcRect l="26093" t="31667" r="55626" b="64998"/>
          <a:stretch>
            <a:fillRect/>
          </a:stretch>
        </p:blipFill>
        <p:spPr bwMode="auto">
          <a:xfrm>
            <a:off x="285720" y="2285992"/>
            <a:ext cx="278608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4286256"/>
            <a:ext cx="6357982" cy="5000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FCAB-7502-44E0-959F-DE4BDA8F0FF7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49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La </a:t>
            </a:r>
            <a:r>
              <a:rPr lang="fr-FR" b="1" dirty="0" smtClean="0"/>
              <a:t>1</a:t>
            </a:r>
            <a:r>
              <a:rPr lang="fr-FR" b="1" baseline="30000" dirty="0" smtClean="0"/>
              <a:t>ère</a:t>
            </a:r>
            <a:r>
              <a:rPr lang="fr-FR" b="1" dirty="0" smtClean="0"/>
              <a:t> exploration </a:t>
            </a:r>
            <a:r>
              <a:rPr lang="fr-FR" b="1" dirty="0"/>
              <a:t>devant toute hématémèse est </a:t>
            </a:r>
            <a:r>
              <a:rPr lang="fr-FR" dirty="0"/>
              <a:t>:</a:t>
            </a:r>
          </a:p>
          <a:p>
            <a:pPr marL="114300" indent="0">
              <a:buNone/>
            </a:pPr>
            <a:endParaRPr lang="fr-FR" dirty="0"/>
          </a:p>
          <a:p>
            <a:pPr>
              <a:buNone/>
            </a:pPr>
            <a:r>
              <a:rPr lang="fr-FR" dirty="0" smtClean="0"/>
              <a:t>A- Un </a:t>
            </a:r>
            <a:r>
              <a:rPr lang="fr-FR" dirty="0"/>
              <a:t>scanner abdominal</a:t>
            </a:r>
          </a:p>
          <a:p>
            <a:pPr>
              <a:buNone/>
            </a:pPr>
            <a:r>
              <a:rPr lang="fr-FR" dirty="0" smtClean="0"/>
              <a:t>B- Une </a:t>
            </a:r>
            <a:r>
              <a:rPr lang="fr-FR" dirty="0"/>
              <a:t>fibroscopie digestive haute</a:t>
            </a:r>
          </a:p>
          <a:p>
            <a:pPr>
              <a:buNone/>
            </a:pPr>
            <a:r>
              <a:rPr lang="fr-FR" dirty="0" smtClean="0"/>
              <a:t>C- Une </a:t>
            </a:r>
            <a:r>
              <a:rPr lang="fr-FR" dirty="0"/>
              <a:t>coloscopie </a:t>
            </a:r>
          </a:p>
          <a:p>
            <a:pPr>
              <a:buNone/>
            </a:pPr>
            <a:r>
              <a:rPr lang="fr-FR" dirty="0" smtClean="0"/>
              <a:t>D- Une </a:t>
            </a:r>
            <a:r>
              <a:rPr lang="fr-FR" dirty="0" err="1"/>
              <a:t>entéroscopie</a:t>
            </a:r>
            <a:endParaRPr lang="fr-FR" dirty="0"/>
          </a:p>
          <a:p>
            <a:pPr>
              <a:buNone/>
            </a:pPr>
            <a:r>
              <a:rPr lang="fr-FR" dirty="0" smtClean="0"/>
              <a:t>E- Un </a:t>
            </a:r>
            <a:r>
              <a:rPr lang="fr-FR" dirty="0" err="1"/>
              <a:t>entéroscanner</a:t>
            </a:r>
            <a:r>
              <a:rPr lang="fr-FR" dirty="0"/>
              <a:t>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18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7AE1-7A7B-4286-B493-2F854AC00DCE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La </a:t>
            </a:r>
            <a:r>
              <a:rPr lang="fr-FR" b="1" dirty="0" smtClean="0"/>
              <a:t>1</a:t>
            </a:r>
            <a:r>
              <a:rPr lang="fr-FR" b="1" baseline="30000" dirty="0" smtClean="0"/>
              <a:t>ère</a:t>
            </a:r>
            <a:r>
              <a:rPr lang="fr-FR" b="1" dirty="0" smtClean="0"/>
              <a:t> exploration </a:t>
            </a:r>
            <a:r>
              <a:rPr lang="fr-FR" b="1" dirty="0"/>
              <a:t>devant toute hématémèse est </a:t>
            </a:r>
            <a:r>
              <a:rPr lang="fr-FR" dirty="0"/>
              <a:t>:</a:t>
            </a:r>
          </a:p>
          <a:p>
            <a:pPr marL="114300" indent="0">
              <a:buNone/>
            </a:pPr>
            <a:endParaRPr lang="fr-FR" dirty="0"/>
          </a:p>
          <a:p>
            <a:pPr>
              <a:buNone/>
            </a:pPr>
            <a:r>
              <a:rPr lang="fr-FR" dirty="0" smtClean="0"/>
              <a:t>A- Un </a:t>
            </a:r>
            <a:r>
              <a:rPr lang="fr-FR" dirty="0"/>
              <a:t>scanner abdominal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B- Une </a:t>
            </a:r>
            <a:r>
              <a:rPr lang="fr-FR" dirty="0">
                <a:solidFill>
                  <a:srgbClr val="7030A0"/>
                </a:solidFill>
              </a:rPr>
              <a:t>fibroscopie digestive haute</a:t>
            </a:r>
          </a:p>
          <a:p>
            <a:pPr>
              <a:buNone/>
            </a:pPr>
            <a:r>
              <a:rPr lang="fr-FR" dirty="0" smtClean="0"/>
              <a:t>C- Une </a:t>
            </a:r>
            <a:r>
              <a:rPr lang="fr-FR" dirty="0"/>
              <a:t>coloscopie </a:t>
            </a:r>
          </a:p>
          <a:p>
            <a:pPr>
              <a:buNone/>
            </a:pPr>
            <a:r>
              <a:rPr lang="fr-FR" dirty="0" smtClean="0"/>
              <a:t>D- Une </a:t>
            </a:r>
            <a:r>
              <a:rPr lang="fr-FR" dirty="0" err="1"/>
              <a:t>entéroscopie</a:t>
            </a:r>
            <a:endParaRPr lang="fr-FR" dirty="0"/>
          </a:p>
          <a:p>
            <a:pPr>
              <a:buNone/>
            </a:pPr>
            <a:r>
              <a:rPr lang="fr-FR" dirty="0" smtClean="0"/>
              <a:t>E- Un </a:t>
            </a:r>
            <a:r>
              <a:rPr lang="fr-FR" dirty="0" err="1"/>
              <a:t>entéroscanner</a:t>
            </a:r>
            <a:r>
              <a:rPr lang="fr-FR" dirty="0"/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CC352-FFB4-4A26-9E92-BC601E46DB56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18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69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L’examen de </a:t>
            </a:r>
            <a:r>
              <a:rPr lang="fr-FR" b="1" dirty="0" smtClean="0"/>
              <a:t>1</a:t>
            </a:r>
            <a:r>
              <a:rPr lang="fr-FR" b="1" baseline="30000" dirty="0" smtClean="0"/>
              <a:t>ère</a:t>
            </a:r>
            <a:r>
              <a:rPr lang="fr-FR" b="1" dirty="0" smtClean="0"/>
              <a:t> intention </a:t>
            </a:r>
            <a:r>
              <a:rPr lang="fr-FR" b="1" dirty="0"/>
              <a:t>en cas de </a:t>
            </a:r>
            <a:r>
              <a:rPr lang="fr-FR" b="1" dirty="0" smtClean="0"/>
              <a:t>méléna est:</a:t>
            </a:r>
            <a:endParaRPr lang="fr-FR" b="1" dirty="0"/>
          </a:p>
          <a:p>
            <a:pPr marL="114300" indent="0">
              <a:buNone/>
            </a:pPr>
            <a:endParaRPr lang="fr-FR" b="1" dirty="0"/>
          </a:p>
          <a:p>
            <a:pPr>
              <a:buNone/>
            </a:pPr>
            <a:r>
              <a:rPr lang="fr-FR" dirty="0" smtClean="0"/>
              <a:t>A- Coloscopie </a:t>
            </a:r>
            <a:endParaRPr lang="fr-FR" dirty="0"/>
          </a:p>
          <a:p>
            <a:pPr>
              <a:buNone/>
            </a:pPr>
            <a:r>
              <a:rPr lang="fr-FR" dirty="0"/>
              <a:t>B- </a:t>
            </a:r>
            <a:r>
              <a:rPr lang="fr-FR" dirty="0" err="1"/>
              <a:t>Vidéocapsule</a:t>
            </a:r>
            <a:r>
              <a:rPr lang="fr-FR" dirty="0"/>
              <a:t> endoscopique </a:t>
            </a:r>
          </a:p>
          <a:p>
            <a:pPr>
              <a:buNone/>
            </a:pPr>
            <a:r>
              <a:rPr lang="fr-FR" dirty="0" smtClean="0"/>
              <a:t>C- Fibroscopie </a:t>
            </a:r>
            <a:r>
              <a:rPr lang="fr-FR" dirty="0"/>
              <a:t>digestive haute</a:t>
            </a:r>
          </a:p>
          <a:p>
            <a:pPr>
              <a:buNone/>
            </a:pPr>
            <a:r>
              <a:rPr lang="fr-FR" dirty="0" smtClean="0"/>
              <a:t>D- </a:t>
            </a:r>
            <a:r>
              <a:rPr lang="fr-FR" dirty="0" err="1" smtClean="0"/>
              <a:t>Entéroscanner</a:t>
            </a:r>
            <a:r>
              <a:rPr lang="fr-FR" dirty="0" smtClean="0"/>
              <a:t> </a:t>
            </a:r>
            <a:endParaRPr lang="fr-FR" dirty="0"/>
          </a:p>
          <a:p>
            <a:pPr>
              <a:buNone/>
            </a:pPr>
            <a:r>
              <a:rPr lang="fr-FR" dirty="0" smtClean="0"/>
              <a:t>E- </a:t>
            </a:r>
            <a:r>
              <a:rPr lang="fr-FR" dirty="0" err="1" smtClean="0"/>
              <a:t>Angiosacanner</a:t>
            </a:r>
            <a:r>
              <a:rPr lang="fr-FR" dirty="0" smtClean="0"/>
              <a:t> </a:t>
            </a:r>
            <a:r>
              <a:rPr lang="fr-FR" dirty="0"/>
              <a:t>abdominal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19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E889-D7CA-4554-AEA0-3159A7C2B964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L’examen de </a:t>
            </a:r>
            <a:r>
              <a:rPr lang="fr-FR" b="1" dirty="0" smtClean="0"/>
              <a:t>1</a:t>
            </a:r>
            <a:r>
              <a:rPr lang="fr-FR" b="1" baseline="30000" dirty="0" smtClean="0"/>
              <a:t>ère</a:t>
            </a:r>
            <a:r>
              <a:rPr lang="fr-FR" b="1" dirty="0" smtClean="0"/>
              <a:t> intention </a:t>
            </a:r>
            <a:r>
              <a:rPr lang="fr-FR" b="1" dirty="0"/>
              <a:t>en cas de méléna :</a:t>
            </a:r>
          </a:p>
          <a:p>
            <a:pPr marL="114300" indent="0">
              <a:buNone/>
            </a:pPr>
            <a:endParaRPr lang="fr-FR" b="1" dirty="0"/>
          </a:p>
          <a:p>
            <a:pPr>
              <a:buNone/>
            </a:pPr>
            <a:r>
              <a:rPr lang="fr-FR" dirty="0" smtClean="0"/>
              <a:t>A- Coloscopie </a:t>
            </a:r>
            <a:endParaRPr lang="fr-FR" dirty="0"/>
          </a:p>
          <a:p>
            <a:pPr>
              <a:buNone/>
            </a:pPr>
            <a:r>
              <a:rPr lang="fr-FR" dirty="0"/>
              <a:t>B- </a:t>
            </a:r>
            <a:r>
              <a:rPr lang="fr-FR" dirty="0" err="1"/>
              <a:t>Vidéocapsule</a:t>
            </a:r>
            <a:r>
              <a:rPr lang="fr-FR" dirty="0"/>
              <a:t> endoscopique 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C- Fibroscopie </a:t>
            </a:r>
            <a:r>
              <a:rPr lang="fr-FR" dirty="0">
                <a:solidFill>
                  <a:srgbClr val="7030A0"/>
                </a:solidFill>
              </a:rPr>
              <a:t>digestive haute</a:t>
            </a:r>
          </a:p>
          <a:p>
            <a:pPr>
              <a:buNone/>
            </a:pPr>
            <a:r>
              <a:rPr lang="fr-FR" dirty="0" smtClean="0"/>
              <a:t>D- </a:t>
            </a:r>
            <a:r>
              <a:rPr lang="fr-FR" dirty="0" err="1" smtClean="0"/>
              <a:t>Entéroscanner</a:t>
            </a:r>
            <a:r>
              <a:rPr lang="fr-FR" dirty="0" smtClean="0"/>
              <a:t> </a:t>
            </a:r>
            <a:endParaRPr lang="fr-FR" dirty="0"/>
          </a:p>
          <a:p>
            <a:pPr>
              <a:buNone/>
            </a:pPr>
            <a:r>
              <a:rPr lang="fr-FR" dirty="0" smtClean="0"/>
              <a:t>E- </a:t>
            </a:r>
            <a:r>
              <a:rPr lang="fr-FR" dirty="0" err="1" smtClean="0"/>
              <a:t>Angiosacanner</a:t>
            </a:r>
            <a:r>
              <a:rPr lang="fr-FR" dirty="0" smtClean="0"/>
              <a:t> </a:t>
            </a:r>
            <a:r>
              <a:rPr lang="fr-FR" dirty="0"/>
              <a:t>abdominal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F349-FD30-4223-99B5-0D86D8F466BF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19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18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 cas de rectorragies de grande abondance :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 smtClean="0"/>
              <a:t>A- Une </a:t>
            </a:r>
            <a:r>
              <a:rPr lang="fr-FR" dirty="0"/>
              <a:t>fibroscopie pour éliminer une origine haute du saignement s’impose</a:t>
            </a:r>
          </a:p>
          <a:p>
            <a:pPr>
              <a:buNone/>
            </a:pPr>
            <a:r>
              <a:rPr lang="fr-FR" dirty="0" smtClean="0"/>
              <a:t>B- Une </a:t>
            </a:r>
            <a:r>
              <a:rPr lang="fr-FR" dirty="0"/>
              <a:t>coloscopie est demandée de première intention</a:t>
            </a:r>
          </a:p>
          <a:p>
            <a:pPr>
              <a:buNone/>
            </a:pPr>
            <a:r>
              <a:rPr lang="fr-FR" dirty="0"/>
              <a:t>C- Le conditionnement  du malade est nécessaire avant toute exploration </a:t>
            </a:r>
          </a:p>
          <a:p>
            <a:pPr>
              <a:buNone/>
            </a:pPr>
            <a:r>
              <a:rPr lang="fr-FR" dirty="0" smtClean="0"/>
              <a:t>D- Un </a:t>
            </a:r>
            <a:r>
              <a:rPr lang="fr-FR" dirty="0"/>
              <a:t>geste d’hémostase radiologique peut être indiqué</a:t>
            </a:r>
          </a:p>
          <a:p>
            <a:pPr>
              <a:buNone/>
            </a:pPr>
            <a:r>
              <a:rPr lang="fr-FR" dirty="0" smtClean="0"/>
              <a:t>E- Est </a:t>
            </a:r>
            <a:r>
              <a:rPr lang="fr-FR" dirty="0"/>
              <a:t>une indication à l’exploration chirurgicale d’emblée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20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D17B0-E220-4BD5-8140-1F2E6E7FB47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 cas de rectorragies de grande abondance :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A- Une </a:t>
            </a:r>
            <a:r>
              <a:rPr lang="fr-FR" dirty="0">
                <a:solidFill>
                  <a:srgbClr val="7030A0"/>
                </a:solidFill>
              </a:rPr>
              <a:t>fibroscopie pour éliminer une origine haute du saignement s’impose</a:t>
            </a:r>
          </a:p>
          <a:p>
            <a:pPr>
              <a:buNone/>
            </a:pPr>
            <a:r>
              <a:rPr lang="fr-FR" dirty="0" smtClean="0"/>
              <a:t>B- Une </a:t>
            </a:r>
            <a:r>
              <a:rPr lang="fr-FR" dirty="0"/>
              <a:t>coloscopie est demandée de première intention</a:t>
            </a:r>
          </a:p>
          <a:p>
            <a:pPr>
              <a:buNone/>
            </a:pPr>
            <a:r>
              <a:rPr lang="fr-FR" dirty="0">
                <a:solidFill>
                  <a:srgbClr val="7030A0"/>
                </a:solidFill>
              </a:rPr>
              <a:t>C- Le conditionnement  du malade est nécessaire avant toute exploration </a:t>
            </a:r>
          </a:p>
          <a:p>
            <a:pPr>
              <a:buNone/>
            </a:pPr>
            <a:r>
              <a:rPr lang="fr-FR" dirty="0" smtClean="0">
                <a:solidFill>
                  <a:srgbClr val="7030A0"/>
                </a:solidFill>
              </a:rPr>
              <a:t>D- Un </a:t>
            </a:r>
            <a:r>
              <a:rPr lang="fr-FR" dirty="0">
                <a:solidFill>
                  <a:srgbClr val="7030A0"/>
                </a:solidFill>
              </a:rPr>
              <a:t>geste d’hémostase radiologique peut être indiqué</a:t>
            </a:r>
          </a:p>
          <a:p>
            <a:pPr>
              <a:buNone/>
            </a:pPr>
            <a:r>
              <a:rPr lang="fr-FR" dirty="0" smtClean="0"/>
              <a:t>E- Est </a:t>
            </a:r>
            <a:r>
              <a:rPr lang="fr-FR" dirty="0"/>
              <a:t>une indication à l’exploration chirurgicale d’emblée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0AAE-F760-4C4B-A533-F0B33EEF48AC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20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72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En cas d’hématémèse, la fibroscopie digestive haute :</a:t>
            </a:r>
          </a:p>
          <a:p>
            <a:pPr marL="114300" indent="0">
              <a:buNone/>
            </a:pPr>
            <a:endParaRPr lang="fr-FR" sz="2400" b="1" dirty="0"/>
          </a:p>
          <a:p>
            <a:pPr marL="0" indent="0">
              <a:buNone/>
            </a:pPr>
            <a:r>
              <a:rPr lang="fr-FR" dirty="0" smtClean="0"/>
              <a:t>A- Doit </a:t>
            </a:r>
            <a:r>
              <a:rPr lang="fr-FR" dirty="0"/>
              <a:t>être pratiquée d’emblée quelque soit l’état du malade </a:t>
            </a:r>
          </a:p>
          <a:p>
            <a:pPr marL="0" indent="0">
              <a:buNone/>
            </a:pPr>
            <a:r>
              <a:rPr lang="fr-FR" dirty="0" smtClean="0"/>
              <a:t>B- Doit </a:t>
            </a:r>
            <a:r>
              <a:rPr lang="fr-FR" dirty="0"/>
              <a:t>être pratiquée sous anesthésie générale </a:t>
            </a:r>
          </a:p>
          <a:p>
            <a:pPr marL="0" indent="0">
              <a:buNone/>
            </a:pPr>
            <a:r>
              <a:rPr lang="fr-FR" dirty="0" smtClean="0"/>
              <a:t>C- Peut </a:t>
            </a:r>
            <a:r>
              <a:rPr lang="fr-FR" dirty="0"/>
              <a:t>être faite après préparation par l’amoxicilline 2g avant l’acte </a:t>
            </a:r>
          </a:p>
          <a:p>
            <a:pPr marL="0" indent="0">
              <a:buNone/>
            </a:pPr>
            <a:r>
              <a:rPr lang="fr-FR" dirty="0" smtClean="0"/>
              <a:t>D- Doit </a:t>
            </a:r>
            <a:r>
              <a:rPr lang="fr-FR" dirty="0"/>
              <a:t>être effectuée dans les 6-12 premières heures en cas de saignement actif</a:t>
            </a:r>
          </a:p>
          <a:p>
            <a:pPr marL="0" indent="0">
              <a:buNone/>
            </a:pPr>
            <a:r>
              <a:rPr lang="fr-FR" dirty="0"/>
              <a:t>E- La pose de sonde gastrique est systématique avant sa réalisation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B6642-1503-4CF7-AB4C-95EE513CD24C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73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En cas d’hématémèse, la fibroscopie digestive haute :</a:t>
            </a:r>
          </a:p>
          <a:p>
            <a:pPr marL="114300" indent="0">
              <a:buNone/>
            </a:pPr>
            <a:endParaRPr lang="fr-FR" sz="2400" b="1" dirty="0"/>
          </a:p>
          <a:p>
            <a:pPr marL="0" indent="0">
              <a:buNone/>
            </a:pPr>
            <a:r>
              <a:rPr lang="fr-FR" dirty="0" smtClean="0"/>
              <a:t>A- Doit </a:t>
            </a:r>
            <a:r>
              <a:rPr lang="fr-FR" dirty="0"/>
              <a:t>être pratiquée d’emblée quelque soit l’état du malade </a:t>
            </a:r>
          </a:p>
          <a:p>
            <a:pPr marL="0" indent="0">
              <a:buNone/>
            </a:pPr>
            <a:r>
              <a:rPr lang="fr-FR" dirty="0" smtClean="0"/>
              <a:t>B- Doit </a:t>
            </a:r>
            <a:r>
              <a:rPr lang="fr-FR" dirty="0"/>
              <a:t>être pratiquée sous anesthésie générale </a:t>
            </a:r>
          </a:p>
          <a:p>
            <a:pPr marL="0" indent="0">
              <a:buNone/>
            </a:pPr>
            <a:r>
              <a:rPr lang="fr-FR" dirty="0" smtClean="0"/>
              <a:t>C- Peut </a:t>
            </a:r>
            <a:r>
              <a:rPr lang="fr-FR" dirty="0"/>
              <a:t>être faite après préparation par l’amoxicilline 2g avant l’acte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Doit </a:t>
            </a:r>
            <a:r>
              <a:rPr lang="fr-FR" dirty="0">
                <a:solidFill>
                  <a:srgbClr val="7030A0"/>
                </a:solidFill>
              </a:rPr>
              <a:t>être effectuée dans les 6-12 premières heures en cas de saignement actif</a:t>
            </a:r>
          </a:p>
          <a:p>
            <a:pPr marL="0" indent="0">
              <a:buNone/>
            </a:pPr>
            <a:r>
              <a:rPr lang="fr-FR" dirty="0" smtClean="0"/>
              <a:t>E- La </a:t>
            </a:r>
            <a:r>
              <a:rPr lang="fr-FR" dirty="0"/>
              <a:t>pose de sonde gastrique est systématique avant sa réalisation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E0EE-BD0E-4CD1-B27A-5D4D338DF98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21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96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 smtClean="0"/>
              <a:t>Une hémorragie </a:t>
            </a:r>
            <a:r>
              <a:rPr lang="fr-FR" sz="2400" b="1" dirty="0"/>
              <a:t>digestive haute </a:t>
            </a:r>
            <a:r>
              <a:rPr lang="fr-FR" sz="2400" b="1" dirty="0" smtClean="0"/>
              <a:t>peut être causée par:</a:t>
            </a:r>
            <a:endParaRPr lang="fr-FR" sz="2400" b="1" dirty="0"/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 smtClean="0"/>
              <a:t>A- L’ulcère </a:t>
            </a:r>
            <a:r>
              <a:rPr lang="fr-FR" dirty="0"/>
              <a:t>bulbaire </a:t>
            </a:r>
          </a:p>
          <a:p>
            <a:pPr marL="114300" indent="0">
              <a:buNone/>
            </a:pPr>
            <a:r>
              <a:rPr lang="fr-FR" dirty="0" smtClean="0"/>
              <a:t>B- Les </a:t>
            </a:r>
            <a:r>
              <a:rPr lang="fr-FR" dirty="0" err="1"/>
              <a:t>angiodysplasies</a:t>
            </a:r>
            <a:r>
              <a:rPr lang="fr-FR" dirty="0"/>
              <a:t> de l’intestin grêle </a:t>
            </a:r>
          </a:p>
          <a:p>
            <a:pPr marL="114300" indent="0">
              <a:buNone/>
            </a:pPr>
            <a:r>
              <a:rPr lang="fr-FR" dirty="0" smtClean="0"/>
              <a:t>C- Le </a:t>
            </a:r>
            <a:r>
              <a:rPr lang="fr-FR" dirty="0"/>
              <a:t>diverticule de Meckel </a:t>
            </a:r>
          </a:p>
          <a:p>
            <a:pPr marL="114300" indent="0">
              <a:buNone/>
            </a:pPr>
            <a:r>
              <a:rPr lang="fr-FR" dirty="0" smtClean="0"/>
              <a:t>D- L’œsophagite </a:t>
            </a:r>
            <a:r>
              <a:rPr lang="fr-FR" dirty="0"/>
              <a:t>peptique </a:t>
            </a:r>
          </a:p>
          <a:p>
            <a:pPr marL="114300" indent="0">
              <a:buNone/>
            </a:pPr>
            <a:r>
              <a:rPr lang="fr-FR" dirty="0" smtClean="0"/>
              <a:t>E- Le </a:t>
            </a:r>
            <a:r>
              <a:rPr lang="fr-FR" dirty="0"/>
              <a:t>cancer </a:t>
            </a:r>
            <a:r>
              <a:rPr lang="fr-FR" dirty="0" smtClean="0"/>
              <a:t>du cardia </a:t>
            </a:r>
            <a:endParaRPr lang="fr-FR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AECD7-AC39-40A1-B6C7-17F033C97EFC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66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 smtClean="0"/>
              <a:t>Une hémorragie digestive haute peut être causée par:</a:t>
            </a:r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L’ulcère </a:t>
            </a:r>
            <a:r>
              <a:rPr lang="fr-FR" dirty="0">
                <a:solidFill>
                  <a:srgbClr val="7030A0"/>
                </a:solidFill>
              </a:rPr>
              <a:t>bulbaire </a:t>
            </a:r>
          </a:p>
          <a:p>
            <a:pPr marL="114300" indent="0">
              <a:buNone/>
            </a:pPr>
            <a:r>
              <a:rPr lang="fr-FR" dirty="0" smtClean="0"/>
              <a:t>B- Les </a:t>
            </a:r>
            <a:r>
              <a:rPr lang="fr-FR" dirty="0" err="1"/>
              <a:t>angiodysplasies</a:t>
            </a:r>
            <a:r>
              <a:rPr lang="fr-FR" dirty="0"/>
              <a:t> de l’intestin grêle </a:t>
            </a:r>
          </a:p>
          <a:p>
            <a:pPr marL="114300" indent="0">
              <a:buNone/>
            </a:pPr>
            <a:r>
              <a:rPr lang="fr-FR" dirty="0" smtClean="0"/>
              <a:t>C- Le </a:t>
            </a:r>
            <a:r>
              <a:rPr lang="fr-FR" dirty="0"/>
              <a:t>diverticule de Meckel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L’œsophagite </a:t>
            </a:r>
            <a:r>
              <a:rPr lang="fr-FR" dirty="0">
                <a:solidFill>
                  <a:srgbClr val="7030A0"/>
                </a:solidFill>
              </a:rPr>
              <a:t>peptique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E- Le </a:t>
            </a:r>
            <a:r>
              <a:rPr lang="fr-FR" dirty="0">
                <a:solidFill>
                  <a:srgbClr val="7030A0"/>
                </a:solidFill>
              </a:rPr>
              <a:t>cancer </a:t>
            </a:r>
            <a:r>
              <a:rPr lang="fr-FR" dirty="0" smtClean="0">
                <a:solidFill>
                  <a:srgbClr val="7030A0"/>
                </a:solidFill>
              </a:rPr>
              <a:t>du cardia </a:t>
            </a:r>
            <a:endParaRPr lang="fr-FR" dirty="0">
              <a:solidFill>
                <a:srgbClr val="7030A0"/>
              </a:solidFill>
            </a:endParaRP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C90B-CF92-42CF-BB56-0BDA9B99D4DF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59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22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28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causes d’hémorragie digestive basse peuvent être: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/>
              <a:t>A- Le </a:t>
            </a:r>
            <a:r>
              <a:rPr lang="fr-FR" dirty="0"/>
              <a:t>cancer du colon </a:t>
            </a:r>
          </a:p>
          <a:p>
            <a:pPr marL="114300" indent="0">
              <a:buNone/>
            </a:pPr>
            <a:r>
              <a:rPr lang="fr-FR" dirty="0" smtClean="0"/>
              <a:t>B- L’</a:t>
            </a:r>
            <a:r>
              <a:rPr lang="fr-FR" dirty="0" err="1" smtClean="0"/>
              <a:t>angiodysplasie</a:t>
            </a:r>
            <a:r>
              <a:rPr lang="fr-FR" dirty="0" smtClean="0"/>
              <a:t> </a:t>
            </a:r>
            <a:r>
              <a:rPr lang="fr-FR" dirty="0"/>
              <a:t>duodénale </a:t>
            </a:r>
          </a:p>
          <a:p>
            <a:pPr marL="114300" lvl="0" indent="0">
              <a:buNone/>
            </a:pPr>
            <a:r>
              <a:rPr lang="fr-FR" dirty="0" smtClean="0"/>
              <a:t>C- Un lymphome du grêle 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/>
              <a:t>diverticulose colique </a:t>
            </a:r>
          </a:p>
          <a:p>
            <a:pPr marL="114300" indent="0">
              <a:buNone/>
            </a:pPr>
            <a:r>
              <a:rPr lang="fr-FR" dirty="0" smtClean="0"/>
              <a:t>E- Les </a:t>
            </a:r>
            <a:r>
              <a:rPr lang="fr-FR" dirty="0" err="1"/>
              <a:t>hémobilies</a:t>
            </a:r>
            <a:r>
              <a:rPr lang="fr-FR" dirty="0"/>
              <a:t>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945E-9D96-482A-BBE0-A3CDBF174C0B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20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causes d’hémorragie digestive basse peuvent être: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Le </a:t>
            </a:r>
            <a:r>
              <a:rPr lang="fr-FR" dirty="0">
                <a:solidFill>
                  <a:srgbClr val="7030A0"/>
                </a:solidFill>
              </a:rPr>
              <a:t>cancer du colon </a:t>
            </a:r>
          </a:p>
          <a:p>
            <a:pPr marL="114300" indent="0">
              <a:buNone/>
            </a:pPr>
            <a:r>
              <a:rPr lang="fr-FR" dirty="0" smtClean="0"/>
              <a:t>B- L’</a:t>
            </a:r>
            <a:r>
              <a:rPr lang="fr-FR" dirty="0" err="1" smtClean="0"/>
              <a:t>angiodysplasie</a:t>
            </a:r>
            <a:r>
              <a:rPr lang="fr-FR" dirty="0" smtClean="0"/>
              <a:t> </a:t>
            </a:r>
            <a:r>
              <a:rPr lang="fr-FR" dirty="0"/>
              <a:t>duodénale </a:t>
            </a:r>
          </a:p>
          <a:p>
            <a:pPr marL="114300" lvl="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C- Un lymphome du grêle 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La </a:t>
            </a:r>
            <a:r>
              <a:rPr lang="fr-FR" dirty="0">
                <a:solidFill>
                  <a:srgbClr val="7030A0"/>
                </a:solidFill>
              </a:rPr>
              <a:t>diverticulose colique </a:t>
            </a:r>
          </a:p>
          <a:p>
            <a:pPr marL="114300" indent="0">
              <a:buNone/>
            </a:pPr>
            <a:r>
              <a:rPr lang="fr-FR" dirty="0" smtClean="0"/>
              <a:t>E- Les </a:t>
            </a:r>
            <a:r>
              <a:rPr lang="fr-FR" dirty="0" err="1"/>
              <a:t>hémobilies</a:t>
            </a:r>
            <a:r>
              <a:rPr lang="fr-FR" dirty="0"/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7D1D-35DE-435E-893D-3D379C5B75C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23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17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DELL\Desktop\hemorragie diverticulaire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57" y="990625"/>
            <a:ext cx="2477059" cy="251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DELL\Desktop\angiodysplasi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284984"/>
            <a:ext cx="2592288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DELL\Desktop\mecke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620688"/>
            <a:ext cx="2776339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539552" y="3645024"/>
            <a:ext cx="2199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Diverticules coliques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566466" y="5445224"/>
            <a:ext cx="19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Angiodysplasies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980824" y="3429000"/>
            <a:ext cx="252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Diverticule de Meckel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71472" y="3613666"/>
            <a:ext cx="2357454" cy="400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3566466" y="5445224"/>
            <a:ext cx="2005666" cy="400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6012160" y="3429000"/>
            <a:ext cx="2560367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B9423-B85B-4194-8DF6-EA4F50A20FE5}" type="datetime1">
              <a:rPr lang="fr-FR" smtClean="0"/>
              <a:t>21/08/2025</a:t>
            </a:fld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62</a:t>
            </a:fld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80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Les causes de méléna peuvent être :</a:t>
            </a:r>
          </a:p>
          <a:p>
            <a:pPr marL="114300" indent="0">
              <a:buNone/>
            </a:pPr>
            <a:r>
              <a:rPr lang="fr-FR" dirty="0" smtClean="0"/>
              <a:t>A- Une </a:t>
            </a:r>
            <a:r>
              <a:rPr lang="fr-FR" dirty="0"/>
              <a:t>tumeur gastrique </a:t>
            </a:r>
          </a:p>
          <a:p>
            <a:pPr marL="114300" indent="0">
              <a:buNone/>
            </a:pPr>
            <a:r>
              <a:rPr lang="fr-FR" dirty="0" smtClean="0"/>
              <a:t>B- Le </a:t>
            </a:r>
            <a:r>
              <a:rPr lang="fr-FR" dirty="0"/>
              <a:t>cancer du rectum </a:t>
            </a:r>
          </a:p>
          <a:p>
            <a:pPr marL="114300" indent="0">
              <a:buNone/>
            </a:pPr>
            <a:r>
              <a:rPr lang="fr-FR" dirty="0" smtClean="0"/>
              <a:t>C- L’</a:t>
            </a:r>
            <a:r>
              <a:rPr lang="fr-FR" dirty="0" err="1" smtClean="0"/>
              <a:t>angiodysplasie</a:t>
            </a:r>
            <a:r>
              <a:rPr lang="fr-FR" dirty="0" smtClean="0"/>
              <a:t> </a:t>
            </a:r>
            <a:r>
              <a:rPr lang="fr-FR" dirty="0"/>
              <a:t>de grêle </a:t>
            </a:r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/>
              <a:t>maladie hémorroïdaire </a:t>
            </a:r>
          </a:p>
          <a:p>
            <a:pPr marL="114300" indent="0">
              <a:buNone/>
            </a:pPr>
            <a:r>
              <a:rPr lang="fr-FR" dirty="0" smtClean="0"/>
              <a:t>E- L’ulcère </a:t>
            </a:r>
            <a:r>
              <a:rPr lang="fr-FR" dirty="0"/>
              <a:t>bulbaire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7BC6-304B-4156-A69E-F69554A47378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99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Les causes de méléna peuvent être :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Une </a:t>
            </a:r>
            <a:r>
              <a:rPr lang="fr-FR" dirty="0">
                <a:solidFill>
                  <a:srgbClr val="7030A0"/>
                </a:solidFill>
              </a:rPr>
              <a:t>tumeur gastrique </a:t>
            </a:r>
          </a:p>
          <a:p>
            <a:pPr marL="114300" indent="0">
              <a:buNone/>
            </a:pPr>
            <a:r>
              <a:rPr lang="fr-FR" dirty="0" smtClean="0"/>
              <a:t>B- Le </a:t>
            </a:r>
            <a:r>
              <a:rPr lang="fr-FR" dirty="0"/>
              <a:t>cancer du rectum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C- L’</a:t>
            </a:r>
            <a:r>
              <a:rPr lang="fr-FR" dirty="0" err="1" smtClean="0">
                <a:solidFill>
                  <a:srgbClr val="7030A0"/>
                </a:solidFill>
              </a:rPr>
              <a:t>angiodysplasie</a:t>
            </a:r>
            <a:r>
              <a:rPr lang="fr-FR" dirty="0" smtClean="0">
                <a:solidFill>
                  <a:srgbClr val="7030A0"/>
                </a:solidFill>
              </a:rPr>
              <a:t> </a:t>
            </a:r>
            <a:r>
              <a:rPr lang="fr-FR" dirty="0">
                <a:solidFill>
                  <a:srgbClr val="7030A0"/>
                </a:solidFill>
              </a:rPr>
              <a:t>de grêle </a:t>
            </a:r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/>
              <a:t>maladie hémorroïdaire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E- L’ulcère </a:t>
            </a:r>
            <a:r>
              <a:rPr lang="fr-FR" dirty="0">
                <a:solidFill>
                  <a:srgbClr val="7030A0"/>
                </a:solidFill>
              </a:rPr>
              <a:t>bulbaire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822D4-9F66-45B0-BC55-57EB9617251D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24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44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43956" cy="4937760"/>
          </a:xfrm>
        </p:spPr>
        <p:txBody>
          <a:bodyPr/>
          <a:lstStyle/>
          <a:p>
            <a:pPr lvl="0"/>
            <a:r>
              <a:rPr lang="fr-FR" b="1" dirty="0" smtClean="0"/>
              <a:t>La réalisation d’une FOGD pour hémorragie digestive est à faire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Après lavage gastrique systématique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Si l’</a:t>
            </a:r>
            <a:r>
              <a:rPr lang="fr-FR" dirty="0" err="1" smtClean="0"/>
              <a:t>angioscanner</a:t>
            </a:r>
            <a:r>
              <a:rPr lang="fr-FR" dirty="0" smtClean="0"/>
              <a:t> abdominal ne montre pas d’extravasation de produit de contraste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En cas d’hématémèse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Dans un délai de 12h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Immédiatement si le malade est instable sur le plan hémodynamique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8D948-ABE0-48AB-B7D6-B258CCE0D5C6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/>
          <a:lstStyle/>
          <a:p>
            <a:pPr lvl="0"/>
            <a:r>
              <a:rPr lang="fr-FR" b="1" dirty="0" smtClean="0"/>
              <a:t>La réalisation d’une FOGD pour hémorragie digestive est à faire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Après lavage gastrique systématique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Si l’</a:t>
            </a:r>
            <a:r>
              <a:rPr lang="fr-FR" dirty="0" err="1" smtClean="0"/>
              <a:t>angioscanner</a:t>
            </a:r>
            <a:r>
              <a:rPr lang="fr-FR" dirty="0" smtClean="0"/>
              <a:t> abdominal ne montre pas d’extravasation de produit de contraste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En cas d’hématémèse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Dans un délai de 12h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Immédiatement si le malade est instable sur le plan hémodynamique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A2994-F9BF-4462-8449-25F708B77B65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</a:t>
            </a:r>
            <a:r>
              <a:rPr lang="fr-FR" b="1" dirty="0" err="1" smtClean="0"/>
              <a:t>rectorragie</a:t>
            </a:r>
            <a:r>
              <a:rPr lang="fr-FR" b="1" dirty="0" smtClean="0"/>
              <a:t> chez un patient en bon état hémodynamique peut être secondaire à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rupture de varices œsophagiennes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fissure anale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cancer colique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 err="1" smtClean="0"/>
              <a:t>angiodysplasie</a:t>
            </a:r>
            <a:r>
              <a:rPr lang="fr-FR" dirty="0" smtClean="0"/>
              <a:t> duodénale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5CAFF-36ED-4EBC-AD41-CA4C23D57DC5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Une </a:t>
            </a:r>
            <a:r>
              <a:rPr lang="fr-FR" b="1" dirty="0" err="1" smtClean="0"/>
              <a:t>rectorragie</a:t>
            </a:r>
            <a:r>
              <a:rPr lang="fr-FR" b="1" dirty="0" smtClean="0"/>
              <a:t> chez un patient en bon état hémodynamique peut être secondaire à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rupture de varices œsophagiennes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Une fissure anale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 cancer colique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 err="1" smtClean="0"/>
              <a:t>angiodysplasie</a:t>
            </a:r>
            <a:r>
              <a:rPr lang="fr-FR" dirty="0" smtClean="0"/>
              <a:t> duodénale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4F0F-34AC-488D-B148-A2B87A1A10B8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 smtClean="0"/>
              <a:t>La première cause de saignement chez un malade cirrhotique est :</a:t>
            </a:r>
          </a:p>
          <a:p>
            <a:pPr marL="114300" indent="0">
              <a:buNone/>
            </a:pPr>
            <a:r>
              <a:rPr lang="fr-FR" dirty="0" smtClean="0"/>
              <a:t>A- La </a:t>
            </a:r>
            <a:r>
              <a:rPr lang="fr-FR" dirty="0"/>
              <a:t>rupture de varices gastriques </a:t>
            </a:r>
          </a:p>
          <a:p>
            <a:pPr marL="114300" indent="0">
              <a:buNone/>
            </a:pPr>
            <a:r>
              <a:rPr lang="fr-FR" dirty="0" smtClean="0"/>
              <a:t>B- La </a:t>
            </a:r>
            <a:r>
              <a:rPr lang="fr-FR" dirty="0"/>
              <a:t>rupture de varices œsophagiennes </a:t>
            </a:r>
          </a:p>
          <a:p>
            <a:pPr marL="114300" indent="0">
              <a:buNone/>
            </a:pPr>
            <a:r>
              <a:rPr lang="fr-FR" dirty="0" smtClean="0"/>
              <a:t>C- Un </a:t>
            </a:r>
            <a:r>
              <a:rPr lang="fr-FR" dirty="0"/>
              <a:t>ulcère gastrique </a:t>
            </a:r>
          </a:p>
          <a:p>
            <a:pPr marL="114300" indent="0">
              <a:buNone/>
            </a:pPr>
            <a:r>
              <a:rPr lang="fr-FR" dirty="0" smtClean="0"/>
              <a:t>D- Une </a:t>
            </a:r>
            <a:r>
              <a:rPr lang="fr-FR" dirty="0"/>
              <a:t>tumeur gastrique </a:t>
            </a:r>
          </a:p>
          <a:p>
            <a:pPr marL="114300" indent="0">
              <a:buNone/>
            </a:pPr>
            <a:r>
              <a:rPr lang="fr-FR" dirty="0" smtClean="0"/>
              <a:t>E- La </a:t>
            </a:r>
            <a:r>
              <a:rPr lang="fr-FR" dirty="0" err="1"/>
              <a:t>gastropathie</a:t>
            </a:r>
            <a:r>
              <a:rPr lang="fr-FR" dirty="0"/>
              <a:t> hypertensive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BDD4-E58A-4BD2-A841-A2A7AF9FDAC8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69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01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 smtClean="0"/>
              <a:t>La première cause de saignement chez un malade cirrhotique est :</a:t>
            </a:r>
          </a:p>
          <a:p>
            <a:pPr marL="114300" indent="0">
              <a:buNone/>
            </a:pPr>
            <a:r>
              <a:rPr lang="fr-FR" dirty="0" smtClean="0"/>
              <a:t>A- La </a:t>
            </a:r>
            <a:r>
              <a:rPr lang="fr-FR" dirty="0"/>
              <a:t>rupture de varices gastriques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B- La </a:t>
            </a:r>
            <a:r>
              <a:rPr lang="fr-FR" dirty="0">
                <a:solidFill>
                  <a:srgbClr val="7030A0"/>
                </a:solidFill>
              </a:rPr>
              <a:t>rupture de varices œsophagiennes </a:t>
            </a:r>
          </a:p>
          <a:p>
            <a:pPr marL="114300" indent="0">
              <a:buNone/>
            </a:pPr>
            <a:r>
              <a:rPr lang="fr-FR" dirty="0" smtClean="0"/>
              <a:t>C- Un </a:t>
            </a:r>
            <a:r>
              <a:rPr lang="fr-FR" dirty="0"/>
              <a:t>ulcère gastrique </a:t>
            </a:r>
          </a:p>
          <a:p>
            <a:pPr marL="114300" indent="0">
              <a:buNone/>
            </a:pPr>
            <a:r>
              <a:rPr lang="fr-FR" dirty="0" smtClean="0"/>
              <a:t>D- Une </a:t>
            </a:r>
            <a:r>
              <a:rPr lang="fr-FR" dirty="0"/>
              <a:t>tumeur gastrique </a:t>
            </a:r>
          </a:p>
          <a:p>
            <a:pPr marL="114300" indent="0">
              <a:buNone/>
            </a:pPr>
            <a:r>
              <a:rPr lang="fr-FR" dirty="0" smtClean="0"/>
              <a:t>E- La </a:t>
            </a:r>
            <a:r>
              <a:rPr lang="fr-FR" dirty="0" err="1"/>
              <a:t>gastropathie</a:t>
            </a:r>
            <a:r>
              <a:rPr lang="fr-FR" dirty="0"/>
              <a:t> hypertensive</a:t>
            </a:r>
            <a:r>
              <a:rPr lang="fr-FR" dirty="0">
                <a:solidFill>
                  <a:srgbClr val="7030A0"/>
                </a:solidFill>
              </a:rPr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2A83-2AA6-4E8D-A879-C018ED6DC940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27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1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DELL\Desktop\varices oesopahgiennes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80" y="3645024"/>
            <a:ext cx="2302320" cy="15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DELL\Desktop\ligat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24193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DELL\Desktop\htp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789040"/>
            <a:ext cx="2808312" cy="175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DELL\Desktop\imagesvg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994" y="125962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496104" y="3107470"/>
            <a:ext cx="356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Ligature de varices œsophagiennes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796136" y="3292136"/>
            <a:ext cx="191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Varices gastriques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60328" y="5301208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Varices œsophagiennes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437334" y="5570335"/>
            <a:ext cx="271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Gastropathie</a:t>
            </a:r>
            <a:r>
              <a:rPr lang="fr-FR" dirty="0"/>
              <a:t> hypertensive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539552" y="3140968"/>
            <a:ext cx="3384376" cy="3358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5796136" y="3356992"/>
            <a:ext cx="1800200" cy="30447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496104" y="5301208"/>
            <a:ext cx="2275696" cy="3693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37334" y="5570335"/>
            <a:ext cx="2618941" cy="4132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F7A1-1AFC-43B3-835E-7E88436ACDD9}" type="datetime1">
              <a:rPr lang="fr-FR" smtClean="0"/>
              <a:t>21/08/2025</a:t>
            </a:fld>
            <a:endParaRPr lang="fr-FR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71</a:t>
            </a:fld>
            <a:endParaRPr lang="fr-FR"/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92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Un ulcère du bulbe avec un saignement en </a:t>
            </a:r>
            <a:r>
              <a:rPr lang="fr-FR" b="1" dirty="0" smtClean="0"/>
              <a:t>jet </a:t>
            </a:r>
            <a:r>
              <a:rPr lang="fr-FR" b="1" dirty="0"/>
              <a:t>est classé selon Forrest : </a:t>
            </a:r>
          </a:p>
          <a:p>
            <a:pPr marL="114300" indent="0">
              <a:buNone/>
            </a:pPr>
            <a:r>
              <a:rPr lang="fr-FR" dirty="0" smtClean="0"/>
              <a:t>A- </a:t>
            </a:r>
            <a:r>
              <a:rPr lang="fr-FR" dirty="0" err="1" smtClean="0"/>
              <a:t>Ia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B- </a:t>
            </a:r>
            <a:r>
              <a:rPr lang="fr-FR" dirty="0" err="1" smtClean="0"/>
              <a:t>Ib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C- </a:t>
            </a:r>
            <a:r>
              <a:rPr lang="fr-FR" dirty="0" err="1" smtClean="0"/>
              <a:t>IIa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D- </a:t>
            </a:r>
            <a:r>
              <a:rPr lang="fr-FR" dirty="0" err="1" smtClean="0"/>
              <a:t>IIb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E- </a:t>
            </a:r>
            <a:r>
              <a:rPr lang="fr-FR" dirty="0" err="1" smtClean="0"/>
              <a:t>IIc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28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AC30A-7A90-42A3-A61A-FBB6AE026D07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37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Un ulcère du bulbe avec un saignement en </a:t>
            </a:r>
            <a:r>
              <a:rPr lang="fr-FR" b="1" dirty="0" smtClean="0"/>
              <a:t>jet est </a:t>
            </a:r>
            <a:r>
              <a:rPr lang="fr-FR" b="1" dirty="0"/>
              <a:t>classé selon Forrest :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</a:t>
            </a:r>
            <a:r>
              <a:rPr lang="fr-FR" dirty="0" err="1" smtClean="0">
                <a:solidFill>
                  <a:srgbClr val="7030A0"/>
                </a:solidFill>
              </a:rPr>
              <a:t>Ia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 smtClean="0"/>
              <a:t>B- </a:t>
            </a:r>
            <a:r>
              <a:rPr lang="fr-FR" dirty="0" err="1" smtClean="0"/>
              <a:t>Ib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C- </a:t>
            </a:r>
            <a:r>
              <a:rPr lang="fr-FR" dirty="0" err="1" smtClean="0"/>
              <a:t>IIa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D- </a:t>
            </a:r>
            <a:r>
              <a:rPr lang="fr-FR" dirty="0" err="1" smtClean="0"/>
              <a:t>IIb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E- </a:t>
            </a:r>
            <a:r>
              <a:rPr lang="fr-FR" dirty="0" err="1" smtClean="0"/>
              <a:t>IIc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384-B299-428E-9974-487CEC7A04C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28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72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facteurs de risque de récidive hémorragique en cas d’ulcère sont </a:t>
            </a:r>
          </a:p>
          <a:p>
            <a:pPr marL="114300" indent="0">
              <a:buNone/>
            </a:pPr>
            <a:r>
              <a:rPr lang="fr-FR" dirty="0" smtClean="0"/>
              <a:t>A- Age </a:t>
            </a:r>
            <a:r>
              <a:rPr lang="fr-FR" dirty="0"/>
              <a:t>&gt; </a:t>
            </a:r>
            <a:r>
              <a:rPr lang="fr-FR" dirty="0" smtClean="0"/>
              <a:t>45 </a:t>
            </a:r>
            <a:r>
              <a:rPr lang="fr-FR" dirty="0"/>
              <a:t>ans </a:t>
            </a:r>
          </a:p>
          <a:p>
            <a:pPr marL="114300" indent="0">
              <a:buNone/>
            </a:pPr>
            <a:r>
              <a:rPr lang="fr-FR" dirty="0" smtClean="0"/>
              <a:t>B- L’état </a:t>
            </a:r>
            <a:r>
              <a:rPr lang="fr-FR" dirty="0"/>
              <a:t>de choc initial </a:t>
            </a:r>
          </a:p>
          <a:p>
            <a:pPr marL="114300" indent="0">
              <a:buNone/>
            </a:pPr>
            <a:r>
              <a:rPr lang="fr-FR" dirty="0" smtClean="0"/>
              <a:t>C- La </a:t>
            </a:r>
            <a:r>
              <a:rPr lang="fr-FR" dirty="0"/>
              <a:t>taille &gt;1 cm</a:t>
            </a:r>
          </a:p>
          <a:p>
            <a:pPr marL="114300" indent="0">
              <a:buNone/>
            </a:pPr>
            <a:r>
              <a:rPr lang="fr-FR" dirty="0" smtClean="0"/>
              <a:t>D- Le </a:t>
            </a:r>
            <a:r>
              <a:rPr lang="fr-FR" dirty="0"/>
              <a:t>siège sur la face postérieure du bulbe</a:t>
            </a:r>
          </a:p>
          <a:p>
            <a:pPr marL="114300" indent="0">
              <a:buNone/>
            </a:pPr>
            <a:r>
              <a:rPr lang="fr-FR" dirty="0" smtClean="0"/>
              <a:t>E- Le </a:t>
            </a:r>
            <a:r>
              <a:rPr lang="fr-FR" dirty="0"/>
              <a:t>siège sur la grande courbure gastrique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29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48A03-003D-4E0A-B6E5-166D0ADA6434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36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facteurs de risque de récidive hémorragique en cas </a:t>
            </a:r>
            <a:r>
              <a:rPr lang="fr-FR" b="1" dirty="0" smtClean="0"/>
              <a:t>d’ulcère </a:t>
            </a:r>
            <a:r>
              <a:rPr lang="fr-FR" b="1" dirty="0"/>
              <a:t>sont </a:t>
            </a:r>
          </a:p>
          <a:p>
            <a:pPr marL="114300" indent="0">
              <a:buNone/>
            </a:pPr>
            <a:r>
              <a:rPr lang="fr-FR" dirty="0" smtClean="0"/>
              <a:t>A- Age </a:t>
            </a:r>
            <a:r>
              <a:rPr lang="fr-FR" dirty="0"/>
              <a:t>&gt; </a:t>
            </a:r>
            <a:r>
              <a:rPr lang="fr-FR" dirty="0" smtClean="0"/>
              <a:t>45 </a:t>
            </a:r>
            <a:r>
              <a:rPr lang="fr-FR" dirty="0"/>
              <a:t>ans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B- L’état </a:t>
            </a:r>
            <a:r>
              <a:rPr lang="fr-FR" dirty="0">
                <a:solidFill>
                  <a:srgbClr val="7030A0"/>
                </a:solidFill>
              </a:rPr>
              <a:t>de choc initial </a:t>
            </a:r>
          </a:p>
          <a:p>
            <a:pPr marL="114300" indent="0">
              <a:buNone/>
            </a:pPr>
            <a:r>
              <a:rPr lang="fr-FR" dirty="0" smtClean="0"/>
              <a:t>C- La </a:t>
            </a:r>
            <a:r>
              <a:rPr lang="fr-FR" dirty="0"/>
              <a:t>taille </a:t>
            </a:r>
            <a:r>
              <a:rPr lang="fr-FR" dirty="0" smtClean="0"/>
              <a:t>&gt;1 </a:t>
            </a:r>
            <a:r>
              <a:rPr lang="fr-FR" dirty="0"/>
              <a:t>cm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Le </a:t>
            </a:r>
            <a:r>
              <a:rPr lang="fr-FR" dirty="0">
                <a:solidFill>
                  <a:srgbClr val="7030A0"/>
                </a:solidFill>
              </a:rPr>
              <a:t>siège sur la face postérieure du bulbe</a:t>
            </a:r>
          </a:p>
          <a:p>
            <a:pPr marL="114300" indent="0">
              <a:buNone/>
            </a:pPr>
            <a:r>
              <a:rPr lang="fr-FR" dirty="0" smtClean="0"/>
              <a:t>E- Le </a:t>
            </a:r>
            <a:r>
              <a:rPr lang="fr-FR" dirty="0"/>
              <a:t>siège sur la grande courbure gastrique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BB9D-6585-4919-ADC1-77684926B3B6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29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4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7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E9F73-AC8C-44F8-AFF9-2A52D655A3B0}" type="datetime1">
              <a:rPr lang="fr-FR" smtClean="0"/>
              <a:t>21/08/2025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76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 l="27656" t="26667" r="28750" b="9166"/>
          <a:stretch>
            <a:fillRect/>
          </a:stretch>
        </p:blipFill>
        <p:spPr bwMode="auto">
          <a:xfrm>
            <a:off x="1000100" y="1000108"/>
            <a:ext cx="6429420" cy="5323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               </a:t>
            </a:r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B5460-F091-4EBF-9C10-47E88826EDC9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grpSp>
        <p:nvGrpSpPr>
          <p:cNvPr id="14" name="Groupe 13"/>
          <p:cNvGrpSpPr/>
          <p:nvPr/>
        </p:nvGrpSpPr>
        <p:grpSpPr>
          <a:xfrm>
            <a:off x="500034" y="1643050"/>
            <a:ext cx="7000924" cy="1357322"/>
            <a:chOff x="857224" y="2000240"/>
            <a:chExt cx="7000924" cy="1000132"/>
          </a:xfrm>
        </p:grpSpPr>
        <p:pic>
          <p:nvPicPr>
            <p:cNvPr id="204804" name="Picture 4"/>
            <p:cNvPicPr>
              <a:picLocks noChangeAspect="1" noChangeArrowheads="1"/>
            </p:cNvPicPr>
            <p:nvPr/>
          </p:nvPicPr>
          <p:blipFill>
            <a:blip r:embed="rId3"/>
            <a:srcRect l="27656" t="20000" r="26406" b="68333"/>
            <a:stretch>
              <a:fillRect/>
            </a:stretch>
          </p:blipFill>
          <p:spPr bwMode="auto">
            <a:xfrm>
              <a:off x="857224" y="2000240"/>
              <a:ext cx="7000924" cy="1000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Rectangle 12"/>
            <p:cNvSpPr/>
            <p:nvPr/>
          </p:nvSpPr>
          <p:spPr>
            <a:xfrm>
              <a:off x="3000364" y="2714620"/>
              <a:ext cx="3357586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5" name="Groupe 9"/>
          <p:cNvGrpSpPr/>
          <p:nvPr/>
        </p:nvGrpSpPr>
        <p:grpSpPr>
          <a:xfrm>
            <a:off x="714348" y="3286124"/>
            <a:ext cx="6429420" cy="2214578"/>
            <a:chOff x="1785918" y="1857364"/>
            <a:chExt cx="6000792" cy="1714512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4"/>
            <a:srcRect l="25312" t="25000" r="49375" b="58333"/>
            <a:stretch>
              <a:fillRect/>
            </a:stretch>
          </p:blipFill>
          <p:spPr bwMode="auto">
            <a:xfrm>
              <a:off x="1785918" y="1857364"/>
              <a:ext cx="3857652" cy="1428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4"/>
            <a:srcRect l="26562" t="72500" r="35469" b="24999"/>
            <a:stretch>
              <a:fillRect/>
            </a:stretch>
          </p:blipFill>
          <p:spPr bwMode="auto">
            <a:xfrm>
              <a:off x="2000232" y="3357562"/>
              <a:ext cx="5786478" cy="214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pic>
        <p:nvPicPr>
          <p:cNvPr id="5" name="Picture 2" descr="Full-size image (89 K)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857224" y="1285860"/>
            <a:ext cx="3357586" cy="486271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929190" y="2857496"/>
            <a:ext cx="3357554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4350" lvl="0" indent="-514350" algn="just">
              <a:buFont typeface="+mj-lt"/>
              <a:buAutoNum type="alphaUcPeriod"/>
            </a:pPr>
            <a:r>
              <a:rPr lang="fr-FR" dirty="0" err="1" smtClean="0">
                <a:cs typeface="Times New Roman" pitchFamily="18" charset="0"/>
              </a:rPr>
              <a:t>Ia</a:t>
            </a:r>
            <a:r>
              <a:rPr lang="fr-FR" dirty="0" smtClean="0">
                <a:cs typeface="Times New Roman" pitchFamily="18" charset="0"/>
              </a:rPr>
              <a:t>  (saignement en jet)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err="1" smtClean="0">
                <a:cs typeface="Times New Roman" pitchFamily="18" charset="0"/>
              </a:rPr>
              <a:t>Ib</a:t>
            </a:r>
            <a:r>
              <a:rPr lang="fr-FR" dirty="0" smtClean="0">
                <a:cs typeface="Times New Roman" pitchFamily="18" charset="0"/>
              </a:rPr>
              <a:t> (saignement en nappe)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cs typeface="Times New Roman" pitchFamily="18" charset="0"/>
              </a:rPr>
              <a:t>II a (vaisseau visible)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err="1" smtClean="0">
                <a:cs typeface="Times New Roman" pitchFamily="18" charset="0"/>
              </a:rPr>
              <a:t>IIb</a:t>
            </a:r>
            <a:r>
              <a:rPr lang="fr-FR" dirty="0" smtClean="0">
                <a:cs typeface="Times New Roman" pitchFamily="18" charset="0"/>
              </a:rPr>
              <a:t> (caillot adhérent)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err="1" smtClean="0">
                <a:cs typeface="Times New Roman" pitchFamily="18" charset="0"/>
              </a:rPr>
              <a:t>IIc</a:t>
            </a:r>
            <a:r>
              <a:rPr lang="fr-FR" dirty="0" smtClean="0">
                <a:cs typeface="Times New Roman" pitchFamily="18" charset="0"/>
              </a:rPr>
              <a:t> (tache noire)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cs typeface="Times New Roman" pitchFamily="18" charset="0"/>
              </a:rPr>
              <a:t>III (ulcère propre)</a:t>
            </a:r>
            <a:endParaRPr lang="fr-FR" dirty="0">
              <a:cs typeface="Times New Roman" pitchFamily="18" charset="0"/>
            </a:endParaRP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4DF1-E78D-43F6-B64B-5E5D3E625831}" type="datetime1">
              <a:rPr lang="fr-FR" smtClean="0"/>
              <a:t>21/08/2025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78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Facteurs de risque de récidive                </a:t>
            </a:r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42A0-6E2E-4FC1-A14A-AC56B956E1B1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79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pic>
        <p:nvPicPr>
          <p:cNvPr id="205826" name="Picture 2"/>
          <p:cNvPicPr>
            <a:picLocks noChangeAspect="1" noChangeArrowheads="1"/>
          </p:cNvPicPr>
          <p:nvPr/>
        </p:nvPicPr>
        <p:blipFill>
          <a:blip r:embed="rId3"/>
          <a:srcRect l="25313" t="38334" r="44687" b="37499"/>
          <a:stretch>
            <a:fillRect/>
          </a:stretch>
        </p:blipFill>
        <p:spPr bwMode="auto">
          <a:xfrm>
            <a:off x="1214414" y="2285992"/>
            <a:ext cx="6621564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 flipH="1">
            <a:off x="3995936" y="2780928"/>
            <a:ext cx="1008112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60 </a:t>
            </a:r>
            <a:r>
              <a:rPr lang="en-US" sz="2000" b="1" dirty="0" err="1" smtClean="0"/>
              <a:t>ans</a:t>
            </a:r>
            <a:r>
              <a:rPr lang="en-US" sz="2000" b="1" dirty="0" smtClean="0"/>
              <a:t> </a:t>
            </a:r>
            <a:endParaRPr lang="fr-FR" sz="2000" b="1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4857760"/>
            <a:ext cx="6357982" cy="5000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70784-E4C9-4F9E-A1D6-755FE1836B14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4422"/>
            <a:ext cx="8543956" cy="4937760"/>
          </a:xfrm>
        </p:spPr>
        <p:txBody>
          <a:bodyPr>
            <a:normAutofit/>
          </a:bodyPr>
          <a:lstStyle/>
          <a:p>
            <a:r>
              <a:rPr lang="fr-FR" sz="2400" b="1" dirty="0"/>
              <a:t>Devant toute hématémèse, il faut :</a:t>
            </a:r>
          </a:p>
          <a:p>
            <a:pPr marL="114300" indent="0">
              <a:buNone/>
            </a:pPr>
            <a:r>
              <a:rPr lang="fr-FR" dirty="0" smtClean="0"/>
              <a:t>A- Poser un cathéter central </a:t>
            </a:r>
          </a:p>
          <a:p>
            <a:pPr marL="114300" indent="0">
              <a:buNone/>
            </a:pPr>
            <a:r>
              <a:rPr lang="fr-FR" dirty="0" smtClean="0"/>
              <a:t>B- Faire un prélèvement biologique : NFS, groupe sanguin, TP, INR, urée créatinine </a:t>
            </a:r>
          </a:p>
          <a:p>
            <a:pPr marL="114300" indent="0">
              <a:buNone/>
            </a:pPr>
            <a:r>
              <a:rPr lang="fr-FR" dirty="0" smtClean="0"/>
              <a:t>C- Acheminer le malade directement à la salle d’endoscopie </a:t>
            </a:r>
          </a:p>
          <a:p>
            <a:pPr marL="114300" indent="0">
              <a:buNone/>
            </a:pPr>
            <a:r>
              <a:rPr lang="fr-FR" dirty="0" smtClean="0"/>
              <a:t>D- Surveiller le malade par un scope </a:t>
            </a:r>
          </a:p>
          <a:p>
            <a:pPr marL="114300" indent="0">
              <a:buNone/>
            </a:pPr>
            <a:r>
              <a:rPr lang="fr-FR" dirty="0" smtClean="0"/>
              <a:t>E- Faire un sondage urinaire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30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7618-0EE7-44A4-B523-538A905C3C11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47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72518" cy="493776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b="1" dirty="0"/>
              <a:t>Devant toute hématémèse, il faut :</a:t>
            </a:r>
          </a:p>
          <a:p>
            <a:pPr marL="114300" indent="0">
              <a:buNone/>
            </a:pPr>
            <a:r>
              <a:rPr lang="fr-FR" dirty="0"/>
              <a:t>A- Poser un cathéter central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 </a:t>
            </a:r>
            <a:r>
              <a:rPr lang="fr-FR" dirty="0" smtClean="0">
                <a:solidFill>
                  <a:srgbClr val="7030A0"/>
                </a:solidFill>
              </a:rPr>
              <a:t>Faire un prélèvement </a:t>
            </a:r>
            <a:r>
              <a:rPr lang="fr-FR" dirty="0">
                <a:solidFill>
                  <a:srgbClr val="7030A0"/>
                </a:solidFill>
              </a:rPr>
              <a:t>biologique : NFS, groupe sanguin, TP, INR, urée créatinine </a:t>
            </a:r>
          </a:p>
          <a:p>
            <a:pPr marL="114300" indent="0">
              <a:buNone/>
            </a:pPr>
            <a:r>
              <a:rPr lang="fr-FR" dirty="0"/>
              <a:t>C- Acheminer le malade directement à la salle d’endoscopie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D- </a:t>
            </a:r>
            <a:r>
              <a:rPr lang="fr-FR" dirty="0" smtClean="0">
                <a:solidFill>
                  <a:srgbClr val="7030A0"/>
                </a:solidFill>
              </a:rPr>
              <a:t>Surveiller le </a:t>
            </a:r>
            <a:r>
              <a:rPr lang="fr-FR" dirty="0">
                <a:solidFill>
                  <a:srgbClr val="7030A0"/>
                </a:solidFill>
              </a:rPr>
              <a:t>malade par un scope </a:t>
            </a:r>
          </a:p>
          <a:p>
            <a:pPr marL="114300" indent="0">
              <a:buNone/>
            </a:pPr>
            <a:r>
              <a:rPr lang="fr-FR" dirty="0"/>
              <a:t>E- </a:t>
            </a:r>
            <a:r>
              <a:rPr lang="fr-FR" dirty="0" smtClean="0"/>
              <a:t>Faire un sondage </a:t>
            </a:r>
            <a:r>
              <a:rPr lang="fr-FR" dirty="0"/>
              <a:t>urinaire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101D2-14BC-4CDD-8985-512DCBAC596F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30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27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 traitement d’un ulcère hémorragique se base </a:t>
            </a:r>
            <a:r>
              <a:rPr lang="fr-FR" sz="2400" b="1" dirty="0" smtClean="0"/>
              <a:t>sur: </a:t>
            </a:r>
            <a:endParaRPr lang="fr-FR" sz="2400" b="1" dirty="0"/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 smtClean="0"/>
              <a:t>A- Administration </a:t>
            </a:r>
            <a:r>
              <a:rPr lang="fr-FR" dirty="0"/>
              <a:t>des inhibiteurs de la pompe à proton à forte dose en IV</a:t>
            </a:r>
          </a:p>
          <a:p>
            <a:pPr marL="114300" indent="0">
              <a:buNone/>
            </a:pPr>
            <a:r>
              <a:rPr lang="fr-FR" dirty="0" smtClean="0"/>
              <a:t>B- Un </a:t>
            </a:r>
            <a:r>
              <a:rPr lang="fr-FR" dirty="0"/>
              <a:t>traitement endoscopique seul </a:t>
            </a:r>
          </a:p>
          <a:p>
            <a:pPr marL="114300" indent="0">
              <a:buNone/>
            </a:pPr>
            <a:r>
              <a:rPr lang="fr-FR" dirty="0" smtClean="0"/>
              <a:t>C- L’association </a:t>
            </a:r>
            <a:r>
              <a:rPr lang="fr-FR" dirty="0"/>
              <a:t>de traitement médical et endoscopique en cas d’ulcère Forrest I</a:t>
            </a:r>
          </a:p>
          <a:p>
            <a:pPr marL="114300" indent="0">
              <a:buNone/>
            </a:pPr>
            <a:r>
              <a:rPr lang="fr-FR" dirty="0" smtClean="0"/>
              <a:t>D- Un </a:t>
            </a:r>
            <a:r>
              <a:rPr lang="fr-FR" dirty="0"/>
              <a:t>traitement chirurgical d’emblée </a:t>
            </a:r>
          </a:p>
          <a:p>
            <a:pPr marL="114300" indent="0">
              <a:buNone/>
            </a:pPr>
            <a:r>
              <a:rPr lang="fr-FR" dirty="0" smtClean="0"/>
              <a:t>E- Une </a:t>
            </a:r>
            <a:r>
              <a:rPr lang="fr-FR" dirty="0"/>
              <a:t>quadrithérapie anti HP en urgence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3950D-C5B6-4D2F-855A-1A386A1C25CF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246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sz="2400" b="1" dirty="0"/>
              <a:t>Le traitement d’un ulcère hémorragique se base </a:t>
            </a:r>
            <a:r>
              <a:rPr lang="fr-FR" sz="2400" b="1" dirty="0" smtClean="0"/>
              <a:t>sur: </a:t>
            </a:r>
            <a:endParaRPr lang="fr-FR" sz="2400" b="1" dirty="0"/>
          </a:p>
          <a:p>
            <a:pPr marL="114300" indent="0">
              <a:buNone/>
            </a:pPr>
            <a:endParaRPr lang="fr-FR" sz="2400" b="1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Administration </a:t>
            </a:r>
            <a:r>
              <a:rPr lang="fr-FR" dirty="0">
                <a:solidFill>
                  <a:srgbClr val="7030A0"/>
                </a:solidFill>
              </a:rPr>
              <a:t>des inhibiteurs de la pompe à proton  à forte dose en IV</a:t>
            </a:r>
          </a:p>
          <a:p>
            <a:pPr marL="114300" indent="0">
              <a:buNone/>
            </a:pPr>
            <a:r>
              <a:rPr lang="fr-FR" dirty="0" smtClean="0"/>
              <a:t>B- Un </a:t>
            </a:r>
            <a:r>
              <a:rPr lang="fr-FR" dirty="0"/>
              <a:t>traitement endoscopique seul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C- L’association </a:t>
            </a:r>
            <a:r>
              <a:rPr lang="fr-FR" dirty="0">
                <a:solidFill>
                  <a:srgbClr val="7030A0"/>
                </a:solidFill>
              </a:rPr>
              <a:t>de traitement médical et endoscopique en cas </a:t>
            </a:r>
            <a:r>
              <a:rPr lang="fr-FR" dirty="0" smtClean="0">
                <a:solidFill>
                  <a:srgbClr val="7030A0"/>
                </a:solidFill>
              </a:rPr>
              <a:t>d’ulcère </a:t>
            </a:r>
            <a:r>
              <a:rPr lang="fr-FR" dirty="0">
                <a:solidFill>
                  <a:srgbClr val="7030A0"/>
                </a:solidFill>
              </a:rPr>
              <a:t>Forrest I</a:t>
            </a:r>
          </a:p>
          <a:p>
            <a:pPr marL="114300" indent="0">
              <a:buNone/>
            </a:pPr>
            <a:r>
              <a:rPr lang="fr-FR" dirty="0" smtClean="0"/>
              <a:t>D- Un </a:t>
            </a:r>
            <a:r>
              <a:rPr lang="fr-FR" dirty="0"/>
              <a:t>traitement chirurgical d’emblée </a:t>
            </a:r>
          </a:p>
          <a:p>
            <a:pPr marL="114300" indent="0">
              <a:buNone/>
            </a:pPr>
            <a:r>
              <a:rPr lang="fr-FR" dirty="0" smtClean="0"/>
              <a:t>E- Une </a:t>
            </a:r>
            <a:r>
              <a:rPr lang="fr-FR" dirty="0"/>
              <a:t>quadrithérapie anti HP en urgence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E0B3-3B0A-4652-9441-AA2E338C6A2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31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55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La prise en charge d’une </a:t>
            </a:r>
            <a:r>
              <a:rPr lang="fr-FR" b="1" dirty="0"/>
              <a:t>hémorragie digestive chez un malade </a:t>
            </a:r>
            <a:r>
              <a:rPr lang="fr-FR" b="1" dirty="0" smtClean="0"/>
              <a:t>cirrhotique comporte: </a:t>
            </a:r>
            <a:endParaRPr lang="fr-FR" b="1" dirty="0"/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/>
              <a:t>A- Une </a:t>
            </a:r>
            <a:r>
              <a:rPr lang="fr-FR" dirty="0"/>
              <a:t>fibroscopie dans un délai de 12h </a:t>
            </a:r>
          </a:p>
          <a:p>
            <a:pPr marL="114300" indent="0">
              <a:buNone/>
            </a:pPr>
            <a:r>
              <a:rPr lang="fr-FR" dirty="0" smtClean="0"/>
              <a:t>B- Un </a:t>
            </a:r>
            <a:r>
              <a:rPr lang="fr-FR" dirty="0"/>
              <a:t>traitement </a:t>
            </a:r>
            <a:r>
              <a:rPr lang="fr-FR" dirty="0" smtClean="0"/>
              <a:t>par l’</a:t>
            </a:r>
            <a:r>
              <a:rPr lang="fr-FR" dirty="0" err="1" smtClean="0"/>
              <a:t>octreotide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C- Une </a:t>
            </a:r>
            <a:r>
              <a:rPr lang="fr-FR" dirty="0"/>
              <a:t>ligature élastique en cas de varices gastriques </a:t>
            </a:r>
          </a:p>
          <a:p>
            <a:pPr marL="114300" indent="0">
              <a:buNone/>
            </a:pPr>
            <a:r>
              <a:rPr lang="fr-FR" dirty="0" smtClean="0"/>
              <a:t>D- Un </a:t>
            </a:r>
            <a:r>
              <a:rPr lang="fr-FR" dirty="0"/>
              <a:t>remplissage excessif pour corriger l’ hypovolémie </a:t>
            </a:r>
          </a:p>
          <a:p>
            <a:pPr marL="114300" indent="0">
              <a:buNone/>
            </a:pPr>
            <a:r>
              <a:rPr lang="fr-FR" dirty="0" smtClean="0"/>
              <a:t>E- Une </a:t>
            </a:r>
            <a:r>
              <a:rPr lang="fr-FR" dirty="0"/>
              <a:t>antibioprophylaxie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32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011AE-AF90-417A-A4ED-7A503EB9A6AB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33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La prise en charge d’une hémorragie digestive chez un malade cirrhotique comporte: 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Une </a:t>
            </a:r>
            <a:r>
              <a:rPr lang="fr-FR" dirty="0">
                <a:solidFill>
                  <a:srgbClr val="7030A0"/>
                </a:solidFill>
              </a:rPr>
              <a:t>fibroscopie dans un délai de 12h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B- Un </a:t>
            </a:r>
            <a:r>
              <a:rPr lang="fr-FR" dirty="0">
                <a:solidFill>
                  <a:srgbClr val="7030A0"/>
                </a:solidFill>
              </a:rPr>
              <a:t>traitement </a:t>
            </a:r>
            <a:r>
              <a:rPr lang="fr-FR" dirty="0" smtClean="0">
                <a:solidFill>
                  <a:srgbClr val="7030A0"/>
                </a:solidFill>
              </a:rPr>
              <a:t>par l’</a:t>
            </a:r>
            <a:r>
              <a:rPr lang="fr-FR" dirty="0" err="1" smtClean="0">
                <a:solidFill>
                  <a:srgbClr val="7030A0"/>
                </a:solidFill>
              </a:rPr>
              <a:t>octreotide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 smtClean="0"/>
              <a:t>C- Une </a:t>
            </a:r>
            <a:r>
              <a:rPr lang="fr-FR" dirty="0"/>
              <a:t>ligature élastique en cas de varices gastriques </a:t>
            </a:r>
          </a:p>
          <a:p>
            <a:pPr marL="114300" indent="0">
              <a:buNone/>
            </a:pPr>
            <a:r>
              <a:rPr lang="fr-FR" dirty="0" smtClean="0"/>
              <a:t>D- Un </a:t>
            </a:r>
            <a:r>
              <a:rPr lang="fr-FR" dirty="0"/>
              <a:t>remplissage excessif pour corriger </a:t>
            </a:r>
            <a:r>
              <a:rPr lang="fr-FR" dirty="0" smtClean="0"/>
              <a:t>l’ </a:t>
            </a:r>
            <a:r>
              <a:rPr lang="fr-FR" dirty="0" err="1" smtClean="0"/>
              <a:t>hypovolémie</a:t>
            </a:r>
            <a:r>
              <a:rPr lang="fr-FR" dirty="0" smtClean="0"/>
              <a:t> </a:t>
            </a:r>
            <a:endParaRPr lang="fr-FR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E- Une </a:t>
            </a:r>
            <a:r>
              <a:rPr lang="fr-FR" dirty="0">
                <a:solidFill>
                  <a:srgbClr val="7030A0"/>
                </a:solidFill>
              </a:rPr>
              <a:t>antibioprophylaxie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00034" y="5357826"/>
            <a:ext cx="7767255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 smtClean="0"/>
              <a:t>Délai de 12h en cas de cirrhose et en cas de saignement actif d’origine ulcéreuse 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63EFC-2CEF-4B2D-9AC7-2143D1452A31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32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30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prise en charge d‘une hémorragie digestive  chez un patient cirrhotique implique 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transfusion avec un objectif d’hémoglobine à 10 g/</a:t>
            </a:r>
            <a:r>
              <a:rPr lang="fr-FR" dirty="0" err="1" smtClean="0"/>
              <a:t>dL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administration de traitement </a:t>
            </a:r>
            <a:r>
              <a:rPr lang="fr-FR" dirty="0" err="1" smtClean="0"/>
              <a:t>vasoactif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traitement à base de lactulose pour le risque d’encéphalopathie hépatique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Antibiothérapie prophylactique en l’absence d’infection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traitement par bétabloquant à débuter immédiatement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A66A-E5A0-48C5-AFC8-F6932192EEAD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prise en charge d‘une hémorragie digestive  chez un patient cirrhotique implique 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transfusion avec un objectif d’hémoglobine à 10 g/</a:t>
            </a:r>
            <a:r>
              <a:rPr lang="fr-FR" dirty="0" err="1" smtClean="0"/>
              <a:t>dL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Une administration de traitement </a:t>
            </a:r>
            <a:r>
              <a:rPr lang="fr-FR" dirty="0" err="1" smtClean="0">
                <a:solidFill>
                  <a:srgbClr val="7030A0"/>
                </a:solidFill>
              </a:rPr>
              <a:t>vasoactif</a:t>
            </a:r>
            <a:endParaRPr lang="fr-FR" dirty="0" smtClean="0">
              <a:solidFill>
                <a:srgbClr val="7030A0"/>
              </a:solidFill>
            </a:endParaRP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 traitement à base de lactulose pour le risque d’encéphalopathie hépatique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Antibiothérapie prophylactique en l’absence d’infection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traitement par bétabloquant à débuter immédiatement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3AE8-96C1-48A4-A428-0A7A55AA3D4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prise en charge d’un ulcère bulbaire Forrest III implique : 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La reprise de l’alimentation orale dans un délai de 06h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traitement de </a:t>
            </a:r>
            <a:r>
              <a:rPr lang="fr-FR" i="1" dirty="0" err="1" smtClean="0"/>
              <a:t>H.Pylori</a:t>
            </a:r>
            <a:r>
              <a:rPr lang="fr-FR" i="1" dirty="0" smtClean="0"/>
              <a:t> </a:t>
            </a:r>
            <a:r>
              <a:rPr lang="fr-FR" dirty="0" smtClean="0"/>
              <a:t>dès la reprise de l’alimentation orale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geste d’hémostase endoscopique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reprise de la FOGD pour biopsies à la recherche de </a:t>
            </a:r>
            <a:r>
              <a:rPr lang="fr-FR" i="1" dirty="0" err="1" smtClean="0"/>
              <a:t>H.Pylori</a:t>
            </a:r>
            <a:endParaRPr lang="fr-FR" i="1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surveillance stricte devant le risque important de récidive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F32D5-CA0D-4EB3-847A-98D105EFB2BA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89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prise en charge d’un ulcère bulbaire Forrest III implique : </a:t>
            </a:r>
            <a:endParaRPr lang="fr-FR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La reprise de l’alimentation orale dans un délai de 06h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 traitement de </a:t>
            </a:r>
            <a:r>
              <a:rPr lang="fr-FR" i="1" dirty="0" err="1" smtClean="0">
                <a:solidFill>
                  <a:srgbClr val="7030A0"/>
                </a:solidFill>
              </a:rPr>
              <a:t>H.Pylori</a:t>
            </a:r>
            <a:r>
              <a:rPr lang="fr-FR" dirty="0" smtClean="0">
                <a:solidFill>
                  <a:srgbClr val="7030A0"/>
                </a:solidFill>
              </a:rPr>
              <a:t> dès la reprise de l’alimentation orale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 geste d’hémostase endoscopique </a:t>
            </a:r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reprise de la FOGD pour biopsies à la recherche de </a:t>
            </a:r>
            <a:r>
              <a:rPr lang="fr-FR" i="1" dirty="0" err="1" smtClean="0"/>
              <a:t>H.Pylori</a:t>
            </a:r>
            <a:endParaRPr lang="fr-FR" i="1" dirty="0" smtClean="0"/>
          </a:p>
          <a:p>
            <a:pPr marL="514350" lvl="0" indent="-514350" algn="just">
              <a:buFont typeface="+mj-lt"/>
              <a:buAutoNum type="alphaUcPeriod"/>
            </a:pPr>
            <a:r>
              <a:rPr lang="fr-FR" dirty="0" smtClean="0"/>
              <a:t>Une surveillance stricte devant le risque important de récidive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D92F-0354-4AC8-8A85-4A00A9D1D38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1CEF-B61B-4E7C-9BB0-4E5BE1BD661C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3"/>
          <a:srcRect l="28594" t="20000" r="28750" b="5833"/>
          <a:stretch>
            <a:fillRect/>
          </a:stretch>
        </p:blipFill>
        <p:spPr bwMode="auto">
          <a:xfrm>
            <a:off x="1785918" y="1285860"/>
            <a:ext cx="4714908" cy="461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166" y="5429264"/>
            <a:ext cx="6357982" cy="5715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Objectifs</a:t>
            </a:r>
            <a:r>
              <a:rPr lang="fr-FR" dirty="0"/>
              <a:t> 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3042" y="1357298"/>
            <a:ext cx="5761864" cy="466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4C427-2BB7-4A54-B873-9C24C40A49E8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prévention de l’hémorragie d’origine ulcéreuse se base </a:t>
            </a:r>
            <a:r>
              <a:rPr lang="fr-FR" b="1" dirty="0" smtClean="0"/>
              <a:t>sur: </a:t>
            </a:r>
            <a:endParaRPr lang="fr-FR" b="1" dirty="0"/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/>
              <a:t>A- Eviction </a:t>
            </a:r>
            <a:r>
              <a:rPr lang="fr-FR" dirty="0"/>
              <a:t>de l’automédication par les AINS </a:t>
            </a:r>
          </a:p>
          <a:p>
            <a:pPr marL="114300" indent="0">
              <a:buNone/>
            </a:pPr>
            <a:r>
              <a:rPr lang="fr-FR" dirty="0" smtClean="0"/>
              <a:t>B- Eradication de </a:t>
            </a:r>
            <a:r>
              <a:rPr lang="fr-FR" i="1" dirty="0" smtClean="0"/>
              <a:t>l’H. </a:t>
            </a:r>
            <a:r>
              <a:rPr lang="fr-FR" i="1" dirty="0" err="1" smtClean="0"/>
              <a:t>pylori</a:t>
            </a:r>
            <a:r>
              <a:rPr lang="fr-FR" i="1" dirty="0" smtClean="0"/>
              <a:t> </a:t>
            </a:r>
            <a:endParaRPr lang="fr-FR" i="1" dirty="0"/>
          </a:p>
          <a:p>
            <a:pPr marL="114300" indent="0">
              <a:buNone/>
            </a:pPr>
            <a:r>
              <a:rPr lang="fr-FR" dirty="0" smtClean="0"/>
              <a:t>C- Une </a:t>
            </a:r>
            <a:r>
              <a:rPr lang="fr-FR" dirty="0"/>
              <a:t>fibroscopie annuelle après un premier épisode d’hémorragie digestive </a:t>
            </a:r>
          </a:p>
          <a:p>
            <a:pPr marL="114300" indent="0">
              <a:buNone/>
            </a:pPr>
            <a:r>
              <a:rPr lang="fr-FR" dirty="0" smtClean="0"/>
              <a:t>D- Administration </a:t>
            </a:r>
            <a:r>
              <a:rPr lang="fr-FR" dirty="0"/>
              <a:t>d’IPP chez les malades de réanimation </a:t>
            </a:r>
          </a:p>
          <a:p>
            <a:pPr marL="114300" indent="0">
              <a:buNone/>
            </a:pPr>
            <a:r>
              <a:rPr lang="fr-FR" dirty="0" smtClean="0"/>
              <a:t>E- Association </a:t>
            </a:r>
            <a:r>
              <a:rPr lang="fr-FR" dirty="0"/>
              <a:t>d’IPP et AINS systématique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D6C25-F739-4AE9-B377-6B717676D05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05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prévention de l’hémorragie d’origine ulcéreuse se base sur 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 Eviction </a:t>
            </a:r>
            <a:r>
              <a:rPr lang="fr-FR" dirty="0">
                <a:solidFill>
                  <a:srgbClr val="7030A0"/>
                </a:solidFill>
              </a:rPr>
              <a:t>de l’automédication par les AINS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B- Eradication de </a:t>
            </a:r>
            <a:r>
              <a:rPr lang="fr-FR" i="1" dirty="0" smtClean="0">
                <a:solidFill>
                  <a:srgbClr val="7030A0"/>
                </a:solidFill>
              </a:rPr>
              <a:t>l’H. </a:t>
            </a:r>
            <a:r>
              <a:rPr lang="fr-FR" i="1" dirty="0" err="1">
                <a:solidFill>
                  <a:srgbClr val="7030A0"/>
                </a:solidFill>
              </a:rPr>
              <a:t>pylori</a:t>
            </a:r>
            <a:r>
              <a:rPr lang="fr-FR" i="1" dirty="0">
                <a:solidFill>
                  <a:srgbClr val="7030A0"/>
                </a:solidFill>
              </a:rPr>
              <a:t> </a:t>
            </a:r>
          </a:p>
          <a:p>
            <a:pPr marL="114300" indent="0">
              <a:buNone/>
            </a:pPr>
            <a:r>
              <a:rPr lang="fr-FR" dirty="0" smtClean="0"/>
              <a:t>C- Une </a:t>
            </a:r>
            <a:r>
              <a:rPr lang="fr-FR" dirty="0"/>
              <a:t>fibroscopie annuelle après un premier épisode d’hémorragie digestive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D- Administration </a:t>
            </a:r>
            <a:r>
              <a:rPr lang="fr-FR" dirty="0">
                <a:solidFill>
                  <a:srgbClr val="7030A0"/>
                </a:solidFill>
              </a:rPr>
              <a:t>d’IPP chez les malades de réanimation </a:t>
            </a:r>
          </a:p>
          <a:p>
            <a:pPr marL="114300" indent="0">
              <a:buNone/>
            </a:pPr>
            <a:r>
              <a:rPr lang="fr-FR" dirty="0" smtClean="0"/>
              <a:t>E- Association </a:t>
            </a:r>
            <a:r>
              <a:rPr lang="fr-FR" dirty="0"/>
              <a:t>d’IPP et AINS systématique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4045-BE6C-4444-8FEF-F0B7F71A10A4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35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7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fr-FR" dirty="0"/>
          </a:p>
          <a:p>
            <a:r>
              <a:rPr lang="fr-FR" b="1" dirty="0"/>
              <a:t>La prévention secondaire de la rupture de varices œsophagiennes se base sur :</a:t>
            </a:r>
          </a:p>
          <a:p>
            <a:pPr marL="114300" indent="0">
              <a:buNone/>
            </a:pPr>
            <a:r>
              <a:rPr lang="fr-FR" dirty="0" smtClean="0"/>
              <a:t>A- Les </a:t>
            </a:r>
            <a:r>
              <a:rPr lang="fr-FR" dirty="0"/>
              <a:t>alphas bloquants </a:t>
            </a:r>
          </a:p>
          <a:p>
            <a:pPr marL="114300" indent="0">
              <a:buNone/>
            </a:pPr>
            <a:r>
              <a:rPr lang="fr-FR" dirty="0" smtClean="0"/>
              <a:t>B- Les </a:t>
            </a:r>
            <a:r>
              <a:rPr lang="fr-FR" dirty="0"/>
              <a:t>bétabloquants </a:t>
            </a:r>
          </a:p>
          <a:p>
            <a:pPr marL="114300" indent="0">
              <a:buNone/>
            </a:pPr>
            <a:r>
              <a:rPr lang="fr-FR" dirty="0" smtClean="0"/>
              <a:t>C- Les </a:t>
            </a:r>
            <a:r>
              <a:rPr lang="fr-FR" dirty="0"/>
              <a:t>IEC</a:t>
            </a:r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 err="1"/>
              <a:t>sandostatine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 smtClean="0"/>
              <a:t>E- La </a:t>
            </a:r>
            <a:r>
              <a:rPr lang="fr-FR" dirty="0" err="1"/>
              <a:t>terlipressine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36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47A0A-583C-4D52-AD12-FA1ED21F69E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58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fr-FR" dirty="0"/>
          </a:p>
          <a:p>
            <a:r>
              <a:rPr lang="fr-FR" b="1" dirty="0"/>
              <a:t>La prévention secondaire de la rupture de varices œsophagiennes se base sur :</a:t>
            </a:r>
          </a:p>
          <a:p>
            <a:pPr marL="114300" indent="0">
              <a:buNone/>
            </a:pPr>
            <a:r>
              <a:rPr lang="fr-FR" dirty="0" smtClean="0"/>
              <a:t>A- Les </a:t>
            </a:r>
            <a:r>
              <a:rPr lang="fr-FR" dirty="0"/>
              <a:t>alphas bloquants 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B- Les </a:t>
            </a:r>
            <a:r>
              <a:rPr lang="fr-FR" dirty="0">
                <a:solidFill>
                  <a:srgbClr val="7030A0"/>
                </a:solidFill>
              </a:rPr>
              <a:t>bétabloquants </a:t>
            </a:r>
          </a:p>
          <a:p>
            <a:pPr marL="114300" indent="0">
              <a:buNone/>
            </a:pPr>
            <a:r>
              <a:rPr lang="fr-FR" dirty="0" smtClean="0"/>
              <a:t>C- Les </a:t>
            </a:r>
            <a:r>
              <a:rPr lang="fr-FR" dirty="0"/>
              <a:t>IEC  </a:t>
            </a:r>
          </a:p>
          <a:p>
            <a:pPr marL="114300" indent="0">
              <a:buNone/>
            </a:pPr>
            <a:r>
              <a:rPr lang="fr-FR" dirty="0" smtClean="0"/>
              <a:t>D- La </a:t>
            </a:r>
            <a:r>
              <a:rPr lang="fr-FR" dirty="0" err="1"/>
              <a:t>sandostatine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 smtClean="0"/>
              <a:t>E- La </a:t>
            </a:r>
            <a:r>
              <a:rPr lang="fr-FR" dirty="0" err="1"/>
              <a:t>terlipressine</a:t>
            </a:r>
            <a:r>
              <a:rPr lang="fr-FR" dirty="0"/>
              <a:t> 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E7FF2-D2CC-4330-A17B-9548247A6E60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36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81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Afin de réduire les  hémorragies digestives hautes par ulcère gastroduodénal, il faut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Minimiser la prescription d’AINS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Prescrire des IPP pour tous les malades hospitalisés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Prescrire des IPP chez les sujets âgés de 70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Eviter l’association corticoïdes et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Donner des bétabloquants en prévention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51BFF-DA29-40C9-BCEE-7F34A8488331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Afin de réduire les  hémorragies digestives hautes par ulcère gastroduodénal, il faut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Minimiser la prescription d’AINS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Prescrire des IPP pour tous les malades hospitalisés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Prescrire des IPP chez les sujets âgés de 70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Eviter l’association corticoïdes et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Donner des bétabloquants en prévention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37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1AC0B-7F0C-4014-964B-453988E1175F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221BE-467A-4D03-8368-BEBEA7530258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99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prescription d’IPP pour un malade sous AINS est indiquée si: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L’âge &gt; 55 ans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Consommation de tabac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Consommation d’alcool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Prise concomitante d’anticoagulant oral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Antécédents de maladie ulcéreuse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38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6F238-B082-4D18-833F-7E9130575606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prescription d’IPP pour un malade sous AINS est indiquée si: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L’âge &gt; 55 ans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Consommation de tabac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Consommation d’alcool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Prise concomitante d’anticoagulant oral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Antécédents de maladie ulcéreuse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38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Objectif 9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fr-FR" dirty="0" smtClean="0"/>
              <a:t> IPP et AINS</a:t>
            </a:r>
          </a:p>
          <a:p>
            <a:pPr>
              <a:buNone/>
            </a:pPr>
            <a:endParaRPr lang="fr-FR" sz="2800" dirty="0" smtClean="0"/>
          </a:p>
          <a:p>
            <a:pPr>
              <a:buNone/>
            </a:pPr>
            <a:r>
              <a:rPr lang="fr-FR" sz="2800" dirty="0" smtClean="0"/>
              <a:t>Patient &gt; 65 ans et ou ayant un des facteurs  suivants :</a:t>
            </a:r>
          </a:p>
          <a:p>
            <a:pPr>
              <a:buNone/>
            </a:pPr>
            <a:r>
              <a:rPr lang="fr-FR" sz="2800" dirty="0" smtClean="0"/>
              <a:t>- ATCD de maladie ulcéreuse</a:t>
            </a:r>
          </a:p>
          <a:p>
            <a:pPr>
              <a:buNone/>
            </a:pPr>
            <a:r>
              <a:rPr lang="fr-FR" sz="2800" dirty="0" smtClean="0"/>
              <a:t>- ATCD de complications ulcéreuses : hémorragie, perforation, sténose</a:t>
            </a:r>
          </a:p>
          <a:p>
            <a:pPr>
              <a:buFontTx/>
              <a:buChar char="-"/>
            </a:pPr>
            <a:r>
              <a:rPr lang="fr-FR" sz="2800" dirty="0" smtClean="0"/>
              <a:t>Le recours simultané à un anticoagulant oral ou un corticoïde ou l’aspirine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rgbClr val="FF0000"/>
                </a:solidFill>
              </a:rPr>
              <a:t>Le tabagisme n’est pas une indication au recours aux IPP avec les AINS </a:t>
            </a:r>
          </a:p>
          <a:p>
            <a:endParaRPr lang="fr-FR" dirty="0"/>
          </a:p>
        </p:txBody>
      </p:sp>
      <p:pic>
        <p:nvPicPr>
          <p:cNvPr id="176130" name="Picture 2" descr="Take Home Messages from 2019 – Pallaborative North Wes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30" y="0"/>
            <a:ext cx="2762270" cy="2071703"/>
          </a:xfrm>
          <a:prstGeom prst="rect">
            <a:avLst/>
          </a:prstGeom>
          <a:noFill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613F-7062-4FDA-B8C6-A444CAA155BE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28860" y="3000372"/>
            <a:ext cx="5357850" cy="1168400"/>
          </a:xfrm>
        </p:spPr>
        <p:txBody>
          <a:bodyPr>
            <a:noAutofit/>
          </a:bodyPr>
          <a:lstStyle/>
          <a:p>
            <a:r>
              <a:rPr lang="fr-FR" sz="5400" b="1" dirty="0" smtClean="0">
                <a:solidFill>
                  <a:srgbClr val="C00000"/>
                </a:solidFill>
              </a:rPr>
              <a:t>Cas cliniques </a:t>
            </a:r>
            <a:br>
              <a:rPr lang="fr-FR" sz="5400" b="1" dirty="0" smtClean="0">
                <a:solidFill>
                  <a:srgbClr val="C00000"/>
                </a:solidFill>
              </a:rPr>
            </a:br>
            <a:endParaRPr lang="fr-FR" sz="54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0C1F-6984-418D-AB8B-FCE531AA1536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8" t="5790" r="20192" b="42888"/>
          <a:stretch>
            <a:fillRect/>
          </a:stretch>
        </p:blipFill>
        <p:spPr bwMode="auto">
          <a:xfrm>
            <a:off x="469856" y="1285860"/>
            <a:ext cx="5602342" cy="457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48FF-3E89-47E5-950D-5DB0CAC2375A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44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8" t="5790" r="20192" b="42888"/>
          <a:stretch>
            <a:fillRect/>
          </a:stretch>
        </p:blipFill>
        <p:spPr bwMode="auto">
          <a:xfrm>
            <a:off x="469856" y="1285860"/>
            <a:ext cx="5602342" cy="457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E095-429D-4052-B3A5-4ABE3216E640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89" t="58075" r="43608" b="1408"/>
          <a:stretch>
            <a:fillRect/>
          </a:stretch>
        </p:blipFill>
        <p:spPr bwMode="auto">
          <a:xfrm>
            <a:off x="4357686" y="3357562"/>
            <a:ext cx="4643470" cy="2857520"/>
          </a:xfrm>
          <a:prstGeom prst="rect">
            <a:avLst/>
          </a:prstGeom>
          <a:noFill/>
          <a:ln>
            <a:solidFill>
              <a:srgbClr val="0070C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644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signes de gravité de cette hémorragie digestive sont :</a:t>
            </a:r>
          </a:p>
          <a:p>
            <a:pPr marL="114300" indent="0">
              <a:buNone/>
            </a:pPr>
            <a:r>
              <a:rPr lang="fr-FR" dirty="0" err="1"/>
              <a:t>A-L’antécédent</a:t>
            </a:r>
            <a:r>
              <a:rPr lang="fr-FR" dirty="0"/>
              <a:t> d’ulcère </a:t>
            </a:r>
          </a:p>
          <a:p>
            <a:pPr marL="114300" indent="0">
              <a:buNone/>
            </a:pPr>
            <a:r>
              <a:rPr lang="fr-FR" dirty="0" err="1"/>
              <a:t>B-La</a:t>
            </a:r>
            <a:r>
              <a:rPr lang="fr-FR" dirty="0"/>
              <a:t> TA : 8/5</a:t>
            </a:r>
          </a:p>
          <a:p>
            <a:pPr marL="114300" indent="0">
              <a:buNone/>
            </a:pPr>
            <a:r>
              <a:rPr lang="fr-FR" dirty="0" err="1"/>
              <a:t>C-Le</a:t>
            </a:r>
            <a:r>
              <a:rPr lang="fr-FR" dirty="0"/>
              <a:t> pouls : 108b/mn</a:t>
            </a:r>
          </a:p>
          <a:p>
            <a:pPr marL="114300" indent="0">
              <a:buNone/>
            </a:pPr>
            <a:r>
              <a:rPr lang="fr-FR" dirty="0" err="1"/>
              <a:t>D-La</a:t>
            </a:r>
            <a:r>
              <a:rPr lang="fr-FR" dirty="0"/>
              <a:t> prise d’AINS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L’Hb</a:t>
            </a:r>
            <a:r>
              <a:rPr lang="fr-FR" dirty="0"/>
              <a:t> : 6.8g/dl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32AC-0795-4B0C-B164-A4DAF8BCFD7E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11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signes de gravité de cette hémorragie digestive sont :</a:t>
            </a:r>
          </a:p>
          <a:p>
            <a:pPr marL="114300" indent="0">
              <a:buNone/>
            </a:pPr>
            <a:r>
              <a:rPr lang="fr-FR" dirty="0" smtClean="0"/>
              <a:t>A-L’antécédent </a:t>
            </a:r>
            <a:r>
              <a:rPr lang="fr-FR" dirty="0"/>
              <a:t>d’ulcère 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B-La</a:t>
            </a:r>
            <a:r>
              <a:rPr lang="fr-FR" dirty="0">
                <a:solidFill>
                  <a:srgbClr val="7030A0"/>
                </a:solidFill>
              </a:rPr>
              <a:t> TA : 8/5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C-Le</a:t>
            </a:r>
            <a:r>
              <a:rPr lang="fr-FR" dirty="0">
                <a:solidFill>
                  <a:srgbClr val="7030A0"/>
                </a:solidFill>
              </a:rPr>
              <a:t> pouls : 108b/mn</a:t>
            </a:r>
          </a:p>
          <a:p>
            <a:pPr marL="114300" indent="0">
              <a:buNone/>
            </a:pPr>
            <a:r>
              <a:rPr lang="fr-FR" dirty="0" err="1"/>
              <a:t>D-La</a:t>
            </a:r>
            <a:r>
              <a:rPr lang="fr-FR" dirty="0"/>
              <a:t> prise d’AINS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E-</a:t>
            </a:r>
            <a:r>
              <a:rPr lang="fr-FR" dirty="0" err="1">
                <a:solidFill>
                  <a:srgbClr val="7030A0"/>
                </a:solidFill>
              </a:rPr>
              <a:t>L’Hb</a:t>
            </a:r>
            <a:r>
              <a:rPr lang="fr-FR" dirty="0">
                <a:solidFill>
                  <a:srgbClr val="7030A0"/>
                </a:solidFill>
              </a:rPr>
              <a:t> : 6.8g/dl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9F208-595A-4A6A-86FA-0C602DCB988F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75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mesures à instaurer immédiatement chez ce malade sont:</a:t>
            </a:r>
          </a:p>
          <a:p>
            <a:pPr marL="114300" indent="0">
              <a:buNone/>
            </a:pPr>
            <a:r>
              <a:rPr lang="fr-FR" dirty="0"/>
              <a:t>A-Remplissage par des cristalloïdes en attendant la transfusion de culots globulaires </a:t>
            </a:r>
          </a:p>
          <a:p>
            <a:pPr marL="114300" indent="0">
              <a:buNone/>
            </a:pPr>
            <a:r>
              <a:rPr lang="fr-FR" dirty="0"/>
              <a:t>B-Oxygénothérapie </a:t>
            </a:r>
          </a:p>
          <a:p>
            <a:pPr marL="114300" indent="0">
              <a:buNone/>
            </a:pPr>
            <a:r>
              <a:rPr lang="fr-FR" dirty="0"/>
              <a:t>C-Administrer un bolus de 80mg d’Oméprazole</a:t>
            </a:r>
          </a:p>
          <a:p>
            <a:pPr marL="114300" indent="0">
              <a:buNone/>
            </a:pPr>
            <a:r>
              <a:rPr lang="fr-FR" dirty="0"/>
              <a:t>D-Administrer un bolus de </a:t>
            </a:r>
            <a:r>
              <a:rPr lang="fr-FR" dirty="0" err="1"/>
              <a:t>sandostatine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E-Une antibioprophylaxie 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1D0C-4757-46B2-BCC5-AE7AA54C61EE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Les mesures à instaurer immédiatement chez ce malade sont: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A-Remplissage par des cristalloïdes en attendant la transfusion de culots globulaires 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B-Oxygénothérapie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C-Administrer un bolus de 80 mg d’</a:t>
            </a:r>
            <a:r>
              <a:rPr lang="fr-FR" dirty="0" err="1">
                <a:solidFill>
                  <a:srgbClr val="7030A0"/>
                </a:solidFill>
              </a:rPr>
              <a:t>Oméprazole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/>
              <a:t>D-Administrer un bolus de </a:t>
            </a:r>
            <a:r>
              <a:rPr lang="fr-FR" dirty="0" err="1"/>
              <a:t>sandostatine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E-Une antibioprophylaxie 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786C-51D1-418A-A8F0-42617D861BF0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20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préparation du malade à la fibroscopie digestive haute se fait par :</a:t>
            </a:r>
          </a:p>
          <a:p>
            <a:pPr marL="114300" indent="0">
              <a:buNone/>
            </a:pPr>
            <a:r>
              <a:rPr lang="fr-FR" dirty="0"/>
              <a:t>A-Lavage gastrique systématique </a:t>
            </a:r>
          </a:p>
          <a:p>
            <a:pPr marL="114300" indent="0">
              <a:buNone/>
            </a:pPr>
            <a:r>
              <a:rPr lang="fr-FR" dirty="0"/>
              <a:t>B-Administrer 2 g d’amoxicilline acide clavulanique 2h avant la fibroscopie </a:t>
            </a:r>
          </a:p>
          <a:p>
            <a:pPr marL="114300" indent="0">
              <a:buNone/>
            </a:pPr>
            <a:r>
              <a:rPr lang="fr-FR" dirty="0"/>
              <a:t>C-Administrer 250mg d’érythromycine 1h avant la fibroscopie </a:t>
            </a:r>
          </a:p>
          <a:p>
            <a:pPr marL="114300" indent="0">
              <a:buNone/>
            </a:pPr>
            <a:r>
              <a:rPr lang="fr-FR" dirty="0"/>
              <a:t>D-Garder le malade à jeun  </a:t>
            </a:r>
          </a:p>
          <a:p>
            <a:pPr marL="114300" indent="0">
              <a:buNone/>
            </a:pPr>
            <a:r>
              <a:rPr lang="fr-FR" dirty="0"/>
              <a:t>E-Stabiliser le malade sur le plan hémodynamique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9301-90AA-4BE7-B7DB-4D0AA9C2553A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109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05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préparation du malade à la fibroscopie digestive haute se fait par :</a:t>
            </a:r>
          </a:p>
          <a:p>
            <a:pPr marL="114300" indent="0">
              <a:buNone/>
            </a:pPr>
            <a:r>
              <a:rPr lang="fr-FR" dirty="0"/>
              <a:t>A-Lavage gastrique systématique </a:t>
            </a:r>
          </a:p>
          <a:p>
            <a:pPr marL="114300" indent="0">
              <a:buNone/>
            </a:pPr>
            <a:r>
              <a:rPr lang="fr-FR" dirty="0"/>
              <a:t>B-Administrer 2 g d’amoxicilline acide clavulanique 2h avant la fibroscopie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C-Administrer 250mg d’érythromycine 1h avant la fibroscopie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D-Garder le malade à jeun 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E-Stabiliser le malade sur le plan hémodynamique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C8C5E-FC5E-41D3-BAE3-0156BF27040C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42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000" dirty="0"/>
              <a:t>Sonde </a:t>
            </a:r>
            <a:r>
              <a:rPr lang="fr-FR" sz="4000" dirty="0" err="1"/>
              <a:t>naso</a:t>
            </a:r>
            <a:r>
              <a:rPr lang="fr-FR" sz="4000" dirty="0"/>
              <a:t>- gastrique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6289" y="1916832"/>
            <a:ext cx="8229600" cy="3073896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dirty="0"/>
              <a:t> </a:t>
            </a:r>
            <a:r>
              <a:rPr lang="fr-FR" sz="2400" dirty="0"/>
              <a:t>Surveiller le </a:t>
            </a:r>
            <a:r>
              <a:rPr lang="fr-FR" sz="2400" dirty="0" smtClean="0"/>
              <a:t>saignement (malades de Réa)</a:t>
            </a:r>
            <a:endParaRPr lang="fr-FR" sz="2400" dirty="0"/>
          </a:p>
          <a:p>
            <a:r>
              <a:rPr lang="fr-FR" sz="2400" dirty="0"/>
              <a:t> Diagnostic de l’HDH en cas de méléna (NB : le LG clair : 10%)</a:t>
            </a:r>
          </a:p>
          <a:p>
            <a:r>
              <a:rPr lang="fr-FR" sz="2400" dirty="0"/>
              <a:t>Prépare le patient à la fibroscopie par un Lavage </a:t>
            </a:r>
            <a:r>
              <a:rPr lang="fr-FR" sz="2400" dirty="0" smtClean="0"/>
              <a:t>gastrique préalable</a:t>
            </a:r>
            <a:r>
              <a:rPr lang="fr-FR" sz="2400" dirty="0"/>
              <a:t>.</a:t>
            </a:r>
          </a:p>
          <a:p>
            <a:r>
              <a:rPr lang="fr-FR" sz="2400" dirty="0"/>
              <a:t>Ce lavage peut être substitué par l’administration de l’Erythromycine : 250 mg en IV 30 à 120mn min avant l’examen endoscopique  (Sauf CI: allongement du QT).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C8E2-E076-4EBF-8BD3-E4131C56099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La </a:t>
            </a:r>
            <a:r>
              <a:rPr lang="fr-FR" b="1" dirty="0"/>
              <a:t>fibroscopie a été faite montrant un ulcère bulbaire de la face postérieur de 1 cm avec une tache pigmentée.</a:t>
            </a:r>
          </a:p>
          <a:p>
            <a:r>
              <a:rPr lang="fr-FR" b="1" dirty="0"/>
              <a:t>Quelle serait la classification de cet ulcère selon Forrest ?</a:t>
            </a:r>
          </a:p>
          <a:p>
            <a:pPr marL="114300" indent="0">
              <a:buNone/>
            </a:pPr>
            <a:r>
              <a:rPr lang="fr-FR" dirty="0"/>
              <a:t>A-</a:t>
            </a:r>
            <a:r>
              <a:rPr lang="fr-FR" dirty="0" err="1"/>
              <a:t>Ia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B-Ib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C-IIa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D-IIb</a:t>
            </a:r>
            <a:endParaRPr lang="fr-FR" dirty="0"/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IIc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18BB8-87E8-408F-8399-9E574F8F008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43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La </a:t>
            </a:r>
            <a:r>
              <a:rPr lang="fr-FR" b="1" dirty="0"/>
              <a:t>fibroscopie a été faite montrant un ulcère bulbaire de la face postérieur de 1 cm avec </a:t>
            </a:r>
            <a:r>
              <a:rPr lang="fr-FR" b="1" dirty="0" smtClean="0"/>
              <a:t>une tache pigmentée.</a:t>
            </a:r>
            <a:endParaRPr lang="fr-FR" b="1" dirty="0"/>
          </a:p>
          <a:p>
            <a:r>
              <a:rPr lang="fr-FR" b="1" dirty="0"/>
              <a:t>Quelle serait la classification de cet ulcère selon Forrest ?</a:t>
            </a:r>
          </a:p>
          <a:p>
            <a:pPr marL="114300" indent="0">
              <a:buNone/>
            </a:pPr>
            <a:r>
              <a:rPr lang="fr-FR" dirty="0"/>
              <a:t>A-</a:t>
            </a:r>
            <a:r>
              <a:rPr lang="fr-FR" dirty="0" err="1"/>
              <a:t>Ia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B-Ib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C-IIa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D-IIb</a:t>
            </a:r>
            <a:endParaRPr lang="fr-FR" dirty="0"/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E-</a:t>
            </a:r>
            <a:r>
              <a:rPr lang="fr-FR" dirty="0" err="1">
                <a:solidFill>
                  <a:srgbClr val="7030A0"/>
                </a:solidFill>
              </a:rPr>
              <a:t>IIc</a:t>
            </a:r>
            <a:endParaRPr lang="fr-FR" dirty="0">
              <a:solidFill>
                <a:srgbClr val="7030A0"/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5AC9-E4BB-4130-9C02-E43F47C0C4B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prise en charge thérapeutique de cet ulcère hémorragique est basée sur :  </a:t>
            </a:r>
          </a:p>
          <a:p>
            <a:pPr marL="114300" indent="0">
              <a:buNone/>
            </a:pPr>
            <a:r>
              <a:rPr lang="fr-FR" dirty="0"/>
              <a:t>A-Traitement chirurgical d’emblée</a:t>
            </a:r>
          </a:p>
          <a:p>
            <a:pPr marL="114300" indent="0">
              <a:buNone/>
            </a:pPr>
            <a:r>
              <a:rPr lang="fr-FR" dirty="0"/>
              <a:t>B-Garder les IPP en IV</a:t>
            </a:r>
          </a:p>
          <a:p>
            <a:pPr marL="114300" indent="0">
              <a:buNone/>
            </a:pPr>
            <a:r>
              <a:rPr lang="fr-FR" dirty="0"/>
              <a:t>C-Associer un traitement médical et endoscopique </a:t>
            </a:r>
          </a:p>
          <a:p>
            <a:pPr marL="114300" indent="0">
              <a:buNone/>
            </a:pPr>
            <a:r>
              <a:rPr lang="fr-FR" dirty="0"/>
              <a:t>D-Traitement endoscopique seul </a:t>
            </a:r>
          </a:p>
          <a:p>
            <a:pPr marL="114300" indent="0">
              <a:buNone/>
            </a:pPr>
            <a:r>
              <a:rPr lang="fr-FR" dirty="0"/>
              <a:t>E-Traitement par embolisation radiologique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D4D6-5587-4587-B56A-D1E41BEE66E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85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361928"/>
          </a:xfrm>
        </p:spPr>
        <p:txBody>
          <a:bodyPr>
            <a:normAutofit/>
          </a:bodyPr>
          <a:lstStyle/>
          <a:p>
            <a:r>
              <a:rPr lang="fr-FR" b="1" dirty="0"/>
              <a:t>La prise en charge thérapeutique de cet ulcère hémorragique est basée sur : </a:t>
            </a:r>
          </a:p>
          <a:p>
            <a:pPr marL="114300" indent="0">
              <a:buNone/>
            </a:pPr>
            <a:r>
              <a:rPr lang="fr-FR" dirty="0"/>
              <a:t>A-Traitement chirurgical d’emblée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B-Garder les IPP en IV</a:t>
            </a:r>
          </a:p>
          <a:p>
            <a:pPr marL="114300" indent="0">
              <a:buNone/>
            </a:pPr>
            <a:r>
              <a:rPr lang="fr-FR" dirty="0"/>
              <a:t>C-Associer traitement médical et endoscopique </a:t>
            </a:r>
          </a:p>
          <a:p>
            <a:pPr marL="114300" indent="0">
              <a:buNone/>
            </a:pPr>
            <a:r>
              <a:rPr lang="fr-FR" dirty="0"/>
              <a:t>D-Traitement endoscopique seul </a:t>
            </a:r>
          </a:p>
          <a:p>
            <a:pPr marL="114300" indent="0">
              <a:buNone/>
            </a:pPr>
            <a:r>
              <a:rPr lang="fr-FR" dirty="0"/>
              <a:t>E-Traitement par embolisation radiologique </a:t>
            </a:r>
          </a:p>
          <a:p>
            <a:pPr marL="114300" indent="0">
              <a:buNone/>
            </a:pP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9EEE-975D-400E-814E-03ACB348F62E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1 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9632" y="4960907"/>
            <a:ext cx="8003232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b="1" dirty="0"/>
              <a:t>Dans la phase aiguë, le traitement endoscopique est indiqué en cas de Stade I et II a et </a:t>
            </a:r>
            <a:r>
              <a:rPr lang="fr-FR" sz="2000" b="1" dirty="0" err="1">
                <a:solidFill>
                  <a:srgbClr val="7030A0"/>
                </a:solidFill>
              </a:rPr>
              <a:t>IIb</a:t>
            </a:r>
            <a:r>
              <a:rPr lang="fr-FR" sz="2000" b="1" dirty="0">
                <a:solidFill>
                  <a:srgbClr val="7030A0"/>
                </a:solidFill>
              </a:rPr>
              <a:t> de Forrest (attitude controversée).  </a:t>
            </a:r>
          </a:p>
          <a:p>
            <a:r>
              <a:rPr lang="fr-FR" sz="2000" b="1" dirty="0"/>
              <a:t>Il  permet d’assurer l’hémostase dans plus de 90% des cas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8953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36406" t="32771" r="25156" b="36237"/>
          <a:stretch>
            <a:fillRect/>
          </a:stretch>
        </p:blipFill>
        <p:spPr bwMode="auto">
          <a:xfrm>
            <a:off x="571472" y="1357298"/>
            <a:ext cx="740305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D74BB-3A0E-4A65-8722-EFA02938523F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54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36406" t="32771" r="25156" b="36237"/>
          <a:stretch>
            <a:fillRect/>
          </a:stretch>
        </p:blipFill>
        <p:spPr bwMode="auto">
          <a:xfrm>
            <a:off x="571472" y="1357298"/>
            <a:ext cx="740305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7AE7-6899-4B67-AD77-738C9328DC86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/>
          <a:srcRect l="36406" t="64484" r="36431" b="18333"/>
          <a:stretch>
            <a:fillRect/>
          </a:stretch>
        </p:blipFill>
        <p:spPr bwMode="auto">
          <a:xfrm>
            <a:off x="3571868" y="4281432"/>
            <a:ext cx="5000660" cy="1779448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5654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</a:t>
            </a:r>
            <a:r>
              <a:rPr lang="fr-FR" b="1" dirty="0"/>
              <a:t>cause la plus probable de saignement chez ce malade </a:t>
            </a:r>
            <a:r>
              <a:rPr lang="fr-FR" b="1" dirty="0" smtClean="0"/>
              <a:t>est :</a:t>
            </a:r>
            <a:endParaRPr lang="fr-FR" b="1" dirty="0"/>
          </a:p>
          <a:p>
            <a:pPr marL="114300" indent="0">
              <a:buNone/>
            </a:pPr>
            <a:r>
              <a:rPr lang="fr-FR" dirty="0"/>
              <a:t>A-Un ulcère bulbaire </a:t>
            </a:r>
          </a:p>
          <a:p>
            <a:pPr marL="114300" indent="0">
              <a:buNone/>
            </a:pPr>
            <a:r>
              <a:rPr lang="fr-FR" dirty="0"/>
              <a:t>B-Une rupture de varices gastriques </a:t>
            </a:r>
          </a:p>
          <a:p>
            <a:pPr marL="114300" indent="0">
              <a:buNone/>
            </a:pPr>
            <a:r>
              <a:rPr lang="fr-FR" dirty="0"/>
              <a:t>C-Une rupture de varices œsophagiennes</a:t>
            </a:r>
          </a:p>
          <a:p>
            <a:pPr marL="114300" indent="0">
              <a:buNone/>
            </a:pPr>
            <a:r>
              <a:rPr lang="fr-FR" dirty="0" err="1"/>
              <a:t>D-Une</a:t>
            </a:r>
            <a:r>
              <a:rPr lang="fr-FR" dirty="0"/>
              <a:t> tumeur gastrique </a:t>
            </a:r>
          </a:p>
          <a:p>
            <a:pPr marL="114300" indent="0">
              <a:buNone/>
            </a:pPr>
            <a:r>
              <a:rPr lang="fr-FR" dirty="0"/>
              <a:t>E-Une tumeur du colon droit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00857-3D7F-4806-87EB-5FCC77E44F8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62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cause la plus probable de saignement chez ce malade est :</a:t>
            </a:r>
          </a:p>
          <a:p>
            <a:pPr marL="114300" indent="0">
              <a:buNone/>
            </a:pPr>
            <a:r>
              <a:rPr lang="fr-FR" dirty="0" smtClean="0"/>
              <a:t>A-Un </a:t>
            </a:r>
            <a:r>
              <a:rPr lang="fr-FR" dirty="0"/>
              <a:t>ulcère bulbaire </a:t>
            </a:r>
          </a:p>
          <a:p>
            <a:pPr marL="114300" indent="0">
              <a:buNone/>
            </a:pPr>
            <a:r>
              <a:rPr lang="fr-FR" dirty="0"/>
              <a:t>B-Une rupture de varices gastriques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C-Une rupture de varices œsophagiennes</a:t>
            </a:r>
          </a:p>
          <a:p>
            <a:pPr marL="114300" indent="0">
              <a:buNone/>
            </a:pPr>
            <a:r>
              <a:rPr lang="fr-FR" dirty="0" err="1"/>
              <a:t>D-Une</a:t>
            </a:r>
            <a:r>
              <a:rPr lang="fr-FR" dirty="0"/>
              <a:t> tumeur gastrique </a:t>
            </a:r>
          </a:p>
          <a:p>
            <a:pPr marL="114300" indent="0">
              <a:buNone/>
            </a:pPr>
            <a:r>
              <a:rPr lang="fr-FR" dirty="0"/>
              <a:t>E-Une tumeur du colon droit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FF2F3-DF57-44D8-BBCE-5294581FCFD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</a:t>
            </a:r>
            <a:r>
              <a:rPr lang="fr-FR" b="1" dirty="0"/>
              <a:t>prise en charge en urgence de ce </a:t>
            </a:r>
            <a:r>
              <a:rPr lang="fr-FR" b="1" dirty="0" smtClean="0"/>
              <a:t>malade impose :</a:t>
            </a:r>
            <a:endParaRPr lang="fr-FR" b="1" dirty="0"/>
          </a:p>
          <a:p>
            <a:pPr marL="114300" indent="0">
              <a:buNone/>
            </a:pPr>
            <a:r>
              <a:rPr lang="fr-FR" dirty="0"/>
              <a:t>A-Transfusion sanguine </a:t>
            </a:r>
          </a:p>
          <a:p>
            <a:pPr marL="114300" indent="0">
              <a:buNone/>
            </a:pPr>
            <a:r>
              <a:rPr lang="fr-FR" dirty="0"/>
              <a:t>B-Oxygénothérapie </a:t>
            </a:r>
          </a:p>
          <a:p>
            <a:pPr marL="114300" indent="0">
              <a:buNone/>
            </a:pPr>
            <a:r>
              <a:rPr lang="fr-FR" dirty="0"/>
              <a:t>C-Administrer des IPP en IV</a:t>
            </a:r>
          </a:p>
          <a:p>
            <a:pPr marL="114300" indent="0">
              <a:buNone/>
            </a:pPr>
            <a:r>
              <a:rPr lang="fr-FR" dirty="0"/>
              <a:t>D-Administrer l’</a:t>
            </a:r>
            <a:r>
              <a:rPr lang="fr-FR" dirty="0" err="1"/>
              <a:t>octréotide</a:t>
            </a:r>
            <a:r>
              <a:rPr lang="fr-FR" dirty="0"/>
              <a:t> en IV </a:t>
            </a:r>
          </a:p>
          <a:p>
            <a:pPr marL="114300" indent="0">
              <a:buNone/>
            </a:pPr>
            <a:r>
              <a:rPr lang="fr-FR" dirty="0"/>
              <a:t>E-Transfusion de plaquettes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5AAD-7186-4544-9971-F9709C5A8FF5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36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prise en charge en urgence de ce malade impose :</a:t>
            </a:r>
          </a:p>
          <a:p>
            <a:pPr marL="114300" indent="0">
              <a:buNone/>
            </a:pPr>
            <a:r>
              <a:rPr lang="fr-FR" dirty="0" smtClean="0">
                <a:solidFill>
                  <a:srgbClr val="7030A0"/>
                </a:solidFill>
              </a:rPr>
              <a:t>A-Transfusion </a:t>
            </a:r>
            <a:r>
              <a:rPr lang="fr-FR" dirty="0">
                <a:solidFill>
                  <a:srgbClr val="7030A0"/>
                </a:solidFill>
              </a:rPr>
              <a:t>sanguine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B-Oxygénothérapie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C-Administrer des IPP en IV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D-Administrer l’</a:t>
            </a:r>
            <a:r>
              <a:rPr lang="fr-FR" dirty="0" err="1">
                <a:solidFill>
                  <a:srgbClr val="7030A0"/>
                </a:solidFill>
              </a:rPr>
              <a:t>octréotide</a:t>
            </a:r>
            <a:r>
              <a:rPr lang="fr-FR" dirty="0">
                <a:solidFill>
                  <a:srgbClr val="7030A0"/>
                </a:solidFill>
              </a:rPr>
              <a:t> en IV </a:t>
            </a:r>
          </a:p>
          <a:p>
            <a:pPr marL="114300" indent="0">
              <a:buNone/>
            </a:pPr>
            <a:r>
              <a:rPr lang="fr-FR" dirty="0"/>
              <a:t>E-Transfusion de plaquettes </a:t>
            </a:r>
          </a:p>
          <a:p>
            <a:pPr marL="114300" indent="0">
              <a:buNone/>
            </a:pPr>
            <a:endParaRPr lang="fr-FR" dirty="0"/>
          </a:p>
          <a:p>
            <a:pPr marL="114300" indent="0">
              <a:buNone/>
            </a:pPr>
            <a:r>
              <a:rPr lang="fr-FR" b="1" dirty="0"/>
              <a:t>Il faut administrer les IPP avant la FOGD ; puisque 30 % des HDH ne sont pas </a:t>
            </a:r>
            <a:r>
              <a:rPr lang="fr-FR" b="1" dirty="0" smtClean="0"/>
              <a:t>liées </a:t>
            </a:r>
            <a:r>
              <a:rPr lang="fr-FR" b="1" dirty="0"/>
              <a:t>à</a:t>
            </a:r>
            <a:r>
              <a:rPr lang="fr-FR" b="1" dirty="0" smtClean="0"/>
              <a:t> </a:t>
            </a:r>
            <a:r>
              <a:rPr lang="fr-FR" b="1" dirty="0"/>
              <a:t>l’HTP.</a:t>
            </a:r>
          </a:p>
        </p:txBody>
      </p:sp>
      <p:sp>
        <p:nvSpPr>
          <p:cNvPr id="4" name="Organigramme : Terminateur 3"/>
          <p:cNvSpPr/>
          <p:nvPr/>
        </p:nvSpPr>
        <p:spPr>
          <a:xfrm>
            <a:off x="357158" y="4714884"/>
            <a:ext cx="8286808" cy="1285884"/>
          </a:xfrm>
          <a:prstGeom prst="flowChartTermina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9C730-DB7F-48A5-940F-AE0545838140}" type="datetime1">
              <a:rPr lang="fr-FR" smtClean="0"/>
              <a:t>21/08/2025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45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L’objectif </a:t>
            </a:r>
            <a:r>
              <a:rPr lang="fr-FR" b="1" dirty="0"/>
              <a:t>transfusionnel chez ce malade </a:t>
            </a:r>
            <a:r>
              <a:rPr lang="fr-FR" b="1" dirty="0" smtClean="0"/>
              <a:t>est :</a:t>
            </a:r>
            <a:endParaRPr lang="fr-FR" b="1" dirty="0"/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/>
              <a:t>A-</a:t>
            </a:r>
            <a:r>
              <a:rPr lang="fr-FR" dirty="0" err="1"/>
              <a:t>Hb</a:t>
            </a:r>
            <a:r>
              <a:rPr lang="fr-FR" dirty="0"/>
              <a:t> :10g/dl</a:t>
            </a:r>
          </a:p>
          <a:p>
            <a:pPr marL="114300" indent="0">
              <a:buNone/>
            </a:pPr>
            <a:r>
              <a:rPr lang="fr-FR" dirty="0"/>
              <a:t>B-</a:t>
            </a:r>
            <a:r>
              <a:rPr lang="fr-FR" dirty="0" err="1"/>
              <a:t>Hb</a:t>
            </a:r>
            <a:r>
              <a:rPr lang="fr-FR" dirty="0"/>
              <a:t> :13g/dl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Hb</a:t>
            </a:r>
            <a:r>
              <a:rPr lang="fr-FR" dirty="0"/>
              <a:t> : 7-8g/dl sans tenir compte de l’état hémodynamique </a:t>
            </a:r>
          </a:p>
          <a:p>
            <a:pPr marL="114300" indent="0">
              <a:buNone/>
            </a:pPr>
            <a:r>
              <a:rPr lang="fr-FR" dirty="0"/>
              <a:t>D-</a:t>
            </a:r>
            <a:r>
              <a:rPr lang="fr-FR" dirty="0" err="1"/>
              <a:t>Hb</a:t>
            </a:r>
            <a:r>
              <a:rPr lang="fr-FR" dirty="0"/>
              <a:t> :7-8g/dl avec un état hémodynamique stable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Hb</a:t>
            </a:r>
            <a:r>
              <a:rPr lang="fr-FR" dirty="0"/>
              <a:t>: 11g/dl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0E5-6963-4B0D-B6DB-1F815FDFB484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0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L’objectif transfusionnel chez ce malade est :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/>
              <a:t>A-</a:t>
            </a:r>
            <a:r>
              <a:rPr lang="fr-FR" dirty="0" err="1"/>
              <a:t>Hb</a:t>
            </a:r>
            <a:r>
              <a:rPr lang="fr-FR" dirty="0"/>
              <a:t> :10g/dl</a:t>
            </a:r>
          </a:p>
          <a:p>
            <a:pPr marL="114300" indent="0">
              <a:buNone/>
            </a:pPr>
            <a:r>
              <a:rPr lang="fr-FR" dirty="0"/>
              <a:t>B-</a:t>
            </a:r>
            <a:r>
              <a:rPr lang="fr-FR" dirty="0" err="1"/>
              <a:t>Hb</a:t>
            </a:r>
            <a:r>
              <a:rPr lang="fr-FR" dirty="0"/>
              <a:t> :13g/dl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Hb</a:t>
            </a:r>
            <a:r>
              <a:rPr lang="fr-FR" dirty="0"/>
              <a:t> : 7-8g/dl sans tenir compte de l’état hémodynamique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D-</a:t>
            </a:r>
            <a:r>
              <a:rPr lang="fr-FR" dirty="0" err="1">
                <a:solidFill>
                  <a:srgbClr val="7030A0"/>
                </a:solidFill>
              </a:rPr>
              <a:t>Hb</a:t>
            </a:r>
            <a:r>
              <a:rPr lang="fr-FR" dirty="0">
                <a:solidFill>
                  <a:srgbClr val="7030A0"/>
                </a:solidFill>
              </a:rPr>
              <a:t> :7-8g/dl avec un état hémodynamique stable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Hb</a:t>
            </a:r>
            <a:r>
              <a:rPr lang="fr-FR" dirty="0"/>
              <a:t>: 11g/dl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A291-350F-4138-AC36-D5CFF85CC20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59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Une fibroscopie a été faite objectivant des varices œsophagiennes grade I sans signe rouge et un saignement actif provenant d’une varice gastrique </a:t>
            </a:r>
          </a:p>
          <a:p>
            <a:r>
              <a:rPr lang="fr-FR" b="1" dirty="0" smtClean="0"/>
              <a:t>Le traitement se base dans ce cas sur :</a:t>
            </a:r>
            <a:endParaRPr lang="fr-FR" b="1" dirty="0"/>
          </a:p>
          <a:p>
            <a:pPr marL="114300" indent="0">
              <a:buNone/>
            </a:pPr>
            <a:r>
              <a:rPr lang="fr-FR" dirty="0"/>
              <a:t>A-Ligature élastique </a:t>
            </a:r>
          </a:p>
          <a:p>
            <a:pPr marL="114300" indent="0">
              <a:buNone/>
            </a:pPr>
            <a:r>
              <a:rPr lang="fr-FR" dirty="0"/>
              <a:t>B-Injection de colle biologique </a:t>
            </a:r>
          </a:p>
          <a:p>
            <a:pPr marL="114300" indent="0">
              <a:buNone/>
            </a:pPr>
            <a:r>
              <a:rPr lang="fr-FR" dirty="0" smtClean="0"/>
              <a:t>C-</a:t>
            </a:r>
            <a:r>
              <a:rPr lang="fr-FR" dirty="0" err="1" smtClean="0"/>
              <a:t>Sclérothérapie</a:t>
            </a:r>
            <a:endParaRPr lang="fr-FR" dirty="0"/>
          </a:p>
          <a:p>
            <a:pPr marL="114300" indent="0">
              <a:buNone/>
            </a:pPr>
            <a:r>
              <a:rPr lang="fr-FR" dirty="0"/>
              <a:t>D-Garder l’</a:t>
            </a:r>
            <a:r>
              <a:rPr lang="fr-FR" dirty="0" err="1"/>
              <a:t>octréotide</a:t>
            </a:r>
            <a:r>
              <a:rPr lang="fr-FR" dirty="0"/>
              <a:t> en IV 5 jours après l’hémostase endoscopique </a:t>
            </a:r>
          </a:p>
          <a:p>
            <a:pPr marL="114300" indent="0">
              <a:buNone/>
            </a:pPr>
            <a:r>
              <a:rPr lang="fr-FR" dirty="0"/>
              <a:t>E-Traitement chirurgical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6B6E-B421-45C3-BC75-641E254F839C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90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Une fibroscopie a été faite objectivant des varices œsophagiennes grade I sans signe rouge et un saignement actif provenant d’une varice gastrique </a:t>
            </a:r>
          </a:p>
          <a:p>
            <a:r>
              <a:rPr lang="fr-FR" b="1" dirty="0" smtClean="0"/>
              <a:t>Le traitement se base dans ce cas sur :</a:t>
            </a:r>
          </a:p>
          <a:p>
            <a:pPr marL="114300" indent="0">
              <a:buNone/>
            </a:pPr>
            <a:r>
              <a:rPr lang="fr-FR" dirty="0" smtClean="0"/>
              <a:t>A-Ligature </a:t>
            </a:r>
            <a:r>
              <a:rPr lang="fr-FR" dirty="0"/>
              <a:t>élastique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B-Injection de colle biologique </a:t>
            </a:r>
          </a:p>
          <a:p>
            <a:pPr marL="114300" indent="0">
              <a:buNone/>
            </a:pPr>
            <a:r>
              <a:rPr lang="fr-FR" dirty="0" smtClean="0"/>
              <a:t>C-</a:t>
            </a:r>
            <a:r>
              <a:rPr lang="fr-FR" dirty="0" err="1" smtClean="0"/>
              <a:t>Sclérothérapie</a:t>
            </a:r>
            <a:endParaRPr lang="fr-FR" dirty="0"/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D-Garder l’</a:t>
            </a:r>
            <a:r>
              <a:rPr lang="fr-FR" dirty="0" err="1">
                <a:solidFill>
                  <a:srgbClr val="7030A0"/>
                </a:solidFill>
              </a:rPr>
              <a:t>octréotide</a:t>
            </a:r>
            <a:r>
              <a:rPr lang="fr-FR" dirty="0">
                <a:solidFill>
                  <a:srgbClr val="7030A0"/>
                </a:solidFill>
              </a:rPr>
              <a:t> en IV 5 jours après l’hémostase endoscopique </a:t>
            </a:r>
          </a:p>
          <a:p>
            <a:pPr marL="114300" indent="0">
              <a:buNone/>
            </a:pPr>
            <a:r>
              <a:rPr lang="fr-FR" dirty="0"/>
              <a:t>E-Traitement chirurgical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13CB-9405-46A6-AC12-D60F0399CF5C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Apres une bonne évolution, </a:t>
            </a:r>
            <a:r>
              <a:rPr lang="fr-FR" b="1" dirty="0" smtClean="0"/>
              <a:t>la prévention de la récidive du saignement chez ce malade se base sur :</a:t>
            </a:r>
            <a:endParaRPr lang="fr-FR" b="1" dirty="0"/>
          </a:p>
          <a:p>
            <a:endParaRPr lang="fr-FR" dirty="0"/>
          </a:p>
          <a:p>
            <a:pPr marL="114300" indent="0">
              <a:buNone/>
            </a:pPr>
            <a:r>
              <a:rPr lang="fr-FR" dirty="0" err="1"/>
              <a:t>A-Les</a:t>
            </a:r>
            <a:r>
              <a:rPr lang="fr-FR" dirty="0"/>
              <a:t> bétabloquants non </a:t>
            </a:r>
            <a:r>
              <a:rPr lang="fr-FR" dirty="0" err="1"/>
              <a:t>cardiosélectifs</a:t>
            </a:r>
            <a:endParaRPr lang="fr-FR" dirty="0"/>
          </a:p>
          <a:p>
            <a:pPr marL="114300" indent="0">
              <a:buNone/>
            </a:pPr>
            <a:r>
              <a:rPr lang="fr-FR" dirty="0"/>
              <a:t>B- Le TIPS</a:t>
            </a:r>
          </a:p>
          <a:p>
            <a:pPr marL="114300" indent="0">
              <a:buNone/>
            </a:pPr>
            <a:r>
              <a:rPr lang="fr-FR" dirty="0"/>
              <a:t>C-La ligature </a:t>
            </a:r>
            <a:r>
              <a:rPr lang="fr-FR" dirty="0" smtClean="0"/>
              <a:t>élastique endoscopique </a:t>
            </a:r>
            <a:endParaRPr lang="fr-FR" dirty="0"/>
          </a:p>
          <a:p>
            <a:pPr marL="114300" indent="0">
              <a:buNone/>
            </a:pPr>
            <a:r>
              <a:rPr lang="fr-FR" dirty="0"/>
              <a:t>D-Les inhibiteurs de la pompe à protons </a:t>
            </a:r>
          </a:p>
          <a:p>
            <a:pPr marL="114300" indent="0">
              <a:buNone/>
            </a:pPr>
            <a:r>
              <a:rPr lang="fr-FR" dirty="0" err="1"/>
              <a:t>E-L’anastomose</a:t>
            </a:r>
            <a:r>
              <a:rPr lang="fr-FR" dirty="0"/>
              <a:t> </a:t>
            </a:r>
            <a:r>
              <a:rPr lang="fr-FR" dirty="0" err="1"/>
              <a:t>portocave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B308-7472-407E-87EC-BCFF1A49E1E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8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Après </a:t>
            </a:r>
            <a:r>
              <a:rPr lang="fr-FR" b="1" dirty="0"/>
              <a:t>une bonne évolution, </a:t>
            </a:r>
            <a:r>
              <a:rPr lang="fr-FR" b="1" dirty="0" smtClean="0"/>
              <a:t>la prévention de la récidive </a:t>
            </a:r>
            <a:r>
              <a:rPr lang="fr-FR" b="1" dirty="0"/>
              <a:t>du saignement chez ce malade </a:t>
            </a:r>
            <a:r>
              <a:rPr lang="fr-FR" b="1" dirty="0" smtClean="0"/>
              <a:t>se base sur :</a:t>
            </a:r>
            <a:endParaRPr lang="fr-FR" b="1" dirty="0"/>
          </a:p>
          <a:p>
            <a:endParaRPr lang="fr-FR" dirty="0"/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A-Les</a:t>
            </a:r>
            <a:r>
              <a:rPr lang="fr-FR" dirty="0">
                <a:solidFill>
                  <a:srgbClr val="7030A0"/>
                </a:solidFill>
              </a:rPr>
              <a:t> bétabloquants non </a:t>
            </a:r>
            <a:r>
              <a:rPr lang="fr-FR" dirty="0" err="1">
                <a:solidFill>
                  <a:srgbClr val="7030A0"/>
                </a:solidFill>
              </a:rPr>
              <a:t>cardiosélectifs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/>
              <a:t>B- Le TIPS</a:t>
            </a:r>
          </a:p>
          <a:p>
            <a:pPr marL="114300" indent="0">
              <a:buNone/>
            </a:pPr>
            <a:r>
              <a:rPr lang="fr-FR" dirty="0"/>
              <a:t>C-La ligature </a:t>
            </a:r>
            <a:r>
              <a:rPr lang="fr-FR" dirty="0" smtClean="0"/>
              <a:t>élastique endoscopique </a:t>
            </a:r>
            <a:endParaRPr lang="fr-FR" dirty="0"/>
          </a:p>
          <a:p>
            <a:pPr marL="114300" indent="0">
              <a:buNone/>
            </a:pPr>
            <a:r>
              <a:rPr lang="fr-FR" dirty="0"/>
              <a:t>D-Les inhibiteurs de la pompe à protons </a:t>
            </a:r>
          </a:p>
          <a:p>
            <a:pPr marL="114300" indent="0">
              <a:buNone/>
            </a:pPr>
            <a:r>
              <a:rPr lang="fr-FR" dirty="0" err="1"/>
              <a:t>E-L’anastomose</a:t>
            </a:r>
            <a:r>
              <a:rPr lang="fr-FR" dirty="0"/>
              <a:t> </a:t>
            </a:r>
            <a:r>
              <a:rPr lang="fr-FR" dirty="0" err="1"/>
              <a:t>portocave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A7683-A4FB-496B-AED5-02E3BDA3DFC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5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2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38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 l="33594" t="26666" r="24218" b="30833"/>
          <a:stretch>
            <a:fillRect/>
          </a:stretch>
        </p:blipFill>
        <p:spPr bwMode="auto">
          <a:xfrm>
            <a:off x="357158" y="1223947"/>
            <a:ext cx="6357982" cy="341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50C45-9904-4D18-8439-23AB574B7DD6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 l="33594" t="68333" r="24218" b="10000"/>
          <a:stretch>
            <a:fillRect/>
          </a:stretch>
        </p:blipFill>
        <p:spPr bwMode="auto">
          <a:xfrm>
            <a:off x="3071802" y="4573618"/>
            <a:ext cx="5929354" cy="171290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0931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exploration proposez-vous en première intention chez ce malade ?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/>
              <a:t>A-Fibroscopie digestive haute</a:t>
            </a:r>
          </a:p>
          <a:p>
            <a:pPr marL="114300" indent="0">
              <a:buNone/>
            </a:pPr>
            <a:r>
              <a:rPr lang="fr-FR" dirty="0"/>
              <a:t>B-Coloscopie 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Angioscanner</a:t>
            </a:r>
            <a:r>
              <a:rPr lang="fr-FR" dirty="0"/>
              <a:t> abdominal </a:t>
            </a:r>
          </a:p>
          <a:p>
            <a:pPr marL="114300" indent="0">
              <a:buNone/>
            </a:pPr>
            <a:r>
              <a:rPr lang="fr-FR" dirty="0"/>
              <a:t>D-</a:t>
            </a:r>
            <a:r>
              <a:rPr lang="fr-FR" dirty="0" err="1"/>
              <a:t>Entéroscanner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Vidéocapsule</a:t>
            </a:r>
            <a:r>
              <a:rPr lang="fr-FR" dirty="0"/>
              <a:t> endoscopique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0FED4-E368-4100-98E1-E7A524E2D4A4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129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exploration proposez-vous en première intention chez ce malade ?</a:t>
            </a:r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dirty="0"/>
              <a:t>A-Fibroscopie digestive haute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B-Coloscopie 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Angioscanner</a:t>
            </a:r>
            <a:r>
              <a:rPr lang="fr-FR" dirty="0"/>
              <a:t> abdominal </a:t>
            </a:r>
          </a:p>
          <a:p>
            <a:pPr marL="114300" indent="0">
              <a:buNone/>
            </a:pPr>
            <a:r>
              <a:rPr lang="fr-FR" dirty="0"/>
              <a:t>D-</a:t>
            </a:r>
            <a:r>
              <a:rPr lang="fr-FR" dirty="0" err="1"/>
              <a:t>Entéroscanner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Vidéocapsule</a:t>
            </a:r>
            <a:r>
              <a:rPr lang="fr-FR" dirty="0"/>
              <a:t> endoscopique 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FD12-6598-4BEF-AAEB-3DD0FABCB2FA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0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Quelles seraient les étiologies les plus probables chez ce malade ?</a:t>
            </a:r>
          </a:p>
          <a:p>
            <a:pPr marL="114300" indent="0">
              <a:buNone/>
            </a:pPr>
            <a:r>
              <a:rPr lang="fr-FR" dirty="0"/>
              <a:t>A-Diverticulose colique</a:t>
            </a:r>
          </a:p>
          <a:p>
            <a:pPr marL="114300" indent="0">
              <a:buNone/>
            </a:pPr>
            <a:r>
              <a:rPr lang="fr-FR" dirty="0"/>
              <a:t>B-</a:t>
            </a:r>
            <a:r>
              <a:rPr lang="fr-FR" dirty="0" err="1"/>
              <a:t>Angiodysplasie</a:t>
            </a:r>
            <a:r>
              <a:rPr lang="fr-FR" dirty="0"/>
              <a:t> colique </a:t>
            </a:r>
          </a:p>
          <a:p>
            <a:pPr marL="114300" indent="0">
              <a:buNone/>
            </a:pPr>
            <a:r>
              <a:rPr lang="fr-FR" dirty="0"/>
              <a:t>C-Une colite infectieuse </a:t>
            </a:r>
          </a:p>
          <a:p>
            <a:pPr marL="114300" indent="0">
              <a:buNone/>
            </a:pPr>
            <a:r>
              <a:rPr lang="fr-FR" dirty="0" err="1"/>
              <a:t>D-Une</a:t>
            </a:r>
            <a:r>
              <a:rPr lang="fr-FR" dirty="0"/>
              <a:t> tumeur du grêle </a:t>
            </a:r>
          </a:p>
          <a:p>
            <a:pPr marL="114300" indent="0">
              <a:buNone/>
            </a:pPr>
            <a:r>
              <a:rPr lang="fr-FR" dirty="0"/>
              <a:t>E-Un cancer du colon gauche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68DB8-61A5-416A-AF1A-94B381FC8257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51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Quelles seraient les étiologies les plus probables chez ce malade ?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A-Diverticulose colique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B-</a:t>
            </a:r>
            <a:r>
              <a:rPr lang="fr-FR" dirty="0" err="1">
                <a:solidFill>
                  <a:srgbClr val="7030A0"/>
                </a:solidFill>
              </a:rPr>
              <a:t>Angiodysplasie</a:t>
            </a:r>
            <a:r>
              <a:rPr lang="fr-FR" dirty="0">
                <a:solidFill>
                  <a:srgbClr val="7030A0"/>
                </a:solidFill>
              </a:rPr>
              <a:t> colique </a:t>
            </a:r>
          </a:p>
          <a:p>
            <a:pPr marL="114300" indent="0">
              <a:buNone/>
            </a:pPr>
            <a:r>
              <a:rPr lang="fr-FR" dirty="0"/>
              <a:t>C-Une colite infectieuse </a:t>
            </a:r>
          </a:p>
          <a:p>
            <a:pPr marL="114300" indent="0">
              <a:buNone/>
            </a:pPr>
            <a:r>
              <a:rPr lang="fr-FR" dirty="0" err="1"/>
              <a:t>D-Une</a:t>
            </a:r>
            <a:r>
              <a:rPr lang="fr-FR" dirty="0"/>
              <a:t> tumeur du grêle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E-Un cancer du colon gauche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0919-3F3A-46D5-87F3-062FF4907AED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36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serait la première exploration si ce malade se présentait pour méléna: </a:t>
            </a:r>
          </a:p>
          <a:p>
            <a:pPr marL="114300" indent="0">
              <a:buNone/>
            </a:pPr>
            <a:r>
              <a:rPr lang="fr-FR" dirty="0"/>
              <a:t>A-Fibroscopie digestive haute</a:t>
            </a:r>
          </a:p>
          <a:p>
            <a:pPr marL="114300" indent="0">
              <a:buNone/>
            </a:pPr>
            <a:r>
              <a:rPr lang="fr-FR" dirty="0"/>
              <a:t>B-Coloscopie 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Angioscanner</a:t>
            </a:r>
            <a:r>
              <a:rPr lang="fr-FR" dirty="0"/>
              <a:t> abdominal </a:t>
            </a:r>
          </a:p>
          <a:p>
            <a:pPr marL="114300" indent="0">
              <a:buNone/>
            </a:pPr>
            <a:r>
              <a:rPr lang="fr-FR" dirty="0"/>
              <a:t>D-</a:t>
            </a:r>
            <a:r>
              <a:rPr lang="fr-FR" dirty="0" err="1"/>
              <a:t>Enteroscanner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Videocapsule</a:t>
            </a:r>
            <a:r>
              <a:rPr lang="fr-FR" dirty="0"/>
              <a:t> endoscopique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C7825-13B7-497B-ADD6-F49E23F91D70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6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serait la première exploration si ce malade se présentait pour méléna: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A-Fibroscopie digestive haute</a:t>
            </a:r>
          </a:p>
          <a:p>
            <a:pPr marL="114300" indent="0">
              <a:buNone/>
            </a:pPr>
            <a:r>
              <a:rPr lang="fr-FR" dirty="0"/>
              <a:t>B-Coloscopie </a:t>
            </a:r>
          </a:p>
          <a:p>
            <a:pPr marL="114300" indent="0">
              <a:buNone/>
            </a:pPr>
            <a:r>
              <a:rPr lang="fr-FR" dirty="0"/>
              <a:t>C-</a:t>
            </a:r>
            <a:r>
              <a:rPr lang="fr-FR" dirty="0" err="1"/>
              <a:t>Angioscanner</a:t>
            </a:r>
            <a:r>
              <a:rPr lang="fr-FR" dirty="0"/>
              <a:t> abdominal </a:t>
            </a:r>
          </a:p>
          <a:p>
            <a:pPr marL="114300" indent="0">
              <a:buNone/>
            </a:pPr>
            <a:r>
              <a:rPr lang="fr-FR" dirty="0"/>
              <a:t>D-</a:t>
            </a:r>
            <a:r>
              <a:rPr lang="fr-FR" dirty="0" err="1"/>
              <a:t>Enteroscanner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E-</a:t>
            </a:r>
            <a:r>
              <a:rPr lang="fr-FR" dirty="0" err="1"/>
              <a:t>Videocapsule</a:t>
            </a:r>
            <a:r>
              <a:rPr lang="fr-FR" dirty="0"/>
              <a:t> endoscopique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1B47B-5A83-4B5B-9BAB-A9DDC990B79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3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6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Un homme de 58 ans, sous anti-inflammatoires non stéroïdiens, consulte pour hématémèse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b="1" dirty="0" smtClean="0"/>
              <a:t>L'endoscopie </a:t>
            </a:r>
            <a:r>
              <a:rPr lang="fr-FR" dirty="0"/>
              <a:t>en urgence montre une gastrite </a:t>
            </a:r>
            <a:r>
              <a:rPr lang="fr-FR" dirty="0" err="1"/>
              <a:t>antrale</a:t>
            </a:r>
            <a:r>
              <a:rPr lang="fr-FR" dirty="0"/>
              <a:t> érosive et un ulcère duodénal de 2 cm sur la face postérieure saignement en jet.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EFFE-5D32-4365-84AC-11970AB7A8D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46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Classez l’ulcère selon la classification de Forrest : </a:t>
            </a:r>
          </a:p>
          <a:p>
            <a:pPr marL="114300" indent="0">
              <a:buNone/>
            </a:pPr>
            <a:r>
              <a:rPr lang="fr-FR" dirty="0"/>
              <a:t>A.I a</a:t>
            </a:r>
          </a:p>
          <a:p>
            <a:pPr marL="114300" indent="0">
              <a:buNone/>
            </a:pPr>
            <a:r>
              <a:rPr lang="fr-FR" dirty="0" err="1"/>
              <a:t>B.Ib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C.II a</a:t>
            </a:r>
          </a:p>
          <a:p>
            <a:pPr marL="114300" indent="0">
              <a:buNone/>
            </a:pPr>
            <a:r>
              <a:rPr lang="fr-FR" dirty="0"/>
              <a:t>D.II b</a:t>
            </a:r>
          </a:p>
          <a:p>
            <a:pPr marL="114300" indent="0">
              <a:buNone/>
            </a:pPr>
            <a:r>
              <a:rPr lang="fr-FR" dirty="0" err="1"/>
              <a:t>E.IIc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FC87-FCDF-4CCF-B53C-E30A77FC0E91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53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Classez l’ulcère selon la classification de Forrest : </a:t>
            </a:r>
          </a:p>
          <a:p>
            <a:pPr marL="114300" indent="0">
              <a:buNone/>
            </a:pPr>
            <a:r>
              <a:rPr lang="fr-FR" dirty="0">
                <a:solidFill>
                  <a:srgbClr val="7030A0"/>
                </a:solidFill>
              </a:rPr>
              <a:t>A.I a</a:t>
            </a:r>
          </a:p>
          <a:p>
            <a:pPr marL="114300" indent="0">
              <a:buNone/>
            </a:pPr>
            <a:r>
              <a:rPr lang="fr-FR" dirty="0" err="1"/>
              <a:t>B.Ib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/>
              <a:t>C.II a</a:t>
            </a:r>
          </a:p>
          <a:p>
            <a:pPr marL="114300" indent="0">
              <a:buNone/>
            </a:pPr>
            <a:r>
              <a:rPr lang="fr-FR" dirty="0"/>
              <a:t>D.II b</a:t>
            </a:r>
          </a:p>
          <a:p>
            <a:pPr marL="114300" indent="0">
              <a:buNone/>
            </a:pPr>
            <a:r>
              <a:rPr lang="fr-FR" dirty="0" err="1"/>
              <a:t>E.IIc</a:t>
            </a:r>
            <a:r>
              <a:rPr lang="fr-FR" dirty="0"/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A83FB-30DC-4C1A-81E7-07DD54E9B88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96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est votre conduite à tenir thérapeutique? </a:t>
            </a:r>
          </a:p>
          <a:p>
            <a:pPr marL="114300" indent="0">
              <a:buNone/>
            </a:pPr>
            <a:r>
              <a:rPr lang="fr-FR" dirty="0" err="1"/>
              <a:t>A.Hémostase</a:t>
            </a:r>
            <a:r>
              <a:rPr lang="fr-FR" dirty="0"/>
              <a:t> endoscopique</a:t>
            </a:r>
          </a:p>
          <a:p>
            <a:pPr marL="114300" indent="0">
              <a:buNone/>
            </a:pPr>
            <a:r>
              <a:rPr lang="fr-FR" dirty="0" err="1"/>
              <a:t>B.Hémostase</a:t>
            </a:r>
            <a:r>
              <a:rPr lang="fr-FR" dirty="0"/>
              <a:t> chirurgicale</a:t>
            </a:r>
          </a:p>
          <a:p>
            <a:pPr marL="114300" indent="0">
              <a:buNone/>
            </a:pPr>
            <a:r>
              <a:rPr lang="fr-FR" dirty="0" err="1"/>
              <a:t>C.Ompérazole</a:t>
            </a:r>
            <a:r>
              <a:rPr lang="fr-FR" dirty="0"/>
              <a:t> par voie </a:t>
            </a:r>
            <a:r>
              <a:rPr lang="fr-FR" dirty="0" smtClean="0"/>
              <a:t>IV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D.Hospitalisation</a:t>
            </a:r>
            <a:r>
              <a:rPr lang="fr-FR" dirty="0"/>
              <a:t> du malade </a:t>
            </a:r>
          </a:p>
          <a:p>
            <a:pPr marL="114300" indent="0">
              <a:buNone/>
            </a:pPr>
            <a:r>
              <a:rPr lang="fr-FR" dirty="0" err="1"/>
              <a:t>E.Traitement</a:t>
            </a:r>
            <a:r>
              <a:rPr lang="fr-FR" dirty="0"/>
              <a:t> anti HP par voie injectable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750DE-4798-470E-9176-7C09993F0F0A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07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Quelle est votre conduite à tenir thérapeutique? 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A.Hémostase</a:t>
            </a:r>
            <a:r>
              <a:rPr lang="fr-FR" dirty="0">
                <a:solidFill>
                  <a:srgbClr val="7030A0"/>
                </a:solidFill>
              </a:rPr>
              <a:t> endoscopique</a:t>
            </a:r>
          </a:p>
          <a:p>
            <a:pPr marL="114300" indent="0">
              <a:buNone/>
            </a:pPr>
            <a:r>
              <a:rPr lang="fr-FR" dirty="0" err="1"/>
              <a:t>B.Hémostase</a:t>
            </a:r>
            <a:r>
              <a:rPr lang="fr-FR" dirty="0"/>
              <a:t> chirurgicale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C.Ompérazole</a:t>
            </a:r>
            <a:r>
              <a:rPr lang="fr-FR" dirty="0">
                <a:solidFill>
                  <a:srgbClr val="7030A0"/>
                </a:solidFill>
              </a:rPr>
              <a:t> par voie </a:t>
            </a:r>
            <a:r>
              <a:rPr lang="fr-FR" dirty="0" smtClean="0">
                <a:solidFill>
                  <a:srgbClr val="7030A0"/>
                </a:solidFill>
              </a:rPr>
              <a:t>IV</a:t>
            </a:r>
            <a:endParaRPr lang="fr-FR" dirty="0">
              <a:solidFill>
                <a:srgbClr val="7030A0"/>
              </a:solidFill>
            </a:endParaRP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D.Hospitalisation</a:t>
            </a:r>
            <a:r>
              <a:rPr lang="fr-FR" dirty="0">
                <a:solidFill>
                  <a:srgbClr val="7030A0"/>
                </a:solidFill>
              </a:rPr>
              <a:t> du malade </a:t>
            </a:r>
          </a:p>
          <a:p>
            <a:pPr marL="114300" indent="0">
              <a:buNone/>
            </a:pPr>
            <a:r>
              <a:rPr lang="fr-FR" dirty="0" err="1"/>
              <a:t>E.Traitement</a:t>
            </a:r>
            <a:r>
              <a:rPr lang="fr-FR" dirty="0"/>
              <a:t> anti HP par voie injectable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A77-48C2-47F6-8934-B9CA822CB10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139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69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/>
              <a:t>L’évolution a été marquée par la récidive de l’hémorragie digestive avec altération de l’état hémodynamique. On peut </a:t>
            </a:r>
            <a:r>
              <a:rPr lang="fr-FR" b="1" dirty="0" smtClean="0"/>
              <a:t>proposer :</a:t>
            </a:r>
            <a:endParaRPr lang="fr-FR" b="1" dirty="0"/>
          </a:p>
          <a:p>
            <a:pPr marL="114300" indent="0">
              <a:buNone/>
            </a:pPr>
            <a:r>
              <a:rPr lang="fr-FR" dirty="0" err="1"/>
              <a:t>A.Hémostase</a:t>
            </a:r>
            <a:r>
              <a:rPr lang="fr-FR" dirty="0"/>
              <a:t> endoscopique</a:t>
            </a:r>
          </a:p>
          <a:p>
            <a:pPr marL="114300" indent="0">
              <a:buNone/>
            </a:pPr>
            <a:r>
              <a:rPr lang="fr-FR" dirty="0" err="1"/>
              <a:t>B.Embolisation</a:t>
            </a:r>
            <a:r>
              <a:rPr lang="fr-FR" dirty="0"/>
              <a:t> artérielle par voie radiologique </a:t>
            </a:r>
          </a:p>
          <a:p>
            <a:pPr marL="114300" indent="0">
              <a:buNone/>
            </a:pPr>
            <a:r>
              <a:rPr lang="fr-FR" dirty="0" err="1"/>
              <a:t>C.Vagotomie</a:t>
            </a:r>
            <a:r>
              <a:rPr lang="fr-FR" dirty="0"/>
              <a:t> tronculaire + Suture de l’artère qui saigne + </a:t>
            </a:r>
            <a:r>
              <a:rPr lang="fr-FR" dirty="0" err="1"/>
              <a:t>pyloroplastie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 err="1"/>
              <a:t>D.Antrectomie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 err="1"/>
              <a:t>E.Duodénectomie</a:t>
            </a:r>
            <a:r>
              <a:rPr lang="fr-FR" dirty="0"/>
              <a:t> </a:t>
            </a:r>
          </a:p>
          <a:p>
            <a:pPr marL="114300" indent="0">
              <a:buNone/>
            </a:pP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70921-AECC-41AC-9B2F-5D1595F1FC1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L’évolution a été marquée par la récidive de l’hémorragie digestive avec altération de l’état hémodynamique. On peut </a:t>
            </a:r>
            <a:r>
              <a:rPr lang="fr-FR" dirty="0" smtClean="0"/>
              <a:t>proposer : </a:t>
            </a:r>
            <a:endParaRPr lang="fr-FR" dirty="0"/>
          </a:p>
          <a:p>
            <a:pPr marL="114300" indent="0">
              <a:buNone/>
            </a:pPr>
            <a:r>
              <a:rPr lang="fr-FR" dirty="0" err="1"/>
              <a:t>A.Hémostase</a:t>
            </a:r>
            <a:r>
              <a:rPr lang="fr-FR" dirty="0"/>
              <a:t> endoscopique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B.Embolisation</a:t>
            </a:r>
            <a:r>
              <a:rPr lang="fr-FR" dirty="0">
                <a:solidFill>
                  <a:srgbClr val="7030A0"/>
                </a:solidFill>
              </a:rPr>
              <a:t> artérielle par voie radiologique </a:t>
            </a:r>
          </a:p>
          <a:p>
            <a:pPr marL="114300" indent="0">
              <a:buNone/>
            </a:pPr>
            <a:r>
              <a:rPr lang="fr-FR" dirty="0" err="1">
                <a:solidFill>
                  <a:srgbClr val="7030A0"/>
                </a:solidFill>
              </a:rPr>
              <a:t>C.Vagotomie</a:t>
            </a:r>
            <a:r>
              <a:rPr lang="fr-FR" dirty="0">
                <a:solidFill>
                  <a:srgbClr val="7030A0"/>
                </a:solidFill>
              </a:rPr>
              <a:t> tronculaire + Suture de l’artère qui saigne + </a:t>
            </a:r>
            <a:r>
              <a:rPr lang="fr-FR" dirty="0" err="1">
                <a:solidFill>
                  <a:srgbClr val="7030A0"/>
                </a:solidFill>
              </a:rPr>
              <a:t>pyloroplastie</a:t>
            </a:r>
            <a:r>
              <a:rPr lang="fr-FR" dirty="0">
                <a:solidFill>
                  <a:srgbClr val="7030A0"/>
                </a:solidFill>
              </a:rPr>
              <a:t> </a:t>
            </a:r>
          </a:p>
          <a:p>
            <a:pPr marL="114300" indent="0">
              <a:buNone/>
            </a:pPr>
            <a:r>
              <a:rPr lang="fr-FR" dirty="0" err="1"/>
              <a:t>D.Antrectomie</a:t>
            </a:r>
            <a:r>
              <a:rPr lang="fr-FR" dirty="0"/>
              <a:t> </a:t>
            </a:r>
          </a:p>
          <a:p>
            <a:pPr marL="114300" indent="0">
              <a:buNone/>
            </a:pPr>
            <a:r>
              <a:rPr lang="fr-FR" dirty="0" err="1"/>
              <a:t>E.Duodénectomie</a:t>
            </a:r>
            <a:r>
              <a:rPr lang="fr-FR" dirty="0"/>
              <a:t> </a:t>
            </a:r>
          </a:p>
          <a:p>
            <a:pPr marL="114300" indent="0">
              <a:buNone/>
            </a:pP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6B59-40BF-47E4-8867-0774C0553C4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4 </a:t>
            </a:r>
            <a:endParaRPr lang="fr-F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9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14300" indent="0">
              <a:buNone/>
            </a:pP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500306"/>
            <a:ext cx="8167535" cy="17859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F863-0B5E-44C3-B189-527C54846EF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9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Mr Mohamed F âgé de 70 ans, </a:t>
            </a:r>
            <a:r>
              <a:rPr lang="fr-FR" dirty="0" err="1" smtClean="0"/>
              <a:t>alcoolotabagique</a:t>
            </a:r>
            <a:r>
              <a:rPr lang="fr-FR" dirty="0" smtClean="0"/>
              <a:t>, coronarien </a:t>
            </a:r>
            <a:r>
              <a:rPr lang="fr-FR" dirty="0" err="1" smtClean="0"/>
              <a:t>stenté</a:t>
            </a:r>
            <a:r>
              <a:rPr lang="fr-FR" dirty="0" smtClean="0"/>
              <a:t> sous anti-</a:t>
            </a:r>
            <a:r>
              <a:rPr lang="fr-FR" dirty="0" err="1" smtClean="0"/>
              <a:t>aggrégant</a:t>
            </a:r>
            <a:r>
              <a:rPr lang="fr-FR" dirty="0" smtClean="0"/>
              <a:t> plaquettaire, est admis en urgence pour hématémèse</a:t>
            </a:r>
          </a:p>
          <a:p>
            <a:pPr algn="just"/>
            <a:r>
              <a:rPr lang="fr-FR" b="1" dirty="0" smtClean="0"/>
              <a:t>A l’examen</a:t>
            </a:r>
            <a:r>
              <a:rPr lang="fr-FR" dirty="0" smtClean="0"/>
              <a:t> : sensibilité épigastrique, bon état hémodynamique, TR : méléna</a:t>
            </a:r>
          </a:p>
          <a:p>
            <a:pPr algn="just"/>
            <a:endParaRPr lang="fr-FR" dirty="0" smtClean="0"/>
          </a:p>
          <a:p>
            <a:pPr algn="just"/>
            <a:r>
              <a:rPr lang="fr-FR" b="1" dirty="0" smtClean="0"/>
              <a:t>A la biologie</a:t>
            </a:r>
            <a:r>
              <a:rPr lang="fr-FR" dirty="0" smtClean="0"/>
              <a:t> : </a:t>
            </a:r>
            <a:r>
              <a:rPr lang="fr-FR" dirty="0" err="1" smtClean="0"/>
              <a:t>Hb</a:t>
            </a:r>
            <a:r>
              <a:rPr lang="fr-FR" dirty="0" smtClean="0"/>
              <a:t> : 9g/dl ; plaquettes : 170000/mm</a:t>
            </a:r>
            <a:r>
              <a:rPr lang="fr-FR" baseline="30000" dirty="0" smtClean="0"/>
              <a:t>3</a:t>
            </a:r>
            <a:r>
              <a:rPr lang="fr-FR" dirty="0" smtClean="0"/>
              <a:t>, </a:t>
            </a:r>
            <a:r>
              <a:rPr lang="fr-FR" dirty="0" err="1" smtClean="0"/>
              <a:t>créat</a:t>
            </a:r>
            <a:r>
              <a:rPr lang="fr-FR" dirty="0" smtClean="0"/>
              <a:t> : 60mmol/l, TP : 85%</a:t>
            </a:r>
          </a:p>
          <a:p>
            <a:pPr algn="just"/>
            <a:endParaRPr lang="fr-FR" dirty="0" smtClean="0"/>
          </a:p>
          <a:p>
            <a:pPr algn="just"/>
            <a:r>
              <a:rPr lang="fr-FR" b="1" dirty="0" smtClean="0"/>
              <a:t>FOGD</a:t>
            </a:r>
            <a:r>
              <a:rPr lang="fr-FR" dirty="0" smtClean="0"/>
              <a:t> : ulcère de la face postérieure du bulbe de 15 mm avec tâches pigmentées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56E4-B28C-4663-B359-572743AA7AA7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500034" y="142852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facteurs de risque d’HDH par ulcère gastroduodénal  que ce patient présente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prise d’antiagrégant plaquettaire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genre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consommation d’alcool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tabac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00330-3558-46A3-8A68-6492CA41A8B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facteurs de risque d’HDH par ulcère gastroduodénal  que ce patient présente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prise d’antiagrégant plaquettaire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genre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consommation d’alcool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tabac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45EA-FD25-412D-A75D-BAE2A928624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500034" y="142852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Cet ulcère correspond selon la classification de Forrest à un ulcère stade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Ib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IIb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IIc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Ia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III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C03EE-4ABC-403E-9864-96557A2E19C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Cet ulcère correspond selon la classification de Forrest à un ulcère stade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Ib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IIb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>
                <a:solidFill>
                  <a:srgbClr val="7030A0"/>
                </a:solidFill>
              </a:rPr>
              <a:t>IIc</a:t>
            </a:r>
            <a:endParaRPr lang="fr-FR" dirty="0" smtClean="0">
              <a:solidFill>
                <a:srgbClr val="7030A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 smtClean="0"/>
              <a:t>Ia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III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697E-2BE3-4C08-B0B6-1560BB79477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conduite à tenir devant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par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injection d’adrénaline avec mise en place de clip métallique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Reprise immédiate de l’alimentation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de l’H </a:t>
            </a:r>
            <a:r>
              <a:rPr lang="fr-FR" dirty="0" err="1" smtClean="0"/>
              <a:t>pylori</a:t>
            </a:r>
            <a:endParaRPr lang="fr-FR" dirty="0" smtClean="0"/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Une suture de l’ulcère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0CF08-5678-4E8C-B13C-F03BF36DE42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conduite à tenir devant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par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injection d’adrénaline avec mise en place de clip métallique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Reprise immédiate de l’alimentation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 traitement de l’H </a:t>
            </a:r>
            <a:r>
              <a:rPr lang="fr-FR" dirty="0" err="1" smtClean="0">
                <a:solidFill>
                  <a:srgbClr val="7030A0"/>
                </a:solidFill>
              </a:rPr>
              <a:t>pylori</a:t>
            </a:r>
            <a:endParaRPr lang="fr-FR" dirty="0" smtClean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 smtClean="0"/>
              <a:t>Une suture de l’ulcère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872E-39F6-46DF-ADC9-83A4C14FB5E2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149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facteurs de risque de récidive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L’âge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taille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stade Forrest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localisation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méléna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6ABF-1163-43D5-893C-F2D1580E3F48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facteurs de risque de récidive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L’âge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taille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stade Forrest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localisation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méléna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36816-B16F-4D18-A874-F2544B06CA93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5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Madame Fouzia G, aux antécédents d’insuffisance veineuse des membres inférieurs et de cholécystectomie pour lithiase vésiculaire, consulte pour hématémèse.</a:t>
            </a:r>
          </a:p>
          <a:p>
            <a:r>
              <a:rPr lang="fr-FR" b="1" dirty="0" smtClean="0"/>
              <a:t>A l’examen</a:t>
            </a:r>
            <a:r>
              <a:rPr lang="fr-FR" dirty="0" smtClean="0"/>
              <a:t> : TA : 8/5, </a:t>
            </a:r>
            <a:r>
              <a:rPr lang="fr-FR" dirty="0" err="1" smtClean="0"/>
              <a:t>Fc</a:t>
            </a:r>
            <a:r>
              <a:rPr lang="fr-FR" dirty="0" smtClean="0"/>
              <a:t> : 95bpm, une SMG à 2TD, une pâleur </a:t>
            </a:r>
            <a:r>
              <a:rPr lang="fr-FR" dirty="0" err="1" smtClean="0"/>
              <a:t>cutanéomuqueuse</a:t>
            </a:r>
            <a:r>
              <a:rPr lang="fr-FR" dirty="0" smtClean="0"/>
              <a:t>, le reste de l’examen est sans autre anomalie. </a:t>
            </a:r>
          </a:p>
          <a:p>
            <a:r>
              <a:rPr lang="fr-FR" b="1" dirty="0" smtClean="0"/>
              <a:t>A La biologie</a:t>
            </a:r>
            <a:r>
              <a:rPr lang="fr-FR" dirty="0" smtClean="0"/>
              <a:t> : la NFS objective une anémie à 6g/</a:t>
            </a:r>
            <a:r>
              <a:rPr lang="fr-FR" dirty="0" err="1" smtClean="0"/>
              <a:t>dL</a:t>
            </a:r>
            <a:r>
              <a:rPr lang="fr-FR" dirty="0" smtClean="0"/>
              <a:t>, VGM : 95µ³, un taux de plaquettes à 80000 </a:t>
            </a:r>
            <a:r>
              <a:rPr lang="fr-FR" dirty="0" err="1" smtClean="0"/>
              <a:t>élts</a:t>
            </a:r>
            <a:r>
              <a:rPr lang="fr-FR" dirty="0" smtClean="0"/>
              <a:t>/mm</a:t>
            </a:r>
            <a:r>
              <a:rPr lang="fr-FR" baseline="30000" dirty="0" smtClean="0"/>
              <a:t>3 </a:t>
            </a:r>
            <a:r>
              <a:rPr lang="fr-FR" dirty="0" smtClean="0"/>
              <a:t>et un TP : 55%.</a:t>
            </a:r>
          </a:p>
          <a:p>
            <a:endParaRPr lang="fr-FR" dirty="0" smtClean="0"/>
          </a:p>
          <a:p>
            <a:pPr>
              <a:buFont typeface="Wingdings" pitchFamily="2" charset="2"/>
              <a:buChar char="Ø"/>
            </a:pPr>
            <a:r>
              <a:rPr lang="fr-FR" dirty="0" smtClean="0"/>
              <a:t>Vous évoquez une hémorragie digestive haute par hypertension portale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252D1-0CDF-4631-8BCF-707F2DCC910D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500034" y="142852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arguments en faveur de ce diagnostic 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L’insuffisance veineuse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SMG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L’antécédent de chirurgie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thrombopénie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TP bas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67FA-99A9-4F3E-8D47-95ED3D86133A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Les arguments en faveur de ce diagnostic 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L’insuffisance veineuse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présence de SMG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L’antécédent de chirurgie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thrombopénie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Le TP bas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DE3ED-D1B6-408E-A2F8-130948DD392B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conduite à tenir dans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Débuter un traitement par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Transfuser avec un objectif d’</a:t>
            </a:r>
            <a:r>
              <a:rPr lang="fr-FR" dirty="0" err="1" smtClean="0"/>
              <a:t>Hb</a:t>
            </a:r>
            <a:r>
              <a:rPr lang="fr-FR" dirty="0" smtClean="0"/>
              <a:t> entre 7-8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Mettre sous 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Remplissage avec un objectif de PAM à 10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Transfusion de culots plaquettaires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479F8-C2AB-4696-9669-92C507940569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La conduite à tenir dans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Débuter un traitement par </a:t>
            </a:r>
            <a:r>
              <a:rPr lang="fr-FR" dirty="0" err="1" smtClean="0">
                <a:solidFill>
                  <a:srgbClr val="7030A0"/>
                </a:solidFill>
              </a:rPr>
              <a:t>sandostatine</a:t>
            </a:r>
            <a:r>
              <a:rPr lang="fr-FR" dirty="0" smtClean="0">
                <a:solidFill>
                  <a:srgbClr val="7030A0"/>
                </a:solidFill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Transfuser avec un objectif d’</a:t>
            </a:r>
            <a:r>
              <a:rPr lang="fr-FR" dirty="0" err="1" smtClean="0">
                <a:solidFill>
                  <a:srgbClr val="7030A0"/>
                </a:solidFill>
              </a:rPr>
              <a:t>Hb</a:t>
            </a:r>
            <a:r>
              <a:rPr lang="fr-FR" dirty="0" smtClean="0">
                <a:solidFill>
                  <a:srgbClr val="7030A0"/>
                </a:solidFill>
              </a:rPr>
              <a:t> entre 7-8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Mettre sous 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Remplissage avec un objectif de PAM à 10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Transfusion de culots plaquettaires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63E16-FC76-4553-BD57-7E1543D23891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FOGD a été faite après prise en charge initiale montrant : des varices œsophagiennes avec signes rouges, absence de varices gastriques </a:t>
            </a:r>
          </a:p>
          <a:p>
            <a:pPr lvl="0"/>
            <a:r>
              <a:rPr lang="fr-FR" b="1" dirty="0" smtClean="0"/>
              <a:t>La conduite dans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ligature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L’injection d’adrénaline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L’arrêt de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Mise en place d’un TIPS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</a:t>
            </a:r>
            <a:r>
              <a:rPr lang="fr-FR" dirty="0" err="1" smtClean="0"/>
              <a:t>embolisation</a:t>
            </a:r>
            <a:r>
              <a:rPr lang="fr-FR" dirty="0" smtClean="0"/>
              <a:t> radiologique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72243-7FAA-4AC3-9625-B89D6A9EC521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Cas clinique 6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6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FOGD a été faite après prise en charge initiale montrant : des varices œsophagiennes avec signes rouges, absence de varices gastriques </a:t>
            </a:r>
          </a:p>
          <a:p>
            <a:pPr lvl="0"/>
            <a:r>
              <a:rPr lang="fr-FR" b="1" dirty="0" smtClean="0"/>
              <a:t>La conduite dans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ligature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L’injection d’adrénaline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L’arrêt de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Mise en place d’un TIPS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</a:t>
            </a:r>
            <a:r>
              <a:rPr lang="fr-FR" dirty="0" err="1" smtClean="0"/>
              <a:t>embolisation</a:t>
            </a:r>
            <a:r>
              <a:rPr lang="fr-FR" dirty="0" smtClean="0"/>
              <a:t> radiologique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02911-BCA2-45DE-8CBF-F571FC514A55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6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b="1" dirty="0" smtClean="0"/>
              <a:t>L’évolution était favorable, vous proposez en 1</a:t>
            </a:r>
            <a:r>
              <a:rPr lang="fr-FR" b="1" baseline="30000" dirty="0" smtClean="0"/>
              <a:t>ère</a:t>
            </a:r>
            <a:r>
              <a:rPr lang="fr-FR" b="1" dirty="0" smtClean="0"/>
              <a:t> intention pour prévenir la récidive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bétabloquant seul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 traitement bétabloquant avec ligature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transplantation hépatique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réalisation d’un TIPS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poursuite de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E2BE-70F9-49BF-9FEF-13ADE67C38AD}" type="datetime1">
              <a:rPr lang="fr-FR" smtClean="0"/>
              <a:t>21/08/2025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159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2E22-F736-48D8-97D5-03FBF89CC45C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285720" y="1219200"/>
            <a:ext cx="8858280" cy="4937760"/>
          </a:xfrm>
        </p:spPr>
        <p:txBody>
          <a:bodyPr/>
          <a:lstStyle/>
          <a:p>
            <a:r>
              <a:rPr lang="fr-FR" dirty="0" smtClean="0"/>
              <a:t>Mme  </a:t>
            </a:r>
            <a:r>
              <a:rPr lang="fr-FR" dirty="0" err="1" smtClean="0"/>
              <a:t>Fathia</a:t>
            </a:r>
            <a:r>
              <a:rPr lang="fr-FR" dirty="0" smtClean="0"/>
              <a:t> âgée de 70 ans, tabagique, consulte aux urgences pour méléna depuis 04h du matin. </a:t>
            </a:r>
          </a:p>
          <a:p>
            <a:r>
              <a:rPr lang="fr-FR" b="1" dirty="0" err="1" smtClean="0"/>
              <a:t>ATCDs</a:t>
            </a:r>
            <a:r>
              <a:rPr lang="fr-FR" b="1" dirty="0" smtClean="0"/>
              <a:t> :</a:t>
            </a:r>
            <a:r>
              <a:rPr lang="fr-FR" dirty="0" smtClean="0"/>
              <a:t> </a:t>
            </a:r>
            <a:r>
              <a:rPr lang="fr-FR" sz="2400" dirty="0" smtClean="0"/>
              <a:t>suivie en rhumatologie sous AINS et en cardiologie pour ACFA sous </a:t>
            </a:r>
            <a:r>
              <a:rPr lang="fr-FR" sz="2400" dirty="0" err="1" smtClean="0"/>
              <a:t>sintrom</a:t>
            </a:r>
            <a:endParaRPr lang="fr-FR" sz="2400" dirty="0" smtClean="0"/>
          </a:p>
          <a:p>
            <a:r>
              <a:rPr lang="fr-FR" b="1" dirty="0" smtClean="0"/>
              <a:t>A l’examen : </a:t>
            </a:r>
            <a:r>
              <a:rPr lang="fr-FR" sz="2400" dirty="0" smtClean="0"/>
              <a:t>sensibilité épigastrique, bon état hémodynamique, TR : méléna</a:t>
            </a:r>
          </a:p>
          <a:p>
            <a:r>
              <a:rPr lang="fr-FR" b="1" dirty="0" smtClean="0"/>
              <a:t>A la biologie : </a:t>
            </a:r>
            <a:r>
              <a:rPr lang="fr-FR" sz="2400" dirty="0" err="1" smtClean="0"/>
              <a:t>Hb</a:t>
            </a:r>
            <a:r>
              <a:rPr lang="fr-FR" sz="2400" dirty="0" smtClean="0"/>
              <a:t> : 10g/dl ; plaquettes : 175000/mm3, </a:t>
            </a:r>
            <a:r>
              <a:rPr lang="fr-FR" sz="2400" dirty="0" err="1" smtClean="0"/>
              <a:t>créat</a:t>
            </a:r>
            <a:r>
              <a:rPr lang="fr-FR" sz="2400" dirty="0" smtClean="0"/>
              <a:t> : 70µmol/l, TP : 35%</a:t>
            </a:r>
          </a:p>
          <a:p>
            <a:r>
              <a:rPr lang="fr-FR" b="1" dirty="0" smtClean="0"/>
              <a:t>Une FOGD </a:t>
            </a:r>
            <a:r>
              <a:rPr lang="fr-FR" sz="2400" dirty="0" smtClean="0"/>
              <a:t>faite après lavage gastrique vers 11h montre un ulcère de la petite courbure gastrique de 12 mm à fond propre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5D2D-2E99-4054-A444-05E40D2AE690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161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72518" cy="4937760"/>
          </a:xfrm>
        </p:spPr>
        <p:txBody>
          <a:bodyPr/>
          <a:lstStyle/>
          <a:p>
            <a:r>
              <a:rPr lang="fr-FR" b="1" dirty="0" smtClean="0"/>
              <a:t>A propos de la  FOGD réalisée pour cette patiente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délai de sa réalisation était respecté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lavage gastrique était obligatoire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Etait indiquée devant l’absence de </a:t>
            </a:r>
            <a:r>
              <a:rPr lang="fr-FR" dirty="0" err="1" smtClean="0"/>
              <a:t>rectorragies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A permis d’évaluer le pronostic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Etait justifiée en 1</a:t>
            </a:r>
            <a:r>
              <a:rPr lang="fr-FR" baseline="30000" dirty="0" smtClean="0"/>
              <a:t>ère</a:t>
            </a:r>
            <a:r>
              <a:rPr lang="fr-FR" dirty="0" smtClean="0"/>
              <a:t> intention devant la présence de méléna  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334CF-D376-4788-8CEE-6D06CABB3729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43956" cy="4937760"/>
          </a:xfrm>
        </p:spPr>
        <p:txBody>
          <a:bodyPr/>
          <a:lstStyle/>
          <a:p>
            <a:r>
              <a:rPr lang="fr-FR" b="1" dirty="0" smtClean="0"/>
              <a:t>A propos de la  FOGD réalisée pour cette patiente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Le délai de sa réalisation était respecté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lavage gastrique était obligatoire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Etait indiquée devant l’absence de </a:t>
            </a:r>
            <a:r>
              <a:rPr lang="fr-FR" dirty="0" err="1" smtClean="0"/>
              <a:t>rectorragies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A permis d’évaluer le pronostic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Etait justifiée en 1</a:t>
            </a:r>
            <a:r>
              <a:rPr lang="fr-FR" baseline="30000" dirty="0" smtClean="0">
                <a:solidFill>
                  <a:srgbClr val="7030A0"/>
                </a:solidFill>
              </a:rPr>
              <a:t>ère</a:t>
            </a:r>
            <a:r>
              <a:rPr lang="fr-FR" dirty="0" smtClean="0">
                <a:solidFill>
                  <a:srgbClr val="7030A0"/>
                </a:solidFill>
              </a:rPr>
              <a:t> intention devant la présence de méléna  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1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08827-E25B-4E30-A7C2-C14EC8D67413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conduite à tenir devant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par vitamine K devant la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injection d’adrénaline avec mise en place de clip métallique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Reprise immédiate de l’alimentation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de l’H </a:t>
            </a:r>
            <a:r>
              <a:rPr lang="fr-FR" dirty="0" err="1" smtClean="0"/>
              <a:t>pylori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reprise de la FOGD pour biopsies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7899-C736-403E-B342-DDE69E8C3FC8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conduite à tenir devant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par vitamine K devant la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injection d’adrénaline avec mise en place de clip métallique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Reprise immédiate de l’alimentation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de l’H </a:t>
            </a:r>
            <a:r>
              <a:rPr lang="fr-FR" dirty="0" err="1" smtClean="0"/>
              <a:t>pylori</a:t>
            </a:r>
            <a:endParaRPr lang="fr-FR" dirty="0" smtClean="0"/>
          </a:p>
          <a:p>
            <a:pPr marL="51435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Une reprise de la FOGD pour biopsies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3FB4-8E0D-4928-947A-DBAFB1557D45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conduite à tenir devant ce cas est :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par vitamine K devant la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Une injection d’adrénaline avec mise en place de clip métallique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Reprise immédiate de l’alimentation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Un traitement de l’H </a:t>
            </a:r>
            <a:r>
              <a:rPr lang="fr-FR" dirty="0" err="1" smtClean="0"/>
              <a:t>pylori</a:t>
            </a:r>
            <a:endParaRPr lang="fr-FR" dirty="0" smtClean="0"/>
          </a:p>
          <a:p>
            <a:pPr marL="51435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Une reprise de la FOGD pour biopsies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2</a:t>
            </a:r>
            <a:endParaRPr lang="fr-FR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30000" t="74167" r="31093" b="20000"/>
          <a:stretch>
            <a:fillRect/>
          </a:stretch>
        </p:blipFill>
        <p:spPr bwMode="auto">
          <a:xfrm>
            <a:off x="357158" y="5072074"/>
            <a:ext cx="8389373" cy="707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4DFB-18E6-4362-8551-CA685903A6FC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Les facteurs de risque de récidive sont : </a:t>
            </a:r>
            <a:endParaRPr lang="fr-FR" dirty="0" smtClean="0"/>
          </a:p>
          <a:p>
            <a:pPr marL="514350" lvl="0" indent="-514350">
              <a:buFont typeface="+mj-lt"/>
              <a:buAutoNum type="arabicPeriod"/>
            </a:pPr>
            <a:r>
              <a:rPr lang="fr-FR" dirty="0" smtClean="0"/>
              <a:t>l’âge </a:t>
            </a:r>
          </a:p>
          <a:p>
            <a:pPr marL="514350" lvl="0" indent="-514350">
              <a:buFont typeface="+mj-lt"/>
              <a:buAutoNum type="arabicPeriod"/>
            </a:pPr>
            <a:r>
              <a:rPr lang="fr-FR" dirty="0" smtClean="0"/>
              <a:t>La taille de l’ulcère </a:t>
            </a:r>
          </a:p>
          <a:p>
            <a:pPr marL="514350" lvl="0" indent="-514350">
              <a:buFont typeface="+mj-lt"/>
              <a:buAutoNum type="arabicPeriod"/>
            </a:pPr>
            <a:r>
              <a:rPr lang="fr-FR" dirty="0" smtClean="0"/>
              <a:t>Le stade Forrest </a:t>
            </a:r>
          </a:p>
          <a:p>
            <a:pPr marL="514350" lvl="0" indent="-514350">
              <a:buFont typeface="+mj-lt"/>
              <a:buAutoNum type="arabicPeriod"/>
            </a:pPr>
            <a:r>
              <a:rPr lang="fr-FR" dirty="0" smtClean="0"/>
              <a:t>La localisation de l’ulcère </a:t>
            </a:r>
          </a:p>
          <a:p>
            <a:pPr marL="514350" lvl="0" indent="-514350">
              <a:buFont typeface="+mj-lt"/>
              <a:buAutoNum type="arabicPeriod"/>
            </a:pPr>
            <a:r>
              <a:rPr lang="fr-FR" dirty="0" smtClean="0"/>
              <a:t>La présence de méléna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B25F-4E45-4E5F-B2B7-0B08CCF4CEB3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Les facteurs de risque de récidive sont 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l’âge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taille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stade Forrest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La localisation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présence de méléna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3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9250-304F-427F-8057-CE55EF466A05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prescription d’IPP au long cours en association aux AINS est justifiée devant: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L’âge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consommation de tabac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Le traitement par Sintrom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L’antécédent d’ulcère compliqué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localisation de l’ulcère 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</a:rPr>
              <a:t>Cas clinique 7 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6B44-648C-40F7-8C82-013E1F888B9B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169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La prescription d’IPP au long cours en association aux AINS est justifiée devant: </a:t>
            </a: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L’âge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consommation de tabac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Le traitement par Sintrom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>
                <a:solidFill>
                  <a:srgbClr val="7030A0"/>
                </a:solidFill>
              </a:rPr>
              <a:t>L’antécédent d’ulcère compliqué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smtClean="0"/>
              <a:t>La localisation de l’ulcère  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001024" y="285728"/>
            <a:ext cx="571504" cy="608648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C00000"/>
                </a:solidFill>
              </a:rPr>
              <a:t>4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Cas clinique 8</a:t>
            </a:r>
            <a:endParaRPr lang="fr-FR" b="1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C3E2-E4A3-4CA0-AB23-1BA97CED2941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Monsieur </a:t>
            </a:r>
            <a:r>
              <a:rPr lang="fr-FR" dirty="0" err="1" smtClean="0"/>
              <a:t>Fouzi</a:t>
            </a:r>
            <a:r>
              <a:rPr lang="fr-FR" dirty="0" smtClean="0"/>
              <a:t> G, âgé de 65 ans, ramené par sa famille aux urgences suite à un épisode de </a:t>
            </a:r>
            <a:r>
              <a:rPr lang="fr-FR" dirty="0" err="1" smtClean="0"/>
              <a:t>rectorragie</a:t>
            </a:r>
            <a:r>
              <a:rPr lang="fr-FR" dirty="0" smtClean="0"/>
              <a:t> précédé par un épisode d’hématémèse</a:t>
            </a:r>
          </a:p>
          <a:p>
            <a:r>
              <a:rPr lang="fr-FR" dirty="0" smtClean="0"/>
              <a:t>HDV : </a:t>
            </a:r>
            <a:r>
              <a:rPr lang="fr-FR" dirty="0" err="1" smtClean="0"/>
              <a:t>alcoolotabagique</a:t>
            </a:r>
            <a:endParaRPr lang="fr-FR" dirty="0" smtClean="0"/>
          </a:p>
          <a:p>
            <a:r>
              <a:rPr lang="fr-FR" dirty="0" err="1" smtClean="0"/>
              <a:t>ATCDs</a:t>
            </a:r>
            <a:r>
              <a:rPr lang="fr-FR" dirty="0" smtClean="0"/>
              <a:t> F : pathologie ulcéreuse gastroduodénale</a:t>
            </a:r>
          </a:p>
          <a:p>
            <a:r>
              <a:rPr lang="fr-FR" dirty="0" err="1" smtClean="0"/>
              <a:t>ATCDs</a:t>
            </a:r>
            <a:r>
              <a:rPr lang="fr-FR" dirty="0" smtClean="0"/>
              <a:t> personnels: ACFA depuis 1 an sous </a:t>
            </a:r>
            <a:r>
              <a:rPr lang="fr-FR" dirty="0" err="1" smtClean="0"/>
              <a:t>sintrom</a:t>
            </a:r>
            <a:r>
              <a:rPr lang="fr-FR" dirty="0" smtClean="0"/>
              <a:t> 1/2cp/j, cancer du colon en rémission depuis 10 ans. </a:t>
            </a:r>
          </a:p>
          <a:p>
            <a:r>
              <a:rPr lang="fr-FR" dirty="0" smtClean="0"/>
              <a:t>A l’examen : TA : 8/5, </a:t>
            </a:r>
            <a:r>
              <a:rPr lang="fr-FR" dirty="0" err="1" smtClean="0"/>
              <a:t>Fc</a:t>
            </a:r>
            <a:r>
              <a:rPr lang="fr-FR" dirty="0" smtClean="0"/>
              <a:t> : 105bpm, une pâleur cutanéomuqueuse, des </a:t>
            </a:r>
            <a:r>
              <a:rPr lang="fr-FR" dirty="0" smtClean="0"/>
              <a:t>extrémités </a:t>
            </a:r>
            <a:r>
              <a:rPr lang="fr-FR" dirty="0" smtClean="0"/>
              <a:t>chaudes </a:t>
            </a:r>
            <a:r>
              <a:rPr lang="fr-FR" dirty="0" smtClean="0"/>
              <a:t>; TR: doigtier souillé de sang rouge vif</a:t>
            </a:r>
            <a:r>
              <a:rPr lang="en-US" dirty="0" smtClean="0"/>
              <a:t>.</a:t>
            </a:r>
            <a:r>
              <a:rPr lang="fr-FR" dirty="0" smtClean="0"/>
              <a:t> </a:t>
            </a:r>
            <a:endParaRPr lang="fr-FR" dirty="0" smtClean="0"/>
          </a:p>
          <a:p>
            <a:r>
              <a:rPr lang="fr-FR" dirty="0" smtClean="0"/>
              <a:t>A La biologie : la NFS objective une anémie à 3g/</a:t>
            </a:r>
            <a:r>
              <a:rPr lang="fr-FR" dirty="0" err="1" smtClean="0"/>
              <a:t>dL</a:t>
            </a:r>
            <a:r>
              <a:rPr lang="fr-FR" dirty="0" smtClean="0"/>
              <a:t> (était à 8g/</a:t>
            </a:r>
            <a:r>
              <a:rPr lang="fr-FR" dirty="0" err="1" smtClean="0"/>
              <a:t>dL</a:t>
            </a:r>
            <a:r>
              <a:rPr lang="fr-FR" dirty="0" smtClean="0"/>
              <a:t> il y a 1 mois), VGM : 65µ³, un taux de plaquettes à 180000 </a:t>
            </a:r>
            <a:r>
              <a:rPr lang="fr-FR" dirty="0" err="1" smtClean="0"/>
              <a:t>élts</a:t>
            </a:r>
            <a:r>
              <a:rPr lang="fr-FR" dirty="0" smtClean="0"/>
              <a:t>/mm3 et un TP : 30%. (INR : 2.5) ; </a:t>
            </a:r>
            <a:r>
              <a:rPr lang="fr-FR" dirty="0" smtClean="0"/>
              <a:t>urée</a:t>
            </a:r>
            <a:r>
              <a:rPr lang="fr-FR" dirty="0" smtClean="0"/>
              <a:t> : 18mmol/l ; </a:t>
            </a:r>
            <a:r>
              <a:rPr lang="fr-FR" dirty="0" err="1" smtClean="0"/>
              <a:t>créat</a:t>
            </a:r>
            <a:r>
              <a:rPr lang="fr-FR" dirty="0" smtClean="0"/>
              <a:t> : 100µmol/l</a:t>
            </a:r>
          </a:p>
          <a:p>
            <a:r>
              <a:rPr lang="fr-FR" dirty="0" smtClean="0"/>
              <a:t>ECG : tachycardie sinusale à 100 </a:t>
            </a:r>
            <a:r>
              <a:rPr lang="fr-FR" dirty="0" err="1" smtClean="0"/>
              <a:t>bpm</a:t>
            </a:r>
            <a:r>
              <a:rPr lang="fr-FR" dirty="0" smtClean="0"/>
              <a:t>, QT allongé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B6C77-9964-4523-89A6-364774A7B69F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171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1 : </a:t>
            </a:r>
            <a:r>
              <a:rPr lang="fr-FR" b="1" dirty="0" smtClean="0"/>
              <a:t>L’argument </a:t>
            </a:r>
            <a:r>
              <a:rPr lang="fr-FR" b="1" dirty="0" smtClean="0"/>
              <a:t>en faveur de l’origine haute du saignement </a:t>
            </a:r>
            <a:r>
              <a:rPr lang="fr-FR" b="1" dirty="0" smtClean="0"/>
              <a:t>est: 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A-La</a:t>
            </a:r>
            <a:r>
              <a:rPr lang="fr-FR" dirty="0" smtClean="0"/>
              <a:t> présence d’hématémèse </a:t>
            </a:r>
          </a:p>
          <a:p>
            <a:pPr lvl="0">
              <a:buNone/>
            </a:pPr>
            <a:r>
              <a:rPr lang="fr-FR" dirty="0" err="1" smtClean="0"/>
              <a:t>B-La</a:t>
            </a:r>
            <a:r>
              <a:rPr lang="fr-FR" dirty="0" smtClean="0"/>
              <a:t> consommation du tabac </a:t>
            </a:r>
          </a:p>
          <a:p>
            <a:pPr lvl="0">
              <a:buNone/>
            </a:pPr>
            <a:r>
              <a:rPr lang="fr-FR" dirty="0" err="1" smtClean="0"/>
              <a:t>C-Les</a:t>
            </a:r>
            <a:r>
              <a:rPr lang="fr-FR" dirty="0" smtClean="0"/>
              <a:t> antécédents familiaux </a:t>
            </a:r>
          </a:p>
          <a:p>
            <a:pPr lvl="0">
              <a:buNone/>
            </a:pPr>
            <a:r>
              <a:rPr lang="fr-FR" dirty="0" err="1" smtClean="0"/>
              <a:t>D-La</a:t>
            </a:r>
            <a:r>
              <a:rPr lang="fr-FR" dirty="0" smtClean="0"/>
              <a:t>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smtClean="0"/>
              <a:t>E-Le taux antérieur d’hémoglobine 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BCE6-FC2C-4F2E-9A5B-3C4A3A0854BC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1 : </a:t>
            </a:r>
            <a:r>
              <a:rPr lang="fr-FR" b="1" dirty="0"/>
              <a:t>L’argument en faveur de l’origine haute du saignement est: </a:t>
            </a:r>
            <a:endParaRPr lang="fr-FR" dirty="0" smtClean="0"/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A-La</a:t>
            </a:r>
            <a:r>
              <a:rPr lang="fr-FR" b="1" dirty="0" smtClean="0">
                <a:solidFill>
                  <a:srgbClr val="7030A0"/>
                </a:solidFill>
              </a:rPr>
              <a:t> présence d’hématémèse </a:t>
            </a:r>
          </a:p>
          <a:p>
            <a:pPr lvl="0">
              <a:buNone/>
            </a:pPr>
            <a:r>
              <a:rPr lang="fr-FR" dirty="0" err="1" smtClean="0"/>
              <a:t>B-La</a:t>
            </a:r>
            <a:r>
              <a:rPr lang="fr-FR" dirty="0" smtClean="0"/>
              <a:t> consommation du tabac </a:t>
            </a:r>
          </a:p>
          <a:p>
            <a:pPr lvl="0">
              <a:buNone/>
            </a:pPr>
            <a:r>
              <a:rPr lang="fr-FR" dirty="0" err="1" smtClean="0"/>
              <a:t>C-Les</a:t>
            </a:r>
            <a:r>
              <a:rPr lang="fr-FR" dirty="0" smtClean="0"/>
              <a:t> antécédents familiaux </a:t>
            </a:r>
          </a:p>
          <a:p>
            <a:pPr lvl="0">
              <a:buNone/>
            </a:pPr>
            <a:r>
              <a:rPr lang="fr-FR" dirty="0" err="1" smtClean="0"/>
              <a:t>D-La</a:t>
            </a:r>
            <a:r>
              <a:rPr lang="fr-FR" dirty="0" smtClean="0"/>
              <a:t>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smtClean="0"/>
              <a:t>E-Le taux antérieur d’hémoglobine  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9B80-352B-4740-8FE2-D9421AD3FFB2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2 : Les facteurs de mauvais pronostic sont :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 La fréquence cardiaque  </a:t>
            </a:r>
          </a:p>
          <a:p>
            <a:pPr lvl="0">
              <a:buNone/>
            </a:pPr>
            <a:r>
              <a:rPr lang="fr-FR" dirty="0" err="1" smtClean="0"/>
              <a:t>B-La</a:t>
            </a:r>
            <a:r>
              <a:rPr lang="fr-FR" dirty="0" smtClean="0"/>
              <a:t> prise du </a:t>
            </a:r>
            <a:r>
              <a:rPr lang="fr-FR" dirty="0" err="1" smtClean="0"/>
              <a:t>sintrom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err="1" smtClean="0"/>
              <a:t>C-Le</a:t>
            </a:r>
            <a:r>
              <a:rPr lang="fr-FR" dirty="0" smtClean="0"/>
              <a:t> taux d’urée </a:t>
            </a:r>
          </a:p>
          <a:p>
            <a:pPr lvl="0">
              <a:buNone/>
            </a:pPr>
            <a:r>
              <a:rPr lang="fr-FR" dirty="0" smtClean="0"/>
              <a:t>D-L’ATCD de cancer </a:t>
            </a:r>
          </a:p>
          <a:p>
            <a:pPr lvl="0">
              <a:buNone/>
            </a:pPr>
            <a:r>
              <a:rPr lang="fr-FR" dirty="0" smtClean="0"/>
              <a:t>E-Le tabac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07AC-F7E7-4187-8A9F-C52CBE9FF3BB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2 : Les facteurs de mauvais pronostic sont : </a:t>
            </a:r>
            <a:endParaRPr lang="fr-FR" dirty="0" smtClean="0"/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A-La</a:t>
            </a:r>
            <a:r>
              <a:rPr lang="fr-FR" b="1" dirty="0" smtClean="0">
                <a:solidFill>
                  <a:srgbClr val="7030A0"/>
                </a:solidFill>
              </a:rPr>
              <a:t> fréquence cardiaque  </a:t>
            </a:r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B-La</a:t>
            </a:r>
            <a:r>
              <a:rPr lang="fr-FR" b="1" dirty="0" smtClean="0">
                <a:solidFill>
                  <a:srgbClr val="7030A0"/>
                </a:solidFill>
              </a:rPr>
              <a:t> prise du </a:t>
            </a:r>
            <a:r>
              <a:rPr lang="fr-FR" b="1" dirty="0" err="1" smtClean="0">
                <a:solidFill>
                  <a:srgbClr val="7030A0"/>
                </a:solidFill>
              </a:rPr>
              <a:t>sintrom</a:t>
            </a:r>
            <a:r>
              <a:rPr lang="fr-FR" b="1" dirty="0" smtClean="0">
                <a:solidFill>
                  <a:srgbClr val="7030A0"/>
                </a:solidFill>
              </a:rPr>
              <a:t> </a:t>
            </a:r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C-Le</a:t>
            </a:r>
            <a:r>
              <a:rPr lang="fr-FR" b="1" dirty="0" smtClean="0">
                <a:solidFill>
                  <a:srgbClr val="7030A0"/>
                </a:solidFill>
              </a:rPr>
              <a:t> taux d’urée </a:t>
            </a:r>
          </a:p>
          <a:p>
            <a:pPr lvl="0">
              <a:buNone/>
            </a:pPr>
            <a:r>
              <a:rPr lang="fr-FR" dirty="0" smtClean="0"/>
              <a:t>D-L’ATCD de cancer </a:t>
            </a:r>
          </a:p>
          <a:p>
            <a:pPr lvl="0">
              <a:buNone/>
            </a:pPr>
            <a:r>
              <a:rPr lang="fr-FR" dirty="0" smtClean="0"/>
              <a:t>E-Le tabac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3 : </a:t>
            </a:r>
            <a:r>
              <a:rPr lang="fr-FR" b="1" dirty="0" smtClean="0"/>
              <a:t>La </a:t>
            </a:r>
            <a:r>
              <a:rPr lang="fr-FR" b="1" dirty="0" smtClean="0"/>
              <a:t>prise en charge </a:t>
            </a:r>
            <a:r>
              <a:rPr lang="fr-FR" b="1" dirty="0" smtClean="0"/>
              <a:t>immédiate comporte</a:t>
            </a:r>
            <a:r>
              <a:rPr lang="fr-FR" b="1" dirty="0" smtClean="0"/>
              <a:t> : 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A-La</a:t>
            </a:r>
            <a:r>
              <a:rPr lang="fr-FR" dirty="0" smtClean="0"/>
              <a:t> réalisation d’une fibroscopie digestive </a:t>
            </a:r>
          </a:p>
          <a:p>
            <a:pPr lvl="0">
              <a:buNone/>
            </a:pPr>
            <a:r>
              <a:rPr lang="fr-FR" dirty="0" smtClean="0"/>
              <a:t>B-L’oxygénothérapie </a:t>
            </a:r>
          </a:p>
          <a:p>
            <a:pPr lvl="0">
              <a:buNone/>
            </a:pPr>
            <a:r>
              <a:rPr lang="fr-FR" dirty="0" smtClean="0"/>
              <a:t>C-Un traitement par IPP</a:t>
            </a:r>
          </a:p>
          <a:p>
            <a:pPr lvl="0">
              <a:buNone/>
            </a:pPr>
            <a:r>
              <a:rPr lang="fr-FR" dirty="0" smtClean="0"/>
              <a:t>D-L’administration de PFC</a:t>
            </a:r>
          </a:p>
          <a:p>
            <a:pPr lvl="0">
              <a:buNone/>
            </a:pPr>
            <a:r>
              <a:rPr lang="fr-FR" dirty="0" smtClean="0"/>
              <a:t>E-L’administration d’érythromycine 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656-964B-4187-9D98-CD93DDB0E32E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3 : </a:t>
            </a:r>
            <a:r>
              <a:rPr lang="fr-FR" b="1" dirty="0"/>
              <a:t>La prise en charge immédiate comporte : </a:t>
            </a:r>
            <a:endParaRPr lang="fr-FR" dirty="0"/>
          </a:p>
          <a:p>
            <a:pPr lvl="0">
              <a:buNone/>
            </a:pPr>
            <a:r>
              <a:rPr lang="fr-FR" dirty="0" smtClean="0"/>
              <a:t>A-La </a:t>
            </a:r>
            <a:r>
              <a:rPr lang="fr-FR" dirty="0" smtClean="0"/>
              <a:t>réalisation d’une fibroscopie digestive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B-L’oxygénothérapie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C-Un traitement par IPP</a:t>
            </a:r>
          </a:p>
          <a:p>
            <a:pPr lvl="0">
              <a:buNone/>
            </a:pPr>
            <a:r>
              <a:rPr lang="fr-FR" dirty="0" smtClean="0"/>
              <a:t>D-L’administration de PFC</a:t>
            </a:r>
          </a:p>
          <a:p>
            <a:pPr lvl="0">
              <a:buNone/>
            </a:pPr>
            <a:r>
              <a:rPr lang="fr-FR" dirty="0" smtClean="0"/>
              <a:t>E-L’administration d’érythromycine 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2D91-6625-47FA-9AEA-7C7929050066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Après prise en charge initiale, les explorations ont mis en évidence : un ulcère de la face antérieure de 15 mm avec un gros caillot adhérent  </a:t>
            </a:r>
          </a:p>
          <a:p>
            <a:pPr>
              <a:buNone/>
            </a:pPr>
            <a:r>
              <a:rPr lang="fr-FR" b="1" dirty="0" smtClean="0"/>
              <a:t>QCM 4 : Cet ulcère correspond selon la classification de Forrest à un stade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</a:t>
            </a:r>
            <a:r>
              <a:rPr lang="fr-FR" dirty="0" err="1" smtClean="0"/>
              <a:t>Ia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B-Ib</a:t>
            </a:r>
            <a:r>
              <a:rPr lang="fr-FR" dirty="0" smtClean="0"/>
              <a:t>  </a:t>
            </a:r>
          </a:p>
          <a:p>
            <a:pPr lvl="0">
              <a:buNone/>
            </a:pPr>
            <a:r>
              <a:rPr lang="fr-FR" dirty="0" smtClean="0"/>
              <a:t>C-</a:t>
            </a:r>
            <a:r>
              <a:rPr lang="fr-FR" dirty="0" err="1" smtClean="0"/>
              <a:t>IIa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smtClean="0"/>
              <a:t>D-</a:t>
            </a:r>
            <a:r>
              <a:rPr lang="fr-FR" dirty="0" err="1" smtClean="0"/>
              <a:t>IIb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smtClean="0"/>
              <a:t>E-</a:t>
            </a:r>
            <a:r>
              <a:rPr lang="fr-FR" dirty="0" err="1" smtClean="0"/>
              <a:t>IIc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FFF3A-D1AC-48C3-858F-4FE1F98B192F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Après prise en charge initiale, les explorations ont mis en évidence : un ulcère de la face antérieure de 15 mm avec un gros caillot adhérent  </a:t>
            </a:r>
          </a:p>
          <a:p>
            <a:pPr>
              <a:buNone/>
            </a:pPr>
            <a:r>
              <a:rPr lang="fr-FR" b="1" dirty="0" smtClean="0"/>
              <a:t>QCM 4 : Cet ulcère correspond selon la classification de Forrest à un stade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</a:t>
            </a:r>
            <a:r>
              <a:rPr lang="fr-FR" dirty="0" err="1" smtClean="0"/>
              <a:t>Ia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B-Ib</a:t>
            </a:r>
            <a:r>
              <a:rPr lang="fr-FR" dirty="0" smtClean="0"/>
              <a:t>  </a:t>
            </a:r>
          </a:p>
          <a:p>
            <a:pPr lvl="0">
              <a:buNone/>
            </a:pPr>
            <a:r>
              <a:rPr lang="fr-FR" dirty="0" smtClean="0"/>
              <a:t>C-</a:t>
            </a:r>
            <a:r>
              <a:rPr lang="fr-FR" dirty="0" err="1" smtClean="0"/>
              <a:t>IIa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D-</a:t>
            </a:r>
            <a:r>
              <a:rPr lang="fr-FR" b="1" dirty="0" err="1" smtClean="0">
                <a:solidFill>
                  <a:srgbClr val="7030A0"/>
                </a:solidFill>
              </a:rPr>
              <a:t>IIb</a:t>
            </a:r>
            <a:r>
              <a:rPr lang="fr-FR" b="1" dirty="0" smtClean="0">
                <a:solidFill>
                  <a:srgbClr val="7030A0"/>
                </a:solidFill>
              </a:rPr>
              <a:t> </a:t>
            </a:r>
          </a:p>
          <a:p>
            <a:pPr lvl="0">
              <a:buNone/>
            </a:pPr>
            <a:r>
              <a:rPr lang="fr-FR" dirty="0" smtClean="0"/>
              <a:t>E-</a:t>
            </a:r>
            <a:r>
              <a:rPr lang="fr-FR" dirty="0" err="1" smtClean="0"/>
              <a:t>IIc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947D-3BF5-4A5D-835B-17781171877D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179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5 : la conduite à tenir dans cas est 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A-Le</a:t>
            </a:r>
            <a:r>
              <a:rPr lang="fr-FR" dirty="0" smtClean="0"/>
              <a:t> recours à une chirurgie devant la gravité du tableau initial </a:t>
            </a:r>
          </a:p>
          <a:p>
            <a:pPr lvl="0">
              <a:buNone/>
            </a:pPr>
            <a:r>
              <a:rPr lang="fr-FR" dirty="0" err="1" smtClean="0"/>
              <a:t>B-La</a:t>
            </a:r>
            <a:r>
              <a:rPr lang="fr-FR" dirty="0" smtClean="0"/>
              <a:t> prescription d’une cure anti H. </a:t>
            </a:r>
            <a:r>
              <a:rPr lang="fr-FR" dirty="0" err="1" smtClean="0"/>
              <a:t>pylori</a:t>
            </a:r>
            <a:r>
              <a:rPr lang="fr-FR" dirty="0" smtClean="0"/>
              <a:t> </a:t>
            </a:r>
          </a:p>
          <a:p>
            <a:pPr lvl="0">
              <a:buNone/>
            </a:pPr>
            <a:r>
              <a:rPr lang="fr-FR" dirty="0" smtClean="0"/>
              <a:t>C-La reprise immédiate de l’alimentation</a:t>
            </a:r>
          </a:p>
          <a:p>
            <a:pPr lvl="0">
              <a:buNone/>
            </a:pPr>
            <a:r>
              <a:rPr lang="fr-FR" dirty="0" err="1" smtClean="0"/>
              <a:t>D-La</a:t>
            </a:r>
            <a:r>
              <a:rPr lang="fr-FR" dirty="0" smtClean="0"/>
              <a:t> réalisation de biopsies aux berges de l’ulcère </a:t>
            </a:r>
          </a:p>
          <a:p>
            <a:pPr lvl="0">
              <a:buNone/>
            </a:pPr>
            <a:r>
              <a:rPr lang="fr-FR" dirty="0" smtClean="0"/>
              <a:t>E-L’arrêt définitif de l’</a:t>
            </a:r>
            <a:r>
              <a:rPr lang="fr-FR" dirty="0" err="1" smtClean="0"/>
              <a:t>anticoagulation</a:t>
            </a:r>
            <a:r>
              <a:rPr lang="fr-FR" dirty="0" smtClean="0"/>
              <a:t> 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4C9-D6DC-4FDA-8996-FC4D40C07D91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 5 : la conduite à tenir dans cas est 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A-Le</a:t>
            </a:r>
            <a:r>
              <a:rPr lang="fr-FR" dirty="0" smtClean="0"/>
              <a:t> recours à une chirurgie devant la gravité du tableau initial </a:t>
            </a:r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B-La</a:t>
            </a:r>
            <a:r>
              <a:rPr lang="fr-FR" b="1" dirty="0" smtClean="0">
                <a:solidFill>
                  <a:srgbClr val="7030A0"/>
                </a:solidFill>
              </a:rPr>
              <a:t> prescription d’une cure anti H. </a:t>
            </a:r>
            <a:r>
              <a:rPr lang="fr-FR" b="1" dirty="0" err="1" smtClean="0">
                <a:solidFill>
                  <a:srgbClr val="7030A0"/>
                </a:solidFill>
              </a:rPr>
              <a:t>pylori</a:t>
            </a:r>
            <a:r>
              <a:rPr lang="fr-FR" b="1" dirty="0" smtClean="0">
                <a:solidFill>
                  <a:srgbClr val="7030A0"/>
                </a:solidFill>
              </a:rPr>
              <a:t>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C-La reprise immédiate de l’alimentation</a:t>
            </a:r>
          </a:p>
          <a:p>
            <a:pPr lvl="0">
              <a:buNone/>
            </a:pPr>
            <a:r>
              <a:rPr lang="fr-FR" dirty="0" err="1" smtClean="0"/>
              <a:t>D-La</a:t>
            </a:r>
            <a:r>
              <a:rPr lang="fr-FR" dirty="0" smtClean="0"/>
              <a:t> réalisation de biopsies aux berges de l’ulcère </a:t>
            </a:r>
          </a:p>
          <a:p>
            <a:pPr lvl="0">
              <a:buNone/>
            </a:pPr>
            <a:r>
              <a:rPr lang="fr-FR" dirty="0" smtClean="0"/>
              <a:t>E-L’arrêt définitif de l’</a:t>
            </a:r>
            <a:r>
              <a:rPr lang="fr-FR" dirty="0" err="1" smtClean="0"/>
              <a:t>anticoagulation</a:t>
            </a:r>
            <a:r>
              <a:rPr lang="fr-FR" dirty="0" smtClean="0"/>
              <a:t> 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72972-A7B0-499A-9423-6AA08744E0FB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Cas clinique 9</a:t>
            </a:r>
            <a:endParaRPr lang="fr-FR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181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Madame </a:t>
            </a:r>
            <a:r>
              <a:rPr lang="fr-FR" dirty="0" err="1" smtClean="0"/>
              <a:t>Zeineb</a:t>
            </a:r>
            <a:r>
              <a:rPr lang="fr-FR" dirty="0" smtClean="0"/>
              <a:t> âgée de 51 ans suivie pour syndrome métabolique associant diabète, obésité et dyslipidémie sous ADO et statine consulte les urgences pour </a:t>
            </a:r>
            <a:r>
              <a:rPr lang="fr-FR" dirty="0" err="1" smtClean="0"/>
              <a:t>rectorragie</a:t>
            </a:r>
            <a:r>
              <a:rPr lang="fr-FR" dirty="0" smtClean="0"/>
              <a:t> évoluant depuis 3heures</a:t>
            </a:r>
          </a:p>
          <a:p>
            <a:r>
              <a:rPr lang="fr-FR" dirty="0" smtClean="0"/>
              <a:t>A l’examen :</a:t>
            </a:r>
          </a:p>
          <a:p>
            <a:r>
              <a:rPr lang="fr-FR" dirty="0" smtClean="0"/>
              <a:t>Malade confuse   , ictérique,             TA : 7/4                 Pouls 120b/mn</a:t>
            </a:r>
          </a:p>
          <a:p>
            <a:r>
              <a:rPr lang="fr-FR" dirty="0" smtClean="0"/>
              <a:t>Apyrétique </a:t>
            </a:r>
          </a:p>
          <a:p>
            <a:r>
              <a:rPr lang="fr-FR" dirty="0" smtClean="0"/>
              <a:t>Abdomen </a:t>
            </a:r>
            <a:r>
              <a:rPr lang="fr-FR" dirty="0" smtClean="0"/>
              <a:t>distendu, matité </a:t>
            </a:r>
            <a:r>
              <a:rPr lang="fr-FR" dirty="0" smtClean="0"/>
              <a:t>à la percussion, présence de CVC </a:t>
            </a:r>
          </a:p>
          <a:p>
            <a:r>
              <a:rPr lang="fr-FR" dirty="0" smtClean="0"/>
              <a:t>Doigtier souillé de sang rouge vif au TR</a:t>
            </a:r>
          </a:p>
          <a:p>
            <a:r>
              <a:rPr lang="fr-FR" dirty="0" smtClean="0"/>
              <a:t>Biologie :</a:t>
            </a:r>
          </a:p>
          <a:p>
            <a:r>
              <a:rPr lang="fr-FR" dirty="0" smtClean="0"/>
              <a:t>GS : A positif </a:t>
            </a:r>
          </a:p>
          <a:p>
            <a:r>
              <a:rPr lang="fr-FR" dirty="0" smtClean="0"/>
              <a:t>HB : 5.2g/dl    VGM : 102fl     plaquettes : 20000/mm3     GB : 2200</a:t>
            </a:r>
          </a:p>
          <a:p>
            <a:r>
              <a:rPr lang="fr-FR" dirty="0" smtClean="0"/>
              <a:t>TP : 42%</a:t>
            </a:r>
          </a:p>
          <a:p>
            <a:r>
              <a:rPr lang="fr-FR" dirty="0" smtClean="0"/>
              <a:t>Urée : 17.2mmol/l              </a:t>
            </a:r>
            <a:r>
              <a:rPr lang="fr-FR" dirty="0" err="1" smtClean="0"/>
              <a:t>creat</a:t>
            </a:r>
            <a:r>
              <a:rPr lang="fr-FR" dirty="0" smtClean="0"/>
              <a:t> : 98µmol/l</a:t>
            </a:r>
          </a:p>
          <a:p>
            <a:r>
              <a:rPr lang="fr-FR" dirty="0" smtClean="0"/>
              <a:t>ASAT : 3N          ALAT : 2.7N         </a:t>
            </a:r>
            <a:r>
              <a:rPr lang="fr-FR" dirty="0" err="1" smtClean="0"/>
              <a:t>GGt</a:t>
            </a:r>
            <a:r>
              <a:rPr lang="fr-FR" dirty="0" smtClean="0"/>
              <a:t> : 3.5N-PAL : 1.7N    BT : 56µmol/l</a:t>
            </a:r>
          </a:p>
          <a:p>
            <a:r>
              <a:rPr lang="fr-FR" dirty="0" smtClean="0"/>
              <a:t>Na+ :126mmol/l  - K+ :3.8mmol/l     </a:t>
            </a:r>
            <a:r>
              <a:rPr lang="fr-FR" dirty="0" err="1" smtClean="0"/>
              <a:t>Gly</a:t>
            </a:r>
            <a:r>
              <a:rPr lang="fr-FR" dirty="0" smtClean="0"/>
              <a:t> : 12mmol/l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689B-12C6-44D3-AF30-632E08334EC9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QCM1/Les signes de gravite de cette hémorragie digestive sont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 La </a:t>
            </a:r>
            <a:r>
              <a:rPr lang="fr-FR" dirty="0" err="1" smtClean="0"/>
              <a:t>macrocytose</a:t>
            </a:r>
            <a:r>
              <a:rPr lang="fr-FR" dirty="0" smtClean="0"/>
              <a:t> </a:t>
            </a:r>
            <a:endParaRPr lang="fr-FR" dirty="0" smtClean="0"/>
          </a:p>
          <a:p>
            <a:pPr lvl="0">
              <a:buNone/>
            </a:pPr>
            <a:r>
              <a:rPr lang="fr-FR" dirty="0" err="1" smtClean="0"/>
              <a:t>B-La</a:t>
            </a:r>
            <a:r>
              <a:rPr lang="fr-FR" dirty="0" smtClean="0"/>
              <a:t> confusion mentale</a:t>
            </a:r>
          </a:p>
          <a:p>
            <a:pPr lvl="0">
              <a:buNone/>
            </a:pPr>
            <a:r>
              <a:rPr lang="fr-FR" dirty="0" smtClean="0"/>
              <a:t>C-L’antécédent de diabète </a:t>
            </a:r>
          </a:p>
          <a:p>
            <a:pPr lvl="0">
              <a:buNone/>
            </a:pPr>
            <a:r>
              <a:rPr lang="fr-FR" dirty="0" smtClean="0"/>
              <a:t>D-L’hémoglobine à 5.2</a:t>
            </a:r>
          </a:p>
          <a:p>
            <a:pPr lvl="0">
              <a:buNone/>
            </a:pPr>
            <a:r>
              <a:rPr lang="fr-FR" dirty="0" smtClean="0"/>
              <a:t>E-L’hyponatrémie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E622-4B19-4198-99BC-FAD195F5E8CC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QCM1/Les signes de gravite de cette hémorragie digestive sont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</a:t>
            </a:r>
            <a:r>
              <a:rPr lang="fr-FR" dirty="0"/>
              <a:t> La </a:t>
            </a:r>
            <a:r>
              <a:rPr lang="fr-FR" dirty="0" err="1"/>
              <a:t>macrocytose</a:t>
            </a:r>
            <a:r>
              <a:rPr lang="fr-FR" dirty="0"/>
              <a:t> </a:t>
            </a:r>
            <a:endParaRPr lang="fr-FR" dirty="0" smtClean="0"/>
          </a:p>
          <a:p>
            <a:pPr lvl="0">
              <a:buNone/>
            </a:pPr>
            <a:r>
              <a:rPr lang="fr-FR" b="1" dirty="0" err="1" smtClean="0">
                <a:solidFill>
                  <a:srgbClr val="7030A0"/>
                </a:solidFill>
              </a:rPr>
              <a:t>B-La</a:t>
            </a:r>
            <a:r>
              <a:rPr lang="fr-FR" b="1" dirty="0" smtClean="0">
                <a:solidFill>
                  <a:srgbClr val="7030A0"/>
                </a:solidFill>
              </a:rPr>
              <a:t> confusion mentale</a:t>
            </a:r>
          </a:p>
          <a:p>
            <a:pPr lvl="0">
              <a:buNone/>
            </a:pPr>
            <a:r>
              <a:rPr lang="fr-FR" dirty="0" smtClean="0"/>
              <a:t>C-L’antécédent de diabète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D-L’hémoglobine à 5.2</a:t>
            </a:r>
          </a:p>
          <a:p>
            <a:pPr lvl="0">
              <a:buNone/>
            </a:pPr>
            <a:r>
              <a:rPr lang="fr-FR" dirty="0" smtClean="0"/>
              <a:t>E-L’hyponatrémie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5632-B12D-495F-B656-2C998F40E710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QCM2/le diagnostic le plus probable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A-Un ulcère duodénal </a:t>
            </a:r>
          </a:p>
          <a:p>
            <a:pPr lvl="0">
              <a:buNone/>
            </a:pPr>
            <a:r>
              <a:rPr lang="fr-FR" dirty="0" smtClean="0"/>
              <a:t>B-Une rupture de varice œsophagienne </a:t>
            </a:r>
          </a:p>
          <a:p>
            <a:pPr lvl="0">
              <a:buNone/>
            </a:pPr>
            <a:r>
              <a:rPr lang="fr-FR" dirty="0" smtClean="0"/>
              <a:t>C-Des lésions gastroduodénales d’origine médicamenteuse </a:t>
            </a:r>
          </a:p>
          <a:p>
            <a:pPr lvl="0">
              <a:buNone/>
            </a:pPr>
            <a:r>
              <a:rPr lang="fr-FR" dirty="0" err="1" smtClean="0"/>
              <a:t>D-Un</a:t>
            </a:r>
            <a:r>
              <a:rPr lang="fr-FR" dirty="0" smtClean="0"/>
              <a:t> cancer du rectum</a:t>
            </a:r>
          </a:p>
          <a:p>
            <a:pPr lvl="0">
              <a:buNone/>
            </a:pPr>
            <a:r>
              <a:rPr lang="fr-FR" dirty="0" smtClean="0"/>
              <a:t>E-Des lésions d’</a:t>
            </a:r>
            <a:r>
              <a:rPr lang="fr-FR" dirty="0" err="1" smtClean="0"/>
              <a:t>angiodyspplaise</a:t>
            </a:r>
            <a:r>
              <a:rPr lang="fr-FR" dirty="0" smtClean="0"/>
              <a:t> du colon droit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E550-E834-4A54-B88A-DAD20A364C97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QCM2/le diagnostic le plus probable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A-Un ulcère duodénal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B-Une rupture de varice œsophagienne </a:t>
            </a:r>
          </a:p>
          <a:p>
            <a:pPr lvl="0">
              <a:buNone/>
            </a:pPr>
            <a:r>
              <a:rPr lang="fr-FR" dirty="0" smtClean="0"/>
              <a:t>C-Des lésions gastroduodénales d’origine médicamenteuse </a:t>
            </a:r>
          </a:p>
          <a:p>
            <a:pPr lvl="0">
              <a:buNone/>
            </a:pPr>
            <a:r>
              <a:rPr lang="fr-FR" dirty="0" err="1" smtClean="0"/>
              <a:t>D-Un</a:t>
            </a:r>
            <a:r>
              <a:rPr lang="fr-FR" dirty="0" smtClean="0"/>
              <a:t> cancer du rectum</a:t>
            </a:r>
          </a:p>
          <a:p>
            <a:pPr lvl="0">
              <a:buNone/>
            </a:pPr>
            <a:r>
              <a:rPr lang="fr-FR" dirty="0" smtClean="0"/>
              <a:t>E-Des lésions d’</a:t>
            </a:r>
            <a:r>
              <a:rPr lang="fr-FR" dirty="0" err="1" smtClean="0"/>
              <a:t>angiodyspplaise</a:t>
            </a:r>
            <a:r>
              <a:rPr lang="fr-FR" dirty="0" smtClean="0"/>
              <a:t> du colon droit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26C3-43CB-408D-B1D4-B6FE6EC895DD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QCM3/les mesures à entamer en urgence sont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A-Intubation orotrachéale </a:t>
            </a:r>
          </a:p>
          <a:p>
            <a:pPr lvl="0">
              <a:buNone/>
            </a:pPr>
            <a:r>
              <a:rPr lang="fr-FR" dirty="0" smtClean="0"/>
              <a:t>B-Transfusion de CGR</a:t>
            </a:r>
          </a:p>
          <a:p>
            <a:pPr lvl="0">
              <a:buNone/>
            </a:pPr>
            <a:r>
              <a:rPr lang="fr-FR" dirty="0" smtClean="0"/>
              <a:t>C-Transfusion de plaquettes</a:t>
            </a:r>
          </a:p>
          <a:p>
            <a:pPr lvl="0">
              <a:buNone/>
            </a:pPr>
            <a:r>
              <a:rPr lang="fr-FR" dirty="0" smtClean="0"/>
              <a:t>D-Perfusion d’albumine</a:t>
            </a:r>
          </a:p>
          <a:p>
            <a:pPr lvl="0">
              <a:buNone/>
            </a:pPr>
            <a:r>
              <a:rPr lang="fr-FR" dirty="0" smtClean="0"/>
              <a:t>E-</a:t>
            </a:r>
            <a:r>
              <a:rPr lang="fr-FR" dirty="0" err="1" smtClean="0"/>
              <a:t>Bolus</a:t>
            </a:r>
            <a:r>
              <a:rPr lang="fr-FR" dirty="0" smtClean="0"/>
              <a:t> de </a:t>
            </a:r>
            <a:r>
              <a:rPr lang="fr-FR" dirty="0" err="1" smtClean="0"/>
              <a:t>sandostatine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A8A78-19AB-4000-AAFA-5161CC90DDD5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QCM3/les mesures à entamer en urgence sont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A-Intubation orotrachéale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B-Transfusion de CGR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C-Transfusion de plaquettes</a:t>
            </a:r>
          </a:p>
          <a:p>
            <a:pPr lvl="0">
              <a:buNone/>
            </a:pPr>
            <a:r>
              <a:rPr lang="fr-FR" dirty="0" smtClean="0"/>
              <a:t>D-Perfusion d’albumine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E-</a:t>
            </a:r>
            <a:r>
              <a:rPr lang="fr-FR" b="1" dirty="0" err="1" smtClean="0">
                <a:solidFill>
                  <a:srgbClr val="7030A0"/>
                </a:solidFill>
              </a:rPr>
              <a:t>Bolus</a:t>
            </a:r>
            <a:r>
              <a:rPr lang="fr-FR" b="1" dirty="0" smtClean="0">
                <a:solidFill>
                  <a:srgbClr val="7030A0"/>
                </a:solidFill>
              </a:rPr>
              <a:t> de </a:t>
            </a:r>
            <a:r>
              <a:rPr lang="fr-FR" b="1" dirty="0" err="1" smtClean="0">
                <a:solidFill>
                  <a:srgbClr val="7030A0"/>
                </a:solidFill>
              </a:rPr>
              <a:t>sandostatine</a:t>
            </a:r>
            <a:r>
              <a:rPr lang="fr-FR" b="1" dirty="0" smtClean="0">
                <a:solidFill>
                  <a:srgbClr val="7030A0"/>
                </a:solidFill>
              </a:rPr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6B7-C913-4E3F-9C55-97044D93EB30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QCM4/l’exploration à demander en urgence est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A-Coloscopie </a:t>
            </a:r>
          </a:p>
          <a:p>
            <a:pPr lvl="0">
              <a:buNone/>
            </a:pPr>
            <a:r>
              <a:rPr lang="fr-FR" dirty="0" smtClean="0"/>
              <a:t>B-</a:t>
            </a:r>
            <a:r>
              <a:rPr lang="fr-FR" dirty="0" err="1" smtClean="0"/>
              <a:t>Enteroscopie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C-Fibroscopie digestive haute</a:t>
            </a:r>
          </a:p>
          <a:p>
            <a:pPr lvl="0">
              <a:buNone/>
            </a:pPr>
            <a:r>
              <a:rPr lang="fr-FR" dirty="0" smtClean="0"/>
              <a:t>D-</a:t>
            </a:r>
            <a:r>
              <a:rPr lang="fr-FR" dirty="0" err="1" smtClean="0"/>
              <a:t>Angioscanner</a:t>
            </a:r>
            <a:r>
              <a:rPr lang="fr-FR" dirty="0" smtClean="0"/>
              <a:t> abdominal</a:t>
            </a:r>
          </a:p>
          <a:p>
            <a:pPr lvl="0">
              <a:buNone/>
            </a:pPr>
            <a:r>
              <a:rPr lang="fr-FR" dirty="0" smtClean="0"/>
              <a:t>E-</a:t>
            </a:r>
            <a:r>
              <a:rPr lang="fr-FR" dirty="0" err="1" smtClean="0"/>
              <a:t>Rectosigmoidoscopie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782FE-9C44-46A2-810D-DC75BBFCCBFA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189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QCM4/l’exploration à demander en urgence est 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A-Coloscopie </a:t>
            </a:r>
          </a:p>
          <a:p>
            <a:pPr lvl="0">
              <a:buNone/>
            </a:pPr>
            <a:r>
              <a:rPr lang="fr-FR" dirty="0" smtClean="0"/>
              <a:t>B-</a:t>
            </a:r>
            <a:r>
              <a:rPr lang="fr-FR" dirty="0" err="1" smtClean="0"/>
              <a:t>Enteroscopie</a:t>
            </a:r>
            <a:endParaRPr lang="fr-FR" dirty="0" smtClean="0"/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C-Fibroscopie digestive haute</a:t>
            </a:r>
          </a:p>
          <a:p>
            <a:pPr lvl="0">
              <a:buNone/>
            </a:pPr>
            <a:r>
              <a:rPr lang="fr-FR" dirty="0" smtClean="0"/>
              <a:t>D-</a:t>
            </a:r>
            <a:r>
              <a:rPr lang="fr-FR" dirty="0" err="1" smtClean="0"/>
              <a:t>Angioscanner</a:t>
            </a:r>
            <a:r>
              <a:rPr lang="fr-FR" dirty="0" smtClean="0"/>
              <a:t> abdominal</a:t>
            </a:r>
          </a:p>
          <a:p>
            <a:pPr lvl="0">
              <a:buNone/>
            </a:pPr>
            <a:r>
              <a:rPr lang="fr-FR" dirty="0" smtClean="0"/>
              <a:t>E-</a:t>
            </a:r>
            <a:r>
              <a:rPr lang="fr-FR" dirty="0" err="1" smtClean="0"/>
              <a:t>Rectosigmoidoscopie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AF7A2-65FD-49FC-ACAB-0EF6C0C0D3D2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190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QCM5/ si le diagnostic de rupture de varices œsophagiennes se confirme la CAT sera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A-LEVO </a:t>
            </a:r>
            <a:r>
              <a:rPr lang="fr-FR" smtClean="0"/>
              <a:t>et </a:t>
            </a:r>
            <a:r>
              <a:rPr lang="fr-FR" smtClean="0"/>
              <a:t>arrêt </a:t>
            </a:r>
            <a:r>
              <a:rPr lang="fr-FR" dirty="0" smtClean="0"/>
              <a:t>de </a:t>
            </a:r>
            <a:r>
              <a:rPr lang="fr-FR" dirty="0" err="1" smtClean="0"/>
              <a:t>sandostatine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B-Ajouter un IPP en IV</a:t>
            </a:r>
          </a:p>
          <a:p>
            <a:pPr lvl="0">
              <a:buNone/>
            </a:pPr>
            <a:r>
              <a:rPr lang="fr-FR" dirty="0" smtClean="0"/>
              <a:t>C-Faire Un TIPS </a:t>
            </a:r>
          </a:p>
          <a:p>
            <a:pPr lvl="0">
              <a:buNone/>
            </a:pPr>
            <a:r>
              <a:rPr lang="fr-FR" dirty="0" smtClean="0"/>
              <a:t>D-LEVO en urgence </a:t>
            </a:r>
          </a:p>
          <a:p>
            <a:pPr lvl="0">
              <a:buNone/>
            </a:pPr>
            <a:r>
              <a:rPr lang="fr-FR" dirty="0" smtClean="0"/>
              <a:t>E-Continuer la </a:t>
            </a:r>
            <a:r>
              <a:rPr lang="fr-FR" dirty="0" err="1" smtClean="0"/>
              <a:t>sandostatine</a:t>
            </a:r>
            <a:r>
              <a:rPr lang="fr-FR" dirty="0" smtClean="0"/>
              <a:t> pendant 5jours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D39F-3930-46C2-BD5B-B946A8CD6DBD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191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 smtClean="0"/>
              <a:t>QCM5/ si le diagnostic de rupture de varices œsophagiennes se confirme la CAT sera :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A-LEVO et </a:t>
            </a:r>
            <a:r>
              <a:rPr lang="fr-FR" dirty="0" smtClean="0"/>
              <a:t>arrêt </a:t>
            </a:r>
            <a:r>
              <a:rPr lang="fr-FR" dirty="0" smtClean="0"/>
              <a:t>de </a:t>
            </a:r>
            <a:r>
              <a:rPr lang="fr-FR" dirty="0" err="1" smtClean="0"/>
              <a:t>sandostatine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B-Ajouter un IPP en IV</a:t>
            </a:r>
          </a:p>
          <a:p>
            <a:pPr lvl="0">
              <a:buNone/>
            </a:pPr>
            <a:r>
              <a:rPr lang="fr-FR" dirty="0" smtClean="0"/>
              <a:t>C-Faire Un TIPS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D-LEVO en urgence </a:t>
            </a:r>
          </a:p>
          <a:p>
            <a:pPr lvl="0">
              <a:buNone/>
            </a:pPr>
            <a:r>
              <a:rPr lang="fr-FR" b="1" dirty="0" smtClean="0">
                <a:solidFill>
                  <a:srgbClr val="7030A0"/>
                </a:solidFill>
              </a:rPr>
              <a:t>E-Continuer la </a:t>
            </a:r>
            <a:r>
              <a:rPr lang="fr-FR" b="1" dirty="0" err="1" smtClean="0">
                <a:solidFill>
                  <a:srgbClr val="7030A0"/>
                </a:solidFill>
              </a:rPr>
              <a:t>sandostatine</a:t>
            </a:r>
            <a:r>
              <a:rPr lang="fr-FR" b="1" dirty="0" smtClean="0">
                <a:solidFill>
                  <a:srgbClr val="7030A0"/>
                </a:solidFill>
              </a:rPr>
              <a:t> pendant 5jours </a:t>
            </a:r>
          </a:p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1EBD-4245-46E8-A370-078B8FBBA746}" type="datetime1">
              <a:rPr lang="fr-FR" smtClean="0"/>
              <a:t>21/08/2025</a:t>
            </a:fld>
            <a:endParaRPr lang="fr-FR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esktop\residanat 2021\images\merci 2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060848"/>
            <a:ext cx="4176464" cy="231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FB63D-A0EE-4C04-8FF9-90DE3F84564D}" type="datetime1">
              <a:rPr lang="fr-FR" smtClean="0"/>
              <a:t>21/08/2025</a:t>
            </a:fld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96955-3A76-4396-892B-1913F6BCC179}" type="slidenum">
              <a:rPr lang="fr-FR" smtClean="0"/>
              <a:pPr/>
              <a:t>192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Cycle de résidanat - Sujet 34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06931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e">
  <a:themeElements>
    <a:clrScheme name="Origine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e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5017</TotalTime>
  <Words>6524</Words>
  <Application>Microsoft Office PowerPoint</Application>
  <PresentationFormat>Affichage à l'écran (4:3)</PresentationFormat>
  <Paragraphs>1871</Paragraphs>
  <Slides>192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192</vt:i4>
      </vt:variant>
    </vt:vector>
  </HeadingPairs>
  <TitlesOfParts>
    <vt:vector size="199" baseType="lpstr">
      <vt:lpstr>Bookman Old Style</vt:lpstr>
      <vt:lpstr>Calibri</vt:lpstr>
      <vt:lpstr>Gill Sans MT</vt:lpstr>
      <vt:lpstr>Times New Roman</vt:lpstr>
      <vt:lpstr>Wingdings</vt:lpstr>
      <vt:lpstr>Wingdings 3</vt:lpstr>
      <vt:lpstr>Origine</vt:lpstr>
      <vt:lpstr>Les hémorragies digestives </vt:lpstr>
      <vt:lpstr>Objectifs :</vt:lpstr>
      <vt:lpstr>QCM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1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4</vt:lpstr>
      <vt:lpstr>Objectif 4</vt:lpstr>
      <vt:lpstr>Objectif 4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5</vt:lpstr>
      <vt:lpstr>Objectif 5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6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7</vt:lpstr>
      <vt:lpstr>Objectif 7</vt:lpstr>
      <vt:lpstr>Objectif 7</vt:lpstr>
      <vt:lpstr>Objectif 7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8</vt:lpstr>
      <vt:lpstr>Objectifs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9</vt:lpstr>
      <vt:lpstr>Cas cliniques  </vt:lpstr>
      <vt:lpstr>Cas clinique 1 </vt:lpstr>
      <vt:lpstr>Cas clinique 1 </vt:lpstr>
      <vt:lpstr>Cas clinique 1 </vt:lpstr>
      <vt:lpstr>Cas clinique 1 </vt:lpstr>
      <vt:lpstr>Cas clinique 1 </vt:lpstr>
      <vt:lpstr>Cas clinique 1 </vt:lpstr>
      <vt:lpstr>Cas clinique 1 </vt:lpstr>
      <vt:lpstr>Cas clinique 1 </vt:lpstr>
      <vt:lpstr>Sonde naso- gastrique</vt:lpstr>
      <vt:lpstr>Cas clinique 1 </vt:lpstr>
      <vt:lpstr>Cas clinique 1 </vt:lpstr>
      <vt:lpstr>Cas clinique 1 </vt:lpstr>
      <vt:lpstr>Cas clinique 1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2 </vt:lpstr>
      <vt:lpstr>Cas clinique 3 </vt:lpstr>
      <vt:lpstr>Cas clinique 3 </vt:lpstr>
      <vt:lpstr>Cas clinique 3 </vt:lpstr>
      <vt:lpstr>Cas clinique 3 </vt:lpstr>
      <vt:lpstr>Cas clinique 3 </vt:lpstr>
      <vt:lpstr>Cas clinique 3 </vt:lpstr>
      <vt:lpstr>Cas clinique 3 </vt:lpstr>
      <vt:lpstr>Cas clinique 4 </vt:lpstr>
      <vt:lpstr>Cas clinique 4 </vt:lpstr>
      <vt:lpstr>Cas clinique 4 </vt:lpstr>
      <vt:lpstr>Cas clinique 4 </vt:lpstr>
      <vt:lpstr>Cas clinique 4 </vt:lpstr>
      <vt:lpstr>Cas clinique 4 </vt:lpstr>
      <vt:lpstr>Cas clinique 4 </vt:lpstr>
      <vt:lpstr>Présentation PowerPoint</vt:lpstr>
      <vt:lpstr>Présentation PowerPoint</vt:lpstr>
      <vt:lpstr>Cas clinique 5 </vt:lpstr>
      <vt:lpstr>Présentation PowerPoint</vt:lpstr>
      <vt:lpstr>Cas clinique 5 </vt:lpstr>
      <vt:lpstr>Cas clinique 5 </vt:lpstr>
      <vt:lpstr>Cas clinique 5 </vt:lpstr>
      <vt:lpstr>Cas clinique 5 </vt:lpstr>
      <vt:lpstr>Cas clinique 5 </vt:lpstr>
      <vt:lpstr>Cas clinique 5 </vt:lpstr>
      <vt:lpstr>Présentation PowerPoint</vt:lpstr>
      <vt:lpstr>Cas clinique 6 </vt:lpstr>
      <vt:lpstr>Cas clinique 6 </vt:lpstr>
      <vt:lpstr>Cas clinique 6 </vt:lpstr>
      <vt:lpstr>Cas clinique 6 </vt:lpstr>
      <vt:lpstr>Cas clinique 6 </vt:lpstr>
      <vt:lpstr>Cas clinique 6 </vt:lpstr>
      <vt:lpstr>Cas clinique 6 </vt:lpstr>
      <vt:lpstr>Cas clinique 7 </vt:lpstr>
      <vt:lpstr>Cas clinique 7 </vt:lpstr>
      <vt:lpstr>Cas clinique 7 </vt:lpstr>
      <vt:lpstr>Cas clinique 7 </vt:lpstr>
      <vt:lpstr>Cas clinique 7 </vt:lpstr>
      <vt:lpstr>Cas clinique 7 </vt:lpstr>
      <vt:lpstr>Cas clinique 7 </vt:lpstr>
      <vt:lpstr>Cas clinique 7 </vt:lpstr>
      <vt:lpstr>Cas clinique 7 </vt:lpstr>
      <vt:lpstr>Cas clinique 7 </vt:lpstr>
      <vt:lpstr>Cas clinique 8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Cas clinique 9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hemorragies digestives</dc:title>
  <dc:creator>DELL</dc:creator>
  <cp:lastModifiedBy>HP</cp:lastModifiedBy>
  <cp:revision>362</cp:revision>
  <dcterms:created xsi:type="dcterms:W3CDTF">2021-08-16T19:22:19Z</dcterms:created>
  <dcterms:modified xsi:type="dcterms:W3CDTF">2025-08-21T14:31:17Z</dcterms:modified>
</cp:coreProperties>
</file>
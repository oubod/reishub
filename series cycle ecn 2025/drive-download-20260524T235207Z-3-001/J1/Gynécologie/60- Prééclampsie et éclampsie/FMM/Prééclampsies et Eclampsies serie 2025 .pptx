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92"/>
  </p:notesMasterIdLst>
  <p:handoutMasterIdLst>
    <p:handoutMasterId r:id="rId93"/>
  </p:handoutMasterIdLst>
  <p:sldIdLst>
    <p:sldId id="344" r:id="rId2"/>
    <p:sldId id="257" r:id="rId3"/>
    <p:sldId id="258" r:id="rId4"/>
    <p:sldId id="259" r:id="rId5"/>
    <p:sldId id="260" r:id="rId6"/>
    <p:sldId id="34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7" r:id="rId91"/>
  </p:sldIdLst>
  <p:sldSz cx="12192000" cy="6858000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852" y="60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738" cy="502739"/>
          </a:xfrm>
          <a:prstGeom prst="rect">
            <a:avLst/>
          </a:prstGeom>
        </p:spPr>
        <p:txBody>
          <a:bodyPr vert="horz" lIns="89163" tIns="44582" rIns="89163" bIns="44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524" y="0"/>
            <a:ext cx="2984738" cy="502739"/>
          </a:xfrm>
          <a:prstGeom prst="rect">
            <a:avLst/>
          </a:prstGeom>
        </p:spPr>
        <p:txBody>
          <a:bodyPr vert="horz" lIns="89163" tIns="44582" rIns="89163" bIns="44582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7251"/>
            <a:ext cx="2984738" cy="502738"/>
          </a:xfrm>
          <a:prstGeom prst="rect">
            <a:avLst/>
          </a:prstGeom>
        </p:spPr>
        <p:txBody>
          <a:bodyPr vert="horz" lIns="89163" tIns="44582" rIns="89163" bIns="44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524" y="9517251"/>
            <a:ext cx="2984738" cy="502738"/>
          </a:xfrm>
          <a:prstGeom prst="rect">
            <a:avLst/>
          </a:prstGeom>
        </p:spPr>
        <p:txBody>
          <a:bodyPr vert="horz" lIns="89163" tIns="44582" rIns="89163" bIns="44582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614" cy="502026"/>
          </a:xfrm>
          <a:prstGeom prst="rect">
            <a:avLst/>
          </a:prstGeom>
        </p:spPr>
        <p:txBody>
          <a:bodyPr vert="horz" lIns="89163" tIns="44582" rIns="89163" bIns="44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3902010" y="0"/>
            <a:ext cx="2984613" cy="502026"/>
          </a:xfrm>
          <a:prstGeom prst="rect">
            <a:avLst/>
          </a:prstGeom>
        </p:spPr>
        <p:txBody>
          <a:bodyPr vert="horz" lIns="89163" tIns="44582" rIns="89163" bIns="44582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163" tIns="44582" rIns="89163" bIns="44582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689586" y="4822863"/>
            <a:ext cx="5510530" cy="3944706"/>
          </a:xfrm>
          <a:prstGeom prst="rect">
            <a:avLst/>
          </a:prstGeom>
        </p:spPr>
        <p:txBody>
          <a:bodyPr vert="horz" lIns="89163" tIns="44582" rIns="89163" bIns="4458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8275"/>
            <a:ext cx="2984614" cy="502026"/>
          </a:xfrm>
          <a:prstGeom prst="rect">
            <a:avLst/>
          </a:prstGeom>
        </p:spPr>
        <p:txBody>
          <a:bodyPr vert="horz" lIns="89163" tIns="44582" rIns="89163" bIns="44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10" y="9518275"/>
            <a:ext cx="2984613" cy="502026"/>
          </a:xfrm>
          <a:prstGeom prst="rect">
            <a:avLst/>
          </a:prstGeom>
        </p:spPr>
        <p:txBody>
          <a:bodyPr vert="horz" lIns="89163" tIns="44582" rIns="89163" bIns="44582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38150" y="1252538"/>
            <a:ext cx="6013450" cy="3382962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700" b="1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899C3-2F3C-48F2-A621-26439A0BDF68}" type="slidenum">
              <a:rPr lang="fr-FR" smtClean="0"/>
              <a:t>31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38150" y="1252538"/>
            <a:ext cx="6013450" cy="3382962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899C3-2F3C-48F2-A621-26439A0BDF68}" type="slidenum">
              <a:rPr lang="fr-FR" smtClean="0"/>
              <a:t>37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15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1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8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5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2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0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6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1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64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65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5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1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706305" y="500341"/>
            <a:ext cx="6723221" cy="1128713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Prééclampsies et Eclampsies.	</a:t>
            </a:r>
            <a:br>
              <a:rPr lang="fr-FR" sz="3200" b="1" dirty="0">
                <a:solidFill>
                  <a:srgbClr val="FF0000"/>
                </a:solidFill>
              </a:rPr>
            </a:br>
            <a:r>
              <a:rPr lang="fr-FR" sz="3200" b="1" dirty="0">
                <a:solidFill>
                  <a:srgbClr val="FF0000"/>
                </a:solidFill>
              </a:rPr>
              <a:t>serie résidanat 2025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47332" y="2134021"/>
            <a:ext cx="7422805" cy="3973352"/>
          </a:xfrm>
        </p:spPr>
        <p:txBody>
          <a:bodyPr>
            <a:normAutofit lnSpcReduction="10000"/>
          </a:bodyPr>
          <a:lstStyle/>
          <a:p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Pr Ag </a:t>
            </a:r>
            <a:r>
              <a:rPr lang="fr-FR" sz="1800" b="1" dirty="0" err="1">
                <a:solidFill>
                  <a:schemeClr val="accent5">
                    <a:lumMod val="50000"/>
                  </a:schemeClr>
                </a:solidFill>
              </a:rPr>
              <a:t>Hamouda</a:t>
            </a:r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sz="1800" b="1" dirty="0" err="1">
                <a:solidFill>
                  <a:schemeClr val="accent5">
                    <a:lumMod val="50000"/>
                  </a:schemeClr>
                </a:solidFill>
              </a:rPr>
              <a:t>Mouna</a:t>
            </a:r>
            <a:endParaRPr lang="fr-FR" sz="1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fr-FR" sz="1800" i="1" dirty="0"/>
              <a:t>Service de néphrologie</a:t>
            </a:r>
            <a:endParaRPr lang="fr-FR" sz="1800" dirty="0"/>
          </a:p>
          <a:p>
            <a:r>
              <a:rPr lang="fr-FR" sz="1800" i="1" dirty="0"/>
              <a:t>CHU </a:t>
            </a:r>
            <a:r>
              <a:rPr lang="fr-FR" sz="1800" i="1" dirty="0" err="1"/>
              <a:t>Fattouma</a:t>
            </a:r>
            <a:r>
              <a:rPr lang="fr-FR" sz="1800" i="1" dirty="0"/>
              <a:t> Bourguiba Monastir</a:t>
            </a:r>
          </a:p>
          <a:p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Dr </a:t>
            </a:r>
            <a:r>
              <a:rPr lang="fr-FR" sz="1800" b="1" dirty="0" err="1">
                <a:solidFill>
                  <a:schemeClr val="accent5">
                    <a:lumMod val="50000"/>
                  </a:schemeClr>
                </a:solidFill>
              </a:rPr>
              <a:t>Sghaier</a:t>
            </a:r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 Nadia</a:t>
            </a:r>
          </a:p>
          <a:p>
            <a:r>
              <a:rPr lang="fr-FR" sz="1800" i="1" dirty="0"/>
              <a:t>Service de gynécologie obstétrique</a:t>
            </a:r>
          </a:p>
          <a:p>
            <a:r>
              <a:rPr lang="fr-FR" sz="1800" i="1" dirty="0"/>
              <a:t>EPS Tahar </a:t>
            </a:r>
            <a:r>
              <a:rPr lang="fr-FR" sz="1800" i="1" dirty="0" err="1"/>
              <a:t>Sfar</a:t>
            </a:r>
            <a:r>
              <a:rPr lang="fr-FR" sz="1800" i="1" dirty="0"/>
              <a:t> Mahdia</a:t>
            </a:r>
          </a:p>
          <a:p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Pr Ag </a:t>
            </a:r>
            <a:r>
              <a:rPr lang="fr-FR" sz="1800" b="1" dirty="0" err="1">
                <a:solidFill>
                  <a:schemeClr val="accent5">
                    <a:lumMod val="50000"/>
                  </a:schemeClr>
                </a:solidFill>
              </a:rPr>
              <a:t>Bouchahda</a:t>
            </a:r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sz="1800" b="1" dirty="0" err="1">
                <a:solidFill>
                  <a:schemeClr val="accent5">
                    <a:lumMod val="50000"/>
                  </a:schemeClr>
                </a:solidFill>
              </a:rPr>
              <a:t>Haifa</a:t>
            </a:r>
            <a:r>
              <a:rPr lang="fr-FR" sz="18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fr-FR" sz="1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fr-FR" sz="1800" i="1" dirty="0"/>
              <a:t>Service de gynécologie obstétrique</a:t>
            </a:r>
            <a:endParaRPr lang="fr-FR" sz="1800" dirty="0"/>
          </a:p>
          <a:p>
            <a:r>
              <a:rPr lang="fr-FR" sz="1800" dirty="0"/>
              <a:t>EPS Tahar </a:t>
            </a:r>
            <a:r>
              <a:rPr lang="fr-FR" sz="1800" dirty="0" err="1"/>
              <a:t>Sfar</a:t>
            </a:r>
            <a:r>
              <a:rPr lang="fr-FR" sz="1800" dirty="0"/>
              <a:t> Mahdia</a:t>
            </a:r>
          </a:p>
          <a:p>
            <a:endParaRPr lang="fr-FR" sz="1800" dirty="0"/>
          </a:p>
          <a:p>
            <a:r>
              <a:rPr lang="fr-FR" sz="1800" dirty="0">
                <a:solidFill>
                  <a:schemeClr val="accent5">
                    <a:lumMod val="50000"/>
                  </a:schemeClr>
                </a:solidFill>
              </a:rPr>
              <a:t>RESIDANAT 2025</a:t>
            </a:r>
          </a:p>
          <a:p>
            <a:endParaRPr lang="fr-FR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b="1" dirty="0"/>
              <a:t>Objectifs :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38150" y="2306473"/>
            <a:ext cx="8243248" cy="3138985"/>
          </a:xfrm>
        </p:spPr>
        <p:txBody>
          <a:bodyPr>
            <a:normAutofit/>
          </a:bodyPr>
          <a:lstStyle/>
          <a:p>
            <a:pPr lvl="0"/>
            <a:r>
              <a:rPr lang="fr-FR" sz="3600" dirty="0">
                <a:solidFill>
                  <a:srgbClr val="FF0000"/>
                </a:solidFill>
              </a:rPr>
              <a:t>1- Citer  les mécanismes physiopathologiques de la pré éclampsie.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15319" y="1501254"/>
            <a:ext cx="7886700" cy="47357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/>
              <a:t>Chez une femme pré éclamptique il est vrai que: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Les artères spiralées du myomètre jouent un rôle clé dans la pré 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Le placenta est le siège de lésions hémorragiques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Il existe une micro angiopathie généralisée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Il existe une augmentation du taux circulant  du VEGF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Il existe un état anticoagulant </a:t>
            </a:r>
            <a:r>
              <a:rPr lang="fr-FR" dirty="0" err="1"/>
              <a:t>proinflammatoire</a:t>
            </a:r>
            <a:r>
              <a:rPr lang="fr-FR" dirty="0"/>
              <a:t> vasoconstricteur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9200" y="1770748"/>
            <a:ext cx="9753600" cy="47221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La pré éclampsie est secondaire à un/une: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Défaut de la deuxième vague d’invasion trophoblastique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Sécrétion du placenta  d’agents </a:t>
            </a:r>
            <a:r>
              <a:rPr lang="fr-FR" dirty="0" err="1"/>
              <a:t>proangiogénique</a:t>
            </a:r>
            <a:endParaRPr lang="fr-FR" dirty="0"/>
          </a:p>
          <a:p>
            <a:pPr lvl="1" indent="-385763">
              <a:buFont typeface="+mj-lt"/>
              <a:buAutoNum type="alphaUcPeriod"/>
            </a:pPr>
            <a:r>
              <a:rPr lang="fr-FR" dirty="0"/>
              <a:t>Maladie </a:t>
            </a:r>
            <a:r>
              <a:rPr lang="fr-FR" dirty="0" err="1"/>
              <a:t>autoimmune</a:t>
            </a:r>
            <a:endParaRPr lang="fr-FR" dirty="0"/>
          </a:p>
          <a:p>
            <a:pPr lvl="1" indent="-385763">
              <a:buFont typeface="+mj-lt"/>
              <a:buAutoNum type="alphaUcPeriod"/>
            </a:pPr>
            <a:r>
              <a:rPr lang="fr-FR" dirty="0"/>
              <a:t>Résistance augmentée des artérioles utérines spiralées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Vasoconstriction et à une augmentation de la perméabilité vasculaire.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La physiopathologie de la pré éclampsie fait intervenir :</a:t>
            </a:r>
          </a:p>
          <a:p>
            <a:pPr marL="257175" indent="-257175" algn="just">
              <a:lnSpc>
                <a:spcPct val="107000"/>
              </a:lnSpc>
              <a:spcBef>
                <a:spcPts val="1350"/>
              </a:spcBef>
              <a:buSzPct val="100000"/>
              <a:buFont typeface="+mj-lt"/>
              <a:buAutoNum type="alphaUcPeriod"/>
              <a:defRPr/>
            </a:pPr>
            <a:r>
              <a:rPr lang="fr-F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Hypoperfusion placentaire </a:t>
            </a:r>
            <a:endParaRPr lang="fr-FR" sz="16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spcBef>
                <a:spcPts val="1350"/>
              </a:spcBef>
              <a:buSzPct val="100000"/>
              <a:buFont typeface="+mj-lt"/>
              <a:buAutoNum type="alphaUcPeriod"/>
              <a:defRPr/>
            </a:pPr>
            <a:r>
              <a:rPr lang="fr-F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Activation des granulocytes.</a:t>
            </a:r>
            <a:endParaRPr lang="fr-FR" sz="16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spcBef>
                <a:spcPts val="1350"/>
              </a:spcBef>
              <a:buSzPct val="100000"/>
              <a:buFont typeface="+mj-lt"/>
              <a:buAutoNum type="alphaUcPeriod"/>
              <a:defRPr/>
            </a:pPr>
            <a:r>
              <a:rPr lang="fr-F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Surcharge calcique responsable de troubles du rythme.</a:t>
            </a:r>
            <a:endParaRPr lang="fr-FR" sz="16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spcBef>
                <a:spcPts val="1350"/>
              </a:spcBef>
              <a:buSzPct val="100000"/>
              <a:buFont typeface="+mj-lt"/>
              <a:buAutoNum type="alphaUcPeriod"/>
              <a:defRPr/>
            </a:pPr>
            <a:r>
              <a:rPr lang="fr-F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Augmentation de la thromboxane A6</a:t>
            </a:r>
            <a:endParaRPr lang="fr-FR" sz="16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spcBef>
                <a:spcPts val="1350"/>
              </a:spcBef>
              <a:buSzPct val="100000"/>
              <a:buFont typeface="+mj-lt"/>
              <a:buAutoNum type="alphaUcPeriod"/>
              <a:defRPr/>
            </a:pPr>
            <a:r>
              <a:rPr lang="fr-F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Invasion trophoblastique tardive</a:t>
            </a:r>
            <a:r>
              <a:rPr lang="fr-FR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.</a:t>
            </a:r>
            <a:endParaRPr lang="fr-FR" sz="135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8173" y="1895688"/>
            <a:ext cx="9589827" cy="4962312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Concernant la physiopathologie de la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preéclampsie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A/La contractilité des artères spiralées n’est pas impliquée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B/les artères spiralées sont plus fines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C/il y a des facteurs anti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angiogéniques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impliqués 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D/il y a un excès de substances vasodilatatrices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E/il y a une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endotheliose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glomérulaire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manifestations cliniques habituelles de la pré éclampsie sont 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Une  hyper réflexivité ostéotendineuse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Des  vomissements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Des œdèmes 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RCIU harmonieux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Une diarrhée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24501" y="2224586"/>
            <a:ext cx="8366078" cy="2222413"/>
          </a:xfrm>
        </p:spPr>
        <p:txBody>
          <a:bodyPr vert="horz" lIns="68580" tIns="34290" rIns="68580" bIns="34290" rtlCol="0">
            <a:normAutofit/>
          </a:bodyPr>
          <a:lstStyle/>
          <a:p>
            <a:pPr lvl="0" algn="ctr"/>
            <a:r>
              <a:rPr lang="fr-FR" sz="4000" dirty="0">
                <a:solidFill>
                  <a:srgbClr val="FF0000"/>
                </a:solidFill>
              </a:rPr>
              <a:t>2- Préciser les facteurs de risque de la pré éclampsie</a:t>
            </a:r>
          </a:p>
          <a:p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3095604" y="1553753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sont parmi les suivants; les facteurs de risques de la pré éclampsie 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Age maternel entre 17 et 35 ans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antécédents familiaux de HTA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nulliparité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vie prés de la mer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thrombophile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97458" y="1690689"/>
            <a:ext cx="7641892" cy="48021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Quel sont parmi les suivants; les facteurs de risques de la pré éclampsie 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Grossesse gémellaire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L’anasarque fœtal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Diabète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Intervalle inter génésique cours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Une mole </a:t>
            </a:r>
            <a:r>
              <a:rPr lang="fr-FR" dirty="0" err="1"/>
              <a:t>hydatiforme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8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23582" y="1897039"/>
            <a:ext cx="9371463" cy="4960961"/>
          </a:xfrm>
        </p:spPr>
        <p:txBody>
          <a:bodyPr>
            <a:normAutofit/>
          </a:bodyPr>
          <a:lstStyle/>
          <a:p>
            <a:r>
              <a:rPr lang="fr-FR" dirty="0"/>
              <a:t>Quel sont parmi les suivants; les facteurs de risques de la pré 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BMI &gt; 37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</a:t>
            </a:r>
            <a:r>
              <a:rPr lang="fr-FR" dirty="0" err="1"/>
              <a:t>sarcoidose</a:t>
            </a:r>
            <a:endParaRPr lang="fr-FR" dirty="0"/>
          </a:p>
          <a:p>
            <a:pPr lvl="1" indent="-385763">
              <a:buFont typeface="+mj-lt"/>
              <a:buAutoNum type="alphaUcPeriod"/>
            </a:pPr>
            <a:r>
              <a:rPr lang="fr-FR" dirty="0"/>
              <a:t>Le syndrome d’apnée de sommeil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Une multiparité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syndrome des anticorps anti phospholipides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Est un facteur de risque de développer une pré éclampsie (PE) 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Tabagisme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Surpoids maternel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Antécédents familiaux d’hypertension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Multiparité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Syndrome des anti-phospholipides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33016" y="2839637"/>
            <a:ext cx="10003808" cy="2715002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3- Etablir le diagnostic positif d’une pré éclampsie et d’une éclampsie à partir des données cliniques et para cliniques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3095604" y="1553753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protéinurie au cours de la  Preéclampsie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Est à type d’albuminurie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 protéinurie de 24h ≥ 0,3g/24h dans la Preéclampsie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est précoce par rapport à la survenue de l’HTA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Son absence élimine le diagnostic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Impose l’extraction fœtale si elle est &gt; à 2g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0158" y="2057400"/>
            <a:ext cx="8918242" cy="3394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La mesure de la pression artérielle (PA) doit respecter plusieurs conditions 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Femme en position assise,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Femme en position debout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Bras totalement nu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Niveau zéro du mercure à la hauteur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du mamelon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indent="-385763">
              <a:buFont typeface="+mj-lt"/>
              <a:buAutoNum type="alphaUcPeriod"/>
            </a:pPr>
            <a:r>
              <a:rPr lang="fr-FR" dirty="0"/>
              <a:t>Brassard adapté à l’épaisseur du bras.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QCM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Madame H </a:t>
            </a:r>
            <a:r>
              <a:rPr lang="fr-FR" dirty="0" err="1"/>
              <a:t>agée</a:t>
            </a:r>
            <a:r>
              <a:rPr lang="fr-FR" dirty="0"/>
              <a:t> de 29 ans G1P1 consulte au urgences d’un hôpital de circonscription pour céphalées sur un terme de 28 SA . L’examen clinique à trouvé la notion de vomissement le matin, une douleur épigastrique en barre, une TA = 19/11 à deux reprises à 4heures d’intervalles  , une protéinurie à la bandelette à 3X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est  votre diagnostic?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Preéclampsie précoce et sévère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Hypertension artérielle chronique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HTA gravidique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Effet blouse blanche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Preéclampsie surajoutée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Quelles  complications pourrait avoir cette patiente en rapport avec l’énoncée?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 err="1"/>
              <a:t>Hellp</a:t>
            </a:r>
            <a:r>
              <a:rPr lang="fr-FR" dirty="0"/>
              <a:t> syndrome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Hématome sous capsulaire du foie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HRP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OAP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Quelles sont les gestes d’urgences que vous étés sensé réaliser chez cette patiente?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Hospitalisation ;conditionnement et surveillance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Prescription d’une corticothérapie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Prescription du sulfate de magnésium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Prescription du loxen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Prescrire du lasilix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le bilan de retentissement à prescrire chez cette patiente 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</a:t>
            </a:r>
            <a:r>
              <a:rPr lang="fr-FR" dirty="0">
                <a:solidFill>
                  <a:schemeClr val="tx1"/>
                </a:solidFill>
              </a:rPr>
              <a:t>bilan hémostase; hépatique et rénal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</a:rPr>
              <a:t>Protéinurie de 24 h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</a:rPr>
              <a:t>Echographie fœtal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Echographie abdominale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Scanner cérébrale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51380" y="2930724"/>
            <a:ext cx="9403306" cy="996551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4- Distinguer les éléments de sévérité et de gravité de la pré éclampsie</a:t>
            </a:r>
          </a:p>
          <a:p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2988447" y="1125125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prééclampsie est sévère si 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diurèse à 36 cc/heure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protéinurie à 6g/24h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apparue à 36 SA.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plaquettes à 80 000/ mm3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natrémie à 140 mmol/l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51630"/>
            <a:ext cx="9902588" cy="3712191"/>
          </a:xfrm>
        </p:spPr>
        <p:txBody>
          <a:bodyPr/>
          <a:lstStyle/>
          <a:p>
            <a:pPr lvl="0"/>
            <a:r>
              <a:rPr lang="fr-FR" dirty="0"/>
              <a:t>Dans la Preéclampsie sévère : </a:t>
            </a:r>
          </a:p>
          <a:p>
            <a:pPr marL="642938" lvl="1" indent="-342900">
              <a:buFont typeface="+mj-lt"/>
              <a:buAutoNum type="alphaUcPeriod"/>
            </a:pPr>
            <a:r>
              <a:rPr lang="fr-FR" dirty="0"/>
              <a:t>La PAS&gt;=160 et/ou PAD&gt;= 110mm hg</a:t>
            </a:r>
          </a:p>
          <a:p>
            <a:pPr marL="642938" lvl="1" indent="-342900">
              <a:buFont typeface="+mj-lt"/>
              <a:buAutoNum type="alphaUcPeriod"/>
            </a:pPr>
            <a:r>
              <a:rPr lang="fr-FR" dirty="0"/>
              <a:t>Transaminases  à 70 UI/ml,</a:t>
            </a:r>
          </a:p>
          <a:p>
            <a:pPr marL="642938" lvl="1" indent="-342900">
              <a:buFont typeface="+mj-lt"/>
              <a:buAutoNum type="alphaUcPeriod"/>
            </a:pPr>
            <a:r>
              <a:rPr lang="fr-FR" dirty="0"/>
              <a:t>La Créatinémie &gt;100 micromoles/L, </a:t>
            </a:r>
          </a:p>
          <a:p>
            <a:pPr marL="642938" lvl="1" indent="-342900">
              <a:buFont typeface="+mj-lt"/>
              <a:buAutoNum type="alphaUcPeriod"/>
            </a:pPr>
            <a:r>
              <a:rPr lang="fr-FR" dirty="0"/>
              <a:t>diurèse à 20ml/h,</a:t>
            </a:r>
          </a:p>
          <a:p>
            <a:pPr marL="642938" lvl="1" indent="-342900">
              <a:buFont typeface="+mj-lt"/>
              <a:buAutoNum type="alphaUcPeriod"/>
            </a:pPr>
            <a:r>
              <a:rPr lang="fr-FR" dirty="0"/>
              <a:t>L’ anémie est constante</a:t>
            </a:r>
          </a:p>
          <a:p>
            <a:endParaRPr lang="fr-FR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Parmi les signes de gravité de la pré éclampsie on note: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Hyper réflexivité ostéotendineuse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Céphalées persistantes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Œdèmes majeurs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Retard de croissance intra-utérin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HTA à 111mmHg  de diastolique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formes graves de la pré éclampsie: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Sont incluse dans les formes sévères de prééclampsie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sont détectées sur des signes cliniques et biologiques 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représentent la majorité des PE.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sont basées sur la cinétique rapide des troubles.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sont la première cause de décès maternel dans le monde.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09900" y="2057401"/>
            <a:ext cx="6326460" cy="3394472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Les formes graves de la prééclampsie 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ont un tropisme d’atteinte d’organes variable d’une patiente à une autre.</a:t>
            </a:r>
            <a:r>
              <a:rPr lang="fr-FR" sz="1800" dirty="0">
                <a:latin typeface="Calibri" panose="020F0502020204030204"/>
                <a:ea typeface="Calibri" panose="020F0502020204030204"/>
                <a:cs typeface="Times New Roman" panose="02020603050405020304"/>
              </a:rPr>
              <a:t> 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Peuvent être dépistées par le dosage sanguin des facteurs angiogéniques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 ne se surviennent pas à  une protéinurie &lt;1g/24h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sont la conséquence d’une dysfonction endothéliale majeure.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peuvent survenir dans le post-partum.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2639" y="1856096"/>
            <a:ext cx="9785445" cy="3998794"/>
          </a:xfrm>
        </p:spPr>
        <p:txBody>
          <a:bodyPr/>
          <a:lstStyle/>
          <a:p>
            <a:pPr>
              <a:buNone/>
            </a:pPr>
            <a:r>
              <a:rPr lang="fr-FR" dirty="0"/>
              <a:t>Quels sont les signes biologiques de gravité devant une Preéclampsie?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Protéinurie = 200 mg/l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Uricémie à 450 </a:t>
            </a:r>
            <a:r>
              <a:rPr lang="fr-FR" dirty="0" err="1"/>
              <a:t>μmmol</a:t>
            </a:r>
            <a:endParaRPr lang="fr-FR" dirty="0"/>
          </a:p>
          <a:p>
            <a:pPr lvl="1" indent="-385763">
              <a:buFont typeface="+mj-lt"/>
              <a:buAutoNum type="alphaUcPeriod"/>
            </a:pPr>
            <a:r>
              <a:rPr lang="fr-FR" dirty="0"/>
              <a:t> Leucocytes = 13 000 / mm3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Plaquettes à 92 000 / mm3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Transaminases à 700 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18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Quels sont les signes cliniques qui font craindre la gravité d’ une Preéclampsie?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Des crépitants au deux champs pulmonaire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Présence des signes de Preéclampsie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Bon relâchement utérin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Saignement noirâtre d’origine endouterine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anurie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42197" y="2057401"/>
            <a:ext cx="8693624" cy="164163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	Réunir les éléments cliniques et paracliniques du retentissement </a:t>
            </a:r>
            <a:r>
              <a:rPr lang="fr-FR" u="sng" dirty="0">
                <a:solidFill>
                  <a:srgbClr val="FF0000"/>
                </a:solidFill>
              </a:rPr>
              <a:t>maternel</a:t>
            </a:r>
            <a:r>
              <a:rPr lang="fr-FR" dirty="0">
                <a:solidFill>
                  <a:srgbClr val="FF0000"/>
                </a:solidFill>
              </a:rPr>
              <a:t> et fœtal de la </a:t>
            </a:r>
            <a:r>
              <a:rPr lang="fr-FR" dirty="0" err="1">
                <a:solidFill>
                  <a:srgbClr val="FF0000"/>
                </a:solidFill>
              </a:rPr>
              <a:t>prééclampsie</a:t>
            </a:r>
            <a:r>
              <a:rPr lang="fr-FR" dirty="0">
                <a:solidFill>
                  <a:srgbClr val="FF0000"/>
                </a:solidFill>
              </a:rPr>
              <a:t> et de l’éclampsie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2988447" y="1125125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19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parmi Les complications maternelles de la prééclampsie on cite: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Le hellp sd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l’encéphalopathie hypertensive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L’HRP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l’ Insuffisance rénale aigue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cécité corticale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92881">
              <a:lnSpc>
                <a:spcPct val="115000"/>
              </a:lnSpc>
              <a:spcAft>
                <a:spcPts val="563"/>
              </a:spcAft>
              <a:defRPr/>
            </a:pPr>
            <a:r>
              <a:rPr lang="fr-FR" b="1" dirty="0">
                <a:latin typeface="Calibri" panose="020F0502020204030204"/>
                <a:ea typeface="Calibri" panose="020F0502020204030204"/>
                <a:cs typeface="Times New Roman" panose="02020603050405020304"/>
              </a:rPr>
              <a:t>Concernant le HELLP syndrome </a:t>
            </a:r>
            <a:endParaRPr lang="fr-FR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492919" lvl="1">
              <a:lnSpc>
                <a:spcPct val="115000"/>
              </a:lnSpc>
              <a:spcAft>
                <a:spcPts val="563"/>
              </a:spcAft>
              <a:buFont typeface="+mj-lt"/>
              <a:buAutoNum type="alphaUcPeriod"/>
              <a:tabLst>
                <a:tab pos="257175" algn="l"/>
                <a:tab pos="432435" algn="l"/>
              </a:tabLst>
              <a:defRPr/>
            </a:pPr>
            <a:r>
              <a:rPr lang="fr-FR" dirty="0">
                <a:latin typeface="Calibri" panose="020F0502020204030204"/>
                <a:ea typeface="Calibri" panose="020F0502020204030204"/>
                <a:cs typeface="Times New Roman" panose="02020603050405020304"/>
              </a:rPr>
              <a:t>Survient uniquement au 3è trimestre </a:t>
            </a:r>
          </a:p>
          <a:p>
            <a:pPr marL="492919" lvl="1">
              <a:lnSpc>
                <a:spcPct val="115000"/>
              </a:lnSpc>
              <a:spcAft>
                <a:spcPts val="563"/>
              </a:spcAft>
              <a:buFont typeface="+mj-lt"/>
              <a:buAutoNum type="alphaUcPeriod"/>
              <a:tabLst>
                <a:tab pos="257175" algn="l"/>
                <a:tab pos="432435" algn="l"/>
              </a:tabLst>
              <a:defRPr/>
            </a:pPr>
            <a:r>
              <a:rPr lang="fr-FR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Times New Roman" panose="02020603050405020304"/>
              </a:rPr>
              <a:t>Comporte une anémie </a:t>
            </a:r>
          </a:p>
          <a:p>
            <a:pPr marL="492919" lvl="1">
              <a:lnSpc>
                <a:spcPct val="115000"/>
              </a:lnSpc>
              <a:spcAft>
                <a:spcPts val="563"/>
              </a:spcAft>
              <a:buFont typeface="+mj-lt"/>
              <a:buAutoNum type="alphaUcPeriod"/>
              <a:tabLst>
                <a:tab pos="257175" algn="l"/>
                <a:tab pos="432435" algn="l"/>
              </a:tabLst>
              <a:defRPr/>
            </a:pPr>
            <a:r>
              <a:rPr lang="fr-FR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Times New Roman" panose="02020603050405020304"/>
              </a:rPr>
              <a:t> peut s’accompagner d’une augmentation des LDH</a:t>
            </a:r>
          </a:p>
          <a:p>
            <a:pPr marL="492919" lvl="1">
              <a:lnSpc>
                <a:spcPct val="115000"/>
              </a:lnSpc>
              <a:spcAft>
                <a:spcPts val="563"/>
              </a:spcAft>
              <a:buFont typeface="+mj-lt"/>
              <a:buAutoNum type="alphaUcPeriod"/>
              <a:tabLst>
                <a:tab pos="257175" algn="l"/>
                <a:tab pos="432435" algn="l"/>
              </a:tabLst>
              <a:defRPr/>
            </a:pPr>
            <a:r>
              <a:rPr lang="fr-FR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Times New Roman" panose="02020603050405020304"/>
              </a:rPr>
              <a:t>S’associe à une cytolyse</a:t>
            </a:r>
          </a:p>
          <a:p>
            <a:pPr marL="492919" lvl="1">
              <a:lnSpc>
                <a:spcPct val="115000"/>
              </a:lnSpc>
              <a:spcAft>
                <a:spcPts val="563"/>
              </a:spcAft>
              <a:buFont typeface="+mj-lt"/>
              <a:buAutoNum type="alphaUcPeriod"/>
              <a:tabLst>
                <a:tab pos="257175" algn="l"/>
                <a:tab pos="432435" algn="l"/>
              </a:tabLst>
              <a:defRPr/>
            </a:pPr>
            <a:r>
              <a:rPr lang="fr-FR" dirty="0">
                <a:latin typeface="Calibri" panose="020F0502020204030204"/>
                <a:ea typeface="Calibri" panose="020F0502020204030204"/>
                <a:cs typeface="Times New Roman" panose="02020603050405020304"/>
              </a:rPr>
              <a:t>S’accompagne d’une </a:t>
            </a:r>
            <a:r>
              <a:rPr lang="fr-FR" dirty="0" err="1">
                <a:latin typeface="Calibri" panose="020F0502020204030204"/>
                <a:ea typeface="Calibri" panose="020F0502020204030204"/>
                <a:cs typeface="Times New Roman" panose="02020603050405020304"/>
              </a:rPr>
              <a:t>myolyse</a:t>
            </a:r>
            <a:r>
              <a:rPr lang="fr-FR" dirty="0">
                <a:latin typeface="Calibri" panose="020F0502020204030204"/>
                <a:ea typeface="Calibri" panose="020F0502020204030204"/>
                <a:cs typeface="Times New Roman" panose="02020603050405020304"/>
              </a:rPr>
              <a:t>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8075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/>
              <a:t>Le HELLP syndrome est un syndrome biologique constitué par : </a:t>
            </a:r>
          </a:p>
          <a:p>
            <a:pPr marL="642938" lvl="2" indent="0">
              <a:buNone/>
            </a:pPr>
            <a:r>
              <a:rPr lang="fr-FR" dirty="0"/>
              <a:t>A.	Une cytolyse hépatique </a:t>
            </a:r>
          </a:p>
          <a:p>
            <a:pPr marL="642938" lvl="2" indent="0">
              <a:buNone/>
            </a:pPr>
            <a:r>
              <a:rPr lang="fr-FR" dirty="0"/>
              <a:t>B.	Une anémie inflammatoire </a:t>
            </a:r>
          </a:p>
          <a:p>
            <a:pPr marL="642938" lvl="2" indent="0">
              <a:buNone/>
            </a:pPr>
            <a:r>
              <a:rPr lang="fr-FR" dirty="0"/>
              <a:t>C.	Une anémie hémorragique </a:t>
            </a:r>
          </a:p>
          <a:p>
            <a:pPr marL="642938" lvl="2" indent="0">
              <a:buNone/>
            </a:pPr>
            <a:r>
              <a:rPr lang="fr-FR" dirty="0"/>
              <a:t>D.	Une anémie hémolytique </a:t>
            </a:r>
          </a:p>
          <a:p>
            <a:pPr marL="642938" lvl="2" indent="0">
              <a:buNone/>
            </a:pPr>
            <a:r>
              <a:rPr lang="fr-FR" dirty="0"/>
              <a:t>E.	Une thrombopénie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HELLP syndrome 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peut débuter par une thrombopénie isolée </a:t>
            </a:r>
            <a:endParaRPr lang="fr-FR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survient dans 20% des preeclampsie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caractérisé par une baisse du temps de céphaline activée</a:t>
            </a:r>
            <a:endParaRPr lang="fr-FR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marqué par une élévation du taux d’haptoglobine </a:t>
            </a:r>
            <a:endParaRPr lang="fr-FR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caractérisé par une baisse du temps de prothrombine </a:t>
            </a:r>
            <a:endParaRPr lang="fr-FR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Quels sont les signes faisant craindre l'imminence d'une crise d'éclampsie chez une femme enceinte hypertendue 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Abolition des réflexes </a:t>
            </a:r>
            <a:r>
              <a:rPr lang="fr-FR" dirty="0" err="1"/>
              <a:t>ostéo</a:t>
            </a:r>
            <a:r>
              <a:rPr lang="fr-FR" dirty="0"/>
              <a:t>-tendineux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Nausées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Bourdonnements d'oreille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Prise de poids de 4 kg en trois jours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Phosphènes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55754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/>
              <a:t>Quels sont les signes faisant craindre l'imminence d'une crise d'éclampsie chez une femme enceinte hypertendue 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Céphalées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Crampes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Prurit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Douleurs épigastriques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 Phosphènes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9934" y="2057401"/>
            <a:ext cx="10515600" cy="4084092"/>
          </a:xfrm>
        </p:spPr>
        <p:txBody>
          <a:bodyPr>
            <a:normAutofit/>
          </a:bodyPr>
          <a:lstStyle/>
          <a:p>
            <a:pPr lvl="0"/>
            <a:r>
              <a:rPr lang="fr-FR" sz="2400" b="1" dirty="0"/>
              <a:t>L’Eclampsie</a:t>
            </a:r>
          </a:p>
          <a:p>
            <a:pPr marL="385763" indent="-385763">
              <a:buFont typeface="+mj-lt"/>
              <a:buAutoNum type="alphaUcPeriod"/>
            </a:pPr>
            <a:r>
              <a:rPr lang="fr-FR" sz="2400" dirty="0"/>
              <a:t>survient dans 50 % des cas dans le post-partum et dans 30 %  des cas avant la 37</a:t>
            </a:r>
            <a:r>
              <a:rPr lang="fr-FR" sz="2400" baseline="30000" dirty="0"/>
              <a:t>ème</a:t>
            </a:r>
            <a:r>
              <a:rPr lang="fr-FR" sz="2400" dirty="0"/>
              <a:t>SA</a:t>
            </a:r>
          </a:p>
          <a:p>
            <a:pPr marL="385763" indent="-385763">
              <a:buFont typeface="+mj-lt"/>
              <a:buAutoNum type="alphaUcPeriod"/>
            </a:pPr>
            <a:r>
              <a:rPr lang="fr-FR" sz="2400" dirty="0"/>
              <a:t>est une crise convulsive </a:t>
            </a:r>
            <a:r>
              <a:rPr lang="fr-FR" sz="2400" dirty="0" err="1"/>
              <a:t>tonico</a:t>
            </a:r>
            <a:r>
              <a:rPr lang="fr-FR" sz="2400" dirty="0"/>
              <a:t>-clonique généralisée associée à des signes de Preéclampsie</a:t>
            </a:r>
          </a:p>
          <a:p>
            <a:pPr marL="385763" indent="-385763">
              <a:buFont typeface="+mj-lt"/>
              <a:buAutoNum type="alphaUcPeriod"/>
            </a:pPr>
            <a:r>
              <a:rPr lang="fr-FR" sz="2400" dirty="0"/>
              <a:t>la crise  ne s’arrête que après administration de valium </a:t>
            </a:r>
          </a:p>
          <a:p>
            <a:pPr marL="385763" indent="-385763">
              <a:buFont typeface="+mj-lt"/>
              <a:buAutoNum type="alphaUcPeriod"/>
            </a:pPr>
            <a:r>
              <a:rPr lang="fr-FR" sz="2400" dirty="0"/>
              <a:t>Il n’ya pas de signes de localisation neurologique post crise </a:t>
            </a:r>
          </a:p>
          <a:p>
            <a:pPr marL="385763" indent="-385763">
              <a:buFont typeface="+mj-lt"/>
              <a:buAutoNum type="alphaUcPeriod"/>
            </a:pPr>
            <a:r>
              <a:rPr lang="fr-FR" sz="2400" dirty="0"/>
              <a:t>Impose l’extraction fœtale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diagnostic d’HRP est suspecté devant:</a:t>
            </a:r>
          </a:p>
          <a:p>
            <a:pPr marL="600075" lvl="2" indent="0">
              <a:buNone/>
            </a:pPr>
            <a:r>
              <a:rPr lang="fr-FR" dirty="0"/>
              <a:t>A. Une hémorragie génitale peu abondante et noirâtre.</a:t>
            </a:r>
          </a:p>
          <a:p>
            <a:pPr marL="600075" lvl="2" indent="0">
              <a:buNone/>
            </a:pPr>
            <a:r>
              <a:rPr lang="fr-FR" dirty="0"/>
              <a:t>B. Une hypotonie utérine.</a:t>
            </a:r>
          </a:p>
          <a:p>
            <a:pPr marL="600075" lvl="2" indent="0">
              <a:buNone/>
            </a:pPr>
            <a:r>
              <a:rPr lang="fr-FR" dirty="0"/>
              <a:t>C. Un segment inférieur dur et tendu.</a:t>
            </a:r>
          </a:p>
          <a:p>
            <a:pPr marL="600075" lvl="2" indent="0">
              <a:buNone/>
            </a:pPr>
            <a:r>
              <a:rPr lang="fr-FR" dirty="0"/>
              <a:t>D. Des décélérations du rythme cardiaque lors des contractions utérines sont  souvent observées.</a:t>
            </a:r>
          </a:p>
          <a:p>
            <a:pPr marL="600075" lvl="2" indent="0">
              <a:buNone/>
            </a:pPr>
            <a:r>
              <a:rPr lang="fr-FR" dirty="0"/>
              <a:t>E. Une zone linéaire vide d’écho biconcave entre placenta et l’utérus.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087173" y="857250"/>
            <a:ext cx="6172200" cy="857250"/>
          </a:xfrm>
        </p:spPr>
        <p:txBody>
          <a:bodyPr/>
          <a:lstStyle/>
          <a:p>
            <a:r>
              <a:rPr lang="fr-FR" dirty="0"/>
              <a:t>QCM 27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6729" y="1714499"/>
            <a:ext cx="11163868" cy="4631709"/>
          </a:xfrm>
        </p:spPr>
        <p:txBody>
          <a:bodyPr>
            <a:noAutofit/>
          </a:bodyPr>
          <a:lstStyle/>
          <a:p>
            <a:r>
              <a:rPr lang="fr-FR" dirty="0"/>
              <a:t>Concernant l’IRA associée à la pré-éclampsie , il est vrai que  </a:t>
            </a:r>
            <a:r>
              <a:rPr lang="fr-FR" sz="1800" dirty="0"/>
              <a:t>: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A/La NTA peut compliquer une pré-éclampsie ou HTA sévère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B/Un retard de reprise de la diurèse &gt; 25 jours est en faveur de d’une NTA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C/Le SHU associe la triade IRA , HTA et anémie hémolytique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D/L’évolution est favorable si nécrose corticale</a:t>
            </a:r>
          </a:p>
          <a:p>
            <a:pPr marL="600075" lvl="2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E/L’anurie est totale et persistante si nécrose corticale bilatérale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28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RCIU au cours de la pré éclampsie: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est secondaire à l’hypo-perfusion placentaire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Souvent accompagné d’une diminution du liquide amniotique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RCIU est harmonieux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Est sévère si le poids fœtal estimé est inférieur au 5</a:t>
            </a:r>
            <a:r>
              <a:rPr lang="fr-FR" baseline="30000" dirty="0"/>
              <a:t>ème</a:t>
            </a:r>
            <a:r>
              <a:rPr lang="fr-FR" dirty="0"/>
              <a:t> percentile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L’évacuation fœtale s’impose immédiatement après le diagnostic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29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2388" y="1978925"/>
            <a:ext cx="10768084" cy="4135272"/>
          </a:xfrm>
        </p:spPr>
        <p:txBody>
          <a:bodyPr>
            <a:normAutofit/>
          </a:bodyPr>
          <a:lstStyle/>
          <a:p>
            <a:r>
              <a:rPr lang="fr-FR" dirty="0"/>
              <a:t>Le retard de Croissance Intra-utérin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Complique 7 à 20 % des grossesses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suspecté par une cassure de la courbe de croissance fœtale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S’accompagne d’un oligoamnios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S’accompagne de résistances artérielles élevées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Est un élément de sévérité de la PE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Parmi les complications fœtales au cours de la prééclampsie :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RCIU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Hydramnios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mort fœtale in utero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Les malformations cardiaques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prématurité induite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009900" y="1063229"/>
            <a:ext cx="6172200" cy="857250"/>
          </a:xfrm>
        </p:spPr>
        <p:txBody>
          <a:bodyPr/>
          <a:lstStyle/>
          <a:p>
            <a:r>
              <a:rPr lang="fr-FR" dirty="0"/>
              <a:t>QCM 31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46161" y="2142699"/>
            <a:ext cx="10099343" cy="4094328"/>
          </a:xfrm>
        </p:spPr>
        <p:txBody>
          <a:bodyPr>
            <a:normAutofit/>
          </a:bodyPr>
          <a:lstStyle/>
          <a:p>
            <a:r>
              <a:rPr lang="fr-FR" b="1" dirty="0"/>
              <a:t>Le bilan de retentissement  d’une femme enceinte hypertendue comprend: </a:t>
            </a:r>
          </a:p>
          <a:p>
            <a:pPr marL="300038" lvl="1" indent="0">
              <a:buNone/>
            </a:pPr>
            <a:r>
              <a:rPr lang="fr-FR" dirty="0"/>
              <a:t>A/La recherche de  signes fonctionnels : céphalées, troubles visuels, douleur épigastrique à type de « barre »</a:t>
            </a:r>
          </a:p>
          <a:p>
            <a:pPr marL="300038" lvl="1" indent="0">
              <a:buNone/>
            </a:pPr>
            <a:r>
              <a:rPr lang="fr-FR" dirty="0"/>
              <a:t>B/la recherche  d’un ictère</a:t>
            </a:r>
          </a:p>
          <a:p>
            <a:pPr marL="300038" lvl="1" indent="0">
              <a:buNone/>
            </a:pPr>
            <a:r>
              <a:rPr lang="fr-FR" dirty="0"/>
              <a:t>C/l’évaluation de la diurèse </a:t>
            </a:r>
          </a:p>
          <a:p>
            <a:pPr marL="300038" lvl="1" indent="0">
              <a:buNone/>
            </a:pPr>
            <a:r>
              <a:rPr lang="fr-FR" dirty="0"/>
              <a:t>d/la réalisation de l’examen des urines par les bandelettes urinaires.</a:t>
            </a:r>
          </a:p>
          <a:p>
            <a:pPr marL="300038" lvl="1" indent="0">
              <a:buNone/>
            </a:pPr>
            <a:r>
              <a:rPr lang="fr-FR" dirty="0"/>
              <a:t>E/l’ évaluation de la sensibilité superficielle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24334"/>
            <a:ext cx="10243782" cy="4312693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UN bilan de retentissement de la </a:t>
            </a:r>
            <a:r>
              <a:rPr lang="fr-FR" dirty="0" err="1"/>
              <a:t>préeclampsie</a:t>
            </a:r>
            <a:r>
              <a:rPr lang="fr-FR" dirty="0"/>
              <a:t> chez une femme enceinte montrant Hb à 7g/dl </a:t>
            </a:r>
            <a:r>
              <a:rPr lang="fr-FR" dirty="0" err="1"/>
              <a:t>Plq</a:t>
            </a:r>
            <a:r>
              <a:rPr lang="fr-FR" dirty="0"/>
              <a:t>: 90 000 TP 95% ASAT/ALAT: 250/310 Urée: 12 mmol/l créatinine: 95mmol/l confirme: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éclampsie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HRP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Hellp sd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insuffisance rénale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insuffisance hépatique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Une femme enceinte à 34 SA chez qui on a objectivé une HTA et une protéinurie à 2x le bilan de retentissement révélé : une orthopnée , des douleurs épigastriques en barre ; des bourdonnements d’oreille, et la notion d’un épisode de vomissement , sur ses données  vous suspectez: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éclampsie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HRP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Hellp sd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insuffisance rénale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œdème aigue du poumon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59332" y="930448"/>
            <a:ext cx="6172200" cy="583574"/>
          </a:xfrm>
        </p:spPr>
        <p:txBody>
          <a:bodyPr>
            <a:normAutofit fontScale="90000"/>
          </a:bodyPr>
          <a:lstStyle/>
          <a:p>
            <a:r>
              <a:rPr lang="fr-FR" dirty="0"/>
              <a:t>QCM 34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4966" y="1514021"/>
            <a:ext cx="11505063" cy="49686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2000" b="1" dirty="0"/>
              <a:t>Quelles sont les complications à craindre chez une  patiente 31 ans, G3P2, consulte en urgence pour un saignement vaginal sur une grossesse de 30 SA associé à des douleurs épigastriques et abdomino-pelviennes ainsi que des céphalées avec à L’examen physique : Une PA : 180/100, pouls : 80 bat/mn des œdèmes des membres inférieurs ; Protéinurie à 4 croix à la BU et  une contracture utérine avec BDC positifs mais ralentis</a:t>
            </a:r>
          </a:p>
          <a:p>
            <a:pPr>
              <a:lnSpc>
                <a:spcPct val="100000"/>
              </a:lnSpc>
            </a:pPr>
            <a:r>
              <a:rPr lang="fr-FR" sz="2000" b="1" dirty="0"/>
              <a:t> à la biologie : urée à 19 mmol/l avec A urique à 520 mmol/l et TP à 90%. </a:t>
            </a:r>
          </a:p>
          <a:p>
            <a:pPr marL="385763" indent="-385763">
              <a:lnSpc>
                <a:spcPct val="100000"/>
              </a:lnSpc>
              <a:buFont typeface="+mj-lt"/>
              <a:buAutoNum type="alphaUcPeriod"/>
            </a:pPr>
            <a:r>
              <a:rPr lang="fr-FR" sz="2000" dirty="0"/>
              <a:t>Crise d’éclampsie</a:t>
            </a:r>
          </a:p>
          <a:p>
            <a:pPr marL="385763" indent="-385763">
              <a:lnSpc>
                <a:spcPct val="100000"/>
              </a:lnSpc>
              <a:buFont typeface="+mj-lt"/>
              <a:buAutoNum type="alphaUcPeriod"/>
            </a:pPr>
            <a:r>
              <a:rPr lang="fr-FR" sz="2000" dirty="0"/>
              <a:t>Choc hémorragique</a:t>
            </a:r>
          </a:p>
          <a:p>
            <a:pPr marL="385763" indent="-385763">
              <a:lnSpc>
                <a:spcPct val="100000"/>
              </a:lnSpc>
              <a:buFont typeface="+mj-lt"/>
              <a:buAutoNum type="alphaUcPeriod"/>
            </a:pPr>
            <a:r>
              <a:rPr lang="fr-FR" sz="2000" dirty="0"/>
              <a:t>Hématome sous-capsulaire du foie</a:t>
            </a:r>
          </a:p>
          <a:p>
            <a:pPr marL="385763" indent="-385763">
              <a:lnSpc>
                <a:spcPct val="100000"/>
              </a:lnSpc>
              <a:buFont typeface="+mj-lt"/>
              <a:buAutoNum type="alphaUcPeriod"/>
            </a:pPr>
            <a:r>
              <a:rPr lang="fr-FR" sz="2000" dirty="0"/>
              <a:t>Insuffisance rénale aigue</a:t>
            </a:r>
          </a:p>
          <a:p>
            <a:pPr marL="385763" indent="-385763">
              <a:lnSpc>
                <a:spcPct val="100000"/>
              </a:lnSpc>
              <a:buFont typeface="+mj-lt"/>
              <a:buAutoNum type="alphaUcPeriod"/>
            </a:pPr>
            <a:r>
              <a:rPr lang="fr-FR" sz="2000" dirty="0"/>
              <a:t>HRP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Quelles sont les causes possibles de douleurs abdominales aigues chez une patiente en rapport avec sa pré éclampsie ?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nécrose corticale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hématome sous capsulaire du foie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HELLP syndrome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 hématome rétro placentaire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prématurité induite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3331" y="1690690"/>
            <a:ext cx="10208526" cy="4546337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Quelles sont les complications materno-fœtales en rapport avec l’atteinte placentaire au cours de la pré éclampsie à rechercher ?</a:t>
            </a:r>
          </a:p>
          <a:p>
            <a:endParaRPr lang="fr-FR" dirty="0"/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hauteur utérine à 26 cm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contracture utérine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mort fœtale in utéro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insuffisance rénale fonctionnelle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stagnation du fémur depuis 15 jours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6287" y="2593075"/>
            <a:ext cx="9771797" cy="123541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6.	Planifier la prise en charge thérapeutique d’une femme présentant une prééclampsie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3071664" y="1484784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4968" y="2224585"/>
            <a:ext cx="11491414" cy="3957851"/>
          </a:xfrm>
        </p:spPr>
        <p:txBody>
          <a:bodyPr>
            <a:normAutofit/>
          </a:bodyPr>
          <a:lstStyle/>
          <a:p>
            <a:r>
              <a:rPr lang="fr-FR" dirty="0"/>
              <a:t>Devant une pré éclampsie: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dirty="0"/>
              <a:t>L’hospitalisation est obligatoire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dirty="0"/>
              <a:t>La conduite obstétricale dépend du terme, de l’état du fœtus et des conditions maternelles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dirty="0"/>
              <a:t>Un traitement antihypertenseur adapté peut guérir la pré éclampsie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dirty="0"/>
              <a:t>Régime sans sel et diurétiques  améliore le pronostic materno-fœtal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dirty="0"/>
              <a:t>Une  corticothérapie s’impose si âge gestationnel entre 28 et 34 SA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38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Mme Femme </a:t>
            </a:r>
            <a:r>
              <a:rPr lang="fr-FR" sz="2800" dirty="0" err="1"/>
              <a:t>primigeste</a:t>
            </a:r>
            <a:r>
              <a:rPr lang="fr-FR" sz="2800" dirty="0"/>
              <a:t>  de 25 ans, sans pathologie particulière au cours de la surveillance de sa grossesse ; présente au 5eme mois une TA à 14,5/8 Cm Hg à deux reprises, lors de votre consultation parmi les attitudes suivantes la quelle préconisez-vous?</a:t>
            </a:r>
          </a:p>
          <a:p>
            <a:pPr marL="600075" lvl="2" indent="0">
              <a:buNone/>
            </a:pPr>
            <a:r>
              <a:rPr lang="fr-FR" dirty="0"/>
              <a:t>A - Interruption de la grossesse</a:t>
            </a:r>
          </a:p>
          <a:p>
            <a:pPr marL="600075" lvl="2" indent="0">
              <a:buNone/>
            </a:pPr>
            <a:r>
              <a:rPr lang="fr-FR" dirty="0"/>
              <a:t>B - Surveillance de la TA régulière en ambulatoire</a:t>
            </a:r>
          </a:p>
          <a:p>
            <a:pPr marL="600075" lvl="2" indent="0">
              <a:buNone/>
            </a:pPr>
            <a:r>
              <a:rPr lang="fr-FR" dirty="0"/>
              <a:t>C - Hospitalisation immédiate </a:t>
            </a:r>
          </a:p>
          <a:p>
            <a:pPr marL="600075" lvl="2" indent="0">
              <a:buNone/>
            </a:pPr>
            <a:r>
              <a:rPr lang="fr-FR" dirty="0"/>
              <a:t>D - Un régime hyposodé et surveillance</a:t>
            </a:r>
          </a:p>
          <a:p>
            <a:pPr marL="600075" lvl="2" indent="0">
              <a:buNone/>
            </a:pPr>
            <a:r>
              <a:rPr lang="fr-FR" dirty="0"/>
              <a:t>E - Un Doppler funiculaire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39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L’accouchement en cas de PE: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programmé entre 36 et 40 SA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une décision collégiale dans les formes précoces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est le traitement étiologique de la PE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se fait par césarienne pour éviter les complications fœtales 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prévient la crise d’éclampsie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naissance est envisagée dans les 48h avant 34 SA en cas de PE si :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Signes de prééclampsie positifs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Progression rapide d’une insuffisance rénale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Diurèse à 30ml/24h  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Hellp sd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Plaquettes à 120 000G/L 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décision médicale de programmer la naissance en cas de PE précoce repose sur 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L’avis du couple   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L’âge gestationnel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La sévérité de la prééclampsie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L’âge maternel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L’estimation du poids fœtal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Le traitement anti-hypertenseur de la prééclampsie :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permet d’éviter l’aggravation des signes neurosensoriels 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améliore le pronostic fœtal</a:t>
            </a:r>
            <a:endParaRPr lang="fr-FR" sz="1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les inhibiteurs calciques administrés en première intention dans les PE sévères 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a un objectif thérapeutique inférieur à 16 mm Hg pour la pression artérielle systolique </a:t>
            </a:r>
          </a:p>
          <a:p>
            <a:pPr marL="257175" indent="-257175" algn="just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les inhibiteurs de l’enzyme de conversion sont contre-indiqué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sulfate de magnésium au cours de la pré éclampsie: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Indiquer devant la présence des signes de pré éclampsie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Impose un sondage vésicale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Est prescrit en bolus de 4 g suivi d’une dose d’entretient de 1g/h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Peut être responsable d’une défaillance cardiaque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Le gluconate de calcium est son antidote en cas de surdosage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58520" y="2197290"/>
            <a:ext cx="9382267" cy="34593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Le Sulfate de Magnésium en cas de PE :</a:t>
            </a:r>
          </a:p>
          <a:p>
            <a:pPr marL="257175" indent="-257175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nécessite de surveiller régulièrement l’auscultation pulmonaire </a:t>
            </a:r>
          </a:p>
          <a:p>
            <a:pPr marL="257175" indent="-257175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a un effet sur la neuroprotection du très grand prématuré </a:t>
            </a:r>
          </a:p>
          <a:p>
            <a:pPr marL="257175" indent="-257175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est un puissant tocolytique</a:t>
            </a:r>
          </a:p>
          <a:p>
            <a:pPr marL="257175" indent="-257175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s’administre en bolus par voie intramusculaire</a:t>
            </a:r>
          </a:p>
          <a:p>
            <a:pPr marL="257175" indent="-257175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peut être utilisé pour la prévention secondaire de la crise d’éclampsie </a:t>
            </a:r>
          </a:p>
          <a:p>
            <a:pPr>
              <a:lnSpc>
                <a:spcPct val="150000"/>
              </a:lnSpc>
            </a:pPr>
            <a:endParaRPr lang="fr-FR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La prise en charge chez une femme présentant une </a:t>
            </a:r>
            <a:r>
              <a:rPr lang="fr-FR" dirty="0" err="1"/>
              <a:t>préeclampsie</a:t>
            </a:r>
            <a:r>
              <a:rPr lang="fr-FR" dirty="0"/>
              <a:t> </a:t>
            </a:r>
            <a:r>
              <a:rPr lang="fr-FR" dirty="0" err="1"/>
              <a:t>sévere</a:t>
            </a:r>
            <a:r>
              <a:rPr lang="fr-FR" dirty="0"/>
              <a:t>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Nécessite une maternité niveau 3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Est médicale et obstétricale en parallèle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Impose la prévention des crises convulsives si présence d’au moins un signe de gravité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Impose un traitement antihypertenseur en IV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Une tocolyse est envisageable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35938" y="2818731"/>
            <a:ext cx="8540825" cy="3394472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7.	Décrire la prise en charge médicale et obstétricale en urgence de la crise d’éclampsie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3071664" y="1484784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N°1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Vous êtes appelé en urgence pour Madame R., enceinte de 32 semaines, qui vient de faire une chute à son domicile et a des convulsions. Vous n'êtes pas son médecin habituel et n'avez pas suivi la grossesse. Son entourage indique que  la grossesse évoluait normalement, elle avait de la tension.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009900" y="1063229"/>
            <a:ext cx="6172200" cy="857250"/>
          </a:xfrm>
        </p:spPr>
        <p:txBody>
          <a:bodyPr/>
          <a:lstStyle/>
          <a:p>
            <a:r>
              <a:rPr lang="fr-FR" dirty="0"/>
              <a:t>Question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Quelles sont les phases d’une crise d’éclampsie à rechercher à l’anamnèse des témoins de la crise?</a:t>
            </a:r>
          </a:p>
          <a:p>
            <a:endParaRPr lang="fr-FR" dirty="0"/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phase d’invasion qui débute au niveau de la face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phase d’invasion qui dure en moyenne une minute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phase d’hébétude qui ne dépasse pas les 30 secondes   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phase clonique qui est généralisée à tous les muscles </a:t>
            </a:r>
          </a:p>
          <a:p>
            <a:pPr marL="385763" indent="-385763">
              <a:buFont typeface="+mj-lt"/>
              <a:buAutoNum type="alphaUcPeriod"/>
            </a:pPr>
            <a:r>
              <a:rPr lang="fr-FR" dirty="0"/>
              <a:t>La phase tonique qui est localisée aux membres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est le diagnostic auquel vous devez penser en premier 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Crise d’éclampsie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crise d’épilepsie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accident ischémique transitoire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syncope d4origine cardiaque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crise d’hystérie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8490" y="2057401"/>
            <a:ext cx="11823510" cy="4261512"/>
          </a:xfrm>
        </p:spPr>
        <p:txBody>
          <a:bodyPr>
            <a:normAutofit/>
          </a:bodyPr>
          <a:lstStyle/>
          <a:p>
            <a:r>
              <a:rPr lang="fr-FR" dirty="0"/>
              <a:t>Quels sont les gestes d'urgence que vous devez pratiquer à son domicile ?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Hospitalisation et conditionnement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Libération des voies aériennes et oxygénothérapie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Monitorage (tension artérielle, fréquence cardiaque, saturation, fréquence respiratoire)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Sulfate de magnésium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Traitement antihypertenseur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2388" y="1937982"/>
            <a:ext cx="8707978" cy="3513891"/>
          </a:xfrm>
        </p:spPr>
        <p:txBody>
          <a:bodyPr>
            <a:normAutofit fontScale="70000" lnSpcReduction="20000"/>
          </a:bodyPr>
          <a:lstStyle/>
          <a:p>
            <a:r>
              <a:rPr lang="fr-FR" i="1" dirty="0"/>
              <a:t>Vous êtes l'interne de garde de l'hôpital vers lequel Madame R. a été transportée. À son arrivée, elle ne convulse plus. Elle est consciente, n'a pas de signes de localisation neurologique. Elle a une tension à 22/12. L'enfant est vivant mais le rythme cardiaque est peu réactif.</a:t>
            </a:r>
          </a:p>
          <a:p>
            <a:r>
              <a:rPr lang="fr-FR" b="1" dirty="0"/>
              <a:t> Quel traitement prescrivez-vous dans cette situation  pour contrôler son hypertension ?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inhibiteur calcique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ARA2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IEC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diurétique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Un  antihypertenseur central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 faut-il faire vis-à-vis de l'enfant ?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Extraction immédiate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Corticothérapie puis extraction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Surveillance fœtale par des RCF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Traitement anticonvulsivant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surveillance fœtale par </a:t>
            </a:r>
            <a:r>
              <a:rPr lang="fr-FR" sz="3200" dirty="0" err="1"/>
              <a:t>echographie</a:t>
            </a:r>
            <a:r>
              <a:rPr lang="fr-FR" sz="3200" dirty="0"/>
              <a:t> et RCF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2387" y="1937982"/>
            <a:ext cx="10515599" cy="3889612"/>
          </a:xfrm>
        </p:spPr>
        <p:txBody>
          <a:bodyPr/>
          <a:lstStyle/>
          <a:p>
            <a:r>
              <a:rPr lang="fr-FR" dirty="0"/>
              <a:t>Faut-il faire un bilan après son accouchement ?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NON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Un scanner cérébral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Une échographie abdominale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Une radiographie de la sel turcique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Une protéinurie de 24 h+ un triple bilan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QCM N°2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Mme A ,G1P0 </a:t>
            </a:r>
            <a:r>
              <a:rPr lang="fr-FR" dirty="0" err="1"/>
              <a:t>agée</a:t>
            </a:r>
            <a:r>
              <a:rPr lang="fr-FR" dirty="0"/>
              <a:t> de 32 ans ,enceinte de 31SA,vient vous consulter à votre cabinet privé devant l’apparition récente d’œdème des membres inférieurs. Elle se trouve d’ailleurs « bouffie « du visage.</a:t>
            </a:r>
          </a:p>
          <a:p>
            <a:r>
              <a:rPr lang="fr-FR" dirty="0"/>
              <a:t>La grossesse a jusqu’ici été d’évolution normale. Elle n’a pas ailleurs pas d’antécédents médico chirurgicaux particuliers.</a:t>
            </a:r>
          </a:p>
          <a:p>
            <a:r>
              <a:rPr lang="fr-FR" dirty="0"/>
              <a:t>A l’examen clinique,   elle mesure 1,64 m pour 77 kg avec une prise de 7 kg cette semaine. La TA prise au repos à plusieurs reprises est de 160/100 </a:t>
            </a:r>
            <a:r>
              <a:rPr lang="fr-FR" dirty="0" err="1"/>
              <a:t>mmHg</a:t>
            </a:r>
            <a:r>
              <a:rPr lang="fr-FR" dirty="0"/>
              <a:t>.  Au toucher vaginal, le col est long, postérieur, fermé avec une présentation céphalique haute et mobile. Vous mesurez une hauteur utérine à 23 cm. Les BDC sont </a:t>
            </a:r>
            <a:r>
              <a:rPr lang="fr-FR" dirty="0" err="1"/>
              <a:t>percus</a:t>
            </a:r>
            <a:r>
              <a:rPr lang="fr-FR" dirty="0"/>
              <a:t>. Au BU: P+++,G-.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Quel(s) diagnostic(s) évoquez vous?</a:t>
            </a:r>
          </a:p>
          <a:p>
            <a:r>
              <a:rPr lang="fr-FR" dirty="0" err="1"/>
              <a:t>A.Préeclampsie</a:t>
            </a:r>
            <a:r>
              <a:rPr lang="fr-FR" dirty="0"/>
              <a:t> sévère</a:t>
            </a:r>
          </a:p>
          <a:p>
            <a:r>
              <a:rPr lang="fr-FR" dirty="0" err="1"/>
              <a:t>B.Préeclampsie</a:t>
            </a:r>
            <a:r>
              <a:rPr lang="fr-FR" dirty="0"/>
              <a:t> avec RCIU</a:t>
            </a:r>
          </a:p>
          <a:p>
            <a:r>
              <a:rPr lang="fr-FR" dirty="0" err="1"/>
              <a:t>C.Préeclampsie</a:t>
            </a:r>
            <a:r>
              <a:rPr lang="fr-FR" dirty="0"/>
              <a:t> surajoutée</a:t>
            </a:r>
          </a:p>
          <a:p>
            <a:r>
              <a:rPr lang="fr-FR" dirty="0"/>
              <a:t>D.HTA chronique avec néphropathie</a:t>
            </a:r>
          </a:p>
          <a:p>
            <a:r>
              <a:rPr lang="fr-FR" dirty="0" err="1"/>
              <a:t>E.Préeclampsie</a:t>
            </a:r>
            <a:r>
              <a:rPr lang="fr-FR" dirty="0"/>
              <a:t> et </a:t>
            </a:r>
            <a:r>
              <a:rPr lang="fr-FR" dirty="0" err="1"/>
              <a:t>malforamtion</a:t>
            </a:r>
            <a:r>
              <a:rPr lang="fr-FR" dirty="0"/>
              <a:t> </a:t>
            </a:r>
            <a:r>
              <a:rPr lang="fr-FR" dirty="0" err="1"/>
              <a:t>foetale</a:t>
            </a:r>
            <a:endParaRPr lang="fr-FR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est votre conduite à tenir ?</a:t>
            </a:r>
          </a:p>
          <a:p>
            <a:pPr marL="0" indent="0">
              <a:buNone/>
            </a:pPr>
            <a:r>
              <a:rPr lang="fr-FR" dirty="0"/>
              <a:t>A. Courbes de TA</a:t>
            </a:r>
          </a:p>
          <a:p>
            <a:pPr marL="0" indent="0">
              <a:buNone/>
            </a:pPr>
            <a:r>
              <a:rPr lang="fr-FR" dirty="0"/>
              <a:t>B. Rechercher les signes neurosensoriels de PE</a:t>
            </a:r>
          </a:p>
          <a:p>
            <a:pPr marL="0" indent="0">
              <a:buNone/>
            </a:pPr>
            <a:r>
              <a:rPr lang="fr-FR" dirty="0"/>
              <a:t>C. collecte des urines 24h</a:t>
            </a:r>
          </a:p>
          <a:p>
            <a:pPr marL="0" indent="0">
              <a:buNone/>
            </a:pPr>
            <a:r>
              <a:rPr lang="fr-FR" dirty="0"/>
              <a:t>D. Restriction hydrique et sodé </a:t>
            </a:r>
          </a:p>
          <a:p>
            <a:pPr marL="0" indent="0">
              <a:buNone/>
            </a:pPr>
            <a:r>
              <a:rPr lang="fr-FR" dirty="0"/>
              <a:t>E. Diurétique pour diminuer les </a:t>
            </a:r>
            <a:r>
              <a:rPr lang="fr-FR" dirty="0" err="1"/>
              <a:t>oedèmes</a:t>
            </a:r>
            <a:endParaRPr lang="fr-FR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Quel(s)bilan(s) biologique de première intention à demander?</a:t>
            </a:r>
          </a:p>
          <a:p>
            <a:pPr marL="0" indent="0">
              <a:buNone/>
            </a:pPr>
            <a:r>
              <a:rPr lang="fr-FR" dirty="0"/>
              <a:t>A. Acide urique</a:t>
            </a:r>
          </a:p>
          <a:p>
            <a:pPr marL="0" indent="0">
              <a:buNone/>
            </a:pPr>
            <a:r>
              <a:rPr lang="fr-FR" dirty="0"/>
              <a:t>B.NFS et plaquettes</a:t>
            </a:r>
          </a:p>
          <a:p>
            <a:pPr marL="0" indent="0">
              <a:buNone/>
            </a:pPr>
            <a:r>
              <a:rPr lang="fr-FR" dirty="0"/>
              <a:t>C.TP,TCA</a:t>
            </a:r>
          </a:p>
          <a:p>
            <a:pPr marL="0" indent="0">
              <a:buNone/>
            </a:pPr>
            <a:r>
              <a:rPr lang="fr-FR" dirty="0"/>
              <a:t>D. Recherche de schizocytes et dosage de l’</a:t>
            </a:r>
            <a:r>
              <a:rPr lang="fr-FR" dirty="0" err="1"/>
              <a:t>haptoglobuline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E. Bilan rénal et hépatique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le versant fœtal, on va compléter initialement par:</a:t>
            </a:r>
          </a:p>
          <a:p>
            <a:pPr marL="0" indent="0">
              <a:buNone/>
            </a:pPr>
            <a:r>
              <a:rPr lang="fr-FR" dirty="0"/>
              <a:t>A. Biométrie fœtal avec courbes de croissance</a:t>
            </a:r>
          </a:p>
          <a:p>
            <a:pPr marL="0" indent="0">
              <a:buNone/>
            </a:pPr>
            <a:r>
              <a:rPr lang="fr-FR" dirty="0"/>
              <a:t>B. Doppler cérébral et des artères utérines</a:t>
            </a:r>
          </a:p>
          <a:p>
            <a:pPr marL="0" indent="0">
              <a:buNone/>
            </a:pPr>
            <a:r>
              <a:rPr lang="fr-FR" dirty="0"/>
              <a:t>C. Rechercher un oligoamnios</a:t>
            </a:r>
          </a:p>
          <a:p>
            <a:pPr marL="0" indent="0">
              <a:buNone/>
            </a:pPr>
            <a:r>
              <a:rPr lang="fr-FR" dirty="0"/>
              <a:t>D. Etude morphologique fœtale</a:t>
            </a:r>
          </a:p>
          <a:p>
            <a:pPr marL="0" indent="0">
              <a:buNone/>
            </a:pPr>
            <a:r>
              <a:rPr lang="fr-FR" dirty="0"/>
              <a:t>E. Doppler ombilical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Quelles complications maternelles craignez vous?</a:t>
            </a:r>
          </a:p>
          <a:p>
            <a:pPr marL="0" indent="0">
              <a:buNone/>
            </a:pPr>
            <a:r>
              <a:rPr lang="fr-FR" dirty="0"/>
              <a:t>A. HELLP syndrome</a:t>
            </a:r>
          </a:p>
          <a:p>
            <a:pPr marL="0" indent="0">
              <a:buNone/>
            </a:pPr>
            <a:r>
              <a:rPr lang="fr-FR" dirty="0"/>
              <a:t>B. Insuffisance rénale par nécrose corticale</a:t>
            </a:r>
          </a:p>
          <a:p>
            <a:pPr marL="0" indent="0">
              <a:buNone/>
            </a:pPr>
            <a:r>
              <a:rPr lang="fr-FR" dirty="0"/>
              <a:t>C. Cécité</a:t>
            </a:r>
          </a:p>
          <a:p>
            <a:pPr marL="0" indent="0">
              <a:buNone/>
            </a:pPr>
            <a:r>
              <a:rPr lang="fr-FR" dirty="0"/>
              <a:t>D. PRESS syndrome</a:t>
            </a:r>
          </a:p>
          <a:p>
            <a:pPr marL="0" indent="0">
              <a:buNone/>
            </a:pPr>
            <a:r>
              <a:rPr lang="fr-FR" dirty="0"/>
              <a:t>E. Hématome rétro placentaire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Quelles complications </a:t>
            </a:r>
            <a:r>
              <a:rPr lang="fr-FR" dirty="0" err="1"/>
              <a:t>foetales</a:t>
            </a:r>
            <a:r>
              <a:rPr lang="fr-FR" dirty="0"/>
              <a:t> craignez vous?</a:t>
            </a:r>
          </a:p>
          <a:p>
            <a:pPr marL="0" indent="0">
              <a:buNone/>
            </a:pPr>
            <a:r>
              <a:rPr lang="fr-FR" dirty="0"/>
              <a:t>A. Hydramnios</a:t>
            </a:r>
          </a:p>
          <a:p>
            <a:pPr marL="0" indent="0">
              <a:buNone/>
            </a:pPr>
            <a:r>
              <a:rPr lang="fr-FR" dirty="0"/>
              <a:t>B. Diastole nulle</a:t>
            </a:r>
          </a:p>
          <a:p>
            <a:pPr marL="0" indent="0">
              <a:buNone/>
            </a:pPr>
            <a:r>
              <a:rPr lang="fr-FR" dirty="0"/>
              <a:t>C. Retard de croissance dysharmonieux</a:t>
            </a:r>
          </a:p>
          <a:p>
            <a:pPr marL="0" indent="0">
              <a:buNone/>
            </a:pPr>
            <a:r>
              <a:rPr lang="fr-FR" dirty="0"/>
              <a:t>D. Souffrance fœtale chronique</a:t>
            </a:r>
          </a:p>
          <a:p>
            <a:pPr marL="0" indent="0">
              <a:buNone/>
            </a:pPr>
            <a:r>
              <a:rPr lang="fr-FR" dirty="0"/>
              <a:t>E. Prématurité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va </a:t>
            </a:r>
            <a:r>
              <a:rPr lang="fr-FR" dirty="0" err="1"/>
              <a:t>etre</a:t>
            </a:r>
            <a:r>
              <a:rPr lang="fr-FR" dirty="0"/>
              <a:t> la prise en charge thérapeutique pour cette patiente?</a:t>
            </a:r>
          </a:p>
          <a:p>
            <a:pPr marL="0" indent="0">
              <a:buNone/>
            </a:pPr>
            <a:r>
              <a:rPr lang="fr-FR" dirty="0"/>
              <a:t>A. Césarienne en urgence après  les mesures de réanimation</a:t>
            </a:r>
          </a:p>
          <a:p>
            <a:pPr marL="0" indent="0">
              <a:buNone/>
            </a:pPr>
            <a:r>
              <a:rPr lang="fr-FR" dirty="0"/>
              <a:t>B. Traitement antihypertenseurs</a:t>
            </a:r>
          </a:p>
          <a:p>
            <a:pPr marL="0" indent="0">
              <a:buNone/>
            </a:pPr>
            <a:r>
              <a:rPr lang="fr-FR" dirty="0"/>
              <a:t>C.Simple surveillance en milieu hospitalier</a:t>
            </a:r>
          </a:p>
          <a:p>
            <a:pPr marL="0" indent="0">
              <a:buNone/>
            </a:pPr>
            <a:r>
              <a:rPr lang="fr-FR" dirty="0"/>
              <a:t>D. Sulfate de Magnésium</a:t>
            </a:r>
          </a:p>
          <a:p>
            <a:pPr marL="0" indent="0">
              <a:buNone/>
            </a:pPr>
            <a:r>
              <a:rPr lang="fr-FR" dirty="0"/>
              <a:t>E. Corticothérapie prénatale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Lors de son hospitalisation , elle se plaint soudain de violentes douleurs abdominales associées à des métrorragies de faible </a:t>
            </a:r>
            <a:r>
              <a:rPr lang="fr-FR" dirty="0" err="1"/>
              <a:t>abandance</a:t>
            </a:r>
            <a:r>
              <a:rPr lang="fr-FR" dirty="0"/>
              <a:t>. La TA était  à 18/12 avec des ROT vifs. Quel(s) diagnostic(s) suspectez vous?</a:t>
            </a:r>
          </a:p>
          <a:p>
            <a:r>
              <a:rPr lang="fr-FR" dirty="0"/>
              <a:t>A. L’imminence d’une crise d’</a:t>
            </a:r>
            <a:r>
              <a:rPr lang="fr-FR" dirty="0" err="1"/>
              <a:t>eclampsie</a:t>
            </a:r>
            <a:endParaRPr lang="fr-FR" dirty="0"/>
          </a:p>
          <a:p>
            <a:r>
              <a:rPr lang="fr-FR" dirty="0"/>
              <a:t>B. Hématome </a:t>
            </a:r>
            <a:r>
              <a:rPr lang="fr-FR" dirty="0" err="1"/>
              <a:t>retroplacentaire</a:t>
            </a:r>
            <a:endParaRPr lang="fr-FR" dirty="0"/>
          </a:p>
          <a:p>
            <a:r>
              <a:rPr lang="fr-FR" dirty="0"/>
              <a:t>C. Placenta </a:t>
            </a:r>
            <a:r>
              <a:rPr lang="fr-FR" dirty="0" err="1"/>
              <a:t>previa</a:t>
            </a:r>
            <a:endParaRPr lang="fr-FR" dirty="0"/>
          </a:p>
          <a:p>
            <a:r>
              <a:rPr lang="fr-FR" dirty="0"/>
              <a:t>D. Hématome sous capsulaire</a:t>
            </a:r>
          </a:p>
          <a:p>
            <a:r>
              <a:rPr lang="fr-FR" dirty="0"/>
              <a:t>E. MFIU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399" y="2834934"/>
            <a:ext cx="10440537" cy="164163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9.	Planifier la surveillance maternelle et fœtale devant un état de </a:t>
            </a:r>
            <a:r>
              <a:rPr lang="fr-FR" dirty="0" err="1">
                <a:solidFill>
                  <a:srgbClr val="FF0000"/>
                </a:solidFill>
              </a:rPr>
              <a:t>prééclampsie</a:t>
            </a:r>
            <a:r>
              <a:rPr lang="fr-FR" dirty="0">
                <a:solidFill>
                  <a:srgbClr val="FF0000"/>
                </a:solidFill>
              </a:rPr>
              <a:t> au cours de la grossesse, au cours du travail et dans le postpartum 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3071664" y="1484784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Concernant la preeclampsie: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La pré éclampsie est spontanément résolutive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Son évolution est souvent imprévisible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Impose un bilan initial complet + surveillance adaptée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La surveillance peut être proposée devant une pré éclampsie avec HELLP SD,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L’ attitude conservatrice de la grossesse peut être prolonger jusqu’à 41 SA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Concernant la surveillance d’un état pré éclamptique :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La Prise de PA est hebdomadaire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Profil tensionnel complet sera réalisé une fois par mois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Prise de poids mensuel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Surveillance des signes neurosensoriels </a:t>
            </a:r>
          </a:p>
          <a:p>
            <a:pPr lvl="1" indent="-385763">
              <a:buFont typeface="+mj-lt"/>
              <a:buAutoNum type="alphaUcPeriod"/>
            </a:pPr>
            <a:r>
              <a:rPr lang="fr-FR" dirty="0"/>
              <a:t>Biologie (NFS, bilan hépatique, bilan rénal, protéinurie des 24 heures) sera répétée toutes les semaines 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48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1445" y="1690690"/>
            <a:ext cx="11150221" cy="464187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Concernant la pré éclampsie en postpartum: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Les complications propre à la pathologie  sont encore possibles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Il faut prévenir les complications thromboemboliques, infectieuses et l’anémie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La prescription de la bromocriptine est possible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Bilan </a:t>
            </a:r>
            <a:r>
              <a:rPr lang="fr-FR" sz="3200" dirty="0" err="1"/>
              <a:t>vasculo</a:t>
            </a:r>
            <a:r>
              <a:rPr lang="fr-FR" sz="3200" dirty="0"/>
              <a:t>-rénal 3 mois après l’accouchement est recommandé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Les </a:t>
            </a:r>
            <a:r>
              <a:rPr lang="fr-FR" sz="3200" dirty="0" err="1"/>
              <a:t>oestro</a:t>
            </a:r>
            <a:r>
              <a:rPr lang="fr-FR" sz="3200" dirty="0"/>
              <a:t>-progestatifs sont le moyen de contraception  de premier choix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N°3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Une femme de 26 ans, sans antécédents pathologiques, consulte au 7ème mois d'une première grossesse. Elle était régulièrement suivie pendant les premiers mois de sa gestation et tout a évolué de façon normale. Récemment, elle a constaté une difficulté pour retirer son alliance du fait d'un gonflement des doigts et accuse quelques céphalées au réveil. A l'examen, on constate une prise de poids de 2,5 kg par rapport au mois précédent, une pression artérielle à 16,5/10cm Hg. La recherche de protéinurie est positive (deux croix à la bandelette).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8364" y="1801504"/>
            <a:ext cx="11000096" cy="4339989"/>
          </a:xfrm>
        </p:spPr>
        <p:txBody>
          <a:bodyPr>
            <a:normAutofit/>
          </a:bodyPr>
          <a:lstStyle/>
          <a:p>
            <a:r>
              <a:rPr lang="fr-FR" dirty="0"/>
              <a:t>Le diagnostic le plus vraisemblable est celui de : (CS)</a:t>
            </a:r>
          </a:p>
          <a:p>
            <a:pPr marL="1057275" lvl="2" indent="-457200">
              <a:buFont typeface="+mj-lt"/>
              <a:buAutoNum type="alphaUcPeriod"/>
            </a:pPr>
            <a:r>
              <a:rPr lang="fr-FR" sz="2800" dirty="0"/>
              <a:t> Hypertension artérielle permanente accentuée ou réveillée par la grossesse</a:t>
            </a:r>
          </a:p>
          <a:p>
            <a:pPr marL="1057275" lvl="2" indent="-457200">
              <a:buFont typeface="+mj-lt"/>
              <a:buAutoNum type="alphaUcPeriod"/>
            </a:pPr>
            <a:r>
              <a:rPr lang="fr-FR" sz="2800" dirty="0"/>
              <a:t>Toxémie pure et primitive de la première grossesse</a:t>
            </a:r>
          </a:p>
          <a:p>
            <a:pPr marL="1057275" lvl="2" indent="-457200">
              <a:buFont typeface="+mj-lt"/>
              <a:buAutoNum type="alphaUcPeriod"/>
            </a:pPr>
            <a:r>
              <a:rPr lang="fr-FR" sz="2800" dirty="0"/>
              <a:t>Grossesse chez une femme atteinte de néphropathie permanente</a:t>
            </a:r>
          </a:p>
          <a:p>
            <a:pPr marL="1057275" lvl="2" indent="-457200">
              <a:buFont typeface="+mj-lt"/>
              <a:buAutoNum type="alphaUcPeriod"/>
            </a:pPr>
            <a:r>
              <a:rPr lang="fr-FR" sz="2800" dirty="0"/>
              <a:t>Une hypertension artérielle gravidique	  </a:t>
            </a:r>
          </a:p>
          <a:p>
            <a:pPr marL="1057275" lvl="2" indent="-457200">
              <a:buFont typeface="+mj-lt"/>
              <a:buAutoNum type="alphaUcPeriod"/>
            </a:pPr>
            <a:r>
              <a:rPr lang="fr-FR" sz="2800" dirty="0"/>
              <a:t>Grossesse associée à une néphropathie interstitielle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surveillance fait appel à (CM) </a:t>
            </a:r>
          </a:p>
          <a:p>
            <a:pPr marL="600075" lvl="2" indent="0">
              <a:buNone/>
            </a:pPr>
            <a:r>
              <a:rPr lang="fr-FR" sz="3200" dirty="0"/>
              <a:t>A. L’uricémie </a:t>
            </a:r>
          </a:p>
          <a:p>
            <a:pPr marL="600075" lvl="2" indent="0">
              <a:buNone/>
            </a:pPr>
            <a:r>
              <a:rPr lang="fr-FR" sz="3200" dirty="0"/>
              <a:t>B. La protéinurie</a:t>
            </a:r>
          </a:p>
          <a:p>
            <a:pPr marL="600075" lvl="2" indent="0">
              <a:buNone/>
            </a:pPr>
            <a:r>
              <a:rPr lang="fr-FR" sz="3200" dirty="0"/>
              <a:t>C. La pression artérielle       </a:t>
            </a:r>
          </a:p>
          <a:p>
            <a:pPr marL="600075" lvl="2" indent="0">
              <a:buNone/>
            </a:pPr>
            <a:r>
              <a:rPr lang="fr-FR" sz="3200" dirty="0"/>
              <a:t>D. RCF fœtal</a:t>
            </a:r>
          </a:p>
          <a:p>
            <a:pPr marL="600075" lvl="2" indent="0">
              <a:buNone/>
            </a:pPr>
            <a:r>
              <a:rPr lang="fr-FR" sz="3200" dirty="0"/>
              <a:t>E. La pesée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principaux dangers pour la mère sont : (CM) </a:t>
            </a:r>
          </a:p>
          <a:p>
            <a:pPr marL="300038" lvl="1" indent="0">
              <a:buNone/>
            </a:pPr>
            <a:r>
              <a:rPr lang="fr-FR" sz="3200" dirty="0"/>
              <a:t>A l’insuffisance rénale chronique</a:t>
            </a:r>
          </a:p>
          <a:p>
            <a:pPr marL="300038" lvl="1" indent="0">
              <a:buNone/>
            </a:pPr>
            <a:r>
              <a:rPr lang="fr-FR" sz="3200" dirty="0"/>
              <a:t>B l’infarctus myocardique</a:t>
            </a:r>
          </a:p>
          <a:p>
            <a:pPr marL="300038" lvl="1" indent="0">
              <a:buNone/>
            </a:pPr>
            <a:r>
              <a:rPr lang="fr-FR" sz="3200" dirty="0"/>
              <a:t>C L’éclampsie</a:t>
            </a:r>
          </a:p>
          <a:p>
            <a:pPr marL="300038" lvl="1" indent="0">
              <a:buNone/>
            </a:pPr>
            <a:r>
              <a:rPr lang="fr-FR" sz="3200" dirty="0"/>
              <a:t>D l’hypertension artérielle permanente</a:t>
            </a:r>
          </a:p>
          <a:p>
            <a:pPr marL="300038" lvl="1" indent="0">
              <a:buNone/>
            </a:pPr>
            <a:r>
              <a:rPr lang="fr-FR" sz="3200" dirty="0"/>
              <a:t>E L’HRP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risque pour les fœtus comporte : (CM)</a:t>
            </a:r>
          </a:p>
          <a:p>
            <a:pPr marL="300038" lvl="1" indent="0">
              <a:buNone/>
            </a:pPr>
            <a:r>
              <a:rPr lang="fr-FR" sz="3200" dirty="0"/>
              <a:t>A Les malformations congénitales </a:t>
            </a:r>
          </a:p>
          <a:p>
            <a:pPr marL="300038" lvl="1" indent="0">
              <a:buNone/>
            </a:pPr>
            <a:r>
              <a:rPr lang="fr-FR" sz="3200" dirty="0"/>
              <a:t>B La mort in utero</a:t>
            </a:r>
          </a:p>
          <a:p>
            <a:pPr marL="300038" lvl="1" indent="0">
              <a:buNone/>
            </a:pPr>
            <a:r>
              <a:rPr lang="fr-FR" sz="3200" dirty="0"/>
              <a:t>C Une néphropathie dès la naissance</a:t>
            </a:r>
          </a:p>
          <a:p>
            <a:pPr marL="300038" lvl="1" indent="0">
              <a:buNone/>
            </a:pPr>
            <a:r>
              <a:rPr lang="fr-FR" sz="3200" dirty="0"/>
              <a:t>D La prématurité</a:t>
            </a:r>
          </a:p>
          <a:p>
            <a:pPr marL="300038" lvl="1" indent="0">
              <a:buNone/>
            </a:pPr>
            <a:r>
              <a:rPr lang="fr-FR" sz="3200" dirty="0"/>
              <a:t>E L’Hypotrophie</a:t>
            </a:r>
          </a:p>
          <a:p>
            <a:pPr lvl="1"/>
            <a:endParaRPr lang="fr-FR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Question 5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Parmi les cinq propositions suivantes, quelles seraient celles évocatrices de gravité, à rechercher chez cette patiente ? (CM) </a:t>
            </a:r>
          </a:p>
          <a:p>
            <a:pPr marL="600075" lvl="2" indent="0">
              <a:buNone/>
            </a:pPr>
            <a:r>
              <a:rPr lang="fr-FR" sz="3200" dirty="0"/>
              <a:t>A)  Acouphènes </a:t>
            </a:r>
          </a:p>
          <a:p>
            <a:pPr marL="600075" lvl="2" indent="0">
              <a:buNone/>
            </a:pPr>
            <a:r>
              <a:rPr lang="fr-FR" sz="3200" dirty="0"/>
              <a:t>B)  Phosphènes </a:t>
            </a:r>
          </a:p>
          <a:p>
            <a:pPr marL="600075" lvl="2" indent="0">
              <a:buNone/>
            </a:pPr>
            <a:r>
              <a:rPr lang="fr-FR" sz="3200" dirty="0"/>
              <a:t>C)  Céphalées </a:t>
            </a:r>
          </a:p>
          <a:p>
            <a:pPr marL="600075" lvl="2" indent="0">
              <a:buNone/>
            </a:pPr>
            <a:r>
              <a:rPr lang="fr-FR" sz="3200" dirty="0"/>
              <a:t>D)  Prurit généralisé </a:t>
            </a:r>
          </a:p>
          <a:p>
            <a:pPr marL="600075" lvl="2" indent="0">
              <a:buNone/>
            </a:pPr>
            <a:r>
              <a:rPr lang="fr-FR" sz="3200" dirty="0"/>
              <a:t>E)  Douleurs épigastriques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5093" y="2942946"/>
            <a:ext cx="10399594" cy="1155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8.	Planifier les modalités de dépistage et de prévention de la </a:t>
            </a:r>
            <a:r>
              <a:rPr lang="fr-FR" dirty="0" err="1">
                <a:solidFill>
                  <a:srgbClr val="FF0000"/>
                </a:solidFill>
              </a:rPr>
              <a:t>prééclampsie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Titre 1"/>
          <p:cNvSpPr txBox="1"/>
          <p:nvPr/>
        </p:nvSpPr>
        <p:spPr>
          <a:xfrm>
            <a:off x="3071664" y="1484784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/>
          <a:p>
            <a:pPr defTabSz="685800">
              <a:spcBef>
                <a:spcPct val="0"/>
              </a:spcBef>
              <a:defRPr/>
            </a:pPr>
            <a:r>
              <a:rPr lang="fr-FR" sz="3300" b="1" dirty="0">
                <a:latin typeface="+mj-lt"/>
                <a:ea typeface="+mj-ea"/>
                <a:cs typeface="+mj-cs"/>
              </a:rPr>
              <a:t>Objectifs :</a:t>
            </a:r>
            <a:br>
              <a:rPr lang="fr-FR" sz="3300" b="1" dirty="0">
                <a:latin typeface="+mj-lt"/>
                <a:ea typeface="+mj-ea"/>
                <a:cs typeface="+mj-cs"/>
              </a:rPr>
            </a:br>
            <a:endParaRPr lang="fr-FR" sz="3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9900" y="881286"/>
            <a:ext cx="6172200" cy="857250"/>
          </a:xfrm>
        </p:spPr>
        <p:txBody>
          <a:bodyPr/>
          <a:lstStyle/>
          <a:p>
            <a:r>
              <a:rPr lang="fr-FR" dirty="0"/>
              <a:t>QCM 49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5910" y="1738537"/>
            <a:ext cx="8979090" cy="4580376"/>
          </a:xfrm>
        </p:spPr>
        <p:txBody>
          <a:bodyPr>
            <a:normAutofit/>
          </a:bodyPr>
          <a:lstStyle/>
          <a:p>
            <a:r>
              <a:rPr lang="fr-FR" dirty="0"/>
              <a:t>Le dépistage de la pré éclampsie impose:</a:t>
            </a:r>
          </a:p>
          <a:p>
            <a:endParaRPr lang="fr-FR" dirty="0"/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Identification des facteurs de risque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Prise régulière de la TA chez les femmes enceintes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Recherche de la protéinurie par bandelette urinaire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Surveillance renforcée, avec Doppler utérin (T1 et T2)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2800" dirty="0"/>
              <a:t>Dosage des marqueurs sériques au T1 (HCG, PAAP-A)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QCM 50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9558" y="1690690"/>
            <a:ext cx="10794242" cy="4802183"/>
          </a:xfrm>
        </p:spPr>
        <p:txBody>
          <a:bodyPr>
            <a:normAutofit/>
          </a:bodyPr>
          <a:lstStyle/>
          <a:p>
            <a:r>
              <a:rPr lang="fr-FR" dirty="0"/>
              <a:t>La prévention de la </a:t>
            </a:r>
            <a:r>
              <a:rPr lang="fr-FR" dirty="0" err="1"/>
              <a:t>prééclampsie</a:t>
            </a:r>
            <a:r>
              <a:rPr lang="fr-FR" dirty="0"/>
              <a:t> impose: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Arrêt d’un éventuel tabagisme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Réduction de l’obésité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Traitement préventif par aspirine à faibles doses 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Proposer une hospitalisation à la date d’anniversaire en cas d’antécédent d’accident aigu</a:t>
            </a:r>
          </a:p>
          <a:p>
            <a:pPr marL="985838" lvl="2" indent="-385763">
              <a:buFont typeface="+mj-lt"/>
              <a:buAutoNum type="alphaUcPeriod"/>
            </a:pPr>
            <a:r>
              <a:rPr lang="fr-FR" sz="3200" dirty="0"/>
              <a:t>Prescrire des antioxydants au cours des grossesses ultérieurs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N°4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03411" y="1714309"/>
            <a:ext cx="11165675" cy="4973094"/>
          </a:xfrm>
        </p:spPr>
        <p:txBody>
          <a:bodyPr>
            <a:normAutofit fontScale="72500" lnSpcReduction="20000"/>
          </a:bodyPr>
          <a:lstStyle/>
          <a:p>
            <a:pPr marL="0" lvl="0" indent="0">
              <a:lnSpc>
                <a:spcPct val="160000"/>
              </a:lnSpc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Une femme âgée de 25 ans consulte  pour œdèmes de membres inférieurs.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fr-FR" b="1" u="sng" dirty="0">
                <a:latin typeface="Arial" panose="020B0604020202020204" pitchFamily="34" charset="0"/>
                <a:cs typeface="Arial" panose="020B0604020202020204" pitchFamily="34" charset="0"/>
              </a:rPr>
              <a:t>Antécédents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 : -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père hypertendu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Mère diabétique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fr-FR" b="1" u="sng" dirty="0">
                <a:latin typeface="Arial" panose="020B0604020202020204" pitchFamily="34" charset="0"/>
                <a:cs typeface="Arial" panose="020B0604020202020204" pitchFamily="34" charset="0"/>
              </a:rPr>
              <a:t>Histoire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grossesse au 6</a:t>
            </a:r>
            <a:r>
              <a:rPr lang="fr-FR" baseline="30000" dirty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mois non suivie. Il y a une notion de TA prise il y a 1 an à 16/9 cm hg confirmée à plusieurs fois en médecine de travail.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fr-FR" b="1" u="sng" dirty="0">
                <a:latin typeface="Arial" panose="020B0604020202020204" pitchFamily="34" charset="0"/>
                <a:cs typeface="Arial" panose="020B0604020202020204" pitchFamily="34" charset="0"/>
              </a:rPr>
              <a:t>Examen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TA = 15/9,5 cm hg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 Discrets œdèmes des membres inférieurs. Le reste de l’examen est normal.</a:t>
            </a:r>
            <a:endParaRPr lang="fr-FR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41696" y="805219"/>
            <a:ext cx="10222173" cy="5677468"/>
          </a:xfrm>
        </p:spPr>
        <p:txBody>
          <a:bodyPr>
            <a:normAutofit fontScale="87500" lnSpcReduction="10000"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Question 1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Quelle est votre attitude ?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Quelle est votre conduite ? 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Question 2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Quels sont les examens complémentaires nécessaires pour le diagnostic  et le suivi de cette patiente ?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Question 3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protéinurie est de 3g/24h, Quel est votre diagnostic ? 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Question 4 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mari vous interroge sur le pronostic à court et long terme, quelles sont vos réponses ?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7840" y="2870939"/>
            <a:ext cx="3262637" cy="18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799857" y="2672807"/>
            <a:ext cx="1863207" cy="675186"/>
          </a:xfrm>
          <a:prstGeom prst="rect">
            <a:avLst/>
          </a:prstGeom>
          <a:noFill/>
        </p:spPr>
        <p:txBody>
          <a:bodyPr wrap="square" lIns="51435" tIns="25718" rIns="51435" bIns="25718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050" b="1" dirty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Monotype Corsiva" panose="03010101010201010101" pitchFamily="66" charset="0"/>
              </a:rPr>
              <a:t>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3964</Words>
  <Application>Microsoft Office PowerPoint</Application>
  <PresentationFormat>Grand écran</PresentationFormat>
  <Paragraphs>573</Paragraphs>
  <Slides>90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90</vt:i4>
      </vt:variant>
    </vt:vector>
  </HeadingPairs>
  <TitlesOfParts>
    <vt:vector size="97" baseType="lpstr">
      <vt:lpstr>微软雅黑</vt:lpstr>
      <vt:lpstr>Arial</vt:lpstr>
      <vt:lpstr>Calibri</vt:lpstr>
      <vt:lpstr>Calibri Light</vt:lpstr>
      <vt:lpstr>Monotype Corsiva</vt:lpstr>
      <vt:lpstr>Times New Roman</vt:lpstr>
      <vt:lpstr>Thème Office 2013 – 2022</vt:lpstr>
      <vt:lpstr>Prééclampsies et Eclampsies.  serie résidanat 2025</vt:lpstr>
      <vt:lpstr>Objectifs : </vt:lpstr>
      <vt:lpstr>QCM 1</vt:lpstr>
      <vt:lpstr>QCM 2</vt:lpstr>
      <vt:lpstr>QCM 3</vt:lpstr>
      <vt:lpstr>QCM 4</vt:lpstr>
      <vt:lpstr>QCM 5</vt:lpstr>
      <vt:lpstr>Présentation PowerPoint</vt:lpstr>
      <vt:lpstr>QCM 6</vt:lpstr>
      <vt:lpstr>QCM 7</vt:lpstr>
      <vt:lpstr>QCM 8</vt:lpstr>
      <vt:lpstr>QCM 9</vt:lpstr>
      <vt:lpstr>Présentation PowerPoint</vt:lpstr>
      <vt:lpstr>QCM 10</vt:lpstr>
      <vt:lpstr>QCM 11</vt:lpstr>
      <vt:lpstr>Cas clinique QCM</vt:lpstr>
      <vt:lpstr>QUESTION 1</vt:lpstr>
      <vt:lpstr>QUESTION 2</vt:lpstr>
      <vt:lpstr>QUESTION 3</vt:lpstr>
      <vt:lpstr>QUESTION 4</vt:lpstr>
      <vt:lpstr>Présentation PowerPoint</vt:lpstr>
      <vt:lpstr>QCM 12</vt:lpstr>
      <vt:lpstr>QCM 13</vt:lpstr>
      <vt:lpstr>QCM 14</vt:lpstr>
      <vt:lpstr>QCM 15</vt:lpstr>
      <vt:lpstr>QCM 16</vt:lpstr>
      <vt:lpstr>QCM 17</vt:lpstr>
      <vt:lpstr>QCM 18</vt:lpstr>
      <vt:lpstr>Présentation PowerPoint</vt:lpstr>
      <vt:lpstr>QCM 19</vt:lpstr>
      <vt:lpstr>QCM 20</vt:lpstr>
      <vt:lpstr>QCM 21</vt:lpstr>
      <vt:lpstr>QCM 22</vt:lpstr>
      <vt:lpstr>QCM 23</vt:lpstr>
      <vt:lpstr>QCM 24</vt:lpstr>
      <vt:lpstr>QCM 25</vt:lpstr>
      <vt:lpstr>QCM 26</vt:lpstr>
      <vt:lpstr>QCM 27</vt:lpstr>
      <vt:lpstr>QCM 28</vt:lpstr>
      <vt:lpstr>QCM 29</vt:lpstr>
      <vt:lpstr>QCM 30</vt:lpstr>
      <vt:lpstr>QCM 31</vt:lpstr>
      <vt:lpstr>QCM 32</vt:lpstr>
      <vt:lpstr>QCM 33</vt:lpstr>
      <vt:lpstr>QCM 34</vt:lpstr>
      <vt:lpstr>QCM 35</vt:lpstr>
      <vt:lpstr>QCM 36</vt:lpstr>
      <vt:lpstr>Présentation PowerPoint</vt:lpstr>
      <vt:lpstr>QCM 37</vt:lpstr>
      <vt:lpstr>QCM 38 </vt:lpstr>
      <vt:lpstr>QCM 39</vt:lpstr>
      <vt:lpstr>QCM 40</vt:lpstr>
      <vt:lpstr>QCM 41</vt:lpstr>
      <vt:lpstr>QCM 42</vt:lpstr>
      <vt:lpstr>QCM 43</vt:lpstr>
      <vt:lpstr>QCM 44</vt:lpstr>
      <vt:lpstr>QCM 45</vt:lpstr>
      <vt:lpstr>Présentation PowerPoint</vt:lpstr>
      <vt:lpstr>Cas clinique N°1 </vt:lpstr>
      <vt:lpstr>Question 1</vt:lpstr>
      <vt:lpstr>Question 2</vt:lpstr>
      <vt:lpstr>Question 3</vt:lpstr>
      <vt:lpstr>Question 4</vt:lpstr>
      <vt:lpstr>Question 5</vt:lpstr>
      <vt:lpstr>Question 6</vt:lpstr>
      <vt:lpstr>Cas clinique QCM N°2</vt:lpstr>
      <vt:lpstr>QCM1</vt:lpstr>
      <vt:lpstr>QCM2</vt:lpstr>
      <vt:lpstr>QCM3</vt:lpstr>
      <vt:lpstr>QCM4</vt:lpstr>
      <vt:lpstr>QCM5</vt:lpstr>
      <vt:lpstr>QCM6</vt:lpstr>
      <vt:lpstr>QCM7</vt:lpstr>
      <vt:lpstr>QCM8</vt:lpstr>
      <vt:lpstr>Présentation PowerPoint</vt:lpstr>
      <vt:lpstr>QCM 46</vt:lpstr>
      <vt:lpstr>QCM 47</vt:lpstr>
      <vt:lpstr>QCM 48</vt:lpstr>
      <vt:lpstr>Cas clinique N°3</vt:lpstr>
      <vt:lpstr>QUESTION 1</vt:lpstr>
      <vt:lpstr>QUESTION 2</vt:lpstr>
      <vt:lpstr>QUESTION 3</vt:lpstr>
      <vt:lpstr>QUESTION 4</vt:lpstr>
      <vt:lpstr>Question 5 </vt:lpstr>
      <vt:lpstr>Présentation PowerPoint</vt:lpstr>
      <vt:lpstr>QCM 49 </vt:lpstr>
      <vt:lpstr>QCM 50</vt:lpstr>
      <vt:lpstr>CAS CLINIQUE N°4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fmm bitriraed</cp:lastModifiedBy>
  <cp:revision>16</cp:revision>
  <cp:lastPrinted>2025-09-17T22:56:08Z</cp:lastPrinted>
  <dcterms:created xsi:type="dcterms:W3CDTF">2025-07-23T00:59:00Z</dcterms:created>
  <dcterms:modified xsi:type="dcterms:W3CDTF">2025-09-17T22:57:29Z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1036-12.2.0.22549</vt:lpwstr>
  </property>
  <property fmtid="{D5CDD505-2E9C-101B-9397-08002B2CF9AE}" pid="3" name="ICV">
    <vt:lpwstr>6C14FA7376C94BC3924F7CC03A418B47_11</vt:lpwstr>
  </property>
</Properties>
</file>
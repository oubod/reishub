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261" r:id="rId3"/>
    <p:sldId id="302" r:id="rId4"/>
    <p:sldId id="265" r:id="rId5"/>
    <p:sldId id="303" r:id="rId6"/>
    <p:sldId id="268" r:id="rId7"/>
    <p:sldId id="269" r:id="rId8"/>
    <p:sldId id="271" r:id="rId9"/>
    <p:sldId id="304" r:id="rId10"/>
    <p:sldId id="273" r:id="rId11"/>
    <p:sldId id="305" r:id="rId12"/>
    <p:sldId id="313" r:id="rId13"/>
    <p:sldId id="306" r:id="rId14"/>
    <p:sldId id="284" r:id="rId15"/>
    <p:sldId id="307" r:id="rId16"/>
    <p:sldId id="287" r:id="rId17"/>
    <p:sldId id="289" r:id="rId18"/>
    <p:sldId id="291" r:id="rId19"/>
    <p:sldId id="309" r:id="rId20"/>
    <p:sldId id="292" r:id="rId21"/>
    <p:sldId id="310" r:id="rId22"/>
    <p:sldId id="293" r:id="rId23"/>
    <p:sldId id="294" r:id="rId24"/>
    <p:sldId id="311" r:id="rId25"/>
    <p:sldId id="295" r:id="rId26"/>
    <p:sldId id="296" r:id="rId27"/>
    <p:sldId id="297" r:id="rId28"/>
    <p:sldId id="299" r:id="rId29"/>
    <p:sldId id="316" r:id="rId30"/>
    <p:sldId id="317" r:id="rId31"/>
    <p:sldId id="290" r:id="rId32"/>
    <p:sldId id="318" r:id="rId33"/>
  </p:sldIdLst>
  <p:sldSz cx="12192000" cy="6858000"/>
  <p:notesSz cx="6858000" cy="9144000"/>
  <p:custDataLst>
    <p:tags r:id="rId3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925D6-F1F0-B9EB-09A2-29A331C60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E61076-7C26-BD34-8883-69D17F111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050C2D-FDFF-4A97-FEC3-99F3B2A69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3E6E30-23E1-F185-EADC-BBE41996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B1FA44-F53A-66E7-B248-D439F3A1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39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30DFCA-0877-5970-FD39-92F0FED17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309"/>
            <a:ext cx="10515600" cy="5539654"/>
          </a:xfrm>
        </p:spPr>
        <p:txBody>
          <a:bodyPr/>
          <a:lstStyle>
            <a:lvl1pPr>
              <a:lnSpc>
                <a:spcPct val="150000"/>
              </a:lnSpc>
              <a:defRPr sz="2400" b="1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6CB505-2789-54C2-5337-422F9E5A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DABA57-87D5-9AF9-4381-388591ED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E2E806-092F-3D3C-E8B7-CD56F6AA6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24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8F27F-560B-64D4-4DC9-01251166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7F8146-DF47-FE14-B3BC-6D86DEB7A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083689-B3C6-85C1-B64C-CC082188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27C898-CDF7-8CFE-025F-D45A3F33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19B0B6-7D12-80C0-5957-79A4E377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77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E38569-19C0-8E72-F010-2B0EB9DF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B0BF89-CBF7-7164-3951-B8E5CE05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AA49C1-15F3-08FD-6B86-6516313EB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E4D23D-AFC9-5B1D-D343-C339698A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BD3A0A-D377-31CF-138E-EB83CAAC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B01295-2012-9157-F789-2ABF359B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7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7F2A5-3202-CD93-8514-2B09CC67C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F17A6C-F8C0-ECB6-1CD6-5A68029D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71659A-0F75-E5D3-13F6-AAED05835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34A9BB-E302-C1B7-1A69-DDC9346A3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BD4873C-1111-33FC-8FC3-23244C267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E37A33-AB17-BCDD-0A01-4AF72951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B7381CE-A4AB-B9FA-FCF3-6BEF7AA8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350E34A-29F5-288F-EA2A-847B178D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572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26C0C-1C53-E4D3-1A8E-D2C366F4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2531720-D262-F345-4544-DCBB7218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093FEA-9546-DF01-A9AC-1EE081A7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FD679D-3413-6B94-B107-99C9694C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91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50B3F53-723B-68D9-84B8-C86892CD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3DCE2B-FB94-4CE6-14F8-11DD8662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BB016A-E494-2955-D9D0-00DD6A783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77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4EED7-50D7-591E-889F-B98525440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7E7601-3C48-DC33-8B81-5BC548E71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ABE47D-CE09-2A10-8A4E-F16900101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6B3FEC-0105-77A7-259F-4DBF0455F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53245F-114E-C97F-968D-C0500FB3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B44F15-D24E-C15E-E6B9-313830A5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03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4F6FCC-A2E2-ECEE-2B76-7FC0CF22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DEB9FE-6C34-0E13-1FAF-954D06D29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B8BEEB-CF61-DDEC-3438-25D442AEC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B9A2C9-9764-26AE-9E40-BEFCEE94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2F517C-9FE9-B518-EFB7-05C6B5B2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4A4871-F0AB-CE13-277B-B9297E50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77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D1BBB-8662-899B-EADF-8FD125F6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0F1E52-18F7-8694-B4DA-DF9A6DC3D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80326D-54C7-AF23-6953-2AAA1E024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3780EB-45AE-1076-630C-D546E24F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62B7B0-D23D-B7B2-A8E3-D080724E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34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CADFFCA-94E9-E4D8-A785-28D09513B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EDF21D9-0B28-C055-B7A3-B3439F220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D861E8-16DB-0328-B0B2-8FEC2D23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27773A-1415-E6F3-3242-346C5E2A0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51F4A0-F526-3D30-B04A-40B824DA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050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78783-F175-FD42-6CD5-990FAB5D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53800E-3F75-CDBA-D91F-7ABD8AEFF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07F2AA-8F4E-94C4-4017-F37DDE4A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69AB8-44F8-470F-8706-0C972F6B0041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D4C41-EC2B-23A7-0361-453C27D9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879C57-0E0A-2000-1195-49987A8F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3D2B3-D795-4C39-9E9D-547BA3F17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448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B0BF0AE-978C-3BFC-7B8F-C9A8098C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F9746C-0CF6-DDC4-B9DE-3CBDD2A4C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5CE9F3-8DBA-75DA-73CD-C4AB65CFF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8FC9C-8DB2-47C9-BAA6-06F5129E4087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0FC34C-BE7E-9C9D-F6D7-25268DFA9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915700-8368-8872-14EF-DC73DC1EC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0F5F1-C2A9-4B31-8F41-B64C92F373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466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br>
              <a:rPr lang="fr-FR" sz="6600" b="1" dirty="0">
                <a:ln/>
                <a:solidFill>
                  <a:schemeClr val="accent4"/>
                </a:solidFill>
              </a:rPr>
            </a:br>
            <a:br>
              <a:rPr lang="fr-FR" sz="6600" b="1" dirty="0">
                <a:ln/>
                <a:solidFill>
                  <a:schemeClr val="accent4"/>
                </a:solidFill>
              </a:rPr>
            </a:br>
            <a:br>
              <a:rPr lang="fr-FR" sz="6600" b="1" dirty="0">
                <a:ln/>
                <a:solidFill>
                  <a:schemeClr val="accent4"/>
                </a:solidFill>
              </a:rPr>
            </a:br>
            <a:br>
              <a:rPr lang="fr-FR" sz="6600" b="1" dirty="0">
                <a:ln/>
                <a:solidFill>
                  <a:schemeClr val="accent4"/>
                </a:solidFill>
              </a:rPr>
            </a:br>
            <a:br>
              <a:rPr lang="fr-FR" sz="6600" b="1" dirty="0">
                <a:ln/>
                <a:solidFill>
                  <a:schemeClr val="accent4"/>
                </a:solidFill>
              </a:rPr>
            </a:br>
            <a:br>
              <a:rPr lang="fr-FR" sz="6600" b="1" dirty="0">
                <a:ln/>
                <a:solidFill>
                  <a:schemeClr val="accent4"/>
                </a:solidFill>
              </a:rPr>
            </a:br>
            <a:r>
              <a:rPr lang="fr-FR" sz="6600" b="1" dirty="0">
                <a:ln/>
                <a:solidFill>
                  <a:schemeClr val="accent4"/>
                </a:solidFill>
              </a:rPr>
              <a:t>Le cancer du sein: évaluation</a:t>
            </a:r>
            <a:br>
              <a:rPr lang="fr-FR" sz="6600" b="1" dirty="0">
                <a:ln/>
                <a:solidFill>
                  <a:schemeClr val="accent4"/>
                </a:solidFill>
              </a:rPr>
            </a:br>
            <a:endParaRPr lang="fr-FR" sz="6600" b="1" dirty="0">
              <a:ln/>
              <a:solidFill>
                <a:schemeClr val="accent4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fr-F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Cycle de formation EE/TCEM 2025</a:t>
            </a:r>
          </a:p>
          <a:p>
            <a:r>
              <a:rPr lang="fr-F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 Khaled Trigui</a:t>
            </a:r>
          </a:p>
        </p:txBody>
      </p:sp>
    </p:spTree>
    <p:extLst>
      <p:ext uri="{BB962C8B-B14F-4D97-AF65-F5344CB8AC3E}">
        <p14:creationId xmlns:p14="http://schemas.microsoft.com/office/powerpoint/2010/main" val="228425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fr-FR" dirty="0"/>
              <a:t>Les trois principaux sites de métastase lymphatique lors d’un cancer du sein sont: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Les adénopathies axillaires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Les adénopathies mammaires internes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Les adénopathies sous claviculaires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Les adénopathies sus claviculaires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Les adénopathies intra-mammaires</a:t>
            </a:r>
          </a:p>
        </p:txBody>
      </p:sp>
    </p:spTree>
    <p:extLst>
      <p:ext uri="{BB962C8B-B14F-4D97-AF65-F5344CB8AC3E}">
        <p14:creationId xmlns:p14="http://schemas.microsoft.com/office/powerpoint/2010/main" val="20621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2"/>
            </a:pPr>
            <a:r>
              <a:rPr lang="fr-FR" dirty="0"/>
              <a:t>Le drainage du quadrant </a:t>
            </a:r>
            <a:r>
              <a:rPr lang="fr-FR" dirty="0" err="1"/>
              <a:t>supéro</a:t>
            </a:r>
            <a:r>
              <a:rPr lang="fr-FR" dirty="0"/>
              <a:t>-interne du sein se fait essentiellement vers: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La voie axillaire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La voie mammaire para sternale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La voie sus claviculaire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La voie mammaire externe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La voie intra mammaire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454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lnSpc>
                <a:spcPct val="170000"/>
              </a:lnSpc>
              <a:buFont typeface="+mj-lt"/>
              <a:buAutoNum type="arabicPeriod" startAt="3"/>
            </a:pPr>
            <a:r>
              <a:rPr lang="fr-FR" dirty="0"/>
              <a:t>Les adénocarcinomes primitifs invasifs du sein</a:t>
            </a:r>
          </a:p>
          <a:p>
            <a:pPr marL="914400" lvl="1" indent="-457200" algn="just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Sont de type spécifique dans la majorité des cas</a:t>
            </a:r>
          </a:p>
          <a:p>
            <a:pPr marL="914400" lvl="1" indent="-457200" algn="just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Sont accessibles au dépistage quel que soit leur type histologique</a:t>
            </a:r>
          </a:p>
          <a:p>
            <a:pPr marL="914400" lvl="1" indent="-457200" algn="just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Sont lymphophiles quel que soit leur type histologique</a:t>
            </a:r>
          </a:p>
          <a:p>
            <a:pPr marL="914400" lvl="1" indent="-457200" algn="just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Peuvent naitre à partir du tissu conjonctif</a:t>
            </a:r>
          </a:p>
          <a:p>
            <a:pPr marL="914400" lvl="1" indent="-457200" algn="just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Ont le potentiel de récidive le plus important parmi les tumeurs malignes du sein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860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4"/>
            </a:pPr>
            <a:r>
              <a:rPr lang="fr-FR" dirty="0"/>
              <a:t>Le cancer du sein 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Se présente sous forme de nodule bien circonscrit dans 2/3 des cas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dit multicentrique en cas de foyers multiples dans des quadrants différents du même sein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souvent bilatéral dans les formes évoluées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bilatéral dans 15% des cas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d’emblée métastatique dans les formes multicentriques</a:t>
            </a:r>
          </a:p>
        </p:txBody>
      </p:sp>
    </p:spTree>
    <p:extLst>
      <p:ext uri="{BB962C8B-B14F-4D97-AF65-F5344CB8AC3E}">
        <p14:creationId xmlns:p14="http://schemas.microsoft.com/office/powerpoint/2010/main" val="318484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5"/>
            </a:pPr>
            <a:r>
              <a:rPr lang="fr-FR" dirty="0"/>
              <a:t>Le carcinome canalaire in situ: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lymphophile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Donne fréquemment une atteinte multicentrique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donner une maladie de Paget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Évolue rarement vers un cancer invasif si non traité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coexister avec un carcinome invasif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6768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6"/>
            </a:pPr>
            <a:r>
              <a:rPr lang="fr-FR" dirty="0"/>
              <a:t>Le carcinome lobulaire in situ: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Bilatéral dans 20-30% des cas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S’imprègne au dépistage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 cancer de bon pronostic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Sa prise en charge repose sur l’exérèse chirurgicale et la surveillance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généralement découvert fortuitement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6706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7"/>
            </a:pPr>
            <a:r>
              <a:rPr lang="fr-FR" dirty="0"/>
              <a:t>Le carcinome lobulaire invasif se diffère du carcinome canalaire invasif par: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Son caractère bilatéral plus fréquent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Sa tendance à former des foyers multiples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Son faible potentiel métastatique ganglionnaire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Sa faible cohésion intercellulaire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Sa fréquence plus élevée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9648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fr-FR" dirty="0"/>
              <a:t>Le carcinome infiltrant de type non spécifique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Ne donne de maladie de Paget que lorsqu’il est palpable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Est lymphophile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Est le type histologique le plus fréquent des tumeurs malignes du sein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Est souvent unilatéral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Est dépistable</a:t>
            </a:r>
          </a:p>
        </p:txBody>
      </p:sp>
    </p:spTree>
    <p:extLst>
      <p:ext uri="{BB962C8B-B14F-4D97-AF65-F5344CB8AC3E}">
        <p14:creationId xmlns:p14="http://schemas.microsoft.com/office/powerpoint/2010/main" val="204835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9"/>
            </a:pPr>
            <a:r>
              <a:rPr lang="fr-FR" dirty="0"/>
              <a:t>Le comédocarcinome dans le cancer du sein: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 facteur de mauvais pronostic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S’associe à la composante lobulaire in situ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Se traduit radiologiquement par des microcalcifications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Sa présence est un signe de forme évoluée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Se manifeste par un écoulement </a:t>
            </a:r>
            <a:r>
              <a:rPr lang="fr-FR" dirty="0" err="1"/>
              <a:t>mamelonnaire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109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10"/>
            </a:pPr>
            <a:r>
              <a:rPr lang="fr-FR" dirty="0"/>
              <a:t>L’apparition d’une adénopathie suspecte homolatérale après le traitement d’un CCIS implique: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relecture histologique de la pièce opératoire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 bilan d’extension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 contrôle radiologique par écho-mammographie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IRM mammaire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 prélèvement de l’adénopathie pour examen histologique</a:t>
            </a:r>
          </a:p>
        </p:txBody>
      </p:sp>
    </p:spTree>
    <p:extLst>
      <p:ext uri="{BB962C8B-B14F-4D97-AF65-F5344CB8AC3E}">
        <p14:creationId xmlns:p14="http://schemas.microsoft.com/office/powerpoint/2010/main" val="3973508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11"/>
            </a:pPr>
            <a:r>
              <a:rPr lang="fr-FR" dirty="0"/>
              <a:t>La tumeur phyllode maligne: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Nait à partir de l’épithélium des canaux galactophores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Présente un haut risque de récidive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lymphophile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une indication à la radiothérapie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une contre-indication au traitement conservateur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4770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2"/>
            </a:pPr>
            <a:r>
              <a:rPr lang="fr-FR" dirty="0"/>
              <a:t>Le cancer du sein d’origine génétique: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fréquent après la ménopause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dû au gène BRCA1 ou 2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s’associer à un cancer de l’ovaire synchrone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Exprime fréquemment les récepteurs hormonaux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de mauvais pronostic</a:t>
            </a:r>
          </a:p>
        </p:txBody>
      </p:sp>
    </p:spTree>
    <p:extLst>
      <p:ext uri="{BB962C8B-B14F-4D97-AF65-F5344CB8AC3E}">
        <p14:creationId xmlns:p14="http://schemas.microsoft.com/office/powerpoint/2010/main" val="1767857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3"/>
            </a:pPr>
            <a:r>
              <a:rPr lang="fr-FR" dirty="0"/>
              <a:t>L’examen clinique des seins 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Doit être bilatéral et comparatif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Inclut les aires ganglionnaires axillaires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Comporte deux temps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Exclut un cancer en cas d’absence de signes de malignité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Contribue à la classification TNM</a:t>
            </a:r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317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4"/>
            </a:pPr>
            <a:r>
              <a:rPr lang="fr-FR" dirty="0"/>
              <a:t>Les signes cliniques de malignité lors d’un examen du sein: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 aspect en peau d’orange localisé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 écoulement </a:t>
            </a:r>
            <a:r>
              <a:rPr lang="fr-FR" dirty="0" err="1"/>
              <a:t>unipore</a:t>
            </a:r>
            <a:r>
              <a:rPr lang="fr-FR" dirty="0"/>
              <a:t> sanguinolant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Une rétraction mamelonnaire récente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 nodule douloureux à la palpation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 ganglion axillaire mou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952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15"/>
            </a:pPr>
            <a:r>
              <a:rPr lang="fr-FR" dirty="0"/>
              <a:t>Les signes mammographiques de malignité sont: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image hétérogène à centre dense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Les microcalcifications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La distorsion architecturale de la glande mammaire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les microkystes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L’épaississement cutané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1634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16"/>
            </a:pPr>
            <a:r>
              <a:rPr lang="fr-FR" dirty="0"/>
              <a:t>Un nodule du sein classé ACR4 en échographie nécessite 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 contrôle échographique après un an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 complément de mammographie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vérification histologique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 contrôle écho-</a:t>
            </a:r>
            <a:r>
              <a:rPr lang="fr-FR" dirty="0" err="1"/>
              <a:t>mammographique</a:t>
            </a:r>
            <a:r>
              <a:rPr lang="fr-FR" dirty="0"/>
              <a:t> après 6 mois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IRM mammaire</a:t>
            </a:r>
          </a:p>
        </p:txBody>
      </p:sp>
    </p:spTree>
    <p:extLst>
      <p:ext uri="{BB962C8B-B14F-4D97-AF65-F5344CB8AC3E}">
        <p14:creationId xmlns:p14="http://schemas.microsoft.com/office/powerpoint/2010/main" val="1364680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7"/>
            </a:pPr>
            <a:r>
              <a:rPr lang="fr-FR" dirty="0"/>
              <a:t>Une lésion ACR6  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une indication de complément d’exploration par IRM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Nécessite un bilan d’extension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prendre l’aspect d’une opacité régulière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une indication de chimiothérapie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souvent associée à une adénopathie palpable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26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18"/>
            </a:pPr>
            <a:r>
              <a:rPr lang="fr-FR" dirty="0"/>
              <a:t>Devant une suspicion clinique de malignité d’un nodule du sein, l’échographie mammaire: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N’est indiquée que si la femme est jeune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Permet de redresser le diagnostic de malignité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indispensable dans tous les cas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Permet de guider une biopsie du nodule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Doit explorer le creux axillaire</a:t>
            </a:r>
          </a:p>
        </p:txBody>
      </p:sp>
    </p:spTree>
    <p:extLst>
      <p:ext uri="{BB962C8B-B14F-4D97-AF65-F5344CB8AC3E}">
        <p14:creationId xmlns:p14="http://schemas.microsoft.com/office/powerpoint/2010/main" val="261265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9"/>
            </a:pPr>
            <a:r>
              <a:rPr lang="fr-FR" dirty="0"/>
              <a:t>Une patiente a eu une biopsie mammaire, montrant deux foyers de carcinome lobulaire invasif, votre conduite à tenir initiale sera: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Intervention de Patey du sein droit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IRM mammaire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Chimiothérapie première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Scanner thoraco-abdominopelvien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Scintigraphie osseuse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5062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20"/>
            </a:pPr>
            <a:r>
              <a:rPr lang="fr-FR" dirty="0"/>
              <a:t>L’IRM mammaire est indiquée 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En cas de carcinome lobulaire invasif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En cas de suspicion de récidive 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De première intention en cas de signes inflammatoires mammaires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Pour le dépistage pour une femme de 40 ans présentant une mutation du gène BRCA1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En cas de cancer métastatique</a:t>
            </a:r>
          </a:p>
        </p:txBody>
      </p:sp>
    </p:spTree>
    <p:extLst>
      <p:ext uri="{BB962C8B-B14F-4D97-AF65-F5344CB8AC3E}">
        <p14:creationId xmlns:p14="http://schemas.microsoft.com/office/powerpoint/2010/main" val="1200746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1"/>
            </a:pPr>
            <a:r>
              <a:rPr lang="fr-FR" dirty="0"/>
              <a:t>Un cancer du sein Luminal B comporte les éléments suivants: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RH-/Her+/Ki67 15%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RH-/Her -/Ki67 34%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RH+/Her-/Ki67 14%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RH+/Her+/Ki67 24%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RH+/Her-/Ki67  28%</a:t>
            </a:r>
          </a:p>
        </p:txBody>
      </p:sp>
    </p:spTree>
    <p:extLst>
      <p:ext uri="{BB962C8B-B14F-4D97-AF65-F5344CB8AC3E}">
        <p14:creationId xmlns:p14="http://schemas.microsoft.com/office/powerpoint/2010/main" val="3944908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2"/>
            </a:pPr>
            <a:r>
              <a:rPr lang="fr-FR" dirty="0"/>
              <a:t>Le traitement d’un cancer canalaire infiltrant T2N1M0 de 4 cm, </a:t>
            </a:r>
            <a:r>
              <a:rPr lang="fr-FR" dirty="0" err="1"/>
              <a:t>RH+,Her</a:t>
            </a:r>
            <a:r>
              <a:rPr lang="fr-FR" dirty="0"/>
              <a:t>+ chez une femme de 42 ans comporte: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Une chimiothérapie première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Une mastectomie première 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Une radiothérapie locale et régionale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Une castration chimique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Le Trastuzumab</a:t>
            </a:r>
          </a:p>
        </p:txBody>
      </p:sp>
    </p:spTree>
    <p:extLst>
      <p:ext uri="{BB962C8B-B14F-4D97-AF65-F5344CB8AC3E}">
        <p14:creationId xmlns:p14="http://schemas.microsoft.com/office/powerpoint/2010/main" val="1466291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3"/>
            </a:pPr>
            <a:r>
              <a:rPr lang="fr-FR" dirty="0"/>
              <a:t>Un cancer du sein T4c  de 5 cm indique: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chimiothérapie néoadjuvante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traitement conservateur est possible si réduction tumorale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radiothérapie locale et régionale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intervention de Patey en première intention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chimiothérapie adjuvante systématique</a:t>
            </a:r>
          </a:p>
        </p:txBody>
      </p:sp>
    </p:spTree>
    <p:extLst>
      <p:ext uri="{BB962C8B-B14F-4D97-AF65-F5344CB8AC3E}">
        <p14:creationId xmlns:p14="http://schemas.microsoft.com/office/powerpoint/2010/main" val="393992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24"/>
            </a:pPr>
            <a:r>
              <a:rPr lang="fr-FR" dirty="0"/>
              <a:t>Pour un CLI multicentrique et unilatéral, N1, le traitement consiste en 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intervention de Patey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chimiothérapie première pour réduction tumorale en vue d’un traitement conservateur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radiothérapie post opératoire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mastectomie 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Une thérapeutique ciblée si Her +</a:t>
            </a:r>
          </a:p>
        </p:txBody>
      </p:sp>
    </p:spTree>
    <p:extLst>
      <p:ext uri="{BB962C8B-B14F-4D97-AF65-F5344CB8AC3E}">
        <p14:creationId xmlns:p14="http://schemas.microsoft.com/office/powerpoint/2010/main" val="757529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5"/>
            </a:pPr>
            <a:r>
              <a:rPr lang="fr-FR" dirty="0"/>
              <a:t>Un carcinome canalaire in situ de 4,5 cm est traité par: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tumorectomie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radiothérapie post opératoire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prélèvement de ganglion sentinelle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chimiothérapie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mastectomie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4194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6"/>
            </a:pPr>
            <a:r>
              <a:rPr lang="fr-FR" dirty="0"/>
              <a:t>La maladie de Paget du mamelon associée à un carcinome </a:t>
            </a:r>
            <a:r>
              <a:rPr lang="fr-FR" dirty="0" err="1"/>
              <a:t>intracanalaire</a:t>
            </a:r>
            <a:r>
              <a:rPr lang="fr-FR" dirty="0"/>
              <a:t> de 1,5cm: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Impose une mastectomie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Impose un curage axillaire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Nécessite une irradiation post opératoire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classée T4b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Indique un bilan d ’extension à distance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3789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7"/>
            </a:pPr>
            <a:r>
              <a:rPr lang="fr-FR" dirty="0"/>
              <a:t>Vous proposez à une femme de 42 ans ayant une sœur de 25 ans atteinte de cancer du sein et présentant une mutation BRCA1: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 Un dépistage par IRM mammaire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conseil génétique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dépistage par mammographie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examen clinique des seins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dépistage par mammographie à partir de l'âge de 45 ans</a:t>
            </a:r>
          </a:p>
        </p:txBody>
      </p:sp>
    </p:spTree>
    <p:extLst>
      <p:ext uri="{BB962C8B-B14F-4D97-AF65-F5344CB8AC3E}">
        <p14:creationId xmlns:p14="http://schemas.microsoft.com/office/powerpoint/2010/main" val="596983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E47787-A11D-6F72-32D8-2DF7C492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683"/>
            <a:ext cx="10515600" cy="5483280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28"/>
            </a:pPr>
            <a:r>
              <a:rPr lang="fr-FR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 technique du ganglion sentinelle dans la prise en charge d’un cancer du sein: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 indiquée en cas de </a:t>
            </a:r>
            <a:r>
              <a:rPr lang="fr-FR" kern="100" dirty="0">
                <a:ea typeface="Aptos" panose="020B0004020202020204" pitchFamily="34" charset="0"/>
                <a:cs typeface="Times New Roman" panose="02020603050405020304" pitchFamily="18" charset="0"/>
              </a:rPr>
              <a:t>cancer classé T1N0M0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un objectif curatif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Sa positivité impose une lymphadénectomie axillaire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 fait idéalement par un double marquage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 contre indiquée au cours de la grossesse</a:t>
            </a:r>
          </a:p>
        </p:txBody>
      </p:sp>
    </p:spTree>
    <p:extLst>
      <p:ext uri="{BB962C8B-B14F-4D97-AF65-F5344CB8AC3E}">
        <p14:creationId xmlns:p14="http://schemas.microsoft.com/office/powerpoint/2010/main" val="4194948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FBBA1E-3AA6-40D3-A450-39D9D02C7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7103"/>
            <a:ext cx="10515600" cy="5309860"/>
          </a:xfrm>
        </p:spPr>
        <p:txBody>
          <a:bodyPr/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29"/>
            </a:pPr>
            <a:r>
              <a:rPr lang="fr-FR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 traitement d’un carcinome no spécifique du sein type triple négatif, de 2.5cm, T2N1M0 consiste en 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Une chimiothérapie néoadjuvante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Une intervention de </a:t>
            </a:r>
            <a:r>
              <a:rPr lang="fr-FR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Patey</a:t>
            </a: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Une tumorectomie élargie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Une radiothérapie post opératoire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 curage ganglionnaire axillaire</a:t>
            </a:r>
          </a:p>
        </p:txBody>
      </p:sp>
    </p:spTree>
    <p:extLst>
      <p:ext uri="{BB962C8B-B14F-4D97-AF65-F5344CB8AC3E}">
        <p14:creationId xmlns:p14="http://schemas.microsoft.com/office/powerpoint/2010/main" val="1985581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B92381-C024-DC0E-2398-71A28B4B7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9807"/>
            <a:ext cx="10515600" cy="5357156"/>
          </a:xfrm>
        </p:spPr>
        <p:txBody>
          <a:bodyPr/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30"/>
            </a:pPr>
            <a:r>
              <a:rPr lang="fr-FR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Les facteurs de risque de récidive d’un cancer du sein 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 traitement conservateur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Les tumeurs T3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 type moléculaire Luminal A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L’atteinte ganglionnaire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 taille tumorale &lt; 2 cm</a:t>
            </a:r>
          </a:p>
        </p:txBody>
      </p:sp>
    </p:spTree>
    <p:extLst>
      <p:ext uri="{BB962C8B-B14F-4D97-AF65-F5344CB8AC3E}">
        <p14:creationId xmlns:p14="http://schemas.microsoft.com/office/powerpoint/2010/main" val="991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30EC53-B1E0-81F5-D807-A1A426C1E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9807"/>
            <a:ext cx="10515600" cy="5357156"/>
          </a:xfrm>
        </p:spPr>
        <p:txBody>
          <a:bodyPr/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31"/>
            </a:pPr>
            <a:r>
              <a:rPr lang="fr-FR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 traitement hormonal par le tamoxifène pour le cancer du sein 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 de durée minimale de 5 ans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Induit une hyperplasie de l’endomètre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N’a pas de place chez les femmes ménopausées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 contre indiqué en cas forme métastatique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Inhibe la synthèse des œstrogènes </a:t>
            </a:r>
          </a:p>
        </p:txBody>
      </p:sp>
    </p:spTree>
    <p:extLst>
      <p:ext uri="{BB962C8B-B14F-4D97-AF65-F5344CB8AC3E}">
        <p14:creationId xmlns:p14="http://schemas.microsoft.com/office/powerpoint/2010/main" val="10899259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5c20c9b-14d3-4edf-af44-efcd1a230dd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1213</Words>
  <Application>Microsoft Office PowerPoint</Application>
  <PresentationFormat>Grand écran</PresentationFormat>
  <Paragraphs>207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Thème Office</vt:lpstr>
      <vt:lpstr>      Le cancer du sein: évaluation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Le cancer du sein: évaluation </dc:title>
  <dc:creator>Trigui khaled</dc:creator>
  <cp:lastModifiedBy>Khaled Trigui</cp:lastModifiedBy>
  <cp:revision>138</cp:revision>
  <dcterms:created xsi:type="dcterms:W3CDTF">2022-06-12T15:19:55Z</dcterms:created>
  <dcterms:modified xsi:type="dcterms:W3CDTF">2025-06-20T11:18:36Z</dcterms:modified>
</cp:coreProperties>
</file>
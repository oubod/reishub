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93" r:id="rId3"/>
    <p:sldId id="291" r:id="rId4"/>
    <p:sldId id="293" r:id="rId5"/>
    <p:sldId id="292" r:id="rId6"/>
    <p:sldId id="294" r:id="rId7"/>
    <p:sldId id="394" r:id="rId8"/>
    <p:sldId id="295" r:id="rId9"/>
    <p:sldId id="296" r:id="rId10"/>
    <p:sldId id="297" r:id="rId11"/>
    <p:sldId id="298" r:id="rId12"/>
    <p:sldId id="395" r:id="rId13"/>
    <p:sldId id="300" r:id="rId14"/>
    <p:sldId id="299" r:id="rId15"/>
    <p:sldId id="301" r:id="rId16"/>
    <p:sldId id="302" r:id="rId17"/>
    <p:sldId id="396" r:id="rId18"/>
    <p:sldId id="399" r:id="rId19"/>
    <p:sldId id="303" r:id="rId20"/>
    <p:sldId id="304" r:id="rId21"/>
    <p:sldId id="305" r:id="rId22"/>
    <p:sldId id="306" r:id="rId23"/>
    <p:sldId id="400" r:id="rId24"/>
    <p:sldId id="397" r:id="rId25"/>
    <p:sldId id="307" r:id="rId26"/>
    <p:sldId id="309" r:id="rId27"/>
    <p:sldId id="308" r:id="rId28"/>
    <p:sldId id="398" r:id="rId29"/>
    <p:sldId id="401" r:id="rId30"/>
    <p:sldId id="310" r:id="rId31"/>
    <p:sldId id="311" r:id="rId32"/>
    <p:sldId id="312" r:id="rId33"/>
    <p:sldId id="317" r:id="rId34"/>
    <p:sldId id="313" r:id="rId35"/>
    <p:sldId id="318" r:id="rId36"/>
    <p:sldId id="403" r:id="rId37"/>
    <p:sldId id="314" r:id="rId38"/>
    <p:sldId id="319" r:id="rId39"/>
    <p:sldId id="315" r:id="rId40"/>
    <p:sldId id="320" r:id="rId41"/>
    <p:sldId id="316" r:id="rId42"/>
    <p:sldId id="321" r:id="rId43"/>
    <p:sldId id="404" r:id="rId44"/>
    <p:sldId id="326" r:id="rId45"/>
    <p:sldId id="325" r:id="rId46"/>
    <p:sldId id="405" r:id="rId47"/>
    <p:sldId id="406" r:id="rId48"/>
    <p:sldId id="322" r:id="rId49"/>
    <p:sldId id="327" r:id="rId50"/>
    <p:sldId id="323" r:id="rId51"/>
    <p:sldId id="328" r:id="rId52"/>
    <p:sldId id="324" r:id="rId53"/>
    <p:sldId id="329" r:id="rId54"/>
    <p:sldId id="330" r:id="rId55"/>
    <p:sldId id="334" r:id="rId56"/>
    <p:sldId id="331" r:id="rId57"/>
    <p:sldId id="335" r:id="rId58"/>
    <p:sldId id="332" r:id="rId59"/>
    <p:sldId id="336" r:id="rId60"/>
    <p:sldId id="333" r:id="rId61"/>
    <p:sldId id="337" r:id="rId62"/>
    <p:sldId id="341" r:id="rId63"/>
    <p:sldId id="342" r:id="rId64"/>
    <p:sldId id="338" r:id="rId65"/>
    <p:sldId id="343" r:id="rId66"/>
    <p:sldId id="339" r:id="rId67"/>
    <p:sldId id="344" r:id="rId68"/>
    <p:sldId id="340" r:id="rId69"/>
    <p:sldId id="345" r:id="rId70"/>
    <p:sldId id="346" r:id="rId71"/>
    <p:sldId id="353" r:id="rId72"/>
    <p:sldId id="347" r:id="rId73"/>
    <p:sldId id="354" r:id="rId74"/>
    <p:sldId id="348" r:id="rId75"/>
    <p:sldId id="355" r:id="rId76"/>
    <p:sldId id="349" r:id="rId77"/>
    <p:sldId id="356" r:id="rId78"/>
    <p:sldId id="357" r:id="rId79"/>
    <p:sldId id="350" r:id="rId80"/>
    <p:sldId id="351" r:id="rId81"/>
    <p:sldId id="358" r:id="rId82"/>
    <p:sldId id="352" r:id="rId83"/>
    <p:sldId id="359" r:id="rId84"/>
    <p:sldId id="360" r:id="rId85"/>
    <p:sldId id="366" r:id="rId86"/>
    <p:sldId id="361" r:id="rId87"/>
    <p:sldId id="362" r:id="rId88"/>
    <p:sldId id="367" r:id="rId89"/>
    <p:sldId id="368" r:id="rId90"/>
    <p:sldId id="363" r:id="rId91"/>
    <p:sldId id="364" r:id="rId92"/>
    <p:sldId id="369" r:id="rId93"/>
    <p:sldId id="365" r:id="rId94"/>
    <p:sldId id="373" r:id="rId95"/>
    <p:sldId id="370" r:id="rId96"/>
    <p:sldId id="371" r:id="rId97"/>
    <p:sldId id="374" r:id="rId98"/>
    <p:sldId id="372" r:id="rId99"/>
    <p:sldId id="375" r:id="rId100"/>
    <p:sldId id="378" r:id="rId101"/>
    <p:sldId id="379" r:id="rId102"/>
    <p:sldId id="380" r:id="rId103"/>
    <p:sldId id="376" r:id="rId104"/>
    <p:sldId id="381" r:id="rId105"/>
    <p:sldId id="382" r:id="rId106"/>
    <p:sldId id="383" r:id="rId107"/>
    <p:sldId id="377" r:id="rId108"/>
    <p:sldId id="387" r:id="rId109"/>
    <p:sldId id="386" r:id="rId110"/>
    <p:sldId id="384" r:id="rId111"/>
    <p:sldId id="388" r:id="rId112"/>
    <p:sldId id="385" r:id="rId113"/>
    <p:sldId id="389" r:id="rId114"/>
    <p:sldId id="391" r:id="rId115"/>
    <p:sldId id="390" r:id="rId116"/>
    <p:sldId id="392" r:id="rId117"/>
    <p:sldId id="257" r:id="rId118"/>
    <p:sldId id="265" r:id="rId119"/>
    <p:sldId id="266" r:id="rId120"/>
    <p:sldId id="278" r:id="rId121"/>
    <p:sldId id="279" r:id="rId122"/>
    <p:sldId id="280" r:id="rId123"/>
    <p:sldId id="281" r:id="rId124"/>
    <p:sldId id="258" r:id="rId125"/>
    <p:sldId id="259" r:id="rId126"/>
    <p:sldId id="260" r:id="rId127"/>
    <p:sldId id="261" r:id="rId128"/>
    <p:sldId id="267" r:id="rId129"/>
    <p:sldId id="268" r:id="rId130"/>
    <p:sldId id="263" r:id="rId131"/>
    <p:sldId id="269" r:id="rId132"/>
    <p:sldId id="270" r:id="rId133"/>
    <p:sldId id="271" r:id="rId134"/>
    <p:sldId id="272" r:id="rId135"/>
    <p:sldId id="273" r:id="rId136"/>
    <p:sldId id="274" r:id="rId137"/>
    <p:sldId id="262" r:id="rId138"/>
    <p:sldId id="275" r:id="rId139"/>
    <p:sldId id="276" r:id="rId140"/>
    <p:sldId id="264" r:id="rId141"/>
    <p:sldId id="277" r:id="rId142"/>
    <p:sldId id="282" r:id="rId143"/>
    <p:sldId id="283" r:id="rId144"/>
    <p:sldId id="284" r:id="rId145"/>
    <p:sldId id="285" r:id="rId146"/>
    <p:sldId id="286" r:id="rId147"/>
    <p:sldId id="287" r:id="rId148"/>
    <p:sldId id="288" r:id="rId149"/>
    <p:sldId id="289" r:id="rId15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LL" initials="D" lastIdx="2" clrIdx="0">
    <p:extLst>
      <p:ext uri="{19B8F6BF-5375-455C-9EA6-DF929625EA0E}">
        <p15:presenceInfo xmlns:p15="http://schemas.microsoft.com/office/powerpoint/2012/main" userId="DEL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55" Type="http://schemas.openxmlformats.org/officeDocument/2006/relationships/tableStyles" Target="tableStyle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openxmlformats.org/officeDocument/2006/relationships/commentAuthors" Target="commentAuthors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viewProps" Target="viewProps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theme" Target="theme/theme1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5-08-20T02:59:47.180" idx="1">
    <p:pos x="10" y="10"/>
    <p:text/>
    <p:extLst>
      <p:ext uri="{C676402C-5697-4E1C-873F-D02D1690AC5C}">
        <p15:threadingInfo xmlns:p15="http://schemas.microsoft.com/office/powerpoint/2012/main" timeZoneBias="-120"/>
      </p:ext>
    </p:extLs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72E9C-68AE-258F-E23A-27ACB45A1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F62F09-58AA-5078-1C01-B2174B25ED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033D0D-276C-29A1-FDE0-A6EA1B71C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23086-3623-4AF3-BDDC-6C05B549A5D8}" type="datetimeFigureOut">
              <a:rPr lang="fr-FR" smtClean="0"/>
              <a:t>20/08/2025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AB2F53-7A10-9575-6526-8DE17272F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85ED60-9848-CAF9-F51F-2B45DCEDE3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2ED0C-F55D-44E8-80F1-E9F87D5D93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8007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E43E4-9E33-7EA0-B26A-E8CA62F05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3DCCBC-B616-89C2-0952-27B075546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6FED1-F9DB-48BE-84A4-67E69025A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23086-3623-4AF3-BDDC-6C05B549A5D8}" type="datetimeFigureOut">
              <a:rPr lang="fr-FR" smtClean="0"/>
              <a:t>20/08/2025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33A93-23CB-ED95-FF46-23B4515BD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80B07A-075E-91B8-87ED-6BA2030F0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2ED0C-F55D-44E8-80F1-E9F87D5D93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6358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440E3-5223-8156-3920-2B952FB54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DCF26F-868F-66B6-BAA2-945DB8426D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6D17A7-8DF9-D5B7-1E19-FD2BAFA90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23086-3623-4AF3-BDDC-6C05B549A5D8}" type="datetimeFigureOut">
              <a:rPr lang="fr-FR" smtClean="0"/>
              <a:t>20/08/2025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267BD0-6F32-8C65-0723-0AFA913CBE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A0AADD-E122-C708-BA59-8D4E1F6FF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2ED0C-F55D-44E8-80F1-E9F87D5D93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2372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974F2-3A97-13B0-5ED2-9625EC841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346600-CA84-9091-CF80-E19465FFDB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939F83-67CE-F7C7-1DFD-1DEB63458C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958B9C-23FD-51E1-EEC4-181C5F400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23086-3623-4AF3-BDDC-6C05B549A5D8}" type="datetimeFigureOut">
              <a:rPr lang="fr-FR" smtClean="0"/>
              <a:t>20/08/2025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FCB6B8-8429-BA6D-3F88-ABD8B7A1E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865EE7-7C09-EB8D-E32B-11D82043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2ED0C-F55D-44E8-80F1-E9F87D5D93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4657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9A22F-AF00-6DBB-9F61-C732E36685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51DE-B945-6ACE-5BD5-D39DF6BDA5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3E2AD8-68A9-FA1D-9F0A-C427E91167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C7AD83-686D-75D6-B683-07CFD57746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AD36F7-7460-AB37-8D20-260BBEE32B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D2C212-33D6-CE7F-3D62-661F1F0B1D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23086-3623-4AF3-BDDC-6C05B549A5D8}" type="datetimeFigureOut">
              <a:rPr lang="fr-FR" smtClean="0"/>
              <a:t>20/08/2025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BE89B3-D580-03B3-D9F2-5A87D70B5C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8E0775-B2C6-52C0-D652-8159B39F30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2ED0C-F55D-44E8-80F1-E9F87D5D93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92783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F4DCB0-EE4A-36A7-D8C2-81082D5F2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AA92A0-00E2-DDBB-18F5-6392AA61C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23086-3623-4AF3-BDDC-6C05B549A5D8}" type="datetimeFigureOut">
              <a:rPr lang="fr-FR" smtClean="0"/>
              <a:t>20/08/2025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9269C23-CEA2-04C0-0FF6-FA5459E107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E1FB74-D5F2-C7D2-20C5-67A438742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2ED0C-F55D-44E8-80F1-E9F87D5D93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3848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E5212A-EE0A-121F-9940-EC1B7AF4C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23086-3623-4AF3-BDDC-6C05B549A5D8}" type="datetimeFigureOut">
              <a:rPr lang="fr-FR" smtClean="0"/>
              <a:t>20/08/2025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C6DF0A-DAC0-9AF7-6090-D1865BC2F1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0BFF00-2FB9-4B4F-D67C-E41ECEC23C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2ED0C-F55D-44E8-80F1-E9F87D5D93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779052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E78BD5-3365-EEEE-AA34-9F9E7CC91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CE286E-6E05-88BA-67A7-87869D1625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48DFB7-D0C0-46D6-1FA1-E6E595C471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8FBCC-E855-1030-43F4-757DBCE92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23086-3623-4AF3-BDDC-6C05B549A5D8}" type="datetimeFigureOut">
              <a:rPr lang="fr-FR" smtClean="0"/>
              <a:t>20/08/2025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309A4F-5C13-CD0A-824A-D9A34FBD7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D54B63-5D4C-F6E9-8CD0-EBE84180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2ED0C-F55D-44E8-80F1-E9F87D5D93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79001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FB18E-CAEC-209A-F364-47E217609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BD2CC4-3602-321E-D09A-8683D0E6530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AC679C-3FF5-7256-5B89-C67EB299A1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005F13-5A97-2335-C1A5-A559225F46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23086-3623-4AF3-BDDC-6C05B549A5D8}" type="datetimeFigureOut">
              <a:rPr lang="fr-FR" smtClean="0"/>
              <a:t>20/08/2025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345CD3-E4E9-0BE0-462D-196E67EEC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696D22-C7A7-AF80-C4B1-A9E72BEA3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2ED0C-F55D-44E8-80F1-E9F87D5D93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98971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7622D-80CC-56DA-568D-BBC81C8FA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ABC791-F3BE-0536-49AF-038DEA1D9C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5CE7A7-ABF7-EF2B-5570-16EF79A13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23086-3623-4AF3-BDDC-6C05B549A5D8}" type="datetimeFigureOut">
              <a:rPr lang="fr-FR" smtClean="0"/>
              <a:t>20/08/2025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E1C883-4799-0CB3-D56D-FDD98CF70B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1CDEA-6E53-CA0D-23A1-88CEA5CA0F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2ED0C-F55D-44E8-80F1-E9F87D5D93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4564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2AB42A4-9060-22FE-213C-FFF2B437F2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E47147-54DD-6AD5-E5B3-BCE5BFD2A9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A7EB39-1F99-B6D2-F636-6733D069F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23086-3623-4AF3-BDDC-6C05B549A5D8}" type="datetimeFigureOut">
              <a:rPr lang="fr-FR" smtClean="0"/>
              <a:t>20/08/2025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451FAA-B178-21FC-EE47-600D1B31F4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141BD9-8BB1-6EFA-003F-F335CBB92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12ED0C-F55D-44E8-80F1-E9F87D5D93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0811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9199844-672E-11E5-FC41-E6141E0DA9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C951F2-0744-302F-F6A8-93926371C9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243FB0-8D38-7EAE-5CEF-7E077D9279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823086-3623-4AF3-BDDC-6C05B549A5D8}" type="datetimeFigureOut">
              <a:rPr lang="fr-FR" smtClean="0"/>
              <a:t>20/08/2025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F9649D-F68C-9DED-8EC8-F4F1BE0D8E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1690BA-11D6-426E-EB94-8D3B5BF25F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12ED0C-F55D-44E8-80F1-E9F87D5D93F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81859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68C57-CFF2-CA19-8A47-0802054EFB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3149" y="2555832"/>
            <a:ext cx="7797949" cy="1953416"/>
          </a:xfrm>
          <a:ln>
            <a:noFill/>
          </a:ln>
        </p:spPr>
        <p:txBody>
          <a:bodyPr>
            <a:noAutofit/>
          </a:bodyPr>
          <a:lstStyle/>
          <a:p>
            <a:br>
              <a:rPr lang="fr-FR" sz="4800" dirty="0"/>
            </a:br>
            <a:r>
              <a:rPr lang="fr-FR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Sujet : 74</a:t>
            </a:r>
            <a:br>
              <a:rPr lang="fr-FR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r-FR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L’ulcère gastrique et duodénal</a:t>
            </a:r>
            <a:br>
              <a:rPr lang="fr-FR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fr-FR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04AE9BE-240E-32BD-D5DB-632623DC21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8746" y="5254804"/>
            <a:ext cx="4655127" cy="1330180"/>
          </a:xfrm>
          <a:ln>
            <a:noFill/>
          </a:ln>
        </p:spPr>
        <p:txBody>
          <a:bodyPr>
            <a:normAutofit fontScale="77500" lnSpcReduction="20000"/>
          </a:bodyPr>
          <a:lstStyle/>
          <a:p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Pr. Ben Slama A.</a:t>
            </a:r>
          </a:p>
          <a:p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</a:t>
            </a:r>
            <a:r>
              <a:rPr lang="fr-FR" sz="3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Hassine</a:t>
            </a: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A.</a:t>
            </a:r>
          </a:p>
          <a:p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Ben Latifa M.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CFD876-6546-C425-6FBC-E4D6E786D8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163" r="8766" b="86667"/>
          <a:stretch/>
        </p:blipFill>
        <p:spPr>
          <a:xfrm>
            <a:off x="10238509" y="430964"/>
            <a:ext cx="1371599" cy="17080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DDF5F90-97FE-7188-5354-FA50CF79BE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1892" y="430964"/>
            <a:ext cx="1763846" cy="2124868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D93B486C-8811-B80C-CCE3-1C6D81EB76E4}"/>
              </a:ext>
            </a:extLst>
          </p:cNvPr>
          <p:cNvSpPr txBox="1"/>
          <p:nvPr/>
        </p:nvSpPr>
        <p:spPr>
          <a:xfrm>
            <a:off x="3039035" y="295835"/>
            <a:ext cx="65442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Cycle de préparation au concours de résidanat 2025</a:t>
            </a:r>
          </a:p>
        </p:txBody>
      </p:sp>
    </p:spTree>
    <p:extLst>
      <p:ext uri="{BB962C8B-B14F-4D97-AF65-F5344CB8AC3E}">
        <p14:creationId xmlns:p14="http://schemas.microsoft.com/office/powerpoint/2010/main" val="35090653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63DD6E1-F81F-0953-0049-75A72E74C539}"/>
              </a:ext>
            </a:extLst>
          </p:cNvPr>
          <p:cNvSpPr/>
          <p:nvPr/>
        </p:nvSpPr>
        <p:spPr>
          <a:xfrm>
            <a:off x="1658470" y="1535953"/>
            <a:ext cx="8875059" cy="2604247"/>
          </a:xfrm>
          <a:prstGeom prst="rect">
            <a:avLst/>
          </a:prstGeom>
          <a:noFill/>
          <a:ln w="38100" cmpd="tri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</a:t>
            </a:r>
            <a:r>
              <a:rPr lang="fr-FR" sz="36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 : </a:t>
            </a:r>
            <a:r>
              <a:rPr lang="fr-FR" sz="3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Décrire les lésions anatomopathologiques de l’ulcère gastrique et duodénal, et les lésions associées. </a:t>
            </a:r>
          </a:p>
        </p:txBody>
      </p:sp>
    </p:spTree>
    <p:extLst>
      <p:ext uri="{BB962C8B-B14F-4D97-AF65-F5344CB8AC3E}">
        <p14:creationId xmlns:p14="http://schemas.microsoft.com/office/powerpoint/2010/main" val="9041845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A097C9E-9D0D-5396-DB1C-FBB9269612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675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 L'ulcère gastroduodénal (UGD) est une maladie définie anatomiquement par : 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Une perte de substance pariétale ne dépassant pas la sous-muqueuse. 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Une perte de substance interrompant la muqueuse, la sous-muqueuse, et la musculeuse.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Un fond tapissé par de la fibrine. 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Absence d'altération vasculaire. 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 Une muqueuse péri-ulcéreuse œdémateuse, remaniée.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73754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362BC0-D261-4426-F930-140F28E51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0959920-596D-893D-BE6C-66129DF5FD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7675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 L'ulcère gastroduodénal (UGD) est une maladie définie anatomiquement par : 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Une perte de substance pariétale ne dépassant pas la sous-muqueuse. </a:t>
            </a:r>
          </a:p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Une perte de substance interrompant la muqueuse, la sous-muqueuse, et la musculeuse.</a:t>
            </a:r>
          </a:p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C. Un fond tapissé par de la fibrine. 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Absence d'altération vasculaire. </a:t>
            </a:r>
          </a:p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 Une muqueuse péri-ulcéreuse œdémateuse, remaniée.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009752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4AF9DD0-6EA6-B53A-8B73-DBEECE5C4C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459" y="1063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2/ L'ulcère gastroduodénal en poussée présente les caractéristiques anatomiques suivantes 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fond est de couleur blanc nacré due à la présence d’un enduit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fibrino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-leucocytaire dense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Présence d’altération vasculaire à type d’endartérite oblitérante le plus souvent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Absence d’anomalies du plexus nerveux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socle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scléro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inflammatoire disparait après cicatrisation.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phénomènes régénératifs épithéliaux s’installent tout autour de l’ulcère 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08857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AC6E39-92C6-00F5-88E2-CCCB3D29C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DB130E-C7DC-5997-ECF1-DE4F79CD00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6459" y="1063625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2/ L'ulcère gastroduodénal en poussée présente les caractéristiques anatomiques suivantes 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fond est de couleur blanc nacré due à la présence d’un enduit </a:t>
            </a:r>
            <a:r>
              <a:rPr lang="fr-FR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fibrino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-leucocytaire dense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Présence d’altération vasculaire à type d’endartérite oblitérante le plus souvent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Absence d’anomalies du plexus nerveux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socle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scléro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inflammatoire disparait après cicatrisation.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 phénomènes régénératifs épithéliaux s’installent tout autour de l’ulcère 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423221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081FF0D-5390-69A9-7C60-2E9903817E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3399" y="278296"/>
            <a:ext cx="11287539" cy="6467061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Ulcère en poussée: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perte de substance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muqueuse, sous-muqueuse, et une partie plus ou moins profonde de la musculeuse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fond: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tapissé d’un enduit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fibrino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-leucocytaire = tissu fibreux dense + éléments inflammatoires. 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Lésions associées: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endartérite oblitérant, hyperplasie des plexus nerveux 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socle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scléro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inflammatoire persistera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après cicatrisation.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muqueuse péri-ulcéreuse (Bourrelet péri-ulcéreux):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œdémateuse, remaniée, présentant des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phénomènes régénératifs épithéliaux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808860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68ADE6C-7DBC-E3A6-7137-C4893CC3F4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986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3/ L'ulcère duodénal est caractérisé macroscopiquement par 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Siège le plus fréquent au niveau bulbaire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forme linéaire dans plus de la moitié des cas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Souvent multiple sur les deux faces du duodénum.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Rarement sous forme de plusieurs ulcérations superficielles rappelant la tranche de salami.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Siège le plus fréquent sur la face antérieure du bulbe.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042640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70B6AB-7514-C285-0998-89CC452D2B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620CF04-6ED5-C148-4A08-23CB855E60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4986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3/ L'ulcère duodénal est caractérisé macroscopiquement par 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Siège le plus fréquent au niveau bulbaire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forme linéaire dans plus de la moitié des cas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Souvent multiple sur les deux faces du duodénum.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Rarement sous forme de plusieurs ulcérations superficielles rappelant la tranche de salami.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Siège le plus fréquent sur la face antérieure du bulbe.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54113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EFC30FF-B921-2583-E2F1-83987F9410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03649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4/ Parmi les propositions suivantes relatives à l’ulcère duodénal (UD), les quelles sont vraies?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L'ulcère siège dans presque 50% des cas au niveau du bulbe.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localisations distales post bulbaires (D2, D3 et D4) sont fréquentes.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L’UD chronique est exceptionnellement double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appelle un « 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kissing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ulcère », les ulcères siégeant face à face sur le duodénum.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perte de substance dépasse souvent 20 mm de diamètre</a:t>
            </a:r>
          </a:p>
        </p:txBody>
      </p:sp>
    </p:spTree>
    <p:extLst>
      <p:ext uri="{BB962C8B-B14F-4D97-AF65-F5344CB8AC3E}">
        <p14:creationId xmlns:p14="http://schemas.microsoft.com/office/powerpoint/2010/main" val="2858726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E9EA8-2F71-95A7-1D54-538406637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78C69DF-DF00-5DFF-25D0-47FA007C48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03649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4/ Parmi les propositions suivantes relatives à l’ulcère duodénal (UD), les quelles sont vraies?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L'ulcère siège dans presque 50% des cas au niveau du bulbe.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localisations distales post bulbaires (D2, D3 et D4) sont fréquentes.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L’UD chronique est exceptionnellement double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appelle un « </a:t>
            </a:r>
            <a:r>
              <a:rPr lang="fr-FR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kissing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ulcère », les ulcères siégeant face à face sur le duodénum.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perte de substance dépasse souvent 20 mm de diamètre</a:t>
            </a:r>
          </a:p>
        </p:txBody>
      </p:sp>
    </p:spTree>
    <p:extLst>
      <p:ext uri="{BB962C8B-B14F-4D97-AF65-F5344CB8AC3E}">
        <p14:creationId xmlns:p14="http://schemas.microsoft.com/office/powerpoint/2010/main" val="1387661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7FC109-14C9-1B45-5EAC-F0ADBD748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4199" y="231913"/>
            <a:ext cx="11607801" cy="639417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L’ulcère duodénal : </a:t>
            </a:r>
          </a:p>
          <a:p>
            <a:pPr>
              <a:lnSpc>
                <a:spcPct val="110000"/>
              </a:lnSpc>
              <a:buFontTx/>
              <a:buChar char="-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Bulbe (90%), la face antérieure ++</a:t>
            </a:r>
          </a:p>
          <a:p>
            <a:pPr>
              <a:lnSpc>
                <a:spcPct val="110000"/>
              </a:lnSpc>
              <a:buFontTx/>
              <a:buChar char="-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Duodénum post-bulbaire (1 - 10%). </a:t>
            </a:r>
          </a:p>
          <a:p>
            <a:pPr>
              <a:lnSpc>
                <a:spcPct val="110000"/>
              </a:lnSpc>
              <a:buFontTx/>
              <a:buChar char="-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(80% des cas), double (20%) </a:t>
            </a:r>
          </a:p>
          <a:p>
            <a:pPr>
              <a:lnSpc>
                <a:spcPct val="110000"/>
              </a:lnSpc>
              <a:buFontTx/>
              <a:buChar char="-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Taille habituelle 5 à 20mm</a:t>
            </a:r>
          </a:p>
          <a:p>
            <a:pPr>
              <a:lnSpc>
                <a:spcPct val="110000"/>
              </a:lnSpc>
              <a:buFontTx/>
              <a:buChar char="-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plus rarement, taille &gt; 20 mm (ulcère géant) </a:t>
            </a:r>
          </a:p>
          <a:p>
            <a:pPr>
              <a:lnSpc>
                <a:spcPct val="110000"/>
              </a:lnSpc>
              <a:buFontTx/>
              <a:buChar char="-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formes : </a:t>
            </a:r>
          </a:p>
          <a:p>
            <a:pPr lvl="2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Ulcère rond ou ovalaire (80%)</a:t>
            </a:r>
          </a:p>
          <a:p>
            <a:pPr lvl="2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Ulcère linéaire (15%)</a:t>
            </a:r>
          </a:p>
          <a:p>
            <a:pPr lvl="2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Ulcère irrégulier (&lt; 10%)</a:t>
            </a:r>
          </a:p>
          <a:p>
            <a:pPr lvl="2">
              <a:lnSpc>
                <a:spcPct val="110000"/>
              </a:lnSpc>
              <a:buFont typeface="Wingdings" panose="05000000000000000000" pitchFamily="2" charset="2"/>
              <a:buChar char="ü"/>
            </a:pPr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Ulcère Salami</a:t>
            </a:r>
          </a:p>
        </p:txBody>
      </p:sp>
    </p:spTree>
    <p:extLst>
      <p:ext uri="{BB962C8B-B14F-4D97-AF65-F5344CB8AC3E}">
        <p14:creationId xmlns:p14="http://schemas.microsoft.com/office/powerpoint/2010/main" val="13580801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E7892-0DE7-4C30-BE11-A0B9470DD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FB3040-2486-9AF1-B1EA-14F581DA4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82157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5/ L'ulcère gastrique est caractérisé macroscopiquement par: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Siège le plus fréquent au niveau de l’angle de la petite courbure gastrique.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forme linéaire dans plus de la moitié des cas.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Souvent unique.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Sous forme de plusieurs ulcérations superficielles au niveau de toute la cavité gastrique.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Entouré par un bourrelet irrégulier.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823007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12AAA23-9079-9F02-0E1C-1DA4B8D76B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82157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5/ L'ulcère gastrique est caractérisé macroscopiquement par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Siège le plus fréquent au niveau de l’angle de la petite courbure gastrique.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forme linéaire dans plus de la moitié des cas.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Souvent unique.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Sous forme de plusieurs ulcérations superficielles au niveau de toute la cavité gastrique.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Entouré par un bourrelet irrégulier.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313497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6123038-68B3-6A26-2D77-CEDB7CC20A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607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6/ Parmi les propositions suivantes relatives à l’ulcère gastrique (UG), on retient : 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perte de substance est toujours arrondie ou ovalaire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taille ne dépasse jamais 20 mm de diamètre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berges sont toujours déchiquetées, irrégulières, contrairement à l’UD.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siège est le plus souvent antral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L’UG peut être multiple.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44788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3F2DF-2243-2C18-7F5A-F671FB8A8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80FF1CE-0884-0EC3-68E7-48FE70A645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9607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6/ Parmi les propositions suivantes relatives à l’ulcère gastrique (UG), on retient : 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perte de substance est toujours arrondie ou ovalaire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taille ne dépasse jamais 20 mm de diamètre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berges sont toujours déchiquetées, irrégulières, contrairement à l’UD.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siège est le plus souvent antral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L’UG peut être multiple.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3432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692F227-4DC8-1C57-0280-8AE64DF9D2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280" y="362584"/>
            <a:ext cx="10515600" cy="531685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L’ulcère gastrique : 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plus souvent arrondie ou ovalaire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 moyenne 10 à 15mm (4mm à 4 cm) 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L’angle de la petite courbure antrale ++ (80% des cas)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Unique +++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peut être multiple (6,6%)</a:t>
            </a:r>
          </a:p>
          <a:p>
            <a:pPr>
              <a:lnSpc>
                <a:spcPct val="150000"/>
              </a:lnSpc>
              <a:buFontTx/>
              <a:buChar char="-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entouré d’un bourrelet œdémateux régulier</a:t>
            </a:r>
          </a:p>
        </p:txBody>
      </p:sp>
    </p:spTree>
    <p:extLst>
      <p:ext uri="{BB962C8B-B14F-4D97-AF65-F5344CB8AC3E}">
        <p14:creationId xmlns:p14="http://schemas.microsoft.com/office/powerpoint/2010/main" val="31602861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5F70DD-1AFF-2024-0A15-DE4201AE0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7052226-5628-DCE0-C434-AE8B28ACAFD4}"/>
              </a:ext>
            </a:extLst>
          </p:cNvPr>
          <p:cNvSpPr/>
          <p:nvPr/>
        </p:nvSpPr>
        <p:spPr>
          <a:xfrm>
            <a:off x="1577190" y="560593"/>
            <a:ext cx="8875059" cy="2604247"/>
          </a:xfrm>
          <a:prstGeom prst="rect">
            <a:avLst/>
          </a:prstGeom>
          <a:noFill/>
          <a:ln w="38100" cmpd="tri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</a:t>
            </a:r>
            <a:r>
              <a:rPr lang="fr-FR" sz="36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3 </a:t>
            </a:r>
            <a:r>
              <a:rPr lang="fr-F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sz="3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Décrire les facteurs </a:t>
            </a:r>
            <a:r>
              <a:rPr lang="fr-FR" sz="3600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étiopathogéniques</a:t>
            </a:r>
            <a:r>
              <a:rPr lang="fr-FR" sz="3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 la maladie ulcéreuse gastrique et duodénale 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1F62D81-7F50-0668-4116-AF8091EF5437}"/>
              </a:ext>
            </a:extLst>
          </p:cNvPr>
          <p:cNvSpPr/>
          <p:nvPr/>
        </p:nvSpPr>
        <p:spPr>
          <a:xfrm>
            <a:off x="640081" y="3693160"/>
            <a:ext cx="10637520" cy="2604247"/>
          </a:xfrm>
          <a:prstGeom prst="rect">
            <a:avLst/>
          </a:prstGeom>
          <a:noFill/>
          <a:ln w="38100" cmpd="tri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36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</a:t>
            </a:r>
            <a:r>
              <a:rPr lang="fr-FR" sz="36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4 </a:t>
            </a:r>
            <a:r>
              <a:rPr lang="fr-FR" sz="36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sz="36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Expliquer les mécanismes physiopathologiques de la maladie ulcéreuse gastrique et duodénale </a:t>
            </a:r>
          </a:p>
        </p:txBody>
      </p:sp>
    </p:spTree>
    <p:extLst>
      <p:ext uri="{BB962C8B-B14F-4D97-AF65-F5344CB8AC3E}">
        <p14:creationId xmlns:p14="http://schemas.microsoft.com/office/powerpoint/2010/main" val="250305126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AA1CEAE-DCC1-AE8C-071C-1BA6B97745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7/ Les facteurs d’agression incriminés dans la genèse de l’ulcère duodénal sont 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L’acide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chlorydrique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Les prostaglandines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 pepsine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 mucus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L’Helicobacter pylori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982117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44803-D577-5BA8-5709-C180ACA37C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DDAD6A0-725F-91FB-4337-6387601458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7/ Les facteurs d’agression incriminés dans la genèse de l’ulcère duodénal sont 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L’acide </a:t>
            </a:r>
            <a:r>
              <a:rPr lang="fr-FR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chlorydrique</a:t>
            </a:r>
            <a:endParaRPr lang="fr-FR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Les prostaglandines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La pepsine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 mucus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L’Helicobacter pylori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941046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AAF2ED-0C59-BA59-79EC-215234B29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397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8/ Les deux facteurs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étiopathogéniques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les plus importants, incriminés dans genèse de l’ulcère duodénal sont : 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L‘hypersécrétion acide gastrique. 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Le tabac. 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Le stress. 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La prise d'AINS ou d'aspirine. 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E. l’Infection à Helicobacter pylori.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9874940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A4A7C-1C0A-4E93-2231-74D8B34B3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3BC432-E604-239D-CFD7-D7A7FF4C0F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7397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8/ Les deux facteurs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étiopathogéniques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les plus importants, incriminés dans genèse de l’ulcère duodénal sont : </a:t>
            </a:r>
          </a:p>
          <a:p>
            <a:pPr marL="0" indent="0">
              <a:buNone/>
            </a:pPr>
            <a:endParaRPr lang="fr-FR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L‘hypersécrétion acide gastrique. 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Le tabac. 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Le stress. 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La prise d'AINS ou d'aspirine. </a:t>
            </a:r>
          </a:p>
          <a:p>
            <a:pPr marL="0" indent="0">
              <a:buNone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 l’Infection à Helicobacter pylori.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296405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F37405C-EC0A-B0EA-413F-441330B4EC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60" y="43370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Déséquilibre entre facteurs de défense et facteurs d’agression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MUGD</a:t>
            </a:r>
          </a:p>
        </p:txBody>
      </p:sp>
      <p:sp>
        <p:nvSpPr>
          <p:cNvPr id="4" name="Flèche : droite 3">
            <a:extLst>
              <a:ext uri="{FF2B5EF4-FFF2-40B4-BE49-F238E27FC236}">
                <a16:creationId xmlns:a16="http://schemas.microsoft.com/office/drawing/2014/main" id="{EFC63E99-5E79-BD0B-4AF0-F107B4BD5FAF}"/>
              </a:ext>
            </a:extLst>
          </p:cNvPr>
          <p:cNvSpPr/>
          <p:nvPr/>
        </p:nvSpPr>
        <p:spPr>
          <a:xfrm>
            <a:off x="2072640" y="990600"/>
            <a:ext cx="477520" cy="29464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FA4E0175-DF72-F121-3A1F-36EC8FDE61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1328665"/>
              </p:ext>
            </p:extLst>
          </p:nvPr>
        </p:nvGraphicFramePr>
        <p:xfrm>
          <a:off x="1686560" y="1597977"/>
          <a:ext cx="9194800" cy="48263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57036">
                  <a:extLst>
                    <a:ext uri="{9D8B030D-6E8A-4147-A177-3AD203B41FA5}">
                      <a16:colId xmlns:a16="http://schemas.microsoft.com/office/drawing/2014/main" val="1181982772"/>
                    </a:ext>
                  </a:extLst>
                </a:gridCol>
                <a:gridCol w="5037764">
                  <a:extLst>
                    <a:ext uri="{9D8B030D-6E8A-4147-A177-3AD203B41FA5}">
                      <a16:colId xmlns:a16="http://schemas.microsoft.com/office/drawing/2014/main" val="422644045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Facteurs d’agression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Facteurs de défense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21563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457200" indent="-457200">
                        <a:lnSpc>
                          <a:spcPct val="200000"/>
                        </a:lnSpc>
                        <a:buFont typeface="+mj-lt"/>
                        <a:buAutoNum type="arabicPeriod"/>
                      </a:pPr>
                      <a:r>
                        <a:rPr lang="fr-F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sécrétion acide gastrique</a:t>
                      </a:r>
                    </a:p>
                    <a:p>
                      <a:pPr marL="457200" indent="-457200">
                        <a:lnSpc>
                          <a:spcPct val="200000"/>
                        </a:lnSpc>
                        <a:buFont typeface="+mj-lt"/>
                        <a:buAutoNum type="arabicPeriod"/>
                      </a:pPr>
                      <a:r>
                        <a:rPr lang="fr-F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Helicobacter pylori </a:t>
                      </a:r>
                    </a:p>
                    <a:p>
                      <a:pPr marL="457200" indent="-457200">
                        <a:lnSpc>
                          <a:spcPct val="200000"/>
                        </a:lnSpc>
                        <a:buFont typeface="+mj-lt"/>
                        <a:buAutoNum type="arabicPeriod"/>
                      </a:pPr>
                      <a:r>
                        <a:rPr lang="fr-F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AINS</a:t>
                      </a:r>
                    </a:p>
                    <a:p>
                      <a:pPr marL="457200" indent="-457200">
                        <a:lnSpc>
                          <a:spcPct val="200000"/>
                        </a:lnSpc>
                        <a:buFont typeface="+mj-lt"/>
                        <a:buAutoNum type="arabicPeriod"/>
                      </a:pPr>
                      <a:r>
                        <a:rPr lang="fr-F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tabac </a:t>
                      </a:r>
                    </a:p>
                    <a:p>
                      <a:pPr marL="457200" indent="-457200">
                        <a:lnSpc>
                          <a:spcPct val="200000"/>
                        </a:lnSpc>
                        <a:buFont typeface="+mj-lt"/>
                        <a:buAutoNum type="arabicPeriod"/>
                      </a:pPr>
                      <a:r>
                        <a:rPr lang="fr-F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stress </a:t>
                      </a:r>
                    </a:p>
                    <a:p>
                      <a:pPr marL="457200" indent="-457200">
                        <a:lnSpc>
                          <a:spcPct val="200000"/>
                        </a:lnSpc>
                        <a:buFont typeface="+mj-lt"/>
                        <a:buAutoNum type="arabicPeriod"/>
                      </a:pPr>
                      <a:r>
                        <a:rPr lang="fr-F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Les facteurs génétiques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457200" indent="-457200">
                        <a:lnSpc>
                          <a:spcPct val="200000"/>
                        </a:lnSpc>
                        <a:buFont typeface="+mj-lt"/>
                        <a:buAutoNum type="arabicPeriod"/>
                      </a:pPr>
                      <a:r>
                        <a:rPr lang="fr-F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 barrière mucus- bicarbonates (première ligne de défense)</a:t>
                      </a:r>
                    </a:p>
                    <a:p>
                      <a:pPr marL="457200" indent="-457200">
                        <a:lnSpc>
                          <a:spcPct val="200000"/>
                        </a:lnSpc>
                        <a:buFont typeface="+mj-lt"/>
                        <a:buAutoNum type="arabicPeriod"/>
                      </a:pPr>
                      <a:r>
                        <a:rPr lang="fr-F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L’épithélium de surface</a:t>
                      </a:r>
                    </a:p>
                    <a:p>
                      <a:pPr marL="457200" indent="-457200">
                        <a:lnSpc>
                          <a:spcPct val="200000"/>
                        </a:lnSpc>
                        <a:buFont typeface="+mj-lt"/>
                        <a:buAutoNum type="arabicPeriod"/>
                      </a:pPr>
                      <a:r>
                        <a:rPr lang="fr-FR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 flux sanguin muqueux </a:t>
                      </a:r>
                    </a:p>
                    <a:p>
                      <a:pPr marL="0" indent="0">
                        <a:lnSpc>
                          <a:spcPct val="200000"/>
                        </a:lnSpc>
                        <a:buFont typeface="+mj-lt"/>
                        <a:buNone/>
                      </a:pPr>
                      <a:r>
                        <a:rPr lang="fr-FR" sz="24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   (Prostaglandines+++)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82232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501316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A046DC-1B68-70A7-7B1C-3715658672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13AEA6-6A8F-52C8-3AEB-A24A2D7366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812" y="82157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9/ L’ulcère duodénal s’accompagne de 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sécrétion acide gastrique normale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gastrite antrale à HP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diminution de la charge acide duodénale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zones de métaplasie gastrique au niveau du duodénum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métaplasie intestinale gastrique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71456463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8144291-AE5A-B1B1-257C-89F6A53A9F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6812" y="82157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9/ L’ulcère duodénal s’accompagne de 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sécrétion acide gastrique normale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gastrite antrale à HP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diminution de la charge acide duodénale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 zones de métaplasie gastrique au niveau du duodénum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métaplasie intestinale gastrique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6683515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4A35E-590A-0B60-A8CB-841D7D085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EDEFF3B-EA9C-571E-E696-8CB863376C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4741" y="6064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10/ Au cours de l’UD, l’hypersécrétion acide serait due à 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augmentation de la sensibilité de la cellule pariétale à la somatostatine.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augmentation de la masse cellulaire pariétale due entre autres à des facteurs génétiques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Indirectement au tabac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 stress via une influence sympathique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diminution du tonus vagal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513834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8E4BF07-A426-A2F8-B68A-BE484FC97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4741" y="6064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10/ Au cours de l’UD, l’hypersécrétion acide serait due à 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augmentation de la sensibilité de la cellule pariétale à la somatostatine.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augmentation de la masse cellulaire pariétale due entre autres à des facteurs génétiques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Indirectement au tabac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 stress via une influence sympathique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diminution du tonus vagal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03741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57F8F4F-E725-7950-F6DC-8A06D9AC6B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940" y="401320"/>
            <a:ext cx="11341100" cy="605536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fr-FR" sz="33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MUD: 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</a:t>
            </a: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hypersécrétion acide basale et post- prandiale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due à: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augmentation de la sensibilité de la cellule pariétale à la gastrine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augmentation de la masse cellulaire pariétale:</a:t>
            </a:r>
          </a:p>
          <a:p>
            <a:pPr>
              <a:lnSpc>
                <a:spcPct val="160000"/>
              </a:lnSpc>
              <a:buFontTx/>
              <a:buChar char="-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Facteurs génétiques</a:t>
            </a:r>
          </a:p>
          <a:p>
            <a:pPr>
              <a:lnSpc>
                <a:spcPct val="160000"/>
              </a:lnSpc>
              <a:buFontTx/>
              <a:buChar char="-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Facteurs environnementaux (tabac, stress via une influence vagale),</a:t>
            </a:r>
          </a:p>
          <a:p>
            <a:pPr>
              <a:lnSpc>
                <a:spcPct val="160000"/>
              </a:lnSpc>
              <a:buFontTx/>
              <a:buChar char="-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Facteurs endogènes hormonaux en excès (gastrine) ou au contraire déficitaires (somatostatine)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augmentation du tonus vagal </a:t>
            </a:r>
          </a:p>
          <a:p>
            <a:pPr>
              <a:lnSpc>
                <a:spcPct val="160000"/>
              </a:lnSpc>
              <a:buFont typeface="Wingdings" panose="05000000000000000000" pitchFamily="2" charset="2"/>
              <a:buChar char="ü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L’infection à Helicobacter pylori</a:t>
            </a:r>
          </a:p>
        </p:txBody>
      </p:sp>
    </p:spTree>
    <p:extLst>
      <p:ext uri="{BB962C8B-B14F-4D97-AF65-F5344CB8AC3E}">
        <p14:creationId xmlns:p14="http://schemas.microsoft.com/office/powerpoint/2010/main" val="300898538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94F78B2-FC2F-8303-990B-41363181F3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035" y="382307"/>
            <a:ext cx="10515600" cy="6377081"/>
          </a:xfrm>
        </p:spPr>
        <p:txBody>
          <a:bodyPr>
            <a:normAutofit fontScale="85000" lnSpcReduction="20000"/>
          </a:bodyPr>
          <a:lstStyle/>
          <a:p>
            <a:pPr marL="0" indent="0" algn="ctr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L'infection antrale par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H.pylori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ctr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  <a:p>
            <a:pPr marL="0" indent="0" algn="ctr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Gastrite chronique antrale                    Gastrine</a:t>
            </a:r>
          </a:p>
          <a:p>
            <a:pPr marL="0" indent="0" algn="ctr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Hypersécrétion acide (basale et postprandiale)</a:t>
            </a:r>
          </a:p>
          <a:p>
            <a:pPr marL="0" indent="0" algn="ctr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Augmentation de la charge acide duodénale</a:t>
            </a:r>
          </a:p>
          <a:p>
            <a:pPr marL="0" indent="0" algn="ctr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Zones de métaplasie gastrique dans le duodénum</a:t>
            </a:r>
          </a:p>
          <a:p>
            <a:pPr marL="0" indent="0" algn="ctr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Duodénite </a:t>
            </a:r>
          </a:p>
          <a:p>
            <a:pPr marL="0" indent="0" algn="ctr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fr-FR" sz="35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Ulcère duodénal </a:t>
            </a:r>
          </a:p>
          <a:p>
            <a:pPr marL="0" indent="0" algn="ctr">
              <a:buNone/>
            </a:pPr>
            <a:r>
              <a:rPr lang="fr-FR" sz="35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lèche : haut 4">
            <a:extLst>
              <a:ext uri="{FF2B5EF4-FFF2-40B4-BE49-F238E27FC236}">
                <a16:creationId xmlns:a16="http://schemas.microsoft.com/office/drawing/2014/main" id="{CA977BA1-D18F-60A8-3912-5FB2F1911CAD}"/>
              </a:ext>
            </a:extLst>
          </p:cNvPr>
          <p:cNvSpPr/>
          <p:nvPr/>
        </p:nvSpPr>
        <p:spPr>
          <a:xfrm>
            <a:off x="7296823" y="1434354"/>
            <a:ext cx="45719" cy="30480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7" name="Flèche : droite 6">
            <a:extLst>
              <a:ext uri="{FF2B5EF4-FFF2-40B4-BE49-F238E27FC236}">
                <a16:creationId xmlns:a16="http://schemas.microsoft.com/office/drawing/2014/main" id="{5FEE7F0E-C3F1-9DC8-9F2C-469F4D440C1D}"/>
              </a:ext>
            </a:extLst>
          </p:cNvPr>
          <p:cNvSpPr/>
          <p:nvPr/>
        </p:nvSpPr>
        <p:spPr>
          <a:xfrm>
            <a:off x="6271709" y="1568824"/>
            <a:ext cx="564776" cy="3048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Flèche : bas 12">
            <a:extLst>
              <a:ext uri="{FF2B5EF4-FFF2-40B4-BE49-F238E27FC236}">
                <a16:creationId xmlns:a16="http://schemas.microsoft.com/office/drawing/2014/main" id="{2D141D8B-F93E-C611-77EC-B2403EF840B7}"/>
              </a:ext>
            </a:extLst>
          </p:cNvPr>
          <p:cNvSpPr/>
          <p:nvPr/>
        </p:nvSpPr>
        <p:spPr>
          <a:xfrm>
            <a:off x="5074024" y="851647"/>
            <a:ext cx="563881" cy="582707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A9BF11C5-A47A-EC35-E033-8470449A0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4085" y="3588406"/>
            <a:ext cx="615749" cy="426757"/>
          </a:xfrm>
          <a:prstGeom prst="rect">
            <a:avLst/>
          </a:prstGeom>
        </p:spPr>
      </p:pic>
      <p:pic>
        <p:nvPicPr>
          <p:cNvPr id="15" name="Image 14">
            <a:extLst>
              <a:ext uri="{FF2B5EF4-FFF2-40B4-BE49-F238E27FC236}">
                <a16:creationId xmlns:a16="http://schemas.microsoft.com/office/drawing/2014/main" id="{04589AFD-66DA-B027-DDA0-950369DD53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4086" y="2629459"/>
            <a:ext cx="615749" cy="426757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A129EA47-4326-2026-1E68-546E290061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2156" y="1883890"/>
            <a:ext cx="615749" cy="426757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817632C7-A840-315E-8AD1-643D73E43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2156" y="4939462"/>
            <a:ext cx="615749" cy="426757"/>
          </a:xfrm>
          <a:prstGeom prst="rect">
            <a:avLst/>
          </a:prstGeom>
        </p:spPr>
      </p:pic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D3D77BBC-FB19-45FB-38AE-071EB6D7A0BF}"/>
              </a:ext>
            </a:extLst>
          </p:cNvPr>
          <p:cNvCxnSpPr>
            <a:cxnSpLocks/>
          </p:cNvCxnSpPr>
          <p:nvPr/>
        </p:nvCxnSpPr>
        <p:spPr>
          <a:xfrm>
            <a:off x="1801906" y="4212387"/>
            <a:ext cx="493058" cy="413402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>
            <a:extLst>
              <a:ext uri="{FF2B5EF4-FFF2-40B4-BE49-F238E27FC236}">
                <a16:creationId xmlns:a16="http://schemas.microsoft.com/office/drawing/2014/main" id="{44F55CD9-4098-C859-7D18-E9DAFFB16D25}"/>
              </a:ext>
            </a:extLst>
          </p:cNvPr>
          <p:cNvSpPr txBox="1"/>
          <p:nvPr/>
        </p:nvSpPr>
        <p:spPr>
          <a:xfrm>
            <a:off x="138757" y="3429000"/>
            <a:ext cx="233121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Colonisation par HP </a:t>
            </a:r>
          </a:p>
          <a:p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(non obligatoire)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0B34A1B-B150-0CCB-C831-347CD3396730}"/>
              </a:ext>
            </a:extLst>
          </p:cNvPr>
          <p:cNvSpPr/>
          <p:nvPr/>
        </p:nvSpPr>
        <p:spPr>
          <a:xfrm>
            <a:off x="116541" y="3429000"/>
            <a:ext cx="2393577" cy="667871"/>
          </a:xfrm>
          <a:prstGeom prst="rect">
            <a:avLst/>
          </a:prstGeom>
          <a:noFill/>
          <a:ln w="28575"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47778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DF22449-B5CF-5676-5695-67783911F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466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11/ Les deux facteurs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étiopathogéniques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les plus importants, incriminés dans la genèse de l’ulcère gastrique sont : 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L‘hypersécrétion acide gastrique.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tabac.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stress.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prise d'AINS ou d'aspirine.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l’Infection à Helicobacter pylori.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839524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895DB8-F068-F0C5-9750-946E76039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D39685B-9A22-21E0-B5EC-2344EF64EB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4660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11/ Les deux facteurs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étiopathogéniques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les plus importants, incriminés dans la genèse de l’ulcère gastrique sont : 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L‘hypersécrétion acide gastrique.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tabac.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stress.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prise d'AINS ou d'aspirine.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l’Infection à Helicobacter pylori.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133910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3C5C42E-0F60-13A1-537A-260306648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8529" y="642284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12/ Concernant la physiopathologie de l’ulcère gastrique 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y a une gastrite antrale sévère avec une sécrétion acide élevée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y a une gastrite antrale sévère avec conservation d’une sécrétion acide normale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y a une pan gastrite sévère avec conservation d’une sécrétion acide normale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Contrairement à l’UD, le Helicobacter Pylori n’est que rarement incriminé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métaplasie intestinale peut être observée 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9936776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5675A-5FB0-4773-35D9-61E28E3AD3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1747921-FE30-CCFD-2CC2-8C3253AD5F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8529" y="642284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12/ Concernant la physiopathologie de l’ulcère gastrique 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y a une gastrite antrale sévère avec une sécrétion acide élevée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y a une gastrite antrale sévère avec conservation d’une sécrétion acide normale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 y a une pan gastrite sévère avec conservation d’une sécrétion acide normale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Contrairement à l’UD, le Helicobacter Pylori n’est que rarement incriminé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métaplasie intestinale peut être observée 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6713439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EF4385C-FA7F-7A82-ADA7-7E8A97182B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906" y="67814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13/ L'ulcère gastrique s’accompagne de 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sécrétion acide élevée.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altérations de la barrière muqueuse.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gastrite antrale à HP.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métaplasie intestinale.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gastrite chronique type B (non – auto-immune) sévère</a:t>
            </a:r>
          </a:p>
        </p:txBody>
      </p:sp>
    </p:spTree>
    <p:extLst>
      <p:ext uri="{BB962C8B-B14F-4D97-AF65-F5344CB8AC3E}">
        <p14:creationId xmlns:p14="http://schemas.microsoft.com/office/powerpoint/2010/main" val="20840943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A1F08-3A0E-8F52-4116-06F91E179E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6D7F6C7-0B3D-2B46-A2AC-DDC44440A5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906" y="67814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13/ L'ulcère gastrique s’accompagne de 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sécrétion acide élevée.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 altérations de la barrière muqueuse.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gastrite antrale à HP.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métaplasie intestinale.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gastrite chronique type B (non – auto-immune) sévère</a:t>
            </a:r>
          </a:p>
        </p:txBody>
      </p:sp>
    </p:spTree>
    <p:extLst>
      <p:ext uri="{BB962C8B-B14F-4D97-AF65-F5344CB8AC3E}">
        <p14:creationId xmlns:p14="http://schemas.microsoft.com/office/powerpoint/2010/main" val="107810272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9E185-C7E7-3C3F-7F88-CC2A13BAE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7D81A76-6447-6E79-6FE4-CF615C7A51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035" y="382307"/>
            <a:ext cx="10515600" cy="6377081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L'infection par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H.pylori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 algn="ctr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</a:t>
            </a:r>
          </a:p>
          <a:p>
            <a:pPr marL="0" indent="0" algn="ctr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Pangastrite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chronique sévère                   </a:t>
            </a:r>
          </a:p>
          <a:p>
            <a:pPr marL="0" indent="0" algn="ctr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Normosécrétion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acide </a:t>
            </a:r>
          </a:p>
          <a:p>
            <a:pPr marL="0" indent="0" algn="ctr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Lésions muqueuses / Zones de métaplasie intestinale</a:t>
            </a:r>
          </a:p>
          <a:p>
            <a:pPr marL="0" indent="0" algn="ctr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fr-FR" sz="35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Ulcère gastrique</a:t>
            </a:r>
          </a:p>
          <a:p>
            <a:pPr marL="0" indent="0" algn="ctr">
              <a:buNone/>
            </a:pPr>
            <a:r>
              <a:rPr lang="fr-FR" sz="35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Flèche : bas 12">
            <a:extLst>
              <a:ext uri="{FF2B5EF4-FFF2-40B4-BE49-F238E27FC236}">
                <a16:creationId xmlns:a16="http://schemas.microsoft.com/office/drawing/2014/main" id="{EFEF4D39-62DC-8975-D956-C8967B9C95BA}"/>
              </a:ext>
            </a:extLst>
          </p:cNvPr>
          <p:cNvSpPr/>
          <p:nvPr/>
        </p:nvSpPr>
        <p:spPr>
          <a:xfrm>
            <a:off x="5138698" y="809064"/>
            <a:ext cx="563881" cy="777689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CF0D8EA0-733C-6738-4C51-0056425A86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698" y="3349720"/>
            <a:ext cx="615749" cy="777689"/>
          </a:xfrm>
          <a:prstGeom prst="rect">
            <a:avLst/>
          </a:prstGeom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7A164796-B7D8-C02E-C3E0-2B8DA03D5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698" y="2145274"/>
            <a:ext cx="615749" cy="651714"/>
          </a:xfrm>
          <a:prstGeom prst="rect">
            <a:avLst/>
          </a:prstGeom>
        </p:spPr>
      </p:pic>
      <p:pic>
        <p:nvPicPr>
          <p:cNvPr id="17" name="Image 16">
            <a:extLst>
              <a:ext uri="{FF2B5EF4-FFF2-40B4-BE49-F238E27FC236}">
                <a16:creationId xmlns:a16="http://schemas.microsoft.com/office/drawing/2014/main" id="{DE76039C-C00B-728C-3E64-420C052466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698" y="4984286"/>
            <a:ext cx="615749" cy="609690"/>
          </a:xfrm>
          <a:prstGeom prst="rect">
            <a:avLst/>
          </a:prstGeom>
        </p:spPr>
      </p:pic>
      <p:sp>
        <p:nvSpPr>
          <p:cNvPr id="22" name="ZoneTexte 21">
            <a:extLst>
              <a:ext uri="{FF2B5EF4-FFF2-40B4-BE49-F238E27FC236}">
                <a16:creationId xmlns:a16="http://schemas.microsoft.com/office/drawing/2014/main" id="{ED3EE108-FDF1-4141-F587-0D673CE65BE4}"/>
              </a:ext>
            </a:extLst>
          </p:cNvPr>
          <p:cNvSpPr txBox="1"/>
          <p:nvPr/>
        </p:nvSpPr>
        <p:spPr>
          <a:xfrm>
            <a:off x="138757" y="34290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91184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0C9C3F-20B7-5773-4B20-2C1C31C457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588" y="7588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14/ L’Helicobacter pylori 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une bactérie bacille à gram négatif spiralé.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Colonise en premier temps le fundus gastrique.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un réservoir humain.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transmission interhumaine se fait par voie aérienne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acquis pendant l’enfance.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733011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541C0B-E900-93D6-6CEA-D364EAD3D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9CAA1E-9B17-DCD4-74FF-CD717B51D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9588" y="7588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14/ L’Helicobacter pylori 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 une bactérie bacille à gram négatif spiralé.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Colonise en premier temps le fundus gastrique.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un réservoir humain.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transmission interhumaine se fait par voie aérienne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 acquis pendant l’enfance.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775041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998510D-8329-ADF7-FF6B-F5BA84F06E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7847" y="81261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15/ L’Helicobacter pylori : 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Produit des cytotoxines pro-inflammatoires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Possède une activité uréasique indispensable pour sa survie en milieu acide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responsable d’une hyposécrétion acide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incriminé dans la pathogénie de l’ulcère gastrique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Altère les mécanismes de la défense de la muqueuse gastrique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9290934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D5742-9C35-1896-EC0F-20DC000DDC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450E2A-00DD-7D57-2675-1675B2436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7847" y="81261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15/ L’Helicobacter pylori : 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Produit des cytotoxines pro-inflammatoires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Possède une activité uréasique indispensable pour sa survie en milieu acide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responsable d’une hyposécrétion acide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 incriminé dans la pathogénie de l’ulcère gastrique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Altère les mécanismes de la défense de la muqueuse gastrique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1962314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41A05C9-23B9-68DE-78F2-2DE936EFB2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1400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16/ Le pouvoir pathogène de l’Helicobacter pylori est favorisé par : 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cytotoxicité liée aux cytotoxines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Vag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et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Cag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hypogastrinémie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pouvoir d’adhérer aux cellules épithéliales gastriques grâce aux adhésines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réaction inflammatoire focale de la muqueuse gastrique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mobilité grâce à ses flagelles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773366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7E0ADF-8EF8-BE5E-21A0-375C044EA4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B5F3B60-959F-3A3D-D73F-E90C15D70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1400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16/ Le pouvoir pathogène de l’Helicobacter pylori est favorisé par : 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cytotoxicité liée aux cytotoxines </a:t>
            </a:r>
            <a:r>
              <a:rPr lang="fr-FR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Vag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 et </a:t>
            </a:r>
            <a:r>
              <a:rPr lang="fr-FR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Cag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hypogastrinémie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pouvoir d’adhérer aux cellules épithéliales gastriques grâce aux adhésines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réaction inflammatoire focale de la muqueuse gastrique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mobilité grâce à ses flagelles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2753299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C06015-16AB-F194-349E-E3A00971FF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0659" y="525742"/>
            <a:ext cx="11013141" cy="4351338"/>
          </a:xfrm>
        </p:spPr>
        <p:txBody>
          <a:bodyPr/>
          <a:lstStyle/>
          <a:p>
            <a:pPr marL="0" indent="0" algn="ctr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Infection par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H.pylori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BCDC78F9-2892-4948-C51D-005567BA567B}"/>
              </a:ext>
            </a:extLst>
          </p:cNvPr>
          <p:cNvSpPr txBox="1"/>
          <p:nvPr/>
        </p:nvSpPr>
        <p:spPr>
          <a:xfrm>
            <a:off x="3774968" y="1915284"/>
            <a:ext cx="41445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Gastrite antrale chronique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353C633-0A73-DE3D-6FB7-BE5B0B9ACF6B}"/>
              </a:ext>
            </a:extLst>
          </p:cNvPr>
          <p:cNvSpPr txBox="1"/>
          <p:nvPr/>
        </p:nvSpPr>
        <p:spPr>
          <a:xfrm>
            <a:off x="3629494" y="5222131"/>
            <a:ext cx="47999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Hypersécrétion acide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9DE924D-C2FC-3DD4-EC4C-FD192CAACC69}"/>
              </a:ext>
            </a:extLst>
          </p:cNvPr>
          <p:cNvSpPr txBox="1"/>
          <p:nvPr/>
        </p:nvSpPr>
        <p:spPr>
          <a:xfrm>
            <a:off x="340659" y="277906"/>
            <a:ext cx="16495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0F1ABA3-2BF7-FCB8-16ED-34E16B415D50}"/>
              </a:ext>
            </a:extLst>
          </p:cNvPr>
          <p:cNvSpPr/>
          <p:nvPr/>
        </p:nvSpPr>
        <p:spPr>
          <a:xfrm>
            <a:off x="268941" y="202664"/>
            <a:ext cx="900952" cy="646331"/>
          </a:xfrm>
          <a:prstGeom prst="rect">
            <a:avLst/>
          </a:prstGeom>
          <a:noFill/>
          <a:ln w="381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14" name="Flèche : bas 13">
            <a:extLst>
              <a:ext uri="{FF2B5EF4-FFF2-40B4-BE49-F238E27FC236}">
                <a16:creationId xmlns:a16="http://schemas.microsoft.com/office/drawing/2014/main" id="{06F3769E-1146-6354-88E2-E3C224F94326}"/>
              </a:ext>
            </a:extLst>
          </p:cNvPr>
          <p:cNvSpPr/>
          <p:nvPr/>
        </p:nvSpPr>
        <p:spPr>
          <a:xfrm>
            <a:off x="5436953" y="2469776"/>
            <a:ext cx="860612" cy="833718"/>
          </a:xfrm>
          <a:prstGeom prst="downArrow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D075354-B54C-2A48-135A-18314F825587}"/>
              </a:ext>
            </a:extLst>
          </p:cNvPr>
          <p:cNvSpPr txBox="1"/>
          <p:nvPr/>
        </p:nvSpPr>
        <p:spPr>
          <a:xfrm>
            <a:off x="3352800" y="3353264"/>
            <a:ext cx="659802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Hypergastrinémie</a:t>
            </a:r>
          </a:p>
          <a:p>
            <a:r>
              <a:rPr lang="fr-FR" sz="2400" dirty="0">
                <a:solidFill>
                  <a:schemeClr val="bg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(réaction inflammatoire de la muqueuse antrale)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B1A9F0A-80FE-6548-218D-14E1F3E5EC0E}"/>
              </a:ext>
            </a:extLst>
          </p:cNvPr>
          <p:cNvSpPr/>
          <p:nvPr/>
        </p:nvSpPr>
        <p:spPr>
          <a:xfrm>
            <a:off x="4515003" y="3353264"/>
            <a:ext cx="3028897" cy="573277"/>
          </a:xfrm>
          <a:prstGeom prst="rect">
            <a:avLst/>
          </a:prstGeom>
          <a:noFill/>
          <a:ln w="28575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EA532CF6-F710-2CD1-5329-6A9A2AE4E8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9134" y="1029824"/>
            <a:ext cx="896190" cy="847417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606228D7-16DB-3B0F-5D55-4A3E686F9D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16147" y="5203350"/>
            <a:ext cx="3619006" cy="603556"/>
          </a:xfrm>
          <a:prstGeom prst="rect">
            <a:avLst/>
          </a:prstGeom>
        </p:spPr>
      </p:pic>
      <p:pic>
        <p:nvPicPr>
          <p:cNvPr id="19" name="Image 18">
            <a:extLst>
              <a:ext uri="{FF2B5EF4-FFF2-40B4-BE49-F238E27FC236}">
                <a16:creationId xmlns:a16="http://schemas.microsoft.com/office/drawing/2014/main" id="{AB91823A-DE3F-8B5E-78E3-C02B490957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6953" y="4338747"/>
            <a:ext cx="896190" cy="847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86885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FB5F1C-5C27-B897-35BB-E8A2820F10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DE3AEC8-8CD1-3668-D917-0D7BD61587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71400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17/ Au cours de la maladie ulcéreuse gastrique, les AINS peuvent agir :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Localement en perturbant la perméabilité cellulaire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Localement en altérant la qualité du mucus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Localement en inhibant la cyclo-oxygénase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 voie systémique en stimulant la cyclo-oxygénase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 voie systémique en augmentant le flux sanguin muqueux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3203983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95D1C9-9FE1-0881-FD70-7DE14E1DE1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5447" y="71400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17/ Au cours de la maladie ulcéreuse gastrique, les AINS peuvent agir :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Localement en perturbant la perméabilité cellulaire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Localement en altérant la qualité du mucus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Localement en inhibant la cyclo-oxygénase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 voie systémique en stimulant la cyclo-oxygénase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 voie systémique en augmentant le flux sanguin muqueux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1412041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826D2AE-3FCE-DBC0-9AC7-D75D6E8D8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0848" y="1530997"/>
            <a:ext cx="6185646" cy="3480273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>
              <a:buNone/>
            </a:pPr>
            <a:r>
              <a:rPr lang="fr-F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Toxicité systémique</a:t>
            </a:r>
          </a:p>
          <a:p>
            <a:pPr marL="0" lvl="0" indent="0" algn="ctr">
              <a:buNone/>
            </a:pP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>
              <a:buNone/>
            </a:pP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inhibition de la cyclo-oxygénase</a:t>
            </a:r>
          </a:p>
          <a:p>
            <a:pPr marL="0" lvl="0" indent="0">
              <a:buNone/>
            </a:pP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pPr marL="0" lvl="0" indent="0">
              <a:buNone/>
            </a:pP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mucus / bicarbonates/prostaglandines</a:t>
            </a:r>
          </a:p>
          <a:p>
            <a:pPr marL="0" lvl="0" indent="0" algn="ctr">
              <a:buNone/>
            </a:pPr>
            <a:endParaRPr lang="fr-FR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r>
              <a:rPr lang="fr-FR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diminution du flux sanguin muqueux</a:t>
            </a:r>
          </a:p>
          <a:p>
            <a:pPr marL="0" indent="0">
              <a:buNone/>
            </a:pPr>
            <a:endParaRPr lang="fr-FR" dirty="0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8768B43-AEEA-93E7-9E37-142ABDD55788}"/>
              </a:ext>
            </a:extLst>
          </p:cNvPr>
          <p:cNvSpPr txBox="1"/>
          <p:nvPr/>
        </p:nvSpPr>
        <p:spPr>
          <a:xfrm>
            <a:off x="5082989" y="356128"/>
            <a:ext cx="31555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AINS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F53AA99-B8D3-EEED-A3D8-E1E912D6E2A8}"/>
              </a:ext>
            </a:extLst>
          </p:cNvPr>
          <p:cNvSpPr txBox="1"/>
          <p:nvPr/>
        </p:nvSpPr>
        <p:spPr>
          <a:xfrm>
            <a:off x="188259" y="1771925"/>
            <a:ext cx="5593976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Toxicité locale</a:t>
            </a:r>
          </a:p>
          <a:p>
            <a:pPr algn="ctr"/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altération de la perméabilité cellulaire </a:t>
            </a:r>
          </a:p>
          <a:p>
            <a:pPr algn="ctr"/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altération de la qualité de mucus</a:t>
            </a:r>
          </a:p>
          <a:p>
            <a:endParaRPr lang="fr-F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fr-F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Rétrodiffusion des ions H+</a:t>
            </a:r>
            <a:endParaRPr lang="fr-FR" sz="2800" dirty="0"/>
          </a:p>
        </p:txBody>
      </p:sp>
      <p:sp>
        <p:nvSpPr>
          <p:cNvPr id="7" name="Flèche : bas 6">
            <a:extLst>
              <a:ext uri="{FF2B5EF4-FFF2-40B4-BE49-F238E27FC236}">
                <a16:creationId xmlns:a16="http://schemas.microsoft.com/office/drawing/2014/main" id="{F1E0F024-DEE7-6863-EAFA-CC82F3A8F927}"/>
              </a:ext>
            </a:extLst>
          </p:cNvPr>
          <p:cNvSpPr/>
          <p:nvPr/>
        </p:nvSpPr>
        <p:spPr>
          <a:xfrm>
            <a:off x="6096000" y="3429000"/>
            <a:ext cx="197223" cy="43478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8" name="Flèche : bas 7">
            <a:extLst>
              <a:ext uri="{FF2B5EF4-FFF2-40B4-BE49-F238E27FC236}">
                <a16:creationId xmlns:a16="http://schemas.microsoft.com/office/drawing/2014/main" id="{7D874BAA-FB9A-67DE-5094-B331DF778E72}"/>
              </a:ext>
            </a:extLst>
          </p:cNvPr>
          <p:cNvSpPr/>
          <p:nvPr/>
        </p:nvSpPr>
        <p:spPr>
          <a:xfrm>
            <a:off x="8848165" y="3110753"/>
            <a:ext cx="744070" cy="434788"/>
          </a:xfrm>
          <a:prstGeom prst="downArrow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Croix 8">
            <a:extLst>
              <a:ext uri="{FF2B5EF4-FFF2-40B4-BE49-F238E27FC236}">
                <a16:creationId xmlns:a16="http://schemas.microsoft.com/office/drawing/2014/main" id="{8C6E6DA6-DD56-F5B5-7734-A7D7EDD31FD3}"/>
              </a:ext>
            </a:extLst>
          </p:cNvPr>
          <p:cNvSpPr/>
          <p:nvPr/>
        </p:nvSpPr>
        <p:spPr>
          <a:xfrm>
            <a:off x="9099176" y="4090323"/>
            <a:ext cx="251011" cy="242047"/>
          </a:xfrm>
          <a:prstGeom prst="plus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89023A78-8435-E46E-7B31-DD8EFCCA6CB7}"/>
              </a:ext>
            </a:extLst>
          </p:cNvPr>
          <p:cNvCxnSpPr/>
          <p:nvPr/>
        </p:nvCxnSpPr>
        <p:spPr>
          <a:xfrm>
            <a:off x="5782235" y="1771925"/>
            <a:ext cx="0" cy="3108543"/>
          </a:xfrm>
          <a:prstGeom prst="line">
            <a:avLst/>
          </a:prstGeom>
          <a:ln w="5715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 11">
            <a:extLst>
              <a:ext uri="{FF2B5EF4-FFF2-40B4-BE49-F238E27FC236}">
                <a16:creationId xmlns:a16="http://schemas.microsoft.com/office/drawing/2014/main" id="{790068CA-13E5-987B-18B1-78B42F146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9736" y="3982726"/>
            <a:ext cx="798645" cy="45724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093359A7-ED9C-A171-88DA-ABB5F5F951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9736" y="2359743"/>
            <a:ext cx="798645" cy="457240"/>
          </a:xfrm>
          <a:prstGeom prst="rect">
            <a:avLst/>
          </a:prstGeom>
        </p:spPr>
      </p:pic>
      <p:pic>
        <p:nvPicPr>
          <p:cNvPr id="14" name="Image 13">
            <a:extLst>
              <a:ext uri="{FF2B5EF4-FFF2-40B4-BE49-F238E27FC236}">
                <a16:creationId xmlns:a16="http://schemas.microsoft.com/office/drawing/2014/main" id="{51B9119E-5CE0-798E-4076-4A8C1AB66D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47982" y="3257686"/>
            <a:ext cx="262151" cy="256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38739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6B57D-373C-31DB-BF7D-13E0976A5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8719CFA-BD3E-2E26-C813-C34B1187CC9A}"/>
              </a:ext>
            </a:extLst>
          </p:cNvPr>
          <p:cNvSpPr/>
          <p:nvPr/>
        </p:nvSpPr>
        <p:spPr>
          <a:xfrm>
            <a:off x="1658470" y="1383553"/>
            <a:ext cx="8875059" cy="2604247"/>
          </a:xfrm>
          <a:prstGeom prst="rect">
            <a:avLst/>
          </a:prstGeom>
          <a:noFill/>
          <a:ln w="38100" cmpd="tri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3600" b="1" dirty="0" err="1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</a:t>
            </a:r>
            <a:r>
              <a:rPr lang="fr-FR" sz="36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 : Poser le diagnostic de la maladie ulcéreuse gastrique et duodénale à partir des données cliniques et para cliniques</a:t>
            </a:r>
          </a:p>
          <a:p>
            <a:pPr algn="ctr"/>
            <a:r>
              <a:rPr lang="fr-FR" sz="36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5560471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49FCE16-2FDF-C1E8-529E-CD1C82ABD0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765" y="624354"/>
            <a:ext cx="11183470" cy="5086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18/ Chez un patient atteint d’un ulcère duodénal :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L’examen physique est le plus souvent normal en absence de complications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douleur épigastrique est typiquement perçue comme une crampe ou une torsion, irradiant vers le dos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douleur est permanente durant la journée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douleur réveille le malade la deuxième moitié de la nuit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douleur est permanente pendant plusieurs mois tant que le malade ne prend pas de traitement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5327977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F64E1-836C-C977-C6DD-18F03F5336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4210E8D-B25F-9DA3-E03B-C70A315547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765" y="624354"/>
            <a:ext cx="11183470" cy="50861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18/ Chez un patient atteint d’un ulcère duodénal :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L’examen physique est le plus souvent normal en absence de complications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douleur épigastrique est typiquement perçue comme une crampe ou une torsion, irradiant vers le dos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douleur est permanente durant la journée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douleur réveille le malade la deuxième moitié de la nuit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douleur est permanente pendant plusieurs mois tant que le malade ne prend pas de traitement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4796566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0005B7A-689D-4D95-7A68-1C01BD04F1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929" y="839507"/>
            <a:ext cx="10515600" cy="4709645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19/ Le syndrome ulcéreux typique se caractérise par une douleur :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siège épigastrique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Exacerbée par le jeune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Exacerbée par la prise alimentaire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Rythmée par les repas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Evoluant par des poussées saisonnières, survenant volontiers en hiver </a:t>
            </a:r>
          </a:p>
        </p:txBody>
      </p:sp>
    </p:spTree>
    <p:extLst>
      <p:ext uri="{BB962C8B-B14F-4D97-AF65-F5344CB8AC3E}">
        <p14:creationId xmlns:p14="http://schemas.microsoft.com/office/powerpoint/2010/main" val="230828030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A505DD-2744-E9DA-42B6-2F979C8F8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30EA4F-7350-E3A2-F0F9-8BF3B5A8D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929" y="839507"/>
            <a:ext cx="10515600" cy="4709645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19/ Le syndrome ulcéreux typique se caractérise par une douleur :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 siège épigastrique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Exacerbée par le jeune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Exacerbée par la prise alimentaire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Rythmée par les repas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Evoluant par des poussées saisonnières, survenant volontiers en hiver </a:t>
            </a:r>
          </a:p>
        </p:txBody>
      </p:sp>
    </p:spTree>
    <p:extLst>
      <p:ext uri="{BB962C8B-B14F-4D97-AF65-F5344CB8AC3E}">
        <p14:creationId xmlns:p14="http://schemas.microsoft.com/office/powerpoint/2010/main" val="69570021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7F0AFDC-6829-C9BE-026C-730BFF59C5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623" y="70503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20/ En cas d’ulcère bulbaire résistant au traitement médical associé à une diarrhée d’apparition récente, on doit évoquer le diagnostic suivant :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Cancer du colon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Colopathie fonctionnelle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Diverticulose sigmoïdienne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Gastrinome (syndrome de Zollinger Ellison)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perforation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4987915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794168-8072-B7ED-67EA-F0D7909EA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5F2E629-AA81-7EDC-F2A8-FC17711D91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623" y="70503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20/ En cas d’ulcère bulbaire résistant au traitement médical associé à une diarrhée d’apparition récente, on doit évoquer le diagnostic suivant :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Cancer du colon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Colopathie fonctionnelle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Diverticulose sigmoïdienne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Gastrinome (syndrome de Zollinger Ellison)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perforation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3626454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FF977F-C0D1-CB91-8D51-5A576E041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2435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21/ Le diagnostic d'infection à Helicobacter pylori peut être fait par : 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sérologie.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hémocultures.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test respiratoire à l’urée (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breath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test).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coproculture.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L’examen anatomo-pathologique</a:t>
            </a:r>
          </a:p>
        </p:txBody>
      </p:sp>
    </p:spTree>
    <p:extLst>
      <p:ext uri="{BB962C8B-B14F-4D97-AF65-F5344CB8AC3E}">
        <p14:creationId xmlns:p14="http://schemas.microsoft.com/office/powerpoint/2010/main" val="250988122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66507-8C4E-23DB-7596-078468E3B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CABA6C0-75D3-B5C3-75AB-7C19CD3B8B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62435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21/ Le diagnostic d'infection à Helicobacter pylori peut être fait par : 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sérologie.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hémocultures.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test respiratoire à l’urée (</a:t>
            </a:r>
            <a:r>
              <a:rPr lang="fr-FR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breath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test).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coproculture.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L’examen anatomo-pathologique</a:t>
            </a:r>
          </a:p>
        </p:txBody>
      </p:sp>
    </p:spTree>
    <p:extLst>
      <p:ext uri="{BB962C8B-B14F-4D97-AF65-F5344CB8AC3E}">
        <p14:creationId xmlns:p14="http://schemas.microsoft.com/office/powerpoint/2010/main" val="369470761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17E899-7232-EE01-FCA1-AAB66A9448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753" y="56160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22/ Parmi les moyens non invasifs de diagnostic de l’infection à HP, on distingue :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test rapide à l’uréase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test respiratoire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recherche de l’antigène dans les selles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sérologie de HP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mise en culture de la bactérie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2550080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640811-69C6-3864-03F4-4C839F172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481927A-3DBC-4ABC-2755-8F5FEE6E4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753" y="56160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22/ Parmi les moyens non invasifs de diagnostic de l’infection à HP, on distingue :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test rapide à l’uréase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test respiratoire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recherche de l’antigène dans les selles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sérologie de HP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mise en culture de la bactérie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7313741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ACB59CF-A1CB-195E-9B70-A53DEA2D1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53" y="615390"/>
            <a:ext cx="113538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23/ Les examens suivants à la recherche de l’infection à HP nécessitent la réalisation de biopsies gastriques :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L’amplification génique (PCR)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Culture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test respiratoire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rapide à l'uréase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sérologie de HP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0890018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781E14-A9B0-9436-F25D-0E5E683B54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9DAD42A-8CEE-3B3B-4B20-E63866E11B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9953" y="615390"/>
            <a:ext cx="113538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23/ Les examens suivants à la recherche de l’infection à HP nécessitent la réalisation de biopsies gastriques :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L’amplification génique (PCR)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Culture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test respiratoire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rapide à l'uréase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sérologie de HP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5490887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7BCE932-486C-94BC-1C33-2BFE696952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034" y="229906"/>
            <a:ext cx="11568953" cy="581230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24/ Concernant le test respiratoire Helicobacter pylori « Breath Test », les propositions suivantes sont exactes 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permet de détecter une infection active à HP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Fait partie des moyens invasifs recommandés dans le diagnostic positif de l’infection à HP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repose sur la mise en évidence d’une activité uréasique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l’examen de référence pour le contrôle de l’éradication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réalisation nécessite un arrêt préalable des antibiotiques d’au moins 4 semaines, sans l’obligation d’arrêter les IPP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0041119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DB360-DC56-9943-C1BF-D223DC62D4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BA4C916-B417-89BC-5600-1810BC450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2034" y="229906"/>
            <a:ext cx="11568953" cy="581230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24/ Concernant le test respiratoire Helicobacter pylori « Breath Test », les propositions suivantes sont exactes 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 permet de détecter une infection active à HP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Fait partie des moyens invasifs recommandés dans le diagnostic positif de l’infection à HP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 repose sur la mise en évidence d’une activité uréasique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 l’examen de référence pour le contrôle de l’éradication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réalisation nécessite un arrêt préalable des antibiotiques d’au moins 4 semaines, sans l’obligation d’arrêter les IPP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3253656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C4BBFD-7BB6-455A-08BF-458D209E64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29" y="830542"/>
            <a:ext cx="11470342" cy="4933764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25/La sérologie de Helicobacter Pylori :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recommandée dans le contrôle de l’éradication en deuxième intention, en cas de non disponibilité du « Breath Test »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 permet pas le contrôle de l’éradication à cause d’une sensibilité qui ne dépasse pas 50%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un moyen non invasif pour le diagnostic de l’infection à HP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détecte les IgG anti-Helicobacter pylori par technique ELISA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réalisation nécessite un arrêt préalable de toute antibiothérapie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0133235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B57790-12A8-E011-8A01-9EF6D8EBB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791EB4E-A348-F5ED-C04C-2BBC377194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29" y="830542"/>
            <a:ext cx="11470342" cy="4933764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25/La sérologie de Helicobacter Pylori :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recommandée dans le contrôle de l’éradication en deuxième intention, en cas de non disponibilité du « Breath Test »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 permet pas le contrôle de l’éradication à cause d’une sensibilité qui ne dépasse pas 50%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 un moyen non invasif pour le diagnostic de l’infection à HP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 détecte les IgG anti-Helicobacter pylori par technique ELISA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 réalisation nécessite un arrêt préalable de toute antibiothérapie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739411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B13B96B-DCF2-954A-4142-D93B54134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189" y="71400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26/ La recherche de l’antigène de HP dans les selles 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Permet à la fois le diagnostic positif et le contrôle d’éradication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Permet seulement le diagnostic positif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N’est pas recommandé dans le contrôle d’éradication vu la persistance de l’antigène plusieurs années après la disparition de la bactérie.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 utilisation est limitée à cause de sa faible spécificité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faux négatifs peuvent se voir en cas de prise d’IPP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4570053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60635A-7AEB-CD62-9D9A-EE6E5AB24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D091CBA-05DC-71C7-BD9B-2B3FCE704F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189" y="71400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26/ La recherche de l’antigène de HP dans les selles 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Permet à la fois le diagnostic positif et le contrôle d’éradication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Permet seulement le diagnostic positif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N’est pas recommandé dans le contrôle d’éradication vu la persistance de l’antigène plusieurs années après la disparition de la bactérie.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Son utilisation est limitée à cause de sa faible spécificité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 faux négatifs peuvent se voir en cas de prise d’IPP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3636161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36EECE9-1E1B-AC18-F4B0-6A0A50CFBC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294" y="821578"/>
            <a:ext cx="11129682" cy="5624046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27/ Le traitement recommandé de l’ulcère duodénal non compliqué :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basé sur des antibiotiques seuls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Associe une triple antibiothérapie à un traitement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anti-sécrétoire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à base d’IPP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d’une durée de 7 jours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Permet l’éradication de HP dans plus de 90% des cas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Suivi systématiquement d’un traitement de consolidation à base d’IPP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1599545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3DF07A-03CE-6710-5E9F-386A7FEAF2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EFF2B8A-F560-2686-2F11-23590EE34C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294" y="821578"/>
            <a:ext cx="11129682" cy="5624046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27/ Le traitement recommandé de l’ulcère duodénal non compliqué :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basé sur des antibiotiques seuls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Associe une triple antibiothérapie à un traitement </a:t>
            </a:r>
            <a:r>
              <a:rPr lang="fr-FR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anti-sécrétoire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à base d’IPP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d’une durée de 7 jours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Permet l’éradication de HP dans plus de 90% des cas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Suivi systématiquement d’un traitement de consolidation à base d’IPP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3437098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B99016-2EEE-D66F-0C6E-A886FAE2F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118" y="58849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28/ Devant un ulcère duodénal non compliqué, le traitement d’éradication de Helicobacter pylori proposé en première intention est :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IPP double dose + 2 antibiotiques pendant 10 jours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IPP double dose + 3 antibiotiques pendant 14 jours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association de 3 antibiotiques pendant 7 jours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anti-H2 + 3 antibiotiques pendant 14 jours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Oméprazole + sels de Bismuth+ Tétracycline+ Métronidazole pendant 10 jours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4094064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4580C-C975-47C8-22F9-365AA5493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CD74A80-5EC1-BC20-FFCA-63F1B68D3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118" y="58849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28/ Devant un ulcère duodénal non compliqué, le traitement d’éradication de Helicobacter pylori proposé en première intention est :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IPP double dose + 2 antibiotiques pendant 10 jours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IPP double dose + 3 antibiotiques pendant 14 jours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association de 3 antibiotiques pendant 7 jours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anti-H2 + 3 antibiotiques pendant 14 jours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Oméprazole + sels de Bismuth+ Tétracycline+ Métronidazole pendant 10 jours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1380257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33161CB-8D21-DF16-9D08-DDB0C5D51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118" y="63331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29/ Après le traitement d’un ulcère duodénal non compliqué :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pratique d’une fibroscopie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oesogastro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-duodénale est systématique pour le contrôle de la cicatrisation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contrôle d’éradication de HP n’est pas obligatoire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biopsies pour éliminer un cancer sont systématiques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L’éradication de HP se fait dans plus de 90% des cas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traitement d’entretien est toujours indiqué pendant 3 à 5 semaines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68190672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B1D46F-1D39-B59D-0970-5A969F4D2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663188A-E519-DB30-4AFC-8324F0BE1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5118" y="63331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29/ Après le traitement d’un ulcère duodénal non compliqué :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pratique d’une fibroscopie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oesogastro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-duodénale est systématique pour le contrôle de la cicatrisation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contrôle d’éradication de HP n’est pas obligatoire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biopsies pour éliminer un cancer sont systématiques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L’éradication de HP se fait dans plus de 90% des cas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traitement d’entretien est toujours indiqué pendant 3 à 5 semaines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41090206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6835CA-1F27-0F5F-04A5-8CFE6E528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623" y="705037"/>
            <a:ext cx="10515600" cy="51220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30/ Chez un patient atteint d’un ulcère gastrique :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traitement d’éradication de Helicobacter pylori est systématique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traitement de consolidation par IPP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monodose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est obligatoire en cas d’ulcère à HP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fibroscopie de contrôle est systématique 2 semaines de la fin de traitement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contrôle de l’éradication de Helicobacter pylori n’est pas obligatoire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biopsies de l’ulcère sont obligatoires même après cicatrisation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5055671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756B2-D463-5322-1270-8C91392B8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3E55886-B48C-728F-1E17-7B30060CF9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623" y="705037"/>
            <a:ext cx="10515600" cy="51220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30/ Chez un patient atteint d’un ulcère gastrique :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traitement d’éradication de Helicobacter pylori est systématique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traitement de consolidation par IPP </a:t>
            </a:r>
            <a:r>
              <a:rPr lang="fr-FR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monodose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est obligatoire en cas d’ulcère à HP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fibroscopie de contrôle est systématique 2 semaines de la fin de traitement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contrôle de l’éradication de Helicobacter pylori n’est pas obligatoire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 biopsies de l’ulcère sont obligatoires même après cicatrisation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9539815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34D9F7-1FAB-21B6-6694-150329F162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693" y="6064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31/ L’hémorragie digestive d’origine ulcéreuse peut être révélée par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méléna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rectorragies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douleurs abdominales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état de choc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vomissements alimentaires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8046346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DDE5E-DA60-06F9-6575-98B0FDF96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54BC70E-021A-1C1F-1E55-60936A475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2693" y="6064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31/ L’hémorragie digestive d’origine ulcéreuse peut être révélée par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méléna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 rectorragies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douleurs abdominales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état de choc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vomissements alimentaires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49362441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25208E2-EFC0-93C6-3DAB-ED4656722E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517" y="848472"/>
            <a:ext cx="10887635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32/ Devant un ulcère de la face postérieure du bulbe compliqué d’hémorragie, le vaisseau le plus souvent responsable du saignement est :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L’artère hépatique moyenne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L’artère pylorique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L’artère gastro-duodénale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L’artère gastro-épiploïque droite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L’artère pancréatico-duodénale inférieure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31164301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CB2F1-6305-C481-1573-2BDB82D3D8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1A6F607-D755-B451-416A-E9D22F9750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6517" y="848472"/>
            <a:ext cx="10887635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32/ Devant un ulcère de la face postérieure du bulbe compliqué d’hémorragie, le vaisseau le plus souvent responsable du saignement est :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L’artère hépatique moyenne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L’artère pylorique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L’artère gastro-duodénale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L’artère gastro-épiploïque droite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L’artère pancréatico-duodénale inférieure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2000681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5089C-93F8-B7E4-00EB-41C367E9E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0579C93-8955-D1B2-D11A-244FD7A03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1400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33/ Les facteurs de risque de récidive hémorragique après traitement endoscopique d’un ulcère bulbaire hémorragique sont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&lt; 60 ans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Malade sous anticoagulants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Etat de choc à l’admission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Siège au niveau de la face antérieure du bulbe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Ulcère de grande taille &gt;2cm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83894384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A7DD61E-C9A8-6561-8280-B18DC38C44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1400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33/ Les facteurs de risque de récidive hémorragique après traitement endoscopique d’un ulcère bulbaire hémorragique sont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 &lt; 60 ans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Malade sous anticoagulants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Etat de choc à l’admission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Siège au niveau de la face antérieure du bulbe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Ulcère de grande taille &gt;2cm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1014184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B957858-9E4B-7F98-CB0A-E7395D2A7D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29" y="65124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34/ Le traitement endoscopique de l’ulcère hémorragique est indiqué si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Forrest Ia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Forrest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Ib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Forrest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IIa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Forrest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IIc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Forrest III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73666211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4D9E31-F4B4-AB36-D8B6-C9BC24618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F4B6CF-7B48-AAE3-4123-8B11B0BEA7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29" y="65124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34/ Le traitement endoscopique de l’ulcère hémorragique est indiqué si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Forrest Ia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Forrest </a:t>
            </a:r>
            <a:r>
              <a:rPr lang="fr-FR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Ib</a:t>
            </a:r>
            <a:endParaRPr lang="fr-FR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Forrest </a:t>
            </a:r>
            <a:r>
              <a:rPr lang="fr-FR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IIa</a:t>
            </a:r>
            <a:endParaRPr lang="fr-FR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Forrest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IIc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Forrest III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5009116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27A4843-6586-89F4-5C65-7E0FDAAD8C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835" y="80364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35/ Au cours de la sténose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pyloro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-duodénale d’origine ulcéreuse, ces signes peuvent être observés : 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vomissements alimentaires.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masse épigastrique palpable.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clapotage à jeun.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défense abdominale.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amaigrissement</a:t>
            </a:r>
          </a:p>
        </p:txBody>
      </p:sp>
    </p:spTree>
    <p:extLst>
      <p:ext uri="{BB962C8B-B14F-4D97-AF65-F5344CB8AC3E}">
        <p14:creationId xmlns:p14="http://schemas.microsoft.com/office/powerpoint/2010/main" val="427693518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480DE-699A-BFF9-A56C-5AE2007B4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8D5751F-49FB-E863-59DA-4CBC2FAA6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6835" y="80364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35/ Au cours de la sténose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pyloro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-duodénale d’origine ulcéreuse, ces signes peuvent être observés : 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 vomissements alimentaires.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masse épigastrique palpable.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clapotage à jeun.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défense abdominale.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amaigrissement</a:t>
            </a:r>
          </a:p>
        </p:txBody>
      </p:sp>
    </p:spTree>
    <p:extLst>
      <p:ext uri="{BB962C8B-B14F-4D97-AF65-F5344CB8AC3E}">
        <p14:creationId xmlns:p14="http://schemas.microsoft.com/office/powerpoint/2010/main" val="227931364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DB3CF71-6003-E8D8-32AF-75D1E180F2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261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36/ Dans la sténose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pyloro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-duodénale d’origine ulcéreuse, on peut observer : 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hyperkaliémie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alcalose métabolique.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hypochlorémie.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insuffisance rénale.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anémie.</a:t>
            </a:r>
          </a:p>
        </p:txBody>
      </p:sp>
    </p:spTree>
    <p:extLst>
      <p:ext uri="{BB962C8B-B14F-4D97-AF65-F5344CB8AC3E}">
        <p14:creationId xmlns:p14="http://schemas.microsoft.com/office/powerpoint/2010/main" val="1894685159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273E5-360A-D942-93F9-5DBC206B3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1A8BB48-B5B4-4887-22A1-7FC845BB7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12614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36/ Dans la sténose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pyloro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-duodénale d’origine ulcéreuse, on peut observer : 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hyperkaliémie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alcalose métabolique.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hypochlorémie.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insuffisance rénale. 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anémie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1096433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68DB2D7-B93B-1567-79B5-B5C4C29E70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17" y="696071"/>
            <a:ext cx="11291047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 clinique 1 :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Mme Z.H âgée de 56 ans, sous AINS au long cours pour une pathologie rhumatismale, consulte pour des douleurs épigastriques, à type de crampe, depuis 3 mois, survenant 2 à 3h après les repas, avec une sensation de faim douloureuse.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L’examen clinique est sans anomalies.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Vous suspectez un ulcère gastrique ou duodénal.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97780582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3DF745D-573C-BBF8-7AF4-23FE0F804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870" y="85743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 vous demandez chez cette patiente :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échographie abdominale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fibroscopie digestive haute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scanner abdominal avec injection de produits de contraste iodés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sérologie de Helicobacter Pylori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« Breath test »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81448640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174FF5-3143-E221-42C8-A961BE04F0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163A9AE-D256-BF56-11C9-98AC631C87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870" y="85743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 vous demandez chez cette patiente :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échographie abdominale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fibroscopie digestive haute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scanner abdominal avec injection de produits de contraste iodés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sérologie de Helicobacter Pylori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« Breath test »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59318601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DCACF-B89C-9648-630C-67FA4EBABB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9732A2-F39C-674C-E814-B79E0625F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940" y="418165"/>
            <a:ext cx="11362765" cy="5130987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a ainsi objectivé une perte de substance ovalaire de 1 cm sur la face postérieure du bulbe.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2/ Le traitement d’attaque préconisé chez cette malade en première ligne est 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IPP double dose sans antibiotiques pendant 14j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IPP double dose + amoxicilline + clarithromycine + métronidazole pendant 14j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IPP double dose + amoxicilline + clarithromycine + métronidazole pendant 07j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IPP double dose + Pylera pendant 10j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Chirurgie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9788820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23F0457-3472-6BFD-66A4-8063E4EDDC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940" y="418165"/>
            <a:ext cx="11362765" cy="5130987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a ainsi objectivé une perte de substance ovalaire de 1 cm sur la face postérieure du bulbe.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</a:p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2/ Le traitement d’attaque préconisé chez ce malade en première ligne est 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IPP double dose sans antibiotiques pendant 14j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IPP double dose + amoxicilline + clarithromycine + métronidazole pendant 14j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IPP double dose + amoxicilline + clarithromycine + métronidazole pendant 07j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IPP double dose + Pylera pendant 10j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Chirurgie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7526118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0BA7070-A233-3820-20F8-A3B375BD3D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905" y="758825"/>
            <a:ext cx="11237260" cy="52744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3/ Apres le traitement d’attaque, vous préconisez chez cette patiente :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surveillance clinique seule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traitement d’entretien par IPP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monodose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 nécessité de poursuivre les AINS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contrôle de la cicatrisation de l’ulcère par une fibroscopie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fibroscopie 4 à 8 semaines de la fin du traitement avec des biopsies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contrôle systématique de l’éradication de HP, moyennant idéalement un « Breath test »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245239120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4D0A6-7E94-50A6-5ECF-15B0CC167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3FA737F-ACE4-60C0-D327-4072B48A9D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8905" y="758825"/>
            <a:ext cx="11237260" cy="52744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3/ Apres le traitement d’attaque, vous préconisez chez cette patiente :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surveillance clinique seule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traitement d’entretien par IPP </a:t>
            </a:r>
            <a:r>
              <a:rPr lang="fr-FR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monodose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 nécessité de poursuivre les AINS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contrôle de la cicatrisation de l’ulcère par une fibroscopie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fibroscopie 4 à 8 semaines de la fin du traitement avec des biopsies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contrôle systématique de l’éradication de HP, moyennant idéalement un « Breath test »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225220894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90F4AEF-49D9-CFD6-D2D5-F78AA7D61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870" y="830542"/>
            <a:ext cx="11192436" cy="5794375"/>
          </a:xfrm>
        </p:spPr>
        <p:txBody>
          <a:bodyPr/>
          <a:lstStyle/>
          <a:p>
            <a:pPr marL="0" indent="0"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 clinique 2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Patiente âgée de 67 ans, hypertendu sous captopril, consulte aux urgences pour méléna.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L’examen aux urgences trouve une patiente agitée, pale, TAS : 80 mm Hg, extrémités froides.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bilan biologique d’urgence trouve un taux d’hémoglobine : 5.2g/dl – TP : 98% - urée : 11mmol/l et créatinine : 128µmol/l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L’origine ulcéreuse de cette hémorragie a été présumée</a:t>
            </a:r>
          </a:p>
        </p:txBody>
      </p:sp>
    </p:spTree>
    <p:extLst>
      <p:ext uri="{BB962C8B-B14F-4D97-AF65-F5344CB8AC3E}">
        <p14:creationId xmlns:p14="http://schemas.microsoft.com/office/powerpoint/2010/main" val="14162560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BA7B6-D555-2C70-ECEF-8EF704CC7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9DBD887-F8E8-13CA-C162-795839C62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14001"/>
            <a:ext cx="11546541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 Pour cette patiente, la prise en charge associe: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stabilisation de l’état hémodynamique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transfusion avec comme objectif une hémoglobine supérieure à 8 g/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dL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traitement par des IPP en IV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traitement par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Sandostatine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chirurgie en urgence d’emblée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51387193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6671B33-D3F2-ED3D-BEE3-BEF4EC5230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714001"/>
            <a:ext cx="11546541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 Pour cette patiente, la prise en charge associe: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stabilisation de l’état hémodynamique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transfusion avec comme objectif une hémoglobine supérieure à 8 g/</a:t>
            </a:r>
            <a:r>
              <a:rPr lang="fr-FR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dL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traitement par des IPP en IV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traitement par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Sandostatine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chirurgie en urgence d’emblée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55646717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DD95FAA-0CF1-8DFF-532F-E96DF331A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365" y="516778"/>
            <a:ext cx="10824882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2/L’endoscopie digestive haute montre une perte de substance de 1 cm au niveau de la face antérieure du bulbe avec un vaisseau visible. La classification de Forrest de cet ulcère est 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Ib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IIa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IIb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IIc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399239296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C6F37-8AF5-A458-990E-84B0DC7562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83A3BD2-DA0D-5F59-F22C-6DD0D85873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365" y="516778"/>
            <a:ext cx="10824882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2/L’endoscopie digestive haute montre une perte de substance de 1 cm au niveau de la face antérieure du bulbe avec un vaisseau visible. La classification de Forrest de cet ulcère est 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Ia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Ib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IIa</a:t>
            </a:r>
            <a:endParaRPr lang="fr-FR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IIb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IIc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7753328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10764C6-BD90-A747-5068-F0D0F3E006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435" y="7588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3/Chez cette patiente, les facteurs de risque de récidive hémorragique sont: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L’âge de la patiente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Etat de choc à l’admission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siège sur la face antérieure du bulbe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taille de l’ulcère de 1cm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stade Forrest de cet ulcère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62055479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8364F-5B2E-408B-E7C9-01326281C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48D59D8-DA18-E0CC-6E5C-D403DA4BDD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435" y="75882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3/Chez cette patiente, les facteurs de risque de récidive hémorragique sont: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L’âge de la patiente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Etat de choc à l’admission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siège sur la face antérieure du bulbe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taille de l’ulcère de 1cm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 stade Forrest de cet ulcère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18611324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9689AD-1A7F-46DC-267F-5073873B61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413" y="543671"/>
            <a:ext cx="11313458" cy="5337175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4/Le traitement de première intention de cet ulcère est 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Hémostase endoscopique puis arrêt des IPP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Hémostase endoscopique associée à un traitement à base d’IPP en IV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Chirurgie d’emblée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IPP en IV sans traitement endoscopique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IPP puis chirurgie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48786519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E5FBDC-F3F7-4797-DDAC-A105E9BA1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F0565CE-5E8F-AF2F-4601-E30F19A653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3413" y="543671"/>
            <a:ext cx="11313458" cy="5337175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4/Le traitement de première intention de cet ulcère est 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Hémostase endoscopique puis arrêt des IPP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Hémostase endoscopique associée à un traitement à base d’IPP en IV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Chirurgie d’emblée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IPP en IV sans traitement endoscopique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IPP puis chirurgie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65525135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D52982-9D71-9D6A-429E-655949DA9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1BC006F-03B7-DA1A-794F-90342C9306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17" y="391272"/>
            <a:ext cx="11443447" cy="52923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5/ L’épisode hémorragique étant résolu, vous décidez de faire sortir la patiente. La prise en charge ultérieure associe: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quadrithérapie concomitante pendant 14j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traitement de consolidation par IPP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monodose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pendant 3-5 semaines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contrôle endoscopique 4 à 8 semaines après la fin du traitement avec biopsie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« Breath test » 4 à 8 semaines après la fin du traitement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scanner abdominal de contrôle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7676892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6B45B1-0F0F-7DD3-3CB1-3A8A2F351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717" y="391272"/>
            <a:ext cx="11443447" cy="52923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5/ L’épisode hémorragique étant résolu, vous décidez de faire sortir la patiente. La prise en charge ultérieure associe: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quadrithérapie concomitante pendant 14j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traitement de consolidation par IPP </a:t>
            </a:r>
            <a:r>
              <a:rPr lang="fr-FR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monodose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pendant 3-5 semaines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contrôle endoscopique 4 à 8 semaines après la fin du traitement avec biopsie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« Breath test » 4 à 8 semaines après la fin du traitement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scanner abdominal de contrôle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6577967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52219E0-38C6-1189-45F2-B5EE5892B6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4764" y="445061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 clinique 3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 M.H, 56 ans, sans antécédents pathologiques notables, tabagique (40 PA), consulte pour des épigastralgies à type de crampes, évoluant depuis 3 mois, le réveillant pendant la 2</a:t>
            </a:r>
            <a:r>
              <a:rPr lang="fr-FR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ème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moitié de la nuit, soulagées par les antisécrétoires. L’examen physique ne révèle pas d’anomalies.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diagnostic d’ulcère duodénal ou gastrique a été fortement suspecté.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29713621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778637C-ECA0-052B-9535-2868294721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623" y="651247"/>
            <a:ext cx="10914530" cy="54357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 Concernant la conduite à tenir chez ce patient :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recherche d’une infection à HP par l’un des moyens non invasifs est suffisante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fibroscopie œsogastroduodénale (FOGD) est l’examen complémentaire de première intention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FOGD n’est pas obligatoire en raison d’une forte suspicion de l’ulcère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scanner abdominal est indiqué devant l’âge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traitement par IPP double dose doit être instauré immédiatement avant tout examen complémentaire 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88221933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CC2A7-561A-8116-51DC-8F0A1B69F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9484C3B-A1E3-5100-66EA-DEC40596B9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0623" y="651247"/>
            <a:ext cx="10914530" cy="54357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1/ Concernant la conduite à tenir chez ce patient :</a:t>
            </a:r>
          </a:p>
          <a:p>
            <a:pPr marL="0" lv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recherche d’une infection à HP par l’un des moyens non invasifs est suffisante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fibroscopie œsogastroduodénale (FOGD) est l’examen complémentaire de première intention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 FOGD n’est pas obligatoire en raison d’une forte suspicion de l’ulcère 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scanner abdominal est indiqué devant l’âge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traitement par IPP double dose doit être instauré immédiatement avant tout examen complémentaire 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93555642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A021AA7-FC66-37F9-6BE6-14E61B32A6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870" y="687107"/>
            <a:ext cx="10515600" cy="435133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Les investigations ont montré une perte de substance arrondie faisant environ 13 mm de diamètre, au niveau de l’angle de la petite courbure antrale, à berges nettes, et à fond propre.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diagnostic d’ulcère gastrique non compliqué a été alors retenu. L’examen anatomopathologique a mis en évidence une gastrite chronique active avec présence de HP.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0254302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2A703-076E-CA8B-0BB8-4F09DD665F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222A85E-EBB4-41FF-9476-1D9955BE26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447" y="597460"/>
            <a:ext cx="11474823" cy="539992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2/ le traitement d’éradication de HP de première intention, en absence d’allergie à la pénicilline, peut-être 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quadrithérapie bismuthée (Oméprazole double dose+ Tétracycline+ Bismuth + Métronidazole) pendant 10 jours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quadrithérapie non bismuthée (IPP double dose+ Clarithromycine+ Amoxicilline+ Métronidazole) pendant 10 jours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quadrithérapie non bismuthée (IPP double dose+ Clarithromycine+ Amoxicilline+ Métronidazole) pendant 14 jours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bithérapie (IPP double dose+ Amoxicilline) pendant 14 jours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trithérapie (IPP double dose +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Levofloxacine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Métronidazole) pendant 10 jours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01364056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3286C8A-2524-26D0-A982-BCAC1C72B3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447" y="597460"/>
            <a:ext cx="11474823" cy="539992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2/ le traitement d’éradication de HP de première intention, en absence d’allergie à la pénicilline, peut-être 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quadrithérapie bismuthée (Oméprazole double dose+ Tétracycline+ Bismuth + Métronidazole) pendant 10 jours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quadrithérapie non bismuthée (IPP double dose+ Clarithromycine+ Amoxicilline+ Métronidazole) pendant 10 jours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quadrithérapie non bismuthée (IPP double dose+ Clarithromycine+ Amoxicilline+ Métronidazole) pendant 14 jours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bithérapie (IPP double dose+ Amoxicilline) pendant 14 jours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trithérapie (IPP double dose +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Levofloxacine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+ Métronidazole) pendant 10 jours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60587579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BC91A64-6A28-1AEC-16BC-56C87F79C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29" y="55263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3/ Concernant le traitement de consolidation 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N’est pas recommandé dans ce cas, vu l’absence de complications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 indiqué chez ce patient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 à mettre le patient sous IPP double dose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 à mettre le patient sous IPP simple dose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Doit être maintenu pendant 6 à 8 semaines 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61143475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2A2C24-C5BA-FB55-6E2E-050B778E1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EA382A0-6FC9-21F1-452A-9984187C40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1329" y="55263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3/ Concernant le traitement de consolidation 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N’est pas recommandé dans ce cas, vu l’absence de complications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 indiqué chez ce patient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 à mettre le patient sous IPP double dose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Consiste à mettre le patient sous IPP simple dose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Doit être maintenu pendant 6 à 8 semaines 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97892606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B1BE80E-909A-A2E9-199A-839FD9489D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505" y="301625"/>
            <a:ext cx="11524129" cy="59109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4/ Après avoir pris convenablement le traitement, avec une bonne observance thérapeutique, le patient doit bénéficier de 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surveillance clinique seulement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contrôle systématique de l’éradication moyennant un des tests non invasifs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FOGD de contrôle afin de vérifier la cicatrisation de l’ulcère, sans obligation de faire des biopsies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FOGD de contrôle 2 semaines après la fin de la quadrithérapie, avec obligatoirement des biopsies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biopsies au niveau de la cicatrice de l’ulcère ainsi que des biopsies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antro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-fundiques</a:t>
            </a:r>
          </a:p>
        </p:txBody>
      </p:sp>
    </p:spTree>
    <p:extLst>
      <p:ext uri="{BB962C8B-B14F-4D97-AF65-F5344CB8AC3E}">
        <p14:creationId xmlns:p14="http://schemas.microsoft.com/office/powerpoint/2010/main" val="3017448425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F9C3B-7038-0EDF-5179-F6900B31FF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8249292-029F-CFA7-2584-F434ADFF7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6505" y="301625"/>
            <a:ext cx="11524129" cy="591091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4/ Après avoir pris convenablement le traitement, avec une bonne observance thérapeutique, le patient doit bénéficier de :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surveillance clinique seulement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contrôle systématique de l’éradication moyennant un des tests non invasifs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FOGD de contrôle afin de vérifier la cicatrisation de l’ulcère, sans obligation de faire des biopsies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FOGD de contrôle 2 semaines après la fin de la quadrithérapie, avec obligatoirement des biopsies</a:t>
            </a:r>
          </a:p>
          <a:p>
            <a:pPr marL="51435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 biopsies au niveau de la cicatrice de l’ulcère ainsi que des biopsies </a:t>
            </a:r>
            <a:r>
              <a:rPr lang="fr-FR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antro</a:t>
            </a: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-fundiques</a:t>
            </a:r>
          </a:p>
        </p:txBody>
      </p:sp>
    </p:spTree>
    <p:extLst>
      <p:ext uri="{BB962C8B-B14F-4D97-AF65-F5344CB8AC3E}">
        <p14:creationId xmlns:p14="http://schemas.microsoft.com/office/powerpoint/2010/main" val="648214137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7B96EC7-FC97-D3A1-AB50-E5A6EFD540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482" y="1000872"/>
            <a:ext cx="10515600" cy="4351338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 patient a été perdu de vue pendant plusieurs mois.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Il a reconsulté un an plus tard pour des épigastralgies atypiques, ne cédant pas aux antisécrétoires, avec notion d’amaigrissement important et anorexie.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61372176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9C3A2C7-A832-741E-AE85-D9BA21A807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483" y="65124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5/ quelle complication à craindre en premier lieu chez ce patient ?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sténose digestive haute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hémorragie digestive haute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cancer gastrique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ulcère perforé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fistule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bilio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-digestive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13806599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4BE9D-4885-1B4F-70E8-9AD5E5385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C64F013-9A95-3B1D-F09D-D4E8ADF3B1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483" y="65124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5/ quelle complication à craindre en premier lieu chez ce patient ?</a:t>
            </a:r>
          </a:p>
          <a:p>
            <a:pPr marL="0" indent="0">
              <a:buNone/>
            </a:pP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sténose digestive haute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hémorragie digestive haute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 cancer gastrique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ulcère perforé</a:t>
            </a:r>
          </a:p>
          <a:p>
            <a:pPr marL="514350" lvl="0" indent="-514350">
              <a:buFont typeface="+mj-lt"/>
              <a:buAutoNum type="alphaUcPeriod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Une fistule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bilio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-digestive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60602374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4666B-4409-B883-F6C6-10CC7091FD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br>
              <a:rPr lang="fr-FR" sz="3200" dirty="0"/>
            </a:br>
            <a:r>
              <a:rPr lang="fr-FR" sz="3200" b="1" dirty="0"/>
              <a:t>Objectif 6 :</a:t>
            </a:r>
            <a:br>
              <a:rPr lang="fr-FR" sz="3200" dirty="0"/>
            </a:br>
            <a:r>
              <a:rPr lang="fr-FR" sz="3200" dirty="0"/>
              <a:t>Reconnaître les formes compliquées de la maladie ulcéreuse gastrique et duodénale à partir</a:t>
            </a:r>
            <a:br>
              <a:rPr lang="fr-FR" sz="3200" dirty="0"/>
            </a:br>
            <a:r>
              <a:rPr lang="fr-FR" sz="3200" dirty="0"/>
              <a:t>des données cliniques et para cliniques.</a:t>
            </a:r>
          </a:p>
        </p:txBody>
      </p:sp>
    </p:spTree>
    <p:extLst>
      <p:ext uri="{BB962C8B-B14F-4D97-AF65-F5344CB8AC3E}">
        <p14:creationId xmlns:p14="http://schemas.microsoft.com/office/powerpoint/2010/main" val="2490312114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81642-1C85-4A02-F2CB-E243136F1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8982"/>
            <a:ext cx="10515600" cy="5317981"/>
          </a:xfrm>
        </p:spPr>
        <p:txBody>
          <a:bodyPr/>
          <a:lstStyle/>
          <a:p>
            <a:pPr marL="0" indent="0">
              <a:buNone/>
            </a:pPr>
            <a:r>
              <a:rPr lang="fr-FR" b="1" dirty="0"/>
              <a:t>Question 1 : </a:t>
            </a:r>
          </a:p>
          <a:p>
            <a:pPr marL="0" indent="0">
              <a:buNone/>
            </a:pPr>
            <a:r>
              <a:rPr lang="fr-FR" dirty="0"/>
              <a:t>	Concernant le tableau d’un ulcère duodénal perforé, la (les) proposition (s) juste(s) est (sont) :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A. Le début des douleurs siège au niveau de l’épigastre</a:t>
            </a:r>
          </a:p>
          <a:p>
            <a:pPr marL="0" indent="0">
              <a:buNone/>
            </a:pPr>
            <a:r>
              <a:rPr lang="fr-FR" dirty="0"/>
              <a:t>B. La fièvre est présente dès le début des douleurs</a:t>
            </a:r>
          </a:p>
          <a:p>
            <a:pPr marL="0" indent="0">
              <a:buNone/>
            </a:pPr>
            <a:r>
              <a:rPr lang="fr-FR" dirty="0"/>
              <a:t>C. Le début de la symptomatologie est généralement brutal</a:t>
            </a:r>
          </a:p>
          <a:p>
            <a:pPr marL="0" indent="0">
              <a:buNone/>
            </a:pPr>
            <a:r>
              <a:rPr lang="fr-FR" dirty="0"/>
              <a:t>D. Il s’agit d’un tableau de péritonite chimique au début</a:t>
            </a:r>
          </a:p>
          <a:p>
            <a:pPr marL="0" indent="0">
              <a:buNone/>
            </a:pPr>
            <a:r>
              <a:rPr lang="fr-FR" dirty="0"/>
              <a:t>E. Un pneumopéritoine est toujours présent à la radiographie de l’abdomen sans préparation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278456211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A8E3F2-CC1F-B194-33C2-E9622D3AE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BC410-DE8F-7015-BE2F-8878F3D28C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58982"/>
            <a:ext cx="10515600" cy="5317981"/>
          </a:xfrm>
        </p:spPr>
        <p:txBody>
          <a:bodyPr/>
          <a:lstStyle/>
          <a:p>
            <a:pPr marL="0" indent="0">
              <a:buNone/>
            </a:pPr>
            <a:r>
              <a:rPr lang="fr-FR" b="1" dirty="0"/>
              <a:t>Question 1 : </a:t>
            </a:r>
          </a:p>
          <a:p>
            <a:pPr marL="0" indent="0">
              <a:buNone/>
            </a:pPr>
            <a:r>
              <a:rPr lang="fr-FR" dirty="0"/>
              <a:t>	Concernant le tableau d’un ulcère duodénal perforé, la (les) proposition (s) juste(s) est (sont) :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A. Le début des douleurs siège au niveau de l’épigastre</a:t>
            </a:r>
          </a:p>
          <a:p>
            <a:pPr marL="0" indent="0">
              <a:buNone/>
            </a:pPr>
            <a:r>
              <a:rPr lang="fr-FR" dirty="0"/>
              <a:t>B. La fièvre est présente dès le début des douleurs</a:t>
            </a:r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C. Le début de la symptomatologie est généralement brutal</a:t>
            </a:r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D. Il s’agit d’un tableau de péritonite chimique au début</a:t>
            </a:r>
          </a:p>
          <a:p>
            <a:pPr marL="0" indent="0">
              <a:buNone/>
            </a:pPr>
            <a:r>
              <a:rPr lang="fr-FR" dirty="0"/>
              <a:t>E. Un pneumopéritoine est constant à la radiographie de l’abdomen sans préparation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876736078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6A605-85C6-DF59-5160-EFD1C5A3A2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2163"/>
            <a:ext cx="10515600" cy="4793673"/>
          </a:xfrm>
        </p:spPr>
        <p:txBody>
          <a:bodyPr/>
          <a:lstStyle/>
          <a:p>
            <a:pPr marL="0" indent="0">
              <a:buNone/>
            </a:pPr>
            <a:r>
              <a:rPr lang="fr-FR" b="1" dirty="0"/>
              <a:t>Question 2 :</a:t>
            </a:r>
          </a:p>
          <a:p>
            <a:pPr marL="0" indent="0">
              <a:buNone/>
            </a:pPr>
            <a:r>
              <a:rPr lang="fr-FR" dirty="0"/>
              <a:t>	Le tableau d’un ulcère duodénal perforé peut poser un problème de diagnostic différentiel avec :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A. Cholécystite aiguë</a:t>
            </a:r>
          </a:p>
          <a:p>
            <a:pPr marL="0" indent="0">
              <a:buNone/>
            </a:pPr>
            <a:r>
              <a:rPr lang="fr-FR" dirty="0"/>
              <a:t>B. Pancréatite aiguë</a:t>
            </a:r>
          </a:p>
          <a:p>
            <a:pPr marL="0" indent="0">
              <a:buNone/>
            </a:pPr>
            <a:r>
              <a:rPr lang="fr-FR" dirty="0"/>
              <a:t>C. IDM inférieur</a:t>
            </a:r>
          </a:p>
          <a:p>
            <a:pPr marL="0" indent="0">
              <a:buNone/>
            </a:pPr>
            <a:r>
              <a:rPr lang="fr-FR" dirty="0"/>
              <a:t>D. Crise hyperalgique d’ulcère</a:t>
            </a:r>
          </a:p>
          <a:p>
            <a:pPr marL="0" indent="0">
              <a:buNone/>
            </a:pPr>
            <a:r>
              <a:rPr lang="fr-FR" dirty="0"/>
              <a:t>E. Angiocholite aiguë </a:t>
            </a:r>
          </a:p>
        </p:txBody>
      </p:sp>
    </p:spTree>
    <p:extLst>
      <p:ext uri="{BB962C8B-B14F-4D97-AF65-F5344CB8AC3E}">
        <p14:creationId xmlns:p14="http://schemas.microsoft.com/office/powerpoint/2010/main" val="2801521122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BAAC5E-2248-0E60-9DD3-3A232182C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6481F-C3BC-B8C9-D712-59EB49602E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32163"/>
            <a:ext cx="10515600" cy="4793673"/>
          </a:xfrm>
        </p:spPr>
        <p:txBody>
          <a:bodyPr/>
          <a:lstStyle/>
          <a:p>
            <a:pPr marL="0" indent="0">
              <a:buNone/>
            </a:pPr>
            <a:r>
              <a:rPr lang="fr-FR" b="1" dirty="0"/>
              <a:t>Question 2 :</a:t>
            </a:r>
          </a:p>
          <a:p>
            <a:pPr marL="0" indent="0">
              <a:buNone/>
            </a:pPr>
            <a:r>
              <a:rPr lang="fr-FR" dirty="0"/>
              <a:t>	Le tableau d’un ulcère duodénal perforé peut poser un problème de diagnostic différentiel avec :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A. Cholécystite aiguë</a:t>
            </a:r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B. Pancréatite aiguë</a:t>
            </a:r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C. IDM inférieur</a:t>
            </a:r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D. Crise hyperalgique d’ulcère</a:t>
            </a:r>
          </a:p>
          <a:p>
            <a:pPr marL="0" indent="0">
              <a:buNone/>
            </a:pPr>
            <a:r>
              <a:rPr lang="fr-FR" dirty="0"/>
              <a:t>E. Angiocholite aiguë </a:t>
            </a:r>
          </a:p>
        </p:txBody>
      </p:sp>
    </p:spTree>
    <p:extLst>
      <p:ext uri="{BB962C8B-B14F-4D97-AF65-F5344CB8AC3E}">
        <p14:creationId xmlns:p14="http://schemas.microsoft.com/office/powerpoint/2010/main" val="395793877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F95371-43A0-288B-8028-F18A9B6BFC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b="1" dirty="0"/>
              <a:t>Question 3 : </a:t>
            </a:r>
          </a:p>
          <a:p>
            <a:pPr marL="0" indent="0">
              <a:buNone/>
            </a:pPr>
            <a:r>
              <a:rPr lang="fr-FR" dirty="0"/>
              <a:t>	Le premier examen morphologique à demander en cas de suspicion d’un ulcère duodénal perforé, est :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A. Echographie abdominale</a:t>
            </a:r>
          </a:p>
          <a:p>
            <a:pPr marL="0" indent="0">
              <a:buNone/>
            </a:pPr>
            <a:r>
              <a:rPr lang="fr-FR" dirty="0"/>
              <a:t>B. TDM abdominale</a:t>
            </a:r>
          </a:p>
          <a:p>
            <a:pPr marL="0" indent="0">
              <a:buNone/>
            </a:pPr>
            <a:r>
              <a:rPr lang="fr-FR" dirty="0"/>
              <a:t>C. Fibroscopie oeso-gastro-duodénale FOGD</a:t>
            </a:r>
          </a:p>
          <a:p>
            <a:pPr marL="0" indent="0">
              <a:buNone/>
            </a:pPr>
            <a:r>
              <a:rPr lang="fr-FR" dirty="0"/>
              <a:t>D. Radiographie de thorax centrée sur les coupoles diaphragmatiques en position débout </a:t>
            </a:r>
          </a:p>
          <a:p>
            <a:pPr marL="0" indent="0">
              <a:buNone/>
            </a:pPr>
            <a:r>
              <a:rPr lang="fr-FR" dirty="0"/>
              <a:t>E. Transit oeso-gastro-duodénal TOGD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38120406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DEC6D-B7E6-101E-D6AF-F31BDD107A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E100C1-B17B-5625-BF07-DF816CC121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fr-FR" b="1" dirty="0"/>
              <a:t>Question 3 : </a:t>
            </a:r>
          </a:p>
          <a:p>
            <a:pPr marL="0" indent="0">
              <a:buNone/>
            </a:pPr>
            <a:r>
              <a:rPr lang="fr-FR" dirty="0"/>
              <a:t>	Le premier examen morphologique à demander en cas de suspicion d’un ulcère duodénal perforé, est :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A. Echographie abdominale</a:t>
            </a:r>
          </a:p>
          <a:p>
            <a:pPr marL="0" indent="0">
              <a:buNone/>
            </a:pPr>
            <a:r>
              <a:rPr lang="fr-FR" dirty="0"/>
              <a:t>B. TDM abdominale</a:t>
            </a:r>
          </a:p>
          <a:p>
            <a:pPr marL="0" indent="0">
              <a:buNone/>
            </a:pPr>
            <a:r>
              <a:rPr lang="fr-FR" dirty="0"/>
              <a:t>C. Fibroscopie oeso-gastro-duodénale FOGD</a:t>
            </a:r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D. Radiographie de thorax centrée sur les coupoles diaphragmatiques en position débout </a:t>
            </a:r>
          </a:p>
          <a:p>
            <a:pPr marL="0" indent="0">
              <a:buNone/>
            </a:pPr>
            <a:r>
              <a:rPr lang="fr-FR" dirty="0"/>
              <a:t>E. Transit oeso-gastro-duodénal TOGD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49164340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51CD7A-8B03-B2AB-AE5B-DC293E102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1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fr-FR" sz="3600" dirty="0"/>
              <a:t>Formes compliquées : Ulcère duodénal perforé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0E3CE-2E29-4D2C-1EC5-664C078770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39648"/>
          </a:xfrm>
          <a:ln>
            <a:solidFill>
              <a:schemeClr val="tx1"/>
            </a:solidFill>
          </a:ln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fr-FR" dirty="0"/>
              <a:t> Tableau de péritonite aigue ( </a:t>
            </a:r>
            <a:r>
              <a:rPr lang="fr-FR" b="1" dirty="0"/>
              <a:t>principale cause de péritonites sus </a:t>
            </a:r>
            <a:r>
              <a:rPr lang="fr-FR" b="1" dirty="0" err="1"/>
              <a:t>méso-coliques</a:t>
            </a:r>
            <a:r>
              <a:rPr lang="fr-FR" dirty="0"/>
              <a:t>)</a:t>
            </a:r>
          </a:p>
          <a:p>
            <a:pPr marL="0" indent="0">
              <a:buNone/>
            </a:pPr>
            <a:endParaRPr lang="fr-FR" dirty="0"/>
          </a:p>
          <a:p>
            <a:pPr>
              <a:buFont typeface="Wingdings" panose="05000000000000000000" pitchFamily="2" charset="2"/>
              <a:buChar char="q"/>
            </a:pPr>
            <a:r>
              <a:rPr lang="fr-FR" dirty="0"/>
              <a:t> Douleur brutale , intense, en coup de poignard, épigastrique puis diffuse. </a:t>
            </a:r>
          </a:p>
          <a:p>
            <a:pPr marL="0" indent="0">
              <a:buNone/>
            </a:pPr>
            <a:endParaRPr lang="fr-FR" dirty="0"/>
          </a:p>
          <a:p>
            <a:pPr>
              <a:buFont typeface="Wingdings" panose="05000000000000000000" pitchFamily="2" charset="2"/>
              <a:buChar char="q"/>
            </a:pPr>
            <a:r>
              <a:rPr lang="fr-FR" dirty="0"/>
              <a:t> Péritonite </a:t>
            </a:r>
            <a:r>
              <a:rPr lang="fr-FR" b="1" dirty="0"/>
              <a:t>par perforation </a:t>
            </a:r>
            <a:r>
              <a:rPr lang="fr-FR" dirty="0"/>
              <a:t>: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 1</a:t>
            </a:r>
            <a:r>
              <a:rPr lang="fr-FR" baseline="30000" dirty="0"/>
              <a:t>ère</a:t>
            </a:r>
            <a:r>
              <a:rPr lang="fr-FR" dirty="0"/>
              <a:t> phase chimique (&lt; 6 heures ) : </a:t>
            </a:r>
            <a:r>
              <a:rPr lang="fr-FR" b="1" dirty="0"/>
              <a:t>absence de fièvre et du SIB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 2</a:t>
            </a:r>
            <a:r>
              <a:rPr lang="fr-FR" baseline="30000" dirty="0"/>
              <a:t>ème</a:t>
            </a:r>
            <a:r>
              <a:rPr lang="fr-FR" dirty="0"/>
              <a:t> phase bactérienne </a:t>
            </a:r>
          </a:p>
        </p:txBody>
      </p:sp>
    </p:spTree>
    <p:extLst>
      <p:ext uri="{BB962C8B-B14F-4D97-AF65-F5344CB8AC3E}">
        <p14:creationId xmlns:p14="http://schemas.microsoft.com/office/powerpoint/2010/main" val="1420670015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E828D5-F23C-AC7B-F98D-CFC6EC6736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228148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fr-FR" sz="4000" dirty="0"/>
              <a:t>Formes compliquées : Ulcère duodénal perforé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078DA-AC96-AB0F-168D-E3471EBE04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363" y="1907668"/>
            <a:ext cx="7905200" cy="4505903"/>
          </a:xfrm>
          <a:ln>
            <a:solidFill>
              <a:schemeClr val="tx1"/>
            </a:solidFill>
          </a:ln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fr-FR" dirty="0"/>
              <a:t> Premier examen complémentaire : </a:t>
            </a:r>
            <a:r>
              <a:rPr lang="fr-FR" b="1" dirty="0"/>
              <a:t>RX thorax centrée sur les coupoles diaphragmatiques en position débout </a:t>
            </a:r>
          </a:p>
          <a:p>
            <a:pPr marL="0" indent="0">
              <a:buNone/>
            </a:pPr>
            <a:r>
              <a:rPr lang="fr-FR" b="1" dirty="0"/>
              <a:t>   Pneumopéritoine (PNP) : </a:t>
            </a:r>
            <a:r>
              <a:rPr lang="fr-FR" b="1" dirty="0">
                <a:solidFill>
                  <a:srgbClr val="FF0000"/>
                </a:solidFill>
              </a:rPr>
              <a:t>Absent dans 30% des cas </a:t>
            </a:r>
          </a:p>
          <a:p>
            <a:pPr marL="0" indent="0" algn="ctr">
              <a:buNone/>
            </a:pPr>
            <a:endParaRPr lang="fr-FR" b="1" dirty="0">
              <a:solidFill>
                <a:srgbClr val="FF0000"/>
              </a:solidFill>
            </a:endParaRPr>
          </a:p>
          <a:p>
            <a:pPr marL="0" indent="0" algn="ctr">
              <a:buNone/>
            </a:pPr>
            <a:endParaRPr lang="fr-FR" b="1" dirty="0"/>
          </a:p>
          <a:p>
            <a:pPr marL="0" indent="0" algn="ctr">
              <a:buNone/>
            </a:pPr>
            <a:r>
              <a:rPr lang="fr-FR" b="1" dirty="0"/>
              <a:t>TDM abdominale </a:t>
            </a:r>
          </a:p>
          <a:p>
            <a:pPr marL="0" indent="0" algn="ctr">
              <a:buNone/>
            </a:pPr>
            <a:r>
              <a:rPr lang="fr-FR" b="1" dirty="0"/>
              <a:t>(doute Diagnostic, Absence de PNP)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b="1" dirty="0">
                <a:solidFill>
                  <a:srgbClr val="FF0000"/>
                </a:solidFill>
              </a:rPr>
              <a:t> FOGD : CID si doute sur une perforation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EA28322-173D-B8CA-D028-6C9102A91C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0048" y="2122854"/>
            <a:ext cx="3123970" cy="3756878"/>
          </a:xfrm>
          <a:prstGeom prst="rect">
            <a:avLst/>
          </a:prstGeom>
        </p:spPr>
      </p:pic>
      <p:sp>
        <p:nvSpPr>
          <p:cNvPr id="5" name="Arrow: Down 4">
            <a:extLst>
              <a:ext uri="{FF2B5EF4-FFF2-40B4-BE49-F238E27FC236}">
                <a16:creationId xmlns:a16="http://schemas.microsoft.com/office/drawing/2014/main" id="{FFFC5F03-73AE-E8AC-A91A-1FEC868364CC}"/>
              </a:ext>
            </a:extLst>
          </p:cNvPr>
          <p:cNvSpPr/>
          <p:nvPr/>
        </p:nvSpPr>
        <p:spPr>
          <a:xfrm>
            <a:off x="4084217" y="3876600"/>
            <a:ext cx="390801" cy="598417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84432887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E9462-0D59-13E9-B2AD-D3497057A46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fr-FR" sz="4000" dirty="0"/>
              <a:t>Formes compliquées : Ulcère duodénal perforé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88070-4C86-B9A3-23DC-4D180DBB83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9480"/>
            <a:ext cx="10515600" cy="4351338"/>
          </a:xfrm>
          <a:ln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endParaRPr lang="fr-FR" dirty="0"/>
          </a:p>
          <a:p>
            <a:pPr>
              <a:buFont typeface="Wingdings" panose="05000000000000000000" pitchFamily="2" charset="2"/>
              <a:buChar char="q"/>
            </a:pPr>
            <a:r>
              <a:rPr lang="fr-FR" dirty="0"/>
              <a:t>  </a:t>
            </a:r>
            <a:r>
              <a:rPr lang="fr-FR" sz="3200" b="1" dirty="0"/>
              <a:t>Diagnostics différentiels : </a:t>
            </a:r>
          </a:p>
          <a:p>
            <a:pPr marL="0" indent="0">
              <a:buNone/>
            </a:pPr>
            <a:endParaRPr lang="fr-FR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fr-FR" sz="2800" dirty="0"/>
              <a:t> Crise hyperalgique d’ulcère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fr-FR" sz="2800" dirty="0"/>
              <a:t> Pancréatite aigue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fr-FR" sz="2800" dirty="0"/>
              <a:t> Infarctus mésentérique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fr-FR" sz="2800" dirty="0"/>
              <a:t> Infarctus du myocarde postéro inférieur</a:t>
            </a:r>
          </a:p>
        </p:txBody>
      </p:sp>
    </p:spTree>
    <p:extLst>
      <p:ext uri="{BB962C8B-B14F-4D97-AF65-F5344CB8AC3E}">
        <p14:creationId xmlns:p14="http://schemas.microsoft.com/office/powerpoint/2010/main" val="1392604509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CA60C5-6545-2AC4-BDCE-993451A713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19745"/>
            <a:ext cx="10515600" cy="2618509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algn="ctr"/>
            <a:r>
              <a:rPr lang="fr-FR" sz="4000" dirty="0"/>
              <a:t>Objectif 7 :</a:t>
            </a:r>
            <a:br>
              <a:rPr lang="fr-FR" sz="4000" dirty="0"/>
            </a:br>
            <a:r>
              <a:rPr lang="fr-FR" sz="4000" dirty="0"/>
              <a:t>Planifier la prise en charge thérapeutique de la maladie ulcéreuse gastrique et duodénale,</a:t>
            </a:r>
            <a:br>
              <a:rPr lang="fr-FR" sz="4000" dirty="0"/>
            </a:br>
            <a:r>
              <a:rPr lang="fr-FR" sz="4000" dirty="0"/>
              <a:t>dans ses différentes formes.</a:t>
            </a:r>
          </a:p>
        </p:txBody>
      </p:sp>
    </p:spTree>
    <p:extLst>
      <p:ext uri="{BB962C8B-B14F-4D97-AF65-F5344CB8AC3E}">
        <p14:creationId xmlns:p14="http://schemas.microsoft.com/office/powerpoint/2010/main" val="149102623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9669F-56EB-1803-39F9-F577AF59A2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3673"/>
            <a:ext cx="10515600" cy="519329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/>
              <a:t>Question 4  :</a:t>
            </a:r>
          </a:p>
          <a:p>
            <a:pPr marL="0" indent="0">
              <a:buNone/>
            </a:pPr>
            <a:r>
              <a:rPr lang="fr-FR" dirty="0"/>
              <a:t>	Le traitement chirurgical de référence de l’ulcère duodénal perforé consiste en :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A/ Une bi vagotomie avec suture de la perforation et toilette péritonéale </a:t>
            </a:r>
          </a:p>
          <a:p>
            <a:pPr marL="0" indent="0">
              <a:buNone/>
            </a:pPr>
            <a:r>
              <a:rPr lang="fr-FR" dirty="0"/>
              <a:t>B/ Une suture de la perforation avec toilette péritonéale par voie coelioscopique  </a:t>
            </a:r>
          </a:p>
          <a:p>
            <a:pPr marL="0" indent="0">
              <a:buNone/>
            </a:pPr>
            <a:r>
              <a:rPr lang="fr-FR" dirty="0"/>
              <a:t>C/ Une anastomose gastro-jéjunale avec toilette péritonéale</a:t>
            </a:r>
          </a:p>
          <a:p>
            <a:pPr marL="0" indent="0">
              <a:buNone/>
            </a:pPr>
            <a:r>
              <a:rPr lang="fr-FR" dirty="0"/>
              <a:t>D/ Une antrectomie avec anastomose gastro-jéjunale et toilette péritonéale</a:t>
            </a:r>
          </a:p>
          <a:p>
            <a:pPr marL="0" indent="0">
              <a:buNone/>
            </a:pPr>
            <a:r>
              <a:rPr lang="fr-FR" dirty="0"/>
              <a:t>E/ Une </a:t>
            </a:r>
            <a:r>
              <a:rPr lang="fr-FR" dirty="0" err="1"/>
              <a:t>pyloroplastie</a:t>
            </a:r>
            <a:r>
              <a:rPr lang="fr-FR" dirty="0"/>
              <a:t> à la </a:t>
            </a:r>
            <a:r>
              <a:rPr lang="fr-FR" dirty="0" err="1"/>
              <a:t>Judd</a:t>
            </a:r>
            <a:r>
              <a:rPr lang="fr-FR" dirty="0"/>
              <a:t> avec toilette péritonéale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79290974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4BEA36-9333-6E5C-E6D1-3DB57885A5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1E9317-808A-F9E5-5313-7D108121D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3673"/>
            <a:ext cx="10515600" cy="519329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/>
              <a:t>Question  4 :</a:t>
            </a:r>
          </a:p>
          <a:p>
            <a:pPr marL="0" indent="0">
              <a:buNone/>
            </a:pPr>
            <a:r>
              <a:rPr lang="fr-FR" dirty="0"/>
              <a:t>	Le traitement chirurgical de référence de l’ulcère duodénal perforé consiste en :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A/ Une bi vagotomie avec suture de la perforation et toilette péritonéale </a:t>
            </a:r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B/ Une suture de la perforation avec toilette péritonéale par voie coelioscopique  </a:t>
            </a:r>
          </a:p>
          <a:p>
            <a:pPr marL="0" indent="0">
              <a:buNone/>
            </a:pPr>
            <a:r>
              <a:rPr lang="fr-FR" dirty="0"/>
              <a:t>C/ Une anastomose gastro-jéjunale avec toilette péritonéale</a:t>
            </a:r>
          </a:p>
          <a:p>
            <a:pPr marL="0" indent="0">
              <a:buNone/>
            </a:pPr>
            <a:r>
              <a:rPr lang="fr-FR" dirty="0"/>
              <a:t>D/ Une antrectomie avec anastomose gastro-jéjunale et toilette péritonéale</a:t>
            </a:r>
          </a:p>
          <a:p>
            <a:pPr marL="0" indent="0">
              <a:buNone/>
            </a:pPr>
            <a:r>
              <a:rPr lang="fr-FR" dirty="0"/>
              <a:t>E/ Une </a:t>
            </a:r>
            <a:r>
              <a:rPr lang="fr-FR" dirty="0" err="1"/>
              <a:t>pyloroplastie</a:t>
            </a:r>
            <a:r>
              <a:rPr lang="fr-FR" dirty="0"/>
              <a:t> à la </a:t>
            </a:r>
            <a:r>
              <a:rPr lang="fr-FR" dirty="0" err="1"/>
              <a:t>Judd</a:t>
            </a:r>
            <a:r>
              <a:rPr lang="fr-FR" dirty="0"/>
              <a:t> avec toilette péritonéale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13680585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341E3-F5DC-BF61-355E-2CC8F5EE1C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69711"/>
          </a:xfrm>
          <a:ln>
            <a:solidFill>
              <a:schemeClr val="tx1"/>
            </a:solidFill>
          </a:ln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Objectif 7 : Traitement chirurgical de l’ulcère duodénal perforé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3ED7AC-7A17-4F44-7338-E9893D5E9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87236"/>
            <a:ext cx="10515600" cy="4389727"/>
          </a:xfrm>
          <a:ln>
            <a:solidFill>
              <a:schemeClr val="tx1"/>
            </a:solidFill>
          </a:ln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fr-FR" dirty="0"/>
              <a:t> Chirurgie + réanimation péri-opératoire</a:t>
            </a:r>
          </a:p>
          <a:p>
            <a:pPr marL="0" indent="0">
              <a:buNone/>
            </a:pPr>
            <a:endParaRPr lang="fr-FR" dirty="0"/>
          </a:p>
          <a:p>
            <a:pPr>
              <a:buFont typeface="Wingdings" panose="05000000000000000000" pitchFamily="2" charset="2"/>
              <a:buChar char="q"/>
            </a:pPr>
            <a:r>
              <a:rPr lang="fr-FR" dirty="0"/>
              <a:t> </a:t>
            </a:r>
            <a:r>
              <a:rPr lang="fr-FR" b="1" dirty="0"/>
              <a:t>TTT de référence : Voie coelioscopique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 </a:t>
            </a:r>
            <a:r>
              <a:rPr lang="fr-FR" b="1" dirty="0">
                <a:solidFill>
                  <a:srgbClr val="FF0000"/>
                </a:solidFill>
              </a:rPr>
              <a:t>Suture simple </a:t>
            </a:r>
            <a:r>
              <a:rPr lang="fr-FR" dirty="0"/>
              <a:t>de la perforation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 </a:t>
            </a:r>
            <a:r>
              <a:rPr lang="fr-FR" b="1" dirty="0">
                <a:solidFill>
                  <a:srgbClr val="FF0000"/>
                </a:solidFill>
              </a:rPr>
              <a:t>Toilette péritonéale </a:t>
            </a:r>
            <a:r>
              <a:rPr lang="fr-FR" dirty="0"/>
              <a:t>et prélèvement bactériologique</a:t>
            </a:r>
          </a:p>
          <a:p>
            <a:pPr marL="457200" lvl="1" indent="0">
              <a:buNone/>
            </a:pPr>
            <a:endParaRPr lang="fr-FR" dirty="0"/>
          </a:p>
          <a:p>
            <a:pPr>
              <a:buFont typeface="Wingdings" panose="05000000000000000000" pitchFamily="2" charset="2"/>
              <a:buChar char="q"/>
            </a:pPr>
            <a:r>
              <a:rPr lang="fr-FR" dirty="0"/>
              <a:t> Alternative : Laparotomie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 Toilette péritonéale + plvt Bactério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 Bi vagotomie tronculaire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 Excision de la perforation + </a:t>
            </a:r>
            <a:r>
              <a:rPr lang="fr-FR" dirty="0" err="1"/>
              <a:t>pyloroplastie</a:t>
            </a:r>
            <a:r>
              <a:rPr lang="fr-FR" dirty="0"/>
              <a:t> à la Judd</a:t>
            </a:r>
          </a:p>
        </p:txBody>
      </p:sp>
    </p:spTree>
    <p:extLst>
      <p:ext uri="{BB962C8B-B14F-4D97-AF65-F5344CB8AC3E}">
        <p14:creationId xmlns:p14="http://schemas.microsoft.com/office/powerpoint/2010/main" val="1345427988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85228-B5FA-5FD5-6C92-A8461CB4D5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3782"/>
            <a:ext cx="10515600" cy="4530436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Question 5 : </a:t>
            </a:r>
          </a:p>
          <a:p>
            <a:pPr marL="0" indent="0">
              <a:buNone/>
            </a:pPr>
            <a:r>
              <a:rPr lang="fr-FR" dirty="0"/>
              <a:t>	En cas d’ulcère duodénal hémorragique, quelle (s) est (sont) parmi ces propositions l’(les) indication (s) du traitement chirurgical :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A/ Un ulcère duodénal Forrest Ia  </a:t>
            </a:r>
          </a:p>
          <a:p>
            <a:pPr marL="0" indent="0">
              <a:buNone/>
            </a:pPr>
            <a:r>
              <a:rPr lang="fr-FR" dirty="0"/>
              <a:t>B/ L’échec du traitement endoscopique </a:t>
            </a:r>
          </a:p>
          <a:p>
            <a:pPr marL="0" indent="0">
              <a:buNone/>
            </a:pPr>
            <a:r>
              <a:rPr lang="fr-FR" dirty="0"/>
              <a:t>C/ L’état de choc hémorragique</a:t>
            </a:r>
          </a:p>
          <a:p>
            <a:pPr marL="0" indent="0">
              <a:buNone/>
            </a:pPr>
            <a:r>
              <a:rPr lang="fr-FR" dirty="0"/>
              <a:t>D/ Un patient sous anti-coagulants </a:t>
            </a:r>
          </a:p>
          <a:p>
            <a:pPr marL="0" indent="0">
              <a:buNone/>
            </a:pPr>
            <a:r>
              <a:rPr lang="fr-FR" dirty="0"/>
              <a:t>E/ Un patient âgé de plus de 80 ans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26724650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60AAB0-9C36-D572-C9AD-A7EAB9E20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9FBBE5-5D66-3635-C04A-AA649B491E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63782"/>
            <a:ext cx="10515600" cy="4530436"/>
          </a:xfrm>
        </p:spPr>
        <p:txBody>
          <a:bodyPr/>
          <a:lstStyle/>
          <a:p>
            <a:pPr marL="0" indent="0">
              <a:buNone/>
            </a:pPr>
            <a:r>
              <a:rPr lang="fr-FR" dirty="0"/>
              <a:t>Question 5  : </a:t>
            </a:r>
          </a:p>
          <a:p>
            <a:pPr marL="0" indent="0">
              <a:buNone/>
            </a:pPr>
            <a:r>
              <a:rPr lang="fr-FR" dirty="0"/>
              <a:t>	En cas d’ulcère duodénal hémorragique, quelle (s) est (sont) parmi ces propositions l’(les) indication (s) du traitement chirurgical :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A/ Un ulcère duodénal Forrest Ia  </a:t>
            </a:r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B/ L’échec du traitement endoscopique </a:t>
            </a:r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C/ L’état de choc hémorragique</a:t>
            </a:r>
          </a:p>
          <a:p>
            <a:pPr marL="0" indent="0">
              <a:buNone/>
            </a:pPr>
            <a:r>
              <a:rPr lang="fr-FR" dirty="0"/>
              <a:t>D/ Un patient sous anti-coagulants </a:t>
            </a:r>
          </a:p>
          <a:p>
            <a:pPr marL="0" indent="0">
              <a:buNone/>
            </a:pPr>
            <a:r>
              <a:rPr lang="fr-FR" dirty="0"/>
              <a:t>E/ Un patient âgé de plus de 80 ans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56774308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B9258-2EC5-D9E8-EC86-774803B14C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/>
              <a:t>Question 6  : </a:t>
            </a:r>
          </a:p>
          <a:p>
            <a:pPr marL="0" indent="0">
              <a:buNone/>
            </a:pPr>
            <a:r>
              <a:rPr lang="fr-FR" dirty="0"/>
              <a:t>	Le traitement de référence en cas d’une chirurgie pour ulcère duodénal hémorragique est :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A/ L’intervention de Weinberg</a:t>
            </a:r>
          </a:p>
          <a:p>
            <a:pPr marL="0" indent="0">
              <a:buNone/>
            </a:pPr>
            <a:r>
              <a:rPr lang="fr-FR" dirty="0"/>
              <a:t>B/ La ligature de l’artère gastro-duodénale</a:t>
            </a:r>
          </a:p>
          <a:p>
            <a:pPr marL="0" indent="0">
              <a:buNone/>
            </a:pPr>
            <a:r>
              <a:rPr lang="fr-FR" dirty="0"/>
              <a:t>C/ L’injection per-opératoire d’adrénaline</a:t>
            </a:r>
          </a:p>
          <a:p>
            <a:pPr marL="0" indent="0">
              <a:buNone/>
            </a:pPr>
            <a:r>
              <a:rPr lang="fr-FR" dirty="0"/>
              <a:t>D/ L’anastomose gastro-jéjunale</a:t>
            </a:r>
          </a:p>
          <a:p>
            <a:pPr marL="0" indent="0">
              <a:buNone/>
            </a:pPr>
            <a:r>
              <a:rPr lang="fr-FR" dirty="0"/>
              <a:t>E/ La coagulation au bistouri électrique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039870658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68119-26E6-C160-35E1-713F36C89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8872C-1C94-6A8B-4DDD-B62AA26E60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/>
              <a:t>Question  6 : </a:t>
            </a:r>
          </a:p>
          <a:p>
            <a:pPr marL="0" indent="0">
              <a:buNone/>
            </a:pPr>
            <a:r>
              <a:rPr lang="fr-FR" dirty="0"/>
              <a:t>	Le traitement de référence en cas d’une chirurgie pour ulcère duodénal hémorragique est :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A/ L’intervention de Weinberg</a:t>
            </a:r>
          </a:p>
          <a:p>
            <a:pPr marL="0" indent="0">
              <a:buNone/>
            </a:pPr>
            <a:r>
              <a:rPr lang="fr-FR" dirty="0"/>
              <a:t>B/ La ligature de l’artère gastro-duodénale</a:t>
            </a:r>
          </a:p>
          <a:p>
            <a:pPr marL="0" indent="0">
              <a:buNone/>
            </a:pPr>
            <a:r>
              <a:rPr lang="fr-FR" dirty="0"/>
              <a:t>C/ L’injection per-opératoire d’adrénaline</a:t>
            </a:r>
          </a:p>
          <a:p>
            <a:pPr marL="0" indent="0">
              <a:buNone/>
            </a:pPr>
            <a:r>
              <a:rPr lang="fr-FR" dirty="0"/>
              <a:t>D/ L’anastomose gastro-jéjunale</a:t>
            </a:r>
          </a:p>
          <a:p>
            <a:pPr marL="0" indent="0">
              <a:buNone/>
            </a:pPr>
            <a:r>
              <a:rPr lang="fr-FR" dirty="0"/>
              <a:t>E/ La coagulation au bistouri électrique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37370815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4A82A-5D22-40C9-ECEA-638955698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/>
              <a:t>Question 7 :</a:t>
            </a:r>
          </a:p>
          <a:p>
            <a:pPr marL="0" indent="0">
              <a:buNone/>
            </a:pPr>
            <a:r>
              <a:rPr lang="fr-FR" dirty="0"/>
              <a:t>	L’intervention de Weinberg pour ulcère duodénal hémorragique comporte :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A/ hémostase endo-ulcéreuse</a:t>
            </a:r>
          </a:p>
          <a:p>
            <a:pPr marL="0" indent="0">
              <a:buNone/>
            </a:pPr>
            <a:r>
              <a:rPr lang="fr-FR" dirty="0"/>
              <a:t>B/ Ligature de l’artère gastro-duodénale</a:t>
            </a:r>
          </a:p>
          <a:p>
            <a:pPr marL="0" indent="0">
              <a:buNone/>
            </a:pPr>
            <a:r>
              <a:rPr lang="fr-FR" dirty="0"/>
              <a:t>C/ Bi vagotomie tronculaire</a:t>
            </a:r>
          </a:p>
          <a:p>
            <a:pPr marL="0" indent="0">
              <a:buNone/>
            </a:pPr>
            <a:r>
              <a:rPr lang="fr-FR" dirty="0"/>
              <a:t>D/ Pyloroplastie </a:t>
            </a:r>
          </a:p>
          <a:p>
            <a:pPr marL="0" indent="0">
              <a:buNone/>
            </a:pPr>
            <a:r>
              <a:rPr lang="fr-FR" dirty="0"/>
              <a:t>E/ Une antrectomie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96558269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61CE8-6E68-D196-F869-DE449936F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2CFED8-2B0C-9414-C7D1-BDB39EC964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/>
              <a:t>Question 7 :</a:t>
            </a:r>
          </a:p>
          <a:p>
            <a:pPr marL="0" indent="0">
              <a:buNone/>
            </a:pPr>
            <a:r>
              <a:rPr lang="fr-FR" dirty="0"/>
              <a:t>	L’intervention de Weinberg pour ulcère duodénal hémorragique comporte :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A/ hémostase endo-ulcéreuse</a:t>
            </a:r>
          </a:p>
          <a:p>
            <a:pPr marL="0" indent="0">
              <a:buNone/>
            </a:pPr>
            <a:r>
              <a:rPr lang="fr-FR" dirty="0"/>
              <a:t>B/ Ligature de l’artère gastro-duodénale</a:t>
            </a:r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C/ Bi vagotomie tronculaire</a:t>
            </a:r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D/ Pyloroplastie</a:t>
            </a:r>
            <a:r>
              <a:rPr lang="fr-FR" dirty="0"/>
              <a:t> </a:t>
            </a:r>
          </a:p>
          <a:p>
            <a:pPr marL="0" indent="0">
              <a:buNone/>
            </a:pPr>
            <a:r>
              <a:rPr lang="fr-FR" dirty="0"/>
              <a:t>E/ Une antrectomie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564897729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7E412-8CC5-3CC9-76C2-1BFF3F43DAD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fr-FR" dirty="0"/>
              <a:t>Objectif 7 : Traitement chirurgical de </a:t>
            </a:r>
            <a:r>
              <a:rPr lang="fr-FR" b="1" dirty="0"/>
              <a:t>l’ulcère hémorragique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12200E-0711-2BCC-C67D-9133ACC00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3291" y="2015607"/>
            <a:ext cx="7793182" cy="4292745"/>
          </a:xfrm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fr-FR" dirty="0"/>
              <a:t> </a:t>
            </a:r>
            <a:r>
              <a:rPr lang="fr-FR" b="1" dirty="0"/>
              <a:t>Les indications (10-15 %) :</a:t>
            </a:r>
          </a:p>
          <a:p>
            <a:pPr lvl="1">
              <a:buFontTx/>
              <a:buChar char="-"/>
            </a:pPr>
            <a:r>
              <a:rPr lang="fr-FR" dirty="0"/>
              <a:t>Echec du traitement médical et endoscopique</a:t>
            </a:r>
          </a:p>
          <a:p>
            <a:pPr lvl="1">
              <a:buFontTx/>
              <a:buChar char="-"/>
            </a:pPr>
            <a:r>
              <a:rPr lang="fr-FR" dirty="0"/>
              <a:t>Instabilité hémodynamique réfractaire à la réanimation 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b="1" dirty="0"/>
              <a:t>  Ulcère duodénal hémorragique :</a:t>
            </a:r>
          </a:p>
          <a:p>
            <a:pPr marL="457200" lvl="1" indent="0">
              <a:buNone/>
            </a:pPr>
            <a:r>
              <a:rPr lang="fr-FR" sz="2800" b="1" dirty="0"/>
              <a:t>   L’intervention de référence </a:t>
            </a:r>
            <a:r>
              <a:rPr lang="fr-FR" dirty="0"/>
              <a:t>: </a:t>
            </a:r>
            <a:r>
              <a:rPr lang="fr-FR" b="1" dirty="0">
                <a:solidFill>
                  <a:srgbClr val="FF0000"/>
                </a:solidFill>
              </a:rPr>
              <a:t>INTERVENTION DE WEINBERG </a:t>
            </a:r>
          </a:p>
          <a:p>
            <a:pPr marL="457200" lvl="1" indent="0">
              <a:buNone/>
            </a:pPr>
            <a:r>
              <a:rPr lang="fr-FR" b="1" dirty="0"/>
              <a:t>Antro-pyloroduodénotomie + hémostase endo-ulcéreuse + BVT + Pyloroplastie à la Mickulitz</a:t>
            </a:r>
          </a:p>
          <a:p>
            <a:pPr lvl="1">
              <a:buFont typeface="Wingdings" panose="05000000000000000000" pitchFamily="2" charset="2"/>
              <a:buChar char="q"/>
            </a:pPr>
            <a:endParaRPr lang="fr-FR" b="1" dirty="0"/>
          </a:p>
          <a:p>
            <a:pPr>
              <a:buFont typeface="Wingdings" panose="05000000000000000000" pitchFamily="2" charset="2"/>
              <a:buChar char="q"/>
            </a:pPr>
            <a:r>
              <a:rPr lang="fr-FR" b="1" dirty="0"/>
              <a:t> Ulcère gastrique :excision de l’ulcère avec suture gastrique (Ex. Anapath)</a:t>
            </a:r>
          </a:p>
          <a:p>
            <a:pPr marL="457200" lvl="1" indent="0">
              <a:buNone/>
            </a:pPr>
            <a:endParaRPr lang="fr-FR" dirty="0"/>
          </a:p>
          <a:p>
            <a:pPr>
              <a:buFont typeface="Wingdings" panose="05000000000000000000" pitchFamily="2" charset="2"/>
              <a:buChar char="q"/>
            </a:pPr>
            <a:endParaRPr lang="fr-FR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268CBAE-0100-9876-9D77-168BEFE6FAC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05" r="60602"/>
          <a:stretch/>
        </p:blipFill>
        <p:spPr>
          <a:xfrm>
            <a:off x="8657532" y="1807301"/>
            <a:ext cx="2550795" cy="235467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502D0F8-4847-3AB2-741D-590D074383B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7883"/>
          <a:stretch/>
        </p:blipFill>
        <p:spPr>
          <a:xfrm>
            <a:off x="8657532" y="4109321"/>
            <a:ext cx="2550795" cy="2354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238269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187E3B-42D8-5FFF-5448-AA47DF4B04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3055"/>
            <a:ext cx="10515600" cy="425334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/>
              <a:t>Question 8 : </a:t>
            </a:r>
          </a:p>
          <a:p>
            <a:pPr marL="0" indent="0">
              <a:buNone/>
            </a:pPr>
            <a:r>
              <a:rPr lang="fr-FR" dirty="0"/>
              <a:t>	Le traitement chirurgical de l’ulcère duodénal sténosant :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A/ Est indiqué en cas de sténose inflammatoire</a:t>
            </a:r>
          </a:p>
          <a:p>
            <a:pPr marL="0" indent="0">
              <a:buNone/>
            </a:pPr>
            <a:r>
              <a:rPr lang="fr-FR" dirty="0"/>
              <a:t>B/ Est souvent indiqué après échec d’une dilatation endoscopique</a:t>
            </a:r>
          </a:p>
          <a:p>
            <a:pPr marL="0" indent="0">
              <a:buNone/>
            </a:pPr>
            <a:r>
              <a:rPr lang="fr-FR" dirty="0"/>
              <a:t>C/ Associe généralement une bi vagotomie avec une anastomose gastro-jéjunale</a:t>
            </a:r>
          </a:p>
          <a:p>
            <a:pPr marL="0" indent="0">
              <a:buNone/>
            </a:pPr>
            <a:r>
              <a:rPr lang="fr-FR" dirty="0"/>
              <a:t>D/ Une antrectomie est indiquée en cas d’estomac dilaté et atone </a:t>
            </a:r>
          </a:p>
          <a:p>
            <a:pPr marL="0" indent="0">
              <a:buNone/>
            </a:pPr>
            <a:r>
              <a:rPr lang="fr-FR" dirty="0"/>
              <a:t>E/ Un traitement à base d’IPP est prescrit en post opératoire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010048661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4DAB4-4B09-3538-C140-3023CBD4B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3E698-CE51-0CE5-3C92-755857CC82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3055"/>
            <a:ext cx="10515600" cy="425334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/>
              <a:t>Question 8 : </a:t>
            </a:r>
          </a:p>
          <a:p>
            <a:pPr marL="0" indent="0">
              <a:buNone/>
            </a:pPr>
            <a:r>
              <a:rPr lang="fr-FR" dirty="0"/>
              <a:t>	Le traitement chirurgical de l’ulcère duodénal sténosant :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A/ Est indiqué en cas de sténose inflammatoire</a:t>
            </a:r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B/ Est souvent indiqué après échec d’une dilatation endoscopique</a:t>
            </a:r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C/ Associe généralement une bi vagotomie avec une anastomose gastro-jéjunale</a:t>
            </a:r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D/ Une antrectomie est indiquée en cas d’estomac dilaté et atone </a:t>
            </a:r>
          </a:p>
          <a:p>
            <a:pPr marL="0" indent="0">
              <a:buNone/>
            </a:pPr>
            <a:r>
              <a:rPr lang="fr-FR" dirty="0"/>
              <a:t>E/ Un traitement à base d’IPP est prescrit en post opératoire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93404301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A005D-1A0F-F7DE-1827-719D212D46B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 algn="ctr"/>
            <a:r>
              <a:rPr lang="fr-FR" dirty="0"/>
              <a:t>Objectif 7 : Traitement chirurgical de l’ulcère sténosant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D4B26-0F1B-7CB9-8B3B-7C048DA24EC8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chemeClr val="tx1"/>
            </a:solidFill>
          </a:ln>
        </p:spPr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fr-FR" dirty="0"/>
              <a:t> </a:t>
            </a:r>
            <a:r>
              <a:rPr lang="fr-FR" b="1" dirty="0"/>
              <a:t>Indications 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 Sténose fibreuse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 Echec du traitement médical et endoscopique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dirty="0"/>
              <a:t> Association à une autre complication chirurgicale (perforation ++)</a:t>
            </a:r>
          </a:p>
          <a:p>
            <a:pPr marL="457200" lvl="1" indent="0">
              <a:buNone/>
            </a:pPr>
            <a:endParaRPr lang="fr-FR" dirty="0"/>
          </a:p>
          <a:p>
            <a:pPr marL="457200" lvl="1" indent="0">
              <a:buNone/>
            </a:pPr>
            <a:r>
              <a:rPr lang="fr-FR" dirty="0"/>
              <a:t>                                                         </a:t>
            </a:r>
            <a:r>
              <a:rPr lang="fr-FR" sz="3200" b="1" dirty="0"/>
              <a:t>Geste</a:t>
            </a:r>
          </a:p>
          <a:p>
            <a:pPr marL="457200" lvl="1" indent="0">
              <a:buNone/>
            </a:pPr>
            <a:endParaRPr lang="fr-FR" sz="3200" b="1" dirty="0"/>
          </a:p>
          <a:p>
            <a:pPr marL="457200" lvl="1" indent="0">
              <a:buNone/>
            </a:pPr>
            <a:r>
              <a:rPr lang="fr-FR" sz="1800" b="1" dirty="0"/>
              <a:t>   </a:t>
            </a:r>
            <a:r>
              <a:rPr lang="fr-FR" dirty="0"/>
              <a:t>   Estomac moyennement dilaté                     Estomac très dilaté, atone :</a:t>
            </a:r>
          </a:p>
          <a:p>
            <a:pPr marL="457200" lvl="1" indent="0">
              <a:buNone/>
            </a:pPr>
            <a:r>
              <a:rPr lang="fr-FR" dirty="0"/>
              <a:t>     contractilité conservée : </a:t>
            </a:r>
            <a:r>
              <a:rPr lang="fr-FR" sz="2800" b="1" dirty="0"/>
              <a:t>GEA           </a:t>
            </a:r>
            <a:r>
              <a:rPr lang="fr-FR" b="1" dirty="0"/>
              <a:t>Antrectomie + anast. Gastro -jéjunale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E030876-95BD-A8BE-CFEF-328EE3EEB583}"/>
              </a:ext>
            </a:extLst>
          </p:cNvPr>
          <p:cNvSpPr/>
          <p:nvPr/>
        </p:nvSpPr>
        <p:spPr>
          <a:xfrm>
            <a:off x="5001490" y="3702772"/>
            <a:ext cx="1510145" cy="720436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99C4D95A-D6B2-85BB-9C62-FC1A667D7148}"/>
              </a:ext>
            </a:extLst>
          </p:cNvPr>
          <p:cNvCxnSpPr/>
          <p:nvPr/>
        </p:nvCxnSpPr>
        <p:spPr>
          <a:xfrm flipH="1">
            <a:off x="4142509" y="4243099"/>
            <a:ext cx="665018" cy="36021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18871BC-30DA-0600-8B59-79285314816E}"/>
              </a:ext>
            </a:extLst>
          </p:cNvPr>
          <p:cNvCxnSpPr/>
          <p:nvPr/>
        </p:nvCxnSpPr>
        <p:spPr>
          <a:xfrm>
            <a:off x="6549735" y="4246707"/>
            <a:ext cx="678874" cy="360218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77995904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D6631-67F9-6932-F063-C2765CEF03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214293"/>
          </a:xfrm>
        </p:spPr>
        <p:txBody>
          <a:bodyPr>
            <a:normAutofit/>
          </a:bodyPr>
          <a:lstStyle/>
          <a:p>
            <a:r>
              <a:rPr lang="fr-FR" dirty="0"/>
              <a:t>Cas clinique (QCM) 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C6F44A-BF33-C254-CB5C-51F96D3D3C85}"/>
              </a:ext>
            </a:extLst>
          </p:cNvPr>
          <p:cNvSpPr>
            <a:spLocks noGrp="1"/>
          </p:cNvSpPr>
          <p:nvPr>
            <p:ph idx="1"/>
          </p:nvPr>
        </p:nvSpPr>
        <p:spPr>
          <a:ln>
            <a:solidFill>
              <a:schemeClr val="tx1">
                <a:lumMod val="95000"/>
                <a:lumOff val="5000"/>
              </a:schemeClr>
            </a:solidFill>
          </a:ln>
        </p:spPr>
        <p:txBody>
          <a:bodyPr/>
          <a:lstStyle/>
          <a:p>
            <a:r>
              <a:rPr lang="fr-FR" dirty="0"/>
              <a:t>Mr A.S. ; 64 ans, sous AINS au long cours, consulte aux urgences pour hématémèse. </a:t>
            </a:r>
          </a:p>
          <a:p>
            <a:r>
              <a:rPr lang="fr-FR" dirty="0"/>
              <a:t>L’interrogatoire : Epigastralgies à type de crampes, sans irradiation, calmées par la prise alimentaire depuis 2 semaines avec 2 épisodes similaires l’année dernière.</a:t>
            </a:r>
          </a:p>
          <a:p>
            <a:r>
              <a:rPr lang="fr-FR" dirty="0"/>
              <a:t> A l’examen : FC : 82 bpm/min, TA=12/7.</a:t>
            </a:r>
          </a:p>
          <a:p>
            <a:r>
              <a:rPr lang="fr-FR" dirty="0"/>
              <a:t>Après avoir entamé les mesures de réanimation; FOGD : Ulcère postérieur du bulbe duodénal de 12mm de diamètre avec saignement en nappe.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197410320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9E95F-ADD9-03FB-1D6B-2EE815DD7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Cas clinique (QCM) 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26E3A-14BA-4EE4-70F2-1FC47EC055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dirty="0"/>
              <a:t>QCM 1 :</a:t>
            </a:r>
          </a:p>
          <a:p>
            <a:pPr marL="0" indent="0">
              <a:buNone/>
            </a:pPr>
            <a:r>
              <a:rPr lang="fr-FR" dirty="0"/>
              <a:t>	Selon la classification de Forrest, cet ulcère est classé :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A/ Forrest Ia</a:t>
            </a:r>
          </a:p>
          <a:p>
            <a:pPr marL="0" indent="0">
              <a:buNone/>
            </a:pPr>
            <a:r>
              <a:rPr lang="fr-FR" dirty="0"/>
              <a:t>B/ Forrest </a:t>
            </a:r>
            <a:r>
              <a:rPr lang="fr-FR" dirty="0" err="1"/>
              <a:t>Ib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C/ Forrest </a:t>
            </a:r>
            <a:r>
              <a:rPr lang="fr-FR" dirty="0" err="1"/>
              <a:t>IIa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D/ Forrest </a:t>
            </a:r>
            <a:r>
              <a:rPr lang="fr-FR" dirty="0" err="1"/>
              <a:t>IIb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E/ Forrest </a:t>
            </a:r>
            <a:r>
              <a:rPr lang="fr-FR" dirty="0" err="1"/>
              <a:t>IIc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88714051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99013-EC39-543D-1819-48D4BB07D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8246C-17CD-5C99-794D-7E9C979FFA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Cas clinique (QCM) 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478777-9F3A-F807-01DD-D9F3E63087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FR" sz="3200" dirty="0"/>
              <a:t>QCM 1 :</a:t>
            </a:r>
          </a:p>
          <a:p>
            <a:pPr marL="0" indent="0">
              <a:buNone/>
            </a:pPr>
            <a:r>
              <a:rPr lang="fr-FR" dirty="0"/>
              <a:t>	Selon la classification de Forrest, cet ulcère est classé :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A/ Forrest Ia</a:t>
            </a:r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B/ Forrest </a:t>
            </a:r>
            <a:r>
              <a:rPr lang="fr-FR" b="1" dirty="0" err="1">
                <a:solidFill>
                  <a:srgbClr val="FF0000"/>
                </a:solidFill>
              </a:rPr>
              <a:t>Ib</a:t>
            </a:r>
            <a:endParaRPr lang="fr-FR" b="1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fr-FR" dirty="0"/>
              <a:t>C/ Forrest </a:t>
            </a:r>
            <a:r>
              <a:rPr lang="fr-FR" dirty="0" err="1"/>
              <a:t>IIa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D/ Forrest </a:t>
            </a:r>
            <a:r>
              <a:rPr lang="fr-FR" dirty="0" err="1"/>
              <a:t>IIb</a:t>
            </a:r>
            <a:endParaRPr lang="fr-FR" dirty="0"/>
          </a:p>
          <a:p>
            <a:pPr marL="0" indent="0">
              <a:buNone/>
            </a:pPr>
            <a:r>
              <a:rPr lang="fr-FR" dirty="0"/>
              <a:t>E/ Forrest </a:t>
            </a:r>
            <a:r>
              <a:rPr lang="fr-FR" dirty="0" err="1"/>
              <a:t>IIc</a:t>
            </a:r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88028751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AFE478-BF83-ECFA-46EE-B9B522FF59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76242"/>
            <a:ext cx="10515600" cy="457517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sz="3500" dirty="0"/>
              <a:t>QCM 2 :</a:t>
            </a:r>
          </a:p>
          <a:p>
            <a:pPr marL="0" indent="0">
              <a:buNone/>
            </a:pPr>
            <a:r>
              <a:rPr lang="fr-FR" dirty="0"/>
              <a:t>	En plus des mesures de réanimation, quel(s) traitement (s) proposez-vous dans l’immédiat ?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A/ Un traitement par inhibiteur de la pompe à proton (IPP) par voie intra-veineuse</a:t>
            </a:r>
          </a:p>
          <a:p>
            <a:pPr marL="0" indent="0">
              <a:buNone/>
            </a:pPr>
            <a:r>
              <a:rPr lang="fr-FR" dirty="0"/>
              <a:t>B/ Un traitement par inhibiteur de la pompe à proton (IPP) par voie orale</a:t>
            </a:r>
          </a:p>
          <a:p>
            <a:pPr marL="0" indent="0">
              <a:buNone/>
            </a:pPr>
            <a:r>
              <a:rPr lang="fr-FR" dirty="0"/>
              <a:t>C/ Un traitement endoscopique de l’ulcère hémorragique par injection d’adrénaline diluée</a:t>
            </a:r>
          </a:p>
          <a:p>
            <a:pPr marL="0" indent="0">
              <a:buNone/>
            </a:pPr>
            <a:r>
              <a:rPr lang="fr-FR" dirty="0"/>
              <a:t>D/ Un traitement endoscopique de l’ulcère hémorragique par pose de clips métalliques </a:t>
            </a:r>
          </a:p>
          <a:p>
            <a:pPr marL="0" indent="0">
              <a:buNone/>
            </a:pPr>
            <a:r>
              <a:rPr lang="fr-FR" dirty="0"/>
              <a:t>E/ Un traitement radiologique de l’ulcère hémorragique par voie percutanée</a:t>
            </a:r>
          </a:p>
          <a:p>
            <a:endParaRPr lang="fr-FR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6E81FC6-ED8B-1F54-54D9-2B4A26851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018" y="250679"/>
            <a:ext cx="10515600" cy="1325563"/>
          </a:xfrm>
        </p:spPr>
        <p:txBody>
          <a:bodyPr/>
          <a:lstStyle/>
          <a:p>
            <a:r>
              <a:rPr lang="fr-FR" dirty="0"/>
              <a:t>Cas clinique (QCM) : </a:t>
            </a:r>
          </a:p>
        </p:txBody>
      </p:sp>
    </p:spTree>
    <p:extLst>
      <p:ext uri="{BB962C8B-B14F-4D97-AF65-F5344CB8AC3E}">
        <p14:creationId xmlns:p14="http://schemas.microsoft.com/office/powerpoint/2010/main" val="536090367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496132-A704-1721-53EB-93719CD67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47687-5133-2D29-6262-73136FD6A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56351"/>
            <a:ext cx="10515600" cy="457517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dirty="0"/>
              <a:t>QCM 2 :</a:t>
            </a:r>
          </a:p>
          <a:p>
            <a:pPr marL="0" indent="0">
              <a:buNone/>
            </a:pPr>
            <a:r>
              <a:rPr lang="fr-FR" dirty="0"/>
              <a:t>	En plus des mesures de réanimation, quel(s) traitement (s) proposez-vous dans l’immédiat ?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A/ Un traitement par inhibiteur de la pompe à proton (IPP) par voie intra-veineuse</a:t>
            </a:r>
          </a:p>
          <a:p>
            <a:pPr marL="0" indent="0">
              <a:buNone/>
            </a:pPr>
            <a:r>
              <a:rPr lang="fr-FR" dirty="0"/>
              <a:t>B/ Un traitement par inhibiteur de la pompe à proton (IPP) par voie orale</a:t>
            </a:r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C/ Un traitement endoscopique de l’ulcère hémorragique par injection d’adrénaline diluée</a:t>
            </a:r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D/ Un traitement endoscopique de l’ulcère hémorragique par pose de clips métalliques </a:t>
            </a:r>
          </a:p>
          <a:p>
            <a:pPr marL="0" indent="0">
              <a:buNone/>
            </a:pPr>
            <a:r>
              <a:rPr lang="fr-FR" dirty="0"/>
              <a:t>E/ Un traitement radiologique de l’ulcère hémorragique par voie percutanée</a:t>
            </a:r>
          </a:p>
          <a:p>
            <a:endParaRPr lang="fr-FR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7F5FBDB-3F62-17E7-B328-C45E45831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6018" y="250679"/>
            <a:ext cx="10515600" cy="1325563"/>
          </a:xfrm>
        </p:spPr>
        <p:txBody>
          <a:bodyPr/>
          <a:lstStyle/>
          <a:p>
            <a:r>
              <a:rPr lang="fr-FR" dirty="0"/>
              <a:t>Cas clinique (QCM) : </a:t>
            </a:r>
          </a:p>
        </p:txBody>
      </p:sp>
    </p:spTree>
    <p:extLst>
      <p:ext uri="{BB962C8B-B14F-4D97-AF65-F5344CB8AC3E}">
        <p14:creationId xmlns:p14="http://schemas.microsoft.com/office/powerpoint/2010/main" val="165068497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9A229-7067-0432-BF02-9C9BE1A86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Cas clinique (QCM) 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6CE83-41AC-9C99-F722-6E57F5921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/>
              <a:t>QCM 3 : </a:t>
            </a:r>
          </a:p>
          <a:p>
            <a:pPr marL="0" indent="0">
              <a:buNone/>
            </a:pPr>
            <a:r>
              <a:rPr lang="fr-FR" dirty="0"/>
              <a:t>	Le(s) facteur(s) de risque de récidive hémorragique chez ce patient est (sont) :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A/ L’âge du patient </a:t>
            </a:r>
          </a:p>
          <a:p>
            <a:pPr marL="0" indent="0">
              <a:buNone/>
            </a:pPr>
            <a:r>
              <a:rPr lang="fr-FR" dirty="0"/>
              <a:t>B/ La présence d’un saignement actif à l’endoscopie</a:t>
            </a:r>
          </a:p>
          <a:p>
            <a:pPr marL="0" indent="0">
              <a:buNone/>
            </a:pPr>
            <a:r>
              <a:rPr lang="fr-FR" dirty="0"/>
              <a:t>C/ La taille de l’ulcère </a:t>
            </a:r>
          </a:p>
          <a:p>
            <a:pPr marL="0" indent="0">
              <a:buNone/>
            </a:pPr>
            <a:r>
              <a:rPr lang="fr-FR" dirty="0"/>
              <a:t>D/ Les antécédents de prise d’AINS</a:t>
            </a:r>
          </a:p>
          <a:p>
            <a:pPr marL="0" indent="0">
              <a:buNone/>
            </a:pPr>
            <a:r>
              <a:rPr lang="fr-FR" dirty="0"/>
              <a:t>E/ Le siège postérieur de l’ulcère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39135230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8E4DAB-81F7-E48B-93D8-6B911DFD5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BD851-C5FE-0671-FDC9-A5595BFE1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Cas clinique (QCM) 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CA139-C233-7AF9-C60E-7B6D687C22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FR" dirty="0"/>
              <a:t>QCM 3 : </a:t>
            </a:r>
          </a:p>
          <a:p>
            <a:pPr marL="0" indent="0">
              <a:buNone/>
            </a:pPr>
            <a:r>
              <a:rPr lang="fr-FR" dirty="0"/>
              <a:t>	Le(s) facteur(s) de risque de récidive hémorragique chez ce patient est (sont) : 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A/ L’âge du patient </a:t>
            </a:r>
          </a:p>
          <a:p>
            <a:pPr marL="0" indent="0">
              <a:buNone/>
            </a:pPr>
            <a:r>
              <a:rPr lang="fr-FR" dirty="0"/>
              <a:t>B/ La présence d’un saignement actif à l’endoscopie</a:t>
            </a:r>
          </a:p>
          <a:p>
            <a:pPr marL="0" indent="0">
              <a:buNone/>
            </a:pPr>
            <a:r>
              <a:rPr lang="fr-FR" dirty="0"/>
              <a:t>C/ La taille de l’ulcère </a:t>
            </a:r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D/ Les antécédents de prise d’AINS</a:t>
            </a:r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E/ Le siège postérieur de l’ulcère 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94096288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30842-AE35-E47F-9CEC-1DCEE2D6A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2725"/>
            <a:ext cx="10515600" cy="1158875"/>
          </a:xfrm>
        </p:spPr>
        <p:txBody>
          <a:bodyPr/>
          <a:lstStyle/>
          <a:p>
            <a:r>
              <a:rPr lang="fr-FR" dirty="0"/>
              <a:t>Cas clinique (QCM) 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45322B-4692-F304-0FC9-6E9AE20967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45515"/>
            <a:ext cx="10515600" cy="4713721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fr-FR" dirty="0"/>
              <a:t>L’évolution initiale après le traitement proposé était favorable. </a:t>
            </a:r>
          </a:p>
          <a:p>
            <a:pPr marL="0" indent="0">
              <a:buNone/>
            </a:pPr>
            <a:r>
              <a:rPr lang="fr-FR" dirty="0"/>
              <a:t>Le lendemain : une récidive de l’hématémèse</a:t>
            </a:r>
          </a:p>
          <a:p>
            <a:pPr marL="0" indent="0">
              <a:buNone/>
            </a:pPr>
            <a:r>
              <a:rPr lang="fr-FR" dirty="0"/>
              <a:t>A l’examen : FC : 120 bpm ; TA : 8/5 avec chute de l’</a:t>
            </a:r>
            <a:r>
              <a:rPr lang="fr-FR" dirty="0" err="1"/>
              <a:t>Hb</a:t>
            </a:r>
            <a:r>
              <a:rPr lang="fr-FR" dirty="0"/>
              <a:t> à 8 g/dl (était à 10,3 g/dl)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QCM 4 : </a:t>
            </a:r>
          </a:p>
          <a:p>
            <a:pPr marL="0" indent="0">
              <a:buNone/>
            </a:pPr>
            <a:r>
              <a:rPr lang="fr-FR" dirty="0"/>
              <a:t>  Quel(s) traitement (s) proposez-vous ?</a:t>
            </a:r>
          </a:p>
          <a:p>
            <a:pPr marL="0" indent="0">
              <a:buNone/>
            </a:pPr>
            <a:r>
              <a:rPr lang="fr-FR" dirty="0"/>
              <a:t>A/ Une deuxième tentative de traitement endoscopique</a:t>
            </a:r>
          </a:p>
          <a:p>
            <a:pPr marL="0" indent="0">
              <a:buNone/>
            </a:pPr>
            <a:r>
              <a:rPr lang="fr-FR" dirty="0"/>
              <a:t>B/ Une transfusion de culots globulaires</a:t>
            </a:r>
          </a:p>
          <a:p>
            <a:pPr marL="0" indent="0">
              <a:buNone/>
            </a:pPr>
            <a:r>
              <a:rPr lang="fr-FR" dirty="0"/>
              <a:t>C/ Un transfert en milieu de réanimation en attente d’un geste urgent d’hémostase</a:t>
            </a:r>
          </a:p>
          <a:p>
            <a:pPr marL="0" indent="0">
              <a:buNone/>
            </a:pPr>
            <a:r>
              <a:rPr lang="fr-FR" dirty="0"/>
              <a:t>D/ Une hémostase radiologique par voie percutanée</a:t>
            </a:r>
          </a:p>
          <a:p>
            <a:pPr marL="0" indent="0">
              <a:buNone/>
            </a:pPr>
            <a:r>
              <a:rPr lang="fr-FR" dirty="0"/>
              <a:t>E/ Une hémostase chirurgicale en urgence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956979043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45226C-3F16-5BFC-8AD1-9430D26C0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D68F3-B15E-F580-3DCE-9259349A1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3241"/>
            <a:ext cx="10515600" cy="1158875"/>
          </a:xfrm>
        </p:spPr>
        <p:txBody>
          <a:bodyPr/>
          <a:lstStyle/>
          <a:p>
            <a:r>
              <a:rPr lang="fr-FR" dirty="0"/>
              <a:t>Cas clinique (QCM) :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74C1E-7599-1EE2-6C24-9347A6E044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3455" y="1454727"/>
            <a:ext cx="10945090" cy="471372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fr-FR" dirty="0"/>
              <a:t>L’évolution initiale après le traitement proposé était favorable. </a:t>
            </a:r>
          </a:p>
          <a:p>
            <a:pPr marL="0" indent="0">
              <a:buNone/>
            </a:pPr>
            <a:r>
              <a:rPr lang="fr-FR" dirty="0"/>
              <a:t>Le lendemain : une récidive de l’hématémèse</a:t>
            </a:r>
          </a:p>
          <a:p>
            <a:pPr marL="0" indent="0">
              <a:buNone/>
            </a:pPr>
            <a:r>
              <a:rPr lang="fr-FR" dirty="0"/>
              <a:t>A l’examen : FC : 120 bpm ; TA : 8/5 avec chute de l’</a:t>
            </a:r>
            <a:r>
              <a:rPr lang="fr-FR" dirty="0" err="1"/>
              <a:t>Hb</a:t>
            </a:r>
            <a:r>
              <a:rPr lang="fr-FR" dirty="0"/>
              <a:t> à 8 g/dl (était à 10,3 g/dl)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QCM 4 : </a:t>
            </a:r>
          </a:p>
          <a:p>
            <a:pPr marL="0" indent="0">
              <a:buNone/>
            </a:pPr>
            <a:r>
              <a:rPr lang="fr-FR" dirty="0"/>
              <a:t>  Quel(s) traitement (s) proposez-vous ?</a:t>
            </a:r>
          </a:p>
          <a:p>
            <a:pPr marL="0" indent="0">
              <a:buNone/>
            </a:pPr>
            <a:r>
              <a:rPr lang="fr-FR" dirty="0"/>
              <a:t>A/ Une deuxième tentative de traitement endoscopique</a:t>
            </a:r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B/ Une transfusion de culots globulaires</a:t>
            </a:r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C/ Un transfert en milieu de réanimation en attente d’un geste urgent d’hémostase</a:t>
            </a:r>
          </a:p>
          <a:p>
            <a:pPr marL="0" indent="0">
              <a:buNone/>
            </a:pPr>
            <a:r>
              <a:rPr lang="fr-FR" dirty="0"/>
              <a:t>D/ Une hémostase radiologique par voie percutanée</a:t>
            </a:r>
          </a:p>
          <a:p>
            <a:pPr marL="0" indent="0">
              <a:buNone/>
            </a:pPr>
            <a:r>
              <a:rPr lang="fr-FR" b="1" dirty="0">
                <a:solidFill>
                  <a:srgbClr val="FF0000"/>
                </a:solidFill>
              </a:rPr>
              <a:t>E/ Une hémostase chirurgicale en urgence</a:t>
            </a:r>
          </a:p>
          <a:p>
            <a:pPr marL="0" indent="0">
              <a:buNone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102091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1565</TotalTime>
  <Words>7960</Words>
  <Application>Microsoft Office PowerPoint</Application>
  <PresentationFormat>Grand écran</PresentationFormat>
  <Paragraphs>1087</Paragraphs>
  <Slides>149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149</vt:i4>
      </vt:variant>
    </vt:vector>
  </HeadingPairs>
  <TitlesOfParts>
    <vt:vector size="155" baseType="lpstr">
      <vt:lpstr>Arial</vt:lpstr>
      <vt:lpstr>Calibri</vt:lpstr>
      <vt:lpstr>Calibri Light</vt:lpstr>
      <vt:lpstr>Times New Roman</vt:lpstr>
      <vt:lpstr>Wingdings</vt:lpstr>
      <vt:lpstr>Office Theme</vt:lpstr>
      <vt:lpstr> Sujet : 74 L’ulcère gastrique et duodénal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 Objectif 6 : Reconnaître les formes compliquées de la maladie ulcéreuse gastrique et duodénale à partir des données cliniques et para cliniques.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Formes compliquées : Ulcère duodénal perforé</vt:lpstr>
      <vt:lpstr>Formes compliquées : Ulcère duodénal perforé</vt:lpstr>
      <vt:lpstr>Formes compliquées : Ulcère duodénal perforé</vt:lpstr>
      <vt:lpstr>Objectif 7 : Planifier la prise en charge thérapeutique de la maladie ulcéreuse gastrique et duodénale, dans ses différentes formes.</vt:lpstr>
      <vt:lpstr>Présentation PowerPoint</vt:lpstr>
      <vt:lpstr>Présentation PowerPoint</vt:lpstr>
      <vt:lpstr>Objectif 7 : Traitement chirurgical de l’ulcère duodénal perforé 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Objectif 7 : Traitement chirurgical de l’ulcère hémorragique </vt:lpstr>
      <vt:lpstr>Présentation PowerPoint</vt:lpstr>
      <vt:lpstr>Présentation PowerPoint</vt:lpstr>
      <vt:lpstr>Objectif 7 : Traitement chirurgical de l’ulcère sténosant </vt:lpstr>
      <vt:lpstr>Cas clinique (QCM) : </vt:lpstr>
      <vt:lpstr>Cas clinique (QCM) : </vt:lpstr>
      <vt:lpstr>Cas clinique (QCM) : </vt:lpstr>
      <vt:lpstr>Cas clinique (QCM) : </vt:lpstr>
      <vt:lpstr>Cas clinique (QCM) : </vt:lpstr>
      <vt:lpstr>Cas clinique (QCM) : </vt:lpstr>
      <vt:lpstr>Cas clinique (QCM) : </vt:lpstr>
      <vt:lpstr>Cas clinique (QCM) : </vt:lpstr>
      <vt:lpstr>Cas clinique (QCM) 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Cours de Résidanat Sujet : 74 L’ulcère gastrique et duodénal Formes chirurgicales</dc:title>
  <dc:creator>Administrator</dc:creator>
  <cp:lastModifiedBy>DELL</cp:lastModifiedBy>
  <cp:revision>64</cp:revision>
  <dcterms:created xsi:type="dcterms:W3CDTF">2023-08-01T17:15:22Z</dcterms:created>
  <dcterms:modified xsi:type="dcterms:W3CDTF">2025-08-20T12:34:39Z</dcterms:modified>
</cp:coreProperties>
</file>
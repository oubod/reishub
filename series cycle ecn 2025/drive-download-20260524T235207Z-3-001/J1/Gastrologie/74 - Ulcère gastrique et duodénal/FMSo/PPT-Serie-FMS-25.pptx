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3" r:id="rId3"/>
    <p:sldId id="291" r:id="rId4"/>
    <p:sldId id="293" r:id="rId5"/>
    <p:sldId id="292" r:id="rId6"/>
    <p:sldId id="294" r:id="rId7"/>
    <p:sldId id="394" r:id="rId8"/>
    <p:sldId id="295" r:id="rId9"/>
    <p:sldId id="296" r:id="rId10"/>
    <p:sldId id="297" r:id="rId11"/>
    <p:sldId id="298" r:id="rId12"/>
    <p:sldId id="395" r:id="rId13"/>
    <p:sldId id="300" r:id="rId14"/>
    <p:sldId id="299" r:id="rId15"/>
    <p:sldId id="301" r:id="rId16"/>
    <p:sldId id="302" r:id="rId17"/>
    <p:sldId id="396" r:id="rId18"/>
    <p:sldId id="399" r:id="rId19"/>
    <p:sldId id="303" r:id="rId20"/>
    <p:sldId id="304" r:id="rId21"/>
    <p:sldId id="305" r:id="rId22"/>
    <p:sldId id="306" r:id="rId23"/>
    <p:sldId id="400" r:id="rId24"/>
    <p:sldId id="397" r:id="rId25"/>
    <p:sldId id="307" r:id="rId26"/>
    <p:sldId id="309" r:id="rId27"/>
    <p:sldId id="308" r:id="rId28"/>
    <p:sldId id="398" r:id="rId29"/>
    <p:sldId id="401" r:id="rId30"/>
    <p:sldId id="310" r:id="rId31"/>
    <p:sldId id="311" r:id="rId32"/>
    <p:sldId id="312" r:id="rId33"/>
    <p:sldId id="317" r:id="rId34"/>
    <p:sldId id="313" r:id="rId35"/>
    <p:sldId id="318" r:id="rId36"/>
    <p:sldId id="403" r:id="rId37"/>
    <p:sldId id="314" r:id="rId38"/>
    <p:sldId id="319" r:id="rId39"/>
    <p:sldId id="315" r:id="rId40"/>
    <p:sldId id="320" r:id="rId41"/>
    <p:sldId id="316" r:id="rId42"/>
    <p:sldId id="321" r:id="rId43"/>
    <p:sldId id="404" r:id="rId44"/>
    <p:sldId id="326" r:id="rId45"/>
    <p:sldId id="325" r:id="rId46"/>
    <p:sldId id="405" r:id="rId47"/>
    <p:sldId id="406" r:id="rId48"/>
    <p:sldId id="322" r:id="rId49"/>
    <p:sldId id="327" r:id="rId50"/>
    <p:sldId id="323" r:id="rId51"/>
    <p:sldId id="328" r:id="rId52"/>
    <p:sldId id="324" r:id="rId53"/>
    <p:sldId id="329" r:id="rId54"/>
    <p:sldId id="330" r:id="rId55"/>
    <p:sldId id="334" r:id="rId56"/>
    <p:sldId id="331" r:id="rId57"/>
    <p:sldId id="335" r:id="rId58"/>
    <p:sldId id="332" r:id="rId59"/>
    <p:sldId id="336" r:id="rId60"/>
    <p:sldId id="333" r:id="rId61"/>
    <p:sldId id="337" r:id="rId62"/>
    <p:sldId id="341" r:id="rId63"/>
    <p:sldId id="342" r:id="rId64"/>
    <p:sldId id="338" r:id="rId65"/>
    <p:sldId id="343" r:id="rId66"/>
    <p:sldId id="339" r:id="rId67"/>
    <p:sldId id="344" r:id="rId68"/>
    <p:sldId id="340" r:id="rId69"/>
    <p:sldId id="345" r:id="rId70"/>
    <p:sldId id="346" r:id="rId71"/>
    <p:sldId id="353" r:id="rId72"/>
    <p:sldId id="347" r:id="rId73"/>
    <p:sldId id="354" r:id="rId74"/>
    <p:sldId id="348" r:id="rId75"/>
    <p:sldId id="355" r:id="rId76"/>
    <p:sldId id="349" r:id="rId77"/>
    <p:sldId id="356" r:id="rId78"/>
    <p:sldId id="357" r:id="rId79"/>
    <p:sldId id="350" r:id="rId80"/>
    <p:sldId id="351" r:id="rId81"/>
    <p:sldId id="358" r:id="rId82"/>
    <p:sldId id="352" r:id="rId83"/>
    <p:sldId id="359" r:id="rId84"/>
    <p:sldId id="360" r:id="rId85"/>
    <p:sldId id="366" r:id="rId86"/>
    <p:sldId id="361" r:id="rId87"/>
    <p:sldId id="362" r:id="rId88"/>
    <p:sldId id="367" r:id="rId89"/>
    <p:sldId id="368" r:id="rId90"/>
    <p:sldId id="363" r:id="rId91"/>
    <p:sldId id="364" r:id="rId92"/>
    <p:sldId id="369" r:id="rId93"/>
    <p:sldId id="365" r:id="rId94"/>
    <p:sldId id="373" r:id="rId95"/>
    <p:sldId id="370" r:id="rId96"/>
    <p:sldId id="371" r:id="rId97"/>
    <p:sldId id="374" r:id="rId98"/>
    <p:sldId id="372" r:id="rId99"/>
    <p:sldId id="375" r:id="rId100"/>
    <p:sldId id="378" r:id="rId101"/>
    <p:sldId id="379" r:id="rId102"/>
    <p:sldId id="380" r:id="rId103"/>
    <p:sldId id="376" r:id="rId104"/>
    <p:sldId id="381" r:id="rId105"/>
    <p:sldId id="382" r:id="rId106"/>
    <p:sldId id="383" r:id="rId107"/>
    <p:sldId id="377" r:id="rId108"/>
    <p:sldId id="387" r:id="rId109"/>
    <p:sldId id="386" r:id="rId110"/>
    <p:sldId id="384" r:id="rId111"/>
    <p:sldId id="388" r:id="rId112"/>
    <p:sldId id="385" r:id="rId113"/>
    <p:sldId id="389" r:id="rId114"/>
    <p:sldId id="391" r:id="rId115"/>
    <p:sldId id="390" r:id="rId116"/>
    <p:sldId id="392" r:id="rId117"/>
    <p:sldId id="257" r:id="rId118"/>
    <p:sldId id="265" r:id="rId119"/>
    <p:sldId id="266" r:id="rId120"/>
    <p:sldId id="278" r:id="rId121"/>
    <p:sldId id="279" r:id="rId122"/>
    <p:sldId id="280" r:id="rId123"/>
    <p:sldId id="281" r:id="rId124"/>
    <p:sldId id="258" r:id="rId125"/>
    <p:sldId id="259" r:id="rId126"/>
    <p:sldId id="260" r:id="rId127"/>
    <p:sldId id="261" r:id="rId128"/>
    <p:sldId id="267" r:id="rId129"/>
    <p:sldId id="268" r:id="rId130"/>
    <p:sldId id="263" r:id="rId131"/>
    <p:sldId id="269" r:id="rId132"/>
    <p:sldId id="270" r:id="rId133"/>
    <p:sldId id="271" r:id="rId134"/>
    <p:sldId id="272" r:id="rId135"/>
    <p:sldId id="273" r:id="rId136"/>
    <p:sldId id="274" r:id="rId137"/>
    <p:sldId id="262" r:id="rId138"/>
    <p:sldId id="275" r:id="rId139"/>
    <p:sldId id="276" r:id="rId140"/>
    <p:sldId id="264" r:id="rId141"/>
    <p:sldId id="277" r:id="rId142"/>
    <p:sldId id="282" r:id="rId143"/>
    <p:sldId id="283" r:id="rId144"/>
    <p:sldId id="284" r:id="rId145"/>
    <p:sldId id="285" r:id="rId146"/>
    <p:sldId id="286" r:id="rId147"/>
    <p:sldId id="287" r:id="rId148"/>
    <p:sldId id="288" r:id="rId149"/>
    <p:sldId id="289" r:id="rId1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2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commentAuthors" Target="comment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8-20T02:59:47.180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2E9C-68AE-258F-E23A-27ACB45A1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62F09-58AA-5078-1C01-B2174B25E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33D0D-276C-29A1-FDE0-A6EA1B71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B2F53-7A10-9575-6526-8DE17272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5ED60-9848-CAF9-F51F-2B45DCED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00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43E4-9E33-7EA0-B26A-E8CA62F0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CCBC-B616-89C2-0952-27B075546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6FED1-F9DB-48BE-84A4-67E69025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33A93-23CB-ED95-FF46-23B4515B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0B07A-075E-91B8-87ED-6BA2030F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35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40E3-5223-8156-3920-2B952FB5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CF26F-868F-66B6-BAA2-945DB8426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D17A7-8DF9-D5B7-1E19-FD2BAFA9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67BD0-6F32-8C65-0723-0AFA913C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AADD-E122-C708-BA59-8D4E1F6F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37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74F2-3A97-13B0-5ED2-9625EC84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46600-CA84-9091-CF80-E19465FFD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39F83-67CE-F7C7-1DFD-1DEB63458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58B9C-23FD-51E1-EEC4-181C5F40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CB6B8-8429-BA6D-3F88-ABD8B7A1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65EE7-7C09-EB8D-E32B-11D82043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65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A22F-AF00-6DBB-9F61-C732E366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51DE-B945-6ACE-5BD5-D39DF6BDA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E2AD8-68A9-FA1D-9F0A-C427E9116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7AD83-686D-75D6-B683-07CFD5774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D36F7-7460-AB37-8D20-260BBEE32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2C212-33D6-CE7F-3D62-661F1F0B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E89B3-D580-03B3-D9F2-5A87D70B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E0775-B2C6-52C0-D652-8159B39F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78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DCB0-EE4A-36A7-D8C2-81082D5F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A92A0-00E2-DDBB-18F5-6392AA61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69C23-CEA2-04C0-0FF6-FA5459E1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1FB74-D5F2-C7D2-20C5-67A43874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4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5212A-EE0A-121F-9940-EC1B7AF4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6DF0A-DAC0-9AF7-6090-D1865BC2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BFF00-2FB9-4B4F-D67C-E41ECEC2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905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8BD5-3365-EEEE-AA34-9F9E7CC9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E286E-6E05-88BA-67A7-87869D16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8DFB7-D0C0-46D6-1FA1-E6E595C4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8FBCC-E855-1030-43F4-757DBCE9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09A4F-5C13-CD0A-824A-D9A34FBD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54B63-5D4C-F6E9-8CD0-EBE84180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00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B18E-CAEC-209A-F364-47E21760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D2CC4-3602-321E-D09A-8683D0E65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C679C-3FF5-7256-5B89-C67EB299A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05F13-5A97-2335-C1A5-A559225F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45CD3-E4E9-0BE0-462D-196E67EE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6D22-C7A7-AF80-C4B1-A9E72BEA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97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622D-80CC-56DA-568D-BBC81C8F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BC791-F3BE-0536-49AF-038DEA1D9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CE7A7-ABF7-EF2B-5570-16EF79A1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1C883-4799-0CB3-D56D-FDD98CF7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CDEA-6E53-CA0D-23A1-88CEA5CA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5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B42A4-9060-22FE-213C-FFF2B437F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47147-54DD-6AD5-E5B3-BCE5BFD2A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EB39-1F99-B6D2-F636-6733D069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51FAA-B178-21FC-EE47-600D1B31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41BD9-8BB1-6EFA-003F-F335CBB9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81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99844-672E-11E5-FC41-E6141E0DA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951F2-0744-302F-F6A8-93926371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43FB0-8D38-7EAE-5CEF-7E077D927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23086-3623-4AF3-BDDC-6C05B549A5D8}" type="datetimeFigureOut">
              <a:rPr lang="fr-FR" smtClean="0"/>
              <a:t>27/08/2025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9649D-F68C-9DED-8EC8-F4F1BE0D8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90BA-11D6-426E-EB94-8D3B5BF2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85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8C57-CFF2-CA19-8A47-0802054EF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149" y="2555832"/>
            <a:ext cx="7797949" cy="1953416"/>
          </a:xfrm>
          <a:ln>
            <a:noFill/>
          </a:ln>
        </p:spPr>
        <p:txBody>
          <a:bodyPr>
            <a:noAutofit/>
          </a:bodyPr>
          <a:lstStyle/>
          <a:p>
            <a:br>
              <a:rPr lang="fr-FR" sz="4800" dirty="0"/>
            </a:b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Sujet : 74</a:t>
            </a:r>
            <a:b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L’ulcère gastrique et duodénal</a:t>
            </a:r>
            <a:b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AE9BE-240E-32BD-D5DB-632623DC2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8746" y="5254804"/>
            <a:ext cx="4655127" cy="1330180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Pr. Ben Slama A.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Hassine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Ben Latifa 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FD876-6546-C425-6FBC-E4D6E786D8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63" r="8766" b="86667"/>
          <a:stretch/>
        </p:blipFill>
        <p:spPr>
          <a:xfrm>
            <a:off x="10238509" y="430964"/>
            <a:ext cx="1371599" cy="1708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DF5F90-97FE-7188-5354-FA50CF79B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2" y="430964"/>
            <a:ext cx="1763846" cy="21248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93B486C-8811-B80C-CCE3-1C6D81EB76E4}"/>
              </a:ext>
            </a:extLst>
          </p:cNvPr>
          <p:cNvSpPr txBox="1"/>
          <p:nvPr/>
        </p:nvSpPr>
        <p:spPr>
          <a:xfrm>
            <a:off x="3039035" y="295835"/>
            <a:ext cx="6544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de préparation au concours de résidanat 2025</a:t>
            </a:r>
          </a:p>
        </p:txBody>
      </p:sp>
    </p:spTree>
    <p:extLst>
      <p:ext uri="{BB962C8B-B14F-4D97-AF65-F5344CB8AC3E}">
        <p14:creationId xmlns:p14="http://schemas.microsoft.com/office/powerpoint/2010/main" val="350906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3DD6E1-F81F-0953-0049-75A72E74C539}"/>
              </a:ext>
            </a:extLst>
          </p:cNvPr>
          <p:cNvSpPr/>
          <p:nvPr/>
        </p:nvSpPr>
        <p:spPr>
          <a:xfrm>
            <a:off x="1658470" y="1535953"/>
            <a:ext cx="8875059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: </a:t>
            </a:r>
            <a:r>
              <a:rPr lang="fr-FR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Décrire les lésions anatomopathologiques de l’ulcère gastrique et duodénal, et les lésions associées. </a:t>
            </a:r>
          </a:p>
        </p:txBody>
      </p:sp>
    </p:spTree>
    <p:extLst>
      <p:ext uri="{BB962C8B-B14F-4D97-AF65-F5344CB8AC3E}">
        <p14:creationId xmlns:p14="http://schemas.microsoft.com/office/powerpoint/2010/main" val="90418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97C9E-9D0D-5396-DB1C-FBB92696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L'ulcère gastroduodénal (UGD) est une maladie définie anatomiquement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Une perte de substance pariétale ne dépassant pas la sous-muqueuse.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Une perte de substance interrompant la muqueuse, la sous-muqueuse, et la musculeuse.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Un fond tapissé par de la fibrine.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Absence d'altération vasculaire.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Une muqueuse péri-ulcéreuse œdémateuse, remaniée.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37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2BC0-D261-4426-F930-140F28E5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959920-596D-893D-BE6C-66129DF5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L'ulcère gastroduodénal (UGD) est une maladie définie anatomiquement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Une perte de substance pariétale ne dépassant pas la sous-muqueuse.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perte de substance interrompant la muqueuse, la sous-muqueuse, et la musculeuse.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 fond tapissé par de la fibrine.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Absence d'altération vasculaire.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muqueuse péri-ulcéreuse œdémateuse, remaniée.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097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F9DD0-6EA6-B53A-8B73-DBEECE5C4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459" y="1063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L'ulcère gastroduodénal en poussée présente les caractéristiques anatomiques suivantes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fond est de couleur blanc nacré due à la présence d’un enduit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fibrino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-leucocytaire dense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d’altération vasculaire à type d’endartérite oblitérante le plus souvent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d’anomalies du plexus nerveux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socle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scléro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inflammatoire disparait après cicatrisation.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phénomènes régénératifs épithéliaux s’installent tout autour de l’ulcère 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885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6E39-92C6-00F5-88E2-CCCB3D29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DB130E-C7DC-5997-ECF1-DE4F79CD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459" y="1063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L'ulcère gastroduodénal en poussée présente les caractéristiques anatomiques suivantes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fond est de couleur blanc nacré due à la présence d’un enduit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fibrino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-leucocytaire dense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d’altération vasculaire à type d’endartérite oblitérante le plus souvent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d’anomalies du plexus nerveux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socle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scléro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inflammatoire disparait après cicatrisation.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phénomènes régénératifs épithéliaux s’installent tout autour de l’ulcère 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232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81FF0D-5390-69A9-7C60-2E9903817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278296"/>
            <a:ext cx="11287539" cy="64670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en poussée: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perte de substance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muqueuse, sous-muqueuse, et une partie plus ou moins profonde de la musculeuse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fond: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tapissé d’un enduit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fibrino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-leucocytaire = tissu fibreux dense + éléments inflammatoires.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Lésions associées: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endartérite oblitérant, hyperplasie des plexus nerveux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socle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scléro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inflammatoire persistera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après cicatrisation.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muqueuse péri-ulcéreuse (Bourrelet péri-ulcéreux):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œdémateuse, remaniée, présentant des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phénomènes régénératifs épithéliaux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886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8ADE6C-7DBC-E3A6-7137-C4893CC3F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8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L'ulcère duodénal est caractérisé macroscopiquement par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bulbaire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Souvent multiple sur les deux faces du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Rarement sous forme de plusieurs ulcérations superficielles rappelant la tranche de salami.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sur la face antérieure du bulbe.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426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B6AB-7514-C285-0998-89CC452D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20CF04-6ED5-C148-4A08-23CB855E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8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L'ulcère duodénal est caractérisé macroscopiquement par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bulbaire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Souvent multiple sur les deux faces du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Rarement sous forme de plusieurs ulcérations superficielles rappelant la tranche de salami.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sur la face antérieure du bulbe.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411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C30FF-B921-2583-E2F1-83987F94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6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Parmi les propositions suivantes relatives à l’ulcère duodénal (UD), les quelles sont vraies?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L'ulcère siège dans presque 50% des cas au niveau du bulbe.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localisations distales post bulbaires (D2, D3 et D4) sont fréquentes.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L’UD chronique est exceptionnellement double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appelle un « 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kissing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ulcère », les ulcères siégeant face à face sur le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dépasse souvent 20 mm de diamètre</a:t>
            </a:r>
          </a:p>
        </p:txBody>
      </p:sp>
    </p:spTree>
    <p:extLst>
      <p:ext uri="{BB962C8B-B14F-4D97-AF65-F5344CB8AC3E}">
        <p14:creationId xmlns:p14="http://schemas.microsoft.com/office/powerpoint/2010/main" val="285872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9EA8-2F71-95A7-1D54-53840663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8C69DF-DF00-5DFF-25D0-47FA007C4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6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Parmi les propositions suivantes relatives à l’ulcère duodénal (UD), les quelles sont vraies?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L'ulcère siège dans presque 50% des cas au niveau du bulbe.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localisations distales post bulbaires (D2, D3 et D4) sont fréquentes.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L’UD chronique est exceptionnellement double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appelle un « 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kissing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ulcère », les ulcères siégeant face à face sur le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dépasse souvent 20 mm de diamètre</a:t>
            </a:r>
          </a:p>
        </p:txBody>
      </p:sp>
    </p:spTree>
    <p:extLst>
      <p:ext uri="{BB962C8B-B14F-4D97-AF65-F5344CB8AC3E}">
        <p14:creationId xmlns:p14="http://schemas.microsoft.com/office/powerpoint/2010/main" val="1387661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7FC109-14C9-1B45-5EAC-F0ADBD748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99" y="231913"/>
            <a:ext cx="11607801" cy="6394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L’ulcère duodénal :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Bulbe (90%), la face antérieure ++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Duodénum post-bulbaire (1 - 10%).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(80% des cas), double (20%)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habituelle 5 à 20mm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rarement, taille &gt; 20 mm (ulcère géant)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formes : 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rond ou ovalaire (80%)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linéaire (15%)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irrégulier (&lt; 10%)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Salami</a:t>
            </a:r>
          </a:p>
        </p:txBody>
      </p:sp>
    </p:spTree>
    <p:extLst>
      <p:ext uri="{BB962C8B-B14F-4D97-AF65-F5344CB8AC3E}">
        <p14:creationId xmlns:p14="http://schemas.microsoft.com/office/powerpoint/2010/main" val="1358080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7892-0DE7-4C30-BE11-A0B9470D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FB3040-2486-9AF1-B1EA-14F581DA4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L'ulcère gastrique est caractérisé macroscopiquement par: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de l’angle de la petite courbure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Souvent unique.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forme de plusieurs ulcérations superficielles au niveau de toute la cavité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Entouré par un bourrelet irrégulier.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230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2AAA23-9079-9F02-0E1C-1DA4B8D76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L'ulcère gastrique est caractérisé macroscopiquement par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de l’angle de la petite courbure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Souvent unique.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forme de plusieurs ulcérations superficielles au niveau de toute la cavité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Entouré par un bourrelet irrégulier.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1349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123038-68B3-6A26-2D77-CEDB7CC2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0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 Parmi les propositions suivantes relatives à l’ulcère gastrique (UG), on retient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est toujours arrondie ou ovalaire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 ne dépasse jamais 20 mm de diamètre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berges sont toujours déchiquetées, irrégulières, contrairement à l’UD.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siège est le plus souvent antral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L’UG peut être multiple.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478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F2DF-2243-2C18-7F5A-F671FB8A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FF1CE-0884-0EC3-68E7-48FE70A6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0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 Parmi les propositions suivantes relatives à l’ulcère gastrique (UG), on retient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est toujours arrondie ou ovalaire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 ne dépasse jamais 20 mm de diamètre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berges sont toujours déchiquetées, irrégulières, contrairement à l’UD.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siège est le plus souvent antral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L’UG peut être multiple.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4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92F227-4DC8-1C57-0280-8AE64DF9D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" y="362584"/>
            <a:ext cx="10515600" cy="5316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L’ulcère gastrique :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plus souvent arrondie ou ovalaire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moyenne 10 à 15mm (4mm à 4 cm)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L’angle de la petite courbure antrale ++ (80% des cas)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+++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multiple (6,6%)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entouré d’un bourrelet œdémateux régulier</a:t>
            </a:r>
          </a:p>
        </p:txBody>
      </p:sp>
    </p:spTree>
    <p:extLst>
      <p:ext uri="{BB962C8B-B14F-4D97-AF65-F5344CB8AC3E}">
        <p14:creationId xmlns:p14="http://schemas.microsoft.com/office/powerpoint/2010/main" val="316028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70DD-1AFF-2024-0A15-DE4201AE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052226-5628-DCE0-C434-AE8B28ACAFD4}"/>
              </a:ext>
            </a:extLst>
          </p:cNvPr>
          <p:cNvSpPr/>
          <p:nvPr/>
        </p:nvSpPr>
        <p:spPr>
          <a:xfrm>
            <a:off x="1577190" y="560593"/>
            <a:ext cx="8875059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Décrire les facteurs </a:t>
            </a:r>
            <a:r>
              <a:rPr lang="fr-FR" sz="3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maladie ulcéreuse gastrique et duodénale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F62D81-7F50-0668-4116-AF8091EF5437}"/>
              </a:ext>
            </a:extLst>
          </p:cNvPr>
          <p:cNvSpPr/>
          <p:nvPr/>
        </p:nvSpPr>
        <p:spPr>
          <a:xfrm>
            <a:off x="640081" y="3693160"/>
            <a:ext cx="10637520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Expliquer les mécanismes physiopathologiques de la maladie ulcéreuse gastrique et duodénale </a:t>
            </a:r>
          </a:p>
        </p:txBody>
      </p:sp>
    </p:spTree>
    <p:extLst>
      <p:ext uri="{BB962C8B-B14F-4D97-AF65-F5344CB8AC3E}">
        <p14:creationId xmlns:p14="http://schemas.microsoft.com/office/powerpoint/2010/main" val="2503051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A1CEAE-DCC1-AE8C-071C-1BA6B977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 Les facteurs d’agression incriminés dans la genèse de l’ulcère duodénal sont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L’acide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chlorydrique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prostaglandines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pepsine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L’Helicobacter pylori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21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4803-D577-5BA8-5709-C180ACA3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DAD6A0-725F-91FB-4337-63876014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 Les facteurs d’agression incriminés dans la genèse de l’ulcère duodénal sont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L’acide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chlorydrique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prostaglandines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pepsine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L’Helicobacter pylori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4104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AF2ED-0C59-BA59-79EC-215234B2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9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genèse de l’ulcère duodénal sont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L‘hypersécrétion acide gastrique.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Le tabac.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Le stress.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La prise d'AINS ou d'aspirine.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749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4A7C-1C0A-4E93-2231-74D8B34B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3BC432-E604-239D-CFD7-D7A7FF4C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9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genèse de l’ulcère duodénal sont : 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L‘hypersécrétion acide gastrique.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Le tabac.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Le stress.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La prise d'AINS ou d'aspirine.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9640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37405C-EC0A-B0EA-413F-441330B4E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" y="4337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Déséquilibre entre facteurs de défense et facteurs d’agression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MUGD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EFC63E99-5E79-BD0B-4AF0-F107B4BD5FAF}"/>
              </a:ext>
            </a:extLst>
          </p:cNvPr>
          <p:cNvSpPr/>
          <p:nvPr/>
        </p:nvSpPr>
        <p:spPr>
          <a:xfrm>
            <a:off x="2072640" y="990600"/>
            <a:ext cx="477520" cy="294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A4E0175-DF72-F121-3A1F-36EC8FDE6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28665"/>
              </p:ext>
            </p:extLst>
          </p:nvPr>
        </p:nvGraphicFramePr>
        <p:xfrm>
          <a:off x="1686560" y="1597977"/>
          <a:ext cx="9194800" cy="482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036">
                  <a:extLst>
                    <a:ext uri="{9D8B030D-6E8A-4147-A177-3AD203B41FA5}">
                      <a16:colId xmlns:a16="http://schemas.microsoft.com/office/drawing/2014/main" val="1181982772"/>
                    </a:ext>
                  </a:extLst>
                </a:gridCol>
                <a:gridCol w="5037764">
                  <a:extLst>
                    <a:ext uri="{9D8B030D-6E8A-4147-A177-3AD203B41FA5}">
                      <a16:colId xmlns:a16="http://schemas.microsoft.com/office/drawing/2014/main" val="4226440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Facteurs d’agression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Facteurs de défense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5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sécrétion acide gastrique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Helicobacter pylori 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AINS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tabac 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stress 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facteurs génétiques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barrière mucus- bicarbonates (première ligne de défense)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L’épithélium de surface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flux sanguin muqueux </a:t>
                      </a:r>
                    </a:p>
                    <a:p>
                      <a:pPr marL="0" indent="0">
                        <a:lnSpc>
                          <a:spcPct val="200000"/>
                        </a:lnSpc>
                        <a:buFont typeface="+mj-lt"/>
                        <a:buNone/>
                      </a:pPr>
                      <a:r>
                        <a:rPr lang="fr-F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(Prostaglandines+++)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22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131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46DC-1B68-70A7-7B1C-37156586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13AEA6-6A8F-52C8-3AEB-A24A2D736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12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 L’ulcère duodénal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gastrique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de la charge acide 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zones de métaplasie gastrique au niveau du duodénum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456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144291-AE5A-B1B1-257C-89F6A53A9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12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 L’ulcère duodénal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gastrique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de la charge acide 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zones de métaplasie gastrique au niveau du duodénum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6835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4A35E-590A-0B60-A8CB-841D7D08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DEFF3B-EA9C-571E-E696-8CB86337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41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 Au cours de l’UD, l’hypersécrétion acide serait due à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sensibilité de la cellule pariétale à la somatostatine.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masse cellulaire pariétale due entre autres à des facteurs génétiques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Indirectement au tabac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stress via une influence sympathique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du tonus vagal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1383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E4BF07-A426-A2F8-B68A-BE484FC9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41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 Au cours de l’UD, l’hypersécrétion acide serait due à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sensibilité de la cellule pariétale à la somatostatine.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masse cellulaire pariétale due entre autres à des facteurs génétiques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Indirectement au tabac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stress via une influence sympathique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du tonus vagal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374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7F8F4F-E725-7950-F6DC-8A06D9AC6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940" y="401320"/>
            <a:ext cx="11341100" cy="60553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hypersécrétion acide basale et post- prandiale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due 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sensibilité de la cellule pariétale à la gastrine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masse cellulaire pariétale: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génétiques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environnementaux (tabac, stress via une influence vagale),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endogènes hormonaux en excès (gastrine) ou au contraire déficitaires (somatostatine)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du tonus vagal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L’infection à Helicobacter pylori</a:t>
            </a:r>
          </a:p>
        </p:txBody>
      </p:sp>
    </p:spTree>
    <p:extLst>
      <p:ext uri="{BB962C8B-B14F-4D97-AF65-F5344CB8AC3E}">
        <p14:creationId xmlns:p14="http://schemas.microsoft.com/office/powerpoint/2010/main" val="3008985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4F78B2-FC2F-8303-990B-41363181F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5" y="382307"/>
            <a:ext cx="10515600" cy="637708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L'infection antrale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H.pylori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Gastrite chronique antrale                    Gastrine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Hypersécrétion acide (basale et postprandiale)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de la charge acide duodénale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 de métaplasie gastrique dans le duodénum</a:t>
            </a: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Duodénite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duodénal </a:t>
            </a: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èche : haut 4">
            <a:extLst>
              <a:ext uri="{FF2B5EF4-FFF2-40B4-BE49-F238E27FC236}">
                <a16:creationId xmlns:a16="http://schemas.microsoft.com/office/drawing/2014/main" id="{CA977BA1-D18F-60A8-3912-5FB2F1911CAD}"/>
              </a:ext>
            </a:extLst>
          </p:cNvPr>
          <p:cNvSpPr/>
          <p:nvPr/>
        </p:nvSpPr>
        <p:spPr>
          <a:xfrm>
            <a:off x="7296823" y="1434354"/>
            <a:ext cx="45719" cy="3048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5FEE7F0E-C3F1-9DC8-9F2C-469F4D440C1D}"/>
              </a:ext>
            </a:extLst>
          </p:cNvPr>
          <p:cNvSpPr/>
          <p:nvPr/>
        </p:nvSpPr>
        <p:spPr>
          <a:xfrm>
            <a:off x="6271709" y="1568824"/>
            <a:ext cx="564776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2D141D8B-F93E-C611-77EC-B2403EF840B7}"/>
              </a:ext>
            </a:extLst>
          </p:cNvPr>
          <p:cNvSpPr/>
          <p:nvPr/>
        </p:nvSpPr>
        <p:spPr>
          <a:xfrm>
            <a:off x="5074024" y="851647"/>
            <a:ext cx="563881" cy="582707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9BF11C5-A47A-EC35-E033-8470449A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5" y="3588406"/>
            <a:ext cx="615749" cy="42675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4589AFD-66DA-B027-DDA0-950369DD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6" y="2629459"/>
            <a:ext cx="615749" cy="42675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129EA47-4326-2026-1E68-546E2900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56" y="1883890"/>
            <a:ext cx="615749" cy="42675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17632C7-A840-315E-8AD1-643D73E43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56" y="4939462"/>
            <a:ext cx="615749" cy="426757"/>
          </a:xfrm>
          <a:prstGeom prst="rect">
            <a:avLst/>
          </a:prstGeom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3D77BBC-FB19-45FB-38AE-071EB6D7A0BF}"/>
              </a:ext>
            </a:extLst>
          </p:cNvPr>
          <p:cNvCxnSpPr>
            <a:cxnSpLocks/>
          </p:cNvCxnSpPr>
          <p:nvPr/>
        </p:nvCxnSpPr>
        <p:spPr>
          <a:xfrm>
            <a:off x="1801906" y="4212387"/>
            <a:ext cx="493058" cy="413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44F55CD9-4098-C859-7D18-E9DAFFB16D25}"/>
              </a:ext>
            </a:extLst>
          </p:cNvPr>
          <p:cNvSpPr txBox="1"/>
          <p:nvPr/>
        </p:nvSpPr>
        <p:spPr>
          <a:xfrm>
            <a:off x="138757" y="3429000"/>
            <a:ext cx="2331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Colonisation par HP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(non obligatoire)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B34A1B-B150-0CCB-C831-347CD3396730}"/>
              </a:ext>
            </a:extLst>
          </p:cNvPr>
          <p:cNvSpPr/>
          <p:nvPr/>
        </p:nvSpPr>
        <p:spPr>
          <a:xfrm>
            <a:off x="116541" y="3429000"/>
            <a:ext cx="2393577" cy="667871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777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F22449-B5CF-5676-5695-67783911F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6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la genèse de l’ulcère gastrique sont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L‘hypersécrétion acide gastrique.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tabac.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stress.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d'AINS ou d'aspirine.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3952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5DB8-F068-F0C5-9750-946E7603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39685B-9A22-21E0-B5EC-2344EF64E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6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la genèse de l’ulcère gastrique sont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L‘hypersécrétion acide gastrique.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tabac.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stress.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prise d'AINS ou d'aspirine.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391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C5C42E-0F60-13A1-537A-26030664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529" y="64228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 Concernant la physiopathologie de l’ulcère gastrique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une sécrétion acide élevée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pan gastrite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Contrairement à l’UD, le Helicobacter Pylori n’est que rarement incriminé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peut être observée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3677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675A-5FB0-4773-35D9-61E28E3A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747921-FE30-CCFD-2CC2-8C3253AD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529" y="64228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 Concernant la physiopathologie de l’ulcère gastrique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une sécrétion acide élevée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y a une pan gastrite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Contrairement à l’UD, le Helicobacter Pylori n’est que rarement incriminé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peut être observée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7134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4385C-FA7F-7A82-ADA7-7E8A97182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6" y="678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13/ L'ulcère gastrique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élevée.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altérations de la barrière muqueuse.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chronique type B (non – auto-immune) sévère</a:t>
            </a:r>
          </a:p>
        </p:txBody>
      </p:sp>
    </p:spTree>
    <p:extLst>
      <p:ext uri="{BB962C8B-B14F-4D97-AF65-F5344CB8AC3E}">
        <p14:creationId xmlns:p14="http://schemas.microsoft.com/office/powerpoint/2010/main" val="2084094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A1F08-3A0E-8F52-4116-06F91E17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7F6C7-0B3D-2B46-A2AC-DDC44440A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6" y="678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13/ L'ulcère gastrique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élevée.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altérations de la barrière muqueuse.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chronique type B (non – auto-immune) sévère</a:t>
            </a:r>
          </a:p>
        </p:txBody>
      </p:sp>
    </p:spTree>
    <p:extLst>
      <p:ext uri="{BB962C8B-B14F-4D97-AF65-F5344CB8AC3E}">
        <p14:creationId xmlns:p14="http://schemas.microsoft.com/office/powerpoint/2010/main" val="1078102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E185-C7E7-3C3F-7F88-CC2A13BA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81A76-6447-6E79-6FE4-CF615C7A5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5" y="382307"/>
            <a:ext cx="10515600" cy="637708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L'infection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H.pylori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Pangastrite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chronique sévère                  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Normosécrétion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acide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Lésions muqueuses / Zones de métaplasie intestinale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gastrique</a:t>
            </a: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EFEF4D39-62DC-8975-D956-C8967B9C95BA}"/>
              </a:ext>
            </a:extLst>
          </p:cNvPr>
          <p:cNvSpPr/>
          <p:nvPr/>
        </p:nvSpPr>
        <p:spPr>
          <a:xfrm>
            <a:off x="5138698" y="809064"/>
            <a:ext cx="563881" cy="777689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F0D8EA0-733C-6738-4C51-0056425A8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98" y="3349720"/>
            <a:ext cx="615749" cy="77768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A164796-B7D8-C02E-C3E0-2B8DA03D5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98" y="2145274"/>
            <a:ext cx="615749" cy="6517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E76039C-C00B-728C-3E64-420C05246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98" y="4984286"/>
            <a:ext cx="615749" cy="60969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D3EE108-FDF1-4141-F587-0D673CE65BE4}"/>
              </a:ext>
            </a:extLst>
          </p:cNvPr>
          <p:cNvSpPr txBox="1"/>
          <p:nvPr/>
        </p:nvSpPr>
        <p:spPr>
          <a:xfrm>
            <a:off x="138757" y="34290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18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C9C3F-20B7-5773-4B20-2C1C31C45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88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14/ L’Helicobacter pylori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bactérie bacille à gram négatif spiralé.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Colonise en premier temps le fundus gastrique.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 réservoir humain.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transmission interhumaine se fait par voie aérienne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acquis pendant l’enfance.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301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1C0B-E900-93D6-6CEA-D364EAD3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9CAA1E-9B17-DCD4-74FF-CD717B51D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88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14/ L’Helicobacter pylori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une bactérie bacille à gram négatif spiralé.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Colonise en premier temps le fundus gastrique.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 réservoir humain.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transmission interhumaine se fait par voie aérienne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acquis pendant l’enfance.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7504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98510D-8329-ADF7-FF6B-F5BA84F06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47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 L’Helicobacter pylori 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Produit des cytotoxines pro-inflammatoires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Possède une activité uréasique indispensable pour sa survie en milieu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responsable d’une hyposécrétion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incriminé dans la pathogénie de l’ulcère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Altère les mécanismes de la défense de la muqueuse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2909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5742-9C35-1896-EC0F-20DC000D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450E2A-00DD-7D57-2675-1675B243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47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 L’Helicobacter pylori 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Produit des cytotoxines pro-inflammatoires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Possède une activité uréasique indispensable pour sa survie en milieu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responsable d’une hyposécrétion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incriminé dans la pathogénie de l’ulcère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Altère les mécanismes de la défense de la muqueuse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9623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A05C9-23B9-68DE-78F2-2DE936EFB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16/ Le pouvoir pathogène de l’Helicobacter pylori est favorisé par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cytotoxicité liée aux cytotoxines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et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hypogastrinémie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pouvoir d’adhérer aux cellules épithéliales gastriques grâce aux adhésines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réaction inflammatoire focale de la muqueuse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mobilité grâce à ses flagelles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7336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0ADF-8EF8-BE5E-21A0-375C044E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5F3B60-959F-3A3D-D73F-E90C15D7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16/ Le pouvoir pathogène de l’Helicobacter pylori est favorisé par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cytotoxicité liée aux cytotoxines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et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Cag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hypogastrinémie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pouvoir d’adhérer aux cellules épithéliales gastriques grâce aux adhésines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réaction inflammatoire focale de la muqueuse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mobilité grâce à ses flagelles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7532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06015-16AB-F194-349E-E3A00971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9" y="525742"/>
            <a:ext cx="11013141" cy="4351338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Infection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H.pylori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DC78F9-2892-4948-C51D-005567BA567B}"/>
              </a:ext>
            </a:extLst>
          </p:cNvPr>
          <p:cNvSpPr txBox="1"/>
          <p:nvPr/>
        </p:nvSpPr>
        <p:spPr>
          <a:xfrm>
            <a:off x="3774968" y="1915284"/>
            <a:ext cx="4144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Gastrite antrale chronique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353C633-0A73-DE3D-6FB7-BE5B0B9ACF6B}"/>
              </a:ext>
            </a:extLst>
          </p:cNvPr>
          <p:cNvSpPr txBox="1"/>
          <p:nvPr/>
        </p:nvSpPr>
        <p:spPr>
          <a:xfrm>
            <a:off x="3629494" y="5222131"/>
            <a:ext cx="4799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Hypersécrétion acide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9DE924D-C2FC-3DD4-EC4C-FD192CAACC69}"/>
              </a:ext>
            </a:extLst>
          </p:cNvPr>
          <p:cNvSpPr txBox="1"/>
          <p:nvPr/>
        </p:nvSpPr>
        <p:spPr>
          <a:xfrm>
            <a:off x="340659" y="277906"/>
            <a:ext cx="1649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F1ABA3-2BF7-FCB8-16ED-34E16B415D50}"/>
              </a:ext>
            </a:extLst>
          </p:cNvPr>
          <p:cNvSpPr/>
          <p:nvPr/>
        </p:nvSpPr>
        <p:spPr>
          <a:xfrm>
            <a:off x="268941" y="202664"/>
            <a:ext cx="900952" cy="646331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06F3769E-1146-6354-88E2-E3C224F94326}"/>
              </a:ext>
            </a:extLst>
          </p:cNvPr>
          <p:cNvSpPr/>
          <p:nvPr/>
        </p:nvSpPr>
        <p:spPr>
          <a:xfrm>
            <a:off x="5436953" y="2469776"/>
            <a:ext cx="860612" cy="83371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D075354-B54C-2A48-135A-18314F825587}"/>
              </a:ext>
            </a:extLst>
          </p:cNvPr>
          <p:cNvSpPr txBox="1"/>
          <p:nvPr/>
        </p:nvSpPr>
        <p:spPr>
          <a:xfrm>
            <a:off x="3352800" y="3353264"/>
            <a:ext cx="6598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Hypergastrinémie</a:t>
            </a:r>
          </a:p>
          <a:p>
            <a:r>
              <a:rPr lang="fr-FR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(réaction inflammatoire de la muqueuse antrale)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1A9F0A-80FE-6548-218D-14E1F3E5EC0E}"/>
              </a:ext>
            </a:extLst>
          </p:cNvPr>
          <p:cNvSpPr/>
          <p:nvPr/>
        </p:nvSpPr>
        <p:spPr>
          <a:xfrm>
            <a:off x="4515003" y="3353264"/>
            <a:ext cx="3028897" cy="5732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A532CF6-F710-2CD1-5329-6A9A2AE4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134" y="1029824"/>
            <a:ext cx="896190" cy="8474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06228D7-16DB-3B0F-5D55-4A3E686F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47" y="5203350"/>
            <a:ext cx="3619006" cy="60355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B91823A-DE3F-8B5E-78E3-C02B49095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953" y="4338747"/>
            <a:ext cx="896190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88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5F1C-5C27-B897-35BB-E8A2820F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3AEC8-8CD1-3668-D917-0D7BD6158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 Au cours de la maladie ulcéreuse gastrique, les AINS peuvent agir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perturbant la perméabilité cellulaire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altérant la qualité du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inhibant la cyclo-oxygénase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stimulant la cyclo-oxygénase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augmentant le flux sanguin muqueux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0398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95D1C9-9FE1-0881-FD70-7DE14E1DE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 Au cours de la maladie ulcéreuse gastrique, les AINS peuvent agir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perturbant la perméabilité cellulaire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altérant la qualité du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inhibant la cyclo-oxygénase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stimulant la cyclo-oxygénase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augmentant le flux sanguin muqueux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41204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6D2AE-3FCE-DBC0-9AC7-D75D6E8D8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848" y="1530997"/>
            <a:ext cx="6185646" cy="34802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Toxicité systémique</a:t>
            </a:r>
          </a:p>
          <a:p>
            <a:pPr marL="0" lvl="0" indent="0" algn="ctr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inhibition de la cyclo-oxygénase</a:t>
            </a:r>
          </a:p>
          <a:p>
            <a:pPr marL="0" lv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mucus / bicarbonates/prostaglandines</a:t>
            </a:r>
          </a:p>
          <a:p>
            <a:pPr marL="0" lvl="0" indent="0" algn="ctr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diminution du flux sanguin muqueux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768B43-AEEA-93E7-9E37-142ABDD55788}"/>
              </a:ext>
            </a:extLst>
          </p:cNvPr>
          <p:cNvSpPr txBox="1"/>
          <p:nvPr/>
        </p:nvSpPr>
        <p:spPr>
          <a:xfrm>
            <a:off x="5082989" y="356128"/>
            <a:ext cx="3155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53AA99-B8D3-EEED-A3D8-E1E912D6E2A8}"/>
              </a:ext>
            </a:extLst>
          </p:cNvPr>
          <p:cNvSpPr txBox="1"/>
          <p:nvPr/>
        </p:nvSpPr>
        <p:spPr>
          <a:xfrm>
            <a:off x="188259" y="1771925"/>
            <a:ext cx="55939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Toxicité locale</a:t>
            </a:r>
          </a:p>
          <a:p>
            <a:pPr algn="ctr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altération de la perméabilité cellulaire </a:t>
            </a:r>
          </a:p>
          <a:p>
            <a:pPr algn="ctr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altération de la qualité de mucus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Rétrodiffusion des ions H+</a:t>
            </a:r>
            <a:endParaRPr lang="fr-FR" sz="2800" dirty="0"/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F1E0F024-DEE7-6863-EAFA-CC82F3A8F927}"/>
              </a:ext>
            </a:extLst>
          </p:cNvPr>
          <p:cNvSpPr/>
          <p:nvPr/>
        </p:nvSpPr>
        <p:spPr>
          <a:xfrm>
            <a:off x="6096000" y="3429000"/>
            <a:ext cx="197223" cy="4347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7D874BAA-FB9A-67DE-5094-B331DF778E72}"/>
              </a:ext>
            </a:extLst>
          </p:cNvPr>
          <p:cNvSpPr/>
          <p:nvPr/>
        </p:nvSpPr>
        <p:spPr>
          <a:xfrm>
            <a:off x="8848165" y="3110753"/>
            <a:ext cx="744070" cy="434788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roix 8">
            <a:extLst>
              <a:ext uri="{FF2B5EF4-FFF2-40B4-BE49-F238E27FC236}">
                <a16:creationId xmlns:a16="http://schemas.microsoft.com/office/drawing/2014/main" id="{8C6E6DA6-DD56-F5B5-7734-A7D7EDD31FD3}"/>
              </a:ext>
            </a:extLst>
          </p:cNvPr>
          <p:cNvSpPr/>
          <p:nvPr/>
        </p:nvSpPr>
        <p:spPr>
          <a:xfrm>
            <a:off x="9099176" y="4090323"/>
            <a:ext cx="251011" cy="242047"/>
          </a:xfrm>
          <a:prstGeom prst="plu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9023A78-8435-E46E-7B31-DD8EFCCA6CB7}"/>
              </a:ext>
            </a:extLst>
          </p:cNvPr>
          <p:cNvCxnSpPr/>
          <p:nvPr/>
        </p:nvCxnSpPr>
        <p:spPr>
          <a:xfrm>
            <a:off x="5782235" y="1771925"/>
            <a:ext cx="0" cy="3108543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790068CA-13E5-987B-18B1-78B42F14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36" y="3982726"/>
            <a:ext cx="798645" cy="45724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93359A7-ED9C-A171-88DA-ABB5F5F9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36" y="2359743"/>
            <a:ext cx="798645" cy="45724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1B9119E-5CE0-798E-4076-4A8C1AB66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82" y="3257686"/>
            <a:ext cx="262151" cy="2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87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B57D-373C-31DB-BF7D-13E0976A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719CFA-BD3E-2E26-C813-C34B1187CC9A}"/>
              </a:ext>
            </a:extLst>
          </p:cNvPr>
          <p:cNvSpPr/>
          <p:nvPr/>
        </p:nvSpPr>
        <p:spPr>
          <a:xfrm>
            <a:off x="1658470" y="1383553"/>
            <a:ext cx="8875059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: Poser le diagnostic de la maladie ulcéreuse gastrique et duodénale à partir des données cliniques et para cliniques</a:t>
            </a:r>
          </a:p>
          <a:p>
            <a:pPr algn="ctr"/>
            <a:r>
              <a:rPr lang="fr-FR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56047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9FCE16-2FDF-C1E8-529E-CD1C82ABD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5" y="624354"/>
            <a:ext cx="11183470" cy="508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18/ Chez un patient atteint d’un ulcère duodénal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physique est le plus souvent normal en 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épigastrique est typiquement perçue comme une crampe ou une torsion, irradiant vers le dos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durant la journée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réveille le malade la deuxième moitié de la nuit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pendant plusieurs mois tant que le malade ne prend pas de traitement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797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64E1-836C-C977-C6DD-18F03F53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210E8D-B25F-9DA3-E03B-C70A3155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5" y="624354"/>
            <a:ext cx="11183470" cy="508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18/ Chez un patient atteint d’un ulcère duodénal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L’examen physique est le plus souvent normal en 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épigastrique est typiquement perçue comme une crampe ou une torsion, irradiant vers le dos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durant la journée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douleur réveille le malade la deuxième moitié de la nuit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pendant plusieurs mois tant que le malade ne prend pas de traitement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7965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005B7A-689D-4D95-7A68-1C01BD04F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839507"/>
            <a:ext cx="10515600" cy="470964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19/ Le syndrome ulcéreux typique se caractérise par une douleur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siège épigastrique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le jeune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la prise alimentaire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Rythmée par les repas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Evoluant par des poussées saisonnières, survenant volontiers en hiver </a:t>
            </a:r>
          </a:p>
        </p:txBody>
      </p:sp>
    </p:spTree>
    <p:extLst>
      <p:ext uri="{BB962C8B-B14F-4D97-AF65-F5344CB8AC3E}">
        <p14:creationId xmlns:p14="http://schemas.microsoft.com/office/powerpoint/2010/main" val="2308280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505DD-2744-E9DA-42B6-2F979C8F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0EA4F-7350-E3A2-F0F9-8BF3B5A8D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839507"/>
            <a:ext cx="10515600" cy="470964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19/ Le syndrome ulcéreux typique se caractérise par une douleur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siège épigastrique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le jeune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la prise alimentaire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Rythmée par les repas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Evoluant par des poussées saisonnières, survenant volontiers en hiver </a:t>
            </a:r>
          </a:p>
        </p:txBody>
      </p:sp>
    </p:spTree>
    <p:extLst>
      <p:ext uri="{BB962C8B-B14F-4D97-AF65-F5344CB8AC3E}">
        <p14:creationId xmlns:p14="http://schemas.microsoft.com/office/powerpoint/2010/main" val="6957002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F0AFDC-6829-C9BE-026C-730BFF59C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 En cas d’ulcère bulbaire résistant au traitement médical associé à une diarrhée d’apparition récente, on doit évoquer le diagnostic suivant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du colon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Colopathie fonctionnelle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Diverticulose sigmoïdienne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Gastrinome (syndrome de Zollinger Ellison)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perforation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98791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4168-8072-B7ED-67EA-F0D7909E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F2E629-AA81-7EDC-F2A8-FC17711D9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 En cas d’ulcère bulbaire résistant au traitement médical associé à une diarrhée d’apparition récente, on doit évoquer le diagnostic suivant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du colon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Colopathie fonctionnelle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Diverticulose sigmoïdienne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Gastrinome (syndrome de Zollinger Ellison)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perforation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6264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FF977F-C0D1-CB91-8D51-5A576E04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43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21/ Le diagnostic d'infection à Helicobacter pylori peut être fait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hémocultures.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à l’urée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breath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test).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coproculture.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anatomo-pathologique</a:t>
            </a:r>
          </a:p>
        </p:txBody>
      </p:sp>
    </p:spTree>
    <p:extLst>
      <p:ext uri="{BB962C8B-B14F-4D97-AF65-F5344CB8AC3E}">
        <p14:creationId xmlns:p14="http://schemas.microsoft.com/office/powerpoint/2010/main" val="2509881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6507-8C4E-23DB-7596-078468E3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ABA6C0-75D3-B5C3-75AB-7C19CD3B8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43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21/ Le diagnostic d'infection à Helicobacter pylori peut être fait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hémocultures.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à l’urée (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breath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test).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coproculture.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L’examen anatomo-pathologique</a:t>
            </a:r>
          </a:p>
        </p:txBody>
      </p:sp>
    </p:spTree>
    <p:extLst>
      <p:ext uri="{BB962C8B-B14F-4D97-AF65-F5344CB8AC3E}">
        <p14:creationId xmlns:p14="http://schemas.microsoft.com/office/powerpoint/2010/main" val="3694707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17E899-7232-EE01-FCA1-AAB66A944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5616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22/ Parmi les moyens non invasifs de diagnostic de l’infection à HP, on distingue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rapide à l’uréase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de l’antigène dans les selles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culture de la bactérie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5008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0811-69C6-3864-03F4-4C839F17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81927A-3DBC-4ABC-2755-8F5FEE6E4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5616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22/ Parmi les moyens non invasifs de diagnostic de l’infection à HP, on distingue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rapide à l’uréase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de l’antigène dans les selles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culture de la bactérie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31374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CB59CF-A1CB-195E-9B70-A53DEA2D1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61539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23/ Les examens suivants à la recherche de l’infection à HP nécessitent la réalisation de biopsies gastriques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L’amplification génique (PCR)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Culture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rapide à l'uréase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8900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1E14-A9B0-9436-F25D-0E5E683B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DAD42A-8CEE-3B3B-4B20-E63866E1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61539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23/ Les examens suivants à la recherche de l’infection à HP nécessitent la réalisation de biopsies gastriques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L’amplification génique (PCR)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Culture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rapide à l'uréase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49088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CE932-486C-94BC-1C33-2BFE69695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4" y="229906"/>
            <a:ext cx="11568953" cy="58123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 Concernant le test respiratoire Helicobacter pylori « Breath Test », les propositions suivantes sont exactes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détecter une infection active à HP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partie des moyens invasifs recommandés dans le diagnostic positif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repose sur la mise en évidence d’une activité uréasique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l’examen de référence pour le contrôle de l’éradication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des antibiotiques d’au moins 4 semaines, sans l’obligation d’arrêter les 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0411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B360-DC56-9943-C1BF-D223DC62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4C916-B417-89BC-5600-1810BC450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4" y="229906"/>
            <a:ext cx="11568953" cy="58123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 Concernant le test respiratoire Helicobacter pylori « Breath Test », les propositions suivantes sont exactes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détecter une infection active à HP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partie des moyens invasifs recommandés dans le diagnostic positif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repose sur la mise en évidence d’une activité uréasique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l’examen de référence pour le contrôle de l’éradication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des antibiotiques d’au moins 4 semaines, sans l’obligation d’arrêter les 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25365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C4BBFD-7BB6-455A-08BF-458D209E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830542"/>
            <a:ext cx="11470342" cy="4933764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25/La sérologie de Helicobacter Pylori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recommandée dans le contrôle de l’éradication en deuxième intention, en cas de non disponibilité du « Breath Test »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permet pas le contrôle de l’éradication à cause d’une sensibilité qui ne dépasse pas 50%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moyen non invasif pour le diagnostic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détecte les IgG anti-Helicobacter pylori par technique ELISA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 toute antibiothérapie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13323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7790-12A8-E011-8A01-9EF6D8EB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91EB4E-A348-F5ED-C04C-2BBC37719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830542"/>
            <a:ext cx="11470342" cy="4933764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25/La sérologie de Helicobacter Pylori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recommandée dans le contrôle de l’éradication en deuxième intention, en cas de non disponibilité du « Breath Test »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permet pas le contrôle de l’éradication à cause d’une sensibilité qui ne dépasse pas 50%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 moyen non invasif pour le diagnostic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détecte les IgG anti-Helicobacter pylori par technique ELISA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 toute antibiothérapie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394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3B96B-DCF2-954A-4142-D93B54134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89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26/ La recherche de l’antigène de HP dans les selles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à la fois le diagnostic positif et le contrôle d’éradication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seulement le diagnostic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le contrôle d’éradication vu la persistance de l’antigène plusieurs années après la disparition de la bactérie.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utilisation est limitée à cause de sa faible spécificité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faux négatifs peuvent se voir en cas de prise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57005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0635A-7AEB-CD62-9D9A-EE6E5AB2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091CBA-05DC-71C7-BD9B-2B3FCE704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89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26/ La recherche de l’antigène de HP dans les selles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 à la fois le diagnostic positif et le contrôle d’éradication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seulement le diagnostic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le contrôle d’éradication vu la persistance de l’antigène plusieurs années après la disparition de la bactérie.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utilisation est limitée à cause de sa faible spécificité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faux négatifs peuvent se voir en cas de prise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3616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6EECE9-1E1B-AC18-F4B0-6A0A50CFB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94" y="821578"/>
            <a:ext cx="11129682" cy="5624046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27/ Le traitement recommandé de l’ulcère duodénal non compliqué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basé sur des antibiotiques seuls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Associe une triple antibiothérapie à un traitement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anti-sécrétoire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base d’IPP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d’une durée de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l’éradication de HP dans plus de 90% des cas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Suivi systématiquement d’un traitement de consolidation à base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59954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F07A-03CE-6710-5E9F-386A7FEA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FF2B8A-F560-2686-2F11-23590EE34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94" y="821578"/>
            <a:ext cx="11129682" cy="5624046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27/ Le traitement recommandé de l’ulcère duodénal non compliqué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basé sur des antibiotiques seuls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Associe une triple antibiothérapie à un traitement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anti-sécrétoire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base d’IPP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d’une durée de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 l’éradication de HP dans plus de 90% des cas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Suivi systématiquement d’un traitement de consolidation à base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4370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99016-2EEE-D66F-0C6E-A886FAE2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5884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28/ Devant un ulcère duodénal non compliqué, le traitement d’éradication de Helicobacter pylori proposé en première intention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+ 2 antibiotiques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de 3 antibiotiques pendant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anti-H2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Oméprazole + sels de Bismuth+ Tétracycline+ Métronidazole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09406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580C-C975-47C8-22F9-365AA549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74A80-5EC1-BC20-FFCA-63F1B68D3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5884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28/ Devant un ulcère duodénal non compliqué, le traitement d’éradication de Helicobacter pylori proposé en première intention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+ 2 antibiotiques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de 3 antibiotiques pendant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anti-H2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Oméprazole + sels de Bismuth+ Tétracycline+ Métronidazole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8025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161CB-8D21-DF16-9D08-DDB0C5D5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6333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29/ Après le traitement d’un ulcère duodénal non compliqué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pratique d’une fibroscopie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oesogastro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est systématique pour le contrôle de la cicatrisation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d’éradication de HP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pour éliminer un cancer sont systématiques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L’éradication de HP se fait dans plus de 90% des cas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d’entretien est toujours indiqué pendant 3 à 5 semaines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19067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D46F-1D39-B59D-0970-5A969F4D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63188A-E519-DB30-4AFC-8324F0BE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6333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29/ Après le traitement d’un ulcère duodénal non compliqué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pratique d’une fibroscopie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oesogastro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est systématique pour le contrôle de la cicatrisation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d’éradication de HP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pour éliminer un cancer sont systématiques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L’éradication de HP se fait dans plus de 90% des cas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d’entretien est toujours indiqué pendant 3 à 5 semaines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0902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6835CA-1F27-0F5F-04A5-8CFE6E52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5122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 Chez un patient atteint d’un ulcère gastrique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d’éradication de Helicobacter pylori est systématique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de consolidation par IPP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obligatoire en cas d’ulcère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de contrôle est systématique 2 semaines de la fin de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de l’éradication de Helicobacter pylori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de l’ulcère sont obligatoires même après cicatrisation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05567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56B2-D463-5322-1270-8C91392B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E55886-B48C-728F-1E17-7B30060CF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5122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 Chez un patient atteint d’un ulcère gastrique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d’éradication de Helicobacter pylori est systématique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de consolidation par IPP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obligatoire en cas d’ulcère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de contrôle est systématique 2 semaines de la fin de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de l’éradication de Helicobacter pylori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de l’ulcère sont obligatoires même après cicatrisation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3981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34D9F7-1FAB-21B6-6694-150329F1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3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31/ L’hémorragie digestive d’origine ulcéreuse peut être révélée par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méléna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rectorragies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douleurs abdominales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état de choc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04634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DE5E-DA60-06F9-6575-98B0FDF9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BC70E-021A-1C1F-1E55-60936A47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3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31/ L’hémorragie digestive d’origine ulcéreuse peut être révélée par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méléna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rectorragies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douleurs abdominales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état de choc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36244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5208E2-EFC0-93C6-3DAB-ED465672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7" y="848472"/>
            <a:ext cx="10887635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32/ Devant un ulcère de la face postérieure du bulbe compliqué d’hémorragie, le vaisseau le plus souvent responsable du saignement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hépatique moyenne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pylorique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gastro-épiploïque droite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pancréatico-duodénale inférieure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11643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B2F1-6305-C481-1573-2BDB82D3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A6F607-D755-B451-416A-E9D22F97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7" y="848472"/>
            <a:ext cx="10887635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32/ Devant un ulcère de la face postérieure du bulbe compliqué d’hémorragie, le vaisseau le plus souvent responsable du saignement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hépatique moyenne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pylorique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gastro-épiploïque droite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pancréatico-duodénale inférieure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00068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089C-93F8-B7E4-00EB-41C367E9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579C93-8955-D1B2-D11A-244FD7A03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33/ Les facteurs de risque de récidive hémorragique après traitement endoscopique d’un ulcère bulbaire hémorragique sont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&lt; 60 ans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Malade sous anticoagulants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au niveau de la face antérieure du bulbe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de grande taille &gt;2cm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38943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7DD61E-C9A8-6561-8280-B18DC38C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33/ Les facteurs de risque de récidive hémorragique après traitement endoscopique d’un ulcère bulbaire hémorragique sont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&lt; 60 ans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Malade sous anticoagulants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au niveau de la face antérieure du bulbe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de grande taille &gt;2cm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01418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57858-9E4B-7F98-CB0A-E7395D2A7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6512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34/ Le traitement endoscopique de l’ulcère hémorragique est indiqué si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III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66621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9E31-F4B4-AB36-D8B6-C9BC2461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F4B6CF-7B48-AAE3-4123-8B11B0BE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6512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34/ Le traitement endoscopique de l’ulcère hémorragique est indiqué si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Forrest 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III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00911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A4843-6586-89F4-5C65-7E0FDAAD8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5" y="8036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35/ Au cours de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ces signes peuvent être observés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masse épigastrique palpable.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clapotage à jeun.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défense abdominale.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amaigrissement</a:t>
            </a:r>
          </a:p>
        </p:txBody>
      </p:sp>
    </p:spTree>
    <p:extLst>
      <p:ext uri="{BB962C8B-B14F-4D97-AF65-F5344CB8AC3E}">
        <p14:creationId xmlns:p14="http://schemas.microsoft.com/office/powerpoint/2010/main" val="42769351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80DE-699A-BFF9-A56C-5AE2007B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D5751F-49FB-E863-59DA-4CBC2FAA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5" y="8036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35/ Au cours de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ces signes peuvent être observés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masse épigastrique palpable.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clapotage à jeun.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défense abdominale.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amaigrissement</a:t>
            </a:r>
          </a:p>
        </p:txBody>
      </p:sp>
    </p:spTree>
    <p:extLst>
      <p:ext uri="{BB962C8B-B14F-4D97-AF65-F5344CB8AC3E}">
        <p14:creationId xmlns:p14="http://schemas.microsoft.com/office/powerpoint/2010/main" val="22793136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B3CF71-6003-E8D8-32AF-75D1E180F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36/ Dans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on peut observer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hyperkaliémie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alcalose métabolique.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hypochlorémie.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insuffisance rénale.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anémie.</a:t>
            </a:r>
          </a:p>
        </p:txBody>
      </p:sp>
    </p:spTree>
    <p:extLst>
      <p:ext uri="{BB962C8B-B14F-4D97-AF65-F5344CB8AC3E}">
        <p14:creationId xmlns:p14="http://schemas.microsoft.com/office/powerpoint/2010/main" val="18946851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273E5-360A-D942-93F9-5DBC206B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A8BB48-B5B4-4887-22A1-7FC845BB7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36/ Dans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on peut observer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hyperkaliémie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alcalose métabolique.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hypochlorémie.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insuffisance rénale.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anémie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96433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DB2D7-B93B-1567-79B5-B5C4C29E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696071"/>
            <a:ext cx="1129104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 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Mme Z.H âgée de 56 ans, sous AINS au long cours pour une pathologie rhumatismale, consulte pour des douleurs épigastriques, à type de crampe, depuis 3 mois, survenant 2 à 3h après les repas, avec une sensation de faim douloureuse.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clinique est sans anomalies.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Vous suspectez un ulcère gastrique ou duodénal.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78058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F745D-573C-BBF8-7AF4-23FE0F804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8574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vous demandez chez cette patiente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échographie abdominale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digestive haute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avec injection de produits de contraste iodés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sérologie de Helicobacter Pylori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4486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4FF5-3143-E221-42C8-A961BE04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63A9AE-D256-BF56-11C9-98AC631C8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8574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vous demandez chez cette patiente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échographie abdominale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digestive haute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avec injection de produits de contraste iodés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sérologie de Helicobacter Pylori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93186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CACF-B89C-9648-630C-67FA4EBA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732A2-F39C-674C-E814-B79E0625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0" y="418165"/>
            <a:ext cx="11362765" cy="51309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ainsi objectivé une perte de substance ovalaire de 1 cm sur la face postérieure du bulbe.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d’attaque préconisé chez cette malade en première ligne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sans antibiotiques pendant 14j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07j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Pylera pendant 10j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78882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3F0457-3472-6BFD-66A4-8063E4EDD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0" y="418165"/>
            <a:ext cx="11362765" cy="51309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ainsi objectivé une perte de substance ovalaire de 1 cm sur la face postérieure du bulbe.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d’attaque préconisé chez ce malade en première ligne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sans antibiotiques pendant 14j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07j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Pylera pendant 10j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5261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BA7070-A233-3820-20F8-A3B375BD3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5" y="758825"/>
            <a:ext cx="11237260" cy="5274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Apres le traitement d’attaque, vous préconisez chez cette patiente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d’entretien par IPP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nécessité de poursuivre les AINS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de la cicatrisation de l’ulcère par une fibroscopie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4 à 8 semaines de la fin du traitement avec des biopsies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de HP, moyennant idéalement 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52391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D0A6-7E94-50A6-5ECF-15B0CC16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FA737F-ACE4-60C0-D327-4072B48A9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5" y="758825"/>
            <a:ext cx="11237260" cy="5274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Apres le traitement d’attaque, vous préconisez chez cette patiente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d’entretien par IPP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 nécessité de poursuivre les AINS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de la cicatrisation de l’ulcère par une fibroscopie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4 à 8 semaines de la fin du traitement avec des biopsies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de HP, moyennant idéalement 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52208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0F4AEF-49D9-CFD6-D2D5-F78AA7D61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830542"/>
            <a:ext cx="11192436" cy="5794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Patiente âgée de 67 ans, hypertendu sous captopril, consulte aux urgences pour méléna.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aux urgences trouve une patiente agitée, pale, TAS : 80 mm Hg, extrémités froides.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bilan biologique d’urgence trouve un taux d’hémoglobine : 5.2g/dl – TP : 98% - urée : 11mmol/l et créatinine : 128µmol/l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L’origine ulcéreuse de cette hémorragie a été présumée</a:t>
            </a:r>
          </a:p>
        </p:txBody>
      </p:sp>
    </p:spTree>
    <p:extLst>
      <p:ext uri="{BB962C8B-B14F-4D97-AF65-F5344CB8AC3E}">
        <p14:creationId xmlns:p14="http://schemas.microsoft.com/office/powerpoint/2010/main" val="141625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A7B6-D555-2C70-ECEF-8EF704CC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DBD887-F8E8-13CA-C162-795839C6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14001"/>
            <a:ext cx="1154654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Pour cette patiente, la prise en charge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stabilisation de l’état hémodynamique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transfusion avec comme objectif une hémoglobine supérieure à 8 g/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des 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Sandostatine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chirurgie en urgence d’emblée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13871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71B33-D3F2-ED3D-BEE3-BEF4EC523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14001"/>
            <a:ext cx="1154654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Pour cette patiente, la prise en charge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stabilisation de l’état hémodynamique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transfusion avec comme objectif une hémoglobine supérieure à 8 g/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des 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Sandostatine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chirurgie en urgence d’emblée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64671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D95FAA-0CF1-8DFF-532F-E96DF331A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365" y="516778"/>
            <a:ext cx="10824882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2/L’endoscopie digestive haute montre une perte de substance de 1 cm au niveau de la face antérieure du bulbe avec un vaisseau visible. La classification de Forrest de cet ulcère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923929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6F37-8AF5-A458-990E-84B0DC7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3A3BD2-DA0D-5F59-F22C-6DD0D8587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365" y="516778"/>
            <a:ext cx="10824882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2/L’endoscopie digestive haute montre une perte de substance de 1 cm au niveau de la face antérieure du bulbe avec un vaisseau visible. La classification de Forrest de cet ulcère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75332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0764C6-BD90-A747-5068-F0D0F3E00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3/Chez cette patiente, les facteurs de risque de récidive hémorragique sont: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L’âge de la patiente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siège sur la face antérieure du bulbe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taille de l’ulcère de 1cm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stade Forrest de cet ulcère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20554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364F-5B2E-408B-E7C9-01326281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8D59D8-DA18-E0CC-6E5C-D403DA4BD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3/Chez cette patiente, les facteurs de risque de récidive hémorragique sont: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L’âge de la patiente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siège sur la face antérieure du bulbe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taille de l’ulcère de 1cm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stade Forrest de cet ulcère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86113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689AD-1A7F-46DC-267F-5073873B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3" y="543671"/>
            <a:ext cx="11313458" cy="533717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4/Le traitement de première intention de cet ulcère est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puis arrêt des IPP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associée à un traitement à base d’IPP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 d’emblée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en IV sans traitement endoscopique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puis chirurgie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87865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5FBDC-F3F7-4797-DDAC-A105E9BA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0565CE-5E8F-AF2F-4601-E30F19A6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3" y="543671"/>
            <a:ext cx="11313458" cy="533717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4/Le traitement de première intention de cet ulcère est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puis arrêt des IPP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associée à un traitement à base d’IPP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 d’emblée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en IV sans traitement endoscopique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puis chirurgie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5251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2982-9D71-9D6A-429E-655949DA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BC006F-03B7-DA1A-794F-90342C930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391272"/>
            <a:ext cx="11443447" cy="529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L’épisode hémorragique étant résolu, vous décidez de faire sortir la patiente. La prise en charge ultérieure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concomitante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de consolidation par IPP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pendant 3-5 semaines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endoscopique 4 à 8 semaines après la fin du traitement avec biopsie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 4 à 8 semaines après la fin du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de contrôle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768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6B45B1-0F0F-7DD3-3CB1-3A8A2F35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391272"/>
            <a:ext cx="11443447" cy="529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L’épisode hémorragique étant résolu, vous décidez de faire sortir la patiente. La prise en charge ultérieure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concomitante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de consolidation par IPP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pendant 3-5 semaines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endoscopique 4 à 8 semaines après la fin du traitement avec biopsie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 4 à 8 semaines après la fin du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de contrôle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779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2219E0-38C6-1189-45F2-B5EE5892B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4" y="4450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3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M.H, 56 ans, sans antécédents pathologiques notables, tabagique (40 PA), consulte pour des épigastralgies à type de crampes, évoluant depuis 3 mois, le réveillant pendant la 2</a:t>
            </a:r>
            <a:r>
              <a:rPr lang="fr-F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moitié de la nuit, soulagées par les antisécrétoires. L’examen physique ne révèle pas d’anomalies.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d’ulcère duodénal ou gastrique a été fortement suspecté.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71362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78637C-ECA0-052B-9535-286829472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651247"/>
            <a:ext cx="10914530" cy="5435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Concernant la conduite à tenir chez ce patient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d’une infection à HP par l’un des moyens non invasifs est suffisante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œsogastroduodénale (FOGD) est l’examen complémentaire de première intention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FOGD n’est pas obligatoire en raison d’une forte suspicion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est indiqué devant l’âge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IPP double dose doit être instauré immédiatement avant tout examen complémentaire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82219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C2A7-561A-8116-51DC-8F0A1B69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484C3B-A1E3-5100-66EA-DEC40596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651247"/>
            <a:ext cx="10914530" cy="5435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Concernant la conduite à tenir chez ce patient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d’une infection à HP par l’un des moyens non invasifs est suffisante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œsogastroduodénale (FOGD) est l’examen complémentaire de première intention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FOGD n’est pas obligatoire en raison d’une forte suspicion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est indiqué devant l’âge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IPP double dose doit être instauré immédiatement avant tout examen complémentaire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35556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021AA7-FC66-37F9-6BE6-14E61B32A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687107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investigations ont montré une perte de substance arrondie faisant environ 13 mm de diamètre, au niveau de l’angle de la petite courbure antrale, à berges nettes, et à fond propre.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d’ulcère gastrique non compliqué a été alors retenu. L’examen anatomopathologique a mis en évidence une gastrite chronique active avec présence de HP.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2543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A703-076E-CA8B-0BB8-4F09DD66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22A85E-EBB4-41FF-9476-1D9955BE2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597460"/>
            <a:ext cx="11474823" cy="53999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d’éradication de HP de première intention, en absence d’allergie à la pénicilline, peut-être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bismuthée (Oméprazole double dose+ Tétracycline+ Bismuth 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bithérapie (IPP double dose+ Amoxicilline)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trithérapie (IPP double dose +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Levofloxacine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Métronidazole)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136405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86C8A-2524-26D0-A982-BCAC1C72B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597460"/>
            <a:ext cx="11474823" cy="53999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d’éradication de HP de première intention, en absence d’allergie à la pénicilline, peut-être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bismuthée (Oméprazole double dose+ Tétracycline+ Bismuth 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bithérapie (IPP double dose+ Amoxicilline)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trithérapie (IPP double dose +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Levofloxacine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Métronidazole)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058757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C91A64-6A28-1AEC-16BC-56C87F79C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5526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Concernant le traitement de consolidation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ce cas, vu l’absence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chez ce patient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double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simple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maintenu pendant 6 à 8 semaines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114347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2C24-C5BA-FB55-6E2E-050B778E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A382A0-6FC9-21F1-452A-9984187C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5526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Concernant le traitement de consolidation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ce cas, vu l’absence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chez ce patient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double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simple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maintenu pendant 6 à 8 semaines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78926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1BE80E-909A-A2E9-199A-839FD948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5" y="301625"/>
            <a:ext cx="11524129" cy="5910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Après avoir pris convenablement le traitement, avec une bonne observance thérapeutique, le patient doit bénéficier de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moyennant un des tests non invasifs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afin de vérifier la cicatrisation de l’ulcère, sans obligation de faire des biopsies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2 semaines après la fin de la quadrithérapie, avec obligatoirement des biopsies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biopsies au niveau de la cicatrice de l’ulcère ainsi que des biopsies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-fundiques</a:t>
            </a:r>
          </a:p>
        </p:txBody>
      </p:sp>
    </p:spTree>
    <p:extLst>
      <p:ext uri="{BB962C8B-B14F-4D97-AF65-F5344CB8AC3E}">
        <p14:creationId xmlns:p14="http://schemas.microsoft.com/office/powerpoint/2010/main" val="30174484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9C3B-7038-0EDF-5179-F6900B31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249292-029F-CFA7-2584-F434ADFF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5" y="301625"/>
            <a:ext cx="11524129" cy="5910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Après avoir pris convenablement le traitement, avec une bonne observance thérapeutique, le patient doit bénéficier de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moyennant un des tests non invasifs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afin de vérifier la cicatrisation de l’ulcère, sans obligation de faire des biopsies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2 semaines après la fin de la quadrithérapie, avec obligatoirement des biopsies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biopsies au niveau de la cicatrice de l’ulcère ainsi que des biopsies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antro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-fundiques</a:t>
            </a:r>
          </a:p>
        </p:txBody>
      </p:sp>
    </p:spTree>
    <p:extLst>
      <p:ext uri="{BB962C8B-B14F-4D97-AF65-F5344CB8AC3E}">
        <p14:creationId xmlns:p14="http://schemas.microsoft.com/office/powerpoint/2010/main" val="64821413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B96EC7-FC97-D3A1-AB50-E5A6EFD5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2" y="100087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patient a été perdu de vue pendant plusieurs mois.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reconsulté un an plus tard pour des épigastralgies atypiques, ne cédant pas aux antisécrétoires, avec notion d’amaigrissement important et anorexie.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137217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C3A2C7-A832-741E-AE85-D9BA21A80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3" y="6512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quelle complication à craindre en premier lieu chez ce patient 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sténose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hémorragie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cancer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ulcère perforé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fistule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-digestive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80659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BE9D-4885-1B4F-70E8-9AD5E538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64F013-9A95-3B1D-F09D-D4E8ADF3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3" y="6512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quelle complication à craindre en premier lieu chez ce patient 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sténose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hémorragie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cancer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ulcère perforé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fistule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-digestive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06023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666B-4409-B883-F6C6-10CC7091F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br>
              <a:rPr lang="fr-FR" sz="3200" dirty="0"/>
            </a:br>
            <a:r>
              <a:rPr lang="fr-FR" sz="3200" b="1" dirty="0"/>
              <a:t>Objectif 6 :</a:t>
            </a:r>
            <a:br>
              <a:rPr lang="fr-FR" sz="3200" dirty="0"/>
            </a:br>
            <a:r>
              <a:rPr lang="fr-FR" sz="3200" dirty="0"/>
              <a:t>Reconnaître les formes compliquées de la maladie ulcéreuse gastrique et duodénale à partir</a:t>
            </a:r>
            <a:br>
              <a:rPr lang="fr-FR" sz="3200" dirty="0"/>
            </a:br>
            <a:r>
              <a:rPr lang="fr-FR" sz="3200" dirty="0"/>
              <a:t>des données cliniques et para cliniques.</a:t>
            </a:r>
          </a:p>
        </p:txBody>
      </p:sp>
    </p:spTree>
    <p:extLst>
      <p:ext uri="{BB962C8B-B14F-4D97-AF65-F5344CB8AC3E}">
        <p14:creationId xmlns:p14="http://schemas.microsoft.com/office/powerpoint/2010/main" val="249031211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1642-1C85-4A02-F2CB-E243136F1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982"/>
            <a:ext cx="10515600" cy="5317981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1 : </a:t>
            </a:r>
          </a:p>
          <a:p>
            <a:pPr marL="0" indent="0">
              <a:buNone/>
            </a:pPr>
            <a:r>
              <a:rPr lang="fr-FR" dirty="0"/>
              <a:t>	Concernant le tableau d’un ulcère duodénal perforé, la (les) proposition (s) juste(s) est (sont)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Le début des douleurs siège au niveau de l’épigastre</a:t>
            </a:r>
          </a:p>
          <a:p>
            <a:pPr marL="0" indent="0">
              <a:buNone/>
            </a:pPr>
            <a:r>
              <a:rPr lang="fr-FR" dirty="0"/>
              <a:t>B. La fièvre est présente dès le début des douleurs</a:t>
            </a:r>
          </a:p>
          <a:p>
            <a:pPr marL="0" indent="0">
              <a:buNone/>
            </a:pPr>
            <a:r>
              <a:rPr lang="fr-FR" dirty="0"/>
              <a:t>C. Le début de la symptomatologie est généralement brutal</a:t>
            </a:r>
          </a:p>
          <a:p>
            <a:pPr marL="0" indent="0">
              <a:buNone/>
            </a:pPr>
            <a:r>
              <a:rPr lang="fr-FR" dirty="0"/>
              <a:t>D. Il s’agit d’un tableau de péritonite chimique au début</a:t>
            </a:r>
          </a:p>
          <a:p>
            <a:pPr marL="0" indent="0">
              <a:buNone/>
            </a:pPr>
            <a:r>
              <a:rPr lang="fr-FR" dirty="0"/>
              <a:t>E. Un pneumopéritoine est toujours présent à la radiographie de l’abdomen sans préparation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845621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3F2-CC1F-B194-33C2-E9622D3A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C410-DE8F-7015-BE2F-8878F3D28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982"/>
            <a:ext cx="10515600" cy="5317981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1 : </a:t>
            </a:r>
          </a:p>
          <a:p>
            <a:pPr marL="0" indent="0">
              <a:buNone/>
            </a:pPr>
            <a:r>
              <a:rPr lang="fr-FR" dirty="0"/>
              <a:t>	Concernant le tableau d’un ulcère duodénal perforé, la (les) proposition (s) juste(s) est (sont)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A. Le début des douleurs siège au niveau de l’épigastre</a:t>
            </a:r>
          </a:p>
          <a:p>
            <a:pPr marL="0" indent="0">
              <a:buNone/>
            </a:pPr>
            <a:r>
              <a:rPr lang="fr-FR" dirty="0"/>
              <a:t>B. La fièvre est présente dès le début des douleurs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C. Le début de la symptomatologie est généralement brutal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D. Il s’agit d’un tableau de péritonite chimique au début</a:t>
            </a:r>
          </a:p>
          <a:p>
            <a:pPr marL="0" indent="0">
              <a:buNone/>
            </a:pPr>
            <a:r>
              <a:rPr lang="fr-FR" dirty="0"/>
              <a:t>E. Un pneumopéritoine est constant à la radiographie de l’abdomen sans préparation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73607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6A605-85C6-DF59-5160-EFD1C5A3A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163"/>
            <a:ext cx="10515600" cy="4793673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2 :</a:t>
            </a:r>
          </a:p>
          <a:p>
            <a:pPr marL="0" indent="0">
              <a:buNone/>
            </a:pPr>
            <a:r>
              <a:rPr lang="fr-FR" dirty="0"/>
              <a:t>	Le tableau d’un ulcère duodénal perforé peut poser un problème de diagnostic différentiel avec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Cholécystite aiguë</a:t>
            </a:r>
          </a:p>
          <a:p>
            <a:pPr marL="0" indent="0">
              <a:buNone/>
            </a:pPr>
            <a:r>
              <a:rPr lang="fr-FR" dirty="0"/>
              <a:t>B. Pancréatite aiguë</a:t>
            </a:r>
          </a:p>
          <a:p>
            <a:pPr marL="0" indent="0">
              <a:buNone/>
            </a:pPr>
            <a:r>
              <a:rPr lang="fr-FR" dirty="0"/>
              <a:t>C. IDM inférieur</a:t>
            </a:r>
          </a:p>
          <a:p>
            <a:pPr marL="0" indent="0">
              <a:buNone/>
            </a:pPr>
            <a:r>
              <a:rPr lang="fr-FR" dirty="0"/>
              <a:t>D. Crise hyperalgique d’ulcère</a:t>
            </a:r>
          </a:p>
          <a:p>
            <a:pPr marL="0" indent="0">
              <a:buNone/>
            </a:pPr>
            <a:r>
              <a:rPr lang="fr-FR" dirty="0"/>
              <a:t>E. Angiocholite aiguë </a:t>
            </a:r>
          </a:p>
        </p:txBody>
      </p:sp>
    </p:spTree>
    <p:extLst>
      <p:ext uri="{BB962C8B-B14F-4D97-AF65-F5344CB8AC3E}">
        <p14:creationId xmlns:p14="http://schemas.microsoft.com/office/powerpoint/2010/main" val="280152112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AC5E-2248-0E60-9DD3-3A232182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481F-C3BC-B8C9-D712-59EB49602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163"/>
            <a:ext cx="10515600" cy="4793673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2 :</a:t>
            </a:r>
          </a:p>
          <a:p>
            <a:pPr marL="0" indent="0">
              <a:buNone/>
            </a:pPr>
            <a:r>
              <a:rPr lang="fr-FR" dirty="0"/>
              <a:t>	Le tableau d’un ulcère duodénal perforé peut poser un problème de diagnostic différentiel avec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Cholécystite aiguë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B. Pancréatite aiguë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C. IDM inférieur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D. Crise hyperalgique d’ulcère</a:t>
            </a:r>
          </a:p>
          <a:p>
            <a:pPr marL="0" indent="0">
              <a:buNone/>
            </a:pPr>
            <a:r>
              <a:rPr lang="fr-FR" dirty="0"/>
              <a:t>E. Angiocholite aiguë </a:t>
            </a:r>
          </a:p>
        </p:txBody>
      </p:sp>
    </p:spTree>
    <p:extLst>
      <p:ext uri="{BB962C8B-B14F-4D97-AF65-F5344CB8AC3E}">
        <p14:creationId xmlns:p14="http://schemas.microsoft.com/office/powerpoint/2010/main" val="39579387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5371-43A0-288B-8028-F18A9B6B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Question 3 : </a:t>
            </a:r>
          </a:p>
          <a:p>
            <a:pPr marL="0" indent="0">
              <a:buNone/>
            </a:pPr>
            <a:r>
              <a:rPr lang="fr-FR" dirty="0"/>
              <a:t>	Le premier examen morphologique à demander en cas de suspicion d’un ulcère duodénal perforé,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Echographie abdominale</a:t>
            </a:r>
          </a:p>
          <a:p>
            <a:pPr marL="0" indent="0">
              <a:buNone/>
            </a:pPr>
            <a:r>
              <a:rPr lang="fr-FR" dirty="0"/>
              <a:t>B. TDM abdominale</a:t>
            </a:r>
          </a:p>
          <a:p>
            <a:pPr marL="0" indent="0">
              <a:buNone/>
            </a:pPr>
            <a:r>
              <a:rPr lang="fr-FR" dirty="0"/>
              <a:t>C. Fibroscopie oeso-gastro-duodénale FOGD</a:t>
            </a:r>
          </a:p>
          <a:p>
            <a:pPr marL="0" indent="0">
              <a:buNone/>
            </a:pPr>
            <a:r>
              <a:rPr lang="fr-FR" dirty="0"/>
              <a:t>D. Radiographie de thorax centrée sur les coupoles diaphragmatiques en position débout </a:t>
            </a:r>
          </a:p>
          <a:p>
            <a:pPr marL="0" indent="0">
              <a:buNone/>
            </a:pPr>
            <a:r>
              <a:rPr lang="fr-FR" dirty="0"/>
              <a:t>E. Transit oeso-gastro-duodénal TOGD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81204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EC6D-B7E6-101E-D6AF-F31BDD10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100C1-B17B-5625-BF07-DF816CC12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Question 3 : </a:t>
            </a:r>
          </a:p>
          <a:p>
            <a:pPr marL="0" indent="0">
              <a:buNone/>
            </a:pPr>
            <a:r>
              <a:rPr lang="fr-FR" dirty="0"/>
              <a:t>	Le premier examen morphologique à demander en cas de suspicion d’un ulcère duodénal perforé,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Echographie abdominale</a:t>
            </a:r>
          </a:p>
          <a:p>
            <a:pPr marL="0" indent="0">
              <a:buNone/>
            </a:pPr>
            <a:r>
              <a:rPr lang="fr-FR" dirty="0"/>
              <a:t>B. TDM abdominale</a:t>
            </a:r>
          </a:p>
          <a:p>
            <a:pPr marL="0" indent="0">
              <a:buNone/>
            </a:pPr>
            <a:r>
              <a:rPr lang="fr-FR" dirty="0"/>
              <a:t>C. Fibroscopie oeso-gastro-duodénale FOGD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D. Radiographie de thorax centrée sur les coupoles diaphragmatiques en position débout </a:t>
            </a:r>
          </a:p>
          <a:p>
            <a:pPr marL="0" indent="0">
              <a:buNone/>
            </a:pPr>
            <a:r>
              <a:rPr lang="fr-FR" dirty="0"/>
              <a:t>E. Transit oeso-gastro-duodénal TOGD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91643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CD7A-8B03-B2AB-AE5B-DC293E10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1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3600" dirty="0"/>
              <a:t>Formes compliquées : Ulcère duodénal perforé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0E3CE-2E29-4D2C-1EC5-664C07877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648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Tableau de péritonite aigue ( </a:t>
            </a:r>
            <a:r>
              <a:rPr lang="fr-FR" b="1" dirty="0"/>
              <a:t>principale cause de péritonites sus </a:t>
            </a:r>
            <a:r>
              <a:rPr lang="fr-FR" b="1" dirty="0" err="1"/>
              <a:t>méso-coliques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Douleur brutale , intense, en coup de poignard, épigastrique puis diffuse. 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Péritonite </a:t>
            </a:r>
            <a:r>
              <a:rPr lang="fr-FR" b="1" dirty="0"/>
              <a:t>par perforation </a:t>
            </a:r>
            <a:r>
              <a:rPr lang="fr-FR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1</a:t>
            </a:r>
            <a:r>
              <a:rPr lang="fr-FR" baseline="30000" dirty="0"/>
              <a:t>ère</a:t>
            </a:r>
            <a:r>
              <a:rPr lang="fr-FR" dirty="0"/>
              <a:t> phase chimique (&lt; 6 heures ) : </a:t>
            </a:r>
            <a:r>
              <a:rPr lang="fr-FR" b="1" dirty="0"/>
              <a:t>absence de fièvre et du SIB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2</a:t>
            </a:r>
            <a:r>
              <a:rPr lang="fr-FR" baseline="30000" dirty="0"/>
              <a:t>ème</a:t>
            </a:r>
            <a:r>
              <a:rPr lang="fr-FR" dirty="0"/>
              <a:t> phase bactérienne </a:t>
            </a:r>
          </a:p>
        </p:txBody>
      </p:sp>
    </p:spTree>
    <p:extLst>
      <p:ext uri="{BB962C8B-B14F-4D97-AF65-F5344CB8AC3E}">
        <p14:creationId xmlns:p14="http://schemas.microsoft.com/office/powerpoint/2010/main" val="142067001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28D5-F23C-AC7B-F98D-CFC6EC67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1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4000" dirty="0"/>
              <a:t>Formes compliquées : Ulcère duodénal perforé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78DA-AC96-AB0F-168D-E3471EBE0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63" y="1907668"/>
            <a:ext cx="7905200" cy="4505903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Premier examen complémentaire : </a:t>
            </a:r>
            <a:r>
              <a:rPr lang="fr-FR" b="1" dirty="0"/>
              <a:t>RX thorax centrée sur les coupoles diaphragmatiques en position débout </a:t>
            </a:r>
          </a:p>
          <a:p>
            <a:pPr marL="0" indent="0">
              <a:buNone/>
            </a:pPr>
            <a:r>
              <a:rPr lang="fr-FR" b="1" dirty="0"/>
              <a:t>   Pneumopéritoine (PNP) : </a:t>
            </a:r>
            <a:r>
              <a:rPr lang="fr-FR" b="1" dirty="0">
                <a:solidFill>
                  <a:srgbClr val="FF0000"/>
                </a:solidFill>
              </a:rPr>
              <a:t>Absent dans 30% des cas </a:t>
            </a:r>
          </a:p>
          <a:p>
            <a:pPr marL="0" indent="0" algn="ctr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fr-FR" b="1" dirty="0"/>
          </a:p>
          <a:p>
            <a:pPr marL="0" indent="0" algn="ctr">
              <a:buNone/>
            </a:pPr>
            <a:r>
              <a:rPr lang="fr-FR" b="1" dirty="0"/>
              <a:t>TDM abdominale </a:t>
            </a:r>
          </a:p>
          <a:p>
            <a:pPr marL="0" indent="0" algn="ctr">
              <a:buNone/>
            </a:pPr>
            <a:r>
              <a:rPr lang="fr-FR" b="1" dirty="0"/>
              <a:t>(doute Diagnostic, Absence de PNP)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FF0000"/>
                </a:solidFill>
              </a:rPr>
              <a:t> FOGD : CID si doute sur une perforation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28322-173D-B8CA-D028-6C9102A9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048" y="2122854"/>
            <a:ext cx="3123970" cy="375687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FFFC5F03-73AE-E8AC-A91A-1FEC868364CC}"/>
              </a:ext>
            </a:extLst>
          </p:cNvPr>
          <p:cNvSpPr/>
          <p:nvPr/>
        </p:nvSpPr>
        <p:spPr>
          <a:xfrm>
            <a:off x="4084217" y="3876600"/>
            <a:ext cx="390801" cy="5984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4328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9462-0D59-13E9-B2AD-D3497057A46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4000" dirty="0"/>
              <a:t>Formes compliquées : Ulcère duodénal perforé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8070-4C86-B9A3-23DC-4D180DBB8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480"/>
            <a:ext cx="10515600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 </a:t>
            </a:r>
            <a:r>
              <a:rPr lang="fr-FR" sz="3200" b="1" dirty="0"/>
              <a:t>Diagnostics différentiels : </a:t>
            </a:r>
          </a:p>
          <a:p>
            <a:pPr marL="0" indent="0">
              <a:buNone/>
            </a:pPr>
            <a:endParaRPr lang="fr-FR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Crise hyperalgique d’ulcère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Pancréatite aigue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Infarctus mésentérique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Infarctus du myocarde postéro inférieur</a:t>
            </a:r>
          </a:p>
        </p:txBody>
      </p:sp>
    </p:spTree>
    <p:extLst>
      <p:ext uri="{BB962C8B-B14F-4D97-AF65-F5344CB8AC3E}">
        <p14:creationId xmlns:p14="http://schemas.microsoft.com/office/powerpoint/2010/main" val="139260450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60C5-6545-2AC4-BDCE-993451A7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9745"/>
            <a:ext cx="10515600" cy="261850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4000" dirty="0"/>
              <a:t>Objectif 7 :</a:t>
            </a:r>
            <a:br>
              <a:rPr lang="fr-FR" sz="4000" dirty="0"/>
            </a:br>
            <a:r>
              <a:rPr lang="fr-FR" sz="4000" dirty="0"/>
              <a:t>Planifier la prise en charge thérapeutique de la maladie ulcéreuse gastrique et duodénale,</a:t>
            </a:r>
            <a:br>
              <a:rPr lang="fr-FR" sz="4000" dirty="0"/>
            </a:br>
            <a:r>
              <a:rPr lang="fr-FR" sz="4000" dirty="0"/>
              <a:t>dans ses différentes formes.</a:t>
            </a:r>
          </a:p>
        </p:txBody>
      </p:sp>
    </p:spTree>
    <p:extLst>
      <p:ext uri="{BB962C8B-B14F-4D97-AF65-F5344CB8AC3E}">
        <p14:creationId xmlns:p14="http://schemas.microsoft.com/office/powerpoint/2010/main" val="1491026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9669F-56EB-1803-39F9-F577AF59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673"/>
            <a:ext cx="10515600" cy="51932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4  :</a:t>
            </a:r>
          </a:p>
          <a:p>
            <a:pPr marL="0" indent="0">
              <a:buNone/>
            </a:pPr>
            <a:r>
              <a:rPr lang="fr-FR" dirty="0"/>
              <a:t>	Le traitement chirurgical de référence de l’ulcère duodénal perforé consiste en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Une bi vagotomie avec suture de la perforation et toilette péritonéale </a:t>
            </a:r>
          </a:p>
          <a:p>
            <a:pPr marL="0" indent="0">
              <a:buNone/>
            </a:pPr>
            <a:r>
              <a:rPr lang="fr-FR" dirty="0"/>
              <a:t>B/ Une suture de la perforation avec toilette péritonéale par voie coelioscopique  </a:t>
            </a:r>
          </a:p>
          <a:p>
            <a:pPr marL="0" indent="0">
              <a:buNone/>
            </a:pPr>
            <a:r>
              <a:rPr lang="fr-FR" dirty="0"/>
              <a:t>C/ Une anastomose gastro-jéjunale avec toilette péritonéale</a:t>
            </a:r>
          </a:p>
          <a:p>
            <a:pPr marL="0" indent="0">
              <a:buNone/>
            </a:pPr>
            <a:r>
              <a:rPr lang="fr-FR" dirty="0"/>
              <a:t>D/ Une antrectomie avec anastomose gastro-jéjunale et toilette péritonéale</a:t>
            </a:r>
          </a:p>
          <a:p>
            <a:pPr marL="0" indent="0">
              <a:buNone/>
            </a:pPr>
            <a:r>
              <a:rPr lang="fr-FR" dirty="0"/>
              <a:t>E/ Une </a:t>
            </a:r>
            <a:r>
              <a:rPr lang="fr-FR" dirty="0" err="1"/>
              <a:t>pyloroplastie</a:t>
            </a:r>
            <a:r>
              <a:rPr lang="fr-FR" dirty="0"/>
              <a:t> à la </a:t>
            </a:r>
            <a:r>
              <a:rPr lang="fr-FR" dirty="0" err="1"/>
              <a:t>Judd</a:t>
            </a:r>
            <a:r>
              <a:rPr lang="fr-FR" dirty="0"/>
              <a:t> avec toilette péritonéale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92909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EA36-9333-6E5C-E6D1-3DB57885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9317-808A-F9E5-5313-7D108121D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673"/>
            <a:ext cx="10515600" cy="51932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 4 :</a:t>
            </a:r>
          </a:p>
          <a:p>
            <a:pPr marL="0" indent="0">
              <a:buNone/>
            </a:pPr>
            <a:r>
              <a:rPr lang="fr-FR" dirty="0"/>
              <a:t>	Le traitement chirurgical de référence de l’ulcère duodénal perforé consiste en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Une bi vagotomie avec suture de la perforation et toilette péritonéale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Une suture de la perforation avec toilette péritonéale par voie coelioscopique  </a:t>
            </a:r>
          </a:p>
          <a:p>
            <a:pPr marL="0" indent="0">
              <a:buNone/>
            </a:pPr>
            <a:r>
              <a:rPr lang="fr-FR" dirty="0"/>
              <a:t>C/ Une anastomose gastro-jéjunale avec toilette péritonéale</a:t>
            </a:r>
          </a:p>
          <a:p>
            <a:pPr marL="0" indent="0">
              <a:buNone/>
            </a:pPr>
            <a:r>
              <a:rPr lang="fr-FR" dirty="0"/>
              <a:t>D/ Une antrectomie avec anastomose gastro-jéjunale et toilette péritonéale</a:t>
            </a:r>
          </a:p>
          <a:p>
            <a:pPr marL="0" indent="0">
              <a:buNone/>
            </a:pPr>
            <a:r>
              <a:rPr lang="fr-FR" dirty="0"/>
              <a:t>E/ Une </a:t>
            </a:r>
            <a:r>
              <a:rPr lang="fr-FR" dirty="0" err="1"/>
              <a:t>pyloroplastie</a:t>
            </a:r>
            <a:r>
              <a:rPr lang="fr-FR" dirty="0"/>
              <a:t> à la </a:t>
            </a:r>
            <a:r>
              <a:rPr lang="fr-FR" dirty="0" err="1"/>
              <a:t>Judd</a:t>
            </a:r>
            <a:r>
              <a:rPr lang="fr-FR" dirty="0"/>
              <a:t> avec toilette péritonéale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6805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41E3-F5DC-BF61-355E-2CC8F5EE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69711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Objectif 7 : Traitement chirurgical de l’ulcère duodénal perforé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D7AC-7A17-4F44-7338-E9893D5E9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236"/>
            <a:ext cx="10515600" cy="4389727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Chirurgie + réanimation péri-opératoire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TTT de référence : Voie coelioscopique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Suture simple </a:t>
            </a:r>
            <a:r>
              <a:rPr lang="fr-FR" dirty="0"/>
              <a:t>de la perforation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Toilette péritonéale </a:t>
            </a:r>
            <a:r>
              <a:rPr lang="fr-FR" dirty="0"/>
              <a:t>et prélèvement bactériologique</a:t>
            </a:r>
          </a:p>
          <a:p>
            <a:pPr marL="457200" lvl="1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Alternative : Laparotomie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Toilette péritonéale + plvt Bactério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Bi vagotomie tronculaire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Excision de la perforation + </a:t>
            </a:r>
            <a:r>
              <a:rPr lang="fr-FR" dirty="0" err="1"/>
              <a:t>pyloroplastie</a:t>
            </a:r>
            <a:r>
              <a:rPr lang="fr-FR" dirty="0"/>
              <a:t> à la Judd</a:t>
            </a:r>
          </a:p>
        </p:txBody>
      </p:sp>
    </p:spTree>
    <p:extLst>
      <p:ext uri="{BB962C8B-B14F-4D97-AF65-F5344CB8AC3E}">
        <p14:creationId xmlns:p14="http://schemas.microsoft.com/office/powerpoint/2010/main" val="13454279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5228-B5FA-5FD5-6C92-A8461CB4D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453043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Question 5 : </a:t>
            </a:r>
          </a:p>
          <a:p>
            <a:pPr marL="0" indent="0">
              <a:buNone/>
            </a:pPr>
            <a:r>
              <a:rPr lang="fr-FR" dirty="0"/>
              <a:t>	En cas d’ulcère duodénal hémorragique, quelle (s) est (sont) parmi ces propositions l’(les) indication (s) du traitement chirurgical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 ulcère duodénal Forrest Ia  </a:t>
            </a:r>
          </a:p>
          <a:p>
            <a:pPr marL="0" indent="0">
              <a:buNone/>
            </a:pPr>
            <a:r>
              <a:rPr lang="fr-FR" dirty="0"/>
              <a:t>B/ L’échec du traitement endoscopique </a:t>
            </a:r>
          </a:p>
          <a:p>
            <a:pPr marL="0" indent="0">
              <a:buNone/>
            </a:pPr>
            <a:r>
              <a:rPr lang="fr-FR" dirty="0"/>
              <a:t>C/ L’état de choc hémorragique</a:t>
            </a:r>
          </a:p>
          <a:p>
            <a:pPr marL="0" indent="0">
              <a:buNone/>
            </a:pPr>
            <a:r>
              <a:rPr lang="fr-FR" dirty="0"/>
              <a:t>D/ Un patient sous anti-coagulants </a:t>
            </a:r>
          </a:p>
          <a:p>
            <a:pPr marL="0" indent="0">
              <a:buNone/>
            </a:pPr>
            <a:r>
              <a:rPr lang="fr-FR" dirty="0"/>
              <a:t>E/ Un patient âgé de plus de 80 ans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672465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0AAB0-9C36-D572-C9AD-A7EAB9E2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BBE5-5D66-3635-C04A-AA649B491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453043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Question 5  : </a:t>
            </a:r>
          </a:p>
          <a:p>
            <a:pPr marL="0" indent="0">
              <a:buNone/>
            </a:pPr>
            <a:r>
              <a:rPr lang="fr-FR" dirty="0"/>
              <a:t>	En cas d’ulcère duodénal hémorragique, quelle (s) est (sont) parmi ces propositions l’(les) indication (s) du traitement chirurgical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 ulcère duodénal Forrest Ia 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L’échec du traitement endoscopique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L’état de choc hémorragique</a:t>
            </a:r>
          </a:p>
          <a:p>
            <a:pPr marL="0" indent="0">
              <a:buNone/>
            </a:pPr>
            <a:r>
              <a:rPr lang="fr-FR" dirty="0"/>
              <a:t>D/ Un patient sous anti-coagulants </a:t>
            </a:r>
          </a:p>
          <a:p>
            <a:pPr marL="0" indent="0">
              <a:buNone/>
            </a:pPr>
            <a:r>
              <a:rPr lang="fr-FR" dirty="0"/>
              <a:t>E/ Un patient âgé de plus de 80 ans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67743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B9258-2EC5-D9E8-EC86-774803B14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6  : </a:t>
            </a:r>
          </a:p>
          <a:p>
            <a:pPr marL="0" indent="0">
              <a:buNone/>
            </a:pPr>
            <a:r>
              <a:rPr lang="fr-FR" dirty="0"/>
              <a:t>	Le traitement de référence en cas d’une chirurgie pour ulcère duodénal hémorragique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L’intervention de Weinberg</a:t>
            </a:r>
          </a:p>
          <a:p>
            <a:pPr marL="0" indent="0">
              <a:buNone/>
            </a:pPr>
            <a:r>
              <a:rPr lang="fr-FR" dirty="0"/>
              <a:t>B/ La ligature de l’artère gastro-duodénale</a:t>
            </a:r>
          </a:p>
          <a:p>
            <a:pPr marL="0" indent="0">
              <a:buNone/>
            </a:pPr>
            <a:r>
              <a:rPr lang="fr-FR" dirty="0"/>
              <a:t>C/ L’injection per-opératoire d’adrénaline</a:t>
            </a:r>
          </a:p>
          <a:p>
            <a:pPr marL="0" indent="0">
              <a:buNone/>
            </a:pPr>
            <a:r>
              <a:rPr lang="fr-FR" dirty="0"/>
              <a:t>D/ L’anastomose gastro-jéjunale</a:t>
            </a:r>
          </a:p>
          <a:p>
            <a:pPr marL="0" indent="0">
              <a:buNone/>
            </a:pPr>
            <a:r>
              <a:rPr lang="fr-FR" dirty="0"/>
              <a:t>E/ La coagulation au bistouri électrique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987065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8119-26E6-C160-35E1-713F36C8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872C-1C94-6A8B-4DDD-B62AA26E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 6 : </a:t>
            </a:r>
          </a:p>
          <a:p>
            <a:pPr marL="0" indent="0">
              <a:buNone/>
            </a:pPr>
            <a:r>
              <a:rPr lang="fr-FR" dirty="0"/>
              <a:t>	Le traitement de référence en cas d’une chirurgie pour ulcère duodénal hémorragique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L’intervention de Weinberg</a:t>
            </a:r>
          </a:p>
          <a:p>
            <a:pPr marL="0" indent="0">
              <a:buNone/>
            </a:pPr>
            <a:r>
              <a:rPr lang="fr-FR" dirty="0"/>
              <a:t>B/ La ligature de l’artère gastro-duodénale</a:t>
            </a:r>
          </a:p>
          <a:p>
            <a:pPr marL="0" indent="0">
              <a:buNone/>
            </a:pPr>
            <a:r>
              <a:rPr lang="fr-FR" dirty="0"/>
              <a:t>C/ L’injection per-opératoire d’adrénaline</a:t>
            </a:r>
          </a:p>
          <a:p>
            <a:pPr marL="0" indent="0">
              <a:buNone/>
            </a:pPr>
            <a:r>
              <a:rPr lang="fr-FR" dirty="0"/>
              <a:t>D/ L’anastomose gastro-jéjunale</a:t>
            </a:r>
          </a:p>
          <a:p>
            <a:pPr marL="0" indent="0">
              <a:buNone/>
            </a:pPr>
            <a:r>
              <a:rPr lang="fr-FR" dirty="0"/>
              <a:t>E/ La coagulation au bistouri électrique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737081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A82A-5D22-40C9-ECEA-638955698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7 :</a:t>
            </a:r>
          </a:p>
          <a:p>
            <a:pPr marL="0" indent="0">
              <a:buNone/>
            </a:pPr>
            <a:r>
              <a:rPr lang="fr-FR" dirty="0"/>
              <a:t>	L’intervention de Weinberg pour ulcère duodénal hémorragique comporte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hémostase endo-ulcéreuse</a:t>
            </a:r>
          </a:p>
          <a:p>
            <a:pPr marL="0" indent="0">
              <a:buNone/>
            </a:pPr>
            <a:r>
              <a:rPr lang="fr-FR" dirty="0"/>
              <a:t>B/ Ligature de l’artère gastro-duodénale</a:t>
            </a:r>
          </a:p>
          <a:p>
            <a:pPr marL="0" indent="0">
              <a:buNone/>
            </a:pPr>
            <a:r>
              <a:rPr lang="fr-FR" dirty="0"/>
              <a:t>C/ Bi vagotomie tronculaire</a:t>
            </a:r>
          </a:p>
          <a:p>
            <a:pPr marL="0" indent="0">
              <a:buNone/>
            </a:pPr>
            <a:r>
              <a:rPr lang="fr-FR" dirty="0"/>
              <a:t>D/ Pyloroplastie </a:t>
            </a:r>
          </a:p>
          <a:p>
            <a:pPr marL="0" indent="0">
              <a:buNone/>
            </a:pPr>
            <a:r>
              <a:rPr lang="fr-FR" dirty="0"/>
              <a:t>E/ Une antrectomie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65582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1CE8-6E68-D196-F869-DE449936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FED8-2B0C-9414-C7D1-BDB39EC96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7 :</a:t>
            </a:r>
          </a:p>
          <a:p>
            <a:pPr marL="0" indent="0">
              <a:buNone/>
            </a:pPr>
            <a:r>
              <a:rPr lang="fr-FR" dirty="0"/>
              <a:t>	L’intervention de Weinberg pour ulcère duodénal hémorragique comporte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hémostase endo-ulcéreuse</a:t>
            </a:r>
          </a:p>
          <a:p>
            <a:pPr marL="0" indent="0">
              <a:buNone/>
            </a:pPr>
            <a:r>
              <a:rPr lang="fr-FR" dirty="0"/>
              <a:t>B/ Ligature de l’artère gastro-duodénale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Bi vagotomie tronculaire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Pyloroplastie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E/ Une antrectomie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489772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E412-8CC5-3CC9-76C2-1BFF3F43DAD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fr-FR" dirty="0"/>
              <a:t>Objectif 7 : Traitement chirurgical de </a:t>
            </a:r>
            <a:r>
              <a:rPr lang="fr-FR" b="1" dirty="0"/>
              <a:t>l’ulcère hémorragique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200E-0711-2BCC-C67D-9133ACC00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2015607"/>
            <a:ext cx="7793182" cy="429274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Les indications (10-15 %) :</a:t>
            </a:r>
          </a:p>
          <a:p>
            <a:pPr lvl="1">
              <a:buFontTx/>
              <a:buChar char="-"/>
            </a:pPr>
            <a:r>
              <a:rPr lang="fr-FR" dirty="0"/>
              <a:t>Echec du traitement médical et endoscopique</a:t>
            </a:r>
          </a:p>
          <a:p>
            <a:pPr lvl="1">
              <a:buFontTx/>
              <a:buChar char="-"/>
            </a:pPr>
            <a:r>
              <a:rPr lang="fr-FR" dirty="0"/>
              <a:t>Instabilité hémodynamique réfractaire à la réanimation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  Ulcère duodénal hémorragique :</a:t>
            </a:r>
          </a:p>
          <a:p>
            <a:pPr marL="457200" lvl="1" indent="0">
              <a:buNone/>
            </a:pPr>
            <a:r>
              <a:rPr lang="fr-FR" sz="2800" b="1" dirty="0"/>
              <a:t>   L’intervention de référence </a:t>
            </a:r>
            <a:r>
              <a:rPr lang="fr-FR" dirty="0"/>
              <a:t>: </a:t>
            </a:r>
            <a:r>
              <a:rPr lang="fr-FR" b="1" dirty="0">
                <a:solidFill>
                  <a:srgbClr val="FF0000"/>
                </a:solidFill>
              </a:rPr>
              <a:t>INTERVENTION DE WEINBERG </a:t>
            </a:r>
          </a:p>
          <a:p>
            <a:pPr marL="457200" lvl="1" indent="0">
              <a:buNone/>
            </a:pPr>
            <a:r>
              <a:rPr lang="fr-FR" b="1" dirty="0"/>
              <a:t>Antro-pyloroduodénotomie + hémostase endo-ulcéreuse + BVT + Pyloroplastie à la Mickulitz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b="1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 Ulcère gastrique :excision de l’ulcère avec suture gastrique (Ex. Anapath)</a:t>
            </a:r>
          </a:p>
          <a:p>
            <a:pPr marL="457200" lvl="1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8CBAE-0100-9876-9D77-168BEFE6FA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5" r="60602"/>
          <a:stretch/>
        </p:blipFill>
        <p:spPr>
          <a:xfrm>
            <a:off x="8657532" y="1807301"/>
            <a:ext cx="2550795" cy="2354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2D0F8-4847-3AB2-741D-590D074383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83"/>
          <a:stretch/>
        </p:blipFill>
        <p:spPr>
          <a:xfrm>
            <a:off x="8657532" y="4109321"/>
            <a:ext cx="2550795" cy="235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3826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87E3B-42D8-5FFF-5448-AA47DF4B0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42533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8 : </a:t>
            </a:r>
          </a:p>
          <a:p>
            <a:pPr marL="0" indent="0">
              <a:buNone/>
            </a:pPr>
            <a:r>
              <a:rPr lang="fr-FR" dirty="0"/>
              <a:t>	Le traitement chirurgical de l’ulcère duodénal sténosant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Est indiqué en cas de sténose inflammatoire</a:t>
            </a:r>
          </a:p>
          <a:p>
            <a:pPr marL="0" indent="0">
              <a:buNone/>
            </a:pPr>
            <a:r>
              <a:rPr lang="fr-FR" dirty="0"/>
              <a:t>B/ Est souvent indiqué après échec d’une dilatation endoscopique</a:t>
            </a:r>
          </a:p>
          <a:p>
            <a:pPr marL="0" indent="0">
              <a:buNone/>
            </a:pPr>
            <a:r>
              <a:rPr lang="fr-FR" dirty="0"/>
              <a:t>C/ Associe généralement une bi vagotomie avec une anastomose gastro-jéjunale</a:t>
            </a:r>
          </a:p>
          <a:p>
            <a:pPr marL="0" indent="0">
              <a:buNone/>
            </a:pPr>
            <a:r>
              <a:rPr lang="fr-FR" dirty="0"/>
              <a:t>D/ Une antrectomie est indiquée en cas d’estomac dilaté et atone </a:t>
            </a:r>
          </a:p>
          <a:p>
            <a:pPr marL="0" indent="0">
              <a:buNone/>
            </a:pPr>
            <a:r>
              <a:rPr lang="fr-FR" dirty="0"/>
              <a:t>E/ Un traitement à base d’IPP est prescrit en post opératoire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00486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DAB4-4B09-3538-C140-3023CBD4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E698-CE51-0CE5-3C92-755857CC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42533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8 : </a:t>
            </a:r>
          </a:p>
          <a:p>
            <a:pPr marL="0" indent="0">
              <a:buNone/>
            </a:pPr>
            <a:r>
              <a:rPr lang="fr-FR" dirty="0"/>
              <a:t>	Le traitement chirurgical de l’ulcère duodénal sténosant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Est indiqué en cas de sténose inflammatoire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Est souvent indiqué après échec d’une dilatation endoscopique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Associe généralement une bi vagotomie avec une anastomose gastro-jéjunale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Une antrectomie est indiquée en cas d’estomac dilaté et atone </a:t>
            </a:r>
          </a:p>
          <a:p>
            <a:pPr marL="0" indent="0">
              <a:buNone/>
            </a:pPr>
            <a:r>
              <a:rPr lang="fr-FR" dirty="0"/>
              <a:t>E/ Un traitement à base d’IPP est prescrit en post opératoire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340430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005D-1A0F-F7DE-1827-719D212D46B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fr-FR" dirty="0"/>
              <a:t>Objectif 7 : Traitement chirurgical de l’ulcère sténosant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B26-0F1B-7CB9-8B3B-7C048DA24EC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Indications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Sténose fibreuse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Echec du traitement médical et endoscopique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Association à une autre complication chirurgicale (perforation ++)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dirty="0"/>
              <a:t>                                                         </a:t>
            </a:r>
            <a:r>
              <a:rPr lang="fr-FR" sz="3200" b="1" dirty="0"/>
              <a:t>Geste</a:t>
            </a:r>
          </a:p>
          <a:p>
            <a:pPr marL="457200" lvl="1" indent="0">
              <a:buNone/>
            </a:pPr>
            <a:endParaRPr lang="fr-FR" sz="3200" b="1" dirty="0"/>
          </a:p>
          <a:p>
            <a:pPr marL="457200" lvl="1" indent="0">
              <a:buNone/>
            </a:pPr>
            <a:r>
              <a:rPr lang="fr-FR" sz="1800" b="1" dirty="0"/>
              <a:t>   </a:t>
            </a:r>
            <a:r>
              <a:rPr lang="fr-FR" dirty="0"/>
              <a:t>   Estomac moyennement dilaté                     Estomac très dilaté, atone :</a:t>
            </a:r>
          </a:p>
          <a:p>
            <a:pPr marL="457200" lvl="1" indent="0">
              <a:buNone/>
            </a:pPr>
            <a:r>
              <a:rPr lang="fr-FR" dirty="0"/>
              <a:t>     contractilité conservée : </a:t>
            </a:r>
            <a:r>
              <a:rPr lang="fr-FR" sz="2800" b="1" dirty="0"/>
              <a:t>GEA           </a:t>
            </a:r>
            <a:r>
              <a:rPr lang="fr-FR" b="1" dirty="0"/>
              <a:t>Antrectomie + anast. Gastro -jéjunale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030876-95BD-A8BE-CFEF-328EE3EEB583}"/>
              </a:ext>
            </a:extLst>
          </p:cNvPr>
          <p:cNvSpPr/>
          <p:nvPr/>
        </p:nvSpPr>
        <p:spPr>
          <a:xfrm>
            <a:off x="5001490" y="3702772"/>
            <a:ext cx="1510145" cy="72043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C4D95A-D6B2-85BB-9C62-FC1A667D7148}"/>
              </a:ext>
            </a:extLst>
          </p:cNvPr>
          <p:cNvCxnSpPr/>
          <p:nvPr/>
        </p:nvCxnSpPr>
        <p:spPr>
          <a:xfrm flipH="1">
            <a:off x="4142509" y="4243099"/>
            <a:ext cx="665018" cy="360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8871BC-30DA-0600-8B59-79285314816E}"/>
              </a:ext>
            </a:extLst>
          </p:cNvPr>
          <p:cNvCxnSpPr/>
          <p:nvPr/>
        </p:nvCxnSpPr>
        <p:spPr>
          <a:xfrm>
            <a:off x="6549735" y="4246707"/>
            <a:ext cx="678874" cy="360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99590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6631-67F9-6932-F063-C2765CEF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4293"/>
          </a:xfrm>
        </p:spPr>
        <p:txBody>
          <a:bodyPr>
            <a:normAutofit/>
          </a:bodyPr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F44A-BF33-C254-CB5C-51F96D3D3C8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fr-FR" dirty="0"/>
              <a:t>Mr A.S. ; 64 ans, sous AINS au long cours, consulte aux urgences pour hématémèse. </a:t>
            </a:r>
          </a:p>
          <a:p>
            <a:r>
              <a:rPr lang="fr-FR" dirty="0"/>
              <a:t>L’interrogatoire : Epigastralgies à type de crampes, sans irradiation, calmées par la prise alimentaire depuis 2 semaines avec 2 épisodes similaires l’année dernière.</a:t>
            </a:r>
          </a:p>
          <a:p>
            <a:r>
              <a:rPr lang="fr-FR" dirty="0"/>
              <a:t> A l’examen : FC : 82 bpm/min, TA=12/7.</a:t>
            </a:r>
          </a:p>
          <a:p>
            <a:r>
              <a:rPr lang="fr-FR" dirty="0"/>
              <a:t>Après avoir entamé les mesures de réanimation; FOGD : Ulcère postérieur du bulbe duodénal de 12mm de diamètre avec saignement en nappe.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741032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E95F-ADD9-03FB-1D6B-2EE815DD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26E3A-14BA-4EE4-70F2-1FC47EC0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QCM 1 :</a:t>
            </a:r>
          </a:p>
          <a:p>
            <a:pPr marL="0" indent="0">
              <a:buNone/>
            </a:pPr>
            <a:r>
              <a:rPr lang="fr-FR" dirty="0"/>
              <a:t>	Selon la classification de Forrest, cet ulcère est classé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Forrest Ia</a:t>
            </a:r>
          </a:p>
          <a:p>
            <a:pPr marL="0" indent="0">
              <a:buNone/>
            </a:pPr>
            <a:r>
              <a:rPr lang="fr-FR" dirty="0"/>
              <a:t>B/ Forrest </a:t>
            </a:r>
            <a:r>
              <a:rPr lang="fr-FR" dirty="0" err="1"/>
              <a:t>Ib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C/ Forrest </a:t>
            </a:r>
            <a:r>
              <a:rPr lang="fr-FR" dirty="0" err="1"/>
              <a:t>IIa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D/ Forrest </a:t>
            </a:r>
            <a:r>
              <a:rPr lang="fr-FR" dirty="0" err="1"/>
              <a:t>IIb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E/ Forrest </a:t>
            </a:r>
            <a:r>
              <a:rPr lang="fr-FR" dirty="0" err="1"/>
              <a:t>IIc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871405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9013-EC39-543D-1819-48D4BB07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246C-17CD-5C99-794D-7E9C979F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8777-9F3A-F807-01DD-D9F3E630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dirty="0"/>
              <a:t>QCM 1 :</a:t>
            </a:r>
          </a:p>
          <a:p>
            <a:pPr marL="0" indent="0">
              <a:buNone/>
            </a:pPr>
            <a:r>
              <a:rPr lang="fr-FR" dirty="0"/>
              <a:t>	Selon la classification de Forrest, cet ulcère est classé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Forrest Ia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Forrest </a:t>
            </a:r>
            <a:r>
              <a:rPr lang="fr-FR" b="1" dirty="0" err="1">
                <a:solidFill>
                  <a:srgbClr val="FF0000"/>
                </a:solidFill>
              </a:rPr>
              <a:t>Ib</a:t>
            </a:r>
            <a:endParaRPr lang="fr-F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/>
              <a:t>C/ Forrest </a:t>
            </a:r>
            <a:r>
              <a:rPr lang="fr-FR" dirty="0" err="1"/>
              <a:t>IIa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D/ Forrest </a:t>
            </a:r>
            <a:r>
              <a:rPr lang="fr-FR" dirty="0" err="1"/>
              <a:t>IIb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E/ Forrest </a:t>
            </a:r>
            <a:r>
              <a:rPr lang="fr-FR" dirty="0" err="1"/>
              <a:t>IIc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802875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E478-BF83-ECFA-46EE-B9B522FF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2"/>
            <a:ext cx="10515600" cy="45751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3500" dirty="0"/>
              <a:t>QCM 2 :</a:t>
            </a:r>
          </a:p>
          <a:p>
            <a:pPr marL="0" indent="0">
              <a:buNone/>
            </a:pPr>
            <a:r>
              <a:rPr lang="fr-FR" dirty="0"/>
              <a:t>	En plus des mesures de réanimation, quel(s) traitement (s) proposez-vous dans l’immédiat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 traitement par inhibiteur de la pompe à proton (IPP) par voie intra-veineuse</a:t>
            </a:r>
          </a:p>
          <a:p>
            <a:pPr marL="0" indent="0">
              <a:buNone/>
            </a:pPr>
            <a:r>
              <a:rPr lang="fr-FR" dirty="0"/>
              <a:t>B/ Un traitement par inhibiteur de la pompe à proton (IPP) par voie orale</a:t>
            </a:r>
          </a:p>
          <a:p>
            <a:pPr marL="0" indent="0">
              <a:buNone/>
            </a:pPr>
            <a:r>
              <a:rPr lang="fr-FR" dirty="0"/>
              <a:t>C/ Un traitement endoscopique de l’ulcère hémorragique par injection d’adrénaline diluée</a:t>
            </a:r>
          </a:p>
          <a:p>
            <a:pPr marL="0" indent="0">
              <a:buNone/>
            </a:pPr>
            <a:r>
              <a:rPr lang="fr-FR" dirty="0"/>
              <a:t>D/ Un traitement endoscopique de l’ulcère hémorragique par pose de clips métalliques </a:t>
            </a:r>
          </a:p>
          <a:p>
            <a:pPr marL="0" indent="0">
              <a:buNone/>
            </a:pPr>
            <a:r>
              <a:rPr lang="fr-FR" dirty="0"/>
              <a:t>E/ Un traitement radiologique de l’ulcère hémorragique par voie percutanée</a:t>
            </a:r>
          </a:p>
          <a:p>
            <a:endParaRPr lang="fr-F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E81FC6-ED8B-1F54-54D9-2B4A2685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8" y="250679"/>
            <a:ext cx="10515600" cy="1325563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</p:spTree>
    <p:extLst>
      <p:ext uri="{BB962C8B-B14F-4D97-AF65-F5344CB8AC3E}">
        <p14:creationId xmlns:p14="http://schemas.microsoft.com/office/powerpoint/2010/main" val="53609036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96132-A704-1721-53EB-93719CD6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7687-5133-2D29-6262-73136FD6A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6351"/>
            <a:ext cx="10515600" cy="45751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QCM 2 :</a:t>
            </a:r>
          </a:p>
          <a:p>
            <a:pPr marL="0" indent="0">
              <a:buNone/>
            </a:pPr>
            <a:r>
              <a:rPr lang="fr-FR" dirty="0"/>
              <a:t>	En plus des mesures de réanimation, quel(s) traitement (s) proposez-vous dans l’immédiat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Un traitement par inhibiteur de la pompe à proton (IPP) par voie intra-veineuse</a:t>
            </a:r>
          </a:p>
          <a:p>
            <a:pPr marL="0" indent="0">
              <a:buNone/>
            </a:pPr>
            <a:r>
              <a:rPr lang="fr-FR" dirty="0"/>
              <a:t>B/ Un traitement par inhibiteur de la pompe à proton (IPP) par voie orale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Un traitement endoscopique de l’ulcère hémorragique par injection d’adrénaline diluée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Un traitement endoscopique de l’ulcère hémorragique par pose de clips métalliques </a:t>
            </a:r>
          </a:p>
          <a:p>
            <a:pPr marL="0" indent="0">
              <a:buNone/>
            </a:pPr>
            <a:r>
              <a:rPr lang="fr-FR" dirty="0"/>
              <a:t>E/ Un traitement radiologique de l’ulcère hémorragique par voie percutanée</a:t>
            </a:r>
          </a:p>
          <a:p>
            <a:endParaRPr lang="fr-F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F5FBDB-3F62-17E7-B328-C45E4583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8" y="250679"/>
            <a:ext cx="10515600" cy="1325563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</p:spTree>
    <p:extLst>
      <p:ext uri="{BB962C8B-B14F-4D97-AF65-F5344CB8AC3E}">
        <p14:creationId xmlns:p14="http://schemas.microsoft.com/office/powerpoint/2010/main" val="16506849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A229-7067-0432-BF02-9C9BE1A8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CE83-41AC-9C99-F722-6E57F5921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QCM 3 : </a:t>
            </a:r>
          </a:p>
          <a:p>
            <a:pPr marL="0" indent="0">
              <a:buNone/>
            </a:pPr>
            <a:r>
              <a:rPr lang="fr-FR" dirty="0"/>
              <a:t>	Le(s) facteur(s) de risque de récidive hémorragique chez ce patient est (sont)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L’âge du patient </a:t>
            </a:r>
          </a:p>
          <a:p>
            <a:pPr marL="0" indent="0">
              <a:buNone/>
            </a:pPr>
            <a:r>
              <a:rPr lang="fr-FR" dirty="0"/>
              <a:t>B/ La présence d’un saignement actif à l’endoscopie</a:t>
            </a:r>
          </a:p>
          <a:p>
            <a:pPr marL="0" indent="0">
              <a:buNone/>
            </a:pPr>
            <a:r>
              <a:rPr lang="fr-FR" dirty="0"/>
              <a:t>C/ La taille de l’ulcère </a:t>
            </a:r>
          </a:p>
          <a:p>
            <a:pPr marL="0" indent="0">
              <a:buNone/>
            </a:pPr>
            <a:r>
              <a:rPr lang="fr-FR" dirty="0"/>
              <a:t>D/ Les antécédents de prise d’AINS</a:t>
            </a:r>
          </a:p>
          <a:p>
            <a:pPr marL="0" indent="0">
              <a:buNone/>
            </a:pPr>
            <a:r>
              <a:rPr lang="fr-FR" dirty="0"/>
              <a:t>E/ Le siège postérieur de l’ulcère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91352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4DAB-81F7-E48B-93D8-6B911DFD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D851-C5FE-0671-FDC9-A5595BFE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A139-C233-7AF9-C60E-7B6D687C2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QCM 3 : </a:t>
            </a:r>
          </a:p>
          <a:p>
            <a:pPr marL="0" indent="0">
              <a:buNone/>
            </a:pPr>
            <a:r>
              <a:rPr lang="fr-FR" dirty="0"/>
              <a:t>	Le(s) facteur(s) de risque de récidive hémorragique chez ce patient est (sont)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L’âge du patient </a:t>
            </a:r>
          </a:p>
          <a:p>
            <a:pPr marL="0" indent="0">
              <a:buNone/>
            </a:pPr>
            <a:r>
              <a:rPr lang="fr-FR" dirty="0"/>
              <a:t>B/ La présence d’un saignement actif à l’endoscopie</a:t>
            </a:r>
          </a:p>
          <a:p>
            <a:pPr marL="0" indent="0">
              <a:buNone/>
            </a:pPr>
            <a:r>
              <a:rPr lang="fr-FR" dirty="0"/>
              <a:t>C/ La taille de l’ulcère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Les antécédents de prise d’AINS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E/ Le siège postérieur de l’ulcère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409628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0842-AE35-E47F-9CEC-1DCEE2D6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158875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5322B-4692-F304-0FC9-6E9AE2096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515"/>
            <a:ext cx="10515600" cy="47137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/>
              <a:t>L’évolution initiale après le traitement proposé était favorable. </a:t>
            </a:r>
          </a:p>
          <a:p>
            <a:pPr marL="0" indent="0">
              <a:buNone/>
            </a:pPr>
            <a:r>
              <a:rPr lang="fr-FR" dirty="0"/>
              <a:t>Le lendemain : une récidive de l’hématémèse</a:t>
            </a:r>
          </a:p>
          <a:p>
            <a:pPr marL="0" indent="0">
              <a:buNone/>
            </a:pPr>
            <a:r>
              <a:rPr lang="fr-FR" dirty="0"/>
              <a:t>A l’examen : FC : 120 bpm ; TA : 8/5 avec chute de l’</a:t>
            </a:r>
            <a:r>
              <a:rPr lang="fr-FR" dirty="0" err="1"/>
              <a:t>Hb</a:t>
            </a:r>
            <a:r>
              <a:rPr lang="fr-FR" dirty="0"/>
              <a:t> à 8 g/dl (était à 10,3 g/dl)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QCM 4 : </a:t>
            </a:r>
          </a:p>
          <a:p>
            <a:pPr marL="0" indent="0">
              <a:buNone/>
            </a:pPr>
            <a:r>
              <a:rPr lang="fr-FR" dirty="0"/>
              <a:t>  Quel(s) traitement (s) proposez-vous ?</a:t>
            </a:r>
          </a:p>
          <a:p>
            <a:pPr marL="0" indent="0">
              <a:buNone/>
            </a:pPr>
            <a:r>
              <a:rPr lang="fr-FR" dirty="0"/>
              <a:t>A/ Une deuxième tentative de traitement endoscopique</a:t>
            </a:r>
          </a:p>
          <a:p>
            <a:pPr marL="0" indent="0">
              <a:buNone/>
            </a:pPr>
            <a:r>
              <a:rPr lang="fr-FR" dirty="0"/>
              <a:t>B/ Une transfusion de culots globulaires</a:t>
            </a:r>
          </a:p>
          <a:p>
            <a:pPr marL="0" indent="0">
              <a:buNone/>
            </a:pPr>
            <a:r>
              <a:rPr lang="fr-FR" dirty="0"/>
              <a:t>C/ Un transfert en milieu de réanimation en attente d’un geste urgent d’hémostase</a:t>
            </a:r>
          </a:p>
          <a:p>
            <a:pPr marL="0" indent="0">
              <a:buNone/>
            </a:pPr>
            <a:r>
              <a:rPr lang="fr-FR" dirty="0"/>
              <a:t>D/ Une hémostase radiologique par voie percutanée</a:t>
            </a:r>
          </a:p>
          <a:p>
            <a:pPr marL="0" indent="0">
              <a:buNone/>
            </a:pPr>
            <a:r>
              <a:rPr lang="fr-FR" dirty="0"/>
              <a:t>E/ Une hémostase chirurgicale en urgence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697904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226C-3F16-5BFC-8AD1-9430D26C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68F3-B15E-F580-3DCE-9259349A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241"/>
            <a:ext cx="10515600" cy="1158875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74C1E-7599-1EE2-6C24-9347A6E0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1454727"/>
            <a:ext cx="10945090" cy="47137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L’évolution initiale après le traitement proposé était favorable. </a:t>
            </a:r>
          </a:p>
          <a:p>
            <a:pPr marL="0" indent="0">
              <a:buNone/>
            </a:pPr>
            <a:r>
              <a:rPr lang="fr-FR" dirty="0"/>
              <a:t>Le lendemain : une récidive de l’hématémèse</a:t>
            </a:r>
          </a:p>
          <a:p>
            <a:pPr marL="0" indent="0">
              <a:buNone/>
            </a:pPr>
            <a:r>
              <a:rPr lang="fr-FR" dirty="0"/>
              <a:t>A l’examen : FC : 120 bpm ; TA : 8/5 avec chute de l’</a:t>
            </a:r>
            <a:r>
              <a:rPr lang="fr-FR" dirty="0" err="1"/>
              <a:t>Hb</a:t>
            </a:r>
            <a:r>
              <a:rPr lang="fr-FR" dirty="0"/>
              <a:t> à 8 g/dl (était à 10,3 g/dl)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QCM 4 : </a:t>
            </a:r>
          </a:p>
          <a:p>
            <a:pPr marL="0" indent="0">
              <a:buNone/>
            </a:pPr>
            <a:r>
              <a:rPr lang="fr-FR" dirty="0"/>
              <a:t>  Quel(s) traitement (s) proposez-vous ?</a:t>
            </a:r>
          </a:p>
          <a:p>
            <a:pPr marL="0" indent="0">
              <a:buNone/>
            </a:pPr>
            <a:r>
              <a:rPr lang="fr-FR" dirty="0"/>
              <a:t>A/ Une deuxième tentative de traitement endoscopique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Une transfusion de culots globulaires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Un transfert en milieu de réanimation en attente d’un geste urgent d’hémostase</a:t>
            </a:r>
          </a:p>
          <a:p>
            <a:pPr marL="0" indent="0">
              <a:buNone/>
            </a:pPr>
            <a:r>
              <a:rPr lang="fr-FR" dirty="0"/>
              <a:t>D/ Une hémostase radiologique par voie percutanée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E/ Une hémostase chirurgicale en urgence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020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7960</Words>
  <Application>Microsoft Office PowerPoint</Application>
  <PresentationFormat>Grand écran</PresentationFormat>
  <Paragraphs>1087</Paragraphs>
  <Slides>149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149</vt:i4>
      </vt:variant>
    </vt:vector>
  </HeadingPairs>
  <TitlesOfParts>
    <vt:vector size="155" baseType="lpstr">
      <vt:lpstr>Arial</vt:lpstr>
      <vt:lpstr>Calibri</vt:lpstr>
      <vt:lpstr>Calibri Light</vt:lpstr>
      <vt:lpstr>Times New Roman</vt:lpstr>
      <vt:lpstr>Wingdings</vt:lpstr>
      <vt:lpstr>Office Theme</vt:lpstr>
      <vt:lpstr> Sujet : 74 L’ulcère gastrique et duodénal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Objectif 6 : Reconnaître les formes compliquées de la maladie ulcéreuse gastrique et duodénale à partir des données cliniques et para cliniques.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Formes compliquées : Ulcère duodénal perforé</vt:lpstr>
      <vt:lpstr>Formes compliquées : Ulcère duodénal perforé</vt:lpstr>
      <vt:lpstr>Formes compliquées : Ulcère duodénal perforé</vt:lpstr>
      <vt:lpstr>Objectif 7 : Planifier la prise en charge thérapeutique de la maladie ulcéreuse gastrique et duodénale, dans ses différentes formes.</vt:lpstr>
      <vt:lpstr>Présentation PowerPoint</vt:lpstr>
      <vt:lpstr>Présentation PowerPoint</vt:lpstr>
      <vt:lpstr>Objectif 7 : Traitement chirurgical de l’ulcère duodénal perforé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7 : Traitement chirurgical de l’ulcère hémorragique </vt:lpstr>
      <vt:lpstr>Présentation PowerPoint</vt:lpstr>
      <vt:lpstr>Présentation PowerPoint</vt:lpstr>
      <vt:lpstr>Objectif 7 : Traitement chirurgical de l’ulcère sténosant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Résidanat Sujet : 74 L’ulcère gastrique et duodénal Formes chirurgicales</dc:title>
  <dc:creator>Administrator</dc:creator>
  <cp:lastModifiedBy>Habib Guerfel</cp:lastModifiedBy>
  <cp:revision>65</cp:revision>
  <dcterms:created xsi:type="dcterms:W3CDTF">2023-08-01T17:15:22Z</dcterms:created>
  <dcterms:modified xsi:type="dcterms:W3CDTF">2025-08-27T21:46:50Z</dcterms:modified>
</cp:coreProperties>
</file>
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469" r:id="rId3"/>
    <p:sldId id="482" r:id="rId4"/>
    <p:sldId id="629" r:id="rId5"/>
    <p:sldId id="631" r:id="rId6"/>
    <p:sldId id="457" r:id="rId7"/>
    <p:sldId id="488" r:id="rId8"/>
    <p:sldId id="487" r:id="rId9"/>
    <p:sldId id="587" r:id="rId10"/>
    <p:sldId id="632" r:id="rId11"/>
    <p:sldId id="633" r:id="rId12"/>
    <p:sldId id="585" r:id="rId13"/>
    <p:sldId id="586" r:id="rId14"/>
    <p:sldId id="400" r:id="rId15"/>
    <p:sldId id="588" r:id="rId16"/>
    <p:sldId id="402" r:id="rId17"/>
    <p:sldId id="589" r:id="rId18"/>
    <p:sldId id="416" r:id="rId19"/>
    <p:sldId id="590" r:id="rId20"/>
    <p:sldId id="404" r:id="rId21"/>
    <p:sldId id="491" r:id="rId22"/>
    <p:sldId id="406" r:id="rId23"/>
    <p:sldId id="407" r:id="rId24"/>
    <p:sldId id="408" r:id="rId25"/>
    <p:sldId id="409" r:id="rId26"/>
    <p:sldId id="634" r:id="rId27"/>
    <p:sldId id="635" r:id="rId28"/>
    <p:sldId id="410" r:id="rId29"/>
    <p:sldId id="597" r:id="rId30"/>
    <p:sldId id="412" r:id="rId31"/>
    <p:sldId id="598" r:id="rId32"/>
    <p:sldId id="394" r:id="rId33"/>
    <p:sldId id="459" r:id="rId34"/>
    <p:sldId id="600" r:id="rId35"/>
    <p:sldId id="619" r:id="rId36"/>
    <p:sldId id="261" r:id="rId37"/>
    <p:sldId id="599" r:id="rId38"/>
    <p:sldId id="384" r:id="rId39"/>
    <p:sldId id="460" r:id="rId40"/>
    <p:sldId id="419" r:id="rId41"/>
    <p:sldId id="461" r:id="rId42"/>
    <p:sldId id="418" r:id="rId43"/>
    <p:sldId id="462" r:id="rId44"/>
    <p:sldId id="262" r:id="rId45"/>
    <p:sldId id="423" r:id="rId46"/>
    <p:sldId id="374" r:id="rId47"/>
    <p:sldId id="424" r:id="rId48"/>
    <p:sldId id="376" r:id="rId49"/>
    <p:sldId id="463" r:id="rId50"/>
    <p:sldId id="610" r:id="rId51"/>
    <p:sldId id="620" r:id="rId52"/>
    <p:sldId id="426" r:id="rId53"/>
    <p:sldId id="464" r:id="rId54"/>
    <p:sldId id="428" r:id="rId55"/>
    <p:sldId id="603" r:id="rId56"/>
    <p:sldId id="430" r:id="rId57"/>
    <p:sldId id="431" r:id="rId58"/>
    <p:sldId id="434" r:id="rId59"/>
    <p:sldId id="359" r:id="rId60"/>
    <p:sldId id="606" r:id="rId61"/>
    <p:sldId id="621" r:id="rId62"/>
    <p:sldId id="435" r:id="rId63"/>
    <p:sldId id="604" r:id="rId64"/>
    <p:sldId id="437" r:id="rId65"/>
    <p:sldId id="605" r:id="rId66"/>
    <p:sldId id="439" r:id="rId67"/>
    <p:sldId id="440" r:id="rId68"/>
    <p:sldId id="266" r:id="rId69"/>
    <p:sldId id="441" r:id="rId70"/>
    <p:sldId id="443" r:id="rId71"/>
    <p:sldId id="444" r:id="rId72"/>
    <p:sldId id="442" r:id="rId73"/>
    <p:sldId id="466" r:id="rId74"/>
    <p:sldId id="636" r:id="rId75"/>
    <p:sldId id="637" r:id="rId76"/>
    <p:sldId id="268" r:id="rId77"/>
    <p:sldId id="348" r:id="rId78"/>
    <p:sldId id="448" r:id="rId79"/>
    <p:sldId id="623" r:id="rId80"/>
    <p:sldId id="627" r:id="rId81"/>
    <p:sldId id="628" r:id="rId82"/>
    <p:sldId id="447" r:id="rId83"/>
    <p:sldId id="449" r:id="rId84"/>
    <p:sldId id="345" r:id="rId85"/>
    <p:sldId id="467" r:id="rId86"/>
    <p:sldId id="450" r:id="rId87"/>
    <p:sldId id="641" r:id="rId88"/>
    <p:sldId id="639" r:id="rId89"/>
    <p:sldId id="640" r:id="rId90"/>
    <p:sldId id="290" r:id="rId91"/>
    <p:sldId id="617" r:id="rId92"/>
    <p:sldId id="625" r:id="rId93"/>
    <p:sldId id="615" r:id="rId94"/>
    <p:sldId id="626" r:id="rId95"/>
    <p:sldId id="354" r:id="rId96"/>
    <p:sldId id="355" r:id="rId97"/>
    <p:sldId id="294" r:id="rId98"/>
    <p:sldId id="353" r:id="rId99"/>
    <p:sldId id="352" r:id="rId100"/>
    <p:sldId id="373" r:id="rId101"/>
    <p:sldId id="361" r:id="rId102"/>
    <p:sldId id="362" r:id="rId103"/>
    <p:sldId id="363" r:id="rId104"/>
    <p:sldId id="364" r:id="rId105"/>
    <p:sldId id="365" r:id="rId106"/>
    <p:sldId id="366" r:id="rId107"/>
    <p:sldId id="369" r:id="rId108"/>
    <p:sldId id="380" r:id="rId109"/>
    <p:sldId id="642" r:id="rId110"/>
    <p:sldId id="643" r:id="rId111"/>
    <p:sldId id="644" r:id="rId112"/>
    <p:sldId id="645" r:id="rId113"/>
    <p:sldId id="646" r:id="rId114"/>
    <p:sldId id="647" r:id="rId115"/>
    <p:sldId id="648" r:id="rId1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20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 hasCustomPrompt="1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 hasCustomPrompt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FBEA8F81-DDA7-45D2-8481-974C016212C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7711D9-D47E-4C72-9EDA-6901A42073A9}" type="slidenum">
              <a:rPr lang="fr-FR" smtClean="0"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A8F81-DDA7-45D2-8481-974C016212C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37711D9-D47E-4C72-9EDA-6901A42073A9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 hasCustomPrompt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A8F81-DDA7-45D2-8481-974C016212C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837711D9-D47E-4C72-9EDA-6901A42073A9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 hasCustomPrompt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 hasCustomPrompt="1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BEA8F81-DDA7-45D2-8481-974C016212C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837711D9-D47E-4C72-9EDA-6901A42073A9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 hasCustomPrompt="1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 hasCustomPrompt="1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BEA8F81-DDA7-45D2-8481-974C016212C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837711D9-D47E-4C72-9EDA-6901A42073A9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fr-FR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 hasCustomPrompt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A8F81-DDA7-45D2-8481-974C016212C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37711D9-D47E-4C72-9EDA-6901A42073A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A8F81-DDA7-45D2-8481-974C016212C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7711D9-D47E-4C72-9EDA-6901A42073A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A8F81-DDA7-45D2-8481-974C016212C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37711D9-D47E-4C72-9EDA-6901A42073A9}" type="slidenum">
              <a:rPr lang="fr-FR" smtClean="0"/>
              <a:t>‹N°›</a:t>
            </a:fld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 hasCustomPrompt="1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 hasCustomPrompt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FBEA8F81-DDA7-45D2-8481-974C016212C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837711D9-D47E-4C72-9EDA-6901A42073A9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A8F81-DDA7-45D2-8481-974C016212C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11D9-D47E-4C72-9EDA-6901A42073A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FBEA8F81-DDA7-45D2-8481-974C016212C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837711D9-D47E-4C72-9EDA-6901A42073A9}" type="slidenum">
              <a:rPr lang="fr-FR" smtClean="0"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A8F81-DDA7-45D2-8481-974C016212C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11D9-D47E-4C72-9EDA-6901A42073A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BEA8F81-DDA7-45D2-8481-974C016212C8}" type="datetimeFigureOut">
              <a:rPr lang="fr-FR" smtClean="0"/>
              <a:t>04/07/2025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837711D9-D47E-4C72-9EDA-6901A42073A9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 panose="05000000000000000000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 panose="05020102010507070707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 panose="05000000000000000000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 panose="05000000000000000000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 panose="05000000000000000000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18014" y="2190578"/>
            <a:ext cx="10485755" cy="2851150"/>
          </a:xfrm>
        </p:spPr>
        <p:txBody>
          <a:bodyPr>
            <a:normAutofit/>
          </a:bodyPr>
          <a:lstStyle/>
          <a:p>
            <a:pPr lvl="0">
              <a:spcBef>
                <a:spcPts val="700"/>
              </a:spcBef>
            </a:pPr>
            <a:r>
              <a:rPr lang="fr-FR" cap="none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Bronchiolite  aigue du nourrisson: </a:t>
            </a:r>
            <a:br>
              <a:rPr lang="fr-FR" cap="none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cap="none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Évaluation</a:t>
            </a:r>
            <a:r>
              <a:rPr lang="fr-FR" sz="3600" cap="none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sz="3600" cap="none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cap="none" dirty="0" smtClean="0">
                <a:solidFill>
                  <a:srgbClr val="0070C0"/>
                </a:solidFill>
              </a:rPr>
              <a:t/>
            </a:r>
            <a:br>
              <a:rPr lang="fr-FR" cap="none" dirty="0" smtClean="0">
                <a:solidFill>
                  <a:srgbClr val="0070C0"/>
                </a:solidFill>
              </a:rPr>
            </a:br>
            <a:r>
              <a:rPr lang="fr-FR" dirty="0" smtClean="0">
                <a:solidFill>
                  <a:srgbClr val="0070C0"/>
                </a:solidFill>
              </a:rPr>
              <a:t>          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122022" y="5982789"/>
            <a:ext cx="8882743" cy="668494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0070C0"/>
                </a:solidFill>
              </a:rPr>
              <a:t>Dr </a:t>
            </a:r>
            <a:r>
              <a:rPr lang="fr-FR" dirty="0" err="1" smtClean="0">
                <a:solidFill>
                  <a:srgbClr val="0070C0"/>
                </a:solidFill>
              </a:rPr>
              <a:t>Ines</a:t>
            </a:r>
            <a:r>
              <a:rPr lang="fr-FR" dirty="0" smtClean="0">
                <a:solidFill>
                  <a:srgbClr val="0070C0"/>
                </a:solidFill>
              </a:rPr>
              <a:t> </a:t>
            </a:r>
            <a:r>
              <a:rPr lang="fr-FR" dirty="0" err="1" smtClean="0">
                <a:solidFill>
                  <a:srgbClr val="0070C0"/>
                </a:solidFill>
              </a:rPr>
              <a:t>Maaloul</a:t>
            </a:r>
            <a:r>
              <a:rPr lang="fr-FR" dirty="0" smtClean="0">
                <a:solidFill>
                  <a:srgbClr val="0070C0"/>
                </a:solidFill>
              </a:rPr>
              <a:t>          </a:t>
            </a:r>
            <a:r>
              <a:rPr lang="fr-FR" dirty="0">
                <a:solidFill>
                  <a:srgbClr val="0070C0"/>
                </a:solidFill>
              </a:rPr>
              <a:t>Le </a:t>
            </a:r>
            <a:r>
              <a:rPr lang="fr-FR" dirty="0" smtClean="0">
                <a:solidFill>
                  <a:srgbClr val="0070C0"/>
                </a:solidFill>
              </a:rPr>
              <a:t>04/07/2025</a:t>
            </a:r>
            <a:endParaRPr lang="fr-FR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fr-FR" sz="3600" b="1" dirty="0">
                <a:latin typeface="Arial" pitchFamily="34" charset="0"/>
                <a:cs typeface="Arial" pitchFamily="34" charset="0"/>
              </a:rPr>
              <a:t>QCM1: La bronchiolite aigue du nourrisson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20130" y="1643449"/>
            <a:ext cx="11121081" cy="4700907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est une infection virale des voies aériennes inférieures </a:t>
            </a:r>
            <a:endParaRPr lang="fr-F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est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de diagnostic exclusivement clinique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est évoquée devant un premier épisode de dyspnée inspiratoire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touche le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nourrisson de moins de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 ans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est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très fréquente en période estivale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fr-FR" sz="3600" b="1" dirty="0">
                <a:latin typeface="Arial" pitchFamily="34" charset="0"/>
                <a:cs typeface="Arial" pitchFamily="34" charset="0"/>
              </a:rPr>
              <a:t>QCM1: La bronchiolite aigue du nourrisson: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05740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 une </a:t>
            </a: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infection virale des voies aériennes inférieures </a:t>
            </a:r>
            <a:endParaRPr lang="fr-FR" sz="24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 de </a:t>
            </a: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diagnostic exclusivement clinique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Est évoquée devant un premier épisode de dyspnée inspiratoire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Touche le </a:t>
            </a: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nourrisson de moins de </a:t>
            </a: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ans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Est très fréquente en période estivale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>
                <a:latin typeface="Arial" pitchFamily="34" charset="0"/>
                <a:cs typeface="Arial" pitchFamily="34" charset="0"/>
              </a:rPr>
              <a:t>QCM2: parmi les </a:t>
            </a:r>
            <a:r>
              <a:rPr lang="fr-FR" sz="3600" b="1" dirty="0" smtClean="0">
                <a:latin typeface="Arial" pitchFamily="34" charset="0"/>
                <a:cs typeface="Arial" pitchFamily="34" charset="0"/>
              </a:rPr>
              <a:t>caractéristiques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de la </a:t>
            </a:r>
            <a:r>
              <a:rPr lang="fr-FR" sz="3600" b="1" dirty="0" smtClean="0">
                <a:latin typeface="Arial" pitchFamily="34" charset="0"/>
                <a:cs typeface="Arial" pitchFamily="34" charset="0"/>
              </a:rPr>
              <a:t>bronchiolite, on retient:</a:t>
            </a:r>
            <a:endParaRPr lang="fr-FR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Infection virale des voies respiratoires inférieures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Infection virale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des voies respiratoires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supérieures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1er épisode de dyspnée sifflante avant l'âge de 24 mois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1er épisode de dyspnée sifflante avant l'âge de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12 mois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 diagnostic repose sur la clinique et la radiographie du thorax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72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>
                <a:latin typeface="Arial" pitchFamily="34" charset="0"/>
                <a:cs typeface="Arial" pitchFamily="34" charset="0"/>
              </a:rPr>
              <a:t>QCM2: parmi les </a:t>
            </a:r>
            <a:r>
              <a:rPr lang="fr-FR" sz="3600" b="1" dirty="0" smtClean="0">
                <a:latin typeface="Arial" pitchFamily="34" charset="0"/>
                <a:cs typeface="Arial" pitchFamily="34" charset="0"/>
              </a:rPr>
              <a:t>caractéristiques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de la </a:t>
            </a:r>
            <a:r>
              <a:rPr lang="fr-FR" sz="3600" b="1" dirty="0" err="1" smtClean="0">
                <a:latin typeface="Arial" pitchFamily="34" charset="0"/>
                <a:cs typeface="Arial" pitchFamily="34" charset="0"/>
              </a:rPr>
              <a:t>bronchiolite,on</a:t>
            </a:r>
            <a:r>
              <a:rPr lang="fr-FR" sz="3600" b="1" dirty="0" smtClean="0">
                <a:latin typeface="Arial" pitchFamily="34" charset="0"/>
                <a:cs typeface="Arial" pitchFamily="34" charset="0"/>
              </a:rPr>
              <a:t> retient:</a:t>
            </a:r>
            <a:endParaRPr lang="fr-FR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Infection virale des voies respiratoires inférieures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Infection virale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des voies respiratoires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supérieures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1er épisode de dyspnée sifflante avant l'âge de 24 mois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1er épisode de dyspnée sifflante avant l'âge de </a:t>
            </a: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mois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 diagnostic repose sur la clinique et la radiographie du thorax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626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QCM3: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La bronchiolite aigue du nourrisson: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40260" y="1779373"/>
            <a:ext cx="10175612" cy="4564983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 un pic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épidémique automnal 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 hautement contagieuse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 une pathologie fréquente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Est une maladie à déclaration obligatoire.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constitue un problème de santé publique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QCM3: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La bronchiolite aigue du nourrisson: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32486" y="1890584"/>
            <a:ext cx="10583385" cy="4453772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 un pic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épidémique automnal 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 hautement contagieuse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 une pathologie fréquente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Est une maladie à déclaration obligatoire.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constitue un problème de santé publique</a:t>
            </a:r>
            <a:endParaRPr lang="fr-F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2021" y="166817"/>
            <a:ext cx="10871200" cy="990600"/>
          </a:xfrm>
        </p:spPr>
        <p:txBody>
          <a:bodyPr>
            <a:normAutofit fontScale="90000"/>
          </a:bodyPr>
          <a:lstStyle/>
          <a:p>
            <a:r>
              <a:rPr lang="fr-FR" sz="3200" b="1" dirty="0" smtClean="0">
                <a:latin typeface="Arial" pitchFamily="34" charset="0"/>
                <a:cs typeface="Arial" pitchFamily="34" charset="0"/>
              </a:rPr>
              <a:t>QCM4: Concernant l’agent </a:t>
            </a:r>
            <a:r>
              <a:rPr lang="fr-FR" sz="3200" b="1" dirty="0">
                <a:latin typeface="Arial" pitchFamily="34" charset="0"/>
                <a:cs typeface="Arial" pitchFamily="34" charset="0"/>
              </a:rPr>
              <a:t>pathogène au cours de la bronchiolite aigue du nourrisson: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0000" lnSpcReduction="20000"/>
          </a:bodyPr>
          <a:lstStyle/>
          <a:p>
            <a:endParaRPr lang="fr-FR" dirty="0"/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le VRS est le principal agent  </a:t>
            </a:r>
            <a:r>
              <a:rPr lang="fr-FR" dirty="0" smtClean="0">
                <a:latin typeface="Arial" pitchFamily="34" charset="0"/>
                <a:cs typeface="Arial" pitchFamily="34" charset="0"/>
              </a:rPr>
              <a:t>incriminé (</a:t>
            </a:r>
            <a:r>
              <a:rPr lang="fr-FR" dirty="0">
                <a:latin typeface="Arial" pitchFamily="34" charset="0"/>
                <a:cs typeface="Arial" pitchFamily="34" charset="0"/>
              </a:rPr>
              <a:t>20-40%)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le rhinovirus est responsable d’environ 20% des cas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les coïnfections virales n’existent pas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une coïnfection virale est retrouvée dans environ 20% des cas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le coronavirus peut </a:t>
            </a:r>
            <a:r>
              <a:rPr lang="fr-FR" dirty="0" smtClean="0">
                <a:latin typeface="Arial" pitchFamily="34" charset="0"/>
                <a:cs typeface="Arial" pitchFamily="34" charset="0"/>
              </a:rPr>
              <a:t>être </a:t>
            </a:r>
            <a:r>
              <a:rPr lang="fr-FR" dirty="0">
                <a:latin typeface="Arial" pitchFamily="34" charset="0"/>
                <a:cs typeface="Arial" pitchFamily="34" charset="0"/>
              </a:rPr>
              <a:t>identifié</a:t>
            </a:r>
          </a:p>
          <a:p>
            <a:pPr marL="514350" indent="-514350">
              <a:buFont typeface="+mj-lt"/>
              <a:buAutoNum type="alphaUcPeriod"/>
            </a:pPr>
            <a:endParaRPr lang="fr-FR" dirty="0"/>
          </a:p>
          <a:p>
            <a:pPr marL="514350" indent="-514350">
              <a:buFont typeface="+mj-lt"/>
              <a:buAutoNum type="alphaUcPeriod"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 smtClean="0">
                <a:latin typeface="Arial" pitchFamily="34" charset="0"/>
                <a:cs typeface="Arial" pitchFamily="34" charset="0"/>
              </a:rPr>
              <a:t>QCM 4: </a:t>
            </a:r>
            <a:r>
              <a:rPr lang="fr-FR" sz="3200" b="1" dirty="0">
                <a:latin typeface="Arial" pitchFamily="34" charset="0"/>
                <a:cs typeface="Arial" pitchFamily="34" charset="0"/>
              </a:rPr>
              <a:t>concernant l’agent pathogène au cours de la bronchiolite aigue du nourrisson: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0000" lnSpcReduction="20000"/>
          </a:bodyPr>
          <a:lstStyle/>
          <a:p>
            <a:endParaRPr lang="fr-FR" dirty="0"/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le VRS est le principal agent  </a:t>
            </a:r>
            <a:r>
              <a:rPr lang="fr-FR" dirty="0" smtClean="0">
                <a:latin typeface="Arial" pitchFamily="34" charset="0"/>
                <a:cs typeface="Arial" pitchFamily="34" charset="0"/>
              </a:rPr>
              <a:t>incriminé (</a:t>
            </a:r>
            <a:r>
              <a:rPr lang="fr-FR" dirty="0">
                <a:latin typeface="Arial" pitchFamily="34" charset="0"/>
                <a:cs typeface="Arial" pitchFamily="34" charset="0"/>
              </a:rPr>
              <a:t>20-40%)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 rhinovirus est responsable d’environ 20% des cas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les coïnfections virales n’existent pas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une coïnfection virale est retrouvée dans environ 20% des cas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 coronavirus peut </a:t>
            </a:r>
            <a:r>
              <a:rPr lang="fr-F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être </a:t>
            </a:r>
            <a:r>
              <a:rPr lang="fr-F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identifié</a:t>
            </a:r>
          </a:p>
          <a:p>
            <a:pPr marL="514350" indent="-514350">
              <a:buFont typeface="+mj-lt"/>
              <a:buAutoNum type="alphaUcPeriod"/>
            </a:pPr>
            <a:endParaRPr lang="fr-FR" dirty="0"/>
          </a:p>
          <a:p>
            <a:pPr marL="514350" indent="-514350">
              <a:buFont typeface="+mj-lt"/>
              <a:buAutoNum type="alphaUcPeriod"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>
                <a:latin typeface="Arial" pitchFamily="34" charset="0"/>
                <a:cs typeface="Arial" pitchFamily="34" charset="0"/>
              </a:rPr>
              <a:t>QCM5: Parmi les virus responsables de la bronchiolite , on retient:</a:t>
            </a:r>
          </a:p>
        </p:txBody>
      </p:sp>
      <p:sp>
        <p:nvSpPr>
          <p:cNvPr id="4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0000" lnSpcReduction="20000"/>
          </a:bodyPr>
          <a:lstStyle/>
          <a:p>
            <a:endParaRPr lang="fr-FR" dirty="0"/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Le métapneumovirus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 smtClean="0">
                <a:latin typeface="Arial" pitchFamily="34" charset="0"/>
                <a:cs typeface="Arial" pitchFamily="34" charset="0"/>
              </a:rPr>
              <a:t>Le coronavirus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L’entérovirus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Le </a:t>
            </a:r>
            <a:r>
              <a:rPr lang="fr-FR" dirty="0" err="1">
                <a:latin typeface="Arial" pitchFamily="34" charset="0"/>
                <a:cs typeface="Arial" pitchFamily="34" charset="0"/>
              </a:rPr>
              <a:t>Bocavirus</a:t>
            </a:r>
            <a:endParaRPr lang="fr-FR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Le </a:t>
            </a:r>
            <a:r>
              <a:rPr lang="fr-FR" dirty="0" err="1" smtClean="0">
                <a:latin typeface="Arial" pitchFamily="34" charset="0"/>
                <a:cs typeface="Arial" pitchFamily="34" charset="0"/>
              </a:rPr>
              <a:t>rotavirus</a:t>
            </a:r>
            <a:endParaRPr lang="fr-FR" dirty="0" smtClean="0"/>
          </a:p>
          <a:p>
            <a:pPr marL="514350" indent="-514350">
              <a:buFont typeface="+mj-lt"/>
              <a:buAutoNum type="alphaUcPeriod"/>
            </a:pPr>
            <a:endParaRPr lang="fr-FR" dirty="0" smtClean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823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>
                <a:latin typeface="Arial" pitchFamily="34" charset="0"/>
                <a:cs typeface="Arial" pitchFamily="34" charset="0"/>
              </a:rPr>
              <a:t>QCM5: Parmi les virus responsables de la bronchiolite , on retient:</a:t>
            </a:r>
          </a:p>
        </p:txBody>
      </p:sp>
      <p:sp>
        <p:nvSpPr>
          <p:cNvPr id="4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0000" lnSpcReduction="20000"/>
          </a:bodyPr>
          <a:lstStyle/>
          <a:p>
            <a:endParaRPr lang="fr-FR" dirty="0"/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 métapneumovirus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 coronavirus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L’entérovirus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 </a:t>
            </a:r>
            <a:r>
              <a:rPr lang="fr-FR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Bocavirus</a:t>
            </a:r>
            <a:endParaRPr lang="fr-FR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Le </a:t>
            </a:r>
            <a:r>
              <a:rPr lang="fr-FR" dirty="0" err="1" smtClean="0">
                <a:latin typeface="Arial" pitchFamily="34" charset="0"/>
                <a:cs typeface="Arial" pitchFamily="34" charset="0"/>
              </a:rPr>
              <a:t>rotavirus</a:t>
            </a:r>
            <a:endParaRPr lang="fr-FR" dirty="0" smtClean="0"/>
          </a:p>
          <a:p>
            <a:pPr marL="514350" indent="-514350">
              <a:buFont typeface="+mj-lt"/>
              <a:buAutoNum type="alphaUcPeriod"/>
            </a:pPr>
            <a:endParaRPr lang="fr-FR" dirty="0" smtClean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049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b="1" dirty="0">
                <a:latin typeface="Arial" pitchFamily="34" charset="0"/>
                <a:cs typeface="Arial" pitchFamily="34" charset="0"/>
              </a:rPr>
              <a:t>QCM </a:t>
            </a:r>
            <a:r>
              <a:rPr lang="fr-FR" sz="3200" b="1" dirty="0" smtClean="0">
                <a:latin typeface="Arial" pitchFamily="34" charset="0"/>
                <a:cs typeface="Arial" pitchFamily="34" charset="0"/>
              </a:rPr>
              <a:t>6: </a:t>
            </a:r>
            <a:r>
              <a:rPr lang="fr-FR" sz="3200" b="1" dirty="0">
                <a:latin typeface="Arial" pitchFamily="34" charset="0"/>
                <a:cs typeface="Arial" pitchFamily="34" charset="0"/>
              </a:rPr>
              <a:t>au cours de la bronchiolite aigue du nourrisson: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67030" y="1600200"/>
            <a:ext cx="11320780" cy="449580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notion d’un contage viral est souvent retrouvée à l’anamnèse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dyspnée apparait généralement au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ème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jour d’évolution de la maladie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dyspnée est inaugurale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dyspnée est précédée par une rhinite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fièvre est constante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b="1" dirty="0">
                <a:latin typeface="Arial" pitchFamily="34" charset="0"/>
                <a:cs typeface="Arial" pitchFamily="34" charset="0"/>
              </a:rPr>
              <a:t>QCM </a:t>
            </a:r>
            <a:r>
              <a:rPr lang="fr-FR" sz="3200" b="1" dirty="0" smtClean="0">
                <a:latin typeface="Arial" pitchFamily="34" charset="0"/>
                <a:cs typeface="Arial" pitchFamily="34" charset="0"/>
              </a:rPr>
              <a:t>6: </a:t>
            </a:r>
            <a:r>
              <a:rPr lang="fr-FR" sz="3200" b="1" dirty="0">
                <a:latin typeface="Arial" pitchFamily="34" charset="0"/>
                <a:cs typeface="Arial" pitchFamily="34" charset="0"/>
              </a:rPr>
              <a:t>a</a:t>
            </a:r>
            <a:r>
              <a:rPr lang="fr-FR" sz="3200" b="1" dirty="0" smtClean="0">
                <a:latin typeface="Arial" pitchFamily="34" charset="0"/>
                <a:cs typeface="Arial" pitchFamily="34" charset="0"/>
              </a:rPr>
              <a:t>u cours </a:t>
            </a:r>
            <a:r>
              <a:rPr lang="fr-FR" sz="3200" b="1" dirty="0">
                <a:latin typeface="Arial" pitchFamily="34" charset="0"/>
                <a:cs typeface="Arial" pitchFamily="34" charset="0"/>
              </a:rPr>
              <a:t>de la bronchiolite aigue du nourrisson: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67030" y="1600200"/>
            <a:ext cx="11320780" cy="449580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notion d’un contage viral est souvent retrouvée à l’anamnèse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dyspnée apparait généralement au 3ème jour d’évolution de la maladie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dyspnée est inaugurale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dyspnée est précédée par une rhinite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fièvre est constante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74135" y="202963"/>
            <a:ext cx="10871200" cy="990600"/>
          </a:xfrm>
        </p:spPr>
        <p:txBody>
          <a:bodyPr>
            <a:normAutofit/>
          </a:bodyPr>
          <a:lstStyle/>
          <a:p>
            <a:pPr algn="just"/>
            <a:r>
              <a:rPr lang="fr-FR" sz="2900" b="1" dirty="0">
                <a:latin typeface="Arial" pitchFamily="34" charset="0"/>
                <a:cs typeface="Arial" pitchFamily="34" charset="0"/>
              </a:rPr>
              <a:t>QCM 7: Les éléments d’anamnèse utiles pour l’orientation diagnostique d’une bronchiolite aigue du nourrisson sont 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704336" y="1853514"/>
            <a:ext cx="10311536" cy="4490842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L’âge inférieur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à 12 mois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La notion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de premier épisode de ce type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La notion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de contage viral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Début brutal des symptômes respiratoires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l’atopie familiale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7290" y="228600"/>
            <a:ext cx="11260774" cy="990600"/>
          </a:xfrm>
        </p:spPr>
        <p:txBody>
          <a:bodyPr>
            <a:noAutofit/>
          </a:bodyPr>
          <a:lstStyle/>
          <a:p>
            <a:pPr algn="just"/>
            <a:r>
              <a:rPr lang="fr-FR" sz="2900" b="1" dirty="0">
                <a:latin typeface="Arial" pitchFamily="34" charset="0"/>
                <a:cs typeface="Arial" pitchFamily="34" charset="0"/>
              </a:rPr>
              <a:t>QCM7: Les éléments d’anamnèse utiles pour l’orientation diagnostique d’une bronchiolite aigue du nourrisson sont: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05740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l’âge inférieur à 12 mois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notion de premier épisode de ce type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notion de contage viral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Début brutal des symptômes respiratoires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l’atopie familiale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 8:  Le tableau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clinique habituel de la bronchiolite aigue du nourrisson peut comporter 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05740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difficultés alimentaires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fièvre  modérée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toux quinteuse avec cyanose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stridor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rhinorrhée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 précède l’installation de la dyspnée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 8: 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le tableau clinique habituel de la bronchiolite aigue du nourrisson peut comporter 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790832" y="1791730"/>
            <a:ext cx="10225039" cy="455262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des difficultés alimentaires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une fièvre modérée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une toux quinteuse avec cyanose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un stridor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une </a:t>
            </a:r>
            <a:r>
              <a:rPr lang="fr-FR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rhinorrhée</a:t>
            </a: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qui précède l’installation de la dyspnée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 9: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éléments d’anamnèse contre le diagnostic de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bronchiolite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52616" y="1878227"/>
            <a:ext cx="10163255" cy="4823019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Antécédents d’épisodes similaires de dyspnée sifflante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Notion de contage viral dans l’entourage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 début brutal des symptômes respiratoires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</a:t>
            </a:r>
            <a:r>
              <a:rPr lang="fr-FR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atopie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familiale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Antécédent de prématurité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9395" y="216243"/>
            <a:ext cx="10871200" cy="990600"/>
          </a:xfrm>
        </p:spPr>
        <p:txBody>
          <a:bodyPr>
            <a:noAutofit/>
          </a:bodyPr>
          <a:lstStyle/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 9: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éléments d’anamnèse contre le diagnostic de Bronchiolite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27904" y="1779373"/>
            <a:ext cx="10187968" cy="4921873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anose="020B0604020202020204" pitchFamily="34" charset="0"/>
              </a:rPr>
              <a:t>Antécédents d’épisodes similaires de dyspnée sifflante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Notion de contage viral dans l’entourage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début brutal des symptômes respiratoires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atopie familiale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Antécédent de prématurité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 10: L’examen physique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, au cours de la bronchiolite aigue du nourrisson, peut montrer: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926758" y="1841157"/>
            <a:ext cx="10089114" cy="4503199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Un freinage expiratoire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Un stridor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Des râles </a:t>
            </a:r>
            <a:r>
              <a:rPr lang="fr-FR" sz="2400" dirty="0" err="1" smtClean="0">
                <a:latin typeface="Arial" pitchFamily="34" charset="0"/>
                <a:cs typeface="Arial" pitchFamily="34" charset="0"/>
              </a:rPr>
              <a:t>crépitants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Des râles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sibilants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Un stridor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 10: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l’examen physique, au cours de la </a:t>
            </a:r>
            <a:r>
              <a:rPr lang="fr-FR" sz="3600" dirty="0">
                <a:latin typeface="Arial" pitchFamily="34" charset="0"/>
                <a:cs typeface="Arial" pitchFamily="34" charset="0"/>
              </a:rPr>
              <a:t>bronchiolite aigue du nourrisson, peut montrer: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42552" y="1865870"/>
            <a:ext cx="10373320" cy="447848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 freinage expiratoire</a:t>
            </a:r>
            <a:endParaRPr lang="fr-FR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un stridor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Des râles </a:t>
            </a:r>
            <a:r>
              <a:rPr lang="fr-FR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crépitants</a:t>
            </a:r>
            <a:endParaRPr lang="fr-FR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Des râles </a:t>
            </a: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sibilants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Un stridor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 11: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Au cours de la bronchiolite aigue du nourrisson: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902044" y="1729946"/>
            <a:ext cx="10113828" cy="4614410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la présence de râles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crépitants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témoigne de l’atteinte alvéolaire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la présence de râles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crépitants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témoigne de l’atteinte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bronchiolaire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wheezing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témoigne de l’atteinte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bronchiolaire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les râles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crépitants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sont objectivés lors de l’expiration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les râles sibilants sont objectivés lors de l’inspiration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 11: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Au cours de la bronchiolite aigue du nourrisson: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15546" y="1655805"/>
            <a:ext cx="10200325" cy="4688551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la présence de râles </a:t>
            </a:r>
            <a:r>
              <a:rPr lang="fr-FR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crépitants</a:t>
            </a: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témoigne de l’atteinte alvéolaire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la présence de râles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crépitants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témoigne de l’atteinte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bronchiolaire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 </a:t>
            </a:r>
            <a:r>
              <a:rPr lang="fr-FR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wheezing</a:t>
            </a: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témoigne de l’atteinte </a:t>
            </a:r>
            <a:r>
              <a:rPr lang="fr-FR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bronchiolaire</a:t>
            </a:r>
            <a:endParaRPr lang="fr-FR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les râles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crépitants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sont objectivés lors de l’expiration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les râles sibilants sont objectivés lors de l’inspiration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QCM12: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Au cours de la bronchiolite aigue du nourrisson, la radiographie thoracique est 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56054" y="1804086"/>
            <a:ext cx="10459817" cy="4540270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Est indiquée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en cas de doute diagnostique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Est indiquée en cas de fièvre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Est indiquée en cas </a:t>
            </a:r>
            <a:r>
              <a:rPr lang="fr-FR" sz="2400" dirty="0" smtClean="0">
                <a:latin typeface="Arial" pitchFamily="34" charset="0"/>
                <a:cs typeface="Arial" pitchFamily="34" charset="0"/>
              </a:rPr>
              <a:t>d’évolution trainante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Est indiquée en cas de </a:t>
            </a:r>
            <a:r>
              <a:rPr lang="fr-FR" sz="2400" dirty="0" smtClean="0">
                <a:latin typeface="Arial" pitchFamily="34" charset="0"/>
                <a:cs typeface="Arial" pitchFamily="34" charset="0"/>
              </a:rPr>
              <a:t>forme sévère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Est systématique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QCM12: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Au cours de la bronchiolite aigue du nourrisson, la radiographie thoracique </a:t>
            </a:r>
            <a:r>
              <a:rPr lang="fr-FR" sz="3600" b="1" dirty="0" smtClean="0">
                <a:latin typeface="Arial" pitchFamily="34" charset="0"/>
                <a:cs typeface="Arial" pitchFamily="34" charset="0"/>
              </a:rPr>
              <a:t>: </a:t>
            </a:r>
            <a:endParaRPr lang="fr-FR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03190" y="1680519"/>
            <a:ext cx="10212682" cy="4663837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Est indiquée </a:t>
            </a: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en cas de doute diagnostique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Est indiquée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en cas de fièvre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Est indiquée </a:t>
            </a: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en cas </a:t>
            </a:r>
            <a:r>
              <a:rPr lang="fr-FR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d’évolution trainante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Est indiquée </a:t>
            </a: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en cas de </a:t>
            </a:r>
            <a:r>
              <a:rPr lang="fr-FR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forme sévère</a:t>
            </a:r>
            <a:endParaRPr lang="fr-FR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Est systématique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>
                <a:latin typeface="Arial" pitchFamily="34" charset="0"/>
                <a:cs typeface="Arial" pitchFamily="34" charset="0"/>
              </a:rPr>
              <a:t>QCM13:Parmi les indications de la radiographie thoracique dans la bronchiolite, on retient: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3200" dirty="0">
                <a:latin typeface="Arial" pitchFamily="34" charset="0"/>
                <a:cs typeface="Arial" pitchFamily="34" charset="0"/>
              </a:rPr>
              <a:t>Fièvre à 40°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3200" dirty="0" smtClean="0">
                <a:latin typeface="Arial" pitchFamily="34" charset="0"/>
                <a:cs typeface="Arial" pitchFamily="34" charset="0"/>
              </a:rPr>
              <a:t>Suspicion de myocardite</a:t>
            </a:r>
            <a:endParaRPr lang="fr-FR" sz="3200" dirty="0"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3100" dirty="0">
                <a:latin typeface="Arial" pitchFamily="34" charset="0"/>
                <a:cs typeface="Arial" pitchFamily="34" charset="0"/>
              </a:rPr>
              <a:t>Suspicion de trouble de la ventilation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3100" dirty="0">
                <a:latin typeface="Arial" pitchFamily="34" charset="0"/>
                <a:cs typeface="Arial" pitchFamily="34" charset="0"/>
              </a:rPr>
              <a:t>Persistance des </a:t>
            </a:r>
            <a:r>
              <a:rPr lang="fr-FR" sz="3100" dirty="0" smtClean="0">
                <a:latin typeface="Arial" pitchFamily="34" charset="0"/>
                <a:cs typeface="Arial" pitchFamily="34" charset="0"/>
              </a:rPr>
              <a:t>symptômes </a:t>
            </a:r>
            <a:r>
              <a:rPr lang="fr-FR" sz="3100" dirty="0">
                <a:latin typeface="Arial" pitchFamily="34" charset="0"/>
                <a:cs typeface="Arial" pitchFamily="34" charset="0"/>
              </a:rPr>
              <a:t>après 5 à7 jours d’évolution d’une bronchiolite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3100" dirty="0">
                <a:latin typeface="Arial" pitchFamily="34" charset="0"/>
                <a:cs typeface="Arial" pitchFamily="34" charset="0"/>
              </a:rPr>
              <a:t>Hyperleucocytose à </a:t>
            </a:r>
            <a:r>
              <a:rPr lang="fr-FR" sz="3100" dirty="0" smtClean="0">
                <a:latin typeface="Arial" pitchFamily="34" charset="0"/>
                <a:cs typeface="Arial" pitchFamily="34" charset="0"/>
              </a:rPr>
              <a:t>prédominance </a:t>
            </a:r>
            <a:r>
              <a:rPr lang="fr-FR" sz="3100" dirty="0">
                <a:latin typeface="Arial" pitchFamily="34" charset="0"/>
                <a:cs typeface="Arial" pitchFamily="34" charset="0"/>
              </a:rPr>
              <a:t>PNN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037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>
                <a:latin typeface="Arial" pitchFamily="34" charset="0"/>
                <a:cs typeface="Arial" pitchFamily="34" charset="0"/>
              </a:rPr>
              <a:t>QCM13:Parmi les indications de la radiographie thoracique dans la bronchiolite, on retient: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3200" dirty="0">
                <a:latin typeface="Arial" pitchFamily="34" charset="0"/>
                <a:cs typeface="Arial" pitchFamily="34" charset="0"/>
              </a:rPr>
              <a:t>Fièvre à 40°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Suspicion de myocardite</a:t>
            </a:r>
            <a:endParaRPr lang="fr-FR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31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Suspicion de trouble de la ventilation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31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Persistance des </a:t>
            </a:r>
            <a:r>
              <a:rPr lang="fr-FR" sz="31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symptômes </a:t>
            </a:r>
            <a:r>
              <a:rPr lang="fr-FR" sz="31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après 5 à7 jours d’évolution d’une bronchiolite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3100" dirty="0">
                <a:latin typeface="Arial" pitchFamily="34" charset="0"/>
                <a:cs typeface="Arial" pitchFamily="34" charset="0"/>
              </a:rPr>
              <a:t>Hyperleucocytose à </a:t>
            </a:r>
            <a:r>
              <a:rPr lang="fr-FR" sz="3100" dirty="0" smtClean="0">
                <a:latin typeface="Arial" pitchFamily="34" charset="0"/>
                <a:cs typeface="Arial" pitchFamily="34" charset="0"/>
              </a:rPr>
              <a:t>prédominance </a:t>
            </a:r>
            <a:r>
              <a:rPr lang="fr-FR" sz="3100" dirty="0">
                <a:latin typeface="Arial" pitchFamily="34" charset="0"/>
                <a:cs typeface="Arial" pitchFamily="34" charset="0"/>
              </a:rPr>
              <a:t>PNN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8658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QCM14: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les signes radiologiques possibles au cours de la bronchiolite aigue du nourrisson: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05740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une ascension des coupoles diaphragmatiques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un coeur en goutte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une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horizontalisation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des cotes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une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hyperclarté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des deux champs pulmonaires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un pincement des espaces intercostaux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QCM14: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les signes radiologiques possibles au cours de la bronchiolite aigue du nourrisson: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05740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une ascension des coupoles diaphragmatiques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 coeur en goutte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une </a:t>
            </a:r>
            <a:r>
              <a:rPr lang="fr-FR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horizontalisation</a:t>
            </a: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des cotes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une </a:t>
            </a:r>
            <a:r>
              <a:rPr lang="fr-FR" sz="24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hyperclarté</a:t>
            </a: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des deux champs pulmonaires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un pincement des espaces intercostaux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 15: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concernant les examens comlpèmentaires au cours de la bronchiolite aigue du nourrisson: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93124" y="1643449"/>
            <a:ext cx="11182865" cy="4700907"/>
          </a:xfrm>
        </p:spPr>
        <p:txBody>
          <a:bodyPr>
            <a:normAutofit fontScale="92500"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La radiographie du thorax est systématique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la radiographie thoracique est indiquée dans les formes sévères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la réalisation d’une CRP et d’une NFS est indiquée en cas de fièvre mal tolérée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la réalisation de gaz du sang est indiquée pour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tous les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nourrissons hospitalisés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la recherche virale est faite à visée étiologique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 15: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concernant les examens </a:t>
            </a:r>
            <a:r>
              <a:rPr lang="fr-FR" sz="3600" b="1" dirty="0" err="1" smtClean="0">
                <a:latin typeface="Arial" pitchFamily="34" charset="0"/>
                <a:cs typeface="Arial" pitchFamily="34" charset="0"/>
              </a:rPr>
              <a:t>complèmentaires</a:t>
            </a:r>
            <a:r>
              <a:rPr lang="fr-FR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au cours de la bronchiolite aigue du nourrisson: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33632" y="1680519"/>
            <a:ext cx="11553568" cy="4663837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radiographie du thorax est systématique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radiographie thoracique est indiquée dans les formes sévères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réalisation d’une CRP et d’une NFS est indiquée en cas de fièvre mal tolérée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la réalisation de gaz du sang est indiquée pour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tous les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nourrissons hospitalisés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la recherche virale est faite à visée étiologique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0490" y="143142"/>
            <a:ext cx="10871200" cy="990600"/>
          </a:xfrm>
        </p:spPr>
        <p:txBody>
          <a:bodyPr>
            <a:normAutofit fontScale="90000"/>
          </a:bodyPr>
          <a:lstStyle/>
          <a:p>
            <a:pPr algn="just"/>
            <a:r>
              <a:rPr lang="fr-FR" sz="3100" b="1" dirty="0" smtClean="0">
                <a:latin typeface="Arial" pitchFamily="34" charset="0"/>
                <a:cs typeface="Arial" pitchFamily="34" charset="0"/>
              </a:rPr>
              <a:t>QCM16: </a:t>
            </a:r>
            <a:r>
              <a:rPr lang="fr-FR" sz="3100" b="1" dirty="0">
                <a:latin typeface="Arial" pitchFamily="34" charset="0"/>
                <a:cs typeface="Arial" pitchFamily="34" charset="0"/>
              </a:rPr>
              <a:t>Parmi les nourrissons suivants, quels sont ceux qui sont à risque de présenter une forme grave de la bronchiolite aigue du nourrisson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1595" y="1723768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Les nourrissons&lt;6 mois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Les patients ayant un déficit immunitaire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Les nourrissons ayant un terrain d’atopie familiale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Les patients ayant une cardiopathie congénitale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Les patients ayant une maladie neuromusculaire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606" y="151688"/>
            <a:ext cx="11317361" cy="990600"/>
          </a:xfrm>
        </p:spPr>
        <p:txBody>
          <a:bodyPr>
            <a:normAutofit fontScale="90000"/>
          </a:bodyPr>
          <a:lstStyle/>
          <a:p>
            <a:pPr algn="just"/>
            <a:r>
              <a:rPr lang="fr-FR" sz="3100" b="1" dirty="0" smtClean="0">
                <a:latin typeface="Arial" pitchFamily="34" charset="0"/>
                <a:cs typeface="Arial" pitchFamily="34" charset="0"/>
              </a:rPr>
              <a:t>QCM16: </a:t>
            </a:r>
            <a:r>
              <a:rPr lang="fr-FR" sz="3100" b="1" dirty="0">
                <a:latin typeface="Arial" pitchFamily="34" charset="0"/>
                <a:cs typeface="Arial" pitchFamily="34" charset="0"/>
              </a:rPr>
              <a:t>parmi les nourrissons suivants, quels sont ceux qui sont à risque de présenter une forme grave de la bronchiolite aigue du nourrisson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17838" y="1915297"/>
            <a:ext cx="10398033" cy="4429059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Les nourrissons&lt;6 mois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Les patients ayant un déficit immunitaire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Les nourrissons ayant un terrain d’atopie familiale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Les patients ayant une cardiopathie congénitale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Les patients ayant une maladie neuromusculaire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194" y="216244"/>
            <a:ext cx="10871200" cy="990600"/>
          </a:xfrm>
        </p:spPr>
        <p:txBody>
          <a:bodyPr>
            <a:noAutofit/>
          </a:bodyPr>
          <a:lstStyle/>
          <a:p>
            <a:r>
              <a:rPr lang="fr-FR" sz="3200" b="1" dirty="0" smtClean="0">
                <a:latin typeface="Arial" pitchFamily="34" charset="0"/>
                <a:cs typeface="Arial" pitchFamily="34" charset="0"/>
              </a:rPr>
              <a:t>QCM 17 : </a:t>
            </a:r>
            <a:r>
              <a:rPr lang="fr-FR" sz="3200" b="1" dirty="0">
                <a:latin typeface="Arial" pitchFamily="34" charset="0"/>
                <a:cs typeface="Arial" pitchFamily="34" charset="0"/>
                <a:sym typeface="+mn-ea"/>
              </a:rPr>
              <a:t>Parmi les signes cliniques suivants, quels sont ceux </a:t>
            </a:r>
            <a:r>
              <a:rPr lang="fr-FR" sz="3200" b="1" dirty="0" smtClean="0">
                <a:latin typeface="Arial" pitchFamily="34" charset="0"/>
                <a:cs typeface="Arial" pitchFamily="34" charset="0"/>
                <a:sym typeface="+mn-ea"/>
              </a:rPr>
              <a:t>en faveur d’une</a:t>
            </a:r>
            <a:r>
              <a:rPr lang="fr-FR" sz="3200" b="1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3200" b="1" dirty="0" smtClean="0">
                <a:latin typeface="Arial" pitchFamily="34" charset="0"/>
                <a:cs typeface="Arial" pitchFamily="34" charset="0"/>
              </a:rPr>
              <a:t>bronchiolite aigue</a:t>
            </a:r>
            <a:r>
              <a:rPr lang="fr-FR" sz="3200" b="1" dirty="0" smtClean="0">
                <a:latin typeface="Arial" pitchFamily="34" charset="0"/>
                <a:cs typeface="Arial" pitchFamily="34" charset="0"/>
                <a:sym typeface="+mn-ea"/>
              </a:rPr>
              <a:t> </a:t>
            </a:r>
            <a:r>
              <a:rPr lang="fr-FR" sz="3200" b="1" dirty="0" smtClean="0">
                <a:latin typeface="Arial" pitchFamily="34" charset="0"/>
                <a:cs typeface="Arial" pitchFamily="34" charset="0"/>
              </a:rPr>
              <a:t>modérée</a:t>
            </a:r>
            <a:endParaRPr lang="fr-FR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00670" y="1907849"/>
            <a:ext cx="10871200" cy="449580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des signes de luttes intenses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Une saturation d’O2 à 92%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Des apnées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Une prise des tétées &lt; 50 % des apports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Une FR à 60C/min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 smtClean="0">
                <a:latin typeface="Arial" pitchFamily="34" charset="0"/>
                <a:cs typeface="Arial" pitchFamily="34" charset="0"/>
              </a:rPr>
              <a:t>QCM 17 </a:t>
            </a:r>
            <a:r>
              <a:rPr lang="fr-FR" sz="3200" b="1" dirty="0">
                <a:latin typeface="Arial" pitchFamily="34" charset="0"/>
                <a:cs typeface="Arial" pitchFamily="34" charset="0"/>
              </a:rPr>
              <a:t>: </a:t>
            </a:r>
            <a:r>
              <a:rPr lang="fr-FR" sz="3200" b="1" dirty="0">
                <a:latin typeface="Arial" pitchFamily="34" charset="0"/>
                <a:cs typeface="Arial" pitchFamily="34" charset="0"/>
                <a:sym typeface="+mn-ea"/>
              </a:rPr>
              <a:t>Parmi les signes cliniques suivants, quels sont ceux en faveur d’une</a:t>
            </a:r>
            <a:r>
              <a:rPr lang="fr-FR" sz="3200" b="1" dirty="0">
                <a:latin typeface="Arial" pitchFamily="34" charset="0"/>
                <a:cs typeface="Arial" pitchFamily="34" charset="0"/>
              </a:rPr>
              <a:t> bronchiolite aigue</a:t>
            </a:r>
            <a:r>
              <a:rPr lang="fr-FR" sz="3200" b="1" dirty="0">
                <a:latin typeface="Arial" pitchFamily="34" charset="0"/>
                <a:cs typeface="Arial" pitchFamily="34" charset="0"/>
                <a:sym typeface="+mn-ea"/>
              </a:rPr>
              <a:t> </a:t>
            </a:r>
            <a:r>
              <a:rPr lang="fr-FR" sz="3200" b="1" dirty="0">
                <a:latin typeface="Arial" pitchFamily="34" charset="0"/>
                <a:cs typeface="Arial" pitchFamily="34" charset="0"/>
              </a:rPr>
              <a:t>modérée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des signes de luttes intenses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saturation d’O2 à 92%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Des apnées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prise des tétées &lt; 50 % des apports</a:t>
            </a:r>
          </a:p>
          <a:p>
            <a:pPr marL="514350" indent="-51435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FR à 60 C/min</a:t>
            </a: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48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1406" y="143143"/>
            <a:ext cx="10871200" cy="990600"/>
          </a:xfrm>
        </p:spPr>
        <p:txBody>
          <a:bodyPr>
            <a:noAutofit/>
          </a:bodyPr>
          <a:lstStyle/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QCM18: </a:t>
            </a:r>
            <a:r>
              <a:rPr lang="fr-FR" sz="2800" b="1" dirty="0" smtClean="0">
                <a:latin typeface="Arial" pitchFamily="34" charset="0"/>
                <a:cs typeface="Arial" pitchFamily="34" charset="0"/>
                <a:sym typeface="+mn-ea"/>
              </a:rPr>
              <a:t> </a:t>
            </a:r>
            <a:r>
              <a:rPr lang="fr-FR" sz="2800" b="1" dirty="0">
                <a:latin typeface="Arial" pitchFamily="34" charset="0"/>
                <a:cs typeface="Arial" pitchFamily="34" charset="0"/>
                <a:sym typeface="+mn-ea"/>
              </a:rPr>
              <a:t>Parmi les signes cliniques suivants, quels sont ceux qui reprèsentent des signes de gravité au cours d’une Bronchiolite</a:t>
            </a:r>
            <a:endParaRPr lang="fr-FR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05740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altération de l’état neurologique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respiration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superfitielle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lang="fr-FR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sueurs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profuses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fr-FR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heezing</a:t>
            </a:r>
            <a:r>
              <a:rPr lang="fr-FR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audible au stéthoscope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tirage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sous costal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QCM18: </a:t>
            </a:r>
            <a:r>
              <a:rPr lang="fr-FR" sz="2800" b="1" dirty="0" smtClean="0">
                <a:latin typeface="Arial" pitchFamily="34" charset="0"/>
                <a:cs typeface="Arial" pitchFamily="34" charset="0"/>
                <a:sym typeface="+mn-ea"/>
              </a:rPr>
              <a:t> </a:t>
            </a:r>
            <a:r>
              <a:rPr lang="fr-FR" sz="2800" b="1" dirty="0">
                <a:latin typeface="Arial" pitchFamily="34" charset="0"/>
                <a:cs typeface="Arial" pitchFamily="34" charset="0"/>
                <a:sym typeface="+mn-ea"/>
              </a:rPr>
              <a:t>Parmi les signes cliniques suivants, quels sont ceux qui reprèsentent des signes de gravité au cours d’une Bronchiolite</a:t>
            </a:r>
            <a:endParaRPr lang="fr-FR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963828" y="1915297"/>
            <a:ext cx="10052044" cy="4429059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une altération de l’état neurologique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une </a:t>
            </a:r>
            <a:r>
              <a:rPr lang="fr-FR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respiration </a:t>
            </a: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superfitielle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des </a:t>
            </a:r>
            <a:r>
              <a:rPr lang="fr-FR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sueurs </a:t>
            </a:r>
            <a:r>
              <a:rPr lang="fr-FR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profuses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un </a:t>
            </a:r>
            <a:r>
              <a:rPr lang="fr-FR" sz="2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wheezing</a:t>
            </a:r>
            <a:r>
              <a:rPr lang="fr-FR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audible au stéthoscope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un </a:t>
            </a:r>
            <a:r>
              <a:rPr lang="fr-FR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tirage </a:t>
            </a:r>
            <a:r>
              <a:rPr lang="fr-FR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sous costal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QCM19: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parmi les signes suivants, quels sont ceux en faveur d’une forme grave de la bronchiolite aigue du nourrisson?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814512"/>
            <a:ext cx="9872871" cy="4343401"/>
          </a:xfrm>
        </p:spPr>
        <p:txBody>
          <a:bodyPr>
            <a:normAutofit fontScale="92500" lnSpcReduction="20000"/>
          </a:bodyPr>
          <a:lstStyle/>
          <a:p>
            <a:pPr marL="45720" indent="0">
              <a:lnSpc>
                <a:spcPct val="150000"/>
              </a:lnSpc>
              <a:buNone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Cyanose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Alimentation </a:t>
            </a:r>
            <a:r>
              <a:rPr lang="fr-FR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 50% </a:t>
            </a: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par rapport aux apports habituels</a:t>
            </a:r>
            <a:endParaRPr lang="fr-FR" sz="2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Refus alimentaire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Tachypnée</a:t>
            </a:r>
            <a:r>
              <a:rPr lang="fr-FR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au-delà de </a:t>
            </a: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fr-FR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c/min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Tachycardie au-delà de 180 battements/min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QCM19: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signes suivants, quels sont ceux en faveur d’une forme grave de la bronchiolite aigue du nourrisson?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814512"/>
            <a:ext cx="9872871" cy="4343401"/>
          </a:xfrm>
        </p:spPr>
        <p:txBody>
          <a:bodyPr>
            <a:normAutofit fontScale="92500" lnSpcReduction="20000"/>
          </a:bodyPr>
          <a:lstStyle/>
          <a:p>
            <a:pPr marL="45720" indent="0">
              <a:lnSpc>
                <a:spcPct val="150000"/>
              </a:lnSpc>
              <a:buNone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Cyanose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Alimentation </a:t>
            </a:r>
            <a:r>
              <a:rPr lang="fr-FR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 50% </a:t>
            </a: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par rapport aux apports habituels</a:t>
            </a:r>
            <a:endParaRPr lang="fr-FR" sz="2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Refus alimentaire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Tachypnée</a:t>
            </a:r>
            <a:r>
              <a:rPr lang="fr-FR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au-delà de </a:t>
            </a: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fr-FR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c/min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Tachycardie au-delà de 180 battements/min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QCM20: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signes suivants, quels sont ceux en faveur d’une forme grave de la bronchiolite aigue du nourrisson?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814512"/>
            <a:ext cx="9872871" cy="4343401"/>
          </a:xfrm>
        </p:spPr>
        <p:txBody>
          <a:bodyPr>
            <a:normAutofit fontScale="92500" lnSpcReduction="20000"/>
          </a:bodyPr>
          <a:lstStyle/>
          <a:p>
            <a:pPr marL="45720" indent="0">
              <a:lnSpc>
                <a:spcPct val="150000"/>
              </a:lnSpc>
              <a:buNone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Fréquence cardiaque à 140 battements/min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Une respiration superficielle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Fréquence respiratoire ≥ 70 c/min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Des apnées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Saturation en oxygène à 92% à l’air ambiant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QCM20: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parmi les signes suivants, quels sont ceux en faveur d’une forme grave de la bronchiolite aigue du nourrisson?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814512"/>
            <a:ext cx="9872871" cy="4343401"/>
          </a:xfrm>
        </p:spPr>
        <p:txBody>
          <a:bodyPr>
            <a:normAutofit fontScale="92500" lnSpcReduction="20000"/>
          </a:bodyPr>
          <a:lstStyle/>
          <a:p>
            <a:pPr marL="45720" indent="0">
              <a:lnSpc>
                <a:spcPct val="150000"/>
              </a:lnSpc>
              <a:buNone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Fréquence cardiaque à 140 battements/min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respiration superficielle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Fréquence respiratoire ≥ 70 c/min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 apnées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Saturation en oxygène à 92% à l’air ambiant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QCM21: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parmi les signes suivants, quels sont ceux en faveur d’une forme légère de la bronchiolite aigue du nourrisson?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814512"/>
            <a:ext cx="9872871" cy="4520187"/>
          </a:xfrm>
        </p:spPr>
        <p:txBody>
          <a:bodyPr>
            <a:normAutofit fontScale="92500" lnSpcReduction="10000"/>
          </a:bodyPr>
          <a:lstStyle/>
          <a:p>
            <a:pPr marL="45720" indent="0">
              <a:lnSpc>
                <a:spcPct val="150000"/>
              </a:lnSpc>
              <a:buNone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Fréquence cardiaque à 100 battements/min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signes de lutes sont légers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Fréquence respiratoire est  &lt; 60 c/min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Réduction de plus de 50% des apports alimentaires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Saturation en oxygène à 92% à l’air ambiant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QCM21: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signes suivants, quels sont ceux en faveur d’une forme légère de la bronchiolite aigue du nourrisson?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814512"/>
            <a:ext cx="9872871" cy="4343401"/>
          </a:xfrm>
        </p:spPr>
        <p:txBody>
          <a:bodyPr>
            <a:normAutofit fontScale="92500" lnSpcReduction="20000"/>
          </a:bodyPr>
          <a:lstStyle/>
          <a:p>
            <a:pPr marL="45720" indent="0">
              <a:lnSpc>
                <a:spcPct val="150000"/>
              </a:lnSpc>
              <a:buNone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Fréquence cardiaque à 100 battements/min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signes de lutes sont légers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Fréquence respiratoire est  &lt; 60 c/min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Réduction de plus de 50% des apports alimentaires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Une Saturation en oxygène à 92% à l’air ambiant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0544" y="0"/>
            <a:ext cx="10669890" cy="1499616"/>
          </a:xfrm>
        </p:spPr>
        <p:txBody>
          <a:bodyPr>
            <a:noAutofit/>
          </a:bodyPr>
          <a:lstStyle/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QCM22: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indications d’hospitalisation en cas de bronchiolite comportent: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05740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Pathologie neuromusculaire sous-jacente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Prématurité&lt; 36 SA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avec un âge corrigé &lt; </a:t>
            </a:r>
            <a:r>
              <a:rPr lang="fr-FR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3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mois </a:t>
            </a: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d’un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Wheezing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Signes de lutte intenses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Surinfection pulmonaire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0544" y="0"/>
            <a:ext cx="10669890" cy="1499616"/>
          </a:xfrm>
        </p:spPr>
        <p:txBody>
          <a:bodyPr>
            <a:noAutofit/>
          </a:bodyPr>
          <a:lstStyle/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QCM22: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indications d’hospitalisation en cas de bronchiolite comportent: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05740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Pathologie neuromusculaire sous-jacente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Prématurité &lt;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 SA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avec un âge corrigé &lt; </a:t>
            </a:r>
            <a:r>
              <a:rPr lang="fr-FR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3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mois </a:t>
            </a: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d’un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Wheezing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Signes de lutte intenses 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Surinfection pulmonaire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67373" y="0"/>
            <a:ext cx="10167613" cy="1499616"/>
          </a:xfrm>
        </p:spPr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QCM23: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indications d’hospitalisation en cas de bronchiolite comportent: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5649" y="2281442"/>
            <a:ext cx="9872871" cy="4286956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 difficultés alimentaires (ne termine pas la moitié de ses biberons)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âge</a:t>
            </a:r>
            <a:r>
              <a:rPr lang="fr-FR" sz="26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inférieur à 3 mois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foyer radiologique</a:t>
            </a:r>
            <a:endParaRPr lang="fr-FR" sz="260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prématurité &lt; 34 SA avec un âge corrigé &lt; 3 mois 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6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saturation en oxygène égale</a:t>
            </a:r>
            <a:r>
              <a:rPr lang="fr-FR" sz="2600" baseline="-250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26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à 94 % à l’air ambiant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67373" y="0"/>
            <a:ext cx="10167613" cy="1499616"/>
          </a:xfrm>
        </p:spPr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QCM23: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indications d’hospitalisation en cas de bronchiolite comportent: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5649" y="2281442"/>
            <a:ext cx="9872871" cy="4286956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 difficultés alimentaires (ne termine pas la moitié de ses biberons)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âge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inférieur à 3 mois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foyer radiologique</a:t>
            </a:r>
            <a:r>
              <a:rPr lang="fr-FR" sz="24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prématurité &lt; 34 SA avec un âge corrigé &lt; 3mois 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saturation en oxygène égale</a:t>
            </a:r>
            <a:r>
              <a:rPr lang="fr-FR" sz="2400" baseline="-250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à 94 % à l’air ambiant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QCM24: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indications d’hospitalisation en cas de bronchiolite comportent: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034438" y="2136011"/>
            <a:ext cx="9872871" cy="4286956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Des vomissements après chaque tétée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Un âge inférieur à 6 semaines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Un antécédent de mucoviscidose 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Antécédents de ventilation pendant la période néonatale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Une saturation en oxygène  à 94 % à l’air ambiant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075" y="154460"/>
            <a:ext cx="10871200" cy="990600"/>
          </a:xfrm>
        </p:spPr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QCM24: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indications d’hospitalisation en cas de bronchiolite comportent: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5649" y="2027104"/>
            <a:ext cx="9872871" cy="4717139"/>
          </a:xfrm>
        </p:spPr>
        <p:txBody>
          <a:bodyPr>
            <a:normAutofit/>
          </a:bodyPr>
          <a:lstStyle/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 vomissements après chaque tétée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âge inférieur à 6 semaines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antécédent de mucoviscidose 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ntécédents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ventilation pendant la période 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néonatale,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saturation en oxygène  à 94 % à l’air ambiant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0874" y="154459"/>
            <a:ext cx="10871200" cy="990600"/>
          </a:xfrm>
        </p:spPr>
        <p:txBody>
          <a:bodyPr>
            <a:noAutofit/>
          </a:bodyPr>
          <a:lstStyle/>
          <a:p>
            <a:r>
              <a:rPr lang="fr-FR" sz="3200" b="1" dirty="0" smtClean="0">
                <a:latin typeface="Arial" pitchFamily="34" charset="0"/>
                <a:cs typeface="Arial" pitchFamily="34" charset="0"/>
                <a:sym typeface="+mn-ea"/>
              </a:rPr>
              <a:t>QCM 25 : Les </a:t>
            </a:r>
            <a:r>
              <a:rPr lang="fr-FR" sz="3200" b="1" dirty="0">
                <a:latin typeface="Arial" pitchFamily="34" charset="0"/>
                <a:cs typeface="Arial" pitchFamily="34" charset="0"/>
                <a:sym typeface="+mn-ea"/>
              </a:rPr>
              <a:t>indications d’une hospitalisation d’un nourrisson </a:t>
            </a:r>
            <a:r>
              <a:rPr lang="fr-FR" sz="3200" b="1" dirty="0" smtClean="0">
                <a:latin typeface="Arial" pitchFamily="34" charset="0"/>
                <a:cs typeface="Arial" pitchFamily="34" charset="0"/>
                <a:sym typeface="+mn-ea"/>
              </a:rPr>
              <a:t>ayant une bronchiolite </a:t>
            </a:r>
            <a:r>
              <a:rPr lang="fr-FR" sz="3200" b="1" dirty="0">
                <a:latin typeface="Arial" pitchFamily="34" charset="0"/>
                <a:cs typeface="Arial" pitchFamily="34" charset="0"/>
                <a:sym typeface="+mn-ea"/>
              </a:rPr>
              <a:t>aigue :</a:t>
            </a:r>
            <a:endParaRPr lang="fr-FR" alt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91004" y="2082114"/>
            <a:ext cx="10871200" cy="4108621"/>
          </a:xfrm>
        </p:spPr>
        <p:txBody>
          <a:bodyPr/>
          <a:lstStyle/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  <a:sym typeface="+mn-ea"/>
              </a:rPr>
              <a:t>L’âge de 2 mois</a:t>
            </a:r>
            <a:endParaRPr lang="fr-FR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  <a:sym typeface="+mn-ea"/>
              </a:rPr>
              <a:t>L’incapacité de la famille à surveiller le bébé</a:t>
            </a:r>
            <a:endParaRPr lang="fr-FR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  <a:sym typeface="+mn-ea"/>
              </a:rPr>
              <a:t>Cardiopathie congénitale avec shunt gauche-droite</a:t>
            </a:r>
            <a:endParaRPr lang="fr-FR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  <a:sym typeface="+mn-ea"/>
              </a:rPr>
              <a:t>La prématurité &lt;34SA avec âge corrigé &lt;3mois</a:t>
            </a:r>
            <a:endParaRPr lang="fr-FR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  <a:sym typeface="+mn-ea"/>
              </a:rPr>
              <a:t>La saturation d’O2 à 94% à l’AA</a:t>
            </a:r>
            <a:endParaRPr lang="fr-FR" dirty="0">
              <a:latin typeface="Arial" pitchFamily="34" charset="0"/>
              <a:cs typeface="Arial" pitchFamily="34" charset="0"/>
            </a:endParaRPr>
          </a:p>
          <a:p>
            <a:endParaRPr lang="fr-FR" alt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>
                <a:latin typeface="Arial" pitchFamily="34" charset="0"/>
                <a:cs typeface="Arial" pitchFamily="34" charset="0"/>
                <a:sym typeface="+mn-ea"/>
              </a:rPr>
              <a:t>QCM </a:t>
            </a:r>
            <a:r>
              <a:rPr lang="fr-FR" sz="3200" b="1" dirty="0" smtClean="0">
                <a:latin typeface="Arial" pitchFamily="34" charset="0"/>
                <a:cs typeface="Arial" pitchFamily="34" charset="0"/>
                <a:sym typeface="+mn-ea"/>
              </a:rPr>
              <a:t>25 </a:t>
            </a:r>
            <a:r>
              <a:rPr lang="fr-FR" sz="3200" b="1" dirty="0">
                <a:latin typeface="Arial" pitchFamily="34" charset="0"/>
                <a:cs typeface="Arial" pitchFamily="34" charset="0"/>
                <a:sym typeface="+mn-ea"/>
              </a:rPr>
              <a:t>: Les indications d’une hospitalisation d’un nourrisson avec bronchiolite aigue :</a:t>
            </a:r>
            <a:endParaRPr lang="fr-FR" alt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91004" y="2082114"/>
            <a:ext cx="10871200" cy="4108621"/>
          </a:xfrm>
        </p:spPr>
        <p:txBody>
          <a:bodyPr/>
          <a:lstStyle/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  <a:sym typeface="+mn-ea"/>
              </a:rPr>
              <a:t>L’âge de 2 mois</a:t>
            </a:r>
            <a:endParaRPr lang="fr-FR" dirty="0">
              <a:latin typeface="Arial" pitchFamily="34" charset="0"/>
              <a:cs typeface="Arial" pitchFamily="34" charset="0"/>
            </a:endParaRP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+mn-ea"/>
              </a:rPr>
              <a:t>L’incapacité de la famille à surveiller le bébé</a:t>
            </a:r>
            <a:endParaRPr lang="fr-FR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+mn-ea"/>
              </a:rPr>
              <a:t>Cardiopathie congénitale avec shunt gauche-droite</a:t>
            </a:r>
            <a:endParaRPr lang="fr-FR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+mn-ea"/>
              </a:rPr>
              <a:t>La prématurité &lt;34SA avec âge corrigé &lt;3mois</a:t>
            </a:r>
            <a:endParaRPr lang="fr-FR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  <a:sym typeface="+mn-ea"/>
              </a:rPr>
              <a:t>La saturation d’O2 à 94% à l’AA</a:t>
            </a:r>
            <a:endParaRPr lang="fr-FR" dirty="0">
              <a:latin typeface="Arial" pitchFamily="34" charset="0"/>
              <a:cs typeface="Arial" pitchFamily="34" charset="0"/>
            </a:endParaRPr>
          </a:p>
          <a:p>
            <a:endParaRPr lang="fr-FR" alt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97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QCM26: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indications d’hospitalisation en cas de bronchiolite comportent: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910870" y="1851806"/>
            <a:ext cx="9872871" cy="4286956"/>
          </a:xfrm>
        </p:spPr>
        <p:txBody>
          <a:bodyPr>
            <a:normAutofit fontScale="92500" lnSpcReduction="10000"/>
          </a:bodyPr>
          <a:lstStyle/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 fausses routes 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 mauvaises conditions socioéconomiques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antécédent de ventilation néonatale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antécédent d’infection </a:t>
            </a:r>
            <a:r>
              <a:rPr lang="fr-FR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matérno</a:t>
            </a: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</a:t>
            </a:r>
            <a:r>
              <a:rPr lang="fr-FR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foetale</a:t>
            </a:r>
            <a:endParaRPr lang="fr-FR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 signes de luttes marqués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QCM26: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indications d’hospitalisation en cas de bronchiolite comportent: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787303" y="1987730"/>
            <a:ext cx="9872871" cy="4286956"/>
          </a:xfrm>
        </p:spPr>
        <p:txBody>
          <a:bodyPr>
            <a:normAutofit fontScale="92500" lnSpcReduction="10000"/>
          </a:bodyPr>
          <a:lstStyle/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 fausses routes 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 mauvaises conditions socioéconomiques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antécédent de ventilation néonatale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antécédent d’infection </a:t>
            </a:r>
            <a:r>
              <a:rPr lang="fr-FR" sz="2400" dirty="0" err="1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materno-foetale</a:t>
            </a:r>
            <a:endParaRPr lang="fr-FR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 signes de luttes marqués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QCM27: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diagnostics différentiels de la bronchiolite aigue: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25145" y="1852377"/>
            <a:ext cx="9872871" cy="4286956"/>
          </a:xfrm>
        </p:spPr>
        <p:txBody>
          <a:bodyPr>
            <a:normAutofit fontScale="92500" lnSpcReduction="10000"/>
          </a:bodyPr>
          <a:lstStyle/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Une myocardite virale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Une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communication inter-ventriculaire</a:t>
            </a:r>
            <a:endParaRPr lang="fr-FR" sz="2400" dirty="0">
              <a:latin typeface="Calibri" panose="020F050202020403020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Une coqueluche</a:t>
            </a:r>
            <a:endParaRPr lang="fr-FR" sz="2400" dirty="0">
              <a:latin typeface="Calibri" panose="020F050202020403020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Une transposition des gros vaisseaux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Une </a:t>
            </a:r>
            <a:r>
              <a:rPr lang="fr-FR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laryngomalacie</a:t>
            </a:r>
            <a:endParaRPr lang="fr-FR" sz="24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endParaRPr lang="fr-FR" sz="2400" dirty="0">
              <a:latin typeface="Calibri" panose="020F050202020403020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QCM27: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diagnostics différentiels de la bronchiolite aigue: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25145" y="1852377"/>
            <a:ext cx="9872871" cy="4286956"/>
          </a:xfrm>
        </p:spPr>
        <p:txBody>
          <a:bodyPr>
            <a:normAutofit fontScale="92500" lnSpcReduction="10000"/>
          </a:bodyPr>
          <a:lstStyle/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Une myocardite virale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Une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communication inter-ventriculaire</a:t>
            </a:r>
            <a:endParaRPr lang="fr-FR" sz="2400" dirty="0">
              <a:solidFill>
                <a:srgbClr val="FF0000"/>
              </a:solidFill>
              <a:latin typeface="Calibri" panose="020F050202020403020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Une coqueluche</a:t>
            </a:r>
            <a:endParaRPr lang="fr-FR" sz="2400" dirty="0">
              <a:solidFill>
                <a:srgbClr val="FF0000"/>
              </a:solidFill>
              <a:latin typeface="Calibri" panose="020F050202020403020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Une transposition des gros vaisseaux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Une </a:t>
            </a:r>
            <a:r>
              <a:rPr lang="fr-FR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laryngomalacie</a:t>
            </a:r>
            <a:endParaRPr lang="fr-FR" sz="24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endParaRPr lang="fr-FR" sz="2400" dirty="0">
              <a:latin typeface="Calibri" panose="020F050202020403020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QCM28: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quels sont parmi les signes suivants, ceux qui sont en faveur d’une coqueluche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61755" y="1730174"/>
            <a:ext cx="9872871" cy="4286956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hyperlymphocytose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lymphopénie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thrombopénie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toux quinteuse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toux cyanogène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QCM28: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quels sont parmi les signes suivants, ceux qui sont en faveur d’une coqueluche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766119" y="1865871"/>
            <a:ext cx="10252401" cy="4559644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hyperlymphocytose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lymphopénie</a:t>
            </a:r>
          </a:p>
          <a:p>
            <a:pPr marL="45720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thrombopénie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toux quinteuse</a:t>
            </a:r>
          </a:p>
          <a:p>
            <a:pPr marL="457200" lvl="0" indent="-457200">
              <a:lnSpc>
                <a:spcPct val="20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 toux cyanogène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QCM29: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L’antibiothérapie est indiquée dans la bronchiolite si: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294466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bsence d’amélioration sous traitement symptomatique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foyer radiologique systématisé associé à une fièvre persistante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une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atélectasie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Otite moyenne aigue purulente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associée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fr-FR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hinite 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purulente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QCM29: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L’antibiothérapie est indiquée dans la bronchiolite si: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294466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bsence d’amélioration sous traitement symptomatique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foyer radiologique systématisé associé à une fièvre persistante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ne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atélectasie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tite moyenne aigue </a:t>
            </a: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purulente associée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fr-FR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hinite 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purulente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 smtClean="0">
                <a:latin typeface="Arial" pitchFamily="34" charset="0"/>
                <a:cs typeface="Arial" pitchFamily="34" charset="0"/>
              </a:rPr>
              <a:t>QCM30 : </a:t>
            </a:r>
            <a:r>
              <a:rPr lang="fr-FR" sz="3200" b="1" dirty="0" smtClean="0">
                <a:latin typeface="Arial" pitchFamily="34" charset="0"/>
                <a:cs typeface="Arial" pitchFamily="34" charset="0"/>
                <a:sym typeface="+mn-ea"/>
              </a:rPr>
              <a:t>La </a:t>
            </a:r>
            <a:r>
              <a:rPr lang="fr-FR" sz="3200" b="1" dirty="0">
                <a:latin typeface="Arial" pitchFamily="34" charset="0"/>
                <a:cs typeface="Arial" pitchFamily="34" charset="0"/>
                <a:sym typeface="+mn-ea"/>
              </a:rPr>
              <a:t>prise en charge d’une bronchiolite aigue légère repose sur : </a:t>
            </a:r>
            <a:endParaRPr lang="fr-FR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9557" y="1804086"/>
            <a:ext cx="11280290" cy="4959179"/>
          </a:xfrm>
        </p:spPr>
        <p:txBody>
          <a:bodyPr/>
          <a:lstStyle/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Des nébulisations de sérum salé hypertonique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Une désobstruction rhino-pharyngée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Fractionnement du régime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Un traitement antipyrétique si fièvre 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Une kinésithérapie respiratoire systématique</a:t>
            </a:r>
          </a:p>
          <a:p>
            <a:pPr>
              <a:lnSpc>
                <a:spcPct val="150000"/>
              </a:lnSpc>
            </a:pP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FAE87187-25E0-45D6-813D-4EAEF3A67EA3}" type="slidenum">
              <a:rPr lang="fr-FR" smtClean="0"/>
              <a:t>60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latin typeface="Arial" pitchFamily="34" charset="0"/>
                <a:cs typeface="Arial" pitchFamily="34" charset="0"/>
              </a:rPr>
              <a:t>QCM30 </a:t>
            </a:r>
            <a:r>
              <a:rPr lang="fr-FR" sz="3600" b="1" dirty="0">
                <a:latin typeface="Arial" pitchFamily="34" charset="0"/>
                <a:cs typeface="Arial" pitchFamily="34" charset="0"/>
              </a:rPr>
              <a:t>: </a:t>
            </a:r>
            <a:r>
              <a:rPr lang="fr-FR" sz="3600" b="1" dirty="0">
                <a:latin typeface="Arial" pitchFamily="34" charset="0"/>
                <a:cs typeface="Arial" pitchFamily="34" charset="0"/>
                <a:sym typeface="+mn-ea"/>
              </a:rPr>
              <a:t>La prise en charge d’une bronchiolite aigue légère repose sur : </a:t>
            </a:r>
            <a:endParaRPr lang="fr-FR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9557" y="1804086"/>
            <a:ext cx="11280290" cy="4959179"/>
          </a:xfrm>
        </p:spPr>
        <p:txBody>
          <a:bodyPr/>
          <a:lstStyle/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Des nébulisations de sérum salé hypertonique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Une désobstruction rhino-pharyngée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Fractionnement du régime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 traitement antipyrétique si fièvre 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itchFamily="34" charset="0"/>
                <a:cs typeface="Arial" pitchFamily="34" charset="0"/>
              </a:rPr>
              <a:t>Une kinésithérapie respiratoire systématique</a:t>
            </a:r>
          </a:p>
          <a:p>
            <a:pPr>
              <a:lnSpc>
                <a:spcPct val="150000"/>
              </a:lnSpc>
            </a:pP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FAE87187-25E0-45D6-813D-4EAEF3A67EA3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95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 31: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la prise en charge thérapeutique de la bronchiolite aigue du nourrisson comporte: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294466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des nébulisations de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béta2mimétiques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oxygénothèrapie si la Spo2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≤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92%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corticothérapie par voie systémique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désobstruction nasale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kinésithérapie respiratoire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 31: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la prise en charge thérapeutique de la bronchiolite aigue du nourrisson comporte: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294466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des nébulisations de béta2mimétiques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oxygénothèrapie si la Spo2 ≤ 92%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corticothérapie par voie systémique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désobstruction nasale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kinésithérapie respiratoire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QCM32: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traitements non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recommandés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au cours le bronchiolite aigue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:</a:t>
            </a:r>
            <a:endParaRPr lang="fr-FR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294466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les antitussifs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mucolytiques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les nébulisations de sérum hypertonique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paracétamol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si fièvre ≥ 38,5°C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l’antibiothèrapie si surinfection bactérienne documentée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QCM32: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traitements non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recommandés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au cours le bronchiolite aigue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294466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antitussifs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fr-FR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mucolytiques</a:t>
            </a: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nébulisations de sérum hypertonique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paracétamol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si fièvre ≥ 38,5°C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l’antibiothèrapie si surinfection bactérienne documentée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QCM33: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principaux germes de surinfection bactérienne en cas de bronchiolite aigue du nourrisson sont: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294466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staphylocoque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streptocoque B hémolytique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emophilus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influenzae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oraxella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catarrhalis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pneumocoque</a:t>
            </a: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QCM33: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principaux germes de surinfection bactérienne en cas de bronchiolite aigue du nourrisson sont: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294466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staphylocoque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streptocoque B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hémolytique</a:t>
            </a:r>
            <a:endParaRPr lang="fr-FR" sz="2400" dirty="0"/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emophilus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influenzae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oraxella</a:t>
            </a:r>
            <a:r>
              <a:rPr lang="fr-FR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catarrhalis</a:t>
            </a:r>
            <a:endParaRPr lang="fr-F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pneumocoque</a:t>
            </a:r>
            <a:endParaRPr lang="fr-F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QCM34: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La prise en charge ambulatoire de la bronchiolite comporte: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05740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des rations alimentaires suffisantes et espacées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 t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raitement antitussif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désobstruction nasale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 couchage en p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osition proclive 30°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k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inésithérapie respiratoire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QCM34: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La prise en charge ambulatoire de la bronchiolite comporte: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05740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 rations alimentaires suffisantes et espacées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 t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raitement antitussif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désobstruction nasale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couchage en position proclive 30°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k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inésithérapie respiratoire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QCM35: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La prise en charge hospitalière de la bronchiolite comporte: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05740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 traitement antitussif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désobstruction nasale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perfusion intraveineuse systématique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Une oxygénothérapie 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si la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SpO2 ≤ 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92%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kinésithérapie respiratoire si pathologie neuromusculaire sous jaccente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QCM35: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La prise en charge hospitalière de la bronchiolite comporte: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205740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 traitement antitussif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désobstruction nasale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perfusion intraveineuse systématique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</a:t>
            </a: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ne oxygénothérapie </a:t>
            </a: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si la SpO2 </a:t>
            </a: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≤ </a:t>
            </a: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92%</a:t>
            </a: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une kinésithérapie respiratoire si pathologie neuromusculaire sous jaccente</a:t>
            </a: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QCM36: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La prise en charge hospitalière de la bronchiolite sévère peut comporter 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16864" y="2053883"/>
            <a:ext cx="10199007" cy="4290473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Un monitorage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cardiorespiratoire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Une oxygénothérapie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avec des lunettes à haut débit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fr-FR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 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antibiothérapie de façon systématique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Des nébulisations de sérum salé hypertonique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alimentation entérale continu par gavage gastrique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6096" y="327454"/>
            <a:ext cx="10871200" cy="990600"/>
          </a:xfrm>
        </p:spPr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QCM36: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La prise en charge hospitalière de la bronchiolite sévère peut comporter :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16864" y="2053883"/>
            <a:ext cx="10199007" cy="4290473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monitorage </a:t>
            </a: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cardiorespiratoire,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oxygénothérapie </a:t>
            </a: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avec des lunettes à haut débit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antibiothérapie de façon systématique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Des nébulisations de sérum salé hypertonique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alimentation entérale continu par gavage gastrique</a:t>
            </a:r>
          </a:p>
          <a:p>
            <a:pPr marL="45720" indent="0">
              <a:lnSpc>
                <a:spcPct val="150000"/>
              </a:lnSpc>
              <a:buNone/>
            </a:pP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2303" y="254238"/>
            <a:ext cx="10871200" cy="990600"/>
          </a:xfrm>
        </p:spPr>
        <p:txBody>
          <a:bodyPr>
            <a:normAutofit/>
          </a:bodyPr>
          <a:lstStyle/>
          <a:p>
            <a:r>
              <a:rPr lang="fr-FR" sz="2800" b="1" dirty="0">
                <a:latin typeface="Arial" pitchFamily="34" charset="0"/>
                <a:cs typeface="Arial" pitchFamily="34" charset="0"/>
              </a:rPr>
              <a:t>QCM37:	Parmi les éléments de surveillance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d’un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nourrisson hospitalisé pour bronchiolite: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Température</a:t>
            </a:r>
            <a:endParaRPr lang="fr-F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Fréquence cardiaque</a:t>
            </a:r>
            <a:endParaRPr lang="fr-F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Etat de conscience</a:t>
            </a:r>
            <a:endParaRPr lang="fr-F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Gaz du sang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Radiographie thoracique</a:t>
            </a:r>
            <a:endParaRPr lang="fr-F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6954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100" b="1" dirty="0" smtClean="0">
                <a:latin typeface="Arial" pitchFamily="34" charset="0"/>
                <a:cs typeface="Arial" pitchFamily="34" charset="0"/>
              </a:rPr>
              <a:t>QCM37</a:t>
            </a:r>
            <a:r>
              <a:rPr lang="fr-FR" sz="3100" b="1" dirty="0">
                <a:latin typeface="Arial" pitchFamily="34" charset="0"/>
                <a:cs typeface="Arial" pitchFamily="34" charset="0"/>
              </a:rPr>
              <a:t>:	Parmi les éléments de surveillance du nourrisson hospitalisé pour bronchiolite 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Température</a:t>
            </a:r>
            <a:endParaRPr lang="fr-FR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Fréquence cardiaque</a:t>
            </a:r>
            <a:endParaRPr lang="fr-FR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Etat de conscience</a:t>
            </a:r>
            <a:endParaRPr lang="fr-FR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Gaz du sang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Radiographie thoracique</a:t>
            </a:r>
            <a:endParaRPr lang="fr-F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2882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QCM39: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Parmi les complications aigues de la bronchiolite: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5649" y="196596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asthme </a:t>
            </a:r>
            <a:r>
              <a:rPr lang="fr-FR" sz="2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viro</a:t>
            </a:r>
            <a:r>
              <a:rPr lang="fr-FR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-induit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Bronchiolite oblitérante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Insuffisance respiratoire aigue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Pneumothorax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Troubles ventilatoires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QCM39: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Parmi les complications aigues de la bronchiolite: 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96596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Asthme </a:t>
            </a:r>
            <a:r>
              <a:rPr lang="fr-FR" sz="2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viro</a:t>
            </a:r>
            <a:r>
              <a:rPr lang="fr-FR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-induit</a:t>
            </a:r>
            <a:endParaRPr lang="fr-F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Bronchiolite oblitérante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Insuffisance respiratoire aigue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Pneumothorax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Troubles ventilatoires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QCM40: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Parmi les complications aigues de la bronchiolite: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5649" y="196596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Asthme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Déshydratation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Hyperréactivité bronchique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Pneumomédiastin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Surinfections bactériennes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QCM40: Parmi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les complications aigues de la bronchiolite: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5649" y="196596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Asthme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Déshydratation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Hyperréactivité bronchique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Pneumomédiastin</a:t>
            </a: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Surinfections bactériennes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99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b="1" dirty="0" smtClean="0">
                <a:latin typeface="Arial" pitchFamily="34" charset="0"/>
                <a:cs typeface="Arial" pitchFamily="34" charset="0"/>
              </a:rPr>
              <a:t>QCM 41 : Concernant les apnées au cours de la bronchiolite aigue (la forme </a:t>
            </a:r>
            <a:r>
              <a:rPr lang="fr-FR" sz="3200" b="1" dirty="0" err="1" smtClean="0">
                <a:latin typeface="Arial" pitchFamily="34" charset="0"/>
                <a:cs typeface="Arial" pitchFamily="34" charset="0"/>
              </a:rPr>
              <a:t>apnéisante</a:t>
            </a:r>
            <a:r>
              <a:rPr lang="fr-FR" sz="3200" b="1" dirty="0" smtClean="0">
                <a:latin typeface="Arial" pitchFamily="34" charset="0"/>
                <a:cs typeface="Arial" pitchFamily="34" charset="0"/>
              </a:rPr>
              <a:t> de la bronchiolite aigue): </a:t>
            </a:r>
            <a:endParaRPr lang="fr-FR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Sont observées surtout dans la bronchiolite à VRS</a:t>
            </a:r>
          </a:p>
          <a:p>
            <a:pPr>
              <a:lnSpc>
                <a:spcPct val="150000"/>
              </a:lnSpc>
            </a:pPr>
            <a:r>
              <a:rPr lang="fr-FR" sz="2800" dirty="0">
                <a:latin typeface="Arial" pitchFamily="34" charset="0"/>
                <a:cs typeface="Arial" pitchFamily="34" charset="0"/>
              </a:rPr>
              <a:t>Sont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observées chez le jeune nourrisson &lt;3mois</a:t>
            </a:r>
          </a:p>
          <a:p>
            <a:pPr>
              <a:lnSpc>
                <a:spcPct val="150000"/>
              </a:lnSpc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La dysplasie broncho-pulmonaire constitue un terrain à risque</a:t>
            </a:r>
          </a:p>
          <a:p>
            <a:pPr>
              <a:lnSpc>
                <a:spcPct val="150000"/>
              </a:lnSpc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sont un facteur de risque d’évolution vers la  bronchiolite </a:t>
            </a:r>
            <a:r>
              <a:rPr lang="fr-FR" sz="2800" dirty="0" err="1" smtClean="0">
                <a:latin typeface="Arial" pitchFamily="34" charset="0"/>
                <a:cs typeface="Arial" pitchFamily="34" charset="0"/>
              </a:rPr>
              <a:t>oblitérante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Sont très fréquentes(&gt;20%)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953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b="1" dirty="0" smtClean="0">
                <a:latin typeface="Arial" pitchFamily="34" charset="0"/>
                <a:cs typeface="Arial" pitchFamily="34" charset="0"/>
              </a:rPr>
              <a:t>QCM 41 : Concernant les apnées au cours de la bronchiolite aigue (la forme </a:t>
            </a:r>
            <a:r>
              <a:rPr lang="fr-FR" sz="3200" b="1" dirty="0" err="1" smtClean="0">
                <a:latin typeface="Arial" pitchFamily="34" charset="0"/>
                <a:cs typeface="Arial" pitchFamily="34" charset="0"/>
              </a:rPr>
              <a:t>apnéisante</a:t>
            </a:r>
            <a:r>
              <a:rPr lang="fr-FR" sz="3200" b="1" dirty="0" smtClean="0">
                <a:latin typeface="Arial" pitchFamily="34" charset="0"/>
                <a:cs typeface="Arial" pitchFamily="34" charset="0"/>
              </a:rPr>
              <a:t> de la bronchiolite aigue): </a:t>
            </a:r>
            <a:endParaRPr lang="fr-FR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r-FR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Sont observées surtout dans la bronchiolite à VRS</a:t>
            </a:r>
          </a:p>
          <a:p>
            <a:pPr>
              <a:lnSpc>
                <a:spcPct val="150000"/>
              </a:lnSpc>
            </a:pPr>
            <a:r>
              <a:rPr lang="fr-FR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Sont </a:t>
            </a:r>
            <a:r>
              <a:rPr lang="fr-FR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observées chez le jeune nourrisson &lt;3mois</a:t>
            </a:r>
          </a:p>
          <a:p>
            <a:pPr>
              <a:lnSpc>
                <a:spcPct val="150000"/>
              </a:lnSpc>
            </a:pPr>
            <a:r>
              <a:rPr lang="fr-FR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La dysplasie broncho-pulmonaire constitue un terrain à risque</a:t>
            </a:r>
          </a:p>
          <a:p>
            <a:pPr>
              <a:lnSpc>
                <a:spcPct val="150000"/>
              </a:lnSpc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sont un facteur de risque d’évolution vers la  bronchiolite </a:t>
            </a:r>
            <a:r>
              <a:rPr lang="fr-FR" sz="2800" dirty="0" err="1" smtClean="0">
                <a:latin typeface="Arial" pitchFamily="34" charset="0"/>
                <a:cs typeface="Arial" pitchFamily="34" charset="0"/>
              </a:rPr>
              <a:t>oblitèrante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Sont très fréquentes(&gt;20%)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96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QCM42: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la bronchiolite </a:t>
            </a:r>
            <a:r>
              <a:rPr lang="fr-FR" sz="2800" b="1" dirty="0" err="1">
                <a:latin typeface="Arial" pitchFamily="34" charset="0"/>
                <a:cs typeface="Arial" pitchFamily="34" charset="0"/>
              </a:rPr>
              <a:t>oblitérante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 est caractérisée par: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5649" y="196596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 aspect en mosaïque au scanner thoracique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bronchopathie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chronique restrictive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atteinte ORL associé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obstruction chronique des petites voies aériennes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symptomatologie persistante 4 à 6 semaines après un épisode aigu sévère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QCM42: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la bronchiolite </a:t>
            </a:r>
            <a:r>
              <a:rPr lang="fr-FR" sz="2800" b="1" dirty="0" err="1">
                <a:latin typeface="Arial" pitchFamily="34" charset="0"/>
                <a:cs typeface="Arial" pitchFamily="34" charset="0"/>
              </a:rPr>
              <a:t>oblitérante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 est caractérisée par: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5649" y="1965960"/>
            <a:ext cx="9872871" cy="4286956"/>
          </a:xfrm>
        </p:spPr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aspect en mosaïque au scanner thoracique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bronchopathie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chronique restrictive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atteinte ORL associé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obstruction chronique des petites voies aériennes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symptomatologie persistante 4 à 6 semaines après un épisode aigu sévère 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QCM43: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moyens de prévention de la bronchiolite aigue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incluent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6052" y="2031274"/>
            <a:ext cx="10871200" cy="44958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Lavage des mains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Proscrire le tabagisme passif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Mise en collectivité précoce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Encourager l’allaitement maternel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Vaccination antigrippale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FAE87187-25E0-45D6-813D-4EAEF3A67EA3}" type="slidenum">
              <a:rPr lang="fr-FR" smtClean="0"/>
              <a:t>84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QCM43: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moyens de prévention de la bronchiolite aigue incluent :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16864" y="1750422"/>
            <a:ext cx="10871200" cy="4345577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Lavage des mains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Proscrire le tabagisme passif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Mise en collectivité précoce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Encourager l’allaitement maternel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Vaccination antigrippale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FAE87187-25E0-45D6-813D-4EAEF3A67EA3}" type="slidenum">
              <a:rPr lang="fr-FR" smtClean="0"/>
              <a:t>85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1963" y="160233"/>
            <a:ext cx="10871200" cy="990600"/>
          </a:xfrm>
        </p:spPr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QCM44: le</a:t>
            </a:r>
            <a:r>
              <a:rPr lang="fr-FR" sz="2800" dirty="0" smtClean="0"/>
              <a:t> </a:t>
            </a:r>
            <a:r>
              <a:rPr lang="fr-FR" sz="2800" b="1" dirty="0" err="1">
                <a:latin typeface="Arial" pitchFamily="34" charset="0"/>
                <a:cs typeface="Arial" pitchFamily="34" charset="0"/>
              </a:rPr>
              <a:t>Nirsevimab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est indiqué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chez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: </a:t>
            </a:r>
            <a:endParaRPr lang="fr-FR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5649" y="1965960"/>
            <a:ext cx="9872871" cy="4286956"/>
          </a:xfrm>
        </p:spPr>
        <p:txBody>
          <a:bodyPr>
            <a:normAutofit lnSpcReduction="10000"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Les enfants ayant un déficit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immunitaire uniquement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Tous les nouveau-nés, nés entre octobre et fin mars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Les nouveaux nés au cours de la première semaine de vie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Les nourrissons âgés de plus de 6 mois au début de la saison de circulation du VRS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Les nourrissons âgés de plus de un an ayant une cardiopathie  congénitale pendant leur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2ème hiver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1963" y="160233"/>
            <a:ext cx="10871200" cy="990600"/>
          </a:xfrm>
        </p:spPr>
        <p:txBody>
          <a:bodyPr>
            <a:noAutofit/>
          </a:bodyPr>
          <a:lstStyle/>
          <a:p>
            <a:pPr algn="just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QCM44: le</a:t>
            </a:r>
            <a:r>
              <a:rPr lang="fr-FR" sz="2800" dirty="0" smtClean="0"/>
              <a:t> </a:t>
            </a:r>
            <a:r>
              <a:rPr lang="fr-FR" sz="2800" b="1" dirty="0" err="1">
                <a:latin typeface="Arial" pitchFamily="34" charset="0"/>
                <a:cs typeface="Arial" pitchFamily="34" charset="0"/>
              </a:rPr>
              <a:t>Nirsevimab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est indiqué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chez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: </a:t>
            </a:r>
            <a:endParaRPr lang="fr-FR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5649" y="1965960"/>
            <a:ext cx="9872871" cy="4286956"/>
          </a:xfrm>
        </p:spPr>
        <p:txBody>
          <a:bodyPr>
            <a:normAutofit lnSpcReduction="10000"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Les enfants ayant un déficit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immunitaire uniquement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Tous les nouveau-nés, nés entre octobre et fin mars</a:t>
            </a: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nouveaux nés au cours de la première semaine de vie</a:t>
            </a: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Les nourrissons âgés de plus de 6 mois au début de la saison de circulation du VRS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nourrissons âgés de plus de un an ayant une cardiopathie  congénitale </a:t>
            </a: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pendant leur 2ème hiver</a:t>
            </a: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27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latin typeface="Arial" pitchFamily="34" charset="0"/>
                <a:cs typeface="Arial" pitchFamily="34" charset="0"/>
              </a:rPr>
              <a:t>QCM45: le</a:t>
            </a:r>
            <a:r>
              <a:rPr lang="fr-FR" dirty="0" smtClean="0"/>
              <a:t> </a:t>
            </a:r>
            <a:r>
              <a:rPr lang="fr-FR" b="1" dirty="0" err="1" smtClean="0">
                <a:latin typeface="Arial" pitchFamily="34" charset="0"/>
                <a:cs typeface="Arial" pitchFamily="34" charset="0"/>
              </a:rPr>
              <a:t>Nirsevimab</a:t>
            </a:r>
            <a:r>
              <a:rPr lang="fr-FR" b="1" dirty="0" smtClean="0">
                <a:latin typeface="Arial" pitchFamily="34" charset="0"/>
                <a:cs typeface="Arial" pitchFamily="34" charset="0"/>
              </a:rPr>
              <a:t>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Est un anticorps monoclonal à demi vie prolongée</a:t>
            </a:r>
            <a:endParaRPr lang="fr-F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Il s’administre par voie sous cutanée</a:t>
            </a:r>
            <a:endParaRPr lang="fr-F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Il s’administre en deux doses à 1 mois d’intervalle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nécessite une deuxième dose au 2 </a:t>
            </a:r>
            <a:r>
              <a:rPr lang="fr-FR" sz="2600" dirty="0" err="1">
                <a:latin typeface="Arial" panose="020B0604020202020204" pitchFamily="34" charset="0"/>
                <a:cs typeface="Arial" panose="020B0604020202020204" pitchFamily="34" charset="0"/>
              </a:rPr>
              <a:t>éme</a:t>
            </a: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 hiver pour les enfants ayant une comorbidité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Il s’administre en une seule dose par voie intramusculaire</a:t>
            </a:r>
            <a:endParaRPr lang="fr-F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564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latin typeface="Arial" pitchFamily="34" charset="0"/>
                <a:cs typeface="Arial" pitchFamily="34" charset="0"/>
              </a:rPr>
              <a:t>QCM 45: Le</a:t>
            </a:r>
            <a:r>
              <a:rPr lang="fr-FR" dirty="0" smtClean="0"/>
              <a:t> </a:t>
            </a:r>
            <a:r>
              <a:rPr lang="fr-FR" b="1" dirty="0" err="1" smtClean="0">
                <a:latin typeface="Arial" pitchFamily="34" charset="0"/>
                <a:cs typeface="Arial" pitchFamily="34" charset="0"/>
              </a:rPr>
              <a:t>Nirsevimab</a:t>
            </a:r>
            <a:r>
              <a:rPr lang="fr-FR" b="1" dirty="0" smtClean="0">
                <a:latin typeface="Arial" pitchFamily="34" charset="0"/>
                <a:cs typeface="Arial" pitchFamily="34" charset="0"/>
              </a:rPr>
              <a:t>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un anticorps monoclonal à demi vie prolongée</a:t>
            </a:r>
            <a:endParaRPr lang="fr-FR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 s’administre par voie sous cutanée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s’administre en deux doses à 1 mois d’intervalle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nécessite une deuxième dose au 2 </a:t>
            </a:r>
            <a:r>
              <a:rPr lang="fr-FR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éme</a:t>
            </a:r>
            <a:r>
              <a:rPr lang="fr-FR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hiver pour les enfants ayant une comorbidité</a:t>
            </a:r>
          </a:p>
          <a:p>
            <a:pPr marL="502920" indent="-457200">
              <a:lnSpc>
                <a:spcPct val="150000"/>
              </a:lnSpc>
              <a:buFont typeface="+mj-lt"/>
              <a:buAutoNum type="alphaUcPeriod"/>
            </a:pPr>
            <a:r>
              <a:rPr lang="fr-FR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s’administre en une seule dose par voie intramusculaire</a:t>
            </a:r>
            <a:endParaRPr lang="fr-FR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200000"/>
              </a:lnSpc>
              <a:buFont typeface="+mj-lt"/>
              <a:buAutoNum type="alphaUcPeriod"/>
            </a:pPr>
            <a:endParaRPr lang="fr-FR" sz="32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9481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000" y="158044"/>
            <a:ext cx="9875520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Cas clinique 1 QCM 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10688" y="1624685"/>
            <a:ext cx="10882242" cy="5072678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70000"/>
              </a:lnSpc>
              <a:buNone/>
            </a:pPr>
            <a:r>
              <a:rPr lang="fr-FR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Un nourrisson âgé de 3 mois, sans antécédents pathologiques, est amené à la SU  pour toux évoluant depuis 3 jours . A l’examen: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fr-FR" sz="2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Eutrophique, T°=38°C, bon état d’hydratation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fr-FR" sz="2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600" dirty="0">
                <a:latin typeface="Arial" pitchFamily="34" charset="0"/>
                <a:cs typeface="Arial" pitchFamily="34" charset="0"/>
                <a:sym typeface="+mn-ea"/>
              </a:rPr>
              <a:t>Obstruction nasale </a:t>
            </a:r>
            <a:endParaRPr lang="fr-FR" sz="2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fr-FR" sz="2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FC= 110/min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fr-FR" sz="2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FR= 40/min, SaO2= 95% à l’air ambiant 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fr-FR" sz="2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Léger tirage sous et inter costal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fr-FR" sz="2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AP: râles sibilants expiratoires 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fr-FR" sz="2600" dirty="0">
                <a:latin typeface="Arial" pitchFamily="34" charset="0"/>
                <a:cs typeface="Arial" pitchFamily="34" charset="0"/>
              </a:rPr>
              <a:t>Il prend normalement son biberon après désobstruction nasale </a:t>
            </a:r>
            <a:endParaRPr lang="fr-FR" sz="2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 algn="just">
              <a:lnSpc>
                <a:spcPct val="200000"/>
              </a:lnSpc>
              <a:buFont typeface="+mj-lt"/>
              <a:buAutoNum type="alphaUcPeriod"/>
            </a:pPr>
            <a:endParaRPr lang="fr-FR" dirty="0">
              <a:latin typeface="Arial" pitchFamily="34" charset="0"/>
              <a:cs typeface="Arial" pitchFamily="34" charset="0"/>
            </a:endParaRPr>
          </a:p>
          <a:p>
            <a:endParaRPr lang="fr-FR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Cas clinique1 QCM n°1</a:t>
            </a:r>
            <a:r>
              <a:rPr lang="fr-FR" sz="3200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:</a:t>
            </a:r>
            <a:endParaRPr lang="fr-FR" alt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30195" y="1853514"/>
            <a:ext cx="10884874" cy="4810897"/>
          </a:xfrm>
        </p:spPr>
        <p:txBody>
          <a:bodyPr/>
          <a:lstStyle/>
          <a:p>
            <a:pPr marL="0" indent="0">
              <a:buNone/>
            </a:pPr>
            <a:r>
              <a:rPr lang="fr-FR" altLang="en-US" sz="2800" b="1" dirty="0">
                <a:latin typeface="Arial" pitchFamily="34" charset="0"/>
                <a:cs typeface="Arial" pitchFamily="34" charset="0"/>
              </a:rPr>
              <a:t>Quels sont les éléments cliniques en faveur du diagnostic de bronchiolite chez ce nourrisson </a:t>
            </a:r>
            <a:endParaRPr lang="fr-FR" altLang="en-US" sz="2800" b="1" dirty="0" smtClean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dirty="0" smtClean="0">
                <a:latin typeface="Arial" pitchFamily="34" charset="0"/>
                <a:cs typeface="Arial" pitchFamily="34" charset="0"/>
              </a:rPr>
              <a:t>Âge</a:t>
            </a:r>
            <a:endParaRPr lang="fr-FR" altLang="en-US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dirty="0" smtClean="0">
                <a:latin typeface="Arial" pitchFamily="34" charset="0"/>
                <a:cs typeface="Arial" pitchFamily="34" charset="0"/>
              </a:rPr>
              <a:t>Premier épisode </a:t>
            </a:r>
            <a:r>
              <a:rPr lang="fr-FR" altLang="en-US" dirty="0">
                <a:latin typeface="Arial" pitchFamily="34" charset="0"/>
                <a:cs typeface="Arial" pitchFamily="34" charset="0"/>
              </a:rPr>
              <a:t>de dyspnée sifflante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dirty="0" err="1" smtClean="0">
                <a:latin typeface="Arial" pitchFamily="34" charset="0"/>
                <a:cs typeface="Arial" pitchFamily="34" charset="0"/>
              </a:rPr>
              <a:t>Trophicité</a:t>
            </a:r>
            <a:r>
              <a:rPr lang="fr-FR" altLang="en-US" dirty="0" smtClean="0">
                <a:latin typeface="Arial" pitchFamily="34" charset="0"/>
                <a:cs typeface="Arial" pitchFamily="34" charset="0"/>
              </a:rPr>
              <a:t> normale</a:t>
            </a:r>
            <a:endParaRPr lang="fr-FR" altLang="en-US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dirty="0" smtClean="0">
                <a:latin typeface="Arial" pitchFamily="34" charset="0"/>
                <a:cs typeface="Arial" pitchFamily="34" charset="0"/>
              </a:rPr>
              <a:t>Absence de </a:t>
            </a:r>
            <a:r>
              <a:rPr lang="fr-FR" altLang="en-US" dirty="0">
                <a:latin typeface="Arial" pitchFamily="34" charset="0"/>
                <a:cs typeface="Arial" pitchFamily="34" charset="0"/>
              </a:rPr>
              <a:t>difficultés alimentaires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dirty="0" smtClean="0">
                <a:latin typeface="Arial" pitchFamily="34" charset="0"/>
                <a:cs typeface="Arial" pitchFamily="34" charset="0"/>
              </a:rPr>
              <a:t>Râles sibilants </a:t>
            </a:r>
            <a:r>
              <a:rPr lang="fr-FR" altLang="en-US" dirty="0">
                <a:latin typeface="Arial" pitchFamily="34" charset="0"/>
                <a:cs typeface="Arial" pitchFamily="34" charset="0"/>
              </a:rPr>
              <a:t>expiratoires</a:t>
            </a:r>
          </a:p>
          <a:p>
            <a:endParaRPr lang="fr-FR" altLang="en-US" dirty="0"/>
          </a:p>
          <a:p>
            <a:endParaRPr lang="fr-FR" altLang="en-US" dirty="0"/>
          </a:p>
          <a:p>
            <a:endParaRPr lang="fr-F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Cas clinique1 QCM n°1</a:t>
            </a:r>
            <a:r>
              <a:rPr lang="fr-FR" sz="3200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:</a:t>
            </a:r>
            <a:endParaRPr lang="fr-FR" alt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68411" y="1680519"/>
            <a:ext cx="10946658" cy="4983892"/>
          </a:xfrm>
        </p:spPr>
        <p:txBody>
          <a:bodyPr/>
          <a:lstStyle/>
          <a:p>
            <a:pPr marL="0" indent="0">
              <a:buNone/>
            </a:pPr>
            <a:r>
              <a:rPr lang="fr-FR" altLang="en-US" sz="2800" b="1" dirty="0">
                <a:latin typeface="Arial" pitchFamily="34" charset="0"/>
                <a:cs typeface="Arial" pitchFamily="34" charset="0"/>
              </a:rPr>
              <a:t>Quels sont les éléments cliniques en faveur du diagnostic de bronchiolite chez ce nourrisson </a:t>
            </a:r>
            <a:endParaRPr lang="fr-FR" altLang="en-US" sz="2800" b="1" dirty="0" smtClean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Âge</a:t>
            </a:r>
            <a:endParaRPr lang="fr-F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Premier épisode </a:t>
            </a:r>
            <a:r>
              <a:rPr lang="fr-FR" alt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 dyspnée sifflante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dirty="0" err="1" smtClean="0">
                <a:latin typeface="Arial" pitchFamily="34" charset="0"/>
                <a:cs typeface="Arial" pitchFamily="34" charset="0"/>
              </a:rPr>
              <a:t>Trophicité</a:t>
            </a:r>
            <a:r>
              <a:rPr lang="fr-FR" altLang="en-US" dirty="0" smtClean="0">
                <a:latin typeface="Arial" pitchFamily="34" charset="0"/>
                <a:cs typeface="Arial" pitchFamily="34" charset="0"/>
              </a:rPr>
              <a:t> normale</a:t>
            </a:r>
            <a:endParaRPr lang="fr-FR" altLang="en-US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dirty="0" smtClean="0">
                <a:latin typeface="Arial" pitchFamily="34" charset="0"/>
                <a:cs typeface="Arial" pitchFamily="34" charset="0"/>
              </a:rPr>
              <a:t>Absence de </a:t>
            </a:r>
            <a:r>
              <a:rPr lang="fr-FR" altLang="en-US" dirty="0">
                <a:latin typeface="Arial" pitchFamily="34" charset="0"/>
                <a:cs typeface="Arial" pitchFamily="34" charset="0"/>
              </a:rPr>
              <a:t>difficultés alimentaires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Râles sibilants </a:t>
            </a:r>
            <a:r>
              <a:rPr lang="fr-FR" alt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expiratoires</a:t>
            </a:r>
          </a:p>
          <a:p>
            <a:endParaRPr lang="fr-FR" altLang="en-US" dirty="0">
              <a:solidFill>
                <a:srgbClr val="FF0000"/>
              </a:solidFill>
            </a:endParaRPr>
          </a:p>
          <a:p>
            <a:endParaRPr lang="fr-FR" altLang="en-US" dirty="0"/>
          </a:p>
          <a:p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68957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Cas clinique1 QCM </a:t>
            </a:r>
            <a:r>
              <a:rPr lang="fr-FR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n°2</a:t>
            </a:r>
            <a:endParaRPr lang="fr-FR" altLang="en-US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494270" y="1865870"/>
            <a:ext cx="11280291" cy="473675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altLang="en-US" sz="2400" b="1" dirty="0">
                <a:latin typeface="Arial" pitchFamily="34" charset="0"/>
                <a:cs typeface="Arial" pitchFamily="34" charset="0"/>
              </a:rPr>
              <a:t>La forme clinique de la bronchiolite est légère chez ce nourrisson devant: </a:t>
            </a:r>
            <a:endParaRPr lang="fr-FR" altLang="en-US" sz="2400" b="1" dirty="0" smtClean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sz="2400" dirty="0" smtClean="0">
                <a:latin typeface="Arial" pitchFamily="34" charset="0"/>
                <a:cs typeface="Arial" pitchFamily="34" charset="0"/>
              </a:rPr>
              <a:t>La fièvre </a:t>
            </a:r>
            <a:r>
              <a:rPr lang="fr-FR" altLang="en-US" sz="2400" dirty="0">
                <a:latin typeface="Arial" pitchFamily="34" charset="0"/>
                <a:cs typeface="Arial" pitchFamily="34" charset="0"/>
              </a:rPr>
              <a:t>à 38°c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sz="2400" dirty="0" smtClean="0">
                <a:latin typeface="Arial" pitchFamily="34" charset="0"/>
                <a:cs typeface="Arial" pitchFamily="34" charset="0"/>
              </a:rPr>
              <a:t>La Spo2 </a:t>
            </a:r>
            <a:r>
              <a:rPr lang="fr-FR" altLang="en-US" sz="2400" dirty="0">
                <a:latin typeface="Arial" pitchFamily="34" charset="0"/>
                <a:cs typeface="Arial" pitchFamily="34" charset="0"/>
              </a:rPr>
              <a:t>à 95%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sz="2400" dirty="0">
                <a:latin typeface="Arial" pitchFamily="34" charset="0"/>
                <a:cs typeface="Arial" pitchFamily="34" charset="0"/>
              </a:rPr>
              <a:t>L’hydratation correcte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sz="2400" dirty="0" smtClean="0">
                <a:latin typeface="Arial" pitchFamily="34" charset="0"/>
                <a:cs typeface="Arial" pitchFamily="34" charset="0"/>
              </a:rPr>
              <a:t>L’eutrophie</a:t>
            </a:r>
            <a:endParaRPr lang="fr-FR" altLang="en-US" sz="24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sz="2400" dirty="0" smtClean="0">
                <a:latin typeface="Arial" pitchFamily="34" charset="0"/>
                <a:cs typeface="Arial" pitchFamily="34" charset="0"/>
              </a:rPr>
              <a:t>La FC </a:t>
            </a:r>
            <a:r>
              <a:rPr lang="fr-FR" altLang="en-US" sz="2400" dirty="0">
                <a:latin typeface="Arial" pitchFamily="34" charset="0"/>
                <a:cs typeface="Arial" pitchFamily="34" charset="0"/>
              </a:rPr>
              <a:t>à 110/min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Cas clinique1 QCM </a:t>
            </a:r>
            <a:r>
              <a:rPr lang="fr-FR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n°2</a:t>
            </a:r>
            <a:endParaRPr lang="fr-FR" altLang="en-US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494270" y="1865870"/>
            <a:ext cx="11280291" cy="473675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altLang="en-US" sz="2400" b="1" dirty="0">
                <a:latin typeface="Arial" pitchFamily="34" charset="0"/>
                <a:cs typeface="Arial" pitchFamily="34" charset="0"/>
              </a:rPr>
              <a:t>La forme clinique de la bronchiolite est légère chez ce nourrisson devant: </a:t>
            </a:r>
            <a:endParaRPr lang="fr-FR" altLang="en-US" sz="2400" b="1" dirty="0" smtClean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sz="2400" dirty="0" smtClean="0">
                <a:latin typeface="Arial" pitchFamily="34" charset="0"/>
                <a:cs typeface="Arial" pitchFamily="34" charset="0"/>
              </a:rPr>
              <a:t>La fièvre </a:t>
            </a:r>
            <a:r>
              <a:rPr lang="fr-FR" altLang="en-US" sz="2400" dirty="0">
                <a:latin typeface="Arial" pitchFamily="34" charset="0"/>
                <a:cs typeface="Arial" pitchFamily="34" charset="0"/>
              </a:rPr>
              <a:t>à 38°c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La Spo2 </a:t>
            </a:r>
            <a:r>
              <a:rPr lang="fr-FR" alt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à 95%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L’hydratation correcte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sz="2400" dirty="0" smtClean="0">
                <a:latin typeface="Arial" pitchFamily="34" charset="0"/>
                <a:cs typeface="Arial" pitchFamily="34" charset="0"/>
              </a:rPr>
              <a:t>L’eutrophie</a:t>
            </a:r>
            <a:endParaRPr lang="fr-FR" altLang="en-US" sz="24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UcPeriod"/>
            </a:pPr>
            <a:r>
              <a:rPr lang="fr-FR" alt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La FC </a:t>
            </a:r>
            <a:r>
              <a:rPr lang="fr-FR" alt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à 110/min</a:t>
            </a:r>
          </a:p>
        </p:txBody>
      </p:sp>
    </p:spTree>
    <p:extLst>
      <p:ext uri="{BB962C8B-B14F-4D97-AF65-F5344CB8AC3E}">
        <p14:creationId xmlns:p14="http://schemas.microsoft.com/office/powerpoint/2010/main" val="3575851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000" y="158044"/>
            <a:ext cx="9875520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clinique1 QCM n°3: </a:t>
            </a:r>
            <a:endParaRPr lang="fr-FR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514403"/>
            <a:ext cx="10360378" cy="4921566"/>
          </a:xfrm>
        </p:spPr>
        <p:txBody>
          <a:bodyPr>
            <a:normAutofit fontScale="25000" lnSpcReduction="20000"/>
          </a:bodyPr>
          <a:lstStyle/>
          <a:p>
            <a:pPr marL="45720" indent="0" algn="just">
              <a:lnSpc>
                <a:spcPct val="170000"/>
              </a:lnSpc>
              <a:buNone/>
            </a:pPr>
            <a:r>
              <a:rPr lang="fr-FR" sz="9600" b="1" dirty="0">
                <a:latin typeface="Arial" pitchFamily="34" charset="0"/>
                <a:cs typeface="Arial" pitchFamily="34" charset="0"/>
              </a:rPr>
              <a:t>Quel(s) examen(s) complémentaire(s) demander?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Aucun </a:t>
            </a:r>
            <a:endParaRPr lang="fr-FR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Ionogramme sanguin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NFS, CRP 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Prélèvement rhinopharyngé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Radiographie thoracique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endParaRPr lang="fr-FR" sz="9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endParaRPr lang="fr-FR" sz="5100" dirty="0">
              <a:solidFill>
                <a:schemeClr val="tx1"/>
              </a:solidFill>
            </a:endParaRP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endParaRPr lang="fr-FR" sz="2800" dirty="0">
              <a:solidFill>
                <a:schemeClr val="tx1"/>
              </a:solidFill>
            </a:endParaRP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endParaRPr lang="fr-FR" sz="2800" dirty="0">
              <a:solidFill>
                <a:schemeClr val="tx1"/>
              </a:solidFill>
            </a:endParaRPr>
          </a:p>
          <a:p>
            <a:pPr marL="45720" indent="0" algn="just">
              <a:lnSpc>
                <a:spcPct val="170000"/>
              </a:lnSpc>
              <a:buNone/>
            </a:pPr>
            <a:r>
              <a:rPr lang="fr-FR" sz="2600" dirty="0">
                <a:solidFill>
                  <a:schemeClr val="tx1"/>
                </a:solidFill>
              </a:rPr>
              <a:t> </a:t>
            </a:r>
          </a:p>
          <a:p>
            <a:pPr marL="502920" indent="-457200" algn="just">
              <a:lnSpc>
                <a:spcPct val="200000"/>
              </a:lnSpc>
              <a:buFont typeface="+mj-lt"/>
              <a:buAutoNum type="alphaUcPeriod"/>
            </a:pP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000" y="158044"/>
            <a:ext cx="9875520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clinique1 QCM </a:t>
            </a:r>
            <a:r>
              <a:rPr lang="fr-FR" sz="3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n°3: </a:t>
            </a:r>
            <a:endParaRPr lang="fr-FR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514403"/>
            <a:ext cx="10360378" cy="4921566"/>
          </a:xfrm>
        </p:spPr>
        <p:txBody>
          <a:bodyPr>
            <a:normAutofit fontScale="25000" lnSpcReduction="20000"/>
          </a:bodyPr>
          <a:lstStyle/>
          <a:p>
            <a:pPr marL="45720" indent="0" algn="just">
              <a:lnSpc>
                <a:spcPct val="170000"/>
              </a:lnSpc>
              <a:buNone/>
            </a:pPr>
            <a:r>
              <a:rPr lang="fr-FR" sz="1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Quel(s) examen(s) complémentaire(s) demander?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9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Aucun </a:t>
            </a:r>
            <a:endParaRPr lang="fr-FR" sz="5100" dirty="0">
              <a:latin typeface="Arial" pitchFamily="34" charset="0"/>
              <a:cs typeface="Arial" pitchFamily="34" charset="0"/>
            </a:endParaRP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9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Ionogramme sanguin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9600" dirty="0">
                <a:latin typeface="Arial" pitchFamily="34" charset="0"/>
                <a:cs typeface="Arial" pitchFamily="34" charset="0"/>
              </a:rPr>
              <a:t>NFS, CRP 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9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Prélèvement rhinopharyngé </a:t>
            </a:r>
            <a:endParaRPr lang="fr-FR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60070" lvl="0" indent="-514350" algn="just">
              <a:lnSpc>
                <a:spcPct val="170000"/>
              </a:lnSpc>
              <a:buClr>
                <a:srgbClr val="DD8047"/>
              </a:buClr>
              <a:buFont typeface="+mj-lt"/>
              <a:buAutoNum type="alphaUcPeriod"/>
            </a:pPr>
            <a:r>
              <a:rPr lang="fr-FR" sz="9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Radiographie thoracique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endParaRPr lang="fr-FR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45720" indent="0" algn="just">
              <a:lnSpc>
                <a:spcPct val="170000"/>
              </a:lnSpc>
              <a:buNone/>
            </a:pPr>
            <a:r>
              <a:rPr lang="fr-FR" sz="2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502920" indent="-457200" algn="just">
              <a:lnSpc>
                <a:spcPct val="200000"/>
              </a:lnSpc>
              <a:buFont typeface="+mj-lt"/>
              <a:buAutoNum type="alphaUcPeriod"/>
            </a:pPr>
            <a:endParaRPr lang="fr-FR" dirty="0">
              <a:latin typeface="Arial" pitchFamily="34" charset="0"/>
              <a:cs typeface="Arial" pitchFamily="34" charset="0"/>
            </a:endParaRPr>
          </a:p>
          <a:p>
            <a:endParaRPr lang="fr-FR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000" y="158044"/>
            <a:ext cx="9875520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clinique1 QCM </a:t>
            </a:r>
            <a:r>
              <a:rPr lang="fr-FR" sz="3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n°4: </a:t>
            </a:r>
            <a:endParaRPr lang="fr-FR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514403"/>
            <a:ext cx="10360378" cy="5699197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70000"/>
              </a:lnSpc>
              <a:buNone/>
            </a:pPr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Quelle est votre conduite thérapeutique ?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Traitement antipyrétique si température ≥ 38,5 °C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fractionnement des biberons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Nébulisation de beta2-mimétiques de courte durée d’action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hospitalisation en pédiatrie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Désobstruction rhinopharyngée</a:t>
            </a:r>
          </a:p>
          <a:p>
            <a:pPr marL="45720" indent="0" algn="just">
              <a:lnSpc>
                <a:spcPct val="170000"/>
              </a:lnSpc>
              <a:buNone/>
            </a:pPr>
            <a:r>
              <a:rPr lang="fr-FR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02920" indent="-457200" algn="just">
              <a:lnSpc>
                <a:spcPct val="200000"/>
              </a:lnSpc>
              <a:buFont typeface="+mj-lt"/>
              <a:buAutoNum type="alphaUcPeriod"/>
            </a:pP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000" y="158044"/>
            <a:ext cx="9875520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1QCM </a:t>
            </a:r>
            <a:r>
              <a:rPr lang="fr-FR" sz="3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n°4: </a:t>
            </a:r>
            <a:endParaRPr lang="fr-FR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514403"/>
            <a:ext cx="10360378" cy="5699197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70000"/>
              </a:lnSpc>
              <a:buNone/>
            </a:pPr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Quelle est votre conduite </a:t>
            </a:r>
            <a:r>
              <a:rPr lang="fr-FR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thérapeutique?</a:t>
            </a:r>
            <a:endParaRPr lang="fr-F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Traitement antipyrétique si température ≥ 38,5 °C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fractionnement des biberons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Nébulisation de beta2-mimétiques de courte durée d’action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hospitalisation en pédiatrie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Désobstruction rhinopharyngée</a:t>
            </a:r>
          </a:p>
          <a:p>
            <a:pPr marL="45720" indent="0" algn="just">
              <a:lnSpc>
                <a:spcPct val="170000"/>
              </a:lnSpc>
              <a:buNone/>
            </a:pPr>
            <a:r>
              <a:rPr lang="fr-FR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02920" indent="-457200" algn="just">
              <a:lnSpc>
                <a:spcPct val="200000"/>
              </a:lnSpc>
              <a:buFont typeface="+mj-lt"/>
              <a:buAutoNum type="alphaUcPeriod"/>
            </a:pP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2999" y="158044"/>
            <a:ext cx="10632989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1 QCM </a:t>
            </a:r>
            <a:r>
              <a:rPr lang="fr-FR" sz="3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n°5:</a:t>
            </a:r>
            <a:endParaRPr lang="fr-FR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514403"/>
            <a:ext cx="10360378" cy="5699197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70000"/>
              </a:lnSpc>
              <a:buNone/>
            </a:pPr>
            <a:r>
              <a:rPr lang="fr-FR" sz="2800" b="1" dirty="0">
                <a:latin typeface="Arial" pitchFamily="34" charset="0"/>
                <a:cs typeface="Arial" pitchFamily="34" charset="0"/>
              </a:rPr>
              <a:t>Quels sont les éléments de surveillance à domicile?</a:t>
            </a:r>
            <a:endParaRPr lang="fr-FR" sz="2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600" dirty="0">
                <a:latin typeface="Arial" pitchFamily="34" charset="0"/>
                <a:cs typeface="Arial" pitchFamily="34" charset="0"/>
              </a:rPr>
              <a:t>Aptitude à la prise alimentaire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600" dirty="0">
                <a:latin typeface="Arial" pitchFamily="34" charset="0"/>
                <a:cs typeface="Arial" pitchFamily="34" charset="0"/>
              </a:rPr>
              <a:t>Fréquence cardiaque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600" dirty="0">
                <a:latin typeface="Arial" pitchFamily="34" charset="0"/>
                <a:cs typeface="Arial" pitchFamily="34" charset="0"/>
              </a:rPr>
              <a:t>les signes de luttes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Saturation en </a:t>
            </a:r>
            <a:r>
              <a:rPr lang="fr-FR" sz="2600" dirty="0">
                <a:latin typeface="Arial" pitchFamily="34" charset="0"/>
                <a:cs typeface="Arial" pitchFamily="34" charset="0"/>
              </a:rPr>
              <a:t>oxygène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2600" dirty="0">
                <a:latin typeface="Arial" pitchFamily="34" charset="0"/>
                <a:cs typeface="Arial" pitchFamily="34" charset="0"/>
              </a:rPr>
              <a:t>Température</a:t>
            </a:r>
            <a:endParaRPr lang="fr-FR" sz="2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45720" indent="0" algn="just">
              <a:lnSpc>
                <a:spcPct val="170000"/>
              </a:lnSpc>
              <a:buNone/>
            </a:pPr>
            <a:r>
              <a:rPr lang="fr-FR" sz="2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502920" indent="-457200" algn="just">
              <a:lnSpc>
                <a:spcPct val="200000"/>
              </a:lnSpc>
              <a:buFont typeface="+mj-lt"/>
              <a:buAutoNum type="alphaUcPeriod"/>
            </a:pPr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45292" y="281612"/>
            <a:ext cx="9875520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1 QCM </a:t>
            </a:r>
            <a:r>
              <a:rPr lang="fr-FR" sz="3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n°5:</a:t>
            </a:r>
            <a:endParaRPr lang="fr-FR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05481" y="2088292"/>
            <a:ext cx="10897897" cy="3892378"/>
          </a:xfrm>
        </p:spPr>
        <p:txBody>
          <a:bodyPr>
            <a:normAutofit fontScale="25000" lnSpcReduction="20000"/>
          </a:bodyPr>
          <a:lstStyle/>
          <a:p>
            <a:pPr marL="45720" indent="0" algn="just">
              <a:lnSpc>
                <a:spcPct val="170000"/>
              </a:lnSpc>
              <a:buNone/>
            </a:pPr>
            <a:r>
              <a:rPr lang="fr-FR" sz="8600" b="1" dirty="0">
                <a:latin typeface="Arial" pitchFamily="34" charset="0"/>
                <a:cs typeface="Arial" pitchFamily="34" charset="0"/>
              </a:rPr>
              <a:t>Quels sont les éléments de surveillance à domicile? 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10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Aptitude à la prise alimentaire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10400" dirty="0">
                <a:latin typeface="Arial" pitchFamily="34" charset="0"/>
                <a:cs typeface="Arial" pitchFamily="34" charset="0"/>
              </a:rPr>
              <a:t>Fréquence cardiaque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10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</a:t>
            </a:r>
            <a:r>
              <a:rPr lang="fr-FR" sz="10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es </a:t>
            </a:r>
            <a:r>
              <a:rPr lang="fr-FR" sz="10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signes de luttes 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10400" dirty="0">
                <a:latin typeface="Arial" pitchFamily="34" charset="0"/>
                <a:cs typeface="Arial" pitchFamily="34" charset="0"/>
              </a:rPr>
              <a:t>Saturation en oxygène</a:t>
            </a:r>
          </a:p>
          <a:p>
            <a:pPr marL="560070" indent="-514350" algn="just">
              <a:lnSpc>
                <a:spcPct val="170000"/>
              </a:lnSpc>
              <a:buFont typeface="+mj-lt"/>
              <a:buAutoNum type="alphaUcPeriod"/>
            </a:pPr>
            <a:r>
              <a:rPr lang="fr-FR" sz="10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Température</a:t>
            </a:r>
          </a:p>
          <a:p>
            <a:pPr marL="45720" indent="0" algn="just">
              <a:lnSpc>
                <a:spcPct val="170000"/>
              </a:lnSpc>
              <a:buNone/>
            </a:pPr>
            <a:r>
              <a:rPr lang="fr-FR" sz="104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502920" indent="-457200" algn="just">
              <a:lnSpc>
                <a:spcPct val="200000"/>
              </a:lnSpc>
              <a:buFont typeface="+mj-lt"/>
              <a:buAutoNum type="alphaUcPeriod"/>
            </a:pP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000" y="158044"/>
            <a:ext cx="9875520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2 QCM 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439333"/>
            <a:ext cx="10360378" cy="5031805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fr-FR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Youssef  âgé de 3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mois, est </a:t>
            </a:r>
            <a:r>
              <a:rPr lang="fr-FR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amené aux urgences pour dyspnée. </a:t>
            </a:r>
          </a:p>
          <a:p>
            <a:pPr algn="just">
              <a:lnSpc>
                <a:spcPct val="170000"/>
              </a:lnSpc>
            </a:pPr>
            <a:r>
              <a:rPr lang="fr-FR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ATCDS:</a:t>
            </a:r>
          </a:p>
          <a:p>
            <a:pPr algn="just">
              <a:lnSpc>
                <a:spcPct val="170000"/>
              </a:lnSpc>
              <a:buFontTx/>
              <a:buChar char="-"/>
            </a:pPr>
            <a:r>
              <a:rPr lang="fr-FR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Ancien prématuré de 33 SA avec un faible poids de naissance</a:t>
            </a:r>
          </a:p>
          <a:p>
            <a:pPr algn="just">
              <a:lnSpc>
                <a:spcPct val="170000"/>
              </a:lnSpc>
              <a:buFontTx/>
              <a:buChar char="-"/>
            </a:pPr>
            <a:r>
              <a:rPr lang="fr-FR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Hospitalisé en néonatologie pour DRNN en rapport avec une MMH</a:t>
            </a:r>
          </a:p>
          <a:p>
            <a:pPr algn="just">
              <a:lnSpc>
                <a:spcPct val="170000"/>
              </a:lnSpc>
              <a:buFontTx/>
              <a:buChar char="-"/>
            </a:pPr>
            <a:r>
              <a:rPr lang="fr-FR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Sous allaitement artificiel dès la naissance</a:t>
            </a:r>
          </a:p>
          <a:p>
            <a:pPr algn="just">
              <a:lnSpc>
                <a:spcPct val="170000"/>
              </a:lnSpc>
              <a:buFontTx/>
              <a:buChar char="-"/>
            </a:pPr>
            <a:r>
              <a:rPr lang="fr-FR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 d’atopie familiale ni de tabagisme passif </a:t>
            </a:r>
          </a:p>
          <a:p>
            <a:pPr algn="just">
              <a:lnSpc>
                <a:spcPct val="170000"/>
              </a:lnSpc>
              <a:buFontTx/>
              <a:buChar char="-"/>
            </a:pPr>
            <a:endParaRPr lang="fr-FR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000" y="158044"/>
            <a:ext cx="9875520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2 QCM 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29937" y="1539407"/>
            <a:ext cx="10360378" cy="5603631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HDM: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remonte à 3 jours marquée par l’apparition d’une toux sèche avec difficultés alimentaires, obstruction nasale et fièvre non chiffrée. Ce jour, il a une dyspnée et des vomissements 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l’examen: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Poids= 3500 g (perte de 200 g)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Température= 39°, cernes oculaires  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FC= 160/min, FR= 70 c/min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tirage sous costal marqué , battement des ailes de nez, saO2= 90% 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AP: râles sibilants aux 2 champs pulmonaires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endParaRPr lang="fr-FR" sz="2400" dirty="0">
              <a:solidFill>
                <a:schemeClr val="tx1"/>
              </a:solidFill>
            </a:endParaRPr>
          </a:p>
          <a:p>
            <a:pPr algn="just">
              <a:lnSpc>
                <a:spcPct val="170000"/>
              </a:lnSpc>
              <a:buFontTx/>
              <a:buChar char="-"/>
            </a:pPr>
            <a:endParaRPr lang="fr-FR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000" y="158044"/>
            <a:ext cx="9875520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clinique2 QCM n°1: </a:t>
            </a:r>
            <a:endParaRPr lang="fr-FR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174044"/>
            <a:ext cx="10360378" cy="5339645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00000"/>
              </a:lnSpc>
              <a:buNone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45720" indent="0" algn="just">
              <a:lnSpc>
                <a:spcPct val="100000"/>
              </a:lnSpc>
              <a:buNone/>
            </a:pPr>
            <a:r>
              <a:rPr lang="fr-FR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Quelle est votre conduite thérapeutique immédiate? 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Antibiothérapie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par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céfotaxime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Hospitalisation et mise en condition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Hydratation par voie veineuse périphérique 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Intubation 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Oxygénothérapie par lunettes à haut débit après la DRP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02920" indent="-457200" algn="just">
              <a:lnSpc>
                <a:spcPct val="100000"/>
              </a:lnSpc>
              <a:buFont typeface="+mj-lt"/>
              <a:buAutoNum type="alphaUcPeriod"/>
            </a:pPr>
            <a:endParaRPr lang="fr-FR" sz="24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000" y="158044"/>
            <a:ext cx="9875520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clinique2 QCM n°1: </a:t>
            </a:r>
            <a:endParaRPr lang="fr-FR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174044"/>
            <a:ext cx="10360378" cy="5339645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00000"/>
              </a:lnSpc>
              <a:buNone/>
            </a:pPr>
            <a:endParaRPr lang="fr-FR" sz="2400" dirty="0">
              <a:solidFill>
                <a:schemeClr val="tx1"/>
              </a:solidFill>
            </a:endParaRPr>
          </a:p>
          <a:p>
            <a:pPr marL="45720" indent="0" algn="just">
              <a:lnSpc>
                <a:spcPct val="100000"/>
              </a:lnSpc>
              <a:buNone/>
            </a:pPr>
            <a:r>
              <a:rPr lang="fr-FR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Quelle est votre conduite thérapeutique immédiate? 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Antibiothérapie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par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céfotaxime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Hospitalisation et mise en condition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Hydratation par voie veineuse périphérique 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Intubation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Oxygénothérapie  par lunettes à haut débit après la DRP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 algn="just">
              <a:lnSpc>
                <a:spcPct val="100000"/>
              </a:lnSpc>
              <a:buFont typeface="+mj-lt"/>
              <a:buAutoNum type="alphaUcPeriod"/>
            </a:pPr>
            <a:endParaRPr lang="fr-FR" sz="2400" b="1" dirty="0">
              <a:solidFill>
                <a:schemeClr val="tx1"/>
              </a:solidFill>
            </a:endParaRP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000" y="158044"/>
            <a:ext cx="9875520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clinique2 QCM n°2: </a:t>
            </a:r>
            <a:endParaRPr lang="fr-FR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174044"/>
            <a:ext cx="10360378" cy="5339645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00000"/>
              </a:lnSpc>
              <a:buNone/>
            </a:pPr>
            <a:endParaRPr lang="fr-FR" sz="2400" dirty="0">
              <a:solidFill>
                <a:schemeClr val="tx1"/>
              </a:solidFill>
            </a:endParaRPr>
          </a:p>
          <a:p>
            <a:pPr marL="45720" indent="0" algn="just">
              <a:lnSpc>
                <a:spcPct val="100000"/>
              </a:lnSpc>
              <a:buNone/>
            </a:pPr>
            <a:r>
              <a:rPr lang="fr-FR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Quels examens complémentaires demandez-vous? 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Radio </a:t>
            </a: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thorax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Echographie cardiaque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NFS et CRP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ionogramme sanguin 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Troponine 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 algn="just">
              <a:lnSpc>
                <a:spcPct val="100000"/>
              </a:lnSpc>
              <a:buFont typeface="+mj-lt"/>
              <a:buAutoNum type="alphaUcPeriod"/>
            </a:pPr>
            <a:endParaRPr lang="fr-FR" sz="2400" b="1" dirty="0">
              <a:solidFill>
                <a:schemeClr val="tx1"/>
              </a:solidFill>
            </a:endParaRP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000" y="158044"/>
            <a:ext cx="9875520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2QCM n°2: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43000" y="1174044"/>
            <a:ext cx="10360378" cy="5339645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00000"/>
              </a:lnSpc>
              <a:buNone/>
            </a:pPr>
            <a:endParaRPr lang="fr-FR" sz="2400" dirty="0">
              <a:solidFill>
                <a:schemeClr val="tx1"/>
              </a:solidFill>
            </a:endParaRPr>
          </a:p>
          <a:p>
            <a:pPr marL="45720" indent="0" algn="just">
              <a:lnSpc>
                <a:spcPct val="100000"/>
              </a:lnSpc>
              <a:buNone/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Quels examens complémentaires demandez-vous? 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Radio thorax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Echographie cardiaque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NFS et CRP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ionogramme sanguin 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Troponine 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 algn="just">
              <a:lnSpc>
                <a:spcPct val="100000"/>
              </a:lnSpc>
              <a:buFont typeface="+mj-lt"/>
              <a:buAutoNum type="alphaUcPeriod"/>
            </a:pPr>
            <a:endParaRPr lang="fr-FR" sz="2400" b="1" dirty="0">
              <a:solidFill>
                <a:schemeClr val="tx1"/>
              </a:solidFill>
            </a:endParaRP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000" y="158044"/>
            <a:ext cx="9875520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2 QCM n°3: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16874" y="1518355"/>
            <a:ext cx="10360378" cy="5339645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0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H24 d’hospitalisation, le patient a augmenté ses besoins en oxygène, il  sature à 85% sous oxygène avec des mouvements asymétriques du thorax, il est transféré en réanimation et intubé; quelle est la complication aigue la plus probable? 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Pneumothorax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IRA par hypoventilation alvéolaire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Embolie pulmonaire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OAP cardiogénique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Pneumopathie nosocomiale étendue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 algn="just">
              <a:lnSpc>
                <a:spcPct val="100000"/>
              </a:lnSpc>
              <a:buFont typeface="+mj-lt"/>
              <a:buAutoNum type="alphaUcPeriod"/>
            </a:pPr>
            <a:endParaRPr lang="fr-FR" sz="2400" b="1" dirty="0">
              <a:solidFill>
                <a:schemeClr val="tx1"/>
              </a:solidFill>
            </a:endParaRP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000" y="158044"/>
            <a:ext cx="9875520" cy="1356360"/>
          </a:xfrm>
        </p:spPr>
        <p:txBody>
          <a:bodyPr>
            <a:noAutofit/>
          </a:bodyPr>
          <a:lstStyle/>
          <a:p>
            <a:pPr algn="just"/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2QCM n°3: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103811" y="1518355"/>
            <a:ext cx="10360378" cy="5339645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00000"/>
              </a:lnSpc>
              <a:buNone/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H24 d’hospitalisation, le patient a augmenté ses besoins en oxygène, il  sature à 85% sous oxygène avec des mouvements asymétriques du thorax, il est transféré en réanimation et intubé; quelle est la complication aigue la plus probable? 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Pneumothorax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IRA par hypoventilation alvéolaire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Embolie pulmonaire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OAP cardiogénique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Pneumopathie nosocomiale étendue</a:t>
            </a:r>
          </a:p>
          <a:p>
            <a:pPr marL="502920" indent="-457200" algn="just">
              <a:lnSpc>
                <a:spcPct val="150000"/>
              </a:lnSpc>
              <a:buFont typeface="+mj-lt"/>
              <a:buAutoNum type="alphaUcPeriod"/>
            </a:pPr>
            <a:endParaRPr lang="fr-FR" sz="2400" dirty="0">
              <a:solidFill>
                <a:schemeClr val="tx1"/>
              </a:solidFill>
            </a:endParaRPr>
          </a:p>
          <a:p>
            <a:pPr marL="502920" indent="-457200" algn="just">
              <a:lnSpc>
                <a:spcPct val="100000"/>
              </a:lnSpc>
              <a:buFont typeface="+mj-lt"/>
              <a:buAutoNum type="alphaUcPeriod"/>
            </a:pPr>
            <a:endParaRPr lang="fr-FR" sz="2400" b="1" dirty="0">
              <a:solidFill>
                <a:schemeClr val="tx1"/>
              </a:solidFill>
            </a:endParaRP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</a:t>
            </a:r>
            <a:r>
              <a:rPr lang="fr-FR" sz="3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fr-FR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31672" y="1702837"/>
            <a:ext cx="108712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Un nourrisson âgé de 1 mois, ancien prématuré de 32 SA , est hospitalisé pour premier épisode de dyspnée sifflante sans  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l’examen physique: apyrétique, FR: 70c/mn, SaO2: 90%, signes de luttes marqués, AP: râles sibilants diffus au niveau des 2 champs pulmonaires 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15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Quels sont les critères d’hospitalisation pour ce nourrisson?</a:t>
            </a:r>
          </a:p>
          <a:p>
            <a:pPr marL="0" indent="0">
              <a:buNone/>
            </a:pPr>
            <a:endParaRPr lang="fr-FR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A- Le terrain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B- L'âge 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C- La fréquence respiratoire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D- La saturation en O2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E- La tolérance digestive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</a:t>
            </a:r>
            <a:r>
              <a:rPr lang="fr-FR" sz="3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QCM1</a:t>
            </a:r>
            <a:endParaRPr lang="fr-FR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65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Quels sont les critères d’hospitalisation pour ce nourrisson?</a:t>
            </a:r>
          </a:p>
          <a:p>
            <a:pPr marL="0" indent="0">
              <a:buNone/>
            </a:pPr>
            <a:endParaRPr lang="fr-FR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A- </a:t>
            </a: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terrain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B- </a:t>
            </a: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L'âge 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C- Les râles sibilants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D- </a:t>
            </a: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saturation en O2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E- La tolérance digestive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</a:t>
            </a:r>
            <a:r>
              <a:rPr lang="fr-FR" sz="3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QCM1</a:t>
            </a:r>
            <a:endParaRPr lang="fr-FR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72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</a:t>
            </a:r>
            <a:r>
              <a:rPr lang="fr-FR" sz="3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QCM2</a:t>
            </a:r>
            <a:endParaRPr lang="fr-FR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Une </a:t>
            </a:r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radiographie a été pratiquée, que peut-t-elle montrer: </a:t>
            </a:r>
          </a:p>
          <a:p>
            <a:pPr marL="0" indent="0">
              <a:buNone/>
            </a:pPr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A-</a:t>
            </a:r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atélectasie 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B- Une distension thoracique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C- Une asymétrie de transparence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D- Une cardiomégalie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E- Un pneumothorax</a:t>
            </a:r>
          </a:p>
        </p:txBody>
      </p:sp>
    </p:spTree>
    <p:extLst>
      <p:ext uri="{BB962C8B-B14F-4D97-AF65-F5344CB8AC3E}">
        <p14:creationId xmlns:p14="http://schemas.microsoft.com/office/powerpoint/2010/main" val="3599372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</a:t>
            </a:r>
            <a:r>
              <a:rPr lang="fr-FR" sz="3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QCM2</a:t>
            </a:r>
            <a:endParaRPr lang="fr-FR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Une </a:t>
            </a:r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radiographie a été pratiquée, que peut-t-elle montrer: </a:t>
            </a:r>
          </a:p>
          <a:p>
            <a:pPr marL="0" indent="0">
              <a:buNone/>
            </a:pPr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A-</a:t>
            </a:r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atélectasie 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B- </a:t>
            </a: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distension thoracique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C- Une asymétrie de transparence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D- Une cardiomégalie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E- Un pneumothorax</a:t>
            </a:r>
          </a:p>
        </p:txBody>
      </p:sp>
    </p:spTree>
    <p:extLst>
      <p:ext uri="{BB962C8B-B14F-4D97-AF65-F5344CB8AC3E}">
        <p14:creationId xmlns:p14="http://schemas.microsoft.com/office/powerpoint/2010/main" val="2490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3 QCM3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Quel est le traitement à proposer pour ce nourrisson</a:t>
            </a:r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A-</a:t>
            </a:r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Oxygénothérapie par LNHD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B- Oxygénothérapie par LNS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C- Désobstruction nasale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D- Nébulisation d’adrénaline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E- Nébulisation de SSH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062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3 QCM3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Quel est le traitement à proposer pour ce nourrisson</a:t>
            </a:r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A-</a:t>
            </a:r>
            <a:r>
              <a:rPr lang="fr-FR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Oxygénothérapie par LNHD</a:t>
            </a:r>
          </a:p>
          <a:p>
            <a:pPr marL="0" indent="0">
              <a:buNone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B- Oxygénothérapie par LNS</a:t>
            </a:r>
          </a:p>
          <a:p>
            <a:pPr marL="0" indent="0">
              <a:buNone/>
            </a:pP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C-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Désobstruction nasale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D- Nébulisation d’adrénaline</a:t>
            </a:r>
          </a:p>
          <a:p>
            <a:pPr marL="0" indent="0">
              <a:buNone/>
            </a:pP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E- Nébulisation de SSH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780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dian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912</TotalTime>
  <Words>4586</Words>
  <Application>Microsoft Office PowerPoint</Application>
  <PresentationFormat>Grand écran</PresentationFormat>
  <Paragraphs>1121</Paragraphs>
  <Slides>115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115</vt:i4>
      </vt:variant>
    </vt:vector>
  </HeadingPairs>
  <TitlesOfParts>
    <vt:vector size="122" baseType="lpstr">
      <vt:lpstr>Arial</vt:lpstr>
      <vt:lpstr>Calibri</vt:lpstr>
      <vt:lpstr>Times New Roman</vt:lpstr>
      <vt:lpstr>Tw Cen MT</vt:lpstr>
      <vt:lpstr>Wingdings</vt:lpstr>
      <vt:lpstr>Wingdings 2</vt:lpstr>
      <vt:lpstr>Médian</vt:lpstr>
      <vt:lpstr>Bronchiolite  aigue du nourrisson:  Évaluation            </vt:lpstr>
      <vt:lpstr>QCM1: La bronchiolite aigue du nourrisson: </vt:lpstr>
      <vt:lpstr>QCM1: La bronchiolite aigue du nourrisson: </vt:lpstr>
      <vt:lpstr>QCM2: parmi les caractéristiques de la bronchiolite, on retient:</vt:lpstr>
      <vt:lpstr>QCM2: parmi les caractéristiques de la bronchiolite,on retient:</vt:lpstr>
      <vt:lpstr>QCM3: La bronchiolite aigue du nourrisson: </vt:lpstr>
      <vt:lpstr>QCM3: La bronchiolite aigue du nourrisson: </vt:lpstr>
      <vt:lpstr>QCM4: Concernant l’agent pathogène au cours de la bronchiolite aigue du nourrisson: </vt:lpstr>
      <vt:lpstr>QCM 4: concernant l’agent pathogène au cours de la bronchiolite aigue du nourrisson: </vt:lpstr>
      <vt:lpstr>QCM5: Parmi les virus responsables de la bronchiolite , on retient:</vt:lpstr>
      <vt:lpstr>QCM5: Parmi les virus responsables de la bronchiolite , on retient:</vt:lpstr>
      <vt:lpstr>QCM 6: au cours de la bronchiolite aigue du nourrisson: </vt:lpstr>
      <vt:lpstr>QCM 6: au cours de la bronchiolite aigue du nourrisson: </vt:lpstr>
      <vt:lpstr>QCM 7: Les éléments d’anamnèse utiles pour l’orientation diagnostique d’une bronchiolite aigue du nourrisson sont : </vt:lpstr>
      <vt:lpstr>QCM7: Les éléments d’anamnèse utiles pour l’orientation diagnostique d’une bronchiolite aigue du nourrisson sont: </vt:lpstr>
      <vt:lpstr>QCM 8:  Le tableau clinique habituel de la bronchiolite aigue du nourrisson peut comporter : </vt:lpstr>
      <vt:lpstr>QCM 8:  le tableau clinique habituel de la bronchiolite aigue du nourrisson peut comporter : </vt:lpstr>
      <vt:lpstr>QCM 9: Les éléments d’anamnèse contre le diagnostic de bronchiolite:</vt:lpstr>
      <vt:lpstr>QCM 9: Les éléments d’anamnèse contre le diagnostic de Bronchiolite:</vt:lpstr>
      <vt:lpstr>QCM 10: L’examen physique, au cours de la bronchiolite aigue du nourrisson, peut montrer: </vt:lpstr>
      <vt:lpstr>QCM 10: l’examen physique, au cours de la bronchiolite aigue du nourrisson, peut montrer: </vt:lpstr>
      <vt:lpstr>QCM 11: Au cours de la bronchiolite aigue du nourrisson: </vt:lpstr>
      <vt:lpstr>QCM 11: Au cours de la bronchiolite aigue du nourrisson: </vt:lpstr>
      <vt:lpstr>QCM12: Au cours de la bronchiolite aigue du nourrisson, la radiographie thoracique est : </vt:lpstr>
      <vt:lpstr>QCM12: Au cours de la bronchiolite aigue du nourrisson, la radiographie thoracique : </vt:lpstr>
      <vt:lpstr>QCM13:Parmi les indications de la radiographie thoracique dans la bronchiolite, on retient:</vt:lpstr>
      <vt:lpstr>QCM13:Parmi les indications de la radiographie thoracique dans la bronchiolite, on retient:</vt:lpstr>
      <vt:lpstr>QCM14: les signes radiologiques possibles au cours de la bronchiolite aigue du nourrisson: </vt:lpstr>
      <vt:lpstr>QCM14: les signes radiologiques possibles au cours de la bronchiolite aigue du nourrisson: </vt:lpstr>
      <vt:lpstr>QCM 15: concernant les examens comlpèmentaires au cours de la bronchiolite aigue du nourrisson: </vt:lpstr>
      <vt:lpstr>QCM 15: concernant les examens complèmentaires au cours de la bronchiolite aigue du nourrisson: </vt:lpstr>
      <vt:lpstr>QCM16: Parmi les nourrissons suivants, quels sont ceux qui sont à risque de présenter une forme grave de la bronchiolite aigue du nourrisson: </vt:lpstr>
      <vt:lpstr>QCM16: parmi les nourrissons suivants, quels sont ceux qui sont à risque de présenter une forme grave de la bronchiolite aigue du nourrisson: </vt:lpstr>
      <vt:lpstr>QCM 17 : Parmi les signes cliniques suivants, quels sont ceux en faveur d’une bronchiolite aigue modérée</vt:lpstr>
      <vt:lpstr>QCM 17 : Parmi les signes cliniques suivants, quels sont ceux en faveur d’une bronchiolite aigue modérée</vt:lpstr>
      <vt:lpstr>QCM18:  Parmi les signes cliniques suivants, quels sont ceux qui reprèsentent des signes de gravité au cours d’une Bronchiolite</vt:lpstr>
      <vt:lpstr>QCM18:  Parmi les signes cliniques suivants, quels sont ceux qui reprèsentent des signes de gravité au cours d’une Bronchiolite</vt:lpstr>
      <vt:lpstr>QCM19: parmi les signes suivants, quels sont ceux en faveur d’une forme grave de la bronchiolite aigue du nourrisson?</vt:lpstr>
      <vt:lpstr>QCM19: parmi les signes suivants, quels sont ceux en faveur d’une forme grave de la bronchiolite aigue du nourrisson?</vt:lpstr>
      <vt:lpstr>QCM20: parmi les signes suivants, quels sont ceux en faveur d’une forme grave de la bronchiolite aigue du nourrisson?</vt:lpstr>
      <vt:lpstr>QCM20: parmi les signes suivants, quels sont ceux en faveur d’une forme grave de la bronchiolite aigue du nourrisson?</vt:lpstr>
      <vt:lpstr>QCM21: parmi les signes suivants, quels sont ceux en faveur d’une forme légère de la bronchiolite aigue du nourrisson?</vt:lpstr>
      <vt:lpstr>QCM21: parmi les signes suivants, quels sont ceux en faveur d’une forme légère de la bronchiolite aigue du nourrisson?</vt:lpstr>
      <vt:lpstr>QCM22: les indications d’hospitalisation en cas de bronchiolite comportent:</vt:lpstr>
      <vt:lpstr>QCM22: les indications d’hospitalisation en cas de bronchiolite comportent:</vt:lpstr>
      <vt:lpstr>QCM23: les indications d’hospitalisation en cas de bronchiolite comportent:</vt:lpstr>
      <vt:lpstr>QCM23: les indications d’hospitalisation en cas de bronchiolite comportent:</vt:lpstr>
      <vt:lpstr>QCM24: les indications d’hospitalisation en cas de bronchiolite comportent:</vt:lpstr>
      <vt:lpstr>QCM24: les indications d’hospitalisation en cas de bronchiolite comportent:</vt:lpstr>
      <vt:lpstr>QCM 25 : Les indications d’une hospitalisation d’un nourrisson ayant une bronchiolite aigue :</vt:lpstr>
      <vt:lpstr>QCM 25 : Les indications d’une hospitalisation d’un nourrisson avec bronchiolite aigue :</vt:lpstr>
      <vt:lpstr>QCM26: les indications d’hospitalisation en cas de bronchiolite comportent:</vt:lpstr>
      <vt:lpstr>QCM26: les indications d’hospitalisation en cas de bronchiolite comportent:</vt:lpstr>
      <vt:lpstr>QCM27: Les diagnostics différentiels de la bronchiolite aigue:</vt:lpstr>
      <vt:lpstr>QCM27: Les diagnostics différentiels de la bronchiolite aigue:</vt:lpstr>
      <vt:lpstr>QCM28: quels sont parmi les signes suivants, ceux qui sont en faveur d’une coqueluche</vt:lpstr>
      <vt:lpstr>QCM28: quels sont parmi les signes suivants, ceux qui sont en faveur d’une coqueluche</vt:lpstr>
      <vt:lpstr>QCM29: L’antibiothérapie est indiquée dans la bronchiolite si: </vt:lpstr>
      <vt:lpstr>QCM29: L’antibiothérapie est indiquée dans la bronchiolite si: </vt:lpstr>
      <vt:lpstr>QCM30 : La prise en charge d’une bronchiolite aigue légère repose sur : </vt:lpstr>
      <vt:lpstr>QCM30 : La prise en charge d’une bronchiolite aigue légère repose sur : </vt:lpstr>
      <vt:lpstr>QCM 31: la prise en charge thérapeutique de la bronchiolite aigue du nourrisson comporte: </vt:lpstr>
      <vt:lpstr>QCM 31: la prise en charge thérapeutique de la bronchiolite aigue du nourrisson comporte:</vt:lpstr>
      <vt:lpstr>QCM32: les traitements non recommandés au cours le bronchiolite aigue :</vt:lpstr>
      <vt:lpstr>QCM32: les traitements non recommandés au cours le bronchiolite aigue </vt:lpstr>
      <vt:lpstr>QCM33: les principaux germes de surinfection bactérienne en cas de bronchiolite aigue du nourrisson sont:</vt:lpstr>
      <vt:lpstr>QCM33: les principaux germes de surinfection bactérienne en cas de bronchiolite aigue du nourrisson sont:</vt:lpstr>
      <vt:lpstr>QCM34: La prise en charge ambulatoire de la bronchiolite comporte: </vt:lpstr>
      <vt:lpstr>QCM34: La prise en charge ambulatoire de la bronchiolite comporte: </vt:lpstr>
      <vt:lpstr>QCM35: La prise en charge hospitalière de la bronchiolite comporte: </vt:lpstr>
      <vt:lpstr>QCM35: La prise en charge hospitalière de la bronchiolite comporte: </vt:lpstr>
      <vt:lpstr>QCM36: La prise en charge hospitalière de la bronchiolite sévère peut comporter : </vt:lpstr>
      <vt:lpstr>QCM36: La prise en charge hospitalière de la bronchiolite sévère peut comporter : </vt:lpstr>
      <vt:lpstr>QCM37: Parmi les éléments de surveillance d’un nourrisson hospitalisé pour bronchiolite: </vt:lpstr>
      <vt:lpstr>QCM37: Parmi les éléments de surveillance du nourrisson hospitalisé pour bronchiolite : </vt:lpstr>
      <vt:lpstr>QCM39: Parmi les complications aigues de la bronchiolite: </vt:lpstr>
      <vt:lpstr>QCM39: Parmi les complications aigues de la bronchiolite: </vt:lpstr>
      <vt:lpstr>QCM40: Parmi les complications aigues de la bronchiolite: </vt:lpstr>
      <vt:lpstr>QCM40: Parmi les complications aigues de la bronchiolite: </vt:lpstr>
      <vt:lpstr>QCM 41 : Concernant les apnées au cours de la bronchiolite aigue (la forme apnéisante de la bronchiolite aigue): </vt:lpstr>
      <vt:lpstr>QCM 41 : Concernant les apnées au cours de la bronchiolite aigue (la forme apnéisante de la bronchiolite aigue): </vt:lpstr>
      <vt:lpstr>QCM42: la bronchiolite oblitérante est caractérisée par: </vt:lpstr>
      <vt:lpstr>QCM42: la bronchiolite oblitérante est caractérisée par: </vt:lpstr>
      <vt:lpstr>QCM43: Les moyens de prévention de la bronchiolite aigue incluent : </vt:lpstr>
      <vt:lpstr>QCM43: Les moyens de prévention de la bronchiolite aigue incluent : </vt:lpstr>
      <vt:lpstr>QCM44: le Nirsevimab est indiqué chez : </vt:lpstr>
      <vt:lpstr>QCM44: le Nirsevimab est indiqué chez : </vt:lpstr>
      <vt:lpstr>QCM45: le Nirsevimab:</vt:lpstr>
      <vt:lpstr>QCM 45: Le Nirsevimab:</vt:lpstr>
      <vt:lpstr>Cas clinique 1 QCM : </vt:lpstr>
      <vt:lpstr>Cas clinique1 QCM n°1:</vt:lpstr>
      <vt:lpstr>Cas clinique1 QCM n°1:</vt:lpstr>
      <vt:lpstr>Cas clinique1 QCM n°2</vt:lpstr>
      <vt:lpstr>Cas clinique1 QCM n°2</vt:lpstr>
      <vt:lpstr>Cas clinique1 QCM n°3: </vt:lpstr>
      <vt:lpstr>Cas clinique1 QCM n°3: </vt:lpstr>
      <vt:lpstr>Cas clinique1 QCM n°4: </vt:lpstr>
      <vt:lpstr>Cas clinique 1QCM n°4: </vt:lpstr>
      <vt:lpstr>Cas clinique 1 QCM n°5:</vt:lpstr>
      <vt:lpstr>Cas clinique 1 QCM n°5:</vt:lpstr>
      <vt:lpstr>Cas clinique 2 QCM : </vt:lpstr>
      <vt:lpstr>Cas clinique 2 QCM : </vt:lpstr>
      <vt:lpstr>Cas clinique2 QCM n°1: </vt:lpstr>
      <vt:lpstr>Cas clinique2 QCM n°1: </vt:lpstr>
      <vt:lpstr>Cas clinique2 QCM n°2: </vt:lpstr>
      <vt:lpstr>Cas clinique 2QCM n°2: </vt:lpstr>
      <vt:lpstr>Cas clinique 2 QCM n°3: </vt:lpstr>
      <vt:lpstr>Cas clinique 2QCM n°3: </vt:lpstr>
      <vt:lpstr>Cas clinique 3</vt:lpstr>
      <vt:lpstr>Cas clinique 3 QCM1</vt:lpstr>
      <vt:lpstr>Cas clinique 3 QCM1</vt:lpstr>
      <vt:lpstr>Cas clinique 3 QCM2</vt:lpstr>
      <vt:lpstr>Cas clinique 3 QCM2</vt:lpstr>
      <vt:lpstr>Cas clinique 3 QCM3</vt:lpstr>
      <vt:lpstr>Cas clinique 3 QCM3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Asthme du nourrisson et de  l’enfant: evaluation</dc:title>
  <dc:creator>pc</dc:creator>
  <cp:lastModifiedBy>dell</cp:lastModifiedBy>
  <cp:revision>385</cp:revision>
  <dcterms:created xsi:type="dcterms:W3CDTF">2021-07-09T11:02:00Z</dcterms:created>
  <dcterms:modified xsi:type="dcterms:W3CDTF">2025-07-04T17:45:38Z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5A42A4F536F444F4937D49D94ABF5F91_13</vt:lpwstr>
  </property>
  <property fmtid="{D5CDD505-2E9C-101B-9397-08002B2CF9AE}" pid="3" name="KSOProductBuildVer">
    <vt:lpwstr>1036-12.2.0.17119</vt:lpwstr>
  </property>
</Properties>
</file>
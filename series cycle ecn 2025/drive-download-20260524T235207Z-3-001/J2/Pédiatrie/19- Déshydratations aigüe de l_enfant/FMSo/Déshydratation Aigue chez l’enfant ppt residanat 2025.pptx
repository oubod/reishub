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35.xml" ContentType="application/vnd.openxmlformats-officedocument.presentationml.slide+xml"/>
  <Override PartName="/ppt/slides/slide36.xml" ContentType="application/vnd.openxmlformats-officedocument.presentationml.slide+xml"/>
  <Override PartName="/ppt/slides/slide37.xml" ContentType="application/vnd.openxmlformats-officedocument.presentationml.slide+xml"/>
  <Override PartName="/ppt/slides/slide38.xml" ContentType="application/vnd.openxmlformats-officedocument.presentationml.slide+xml"/>
  <Override PartName="/ppt/slides/slide39.xml" ContentType="application/vnd.openxmlformats-officedocument.presentationml.slide+xml"/>
  <Override PartName="/ppt/slides/slide40.xml" ContentType="application/vnd.openxmlformats-officedocument.presentationml.slide+xml"/>
  <Override PartName="/ppt/slides/slide41.xml" ContentType="application/vnd.openxmlformats-officedocument.presentationml.slide+xml"/>
  <Override PartName="/ppt/slides/slide42.xml" ContentType="application/vnd.openxmlformats-officedocument.presentationml.slide+xml"/>
  <Override PartName="/ppt/slides/slide43.xml" ContentType="application/vnd.openxmlformats-officedocument.presentationml.slide+xml"/>
  <Override PartName="/ppt/slides/slide44.xml" ContentType="application/vnd.openxmlformats-officedocument.presentationml.slide+xml"/>
  <Override PartName="/ppt/slides/slide45.xml" ContentType="application/vnd.openxmlformats-officedocument.presentationml.slide+xml"/>
  <Override PartName="/ppt/slides/slide46.xml" ContentType="application/vnd.openxmlformats-officedocument.presentationml.slide+xml"/>
  <Override PartName="/ppt/slides/slide47.xml" ContentType="application/vnd.openxmlformats-officedocument.presentationml.slide+xml"/>
  <Override PartName="/ppt/slides/slide48.xml" ContentType="application/vnd.openxmlformats-officedocument.presentationml.slide+xml"/>
  <Override PartName="/ppt/slides/slide49.xml" ContentType="application/vnd.openxmlformats-officedocument.presentationml.slide+xml"/>
  <Override PartName="/ppt/slides/slide50.xml" ContentType="application/vnd.openxmlformats-officedocument.presentationml.slide+xml"/>
  <Override PartName="/ppt/slides/slide51.xml" ContentType="application/vnd.openxmlformats-officedocument.presentationml.slide+xml"/>
  <Override PartName="/ppt/slides/slide52.xml" ContentType="application/vnd.openxmlformats-officedocument.presentationml.slide+xml"/>
  <Override PartName="/ppt/slides/slide53.xml" ContentType="application/vnd.openxmlformats-officedocument.presentationml.slide+xml"/>
  <Override PartName="/ppt/slides/slide54.xml" ContentType="application/vnd.openxmlformats-officedocument.presentationml.slide+xml"/>
  <Override PartName="/ppt/slides/slide55.xml" ContentType="application/vnd.openxmlformats-officedocument.presentationml.slide+xml"/>
  <Override PartName="/ppt/slides/slide56.xml" ContentType="application/vnd.openxmlformats-officedocument.presentationml.slide+xml"/>
  <Override PartName="/ppt/slides/slide57.xml" ContentType="application/vnd.openxmlformats-officedocument.presentationml.slide+xml"/>
  <Override PartName="/ppt/slides/slide58.xml" ContentType="application/vnd.openxmlformats-officedocument.presentationml.slide+xml"/>
  <Override PartName="/ppt/slides/slide59.xml" ContentType="application/vnd.openxmlformats-officedocument.presentationml.slide+xml"/>
  <Override PartName="/ppt/slides/slide60.xml" ContentType="application/vnd.openxmlformats-officedocument.presentationml.slide+xml"/>
  <Override PartName="/ppt/slides/slide61.xml" ContentType="application/vnd.openxmlformats-officedocument.presentationml.slide+xml"/>
  <Override PartName="/ppt/slides/slide62.xml" ContentType="application/vnd.openxmlformats-officedocument.presentationml.slide+xml"/>
  <Override PartName="/ppt/slides/slide63.xml" ContentType="application/vnd.openxmlformats-officedocument.presentationml.slide+xml"/>
  <Override PartName="/ppt/slides/slide64.xml" ContentType="application/vnd.openxmlformats-officedocument.presentationml.slide+xml"/>
  <Override PartName="/ppt/slides/slide65.xml" ContentType="application/vnd.openxmlformats-officedocument.presentationml.slide+xml"/>
  <Override PartName="/ppt/slides/slide66.xml" ContentType="application/vnd.openxmlformats-officedocument.presentationml.slide+xml"/>
  <Override PartName="/ppt/slides/slide67.xml" ContentType="application/vnd.openxmlformats-officedocument.presentationml.slide+xml"/>
  <Override PartName="/ppt/slides/slide68.xml" ContentType="application/vnd.openxmlformats-officedocument.presentationml.slide+xml"/>
  <Override PartName="/ppt/slides/slide69.xml" ContentType="application/vnd.openxmlformats-officedocument.presentationml.slide+xml"/>
  <Override PartName="/ppt/slides/slide70.xml" ContentType="application/vnd.openxmlformats-officedocument.presentationml.slide+xml"/>
  <Override PartName="/ppt/slides/slide71.xml" ContentType="application/vnd.openxmlformats-officedocument.presentationml.slide+xml"/>
  <Override PartName="/ppt/slides/slide72.xml" ContentType="application/vnd.openxmlformats-officedocument.presentationml.slide+xml"/>
  <Override PartName="/ppt/slides/slide73.xml" ContentType="application/vnd.openxmlformats-officedocument.presentationml.slide+xml"/>
  <Override PartName="/ppt/slides/slide74.xml" ContentType="application/vnd.openxmlformats-officedocument.presentationml.slide+xml"/>
  <Override PartName="/ppt/slides/slide75.xml" ContentType="application/vnd.openxmlformats-officedocument.presentationml.slide+xml"/>
  <Override PartName="/ppt/slides/slide76.xml" ContentType="application/vnd.openxmlformats-officedocument.presentationml.slide+xml"/>
  <Override PartName="/ppt/slides/slide77.xml" ContentType="application/vnd.openxmlformats-officedocument.presentationml.slide+xml"/>
  <Override PartName="/ppt/slides/slide78.xml" ContentType="application/vnd.openxmlformats-officedocument.presentationml.slide+xml"/>
  <Override PartName="/ppt/slides/slide79.xml" ContentType="application/vnd.openxmlformats-officedocument.presentationml.slide+xml"/>
  <Override PartName="/ppt/slides/slide80.xml" ContentType="application/vnd.openxmlformats-officedocument.presentationml.slide+xml"/>
  <Override PartName="/ppt/slides/slide81.xml" ContentType="application/vnd.openxmlformats-officedocument.presentationml.slide+xml"/>
  <Override PartName="/ppt/slides/slide82.xml" ContentType="application/vnd.openxmlformats-officedocument.presentationml.slide+xml"/>
  <Override PartName="/ppt/slides/slide83.xml" ContentType="application/vnd.openxmlformats-officedocument.presentationml.slide+xml"/>
  <Override PartName="/ppt/slides/slide84.xml" ContentType="application/vnd.openxmlformats-officedocument.presentationml.slide+xml"/>
  <Override PartName="/ppt/slides/slide85.xml" ContentType="application/vnd.openxmlformats-officedocument.presentationml.slide+xml"/>
  <Override PartName="/ppt/slides/slide86.xml" ContentType="application/vnd.openxmlformats-officedocument.presentationml.slide+xml"/>
  <Override PartName="/ppt/slides/slide87.xml" ContentType="application/vnd.openxmlformats-officedocument.presentationml.slide+xml"/>
  <Override PartName="/ppt/slides/slide88.xml" ContentType="application/vnd.openxmlformats-officedocument.presentationml.slide+xml"/>
  <Override PartName="/ppt/slides/slide89.xml" ContentType="application/vnd.openxmlformats-officedocument.presentationml.slide+xml"/>
  <Override PartName="/ppt/slides/slide90.xml" ContentType="application/vnd.openxmlformats-officedocument.presentationml.slide+xml"/>
  <Override PartName="/ppt/slides/slide91.xml" ContentType="application/vnd.openxmlformats-officedocument.presentationml.slide+xml"/>
  <Override PartName="/ppt/slides/slide92.xml" ContentType="application/vnd.openxmlformats-officedocument.presentationml.slide+xml"/>
  <Override PartName="/ppt/slides/slide93.xml" ContentType="application/vnd.openxmlformats-officedocument.presentationml.slide+xml"/>
  <Override PartName="/ppt/slides/slide94.xml" ContentType="application/vnd.openxmlformats-officedocument.presentationml.slide+xml"/>
  <Override PartName="/ppt/slides/slide95.xml" ContentType="application/vnd.openxmlformats-officedocument.presentationml.slide+xml"/>
  <Override PartName="/ppt/slides/slide96.xml" ContentType="application/vnd.openxmlformats-officedocument.presentationml.slide+xml"/>
  <Override PartName="/ppt/slides/slide97.xml" ContentType="application/vnd.openxmlformats-officedocument.presentationml.slide+xml"/>
  <Override PartName="/ppt/slides/slide98.xml" ContentType="application/vnd.openxmlformats-officedocument.presentationml.slide+xml"/>
  <Override PartName="/ppt/slides/slide99.xml" ContentType="application/vnd.openxmlformats-officedocument.presentationml.slide+xml"/>
  <Override PartName="/ppt/slides/slide100.xml" ContentType="application/vnd.openxmlformats-officedocument.presentationml.slide+xml"/>
  <Override PartName="/ppt/slides/slide101.xml" ContentType="application/vnd.openxmlformats-officedocument.presentationml.slide+xml"/>
  <Override PartName="/ppt/slides/slide102.xml" ContentType="application/vnd.openxmlformats-officedocument.presentationml.slide+xml"/>
  <Override PartName="/ppt/slides/slide103.xml" ContentType="application/vnd.openxmlformats-officedocument.presentationml.slide+xml"/>
  <Override PartName="/ppt/slides/slide104.xml" ContentType="application/vnd.openxmlformats-officedocument.presentationml.slide+xml"/>
  <Override PartName="/ppt/slides/slide105.xml" ContentType="application/vnd.openxmlformats-officedocument.presentationml.slide+xml"/>
  <Override PartName="/ppt/slides/slide106.xml" ContentType="application/vnd.openxmlformats-officedocument.presentationml.slide+xml"/>
  <Override PartName="/ppt/slides/slide107.xml" ContentType="application/vnd.openxmlformats-officedocument.presentationml.slide+xml"/>
  <Override PartName="/ppt/slides/slide108.xml" ContentType="application/vnd.openxmlformats-officedocument.presentationml.slide+xml"/>
  <Override PartName="/ppt/slides/slide109.xml" ContentType="application/vnd.openxmlformats-officedocument.presentationml.slide+xml"/>
  <Override PartName="/ppt/slides/slide110.xml" ContentType="application/vnd.openxmlformats-officedocument.presentationml.slide+xml"/>
  <Override PartName="/ppt/slides/slide111.xml" ContentType="application/vnd.openxmlformats-officedocument.presentationml.slide+xml"/>
  <Override PartName="/ppt/slides/slide112.xml" ContentType="application/vnd.openxmlformats-officedocument.presentationml.slide+xml"/>
  <Override PartName="/ppt/slides/slide113.xml" ContentType="application/vnd.openxmlformats-officedocument.presentationml.slide+xml"/>
  <Override PartName="/ppt/slides/slide114.xml" ContentType="application/vnd.openxmlformats-officedocument.presentationml.slide+xml"/>
  <Override PartName="/ppt/slides/slide115.xml" ContentType="application/vnd.openxmlformats-officedocument.presentationml.slide+xml"/>
  <Override PartName="/ppt/slides/slide116.xml" ContentType="application/vnd.openxmlformats-officedocument.presentationml.slide+xml"/>
  <Override PartName="/ppt/slides/slide117.xml" ContentType="application/vnd.openxmlformats-officedocument.presentationml.slide+xml"/>
  <Override PartName="/ppt/slides/slide118.xml" ContentType="application/vnd.openxmlformats-officedocument.presentationml.slide+xml"/>
  <Override PartName="/ppt/slides/slide119.xml" ContentType="application/vnd.openxmlformats-officedocument.presentationml.slide+xml"/>
  <Override PartName="/ppt/slides/slide120.xml" ContentType="application/vnd.openxmlformats-officedocument.presentationml.slide+xml"/>
  <Override PartName="/ppt/slides/slide121.xml" ContentType="application/vnd.openxmlformats-officedocument.presentationml.slide+xml"/>
  <Override PartName="/ppt/slides/slide122.xml" ContentType="application/vnd.openxmlformats-officedocument.presentationml.slide+xml"/>
  <Override PartName="/ppt/slides/slide123.xml" ContentType="application/vnd.openxmlformats-officedocument.presentationml.slide+xml"/>
  <Override PartName="/ppt/slides/slide124.xml" ContentType="application/vnd.openxmlformats-officedocument.presentationml.slide+xml"/>
  <Override PartName="/ppt/slides/slide125.xml" ContentType="application/vnd.openxmlformats-officedocument.presentationml.slide+xml"/>
  <Override PartName="/ppt/slides/slide126.xml" ContentType="application/vnd.openxmlformats-officedocument.presentationml.slide+xml"/>
  <Override PartName="/ppt/slides/slide127.xml" ContentType="application/vnd.openxmlformats-officedocument.presentationml.slide+xml"/>
  <Override PartName="/ppt/slides/slide128.xml" ContentType="application/vnd.openxmlformats-officedocument.presentationml.slide+xml"/>
  <Override PartName="/ppt/slides/slide129.xml" ContentType="application/vnd.openxmlformats-officedocument.presentationml.slide+xml"/>
  <Override PartName="/ppt/slides/slide130.xml" ContentType="application/vnd.openxmlformats-officedocument.presentationml.slide+xml"/>
  <Override PartName="/ppt/slides/slide131.xml" ContentType="application/vnd.openxmlformats-officedocument.presentationml.slide+xml"/>
  <Override PartName="/ppt/slides/slide132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77" r:id="rId1"/>
  </p:sldMasterIdLst>
  <p:notesMasterIdLst>
    <p:notesMasterId r:id="rId134"/>
  </p:notesMasterIdLst>
  <p:sldIdLst>
    <p:sldId id="256" r:id="rId2"/>
    <p:sldId id="324" r:id="rId3"/>
    <p:sldId id="263" r:id="rId4"/>
    <p:sldId id="260" r:id="rId5"/>
    <p:sldId id="268" r:id="rId6"/>
    <p:sldId id="258" r:id="rId7"/>
    <p:sldId id="257" r:id="rId8"/>
    <p:sldId id="261" r:id="rId9"/>
    <p:sldId id="266" r:id="rId10"/>
    <p:sldId id="262" r:id="rId11"/>
    <p:sldId id="264" r:id="rId12"/>
    <p:sldId id="269" r:id="rId13"/>
    <p:sldId id="270" r:id="rId14"/>
    <p:sldId id="272" r:id="rId15"/>
    <p:sldId id="273" r:id="rId16"/>
    <p:sldId id="274" r:id="rId17"/>
    <p:sldId id="275" r:id="rId18"/>
    <p:sldId id="276" r:id="rId19"/>
    <p:sldId id="265" r:id="rId20"/>
    <p:sldId id="277" r:id="rId21"/>
    <p:sldId id="279" r:id="rId22"/>
    <p:sldId id="280" r:id="rId23"/>
    <p:sldId id="278" r:id="rId24"/>
    <p:sldId id="282" r:id="rId25"/>
    <p:sldId id="281" r:id="rId26"/>
    <p:sldId id="284" r:id="rId27"/>
    <p:sldId id="285" r:id="rId28"/>
    <p:sldId id="283" r:id="rId29"/>
    <p:sldId id="287" r:id="rId30"/>
    <p:sldId id="288" r:id="rId31"/>
    <p:sldId id="289" r:id="rId32"/>
    <p:sldId id="290" r:id="rId33"/>
    <p:sldId id="291" r:id="rId34"/>
    <p:sldId id="292" r:id="rId35"/>
    <p:sldId id="297" r:id="rId36"/>
    <p:sldId id="293" r:id="rId37"/>
    <p:sldId id="295" r:id="rId38"/>
    <p:sldId id="296" r:id="rId39"/>
    <p:sldId id="300" r:id="rId40"/>
    <p:sldId id="298" r:id="rId41"/>
    <p:sldId id="299" r:id="rId42"/>
    <p:sldId id="301" r:id="rId43"/>
    <p:sldId id="302" r:id="rId44"/>
    <p:sldId id="303" r:id="rId45"/>
    <p:sldId id="305" r:id="rId46"/>
    <p:sldId id="306" r:id="rId47"/>
    <p:sldId id="304" r:id="rId48"/>
    <p:sldId id="307" r:id="rId49"/>
    <p:sldId id="308" r:id="rId50"/>
    <p:sldId id="309" r:id="rId51"/>
    <p:sldId id="310" r:id="rId52"/>
    <p:sldId id="311" r:id="rId53"/>
    <p:sldId id="313" r:id="rId54"/>
    <p:sldId id="312" r:id="rId55"/>
    <p:sldId id="314" r:id="rId56"/>
    <p:sldId id="315" r:id="rId57"/>
    <p:sldId id="316" r:id="rId58"/>
    <p:sldId id="317" r:id="rId59"/>
    <p:sldId id="319" r:id="rId60"/>
    <p:sldId id="318" r:id="rId61"/>
    <p:sldId id="321" r:id="rId62"/>
    <p:sldId id="320" r:id="rId63"/>
    <p:sldId id="323" r:id="rId64"/>
    <p:sldId id="322" r:id="rId65"/>
    <p:sldId id="325" r:id="rId66"/>
    <p:sldId id="327" r:id="rId67"/>
    <p:sldId id="326" r:id="rId68"/>
    <p:sldId id="328" r:id="rId69"/>
    <p:sldId id="333" r:id="rId70"/>
    <p:sldId id="331" r:id="rId71"/>
    <p:sldId id="332" r:id="rId72"/>
    <p:sldId id="736" r:id="rId73"/>
    <p:sldId id="329" r:id="rId74"/>
    <p:sldId id="334" r:id="rId75"/>
    <p:sldId id="335" r:id="rId76"/>
    <p:sldId id="336" r:id="rId77"/>
    <p:sldId id="337" r:id="rId78"/>
    <p:sldId id="338" r:id="rId79"/>
    <p:sldId id="339" r:id="rId80"/>
    <p:sldId id="343" r:id="rId81"/>
    <p:sldId id="341" r:id="rId82"/>
    <p:sldId id="342" r:id="rId83"/>
    <p:sldId id="735" r:id="rId84"/>
    <p:sldId id="340" r:id="rId85"/>
    <p:sldId id="344" r:id="rId86"/>
    <p:sldId id="345" r:id="rId87"/>
    <p:sldId id="346" r:id="rId88"/>
    <p:sldId id="347" r:id="rId89"/>
    <p:sldId id="348" r:id="rId90"/>
    <p:sldId id="349" r:id="rId91"/>
    <p:sldId id="350" r:id="rId92"/>
    <p:sldId id="351" r:id="rId93"/>
    <p:sldId id="352" r:id="rId94"/>
    <p:sldId id="353" r:id="rId95"/>
    <p:sldId id="734" r:id="rId96"/>
    <p:sldId id="354" r:id="rId97"/>
    <p:sldId id="355" r:id="rId98"/>
    <p:sldId id="356" r:id="rId99"/>
    <p:sldId id="360" r:id="rId100"/>
    <p:sldId id="357" r:id="rId101"/>
    <p:sldId id="358" r:id="rId102"/>
    <p:sldId id="359" r:id="rId103"/>
    <p:sldId id="737" r:id="rId104"/>
    <p:sldId id="738" r:id="rId105"/>
    <p:sldId id="739" r:id="rId106"/>
    <p:sldId id="503" r:id="rId107"/>
    <p:sldId id="740" r:id="rId108"/>
    <p:sldId id="675" r:id="rId109"/>
    <p:sldId id="746" r:id="rId110"/>
    <p:sldId id="594" r:id="rId111"/>
    <p:sldId id="741" r:id="rId112"/>
    <p:sldId id="742" r:id="rId113"/>
    <p:sldId id="717" r:id="rId114"/>
    <p:sldId id="564" r:id="rId115"/>
    <p:sldId id="718" r:id="rId116"/>
    <p:sldId id="596" r:id="rId117"/>
    <p:sldId id="743" r:id="rId118"/>
    <p:sldId id="747" r:id="rId119"/>
    <p:sldId id="748" r:id="rId120"/>
    <p:sldId id="678" r:id="rId121"/>
    <p:sldId id="749" r:id="rId122"/>
    <p:sldId id="744" r:id="rId123"/>
    <p:sldId id="750" r:id="rId124"/>
    <p:sldId id="722" r:id="rId125"/>
    <p:sldId id="538" r:id="rId126"/>
    <p:sldId id="751" r:id="rId127"/>
    <p:sldId id="745" r:id="rId128"/>
    <p:sldId id="752" r:id="rId129"/>
    <p:sldId id="726" r:id="rId130"/>
    <p:sldId id="612" r:id="rId131"/>
    <p:sldId id="507" r:id="rId132"/>
    <p:sldId id="509" r:id="rId133"/>
  </p:sldIdLst>
  <p:sldSz cx="12192000" cy="6858000"/>
  <p:notesSz cx="6858000" cy="9144000"/>
  <p:defaultTextStyle>
    <a:defPPr>
      <a:defRPr lang="fr-FR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000" autoAdjust="0"/>
    <p:restoredTop sz="94660"/>
  </p:normalViewPr>
  <p:slideViewPr>
    <p:cSldViewPr snapToGrid="0">
      <p:cViewPr varScale="1">
        <p:scale>
          <a:sx n="82" d="100"/>
          <a:sy n="82" d="100"/>
        </p:scale>
        <p:origin x="720" y="7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sorterViewPr>
    <p:cViewPr>
      <p:scale>
        <a:sx n="100" d="100"/>
        <a:sy n="100" d="100"/>
      </p:scale>
      <p:origin x="0" y="-34037"/>
    </p:cViewPr>
  </p:sorterViewPr>
  <p:gridSpacing cx="72008" cy="72008"/>
</p:viewPr>
</file>

<file path=ppt/_rels/presentation.xml.rels><?xml version="1.0" encoding="UTF-8" standalone="yes"?>
<Relationships xmlns="http://schemas.openxmlformats.org/package/2006/relationships"><Relationship Id="rId117" Type="http://schemas.openxmlformats.org/officeDocument/2006/relationships/slide" Target="slides/slide116.xml"/><Relationship Id="rId21" Type="http://schemas.openxmlformats.org/officeDocument/2006/relationships/slide" Target="slides/slide20.xml"/><Relationship Id="rId42" Type="http://schemas.openxmlformats.org/officeDocument/2006/relationships/slide" Target="slides/slide41.xml"/><Relationship Id="rId63" Type="http://schemas.openxmlformats.org/officeDocument/2006/relationships/slide" Target="slides/slide62.xml"/><Relationship Id="rId84" Type="http://schemas.openxmlformats.org/officeDocument/2006/relationships/slide" Target="slides/slide83.xml"/><Relationship Id="rId138" Type="http://schemas.openxmlformats.org/officeDocument/2006/relationships/tableStyles" Target="tableStyles.xml"/><Relationship Id="rId16" Type="http://schemas.openxmlformats.org/officeDocument/2006/relationships/slide" Target="slides/slide15.xml"/><Relationship Id="rId107" Type="http://schemas.openxmlformats.org/officeDocument/2006/relationships/slide" Target="slides/slide106.xml"/><Relationship Id="rId11" Type="http://schemas.openxmlformats.org/officeDocument/2006/relationships/slide" Target="slides/slide10.xml"/><Relationship Id="rId32" Type="http://schemas.openxmlformats.org/officeDocument/2006/relationships/slide" Target="slides/slide31.xml"/><Relationship Id="rId37" Type="http://schemas.openxmlformats.org/officeDocument/2006/relationships/slide" Target="slides/slide36.xml"/><Relationship Id="rId53" Type="http://schemas.openxmlformats.org/officeDocument/2006/relationships/slide" Target="slides/slide52.xml"/><Relationship Id="rId58" Type="http://schemas.openxmlformats.org/officeDocument/2006/relationships/slide" Target="slides/slide57.xml"/><Relationship Id="rId74" Type="http://schemas.openxmlformats.org/officeDocument/2006/relationships/slide" Target="slides/slide73.xml"/><Relationship Id="rId79" Type="http://schemas.openxmlformats.org/officeDocument/2006/relationships/slide" Target="slides/slide78.xml"/><Relationship Id="rId102" Type="http://schemas.openxmlformats.org/officeDocument/2006/relationships/slide" Target="slides/slide101.xml"/><Relationship Id="rId123" Type="http://schemas.openxmlformats.org/officeDocument/2006/relationships/slide" Target="slides/slide122.xml"/><Relationship Id="rId128" Type="http://schemas.openxmlformats.org/officeDocument/2006/relationships/slide" Target="slides/slide127.xml"/><Relationship Id="rId5" Type="http://schemas.openxmlformats.org/officeDocument/2006/relationships/slide" Target="slides/slide4.xml"/><Relationship Id="rId90" Type="http://schemas.openxmlformats.org/officeDocument/2006/relationships/slide" Target="slides/slide89.xml"/><Relationship Id="rId95" Type="http://schemas.openxmlformats.org/officeDocument/2006/relationships/slide" Target="slides/slide94.xml"/><Relationship Id="rId22" Type="http://schemas.openxmlformats.org/officeDocument/2006/relationships/slide" Target="slides/slide21.xml"/><Relationship Id="rId27" Type="http://schemas.openxmlformats.org/officeDocument/2006/relationships/slide" Target="slides/slide26.xml"/><Relationship Id="rId43" Type="http://schemas.openxmlformats.org/officeDocument/2006/relationships/slide" Target="slides/slide42.xml"/><Relationship Id="rId48" Type="http://schemas.openxmlformats.org/officeDocument/2006/relationships/slide" Target="slides/slide47.xml"/><Relationship Id="rId64" Type="http://schemas.openxmlformats.org/officeDocument/2006/relationships/slide" Target="slides/slide63.xml"/><Relationship Id="rId69" Type="http://schemas.openxmlformats.org/officeDocument/2006/relationships/slide" Target="slides/slide68.xml"/><Relationship Id="rId113" Type="http://schemas.openxmlformats.org/officeDocument/2006/relationships/slide" Target="slides/slide112.xml"/><Relationship Id="rId118" Type="http://schemas.openxmlformats.org/officeDocument/2006/relationships/slide" Target="slides/slide117.xml"/><Relationship Id="rId134" Type="http://schemas.openxmlformats.org/officeDocument/2006/relationships/notesMaster" Target="notesMasters/notesMaster1.xml"/><Relationship Id="rId80" Type="http://schemas.openxmlformats.org/officeDocument/2006/relationships/slide" Target="slides/slide79.xml"/><Relationship Id="rId85" Type="http://schemas.openxmlformats.org/officeDocument/2006/relationships/slide" Target="slides/slide84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33" Type="http://schemas.openxmlformats.org/officeDocument/2006/relationships/slide" Target="slides/slide32.xml"/><Relationship Id="rId38" Type="http://schemas.openxmlformats.org/officeDocument/2006/relationships/slide" Target="slides/slide37.xml"/><Relationship Id="rId59" Type="http://schemas.openxmlformats.org/officeDocument/2006/relationships/slide" Target="slides/slide58.xml"/><Relationship Id="rId103" Type="http://schemas.openxmlformats.org/officeDocument/2006/relationships/slide" Target="slides/slide102.xml"/><Relationship Id="rId108" Type="http://schemas.openxmlformats.org/officeDocument/2006/relationships/slide" Target="slides/slide107.xml"/><Relationship Id="rId124" Type="http://schemas.openxmlformats.org/officeDocument/2006/relationships/slide" Target="slides/slide123.xml"/><Relationship Id="rId129" Type="http://schemas.openxmlformats.org/officeDocument/2006/relationships/slide" Target="slides/slide128.xml"/><Relationship Id="rId54" Type="http://schemas.openxmlformats.org/officeDocument/2006/relationships/slide" Target="slides/slide53.xml"/><Relationship Id="rId70" Type="http://schemas.openxmlformats.org/officeDocument/2006/relationships/slide" Target="slides/slide69.xml"/><Relationship Id="rId75" Type="http://schemas.openxmlformats.org/officeDocument/2006/relationships/slide" Target="slides/slide74.xml"/><Relationship Id="rId91" Type="http://schemas.openxmlformats.org/officeDocument/2006/relationships/slide" Target="slides/slide90.xml"/><Relationship Id="rId96" Type="http://schemas.openxmlformats.org/officeDocument/2006/relationships/slide" Target="slides/slide95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23" Type="http://schemas.openxmlformats.org/officeDocument/2006/relationships/slide" Target="slides/slide22.xml"/><Relationship Id="rId28" Type="http://schemas.openxmlformats.org/officeDocument/2006/relationships/slide" Target="slides/slide27.xml"/><Relationship Id="rId49" Type="http://schemas.openxmlformats.org/officeDocument/2006/relationships/slide" Target="slides/slide48.xml"/><Relationship Id="rId114" Type="http://schemas.openxmlformats.org/officeDocument/2006/relationships/slide" Target="slides/slide113.xml"/><Relationship Id="rId119" Type="http://schemas.openxmlformats.org/officeDocument/2006/relationships/slide" Target="slides/slide118.xml"/><Relationship Id="rId44" Type="http://schemas.openxmlformats.org/officeDocument/2006/relationships/slide" Target="slides/slide43.xml"/><Relationship Id="rId60" Type="http://schemas.openxmlformats.org/officeDocument/2006/relationships/slide" Target="slides/slide59.xml"/><Relationship Id="rId65" Type="http://schemas.openxmlformats.org/officeDocument/2006/relationships/slide" Target="slides/slide64.xml"/><Relationship Id="rId81" Type="http://schemas.openxmlformats.org/officeDocument/2006/relationships/slide" Target="slides/slide80.xml"/><Relationship Id="rId86" Type="http://schemas.openxmlformats.org/officeDocument/2006/relationships/slide" Target="slides/slide85.xml"/><Relationship Id="rId130" Type="http://schemas.openxmlformats.org/officeDocument/2006/relationships/slide" Target="slides/slide129.xml"/><Relationship Id="rId135" Type="http://schemas.openxmlformats.org/officeDocument/2006/relationships/presProps" Target="presProps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39" Type="http://schemas.openxmlformats.org/officeDocument/2006/relationships/slide" Target="slides/slide38.xml"/><Relationship Id="rId109" Type="http://schemas.openxmlformats.org/officeDocument/2006/relationships/slide" Target="slides/slide108.xml"/><Relationship Id="rId34" Type="http://schemas.openxmlformats.org/officeDocument/2006/relationships/slide" Target="slides/slide33.xml"/><Relationship Id="rId50" Type="http://schemas.openxmlformats.org/officeDocument/2006/relationships/slide" Target="slides/slide49.xml"/><Relationship Id="rId55" Type="http://schemas.openxmlformats.org/officeDocument/2006/relationships/slide" Target="slides/slide54.xml"/><Relationship Id="rId76" Type="http://schemas.openxmlformats.org/officeDocument/2006/relationships/slide" Target="slides/slide75.xml"/><Relationship Id="rId97" Type="http://schemas.openxmlformats.org/officeDocument/2006/relationships/slide" Target="slides/slide96.xml"/><Relationship Id="rId104" Type="http://schemas.openxmlformats.org/officeDocument/2006/relationships/slide" Target="slides/slide103.xml"/><Relationship Id="rId120" Type="http://schemas.openxmlformats.org/officeDocument/2006/relationships/slide" Target="slides/slide119.xml"/><Relationship Id="rId125" Type="http://schemas.openxmlformats.org/officeDocument/2006/relationships/slide" Target="slides/slide124.xml"/><Relationship Id="rId7" Type="http://schemas.openxmlformats.org/officeDocument/2006/relationships/slide" Target="slides/slide6.xml"/><Relationship Id="rId71" Type="http://schemas.openxmlformats.org/officeDocument/2006/relationships/slide" Target="slides/slide70.xml"/><Relationship Id="rId92" Type="http://schemas.openxmlformats.org/officeDocument/2006/relationships/slide" Target="slides/slide91.xml"/><Relationship Id="rId2" Type="http://schemas.openxmlformats.org/officeDocument/2006/relationships/slide" Target="slides/slide1.xml"/><Relationship Id="rId29" Type="http://schemas.openxmlformats.org/officeDocument/2006/relationships/slide" Target="slides/slide28.xml"/><Relationship Id="rId24" Type="http://schemas.openxmlformats.org/officeDocument/2006/relationships/slide" Target="slides/slide23.xml"/><Relationship Id="rId40" Type="http://schemas.openxmlformats.org/officeDocument/2006/relationships/slide" Target="slides/slide39.xml"/><Relationship Id="rId45" Type="http://schemas.openxmlformats.org/officeDocument/2006/relationships/slide" Target="slides/slide44.xml"/><Relationship Id="rId66" Type="http://schemas.openxmlformats.org/officeDocument/2006/relationships/slide" Target="slides/slide65.xml"/><Relationship Id="rId87" Type="http://schemas.openxmlformats.org/officeDocument/2006/relationships/slide" Target="slides/slide86.xml"/><Relationship Id="rId110" Type="http://schemas.openxmlformats.org/officeDocument/2006/relationships/slide" Target="slides/slide109.xml"/><Relationship Id="rId115" Type="http://schemas.openxmlformats.org/officeDocument/2006/relationships/slide" Target="slides/slide114.xml"/><Relationship Id="rId131" Type="http://schemas.openxmlformats.org/officeDocument/2006/relationships/slide" Target="slides/slide130.xml"/><Relationship Id="rId136" Type="http://schemas.openxmlformats.org/officeDocument/2006/relationships/viewProps" Target="viewProps.xml"/><Relationship Id="rId61" Type="http://schemas.openxmlformats.org/officeDocument/2006/relationships/slide" Target="slides/slide60.xml"/><Relationship Id="rId82" Type="http://schemas.openxmlformats.org/officeDocument/2006/relationships/slide" Target="slides/slide81.xml"/><Relationship Id="rId19" Type="http://schemas.openxmlformats.org/officeDocument/2006/relationships/slide" Target="slides/slide18.xml"/><Relationship Id="rId14" Type="http://schemas.openxmlformats.org/officeDocument/2006/relationships/slide" Target="slides/slide13.xml"/><Relationship Id="rId30" Type="http://schemas.openxmlformats.org/officeDocument/2006/relationships/slide" Target="slides/slide29.xml"/><Relationship Id="rId35" Type="http://schemas.openxmlformats.org/officeDocument/2006/relationships/slide" Target="slides/slide34.xml"/><Relationship Id="rId56" Type="http://schemas.openxmlformats.org/officeDocument/2006/relationships/slide" Target="slides/slide55.xml"/><Relationship Id="rId77" Type="http://schemas.openxmlformats.org/officeDocument/2006/relationships/slide" Target="slides/slide76.xml"/><Relationship Id="rId100" Type="http://schemas.openxmlformats.org/officeDocument/2006/relationships/slide" Target="slides/slide99.xml"/><Relationship Id="rId105" Type="http://schemas.openxmlformats.org/officeDocument/2006/relationships/slide" Target="slides/slide104.xml"/><Relationship Id="rId126" Type="http://schemas.openxmlformats.org/officeDocument/2006/relationships/slide" Target="slides/slide125.xml"/><Relationship Id="rId8" Type="http://schemas.openxmlformats.org/officeDocument/2006/relationships/slide" Target="slides/slide7.xml"/><Relationship Id="rId51" Type="http://schemas.openxmlformats.org/officeDocument/2006/relationships/slide" Target="slides/slide50.xml"/><Relationship Id="rId72" Type="http://schemas.openxmlformats.org/officeDocument/2006/relationships/slide" Target="slides/slide71.xml"/><Relationship Id="rId93" Type="http://schemas.openxmlformats.org/officeDocument/2006/relationships/slide" Target="slides/slide92.xml"/><Relationship Id="rId98" Type="http://schemas.openxmlformats.org/officeDocument/2006/relationships/slide" Target="slides/slide97.xml"/><Relationship Id="rId121" Type="http://schemas.openxmlformats.org/officeDocument/2006/relationships/slide" Target="slides/slide120.xml"/><Relationship Id="rId3" Type="http://schemas.openxmlformats.org/officeDocument/2006/relationships/slide" Target="slides/slide2.xml"/><Relationship Id="rId25" Type="http://schemas.openxmlformats.org/officeDocument/2006/relationships/slide" Target="slides/slide24.xml"/><Relationship Id="rId46" Type="http://schemas.openxmlformats.org/officeDocument/2006/relationships/slide" Target="slides/slide45.xml"/><Relationship Id="rId67" Type="http://schemas.openxmlformats.org/officeDocument/2006/relationships/slide" Target="slides/slide66.xml"/><Relationship Id="rId116" Type="http://schemas.openxmlformats.org/officeDocument/2006/relationships/slide" Target="slides/slide115.xml"/><Relationship Id="rId137" Type="http://schemas.openxmlformats.org/officeDocument/2006/relationships/theme" Target="theme/theme1.xml"/><Relationship Id="rId20" Type="http://schemas.openxmlformats.org/officeDocument/2006/relationships/slide" Target="slides/slide19.xml"/><Relationship Id="rId41" Type="http://schemas.openxmlformats.org/officeDocument/2006/relationships/slide" Target="slides/slide40.xml"/><Relationship Id="rId62" Type="http://schemas.openxmlformats.org/officeDocument/2006/relationships/slide" Target="slides/slide61.xml"/><Relationship Id="rId83" Type="http://schemas.openxmlformats.org/officeDocument/2006/relationships/slide" Target="slides/slide82.xml"/><Relationship Id="rId88" Type="http://schemas.openxmlformats.org/officeDocument/2006/relationships/slide" Target="slides/slide87.xml"/><Relationship Id="rId111" Type="http://schemas.openxmlformats.org/officeDocument/2006/relationships/slide" Target="slides/slide110.xml"/><Relationship Id="rId132" Type="http://schemas.openxmlformats.org/officeDocument/2006/relationships/slide" Target="slides/slide131.xml"/><Relationship Id="rId15" Type="http://schemas.openxmlformats.org/officeDocument/2006/relationships/slide" Target="slides/slide14.xml"/><Relationship Id="rId36" Type="http://schemas.openxmlformats.org/officeDocument/2006/relationships/slide" Target="slides/slide35.xml"/><Relationship Id="rId57" Type="http://schemas.openxmlformats.org/officeDocument/2006/relationships/slide" Target="slides/slide56.xml"/><Relationship Id="rId106" Type="http://schemas.openxmlformats.org/officeDocument/2006/relationships/slide" Target="slides/slide105.xml"/><Relationship Id="rId127" Type="http://schemas.openxmlformats.org/officeDocument/2006/relationships/slide" Target="slides/slide126.xml"/><Relationship Id="rId10" Type="http://schemas.openxmlformats.org/officeDocument/2006/relationships/slide" Target="slides/slide9.xml"/><Relationship Id="rId31" Type="http://schemas.openxmlformats.org/officeDocument/2006/relationships/slide" Target="slides/slide30.xml"/><Relationship Id="rId52" Type="http://schemas.openxmlformats.org/officeDocument/2006/relationships/slide" Target="slides/slide51.xml"/><Relationship Id="rId73" Type="http://schemas.openxmlformats.org/officeDocument/2006/relationships/slide" Target="slides/slide72.xml"/><Relationship Id="rId78" Type="http://schemas.openxmlformats.org/officeDocument/2006/relationships/slide" Target="slides/slide77.xml"/><Relationship Id="rId94" Type="http://schemas.openxmlformats.org/officeDocument/2006/relationships/slide" Target="slides/slide93.xml"/><Relationship Id="rId99" Type="http://schemas.openxmlformats.org/officeDocument/2006/relationships/slide" Target="slides/slide98.xml"/><Relationship Id="rId101" Type="http://schemas.openxmlformats.org/officeDocument/2006/relationships/slide" Target="slides/slide100.xml"/><Relationship Id="rId122" Type="http://schemas.openxmlformats.org/officeDocument/2006/relationships/slide" Target="slides/slide121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26" Type="http://schemas.openxmlformats.org/officeDocument/2006/relationships/slide" Target="slides/slide25.xml"/><Relationship Id="rId47" Type="http://schemas.openxmlformats.org/officeDocument/2006/relationships/slide" Target="slides/slide46.xml"/><Relationship Id="rId68" Type="http://schemas.openxmlformats.org/officeDocument/2006/relationships/slide" Target="slides/slide67.xml"/><Relationship Id="rId89" Type="http://schemas.openxmlformats.org/officeDocument/2006/relationships/slide" Target="slides/slide88.xml"/><Relationship Id="rId112" Type="http://schemas.openxmlformats.org/officeDocument/2006/relationships/slide" Target="slides/slide111.xml"/><Relationship Id="rId133" Type="http://schemas.openxmlformats.org/officeDocument/2006/relationships/slide" Target="slides/slide132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ce réservé de l'en-tête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fr-FR"/>
          </a:p>
        </p:txBody>
      </p:sp>
      <p:sp>
        <p:nvSpPr>
          <p:cNvPr id="3" name="Espace réservé de la date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5D7CF08-7B36-472E-A94A-3FE3DE818AEB}" type="datetimeFigureOut">
              <a:rPr lang="fr-FR" smtClean="0"/>
              <a:t>26/08/2025</a:t>
            </a:fld>
            <a:endParaRPr lang="fr-FR"/>
          </a:p>
        </p:txBody>
      </p:sp>
      <p:sp>
        <p:nvSpPr>
          <p:cNvPr id="4" name="Espace réservé de l'image des diapositives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fr-FR"/>
          </a:p>
        </p:txBody>
      </p:sp>
      <p:sp>
        <p:nvSpPr>
          <p:cNvPr id="5" name="Espace réservé des commentaires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fr-FR"/>
              <a:t>Modifiez les styles du texte du masque</a:t>
            </a:r>
          </a:p>
          <a:p>
            <a:pPr lvl="1"/>
            <a:r>
              <a:rPr lang="fr-FR"/>
              <a:t>Deuxième niveau</a:t>
            </a:r>
          </a:p>
          <a:p>
            <a:pPr lvl="2"/>
            <a:r>
              <a:rPr lang="fr-FR"/>
              <a:t>Troisième niveau</a:t>
            </a:r>
          </a:p>
          <a:p>
            <a:pPr lvl="3"/>
            <a:r>
              <a:rPr lang="fr-FR"/>
              <a:t>Quatrième niveau</a:t>
            </a:r>
          </a:p>
          <a:p>
            <a:pPr lvl="4"/>
            <a:r>
              <a:rPr lang="fr-FR"/>
              <a:t>Cinquième niveau</a:t>
            </a:r>
          </a:p>
        </p:txBody>
      </p:sp>
      <p:sp>
        <p:nvSpPr>
          <p:cNvPr id="6" name="Espace réservé du pied de page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fr-FR"/>
          </a:p>
        </p:txBody>
      </p:sp>
      <p:sp>
        <p:nvSpPr>
          <p:cNvPr id="7" name="Espace réservé du numéro de diapositive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D372CD3F-9A1A-4B5F-AECD-259C07806C3D}" type="slidenum">
              <a:rPr lang="fr-FR" smtClean="0"/>
              <a:t>‹N°›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194908925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5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7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2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2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386" name="Espace réservé de l'image des diapositives 1"/>
          <p:cNvSpPr>
            <a:spLocks noGrp="1" noRot="1" noChangeAspect="1" noTextEdi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sp>
      <p:sp>
        <p:nvSpPr>
          <p:cNvPr id="16387" name="Espace réservé des commentaires 2"/>
          <p:cNvSpPr>
            <a:spLocks noGrp="1"/>
          </p:cNvSpPr>
          <p:nvPr>
            <p:ph type="body" idx="1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numCol="1" anchor="t" anchorCtr="0" compatLnSpc="1">
            <a:prstTxWarp prst="textNoShape">
              <a:avLst/>
            </a:prstTxWarp>
          </a:bodyPr>
          <a:lstStyle/>
          <a:p>
            <a:pPr>
              <a:spcBef>
                <a:spcPct val="0"/>
              </a:spcBef>
            </a:pPr>
            <a:r>
              <a:rPr lang="fr-FR" altLang="fr-FR"/>
              <a:t>La déshydratation est le plus souvent globale , extra et intracellulaire. La prédominance des signes de l’une ou de l’autre type de déshydratation reflète l’hydratation des secteurs et permet de connaître le mécanisme de la déshydratation. </a:t>
            </a:r>
          </a:p>
          <a:p>
            <a:pPr>
              <a:spcBef>
                <a:spcPct val="0"/>
              </a:spcBef>
            </a:pPr>
            <a:endParaRPr lang="fr-FR" altLang="fr-FR"/>
          </a:p>
        </p:txBody>
      </p:sp>
      <p:sp>
        <p:nvSpPr>
          <p:cNvPr id="16388" name="Espace réservé du numéro de diapositive 3"/>
          <p:cNvSpPr>
            <a:spLocks noGrp="1" noChangeArrowheads="1"/>
          </p:cNvSpPr>
          <p:nvPr>
            <p:ph type="sldNum" sz="quarter" idx="5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spcBef>
                <a:spcPct val="30000"/>
              </a:spcBef>
              <a:defRPr sz="1200">
                <a:solidFill>
                  <a:schemeClr val="tx1"/>
                </a:solidFill>
                <a:latin typeface="Calibri" panose="020F0502020204030204" pitchFamily="34" charset="0"/>
              </a:defRPr>
            </a:lvl1pPr>
            <a:lvl2pPr marL="742950" indent="-285750">
              <a:spcBef>
                <a:spcPct val="30000"/>
              </a:spcBef>
              <a:defRPr sz="1200">
                <a:solidFill>
                  <a:schemeClr val="tx1"/>
                </a:solidFill>
                <a:latin typeface="Calibri" panose="020F0502020204030204" pitchFamily="34" charset="0"/>
              </a:defRPr>
            </a:lvl2pPr>
            <a:lvl3pPr marL="1143000" indent="-228600">
              <a:spcBef>
                <a:spcPct val="30000"/>
              </a:spcBef>
              <a:defRPr sz="1200">
                <a:solidFill>
                  <a:schemeClr val="tx1"/>
                </a:solidFill>
                <a:latin typeface="Calibri" panose="020F0502020204030204" pitchFamily="34" charset="0"/>
              </a:defRPr>
            </a:lvl3pPr>
            <a:lvl4pPr marL="1600200" indent="-228600">
              <a:spcBef>
                <a:spcPct val="30000"/>
              </a:spcBef>
              <a:defRPr sz="1200">
                <a:solidFill>
                  <a:schemeClr val="tx1"/>
                </a:solidFill>
                <a:latin typeface="Calibri" panose="020F0502020204030204" pitchFamily="34" charset="0"/>
              </a:defRPr>
            </a:lvl4pPr>
            <a:lvl5pPr marL="2057400" indent="-228600">
              <a:spcBef>
                <a:spcPct val="30000"/>
              </a:spcBef>
              <a:defRPr sz="1200">
                <a:solidFill>
                  <a:schemeClr val="tx1"/>
                </a:solidFill>
                <a:latin typeface="Calibri" panose="020F0502020204030204" pitchFamily="34" charset="0"/>
              </a:defRPr>
            </a:lvl5pPr>
            <a:lvl6pPr marL="25146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Calibri" panose="020F0502020204030204" pitchFamily="34" charset="0"/>
              </a:defRPr>
            </a:lvl6pPr>
            <a:lvl7pPr marL="29718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Calibri" panose="020F0502020204030204" pitchFamily="34" charset="0"/>
              </a:defRPr>
            </a:lvl7pPr>
            <a:lvl8pPr marL="34290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Calibri" panose="020F0502020204030204" pitchFamily="34" charset="0"/>
              </a:defRPr>
            </a:lvl8pPr>
            <a:lvl9pPr marL="38862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Calibri" panose="020F0502020204030204" pitchFamily="34" charset="0"/>
              </a:defRPr>
            </a:lvl9pPr>
          </a:lstStyle>
          <a:p>
            <a:pPr>
              <a:spcBef>
                <a:spcPct val="0"/>
              </a:spcBef>
            </a:pPr>
            <a:fld id="{1BB79E1B-29D2-43C7-B4DB-FA053BAA6EF0}" type="slidenum">
              <a:rPr lang="fr-FR" altLang="fr-FR"/>
              <a:pPr>
                <a:spcBef>
                  <a:spcPct val="0"/>
                </a:spcBef>
              </a:pPr>
              <a:t>13</a:t>
            </a:fld>
            <a:endParaRPr lang="fr-FR" altLang="fr-FR"/>
          </a:p>
        </p:txBody>
      </p:sp>
    </p:spTree>
    <p:extLst>
      <p:ext uri="{BB962C8B-B14F-4D97-AF65-F5344CB8AC3E}">
        <p14:creationId xmlns:p14="http://schemas.microsoft.com/office/powerpoint/2010/main" val="1176891579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458" name="Espace réservé de l'image des diapositives 1"/>
          <p:cNvSpPr>
            <a:spLocks noGrp="1" noRot="1" noChangeAspect="1" noTextEdi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sp>
      <p:sp>
        <p:nvSpPr>
          <p:cNvPr id="19459" name="Espace réservé des commentaires 2"/>
          <p:cNvSpPr>
            <a:spLocks noGrp="1"/>
          </p:cNvSpPr>
          <p:nvPr>
            <p:ph type="body" idx="1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numCol="1" anchor="t" anchorCtr="0" compatLnSpc="1">
            <a:prstTxWarp prst="textNoShape">
              <a:avLst/>
            </a:prstTxWarp>
          </a:bodyPr>
          <a:lstStyle/>
          <a:p>
            <a:pPr>
              <a:spcBef>
                <a:spcPct val="0"/>
              </a:spcBef>
            </a:pPr>
            <a:r>
              <a:rPr lang="fr-FR" altLang="fr-FR"/>
              <a:t>La déshydratation est le plus souvent globale , extra et intracellulaire. La prédominance des signes de l’une ou de l’autre type de déshydratation reflète l’hydratation des secteurs et permet de connaître le mécanisme de la déshydratation. </a:t>
            </a:r>
          </a:p>
          <a:p>
            <a:pPr>
              <a:spcBef>
                <a:spcPct val="0"/>
              </a:spcBef>
            </a:pPr>
            <a:endParaRPr lang="fr-FR" altLang="fr-FR"/>
          </a:p>
        </p:txBody>
      </p:sp>
      <p:sp>
        <p:nvSpPr>
          <p:cNvPr id="19460" name="Espace réservé du numéro de diapositive 3"/>
          <p:cNvSpPr>
            <a:spLocks noGrp="1" noChangeArrowheads="1"/>
          </p:cNvSpPr>
          <p:nvPr>
            <p:ph type="sldNum" sz="quarter" idx="5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spcBef>
                <a:spcPct val="30000"/>
              </a:spcBef>
              <a:defRPr sz="1200">
                <a:solidFill>
                  <a:schemeClr val="tx1"/>
                </a:solidFill>
                <a:latin typeface="Calibri" panose="020F0502020204030204" pitchFamily="34" charset="0"/>
              </a:defRPr>
            </a:lvl1pPr>
            <a:lvl2pPr marL="742950" indent="-285750">
              <a:spcBef>
                <a:spcPct val="30000"/>
              </a:spcBef>
              <a:defRPr sz="1200">
                <a:solidFill>
                  <a:schemeClr val="tx1"/>
                </a:solidFill>
                <a:latin typeface="Calibri" panose="020F0502020204030204" pitchFamily="34" charset="0"/>
              </a:defRPr>
            </a:lvl2pPr>
            <a:lvl3pPr marL="1143000" indent="-228600">
              <a:spcBef>
                <a:spcPct val="30000"/>
              </a:spcBef>
              <a:defRPr sz="1200">
                <a:solidFill>
                  <a:schemeClr val="tx1"/>
                </a:solidFill>
                <a:latin typeface="Calibri" panose="020F0502020204030204" pitchFamily="34" charset="0"/>
              </a:defRPr>
            </a:lvl3pPr>
            <a:lvl4pPr marL="1600200" indent="-228600">
              <a:spcBef>
                <a:spcPct val="30000"/>
              </a:spcBef>
              <a:defRPr sz="1200">
                <a:solidFill>
                  <a:schemeClr val="tx1"/>
                </a:solidFill>
                <a:latin typeface="Calibri" panose="020F0502020204030204" pitchFamily="34" charset="0"/>
              </a:defRPr>
            </a:lvl4pPr>
            <a:lvl5pPr marL="2057400" indent="-228600">
              <a:spcBef>
                <a:spcPct val="30000"/>
              </a:spcBef>
              <a:defRPr sz="1200">
                <a:solidFill>
                  <a:schemeClr val="tx1"/>
                </a:solidFill>
                <a:latin typeface="Calibri" panose="020F0502020204030204" pitchFamily="34" charset="0"/>
              </a:defRPr>
            </a:lvl5pPr>
            <a:lvl6pPr marL="25146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Calibri" panose="020F0502020204030204" pitchFamily="34" charset="0"/>
              </a:defRPr>
            </a:lvl6pPr>
            <a:lvl7pPr marL="29718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Calibri" panose="020F0502020204030204" pitchFamily="34" charset="0"/>
              </a:defRPr>
            </a:lvl7pPr>
            <a:lvl8pPr marL="34290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Calibri" panose="020F0502020204030204" pitchFamily="34" charset="0"/>
              </a:defRPr>
            </a:lvl8pPr>
            <a:lvl9pPr marL="38862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Calibri" panose="020F0502020204030204" pitchFamily="34" charset="0"/>
              </a:defRPr>
            </a:lvl9pPr>
          </a:lstStyle>
          <a:p>
            <a:pPr>
              <a:spcBef>
                <a:spcPct val="0"/>
              </a:spcBef>
            </a:pPr>
            <a:fld id="{6D0DC2E8-C13D-4B2C-85B5-4B633C0BF4C4}" type="slidenum">
              <a:rPr lang="fr-FR" altLang="fr-FR"/>
              <a:pPr>
                <a:spcBef>
                  <a:spcPct val="0"/>
                </a:spcBef>
              </a:pPr>
              <a:t>15</a:t>
            </a:fld>
            <a:endParaRPr lang="fr-FR" altLang="fr-FR"/>
          </a:p>
        </p:txBody>
      </p:sp>
    </p:spTree>
    <p:extLst>
      <p:ext uri="{BB962C8B-B14F-4D97-AF65-F5344CB8AC3E}">
        <p14:creationId xmlns:p14="http://schemas.microsoft.com/office/powerpoint/2010/main" val="2769172709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530" name="Espace réservé de l'image des diapositives 1"/>
          <p:cNvSpPr>
            <a:spLocks noGrp="1" noRot="1" noChangeAspect="1" noTextEdi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sp>
      <p:sp>
        <p:nvSpPr>
          <p:cNvPr id="22531" name="Espace réservé des commentaires 2"/>
          <p:cNvSpPr>
            <a:spLocks noGrp="1"/>
          </p:cNvSpPr>
          <p:nvPr>
            <p:ph type="body" idx="1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numCol="1" anchor="t" anchorCtr="0" compatLnSpc="1">
            <a:prstTxWarp prst="textNoShape">
              <a:avLst/>
            </a:prstTxWarp>
          </a:bodyPr>
          <a:lstStyle/>
          <a:p>
            <a:r>
              <a:rPr lang="nl-BE" altLang="fr-FR"/>
              <a:t>younger children increase their cardiac output by increasing HR rather than Stroke Volume</a:t>
            </a:r>
            <a:endParaRPr lang="fr-FR" altLang="fr-FR"/>
          </a:p>
        </p:txBody>
      </p:sp>
      <p:sp>
        <p:nvSpPr>
          <p:cNvPr id="22532" name="Espace réservé du numéro de diapositive 3"/>
          <p:cNvSpPr>
            <a:spLocks noGrp="1" noChangeArrowheads="1"/>
          </p:cNvSpPr>
          <p:nvPr>
            <p:ph type="sldNum" sz="quarter" idx="5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spcBef>
                <a:spcPct val="30000"/>
              </a:spcBef>
              <a:defRPr sz="1200">
                <a:solidFill>
                  <a:schemeClr val="tx1"/>
                </a:solidFill>
                <a:latin typeface="Calibri" panose="020F0502020204030204" pitchFamily="34" charset="0"/>
              </a:defRPr>
            </a:lvl1pPr>
            <a:lvl2pPr marL="742950" indent="-285750">
              <a:spcBef>
                <a:spcPct val="30000"/>
              </a:spcBef>
              <a:defRPr sz="1200">
                <a:solidFill>
                  <a:schemeClr val="tx1"/>
                </a:solidFill>
                <a:latin typeface="Calibri" panose="020F0502020204030204" pitchFamily="34" charset="0"/>
              </a:defRPr>
            </a:lvl2pPr>
            <a:lvl3pPr marL="1143000" indent="-228600">
              <a:spcBef>
                <a:spcPct val="30000"/>
              </a:spcBef>
              <a:defRPr sz="1200">
                <a:solidFill>
                  <a:schemeClr val="tx1"/>
                </a:solidFill>
                <a:latin typeface="Calibri" panose="020F0502020204030204" pitchFamily="34" charset="0"/>
              </a:defRPr>
            </a:lvl3pPr>
            <a:lvl4pPr marL="1600200" indent="-228600">
              <a:spcBef>
                <a:spcPct val="30000"/>
              </a:spcBef>
              <a:defRPr sz="1200">
                <a:solidFill>
                  <a:schemeClr val="tx1"/>
                </a:solidFill>
                <a:latin typeface="Calibri" panose="020F0502020204030204" pitchFamily="34" charset="0"/>
              </a:defRPr>
            </a:lvl4pPr>
            <a:lvl5pPr marL="2057400" indent="-228600">
              <a:spcBef>
                <a:spcPct val="30000"/>
              </a:spcBef>
              <a:defRPr sz="1200">
                <a:solidFill>
                  <a:schemeClr val="tx1"/>
                </a:solidFill>
                <a:latin typeface="Calibri" panose="020F0502020204030204" pitchFamily="34" charset="0"/>
              </a:defRPr>
            </a:lvl5pPr>
            <a:lvl6pPr marL="25146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Calibri" panose="020F0502020204030204" pitchFamily="34" charset="0"/>
              </a:defRPr>
            </a:lvl6pPr>
            <a:lvl7pPr marL="29718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Calibri" panose="020F0502020204030204" pitchFamily="34" charset="0"/>
              </a:defRPr>
            </a:lvl7pPr>
            <a:lvl8pPr marL="34290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Calibri" panose="020F0502020204030204" pitchFamily="34" charset="0"/>
              </a:defRPr>
            </a:lvl8pPr>
            <a:lvl9pPr marL="38862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Calibri" panose="020F0502020204030204" pitchFamily="34" charset="0"/>
              </a:defRPr>
            </a:lvl9pPr>
          </a:lstStyle>
          <a:p>
            <a:pPr>
              <a:spcBef>
                <a:spcPct val="0"/>
              </a:spcBef>
            </a:pPr>
            <a:fld id="{812F9393-3B02-4178-BC4A-8442E325C946}" type="slidenum">
              <a:rPr lang="fr-FR" altLang="fr-FR">
                <a:ea typeface="MS PGothic" panose="020B0600070205080204" pitchFamily="34" charset="-128"/>
              </a:rPr>
              <a:pPr>
                <a:spcBef>
                  <a:spcPct val="0"/>
                </a:spcBef>
              </a:pPr>
              <a:t>17</a:t>
            </a:fld>
            <a:endParaRPr lang="fr-FR" altLang="fr-FR">
              <a:ea typeface="MS PGothic" panose="020B0600070205080204" pitchFamily="34" charset="-128"/>
            </a:endParaRPr>
          </a:p>
        </p:txBody>
      </p:sp>
    </p:spTree>
    <p:extLst>
      <p:ext uri="{BB962C8B-B14F-4D97-AF65-F5344CB8AC3E}">
        <p14:creationId xmlns:p14="http://schemas.microsoft.com/office/powerpoint/2010/main" val="3637020615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674" name="Espace réservé de l'image des diapositives 1"/>
          <p:cNvSpPr>
            <a:spLocks noGrp="1" noRot="1" noChangeAspect="1" noTextEdi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sp>
      <p:sp>
        <p:nvSpPr>
          <p:cNvPr id="28675" name="Espace réservé des commentaires 2"/>
          <p:cNvSpPr>
            <a:spLocks noGrp="1"/>
          </p:cNvSpPr>
          <p:nvPr>
            <p:ph type="body" idx="1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numCol="1" anchor="t" anchorCtr="0" compatLnSpc="1">
            <a:prstTxWarp prst="textNoShape">
              <a:avLst/>
            </a:prstTxWarp>
          </a:bodyPr>
          <a:lstStyle/>
          <a:p>
            <a:pPr>
              <a:spcBef>
                <a:spcPct val="0"/>
              </a:spcBef>
            </a:pPr>
            <a:r>
              <a:rPr lang="fr-FR" altLang="fr-FR"/>
              <a:t>La déshydratation est le plus souvent globale , extra et intracellulaire. La prédominance des signes de l’une ou de l’autre type de déshydratation reflète l’hydratation des secteurs et permet de connaître le mécanisme de la déshydratation. </a:t>
            </a:r>
          </a:p>
          <a:p>
            <a:pPr>
              <a:spcBef>
                <a:spcPct val="0"/>
              </a:spcBef>
            </a:pPr>
            <a:endParaRPr lang="fr-FR" altLang="fr-FR"/>
          </a:p>
        </p:txBody>
      </p:sp>
      <p:sp>
        <p:nvSpPr>
          <p:cNvPr id="28676" name="Espace réservé du numéro de diapositive 3"/>
          <p:cNvSpPr>
            <a:spLocks noGrp="1" noChangeArrowheads="1"/>
          </p:cNvSpPr>
          <p:nvPr>
            <p:ph type="sldNum" sz="quarter" idx="5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spcBef>
                <a:spcPct val="30000"/>
              </a:spcBef>
              <a:defRPr sz="1200">
                <a:solidFill>
                  <a:schemeClr val="tx1"/>
                </a:solidFill>
                <a:latin typeface="Calibri" panose="020F0502020204030204" pitchFamily="34" charset="0"/>
              </a:defRPr>
            </a:lvl1pPr>
            <a:lvl2pPr marL="742950" indent="-285750">
              <a:spcBef>
                <a:spcPct val="30000"/>
              </a:spcBef>
              <a:defRPr sz="1200">
                <a:solidFill>
                  <a:schemeClr val="tx1"/>
                </a:solidFill>
                <a:latin typeface="Calibri" panose="020F0502020204030204" pitchFamily="34" charset="0"/>
              </a:defRPr>
            </a:lvl2pPr>
            <a:lvl3pPr marL="1143000" indent="-228600">
              <a:spcBef>
                <a:spcPct val="30000"/>
              </a:spcBef>
              <a:defRPr sz="1200">
                <a:solidFill>
                  <a:schemeClr val="tx1"/>
                </a:solidFill>
                <a:latin typeface="Calibri" panose="020F0502020204030204" pitchFamily="34" charset="0"/>
              </a:defRPr>
            </a:lvl3pPr>
            <a:lvl4pPr marL="1600200" indent="-228600">
              <a:spcBef>
                <a:spcPct val="30000"/>
              </a:spcBef>
              <a:defRPr sz="1200">
                <a:solidFill>
                  <a:schemeClr val="tx1"/>
                </a:solidFill>
                <a:latin typeface="Calibri" panose="020F0502020204030204" pitchFamily="34" charset="0"/>
              </a:defRPr>
            </a:lvl4pPr>
            <a:lvl5pPr marL="2057400" indent="-228600">
              <a:spcBef>
                <a:spcPct val="30000"/>
              </a:spcBef>
              <a:defRPr sz="1200">
                <a:solidFill>
                  <a:schemeClr val="tx1"/>
                </a:solidFill>
                <a:latin typeface="Calibri" panose="020F0502020204030204" pitchFamily="34" charset="0"/>
              </a:defRPr>
            </a:lvl5pPr>
            <a:lvl6pPr marL="25146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Calibri" panose="020F0502020204030204" pitchFamily="34" charset="0"/>
              </a:defRPr>
            </a:lvl6pPr>
            <a:lvl7pPr marL="29718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Calibri" panose="020F0502020204030204" pitchFamily="34" charset="0"/>
              </a:defRPr>
            </a:lvl7pPr>
            <a:lvl8pPr marL="34290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Calibri" panose="020F0502020204030204" pitchFamily="34" charset="0"/>
              </a:defRPr>
            </a:lvl8pPr>
            <a:lvl9pPr marL="38862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Calibri" panose="020F0502020204030204" pitchFamily="34" charset="0"/>
              </a:defRPr>
            </a:lvl9pPr>
          </a:lstStyle>
          <a:p>
            <a:pPr>
              <a:spcBef>
                <a:spcPct val="0"/>
              </a:spcBef>
            </a:pPr>
            <a:fld id="{C4F70B93-089D-4A65-942B-1E4041997A3F}" type="slidenum">
              <a:rPr lang="fr-FR" altLang="fr-FR"/>
              <a:pPr>
                <a:spcBef>
                  <a:spcPct val="0"/>
                </a:spcBef>
              </a:pPr>
              <a:t>22</a:t>
            </a:fld>
            <a:endParaRPr lang="fr-FR" altLang="fr-FR"/>
          </a:p>
        </p:txBody>
      </p:sp>
    </p:spTree>
    <p:extLst>
      <p:ext uri="{BB962C8B-B14F-4D97-AF65-F5344CB8AC3E}">
        <p14:creationId xmlns:p14="http://schemas.microsoft.com/office/powerpoint/2010/main" val="235216780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ce réservé de l'image des diapositives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Espace réservé des notes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fr-TN" dirty="0"/>
          </a:p>
        </p:txBody>
      </p:sp>
      <p:sp>
        <p:nvSpPr>
          <p:cNvPr id="4" name="Espace réservé du numéro de diapositive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D372CD3F-9A1A-4B5F-AECD-259C07806C3D}" type="slidenum">
              <a:rPr lang="fr-FR" smtClean="0"/>
              <a:t>132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222997088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itle" preserve="1">
  <p:cSld name="Diapositive de titre">
    <p:bg>
      <p:bgPr>
        <a:solidFill>
          <a:schemeClr val="bg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915128" y="1788454"/>
            <a:ext cx="8361229" cy="2098226"/>
          </a:xfrm>
        </p:spPr>
        <p:txBody>
          <a:bodyPr anchor="b">
            <a:noAutofit/>
          </a:bodyPr>
          <a:lstStyle>
            <a:lvl1pPr algn="ctr">
              <a:defRPr sz="7200" cap="all" baseline="0">
                <a:solidFill>
                  <a:schemeClr val="tx2"/>
                </a:solidFill>
              </a:defRPr>
            </a:lvl1pPr>
          </a:lstStyle>
          <a:p>
            <a:r>
              <a:rPr lang="fr-FR"/>
              <a:t>Modifiez le style du titre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2679906" y="3956279"/>
            <a:ext cx="6831673" cy="1086237"/>
          </a:xfrm>
        </p:spPr>
        <p:txBody>
          <a:bodyPr>
            <a:normAutofit/>
          </a:bodyPr>
          <a:lstStyle>
            <a:lvl1pPr marL="0" indent="0" algn="ctr">
              <a:lnSpc>
                <a:spcPct val="112000"/>
              </a:lnSpc>
              <a:spcBef>
                <a:spcPts val="0"/>
              </a:spcBef>
              <a:spcAft>
                <a:spcPts val="0"/>
              </a:spcAft>
              <a:buNone/>
              <a:defRPr sz="23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fr-FR"/>
              <a:t>Modifiez le style des sous-titres du masque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>
          <a:xfrm>
            <a:off x="752858" y="6453386"/>
            <a:ext cx="1607944" cy="404614"/>
          </a:xfrm>
        </p:spPr>
        <p:txBody>
          <a:bodyPr/>
          <a:lstStyle>
            <a:lvl1pPr>
              <a:defRPr baseline="0">
                <a:solidFill>
                  <a:schemeClr val="tx2"/>
                </a:solidFill>
              </a:defRPr>
            </a:lvl1pPr>
          </a:lstStyle>
          <a:p>
            <a:fld id="{176DBFF1-4BD4-4ED8-8631-CAE9E00D25ED}" type="datetimeFigureOut">
              <a:rPr lang="fr-FR" smtClean="0"/>
              <a:t>26/08/2025</a:t>
            </a:fld>
            <a:endParaRPr lang="fr-FR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>
          <a:xfrm>
            <a:off x="2584054" y="6453386"/>
            <a:ext cx="7023377" cy="404614"/>
          </a:xfrm>
        </p:spPr>
        <p:txBody>
          <a:bodyPr/>
          <a:lstStyle>
            <a:lvl1pPr algn="ctr">
              <a:defRPr baseline="0">
                <a:solidFill>
                  <a:schemeClr val="tx2"/>
                </a:solidFill>
              </a:defRPr>
            </a:lvl1pPr>
          </a:lstStyle>
          <a:p>
            <a:endParaRPr lang="fr-FR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9830683" y="6453386"/>
            <a:ext cx="1596292" cy="404614"/>
          </a:xfrm>
        </p:spPr>
        <p:txBody>
          <a:bodyPr/>
          <a:lstStyle>
            <a:lvl1pPr>
              <a:defRPr baseline="0">
                <a:solidFill>
                  <a:schemeClr val="tx2"/>
                </a:solidFill>
              </a:defRPr>
            </a:lvl1pPr>
          </a:lstStyle>
          <a:p>
            <a:fld id="{6BF04801-137B-41EC-87CA-1E7C9ECB5897}" type="slidenum">
              <a:rPr lang="fr-FR" smtClean="0"/>
              <a:t>‹N°›</a:t>
            </a:fld>
            <a:endParaRPr lang="fr-FR"/>
          </a:p>
        </p:txBody>
      </p:sp>
      <p:grpSp>
        <p:nvGrpSpPr>
          <p:cNvPr id="7" name="Group 6"/>
          <p:cNvGrpSpPr/>
          <p:nvPr/>
        </p:nvGrpSpPr>
        <p:grpSpPr>
          <a:xfrm>
            <a:off x="752858" y="744469"/>
            <a:ext cx="10674117" cy="5349671"/>
            <a:chOff x="752858" y="744469"/>
            <a:chExt cx="10674117" cy="5349671"/>
          </a:xfrm>
        </p:grpSpPr>
        <p:sp>
          <p:nvSpPr>
            <p:cNvPr id="11" name="Freeform 6"/>
            <p:cNvSpPr/>
            <p:nvPr/>
          </p:nvSpPr>
          <p:spPr bwMode="auto">
            <a:xfrm>
              <a:off x="8151962" y="1685652"/>
              <a:ext cx="3275013" cy="4408488"/>
            </a:xfrm>
            <a:custGeom>
              <a:avLst/>
              <a:gdLst/>
              <a:ahLst/>
              <a:cxnLst/>
              <a:rect l="l" t="t" r="r" b="b"/>
              <a:pathLst>
                <a:path w="10000" h="10000">
                  <a:moveTo>
                    <a:pt x="8761" y="0"/>
                  </a:moveTo>
                  <a:lnTo>
                    <a:pt x="10000" y="0"/>
                  </a:lnTo>
                  <a:lnTo>
                    <a:pt x="10000" y="10000"/>
                  </a:lnTo>
                  <a:lnTo>
                    <a:pt x="0" y="10000"/>
                  </a:lnTo>
                  <a:lnTo>
                    <a:pt x="0" y="9126"/>
                  </a:lnTo>
                  <a:lnTo>
                    <a:pt x="8761" y="9127"/>
                  </a:lnTo>
                  <a:lnTo>
                    <a:pt x="8761" y="0"/>
                  </a:lnTo>
                  <a:close/>
                </a:path>
              </a:pathLst>
            </a:custGeom>
            <a:solidFill>
              <a:schemeClr val="tx2"/>
            </a:solidFill>
            <a:ln w="0">
              <a:noFill/>
              <a:prstDash val="solid"/>
              <a:round/>
              <a:headEnd/>
              <a:tailEnd/>
            </a:ln>
          </p:spPr>
        </p:sp>
        <p:sp>
          <p:nvSpPr>
            <p:cNvPr id="14" name="Freeform 6"/>
            <p:cNvSpPr/>
            <p:nvPr/>
          </p:nvSpPr>
          <p:spPr bwMode="auto">
            <a:xfrm flipH="1" flipV="1">
              <a:off x="752858" y="744469"/>
              <a:ext cx="3275668" cy="4408488"/>
            </a:xfrm>
            <a:custGeom>
              <a:avLst/>
              <a:gdLst/>
              <a:ahLst/>
              <a:cxnLst/>
              <a:rect l="l" t="t" r="r" b="b"/>
              <a:pathLst>
                <a:path w="10002" h="10000">
                  <a:moveTo>
                    <a:pt x="8763" y="0"/>
                  </a:moveTo>
                  <a:lnTo>
                    <a:pt x="10002" y="0"/>
                  </a:lnTo>
                  <a:lnTo>
                    <a:pt x="10002" y="10000"/>
                  </a:lnTo>
                  <a:lnTo>
                    <a:pt x="2" y="10000"/>
                  </a:lnTo>
                  <a:cubicBezTo>
                    <a:pt x="-2" y="9698"/>
                    <a:pt x="4" y="9427"/>
                    <a:pt x="0" y="9125"/>
                  </a:cubicBezTo>
                  <a:lnTo>
                    <a:pt x="8763" y="9128"/>
                  </a:lnTo>
                  <a:lnTo>
                    <a:pt x="8763" y="0"/>
                  </a:lnTo>
                  <a:close/>
                </a:path>
              </a:pathLst>
            </a:custGeom>
            <a:solidFill>
              <a:schemeClr val="tx2"/>
            </a:solidFill>
            <a:ln w="0">
              <a:noFill/>
              <a:prstDash val="solid"/>
              <a:round/>
              <a:headEnd/>
              <a:tailEnd/>
            </a:ln>
          </p:spPr>
        </p:sp>
      </p:grpSp>
    </p:spTree>
    <p:extLst>
      <p:ext uri="{BB962C8B-B14F-4D97-AF65-F5344CB8AC3E}">
        <p14:creationId xmlns:p14="http://schemas.microsoft.com/office/powerpoint/2010/main" val="3310964651"/>
      </p:ext>
    </p:extLst>
  </p:cSld>
  <p:clrMapOvr>
    <a:overrideClrMapping bg1="lt1" tx1="dk1" bg2="lt2" tx2="dk2" accent1="accent1" accent2="accent2" accent3="accent3" accent4="accent4" accent5="accent5" accent6="accent6" hlink="hlink" folHlink="folHlink"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re et contenu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FR"/>
              <a:t>Modifiez le style du titre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fr-FR"/>
              <a:t>Modifiez les styles du texte du masque</a:t>
            </a:r>
          </a:p>
          <a:p>
            <a:pPr lvl="1"/>
            <a:r>
              <a:rPr lang="fr-FR"/>
              <a:t>Deuxième niveau</a:t>
            </a:r>
          </a:p>
          <a:p>
            <a:pPr lvl="2"/>
            <a:r>
              <a:rPr lang="fr-FR"/>
              <a:t>Troisième niveau</a:t>
            </a:r>
          </a:p>
          <a:p>
            <a:pPr lvl="3"/>
            <a:r>
              <a:rPr lang="fr-FR"/>
              <a:t>Quatrième niveau</a:t>
            </a:r>
          </a:p>
          <a:p>
            <a:pPr lvl="4"/>
            <a:r>
              <a:rPr lang="fr-FR"/>
              <a:t>Cinquième niveau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76DBFF1-4BD4-4ED8-8631-CAE9E00D25ED}" type="datetimeFigureOut">
              <a:rPr lang="fr-FR" smtClean="0"/>
              <a:t>26/08/2025</a:t>
            </a:fld>
            <a:endParaRPr lang="fr-FR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FR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BF04801-137B-41EC-87CA-1E7C9ECB5897}" type="slidenum">
              <a:rPr lang="fr-FR" smtClean="0"/>
              <a:t>‹N°›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2309481766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secHead" preserve="1">
  <p:cSld name="Titre de section">
    <p:bg>
      <p:bgRef idx="1001">
        <a:schemeClr val="bg2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65025" y="1301360"/>
            <a:ext cx="9612971" cy="2852737"/>
          </a:xfrm>
        </p:spPr>
        <p:txBody>
          <a:bodyPr anchor="b">
            <a:normAutofit/>
          </a:bodyPr>
          <a:lstStyle>
            <a:lvl1pPr algn="r">
              <a:defRPr sz="7200" cap="all" baseline="0">
                <a:solidFill>
                  <a:schemeClr val="tx2"/>
                </a:solidFill>
              </a:defRPr>
            </a:lvl1pPr>
          </a:lstStyle>
          <a:p>
            <a:r>
              <a:rPr lang="fr-FR"/>
              <a:t>Modifiez le style du titre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65025" y="4216328"/>
            <a:ext cx="9612971" cy="1143324"/>
          </a:xfrm>
        </p:spPr>
        <p:txBody>
          <a:bodyPr/>
          <a:lstStyle>
            <a:lvl1pPr marL="0" indent="0" algn="r">
              <a:lnSpc>
                <a:spcPct val="112000"/>
              </a:lnSpc>
              <a:spcBef>
                <a:spcPts val="0"/>
              </a:spcBef>
              <a:spcAft>
                <a:spcPts val="0"/>
              </a:spcAft>
              <a:buNone/>
              <a:defRPr sz="2400">
                <a:solidFill>
                  <a:schemeClr val="tx2"/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fr-FR"/>
              <a:t>Modifiez les styles du texte du masque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>
          <a:xfrm>
            <a:off x="738908" y="6453386"/>
            <a:ext cx="1622409" cy="404614"/>
          </a:xfrm>
        </p:spPr>
        <p:txBody>
          <a:bodyPr/>
          <a:lstStyle>
            <a:lvl1pPr>
              <a:defRPr>
                <a:solidFill>
                  <a:schemeClr val="tx2"/>
                </a:solidFill>
              </a:defRPr>
            </a:lvl1pPr>
          </a:lstStyle>
          <a:p>
            <a:fld id="{176DBFF1-4BD4-4ED8-8631-CAE9E00D25ED}" type="datetimeFigureOut">
              <a:rPr lang="fr-FR" smtClean="0"/>
              <a:t>26/08/2025</a:t>
            </a:fld>
            <a:endParaRPr lang="fr-FR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>
          <a:xfrm>
            <a:off x="2584312" y="6453386"/>
            <a:ext cx="7023377" cy="404614"/>
          </a:xfrm>
        </p:spPr>
        <p:txBody>
          <a:bodyPr/>
          <a:lstStyle>
            <a:lvl1pPr algn="ctr">
              <a:defRPr>
                <a:solidFill>
                  <a:schemeClr val="tx2"/>
                </a:solidFill>
              </a:defRPr>
            </a:lvl1pPr>
          </a:lstStyle>
          <a:p>
            <a:endParaRPr lang="fr-FR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9830683" y="6453386"/>
            <a:ext cx="1596292" cy="404614"/>
          </a:xfrm>
        </p:spPr>
        <p:txBody>
          <a:bodyPr/>
          <a:lstStyle>
            <a:lvl1pPr>
              <a:defRPr>
                <a:solidFill>
                  <a:schemeClr val="tx2"/>
                </a:solidFill>
              </a:defRPr>
            </a:lvl1pPr>
          </a:lstStyle>
          <a:p>
            <a:fld id="{6BF04801-137B-41EC-87CA-1E7C9ECB5897}" type="slidenum">
              <a:rPr lang="fr-FR" smtClean="0"/>
              <a:t>‹N°›</a:t>
            </a:fld>
            <a:endParaRPr lang="fr-FR"/>
          </a:p>
        </p:txBody>
      </p:sp>
      <p:sp>
        <p:nvSpPr>
          <p:cNvPr id="7" name="Freeform 6" title="Crop Mark"/>
          <p:cNvSpPr/>
          <p:nvPr/>
        </p:nvSpPr>
        <p:spPr bwMode="auto">
          <a:xfrm>
            <a:off x="8151962" y="1685652"/>
            <a:ext cx="3275013" cy="4408488"/>
          </a:xfrm>
          <a:custGeom>
            <a:avLst/>
            <a:gdLst/>
            <a:ahLst/>
            <a:cxnLst/>
            <a:rect l="0" t="0" r="r" b="b"/>
            <a:pathLst>
              <a:path w="4125" h="5554">
                <a:moveTo>
                  <a:pt x="3614" y="0"/>
                </a:moveTo>
                <a:lnTo>
                  <a:pt x="4125" y="0"/>
                </a:lnTo>
                <a:lnTo>
                  <a:pt x="4125" y="5554"/>
                </a:lnTo>
                <a:lnTo>
                  <a:pt x="0" y="5554"/>
                </a:lnTo>
                <a:lnTo>
                  <a:pt x="0" y="5074"/>
                </a:lnTo>
                <a:lnTo>
                  <a:pt x="3614" y="5074"/>
                </a:lnTo>
                <a:lnTo>
                  <a:pt x="3614" y="0"/>
                </a:lnTo>
                <a:close/>
              </a:path>
            </a:pathLst>
          </a:custGeom>
          <a:solidFill>
            <a:schemeClr val="tx2"/>
          </a:solidFill>
          <a:ln w="0">
            <a:noFill/>
            <a:prstDash val="solid"/>
            <a:round/>
            <a:headEnd/>
            <a:tailEnd/>
          </a:ln>
        </p:spPr>
      </p:sp>
    </p:spTree>
    <p:extLst>
      <p:ext uri="{BB962C8B-B14F-4D97-AF65-F5344CB8AC3E}">
        <p14:creationId xmlns:p14="http://schemas.microsoft.com/office/powerpoint/2010/main" val="314328022"/>
      </p:ext>
    </p:extLst>
  </p:cSld>
  <p:clrMapOvr>
    <a:overrideClrMapping bg1="dk1" tx1="lt1" bg2="dk2" tx2="lt2" accent1="accent1" accent2="accent2" accent3="accent3" accent4="accent4" accent5="accent5" accent6="accent6" hlink="hlink" folHlink="folHlink"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Deux contenu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>
                <a:solidFill>
                  <a:schemeClr val="tx2"/>
                </a:solidFill>
              </a:defRPr>
            </a:lvl1pPr>
          </a:lstStyle>
          <a:p>
            <a:r>
              <a:rPr lang="fr-FR"/>
              <a:t>Modifiez le style du titre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1371600" y="2285999"/>
            <a:ext cx="4447786" cy="3581401"/>
          </a:xfrm>
        </p:spPr>
        <p:txBody>
          <a:bodyPr/>
          <a:lstStyle>
            <a:lvl1pPr>
              <a:defRPr baseline="0">
                <a:solidFill>
                  <a:schemeClr val="tx2"/>
                </a:solidFill>
              </a:defRPr>
            </a:lvl1pPr>
            <a:lvl2pPr>
              <a:defRPr baseline="0">
                <a:solidFill>
                  <a:schemeClr val="tx2"/>
                </a:solidFill>
              </a:defRPr>
            </a:lvl2pPr>
            <a:lvl3pPr>
              <a:defRPr baseline="0">
                <a:solidFill>
                  <a:schemeClr val="tx2"/>
                </a:solidFill>
              </a:defRPr>
            </a:lvl3pPr>
            <a:lvl4pPr>
              <a:defRPr baseline="0">
                <a:solidFill>
                  <a:schemeClr val="tx2"/>
                </a:solidFill>
              </a:defRPr>
            </a:lvl4pPr>
            <a:lvl5pPr>
              <a:defRPr baseline="0">
                <a:solidFill>
                  <a:schemeClr val="tx2"/>
                </a:solidFill>
              </a:defRPr>
            </a:lvl5pPr>
          </a:lstStyle>
          <a:p>
            <a:pPr lvl="0"/>
            <a:r>
              <a:rPr lang="fr-FR"/>
              <a:t>Modifiez les styles du texte du masque</a:t>
            </a:r>
          </a:p>
          <a:p>
            <a:pPr lvl="1"/>
            <a:r>
              <a:rPr lang="fr-FR"/>
              <a:t>Deuxième niveau</a:t>
            </a:r>
          </a:p>
          <a:p>
            <a:pPr lvl="2"/>
            <a:r>
              <a:rPr lang="fr-FR"/>
              <a:t>Troisième niveau</a:t>
            </a:r>
          </a:p>
          <a:p>
            <a:pPr lvl="3"/>
            <a:r>
              <a:rPr lang="fr-FR"/>
              <a:t>Quatrième niveau</a:t>
            </a:r>
          </a:p>
          <a:p>
            <a:pPr lvl="4"/>
            <a:r>
              <a:rPr lang="fr-FR"/>
              <a:t>Cinquième niveau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525403" y="2285999"/>
            <a:ext cx="4447786" cy="3581401"/>
          </a:xfrm>
        </p:spPr>
        <p:txBody>
          <a:bodyPr/>
          <a:lstStyle>
            <a:lvl1pPr>
              <a:defRPr>
                <a:solidFill>
                  <a:schemeClr val="tx2"/>
                </a:solidFill>
              </a:defRPr>
            </a:lvl1pPr>
            <a:lvl2pPr>
              <a:defRPr>
                <a:solidFill>
                  <a:schemeClr val="tx2"/>
                </a:solidFill>
              </a:defRPr>
            </a:lvl2pPr>
            <a:lvl3pPr>
              <a:defRPr>
                <a:solidFill>
                  <a:schemeClr val="tx2"/>
                </a:solidFill>
              </a:defRPr>
            </a:lvl3pPr>
            <a:lvl4pPr>
              <a:defRPr>
                <a:solidFill>
                  <a:schemeClr val="tx2"/>
                </a:solidFill>
              </a:defRPr>
            </a:lvl4pPr>
            <a:lvl5pPr>
              <a:defRPr>
                <a:solidFill>
                  <a:schemeClr val="tx2"/>
                </a:solidFill>
              </a:defRPr>
            </a:lvl5pPr>
          </a:lstStyle>
          <a:p>
            <a:pPr lvl="0"/>
            <a:r>
              <a:rPr lang="fr-FR"/>
              <a:t>Modifiez les styles du texte du masque</a:t>
            </a:r>
          </a:p>
          <a:p>
            <a:pPr lvl="1"/>
            <a:r>
              <a:rPr lang="fr-FR"/>
              <a:t>Deuxième niveau</a:t>
            </a:r>
          </a:p>
          <a:p>
            <a:pPr lvl="2"/>
            <a:r>
              <a:rPr lang="fr-FR"/>
              <a:t>Troisième niveau</a:t>
            </a:r>
          </a:p>
          <a:p>
            <a:pPr lvl="3"/>
            <a:r>
              <a:rPr lang="fr-FR"/>
              <a:t>Quatrième niveau</a:t>
            </a:r>
          </a:p>
          <a:p>
            <a:pPr lvl="4"/>
            <a:r>
              <a:rPr lang="fr-FR"/>
              <a:t>Cinquième niveau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76DBFF1-4BD4-4ED8-8631-CAE9E00D25ED}" type="datetimeFigureOut">
              <a:rPr lang="fr-FR" smtClean="0"/>
              <a:t>26/08/2025</a:t>
            </a:fld>
            <a:endParaRPr lang="fr-FR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FR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BF04801-137B-41EC-87CA-1E7C9ECB5897}" type="slidenum">
              <a:rPr lang="fr-FR" smtClean="0"/>
              <a:t>‹N°›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2977369359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a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371600" y="685800"/>
            <a:ext cx="9601200" cy="1485900"/>
          </a:xfrm>
        </p:spPr>
        <p:txBody>
          <a:bodyPr/>
          <a:lstStyle>
            <a:lvl1pPr>
              <a:defRPr>
                <a:solidFill>
                  <a:schemeClr val="tx2"/>
                </a:solidFill>
              </a:defRPr>
            </a:lvl1pPr>
          </a:lstStyle>
          <a:p>
            <a:r>
              <a:rPr lang="fr-FR"/>
              <a:t>Modifiez le style du titre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371600" y="2340864"/>
            <a:ext cx="4443984" cy="823912"/>
          </a:xfrm>
        </p:spPr>
        <p:txBody>
          <a:bodyPr anchor="b">
            <a:noAutofit/>
          </a:bodyPr>
          <a:lstStyle>
            <a:lvl1pPr marL="0" indent="0">
              <a:lnSpc>
                <a:spcPct val="84000"/>
              </a:lnSpc>
              <a:spcBef>
                <a:spcPts val="0"/>
              </a:spcBef>
              <a:spcAft>
                <a:spcPts val="0"/>
              </a:spcAft>
              <a:buNone/>
              <a:defRPr sz="3000" b="0" baseline="0">
                <a:solidFill>
                  <a:schemeClr val="tx2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fr-FR"/>
              <a:t>Modifiez les styles du texte du masque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1371600" y="3305207"/>
            <a:ext cx="4443984" cy="2562193"/>
          </a:xfrm>
        </p:spPr>
        <p:txBody>
          <a:bodyPr/>
          <a:lstStyle>
            <a:lvl1pPr>
              <a:defRPr baseline="0">
                <a:solidFill>
                  <a:schemeClr val="tx2"/>
                </a:solidFill>
              </a:defRPr>
            </a:lvl1pPr>
            <a:lvl2pPr>
              <a:defRPr baseline="0">
                <a:solidFill>
                  <a:schemeClr val="tx2"/>
                </a:solidFill>
              </a:defRPr>
            </a:lvl2pPr>
            <a:lvl3pPr>
              <a:defRPr baseline="0">
                <a:solidFill>
                  <a:schemeClr val="tx2"/>
                </a:solidFill>
              </a:defRPr>
            </a:lvl3pPr>
            <a:lvl4pPr>
              <a:defRPr baseline="0">
                <a:solidFill>
                  <a:schemeClr val="tx2"/>
                </a:solidFill>
              </a:defRPr>
            </a:lvl4pPr>
            <a:lvl5pPr>
              <a:defRPr baseline="0">
                <a:solidFill>
                  <a:schemeClr val="tx2"/>
                </a:solidFill>
              </a:defRPr>
            </a:lvl5pPr>
          </a:lstStyle>
          <a:p>
            <a:pPr lvl="0"/>
            <a:r>
              <a:rPr lang="fr-FR"/>
              <a:t>Modifiez les styles du texte du masque</a:t>
            </a:r>
          </a:p>
          <a:p>
            <a:pPr lvl="1"/>
            <a:r>
              <a:rPr lang="fr-FR"/>
              <a:t>Deuxième niveau</a:t>
            </a:r>
          </a:p>
          <a:p>
            <a:pPr lvl="2"/>
            <a:r>
              <a:rPr lang="fr-FR"/>
              <a:t>Troisième niveau</a:t>
            </a:r>
          </a:p>
          <a:p>
            <a:pPr lvl="3"/>
            <a:r>
              <a:rPr lang="fr-FR"/>
              <a:t>Quatrième niveau</a:t>
            </a:r>
          </a:p>
          <a:p>
            <a:pPr lvl="4"/>
            <a:r>
              <a:rPr lang="fr-FR"/>
              <a:t>Cinquième niveau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525014" y="2340864"/>
            <a:ext cx="4443984" cy="823912"/>
          </a:xfrm>
        </p:spPr>
        <p:txBody>
          <a:bodyPr anchor="b">
            <a:noAutofit/>
          </a:bodyPr>
          <a:lstStyle>
            <a:lvl1pPr marL="0" indent="0">
              <a:lnSpc>
                <a:spcPct val="84000"/>
              </a:lnSpc>
              <a:spcBef>
                <a:spcPts val="0"/>
              </a:spcBef>
              <a:spcAft>
                <a:spcPts val="0"/>
              </a:spcAft>
              <a:buNone/>
              <a:defRPr sz="3000" b="0" baseline="0">
                <a:solidFill>
                  <a:schemeClr val="tx2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fr-FR"/>
              <a:t>Modifiez les styles du texte du masque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6525014" y="3305207"/>
            <a:ext cx="4443984" cy="2562193"/>
          </a:xfrm>
        </p:spPr>
        <p:txBody>
          <a:bodyPr/>
          <a:lstStyle>
            <a:lvl1pPr>
              <a:defRPr baseline="0">
                <a:solidFill>
                  <a:schemeClr val="tx2"/>
                </a:solidFill>
              </a:defRPr>
            </a:lvl1pPr>
            <a:lvl2pPr>
              <a:defRPr baseline="0">
                <a:solidFill>
                  <a:schemeClr val="tx2"/>
                </a:solidFill>
              </a:defRPr>
            </a:lvl2pPr>
            <a:lvl3pPr>
              <a:defRPr baseline="0">
                <a:solidFill>
                  <a:schemeClr val="tx2"/>
                </a:solidFill>
              </a:defRPr>
            </a:lvl3pPr>
            <a:lvl4pPr>
              <a:defRPr baseline="0">
                <a:solidFill>
                  <a:schemeClr val="tx2"/>
                </a:solidFill>
              </a:defRPr>
            </a:lvl4pPr>
            <a:lvl5pPr>
              <a:defRPr baseline="0">
                <a:solidFill>
                  <a:schemeClr val="tx2"/>
                </a:solidFill>
              </a:defRPr>
            </a:lvl5pPr>
          </a:lstStyle>
          <a:p>
            <a:pPr lvl="0"/>
            <a:r>
              <a:rPr lang="fr-FR"/>
              <a:t>Modifiez les styles du texte du masque</a:t>
            </a:r>
          </a:p>
          <a:p>
            <a:pPr lvl="1"/>
            <a:r>
              <a:rPr lang="fr-FR"/>
              <a:t>Deuxième niveau</a:t>
            </a:r>
          </a:p>
          <a:p>
            <a:pPr lvl="2"/>
            <a:r>
              <a:rPr lang="fr-FR"/>
              <a:t>Troisième niveau</a:t>
            </a:r>
          </a:p>
          <a:p>
            <a:pPr lvl="3"/>
            <a:r>
              <a:rPr lang="fr-FR"/>
              <a:t>Quatrième niveau</a:t>
            </a:r>
          </a:p>
          <a:p>
            <a:pPr lvl="4"/>
            <a:r>
              <a:rPr lang="fr-FR"/>
              <a:t>Cinquième niveau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76DBFF1-4BD4-4ED8-8631-CAE9E00D25ED}" type="datetimeFigureOut">
              <a:rPr lang="fr-FR" smtClean="0"/>
              <a:t>26/08/2025</a:t>
            </a:fld>
            <a:endParaRPr lang="fr-FR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FR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BF04801-137B-41EC-87CA-1E7C9ECB5897}" type="slidenum">
              <a:rPr lang="fr-FR" smtClean="0"/>
              <a:t>‹N°›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112348553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re seu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FR"/>
              <a:t>Modifiez le style du titre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76DBFF1-4BD4-4ED8-8631-CAE9E00D25ED}" type="datetimeFigureOut">
              <a:rPr lang="fr-FR" smtClean="0"/>
              <a:t>26/08/2025</a:t>
            </a:fld>
            <a:endParaRPr lang="fr-FR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FR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BF04801-137B-41EC-87CA-1E7C9ECB5897}" type="slidenum">
              <a:rPr lang="fr-FR" smtClean="0"/>
              <a:t>‹N°›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1419409028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V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76DBFF1-4BD4-4ED8-8631-CAE9E00D25ED}" type="datetimeFigureOut">
              <a:rPr lang="fr-FR" smtClean="0"/>
              <a:t>26/08/2025</a:t>
            </a:fld>
            <a:endParaRPr lang="fr-FR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FR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BF04801-137B-41EC-87CA-1E7C9ECB5897}" type="slidenum">
              <a:rPr lang="fr-FR" smtClean="0"/>
              <a:t>‹N°›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1359029657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objTx" preserve="1">
  <p:cSld name="Contenu avec légen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Rectangle 7" title="Background Shape"/>
          <p:cNvSpPr/>
          <p:nvPr/>
        </p:nvSpPr>
        <p:spPr>
          <a:xfrm>
            <a:off x="0" y="376"/>
            <a:ext cx="5303520" cy="6857624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3900" y="685800"/>
            <a:ext cx="3855720" cy="2157884"/>
          </a:xfrm>
        </p:spPr>
        <p:txBody>
          <a:bodyPr anchor="t">
            <a:noAutofit/>
          </a:bodyPr>
          <a:lstStyle>
            <a:lvl1pPr>
              <a:lnSpc>
                <a:spcPct val="84000"/>
              </a:lnSpc>
              <a:defRPr sz="4800" baseline="0">
                <a:solidFill>
                  <a:schemeClr val="tx2"/>
                </a:solidFill>
              </a:defRPr>
            </a:lvl1pPr>
          </a:lstStyle>
          <a:p>
            <a:r>
              <a:rPr lang="fr-FR"/>
              <a:t>Modifiez le style du titre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6256020" y="685801"/>
            <a:ext cx="5212080" cy="5175250"/>
          </a:xfrm>
        </p:spPr>
        <p:txBody>
          <a:bodyPr/>
          <a:lstStyle>
            <a:lvl1pPr>
              <a:defRPr sz="2000"/>
            </a:lvl1pPr>
            <a:lvl2pPr>
              <a:defRPr sz="2000"/>
            </a:lvl2pPr>
            <a:lvl3pPr>
              <a:defRPr sz="1800"/>
            </a:lvl3pPr>
            <a:lvl4pPr>
              <a:defRPr sz="18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fr-FR"/>
              <a:t>Modifiez les styles du texte du masque</a:t>
            </a:r>
          </a:p>
          <a:p>
            <a:pPr lvl="1"/>
            <a:r>
              <a:rPr lang="fr-FR"/>
              <a:t>Deuxième niveau</a:t>
            </a:r>
          </a:p>
          <a:p>
            <a:pPr lvl="2"/>
            <a:r>
              <a:rPr lang="fr-FR"/>
              <a:t>Troisième niveau</a:t>
            </a:r>
          </a:p>
          <a:p>
            <a:pPr lvl="3"/>
            <a:r>
              <a:rPr lang="fr-FR"/>
              <a:t>Quatrième niveau</a:t>
            </a:r>
          </a:p>
          <a:p>
            <a:pPr lvl="4"/>
            <a:r>
              <a:rPr lang="fr-FR"/>
              <a:t>Cinquième niveau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723900" y="2856344"/>
            <a:ext cx="3855720" cy="3011056"/>
          </a:xfrm>
        </p:spPr>
        <p:txBody>
          <a:bodyPr/>
          <a:lstStyle>
            <a:lvl1pPr marL="0" indent="0">
              <a:lnSpc>
                <a:spcPct val="113000"/>
              </a:lnSpc>
              <a:spcBef>
                <a:spcPts val="0"/>
              </a:spcBef>
              <a:spcAft>
                <a:spcPts val="1500"/>
              </a:spcAft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fr-FR"/>
              <a:t>Modifiez les styles du texte du masque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>
          <a:xfrm>
            <a:off x="723900" y="6453386"/>
            <a:ext cx="1204572" cy="404614"/>
          </a:xfrm>
        </p:spPr>
        <p:txBody>
          <a:bodyPr/>
          <a:lstStyle>
            <a:lvl1pPr>
              <a:defRPr>
                <a:solidFill>
                  <a:schemeClr val="tx2"/>
                </a:solidFill>
              </a:defRPr>
            </a:lvl1pPr>
          </a:lstStyle>
          <a:p>
            <a:fld id="{176DBFF1-4BD4-4ED8-8631-CAE9E00D25ED}" type="datetimeFigureOut">
              <a:rPr lang="fr-FR" smtClean="0"/>
              <a:t>26/08/2025</a:t>
            </a:fld>
            <a:endParaRPr lang="fr-FR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>
          <a:xfrm>
            <a:off x="2205945" y="6453386"/>
            <a:ext cx="2373675" cy="404614"/>
          </a:xfrm>
        </p:spPr>
        <p:txBody>
          <a:bodyPr/>
          <a:lstStyle>
            <a:lvl1pPr>
              <a:defRPr>
                <a:solidFill>
                  <a:schemeClr val="tx2"/>
                </a:solidFill>
              </a:defRPr>
            </a:lvl1pPr>
          </a:lstStyle>
          <a:p>
            <a:endParaRPr lang="fr-FR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>
          <a:xfrm>
            <a:off x="9883140" y="6453386"/>
            <a:ext cx="1596292" cy="404614"/>
          </a:xfrm>
        </p:spPr>
        <p:txBody>
          <a:bodyPr/>
          <a:lstStyle>
            <a:lvl1pPr>
              <a:defRPr>
                <a:solidFill>
                  <a:schemeClr val="tx2"/>
                </a:solidFill>
              </a:defRPr>
            </a:lvl1pPr>
          </a:lstStyle>
          <a:p>
            <a:fld id="{6BF04801-137B-41EC-87CA-1E7C9ECB5897}" type="slidenum">
              <a:rPr lang="fr-FR" smtClean="0"/>
              <a:t>‹N°›</a:t>
            </a:fld>
            <a:endParaRPr lang="fr-FR"/>
          </a:p>
        </p:txBody>
      </p:sp>
      <p:sp>
        <p:nvSpPr>
          <p:cNvPr id="9" name="Rectangle 8" title="Divider Bar"/>
          <p:cNvSpPr/>
          <p:nvPr/>
        </p:nvSpPr>
        <p:spPr>
          <a:xfrm>
            <a:off x="5303520" y="376"/>
            <a:ext cx="228600" cy="6858000"/>
          </a:xfrm>
          <a:prstGeom prst="rect">
            <a:avLst/>
          </a:prstGeom>
          <a:solidFill>
            <a:schemeClr val="tx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</p:spTree>
    <p:extLst>
      <p:ext uri="{BB962C8B-B14F-4D97-AF65-F5344CB8AC3E}">
        <p14:creationId xmlns:p14="http://schemas.microsoft.com/office/powerpoint/2010/main" val="164906371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picTx" preserve="1">
  <p:cSld name="Image avec légen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Rectangle 7" title="Background Shape"/>
          <p:cNvSpPr/>
          <p:nvPr/>
        </p:nvSpPr>
        <p:spPr>
          <a:xfrm>
            <a:off x="0" y="376"/>
            <a:ext cx="5303520" cy="6857624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3900" y="685800"/>
            <a:ext cx="3855720" cy="2157884"/>
          </a:xfrm>
        </p:spPr>
        <p:txBody>
          <a:bodyPr anchor="t">
            <a:normAutofit/>
          </a:bodyPr>
          <a:lstStyle>
            <a:lvl1pPr>
              <a:lnSpc>
                <a:spcPct val="84000"/>
              </a:lnSpc>
              <a:defRPr sz="4800" baseline="0"/>
            </a:lvl1pPr>
          </a:lstStyle>
          <a:p>
            <a:r>
              <a:rPr lang="fr-FR"/>
              <a:t>Modifiez le style du titre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5532120" y="0"/>
            <a:ext cx="6659880" cy="6857999"/>
          </a:xfrm>
        </p:spPr>
        <p:txBody>
          <a:bodyPr anchor="t">
            <a:normAutofit/>
          </a:bodyPr>
          <a:lstStyle>
            <a:lvl1pPr marL="0" indent="0">
              <a:buNone/>
              <a:defRPr sz="2000"/>
            </a:lvl1pPr>
            <a:lvl2pPr marL="457200" indent="0">
              <a:buNone/>
              <a:defRPr sz="2000"/>
            </a:lvl2pPr>
            <a:lvl3pPr marL="914400" indent="0">
              <a:buNone/>
              <a:defRPr sz="20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fr-FR"/>
              <a:t>Cliquez sur l'icône pour ajouter une image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723900" y="2855968"/>
            <a:ext cx="3855720" cy="3011432"/>
          </a:xfrm>
        </p:spPr>
        <p:txBody>
          <a:bodyPr/>
          <a:lstStyle>
            <a:lvl1pPr marL="0" indent="0">
              <a:lnSpc>
                <a:spcPct val="113000"/>
              </a:lnSpc>
              <a:spcBef>
                <a:spcPts val="0"/>
              </a:spcBef>
              <a:spcAft>
                <a:spcPts val="1500"/>
              </a:spcAft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fr-FR"/>
              <a:t>Modifiez les styles du texte du masque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>
          <a:xfrm>
            <a:off x="723900" y="6453386"/>
            <a:ext cx="1204572" cy="404614"/>
          </a:xfrm>
        </p:spPr>
        <p:txBody>
          <a:bodyPr/>
          <a:lstStyle>
            <a:lvl1pPr>
              <a:defRPr>
                <a:solidFill>
                  <a:schemeClr val="tx2"/>
                </a:solidFill>
              </a:defRPr>
            </a:lvl1pPr>
          </a:lstStyle>
          <a:p>
            <a:fld id="{176DBFF1-4BD4-4ED8-8631-CAE9E00D25ED}" type="datetimeFigureOut">
              <a:rPr lang="fr-FR" smtClean="0"/>
              <a:t>26/08/2025</a:t>
            </a:fld>
            <a:endParaRPr lang="fr-FR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>
          <a:xfrm>
            <a:off x="2205945" y="6453386"/>
            <a:ext cx="2373675" cy="404614"/>
          </a:xfrm>
        </p:spPr>
        <p:txBody>
          <a:bodyPr/>
          <a:lstStyle>
            <a:lvl1pPr>
              <a:defRPr>
                <a:solidFill>
                  <a:schemeClr val="tx2"/>
                </a:solidFill>
              </a:defRPr>
            </a:lvl1pPr>
          </a:lstStyle>
          <a:p>
            <a:endParaRPr lang="fr-FR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>
          <a:xfrm>
            <a:off x="9883140" y="6453386"/>
            <a:ext cx="1596292" cy="404614"/>
          </a:xfrm>
        </p:spPr>
        <p:txBody>
          <a:bodyPr/>
          <a:lstStyle>
            <a:lvl1pPr>
              <a:defRPr>
                <a:solidFill>
                  <a:schemeClr val="tx2"/>
                </a:solidFill>
              </a:defRPr>
            </a:lvl1pPr>
          </a:lstStyle>
          <a:p>
            <a:fld id="{6BF04801-137B-41EC-87CA-1E7C9ECB5897}" type="slidenum">
              <a:rPr lang="fr-FR" smtClean="0"/>
              <a:t>‹N°›</a:t>
            </a:fld>
            <a:endParaRPr lang="fr-FR"/>
          </a:p>
        </p:txBody>
      </p:sp>
      <p:sp>
        <p:nvSpPr>
          <p:cNvPr id="9" name="Rectangle 8" title="Divider Bar"/>
          <p:cNvSpPr/>
          <p:nvPr/>
        </p:nvSpPr>
        <p:spPr>
          <a:xfrm>
            <a:off x="5303520" y="376"/>
            <a:ext cx="228600" cy="6858000"/>
          </a:xfrm>
          <a:prstGeom prst="rect">
            <a:avLst/>
          </a:prstGeom>
          <a:solidFill>
            <a:schemeClr val="tx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</p:spTree>
    <p:extLst>
      <p:ext uri="{BB962C8B-B14F-4D97-AF65-F5344CB8AC3E}">
        <p14:creationId xmlns:p14="http://schemas.microsoft.com/office/powerpoint/2010/main" val="1568118971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re et texte vertica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FR"/>
              <a:t>Modifiez le style du titre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1371600" y="2295525"/>
            <a:ext cx="9601200" cy="3571875"/>
          </a:xfrm>
        </p:spPr>
        <p:txBody>
          <a:bodyPr vert="eaVert"/>
          <a:lstStyle/>
          <a:p>
            <a:pPr lvl="0"/>
            <a:r>
              <a:rPr lang="fr-FR"/>
              <a:t>Modifiez les styles du texte du masque</a:t>
            </a:r>
          </a:p>
          <a:p>
            <a:pPr lvl="1"/>
            <a:r>
              <a:rPr lang="fr-FR"/>
              <a:t>Deuxième niveau</a:t>
            </a:r>
          </a:p>
          <a:p>
            <a:pPr lvl="2"/>
            <a:r>
              <a:rPr lang="fr-FR"/>
              <a:t>Troisième niveau</a:t>
            </a:r>
          </a:p>
          <a:p>
            <a:pPr lvl="3"/>
            <a:r>
              <a:rPr lang="fr-FR"/>
              <a:t>Quatrième niveau</a:t>
            </a:r>
          </a:p>
          <a:p>
            <a:pPr lvl="4"/>
            <a:r>
              <a:rPr lang="fr-FR"/>
              <a:t>Cinquième niveau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76DBFF1-4BD4-4ED8-8631-CAE9E00D25ED}" type="datetimeFigureOut">
              <a:rPr lang="fr-FR" smtClean="0"/>
              <a:t>26/08/2025</a:t>
            </a:fld>
            <a:endParaRPr lang="fr-FR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FR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BF04801-137B-41EC-87CA-1E7C9ECB5897}" type="slidenum">
              <a:rPr lang="fr-FR" smtClean="0"/>
              <a:t>‹N°›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2975051930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Titre vertical et text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9596561" y="624156"/>
            <a:ext cx="1565766" cy="5243244"/>
          </a:xfrm>
        </p:spPr>
        <p:txBody>
          <a:bodyPr vert="eaVert"/>
          <a:lstStyle/>
          <a:p>
            <a:r>
              <a:rPr lang="fr-FR"/>
              <a:t>Modifiez le style du titre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1371600" y="624156"/>
            <a:ext cx="8179641" cy="5243244"/>
          </a:xfrm>
        </p:spPr>
        <p:txBody>
          <a:bodyPr vert="eaVert"/>
          <a:lstStyle/>
          <a:p>
            <a:pPr lvl="0"/>
            <a:r>
              <a:rPr lang="fr-FR"/>
              <a:t>Modifiez les styles du texte du masque</a:t>
            </a:r>
          </a:p>
          <a:p>
            <a:pPr lvl="1"/>
            <a:r>
              <a:rPr lang="fr-FR"/>
              <a:t>Deuxième niveau</a:t>
            </a:r>
          </a:p>
          <a:p>
            <a:pPr lvl="2"/>
            <a:r>
              <a:rPr lang="fr-FR"/>
              <a:t>Troisième niveau</a:t>
            </a:r>
          </a:p>
          <a:p>
            <a:pPr lvl="3"/>
            <a:r>
              <a:rPr lang="fr-FR"/>
              <a:t>Quatrième niveau</a:t>
            </a:r>
          </a:p>
          <a:p>
            <a:pPr lvl="4"/>
            <a:r>
              <a:rPr lang="fr-FR"/>
              <a:t>Cinquième niveau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76DBFF1-4BD4-4ED8-8631-CAE9E00D25ED}" type="datetimeFigureOut">
              <a:rPr lang="fr-FR" smtClean="0"/>
              <a:t>26/08/2025</a:t>
            </a:fld>
            <a:endParaRPr lang="fr-FR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FR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BF04801-137B-41EC-87CA-1E7C9ECB5897}" type="slidenum">
              <a:rPr lang="fr-FR" smtClean="0"/>
              <a:t>‹N°›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3977628789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1371600" y="685800"/>
            <a:ext cx="9601200" cy="1485900"/>
          </a:xfrm>
          <a:prstGeom prst="rect">
            <a:avLst/>
          </a:prstGeom>
        </p:spPr>
        <p:txBody>
          <a:bodyPr vert="horz" lIns="91440" tIns="45720" rIns="91440" bIns="45720" rtlCol="0" anchor="t">
            <a:normAutofit/>
          </a:bodyPr>
          <a:lstStyle/>
          <a:p>
            <a:r>
              <a:rPr lang="fr-FR"/>
              <a:t>Modifiez le style du titre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371600" y="2286000"/>
            <a:ext cx="9601200" cy="3581400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fr-FR"/>
              <a:t>Modifiez les styles du texte du masque</a:t>
            </a:r>
          </a:p>
          <a:p>
            <a:pPr lvl="1"/>
            <a:r>
              <a:rPr lang="fr-FR"/>
              <a:t>Deuxième niveau</a:t>
            </a:r>
          </a:p>
          <a:p>
            <a:pPr lvl="2"/>
            <a:r>
              <a:rPr lang="fr-FR"/>
              <a:t>Troisième niveau</a:t>
            </a:r>
          </a:p>
          <a:p>
            <a:pPr lvl="3"/>
            <a:r>
              <a:rPr lang="fr-FR"/>
              <a:t>Quatrième niveau</a:t>
            </a:r>
          </a:p>
          <a:p>
            <a:pPr lvl="4"/>
            <a:r>
              <a:rPr lang="fr-FR"/>
              <a:t>Cinquième niveau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1390650" y="6453386"/>
            <a:ext cx="1204572" cy="404614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 baseline="0">
                <a:solidFill>
                  <a:schemeClr val="tx2"/>
                </a:solidFill>
              </a:defRPr>
            </a:lvl1pPr>
          </a:lstStyle>
          <a:p>
            <a:fld id="{176DBFF1-4BD4-4ED8-8631-CAE9E00D25ED}" type="datetimeFigureOut">
              <a:rPr lang="fr-FR" smtClean="0"/>
              <a:t>26/08/2025</a:t>
            </a:fld>
            <a:endParaRPr lang="fr-FR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2893564" y="6453386"/>
            <a:ext cx="6280830" cy="404614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 baseline="0">
                <a:solidFill>
                  <a:schemeClr val="tx2"/>
                </a:solidFill>
              </a:defRPr>
            </a:lvl1pPr>
          </a:lstStyle>
          <a:p>
            <a:endParaRPr lang="fr-FR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9472736" y="6453386"/>
            <a:ext cx="1596292" cy="404614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 baseline="0">
                <a:solidFill>
                  <a:schemeClr val="tx2"/>
                </a:solidFill>
              </a:defRPr>
            </a:lvl1pPr>
          </a:lstStyle>
          <a:p>
            <a:fld id="{6BF04801-137B-41EC-87CA-1E7C9ECB5897}" type="slidenum">
              <a:rPr lang="fr-FR" smtClean="0"/>
              <a:t>‹N°›</a:t>
            </a:fld>
            <a:endParaRPr lang="fr-FR"/>
          </a:p>
        </p:txBody>
      </p:sp>
      <p:sp>
        <p:nvSpPr>
          <p:cNvPr id="9" name="Rectangle 8" title="Side bar"/>
          <p:cNvSpPr/>
          <p:nvPr/>
        </p:nvSpPr>
        <p:spPr>
          <a:xfrm>
            <a:off x="478095" y="376"/>
            <a:ext cx="228600" cy="6858000"/>
          </a:xfrm>
          <a:prstGeom prst="rect">
            <a:avLst/>
          </a:prstGeom>
          <a:solidFill>
            <a:schemeClr val="tx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</p:spTree>
    <p:extLst>
      <p:ext uri="{BB962C8B-B14F-4D97-AF65-F5344CB8AC3E}">
        <p14:creationId xmlns:p14="http://schemas.microsoft.com/office/powerpoint/2010/main" val="3925651770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78" r:id="rId1"/>
    <p:sldLayoutId id="2147483679" r:id="rId2"/>
    <p:sldLayoutId id="2147483680" r:id="rId3"/>
    <p:sldLayoutId id="2147483681" r:id="rId4"/>
    <p:sldLayoutId id="2147483682" r:id="rId5"/>
    <p:sldLayoutId id="2147483683" r:id="rId6"/>
    <p:sldLayoutId id="2147483684" r:id="rId7"/>
    <p:sldLayoutId id="2147483685" r:id="rId8"/>
    <p:sldLayoutId id="2147483686" r:id="rId9"/>
    <p:sldLayoutId id="2147483687" r:id="rId10"/>
    <p:sldLayoutId id="2147483688" r:id="rId11"/>
  </p:sldLayoutIdLst>
  <p:txStyles>
    <p:titleStyle>
      <a:lvl1pPr algn="l" defTabSz="914400" rtl="0" eaLnBrk="1" latinLnBrk="0" hangingPunct="1">
        <a:lnSpc>
          <a:spcPct val="89000"/>
        </a:lnSpc>
        <a:spcBef>
          <a:spcPct val="0"/>
        </a:spcBef>
        <a:buNone/>
        <a:defRPr sz="4400" kern="1200" baseline="0">
          <a:solidFill>
            <a:schemeClr val="tx2"/>
          </a:solidFill>
          <a:latin typeface="+mj-lt"/>
          <a:ea typeface="+mj-ea"/>
          <a:cs typeface="+mj-cs"/>
        </a:defRPr>
      </a:lvl1pPr>
    </p:titleStyle>
    <p:bodyStyle>
      <a:lvl1pPr marL="384048" indent="-384048" algn="l" defTabSz="914400" rtl="0" eaLnBrk="1" latinLnBrk="0" hangingPunct="1">
        <a:lnSpc>
          <a:spcPct val="94000"/>
        </a:lnSpc>
        <a:spcBef>
          <a:spcPts val="1000"/>
        </a:spcBef>
        <a:spcAft>
          <a:spcPts val="200"/>
        </a:spcAft>
        <a:buFont typeface="Franklin Gothic Book" panose="020B0503020102020204" pitchFamily="34" charset="0"/>
        <a:buChar char="■"/>
        <a:defRPr sz="2000" kern="1200" baseline="0">
          <a:solidFill>
            <a:schemeClr val="tx2"/>
          </a:solidFill>
          <a:latin typeface="+mn-lt"/>
          <a:ea typeface="+mn-ea"/>
          <a:cs typeface="+mn-cs"/>
        </a:defRPr>
      </a:lvl1pPr>
      <a:lvl2pPr marL="914400" indent="-384048" algn="l" defTabSz="914400" rtl="0" eaLnBrk="1" latinLnBrk="0" hangingPunct="1">
        <a:lnSpc>
          <a:spcPct val="94000"/>
        </a:lnSpc>
        <a:spcBef>
          <a:spcPts val="500"/>
        </a:spcBef>
        <a:spcAft>
          <a:spcPts val="200"/>
        </a:spcAft>
        <a:buFont typeface="Franklin Gothic Book" panose="020B0503020102020204" pitchFamily="34" charset="0"/>
        <a:buChar char="–"/>
        <a:defRPr sz="2000" i="1" kern="1200" baseline="0">
          <a:solidFill>
            <a:schemeClr val="tx2"/>
          </a:solidFill>
          <a:latin typeface="+mn-lt"/>
          <a:ea typeface="+mn-ea"/>
          <a:cs typeface="+mn-cs"/>
        </a:defRPr>
      </a:lvl2pPr>
      <a:lvl3pPr marL="1371600" indent="-384048" algn="l" defTabSz="914400" rtl="0" eaLnBrk="1" latinLnBrk="0" hangingPunct="1">
        <a:lnSpc>
          <a:spcPct val="94000"/>
        </a:lnSpc>
        <a:spcBef>
          <a:spcPts val="500"/>
        </a:spcBef>
        <a:spcAft>
          <a:spcPts val="200"/>
        </a:spcAft>
        <a:buFont typeface="Franklin Gothic Book" panose="020B0503020102020204" pitchFamily="34" charset="0"/>
        <a:buChar char="■"/>
        <a:defRPr sz="1800" kern="1200" baseline="0">
          <a:solidFill>
            <a:schemeClr val="tx2"/>
          </a:solidFill>
          <a:latin typeface="+mn-lt"/>
          <a:ea typeface="+mn-ea"/>
          <a:cs typeface="+mn-cs"/>
        </a:defRPr>
      </a:lvl3pPr>
      <a:lvl4pPr marL="1828800" indent="-384048" algn="l" defTabSz="914400" rtl="0" eaLnBrk="1" latinLnBrk="0" hangingPunct="1">
        <a:lnSpc>
          <a:spcPct val="94000"/>
        </a:lnSpc>
        <a:spcBef>
          <a:spcPts val="500"/>
        </a:spcBef>
        <a:spcAft>
          <a:spcPts val="200"/>
        </a:spcAft>
        <a:buFont typeface="Franklin Gothic Book" panose="020B0503020102020204" pitchFamily="34" charset="0"/>
        <a:buChar char="–"/>
        <a:defRPr sz="1800" i="1" kern="1200" baseline="0">
          <a:solidFill>
            <a:schemeClr val="tx2"/>
          </a:solidFill>
          <a:latin typeface="+mn-lt"/>
          <a:ea typeface="+mn-ea"/>
          <a:cs typeface="+mn-cs"/>
        </a:defRPr>
      </a:lvl4pPr>
      <a:lvl5pPr marL="2286000" indent="-384048" algn="l" defTabSz="914400" rtl="0" eaLnBrk="1" latinLnBrk="0" hangingPunct="1">
        <a:lnSpc>
          <a:spcPct val="94000"/>
        </a:lnSpc>
        <a:spcBef>
          <a:spcPts val="500"/>
        </a:spcBef>
        <a:spcAft>
          <a:spcPts val="200"/>
        </a:spcAft>
        <a:buFont typeface="Franklin Gothic Book" panose="020B0503020102020204" pitchFamily="34" charset="0"/>
        <a:buChar char="■"/>
        <a:defRPr sz="1600" kern="1200" baseline="0">
          <a:solidFill>
            <a:schemeClr val="tx2"/>
          </a:solidFill>
          <a:latin typeface="+mn-lt"/>
          <a:ea typeface="+mn-ea"/>
          <a:cs typeface="+mn-cs"/>
        </a:defRPr>
      </a:lvl5pPr>
      <a:lvl6pPr marL="2743200" indent="-384048" algn="l" defTabSz="914400" rtl="0" eaLnBrk="1" latinLnBrk="0" hangingPunct="1">
        <a:lnSpc>
          <a:spcPct val="94000"/>
        </a:lnSpc>
        <a:spcBef>
          <a:spcPts val="500"/>
        </a:spcBef>
        <a:spcAft>
          <a:spcPts val="200"/>
        </a:spcAft>
        <a:buFont typeface="Franklin Gothic Book" panose="020B0503020102020204" pitchFamily="34" charset="0"/>
        <a:buChar char="–"/>
        <a:defRPr sz="1600" i="1" kern="1200" baseline="0">
          <a:solidFill>
            <a:schemeClr val="tx2"/>
          </a:solidFill>
          <a:latin typeface="+mn-lt"/>
          <a:ea typeface="+mn-ea"/>
          <a:cs typeface="+mn-cs"/>
        </a:defRPr>
      </a:lvl6pPr>
      <a:lvl7pPr marL="3200400" indent="-384048" algn="l" defTabSz="914400" rtl="0" eaLnBrk="1" latinLnBrk="0" hangingPunct="1">
        <a:lnSpc>
          <a:spcPct val="94000"/>
        </a:lnSpc>
        <a:spcBef>
          <a:spcPts val="500"/>
        </a:spcBef>
        <a:spcAft>
          <a:spcPts val="200"/>
        </a:spcAft>
        <a:buFont typeface="Franklin Gothic Book" panose="020B0503020102020204" pitchFamily="34" charset="0"/>
        <a:buChar char="■"/>
        <a:defRPr sz="1400" kern="1200" baseline="0">
          <a:solidFill>
            <a:schemeClr val="tx2"/>
          </a:solidFill>
          <a:latin typeface="+mn-lt"/>
          <a:ea typeface="+mn-ea"/>
          <a:cs typeface="+mn-cs"/>
        </a:defRPr>
      </a:lvl7pPr>
      <a:lvl8pPr marL="3657600" indent="-384048" algn="l" defTabSz="914400" rtl="0" eaLnBrk="1" latinLnBrk="0" hangingPunct="1">
        <a:lnSpc>
          <a:spcPct val="94000"/>
        </a:lnSpc>
        <a:spcBef>
          <a:spcPts val="500"/>
        </a:spcBef>
        <a:spcAft>
          <a:spcPts val="200"/>
        </a:spcAft>
        <a:buFont typeface="Franklin Gothic Book" panose="020B0503020102020204" pitchFamily="34" charset="0"/>
        <a:buChar char="–"/>
        <a:defRPr sz="1400" i="1" kern="1200" baseline="0">
          <a:solidFill>
            <a:schemeClr val="tx2"/>
          </a:solidFill>
          <a:latin typeface="+mn-lt"/>
          <a:ea typeface="+mn-ea"/>
          <a:cs typeface="+mn-cs"/>
        </a:defRPr>
      </a:lvl8pPr>
      <a:lvl9pPr marL="4114800" indent="-384048" algn="l" defTabSz="914400" rtl="0" eaLnBrk="1" latinLnBrk="0" hangingPunct="1">
        <a:lnSpc>
          <a:spcPct val="94000"/>
        </a:lnSpc>
        <a:spcBef>
          <a:spcPts val="500"/>
        </a:spcBef>
        <a:spcAft>
          <a:spcPts val="200"/>
        </a:spcAft>
        <a:buFont typeface="Franklin Gothic Book" panose="020B0503020102020204" pitchFamily="34" charset="0"/>
        <a:buChar char="■"/>
        <a:defRPr sz="1400" kern="1200" baseline="0">
          <a:solidFill>
            <a:schemeClr val="tx2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  <p:extLst>
    <p:ext uri="{27BBF7A9-308A-43DC-89C8-2F10F3537804}">
      <p15:sldGuideLst xmlns:p15="http://schemas.microsoft.com/office/powerpoint/2012/main">
        <p15:guide id="1" orient="horz" pos="1368">
          <p15:clr>
            <a:srgbClr val="F26B43"/>
          </p15:clr>
        </p15:guide>
        <p15:guide id="2" orient="horz" pos="1440">
          <p15:clr>
            <a:srgbClr val="F26B43"/>
          </p15:clr>
        </p15:guide>
        <p15:guide id="3" orient="horz" pos="3696">
          <p15:clr>
            <a:srgbClr val="F26B43"/>
          </p15:clr>
        </p15:guide>
        <p15:guide id="4" orient="horz" pos="432">
          <p15:clr>
            <a:srgbClr val="F26B43"/>
          </p15:clr>
        </p15:guide>
        <p15:guide id="5" orient="horz" pos="1512">
          <p15:clr>
            <a:srgbClr val="F26B43"/>
          </p15:clr>
        </p15:guide>
        <p15:guide id="6" pos="6912">
          <p15:clr>
            <a:srgbClr val="F26B43"/>
          </p15:clr>
        </p15:guide>
        <p15:guide id="7" pos="936">
          <p15:clr>
            <a:srgbClr val="F26B43"/>
          </p15:clr>
        </p15:guide>
        <p15:guide id="8" pos="864">
          <p15:clr>
            <a:srgbClr val="F26B43"/>
          </p15:clr>
        </p15:guide>
      </p15:sldGuideLst>
    </p:ext>
  </p:extLst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7.xml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7" Type="http://schemas.openxmlformats.org/officeDocument/2006/relationships/image" Target="../media/image9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8.png"/><Relationship Id="rId5" Type="http://schemas.openxmlformats.org/officeDocument/2006/relationships/image" Target="../media/image7.png"/><Relationship Id="rId4" Type="http://schemas.openxmlformats.org/officeDocument/2006/relationships/image" Target="../media/image6.png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image" Target="../media/image10.jpeg"/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1.pn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12.png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2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3.png"/><Relationship Id="rId1" Type="http://schemas.openxmlformats.org/officeDocument/2006/relationships/slideLayout" Target="../slideLayouts/slideLayout7.xml"/></Relationships>
</file>

<file path=ppt/slides/_rels/slide22.xml.rels><?xml version="1.0" encoding="UTF-8" standalone="yes"?>
<Relationships xmlns="http://schemas.openxmlformats.org/package/2006/relationships"><Relationship Id="rId8" Type="http://schemas.openxmlformats.org/officeDocument/2006/relationships/image" Target="../media/image19.png"/><Relationship Id="rId3" Type="http://schemas.openxmlformats.org/officeDocument/2006/relationships/image" Target="../media/image14.png"/><Relationship Id="rId7" Type="http://schemas.openxmlformats.org/officeDocument/2006/relationships/image" Target="../media/image18.jpe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17.png"/><Relationship Id="rId5" Type="http://schemas.openxmlformats.org/officeDocument/2006/relationships/image" Target="../media/image16.png"/><Relationship Id="rId4" Type="http://schemas.openxmlformats.org/officeDocument/2006/relationships/image" Target="../media/image15.jpeg"/></Relationships>
</file>

<file path=ppt/slides/_rels/slide2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6.xml.rels><?xml version="1.0" encoding="UTF-8" standalone="yes"?>
<Relationships xmlns="http://schemas.openxmlformats.org/package/2006/relationships"><Relationship Id="rId2" Type="http://schemas.openxmlformats.org/officeDocument/2006/relationships/image" Target="../media/image20.png"/><Relationship Id="rId1" Type="http://schemas.openxmlformats.org/officeDocument/2006/relationships/slideLayout" Target="../slideLayouts/slideLayout7.xml"/></Relationships>
</file>

<file path=ppt/slides/_rels/slide27.xml.rels><?xml version="1.0" encoding="UTF-8" standalone="yes"?>
<Relationships xmlns="http://schemas.openxmlformats.org/package/2006/relationships"><Relationship Id="rId2" Type="http://schemas.openxmlformats.org/officeDocument/2006/relationships/image" Target="../media/image21.png"/><Relationship Id="rId1" Type="http://schemas.openxmlformats.org/officeDocument/2006/relationships/slideLayout" Target="../slideLayouts/slideLayout7.xml"/></Relationships>
</file>

<file path=ppt/slides/_rels/slide2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1.xml.rels><?xml version="1.0" encoding="UTF-8" standalone="yes"?>
<Relationships xmlns="http://schemas.openxmlformats.org/package/2006/relationships"><Relationship Id="rId2" Type="http://schemas.openxmlformats.org/officeDocument/2006/relationships/image" Target="../media/image21.png"/><Relationship Id="rId1" Type="http://schemas.openxmlformats.org/officeDocument/2006/relationships/slideLayout" Target="../slideLayouts/slideLayout7.xml"/></Relationships>
</file>

<file path=ppt/slides/_rels/slide3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5.xml.rels><?xml version="1.0" encoding="UTF-8" standalone="yes"?>
<Relationships xmlns="http://schemas.openxmlformats.org/package/2006/relationships"><Relationship Id="rId2" Type="http://schemas.openxmlformats.org/officeDocument/2006/relationships/image" Target="../media/image21.png"/><Relationship Id="rId1" Type="http://schemas.openxmlformats.org/officeDocument/2006/relationships/slideLayout" Target="../slideLayouts/slideLayout7.xml"/></Relationships>
</file>

<file path=ppt/slides/_rels/slide3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9.xml.rels><?xml version="1.0" encoding="UTF-8" standalone="yes"?>
<Relationships xmlns="http://schemas.openxmlformats.org/package/2006/relationships"><Relationship Id="rId3" Type="http://schemas.openxmlformats.org/officeDocument/2006/relationships/image" Target="../media/image23.png"/><Relationship Id="rId2" Type="http://schemas.openxmlformats.org/officeDocument/2006/relationships/image" Target="../media/image22.png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24.png"/></Relationships>
</file>

<file path=ppt/slides/_rels/slide4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1.xml.rels><?xml version="1.0" encoding="UTF-8" standalone="yes"?>
<Relationships xmlns="http://schemas.openxmlformats.org/package/2006/relationships"><Relationship Id="rId2" Type="http://schemas.openxmlformats.org/officeDocument/2006/relationships/image" Target="../media/image25.png"/><Relationship Id="rId1" Type="http://schemas.openxmlformats.org/officeDocument/2006/relationships/slideLayout" Target="../slideLayouts/slideLayout6.xml"/></Relationships>
</file>

<file path=ppt/slides/_rels/slide4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4.xml.rels><?xml version="1.0" encoding="UTF-8" standalone="yes"?>
<Relationships xmlns="http://schemas.openxmlformats.org/package/2006/relationships"><Relationship Id="rId3" Type="http://schemas.openxmlformats.org/officeDocument/2006/relationships/image" Target="../media/image23.png"/><Relationship Id="rId2" Type="http://schemas.openxmlformats.org/officeDocument/2006/relationships/image" Target="../media/image22.png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24.png"/></Relationships>
</file>

<file path=ppt/slides/_rels/slide4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7.xml.rels><?xml version="1.0" encoding="UTF-8" standalone="yes"?>
<Relationships xmlns="http://schemas.openxmlformats.org/package/2006/relationships"><Relationship Id="rId3" Type="http://schemas.openxmlformats.org/officeDocument/2006/relationships/image" Target="../media/image27.png"/><Relationship Id="rId2" Type="http://schemas.openxmlformats.org/officeDocument/2006/relationships/image" Target="../media/image26.png"/><Relationship Id="rId1" Type="http://schemas.openxmlformats.org/officeDocument/2006/relationships/slideLayout" Target="../slideLayouts/slideLayout7.xml"/></Relationships>
</file>

<file path=ppt/slides/_rels/slide4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0.xml.rels><?xml version="1.0" encoding="UTF-8" standalone="yes"?>
<Relationships xmlns="http://schemas.openxmlformats.org/package/2006/relationships"><Relationship Id="rId2" Type="http://schemas.openxmlformats.org/officeDocument/2006/relationships/image" Target="../media/image28.png"/><Relationship Id="rId1" Type="http://schemas.openxmlformats.org/officeDocument/2006/relationships/slideLayout" Target="../slideLayouts/slideLayout7.xml"/></Relationships>
</file>

<file path=ppt/slides/_rels/slide5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3.xml.rels><?xml version="1.0" encoding="UTF-8" standalone="yes"?>
<Relationships xmlns="http://schemas.openxmlformats.org/package/2006/relationships"><Relationship Id="rId3" Type="http://schemas.openxmlformats.org/officeDocument/2006/relationships/image" Target="../media/image30.png"/><Relationship Id="rId2" Type="http://schemas.openxmlformats.org/officeDocument/2006/relationships/image" Target="../media/image29.png"/><Relationship Id="rId1" Type="http://schemas.openxmlformats.org/officeDocument/2006/relationships/slideLayout" Target="../slideLayouts/slideLayout2.xml"/></Relationships>
</file>

<file path=ppt/slides/_rels/slide54.xml.rels><?xml version="1.0" encoding="UTF-8" standalone="yes"?>
<Relationships xmlns="http://schemas.openxmlformats.org/package/2006/relationships"><Relationship Id="rId3" Type="http://schemas.openxmlformats.org/officeDocument/2006/relationships/image" Target="../media/image32.png"/><Relationship Id="rId2" Type="http://schemas.openxmlformats.org/officeDocument/2006/relationships/image" Target="../media/image31.png"/><Relationship Id="rId1" Type="http://schemas.openxmlformats.org/officeDocument/2006/relationships/slideLayout" Target="../slideLayouts/slideLayout2.xml"/></Relationships>
</file>

<file path=ppt/slides/_rels/slide5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7.xml.rels><?xml version="1.0" encoding="UTF-8" standalone="yes"?>
<Relationships xmlns="http://schemas.openxmlformats.org/package/2006/relationships"><Relationship Id="rId3" Type="http://schemas.openxmlformats.org/officeDocument/2006/relationships/image" Target="../media/image32.png"/><Relationship Id="rId2" Type="http://schemas.openxmlformats.org/officeDocument/2006/relationships/image" Target="../media/image33.png"/><Relationship Id="rId1" Type="http://schemas.openxmlformats.org/officeDocument/2006/relationships/slideLayout" Target="../slideLayouts/slideLayout2.xml"/></Relationships>
</file>

<file path=ppt/slides/_rels/slide5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0.xml.rels><?xml version="1.0" encoding="UTF-8" standalone="yes"?>
<Relationships xmlns="http://schemas.openxmlformats.org/package/2006/relationships"><Relationship Id="rId3" Type="http://schemas.openxmlformats.org/officeDocument/2006/relationships/image" Target="../media/image35.png"/><Relationship Id="rId2" Type="http://schemas.openxmlformats.org/officeDocument/2006/relationships/image" Target="../media/image34.png"/><Relationship Id="rId1" Type="http://schemas.openxmlformats.org/officeDocument/2006/relationships/slideLayout" Target="../slideLayouts/slideLayout2.xml"/></Relationships>
</file>

<file path=ppt/slides/_rels/slide61.xml.rels><?xml version="1.0" encoding="UTF-8" standalone="yes"?>
<Relationships xmlns="http://schemas.openxmlformats.org/package/2006/relationships"><Relationship Id="rId2" Type="http://schemas.openxmlformats.org/officeDocument/2006/relationships/image" Target="../media/image36.png"/><Relationship Id="rId1" Type="http://schemas.openxmlformats.org/officeDocument/2006/relationships/slideLayout" Target="../slideLayouts/slideLayout2.xml"/></Relationships>
</file>

<file path=ppt/slides/_rels/slide6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6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6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7.xml"/></Relationships>
</file>

<file path=ppt/slides/_rels/slide6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0.xml.rels><?xml version="1.0" encoding="UTF-8" standalone="yes"?>
<Relationships xmlns="http://schemas.openxmlformats.org/package/2006/relationships"><Relationship Id="rId3" Type="http://schemas.openxmlformats.org/officeDocument/2006/relationships/image" Target="../media/image37.png"/><Relationship Id="rId2" Type="http://schemas.openxmlformats.org/officeDocument/2006/relationships/image" Target="../media/image20.png"/><Relationship Id="rId1" Type="http://schemas.openxmlformats.org/officeDocument/2006/relationships/slideLayout" Target="../slideLayouts/slideLayout7.xml"/></Relationships>
</file>

<file path=ppt/slides/_rels/slide71.xml.rels><?xml version="1.0" encoding="UTF-8" standalone="yes"?>
<Relationships xmlns="http://schemas.openxmlformats.org/package/2006/relationships"><Relationship Id="rId2" Type="http://schemas.openxmlformats.org/officeDocument/2006/relationships/image" Target="../media/image21.png"/><Relationship Id="rId1" Type="http://schemas.openxmlformats.org/officeDocument/2006/relationships/slideLayout" Target="../slideLayouts/slideLayout7.xml"/></Relationships>
</file>

<file path=ppt/slides/_rels/slide72.xml.rels><?xml version="1.0" encoding="UTF-8" standalone="yes"?>
<Relationships xmlns="http://schemas.openxmlformats.org/package/2006/relationships"><Relationship Id="rId3" Type="http://schemas.openxmlformats.org/officeDocument/2006/relationships/image" Target="../media/image39.png"/><Relationship Id="rId2" Type="http://schemas.openxmlformats.org/officeDocument/2006/relationships/image" Target="../media/image38.png"/><Relationship Id="rId1" Type="http://schemas.openxmlformats.org/officeDocument/2006/relationships/slideLayout" Target="../slideLayouts/slideLayout2.xml"/></Relationships>
</file>

<file path=ppt/slides/_rels/slide7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1.xml.rels><?xml version="1.0" encoding="UTF-8" standalone="yes"?>
<Relationships xmlns="http://schemas.openxmlformats.org/package/2006/relationships"><Relationship Id="rId3" Type="http://schemas.openxmlformats.org/officeDocument/2006/relationships/image" Target="../media/image37.png"/><Relationship Id="rId2" Type="http://schemas.openxmlformats.org/officeDocument/2006/relationships/image" Target="../media/image20.png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40.png"/></Relationships>
</file>

<file path=ppt/slides/_rels/slide82.xml.rels><?xml version="1.0" encoding="UTF-8" standalone="yes"?>
<Relationships xmlns="http://schemas.openxmlformats.org/package/2006/relationships"><Relationship Id="rId2" Type="http://schemas.openxmlformats.org/officeDocument/2006/relationships/image" Target="../media/image21.png"/><Relationship Id="rId1" Type="http://schemas.openxmlformats.org/officeDocument/2006/relationships/slideLayout" Target="../slideLayouts/slideLayout7.xml"/></Relationships>
</file>

<file path=ppt/slides/_rels/slide83.xml.rels><?xml version="1.0" encoding="UTF-8" standalone="yes"?>
<Relationships xmlns="http://schemas.openxmlformats.org/package/2006/relationships"><Relationship Id="rId3" Type="http://schemas.openxmlformats.org/officeDocument/2006/relationships/image" Target="../media/image39.png"/><Relationship Id="rId2" Type="http://schemas.openxmlformats.org/officeDocument/2006/relationships/image" Target="../media/image38.png"/><Relationship Id="rId1" Type="http://schemas.openxmlformats.org/officeDocument/2006/relationships/slideLayout" Target="../slideLayouts/slideLayout2.xml"/></Relationships>
</file>

<file path=ppt/slides/_rels/slide8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2.xml.rels><?xml version="1.0" encoding="UTF-8" standalone="yes"?>
<Relationships xmlns="http://schemas.openxmlformats.org/package/2006/relationships"><Relationship Id="rId3" Type="http://schemas.openxmlformats.org/officeDocument/2006/relationships/image" Target="../media/image32.png"/><Relationship Id="rId2" Type="http://schemas.openxmlformats.org/officeDocument/2006/relationships/image" Target="../media/image31.png"/><Relationship Id="rId1" Type="http://schemas.openxmlformats.org/officeDocument/2006/relationships/slideLayout" Target="../slideLayouts/slideLayout2.xml"/></Relationships>
</file>

<file path=ppt/slides/_rels/slide9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5.xml.rels><?xml version="1.0" encoding="UTF-8" standalone="yes"?>
<Relationships xmlns="http://schemas.openxmlformats.org/package/2006/relationships"><Relationship Id="rId3" Type="http://schemas.openxmlformats.org/officeDocument/2006/relationships/image" Target="../media/image39.png"/><Relationship Id="rId2" Type="http://schemas.openxmlformats.org/officeDocument/2006/relationships/image" Target="../media/image38.png"/><Relationship Id="rId1" Type="http://schemas.openxmlformats.org/officeDocument/2006/relationships/slideLayout" Target="../slideLayouts/slideLayout2.xml"/></Relationships>
</file>

<file path=ppt/slides/_rels/slide9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9.xml.rels><?xml version="1.0" encoding="UTF-8" standalone="yes"?>
<Relationships xmlns="http://schemas.openxmlformats.org/package/2006/relationships"><Relationship Id="rId3" Type="http://schemas.openxmlformats.org/officeDocument/2006/relationships/image" Target="../media/image32.png"/><Relationship Id="rId2" Type="http://schemas.openxmlformats.org/officeDocument/2006/relationships/image" Target="../media/image33.png"/><Relationship Id="rId1" Type="http://schemas.openxmlformats.org/officeDocument/2006/relationships/slideLayout" Target="../slideLayouts/slideLayout2.xml"/></Relationships>
</file>

<file path=ppt/slides/_rels/slide10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0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0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0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0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0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06.xml.rels><?xml version="1.0" encoding="UTF-8" standalone="yes"?>
<Relationships xmlns="http://schemas.openxmlformats.org/package/2006/relationships"><Relationship Id="rId3" Type="http://schemas.openxmlformats.org/officeDocument/2006/relationships/image" Target="../media/image41.png"/><Relationship Id="rId2" Type="http://schemas.openxmlformats.org/officeDocument/2006/relationships/image" Target="../media/image20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42.png"/></Relationships>
</file>

<file path=ppt/slides/_rels/slide107.xml.rels><?xml version="1.0" encoding="UTF-8" standalone="yes"?>
<Relationships xmlns="http://schemas.openxmlformats.org/package/2006/relationships"><Relationship Id="rId2" Type="http://schemas.openxmlformats.org/officeDocument/2006/relationships/image" Target="../media/image38.png"/><Relationship Id="rId1" Type="http://schemas.openxmlformats.org/officeDocument/2006/relationships/slideLayout" Target="../slideLayouts/slideLayout2.xml"/></Relationships>
</file>

<file path=ppt/slides/_rels/slide10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0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44.png"/><Relationship Id="rId2" Type="http://schemas.openxmlformats.org/officeDocument/2006/relationships/image" Target="../media/image43.png"/><Relationship Id="rId1" Type="http://schemas.openxmlformats.org/officeDocument/2006/relationships/slideLayout" Target="../slideLayouts/slideLayout2.xml"/></Relationships>
</file>

<file path=ppt/slides/_rels/slide1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16.xml.rels><?xml version="1.0" encoding="UTF-8" standalone="yes"?>
<Relationships xmlns="http://schemas.openxmlformats.org/package/2006/relationships"><Relationship Id="rId2" Type="http://schemas.openxmlformats.org/officeDocument/2006/relationships/image" Target="../media/image20.png"/><Relationship Id="rId1" Type="http://schemas.openxmlformats.org/officeDocument/2006/relationships/slideLayout" Target="../slideLayouts/slideLayout2.xml"/></Relationships>
</file>

<file path=ppt/slides/_rels/slide117.xml.rels><?xml version="1.0" encoding="UTF-8" standalone="yes"?>
<Relationships xmlns="http://schemas.openxmlformats.org/package/2006/relationships"><Relationship Id="rId2" Type="http://schemas.openxmlformats.org/officeDocument/2006/relationships/image" Target="../media/image38.png"/><Relationship Id="rId1" Type="http://schemas.openxmlformats.org/officeDocument/2006/relationships/slideLayout" Target="../slideLayouts/slideLayout2.xml"/></Relationships>
</file>

<file path=ppt/slides/_rels/slide11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1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2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2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2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3.png"/><Relationship Id="rId1" Type="http://schemas.openxmlformats.org/officeDocument/2006/relationships/slideLayout" Target="../slideLayouts/slideLayout2.xml"/></Relationships>
</file>

<file path=ppt/slides/_rels/slide12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2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25.xml.rels><?xml version="1.0" encoding="UTF-8" standalone="yes"?>
<Relationships xmlns="http://schemas.openxmlformats.org/package/2006/relationships"><Relationship Id="rId3" Type="http://schemas.openxmlformats.org/officeDocument/2006/relationships/image" Target="../media/image46.png"/><Relationship Id="rId2" Type="http://schemas.openxmlformats.org/officeDocument/2006/relationships/image" Target="../media/image45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47.png"/></Relationships>
</file>

<file path=ppt/slides/_rels/slide12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2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2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2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30.xml.rels><?xml version="1.0" encoding="UTF-8" standalone="yes"?>
<Relationships xmlns="http://schemas.openxmlformats.org/package/2006/relationships"><Relationship Id="rId2" Type="http://schemas.openxmlformats.org/officeDocument/2006/relationships/image" Target="../media/image48.png"/><Relationship Id="rId1" Type="http://schemas.openxmlformats.org/officeDocument/2006/relationships/slideLayout" Target="../slideLayouts/slideLayout2.xml"/></Relationships>
</file>

<file path=ppt/slides/_rels/slide131.xml.rels><?xml version="1.0" encoding="UTF-8" standalone="yes"?>
<Relationships xmlns="http://schemas.openxmlformats.org/package/2006/relationships"><Relationship Id="rId3" Type="http://schemas.openxmlformats.org/officeDocument/2006/relationships/image" Target="../media/image50.png"/><Relationship Id="rId2" Type="http://schemas.openxmlformats.org/officeDocument/2006/relationships/image" Target="../media/image49.png"/><Relationship Id="rId1" Type="http://schemas.openxmlformats.org/officeDocument/2006/relationships/slideLayout" Target="../slideLayouts/slideLayout2.xml"/></Relationships>
</file>

<file path=ppt/slides/_rels/slide13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fr-FR" sz="6600" b="1" noProof="1">
                <a:solidFill>
                  <a:srgbClr val="0070C0"/>
                </a:solidFill>
              </a:rPr>
              <a:t>Déshydratation Aigue chez l’enfant</a:t>
            </a:r>
            <a:endParaRPr lang="fr-FR" sz="6600" b="1" dirty="0">
              <a:solidFill>
                <a:srgbClr val="0070C0"/>
              </a:solidFill>
            </a:endParaRPr>
          </a:p>
        </p:txBody>
      </p:sp>
      <p:sp>
        <p:nvSpPr>
          <p:cNvPr id="3" name="Sous-titre 2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rPr lang="fr-FR" dirty="0"/>
              <a:t>Pr Samia </a:t>
            </a:r>
            <a:r>
              <a:rPr lang="fr-FR" dirty="0" err="1"/>
              <a:t>Tilouche</a:t>
            </a:r>
            <a:endParaRPr lang="fr-FR" dirty="0"/>
          </a:p>
          <a:p>
            <a:r>
              <a:rPr lang="fr-FR" dirty="0"/>
              <a:t>Dr </a:t>
            </a:r>
            <a:r>
              <a:rPr lang="fr-FR" dirty="0" err="1"/>
              <a:t>Nesrine</a:t>
            </a:r>
            <a:r>
              <a:rPr lang="fr-FR" dirty="0"/>
              <a:t> </a:t>
            </a:r>
            <a:r>
              <a:rPr lang="fr-FR" dirty="0" err="1"/>
              <a:t>Jaballah</a:t>
            </a:r>
            <a:endParaRPr lang="fr-FR" dirty="0"/>
          </a:p>
        </p:txBody>
      </p:sp>
    </p:spTree>
    <p:extLst>
      <p:ext uri="{BB962C8B-B14F-4D97-AF65-F5344CB8AC3E}">
        <p14:creationId xmlns:p14="http://schemas.microsoft.com/office/powerpoint/2010/main" val="3732133431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66D4C19-E36D-6060-E5E7-3EE704B37EF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>
            <a:extLst>
              <a:ext uri="{FF2B5EF4-FFF2-40B4-BE49-F238E27FC236}">
                <a16:creationId xmlns:a16="http://schemas.microsoft.com/office/drawing/2014/main" id="{D4BF7AC0-CF21-A5A2-FEF5-D7CADA772AF0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fr-FR" dirty="0">
                <a:solidFill>
                  <a:srgbClr val="00B0F0"/>
                </a:solidFill>
              </a:rPr>
              <a:t>QCM</a:t>
            </a:r>
            <a:endParaRPr lang="fr-TN" dirty="0">
              <a:solidFill>
                <a:srgbClr val="00B0F0"/>
              </a:solidFill>
            </a:endParaRPr>
          </a:p>
        </p:txBody>
      </p:sp>
      <p:sp>
        <p:nvSpPr>
          <p:cNvPr id="3" name="Sous-titre 2">
            <a:extLst>
              <a:ext uri="{FF2B5EF4-FFF2-40B4-BE49-F238E27FC236}">
                <a16:creationId xmlns:a16="http://schemas.microsoft.com/office/drawing/2014/main" id="{B72E0013-727D-50F5-5289-E7A36052226F}"/>
              </a:ext>
            </a:extLst>
          </p:cNvPr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endParaRPr lang="fr-TN"/>
          </a:p>
        </p:txBody>
      </p:sp>
    </p:spTree>
    <p:extLst>
      <p:ext uri="{BB962C8B-B14F-4D97-AF65-F5344CB8AC3E}">
        <p14:creationId xmlns:p14="http://schemas.microsoft.com/office/powerpoint/2010/main" val="3822127294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>
          <a:xfrm>
            <a:off x="1680693" y="2669146"/>
            <a:ext cx="9601200" cy="1485900"/>
          </a:xfrm>
        </p:spPr>
        <p:txBody>
          <a:bodyPr>
            <a:normAutofit fontScale="90000"/>
          </a:bodyPr>
          <a:lstStyle/>
          <a:p>
            <a:r>
              <a:rPr lang="fr-FR" b="1" dirty="0">
                <a:solidFill>
                  <a:srgbClr val="0070C0"/>
                </a:solidFill>
              </a:rPr>
              <a:t>Objectif N° 1 : </a:t>
            </a:r>
            <a:br>
              <a:rPr lang="fr-FR" b="1" dirty="0">
                <a:solidFill>
                  <a:srgbClr val="0070C0"/>
                </a:solidFill>
              </a:rPr>
            </a:br>
            <a:br>
              <a:rPr lang="fr-FR" b="1" dirty="0">
                <a:solidFill>
                  <a:srgbClr val="0070C0"/>
                </a:solidFill>
              </a:rPr>
            </a:br>
            <a:r>
              <a:rPr lang="fr-FR" b="1" dirty="0">
                <a:solidFill>
                  <a:srgbClr val="0070C0"/>
                </a:solidFill>
              </a:rPr>
              <a:t>Définir la déshydratation aigue de l’enfant</a:t>
            </a:r>
            <a:endParaRPr lang="fr-FR" dirty="0">
              <a:solidFill>
                <a:srgbClr val="0070C0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853205659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lvl="0"/>
            <a:r>
              <a:rPr lang="fr-FR" dirty="0"/>
              <a:t>1-La déshydratation aigue :</a:t>
            </a:r>
          </a:p>
        </p:txBody>
      </p:sp>
      <p:sp>
        <p:nvSpPr>
          <p:cNvPr id="3" name="Espace réservé du contenu 2"/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pPr marL="342900" lvl="0" indent="-342900">
              <a:lnSpc>
                <a:spcPct val="107000"/>
              </a:lnSpc>
              <a:spcAft>
                <a:spcPts val="0"/>
              </a:spcAft>
              <a:buFont typeface="+mj-lt"/>
              <a:buAutoNum type="alphaUcPeriod"/>
            </a:pPr>
            <a:r>
              <a:rPr lang="fr-FR" sz="2800" dirty="0">
                <a:solidFill>
                  <a:schemeClr val="tx1"/>
                </a:solidFill>
                <a:latin typeface="Times New Roman" panose="02020603050405020304" pitchFamily="18" charset="0"/>
                <a:ea typeface="Calibri" panose="020F0502020204030204" pitchFamily="34" charset="0"/>
                <a:cs typeface="Arial" panose="020B0604020202020204" pitchFamily="34" charset="0"/>
              </a:rPr>
              <a:t>Est secondaire à un déficit chronique en électrolytes </a:t>
            </a:r>
            <a:endParaRPr lang="fr-FR" dirty="0">
              <a:solidFill>
                <a:schemeClr val="tx1"/>
              </a:solidFill>
              <a:latin typeface="Calibri" panose="020F0502020204030204" pitchFamily="34" charset="0"/>
              <a:ea typeface="Calibri" panose="020F0502020204030204" pitchFamily="34" charset="0"/>
              <a:cs typeface="Arial" panose="020B0604020202020204" pitchFamily="34" charset="0"/>
            </a:endParaRPr>
          </a:p>
          <a:p>
            <a:pPr marL="342900" lvl="0" indent="-342900">
              <a:lnSpc>
                <a:spcPct val="107000"/>
              </a:lnSpc>
              <a:spcAft>
                <a:spcPts val="0"/>
              </a:spcAft>
              <a:buFont typeface="+mj-lt"/>
              <a:buAutoNum type="alphaUcPeriod"/>
            </a:pPr>
            <a:r>
              <a:rPr lang="fr-FR" sz="2800" dirty="0">
                <a:solidFill>
                  <a:schemeClr val="tx1"/>
                </a:solidFill>
                <a:latin typeface="Times New Roman" panose="02020603050405020304" pitchFamily="18" charset="0"/>
                <a:ea typeface="Calibri" panose="020F0502020204030204" pitchFamily="34" charset="0"/>
                <a:cs typeface="Arial" panose="020B0604020202020204" pitchFamily="34" charset="0"/>
              </a:rPr>
              <a:t>Résulte d’un bilan positif entre les entrées et les sorties en eau</a:t>
            </a:r>
            <a:endParaRPr lang="fr-FR" dirty="0">
              <a:solidFill>
                <a:schemeClr val="tx1"/>
              </a:solidFill>
              <a:latin typeface="Calibri" panose="020F0502020204030204" pitchFamily="34" charset="0"/>
              <a:ea typeface="Calibri" panose="020F0502020204030204" pitchFamily="34" charset="0"/>
              <a:cs typeface="Arial" panose="020B0604020202020204" pitchFamily="34" charset="0"/>
            </a:endParaRPr>
          </a:p>
          <a:p>
            <a:pPr marL="342900" lvl="0" indent="-342900">
              <a:lnSpc>
                <a:spcPct val="107000"/>
              </a:lnSpc>
              <a:spcAft>
                <a:spcPts val="0"/>
              </a:spcAft>
              <a:buFont typeface="+mj-lt"/>
              <a:buAutoNum type="alphaUcPeriod"/>
            </a:pPr>
            <a:r>
              <a:rPr lang="fr-FR" sz="2800" dirty="0">
                <a:solidFill>
                  <a:schemeClr val="tx1"/>
                </a:solidFill>
                <a:latin typeface="Times New Roman" panose="02020603050405020304" pitchFamily="18" charset="0"/>
                <a:ea typeface="Calibri" panose="020F0502020204030204" pitchFamily="34" charset="0"/>
                <a:cs typeface="Arial" panose="020B0604020202020204" pitchFamily="34" charset="0"/>
              </a:rPr>
              <a:t> Touche surtout le nourrisson</a:t>
            </a:r>
            <a:endParaRPr lang="fr-FR" dirty="0">
              <a:solidFill>
                <a:schemeClr val="tx1"/>
              </a:solidFill>
              <a:latin typeface="Calibri" panose="020F0502020204030204" pitchFamily="34" charset="0"/>
              <a:ea typeface="Calibri" panose="020F0502020204030204" pitchFamily="34" charset="0"/>
              <a:cs typeface="Arial" panose="020B0604020202020204" pitchFamily="34" charset="0"/>
            </a:endParaRPr>
          </a:p>
          <a:p>
            <a:pPr marL="342900" lvl="0" indent="-342900">
              <a:lnSpc>
                <a:spcPct val="107000"/>
              </a:lnSpc>
              <a:spcAft>
                <a:spcPts val="0"/>
              </a:spcAft>
              <a:buFont typeface="+mj-lt"/>
              <a:buAutoNum type="alphaUcPeriod"/>
            </a:pPr>
            <a:r>
              <a:rPr lang="fr-FR" sz="2800" dirty="0">
                <a:solidFill>
                  <a:schemeClr val="tx1"/>
                </a:solidFill>
                <a:latin typeface="Times New Roman" panose="02020603050405020304" pitchFamily="18" charset="0"/>
                <a:ea typeface="Calibri" panose="020F0502020204030204" pitchFamily="34" charset="0"/>
                <a:cs typeface="Arial" panose="020B0604020202020204" pitchFamily="34" charset="0"/>
              </a:rPr>
              <a:t>Complique le plus souvent les  gastroentérites aigues </a:t>
            </a:r>
            <a:endParaRPr lang="fr-FR" dirty="0">
              <a:solidFill>
                <a:schemeClr val="tx1"/>
              </a:solidFill>
              <a:latin typeface="Calibri" panose="020F0502020204030204" pitchFamily="34" charset="0"/>
              <a:ea typeface="Calibri" panose="020F0502020204030204" pitchFamily="34" charset="0"/>
              <a:cs typeface="Arial" panose="020B0604020202020204" pitchFamily="34" charset="0"/>
            </a:endParaRPr>
          </a:p>
          <a:p>
            <a:pPr marL="342900" lvl="0" indent="-342900">
              <a:lnSpc>
                <a:spcPct val="107000"/>
              </a:lnSpc>
              <a:spcAft>
                <a:spcPts val="800"/>
              </a:spcAft>
              <a:buFont typeface="+mj-lt"/>
              <a:buAutoNum type="alphaUcPeriod"/>
            </a:pPr>
            <a:r>
              <a:rPr lang="fr-FR" sz="2800" dirty="0">
                <a:solidFill>
                  <a:schemeClr val="tx1"/>
                </a:solidFill>
                <a:latin typeface="Times New Roman" panose="02020603050405020304" pitchFamily="18" charset="0"/>
                <a:ea typeface="Calibri" panose="020F0502020204030204" pitchFamily="34" charset="0"/>
                <a:cs typeface="Arial" panose="020B0604020202020204" pitchFamily="34" charset="0"/>
              </a:rPr>
              <a:t>Représente une cause majeure de morbidité</a:t>
            </a:r>
            <a:endParaRPr lang="fr-FR" dirty="0">
              <a:solidFill>
                <a:schemeClr val="tx1"/>
              </a:solidFill>
              <a:effectLst/>
              <a:latin typeface="Calibri" panose="020F0502020204030204" pitchFamily="34" charset="0"/>
              <a:ea typeface="Calibri" panose="020F0502020204030204" pitchFamily="34" charset="0"/>
              <a:cs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717702869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Espace réservé du contenu 4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>
          <a:xfrm>
            <a:off x="1312326" y="110714"/>
            <a:ext cx="10484722" cy="6257889"/>
          </a:xfrm>
          <a:prstGeom prst="rect">
            <a:avLst/>
          </a:prstGeom>
        </p:spPr>
      </p:pic>
      <p:sp>
        <p:nvSpPr>
          <p:cNvPr id="3" name="Rectangle : coins arrondis 5"/>
          <p:cNvSpPr/>
          <p:nvPr/>
        </p:nvSpPr>
        <p:spPr>
          <a:xfrm>
            <a:off x="1788957" y="2717918"/>
            <a:ext cx="10328990" cy="1043479"/>
          </a:xfrm>
          <a:prstGeom prst="roundRect">
            <a:avLst/>
          </a:prstGeom>
          <a:noFill/>
          <a:ln>
            <a:solidFill>
              <a:srgbClr val="FF0000"/>
            </a:solidFill>
          </a:ln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anchor="ctr"/>
          <a:lstStyle/>
          <a:p>
            <a:pPr algn="ctr">
              <a:defRPr/>
            </a:pPr>
            <a:endParaRPr lang="x-none"/>
          </a:p>
        </p:txBody>
      </p:sp>
      <p:sp>
        <p:nvSpPr>
          <p:cNvPr id="4" name="Rectangle : coins arrondis 5"/>
          <p:cNvSpPr/>
          <p:nvPr/>
        </p:nvSpPr>
        <p:spPr>
          <a:xfrm>
            <a:off x="1502402" y="1970468"/>
            <a:ext cx="10328990" cy="473920"/>
          </a:xfrm>
          <a:prstGeom prst="roundRect">
            <a:avLst/>
          </a:prstGeom>
          <a:noFill/>
          <a:ln>
            <a:solidFill>
              <a:srgbClr val="FF0000"/>
            </a:solidFill>
          </a:ln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anchor="ctr"/>
          <a:lstStyle/>
          <a:p>
            <a:pPr algn="ctr">
              <a:defRPr/>
            </a:pPr>
            <a:endParaRPr lang="x-none"/>
          </a:p>
        </p:txBody>
      </p:sp>
    </p:spTree>
    <p:extLst>
      <p:ext uri="{BB962C8B-B14F-4D97-AF65-F5344CB8AC3E}">
        <p14:creationId xmlns:p14="http://schemas.microsoft.com/office/powerpoint/2010/main" val="4240265992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lvl="0"/>
            <a:r>
              <a:rPr lang="fr-FR"/>
              <a:t>La déshydratation aigue :</a:t>
            </a:r>
          </a:p>
        </p:txBody>
      </p:sp>
      <p:sp>
        <p:nvSpPr>
          <p:cNvPr id="3" name="Espace réservé du contenu 2"/>
          <p:cNvSpPr>
            <a:spLocks noGrp="1"/>
          </p:cNvSpPr>
          <p:nvPr>
            <p:ph idx="1"/>
          </p:nvPr>
        </p:nvSpPr>
        <p:spPr>
          <a:xfrm>
            <a:off x="1371600" y="2286000"/>
            <a:ext cx="10670146" cy="3581400"/>
          </a:xfrm>
        </p:spPr>
        <p:txBody>
          <a:bodyPr>
            <a:normAutofit/>
          </a:bodyPr>
          <a:lstStyle/>
          <a:p>
            <a:pPr marL="342900" lvl="0" indent="-342900">
              <a:lnSpc>
                <a:spcPct val="107000"/>
              </a:lnSpc>
              <a:spcAft>
                <a:spcPts val="0"/>
              </a:spcAft>
              <a:buFont typeface="+mj-lt"/>
              <a:buAutoNum type="alphaUcPeriod"/>
            </a:pPr>
            <a:r>
              <a:rPr lang="fr-FR" sz="2400" dirty="0">
                <a:solidFill>
                  <a:schemeClr val="tx1"/>
                </a:solidFill>
                <a:latin typeface="Times New Roman" panose="02020603050405020304" pitchFamily="18" charset="0"/>
                <a:ea typeface="Calibri" panose="020F0502020204030204" pitchFamily="34" charset="0"/>
                <a:cs typeface="Arial" panose="020B0604020202020204" pitchFamily="34" charset="0"/>
              </a:rPr>
              <a:t>Est secondaire à un déficit chronique en électrolytes : </a:t>
            </a:r>
            <a:r>
              <a:rPr lang="fr-FR" sz="2400" dirty="0">
                <a:solidFill>
                  <a:srgbClr val="FF0000"/>
                </a:solidFill>
                <a:latin typeface="Times New Roman" panose="02020603050405020304" pitchFamily="18" charset="0"/>
                <a:ea typeface="Calibri" panose="020F0502020204030204" pitchFamily="34" charset="0"/>
                <a:cs typeface="Arial" panose="020B0604020202020204" pitchFamily="34" charset="0"/>
              </a:rPr>
              <a:t>Aigue</a:t>
            </a:r>
            <a:endParaRPr lang="fr-FR" sz="1800" dirty="0">
              <a:solidFill>
                <a:srgbClr val="FF0000"/>
              </a:solidFill>
              <a:latin typeface="Calibri" panose="020F0502020204030204" pitchFamily="34" charset="0"/>
              <a:ea typeface="Calibri" panose="020F0502020204030204" pitchFamily="34" charset="0"/>
              <a:cs typeface="Arial" panose="020B0604020202020204" pitchFamily="34" charset="0"/>
            </a:endParaRPr>
          </a:p>
          <a:p>
            <a:pPr marL="342900" lvl="0" indent="-342900">
              <a:lnSpc>
                <a:spcPct val="107000"/>
              </a:lnSpc>
              <a:spcAft>
                <a:spcPts val="0"/>
              </a:spcAft>
              <a:buFont typeface="+mj-lt"/>
              <a:buAutoNum type="alphaUcPeriod"/>
            </a:pPr>
            <a:r>
              <a:rPr lang="fr-FR" sz="2400" dirty="0">
                <a:solidFill>
                  <a:schemeClr val="tx1"/>
                </a:solidFill>
                <a:latin typeface="Times New Roman" panose="02020603050405020304" pitchFamily="18" charset="0"/>
                <a:ea typeface="Calibri" panose="020F0502020204030204" pitchFamily="34" charset="0"/>
                <a:cs typeface="Arial" panose="020B0604020202020204" pitchFamily="34" charset="0"/>
              </a:rPr>
              <a:t>Résulte d’un bilan positif entre les entrées et les sorties en eau: </a:t>
            </a:r>
            <a:r>
              <a:rPr lang="fr-FR" sz="2400" dirty="0">
                <a:solidFill>
                  <a:srgbClr val="FF0000"/>
                </a:solidFill>
                <a:latin typeface="Times New Roman" panose="02020603050405020304" pitchFamily="18" charset="0"/>
                <a:ea typeface="Calibri" panose="020F0502020204030204" pitchFamily="34" charset="0"/>
                <a:cs typeface="Arial" panose="020B0604020202020204" pitchFamily="34" charset="0"/>
              </a:rPr>
              <a:t>Négatif  E&lt;S</a:t>
            </a:r>
            <a:endParaRPr lang="fr-FR" sz="1800" dirty="0">
              <a:solidFill>
                <a:srgbClr val="FF0000"/>
              </a:solidFill>
              <a:latin typeface="Calibri" panose="020F0502020204030204" pitchFamily="34" charset="0"/>
              <a:ea typeface="Calibri" panose="020F0502020204030204" pitchFamily="34" charset="0"/>
              <a:cs typeface="Arial" panose="020B0604020202020204" pitchFamily="34" charset="0"/>
            </a:endParaRPr>
          </a:p>
          <a:p>
            <a:pPr marL="342900" lvl="0" indent="-342900">
              <a:lnSpc>
                <a:spcPct val="107000"/>
              </a:lnSpc>
              <a:spcAft>
                <a:spcPts val="0"/>
              </a:spcAft>
              <a:buFont typeface="+mj-lt"/>
              <a:buAutoNum type="alphaUcPeriod"/>
            </a:pPr>
            <a:r>
              <a:rPr lang="fr-FR" sz="2400" dirty="0">
                <a:solidFill>
                  <a:srgbClr val="FF0000"/>
                </a:solidFill>
                <a:latin typeface="Times New Roman" panose="02020603050405020304" pitchFamily="18" charset="0"/>
                <a:ea typeface="Calibri" panose="020F0502020204030204" pitchFamily="34" charset="0"/>
                <a:cs typeface="Arial" panose="020B0604020202020204" pitchFamily="34" charset="0"/>
              </a:rPr>
              <a:t> Touche surtout le nourrisson</a:t>
            </a:r>
            <a:endParaRPr lang="fr-FR" sz="1800" dirty="0">
              <a:solidFill>
                <a:srgbClr val="FF0000"/>
              </a:solidFill>
              <a:latin typeface="Calibri" panose="020F0502020204030204" pitchFamily="34" charset="0"/>
              <a:ea typeface="Calibri" panose="020F0502020204030204" pitchFamily="34" charset="0"/>
              <a:cs typeface="Arial" panose="020B0604020202020204" pitchFamily="34" charset="0"/>
            </a:endParaRPr>
          </a:p>
          <a:p>
            <a:pPr marL="342900" lvl="0" indent="-342900">
              <a:lnSpc>
                <a:spcPct val="107000"/>
              </a:lnSpc>
              <a:spcAft>
                <a:spcPts val="0"/>
              </a:spcAft>
              <a:buFont typeface="+mj-lt"/>
              <a:buAutoNum type="alphaUcPeriod"/>
            </a:pPr>
            <a:r>
              <a:rPr lang="fr-FR" sz="2400" dirty="0">
                <a:solidFill>
                  <a:srgbClr val="FF0000"/>
                </a:solidFill>
                <a:latin typeface="Times New Roman" panose="02020603050405020304" pitchFamily="18" charset="0"/>
                <a:ea typeface="Calibri" panose="020F0502020204030204" pitchFamily="34" charset="0"/>
                <a:cs typeface="Arial" panose="020B0604020202020204" pitchFamily="34" charset="0"/>
              </a:rPr>
              <a:t>Complique le plus souvent les  gastroentérites aigues </a:t>
            </a:r>
            <a:endParaRPr lang="fr-FR" sz="1800" dirty="0">
              <a:solidFill>
                <a:srgbClr val="FF0000"/>
              </a:solidFill>
              <a:latin typeface="Calibri" panose="020F0502020204030204" pitchFamily="34" charset="0"/>
              <a:ea typeface="Calibri" panose="020F0502020204030204" pitchFamily="34" charset="0"/>
              <a:cs typeface="Arial" panose="020B0604020202020204" pitchFamily="34" charset="0"/>
            </a:endParaRPr>
          </a:p>
          <a:p>
            <a:pPr marL="342900" lvl="0" indent="-342900">
              <a:lnSpc>
                <a:spcPct val="107000"/>
              </a:lnSpc>
              <a:spcAft>
                <a:spcPts val="800"/>
              </a:spcAft>
              <a:buFont typeface="+mj-lt"/>
              <a:buAutoNum type="alphaUcPeriod"/>
            </a:pPr>
            <a:r>
              <a:rPr lang="fr-FR" sz="2400" dirty="0">
                <a:solidFill>
                  <a:srgbClr val="FF0000"/>
                </a:solidFill>
                <a:latin typeface="Times New Roman" panose="02020603050405020304" pitchFamily="18" charset="0"/>
                <a:ea typeface="Calibri" panose="020F0502020204030204" pitchFamily="34" charset="0"/>
                <a:cs typeface="Arial" panose="020B0604020202020204" pitchFamily="34" charset="0"/>
              </a:rPr>
              <a:t>Représente une cause majeure de morbidité</a:t>
            </a:r>
            <a:endParaRPr lang="fr-FR" sz="1800" dirty="0">
              <a:solidFill>
                <a:srgbClr val="FF0000"/>
              </a:solidFill>
              <a:effectLst/>
              <a:latin typeface="Calibri" panose="020F0502020204030204" pitchFamily="34" charset="0"/>
              <a:ea typeface="Calibri" panose="020F0502020204030204" pitchFamily="34" charset="0"/>
              <a:cs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976372799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>
          <a:xfrm>
            <a:off x="1628485" y="1943100"/>
            <a:ext cx="9601200" cy="1485900"/>
          </a:xfrm>
        </p:spPr>
        <p:txBody>
          <a:bodyPr>
            <a:normAutofit fontScale="90000"/>
          </a:bodyPr>
          <a:lstStyle/>
          <a:p>
            <a:r>
              <a:rPr lang="fr-FR" b="1" dirty="0">
                <a:solidFill>
                  <a:srgbClr val="0070C0"/>
                </a:solidFill>
              </a:rPr>
              <a:t>Objectif N° 4 : </a:t>
            </a:r>
            <a:br>
              <a:rPr lang="fr-FR" b="1" dirty="0">
                <a:solidFill>
                  <a:srgbClr val="0070C0"/>
                </a:solidFill>
              </a:rPr>
            </a:br>
            <a:br>
              <a:rPr lang="fr-FR" b="1" dirty="0">
                <a:solidFill>
                  <a:srgbClr val="0070C0"/>
                </a:solidFill>
              </a:rPr>
            </a:br>
            <a:r>
              <a:rPr lang="fr-FR" b="1" dirty="0">
                <a:solidFill>
                  <a:srgbClr val="0070C0"/>
                </a:solidFill>
              </a:rPr>
              <a:t>Etablir le diagnostic positif d’une déshydratation en se basant sur les données de l’anamnèse et de l’examen physique.</a:t>
            </a:r>
            <a:endParaRPr lang="fr-FR" dirty="0">
              <a:solidFill>
                <a:srgbClr val="0070C0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1824477589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pPr marL="342900" lvl="0" indent="-342900">
              <a:lnSpc>
                <a:spcPct val="107000"/>
              </a:lnSpc>
              <a:spcAft>
                <a:spcPts val="0"/>
              </a:spcAft>
            </a:pPr>
            <a:r>
              <a:rPr lang="fr-FR" dirty="0">
                <a:solidFill>
                  <a:schemeClr val="tx1"/>
                </a:solidFill>
                <a:latin typeface="Times New Roman" panose="02020603050405020304" pitchFamily="18" charset="0"/>
                <a:ea typeface="Calibri" panose="020F0502020204030204" pitchFamily="34" charset="0"/>
                <a:cs typeface="Arial" panose="020B0604020202020204" pitchFamily="34" charset="0"/>
              </a:rPr>
              <a:t>2-Concernant la déshydratation du nourrisson :</a:t>
            </a:r>
            <a:endParaRPr lang="fr-FR" sz="3600" dirty="0">
              <a:solidFill>
                <a:schemeClr val="tx1"/>
              </a:solidFill>
              <a:latin typeface="Calibri" panose="020F0502020204030204" pitchFamily="34" charset="0"/>
              <a:ea typeface="Calibri" panose="020F0502020204030204" pitchFamily="34" charset="0"/>
              <a:cs typeface="Arial" panose="020B0604020202020204" pitchFamily="34" charset="0"/>
            </a:endParaRPr>
          </a:p>
        </p:txBody>
      </p:sp>
      <p:sp>
        <p:nvSpPr>
          <p:cNvPr id="3" name="Espace réservé du contenu 2"/>
          <p:cNvSpPr>
            <a:spLocks noGrp="1"/>
          </p:cNvSpPr>
          <p:nvPr>
            <p:ph idx="1"/>
          </p:nvPr>
        </p:nvSpPr>
        <p:spPr>
          <a:xfrm>
            <a:off x="1873876" y="2607972"/>
            <a:ext cx="9601200" cy="3581400"/>
          </a:xfrm>
        </p:spPr>
        <p:txBody>
          <a:bodyPr>
            <a:normAutofit/>
          </a:bodyPr>
          <a:lstStyle/>
          <a:p>
            <a:pPr marL="342900" lvl="0" indent="-342900">
              <a:lnSpc>
                <a:spcPct val="107000"/>
              </a:lnSpc>
              <a:spcAft>
                <a:spcPts val="0"/>
              </a:spcAft>
              <a:buFont typeface="+mj-lt"/>
              <a:buAutoNum type="alphaUcPeriod"/>
            </a:pPr>
            <a:r>
              <a:rPr lang="fr-FR" sz="2400" dirty="0">
                <a:solidFill>
                  <a:schemeClr val="tx1"/>
                </a:solidFill>
                <a:latin typeface="Times New Roman" panose="02020603050405020304" pitchFamily="18" charset="0"/>
                <a:ea typeface="Calibri" panose="020F0502020204030204" pitchFamily="34" charset="0"/>
                <a:cs typeface="Arial" panose="020B0604020202020204" pitchFamily="34" charset="0"/>
              </a:rPr>
              <a:t>Le   diagnostic positif   se base sur des éléments cliniques et biologiques</a:t>
            </a:r>
            <a:endParaRPr lang="fr-FR" sz="1800" dirty="0">
              <a:solidFill>
                <a:schemeClr val="tx1"/>
              </a:solidFill>
              <a:latin typeface="Calibri" panose="020F0502020204030204" pitchFamily="34" charset="0"/>
              <a:ea typeface="Calibri" panose="020F0502020204030204" pitchFamily="34" charset="0"/>
              <a:cs typeface="Arial" panose="020B0604020202020204" pitchFamily="34" charset="0"/>
            </a:endParaRPr>
          </a:p>
          <a:p>
            <a:pPr marL="342900" lvl="0" indent="-342900">
              <a:lnSpc>
                <a:spcPct val="107000"/>
              </a:lnSpc>
              <a:spcAft>
                <a:spcPts val="0"/>
              </a:spcAft>
              <a:buFont typeface="+mj-lt"/>
              <a:buAutoNum type="alphaUcPeriod"/>
            </a:pPr>
            <a:r>
              <a:rPr lang="fr-FR" sz="2400" dirty="0">
                <a:solidFill>
                  <a:schemeClr val="tx1"/>
                </a:solidFill>
                <a:latin typeface="Times New Roman" panose="02020603050405020304" pitchFamily="18" charset="0"/>
                <a:ea typeface="Calibri" panose="020F0502020204030204" pitchFamily="34" charset="0"/>
                <a:cs typeface="Arial" panose="020B0604020202020204" pitchFamily="34" charset="0"/>
              </a:rPr>
              <a:t>Elle est sous-estimée chez un enfant </a:t>
            </a:r>
            <a:r>
              <a:rPr lang="fr-FR" sz="2400" dirty="0" err="1">
                <a:solidFill>
                  <a:schemeClr val="tx1"/>
                </a:solidFill>
                <a:latin typeface="Times New Roman" panose="02020603050405020304" pitchFamily="18" charset="0"/>
                <a:ea typeface="Calibri" panose="020F0502020204030204" pitchFamily="34" charset="0"/>
                <a:cs typeface="Arial" panose="020B0604020202020204" pitchFamily="34" charset="0"/>
              </a:rPr>
              <a:t>hypotrophe</a:t>
            </a:r>
            <a:endParaRPr lang="fr-FR" sz="1800" dirty="0">
              <a:solidFill>
                <a:schemeClr val="tx1"/>
              </a:solidFill>
              <a:latin typeface="Calibri" panose="020F0502020204030204" pitchFamily="34" charset="0"/>
              <a:ea typeface="Calibri" panose="020F0502020204030204" pitchFamily="34" charset="0"/>
              <a:cs typeface="Arial" panose="020B0604020202020204" pitchFamily="34" charset="0"/>
            </a:endParaRPr>
          </a:p>
          <a:p>
            <a:pPr marL="342900" lvl="0" indent="-342900">
              <a:lnSpc>
                <a:spcPct val="107000"/>
              </a:lnSpc>
              <a:spcAft>
                <a:spcPts val="0"/>
              </a:spcAft>
              <a:buFont typeface="+mj-lt"/>
              <a:buAutoNum type="alphaUcPeriod"/>
            </a:pPr>
            <a:r>
              <a:rPr lang="fr-FR" sz="2400" dirty="0">
                <a:solidFill>
                  <a:schemeClr val="tx1"/>
                </a:solidFill>
                <a:latin typeface="Times New Roman" panose="02020603050405020304" pitchFamily="18" charset="0"/>
                <a:ea typeface="Calibri" panose="020F0502020204030204" pitchFamily="34" charset="0"/>
                <a:cs typeface="Arial" panose="020B0604020202020204" pitchFamily="34" charset="0"/>
              </a:rPr>
              <a:t>La perte de poids récente est un signe objectif du diagnostic </a:t>
            </a:r>
            <a:endParaRPr lang="fr-FR" sz="1800" dirty="0">
              <a:solidFill>
                <a:schemeClr val="tx1"/>
              </a:solidFill>
              <a:latin typeface="Calibri" panose="020F0502020204030204" pitchFamily="34" charset="0"/>
              <a:ea typeface="Calibri" panose="020F0502020204030204" pitchFamily="34" charset="0"/>
              <a:cs typeface="Arial" panose="020B0604020202020204" pitchFamily="34" charset="0"/>
            </a:endParaRPr>
          </a:p>
          <a:p>
            <a:pPr marL="342900" lvl="0" indent="-342900">
              <a:lnSpc>
                <a:spcPct val="107000"/>
              </a:lnSpc>
              <a:spcAft>
                <a:spcPts val="0"/>
              </a:spcAft>
              <a:buFont typeface="+mj-lt"/>
              <a:buAutoNum type="alphaUcPeriod"/>
            </a:pPr>
            <a:r>
              <a:rPr lang="fr-FR" sz="2400" dirty="0">
                <a:solidFill>
                  <a:schemeClr val="tx1"/>
                </a:solidFill>
                <a:latin typeface="Times New Roman" panose="02020603050405020304" pitchFamily="18" charset="0"/>
                <a:ea typeface="Calibri" panose="020F0502020204030204" pitchFamily="34" charset="0"/>
                <a:cs typeface="Arial" panose="020B0604020202020204" pitchFamily="34" charset="0"/>
              </a:rPr>
              <a:t>Elle peut se compliquer de troubles </a:t>
            </a:r>
            <a:r>
              <a:rPr lang="fr-FR" sz="2400" dirty="0" err="1">
                <a:solidFill>
                  <a:schemeClr val="tx1"/>
                </a:solidFill>
                <a:latin typeface="Times New Roman" panose="02020603050405020304" pitchFamily="18" charset="0"/>
                <a:ea typeface="Calibri" panose="020F0502020204030204" pitchFamily="34" charset="0"/>
                <a:cs typeface="Arial" panose="020B0604020202020204" pitchFamily="34" charset="0"/>
              </a:rPr>
              <a:t>hydroéléctrolytiques</a:t>
            </a:r>
            <a:endParaRPr lang="fr-FR" sz="1800" dirty="0">
              <a:solidFill>
                <a:schemeClr val="tx1"/>
              </a:solidFill>
              <a:latin typeface="Calibri" panose="020F0502020204030204" pitchFamily="34" charset="0"/>
              <a:ea typeface="Calibri" panose="020F0502020204030204" pitchFamily="34" charset="0"/>
              <a:cs typeface="Arial" panose="020B0604020202020204" pitchFamily="34" charset="0"/>
            </a:endParaRPr>
          </a:p>
          <a:p>
            <a:pPr marL="342900" lvl="0" indent="-342900">
              <a:lnSpc>
                <a:spcPct val="107000"/>
              </a:lnSpc>
              <a:spcAft>
                <a:spcPts val="800"/>
              </a:spcAft>
              <a:buFont typeface="+mj-lt"/>
              <a:buAutoNum type="alphaUcPeriod"/>
            </a:pPr>
            <a:r>
              <a:rPr lang="fr-FR" sz="2400" dirty="0">
                <a:solidFill>
                  <a:schemeClr val="tx1"/>
                </a:solidFill>
                <a:latin typeface="Times New Roman" panose="02020603050405020304" pitchFamily="18" charset="0"/>
                <a:ea typeface="Calibri" panose="020F0502020204030204" pitchFamily="34" charset="0"/>
                <a:cs typeface="Arial" panose="020B0604020202020204" pitchFamily="34" charset="0"/>
              </a:rPr>
              <a:t>Les manifestations neurologiques peuvent être un signe de gravité</a:t>
            </a:r>
            <a:endParaRPr lang="fr-FR" sz="1800" dirty="0">
              <a:solidFill>
                <a:schemeClr val="tx1"/>
              </a:solidFill>
              <a:effectLst/>
              <a:latin typeface="Calibri" panose="020F0502020204030204" pitchFamily="34" charset="0"/>
              <a:ea typeface="Calibri" panose="020F0502020204030204" pitchFamily="34" charset="0"/>
              <a:cs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907164475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Espace réservé du contenu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fr-FR"/>
          </a:p>
        </p:txBody>
      </p:sp>
      <p:pic>
        <p:nvPicPr>
          <p:cNvPr id="4" name="Espace réservé du contenu 4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>
          <a:xfrm>
            <a:off x="982299" y="1751527"/>
            <a:ext cx="11241774" cy="3786387"/>
          </a:xfrm>
          <a:prstGeom prst="rect">
            <a:avLst/>
          </a:prstGeom>
        </p:spPr>
      </p:pic>
      <p:sp>
        <p:nvSpPr>
          <p:cNvPr id="5" name="Rectangle : coins arrondis 5"/>
          <p:cNvSpPr/>
          <p:nvPr/>
        </p:nvSpPr>
        <p:spPr>
          <a:xfrm>
            <a:off x="1738514" y="4610346"/>
            <a:ext cx="10328990" cy="1043479"/>
          </a:xfrm>
          <a:prstGeom prst="roundRect">
            <a:avLst/>
          </a:prstGeom>
          <a:noFill/>
          <a:ln>
            <a:solidFill>
              <a:srgbClr val="FF0000"/>
            </a:solidFill>
          </a:ln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anchor="ctr"/>
          <a:lstStyle/>
          <a:p>
            <a:pPr algn="ctr">
              <a:defRPr/>
            </a:pPr>
            <a:endParaRPr lang="x-none"/>
          </a:p>
        </p:txBody>
      </p:sp>
    </p:spTree>
    <p:extLst>
      <p:ext uri="{BB962C8B-B14F-4D97-AF65-F5344CB8AC3E}">
        <p14:creationId xmlns:p14="http://schemas.microsoft.com/office/powerpoint/2010/main" val="3826483325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pPr marL="342900" lvl="0" indent="-342900">
              <a:lnSpc>
                <a:spcPct val="107000"/>
              </a:lnSpc>
              <a:spcAft>
                <a:spcPts val="0"/>
              </a:spcAft>
            </a:pPr>
            <a:r>
              <a:rPr lang="fr-FR" dirty="0">
                <a:solidFill>
                  <a:schemeClr val="tx1"/>
                </a:solidFill>
                <a:latin typeface="Times New Roman" panose="02020603050405020304" pitchFamily="18" charset="0"/>
                <a:ea typeface="Calibri" panose="020F0502020204030204" pitchFamily="34" charset="0"/>
                <a:cs typeface="Arial" panose="020B0604020202020204" pitchFamily="34" charset="0"/>
              </a:rPr>
              <a:t>2-Concernant la déshydratation du nourrisson :</a:t>
            </a:r>
            <a:endParaRPr lang="fr-FR" sz="3600" dirty="0">
              <a:solidFill>
                <a:schemeClr val="tx1"/>
              </a:solidFill>
              <a:latin typeface="Calibri" panose="020F0502020204030204" pitchFamily="34" charset="0"/>
              <a:ea typeface="Calibri" panose="020F0502020204030204" pitchFamily="34" charset="0"/>
              <a:cs typeface="Arial" panose="020B0604020202020204" pitchFamily="34" charset="0"/>
            </a:endParaRPr>
          </a:p>
        </p:txBody>
      </p:sp>
      <p:sp>
        <p:nvSpPr>
          <p:cNvPr id="3" name="Espace réservé du contenu 2"/>
          <p:cNvSpPr>
            <a:spLocks noGrp="1"/>
          </p:cNvSpPr>
          <p:nvPr>
            <p:ph idx="1"/>
          </p:nvPr>
        </p:nvSpPr>
        <p:spPr>
          <a:xfrm>
            <a:off x="1371600" y="2620850"/>
            <a:ext cx="10631510" cy="3581400"/>
          </a:xfrm>
        </p:spPr>
        <p:txBody>
          <a:bodyPr>
            <a:normAutofit/>
          </a:bodyPr>
          <a:lstStyle/>
          <a:p>
            <a:pPr marL="342900" lvl="0" indent="-342900">
              <a:lnSpc>
                <a:spcPct val="107000"/>
              </a:lnSpc>
              <a:spcAft>
                <a:spcPts val="0"/>
              </a:spcAft>
              <a:buFont typeface="+mj-lt"/>
              <a:buAutoNum type="alphaUcPeriod"/>
            </a:pPr>
            <a:r>
              <a:rPr lang="fr-FR" sz="2400" dirty="0">
                <a:solidFill>
                  <a:schemeClr val="tx1"/>
                </a:solidFill>
                <a:latin typeface="Times New Roman" panose="02020603050405020304" pitchFamily="18" charset="0"/>
                <a:ea typeface="Calibri" panose="020F0502020204030204" pitchFamily="34" charset="0"/>
                <a:cs typeface="Arial" panose="020B0604020202020204" pitchFamily="34" charset="0"/>
              </a:rPr>
              <a:t>Le   diagnostic positif   se base sur des éléments cliniques et biologiques: </a:t>
            </a:r>
            <a:r>
              <a:rPr lang="fr-FR" sz="2400" dirty="0">
                <a:solidFill>
                  <a:srgbClr val="FF0000"/>
                </a:solidFill>
                <a:latin typeface="Times New Roman" panose="02020603050405020304" pitchFamily="18" charset="0"/>
                <a:ea typeface="Calibri" panose="020F0502020204030204" pitchFamily="34" charset="0"/>
                <a:cs typeface="Arial" panose="020B0604020202020204" pitchFamily="34" charset="0"/>
              </a:rPr>
              <a:t>Clinique</a:t>
            </a:r>
            <a:endParaRPr lang="fr-FR" sz="1800" dirty="0">
              <a:solidFill>
                <a:srgbClr val="FF0000"/>
              </a:solidFill>
              <a:latin typeface="Calibri" panose="020F0502020204030204" pitchFamily="34" charset="0"/>
              <a:ea typeface="Calibri" panose="020F0502020204030204" pitchFamily="34" charset="0"/>
              <a:cs typeface="Arial" panose="020B0604020202020204" pitchFamily="34" charset="0"/>
            </a:endParaRPr>
          </a:p>
          <a:p>
            <a:pPr marL="342900" lvl="0" indent="-342900">
              <a:lnSpc>
                <a:spcPct val="107000"/>
              </a:lnSpc>
              <a:spcAft>
                <a:spcPts val="0"/>
              </a:spcAft>
              <a:buFont typeface="+mj-lt"/>
              <a:buAutoNum type="alphaUcPeriod"/>
            </a:pPr>
            <a:r>
              <a:rPr lang="fr-FR" sz="2400" dirty="0">
                <a:solidFill>
                  <a:schemeClr val="tx1"/>
                </a:solidFill>
                <a:latin typeface="Times New Roman" panose="02020603050405020304" pitchFamily="18" charset="0"/>
                <a:ea typeface="Calibri" panose="020F0502020204030204" pitchFamily="34" charset="0"/>
                <a:cs typeface="Arial" panose="020B0604020202020204" pitchFamily="34" charset="0"/>
              </a:rPr>
              <a:t>Elle est sous-estimée chez un enfant </a:t>
            </a:r>
            <a:r>
              <a:rPr lang="fr-FR" sz="2400" dirty="0" err="1">
                <a:solidFill>
                  <a:schemeClr val="tx1"/>
                </a:solidFill>
                <a:latin typeface="Times New Roman" panose="02020603050405020304" pitchFamily="18" charset="0"/>
                <a:ea typeface="Calibri" panose="020F0502020204030204" pitchFamily="34" charset="0"/>
                <a:cs typeface="Arial" panose="020B0604020202020204" pitchFamily="34" charset="0"/>
              </a:rPr>
              <a:t>hypotrophe</a:t>
            </a:r>
            <a:r>
              <a:rPr lang="fr-FR" sz="2400" dirty="0">
                <a:solidFill>
                  <a:schemeClr val="tx1"/>
                </a:solidFill>
                <a:latin typeface="Times New Roman" panose="02020603050405020304" pitchFamily="18" charset="0"/>
                <a:ea typeface="Calibri" panose="020F0502020204030204" pitchFamily="34" charset="0"/>
                <a:cs typeface="Arial" panose="020B0604020202020204" pitchFamily="34" charset="0"/>
              </a:rPr>
              <a:t>: </a:t>
            </a:r>
            <a:r>
              <a:rPr lang="fr-FR" sz="2400" dirty="0" err="1">
                <a:solidFill>
                  <a:srgbClr val="FF0000"/>
                </a:solidFill>
                <a:latin typeface="Times New Roman" panose="02020603050405020304" pitchFamily="18" charset="0"/>
                <a:ea typeface="Calibri" panose="020F0502020204030204" pitchFamily="34" charset="0"/>
                <a:cs typeface="Arial" panose="020B0604020202020204" pitchFamily="34" charset="0"/>
              </a:rPr>
              <a:t>Sur-estimé</a:t>
            </a:r>
            <a:endParaRPr lang="fr-FR" sz="1800" dirty="0">
              <a:solidFill>
                <a:srgbClr val="FF0000"/>
              </a:solidFill>
              <a:latin typeface="Calibri" panose="020F0502020204030204" pitchFamily="34" charset="0"/>
              <a:ea typeface="Calibri" panose="020F0502020204030204" pitchFamily="34" charset="0"/>
              <a:cs typeface="Arial" panose="020B0604020202020204" pitchFamily="34" charset="0"/>
            </a:endParaRPr>
          </a:p>
          <a:p>
            <a:pPr marL="342900" lvl="0" indent="-342900">
              <a:lnSpc>
                <a:spcPct val="107000"/>
              </a:lnSpc>
              <a:spcAft>
                <a:spcPts val="0"/>
              </a:spcAft>
              <a:buFont typeface="+mj-lt"/>
              <a:buAutoNum type="alphaUcPeriod"/>
            </a:pPr>
            <a:r>
              <a:rPr lang="fr-FR" sz="2400" dirty="0">
                <a:solidFill>
                  <a:srgbClr val="FF0000"/>
                </a:solidFill>
                <a:latin typeface="Times New Roman" panose="02020603050405020304" pitchFamily="18" charset="0"/>
                <a:ea typeface="Calibri" panose="020F0502020204030204" pitchFamily="34" charset="0"/>
                <a:cs typeface="Arial" panose="020B0604020202020204" pitchFamily="34" charset="0"/>
              </a:rPr>
              <a:t>La perte de poids récente est un signe objectif du diagnostic </a:t>
            </a:r>
            <a:endParaRPr lang="fr-FR" sz="1800" dirty="0">
              <a:solidFill>
                <a:srgbClr val="FF0000"/>
              </a:solidFill>
              <a:latin typeface="Calibri" panose="020F0502020204030204" pitchFamily="34" charset="0"/>
              <a:ea typeface="Calibri" panose="020F0502020204030204" pitchFamily="34" charset="0"/>
              <a:cs typeface="Arial" panose="020B0604020202020204" pitchFamily="34" charset="0"/>
            </a:endParaRPr>
          </a:p>
          <a:p>
            <a:pPr marL="342900" lvl="0" indent="-342900">
              <a:lnSpc>
                <a:spcPct val="107000"/>
              </a:lnSpc>
              <a:spcAft>
                <a:spcPts val="0"/>
              </a:spcAft>
              <a:buFont typeface="+mj-lt"/>
              <a:buAutoNum type="alphaUcPeriod"/>
            </a:pPr>
            <a:r>
              <a:rPr lang="fr-FR" sz="2400" dirty="0">
                <a:solidFill>
                  <a:srgbClr val="FF0000"/>
                </a:solidFill>
                <a:latin typeface="Times New Roman" panose="02020603050405020304" pitchFamily="18" charset="0"/>
                <a:ea typeface="Calibri" panose="020F0502020204030204" pitchFamily="34" charset="0"/>
                <a:cs typeface="Arial" panose="020B0604020202020204" pitchFamily="34" charset="0"/>
              </a:rPr>
              <a:t>Elle peut se compliquer de troubles </a:t>
            </a:r>
            <a:r>
              <a:rPr lang="fr-FR" sz="2400" dirty="0" err="1">
                <a:solidFill>
                  <a:srgbClr val="FF0000"/>
                </a:solidFill>
                <a:latin typeface="Times New Roman" panose="02020603050405020304" pitchFamily="18" charset="0"/>
                <a:ea typeface="Calibri" panose="020F0502020204030204" pitchFamily="34" charset="0"/>
                <a:cs typeface="Arial" panose="020B0604020202020204" pitchFamily="34" charset="0"/>
              </a:rPr>
              <a:t>hydroéléctrolytiques</a:t>
            </a:r>
            <a:endParaRPr lang="fr-FR" sz="1800" dirty="0">
              <a:solidFill>
                <a:srgbClr val="FF0000"/>
              </a:solidFill>
              <a:latin typeface="Calibri" panose="020F0502020204030204" pitchFamily="34" charset="0"/>
              <a:ea typeface="Calibri" panose="020F0502020204030204" pitchFamily="34" charset="0"/>
              <a:cs typeface="Arial" panose="020B0604020202020204" pitchFamily="34" charset="0"/>
            </a:endParaRPr>
          </a:p>
          <a:p>
            <a:pPr marL="342900" lvl="0" indent="-342900">
              <a:lnSpc>
                <a:spcPct val="107000"/>
              </a:lnSpc>
              <a:spcAft>
                <a:spcPts val="800"/>
              </a:spcAft>
              <a:buFont typeface="+mj-lt"/>
              <a:buAutoNum type="alphaUcPeriod"/>
            </a:pPr>
            <a:r>
              <a:rPr lang="fr-FR" sz="2400" dirty="0">
                <a:solidFill>
                  <a:srgbClr val="FF0000"/>
                </a:solidFill>
                <a:latin typeface="Times New Roman" panose="02020603050405020304" pitchFamily="18" charset="0"/>
                <a:ea typeface="Calibri" panose="020F0502020204030204" pitchFamily="34" charset="0"/>
                <a:cs typeface="Arial" panose="020B0604020202020204" pitchFamily="34" charset="0"/>
              </a:rPr>
              <a:t>Les manifestations neurologiques peuvent être un signe de gravité</a:t>
            </a:r>
            <a:endParaRPr lang="fr-FR" sz="1800" dirty="0">
              <a:solidFill>
                <a:srgbClr val="FF0000"/>
              </a:solidFill>
              <a:effectLst/>
              <a:latin typeface="Calibri" panose="020F0502020204030204" pitchFamily="34" charset="0"/>
              <a:ea typeface="Calibri" panose="020F0502020204030204" pitchFamily="34" charset="0"/>
              <a:cs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896637625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FR" dirty="0">
                <a:latin typeface="Times New Roman" panose="02020603050405020304" pitchFamily="18" charset="0"/>
                <a:cs typeface="Times New Roman" panose="02020603050405020304" pitchFamily="18" charset="0"/>
              </a:rPr>
              <a:t>3.	Les signes de déshydratation extracellulaire sont :</a:t>
            </a:r>
          </a:p>
        </p:txBody>
      </p:sp>
      <p:sp>
        <p:nvSpPr>
          <p:cNvPr id="3" name="Espace réservé du contenu 2"/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pPr marL="342900" lvl="0" indent="-342900">
              <a:lnSpc>
                <a:spcPct val="107000"/>
              </a:lnSpc>
              <a:spcAft>
                <a:spcPts val="0"/>
              </a:spcAft>
              <a:buFont typeface="+mj-lt"/>
              <a:buAutoNum type="alphaUcPeriod"/>
            </a:pPr>
            <a:r>
              <a:rPr lang="fr-FR" sz="2800" dirty="0">
                <a:latin typeface="Times New Roman" panose="02020603050405020304" pitchFamily="18" charset="0"/>
                <a:ea typeface="Calibri" panose="020F0502020204030204" pitchFamily="34" charset="0"/>
                <a:cs typeface="Arial" panose="020B0604020202020204" pitchFamily="34" charset="0"/>
              </a:rPr>
              <a:t>Une fièvre aigue</a:t>
            </a:r>
            <a:endParaRPr lang="fr-FR" dirty="0">
              <a:latin typeface="Calibri" panose="020F0502020204030204" pitchFamily="34" charset="0"/>
              <a:ea typeface="Calibri" panose="020F0502020204030204" pitchFamily="34" charset="0"/>
              <a:cs typeface="Arial" panose="020B0604020202020204" pitchFamily="34" charset="0"/>
            </a:endParaRPr>
          </a:p>
          <a:p>
            <a:pPr marL="342900" lvl="0" indent="-342900">
              <a:lnSpc>
                <a:spcPct val="107000"/>
              </a:lnSpc>
              <a:spcAft>
                <a:spcPts val="0"/>
              </a:spcAft>
              <a:buFont typeface="+mj-lt"/>
              <a:buAutoNum type="alphaUcPeriod"/>
            </a:pPr>
            <a:r>
              <a:rPr lang="fr-FR" sz="2800" dirty="0">
                <a:latin typeface="Times New Roman" panose="02020603050405020304" pitchFamily="18" charset="0"/>
                <a:ea typeface="Calibri" panose="020F0502020204030204" pitchFamily="34" charset="0"/>
                <a:cs typeface="Arial" panose="020B0604020202020204" pitchFamily="34" charset="0"/>
              </a:rPr>
              <a:t>Une hypotonie des globes oculaires</a:t>
            </a:r>
            <a:endParaRPr lang="fr-FR" dirty="0">
              <a:latin typeface="Calibri" panose="020F0502020204030204" pitchFamily="34" charset="0"/>
              <a:ea typeface="Calibri" panose="020F0502020204030204" pitchFamily="34" charset="0"/>
              <a:cs typeface="Arial" panose="020B0604020202020204" pitchFamily="34" charset="0"/>
            </a:endParaRPr>
          </a:p>
          <a:p>
            <a:pPr marL="342900" lvl="0" indent="-342900">
              <a:lnSpc>
                <a:spcPct val="107000"/>
              </a:lnSpc>
              <a:spcAft>
                <a:spcPts val="0"/>
              </a:spcAft>
              <a:buFont typeface="+mj-lt"/>
              <a:buAutoNum type="alphaUcPeriod"/>
            </a:pPr>
            <a:r>
              <a:rPr lang="fr-FR" sz="2800" dirty="0">
                <a:latin typeface="Times New Roman" panose="02020603050405020304" pitchFamily="18" charset="0"/>
                <a:ea typeface="Calibri" panose="020F0502020204030204" pitchFamily="34" charset="0"/>
                <a:cs typeface="Arial" panose="020B0604020202020204" pitchFamily="34" charset="0"/>
              </a:rPr>
              <a:t>Une dépression de la fontanelle antérieure</a:t>
            </a:r>
            <a:endParaRPr lang="fr-FR" dirty="0">
              <a:latin typeface="Calibri" panose="020F0502020204030204" pitchFamily="34" charset="0"/>
              <a:ea typeface="Calibri" panose="020F0502020204030204" pitchFamily="34" charset="0"/>
              <a:cs typeface="Arial" panose="020B0604020202020204" pitchFamily="34" charset="0"/>
            </a:endParaRPr>
          </a:p>
          <a:p>
            <a:pPr marL="342900" lvl="0" indent="-342900">
              <a:lnSpc>
                <a:spcPct val="107000"/>
              </a:lnSpc>
              <a:spcAft>
                <a:spcPts val="0"/>
              </a:spcAft>
              <a:buFont typeface="+mj-lt"/>
              <a:buAutoNum type="alphaUcPeriod"/>
            </a:pPr>
            <a:r>
              <a:rPr lang="fr-FR" sz="2800" dirty="0">
                <a:latin typeface="Times New Roman" panose="02020603050405020304" pitchFamily="18" charset="0"/>
                <a:ea typeface="Calibri" panose="020F0502020204030204" pitchFamily="34" charset="0"/>
                <a:cs typeface="Arial" panose="020B0604020202020204" pitchFamily="34" charset="0"/>
              </a:rPr>
              <a:t>Une oligurie. </a:t>
            </a:r>
            <a:endParaRPr lang="fr-FR" dirty="0">
              <a:latin typeface="Calibri" panose="020F0502020204030204" pitchFamily="34" charset="0"/>
              <a:ea typeface="Calibri" panose="020F0502020204030204" pitchFamily="34" charset="0"/>
              <a:cs typeface="Arial" panose="020B0604020202020204" pitchFamily="34" charset="0"/>
            </a:endParaRPr>
          </a:p>
          <a:p>
            <a:pPr marL="342900" lvl="0" indent="-342900">
              <a:lnSpc>
                <a:spcPct val="107000"/>
              </a:lnSpc>
              <a:spcAft>
                <a:spcPts val="0"/>
              </a:spcAft>
              <a:buFont typeface="+mj-lt"/>
              <a:buAutoNum type="alphaUcPeriod"/>
            </a:pPr>
            <a:r>
              <a:rPr lang="fr-FR" sz="2800" dirty="0">
                <a:solidFill>
                  <a:schemeClr val="tx1"/>
                </a:solidFill>
                <a:latin typeface="Times New Roman" panose="02020603050405020304" pitchFamily="18" charset="0"/>
                <a:ea typeface="Calibri" panose="020F0502020204030204" pitchFamily="34" charset="0"/>
                <a:cs typeface="Arial" panose="020B0604020202020204" pitchFamily="34" charset="0"/>
              </a:rPr>
              <a:t>Une tachycardie avec une hypotension artérielle.</a:t>
            </a:r>
            <a:endParaRPr lang="fr-FR" dirty="0">
              <a:solidFill>
                <a:schemeClr val="tx1"/>
              </a:solidFill>
              <a:latin typeface="Calibri" panose="020F0502020204030204" pitchFamily="34" charset="0"/>
              <a:ea typeface="Calibri" panose="020F0502020204030204" pitchFamily="34" charset="0"/>
              <a:cs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44279951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Espace réservé du contenu 4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>
          <a:xfrm>
            <a:off x="1834681" y="540310"/>
            <a:ext cx="9353676" cy="1558946"/>
          </a:xfrm>
          <a:prstGeom prst="rect">
            <a:avLst/>
          </a:prstGeom>
        </p:spPr>
      </p:pic>
      <p:pic>
        <p:nvPicPr>
          <p:cNvPr id="3" name="Image 6"/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834681" y="2099256"/>
            <a:ext cx="9353676" cy="276895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</p:spTree>
    <p:extLst>
      <p:ext uri="{BB962C8B-B14F-4D97-AF65-F5344CB8AC3E}">
        <p14:creationId xmlns:p14="http://schemas.microsoft.com/office/powerpoint/2010/main" val="1228358156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5362" name="Picture 3"/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738439" y="1785939"/>
            <a:ext cx="4181475" cy="35242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15363" name="Picture 2"/>
          <p:cNvPicPr>
            <a:picLocks noGrp="1" noChangeAspect="1" noChangeArrowheads="1"/>
          </p:cNvPicPr>
          <p:nvPr>
            <p:ph idx="1"/>
          </p:nvPr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>
          <a:xfrm>
            <a:off x="1881188" y="2357439"/>
            <a:ext cx="4521200" cy="2071687"/>
          </a:xfrm>
          <a:noFill/>
        </p:spPr>
      </p:pic>
      <p:pic>
        <p:nvPicPr>
          <p:cNvPr id="15364" name="Picture 6"/>
          <p:cNvPicPr>
            <a:picLocks noChangeAspect="1" noChangeArrowheads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7167564" y="2286000"/>
            <a:ext cx="3019425" cy="20002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15365" name="Picture 4"/>
          <p:cNvPicPr>
            <a:picLocks noChangeAspect="1" noChangeArrowheads="1"/>
          </p:cNvPicPr>
          <p:nvPr/>
        </p:nvPicPr>
        <p:blipFill>
          <a:blip r:embed="rId6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881564" y="4572000"/>
            <a:ext cx="3055937" cy="20002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8" name="Titre 1"/>
          <p:cNvSpPr>
            <a:spLocks noGrp="1"/>
          </p:cNvSpPr>
          <p:nvPr>
            <p:ph type="title"/>
          </p:nvPr>
        </p:nvSpPr>
        <p:spPr>
          <a:solidFill>
            <a:schemeClr val="accent6">
              <a:lumMod val="60000"/>
              <a:lumOff val="40000"/>
            </a:schemeClr>
          </a:solidFill>
        </p:spPr>
        <p:txBody>
          <a:bodyPr rtlCol="0">
            <a:normAutofit/>
          </a:bodyPr>
          <a:lstStyle/>
          <a:p>
            <a:pPr>
              <a:defRPr/>
            </a:pPr>
            <a:r>
              <a:rPr lang="fr-FR" dirty="0"/>
              <a:t>COMMENTAIRES: extracellulaire</a:t>
            </a:r>
          </a:p>
        </p:txBody>
      </p:sp>
      <p:pic>
        <p:nvPicPr>
          <p:cNvPr id="15367" name="Picture 4"/>
          <p:cNvPicPr>
            <a:picLocks noChangeAspect="1" noChangeArrowheads="1"/>
          </p:cNvPicPr>
          <p:nvPr/>
        </p:nvPicPr>
        <p:blipFill>
          <a:blip r:embed="rId7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809751" y="4643438"/>
            <a:ext cx="2143125" cy="17335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</p:spTree>
    <p:extLst>
      <p:ext uri="{BB962C8B-B14F-4D97-AF65-F5344CB8AC3E}">
        <p14:creationId xmlns:p14="http://schemas.microsoft.com/office/powerpoint/2010/main" val="1176101577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7410" name="Picture 2" descr="C:\Documents and Settings\moulin\Mes documents\cours\diarrhoea-acute-04.jpe"/>
          <p:cNvPicPr>
            <a:picLocks noGrp="1" noChangeAspect="1" noChangeArrowheads="1"/>
          </p:cNvPicPr>
          <p:nvPr>
            <p:ph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>
          <a:xfrm>
            <a:off x="2238376" y="285750"/>
            <a:ext cx="7389813" cy="4895850"/>
          </a:xfrm>
          <a:noFill/>
        </p:spPr>
      </p:pic>
      <p:sp>
        <p:nvSpPr>
          <p:cNvPr id="5" name="ZoneTexte 4"/>
          <p:cNvSpPr txBox="1"/>
          <p:nvPr/>
        </p:nvSpPr>
        <p:spPr>
          <a:xfrm>
            <a:off x="2095500" y="5429250"/>
            <a:ext cx="8358188" cy="1200150"/>
          </a:xfrm>
          <a:prstGeom prst="rect">
            <a:avLst/>
          </a:prstGeom>
          <a:solidFill>
            <a:schemeClr val="accent5">
              <a:lumMod val="40000"/>
              <a:lumOff val="60000"/>
            </a:schemeClr>
          </a:solidFill>
        </p:spPr>
        <p:txBody>
          <a:bodyPr>
            <a:spAutoFit/>
          </a:bodyPr>
          <a:lstStyle/>
          <a:p>
            <a:pPr algn="just">
              <a:defRPr/>
            </a:pPr>
            <a:r>
              <a:rPr lang="fr-FR" sz="2400" b="1" dirty="0"/>
              <a:t>« Pli cutané Persistant », traduisant la </a:t>
            </a:r>
            <a:r>
              <a:rPr lang="fr-FR" sz="2400" b="1" dirty="0">
                <a:solidFill>
                  <a:srgbClr val="FF0000"/>
                </a:solidFill>
              </a:rPr>
              <a:t>diminution d’élasticité</a:t>
            </a:r>
          </a:p>
          <a:p>
            <a:pPr algn="just">
              <a:defRPr/>
            </a:pPr>
            <a:r>
              <a:rPr lang="fr-FR" sz="2400" b="1" dirty="0"/>
              <a:t>de la peau et du tissu sous-cutané secondaire à une</a:t>
            </a:r>
          </a:p>
          <a:p>
            <a:pPr algn="just">
              <a:defRPr/>
            </a:pPr>
            <a:r>
              <a:rPr lang="fr-FR" sz="2400" b="1" dirty="0">
                <a:solidFill>
                  <a:srgbClr val="FF0000"/>
                </a:solidFill>
              </a:rPr>
              <a:t>diminution de sa teneur en eau</a:t>
            </a:r>
            <a:endParaRPr lang="fr-FR" sz="2400" b="1" dirty="0"/>
          </a:p>
        </p:txBody>
      </p:sp>
    </p:spTree>
    <p:extLst>
      <p:ext uri="{BB962C8B-B14F-4D97-AF65-F5344CB8AC3E}">
        <p14:creationId xmlns:p14="http://schemas.microsoft.com/office/powerpoint/2010/main" val="1343736971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8434" name="Picture 2"/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452688" y="1785939"/>
            <a:ext cx="6731000" cy="4857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18435" name="Picture 3"/>
          <p:cNvPicPr>
            <a:picLocks noGrp="1" noChangeAspect="1" noChangeArrowheads="1"/>
          </p:cNvPicPr>
          <p:nvPr>
            <p:ph idx="1"/>
          </p:nvPr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>
          <a:xfrm>
            <a:off x="3595688" y="2571751"/>
            <a:ext cx="4972050" cy="3800475"/>
          </a:xfrm>
          <a:noFill/>
        </p:spPr>
      </p:pic>
      <p:sp>
        <p:nvSpPr>
          <p:cNvPr id="7" name="Titre 1"/>
          <p:cNvSpPr>
            <a:spLocks noGrp="1"/>
          </p:cNvSpPr>
          <p:nvPr>
            <p:ph type="title"/>
          </p:nvPr>
        </p:nvSpPr>
        <p:spPr>
          <a:solidFill>
            <a:schemeClr val="accent6">
              <a:lumMod val="60000"/>
              <a:lumOff val="40000"/>
            </a:schemeClr>
          </a:solidFill>
        </p:spPr>
        <p:txBody>
          <a:bodyPr rtlCol="0">
            <a:normAutofit/>
          </a:bodyPr>
          <a:lstStyle/>
          <a:p>
            <a:pPr>
              <a:defRPr/>
            </a:pPr>
            <a:r>
              <a:rPr lang="fr-FR" dirty="0"/>
              <a:t>COMMENTAIRES: extracellulaire</a:t>
            </a:r>
          </a:p>
        </p:txBody>
      </p:sp>
    </p:spTree>
    <p:extLst>
      <p:ext uri="{BB962C8B-B14F-4D97-AF65-F5344CB8AC3E}">
        <p14:creationId xmlns:p14="http://schemas.microsoft.com/office/powerpoint/2010/main" val="812144722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Titre 1"/>
          <p:cNvSpPr>
            <a:spLocks noGrp="1"/>
          </p:cNvSpPr>
          <p:nvPr>
            <p:ph type="title"/>
          </p:nvPr>
        </p:nvSpPr>
        <p:spPr>
          <a:solidFill>
            <a:schemeClr val="accent6">
              <a:lumMod val="60000"/>
              <a:lumOff val="40000"/>
            </a:schemeClr>
          </a:solidFill>
        </p:spPr>
        <p:txBody>
          <a:bodyPr rtlCol="0">
            <a:normAutofit/>
          </a:bodyPr>
          <a:lstStyle/>
          <a:p>
            <a:pPr>
              <a:defRPr/>
            </a:pPr>
            <a:r>
              <a:rPr lang="fr-FR" b="1" dirty="0"/>
              <a:t>COMMENTAIRES</a:t>
            </a:r>
          </a:p>
        </p:txBody>
      </p:sp>
      <p:sp>
        <p:nvSpPr>
          <p:cNvPr id="20483" name="Espace réservé du contenu 5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eaLnBrk="1" hangingPunct="1"/>
            <a:r>
              <a:rPr lang="fr-FR" altLang="fr-FR"/>
              <a:t>Choc: FC + 4P:</a:t>
            </a:r>
          </a:p>
          <a:p>
            <a:pPr eaLnBrk="1" hangingPunct="1"/>
            <a:r>
              <a:rPr lang="fr-FR" altLang="fr-FR">
                <a:solidFill>
                  <a:srgbClr val="FF0000"/>
                </a:solidFill>
              </a:rPr>
              <a:t>FC</a:t>
            </a:r>
            <a:r>
              <a:rPr lang="fr-FR" altLang="fr-FR"/>
              <a:t>: Tachycardie, </a:t>
            </a:r>
          </a:p>
          <a:p>
            <a:pPr eaLnBrk="1" hangingPunct="1"/>
            <a:r>
              <a:rPr lang="fr-FR" altLang="fr-FR">
                <a:solidFill>
                  <a:srgbClr val="FF0000"/>
                </a:solidFill>
              </a:rPr>
              <a:t>P</a:t>
            </a:r>
            <a:r>
              <a:rPr lang="fr-FR" altLang="fr-FR"/>
              <a:t>ouls faible, </a:t>
            </a:r>
          </a:p>
          <a:p>
            <a:pPr eaLnBrk="1" hangingPunct="1"/>
            <a:r>
              <a:rPr lang="fr-FR" altLang="fr-FR">
                <a:solidFill>
                  <a:srgbClr val="FF0000"/>
                </a:solidFill>
              </a:rPr>
              <a:t>P</a:t>
            </a:r>
            <a:r>
              <a:rPr lang="fr-FR" altLang="fr-FR"/>
              <a:t>A basse, </a:t>
            </a:r>
          </a:p>
          <a:p>
            <a:pPr eaLnBrk="1" hangingPunct="1"/>
            <a:r>
              <a:rPr lang="fr-FR" altLang="fr-FR">
                <a:solidFill>
                  <a:srgbClr val="FF0000"/>
                </a:solidFill>
              </a:rPr>
              <a:t>P</a:t>
            </a:r>
            <a:r>
              <a:rPr lang="fr-FR" altLang="fr-FR"/>
              <a:t>erfusion périphériques: TRC ≥ 3S, extrémités froides,marbrures, </a:t>
            </a:r>
          </a:p>
          <a:p>
            <a:pPr eaLnBrk="1" hangingPunct="1"/>
            <a:r>
              <a:rPr lang="fr-FR" altLang="fr-FR">
                <a:solidFill>
                  <a:srgbClr val="FF0000"/>
                </a:solidFill>
              </a:rPr>
              <a:t>P</a:t>
            </a:r>
            <a:r>
              <a:rPr lang="fr-FR" altLang="fr-FR"/>
              <a:t>récharge: HMG, rales crépitants </a:t>
            </a:r>
          </a:p>
        </p:txBody>
      </p:sp>
    </p:spTree>
    <p:extLst>
      <p:ext uri="{BB962C8B-B14F-4D97-AF65-F5344CB8AC3E}">
        <p14:creationId xmlns:p14="http://schemas.microsoft.com/office/powerpoint/2010/main" val="1213756428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506" name="Titr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nl-BE" altLang="fr-FR">
                <a:solidFill>
                  <a:srgbClr val="E5352C"/>
                </a:solidFill>
              </a:rPr>
              <a:t>F</a:t>
            </a:r>
            <a:r>
              <a:rPr lang="nl-BE" altLang="fr-FR">
                <a:solidFill>
                  <a:srgbClr val="004075"/>
                </a:solidFill>
              </a:rPr>
              <a:t>réquence cardiaque</a:t>
            </a:r>
            <a:endParaRPr lang="fr-FR" altLang="fr-FR">
              <a:solidFill>
                <a:srgbClr val="004075"/>
              </a:solidFill>
            </a:endParaRPr>
          </a:p>
        </p:txBody>
      </p:sp>
      <p:graphicFrame>
        <p:nvGraphicFramePr>
          <p:cNvPr id="10" name="Tableau 9"/>
          <p:cNvGraphicFramePr>
            <a:graphicFrameLocks noGrp="1"/>
          </p:cNvGraphicFramePr>
          <p:nvPr/>
        </p:nvGraphicFramePr>
        <p:xfrm>
          <a:off x="2967039" y="5232401"/>
          <a:ext cx="6421437" cy="1114425"/>
        </p:xfrm>
        <a:graphic>
          <a:graphicData uri="http://schemas.openxmlformats.org/drawingml/2006/table">
            <a:tbl>
              <a:tblPr/>
              <a:tblGrid>
                <a:gridCol w="1316298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2811319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229382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371475"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0" lang="fr-FR" sz="1800" b="1" i="0" u="none" strike="noStrike" cap="none" normalizeH="0" baseline="0" dirty="0">
                        <a:ln>
                          <a:noFill/>
                        </a:ln>
                        <a:solidFill>
                          <a:srgbClr val="FFFFFF"/>
                        </a:solidFill>
                        <a:effectLst/>
                        <a:latin typeface="Myriad Pro" charset="0"/>
                        <a:ea typeface="ＭＳ Ｐゴシック" charset="0"/>
                        <a:cs typeface="ＭＳ Ｐゴシック" charset="0"/>
                      </a:endParaRPr>
                    </a:p>
                  </a:txBody>
                  <a:tcPr marL="91435" marR="91435" horzOverflow="overflow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accent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fr-FR" sz="1800" b="1" i="0" u="none" strike="noStrike" cap="none" normalizeH="0" baseline="0" dirty="0">
                          <a:ln>
                            <a:noFill/>
                          </a:ln>
                          <a:solidFill>
                            <a:srgbClr val="FFFFFF"/>
                          </a:solidFill>
                          <a:effectLst/>
                          <a:latin typeface="Myriad Pro" charset="0"/>
                          <a:ea typeface="ＭＳ Ｐゴシック" charset="0"/>
                          <a:cs typeface="ＭＳ Ｐゴシック" charset="0"/>
                        </a:rPr>
                        <a:t>Bradycardie</a:t>
                      </a:r>
                    </a:p>
                  </a:txBody>
                  <a:tcPr marL="91435" marR="91435" horzOverflow="overflow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accent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fr-FR" sz="1800" b="1" i="0" u="none" strike="noStrike" cap="none" normalizeH="0" baseline="0" dirty="0">
                          <a:ln>
                            <a:noFill/>
                          </a:ln>
                          <a:solidFill>
                            <a:srgbClr val="FFFFFF"/>
                          </a:solidFill>
                          <a:effectLst/>
                          <a:latin typeface="Myriad Pro" charset="0"/>
                          <a:ea typeface="ＭＳ Ｐゴシック" charset="0"/>
                          <a:cs typeface="ＭＳ Ｐゴシック" charset="0"/>
                        </a:rPr>
                        <a:t>Tachycardie</a:t>
                      </a:r>
                    </a:p>
                  </a:txBody>
                  <a:tcPr marL="91435" marR="91435" horzOverflow="overflow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accent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71475"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fr-FR" sz="1800" b="0" i="0" u="none" strike="noStrike" cap="none" normalizeH="0" baseline="0" dirty="0">
                          <a:ln>
                            <a:noFill/>
                          </a:ln>
                          <a:solidFill>
                            <a:srgbClr val="00447A"/>
                          </a:solidFill>
                          <a:effectLst/>
                          <a:latin typeface="Myriad Pro" charset="0"/>
                          <a:ea typeface="ＭＳ Ｐゴシック" charset="0"/>
                          <a:cs typeface="ＭＳ Ｐゴシック" charset="0"/>
                        </a:rPr>
                        <a:t>&lt;1 an</a:t>
                      </a:r>
                    </a:p>
                  </a:txBody>
                  <a:tcPr marL="91435" marR="91435" horzOverflow="overflow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BD8CC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fr-FR" sz="1800" b="0" i="0" u="none" strike="noStrike" cap="none" normalizeH="0" baseline="0" dirty="0">
                          <a:ln>
                            <a:noFill/>
                          </a:ln>
                          <a:solidFill>
                            <a:srgbClr val="00447A"/>
                          </a:solidFill>
                          <a:effectLst/>
                          <a:latin typeface="Myriad Pro" charset="0"/>
                          <a:ea typeface="ＭＳ Ｐゴシック" charset="0"/>
                          <a:cs typeface="ＭＳ Ｐゴシック" charset="0"/>
                        </a:rPr>
                        <a:t>80</a:t>
                      </a:r>
                    </a:p>
                  </a:txBody>
                  <a:tcPr marL="91435" marR="91435" horzOverflow="overflow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BD8CC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fr-FR" sz="1800" b="1" i="0" u="none" strike="noStrike" cap="none" normalizeH="0" baseline="0" dirty="0">
                          <a:ln>
                            <a:noFill/>
                          </a:ln>
                          <a:solidFill>
                            <a:srgbClr val="00447A"/>
                          </a:solidFill>
                          <a:effectLst/>
                          <a:latin typeface="Myriad Pro" charset="0"/>
                          <a:ea typeface="ＭＳ Ｐゴシック" charset="0"/>
                          <a:cs typeface="ＭＳ Ｐゴシック" charset="0"/>
                        </a:rPr>
                        <a:t>180</a:t>
                      </a:r>
                    </a:p>
                  </a:txBody>
                  <a:tcPr marL="91435" marR="91435" horzOverflow="overflow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BD8CC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371475"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fr-FR" sz="1800" b="0" i="0" u="none" strike="noStrike" cap="none" normalizeH="0" baseline="0" dirty="0">
                          <a:ln>
                            <a:noFill/>
                          </a:ln>
                          <a:solidFill>
                            <a:srgbClr val="00447A"/>
                          </a:solidFill>
                          <a:effectLst/>
                          <a:latin typeface="Myriad Pro" charset="0"/>
                          <a:ea typeface="ＭＳ Ｐゴシック" charset="0"/>
                          <a:cs typeface="ＭＳ Ｐゴシック" charset="0"/>
                        </a:rPr>
                        <a:t>&gt;1 an</a:t>
                      </a:r>
                    </a:p>
                  </a:txBody>
                  <a:tcPr marL="91435" marR="91435" horzOverflow="overflow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DEDE7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fr-FR" sz="1800" b="0" i="0" u="none" strike="noStrike" cap="none" normalizeH="0" baseline="0" dirty="0">
                          <a:ln>
                            <a:noFill/>
                          </a:ln>
                          <a:solidFill>
                            <a:srgbClr val="00447A"/>
                          </a:solidFill>
                          <a:effectLst/>
                          <a:latin typeface="Myriad Pro" charset="0"/>
                          <a:ea typeface="ＭＳ Ｐゴシック" charset="0"/>
                          <a:cs typeface="ＭＳ Ｐゴシック" charset="0"/>
                        </a:rPr>
                        <a:t>60</a:t>
                      </a:r>
                    </a:p>
                  </a:txBody>
                  <a:tcPr marL="91435" marR="91435" horzOverflow="overflow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DEDE7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fr-FR" sz="1800" b="1" i="0" u="none" strike="noStrike" cap="none" normalizeH="0" baseline="0" dirty="0">
                          <a:ln>
                            <a:noFill/>
                          </a:ln>
                          <a:solidFill>
                            <a:srgbClr val="00447A"/>
                          </a:solidFill>
                          <a:effectLst/>
                          <a:latin typeface="Myriad Pro" charset="0"/>
                          <a:ea typeface="ＭＳ Ｐゴシック" charset="0"/>
                          <a:cs typeface="ＭＳ Ｐゴシック" charset="0"/>
                        </a:rPr>
                        <a:t>160</a:t>
                      </a:r>
                    </a:p>
                  </a:txBody>
                  <a:tcPr marL="91435" marR="91435" horzOverflow="overflow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DEDE7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</a:tbl>
          </a:graphicData>
        </a:graphic>
      </p:graphicFrame>
      <p:sp>
        <p:nvSpPr>
          <p:cNvPr id="21525" name="ZoneTexte 10"/>
          <p:cNvSpPr txBox="1">
            <a:spLocks noChangeArrowheads="1"/>
          </p:cNvSpPr>
          <p:nvPr/>
        </p:nvSpPr>
        <p:spPr bwMode="auto">
          <a:xfrm>
            <a:off x="2336800" y="4335463"/>
            <a:ext cx="7812088" cy="83026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Font typeface="Arial" panose="020B0604020202020204" pitchFamily="34" charset="0"/>
              <a:buChar char="•"/>
              <a:defRPr sz="3200">
                <a:solidFill>
                  <a:schemeClr val="tx1"/>
                </a:solidFill>
                <a:latin typeface="Calibri" panose="020F0502020204030204" pitchFamily="34" charset="0"/>
              </a:defRPr>
            </a:lvl1pPr>
            <a:lvl2pPr marL="742950" indent="-285750">
              <a:spcBef>
                <a:spcPct val="20000"/>
              </a:spcBef>
              <a:buFont typeface="Arial" panose="020B0604020202020204" pitchFamily="34" charset="0"/>
              <a:buChar char="–"/>
              <a:defRPr sz="2800">
                <a:solidFill>
                  <a:schemeClr val="tx1"/>
                </a:solidFill>
                <a:latin typeface="Calibri" panose="020F0502020204030204" pitchFamily="34" charset="0"/>
              </a:defRPr>
            </a:lvl2pPr>
            <a:lvl3pPr marL="1143000" indent="-228600">
              <a:spcBef>
                <a:spcPct val="20000"/>
              </a:spcBef>
              <a:buFont typeface="Arial" panose="020B0604020202020204" pitchFamily="34" charset="0"/>
              <a:buChar char="•"/>
              <a:defRPr sz="2400">
                <a:solidFill>
                  <a:schemeClr val="tx1"/>
                </a:solidFill>
                <a:latin typeface="Calibri" panose="020F0502020204030204" pitchFamily="34" charset="0"/>
              </a:defRPr>
            </a:lvl3pPr>
            <a:lvl4pPr marL="1600200" indent="-228600">
              <a:spcBef>
                <a:spcPct val="20000"/>
              </a:spcBef>
              <a:buFont typeface="Arial" panose="020B0604020202020204" pitchFamily="34" charset="0"/>
              <a:buChar char="–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4pPr>
            <a:lvl5pPr marL="2057400" indent="-228600">
              <a:spcBef>
                <a:spcPct val="20000"/>
              </a:spcBef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9pPr>
          </a:lstStyle>
          <a:p>
            <a:pPr eaLnBrk="1" hangingPunct="1">
              <a:spcBef>
                <a:spcPct val="0"/>
              </a:spcBef>
              <a:buFontTx/>
              <a:buNone/>
            </a:pPr>
            <a:r>
              <a:rPr lang="nl-BE" altLang="fr-FR" sz="2400">
                <a:latin typeface="Arial" panose="020B0604020202020204" pitchFamily="34" charset="0"/>
              </a:rPr>
              <a:t>Valeurs anormales ~ insuffisance circulatoire (</a:t>
            </a:r>
            <a:r>
              <a:rPr lang="nl-BE" altLang="fr-FR" sz="2400" i="1">
                <a:latin typeface="Arial" panose="020B0604020202020204" pitchFamily="34" charset="0"/>
              </a:rPr>
              <a:t>précoces</a:t>
            </a:r>
            <a:r>
              <a:rPr lang="nl-BE" altLang="fr-FR" sz="2400">
                <a:latin typeface="Arial" panose="020B0604020202020204" pitchFamily="34" charset="0"/>
              </a:rPr>
              <a:t>) </a:t>
            </a:r>
          </a:p>
          <a:p>
            <a:pPr eaLnBrk="1" hangingPunct="1">
              <a:spcBef>
                <a:spcPct val="0"/>
              </a:spcBef>
              <a:buFontTx/>
              <a:buNone/>
            </a:pPr>
            <a:r>
              <a:rPr lang="nl-BE" altLang="fr-FR" sz="2400">
                <a:latin typeface="Arial" panose="020B0604020202020204" pitchFamily="34" charset="0"/>
              </a:rPr>
              <a:t>Mais </a:t>
            </a:r>
            <a:r>
              <a:rPr lang="fr-FR" altLang="fr-FR" sz="2400">
                <a:latin typeface="Arial" panose="020B0604020202020204" pitchFamily="34" charset="0"/>
              </a:rPr>
              <a:t>varie </a:t>
            </a:r>
            <a:r>
              <a:rPr lang="nl-BE" altLang="fr-FR" sz="2400">
                <a:latin typeface="Arial" panose="020B0604020202020204" pitchFamily="34" charset="0"/>
              </a:rPr>
              <a:t>aussi </a:t>
            </a:r>
            <a:r>
              <a:rPr lang="fr-FR" altLang="fr-FR" sz="2400">
                <a:latin typeface="Arial" panose="020B0604020202020204" pitchFamily="34" charset="0"/>
              </a:rPr>
              <a:t>avec âge, peur, douleur, T° </a:t>
            </a:r>
          </a:p>
        </p:txBody>
      </p:sp>
      <p:graphicFrame>
        <p:nvGraphicFramePr>
          <p:cNvPr id="8" name="Group 86"/>
          <p:cNvGraphicFramePr>
            <a:graphicFrameLocks noGrp="1"/>
          </p:cNvGraphicFramePr>
          <p:nvPr/>
        </p:nvGraphicFramePr>
        <p:xfrm>
          <a:off x="2162175" y="1930400"/>
          <a:ext cx="7837488" cy="2443162"/>
        </p:xfrm>
        <a:graphic>
          <a:graphicData uri="http://schemas.openxmlformats.org/drawingml/2006/table">
            <a:tbl>
              <a:tblPr/>
              <a:tblGrid>
                <a:gridCol w="691295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299356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1260947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1437168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1740556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  <a:gridCol w="1408166">
                  <a:extLst>
                    <a:ext uri="{9D8B030D-6E8A-4147-A177-3AD203B41FA5}">
                      <a16:colId xmlns:a16="http://schemas.microsoft.com/office/drawing/2014/main" val="20005"/>
                    </a:ext>
                  </a:extLst>
                </a:gridCol>
              </a:tblGrid>
              <a:tr h="717734">
                <a:tc>
                  <a:txBody>
                    <a:bodyPr/>
                    <a:lstStyle>
                      <a:defPPr>
                        <a:defRPr lang="en-US"/>
                      </a:defPPr>
                      <a:lvl1pPr marL="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</a:defRPr>
                      </a:lvl1pPr>
                      <a:lvl2pPr marL="457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</a:defRPr>
                      </a:lvl2pPr>
                      <a:lvl3pPr marL="914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</a:defRPr>
                      </a:lvl3pPr>
                      <a:lvl4pPr marL="1371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</a:defRPr>
                      </a:lvl4pPr>
                      <a:lvl5pPr marL="18288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</a:defRPr>
                      </a:lvl5pPr>
                      <a:lvl6pPr marL="22860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</a:defRPr>
                      </a:lvl6pPr>
                      <a:lvl7pPr marL="2743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</a:defRPr>
                      </a:lvl7pPr>
                      <a:lvl8pPr marL="3200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</a:defRPr>
                      </a:lvl8pPr>
                      <a:lvl9pPr marL="3657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</a:defRPr>
                      </a:lvl9pPr>
                    </a:lstStyle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GB" sz="20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</a:rPr>
                        <a:t>Age</a:t>
                      </a:r>
                    </a:p>
                  </a:txBody>
                  <a:tcPr marL="91432" marR="91432" marT="45706" marB="45706" anchor="ctr" horzOverflow="overflow">
                    <a:lnL w="381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CD7C7"/>
                    </a:solidFill>
                  </a:tcPr>
                </a:tc>
                <a:tc>
                  <a:txBody>
                    <a:bodyPr/>
                    <a:lstStyle>
                      <a:defPPr>
                        <a:defRPr lang="en-US"/>
                      </a:defPPr>
                      <a:lvl1pPr marL="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</a:defRPr>
                      </a:lvl1pPr>
                      <a:lvl2pPr marL="457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</a:defRPr>
                      </a:lvl2pPr>
                      <a:lvl3pPr marL="914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</a:defRPr>
                      </a:lvl3pPr>
                      <a:lvl4pPr marL="1371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</a:defRPr>
                      </a:lvl4pPr>
                      <a:lvl5pPr marL="18288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</a:defRPr>
                      </a:lvl5pPr>
                      <a:lvl6pPr marL="22860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</a:defRPr>
                      </a:lvl6pPr>
                      <a:lvl7pPr marL="2743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</a:defRPr>
                      </a:lvl7pPr>
                      <a:lvl8pPr marL="3200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</a:defRPr>
                      </a:lvl8pPr>
                      <a:lvl9pPr marL="3657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GB" sz="20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</a:rPr>
                        <a:t>&gt;30 </a:t>
                      </a:r>
                      <a:r>
                        <a:rPr kumimoji="0" lang="en-GB" sz="2000" b="0" i="0" u="none" strike="noStrike" cap="none" normalizeH="0" baseline="0" dirty="0" err="1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</a:rPr>
                        <a:t>jours</a:t>
                      </a:r>
                      <a:endParaRPr kumimoji="0" lang="en-GB" sz="20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charset="0"/>
                      </a:endParaRPr>
                    </a:p>
                  </a:txBody>
                  <a:tcPr marL="91432" marR="91432" marT="45706" marB="45706" anchor="ctr"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CD7C7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GB" sz="20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</a:rPr>
                        <a:t>1 an</a:t>
                      </a:r>
                    </a:p>
                  </a:txBody>
                  <a:tcPr marL="91432" marR="91432" marT="45706" marB="45706" anchor="ctr"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CD7C7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GB" sz="20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</a:rPr>
                        <a:t>2 </a:t>
                      </a:r>
                      <a:r>
                        <a:rPr kumimoji="0" lang="en-GB" sz="2000" b="0" i="0" u="none" strike="noStrike" cap="none" normalizeH="0" baseline="0" dirty="0" err="1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</a:rPr>
                        <a:t>ans</a:t>
                      </a:r>
                      <a:endParaRPr kumimoji="0" lang="en-GB" sz="20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charset="0"/>
                      </a:endParaRPr>
                    </a:p>
                  </a:txBody>
                  <a:tcPr marL="91432" marR="91432" marT="45706" marB="45706" anchor="ctr"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CD7C7"/>
                    </a:solidFill>
                  </a:tcPr>
                </a:tc>
                <a:tc>
                  <a:txBody>
                    <a:bodyPr/>
                    <a:lstStyle>
                      <a:defPPr>
                        <a:defRPr lang="en-US"/>
                      </a:defPPr>
                      <a:lvl1pPr marL="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</a:defRPr>
                      </a:lvl1pPr>
                      <a:lvl2pPr marL="457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</a:defRPr>
                      </a:lvl2pPr>
                      <a:lvl3pPr marL="914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</a:defRPr>
                      </a:lvl3pPr>
                      <a:lvl4pPr marL="1371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</a:defRPr>
                      </a:lvl4pPr>
                      <a:lvl5pPr marL="18288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</a:defRPr>
                      </a:lvl5pPr>
                      <a:lvl6pPr marL="22860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</a:defRPr>
                      </a:lvl6pPr>
                      <a:lvl7pPr marL="2743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</a:defRPr>
                      </a:lvl7pPr>
                      <a:lvl8pPr marL="3200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</a:defRPr>
                      </a:lvl8pPr>
                      <a:lvl9pPr marL="3657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GB" sz="20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</a:rPr>
                        <a:t>6  </a:t>
                      </a:r>
                      <a:r>
                        <a:rPr kumimoji="0" lang="en-GB" sz="2000" b="0" i="0" u="none" strike="noStrike" cap="none" normalizeH="0" baseline="0" dirty="0" err="1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</a:rPr>
                        <a:t>ans</a:t>
                      </a:r>
                      <a:endParaRPr kumimoji="0" lang="en-GB" sz="20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charset="0"/>
                      </a:endParaRPr>
                    </a:p>
                  </a:txBody>
                  <a:tcPr marL="91432" marR="91432" marT="45706" marB="45706" anchor="ctr"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CD7C7"/>
                    </a:solidFill>
                  </a:tcPr>
                </a:tc>
                <a:tc>
                  <a:txBody>
                    <a:bodyPr/>
                    <a:lstStyle>
                      <a:defPPr>
                        <a:defRPr lang="en-US"/>
                      </a:defPPr>
                      <a:lvl1pPr marL="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</a:defRPr>
                      </a:lvl1pPr>
                      <a:lvl2pPr marL="457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</a:defRPr>
                      </a:lvl2pPr>
                      <a:lvl3pPr marL="914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</a:defRPr>
                      </a:lvl3pPr>
                      <a:lvl4pPr marL="1371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</a:defRPr>
                      </a:lvl4pPr>
                      <a:lvl5pPr marL="18288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</a:defRPr>
                      </a:lvl5pPr>
                      <a:lvl6pPr marL="22860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</a:defRPr>
                      </a:lvl6pPr>
                      <a:lvl7pPr marL="2743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</a:defRPr>
                      </a:lvl7pPr>
                      <a:lvl8pPr marL="3200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</a:defRPr>
                      </a:lvl8pPr>
                      <a:lvl9pPr marL="3657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GB" sz="20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</a:rPr>
                        <a:t>12 </a:t>
                      </a:r>
                      <a:r>
                        <a:rPr kumimoji="0" lang="en-GB" sz="2000" b="0" i="0" u="none" strike="noStrike" cap="none" normalizeH="0" baseline="0" dirty="0" err="1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</a:rPr>
                        <a:t>ans</a:t>
                      </a:r>
                      <a:endParaRPr kumimoji="0" lang="en-GB" sz="20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charset="0"/>
                      </a:endParaRPr>
                    </a:p>
                  </a:txBody>
                  <a:tcPr marL="91432" marR="91432" marT="45706" marB="45706" anchor="ctr"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CD7C7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503847">
                <a:tc>
                  <a:txBody>
                    <a:bodyPr/>
                    <a:lstStyle>
                      <a:defPPr>
                        <a:defRPr lang="en-US"/>
                      </a:defPPr>
                      <a:lvl1pPr marL="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</a:defRPr>
                      </a:lvl1pPr>
                      <a:lvl2pPr marL="457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</a:defRPr>
                      </a:lvl2pPr>
                      <a:lvl3pPr marL="914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</a:defRPr>
                      </a:lvl3pPr>
                      <a:lvl4pPr marL="1371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</a:defRPr>
                      </a:lvl4pPr>
                      <a:lvl5pPr marL="18288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</a:defRPr>
                      </a:lvl5pPr>
                      <a:lvl6pPr marL="22860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</a:defRPr>
                      </a:lvl6pPr>
                      <a:lvl7pPr marL="2743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</a:defRPr>
                      </a:lvl7pPr>
                      <a:lvl8pPr marL="3200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</a:defRPr>
                      </a:lvl8pPr>
                      <a:lvl9pPr marL="3657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</a:defRPr>
                      </a:lvl9pPr>
                    </a:lstStyle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GB" sz="20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</a:rPr>
                        <a:t>FR</a:t>
                      </a:r>
                    </a:p>
                  </a:txBody>
                  <a:tcPr marL="91432" marR="91432" marT="45706" marB="45706" horzOverflow="overflow">
                    <a:lnL w="381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CD7C7"/>
                    </a:solidFill>
                  </a:tcPr>
                </a:tc>
                <a:tc>
                  <a:txBody>
                    <a:bodyPr/>
                    <a:lstStyle>
                      <a:defPPr>
                        <a:defRPr lang="en-US"/>
                      </a:defPPr>
                      <a:lvl1pPr marL="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</a:defRPr>
                      </a:lvl1pPr>
                      <a:lvl2pPr marL="457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</a:defRPr>
                      </a:lvl2pPr>
                      <a:lvl3pPr marL="914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</a:defRPr>
                      </a:lvl3pPr>
                      <a:lvl4pPr marL="1371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</a:defRPr>
                      </a:lvl4pPr>
                      <a:lvl5pPr marL="18288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</a:defRPr>
                      </a:lvl5pPr>
                      <a:lvl6pPr marL="22860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</a:defRPr>
                      </a:lvl6pPr>
                      <a:lvl7pPr marL="2743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</a:defRPr>
                      </a:lvl7pPr>
                      <a:lvl8pPr marL="3200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</a:defRPr>
                      </a:lvl8pPr>
                      <a:lvl9pPr marL="3657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GB" sz="20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</a:rPr>
                        <a:t>35( </a:t>
                      </a:r>
                      <a:r>
                        <a:rPr kumimoji="0" lang="en-GB" sz="20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2"/>
                          </a:solidFill>
                          <a:effectLst/>
                          <a:latin typeface="Arial" charset="0"/>
                        </a:rPr>
                        <a:t>55</a:t>
                      </a:r>
                      <a:r>
                        <a:rPr kumimoji="0" lang="en-GB" sz="20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</a:rPr>
                        <a:t>)</a:t>
                      </a:r>
                    </a:p>
                  </a:txBody>
                  <a:tcPr marL="91432" marR="91432" marT="45706" marB="45706"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CD7C7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GB" sz="20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</a:rPr>
                        <a:t>30(</a:t>
                      </a:r>
                      <a:r>
                        <a:rPr kumimoji="0" lang="en-GB" sz="2000" b="0" i="0" u="none" strike="noStrike" cap="none" normalizeH="0" baseline="0" dirty="0">
                          <a:ln>
                            <a:noFill/>
                          </a:ln>
                          <a:solidFill>
                            <a:srgbClr val="FF0000"/>
                          </a:solidFill>
                          <a:effectLst/>
                          <a:latin typeface="Arial" charset="0"/>
                        </a:rPr>
                        <a:t>40</a:t>
                      </a:r>
                      <a:r>
                        <a:rPr kumimoji="0" lang="en-GB" sz="20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</a:rPr>
                        <a:t>)</a:t>
                      </a:r>
                    </a:p>
                  </a:txBody>
                  <a:tcPr marL="91432" marR="91432" marT="45706" marB="45706"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CD7C7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GB" sz="20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</a:rPr>
                        <a:t>25(</a:t>
                      </a:r>
                      <a:r>
                        <a:rPr kumimoji="0" lang="en-GB" sz="2000" b="0" i="0" u="none" strike="noStrike" cap="none" normalizeH="0" baseline="0" dirty="0">
                          <a:ln>
                            <a:noFill/>
                          </a:ln>
                          <a:solidFill>
                            <a:srgbClr val="FF0000"/>
                          </a:solidFill>
                          <a:effectLst/>
                          <a:latin typeface="Arial" charset="0"/>
                        </a:rPr>
                        <a:t>30</a:t>
                      </a:r>
                      <a:r>
                        <a:rPr kumimoji="0" lang="en-GB" sz="20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</a:rPr>
                        <a:t>)</a:t>
                      </a:r>
                    </a:p>
                  </a:txBody>
                  <a:tcPr marL="91432" marR="91432" marT="45706" marB="45706"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CD7C7"/>
                    </a:solidFill>
                  </a:tcPr>
                </a:tc>
                <a:tc>
                  <a:txBody>
                    <a:bodyPr/>
                    <a:lstStyle>
                      <a:defPPr>
                        <a:defRPr lang="en-US"/>
                      </a:defPPr>
                      <a:lvl1pPr marL="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</a:defRPr>
                      </a:lvl1pPr>
                      <a:lvl2pPr marL="457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</a:defRPr>
                      </a:lvl2pPr>
                      <a:lvl3pPr marL="914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</a:defRPr>
                      </a:lvl3pPr>
                      <a:lvl4pPr marL="1371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</a:defRPr>
                      </a:lvl4pPr>
                      <a:lvl5pPr marL="18288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</a:defRPr>
                      </a:lvl5pPr>
                      <a:lvl6pPr marL="22860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</a:defRPr>
                      </a:lvl6pPr>
                      <a:lvl7pPr marL="2743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</a:defRPr>
                      </a:lvl7pPr>
                      <a:lvl8pPr marL="3200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</a:defRPr>
                      </a:lvl8pPr>
                      <a:lvl9pPr marL="3657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GB" sz="20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</a:rPr>
                        <a:t>20 (</a:t>
                      </a:r>
                      <a:r>
                        <a:rPr kumimoji="0" lang="en-GB" sz="20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2"/>
                          </a:solidFill>
                          <a:effectLst/>
                          <a:latin typeface="Arial" charset="0"/>
                        </a:rPr>
                        <a:t>25</a:t>
                      </a:r>
                      <a:r>
                        <a:rPr kumimoji="0" lang="en-GB" sz="20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</a:rPr>
                        <a:t>)</a:t>
                      </a:r>
                    </a:p>
                  </a:txBody>
                  <a:tcPr marL="91432" marR="91432" marT="45706" marB="45706"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CD7C7"/>
                    </a:solidFill>
                  </a:tcPr>
                </a:tc>
                <a:tc>
                  <a:txBody>
                    <a:bodyPr/>
                    <a:lstStyle>
                      <a:defPPr>
                        <a:defRPr lang="en-US"/>
                      </a:defPPr>
                      <a:lvl1pPr marL="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</a:defRPr>
                      </a:lvl1pPr>
                      <a:lvl2pPr marL="457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</a:defRPr>
                      </a:lvl2pPr>
                      <a:lvl3pPr marL="914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</a:defRPr>
                      </a:lvl3pPr>
                      <a:lvl4pPr marL="1371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</a:defRPr>
                      </a:lvl4pPr>
                      <a:lvl5pPr marL="18288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</a:defRPr>
                      </a:lvl5pPr>
                      <a:lvl6pPr marL="22860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</a:defRPr>
                      </a:lvl6pPr>
                      <a:lvl7pPr marL="2743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</a:defRPr>
                      </a:lvl7pPr>
                      <a:lvl8pPr marL="3200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</a:defRPr>
                      </a:lvl8pPr>
                      <a:lvl9pPr marL="3657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GB" sz="20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</a:rPr>
                        <a:t>15 (</a:t>
                      </a:r>
                      <a:r>
                        <a:rPr kumimoji="0" lang="en-GB" sz="20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2"/>
                          </a:solidFill>
                          <a:effectLst/>
                          <a:latin typeface="Arial" charset="0"/>
                        </a:rPr>
                        <a:t>20</a:t>
                      </a:r>
                      <a:r>
                        <a:rPr kumimoji="0" lang="en-GB" sz="20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</a:rPr>
                        <a:t>)</a:t>
                      </a:r>
                    </a:p>
                  </a:txBody>
                  <a:tcPr marL="91432" marR="91432" marT="45706" marB="45706" anchor="ctr"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CD7C7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503847">
                <a:tc>
                  <a:txBody>
                    <a:bodyPr/>
                    <a:lstStyle>
                      <a:defPPr>
                        <a:defRPr lang="en-US"/>
                      </a:defPPr>
                      <a:lvl1pPr marL="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</a:defRPr>
                      </a:lvl1pPr>
                      <a:lvl2pPr marL="457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</a:defRPr>
                      </a:lvl2pPr>
                      <a:lvl3pPr marL="914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</a:defRPr>
                      </a:lvl3pPr>
                      <a:lvl4pPr marL="1371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</a:defRPr>
                      </a:lvl4pPr>
                      <a:lvl5pPr marL="18288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</a:defRPr>
                      </a:lvl5pPr>
                      <a:lvl6pPr marL="22860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</a:defRPr>
                      </a:lvl6pPr>
                      <a:lvl7pPr marL="2743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</a:defRPr>
                      </a:lvl7pPr>
                      <a:lvl8pPr marL="3200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</a:defRPr>
                      </a:lvl8pPr>
                      <a:lvl9pPr marL="3657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</a:defRPr>
                      </a:lvl9pPr>
                    </a:lstStyle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0" lang="fr-FR" sz="20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charset="0"/>
                      </a:endParaRPr>
                    </a:p>
                  </a:txBody>
                  <a:tcPr marL="91432" marR="91432" marT="45706" marB="45706" horzOverflow="overflow">
                    <a:lnL w="381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CD7C7"/>
                    </a:solidFill>
                  </a:tcPr>
                </a:tc>
                <a:tc>
                  <a:txBody>
                    <a:bodyPr/>
                    <a:lstStyle>
                      <a:defPPr>
                        <a:defRPr lang="en-US"/>
                      </a:defPPr>
                      <a:lvl1pPr marL="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</a:defRPr>
                      </a:lvl1pPr>
                      <a:lvl2pPr marL="457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</a:defRPr>
                      </a:lvl2pPr>
                      <a:lvl3pPr marL="914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</a:defRPr>
                      </a:lvl3pPr>
                      <a:lvl4pPr marL="1371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</a:defRPr>
                      </a:lvl4pPr>
                      <a:lvl5pPr marL="18288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</a:defRPr>
                      </a:lvl5pPr>
                      <a:lvl6pPr marL="22860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</a:defRPr>
                      </a:lvl6pPr>
                      <a:lvl7pPr marL="2743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</a:defRPr>
                      </a:lvl7pPr>
                      <a:lvl8pPr marL="3200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</a:defRPr>
                      </a:lvl8pPr>
                      <a:lvl9pPr marL="3657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0" lang="fr-FR" sz="20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charset="0"/>
                      </a:endParaRPr>
                    </a:p>
                  </a:txBody>
                  <a:tcPr marL="91432" marR="91432" marT="45706" marB="45706"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CD7C7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0" lang="fr-FR" sz="20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charset="0"/>
                      </a:endParaRPr>
                    </a:p>
                  </a:txBody>
                  <a:tcPr marL="91432" marR="91432" marT="45706" marB="45706"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CD7C7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0" lang="fr-FR" sz="20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charset="0"/>
                      </a:endParaRPr>
                    </a:p>
                  </a:txBody>
                  <a:tcPr marL="91432" marR="91432" marT="45706" marB="45706"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CD7C7"/>
                    </a:solidFill>
                  </a:tcPr>
                </a:tc>
                <a:tc>
                  <a:txBody>
                    <a:bodyPr/>
                    <a:lstStyle>
                      <a:defPPr>
                        <a:defRPr lang="en-US"/>
                      </a:defPPr>
                      <a:lvl1pPr marL="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</a:defRPr>
                      </a:lvl1pPr>
                      <a:lvl2pPr marL="457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</a:defRPr>
                      </a:lvl2pPr>
                      <a:lvl3pPr marL="914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</a:defRPr>
                      </a:lvl3pPr>
                      <a:lvl4pPr marL="1371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</a:defRPr>
                      </a:lvl4pPr>
                      <a:lvl5pPr marL="18288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</a:defRPr>
                      </a:lvl5pPr>
                      <a:lvl6pPr marL="22860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</a:defRPr>
                      </a:lvl6pPr>
                      <a:lvl7pPr marL="2743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</a:defRPr>
                      </a:lvl7pPr>
                      <a:lvl8pPr marL="3200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</a:defRPr>
                      </a:lvl8pPr>
                      <a:lvl9pPr marL="3657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0" lang="en-GB" sz="20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charset="0"/>
                      </a:endParaRPr>
                    </a:p>
                  </a:txBody>
                  <a:tcPr marL="91432" marR="91432" marT="45706" marB="45706"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CD7C7"/>
                    </a:solidFill>
                  </a:tcPr>
                </a:tc>
                <a:tc>
                  <a:txBody>
                    <a:bodyPr/>
                    <a:lstStyle>
                      <a:defPPr>
                        <a:defRPr lang="en-US"/>
                      </a:defPPr>
                      <a:lvl1pPr marL="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</a:defRPr>
                      </a:lvl1pPr>
                      <a:lvl2pPr marL="457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</a:defRPr>
                      </a:lvl2pPr>
                      <a:lvl3pPr marL="914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</a:defRPr>
                      </a:lvl3pPr>
                      <a:lvl4pPr marL="1371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</a:defRPr>
                      </a:lvl4pPr>
                      <a:lvl5pPr marL="18288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</a:defRPr>
                      </a:lvl5pPr>
                      <a:lvl6pPr marL="22860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</a:defRPr>
                      </a:lvl6pPr>
                      <a:lvl7pPr marL="2743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</a:defRPr>
                      </a:lvl7pPr>
                      <a:lvl8pPr marL="3200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</a:defRPr>
                      </a:lvl8pPr>
                      <a:lvl9pPr marL="3657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0" lang="en-GB" sz="20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charset="0"/>
                      </a:endParaRPr>
                    </a:p>
                  </a:txBody>
                  <a:tcPr marL="91432" marR="91432" marT="45706" marB="45706" anchor="ctr"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CD7C7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717734">
                <a:tc>
                  <a:txBody>
                    <a:bodyPr/>
                    <a:lstStyle>
                      <a:defPPr>
                        <a:defRPr lang="en-US"/>
                      </a:defPPr>
                      <a:lvl1pPr marL="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</a:defRPr>
                      </a:lvl1pPr>
                      <a:lvl2pPr marL="457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</a:defRPr>
                      </a:lvl2pPr>
                      <a:lvl3pPr marL="914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</a:defRPr>
                      </a:lvl3pPr>
                      <a:lvl4pPr marL="1371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</a:defRPr>
                      </a:lvl4pPr>
                      <a:lvl5pPr marL="18288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</a:defRPr>
                      </a:lvl5pPr>
                      <a:lvl6pPr marL="22860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</a:defRPr>
                      </a:lvl6pPr>
                      <a:lvl7pPr marL="2743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</a:defRPr>
                      </a:lvl7pPr>
                      <a:lvl8pPr marL="3200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</a:defRPr>
                      </a:lvl8pPr>
                      <a:lvl9pPr marL="3657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</a:defRPr>
                      </a:lvl9pPr>
                    </a:lstStyle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GB" sz="20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</a:rPr>
                        <a:t>FC</a:t>
                      </a:r>
                    </a:p>
                  </a:txBody>
                  <a:tcPr marL="91432" marR="91432" marT="45706" marB="45706" anchor="ctr" horzOverflow="overflow">
                    <a:lnL w="381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accent5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>
                      <a:defPPr>
                        <a:defRPr lang="en-US"/>
                      </a:defPPr>
                      <a:lvl1pPr marL="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</a:defRPr>
                      </a:lvl1pPr>
                      <a:lvl2pPr marL="457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</a:defRPr>
                      </a:lvl2pPr>
                      <a:lvl3pPr marL="914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</a:defRPr>
                      </a:lvl3pPr>
                      <a:lvl4pPr marL="1371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</a:defRPr>
                      </a:lvl4pPr>
                      <a:lvl5pPr marL="18288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</a:defRPr>
                      </a:lvl5pPr>
                      <a:lvl6pPr marL="22860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</a:defRPr>
                      </a:lvl6pPr>
                      <a:lvl7pPr marL="2743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</a:defRPr>
                      </a:lvl7pPr>
                      <a:lvl8pPr marL="3200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</a:defRPr>
                      </a:lvl8pPr>
                      <a:lvl9pPr marL="3657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GB" sz="20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</a:rPr>
                        <a:t>120 (</a:t>
                      </a:r>
                      <a:r>
                        <a:rPr kumimoji="0" lang="en-GB" sz="20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2"/>
                          </a:solidFill>
                          <a:effectLst/>
                          <a:latin typeface="Arial" charset="0"/>
                        </a:rPr>
                        <a:t>175</a:t>
                      </a:r>
                      <a:r>
                        <a:rPr kumimoji="0" lang="en-GB" sz="20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</a:rPr>
                        <a:t>)</a:t>
                      </a:r>
                    </a:p>
                  </a:txBody>
                  <a:tcPr marL="91432" marR="91432" marT="45706" marB="45706" anchor="ctr"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accent5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GB" sz="20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</a:rPr>
                        <a:t>110 (</a:t>
                      </a:r>
                      <a:r>
                        <a:rPr kumimoji="0" lang="en-GB" sz="2000" b="0" i="0" u="none" strike="noStrike" cap="none" normalizeH="0" baseline="0" dirty="0">
                          <a:ln>
                            <a:noFill/>
                          </a:ln>
                          <a:solidFill>
                            <a:srgbClr val="FF0000"/>
                          </a:solidFill>
                          <a:effectLst/>
                          <a:latin typeface="Arial" charset="0"/>
                        </a:rPr>
                        <a:t>170</a:t>
                      </a:r>
                      <a:r>
                        <a:rPr kumimoji="0" lang="en-GB" sz="20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</a:rPr>
                        <a:t>)</a:t>
                      </a:r>
                    </a:p>
                  </a:txBody>
                  <a:tcPr marL="91432" marR="91432" marT="45706" marB="45706" anchor="ctr"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accent5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GB" sz="20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</a:rPr>
                        <a:t>100(</a:t>
                      </a:r>
                      <a:r>
                        <a:rPr kumimoji="0" lang="en-GB" sz="2000" b="0" i="0" u="none" strike="noStrike" cap="none" normalizeH="0" baseline="0" dirty="0">
                          <a:ln>
                            <a:noFill/>
                          </a:ln>
                          <a:solidFill>
                            <a:srgbClr val="FF0000"/>
                          </a:solidFill>
                          <a:effectLst/>
                          <a:latin typeface="Arial" charset="0"/>
                        </a:rPr>
                        <a:t>160</a:t>
                      </a:r>
                      <a:r>
                        <a:rPr kumimoji="0" lang="en-GB" sz="20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</a:rPr>
                        <a:t>)</a:t>
                      </a:r>
                    </a:p>
                  </a:txBody>
                  <a:tcPr marL="91432" marR="91432" marT="45706" marB="45706" anchor="ctr"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accent5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>
                      <a:defPPr>
                        <a:defRPr lang="en-US"/>
                      </a:defPPr>
                      <a:lvl1pPr marL="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</a:defRPr>
                      </a:lvl1pPr>
                      <a:lvl2pPr marL="457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</a:defRPr>
                      </a:lvl2pPr>
                      <a:lvl3pPr marL="914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</a:defRPr>
                      </a:lvl3pPr>
                      <a:lvl4pPr marL="1371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</a:defRPr>
                      </a:lvl4pPr>
                      <a:lvl5pPr marL="18288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</a:defRPr>
                      </a:lvl5pPr>
                      <a:lvl6pPr marL="22860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</a:defRPr>
                      </a:lvl6pPr>
                      <a:lvl7pPr marL="2743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</a:defRPr>
                      </a:lvl7pPr>
                      <a:lvl8pPr marL="3200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</a:defRPr>
                      </a:lvl8pPr>
                      <a:lvl9pPr marL="3657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GB" sz="20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</a:rPr>
                        <a:t>90 (</a:t>
                      </a:r>
                      <a:r>
                        <a:rPr kumimoji="0" lang="en-GB" sz="20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2"/>
                          </a:solidFill>
                          <a:effectLst/>
                          <a:latin typeface="Arial" charset="0"/>
                        </a:rPr>
                        <a:t>130</a:t>
                      </a:r>
                      <a:r>
                        <a:rPr kumimoji="0" lang="en-GB" sz="20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</a:rPr>
                        <a:t>)</a:t>
                      </a:r>
                    </a:p>
                  </a:txBody>
                  <a:tcPr marL="91432" marR="91432" marT="45706" marB="45706" anchor="ctr"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accent5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>
                      <a:defPPr>
                        <a:defRPr lang="en-US"/>
                      </a:defPPr>
                      <a:lvl1pPr marL="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</a:defRPr>
                      </a:lvl1pPr>
                      <a:lvl2pPr marL="457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</a:defRPr>
                      </a:lvl2pPr>
                      <a:lvl3pPr marL="914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</a:defRPr>
                      </a:lvl3pPr>
                      <a:lvl4pPr marL="1371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</a:defRPr>
                      </a:lvl4pPr>
                      <a:lvl5pPr marL="18288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</a:defRPr>
                      </a:lvl5pPr>
                      <a:lvl6pPr marL="22860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</a:defRPr>
                      </a:lvl6pPr>
                      <a:lvl7pPr marL="2743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</a:defRPr>
                      </a:lvl7pPr>
                      <a:lvl8pPr marL="3200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</a:defRPr>
                      </a:lvl8pPr>
                      <a:lvl9pPr marL="3657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GB" sz="20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</a:rPr>
                        <a:t>80 (</a:t>
                      </a:r>
                      <a:r>
                        <a:rPr kumimoji="0" lang="en-GB" sz="20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2"/>
                          </a:solidFill>
                          <a:effectLst/>
                          <a:latin typeface="Arial" charset="0"/>
                        </a:rPr>
                        <a:t>100</a:t>
                      </a:r>
                      <a:r>
                        <a:rPr kumimoji="0" lang="en-GB" sz="20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</a:rPr>
                        <a:t>)</a:t>
                      </a:r>
                    </a:p>
                  </a:txBody>
                  <a:tcPr marL="91432" marR="91432" marT="45706" marB="45706" anchor="ctr"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accent5">
                        <a:lumMod val="40000"/>
                        <a:lumOff val="6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</a:tbl>
          </a:graphicData>
        </a:graphic>
      </p:graphicFrame>
      <p:sp>
        <p:nvSpPr>
          <p:cNvPr id="6" name="Flèche droite 5"/>
          <p:cNvSpPr/>
          <p:nvPr/>
        </p:nvSpPr>
        <p:spPr>
          <a:xfrm>
            <a:off x="1698626" y="5646738"/>
            <a:ext cx="957263" cy="565150"/>
          </a:xfrm>
          <a:prstGeom prst="rightArrow">
            <a:avLst/>
          </a:prstGeom>
          <a:solidFill>
            <a:srgbClr val="CC0000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hangingPunct="1">
              <a:defRPr/>
            </a:pPr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2363673891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6" grpId="0" animBg="1"/>
    </p:bldLst>
  </p:timing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554" name="Titr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FR" altLang="fr-FR">
                <a:solidFill>
                  <a:srgbClr val="CC0000"/>
                </a:solidFill>
              </a:rPr>
              <a:t>P</a:t>
            </a:r>
            <a:r>
              <a:rPr lang="fr-FR" altLang="fr-FR">
                <a:solidFill>
                  <a:srgbClr val="004075"/>
                </a:solidFill>
              </a:rPr>
              <a:t>ression Artérielle</a:t>
            </a:r>
          </a:p>
        </p:txBody>
      </p:sp>
      <p:graphicFrame>
        <p:nvGraphicFramePr>
          <p:cNvPr id="4" name="Group 32"/>
          <p:cNvGraphicFramePr>
            <a:graphicFrameLocks noGrp="1"/>
          </p:cNvGraphicFramePr>
          <p:nvPr/>
        </p:nvGraphicFramePr>
        <p:xfrm>
          <a:off x="2711450" y="2420938"/>
          <a:ext cx="7056438" cy="3455988"/>
        </p:xfrm>
        <a:graphic>
          <a:graphicData uri="http://schemas.openxmlformats.org/drawingml/2006/table">
            <a:tbl>
              <a:tblPr/>
              <a:tblGrid>
                <a:gridCol w="2352675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2351088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2352675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1390649"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nl-BE" sz="2000" b="1" i="0" u="none" strike="noStrike" cap="none" normalizeH="0" baseline="0" dirty="0" err="1">
                          <a:ln>
                            <a:noFill/>
                          </a:ln>
                          <a:solidFill>
                            <a:srgbClr val="000090"/>
                          </a:solidFill>
                          <a:effectLst/>
                          <a:latin typeface="Arial" pitchFamily="34" charset="0"/>
                          <a:ea typeface="ＭＳ Ｐゴシック" pitchFamily="34" charset="-128"/>
                        </a:rPr>
                        <a:t>Age</a:t>
                      </a:r>
                      <a:endParaRPr kumimoji="0" lang="nl-BE" sz="2000" b="1" i="0" u="none" strike="noStrike" cap="none" normalizeH="0" baseline="0" dirty="0">
                        <a:ln>
                          <a:noFill/>
                        </a:ln>
                        <a:solidFill>
                          <a:srgbClr val="000090"/>
                        </a:solidFill>
                        <a:effectLst/>
                        <a:latin typeface="Arial" pitchFamily="34" charset="0"/>
                        <a:ea typeface="ＭＳ Ｐゴシック" pitchFamily="34" charset="-128"/>
                      </a:endParaRPr>
                    </a:p>
                  </a:txBody>
                  <a:tcPr anchor="ctr" horzOverflow="overflow">
                    <a:lnL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CD7C7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nl-BE" sz="2000" b="1" i="0" u="none" strike="noStrike" cap="none" normalizeH="0" baseline="0">
                          <a:ln>
                            <a:noFill/>
                          </a:ln>
                          <a:solidFill>
                            <a:srgbClr val="000090"/>
                          </a:solidFill>
                          <a:effectLst/>
                          <a:latin typeface="Arial" pitchFamily="34" charset="0"/>
                          <a:ea typeface="ＭＳ Ｐゴシック" pitchFamily="34" charset="-128"/>
                        </a:rPr>
                        <a:t>PA systolique normale</a:t>
                      </a:r>
                    </a:p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nl-BE" sz="2000" b="1" i="0" u="none" strike="noStrike" cap="none" normalizeH="0" baseline="0">
                          <a:ln>
                            <a:noFill/>
                          </a:ln>
                          <a:solidFill>
                            <a:srgbClr val="000090"/>
                          </a:solidFill>
                          <a:effectLst/>
                          <a:latin typeface="Arial" pitchFamily="34" charset="0"/>
                          <a:ea typeface="ＭＳ Ｐゴシック" pitchFamily="34" charset="-128"/>
                        </a:rPr>
                        <a:t>(mmHg)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CD7C7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nl-BE" sz="2000" b="1" i="0" u="none" strike="noStrike" cap="none" normalizeH="0" baseline="0" dirty="0">
                          <a:ln>
                            <a:noFill/>
                          </a:ln>
                          <a:solidFill>
                            <a:srgbClr val="000090"/>
                          </a:solidFill>
                          <a:effectLst/>
                          <a:latin typeface="Arial" pitchFamily="34" charset="0"/>
                          <a:ea typeface="ＭＳ Ｐゴシック" pitchFamily="34" charset="-128"/>
                        </a:rPr>
                        <a:t>PA </a:t>
                      </a:r>
                      <a:r>
                        <a:rPr kumimoji="0" lang="nl-BE" sz="2000" b="1" i="0" u="none" strike="noStrike" cap="none" normalizeH="0" baseline="0" dirty="0" err="1">
                          <a:ln>
                            <a:noFill/>
                          </a:ln>
                          <a:solidFill>
                            <a:srgbClr val="000090"/>
                          </a:solidFill>
                          <a:effectLst/>
                          <a:latin typeface="Arial" pitchFamily="34" charset="0"/>
                          <a:ea typeface="ＭＳ Ｐゴシック" pitchFamily="34" charset="-128"/>
                        </a:rPr>
                        <a:t>systolique</a:t>
                      </a:r>
                      <a:endParaRPr kumimoji="0" lang="nl-BE" sz="2000" b="1" i="0" u="none" strike="noStrike" cap="none" normalizeH="0" baseline="0" dirty="0">
                        <a:ln>
                          <a:noFill/>
                        </a:ln>
                        <a:solidFill>
                          <a:srgbClr val="000090"/>
                        </a:solidFill>
                        <a:effectLst/>
                        <a:latin typeface="Arial" pitchFamily="34" charset="0"/>
                        <a:ea typeface="ＭＳ Ｐゴシック" pitchFamily="34" charset="-128"/>
                      </a:endParaRPr>
                    </a:p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nl-BE" sz="2000" b="1" i="0" u="none" strike="noStrike" cap="none" normalizeH="0" baseline="0" dirty="0" err="1">
                          <a:ln>
                            <a:noFill/>
                          </a:ln>
                          <a:solidFill>
                            <a:srgbClr val="000090"/>
                          </a:solidFill>
                          <a:effectLst/>
                          <a:latin typeface="Arial" pitchFamily="34" charset="0"/>
                          <a:ea typeface="ＭＳ Ｐゴシック" pitchFamily="34" charset="-128"/>
                        </a:rPr>
                        <a:t>Limite</a:t>
                      </a:r>
                      <a:r>
                        <a:rPr kumimoji="0" lang="nl-BE" sz="2000" b="1" i="0" u="none" strike="noStrike" cap="none" normalizeH="0" baseline="0" dirty="0">
                          <a:ln>
                            <a:noFill/>
                          </a:ln>
                          <a:solidFill>
                            <a:srgbClr val="000090"/>
                          </a:solidFill>
                          <a:effectLst/>
                          <a:latin typeface="Arial" pitchFamily="34" charset="0"/>
                          <a:ea typeface="ＭＳ Ｐゴシック" pitchFamily="34" charset="-128"/>
                        </a:rPr>
                        <a:t> </a:t>
                      </a:r>
                      <a:r>
                        <a:rPr kumimoji="0" lang="nl-BE" sz="2000" b="1" i="0" u="none" strike="noStrike" cap="none" normalizeH="0" baseline="0" dirty="0" err="1">
                          <a:ln>
                            <a:noFill/>
                          </a:ln>
                          <a:solidFill>
                            <a:srgbClr val="000090"/>
                          </a:solidFill>
                          <a:effectLst/>
                          <a:latin typeface="Arial" pitchFamily="34" charset="0"/>
                          <a:ea typeface="ＭＳ Ｐゴシック" pitchFamily="34" charset="-128"/>
                        </a:rPr>
                        <a:t>inférieure</a:t>
                      </a:r>
                      <a:endParaRPr kumimoji="0" lang="nl-BE" sz="2000" b="1" i="0" u="none" strike="noStrike" cap="none" normalizeH="0" baseline="0" dirty="0">
                        <a:ln>
                          <a:noFill/>
                        </a:ln>
                        <a:solidFill>
                          <a:srgbClr val="000090"/>
                        </a:solidFill>
                        <a:effectLst/>
                        <a:latin typeface="Arial" pitchFamily="34" charset="0"/>
                        <a:ea typeface="ＭＳ Ｐゴシック" pitchFamily="34" charset="-128"/>
                      </a:endParaRPr>
                    </a:p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nl-BE" sz="2000" b="1" i="0" u="none" strike="noStrike" cap="none" normalizeH="0" baseline="0" dirty="0">
                          <a:ln>
                            <a:noFill/>
                          </a:ln>
                          <a:solidFill>
                            <a:srgbClr val="000090"/>
                          </a:solidFill>
                          <a:effectLst/>
                          <a:latin typeface="Arial" pitchFamily="34" charset="0"/>
                          <a:ea typeface="ＭＳ Ｐゴシック" pitchFamily="34" charset="-128"/>
                        </a:rPr>
                        <a:t>(</a:t>
                      </a:r>
                      <a:r>
                        <a:rPr kumimoji="0" lang="nl-BE" sz="2000" b="1" i="0" u="none" strike="noStrike" cap="none" normalizeH="0" baseline="0" dirty="0" err="1">
                          <a:ln>
                            <a:noFill/>
                          </a:ln>
                          <a:solidFill>
                            <a:srgbClr val="000090"/>
                          </a:solidFill>
                          <a:effectLst/>
                          <a:latin typeface="Arial" pitchFamily="34" charset="0"/>
                          <a:ea typeface="ＭＳ Ｐゴシック" pitchFamily="34" charset="-128"/>
                        </a:rPr>
                        <a:t>mmHg</a:t>
                      </a:r>
                      <a:r>
                        <a:rPr kumimoji="0" lang="nl-BE" sz="2000" b="1" i="0" u="none" strike="noStrike" cap="none" normalizeH="0" baseline="0" dirty="0">
                          <a:ln>
                            <a:noFill/>
                          </a:ln>
                          <a:solidFill>
                            <a:srgbClr val="000090"/>
                          </a:solidFill>
                          <a:effectLst/>
                          <a:latin typeface="Arial" pitchFamily="34" charset="0"/>
                          <a:ea typeface="ＭＳ Ｐゴシック" pitchFamily="34" charset="-128"/>
                        </a:rPr>
                        <a:t>)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accent5">
                        <a:lumMod val="40000"/>
                        <a:lumOff val="6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515938"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nl-BE" sz="20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pitchFamily="34" charset="0"/>
                          <a:ea typeface="ＭＳ Ｐゴシック" pitchFamily="34" charset="-128"/>
                        </a:rPr>
                        <a:t>0 –1 mois</a:t>
                      </a:r>
                    </a:p>
                  </a:txBody>
                  <a:tcPr anchor="ctr" horzOverflow="overflow">
                    <a:lnL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CD7C7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nl-BE" sz="20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pitchFamily="34" charset="0"/>
                          <a:ea typeface="ＭＳ Ｐゴシック" pitchFamily="34" charset="-128"/>
                        </a:rPr>
                        <a:t>60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CD7C7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nl-BE" sz="20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2"/>
                          </a:solidFill>
                          <a:effectLst/>
                          <a:latin typeface="Arial" pitchFamily="34" charset="0"/>
                          <a:ea typeface="ＭＳ Ｐゴシック" pitchFamily="34" charset="-128"/>
                        </a:rPr>
                        <a:t>50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accent5">
                        <a:lumMod val="40000"/>
                        <a:lumOff val="6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517525"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nl-BE" sz="20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pitchFamily="34" charset="0"/>
                          <a:ea typeface="ＭＳ Ｐゴシック" pitchFamily="34" charset="-128"/>
                        </a:rPr>
                        <a:t>1 – 12 mois</a:t>
                      </a:r>
                    </a:p>
                  </a:txBody>
                  <a:tcPr anchor="ctr" horzOverflow="overflow">
                    <a:lnL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CD7C7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nl-BE" sz="20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pitchFamily="34" charset="0"/>
                          <a:ea typeface="ＭＳ Ｐゴシック" pitchFamily="34" charset="-128"/>
                        </a:rPr>
                        <a:t>80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CD7C7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nl-BE" sz="20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2"/>
                          </a:solidFill>
                          <a:effectLst/>
                          <a:latin typeface="Arial" pitchFamily="34" charset="0"/>
                          <a:ea typeface="ＭＳ Ｐゴシック" pitchFamily="34" charset="-128"/>
                        </a:rPr>
                        <a:t>70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accent5">
                        <a:lumMod val="40000"/>
                        <a:lumOff val="6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515938"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nl-BE" sz="20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pitchFamily="34" charset="0"/>
                          <a:ea typeface="ＭＳ Ｐゴシック" pitchFamily="34" charset="-128"/>
                        </a:rPr>
                        <a:t>1 – 10 ans</a:t>
                      </a:r>
                    </a:p>
                  </a:txBody>
                  <a:tcPr anchor="ctr" horzOverflow="overflow">
                    <a:lnL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CD7C7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nl-BE" sz="20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pitchFamily="34" charset="0"/>
                          <a:ea typeface="ＭＳ Ｐゴシック" pitchFamily="34" charset="-128"/>
                        </a:rPr>
                        <a:t>90 + (2x âge)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CD7C7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nl-BE" sz="20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2"/>
                          </a:solidFill>
                          <a:effectLst/>
                          <a:latin typeface="Arial" pitchFamily="34" charset="0"/>
                          <a:ea typeface="ＭＳ Ｐゴシック" pitchFamily="34" charset="-128"/>
                        </a:rPr>
                        <a:t>70 + (2x </a:t>
                      </a:r>
                      <a:r>
                        <a:rPr kumimoji="0" lang="nl-BE" sz="2000" b="1" i="0" u="none" strike="noStrike" cap="none" normalizeH="0" baseline="0" dirty="0" err="1">
                          <a:ln>
                            <a:noFill/>
                          </a:ln>
                          <a:solidFill>
                            <a:schemeClr val="tx2"/>
                          </a:solidFill>
                          <a:effectLst/>
                          <a:latin typeface="Arial" pitchFamily="34" charset="0"/>
                          <a:ea typeface="ＭＳ Ｐゴシック" pitchFamily="34" charset="-128"/>
                        </a:rPr>
                        <a:t>âge</a:t>
                      </a:r>
                      <a:r>
                        <a:rPr kumimoji="0" lang="nl-BE" sz="20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2"/>
                          </a:solidFill>
                          <a:effectLst/>
                          <a:latin typeface="Arial" pitchFamily="34" charset="0"/>
                          <a:ea typeface="ＭＳ Ｐゴシック" pitchFamily="34" charset="-128"/>
                        </a:rPr>
                        <a:t>)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accent5">
                        <a:lumMod val="40000"/>
                        <a:lumOff val="6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515938"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nl-BE" sz="20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pitchFamily="34" charset="0"/>
                          <a:ea typeface="ＭＳ Ｐゴシック" pitchFamily="34" charset="-128"/>
                        </a:rPr>
                        <a:t>&gt; 10 ans</a:t>
                      </a:r>
                    </a:p>
                  </a:txBody>
                  <a:tcPr anchor="ctr" horzOverflow="overflow">
                    <a:lnL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CD7C7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nl-BE" sz="20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pitchFamily="34" charset="0"/>
                          <a:ea typeface="ＭＳ Ｐゴシック" pitchFamily="34" charset="-128"/>
                        </a:rPr>
                        <a:t>120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CD7C7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nl-BE" sz="20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2"/>
                          </a:solidFill>
                          <a:effectLst/>
                          <a:latin typeface="Arial" pitchFamily="34" charset="0"/>
                          <a:ea typeface="ＭＳ Ｐゴシック" pitchFamily="34" charset="-128"/>
                        </a:rPr>
                        <a:t>90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accent5">
                        <a:lumMod val="40000"/>
                        <a:lumOff val="6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1580207954"/>
      </p:ext>
    </p:extLst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FR" dirty="0">
                <a:latin typeface="Times New Roman" panose="02020603050405020304" pitchFamily="18" charset="0"/>
                <a:cs typeface="Times New Roman" panose="02020603050405020304" pitchFamily="18" charset="0"/>
              </a:rPr>
              <a:t>3.	Les signes de déshydratation extracellulaire sont :</a:t>
            </a:r>
          </a:p>
        </p:txBody>
      </p:sp>
      <p:sp>
        <p:nvSpPr>
          <p:cNvPr id="3" name="Espace réservé du contenu 2"/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pPr marL="342900" lvl="0" indent="-342900">
              <a:lnSpc>
                <a:spcPct val="107000"/>
              </a:lnSpc>
              <a:spcAft>
                <a:spcPts val="0"/>
              </a:spcAft>
              <a:buFont typeface="+mj-lt"/>
              <a:buAutoNum type="alphaUcPeriod"/>
            </a:pPr>
            <a:r>
              <a:rPr lang="fr-FR" sz="2800" dirty="0">
                <a:latin typeface="Times New Roman" panose="02020603050405020304" pitchFamily="18" charset="0"/>
                <a:ea typeface="Calibri" panose="020F0502020204030204" pitchFamily="34" charset="0"/>
                <a:cs typeface="Arial" panose="020B0604020202020204" pitchFamily="34" charset="0"/>
              </a:rPr>
              <a:t>Une fièvre aigue</a:t>
            </a:r>
            <a:endParaRPr lang="fr-FR" dirty="0">
              <a:latin typeface="Calibri" panose="020F0502020204030204" pitchFamily="34" charset="0"/>
              <a:ea typeface="Calibri" panose="020F0502020204030204" pitchFamily="34" charset="0"/>
              <a:cs typeface="Arial" panose="020B0604020202020204" pitchFamily="34" charset="0"/>
            </a:endParaRPr>
          </a:p>
          <a:p>
            <a:pPr marL="342900" lvl="0" indent="-342900">
              <a:lnSpc>
                <a:spcPct val="107000"/>
              </a:lnSpc>
              <a:spcAft>
                <a:spcPts val="0"/>
              </a:spcAft>
              <a:buFont typeface="+mj-lt"/>
              <a:buAutoNum type="alphaUcPeriod"/>
            </a:pPr>
            <a:r>
              <a:rPr lang="fr-FR" sz="2800" dirty="0">
                <a:latin typeface="Times New Roman" panose="02020603050405020304" pitchFamily="18" charset="0"/>
                <a:ea typeface="Calibri" panose="020F0502020204030204" pitchFamily="34" charset="0"/>
                <a:cs typeface="Arial" panose="020B0604020202020204" pitchFamily="34" charset="0"/>
              </a:rPr>
              <a:t>Une hypotonie des globes oculaires</a:t>
            </a:r>
            <a:endParaRPr lang="fr-FR" dirty="0">
              <a:latin typeface="Calibri" panose="020F0502020204030204" pitchFamily="34" charset="0"/>
              <a:ea typeface="Calibri" panose="020F0502020204030204" pitchFamily="34" charset="0"/>
              <a:cs typeface="Arial" panose="020B0604020202020204" pitchFamily="34" charset="0"/>
            </a:endParaRPr>
          </a:p>
          <a:p>
            <a:pPr marL="342900" lvl="0" indent="-342900">
              <a:lnSpc>
                <a:spcPct val="107000"/>
              </a:lnSpc>
              <a:spcAft>
                <a:spcPts val="0"/>
              </a:spcAft>
              <a:buFont typeface="+mj-lt"/>
              <a:buAutoNum type="alphaUcPeriod"/>
            </a:pPr>
            <a:r>
              <a:rPr lang="fr-FR" sz="2800" dirty="0">
                <a:solidFill>
                  <a:srgbClr val="FF0000"/>
                </a:solidFill>
                <a:latin typeface="Times New Roman" panose="02020603050405020304" pitchFamily="18" charset="0"/>
                <a:ea typeface="Calibri" panose="020F0502020204030204" pitchFamily="34" charset="0"/>
                <a:cs typeface="Arial" panose="020B0604020202020204" pitchFamily="34" charset="0"/>
              </a:rPr>
              <a:t>Une dépression de la fontanelle antérieure</a:t>
            </a:r>
            <a:endParaRPr lang="fr-FR" dirty="0">
              <a:solidFill>
                <a:srgbClr val="FF0000"/>
              </a:solidFill>
              <a:latin typeface="Calibri" panose="020F0502020204030204" pitchFamily="34" charset="0"/>
              <a:ea typeface="Calibri" panose="020F0502020204030204" pitchFamily="34" charset="0"/>
              <a:cs typeface="Arial" panose="020B0604020202020204" pitchFamily="34" charset="0"/>
            </a:endParaRPr>
          </a:p>
          <a:p>
            <a:pPr marL="342900" lvl="0" indent="-342900">
              <a:lnSpc>
                <a:spcPct val="107000"/>
              </a:lnSpc>
              <a:spcAft>
                <a:spcPts val="0"/>
              </a:spcAft>
              <a:buFont typeface="+mj-lt"/>
              <a:buAutoNum type="alphaUcPeriod"/>
            </a:pPr>
            <a:r>
              <a:rPr lang="fr-FR" sz="2800" dirty="0">
                <a:solidFill>
                  <a:srgbClr val="FF0000"/>
                </a:solidFill>
                <a:latin typeface="Times New Roman" panose="02020603050405020304" pitchFamily="18" charset="0"/>
                <a:ea typeface="Calibri" panose="020F0502020204030204" pitchFamily="34" charset="0"/>
                <a:cs typeface="Arial" panose="020B0604020202020204" pitchFamily="34" charset="0"/>
              </a:rPr>
              <a:t>Une oligurie. </a:t>
            </a:r>
            <a:endParaRPr lang="fr-FR" dirty="0">
              <a:solidFill>
                <a:srgbClr val="FF0000"/>
              </a:solidFill>
              <a:latin typeface="Calibri" panose="020F0502020204030204" pitchFamily="34" charset="0"/>
              <a:ea typeface="Calibri" panose="020F0502020204030204" pitchFamily="34" charset="0"/>
              <a:cs typeface="Arial" panose="020B0604020202020204" pitchFamily="34" charset="0"/>
            </a:endParaRPr>
          </a:p>
          <a:p>
            <a:pPr marL="342900" lvl="0" indent="-342900">
              <a:lnSpc>
                <a:spcPct val="107000"/>
              </a:lnSpc>
              <a:spcAft>
                <a:spcPts val="0"/>
              </a:spcAft>
              <a:buFont typeface="+mj-lt"/>
              <a:buAutoNum type="alphaUcPeriod"/>
            </a:pPr>
            <a:r>
              <a:rPr lang="fr-FR" sz="2800" dirty="0">
                <a:solidFill>
                  <a:srgbClr val="FF0000"/>
                </a:solidFill>
                <a:latin typeface="Times New Roman" panose="02020603050405020304" pitchFamily="18" charset="0"/>
                <a:ea typeface="Calibri" panose="020F0502020204030204" pitchFamily="34" charset="0"/>
                <a:cs typeface="Arial" panose="020B0604020202020204" pitchFamily="34" charset="0"/>
              </a:rPr>
              <a:t>Une tachycardie avec une hypotension artérielle.</a:t>
            </a:r>
            <a:endParaRPr lang="fr-FR" dirty="0">
              <a:solidFill>
                <a:srgbClr val="FF0000"/>
              </a:solidFill>
              <a:latin typeface="Calibri" panose="020F0502020204030204" pitchFamily="34" charset="0"/>
              <a:ea typeface="Calibri" panose="020F0502020204030204" pitchFamily="34" charset="0"/>
              <a:cs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746167586"/>
      </p:ext>
    </p:extLst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lvl="0">
              <a:lnSpc>
                <a:spcPct val="107000"/>
              </a:lnSpc>
              <a:spcAft>
                <a:spcPts val="0"/>
              </a:spcAft>
            </a:pPr>
            <a:r>
              <a:rPr lang="fr-FR" dirty="0"/>
              <a:t>4- Les signes de déshydratation intracellulaire :</a:t>
            </a:r>
          </a:p>
        </p:txBody>
      </p:sp>
      <p:sp>
        <p:nvSpPr>
          <p:cNvPr id="3" name="Espace réservé du contenu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342900" lvl="0" indent="-342900">
              <a:lnSpc>
                <a:spcPct val="107000"/>
              </a:lnSpc>
              <a:spcAft>
                <a:spcPts val="0"/>
              </a:spcAft>
              <a:buFont typeface="+mj-lt"/>
              <a:buAutoNum type="alphaUcPeriod"/>
            </a:pPr>
            <a:r>
              <a:rPr lang="fr-FR" sz="2400" dirty="0">
                <a:latin typeface="Times New Roman" panose="02020603050405020304" pitchFamily="18" charset="0"/>
                <a:ea typeface="Calibri" panose="020F0502020204030204" pitchFamily="34" charset="0"/>
                <a:cs typeface="Arial" panose="020B0604020202020204" pitchFamily="34" charset="0"/>
              </a:rPr>
              <a:t>Une soif intense </a:t>
            </a:r>
            <a:endParaRPr lang="fr-FR" sz="1800" dirty="0">
              <a:latin typeface="Calibri" panose="020F0502020204030204" pitchFamily="34" charset="0"/>
              <a:ea typeface="Calibri" panose="020F0502020204030204" pitchFamily="34" charset="0"/>
              <a:cs typeface="Arial" panose="020B0604020202020204" pitchFamily="34" charset="0"/>
            </a:endParaRPr>
          </a:p>
          <a:p>
            <a:pPr marL="342900" lvl="0" indent="-342900">
              <a:lnSpc>
                <a:spcPct val="107000"/>
              </a:lnSpc>
              <a:spcAft>
                <a:spcPts val="0"/>
              </a:spcAft>
              <a:buFont typeface="+mj-lt"/>
              <a:buAutoNum type="alphaUcPeriod"/>
            </a:pPr>
            <a:r>
              <a:rPr lang="fr-FR" sz="2400" dirty="0">
                <a:latin typeface="Times New Roman" panose="02020603050405020304" pitchFamily="18" charset="0"/>
                <a:ea typeface="Calibri" panose="020F0502020204030204" pitchFamily="34" charset="0"/>
                <a:cs typeface="Arial" panose="020B0604020202020204" pitchFamily="34" charset="0"/>
              </a:rPr>
              <a:t>Une sècheresse des muqueuses  </a:t>
            </a:r>
            <a:endParaRPr lang="fr-FR" sz="1800" dirty="0">
              <a:latin typeface="Calibri" panose="020F0502020204030204" pitchFamily="34" charset="0"/>
              <a:ea typeface="Calibri" panose="020F0502020204030204" pitchFamily="34" charset="0"/>
              <a:cs typeface="Arial" panose="020B0604020202020204" pitchFamily="34" charset="0"/>
            </a:endParaRPr>
          </a:p>
          <a:p>
            <a:pPr marL="342900" lvl="0" indent="-342900">
              <a:lnSpc>
                <a:spcPct val="107000"/>
              </a:lnSpc>
              <a:spcAft>
                <a:spcPts val="0"/>
              </a:spcAft>
              <a:buFont typeface="+mj-lt"/>
              <a:buAutoNum type="alphaUcPeriod"/>
            </a:pPr>
            <a:r>
              <a:rPr lang="fr-FR" sz="2400" dirty="0">
                <a:latin typeface="Times New Roman" panose="02020603050405020304" pitchFamily="18" charset="0"/>
                <a:ea typeface="Calibri" panose="020F0502020204030204" pitchFamily="34" charset="0"/>
                <a:cs typeface="Arial" panose="020B0604020202020204" pitchFamily="34" charset="0"/>
              </a:rPr>
              <a:t>Un temps de recoloration allongé</a:t>
            </a:r>
            <a:endParaRPr lang="fr-FR" sz="1800" dirty="0">
              <a:latin typeface="Calibri" panose="020F0502020204030204" pitchFamily="34" charset="0"/>
              <a:ea typeface="Calibri" panose="020F0502020204030204" pitchFamily="34" charset="0"/>
              <a:cs typeface="Arial" panose="020B0604020202020204" pitchFamily="34" charset="0"/>
            </a:endParaRPr>
          </a:p>
          <a:p>
            <a:pPr marL="342900" lvl="0" indent="-342900">
              <a:lnSpc>
                <a:spcPct val="107000"/>
              </a:lnSpc>
              <a:spcAft>
                <a:spcPts val="0"/>
              </a:spcAft>
              <a:buFont typeface="+mj-lt"/>
              <a:buAutoNum type="alphaUcPeriod"/>
            </a:pPr>
            <a:r>
              <a:rPr lang="fr-FR" sz="2400" dirty="0">
                <a:latin typeface="Times New Roman" panose="02020603050405020304" pitchFamily="18" charset="0"/>
                <a:ea typeface="Calibri" panose="020F0502020204030204" pitchFamily="34" charset="0"/>
                <a:cs typeface="Arial" panose="020B0604020202020204" pitchFamily="34" charset="0"/>
              </a:rPr>
              <a:t>Un état de coma</a:t>
            </a:r>
            <a:endParaRPr lang="fr-FR" sz="1800" dirty="0">
              <a:latin typeface="Calibri" panose="020F0502020204030204" pitchFamily="34" charset="0"/>
              <a:ea typeface="Calibri" panose="020F0502020204030204" pitchFamily="34" charset="0"/>
              <a:cs typeface="Arial" panose="020B0604020202020204" pitchFamily="34" charset="0"/>
            </a:endParaRPr>
          </a:p>
          <a:p>
            <a:pPr marL="342900" lvl="0" indent="-342900">
              <a:lnSpc>
                <a:spcPct val="107000"/>
              </a:lnSpc>
              <a:spcAft>
                <a:spcPts val="800"/>
              </a:spcAft>
              <a:buFont typeface="+mj-lt"/>
              <a:buAutoNum type="alphaUcPeriod"/>
            </a:pPr>
            <a:r>
              <a:rPr lang="fr-FR" sz="2400" dirty="0">
                <a:solidFill>
                  <a:schemeClr val="tx1"/>
                </a:solidFill>
                <a:latin typeface="Times New Roman" panose="02020603050405020304" pitchFamily="18" charset="0"/>
                <a:ea typeface="Calibri" panose="020F0502020204030204" pitchFamily="34" charset="0"/>
                <a:cs typeface="Arial" panose="020B0604020202020204" pitchFamily="34" charset="0"/>
              </a:rPr>
              <a:t>Des yeux enfoncés</a:t>
            </a:r>
            <a:endParaRPr lang="fr-FR" sz="1800" dirty="0">
              <a:solidFill>
                <a:schemeClr val="tx1"/>
              </a:solidFill>
              <a:latin typeface="Calibri" panose="020F0502020204030204" pitchFamily="34" charset="0"/>
              <a:ea typeface="Calibri" panose="020F0502020204030204" pitchFamily="34" charset="0"/>
              <a:cs typeface="Arial" panose="020B0604020202020204" pitchFamily="34" charset="0"/>
            </a:endParaRPr>
          </a:p>
          <a:p>
            <a:endParaRPr lang="fr-FR" dirty="0"/>
          </a:p>
        </p:txBody>
      </p:sp>
    </p:spTree>
    <p:extLst>
      <p:ext uri="{BB962C8B-B14F-4D97-AF65-F5344CB8AC3E}">
        <p14:creationId xmlns:p14="http://schemas.microsoft.com/office/powerpoint/2010/main" val="1544304575"/>
      </p:ext>
    </p:extLst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2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>
          <a:xfrm>
            <a:off x="1769191" y="619998"/>
            <a:ext cx="9255125" cy="4106548"/>
          </a:xfrm>
          <a:prstGeom prst="rect">
            <a:avLst/>
          </a:prstGeom>
          <a:noFill/>
        </p:spPr>
      </p:pic>
    </p:spTree>
    <p:extLst>
      <p:ext uri="{BB962C8B-B14F-4D97-AF65-F5344CB8AC3E}">
        <p14:creationId xmlns:p14="http://schemas.microsoft.com/office/powerpoint/2010/main" val="1344117289"/>
      </p:ext>
    </p:extLst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7650" name="Picture 2"/>
          <p:cNvPicPr>
            <a:picLocks noGrp="1" noChangeAspect="1" noChangeArrowheads="1"/>
          </p:cNvPicPr>
          <p:nvPr>
            <p:ph idx="1"/>
          </p:nvPr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>
          <a:xfrm>
            <a:off x="1738313" y="1357313"/>
            <a:ext cx="4538662" cy="3168650"/>
          </a:xfrm>
          <a:noFill/>
        </p:spPr>
      </p:pic>
      <p:pic>
        <p:nvPicPr>
          <p:cNvPr id="27651" name="Picture 2"/>
          <p:cNvPicPr>
            <a:picLocks noChangeAspect="1" noChangeArrowheads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327776" y="1571626"/>
            <a:ext cx="4340225" cy="22764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27652" name="Picture 3"/>
          <p:cNvPicPr>
            <a:picLocks noChangeAspect="1" noChangeArrowheads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7953375" y="4067176"/>
            <a:ext cx="2497138" cy="279082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27653" name="Picture 4"/>
          <p:cNvPicPr>
            <a:picLocks noChangeAspect="1" noChangeArrowheads="1"/>
          </p:cNvPicPr>
          <p:nvPr/>
        </p:nvPicPr>
        <p:blipFill>
          <a:blip r:embed="rId6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667250" y="5000625"/>
            <a:ext cx="2895600" cy="15621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27654" name="Picture 3"/>
          <p:cNvPicPr>
            <a:picLocks noChangeAspect="1" noChangeArrowheads="1"/>
          </p:cNvPicPr>
          <p:nvPr/>
        </p:nvPicPr>
        <p:blipFill>
          <a:blip r:embed="rId7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524001" y="5186364"/>
            <a:ext cx="2798763" cy="167163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27655" name="Picture 2"/>
          <p:cNvPicPr>
            <a:picLocks noChangeAspect="1" noChangeArrowheads="1"/>
          </p:cNvPicPr>
          <p:nvPr/>
        </p:nvPicPr>
        <p:blipFill>
          <a:blip r:embed="rId8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738314" y="4551364"/>
            <a:ext cx="4643437" cy="38258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10" name="Titre 1"/>
          <p:cNvSpPr>
            <a:spLocks noGrp="1"/>
          </p:cNvSpPr>
          <p:nvPr>
            <p:ph type="title"/>
          </p:nvPr>
        </p:nvSpPr>
        <p:spPr>
          <a:xfrm>
            <a:off x="1476375" y="115581"/>
            <a:ext cx="9601200" cy="979487"/>
          </a:xfrm>
          <a:solidFill>
            <a:schemeClr val="accent6">
              <a:lumMod val="60000"/>
              <a:lumOff val="40000"/>
            </a:schemeClr>
          </a:solidFill>
        </p:spPr>
        <p:txBody>
          <a:bodyPr rtlCol="0">
            <a:normAutofit/>
          </a:bodyPr>
          <a:lstStyle/>
          <a:p>
            <a:pPr>
              <a:defRPr/>
            </a:pPr>
            <a:r>
              <a:rPr lang="fr-FR" b="1" dirty="0"/>
              <a:t>COMMENTAIRES</a:t>
            </a:r>
          </a:p>
        </p:txBody>
      </p:sp>
    </p:spTree>
    <p:extLst>
      <p:ext uri="{BB962C8B-B14F-4D97-AF65-F5344CB8AC3E}">
        <p14:creationId xmlns:p14="http://schemas.microsoft.com/office/powerpoint/2010/main" val="4022296755"/>
      </p:ext>
    </p:extLst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pPr lvl="0">
              <a:lnSpc>
                <a:spcPct val="107000"/>
              </a:lnSpc>
              <a:spcAft>
                <a:spcPts val="0"/>
              </a:spcAft>
            </a:pPr>
            <a:r>
              <a:rPr lang="fr-FR" dirty="0"/>
              <a:t>4- Les signes de déshydratation intracellulaire :</a:t>
            </a:r>
          </a:p>
        </p:txBody>
      </p:sp>
      <p:sp>
        <p:nvSpPr>
          <p:cNvPr id="3" name="Espace réservé du contenu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342900" lvl="0" indent="-342900">
              <a:lnSpc>
                <a:spcPct val="107000"/>
              </a:lnSpc>
              <a:spcAft>
                <a:spcPts val="0"/>
              </a:spcAft>
              <a:buFont typeface="+mj-lt"/>
              <a:buAutoNum type="alphaUcPeriod"/>
            </a:pPr>
            <a:r>
              <a:rPr lang="fr-FR" sz="2400" dirty="0">
                <a:solidFill>
                  <a:srgbClr val="FF0000"/>
                </a:solidFill>
                <a:latin typeface="Times New Roman" panose="02020603050405020304" pitchFamily="18" charset="0"/>
                <a:ea typeface="Calibri" panose="020F0502020204030204" pitchFamily="34" charset="0"/>
                <a:cs typeface="Arial" panose="020B0604020202020204" pitchFamily="34" charset="0"/>
              </a:rPr>
              <a:t>Une soif intense </a:t>
            </a:r>
            <a:endParaRPr lang="fr-FR" sz="1800" dirty="0">
              <a:solidFill>
                <a:srgbClr val="FF0000"/>
              </a:solidFill>
              <a:latin typeface="Calibri" panose="020F0502020204030204" pitchFamily="34" charset="0"/>
              <a:ea typeface="Calibri" panose="020F0502020204030204" pitchFamily="34" charset="0"/>
              <a:cs typeface="Arial" panose="020B0604020202020204" pitchFamily="34" charset="0"/>
            </a:endParaRPr>
          </a:p>
          <a:p>
            <a:pPr marL="342900" lvl="0" indent="-342900">
              <a:lnSpc>
                <a:spcPct val="107000"/>
              </a:lnSpc>
              <a:spcAft>
                <a:spcPts val="0"/>
              </a:spcAft>
              <a:buFont typeface="+mj-lt"/>
              <a:buAutoNum type="alphaUcPeriod"/>
            </a:pPr>
            <a:r>
              <a:rPr lang="fr-FR" sz="2400" dirty="0">
                <a:solidFill>
                  <a:srgbClr val="FF0000"/>
                </a:solidFill>
                <a:latin typeface="Times New Roman" panose="02020603050405020304" pitchFamily="18" charset="0"/>
                <a:ea typeface="Calibri" panose="020F0502020204030204" pitchFamily="34" charset="0"/>
                <a:cs typeface="Arial" panose="020B0604020202020204" pitchFamily="34" charset="0"/>
              </a:rPr>
              <a:t>Une sècheresse des muqueuses  </a:t>
            </a:r>
            <a:endParaRPr lang="fr-FR" sz="1800" dirty="0">
              <a:solidFill>
                <a:srgbClr val="FF0000"/>
              </a:solidFill>
              <a:latin typeface="Calibri" panose="020F0502020204030204" pitchFamily="34" charset="0"/>
              <a:ea typeface="Calibri" panose="020F0502020204030204" pitchFamily="34" charset="0"/>
              <a:cs typeface="Arial" panose="020B0604020202020204" pitchFamily="34" charset="0"/>
            </a:endParaRPr>
          </a:p>
          <a:p>
            <a:pPr marL="342900" lvl="0" indent="-342900">
              <a:lnSpc>
                <a:spcPct val="107000"/>
              </a:lnSpc>
              <a:spcAft>
                <a:spcPts val="0"/>
              </a:spcAft>
              <a:buFont typeface="+mj-lt"/>
              <a:buAutoNum type="alphaUcPeriod"/>
            </a:pPr>
            <a:r>
              <a:rPr lang="fr-FR" sz="2400" dirty="0">
                <a:latin typeface="Times New Roman" panose="02020603050405020304" pitchFamily="18" charset="0"/>
                <a:ea typeface="Calibri" panose="020F0502020204030204" pitchFamily="34" charset="0"/>
                <a:cs typeface="Arial" panose="020B0604020202020204" pitchFamily="34" charset="0"/>
              </a:rPr>
              <a:t>Un temps de recoloration allongé</a:t>
            </a:r>
            <a:endParaRPr lang="fr-FR" sz="1800" dirty="0">
              <a:latin typeface="Calibri" panose="020F0502020204030204" pitchFamily="34" charset="0"/>
              <a:ea typeface="Calibri" panose="020F0502020204030204" pitchFamily="34" charset="0"/>
              <a:cs typeface="Arial" panose="020B0604020202020204" pitchFamily="34" charset="0"/>
            </a:endParaRPr>
          </a:p>
          <a:p>
            <a:pPr marL="342900" lvl="0" indent="-342900">
              <a:lnSpc>
                <a:spcPct val="107000"/>
              </a:lnSpc>
              <a:spcAft>
                <a:spcPts val="0"/>
              </a:spcAft>
              <a:buFont typeface="+mj-lt"/>
              <a:buAutoNum type="alphaUcPeriod"/>
            </a:pPr>
            <a:r>
              <a:rPr lang="fr-FR" sz="2400" dirty="0">
                <a:solidFill>
                  <a:srgbClr val="FF0000"/>
                </a:solidFill>
                <a:latin typeface="Times New Roman" panose="02020603050405020304" pitchFamily="18" charset="0"/>
                <a:ea typeface="Calibri" panose="020F0502020204030204" pitchFamily="34" charset="0"/>
                <a:cs typeface="Arial" panose="020B0604020202020204" pitchFamily="34" charset="0"/>
              </a:rPr>
              <a:t>Un état de coma</a:t>
            </a:r>
            <a:endParaRPr lang="fr-FR" sz="1800" dirty="0">
              <a:solidFill>
                <a:srgbClr val="FF0000"/>
              </a:solidFill>
              <a:latin typeface="Calibri" panose="020F0502020204030204" pitchFamily="34" charset="0"/>
              <a:ea typeface="Calibri" panose="020F0502020204030204" pitchFamily="34" charset="0"/>
              <a:cs typeface="Arial" panose="020B0604020202020204" pitchFamily="34" charset="0"/>
            </a:endParaRPr>
          </a:p>
          <a:p>
            <a:pPr marL="342900" lvl="0" indent="-342900">
              <a:lnSpc>
                <a:spcPct val="107000"/>
              </a:lnSpc>
              <a:spcAft>
                <a:spcPts val="800"/>
              </a:spcAft>
              <a:buFont typeface="+mj-lt"/>
              <a:buAutoNum type="alphaUcPeriod"/>
            </a:pPr>
            <a:r>
              <a:rPr lang="fr-FR" sz="2400" dirty="0">
                <a:solidFill>
                  <a:schemeClr val="tx1"/>
                </a:solidFill>
                <a:latin typeface="Times New Roman" panose="02020603050405020304" pitchFamily="18" charset="0"/>
                <a:ea typeface="Calibri" panose="020F0502020204030204" pitchFamily="34" charset="0"/>
                <a:cs typeface="Arial" panose="020B0604020202020204" pitchFamily="34" charset="0"/>
              </a:rPr>
              <a:t>Des yeux enfoncés</a:t>
            </a:r>
            <a:endParaRPr lang="fr-FR" sz="1800" dirty="0">
              <a:solidFill>
                <a:schemeClr val="tx1"/>
              </a:solidFill>
              <a:latin typeface="Calibri" panose="020F0502020204030204" pitchFamily="34" charset="0"/>
              <a:ea typeface="Calibri" panose="020F0502020204030204" pitchFamily="34" charset="0"/>
              <a:cs typeface="Arial" panose="020B0604020202020204" pitchFamily="34" charset="0"/>
            </a:endParaRPr>
          </a:p>
          <a:p>
            <a:endParaRPr lang="fr-FR" dirty="0"/>
          </a:p>
        </p:txBody>
      </p:sp>
    </p:spTree>
    <p:extLst>
      <p:ext uri="{BB962C8B-B14F-4D97-AF65-F5344CB8AC3E}">
        <p14:creationId xmlns:p14="http://schemas.microsoft.com/office/powerpoint/2010/main" val="4188009410"/>
      </p:ext>
    </p:extLst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>
          <a:xfrm>
            <a:off x="1661029" y="1813740"/>
            <a:ext cx="9601200" cy="1485900"/>
          </a:xfrm>
        </p:spPr>
        <p:txBody>
          <a:bodyPr>
            <a:normAutofit fontScale="90000"/>
          </a:bodyPr>
          <a:lstStyle/>
          <a:p>
            <a:r>
              <a:rPr lang="fr-FR" b="1" dirty="0">
                <a:solidFill>
                  <a:srgbClr val="0070C0"/>
                </a:solidFill>
              </a:rPr>
              <a:t>Objectif N° 5 : </a:t>
            </a:r>
            <a:br>
              <a:rPr lang="fr-FR" b="1" dirty="0">
                <a:solidFill>
                  <a:srgbClr val="0070C0"/>
                </a:solidFill>
              </a:rPr>
            </a:br>
            <a:br>
              <a:rPr lang="fr-FR" b="1" dirty="0">
                <a:solidFill>
                  <a:srgbClr val="0070C0"/>
                </a:solidFill>
              </a:rPr>
            </a:br>
            <a:r>
              <a:rPr lang="fr-FR" b="1" dirty="0">
                <a:solidFill>
                  <a:srgbClr val="0070C0"/>
                </a:solidFill>
              </a:rPr>
              <a:t>Evaluer le degré de sévérité d’une déshydratation aigue de l’enfant selon le score de l’OMS</a:t>
            </a:r>
            <a:endParaRPr lang="fr-FR" dirty="0">
              <a:solidFill>
                <a:srgbClr val="0070C0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1168385705"/>
      </p:ext>
    </p:extLst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marL="342900" lvl="0" indent="-342900">
              <a:lnSpc>
                <a:spcPct val="107000"/>
              </a:lnSpc>
              <a:spcAft>
                <a:spcPts val="0"/>
              </a:spcAft>
            </a:pPr>
            <a:r>
              <a:rPr lang="fr-FR" dirty="0">
                <a:latin typeface="Times New Roman" panose="02020603050405020304" pitchFamily="18" charset="0"/>
                <a:ea typeface="Calibri" panose="020F0502020204030204" pitchFamily="34" charset="0"/>
                <a:cs typeface="Arial" panose="020B0604020202020204" pitchFamily="34" charset="0"/>
              </a:rPr>
              <a:t>5-Dans le score de déshydratation :</a:t>
            </a:r>
            <a:endParaRPr lang="fr-FR" sz="3600" dirty="0">
              <a:latin typeface="Calibri" panose="020F0502020204030204" pitchFamily="34" charset="0"/>
              <a:ea typeface="Calibri" panose="020F0502020204030204" pitchFamily="34" charset="0"/>
              <a:cs typeface="Arial" panose="020B0604020202020204" pitchFamily="34" charset="0"/>
            </a:endParaRPr>
          </a:p>
        </p:txBody>
      </p:sp>
      <p:sp>
        <p:nvSpPr>
          <p:cNvPr id="3" name="Espace réservé du contenu 2"/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pPr marL="342900" lvl="0" indent="-342900">
              <a:lnSpc>
                <a:spcPct val="107000"/>
              </a:lnSpc>
              <a:spcAft>
                <a:spcPts val="0"/>
              </a:spcAft>
              <a:buFont typeface="+mj-lt"/>
              <a:buAutoNum type="alphaUcPeriod"/>
            </a:pPr>
            <a:r>
              <a:rPr lang="fr-FR" sz="2400" dirty="0">
                <a:solidFill>
                  <a:schemeClr val="tx1"/>
                </a:solidFill>
                <a:latin typeface="Times New Roman" panose="02020603050405020304" pitchFamily="18" charset="0"/>
                <a:ea typeface="Calibri" panose="020F0502020204030204" pitchFamily="34" charset="0"/>
                <a:cs typeface="Arial" panose="020B0604020202020204" pitchFamily="34" charset="0"/>
              </a:rPr>
              <a:t>Une SatO2 inférieure à 94% est coté à 2 </a:t>
            </a:r>
            <a:endParaRPr lang="fr-FR" sz="1800" dirty="0">
              <a:solidFill>
                <a:schemeClr val="tx1"/>
              </a:solidFill>
              <a:latin typeface="Calibri" panose="020F0502020204030204" pitchFamily="34" charset="0"/>
              <a:ea typeface="Calibri" panose="020F0502020204030204" pitchFamily="34" charset="0"/>
              <a:cs typeface="Arial" panose="020B0604020202020204" pitchFamily="34" charset="0"/>
            </a:endParaRPr>
          </a:p>
          <a:p>
            <a:pPr marL="342900" lvl="0" indent="-342900">
              <a:lnSpc>
                <a:spcPct val="107000"/>
              </a:lnSpc>
              <a:spcAft>
                <a:spcPts val="0"/>
              </a:spcAft>
              <a:buFont typeface="+mj-lt"/>
              <a:buAutoNum type="alphaUcPeriod"/>
            </a:pPr>
            <a:r>
              <a:rPr lang="fr-FR" sz="2400" dirty="0">
                <a:solidFill>
                  <a:schemeClr val="tx1"/>
                </a:solidFill>
                <a:latin typeface="Times New Roman" panose="02020603050405020304" pitchFamily="18" charset="0"/>
                <a:ea typeface="Calibri" panose="020F0502020204030204" pitchFamily="34" charset="0"/>
                <a:cs typeface="Arial" panose="020B0604020202020204" pitchFamily="34" charset="0"/>
              </a:rPr>
              <a:t>Un enfant plaintif  est coté à 2</a:t>
            </a:r>
            <a:endParaRPr lang="fr-FR" sz="1800" dirty="0">
              <a:solidFill>
                <a:schemeClr val="tx1"/>
              </a:solidFill>
              <a:latin typeface="Calibri" panose="020F0502020204030204" pitchFamily="34" charset="0"/>
              <a:ea typeface="Calibri" panose="020F0502020204030204" pitchFamily="34" charset="0"/>
              <a:cs typeface="Arial" panose="020B0604020202020204" pitchFamily="34" charset="0"/>
            </a:endParaRPr>
          </a:p>
          <a:p>
            <a:pPr marL="342900" lvl="0" indent="-342900">
              <a:lnSpc>
                <a:spcPct val="107000"/>
              </a:lnSpc>
              <a:spcAft>
                <a:spcPts val="0"/>
              </a:spcAft>
              <a:buFont typeface="+mj-lt"/>
              <a:buAutoNum type="alphaUcPeriod"/>
            </a:pPr>
            <a:r>
              <a:rPr lang="fr-FR" sz="2400" dirty="0">
                <a:solidFill>
                  <a:schemeClr val="tx1"/>
                </a:solidFill>
                <a:latin typeface="Times New Roman" panose="02020603050405020304" pitchFamily="18" charset="0"/>
                <a:ea typeface="Calibri" panose="020F0502020204030204" pitchFamily="34" charset="0"/>
                <a:cs typeface="Arial" panose="020B0604020202020204" pitchFamily="34" charset="0"/>
              </a:rPr>
              <a:t>Un état de choc </a:t>
            </a:r>
            <a:r>
              <a:rPr lang="fr-FR" sz="2400" dirty="0" err="1">
                <a:solidFill>
                  <a:schemeClr val="tx1"/>
                </a:solidFill>
                <a:latin typeface="Times New Roman" panose="02020603050405020304" pitchFamily="18" charset="0"/>
                <a:ea typeface="Calibri" panose="020F0502020204030204" pitchFamily="34" charset="0"/>
                <a:cs typeface="Arial" panose="020B0604020202020204" pitchFamily="34" charset="0"/>
              </a:rPr>
              <a:t>hypovolémique</a:t>
            </a:r>
            <a:r>
              <a:rPr lang="fr-FR" sz="2400" dirty="0">
                <a:solidFill>
                  <a:schemeClr val="tx1"/>
                </a:solidFill>
                <a:latin typeface="Times New Roman" panose="02020603050405020304" pitchFamily="18" charset="0"/>
                <a:ea typeface="Calibri" panose="020F0502020204030204" pitchFamily="34" charset="0"/>
                <a:cs typeface="Arial" panose="020B0604020202020204" pitchFamily="34" charset="0"/>
              </a:rPr>
              <a:t> majore le score de 5</a:t>
            </a:r>
            <a:endParaRPr lang="fr-FR" sz="1800" dirty="0">
              <a:solidFill>
                <a:schemeClr val="tx1"/>
              </a:solidFill>
              <a:latin typeface="Calibri" panose="020F0502020204030204" pitchFamily="34" charset="0"/>
              <a:ea typeface="Calibri" panose="020F0502020204030204" pitchFamily="34" charset="0"/>
              <a:cs typeface="Arial" panose="020B0604020202020204" pitchFamily="34" charset="0"/>
            </a:endParaRPr>
          </a:p>
          <a:p>
            <a:pPr marL="342900" lvl="0" indent="-342900">
              <a:spcAft>
                <a:spcPts val="0"/>
              </a:spcAft>
              <a:buFont typeface="+mj-lt"/>
              <a:buAutoNum type="alphaUcPeriod"/>
            </a:pPr>
            <a:r>
              <a:rPr lang="fr-FR" sz="2400" dirty="0">
                <a:solidFill>
                  <a:schemeClr val="tx1"/>
                </a:solidFill>
                <a:latin typeface="Times New Roman" panose="02020603050405020304" pitchFamily="18" charset="0"/>
              </a:rPr>
              <a:t>Une langue sèche est cotée à 2</a:t>
            </a:r>
            <a:endParaRPr lang="fr-FR" sz="2400" dirty="0">
              <a:solidFill>
                <a:schemeClr val="tx1"/>
              </a:solidFill>
            </a:endParaRPr>
          </a:p>
          <a:p>
            <a:pPr marL="342900" lvl="0" indent="-342900">
              <a:spcAft>
                <a:spcPts val="0"/>
              </a:spcAft>
              <a:buFont typeface="+mj-lt"/>
              <a:buAutoNum type="alphaUcPeriod"/>
            </a:pPr>
            <a:r>
              <a:rPr lang="fr-FR" sz="2400" dirty="0">
                <a:solidFill>
                  <a:schemeClr val="tx1"/>
                </a:solidFill>
                <a:latin typeface="Times New Roman" panose="02020603050405020304" pitchFamily="18" charset="0"/>
              </a:rPr>
              <a:t>Une fontanelle très déprimée est cotée à 2</a:t>
            </a:r>
            <a:endParaRPr lang="fr-FR" sz="2400" dirty="0">
              <a:solidFill>
                <a:schemeClr val="tx1"/>
              </a:solidFill>
              <a:effectLst/>
            </a:endParaRPr>
          </a:p>
        </p:txBody>
      </p:sp>
    </p:spTree>
    <p:extLst>
      <p:ext uri="{BB962C8B-B14F-4D97-AF65-F5344CB8AC3E}">
        <p14:creationId xmlns:p14="http://schemas.microsoft.com/office/powerpoint/2010/main" val="1416085872"/>
      </p:ext>
    </p:extLst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2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>
          <a:xfrm>
            <a:off x="995059" y="437881"/>
            <a:ext cx="10080771" cy="6251671"/>
          </a:xfrm>
          <a:prstGeom prst="rect">
            <a:avLst/>
          </a:prstGeom>
          <a:noFill/>
        </p:spPr>
      </p:pic>
    </p:spTree>
    <p:extLst>
      <p:ext uri="{BB962C8B-B14F-4D97-AF65-F5344CB8AC3E}">
        <p14:creationId xmlns:p14="http://schemas.microsoft.com/office/powerpoint/2010/main" val="379639521"/>
      </p:ext>
    </p:extLst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1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191837" y="193183"/>
            <a:ext cx="10102935" cy="666601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60546618"/>
      </p:ext>
    </p:extLst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marL="342900" lvl="0" indent="-342900">
              <a:lnSpc>
                <a:spcPct val="107000"/>
              </a:lnSpc>
              <a:spcAft>
                <a:spcPts val="0"/>
              </a:spcAft>
            </a:pPr>
            <a:r>
              <a:rPr lang="fr-FR" dirty="0">
                <a:latin typeface="Times New Roman" panose="02020603050405020304" pitchFamily="18" charset="0"/>
                <a:ea typeface="Calibri" panose="020F0502020204030204" pitchFamily="34" charset="0"/>
                <a:cs typeface="Arial" panose="020B0604020202020204" pitchFamily="34" charset="0"/>
              </a:rPr>
              <a:t>5-Dans le score de déshydratation :</a:t>
            </a:r>
            <a:endParaRPr lang="fr-FR" sz="3600" dirty="0">
              <a:latin typeface="Calibri" panose="020F0502020204030204" pitchFamily="34" charset="0"/>
              <a:ea typeface="Calibri" panose="020F0502020204030204" pitchFamily="34" charset="0"/>
              <a:cs typeface="Arial" panose="020B0604020202020204" pitchFamily="34" charset="0"/>
            </a:endParaRPr>
          </a:p>
        </p:txBody>
      </p:sp>
      <p:sp>
        <p:nvSpPr>
          <p:cNvPr id="3" name="Espace réservé du contenu 2"/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pPr marL="342900" lvl="0" indent="-342900">
              <a:lnSpc>
                <a:spcPct val="107000"/>
              </a:lnSpc>
              <a:spcAft>
                <a:spcPts val="0"/>
              </a:spcAft>
              <a:buFont typeface="+mj-lt"/>
              <a:buAutoNum type="alphaUcPeriod"/>
            </a:pPr>
            <a:r>
              <a:rPr lang="fr-FR" sz="2400" dirty="0">
                <a:solidFill>
                  <a:schemeClr val="tx1"/>
                </a:solidFill>
                <a:latin typeface="Times New Roman" panose="02020603050405020304" pitchFamily="18" charset="0"/>
                <a:ea typeface="Calibri" panose="020F0502020204030204" pitchFamily="34" charset="0"/>
                <a:cs typeface="Arial" panose="020B0604020202020204" pitchFamily="34" charset="0"/>
              </a:rPr>
              <a:t>Une SatO2 inférieure à 94% est coté à 2             </a:t>
            </a:r>
            <a:r>
              <a:rPr lang="fr-FR" sz="2400" dirty="0">
                <a:solidFill>
                  <a:srgbClr val="FF0000"/>
                </a:solidFill>
                <a:latin typeface="Times New Roman" panose="02020603050405020304" pitchFamily="18" charset="0"/>
                <a:ea typeface="Calibri" panose="020F0502020204030204" pitchFamily="34" charset="0"/>
                <a:cs typeface="Arial" panose="020B0604020202020204" pitchFamily="34" charset="0"/>
              </a:rPr>
              <a:t>ne fait pas partie du score</a:t>
            </a:r>
            <a:endParaRPr lang="fr-FR" sz="1800" dirty="0">
              <a:solidFill>
                <a:srgbClr val="FF0000"/>
              </a:solidFill>
              <a:latin typeface="Calibri" panose="020F0502020204030204" pitchFamily="34" charset="0"/>
              <a:ea typeface="Calibri" panose="020F0502020204030204" pitchFamily="34" charset="0"/>
              <a:cs typeface="Arial" panose="020B0604020202020204" pitchFamily="34" charset="0"/>
            </a:endParaRPr>
          </a:p>
          <a:p>
            <a:pPr marL="342900" lvl="0" indent="-342900">
              <a:lnSpc>
                <a:spcPct val="107000"/>
              </a:lnSpc>
              <a:spcAft>
                <a:spcPts val="0"/>
              </a:spcAft>
              <a:buFont typeface="+mj-lt"/>
              <a:buAutoNum type="alphaUcPeriod"/>
            </a:pPr>
            <a:r>
              <a:rPr lang="fr-FR" sz="2400" dirty="0">
                <a:solidFill>
                  <a:schemeClr val="tx1"/>
                </a:solidFill>
                <a:latin typeface="Times New Roman" panose="02020603050405020304" pitchFamily="18" charset="0"/>
                <a:ea typeface="Calibri" panose="020F0502020204030204" pitchFamily="34" charset="0"/>
                <a:cs typeface="Arial" panose="020B0604020202020204" pitchFamily="34" charset="0"/>
              </a:rPr>
              <a:t>Un enfant plaintif  est coté à 2                               </a:t>
            </a:r>
            <a:r>
              <a:rPr lang="fr-FR" sz="2400" dirty="0">
                <a:solidFill>
                  <a:srgbClr val="FF0000"/>
                </a:solidFill>
                <a:latin typeface="Times New Roman" panose="02020603050405020304" pitchFamily="18" charset="0"/>
                <a:ea typeface="Calibri" panose="020F0502020204030204" pitchFamily="34" charset="0"/>
                <a:cs typeface="Arial" panose="020B0604020202020204" pitchFamily="34" charset="0"/>
              </a:rPr>
              <a:t>1</a:t>
            </a:r>
            <a:endParaRPr lang="fr-FR" sz="1800" dirty="0">
              <a:solidFill>
                <a:srgbClr val="FF0000"/>
              </a:solidFill>
              <a:latin typeface="Calibri" panose="020F0502020204030204" pitchFamily="34" charset="0"/>
              <a:ea typeface="Calibri" panose="020F0502020204030204" pitchFamily="34" charset="0"/>
              <a:cs typeface="Arial" panose="020B0604020202020204" pitchFamily="34" charset="0"/>
            </a:endParaRPr>
          </a:p>
          <a:p>
            <a:pPr marL="342900" lvl="0" indent="-342900">
              <a:lnSpc>
                <a:spcPct val="107000"/>
              </a:lnSpc>
              <a:spcAft>
                <a:spcPts val="0"/>
              </a:spcAft>
              <a:buFont typeface="+mj-lt"/>
              <a:buAutoNum type="alphaUcPeriod"/>
            </a:pPr>
            <a:r>
              <a:rPr lang="fr-FR" sz="2400" dirty="0">
                <a:solidFill>
                  <a:srgbClr val="FF0000"/>
                </a:solidFill>
                <a:latin typeface="Times New Roman" panose="02020603050405020304" pitchFamily="18" charset="0"/>
                <a:ea typeface="Calibri" panose="020F0502020204030204" pitchFamily="34" charset="0"/>
                <a:cs typeface="Arial" panose="020B0604020202020204" pitchFamily="34" charset="0"/>
              </a:rPr>
              <a:t>Un état de choc </a:t>
            </a:r>
            <a:r>
              <a:rPr lang="fr-FR" sz="2400" dirty="0" err="1">
                <a:solidFill>
                  <a:srgbClr val="FF0000"/>
                </a:solidFill>
                <a:latin typeface="Times New Roman" panose="02020603050405020304" pitchFamily="18" charset="0"/>
                <a:ea typeface="Calibri" panose="020F0502020204030204" pitchFamily="34" charset="0"/>
                <a:cs typeface="Arial" panose="020B0604020202020204" pitchFamily="34" charset="0"/>
              </a:rPr>
              <a:t>hypovolémique</a:t>
            </a:r>
            <a:r>
              <a:rPr lang="fr-FR" sz="2400" dirty="0">
                <a:solidFill>
                  <a:srgbClr val="FF0000"/>
                </a:solidFill>
                <a:latin typeface="Times New Roman" panose="02020603050405020304" pitchFamily="18" charset="0"/>
                <a:ea typeface="Calibri" panose="020F0502020204030204" pitchFamily="34" charset="0"/>
                <a:cs typeface="Arial" panose="020B0604020202020204" pitchFamily="34" charset="0"/>
              </a:rPr>
              <a:t> majore le score de 5</a:t>
            </a:r>
            <a:endParaRPr lang="fr-FR" sz="1800" dirty="0">
              <a:solidFill>
                <a:srgbClr val="FF0000"/>
              </a:solidFill>
              <a:latin typeface="Calibri" panose="020F0502020204030204" pitchFamily="34" charset="0"/>
              <a:ea typeface="Calibri" panose="020F0502020204030204" pitchFamily="34" charset="0"/>
              <a:cs typeface="Arial" panose="020B0604020202020204" pitchFamily="34" charset="0"/>
            </a:endParaRPr>
          </a:p>
          <a:p>
            <a:pPr marL="342900" lvl="0" indent="-342900">
              <a:spcAft>
                <a:spcPts val="0"/>
              </a:spcAft>
              <a:buFont typeface="+mj-lt"/>
              <a:buAutoNum type="alphaUcPeriod"/>
            </a:pPr>
            <a:r>
              <a:rPr lang="fr-FR" sz="2400" dirty="0">
                <a:solidFill>
                  <a:schemeClr val="tx1"/>
                </a:solidFill>
                <a:latin typeface="Times New Roman" panose="02020603050405020304" pitchFamily="18" charset="0"/>
              </a:rPr>
              <a:t>Une langue sèche est cotée à 3                              </a:t>
            </a:r>
            <a:r>
              <a:rPr lang="fr-FR" sz="2400" dirty="0">
                <a:solidFill>
                  <a:srgbClr val="FF0000"/>
                </a:solidFill>
                <a:latin typeface="Times New Roman" panose="02020603050405020304" pitchFamily="18" charset="0"/>
              </a:rPr>
              <a:t>2</a:t>
            </a:r>
            <a:endParaRPr lang="fr-FR" sz="2400" dirty="0">
              <a:solidFill>
                <a:srgbClr val="FF0000"/>
              </a:solidFill>
            </a:endParaRPr>
          </a:p>
          <a:p>
            <a:pPr marL="342900" lvl="0" indent="-342900">
              <a:spcAft>
                <a:spcPts val="0"/>
              </a:spcAft>
              <a:buFont typeface="+mj-lt"/>
              <a:buAutoNum type="alphaUcPeriod"/>
            </a:pPr>
            <a:r>
              <a:rPr lang="fr-FR" sz="2400" dirty="0">
                <a:solidFill>
                  <a:srgbClr val="FF0000"/>
                </a:solidFill>
                <a:latin typeface="Times New Roman" panose="02020603050405020304" pitchFamily="18" charset="0"/>
              </a:rPr>
              <a:t>Une fontanelle très déprimée est cotée à 2</a:t>
            </a:r>
            <a:endParaRPr lang="fr-FR" sz="2400" dirty="0">
              <a:solidFill>
                <a:srgbClr val="FF0000"/>
              </a:solidFill>
              <a:effectLst/>
            </a:endParaRPr>
          </a:p>
        </p:txBody>
      </p:sp>
    </p:spTree>
    <p:extLst>
      <p:ext uri="{BB962C8B-B14F-4D97-AF65-F5344CB8AC3E}">
        <p14:creationId xmlns:p14="http://schemas.microsoft.com/office/powerpoint/2010/main" val="341494078"/>
      </p:ext>
    </p:extLst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marL="342900" lvl="0" indent="-342900">
              <a:lnSpc>
                <a:spcPct val="107000"/>
              </a:lnSpc>
              <a:spcAft>
                <a:spcPts val="0"/>
              </a:spcAft>
            </a:pPr>
            <a:r>
              <a:rPr lang="fr-FR" dirty="0">
                <a:latin typeface="Times New Roman" panose="02020603050405020304" pitchFamily="18" charset="0"/>
                <a:ea typeface="Calibri" panose="020F0502020204030204" pitchFamily="34" charset="0"/>
                <a:cs typeface="Arial" panose="020B0604020202020204" pitchFamily="34" charset="0"/>
              </a:rPr>
              <a:t>6-La déshydratation aigue chez l’enfant :</a:t>
            </a:r>
            <a:endParaRPr lang="fr-FR" sz="3600" dirty="0">
              <a:latin typeface="Calibri" panose="020F0502020204030204" pitchFamily="34" charset="0"/>
              <a:ea typeface="Calibri" panose="020F0502020204030204" pitchFamily="34" charset="0"/>
              <a:cs typeface="Arial" panose="020B0604020202020204" pitchFamily="34" charset="0"/>
            </a:endParaRPr>
          </a:p>
        </p:txBody>
      </p:sp>
      <p:sp>
        <p:nvSpPr>
          <p:cNvPr id="3" name="Espace réservé du contenu 2"/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pPr marL="342900" lvl="0" indent="-342900">
              <a:lnSpc>
                <a:spcPct val="107000"/>
              </a:lnSpc>
              <a:spcAft>
                <a:spcPts val="0"/>
              </a:spcAft>
              <a:buFont typeface="+mj-lt"/>
              <a:buAutoNum type="alphaUcPeriod"/>
            </a:pPr>
            <a:r>
              <a:rPr lang="fr-FR" sz="2400" dirty="0">
                <a:latin typeface="Times New Roman" panose="02020603050405020304" pitchFamily="18" charset="0"/>
                <a:ea typeface="Calibri" panose="020F0502020204030204" pitchFamily="34" charset="0"/>
                <a:cs typeface="Arial" panose="020B0604020202020204" pitchFamily="34" charset="0"/>
              </a:rPr>
              <a:t>Est  légère si</a:t>
            </a:r>
            <a:r>
              <a:rPr lang="fr-FR" sz="2400" dirty="0">
                <a:latin typeface="Calibri" panose="020F0502020204030204" pitchFamily="34" charset="0"/>
                <a:ea typeface="Calibri" panose="020F0502020204030204" pitchFamily="34" charset="0"/>
                <a:cs typeface="Arial" panose="020B0604020202020204" pitchFamily="34" charset="0"/>
              </a:rPr>
              <a:t> la </a:t>
            </a:r>
            <a:r>
              <a:rPr lang="fr-FR" sz="2400" dirty="0">
                <a:latin typeface="Times New Roman" panose="02020603050405020304" pitchFamily="18" charset="0"/>
                <a:ea typeface="Calibri" panose="020F0502020204030204" pitchFamily="34" charset="0"/>
                <a:cs typeface="Arial" panose="020B0604020202020204" pitchFamily="34" charset="0"/>
              </a:rPr>
              <a:t>perte pondérale est entre 5 et 10%</a:t>
            </a:r>
            <a:endParaRPr lang="fr-FR" sz="2400" dirty="0">
              <a:latin typeface="Calibri" panose="020F0502020204030204" pitchFamily="34" charset="0"/>
              <a:ea typeface="Calibri" panose="020F0502020204030204" pitchFamily="34" charset="0"/>
              <a:cs typeface="Arial" panose="020B0604020202020204" pitchFamily="34" charset="0"/>
            </a:endParaRPr>
          </a:p>
          <a:p>
            <a:pPr marL="342900" lvl="0" indent="-342900">
              <a:lnSpc>
                <a:spcPct val="107000"/>
              </a:lnSpc>
              <a:spcAft>
                <a:spcPts val="0"/>
              </a:spcAft>
              <a:buFont typeface="+mj-lt"/>
              <a:buAutoNum type="alphaUcPeriod"/>
            </a:pPr>
            <a:r>
              <a:rPr lang="fr-FR" sz="2400" dirty="0">
                <a:latin typeface="Times New Roman" panose="02020603050405020304" pitchFamily="18" charset="0"/>
                <a:ea typeface="Calibri" panose="020F0502020204030204" pitchFamily="34" charset="0"/>
                <a:cs typeface="Arial" panose="020B0604020202020204" pitchFamily="34" charset="0"/>
              </a:rPr>
              <a:t>correspond au stade 3 de déshydratation si le score &gt;= 9 </a:t>
            </a:r>
            <a:endParaRPr lang="fr-FR" sz="2400" dirty="0">
              <a:latin typeface="Calibri" panose="020F0502020204030204" pitchFamily="34" charset="0"/>
              <a:ea typeface="Calibri" panose="020F0502020204030204" pitchFamily="34" charset="0"/>
              <a:cs typeface="Arial" panose="020B0604020202020204" pitchFamily="34" charset="0"/>
            </a:endParaRPr>
          </a:p>
          <a:p>
            <a:pPr marL="342900" lvl="0" indent="-342900">
              <a:lnSpc>
                <a:spcPct val="107000"/>
              </a:lnSpc>
              <a:spcAft>
                <a:spcPts val="0"/>
              </a:spcAft>
              <a:buFont typeface="+mj-lt"/>
              <a:buAutoNum type="alphaUcPeriod"/>
            </a:pPr>
            <a:r>
              <a:rPr lang="fr-FR" sz="2400" dirty="0">
                <a:latin typeface="Times New Roman" panose="02020603050405020304" pitchFamily="18" charset="0"/>
                <a:ea typeface="Calibri" panose="020F0502020204030204" pitchFamily="34" charset="0"/>
                <a:cs typeface="Arial" panose="020B0604020202020204" pitchFamily="34" charset="0"/>
              </a:rPr>
              <a:t>Est définit comme  sévère  en cas de choc septique associé</a:t>
            </a:r>
            <a:endParaRPr lang="fr-FR" sz="2400" dirty="0">
              <a:latin typeface="Calibri" panose="020F0502020204030204" pitchFamily="34" charset="0"/>
              <a:ea typeface="Calibri" panose="020F0502020204030204" pitchFamily="34" charset="0"/>
              <a:cs typeface="Arial" panose="020B0604020202020204" pitchFamily="34" charset="0"/>
            </a:endParaRPr>
          </a:p>
          <a:p>
            <a:pPr marL="342900" lvl="0" indent="-342900">
              <a:lnSpc>
                <a:spcPct val="107000"/>
              </a:lnSpc>
              <a:spcAft>
                <a:spcPts val="0"/>
              </a:spcAft>
              <a:buFont typeface="+mj-lt"/>
              <a:buAutoNum type="alphaUcPeriod"/>
            </a:pPr>
            <a:r>
              <a:rPr lang="fr-FR" sz="2400" dirty="0">
                <a:latin typeface="Times New Roman" panose="02020603050405020304" pitchFamily="18" charset="0"/>
                <a:ea typeface="Calibri" panose="020F0502020204030204" pitchFamily="34" charset="0"/>
                <a:cs typeface="Arial" panose="020B0604020202020204" pitchFamily="34" charset="0"/>
              </a:rPr>
              <a:t>Est sévère si le déficit hydrique = 100 ml/kg/j</a:t>
            </a:r>
            <a:endParaRPr lang="fr-FR" sz="2400" dirty="0">
              <a:latin typeface="Calibri" panose="020F0502020204030204" pitchFamily="34" charset="0"/>
              <a:ea typeface="Calibri" panose="020F0502020204030204" pitchFamily="34" charset="0"/>
              <a:cs typeface="Arial" panose="020B0604020202020204" pitchFamily="34" charset="0"/>
            </a:endParaRPr>
          </a:p>
          <a:p>
            <a:pPr marL="342900" lvl="0" indent="-342900">
              <a:lnSpc>
                <a:spcPct val="107000"/>
              </a:lnSpc>
              <a:spcAft>
                <a:spcPts val="800"/>
              </a:spcAft>
              <a:buFont typeface="+mj-lt"/>
              <a:buAutoNum type="alphaUcPeriod"/>
            </a:pPr>
            <a:r>
              <a:rPr lang="fr-FR" sz="2400" dirty="0">
                <a:latin typeface="Times New Roman" panose="02020603050405020304" pitchFamily="18" charset="0"/>
                <a:ea typeface="Calibri" panose="020F0502020204030204" pitchFamily="34" charset="0"/>
                <a:cs typeface="Arial" panose="020B0604020202020204" pitchFamily="34" charset="0"/>
              </a:rPr>
              <a:t>Est modérée si le score de déshydratation est à 8</a:t>
            </a:r>
            <a:endParaRPr lang="fr-FR" sz="2400" dirty="0">
              <a:effectLst/>
              <a:latin typeface="Calibri" panose="020F0502020204030204" pitchFamily="34" charset="0"/>
              <a:ea typeface="Calibri" panose="020F0502020204030204" pitchFamily="34" charset="0"/>
              <a:cs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626047569"/>
      </p:ext>
    </p:extLst>
  </p:cSld>
  <p:clrMapOvr>
    <a:masterClrMapping/>
  </p:clrMapOvr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marL="342900" lvl="0" indent="-342900">
              <a:lnSpc>
                <a:spcPct val="107000"/>
              </a:lnSpc>
              <a:spcAft>
                <a:spcPts val="0"/>
              </a:spcAft>
            </a:pPr>
            <a:r>
              <a:rPr lang="fr-FR" dirty="0">
                <a:latin typeface="Times New Roman" panose="02020603050405020304" pitchFamily="18" charset="0"/>
                <a:ea typeface="Calibri" panose="020F0502020204030204" pitchFamily="34" charset="0"/>
                <a:cs typeface="Arial" panose="020B0604020202020204" pitchFamily="34" charset="0"/>
              </a:rPr>
              <a:t>6-La déshydratation aigue chez l’enfant :</a:t>
            </a:r>
            <a:endParaRPr lang="fr-FR" sz="3600" dirty="0">
              <a:latin typeface="Calibri" panose="020F0502020204030204" pitchFamily="34" charset="0"/>
              <a:ea typeface="Calibri" panose="020F0502020204030204" pitchFamily="34" charset="0"/>
              <a:cs typeface="Arial" panose="020B0604020202020204" pitchFamily="34" charset="0"/>
            </a:endParaRPr>
          </a:p>
        </p:txBody>
      </p:sp>
      <p:sp>
        <p:nvSpPr>
          <p:cNvPr id="3" name="Espace réservé du contenu 2"/>
          <p:cNvSpPr>
            <a:spLocks noGrp="1"/>
          </p:cNvSpPr>
          <p:nvPr>
            <p:ph idx="1"/>
          </p:nvPr>
        </p:nvSpPr>
        <p:spPr>
          <a:xfrm>
            <a:off x="1835240" y="1983346"/>
            <a:ext cx="9601200" cy="3845417"/>
          </a:xfrm>
        </p:spPr>
        <p:txBody>
          <a:bodyPr>
            <a:normAutofit/>
          </a:bodyPr>
          <a:lstStyle/>
          <a:p>
            <a:pPr marL="342900" lvl="0" indent="-342900">
              <a:lnSpc>
                <a:spcPct val="107000"/>
              </a:lnSpc>
              <a:spcAft>
                <a:spcPts val="0"/>
              </a:spcAft>
              <a:buFont typeface="+mj-lt"/>
              <a:buAutoNum type="alphaUcPeriod"/>
            </a:pPr>
            <a:r>
              <a:rPr lang="fr-FR" sz="2400" dirty="0">
                <a:latin typeface="Times New Roman" panose="02020603050405020304" pitchFamily="18" charset="0"/>
                <a:ea typeface="Calibri" panose="020F0502020204030204" pitchFamily="34" charset="0"/>
                <a:cs typeface="Arial" panose="020B0604020202020204" pitchFamily="34" charset="0"/>
              </a:rPr>
              <a:t>Est  légère si</a:t>
            </a:r>
            <a:r>
              <a:rPr lang="fr-FR" sz="1800" dirty="0">
                <a:latin typeface="Calibri" panose="020F0502020204030204" pitchFamily="34" charset="0"/>
                <a:ea typeface="Calibri" panose="020F0502020204030204" pitchFamily="34" charset="0"/>
                <a:cs typeface="Arial" panose="020B0604020202020204" pitchFamily="34" charset="0"/>
              </a:rPr>
              <a:t> </a:t>
            </a:r>
            <a:r>
              <a:rPr lang="fr-FR" sz="2400" dirty="0">
                <a:latin typeface="Calibri" panose="020F0502020204030204" pitchFamily="34" charset="0"/>
                <a:ea typeface="Calibri" panose="020F0502020204030204" pitchFamily="34" charset="0"/>
                <a:cs typeface="Arial" panose="020B0604020202020204" pitchFamily="34" charset="0"/>
              </a:rPr>
              <a:t>la </a:t>
            </a:r>
            <a:r>
              <a:rPr lang="fr-FR" sz="2400" dirty="0">
                <a:latin typeface="Times New Roman" panose="02020603050405020304" pitchFamily="18" charset="0"/>
                <a:ea typeface="Calibri" panose="020F0502020204030204" pitchFamily="34" charset="0"/>
                <a:cs typeface="Arial" panose="020B0604020202020204" pitchFamily="34" charset="0"/>
              </a:rPr>
              <a:t>perte pondérale est entre 5 et 10</a:t>
            </a:r>
            <a:r>
              <a:rPr lang="fr-FR" sz="2400" dirty="0">
                <a:solidFill>
                  <a:schemeClr val="tx1"/>
                </a:solidFill>
                <a:latin typeface="Times New Roman" panose="02020603050405020304" pitchFamily="18" charset="0"/>
                <a:ea typeface="Calibri" panose="020F0502020204030204" pitchFamily="34" charset="0"/>
                <a:cs typeface="Arial" panose="020B0604020202020204" pitchFamily="34" charset="0"/>
              </a:rPr>
              <a:t>%                  </a:t>
            </a:r>
            <a:r>
              <a:rPr lang="fr-FR" sz="2400" dirty="0">
                <a:solidFill>
                  <a:srgbClr val="FF0000"/>
                </a:solidFill>
                <a:latin typeface="Times New Roman" panose="02020603050405020304" pitchFamily="18" charset="0"/>
                <a:ea typeface="Calibri" panose="020F0502020204030204" pitchFamily="34" charset="0"/>
                <a:cs typeface="Arial" panose="020B0604020202020204" pitchFamily="34" charset="0"/>
              </a:rPr>
              <a:t>&lt; 5%</a:t>
            </a:r>
            <a:endParaRPr lang="fr-FR" sz="1800" dirty="0">
              <a:solidFill>
                <a:srgbClr val="FF0000"/>
              </a:solidFill>
              <a:latin typeface="Calibri" panose="020F0502020204030204" pitchFamily="34" charset="0"/>
              <a:ea typeface="Calibri" panose="020F0502020204030204" pitchFamily="34" charset="0"/>
              <a:cs typeface="Arial" panose="020B0604020202020204" pitchFamily="34" charset="0"/>
            </a:endParaRPr>
          </a:p>
          <a:p>
            <a:pPr marL="342900" lvl="0" indent="-342900">
              <a:lnSpc>
                <a:spcPct val="107000"/>
              </a:lnSpc>
              <a:spcAft>
                <a:spcPts val="0"/>
              </a:spcAft>
              <a:buFont typeface="+mj-lt"/>
              <a:buAutoNum type="alphaUcPeriod"/>
            </a:pPr>
            <a:r>
              <a:rPr lang="fr-FR" sz="2400" dirty="0">
                <a:solidFill>
                  <a:srgbClr val="FF0000"/>
                </a:solidFill>
                <a:latin typeface="Times New Roman" panose="02020603050405020304" pitchFamily="18" charset="0"/>
                <a:ea typeface="Calibri" panose="020F0502020204030204" pitchFamily="34" charset="0"/>
                <a:cs typeface="Arial" panose="020B0604020202020204" pitchFamily="34" charset="0"/>
              </a:rPr>
              <a:t>correspond au stade 3 de déshydratation si le score &gt;= 9 </a:t>
            </a:r>
            <a:endParaRPr lang="fr-FR" sz="1800" dirty="0">
              <a:solidFill>
                <a:srgbClr val="FF0000"/>
              </a:solidFill>
              <a:latin typeface="Calibri" panose="020F0502020204030204" pitchFamily="34" charset="0"/>
              <a:ea typeface="Calibri" panose="020F0502020204030204" pitchFamily="34" charset="0"/>
              <a:cs typeface="Arial" panose="020B0604020202020204" pitchFamily="34" charset="0"/>
            </a:endParaRPr>
          </a:p>
          <a:p>
            <a:pPr marL="342900" lvl="0" indent="-342900">
              <a:lnSpc>
                <a:spcPct val="107000"/>
              </a:lnSpc>
              <a:spcAft>
                <a:spcPts val="0"/>
              </a:spcAft>
              <a:buFont typeface="+mj-lt"/>
              <a:buAutoNum type="alphaUcPeriod"/>
            </a:pPr>
            <a:r>
              <a:rPr lang="fr-FR" sz="2400" dirty="0">
                <a:latin typeface="Times New Roman" panose="02020603050405020304" pitchFamily="18" charset="0"/>
                <a:ea typeface="Calibri" panose="020F0502020204030204" pitchFamily="34" charset="0"/>
                <a:cs typeface="Arial" panose="020B0604020202020204" pitchFamily="34" charset="0"/>
              </a:rPr>
              <a:t>Est définit comme  sévère  en cas de choc septique associé     </a:t>
            </a:r>
            <a:r>
              <a:rPr lang="fr-FR" sz="2400" dirty="0">
                <a:solidFill>
                  <a:srgbClr val="FF0000"/>
                </a:solidFill>
                <a:latin typeface="Times New Roman" panose="02020603050405020304" pitchFamily="18" charset="0"/>
                <a:ea typeface="Calibri" panose="020F0502020204030204" pitchFamily="34" charset="0"/>
                <a:cs typeface="Arial" panose="020B0604020202020204" pitchFamily="34" charset="0"/>
              </a:rPr>
              <a:t>choc </a:t>
            </a:r>
            <a:r>
              <a:rPr lang="fr-FR" sz="2400" dirty="0" err="1">
                <a:solidFill>
                  <a:srgbClr val="FF0000"/>
                </a:solidFill>
                <a:latin typeface="Times New Roman" panose="02020603050405020304" pitchFamily="18" charset="0"/>
                <a:ea typeface="Calibri" panose="020F0502020204030204" pitchFamily="34" charset="0"/>
                <a:cs typeface="Arial" panose="020B0604020202020204" pitchFamily="34" charset="0"/>
              </a:rPr>
              <a:t>hypovolémique</a:t>
            </a:r>
            <a:r>
              <a:rPr lang="fr-FR" sz="2400" dirty="0">
                <a:solidFill>
                  <a:srgbClr val="FF0000"/>
                </a:solidFill>
                <a:latin typeface="Times New Roman" panose="02020603050405020304" pitchFamily="18" charset="0"/>
                <a:ea typeface="Calibri" panose="020F0502020204030204" pitchFamily="34" charset="0"/>
                <a:cs typeface="Arial" panose="020B0604020202020204" pitchFamily="34" charset="0"/>
              </a:rPr>
              <a:t> </a:t>
            </a:r>
            <a:endParaRPr lang="fr-FR" sz="1800" dirty="0">
              <a:solidFill>
                <a:srgbClr val="FF0000"/>
              </a:solidFill>
              <a:latin typeface="Calibri" panose="020F0502020204030204" pitchFamily="34" charset="0"/>
              <a:ea typeface="Calibri" panose="020F0502020204030204" pitchFamily="34" charset="0"/>
              <a:cs typeface="Arial" panose="020B0604020202020204" pitchFamily="34" charset="0"/>
            </a:endParaRPr>
          </a:p>
          <a:p>
            <a:pPr marL="342900" lvl="0" indent="-342900">
              <a:lnSpc>
                <a:spcPct val="107000"/>
              </a:lnSpc>
              <a:spcAft>
                <a:spcPts val="0"/>
              </a:spcAft>
              <a:buFont typeface="+mj-lt"/>
              <a:buAutoNum type="alphaUcPeriod"/>
            </a:pPr>
            <a:r>
              <a:rPr lang="fr-FR" sz="2400" dirty="0">
                <a:latin typeface="Times New Roman" panose="02020603050405020304" pitchFamily="18" charset="0"/>
                <a:ea typeface="Calibri" panose="020F0502020204030204" pitchFamily="34" charset="0"/>
                <a:cs typeface="Arial" panose="020B0604020202020204" pitchFamily="34" charset="0"/>
              </a:rPr>
              <a:t>Est sévère si le déficit hydrique = 100 ml/kg/j                         </a:t>
            </a:r>
            <a:r>
              <a:rPr lang="fr-FR" sz="2400" dirty="0">
                <a:solidFill>
                  <a:srgbClr val="FF0000"/>
                </a:solidFill>
                <a:latin typeface="Times New Roman" panose="02020603050405020304" pitchFamily="18" charset="0"/>
                <a:ea typeface="Calibri" panose="020F0502020204030204" pitchFamily="34" charset="0"/>
                <a:cs typeface="Arial" panose="020B0604020202020204" pitchFamily="34" charset="0"/>
              </a:rPr>
              <a:t>&gt; 100ml/kg</a:t>
            </a:r>
            <a:endParaRPr lang="fr-FR" sz="1800" dirty="0">
              <a:solidFill>
                <a:srgbClr val="FF0000"/>
              </a:solidFill>
              <a:latin typeface="Calibri" panose="020F0502020204030204" pitchFamily="34" charset="0"/>
              <a:ea typeface="Calibri" panose="020F0502020204030204" pitchFamily="34" charset="0"/>
              <a:cs typeface="Arial" panose="020B0604020202020204" pitchFamily="34" charset="0"/>
            </a:endParaRPr>
          </a:p>
          <a:p>
            <a:pPr marL="342900" lvl="0" indent="-342900">
              <a:lnSpc>
                <a:spcPct val="107000"/>
              </a:lnSpc>
              <a:spcAft>
                <a:spcPts val="800"/>
              </a:spcAft>
              <a:buFont typeface="+mj-lt"/>
              <a:buAutoNum type="alphaUcPeriod"/>
            </a:pPr>
            <a:r>
              <a:rPr lang="fr-FR" sz="2400" dirty="0">
                <a:solidFill>
                  <a:srgbClr val="FF0000"/>
                </a:solidFill>
                <a:latin typeface="Times New Roman" panose="02020603050405020304" pitchFamily="18" charset="0"/>
                <a:ea typeface="Calibri" panose="020F0502020204030204" pitchFamily="34" charset="0"/>
                <a:cs typeface="Arial" panose="020B0604020202020204" pitchFamily="34" charset="0"/>
              </a:rPr>
              <a:t>Est modérée si le score de déshydratation est à 8</a:t>
            </a:r>
            <a:endParaRPr lang="fr-FR" sz="1800" dirty="0">
              <a:solidFill>
                <a:srgbClr val="FF0000"/>
              </a:solidFill>
              <a:effectLst/>
              <a:latin typeface="Calibri" panose="020F0502020204030204" pitchFamily="34" charset="0"/>
              <a:ea typeface="Calibri" panose="020F0502020204030204" pitchFamily="34" charset="0"/>
              <a:cs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620701811"/>
      </p:ext>
    </p:extLst>
  </p:cSld>
  <p:clrMapOvr>
    <a:masterClrMapping/>
  </p:clrMapOvr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1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191837" y="193183"/>
            <a:ext cx="10102935" cy="666601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229938467"/>
      </p:ext>
    </p:extLst>
  </p:cSld>
  <p:clrMapOvr>
    <a:masterClrMapping/>
  </p:clrMapOvr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pPr marL="342900" lvl="0" indent="-342900" eaLnBrk="0" fontAlgn="base" hangingPunct="0">
              <a:lnSpc>
                <a:spcPct val="107000"/>
              </a:lnSpc>
              <a:spcBef>
                <a:spcPts val="770"/>
              </a:spcBef>
              <a:spcAft>
                <a:spcPts val="0"/>
              </a:spcAft>
            </a:pPr>
            <a:r>
              <a:rPr lang="fr-FR" dirty="0">
                <a:latin typeface="Times New Roman" panose="02020603050405020304" pitchFamily="18" charset="0"/>
                <a:cs typeface="Arial" panose="020B0604020202020204" pitchFamily="34" charset="0"/>
              </a:rPr>
              <a:t>7-Une déshydratation d’un nourrisson est dite modérée si : </a:t>
            </a:r>
            <a:endParaRPr lang="fr-FR" sz="3600" dirty="0">
              <a:latin typeface="Calibri" panose="020F0502020204030204" pitchFamily="34" charset="0"/>
              <a:ea typeface="Calibri" panose="020F0502020204030204" pitchFamily="34" charset="0"/>
              <a:cs typeface="Arial" panose="020B0604020202020204" pitchFamily="34" charset="0"/>
            </a:endParaRPr>
          </a:p>
        </p:txBody>
      </p:sp>
      <p:sp>
        <p:nvSpPr>
          <p:cNvPr id="3" name="Espace réservé du contenu 2"/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pPr marL="342900" lvl="0" indent="-342900" eaLnBrk="0" fontAlgn="base" hangingPunct="0">
              <a:spcAft>
                <a:spcPts val="0"/>
              </a:spcAft>
              <a:buFont typeface="+mj-lt"/>
              <a:buAutoNum type="alphaUcPeriod"/>
            </a:pPr>
            <a:r>
              <a:rPr lang="fr-FR" sz="2400" dirty="0">
                <a:solidFill>
                  <a:schemeClr val="tx1"/>
                </a:solidFill>
                <a:latin typeface="Times New Roman" panose="02020603050405020304" pitchFamily="18" charset="0"/>
              </a:rPr>
              <a:t>La perte pondérale est à 5%</a:t>
            </a:r>
            <a:endParaRPr lang="fr-FR" sz="2400" dirty="0">
              <a:solidFill>
                <a:schemeClr val="tx1"/>
              </a:solidFill>
            </a:endParaRPr>
          </a:p>
          <a:p>
            <a:pPr marL="342900" lvl="0" indent="-342900" eaLnBrk="0" fontAlgn="base" hangingPunct="0">
              <a:spcAft>
                <a:spcPts val="0"/>
              </a:spcAft>
              <a:buFont typeface="+mj-lt"/>
              <a:buAutoNum type="alphaUcPeriod"/>
            </a:pPr>
            <a:r>
              <a:rPr lang="fr-FR" sz="2400" dirty="0">
                <a:solidFill>
                  <a:schemeClr val="tx1"/>
                </a:solidFill>
                <a:latin typeface="Times New Roman" panose="02020603050405020304" pitchFamily="18" charset="0"/>
              </a:rPr>
              <a:t>Le score de déshydratation est égal à 4</a:t>
            </a:r>
            <a:endParaRPr lang="fr-FR" sz="2400" dirty="0">
              <a:solidFill>
                <a:schemeClr val="tx1"/>
              </a:solidFill>
            </a:endParaRPr>
          </a:p>
          <a:p>
            <a:pPr marL="342900" lvl="0" indent="-342900" eaLnBrk="0" fontAlgn="base" hangingPunct="0">
              <a:spcAft>
                <a:spcPts val="0"/>
              </a:spcAft>
              <a:buFont typeface="+mj-lt"/>
              <a:buAutoNum type="alphaUcPeriod"/>
            </a:pPr>
            <a:r>
              <a:rPr lang="fr-FR" sz="2400" dirty="0">
                <a:solidFill>
                  <a:schemeClr val="tx1"/>
                </a:solidFill>
                <a:latin typeface="Times New Roman" panose="02020603050405020304" pitchFamily="18" charset="0"/>
              </a:rPr>
              <a:t>Le nourrisson est âgé de moins de 3 mois</a:t>
            </a:r>
            <a:endParaRPr lang="fr-FR" sz="2400" dirty="0">
              <a:solidFill>
                <a:schemeClr val="tx1"/>
              </a:solidFill>
            </a:endParaRPr>
          </a:p>
          <a:p>
            <a:pPr marL="342900" lvl="0" indent="-342900" eaLnBrk="0" fontAlgn="base" hangingPunct="0">
              <a:spcAft>
                <a:spcPts val="0"/>
              </a:spcAft>
              <a:buFont typeface="+mj-lt"/>
              <a:buAutoNum type="alphaUcPeriod"/>
            </a:pPr>
            <a:r>
              <a:rPr lang="fr-FR" sz="2400" dirty="0">
                <a:solidFill>
                  <a:schemeClr val="tx1"/>
                </a:solidFill>
                <a:latin typeface="Times New Roman" panose="02020603050405020304" pitchFamily="18" charset="0"/>
              </a:rPr>
              <a:t>Le déficit hydrique  est à 30 ml/kg/j</a:t>
            </a:r>
            <a:endParaRPr lang="fr-FR" sz="2400" dirty="0">
              <a:solidFill>
                <a:schemeClr val="tx1"/>
              </a:solidFill>
            </a:endParaRPr>
          </a:p>
          <a:p>
            <a:pPr marL="342900" lvl="0" indent="-342900" eaLnBrk="0" fontAlgn="base" hangingPunct="0">
              <a:spcAft>
                <a:spcPts val="0"/>
              </a:spcAft>
              <a:buFont typeface="+mj-lt"/>
              <a:buAutoNum type="alphaUcPeriod"/>
            </a:pPr>
            <a:r>
              <a:rPr lang="fr-FR" sz="2400" dirty="0">
                <a:solidFill>
                  <a:schemeClr val="tx1"/>
                </a:solidFill>
                <a:latin typeface="Times New Roman" panose="02020603050405020304" pitchFamily="18" charset="0"/>
              </a:rPr>
              <a:t>Le nourrisson est fébrile</a:t>
            </a:r>
            <a:endParaRPr lang="fr-FR" sz="2400" dirty="0">
              <a:solidFill>
                <a:schemeClr val="tx1"/>
              </a:solidFill>
              <a:effectLst/>
            </a:endParaRPr>
          </a:p>
        </p:txBody>
      </p:sp>
    </p:spTree>
    <p:extLst>
      <p:ext uri="{BB962C8B-B14F-4D97-AF65-F5344CB8AC3E}">
        <p14:creationId xmlns:p14="http://schemas.microsoft.com/office/powerpoint/2010/main" val="707915712"/>
      </p:ext>
    </p:extLst>
  </p:cSld>
  <p:clrMapOvr>
    <a:masterClrMapping/>
  </p:clrMapOvr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pPr marL="342900" lvl="0" indent="-342900" eaLnBrk="0" fontAlgn="base" hangingPunct="0">
              <a:lnSpc>
                <a:spcPct val="107000"/>
              </a:lnSpc>
              <a:spcBef>
                <a:spcPts val="770"/>
              </a:spcBef>
              <a:spcAft>
                <a:spcPts val="0"/>
              </a:spcAft>
            </a:pPr>
            <a:r>
              <a:rPr lang="fr-FR" dirty="0">
                <a:latin typeface="Times New Roman" panose="02020603050405020304" pitchFamily="18" charset="0"/>
                <a:cs typeface="Arial" panose="020B0604020202020204" pitchFamily="34" charset="0"/>
              </a:rPr>
              <a:t>7-Une déshydratation d’un nourrisson est dite modérée si : </a:t>
            </a:r>
            <a:endParaRPr lang="fr-FR" sz="3600" dirty="0">
              <a:latin typeface="Calibri" panose="020F0502020204030204" pitchFamily="34" charset="0"/>
              <a:ea typeface="Calibri" panose="020F0502020204030204" pitchFamily="34" charset="0"/>
              <a:cs typeface="Arial" panose="020B0604020202020204" pitchFamily="34" charset="0"/>
            </a:endParaRPr>
          </a:p>
        </p:txBody>
      </p:sp>
      <p:sp>
        <p:nvSpPr>
          <p:cNvPr id="3" name="Espace réservé du contenu 2"/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pPr marL="342900" lvl="0" indent="-342900" eaLnBrk="0" fontAlgn="base" hangingPunct="0">
              <a:spcAft>
                <a:spcPts val="0"/>
              </a:spcAft>
              <a:buFont typeface="+mj-lt"/>
              <a:buAutoNum type="alphaUcPeriod"/>
            </a:pPr>
            <a:r>
              <a:rPr lang="fr-FR" sz="2400" dirty="0">
                <a:solidFill>
                  <a:srgbClr val="FF0000"/>
                </a:solidFill>
                <a:latin typeface="Times New Roman" panose="02020603050405020304" pitchFamily="18" charset="0"/>
              </a:rPr>
              <a:t>La perte pondérale est à 5%</a:t>
            </a:r>
            <a:endParaRPr lang="fr-FR" sz="2400" dirty="0">
              <a:solidFill>
                <a:srgbClr val="FF0000"/>
              </a:solidFill>
            </a:endParaRPr>
          </a:p>
          <a:p>
            <a:pPr marL="342900" lvl="0" indent="-342900" eaLnBrk="0" fontAlgn="base" hangingPunct="0">
              <a:spcAft>
                <a:spcPts val="0"/>
              </a:spcAft>
              <a:buFont typeface="+mj-lt"/>
              <a:buAutoNum type="alphaUcPeriod"/>
            </a:pPr>
            <a:r>
              <a:rPr lang="fr-FR" sz="2400" dirty="0">
                <a:solidFill>
                  <a:srgbClr val="FF0000"/>
                </a:solidFill>
                <a:latin typeface="Times New Roman" panose="02020603050405020304" pitchFamily="18" charset="0"/>
              </a:rPr>
              <a:t>Le score de déshydratation est égal à 4</a:t>
            </a:r>
            <a:endParaRPr lang="fr-FR" sz="2400" dirty="0">
              <a:solidFill>
                <a:srgbClr val="FF0000"/>
              </a:solidFill>
            </a:endParaRPr>
          </a:p>
          <a:p>
            <a:pPr marL="342900" lvl="0" indent="-342900" eaLnBrk="0" fontAlgn="base" hangingPunct="0">
              <a:spcAft>
                <a:spcPts val="0"/>
              </a:spcAft>
              <a:buFont typeface="+mj-lt"/>
              <a:buAutoNum type="alphaUcPeriod"/>
            </a:pPr>
            <a:r>
              <a:rPr lang="fr-FR" sz="2400" dirty="0">
                <a:solidFill>
                  <a:schemeClr val="tx1"/>
                </a:solidFill>
                <a:latin typeface="Times New Roman" panose="02020603050405020304" pitchFamily="18" charset="0"/>
              </a:rPr>
              <a:t>Le nourrisson est âgé de moins de 3 mois</a:t>
            </a:r>
            <a:endParaRPr lang="fr-FR" sz="2400" dirty="0">
              <a:solidFill>
                <a:schemeClr val="tx1"/>
              </a:solidFill>
            </a:endParaRPr>
          </a:p>
          <a:p>
            <a:pPr marL="342900" lvl="0" indent="-342900" eaLnBrk="0" fontAlgn="base" hangingPunct="0">
              <a:spcAft>
                <a:spcPts val="0"/>
              </a:spcAft>
              <a:buFont typeface="+mj-lt"/>
              <a:buAutoNum type="alphaUcPeriod"/>
            </a:pPr>
            <a:r>
              <a:rPr lang="fr-FR" sz="2400" dirty="0">
                <a:solidFill>
                  <a:schemeClr val="tx1"/>
                </a:solidFill>
                <a:latin typeface="Times New Roman" panose="02020603050405020304" pitchFamily="18" charset="0"/>
              </a:rPr>
              <a:t>Le déficit hydrique  est à 30 ml/kg/j</a:t>
            </a:r>
            <a:endParaRPr lang="fr-FR" sz="2400" dirty="0">
              <a:solidFill>
                <a:schemeClr val="tx1"/>
              </a:solidFill>
            </a:endParaRPr>
          </a:p>
          <a:p>
            <a:pPr marL="342900" lvl="0" indent="-342900" eaLnBrk="0" fontAlgn="base" hangingPunct="0">
              <a:spcAft>
                <a:spcPts val="0"/>
              </a:spcAft>
              <a:buFont typeface="+mj-lt"/>
              <a:buAutoNum type="alphaUcPeriod"/>
            </a:pPr>
            <a:r>
              <a:rPr lang="fr-FR" sz="2400" dirty="0">
                <a:solidFill>
                  <a:schemeClr val="tx1"/>
                </a:solidFill>
                <a:latin typeface="Times New Roman" panose="02020603050405020304" pitchFamily="18" charset="0"/>
              </a:rPr>
              <a:t>Le nourrisson est fébrile</a:t>
            </a:r>
            <a:endParaRPr lang="fr-FR" sz="2400" dirty="0">
              <a:solidFill>
                <a:schemeClr val="tx1"/>
              </a:solidFill>
              <a:effectLst/>
            </a:endParaRPr>
          </a:p>
        </p:txBody>
      </p:sp>
    </p:spTree>
    <p:extLst>
      <p:ext uri="{BB962C8B-B14F-4D97-AF65-F5344CB8AC3E}">
        <p14:creationId xmlns:p14="http://schemas.microsoft.com/office/powerpoint/2010/main" val="914258435"/>
      </p:ext>
    </p:extLst>
  </p:cSld>
  <p:clrMapOvr>
    <a:masterClrMapping/>
  </p:clrMapOvr>
</p:sld>
</file>

<file path=ppt/slides/slide3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pPr marL="342900" lvl="0" indent="-342900">
              <a:lnSpc>
                <a:spcPct val="107000"/>
              </a:lnSpc>
              <a:spcAft>
                <a:spcPts val="0"/>
              </a:spcAft>
            </a:pPr>
            <a:r>
              <a:rPr lang="fr-FR" dirty="0">
                <a:latin typeface="Times New Roman" panose="02020603050405020304" pitchFamily="18" charset="0"/>
                <a:ea typeface="Calibri" panose="020F0502020204030204" pitchFamily="34" charset="0"/>
                <a:cs typeface="Arial" panose="020B0604020202020204" pitchFamily="34" charset="0"/>
              </a:rPr>
              <a:t>7-Les items du score d’OMS de déshydratation sont :</a:t>
            </a:r>
            <a:endParaRPr lang="fr-FR" sz="3600" dirty="0">
              <a:latin typeface="Calibri" panose="020F0502020204030204" pitchFamily="34" charset="0"/>
              <a:ea typeface="Calibri" panose="020F0502020204030204" pitchFamily="34" charset="0"/>
              <a:cs typeface="Arial" panose="020B0604020202020204" pitchFamily="34" charset="0"/>
            </a:endParaRPr>
          </a:p>
        </p:txBody>
      </p:sp>
      <p:sp>
        <p:nvSpPr>
          <p:cNvPr id="3" name="Espace réservé du contenu 2"/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pPr marL="342900" lvl="0" indent="-342900">
              <a:lnSpc>
                <a:spcPct val="107000"/>
              </a:lnSpc>
              <a:spcAft>
                <a:spcPts val="0"/>
              </a:spcAft>
              <a:buFont typeface="+mj-lt"/>
              <a:buAutoNum type="alphaUcPeriod"/>
            </a:pPr>
            <a:r>
              <a:rPr lang="fr-FR" sz="2400" dirty="0">
                <a:solidFill>
                  <a:schemeClr val="tx1"/>
                </a:solidFill>
                <a:latin typeface="Times New Roman" panose="02020603050405020304" pitchFamily="18" charset="0"/>
                <a:ea typeface="Calibri" panose="020F0502020204030204" pitchFamily="34" charset="0"/>
                <a:cs typeface="Arial" panose="020B0604020202020204" pitchFamily="34" charset="0"/>
              </a:rPr>
              <a:t>Le poids</a:t>
            </a:r>
            <a:endParaRPr lang="fr-FR" sz="1800" dirty="0">
              <a:solidFill>
                <a:schemeClr val="tx1"/>
              </a:solidFill>
              <a:latin typeface="Calibri" panose="020F0502020204030204" pitchFamily="34" charset="0"/>
              <a:ea typeface="Calibri" panose="020F0502020204030204" pitchFamily="34" charset="0"/>
              <a:cs typeface="Arial" panose="020B0604020202020204" pitchFamily="34" charset="0"/>
            </a:endParaRPr>
          </a:p>
          <a:p>
            <a:pPr marL="342900" lvl="0" indent="-342900">
              <a:lnSpc>
                <a:spcPct val="107000"/>
              </a:lnSpc>
              <a:spcAft>
                <a:spcPts val="0"/>
              </a:spcAft>
              <a:buFont typeface="+mj-lt"/>
              <a:buAutoNum type="alphaUcPeriod"/>
            </a:pPr>
            <a:r>
              <a:rPr lang="fr-FR" sz="2400" dirty="0">
                <a:solidFill>
                  <a:schemeClr val="tx1"/>
                </a:solidFill>
                <a:latin typeface="Times New Roman" panose="02020603050405020304" pitchFamily="18" charset="0"/>
                <a:ea typeface="Calibri" panose="020F0502020204030204" pitchFamily="34" charset="0"/>
                <a:cs typeface="Arial" panose="020B0604020202020204" pitchFamily="34" charset="0"/>
              </a:rPr>
              <a:t>La fréquence respiration </a:t>
            </a:r>
            <a:endParaRPr lang="fr-FR" sz="1800" dirty="0">
              <a:solidFill>
                <a:schemeClr val="tx1"/>
              </a:solidFill>
              <a:latin typeface="Calibri" panose="020F0502020204030204" pitchFamily="34" charset="0"/>
              <a:ea typeface="Calibri" panose="020F0502020204030204" pitchFamily="34" charset="0"/>
              <a:cs typeface="Arial" panose="020B0604020202020204" pitchFamily="34" charset="0"/>
            </a:endParaRPr>
          </a:p>
          <a:p>
            <a:pPr marL="342900" lvl="0" indent="-342900">
              <a:lnSpc>
                <a:spcPct val="107000"/>
              </a:lnSpc>
              <a:spcAft>
                <a:spcPts val="0"/>
              </a:spcAft>
              <a:buFont typeface="+mj-lt"/>
              <a:buAutoNum type="alphaUcPeriod"/>
            </a:pPr>
            <a:r>
              <a:rPr lang="fr-FR" sz="2400" dirty="0">
                <a:solidFill>
                  <a:schemeClr val="tx1"/>
                </a:solidFill>
                <a:latin typeface="Times New Roman" panose="02020603050405020304" pitchFamily="18" charset="0"/>
                <a:ea typeface="Calibri" panose="020F0502020204030204" pitchFamily="34" charset="0"/>
                <a:cs typeface="Arial" panose="020B0604020202020204" pitchFamily="34" charset="0"/>
              </a:rPr>
              <a:t>L’état neurologique</a:t>
            </a:r>
            <a:endParaRPr lang="fr-FR" sz="1800" dirty="0">
              <a:solidFill>
                <a:schemeClr val="tx1"/>
              </a:solidFill>
              <a:latin typeface="Calibri" panose="020F0502020204030204" pitchFamily="34" charset="0"/>
              <a:ea typeface="Calibri" panose="020F0502020204030204" pitchFamily="34" charset="0"/>
              <a:cs typeface="Arial" panose="020B0604020202020204" pitchFamily="34" charset="0"/>
            </a:endParaRPr>
          </a:p>
          <a:p>
            <a:pPr marL="342900" lvl="0" indent="-342900">
              <a:lnSpc>
                <a:spcPct val="107000"/>
              </a:lnSpc>
              <a:spcAft>
                <a:spcPts val="0"/>
              </a:spcAft>
              <a:buFont typeface="+mj-lt"/>
              <a:buAutoNum type="alphaUcPeriod"/>
            </a:pPr>
            <a:r>
              <a:rPr lang="fr-FR" sz="2400" dirty="0">
                <a:solidFill>
                  <a:schemeClr val="tx1"/>
                </a:solidFill>
                <a:latin typeface="Times New Roman" panose="02020603050405020304" pitchFamily="18" charset="0"/>
                <a:ea typeface="Calibri" panose="020F0502020204030204" pitchFamily="34" charset="0"/>
                <a:cs typeface="Arial" panose="020B0604020202020204" pitchFamily="34" charset="0"/>
              </a:rPr>
              <a:t>Le pli cutané</a:t>
            </a:r>
            <a:endParaRPr lang="fr-FR" sz="1800" dirty="0">
              <a:solidFill>
                <a:schemeClr val="tx1"/>
              </a:solidFill>
              <a:latin typeface="Calibri" panose="020F0502020204030204" pitchFamily="34" charset="0"/>
              <a:ea typeface="Calibri" panose="020F0502020204030204" pitchFamily="34" charset="0"/>
              <a:cs typeface="Arial" panose="020B0604020202020204" pitchFamily="34" charset="0"/>
            </a:endParaRPr>
          </a:p>
          <a:p>
            <a:pPr marL="342900" lvl="0" indent="-342900">
              <a:lnSpc>
                <a:spcPct val="107000"/>
              </a:lnSpc>
              <a:spcAft>
                <a:spcPts val="800"/>
              </a:spcAft>
              <a:buFont typeface="+mj-lt"/>
              <a:buAutoNum type="alphaUcPeriod"/>
            </a:pPr>
            <a:r>
              <a:rPr lang="fr-FR" sz="2400" dirty="0">
                <a:solidFill>
                  <a:schemeClr val="tx1"/>
                </a:solidFill>
                <a:latin typeface="Times New Roman" panose="02020603050405020304" pitchFamily="18" charset="0"/>
                <a:ea typeface="Calibri" panose="020F0502020204030204" pitchFamily="34" charset="0"/>
                <a:cs typeface="Arial" panose="020B0604020202020204" pitchFamily="34" charset="0"/>
              </a:rPr>
              <a:t>La Saturation en oxygène </a:t>
            </a:r>
            <a:endParaRPr lang="fr-FR" sz="1800" dirty="0">
              <a:solidFill>
                <a:schemeClr val="tx1"/>
              </a:solidFill>
              <a:effectLst/>
              <a:latin typeface="Calibri" panose="020F0502020204030204" pitchFamily="34" charset="0"/>
              <a:ea typeface="Calibri" panose="020F0502020204030204" pitchFamily="34" charset="0"/>
              <a:cs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216001223"/>
      </p:ext>
    </p:extLst>
  </p:cSld>
  <p:clrMapOvr>
    <a:masterClrMapping/>
  </p:clrMapOvr>
</p:sld>
</file>

<file path=ppt/slides/slide3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1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191837" y="193183"/>
            <a:ext cx="10102935" cy="6666019"/>
          </a:xfrm>
          <a:prstGeom prst="rect">
            <a:avLst/>
          </a:prstGeom>
        </p:spPr>
      </p:pic>
      <p:sp>
        <p:nvSpPr>
          <p:cNvPr id="3" name="Ellipse 2"/>
          <p:cNvSpPr/>
          <p:nvPr/>
        </p:nvSpPr>
        <p:spPr>
          <a:xfrm>
            <a:off x="1339403" y="193183"/>
            <a:ext cx="2717442" cy="4790941"/>
          </a:xfrm>
          <a:prstGeom prst="ellipse">
            <a:avLst/>
          </a:prstGeom>
          <a:noFill/>
          <a:ln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2109916941"/>
      </p:ext>
    </p:extLst>
  </p:cSld>
  <p:clrMapOvr>
    <a:masterClrMapping/>
  </p:clrMapOvr>
</p:sld>
</file>

<file path=ppt/slides/slide3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pPr marL="342900" lvl="0" indent="-342900">
              <a:lnSpc>
                <a:spcPct val="107000"/>
              </a:lnSpc>
              <a:spcAft>
                <a:spcPts val="0"/>
              </a:spcAft>
            </a:pPr>
            <a:r>
              <a:rPr lang="fr-FR" dirty="0">
                <a:latin typeface="Times New Roman" panose="02020603050405020304" pitchFamily="18" charset="0"/>
                <a:ea typeface="Calibri" panose="020F0502020204030204" pitchFamily="34" charset="0"/>
                <a:cs typeface="Arial" panose="020B0604020202020204" pitchFamily="34" charset="0"/>
              </a:rPr>
              <a:t>7-Les items du score d’OMS de déshydratation sont :</a:t>
            </a:r>
            <a:endParaRPr lang="fr-FR" sz="3600" dirty="0">
              <a:latin typeface="Calibri" panose="020F0502020204030204" pitchFamily="34" charset="0"/>
              <a:ea typeface="Calibri" panose="020F0502020204030204" pitchFamily="34" charset="0"/>
              <a:cs typeface="Arial" panose="020B0604020202020204" pitchFamily="34" charset="0"/>
            </a:endParaRPr>
          </a:p>
        </p:txBody>
      </p:sp>
      <p:sp>
        <p:nvSpPr>
          <p:cNvPr id="3" name="Espace réservé du contenu 2"/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pPr marL="342900" lvl="0" indent="-342900">
              <a:lnSpc>
                <a:spcPct val="107000"/>
              </a:lnSpc>
              <a:spcAft>
                <a:spcPts val="0"/>
              </a:spcAft>
              <a:buFont typeface="+mj-lt"/>
              <a:buAutoNum type="alphaUcPeriod"/>
            </a:pPr>
            <a:r>
              <a:rPr lang="fr-FR" sz="2400" dirty="0">
                <a:latin typeface="Times New Roman" panose="02020603050405020304" pitchFamily="18" charset="0"/>
                <a:ea typeface="Calibri" panose="020F0502020204030204" pitchFamily="34" charset="0"/>
                <a:cs typeface="Arial" panose="020B0604020202020204" pitchFamily="34" charset="0"/>
              </a:rPr>
              <a:t>Le poids</a:t>
            </a:r>
            <a:endParaRPr lang="fr-FR" sz="1800" dirty="0">
              <a:latin typeface="Calibri" panose="020F0502020204030204" pitchFamily="34" charset="0"/>
              <a:ea typeface="Calibri" panose="020F0502020204030204" pitchFamily="34" charset="0"/>
              <a:cs typeface="Arial" panose="020B0604020202020204" pitchFamily="34" charset="0"/>
            </a:endParaRPr>
          </a:p>
          <a:p>
            <a:pPr marL="342900" lvl="0" indent="-342900">
              <a:lnSpc>
                <a:spcPct val="107000"/>
              </a:lnSpc>
              <a:spcAft>
                <a:spcPts val="0"/>
              </a:spcAft>
              <a:buFont typeface="+mj-lt"/>
              <a:buAutoNum type="alphaUcPeriod"/>
            </a:pPr>
            <a:r>
              <a:rPr lang="fr-FR" sz="2400" dirty="0">
                <a:solidFill>
                  <a:srgbClr val="FF0000"/>
                </a:solidFill>
                <a:latin typeface="Times New Roman" panose="02020603050405020304" pitchFamily="18" charset="0"/>
                <a:ea typeface="Calibri" panose="020F0502020204030204" pitchFamily="34" charset="0"/>
                <a:cs typeface="Arial" panose="020B0604020202020204" pitchFamily="34" charset="0"/>
              </a:rPr>
              <a:t>La fréquence respiration </a:t>
            </a:r>
            <a:endParaRPr lang="fr-FR" sz="1800" dirty="0">
              <a:solidFill>
                <a:srgbClr val="FF0000"/>
              </a:solidFill>
              <a:latin typeface="Calibri" panose="020F0502020204030204" pitchFamily="34" charset="0"/>
              <a:ea typeface="Calibri" panose="020F0502020204030204" pitchFamily="34" charset="0"/>
              <a:cs typeface="Arial" panose="020B0604020202020204" pitchFamily="34" charset="0"/>
            </a:endParaRPr>
          </a:p>
          <a:p>
            <a:pPr marL="342900" lvl="0" indent="-342900">
              <a:lnSpc>
                <a:spcPct val="107000"/>
              </a:lnSpc>
              <a:spcAft>
                <a:spcPts val="0"/>
              </a:spcAft>
              <a:buFont typeface="+mj-lt"/>
              <a:buAutoNum type="alphaUcPeriod"/>
            </a:pPr>
            <a:r>
              <a:rPr lang="fr-FR" sz="2400" dirty="0">
                <a:solidFill>
                  <a:srgbClr val="FF0000"/>
                </a:solidFill>
                <a:latin typeface="Times New Roman" panose="02020603050405020304" pitchFamily="18" charset="0"/>
                <a:ea typeface="Calibri" panose="020F0502020204030204" pitchFamily="34" charset="0"/>
                <a:cs typeface="Arial" panose="020B0604020202020204" pitchFamily="34" charset="0"/>
              </a:rPr>
              <a:t>L’état neurologique</a:t>
            </a:r>
            <a:endParaRPr lang="fr-FR" sz="1800" dirty="0">
              <a:solidFill>
                <a:srgbClr val="FF0000"/>
              </a:solidFill>
              <a:latin typeface="Calibri" panose="020F0502020204030204" pitchFamily="34" charset="0"/>
              <a:ea typeface="Calibri" panose="020F0502020204030204" pitchFamily="34" charset="0"/>
              <a:cs typeface="Arial" panose="020B0604020202020204" pitchFamily="34" charset="0"/>
            </a:endParaRPr>
          </a:p>
          <a:p>
            <a:pPr marL="342900" lvl="0" indent="-342900">
              <a:lnSpc>
                <a:spcPct val="107000"/>
              </a:lnSpc>
              <a:spcAft>
                <a:spcPts val="0"/>
              </a:spcAft>
              <a:buFont typeface="+mj-lt"/>
              <a:buAutoNum type="alphaUcPeriod"/>
            </a:pPr>
            <a:r>
              <a:rPr lang="fr-FR" sz="2400" dirty="0">
                <a:solidFill>
                  <a:srgbClr val="FF0000"/>
                </a:solidFill>
                <a:latin typeface="Times New Roman" panose="02020603050405020304" pitchFamily="18" charset="0"/>
                <a:ea typeface="Calibri" panose="020F0502020204030204" pitchFamily="34" charset="0"/>
                <a:cs typeface="Arial" panose="020B0604020202020204" pitchFamily="34" charset="0"/>
              </a:rPr>
              <a:t>Le pli cutané</a:t>
            </a:r>
            <a:endParaRPr lang="fr-FR" sz="1800" dirty="0">
              <a:solidFill>
                <a:srgbClr val="FF0000"/>
              </a:solidFill>
              <a:latin typeface="Calibri" panose="020F0502020204030204" pitchFamily="34" charset="0"/>
              <a:ea typeface="Calibri" panose="020F0502020204030204" pitchFamily="34" charset="0"/>
              <a:cs typeface="Arial" panose="020B0604020202020204" pitchFamily="34" charset="0"/>
            </a:endParaRPr>
          </a:p>
          <a:p>
            <a:pPr marL="342900" lvl="0" indent="-342900">
              <a:lnSpc>
                <a:spcPct val="107000"/>
              </a:lnSpc>
              <a:spcAft>
                <a:spcPts val="800"/>
              </a:spcAft>
              <a:buFont typeface="+mj-lt"/>
              <a:buAutoNum type="alphaUcPeriod"/>
            </a:pPr>
            <a:r>
              <a:rPr lang="fr-FR" sz="2400" dirty="0">
                <a:latin typeface="Times New Roman" panose="02020603050405020304" pitchFamily="18" charset="0"/>
                <a:ea typeface="Calibri" panose="020F0502020204030204" pitchFamily="34" charset="0"/>
                <a:cs typeface="Arial" panose="020B0604020202020204" pitchFamily="34" charset="0"/>
              </a:rPr>
              <a:t>La Saturation en oxygène </a:t>
            </a:r>
            <a:endParaRPr lang="fr-FR" sz="1800" dirty="0">
              <a:effectLst/>
              <a:latin typeface="Calibri" panose="020F0502020204030204" pitchFamily="34" charset="0"/>
              <a:ea typeface="Calibri" panose="020F0502020204030204" pitchFamily="34" charset="0"/>
              <a:cs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390326241"/>
      </p:ext>
    </p:extLst>
  </p:cSld>
  <p:clrMapOvr>
    <a:masterClrMapping/>
  </p:clrMapOvr>
</p:sld>
</file>

<file path=ppt/slides/slide3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>
          <a:xfrm>
            <a:off x="1641364" y="2098875"/>
            <a:ext cx="9601200" cy="1485900"/>
          </a:xfrm>
        </p:spPr>
        <p:txBody>
          <a:bodyPr>
            <a:normAutofit fontScale="90000"/>
          </a:bodyPr>
          <a:lstStyle/>
          <a:p>
            <a:r>
              <a:rPr lang="fr-FR" b="1" dirty="0">
                <a:solidFill>
                  <a:srgbClr val="0070C0"/>
                </a:solidFill>
              </a:rPr>
              <a:t>Objectif N° 6 : </a:t>
            </a:r>
            <a:br>
              <a:rPr lang="fr-FR" b="1" dirty="0">
                <a:solidFill>
                  <a:srgbClr val="0070C0"/>
                </a:solidFill>
              </a:rPr>
            </a:br>
            <a:br>
              <a:rPr lang="fr-FR" b="1" dirty="0">
                <a:solidFill>
                  <a:srgbClr val="0070C0"/>
                </a:solidFill>
              </a:rPr>
            </a:br>
            <a:r>
              <a:rPr lang="fr-FR" b="1" dirty="0">
                <a:solidFill>
                  <a:srgbClr val="0070C0"/>
                </a:solidFill>
              </a:rPr>
              <a:t>Etablir la prise en charge d’une déshydratation aigue en fonction de sa sévérité</a:t>
            </a:r>
            <a:endParaRPr lang="fr-FR" dirty="0">
              <a:solidFill>
                <a:srgbClr val="0070C0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3917888720"/>
      </p:ext>
    </p:extLst>
  </p:cSld>
  <p:clrMapOvr>
    <a:masterClrMapping/>
  </p:clrMapOvr>
</p:sld>
</file>

<file path=ppt/slides/slide3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marL="342900" lvl="0" indent="-342900">
              <a:spcAft>
                <a:spcPts val="0"/>
              </a:spcAft>
            </a:pPr>
            <a:r>
              <a:rPr lang="fr-FR" dirty="0">
                <a:solidFill>
                  <a:srgbClr val="000000"/>
                </a:solidFill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 9-La réhydratation orale :</a:t>
            </a:r>
            <a:endParaRPr lang="fr-FR" sz="4000" dirty="0">
              <a:solidFill>
                <a:srgbClr val="000000"/>
              </a:solidFill>
              <a:latin typeface="Times New Roman" panose="02020603050405020304" pitchFamily="18" charset="0"/>
              <a:ea typeface="Calibri" panose="020F0502020204030204" pitchFamily="34" charset="0"/>
            </a:endParaRPr>
          </a:p>
        </p:txBody>
      </p:sp>
      <p:sp>
        <p:nvSpPr>
          <p:cNvPr id="3" name="Espace réservé du contenu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342900" lvl="0" indent="-342900">
              <a:spcAft>
                <a:spcPts val="0"/>
              </a:spcAft>
              <a:buFont typeface="+mj-lt"/>
              <a:buAutoNum type="alphaUcPeriod"/>
            </a:pPr>
            <a:r>
              <a:rPr lang="fr-FR" dirty="0">
                <a:solidFill>
                  <a:srgbClr val="000000"/>
                </a:solidFill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Impose l’arrêt de l’allaitement maternel</a:t>
            </a:r>
            <a:endParaRPr lang="fr-FR" sz="1800" dirty="0">
              <a:solidFill>
                <a:srgbClr val="000000"/>
              </a:solidFill>
              <a:latin typeface="Times New Roman" panose="02020603050405020304" pitchFamily="18" charset="0"/>
              <a:ea typeface="Calibri" panose="020F0502020204030204" pitchFamily="34" charset="0"/>
            </a:endParaRPr>
          </a:p>
          <a:p>
            <a:pPr marL="342900" lvl="0" indent="-342900">
              <a:spcAft>
                <a:spcPts val="0"/>
              </a:spcAft>
              <a:buFont typeface="+mj-lt"/>
              <a:buAutoNum type="alphaUcPeriod"/>
            </a:pPr>
            <a:r>
              <a:rPr lang="fr-FR" dirty="0">
                <a:solidFill>
                  <a:srgbClr val="000000"/>
                </a:solidFill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Se base sur le SRO</a:t>
            </a:r>
            <a:endParaRPr lang="fr-FR" sz="1800" dirty="0">
              <a:solidFill>
                <a:srgbClr val="000000"/>
              </a:solidFill>
              <a:latin typeface="Times New Roman" panose="02020603050405020304" pitchFamily="18" charset="0"/>
              <a:ea typeface="Calibri" panose="020F0502020204030204" pitchFamily="34" charset="0"/>
            </a:endParaRPr>
          </a:p>
          <a:p>
            <a:pPr marL="342900" lvl="0" indent="-342900">
              <a:spcAft>
                <a:spcPts val="0"/>
              </a:spcAft>
              <a:buFont typeface="+mj-lt"/>
              <a:buAutoNum type="alphaUcPeriod"/>
            </a:pPr>
            <a:r>
              <a:rPr lang="fr-FR" dirty="0">
                <a:solidFill>
                  <a:srgbClr val="000000"/>
                </a:solidFill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Est instaurée à l’hôpital en cas d’hypotrophie</a:t>
            </a:r>
            <a:endParaRPr lang="fr-FR" sz="1800" dirty="0">
              <a:solidFill>
                <a:srgbClr val="000000"/>
              </a:solidFill>
              <a:latin typeface="Times New Roman" panose="02020603050405020304" pitchFamily="18" charset="0"/>
              <a:ea typeface="Calibri" panose="020F0502020204030204" pitchFamily="34" charset="0"/>
            </a:endParaRPr>
          </a:p>
          <a:p>
            <a:pPr marL="342900" lvl="0" indent="-342900">
              <a:spcAft>
                <a:spcPts val="0"/>
              </a:spcAft>
              <a:buFont typeface="+mj-lt"/>
              <a:buAutoNum type="alphaUcPeriod"/>
            </a:pPr>
            <a:r>
              <a:rPr lang="fr-FR" dirty="0">
                <a:solidFill>
                  <a:srgbClr val="000000"/>
                </a:solidFill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Est indiquée si le score OMS est à 9</a:t>
            </a:r>
            <a:endParaRPr lang="fr-FR" sz="1800" dirty="0">
              <a:solidFill>
                <a:srgbClr val="000000"/>
              </a:solidFill>
              <a:latin typeface="Times New Roman" panose="02020603050405020304" pitchFamily="18" charset="0"/>
              <a:ea typeface="Calibri" panose="020F0502020204030204" pitchFamily="34" charset="0"/>
            </a:endParaRPr>
          </a:p>
          <a:p>
            <a:pPr marL="342900" lvl="0" indent="-342900">
              <a:spcAft>
                <a:spcPts val="0"/>
              </a:spcAft>
              <a:buFont typeface="+mj-lt"/>
              <a:buAutoNum type="alphaUcPeriod"/>
            </a:pPr>
            <a:r>
              <a:rPr lang="fr-FR" dirty="0">
                <a:solidFill>
                  <a:schemeClr val="tx1"/>
                </a:solidFill>
                <a:latin typeface="Times New Roman" panose="02020603050405020304" pitchFamily="18" charset="0"/>
                <a:ea typeface="Calibri" panose="020F0502020204030204" pitchFamily="34" charset="0"/>
              </a:rPr>
              <a:t>A pour objectif de compenser la totalité des  pertes sur 48h</a:t>
            </a:r>
            <a:endParaRPr lang="fr-FR" dirty="0">
              <a:solidFill>
                <a:schemeClr val="tx1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524270550"/>
      </p:ext>
    </p:extLst>
  </p:cSld>
  <p:clrMapOvr>
    <a:masterClrMapping/>
  </p:clrMapOvr>
</p:sld>
</file>

<file path=ppt/slides/slide3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1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039414" y="512730"/>
            <a:ext cx="6582410" cy="862744"/>
          </a:xfrm>
          <a:prstGeom prst="rect">
            <a:avLst/>
          </a:prstGeom>
        </p:spPr>
      </p:pic>
      <p:pic>
        <p:nvPicPr>
          <p:cNvPr id="3" name="Image 2"/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460141" y="1654194"/>
            <a:ext cx="9422852" cy="3477366"/>
          </a:xfrm>
          <a:prstGeom prst="rect">
            <a:avLst/>
          </a:prstGeom>
        </p:spPr>
      </p:pic>
      <p:sp>
        <p:nvSpPr>
          <p:cNvPr id="4" name="Rectangle 3"/>
          <p:cNvSpPr/>
          <p:nvPr/>
        </p:nvSpPr>
        <p:spPr>
          <a:xfrm>
            <a:off x="1596788" y="1501254"/>
            <a:ext cx="3302758" cy="532263"/>
          </a:xfrm>
          <a:prstGeom prst="rect">
            <a:avLst/>
          </a:prstGeom>
          <a:noFill/>
          <a:ln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FR"/>
          </a:p>
        </p:txBody>
      </p:sp>
      <p:sp>
        <p:nvSpPr>
          <p:cNvPr id="6" name="Rectangle 5"/>
          <p:cNvSpPr/>
          <p:nvPr/>
        </p:nvSpPr>
        <p:spPr>
          <a:xfrm>
            <a:off x="1596788" y="3392877"/>
            <a:ext cx="8420669" cy="532263"/>
          </a:xfrm>
          <a:prstGeom prst="rect">
            <a:avLst/>
          </a:prstGeom>
          <a:noFill/>
          <a:ln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FR"/>
          </a:p>
        </p:txBody>
      </p:sp>
      <p:pic>
        <p:nvPicPr>
          <p:cNvPr id="7" name="Image 6"/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596788" y="5331210"/>
            <a:ext cx="9430603" cy="1195236"/>
          </a:xfrm>
          <a:prstGeom prst="rect">
            <a:avLst/>
          </a:prstGeom>
          <a:ln w="38100">
            <a:solidFill>
              <a:srgbClr val="FF0000"/>
            </a:solidFill>
          </a:ln>
        </p:spPr>
      </p:pic>
    </p:spTree>
    <p:extLst>
      <p:ext uri="{BB962C8B-B14F-4D97-AF65-F5344CB8AC3E}">
        <p14:creationId xmlns:p14="http://schemas.microsoft.com/office/powerpoint/2010/main" val="2887258528"/>
      </p:ext>
    </p:extLst>
  </p:cSld>
  <p:clrMapOvr>
    <a:masterClrMapping/>
  </p:clrMapOvr>
</p:sld>
</file>

<file path=ppt/slides/slide4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marL="342900" lvl="0" indent="-342900">
              <a:spcAft>
                <a:spcPts val="0"/>
              </a:spcAft>
            </a:pPr>
            <a:r>
              <a:rPr lang="fr-FR" dirty="0">
                <a:solidFill>
                  <a:srgbClr val="000000"/>
                </a:solidFill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 9-La réhydratation orale :</a:t>
            </a:r>
            <a:endParaRPr lang="fr-FR" sz="4000" dirty="0">
              <a:solidFill>
                <a:srgbClr val="000000"/>
              </a:solidFill>
              <a:latin typeface="Times New Roman" panose="02020603050405020304" pitchFamily="18" charset="0"/>
              <a:ea typeface="Calibri" panose="020F0502020204030204" pitchFamily="34" charset="0"/>
            </a:endParaRPr>
          </a:p>
        </p:txBody>
      </p:sp>
      <p:sp>
        <p:nvSpPr>
          <p:cNvPr id="3" name="Espace réservé du contenu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342900" lvl="0" indent="-342900">
              <a:spcAft>
                <a:spcPts val="0"/>
              </a:spcAft>
              <a:buFont typeface="+mj-lt"/>
              <a:buAutoNum type="alphaUcPeriod"/>
            </a:pPr>
            <a:r>
              <a:rPr lang="fr-FR" dirty="0">
                <a:solidFill>
                  <a:srgbClr val="000000"/>
                </a:solidFill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Impose l’arrêt de l’allaitement maternel</a:t>
            </a:r>
            <a:endParaRPr lang="fr-FR" sz="1800" dirty="0">
              <a:solidFill>
                <a:srgbClr val="000000"/>
              </a:solidFill>
              <a:latin typeface="Times New Roman" panose="02020603050405020304" pitchFamily="18" charset="0"/>
              <a:ea typeface="Calibri" panose="020F0502020204030204" pitchFamily="34" charset="0"/>
            </a:endParaRPr>
          </a:p>
          <a:p>
            <a:pPr marL="342900" lvl="0" indent="-342900">
              <a:spcAft>
                <a:spcPts val="0"/>
              </a:spcAft>
              <a:buFont typeface="+mj-lt"/>
              <a:buAutoNum type="alphaUcPeriod"/>
            </a:pPr>
            <a:r>
              <a:rPr lang="fr-FR" dirty="0">
                <a:solidFill>
                  <a:srgbClr val="FF0000"/>
                </a:solidFill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Se base sur le SRO</a:t>
            </a:r>
            <a:endParaRPr lang="fr-FR" sz="1800" dirty="0">
              <a:solidFill>
                <a:srgbClr val="FF0000"/>
              </a:solidFill>
              <a:latin typeface="Times New Roman" panose="02020603050405020304" pitchFamily="18" charset="0"/>
              <a:ea typeface="Calibri" panose="020F0502020204030204" pitchFamily="34" charset="0"/>
            </a:endParaRPr>
          </a:p>
          <a:p>
            <a:pPr marL="342900" lvl="0" indent="-342900">
              <a:spcAft>
                <a:spcPts val="0"/>
              </a:spcAft>
              <a:buFont typeface="+mj-lt"/>
              <a:buAutoNum type="alphaUcPeriod"/>
            </a:pPr>
            <a:r>
              <a:rPr lang="fr-FR" dirty="0">
                <a:solidFill>
                  <a:srgbClr val="FF0000"/>
                </a:solidFill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Est instaurée à l’hôpital en cas d’hypotrophie</a:t>
            </a:r>
            <a:endParaRPr lang="fr-FR" sz="1800" dirty="0">
              <a:solidFill>
                <a:srgbClr val="FF0000"/>
              </a:solidFill>
              <a:latin typeface="Times New Roman" panose="02020603050405020304" pitchFamily="18" charset="0"/>
              <a:ea typeface="Calibri" panose="020F0502020204030204" pitchFamily="34" charset="0"/>
            </a:endParaRPr>
          </a:p>
          <a:p>
            <a:pPr marL="342900" lvl="0" indent="-342900">
              <a:spcAft>
                <a:spcPts val="0"/>
              </a:spcAft>
              <a:buFont typeface="+mj-lt"/>
              <a:buAutoNum type="alphaUcPeriod"/>
            </a:pPr>
            <a:r>
              <a:rPr lang="fr-FR" dirty="0">
                <a:solidFill>
                  <a:srgbClr val="000000"/>
                </a:solidFill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Est indiquée si le score OMS est à 9</a:t>
            </a:r>
            <a:endParaRPr lang="fr-FR" sz="1800" dirty="0">
              <a:solidFill>
                <a:srgbClr val="000000"/>
              </a:solidFill>
              <a:latin typeface="Times New Roman" panose="02020603050405020304" pitchFamily="18" charset="0"/>
              <a:ea typeface="Calibri" panose="020F0502020204030204" pitchFamily="34" charset="0"/>
            </a:endParaRPr>
          </a:p>
          <a:p>
            <a:pPr marL="342900" lvl="0" indent="-342900">
              <a:spcAft>
                <a:spcPts val="0"/>
              </a:spcAft>
              <a:buFont typeface="+mj-lt"/>
              <a:buAutoNum type="alphaUcPeriod"/>
            </a:pPr>
            <a:r>
              <a:rPr lang="fr-FR" dirty="0">
                <a:solidFill>
                  <a:schemeClr val="tx1"/>
                </a:solidFill>
                <a:latin typeface="Times New Roman" panose="02020603050405020304" pitchFamily="18" charset="0"/>
                <a:ea typeface="Calibri" panose="020F0502020204030204" pitchFamily="34" charset="0"/>
              </a:rPr>
              <a:t>A pour objectif de compenser la totalité des  pertes sur 48h</a:t>
            </a:r>
            <a:endParaRPr lang="fr-FR" dirty="0">
              <a:solidFill>
                <a:schemeClr val="tx1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1656768789"/>
      </p:ext>
    </p:extLst>
  </p:cSld>
  <p:clrMapOvr>
    <a:masterClrMapping/>
  </p:clrMapOvr>
</p:sld>
</file>

<file path=ppt/slides/slide4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Image 2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45171" y="1470245"/>
            <a:ext cx="11217992" cy="326523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34746816"/>
      </p:ext>
    </p:extLst>
  </p:cSld>
  <p:clrMapOvr>
    <a:masterClrMapping/>
  </p:clrMapOvr>
</p:sld>
</file>

<file path=ppt/slides/slide4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FR" dirty="0">
                <a:latin typeface="Times New Roman" panose="02020603050405020304" pitchFamily="18" charset="0"/>
                <a:ea typeface="Calibri" panose="020F0502020204030204" pitchFamily="34" charset="0"/>
                <a:cs typeface="Arial" panose="020B0604020202020204" pitchFamily="34" charset="0"/>
              </a:rPr>
              <a:t> 10-Lors d’une déshydratation stade 2  chez un nourrisson âgé de 1 mois </a:t>
            </a:r>
            <a:endParaRPr lang="fr-FR" dirty="0"/>
          </a:p>
        </p:txBody>
      </p:sp>
      <p:sp>
        <p:nvSpPr>
          <p:cNvPr id="3" name="Espace réservé du contenu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0" lvl="0" indent="0">
              <a:lnSpc>
                <a:spcPct val="107000"/>
              </a:lnSpc>
              <a:spcAft>
                <a:spcPts val="0"/>
              </a:spcAft>
              <a:buNone/>
            </a:pPr>
            <a:endParaRPr lang="fr-FR" sz="1600" dirty="0">
              <a:latin typeface="Calibri" panose="020F0502020204030204" pitchFamily="34" charset="0"/>
              <a:ea typeface="Calibri" panose="020F0502020204030204" pitchFamily="34" charset="0"/>
              <a:cs typeface="Arial" panose="020B0604020202020204" pitchFamily="34" charset="0"/>
            </a:endParaRPr>
          </a:p>
          <a:p>
            <a:pPr marL="342900" lvl="0" indent="-342900">
              <a:lnSpc>
                <a:spcPct val="107000"/>
              </a:lnSpc>
              <a:spcAft>
                <a:spcPts val="0"/>
              </a:spcAft>
              <a:buFont typeface="+mj-lt"/>
              <a:buAutoNum type="alphaUcPeriod"/>
            </a:pPr>
            <a:r>
              <a:rPr lang="fr-FR" dirty="0">
                <a:latin typeface="Times New Roman" panose="02020603050405020304" pitchFamily="18" charset="0"/>
                <a:ea typeface="Calibri" panose="020F0502020204030204" pitchFamily="34" charset="0"/>
                <a:cs typeface="Arial" panose="020B0604020202020204" pitchFamily="34" charset="0"/>
              </a:rPr>
              <a:t>Une hospitalisation est indiquée</a:t>
            </a:r>
            <a:endParaRPr lang="fr-FR" sz="1600" dirty="0">
              <a:latin typeface="Calibri" panose="020F0502020204030204" pitchFamily="34" charset="0"/>
              <a:ea typeface="Calibri" panose="020F0502020204030204" pitchFamily="34" charset="0"/>
              <a:cs typeface="Arial" panose="020B0604020202020204" pitchFamily="34" charset="0"/>
            </a:endParaRPr>
          </a:p>
          <a:p>
            <a:pPr marL="342900" lvl="0" indent="-342900">
              <a:lnSpc>
                <a:spcPct val="107000"/>
              </a:lnSpc>
              <a:spcAft>
                <a:spcPts val="0"/>
              </a:spcAft>
              <a:buFont typeface="+mj-lt"/>
              <a:buAutoNum type="alphaUcPeriod"/>
            </a:pPr>
            <a:r>
              <a:rPr lang="fr-FR" dirty="0">
                <a:latin typeface="Times New Roman" panose="02020603050405020304" pitchFamily="18" charset="0"/>
                <a:ea typeface="Calibri" panose="020F0502020204030204" pitchFamily="34" charset="0"/>
                <a:cs typeface="Arial" panose="020B0604020202020204" pitchFamily="34" charset="0"/>
              </a:rPr>
              <a:t>La totalité des pertes est compensée durant les 2 premières heures </a:t>
            </a:r>
            <a:endParaRPr lang="fr-FR" sz="1600" dirty="0">
              <a:latin typeface="Calibri" panose="020F0502020204030204" pitchFamily="34" charset="0"/>
              <a:ea typeface="Calibri" panose="020F0502020204030204" pitchFamily="34" charset="0"/>
              <a:cs typeface="Arial" panose="020B0604020202020204" pitchFamily="34" charset="0"/>
            </a:endParaRPr>
          </a:p>
          <a:p>
            <a:pPr marL="342900" lvl="0" indent="-342900">
              <a:lnSpc>
                <a:spcPct val="107000"/>
              </a:lnSpc>
              <a:spcAft>
                <a:spcPts val="0"/>
              </a:spcAft>
              <a:buFont typeface="+mj-lt"/>
              <a:buAutoNum type="alphaUcPeriod"/>
            </a:pPr>
            <a:r>
              <a:rPr lang="fr-FR" dirty="0">
                <a:latin typeface="Times New Roman" panose="02020603050405020304" pitchFamily="18" charset="0"/>
                <a:ea typeface="Calibri" panose="020F0502020204030204" pitchFamily="34" charset="0"/>
                <a:cs typeface="Arial" panose="020B0604020202020204" pitchFamily="34" charset="0"/>
              </a:rPr>
              <a:t>La compensation des pertes </a:t>
            </a:r>
            <a:r>
              <a:rPr lang="fr-FR" dirty="0">
                <a:solidFill>
                  <a:schemeClr val="tx1"/>
                </a:solidFill>
                <a:latin typeface="Times New Roman" panose="02020603050405020304" pitchFamily="18" charset="0"/>
                <a:ea typeface="Calibri" panose="020F0502020204030204" pitchFamily="34" charset="0"/>
                <a:cs typeface="Arial" panose="020B0604020202020204" pitchFamily="34" charset="0"/>
              </a:rPr>
              <a:t>en cours se fait par 50ml/Kg de SRO</a:t>
            </a:r>
            <a:endParaRPr lang="fr-FR" sz="1600" dirty="0">
              <a:solidFill>
                <a:schemeClr val="tx1"/>
              </a:solidFill>
              <a:latin typeface="Calibri" panose="020F0502020204030204" pitchFamily="34" charset="0"/>
              <a:ea typeface="Calibri" panose="020F0502020204030204" pitchFamily="34" charset="0"/>
              <a:cs typeface="Arial" panose="020B0604020202020204" pitchFamily="34" charset="0"/>
            </a:endParaRPr>
          </a:p>
          <a:p>
            <a:pPr marL="342900" lvl="0" indent="-342900">
              <a:lnSpc>
                <a:spcPct val="107000"/>
              </a:lnSpc>
              <a:spcAft>
                <a:spcPts val="0"/>
              </a:spcAft>
              <a:buFont typeface="+mj-lt"/>
              <a:buAutoNum type="alphaUcPeriod"/>
            </a:pPr>
            <a:r>
              <a:rPr lang="fr-FR" dirty="0">
                <a:latin typeface="Times New Roman" panose="02020603050405020304" pitchFamily="18" charset="0"/>
                <a:ea typeface="Calibri" panose="020F0502020204030204" pitchFamily="34" charset="0"/>
                <a:cs typeface="Arial" panose="020B0604020202020204" pitchFamily="34" charset="0"/>
              </a:rPr>
              <a:t>L’allaitement artificiel est arrêté durant les 6 premières heures</a:t>
            </a:r>
            <a:endParaRPr lang="fr-FR" sz="1600" dirty="0">
              <a:latin typeface="Calibri" panose="020F0502020204030204" pitchFamily="34" charset="0"/>
              <a:ea typeface="Calibri" panose="020F0502020204030204" pitchFamily="34" charset="0"/>
              <a:cs typeface="Arial" panose="020B0604020202020204" pitchFamily="34" charset="0"/>
            </a:endParaRPr>
          </a:p>
          <a:p>
            <a:pPr marL="342900" lvl="0" indent="-342900">
              <a:lnSpc>
                <a:spcPct val="107000"/>
              </a:lnSpc>
              <a:spcAft>
                <a:spcPts val="0"/>
              </a:spcAft>
              <a:buFont typeface="+mj-lt"/>
              <a:buAutoNum type="alphaUcPeriod"/>
            </a:pPr>
            <a:r>
              <a:rPr lang="fr-FR" dirty="0">
                <a:latin typeface="Times New Roman" panose="02020603050405020304" pitchFamily="18" charset="0"/>
                <a:ea typeface="Calibri" panose="020F0502020204030204" pitchFamily="34" charset="0"/>
                <a:cs typeface="Arial" panose="020B0604020202020204" pitchFamily="34" charset="0"/>
              </a:rPr>
              <a:t>Une réhydratation parentérale est indiquée d’emblée</a:t>
            </a:r>
            <a:endParaRPr lang="fr-FR" sz="1600" dirty="0">
              <a:effectLst/>
              <a:latin typeface="Calibri" panose="020F0502020204030204" pitchFamily="34" charset="0"/>
              <a:ea typeface="Calibri" panose="020F0502020204030204" pitchFamily="34" charset="0"/>
              <a:cs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606207996"/>
      </p:ext>
    </p:extLst>
  </p:cSld>
  <p:clrMapOvr>
    <a:masterClrMapping/>
  </p:clrMapOvr>
</p:sld>
</file>

<file path=ppt/slides/slide4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FR" dirty="0">
                <a:latin typeface="Times New Roman" panose="02020603050405020304" pitchFamily="18" charset="0"/>
                <a:ea typeface="Calibri" panose="020F0502020204030204" pitchFamily="34" charset="0"/>
                <a:cs typeface="Arial" panose="020B0604020202020204" pitchFamily="34" charset="0"/>
              </a:rPr>
              <a:t> 10-Lors d’une déshydratation stade 2  chez un nourrisson âgé de 1 mois </a:t>
            </a:r>
            <a:endParaRPr lang="fr-FR" dirty="0"/>
          </a:p>
        </p:txBody>
      </p:sp>
      <p:sp>
        <p:nvSpPr>
          <p:cNvPr id="3" name="Espace réservé du contenu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0" lvl="0" indent="0">
              <a:lnSpc>
                <a:spcPct val="107000"/>
              </a:lnSpc>
              <a:spcAft>
                <a:spcPts val="0"/>
              </a:spcAft>
              <a:buNone/>
            </a:pPr>
            <a:endParaRPr lang="fr-FR" sz="1600" dirty="0">
              <a:latin typeface="Calibri" panose="020F0502020204030204" pitchFamily="34" charset="0"/>
              <a:ea typeface="Calibri" panose="020F0502020204030204" pitchFamily="34" charset="0"/>
              <a:cs typeface="Arial" panose="020B0604020202020204" pitchFamily="34" charset="0"/>
            </a:endParaRPr>
          </a:p>
          <a:p>
            <a:pPr marL="342900" lvl="0" indent="-342900">
              <a:lnSpc>
                <a:spcPct val="107000"/>
              </a:lnSpc>
              <a:spcAft>
                <a:spcPts val="0"/>
              </a:spcAft>
              <a:buFont typeface="+mj-lt"/>
              <a:buAutoNum type="alphaUcPeriod"/>
            </a:pPr>
            <a:r>
              <a:rPr lang="fr-FR" dirty="0">
                <a:solidFill>
                  <a:srgbClr val="FF0000"/>
                </a:solidFill>
                <a:latin typeface="Times New Roman" panose="02020603050405020304" pitchFamily="18" charset="0"/>
                <a:ea typeface="Calibri" panose="020F0502020204030204" pitchFamily="34" charset="0"/>
                <a:cs typeface="Arial" panose="020B0604020202020204" pitchFamily="34" charset="0"/>
              </a:rPr>
              <a:t>Une hospitalisation est indiquée</a:t>
            </a:r>
            <a:endParaRPr lang="fr-FR" sz="1600" dirty="0">
              <a:solidFill>
                <a:srgbClr val="FF0000"/>
              </a:solidFill>
              <a:latin typeface="Calibri" panose="020F0502020204030204" pitchFamily="34" charset="0"/>
              <a:ea typeface="Calibri" panose="020F0502020204030204" pitchFamily="34" charset="0"/>
              <a:cs typeface="Arial" panose="020B0604020202020204" pitchFamily="34" charset="0"/>
            </a:endParaRPr>
          </a:p>
          <a:p>
            <a:pPr marL="342900" lvl="0" indent="-342900">
              <a:lnSpc>
                <a:spcPct val="107000"/>
              </a:lnSpc>
              <a:spcAft>
                <a:spcPts val="0"/>
              </a:spcAft>
              <a:buFont typeface="+mj-lt"/>
              <a:buAutoNum type="alphaUcPeriod"/>
            </a:pPr>
            <a:r>
              <a:rPr lang="fr-FR" dirty="0">
                <a:latin typeface="Times New Roman" panose="02020603050405020304" pitchFamily="18" charset="0"/>
                <a:ea typeface="Calibri" panose="020F0502020204030204" pitchFamily="34" charset="0"/>
                <a:cs typeface="Arial" panose="020B0604020202020204" pitchFamily="34" charset="0"/>
              </a:rPr>
              <a:t>La totalité des pertes est compensée durant les 2 premières heures </a:t>
            </a:r>
            <a:endParaRPr lang="fr-FR" sz="1600" dirty="0">
              <a:latin typeface="Calibri" panose="020F0502020204030204" pitchFamily="34" charset="0"/>
              <a:ea typeface="Calibri" panose="020F0502020204030204" pitchFamily="34" charset="0"/>
              <a:cs typeface="Arial" panose="020B0604020202020204" pitchFamily="34" charset="0"/>
            </a:endParaRPr>
          </a:p>
          <a:p>
            <a:pPr marL="342900" lvl="0" indent="-342900">
              <a:lnSpc>
                <a:spcPct val="107000"/>
              </a:lnSpc>
              <a:spcAft>
                <a:spcPts val="0"/>
              </a:spcAft>
              <a:buFont typeface="+mj-lt"/>
              <a:buAutoNum type="alphaUcPeriod"/>
            </a:pPr>
            <a:r>
              <a:rPr lang="fr-FR" dirty="0">
                <a:latin typeface="Times New Roman" panose="02020603050405020304" pitchFamily="18" charset="0"/>
                <a:ea typeface="Calibri" panose="020F0502020204030204" pitchFamily="34" charset="0"/>
                <a:cs typeface="Arial" panose="020B0604020202020204" pitchFamily="34" charset="0"/>
              </a:rPr>
              <a:t>La compensation des pertes </a:t>
            </a:r>
            <a:r>
              <a:rPr lang="fr-FR" dirty="0">
                <a:solidFill>
                  <a:schemeClr val="tx1"/>
                </a:solidFill>
                <a:latin typeface="Times New Roman" panose="02020603050405020304" pitchFamily="18" charset="0"/>
                <a:ea typeface="Calibri" panose="020F0502020204030204" pitchFamily="34" charset="0"/>
                <a:cs typeface="Arial" panose="020B0604020202020204" pitchFamily="34" charset="0"/>
              </a:rPr>
              <a:t>en cours se fait par 50ml/Kg de SRO</a:t>
            </a:r>
            <a:endParaRPr lang="fr-FR" sz="1600" dirty="0">
              <a:solidFill>
                <a:schemeClr val="tx1"/>
              </a:solidFill>
              <a:latin typeface="Calibri" panose="020F0502020204030204" pitchFamily="34" charset="0"/>
              <a:ea typeface="Calibri" panose="020F0502020204030204" pitchFamily="34" charset="0"/>
              <a:cs typeface="Arial" panose="020B0604020202020204" pitchFamily="34" charset="0"/>
            </a:endParaRPr>
          </a:p>
          <a:p>
            <a:pPr marL="342900" lvl="0" indent="-342900">
              <a:lnSpc>
                <a:spcPct val="107000"/>
              </a:lnSpc>
              <a:spcAft>
                <a:spcPts val="0"/>
              </a:spcAft>
              <a:buFont typeface="+mj-lt"/>
              <a:buAutoNum type="alphaUcPeriod"/>
            </a:pPr>
            <a:r>
              <a:rPr lang="fr-FR" dirty="0">
                <a:solidFill>
                  <a:srgbClr val="FF0000"/>
                </a:solidFill>
                <a:latin typeface="Times New Roman" panose="02020603050405020304" pitchFamily="18" charset="0"/>
                <a:ea typeface="Calibri" panose="020F0502020204030204" pitchFamily="34" charset="0"/>
                <a:cs typeface="Arial" panose="020B0604020202020204" pitchFamily="34" charset="0"/>
              </a:rPr>
              <a:t>L’allaitement artificiel est arrêté durant les 6 premières heures</a:t>
            </a:r>
            <a:endParaRPr lang="fr-FR" sz="1600" dirty="0">
              <a:solidFill>
                <a:srgbClr val="FF0000"/>
              </a:solidFill>
              <a:latin typeface="Calibri" panose="020F0502020204030204" pitchFamily="34" charset="0"/>
              <a:ea typeface="Calibri" panose="020F0502020204030204" pitchFamily="34" charset="0"/>
              <a:cs typeface="Arial" panose="020B0604020202020204" pitchFamily="34" charset="0"/>
            </a:endParaRPr>
          </a:p>
          <a:p>
            <a:pPr marL="342900" lvl="0" indent="-342900">
              <a:lnSpc>
                <a:spcPct val="107000"/>
              </a:lnSpc>
              <a:spcAft>
                <a:spcPts val="0"/>
              </a:spcAft>
              <a:buFont typeface="+mj-lt"/>
              <a:buAutoNum type="alphaUcPeriod"/>
            </a:pPr>
            <a:r>
              <a:rPr lang="fr-FR" dirty="0">
                <a:solidFill>
                  <a:schemeClr val="tx1"/>
                </a:solidFill>
                <a:latin typeface="Times New Roman" panose="02020603050405020304" pitchFamily="18" charset="0"/>
                <a:ea typeface="Calibri" panose="020F0502020204030204" pitchFamily="34" charset="0"/>
                <a:cs typeface="Arial" panose="020B0604020202020204" pitchFamily="34" charset="0"/>
              </a:rPr>
              <a:t>Une réhydratation parentérale est indiquée d’emblée</a:t>
            </a:r>
            <a:endParaRPr lang="fr-FR" sz="1600" dirty="0">
              <a:solidFill>
                <a:schemeClr val="tx1"/>
              </a:solidFill>
              <a:effectLst/>
              <a:latin typeface="Calibri" panose="020F0502020204030204" pitchFamily="34" charset="0"/>
              <a:ea typeface="Calibri" panose="020F0502020204030204" pitchFamily="34" charset="0"/>
              <a:cs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467787443"/>
      </p:ext>
    </p:extLst>
  </p:cSld>
  <p:clrMapOvr>
    <a:masterClrMapping/>
  </p:clrMapOvr>
</p:sld>
</file>

<file path=ppt/slides/slide4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0D8CBFE-350D-D53C-942D-4B3D95A61A7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1">
            <a:extLst>
              <a:ext uri="{FF2B5EF4-FFF2-40B4-BE49-F238E27FC236}">
                <a16:creationId xmlns:a16="http://schemas.microsoft.com/office/drawing/2014/main" id="{D266C445-357E-CCB5-EF4D-11CC92A83CAF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039414" y="512730"/>
            <a:ext cx="6582410" cy="862744"/>
          </a:xfrm>
          <a:prstGeom prst="rect">
            <a:avLst/>
          </a:prstGeom>
        </p:spPr>
      </p:pic>
      <p:pic>
        <p:nvPicPr>
          <p:cNvPr id="3" name="Image 2">
            <a:extLst>
              <a:ext uri="{FF2B5EF4-FFF2-40B4-BE49-F238E27FC236}">
                <a16:creationId xmlns:a16="http://schemas.microsoft.com/office/drawing/2014/main" id="{A0BAD58E-4E8C-79BC-A908-949B80AD7839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460141" y="1654194"/>
            <a:ext cx="9422852" cy="3477366"/>
          </a:xfrm>
          <a:prstGeom prst="rect">
            <a:avLst/>
          </a:prstGeom>
        </p:spPr>
      </p:pic>
      <p:sp>
        <p:nvSpPr>
          <p:cNvPr id="6" name="Rectangle 5">
            <a:extLst>
              <a:ext uri="{FF2B5EF4-FFF2-40B4-BE49-F238E27FC236}">
                <a16:creationId xmlns:a16="http://schemas.microsoft.com/office/drawing/2014/main" id="{3E6A7140-9588-F852-021E-E46AC38F455B}"/>
              </a:ext>
            </a:extLst>
          </p:cNvPr>
          <p:cNvSpPr/>
          <p:nvPr/>
        </p:nvSpPr>
        <p:spPr>
          <a:xfrm>
            <a:off x="1665614" y="3717341"/>
            <a:ext cx="8420669" cy="532263"/>
          </a:xfrm>
          <a:prstGeom prst="rect">
            <a:avLst/>
          </a:prstGeom>
          <a:noFill/>
          <a:ln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fr-FR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Franklin Gothic Book" panose="020B0503020102020204"/>
              <a:ea typeface="+mn-ea"/>
              <a:cs typeface="+mn-cs"/>
            </a:endParaRPr>
          </a:p>
        </p:txBody>
      </p:sp>
      <p:pic>
        <p:nvPicPr>
          <p:cNvPr id="7" name="Image 6">
            <a:extLst>
              <a:ext uri="{FF2B5EF4-FFF2-40B4-BE49-F238E27FC236}">
                <a16:creationId xmlns:a16="http://schemas.microsoft.com/office/drawing/2014/main" id="{12C89C17-58DA-2F69-1383-A3173EC53CC3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596788" y="5331210"/>
            <a:ext cx="9430603" cy="1195236"/>
          </a:xfrm>
          <a:prstGeom prst="rect">
            <a:avLst/>
          </a:prstGeom>
          <a:ln w="38100">
            <a:solidFill>
              <a:srgbClr val="FF0000"/>
            </a:solidFill>
          </a:ln>
        </p:spPr>
      </p:pic>
      <p:sp>
        <p:nvSpPr>
          <p:cNvPr id="5" name="Flèche : haut 4">
            <a:extLst>
              <a:ext uri="{FF2B5EF4-FFF2-40B4-BE49-F238E27FC236}">
                <a16:creationId xmlns:a16="http://schemas.microsoft.com/office/drawing/2014/main" id="{0AE7A689-E066-8469-D784-C270A286B0E0}"/>
              </a:ext>
            </a:extLst>
          </p:cNvPr>
          <p:cNvSpPr/>
          <p:nvPr/>
        </p:nvSpPr>
        <p:spPr>
          <a:xfrm>
            <a:off x="5002924" y="4673903"/>
            <a:ext cx="420414" cy="599090"/>
          </a:xfrm>
          <a:prstGeom prst="upArrow">
            <a:avLst/>
          </a:prstGeom>
          <a:solidFill>
            <a:srgbClr val="00B0F0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TN"/>
          </a:p>
        </p:txBody>
      </p:sp>
    </p:spTree>
    <p:extLst>
      <p:ext uri="{BB962C8B-B14F-4D97-AF65-F5344CB8AC3E}">
        <p14:creationId xmlns:p14="http://schemas.microsoft.com/office/powerpoint/2010/main" val="1396211190"/>
      </p:ext>
    </p:extLst>
  </p:cSld>
  <p:clrMapOvr>
    <a:masterClrMapping/>
  </p:clrMapOvr>
</p:sld>
</file>

<file path=ppt/slides/slide4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>
            <a:extLst>
              <a:ext uri="{FF2B5EF4-FFF2-40B4-BE49-F238E27FC236}">
                <a16:creationId xmlns:a16="http://schemas.microsoft.com/office/drawing/2014/main" id="{4F1C78A3-9108-9A7F-20EE-F93E9211C3A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pPr marL="342900" marR="0" lvl="0" indent="-342900" defTabSz="914400" rtl="0" eaLnBrk="1" fontAlgn="auto" latinLnBrk="0" hangingPunct="1">
              <a:lnSpc>
                <a:spcPct val="107000"/>
              </a:lnSpc>
              <a:spcBef>
                <a:spcPts val="1000"/>
              </a:spcBef>
              <a:spcAft>
                <a:spcPts val="200"/>
              </a:spcAft>
              <a:tabLst/>
              <a:defRPr/>
            </a:pPr>
            <a:r>
              <a:rPr kumimoji="0" lang="fr-FR" b="1" i="0" u="none" strike="noStrike" kern="1200" cap="none" spc="0" normalizeH="0" baseline="0" noProof="0" dirty="0">
                <a:ln>
                  <a:noFill/>
                </a:ln>
                <a:solidFill>
                  <a:srgbClr val="191B0E"/>
                </a:solidFill>
                <a:effectLst/>
                <a:uLnTx/>
                <a:uFillTx/>
                <a:latin typeface="Times New Roman" panose="02020603050405020304" pitchFamily="18" charset="0"/>
                <a:ea typeface="Calibri" panose="020F0502020204030204" pitchFamily="34" charset="0"/>
                <a:cs typeface="Arial" panose="020B0604020202020204" pitchFamily="34" charset="0"/>
              </a:rPr>
              <a:t>11-La réhydratation parentérale :</a:t>
            </a:r>
            <a:br>
              <a:rPr kumimoji="0" lang="fr-TN" b="0" i="0" u="none" strike="noStrike" kern="1200" cap="none" spc="0" normalizeH="0" baseline="0" noProof="0" dirty="0">
                <a:ln>
                  <a:noFill/>
                </a:ln>
                <a:solidFill>
                  <a:srgbClr val="191B0E"/>
                </a:solidFill>
                <a:effectLst/>
                <a:uLnTx/>
                <a:uFillTx/>
                <a:latin typeface="Calibri" panose="020F0502020204030204" pitchFamily="34" charset="0"/>
                <a:ea typeface="Calibri" panose="020F0502020204030204" pitchFamily="34" charset="0"/>
                <a:cs typeface="Arial" panose="020B0604020202020204" pitchFamily="34" charset="0"/>
              </a:rPr>
            </a:br>
            <a:endParaRPr lang="fr-TN" dirty="0"/>
          </a:p>
        </p:txBody>
      </p:sp>
      <p:sp>
        <p:nvSpPr>
          <p:cNvPr id="3" name="Espace réservé du contenu 2">
            <a:extLst>
              <a:ext uri="{FF2B5EF4-FFF2-40B4-BE49-F238E27FC236}">
                <a16:creationId xmlns:a16="http://schemas.microsoft.com/office/drawing/2014/main" id="{81D916AC-8C82-6532-D1F9-69B0D4F61C2D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Autofit/>
          </a:bodyPr>
          <a:lstStyle/>
          <a:p>
            <a:pPr marL="342900" lvl="0" indent="-342900">
              <a:lnSpc>
                <a:spcPct val="107000"/>
              </a:lnSpc>
              <a:buFont typeface="+mj-lt"/>
              <a:buAutoNum type="alphaUcPeriod"/>
            </a:pPr>
            <a:r>
              <a:rPr lang="fr-FR" sz="2400" dirty="0"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Arial" panose="020B0604020202020204" pitchFamily="34" charset="0"/>
              </a:rPr>
              <a:t>Est indiquée d’emblée en cas de déshydratation modérée</a:t>
            </a:r>
            <a:endParaRPr lang="fr-TN" sz="2400" dirty="0">
              <a:effectLst/>
              <a:latin typeface="Calibri" panose="020F0502020204030204" pitchFamily="34" charset="0"/>
              <a:ea typeface="Calibri" panose="020F0502020204030204" pitchFamily="34" charset="0"/>
              <a:cs typeface="Arial" panose="020B0604020202020204" pitchFamily="34" charset="0"/>
            </a:endParaRPr>
          </a:p>
          <a:p>
            <a:pPr marL="342900" lvl="0" indent="-342900">
              <a:lnSpc>
                <a:spcPct val="107000"/>
              </a:lnSpc>
              <a:buFont typeface="+mj-lt"/>
              <a:buAutoNum type="alphaUcPeriod"/>
            </a:pPr>
            <a:r>
              <a:rPr lang="fr-FR" sz="2400" dirty="0"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Arial" panose="020B0604020202020204" pitchFamily="34" charset="0"/>
              </a:rPr>
              <a:t>Est indiquée si échec de la voie orale</a:t>
            </a:r>
            <a:endParaRPr lang="fr-TN" sz="2400" dirty="0">
              <a:effectLst/>
              <a:latin typeface="Calibri" panose="020F0502020204030204" pitchFamily="34" charset="0"/>
              <a:ea typeface="Calibri" panose="020F0502020204030204" pitchFamily="34" charset="0"/>
              <a:cs typeface="Arial" panose="020B0604020202020204" pitchFamily="34" charset="0"/>
            </a:endParaRPr>
          </a:p>
          <a:p>
            <a:pPr marL="342900" lvl="0" indent="-342900">
              <a:lnSpc>
                <a:spcPct val="107000"/>
              </a:lnSpc>
              <a:buFont typeface="+mj-lt"/>
              <a:buAutoNum type="alphaUcPeriod"/>
            </a:pPr>
            <a:r>
              <a:rPr lang="fr-FR" sz="2400" dirty="0"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Arial" panose="020B0604020202020204" pitchFamily="34" charset="0"/>
              </a:rPr>
              <a:t>Se base sur  une perfusion intraveineuse  de SRO</a:t>
            </a:r>
            <a:endParaRPr lang="fr-TN" sz="2400" dirty="0">
              <a:effectLst/>
              <a:latin typeface="Calibri" panose="020F0502020204030204" pitchFamily="34" charset="0"/>
              <a:ea typeface="Calibri" panose="020F0502020204030204" pitchFamily="34" charset="0"/>
              <a:cs typeface="Arial" panose="020B0604020202020204" pitchFamily="34" charset="0"/>
            </a:endParaRPr>
          </a:p>
          <a:p>
            <a:pPr marL="342900" lvl="0" indent="-342900">
              <a:lnSpc>
                <a:spcPct val="107000"/>
              </a:lnSpc>
              <a:buFont typeface="+mj-lt"/>
              <a:buAutoNum type="alphaUcPeriod"/>
            </a:pPr>
            <a:r>
              <a:rPr lang="fr-FR" sz="2400" dirty="0"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Arial" panose="020B0604020202020204" pitchFamily="34" charset="0"/>
              </a:rPr>
              <a:t>Commence par un remplissage vasculaire si état de choc</a:t>
            </a:r>
            <a:endParaRPr lang="fr-TN" sz="2400" dirty="0">
              <a:effectLst/>
              <a:latin typeface="Calibri" panose="020F0502020204030204" pitchFamily="34" charset="0"/>
              <a:ea typeface="Calibri" panose="020F0502020204030204" pitchFamily="34" charset="0"/>
              <a:cs typeface="Arial" panose="020B0604020202020204" pitchFamily="34" charset="0"/>
            </a:endParaRPr>
          </a:p>
          <a:p>
            <a:pPr marL="342900" lvl="0" indent="-342900">
              <a:lnSpc>
                <a:spcPct val="107000"/>
              </a:lnSpc>
              <a:buFont typeface="+mj-lt"/>
              <a:buAutoNum type="alphaUcPeriod"/>
            </a:pPr>
            <a:r>
              <a:rPr lang="fr-FR" sz="2400" dirty="0"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Arial" panose="020B0604020202020204" pitchFamily="34" charset="0"/>
              </a:rPr>
              <a:t>Correspond aux besoins de maintenance + déficit hydrique + les pertes par  24 heures</a:t>
            </a:r>
            <a:endParaRPr lang="fr-TN" sz="2400" dirty="0">
              <a:effectLst/>
              <a:latin typeface="Calibri" panose="020F0502020204030204" pitchFamily="34" charset="0"/>
              <a:ea typeface="Calibri" panose="020F0502020204030204" pitchFamily="34" charset="0"/>
              <a:cs typeface="Arial" panose="020B0604020202020204" pitchFamily="34" charset="0"/>
            </a:endParaRPr>
          </a:p>
          <a:p>
            <a:pPr marL="914400">
              <a:lnSpc>
                <a:spcPct val="107000"/>
              </a:lnSpc>
              <a:spcAft>
                <a:spcPts val="800"/>
              </a:spcAft>
              <a:buNone/>
            </a:pPr>
            <a:endParaRPr lang="fr-TN" sz="2400" dirty="0">
              <a:effectLst/>
              <a:latin typeface="Calibri" panose="020F0502020204030204" pitchFamily="34" charset="0"/>
              <a:ea typeface="Calibri" panose="020F0502020204030204" pitchFamily="34" charset="0"/>
              <a:cs typeface="Arial" panose="020B0604020202020204" pitchFamily="34" charset="0"/>
            </a:endParaRPr>
          </a:p>
          <a:p>
            <a:endParaRPr lang="fr-TN" sz="2400" dirty="0"/>
          </a:p>
        </p:txBody>
      </p:sp>
    </p:spTree>
    <p:extLst>
      <p:ext uri="{BB962C8B-B14F-4D97-AF65-F5344CB8AC3E}">
        <p14:creationId xmlns:p14="http://schemas.microsoft.com/office/powerpoint/2010/main" val="2247224360"/>
      </p:ext>
    </p:extLst>
  </p:cSld>
  <p:clrMapOvr>
    <a:masterClrMapping/>
  </p:clrMapOvr>
</p:sld>
</file>

<file path=ppt/slides/slide4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62CB808-6B91-29B4-0E69-0EBD0C971BE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>
            <a:extLst>
              <a:ext uri="{FF2B5EF4-FFF2-40B4-BE49-F238E27FC236}">
                <a16:creationId xmlns:a16="http://schemas.microsoft.com/office/drawing/2014/main" id="{521B9847-BF27-1546-6893-734CB96E8F1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pPr marL="342900" marR="0" lvl="0" indent="-342900" defTabSz="914400" rtl="0" eaLnBrk="1" fontAlgn="auto" latinLnBrk="0" hangingPunct="1">
              <a:lnSpc>
                <a:spcPct val="107000"/>
              </a:lnSpc>
              <a:spcBef>
                <a:spcPts val="1000"/>
              </a:spcBef>
              <a:spcAft>
                <a:spcPts val="200"/>
              </a:spcAft>
              <a:tabLst/>
              <a:defRPr/>
            </a:pPr>
            <a:r>
              <a:rPr kumimoji="0" lang="fr-FR" b="1" i="0" u="none" strike="noStrike" kern="1200" cap="none" spc="0" normalizeH="0" baseline="0" noProof="0" dirty="0">
                <a:ln>
                  <a:noFill/>
                </a:ln>
                <a:solidFill>
                  <a:srgbClr val="191B0E"/>
                </a:solidFill>
                <a:effectLst/>
                <a:uLnTx/>
                <a:uFillTx/>
                <a:latin typeface="Times New Roman" panose="02020603050405020304" pitchFamily="18" charset="0"/>
                <a:ea typeface="Calibri" panose="020F0502020204030204" pitchFamily="34" charset="0"/>
                <a:cs typeface="Arial" panose="020B0604020202020204" pitchFamily="34" charset="0"/>
              </a:rPr>
              <a:t>11-La réhydratation parentérale :</a:t>
            </a:r>
            <a:br>
              <a:rPr kumimoji="0" lang="fr-TN" b="0" i="0" u="none" strike="noStrike" kern="1200" cap="none" spc="0" normalizeH="0" baseline="0" noProof="0" dirty="0">
                <a:ln>
                  <a:noFill/>
                </a:ln>
                <a:solidFill>
                  <a:srgbClr val="191B0E"/>
                </a:solidFill>
                <a:effectLst/>
                <a:uLnTx/>
                <a:uFillTx/>
                <a:latin typeface="Calibri" panose="020F0502020204030204" pitchFamily="34" charset="0"/>
                <a:ea typeface="Calibri" panose="020F0502020204030204" pitchFamily="34" charset="0"/>
                <a:cs typeface="Arial" panose="020B0604020202020204" pitchFamily="34" charset="0"/>
              </a:rPr>
            </a:br>
            <a:endParaRPr lang="fr-TN" dirty="0"/>
          </a:p>
        </p:txBody>
      </p:sp>
      <p:sp>
        <p:nvSpPr>
          <p:cNvPr id="3" name="Espace réservé du contenu 2">
            <a:extLst>
              <a:ext uri="{FF2B5EF4-FFF2-40B4-BE49-F238E27FC236}">
                <a16:creationId xmlns:a16="http://schemas.microsoft.com/office/drawing/2014/main" id="{1F5AC86C-AC4E-BB29-F028-4BAC4D7C4F7F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Autofit/>
          </a:bodyPr>
          <a:lstStyle/>
          <a:p>
            <a:pPr marL="342900" lvl="0" indent="-342900">
              <a:lnSpc>
                <a:spcPct val="107000"/>
              </a:lnSpc>
              <a:buFont typeface="+mj-lt"/>
              <a:buAutoNum type="alphaUcPeriod"/>
            </a:pPr>
            <a:r>
              <a:rPr lang="fr-FR" sz="2400" dirty="0"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Arial" panose="020B0604020202020204" pitchFamily="34" charset="0"/>
              </a:rPr>
              <a:t>Est indiquée d’emblée en cas de déshydratation modérée</a:t>
            </a:r>
            <a:endParaRPr lang="fr-TN" sz="2400" dirty="0">
              <a:effectLst/>
              <a:latin typeface="Calibri" panose="020F0502020204030204" pitchFamily="34" charset="0"/>
              <a:ea typeface="Calibri" panose="020F0502020204030204" pitchFamily="34" charset="0"/>
              <a:cs typeface="Arial" panose="020B0604020202020204" pitchFamily="34" charset="0"/>
            </a:endParaRPr>
          </a:p>
          <a:p>
            <a:pPr marL="342900" lvl="0" indent="-342900">
              <a:lnSpc>
                <a:spcPct val="107000"/>
              </a:lnSpc>
              <a:buFont typeface="+mj-lt"/>
              <a:buAutoNum type="alphaUcPeriod"/>
            </a:pPr>
            <a:r>
              <a:rPr lang="fr-FR" sz="2400" dirty="0">
                <a:solidFill>
                  <a:srgbClr val="FF0000"/>
                </a:solidFill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Arial" panose="020B0604020202020204" pitchFamily="34" charset="0"/>
              </a:rPr>
              <a:t>Est indiquée si échec de la voie orale</a:t>
            </a:r>
            <a:endParaRPr lang="fr-TN" sz="2400" dirty="0">
              <a:solidFill>
                <a:srgbClr val="FF0000"/>
              </a:solidFill>
              <a:effectLst/>
              <a:latin typeface="Calibri" panose="020F0502020204030204" pitchFamily="34" charset="0"/>
              <a:ea typeface="Calibri" panose="020F0502020204030204" pitchFamily="34" charset="0"/>
              <a:cs typeface="Arial" panose="020B0604020202020204" pitchFamily="34" charset="0"/>
            </a:endParaRPr>
          </a:p>
          <a:p>
            <a:pPr marL="342900" lvl="0" indent="-342900">
              <a:lnSpc>
                <a:spcPct val="107000"/>
              </a:lnSpc>
              <a:buFont typeface="+mj-lt"/>
              <a:buAutoNum type="alphaUcPeriod"/>
            </a:pPr>
            <a:r>
              <a:rPr lang="fr-FR" sz="2400" dirty="0"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Arial" panose="020B0604020202020204" pitchFamily="34" charset="0"/>
              </a:rPr>
              <a:t>Se base sur  une perfusion intraveineuse  de SRO</a:t>
            </a:r>
            <a:endParaRPr lang="fr-TN" sz="2400" dirty="0">
              <a:effectLst/>
              <a:latin typeface="Calibri" panose="020F0502020204030204" pitchFamily="34" charset="0"/>
              <a:ea typeface="Calibri" panose="020F0502020204030204" pitchFamily="34" charset="0"/>
              <a:cs typeface="Arial" panose="020B0604020202020204" pitchFamily="34" charset="0"/>
            </a:endParaRPr>
          </a:p>
          <a:p>
            <a:pPr marL="342900" lvl="0" indent="-342900">
              <a:lnSpc>
                <a:spcPct val="107000"/>
              </a:lnSpc>
              <a:buFont typeface="+mj-lt"/>
              <a:buAutoNum type="alphaUcPeriod"/>
            </a:pPr>
            <a:r>
              <a:rPr lang="fr-FR" sz="2400" dirty="0">
                <a:solidFill>
                  <a:srgbClr val="FF0000"/>
                </a:solidFill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Arial" panose="020B0604020202020204" pitchFamily="34" charset="0"/>
              </a:rPr>
              <a:t>Commence par un remplissage vasculaire si état de choc</a:t>
            </a:r>
            <a:endParaRPr lang="fr-TN" sz="2400" dirty="0">
              <a:solidFill>
                <a:srgbClr val="FF0000"/>
              </a:solidFill>
              <a:effectLst/>
              <a:latin typeface="Calibri" panose="020F0502020204030204" pitchFamily="34" charset="0"/>
              <a:ea typeface="Calibri" panose="020F0502020204030204" pitchFamily="34" charset="0"/>
              <a:cs typeface="Arial" panose="020B0604020202020204" pitchFamily="34" charset="0"/>
            </a:endParaRPr>
          </a:p>
          <a:p>
            <a:pPr marL="342900" lvl="0" indent="-342900">
              <a:lnSpc>
                <a:spcPct val="107000"/>
              </a:lnSpc>
              <a:buFont typeface="+mj-lt"/>
              <a:buAutoNum type="alphaUcPeriod"/>
            </a:pPr>
            <a:r>
              <a:rPr lang="fr-FR" sz="2400" dirty="0">
                <a:solidFill>
                  <a:srgbClr val="FF0000"/>
                </a:solidFill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Arial" panose="020B0604020202020204" pitchFamily="34" charset="0"/>
              </a:rPr>
              <a:t>Correspond aux besoins de maintenance + déficit hydrique + les pertes par  24 heures</a:t>
            </a:r>
            <a:endParaRPr lang="fr-TN" sz="2400" dirty="0">
              <a:effectLst/>
              <a:latin typeface="Calibri" panose="020F0502020204030204" pitchFamily="34" charset="0"/>
              <a:ea typeface="Calibri" panose="020F0502020204030204" pitchFamily="34" charset="0"/>
              <a:cs typeface="Arial" panose="020B0604020202020204" pitchFamily="34" charset="0"/>
            </a:endParaRPr>
          </a:p>
          <a:p>
            <a:endParaRPr lang="fr-TN" sz="2400" dirty="0"/>
          </a:p>
        </p:txBody>
      </p:sp>
    </p:spTree>
    <p:extLst>
      <p:ext uri="{BB962C8B-B14F-4D97-AF65-F5344CB8AC3E}">
        <p14:creationId xmlns:p14="http://schemas.microsoft.com/office/powerpoint/2010/main" val="3705339214"/>
      </p:ext>
    </p:extLst>
  </p:cSld>
  <p:clrMapOvr>
    <a:masterClrMapping/>
  </p:clrMapOvr>
</p:sld>
</file>

<file path=ppt/slides/slide4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Image 2">
            <a:extLst>
              <a:ext uri="{FF2B5EF4-FFF2-40B4-BE49-F238E27FC236}">
                <a16:creationId xmlns:a16="http://schemas.microsoft.com/office/drawing/2014/main" id="{A99D8E1D-5ABD-D47B-6CFA-25AA49F84799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994915" y="3161302"/>
            <a:ext cx="7668695" cy="1086002"/>
          </a:xfrm>
          <a:prstGeom prst="rect">
            <a:avLst/>
          </a:prstGeom>
        </p:spPr>
      </p:pic>
      <p:pic>
        <p:nvPicPr>
          <p:cNvPr id="5" name="Image 4">
            <a:extLst>
              <a:ext uri="{FF2B5EF4-FFF2-40B4-BE49-F238E27FC236}">
                <a16:creationId xmlns:a16="http://schemas.microsoft.com/office/drawing/2014/main" id="{9A4CC744-8760-824F-3ABE-DB08F33B99B4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994915" y="1597842"/>
            <a:ext cx="7401958" cy="77163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833325919"/>
      </p:ext>
    </p:extLst>
  </p:cSld>
  <p:clrMapOvr>
    <a:masterClrMapping/>
  </p:clrMapOvr>
</p:sld>
</file>

<file path=ppt/slides/slide4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>
            <a:extLst>
              <a:ext uri="{FF2B5EF4-FFF2-40B4-BE49-F238E27FC236}">
                <a16:creationId xmlns:a16="http://schemas.microsoft.com/office/drawing/2014/main" id="{0DFEC448-4D58-785D-E336-B1A4F165017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Autofit/>
          </a:bodyPr>
          <a:lstStyle/>
          <a:p>
            <a:pPr marR="0" lvl="0" algn="l" defTabSz="914400" rtl="0" eaLnBrk="1" fontAlgn="auto" latinLnBrk="0" hangingPunct="1">
              <a:lnSpc>
                <a:spcPct val="107000"/>
              </a:lnSpc>
              <a:spcBef>
                <a:spcPts val="1000"/>
              </a:spcBef>
              <a:spcAft>
                <a:spcPts val="800"/>
              </a:spcAft>
              <a:buClrTx/>
              <a:buSzTx/>
              <a:tabLst/>
              <a:defRPr/>
            </a:pPr>
            <a:r>
              <a:rPr lang="fr-FR" sz="3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12-</a:t>
            </a:r>
            <a:r>
              <a:rPr kumimoji="0" lang="fr-FR" sz="3200" b="1" i="0" u="none" strike="noStrike" kern="1200" cap="none" spc="0" normalizeH="0" baseline="0" noProof="0" dirty="0">
                <a:ln>
                  <a:noFill/>
                </a:ln>
                <a:solidFill>
                  <a:srgbClr val="191B0E"/>
                </a:solidFill>
                <a:effectLst/>
                <a:uLnTx/>
                <a:uFillTx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La réhydratation parentérale doit être privilégiée dans les situations suivantes :</a:t>
            </a:r>
            <a:br>
              <a:rPr kumimoji="0" lang="fr-TN" sz="3200" b="0" i="0" u="none" strike="noStrike" kern="1200" cap="none" spc="0" normalizeH="0" baseline="0" noProof="0" dirty="0">
                <a:ln>
                  <a:noFill/>
                </a:ln>
                <a:solidFill>
                  <a:srgbClr val="191B0E"/>
                </a:solidFill>
                <a:effectLst/>
                <a:uLnTx/>
                <a:uFillTx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</a:br>
            <a:endParaRPr lang="fr-TN" sz="32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3" name="Espace réservé du contenu 2">
            <a:extLst>
              <a:ext uri="{FF2B5EF4-FFF2-40B4-BE49-F238E27FC236}">
                <a16:creationId xmlns:a16="http://schemas.microsoft.com/office/drawing/2014/main" id="{7B5385E8-46A2-0D5E-7D3F-3990BB14A96C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pPr marL="342900" lvl="0" indent="-342900">
              <a:buFont typeface="+mj-lt"/>
              <a:buAutoNum type="alphaUcPeriod"/>
            </a:pPr>
            <a:r>
              <a:rPr lang="fr-FR" sz="2400" dirty="0">
                <a:solidFill>
                  <a:srgbClr val="000000"/>
                </a:solidFill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Un score de déshydratation à 4</a:t>
            </a:r>
            <a:endParaRPr lang="fr-TN" sz="2400" dirty="0">
              <a:solidFill>
                <a:srgbClr val="000000"/>
              </a:solidFill>
              <a:effectLst/>
              <a:latin typeface="Times New Roman" panose="02020603050405020304" pitchFamily="18" charset="0"/>
              <a:ea typeface="Calibri" panose="020F0502020204030204" pitchFamily="34" charset="0"/>
            </a:endParaRPr>
          </a:p>
          <a:p>
            <a:pPr marL="342900" lvl="0" indent="-342900">
              <a:buFont typeface="+mj-lt"/>
              <a:buAutoNum type="alphaUcPeriod"/>
            </a:pPr>
            <a:r>
              <a:rPr lang="fr-FR" sz="2400" dirty="0">
                <a:solidFill>
                  <a:srgbClr val="000000"/>
                </a:solidFill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Une déshydratation sévère </a:t>
            </a:r>
            <a:endParaRPr lang="fr-TN" sz="2400" dirty="0">
              <a:solidFill>
                <a:srgbClr val="000000"/>
              </a:solidFill>
              <a:effectLst/>
              <a:latin typeface="Times New Roman" panose="02020603050405020304" pitchFamily="18" charset="0"/>
              <a:ea typeface="Calibri" panose="020F0502020204030204" pitchFamily="34" charset="0"/>
            </a:endParaRPr>
          </a:p>
          <a:p>
            <a:pPr marL="342900" lvl="0" indent="-342900">
              <a:buFont typeface="+mj-lt"/>
              <a:buAutoNum type="alphaUcPeriod"/>
            </a:pPr>
            <a:r>
              <a:rPr lang="fr-FR" sz="2400" dirty="0">
                <a:solidFill>
                  <a:srgbClr val="000000"/>
                </a:solidFill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Des troubles de la conscience</a:t>
            </a:r>
            <a:endParaRPr lang="fr-TN" sz="2400" dirty="0">
              <a:solidFill>
                <a:srgbClr val="000000"/>
              </a:solidFill>
              <a:effectLst/>
              <a:latin typeface="Times New Roman" panose="02020603050405020304" pitchFamily="18" charset="0"/>
              <a:ea typeface="Calibri" panose="020F0502020204030204" pitchFamily="34" charset="0"/>
            </a:endParaRPr>
          </a:p>
          <a:p>
            <a:pPr marL="342900" lvl="0" indent="-342900">
              <a:buFont typeface="+mj-lt"/>
              <a:buAutoNum type="alphaUcPeriod"/>
            </a:pPr>
            <a:r>
              <a:rPr lang="fr-FR" sz="2400" dirty="0">
                <a:solidFill>
                  <a:srgbClr val="000000"/>
                </a:solidFill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Une suspicion d’une urgence chirurgicale </a:t>
            </a:r>
            <a:endParaRPr lang="fr-TN" sz="2400" dirty="0">
              <a:solidFill>
                <a:srgbClr val="000000"/>
              </a:solidFill>
              <a:effectLst/>
              <a:latin typeface="Times New Roman" panose="02020603050405020304" pitchFamily="18" charset="0"/>
              <a:ea typeface="Calibri" panose="020F0502020204030204" pitchFamily="34" charset="0"/>
            </a:endParaRPr>
          </a:p>
          <a:p>
            <a:pPr marL="342900" lvl="0" indent="-342900">
              <a:buFont typeface="+mj-lt"/>
              <a:buAutoNum type="alphaUcPeriod"/>
            </a:pPr>
            <a:r>
              <a:rPr lang="fr-FR" sz="2400" dirty="0">
                <a:solidFill>
                  <a:srgbClr val="000000"/>
                </a:solidFill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Une température à 39°</a:t>
            </a:r>
            <a:endParaRPr lang="fr-TN" sz="2400" dirty="0">
              <a:solidFill>
                <a:srgbClr val="000000"/>
              </a:solidFill>
              <a:effectLst/>
              <a:latin typeface="Times New Roman" panose="02020603050405020304" pitchFamily="18" charset="0"/>
              <a:ea typeface="Calibri" panose="020F0502020204030204" pitchFamily="34" charset="0"/>
            </a:endParaRPr>
          </a:p>
          <a:p>
            <a:pPr marL="685800">
              <a:buNone/>
            </a:pPr>
            <a:endParaRPr lang="fr-TN" sz="2400" dirty="0">
              <a:solidFill>
                <a:srgbClr val="000000"/>
              </a:solidFill>
              <a:effectLst/>
              <a:latin typeface="Times New Roman" panose="02020603050405020304" pitchFamily="18" charset="0"/>
              <a:ea typeface="Calibri" panose="020F0502020204030204" pitchFamily="34" charset="0"/>
            </a:endParaRPr>
          </a:p>
          <a:p>
            <a:endParaRPr lang="fr-TN" sz="2400" dirty="0"/>
          </a:p>
        </p:txBody>
      </p:sp>
    </p:spTree>
    <p:extLst>
      <p:ext uri="{BB962C8B-B14F-4D97-AF65-F5344CB8AC3E}">
        <p14:creationId xmlns:p14="http://schemas.microsoft.com/office/powerpoint/2010/main" val="38494813"/>
      </p:ext>
    </p:extLst>
  </p:cSld>
  <p:clrMapOvr>
    <a:masterClrMapping/>
  </p:clrMapOvr>
</p:sld>
</file>

<file path=ppt/slides/slide4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A2464FF-529F-9FF9-C12A-6E7E705D184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>
            <a:extLst>
              <a:ext uri="{FF2B5EF4-FFF2-40B4-BE49-F238E27FC236}">
                <a16:creationId xmlns:a16="http://schemas.microsoft.com/office/drawing/2014/main" id="{95FCFDF8-5218-CAE3-3184-A1EE12B5B49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Autofit/>
          </a:bodyPr>
          <a:lstStyle/>
          <a:p>
            <a:pPr marR="0" lvl="0" algn="l" defTabSz="914400" rtl="0" eaLnBrk="1" fontAlgn="auto" latinLnBrk="0" hangingPunct="1">
              <a:lnSpc>
                <a:spcPct val="107000"/>
              </a:lnSpc>
              <a:spcBef>
                <a:spcPts val="1000"/>
              </a:spcBef>
              <a:spcAft>
                <a:spcPts val="800"/>
              </a:spcAft>
              <a:buClrTx/>
              <a:buSzTx/>
              <a:tabLst/>
              <a:defRPr/>
            </a:pPr>
            <a:r>
              <a:rPr lang="fr-FR" sz="3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12-</a:t>
            </a:r>
            <a:r>
              <a:rPr kumimoji="0" lang="fr-FR" sz="3200" b="1" i="0" u="none" strike="noStrike" kern="1200" cap="none" spc="0" normalizeH="0" baseline="0" noProof="0" dirty="0">
                <a:ln>
                  <a:noFill/>
                </a:ln>
                <a:solidFill>
                  <a:srgbClr val="191B0E"/>
                </a:solidFill>
                <a:effectLst/>
                <a:uLnTx/>
                <a:uFillTx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La réhydratation parentérale doit être privilégiée dans les situations suivantes :</a:t>
            </a:r>
            <a:br>
              <a:rPr kumimoji="0" lang="fr-TN" sz="3200" b="0" i="0" u="none" strike="noStrike" kern="1200" cap="none" spc="0" normalizeH="0" baseline="0" noProof="0" dirty="0">
                <a:ln>
                  <a:noFill/>
                </a:ln>
                <a:solidFill>
                  <a:srgbClr val="191B0E"/>
                </a:solidFill>
                <a:effectLst/>
                <a:uLnTx/>
                <a:uFillTx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</a:br>
            <a:endParaRPr lang="fr-TN" sz="32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3" name="Espace réservé du contenu 2">
            <a:extLst>
              <a:ext uri="{FF2B5EF4-FFF2-40B4-BE49-F238E27FC236}">
                <a16:creationId xmlns:a16="http://schemas.microsoft.com/office/drawing/2014/main" id="{DA58F2DB-0339-D76F-817A-A777E1BCB0EA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pPr marL="342900" lvl="0" indent="-342900">
              <a:buFont typeface="+mj-lt"/>
              <a:buAutoNum type="alphaUcPeriod"/>
            </a:pPr>
            <a:r>
              <a:rPr lang="fr-FR" sz="2400" dirty="0">
                <a:solidFill>
                  <a:srgbClr val="000000"/>
                </a:solidFill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Un score de déshydratation à 4</a:t>
            </a:r>
            <a:endParaRPr lang="fr-TN" sz="2400" dirty="0">
              <a:solidFill>
                <a:srgbClr val="000000"/>
              </a:solidFill>
              <a:effectLst/>
              <a:latin typeface="Times New Roman" panose="02020603050405020304" pitchFamily="18" charset="0"/>
              <a:ea typeface="Calibri" panose="020F0502020204030204" pitchFamily="34" charset="0"/>
            </a:endParaRPr>
          </a:p>
          <a:p>
            <a:pPr marL="342900" lvl="0" indent="-342900">
              <a:buFont typeface="+mj-lt"/>
              <a:buAutoNum type="alphaUcPeriod"/>
            </a:pPr>
            <a:r>
              <a:rPr lang="fr-FR" sz="2400" dirty="0">
                <a:solidFill>
                  <a:srgbClr val="FF0000"/>
                </a:solidFill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Une déshydratation sévère </a:t>
            </a:r>
            <a:endParaRPr lang="fr-TN" sz="2400" dirty="0">
              <a:solidFill>
                <a:srgbClr val="FF0000"/>
              </a:solidFill>
              <a:effectLst/>
              <a:latin typeface="Times New Roman" panose="02020603050405020304" pitchFamily="18" charset="0"/>
              <a:ea typeface="Calibri" panose="020F0502020204030204" pitchFamily="34" charset="0"/>
            </a:endParaRPr>
          </a:p>
          <a:p>
            <a:pPr marL="342900" lvl="0" indent="-342900">
              <a:buFont typeface="+mj-lt"/>
              <a:buAutoNum type="alphaUcPeriod"/>
            </a:pPr>
            <a:r>
              <a:rPr lang="fr-FR" sz="2400" dirty="0">
                <a:solidFill>
                  <a:srgbClr val="FF0000"/>
                </a:solidFill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Des troubles de la conscience</a:t>
            </a:r>
            <a:endParaRPr lang="fr-TN" sz="2400" dirty="0">
              <a:solidFill>
                <a:srgbClr val="FF0000"/>
              </a:solidFill>
              <a:effectLst/>
              <a:latin typeface="Times New Roman" panose="02020603050405020304" pitchFamily="18" charset="0"/>
              <a:ea typeface="Calibri" panose="020F0502020204030204" pitchFamily="34" charset="0"/>
            </a:endParaRPr>
          </a:p>
          <a:p>
            <a:pPr marL="342900" lvl="0" indent="-342900">
              <a:buFont typeface="+mj-lt"/>
              <a:buAutoNum type="alphaUcPeriod"/>
            </a:pPr>
            <a:r>
              <a:rPr lang="fr-FR" sz="2400" dirty="0">
                <a:solidFill>
                  <a:srgbClr val="FF0000"/>
                </a:solidFill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Une suspicion d’une urgence chirurgicale </a:t>
            </a:r>
            <a:endParaRPr lang="fr-TN" sz="2400" dirty="0">
              <a:solidFill>
                <a:srgbClr val="FF0000"/>
              </a:solidFill>
              <a:effectLst/>
              <a:latin typeface="Times New Roman" panose="02020603050405020304" pitchFamily="18" charset="0"/>
              <a:ea typeface="Calibri" panose="020F0502020204030204" pitchFamily="34" charset="0"/>
            </a:endParaRPr>
          </a:p>
          <a:p>
            <a:pPr marL="342900" lvl="0" indent="-342900">
              <a:buFont typeface="+mj-lt"/>
              <a:buAutoNum type="alphaUcPeriod"/>
            </a:pPr>
            <a:r>
              <a:rPr lang="fr-FR" sz="2400" dirty="0">
                <a:solidFill>
                  <a:srgbClr val="000000"/>
                </a:solidFill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Une température à 39°</a:t>
            </a:r>
            <a:endParaRPr lang="fr-TN" sz="2400" dirty="0">
              <a:solidFill>
                <a:srgbClr val="000000"/>
              </a:solidFill>
              <a:effectLst/>
              <a:latin typeface="Times New Roman" panose="02020603050405020304" pitchFamily="18" charset="0"/>
              <a:ea typeface="Calibri" panose="020F0502020204030204" pitchFamily="34" charset="0"/>
            </a:endParaRPr>
          </a:p>
          <a:p>
            <a:pPr marL="685800">
              <a:buNone/>
            </a:pPr>
            <a:endParaRPr lang="fr-TN" sz="2400" dirty="0">
              <a:solidFill>
                <a:srgbClr val="000000"/>
              </a:solidFill>
              <a:effectLst/>
              <a:latin typeface="Times New Roman" panose="02020603050405020304" pitchFamily="18" charset="0"/>
              <a:ea typeface="Calibri" panose="020F0502020204030204" pitchFamily="34" charset="0"/>
            </a:endParaRPr>
          </a:p>
          <a:p>
            <a:endParaRPr lang="fr-TN" sz="2400" dirty="0"/>
          </a:p>
        </p:txBody>
      </p:sp>
    </p:spTree>
    <p:extLst>
      <p:ext uri="{BB962C8B-B14F-4D97-AF65-F5344CB8AC3E}">
        <p14:creationId xmlns:p14="http://schemas.microsoft.com/office/powerpoint/2010/main" val="1826950623"/>
      </p:ext>
    </p:extLst>
  </p:cSld>
  <p:clrMapOvr>
    <a:masterClrMapping/>
  </p:clrMapOvr>
</p:sld>
</file>

<file path=ppt/slides/slide5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Rectangle 7">
            <a:extLst>
              <a:ext uri="{FF2B5EF4-FFF2-40B4-BE49-F238E27FC236}">
                <a16:creationId xmlns:a16="http://schemas.microsoft.com/office/drawing/2014/main" id="{7A9832FF-2FB7-4330-B055-6ABDD80C07A4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1036321" y="321731"/>
            <a:ext cx="10833946" cy="6131654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3" name="Image 2">
            <a:extLst>
              <a:ext uri="{FF2B5EF4-FFF2-40B4-BE49-F238E27FC236}">
                <a16:creationId xmlns:a16="http://schemas.microsoft.com/office/drawing/2014/main" id="{6FC78DA2-7064-CB04-CCD2-0BF778AEEEB3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679787" y="1895837"/>
            <a:ext cx="9547011" cy="298344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57596825"/>
      </p:ext>
    </p:extLst>
  </p:cSld>
  <p:clrMapOvr>
    <a:masterClrMapping/>
  </p:clrMapOvr>
</p:sld>
</file>

<file path=ppt/slides/slide5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>
            <a:extLst>
              <a:ext uri="{FF2B5EF4-FFF2-40B4-BE49-F238E27FC236}">
                <a16:creationId xmlns:a16="http://schemas.microsoft.com/office/drawing/2014/main" id="{CD02D713-8622-18C2-7FE5-B1EB3EF0E12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Autofit/>
          </a:bodyPr>
          <a:lstStyle/>
          <a:p>
            <a:pPr marL="342900" lvl="0" indent="-342900" rtl="0">
              <a:lnSpc>
                <a:spcPct val="107000"/>
              </a:lnSpc>
              <a:spcAft>
                <a:spcPts val="800"/>
              </a:spcAft>
            </a:pPr>
            <a:r>
              <a:rPr lang="fr-FR" sz="2800" b="1" dirty="0"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Arial" panose="020B0604020202020204" pitchFamily="34" charset="0"/>
              </a:rPr>
              <a:t>13-Au cours d’une déshydratation chez nourrisson de 10kg de poids </a:t>
            </a:r>
            <a:br>
              <a:rPr lang="fr-TN" sz="2800" dirty="0">
                <a:effectLst/>
                <a:latin typeface="Calibri" panose="020F0502020204030204" pitchFamily="34" charset="0"/>
                <a:ea typeface="Calibri" panose="020F0502020204030204" pitchFamily="34" charset="0"/>
                <a:cs typeface="Arial" panose="020B0604020202020204" pitchFamily="34" charset="0"/>
              </a:rPr>
            </a:br>
            <a:r>
              <a:rPr lang="fr-FR" sz="2800" b="1" dirty="0"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Arial" panose="020B0604020202020204" pitchFamily="34" charset="0"/>
              </a:rPr>
              <a:t>avec au bilan la  Na+=120  </a:t>
            </a:r>
            <a:r>
              <a:rPr lang="fr-FR" sz="2800" b="1" dirty="0" err="1"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Arial" panose="020B0604020202020204" pitchFamily="34" charset="0"/>
              </a:rPr>
              <a:t>mmol</a:t>
            </a:r>
            <a:r>
              <a:rPr lang="fr-FR" sz="2800" b="1" dirty="0"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Arial" panose="020B0604020202020204" pitchFamily="34" charset="0"/>
              </a:rPr>
              <a:t>/L  : </a:t>
            </a:r>
            <a:br>
              <a:rPr lang="fr-TN" sz="2800" dirty="0">
                <a:effectLst/>
                <a:latin typeface="Calibri" panose="020F0502020204030204" pitchFamily="34" charset="0"/>
                <a:ea typeface="Calibri" panose="020F0502020204030204" pitchFamily="34" charset="0"/>
                <a:cs typeface="Arial" panose="020B0604020202020204" pitchFamily="34" charset="0"/>
              </a:rPr>
            </a:br>
            <a:endParaRPr lang="fr-TN" sz="2800" dirty="0"/>
          </a:p>
        </p:txBody>
      </p:sp>
      <p:sp>
        <p:nvSpPr>
          <p:cNvPr id="3" name="Espace réservé du contenu 2">
            <a:extLst>
              <a:ext uri="{FF2B5EF4-FFF2-40B4-BE49-F238E27FC236}">
                <a16:creationId xmlns:a16="http://schemas.microsoft.com/office/drawing/2014/main" id="{0C18257B-3DBD-195C-E6C6-15005850D7B4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Autofit/>
          </a:bodyPr>
          <a:lstStyle/>
          <a:p>
            <a:pPr marL="342900" lvl="0" indent="-342900" rtl="0">
              <a:lnSpc>
                <a:spcPct val="107000"/>
              </a:lnSpc>
              <a:buFont typeface="+mj-lt"/>
              <a:buAutoNum type="alphaUcPeriod"/>
            </a:pPr>
            <a:r>
              <a:rPr lang="fr-TN" dirty="0"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Arial" panose="020B0604020202020204" pitchFamily="34" charset="0"/>
              </a:rPr>
              <a:t> </a:t>
            </a:r>
            <a:r>
              <a:rPr lang="fr-FR" dirty="0"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Arial" panose="020B0604020202020204" pitchFamily="34" charset="0"/>
              </a:rPr>
              <a:t>La déshydratation extracellulaire est importante </a:t>
            </a:r>
            <a:endParaRPr lang="fr-TN" dirty="0">
              <a:effectLst/>
              <a:latin typeface="Calibri" panose="020F0502020204030204" pitchFamily="34" charset="0"/>
              <a:ea typeface="Calibri" panose="020F0502020204030204" pitchFamily="34" charset="0"/>
              <a:cs typeface="Arial" panose="020B0604020202020204" pitchFamily="34" charset="0"/>
            </a:endParaRPr>
          </a:p>
          <a:p>
            <a:pPr marL="342900" lvl="0" indent="-342900">
              <a:lnSpc>
                <a:spcPct val="107000"/>
              </a:lnSpc>
              <a:buFont typeface="+mj-lt"/>
              <a:buAutoNum type="alphaUcPeriod"/>
            </a:pPr>
            <a:r>
              <a:rPr lang="fr-FR" dirty="0"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Arial" panose="020B0604020202020204" pitchFamily="34" charset="0"/>
              </a:rPr>
              <a:t>Si l’hyponatrémie est  asymptomatique, la vitesse de correction est de 0,5 </a:t>
            </a:r>
            <a:r>
              <a:rPr lang="fr-FR" dirty="0" err="1"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Arial" panose="020B0604020202020204" pitchFamily="34" charset="0"/>
              </a:rPr>
              <a:t>mmol</a:t>
            </a:r>
            <a:r>
              <a:rPr lang="fr-FR" dirty="0"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Arial" panose="020B0604020202020204" pitchFamily="34" charset="0"/>
              </a:rPr>
              <a:t>/l/h</a:t>
            </a:r>
            <a:endParaRPr lang="fr-TN" dirty="0">
              <a:effectLst/>
              <a:latin typeface="Calibri" panose="020F0502020204030204" pitchFamily="34" charset="0"/>
              <a:ea typeface="Calibri" panose="020F0502020204030204" pitchFamily="34" charset="0"/>
              <a:cs typeface="Arial" panose="020B0604020202020204" pitchFamily="34" charset="0"/>
            </a:endParaRPr>
          </a:p>
          <a:p>
            <a:pPr marL="342900" lvl="0" indent="-342900">
              <a:lnSpc>
                <a:spcPct val="107000"/>
              </a:lnSpc>
              <a:buFont typeface="+mj-lt"/>
              <a:buAutoNum type="alphaUcPeriod"/>
            </a:pPr>
            <a:r>
              <a:rPr lang="fr-FR" dirty="0"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Arial" panose="020B0604020202020204" pitchFamily="34" charset="0"/>
              </a:rPr>
              <a:t>Une correction trop lente expose au risque de </a:t>
            </a:r>
            <a:r>
              <a:rPr lang="fr-FR" dirty="0" err="1"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Arial" panose="020B0604020202020204" pitchFamily="34" charset="0"/>
              </a:rPr>
              <a:t>myélinolyse</a:t>
            </a:r>
            <a:r>
              <a:rPr lang="fr-FR" dirty="0"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Arial" panose="020B0604020202020204" pitchFamily="34" charset="0"/>
              </a:rPr>
              <a:t> </a:t>
            </a:r>
            <a:r>
              <a:rPr lang="fr-FR" dirty="0" err="1"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Arial" panose="020B0604020202020204" pitchFamily="34" charset="0"/>
              </a:rPr>
              <a:t>centropontine</a:t>
            </a:r>
            <a:r>
              <a:rPr lang="fr-FR" dirty="0"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Arial" panose="020B0604020202020204" pitchFamily="34" charset="0"/>
              </a:rPr>
              <a:t> </a:t>
            </a:r>
            <a:endParaRPr lang="fr-TN" dirty="0">
              <a:effectLst/>
              <a:latin typeface="Calibri" panose="020F0502020204030204" pitchFamily="34" charset="0"/>
              <a:ea typeface="Calibri" panose="020F0502020204030204" pitchFamily="34" charset="0"/>
              <a:cs typeface="Arial" panose="020B0604020202020204" pitchFamily="34" charset="0"/>
            </a:endParaRPr>
          </a:p>
          <a:p>
            <a:pPr marL="342900" lvl="0" indent="-342900">
              <a:lnSpc>
                <a:spcPct val="107000"/>
              </a:lnSpc>
              <a:buFont typeface="+mj-lt"/>
              <a:buAutoNum type="alphaUcPeriod"/>
            </a:pPr>
            <a:r>
              <a:rPr lang="fr-FR" dirty="0"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Arial" panose="020B0604020202020204" pitchFamily="34" charset="0"/>
              </a:rPr>
              <a:t>La quantité de sodium à apporter est de 3 mEq de </a:t>
            </a:r>
            <a:r>
              <a:rPr lang="fr-FR" dirty="0" err="1"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Arial" panose="020B0604020202020204" pitchFamily="34" charset="0"/>
              </a:rPr>
              <a:t>Nacl</a:t>
            </a:r>
            <a:endParaRPr lang="fr-TN" dirty="0">
              <a:effectLst/>
              <a:latin typeface="Calibri" panose="020F0502020204030204" pitchFamily="34" charset="0"/>
              <a:ea typeface="Calibri" panose="020F0502020204030204" pitchFamily="34" charset="0"/>
              <a:cs typeface="Arial" panose="020B0604020202020204" pitchFamily="34" charset="0"/>
            </a:endParaRPr>
          </a:p>
          <a:p>
            <a:pPr marL="342900" lvl="0" indent="-342900">
              <a:lnSpc>
                <a:spcPct val="107000"/>
              </a:lnSpc>
              <a:buFont typeface="+mj-lt"/>
              <a:buAutoNum type="alphaUcPeriod"/>
            </a:pPr>
            <a:r>
              <a:rPr lang="fr-FR" dirty="0"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Arial" panose="020B0604020202020204" pitchFamily="34" charset="0"/>
              </a:rPr>
              <a:t>Si le nourrisson est en coma , la  vitesse de correction de la natrémie est de  5 </a:t>
            </a:r>
            <a:r>
              <a:rPr lang="fr-FR" dirty="0" err="1"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Arial" panose="020B0604020202020204" pitchFamily="34" charset="0"/>
              </a:rPr>
              <a:t>mmol</a:t>
            </a:r>
            <a:r>
              <a:rPr lang="fr-FR" dirty="0"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Arial" panose="020B0604020202020204" pitchFamily="34" charset="0"/>
              </a:rPr>
              <a:t>/l/h initialement</a:t>
            </a:r>
            <a:endParaRPr lang="fr-TN" dirty="0">
              <a:effectLst/>
              <a:latin typeface="Calibri" panose="020F0502020204030204" pitchFamily="34" charset="0"/>
              <a:ea typeface="Calibri" panose="020F0502020204030204" pitchFamily="34" charset="0"/>
              <a:cs typeface="Arial" panose="020B0604020202020204" pitchFamily="34" charset="0"/>
            </a:endParaRPr>
          </a:p>
          <a:p>
            <a:pPr marL="914400">
              <a:lnSpc>
                <a:spcPct val="107000"/>
              </a:lnSpc>
              <a:buNone/>
            </a:pPr>
            <a:r>
              <a:rPr lang="fr-FR" dirty="0">
                <a:solidFill>
                  <a:srgbClr val="EE0000"/>
                </a:solidFill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Arial" panose="020B0604020202020204" pitchFamily="34" charset="0"/>
              </a:rPr>
              <a:t>ABE</a:t>
            </a:r>
            <a:endParaRPr lang="fr-TN" dirty="0">
              <a:effectLst/>
              <a:latin typeface="Calibri" panose="020F0502020204030204" pitchFamily="34" charset="0"/>
              <a:ea typeface="Calibri" panose="020F0502020204030204" pitchFamily="34" charset="0"/>
              <a:cs typeface="Arial" panose="020B0604020202020204" pitchFamily="34" charset="0"/>
            </a:endParaRPr>
          </a:p>
          <a:p>
            <a:pPr marL="914400">
              <a:lnSpc>
                <a:spcPct val="107000"/>
              </a:lnSpc>
              <a:spcAft>
                <a:spcPts val="800"/>
              </a:spcAft>
              <a:buNone/>
            </a:pPr>
            <a:r>
              <a:rPr lang="fr-FR" dirty="0"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Arial" panose="020B0604020202020204" pitchFamily="34" charset="0"/>
              </a:rPr>
              <a:t> </a:t>
            </a:r>
            <a:endParaRPr lang="fr-TN" dirty="0">
              <a:effectLst/>
              <a:latin typeface="Calibri" panose="020F0502020204030204" pitchFamily="34" charset="0"/>
              <a:ea typeface="Calibri" panose="020F0502020204030204" pitchFamily="34" charset="0"/>
              <a:cs typeface="Arial" panose="020B0604020202020204" pitchFamily="34" charset="0"/>
            </a:endParaRPr>
          </a:p>
          <a:p>
            <a:endParaRPr lang="fr-TN" dirty="0"/>
          </a:p>
        </p:txBody>
      </p:sp>
    </p:spTree>
    <p:extLst>
      <p:ext uri="{BB962C8B-B14F-4D97-AF65-F5344CB8AC3E}">
        <p14:creationId xmlns:p14="http://schemas.microsoft.com/office/powerpoint/2010/main" val="2969811201"/>
      </p:ext>
    </p:extLst>
  </p:cSld>
  <p:clrMapOvr>
    <a:masterClrMapping/>
  </p:clrMapOvr>
</p:sld>
</file>

<file path=ppt/slides/slide5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5C8BB59-D3C7-E004-6CE4-B049C7BB703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>
            <a:extLst>
              <a:ext uri="{FF2B5EF4-FFF2-40B4-BE49-F238E27FC236}">
                <a16:creationId xmlns:a16="http://schemas.microsoft.com/office/drawing/2014/main" id="{F9A29850-7D52-6204-1224-A8EE4C36EC3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Autofit/>
          </a:bodyPr>
          <a:lstStyle/>
          <a:p>
            <a:pPr marL="342900" lvl="0" indent="-342900" rtl="0">
              <a:lnSpc>
                <a:spcPct val="107000"/>
              </a:lnSpc>
              <a:spcAft>
                <a:spcPts val="800"/>
              </a:spcAft>
            </a:pPr>
            <a:r>
              <a:rPr lang="fr-FR" sz="2800" b="1" dirty="0"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Arial" panose="020B0604020202020204" pitchFamily="34" charset="0"/>
              </a:rPr>
              <a:t>13-Au cours d’une déshydratation chez nourrisson de 10kg de poids </a:t>
            </a:r>
            <a:br>
              <a:rPr lang="fr-TN" sz="2800" dirty="0">
                <a:effectLst/>
                <a:latin typeface="Calibri" panose="020F0502020204030204" pitchFamily="34" charset="0"/>
                <a:ea typeface="Calibri" panose="020F0502020204030204" pitchFamily="34" charset="0"/>
                <a:cs typeface="Arial" panose="020B0604020202020204" pitchFamily="34" charset="0"/>
              </a:rPr>
            </a:br>
            <a:r>
              <a:rPr lang="fr-FR" sz="2800" b="1" dirty="0"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Arial" panose="020B0604020202020204" pitchFamily="34" charset="0"/>
              </a:rPr>
              <a:t>avec au bilan la  Na+=120  </a:t>
            </a:r>
            <a:r>
              <a:rPr lang="fr-FR" sz="2800" b="1" dirty="0" err="1"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Arial" panose="020B0604020202020204" pitchFamily="34" charset="0"/>
              </a:rPr>
              <a:t>mmol</a:t>
            </a:r>
            <a:r>
              <a:rPr lang="fr-FR" sz="2800" b="1" dirty="0"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Arial" panose="020B0604020202020204" pitchFamily="34" charset="0"/>
              </a:rPr>
              <a:t>/L  : </a:t>
            </a:r>
            <a:br>
              <a:rPr lang="fr-TN" sz="2800" dirty="0">
                <a:effectLst/>
                <a:latin typeface="Calibri" panose="020F0502020204030204" pitchFamily="34" charset="0"/>
                <a:ea typeface="Calibri" panose="020F0502020204030204" pitchFamily="34" charset="0"/>
                <a:cs typeface="Arial" panose="020B0604020202020204" pitchFamily="34" charset="0"/>
              </a:rPr>
            </a:br>
            <a:endParaRPr lang="fr-TN" sz="2800" dirty="0"/>
          </a:p>
        </p:txBody>
      </p:sp>
      <p:sp>
        <p:nvSpPr>
          <p:cNvPr id="3" name="Espace réservé du contenu 2">
            <a:extLst>
              <a:ext uri="{FF2B5EF4-FFF2-40B4-BE49-F238E27FC236}">
                <a16:creationId xmlns:a16="http://schemas.microsoft.com/office/drawing/2014/main" id="{BE34212D-273F-5D76-1E65-8E70323A6370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Autofit/>
          </a:bodyPr>
          <a:lstStyle/>
          <a:p>
            <a:pPr marL="342900" lvl="0" indent="-342900" rtl="0">
              <a:lnSpc>
                <a:spcPct val="107000"/>
              </a:lnSpc>
              <a:buFont typeface="+mj-lt"/>
              <a:buAutoNum type="alphaUcPeriod"/>
            </a:pPr>
            <a:r>
              <a:rPr lang="fr-TN" dirty="0">
                <a:solidFill>
                  <a:srgbClr val="FF0000"/>
                </a:solidFill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Arial" panose="020B0604020202020204" pitchFamily="34" charset="0"/>
              </a:rPr>
              <a:t> </a:t>
            </a:r>
            <a:r>
              <a:rPr lang="fr-FR" dirty="0">
                <a:solidFill>
                  <a:srgbClr val="FF0000"/>
                </a:solidFill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Arial" panose="020B0604020202020204" pitchFamily="34" charset="0"/>
              </a:rPr>
              <a:t>La déshydratation extracellulaire est importante </a:t>
            </a:r>
            <a:endParaRPr lang="fr-TN" dirty="0">
              <a:solidFill>
                <a:srgbClr val="FF0000"/>
              </a:solidFill>
              <a:effectLst/>
              <a:latin typeface="Calibri" panose="020F0502020204030204" pitchFamily="34" charset="0"/>
              <a:ea typeface="Calibri" panose="020F0502020204030204" pitchFamily="34" charset="0"/>
              <a:cs typeface="Arial" panose="020B0604020202020204" pitchFamily="34" charset="0"/>
            </a:endParaRPr>
          </a:p>
          <a:p>
            <a:pPr marL="342900" lvl="0" indent="-342900">
              <a:lnSpc>
                <a:spcPct val="107000"/>
              </a:lnSpc>
              <a:buFont typeface="+mj-lt"/>
              <a:buAutoNum type="alphaUcPeriod"/>
            </a:pPr>
            <a:r>
              <a:rPr lang="fr-FR" dirty="0">
                <a:solidFill>
                  <a:srgbClr val="FF0000"/>
                </a:solidFill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Arial" panose="020B0604020202020204" pitchFamily="34" charset="0"/>
              </a:rPr>
              <a:t>Si l’hyponatrémie est  asymptomatique, la vitesse de correction est de 0,5 </a:t>
            </a:r>
            <a:r>
              <a:rPr lang="fr-FR" dirty="0" err="1">
                <a:solidFill>
                  <a:srgbClr val="FF0000"/>
                </a:solidFill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Arial" panose="020B0604020202020204" pitchFamily="34" charset="0"/>
              </a:rPr>
              <a:t>mmol</a:t>
            </a:r>
            <a:r>
              <a:rPr lang="fr-FR" dirty="0">
                <a:solidFill>
                  <a:srgbClr val="FF0000"/>
                </a:solidFill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Arial" panose="020B0604020202020204" pitchFamily="34" charset="0"/>
              </a:rPr>
              <a:t>/l/h</a:t>
            </a:r>
            <a:endParaRPr lang="fr-TN" dirty="0">
              <a:solidFill>
                <a:srgbClr val="FF0000"/>
              </a:solidFill>
              <a:effectLst/>
              <a:latin typeface="Calibri" panose="020F0502020204030204" pitchFamily="34" charset="0"/>
              <a:ea typeface="Calibri" panose="020F0502020204030204" pitchFamily="34" charset="0"/>
              <a:cs typeface="Arial" panose="020B0604020202020204" pitchFamily="34" charset="0"/>
            </a:endParaRPr>
          </a:p>
          <a:p>
            <a:pPr marL="342900" lvl="0" indent="-342900">
              <a:lnSpc>
                <a:spcPct val="107000"/>
              </a:lnSpc>
              <a:buFont typeface="+mj-lt"/>
              <a:buAutoNum type="alphaUcPeriod"/>
            </a:pPr>
            <a:r>
              <a:rPr lang="fr-FR" dirty="0"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Arial" panose="020B0604020202020204" pitchFamily="34" charset="0"/>
              </a:rPr>
              <a:t>Une correction trop lente expose au risque de </a:t>
            </a:r>
            <a:r>
              <a:rPr lang="fr-FR" dirty="0" err="1"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Arial" panose="020B0604020202020204" pitchFamily="34" charset="0"/>
              </a:rPr>
              <a:t>myélinolyse</a:t>
            </a:r>
            <a:r>
              <a:rPr lang="fr-FR" dirty="0"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Arial" panose="020B0604020202020204" pitchFamily="34" charset="0"/>
              </a:rPr>
              <a:t> </a:t>
            </a:r>
            <a:r>
              <a:rPr lang="fr-FR" dirty="0" err="1"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Arial" panose="020B0604020202020204" pitchFamily="34" charset="0"/>
              </a:rPr>
              <a:t>centropontine</a:t>
            </a:r>
            <a:r>
              <a:rPr lang="fr-FR" dirty="0"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Arial" panose="020B0604020202020204" pitchFamily="34" charset="0"/>
              </a:rPr>
              <a:t> </a:t>
            </a:r>
            <a:endParaRPr lang="fr-TN" dirty="0">
              <a:effectLst/>
              <a:latin typeface="Calibri" panose="020F0502020204030204" pitchFamily="34" charset="0"/>
              <a:ea typeface="Calibri" panose="020F0502020204030204" pitchFamily="34" charset="0"/>
              <a:cs typeface="Arial" panose="020B0604020202020204" pitchFamily="34" charset="0"/>
            </a:endParaRPr>
          </a:p>
          <a:p>
            <a:pPr marL="342900" lvl="0" indent="-342900">
              <a:lnSpc>
                <a:spcPct val="107000"/>
              </a:lnSpc>
              <a:buFont typeface="+mj-lt"/>
              <a:buAutoNum type="alphaUcPeriod"/>
            </a:pPr>
            <a:r>
              <a:rPr lang="fr-FR" dirty="0"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Arial" panose="020B0604020202020204" pitchFamily="34" charset="0"/>
              </a:rPr>
              <a:t>La quantité de sodium à apporter est de 3 mEq de </a:t>
            </a:r>
            <a:r>
              <a:rPr lang="fr-FR" dirty="0" err="1"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Arial" panose="020B0604020202020204" pitchFamily="34" charset="0"/>
              </a:rPr>
              <a:t>Nacl</a:t>
            </a:r>
            <a:endParaRPr lang="fr-TN" dirty="0">
              <a:effectLst/>
              <a:latin typeface="Calibri" panose="020F0502020204030204" pitchFamily="34" charset="0"/>
              <a:ea typeface="Calibri" panose="020F0502020204030204" pitchFamily="34" charset="0"/>
              <a:cs typeface="Arial" panose="020B0604020202020204" pitchFamily="34" charset="0"/>
            </a:endParaRPr>
          </a:p>
          <a:p>
            <a:pPr marL="342900" lvl="0" indent="-342900">
              <a:lnSpc>
                <a:spcPct val="107000"/>
              </a:lnSpc>
              <a:buFont typeface="+mj-lt"/>
              <a:buAutoNum type="alphaUcPeriod"/>
            </a:pPr>
            <a:r>
              <a:rPr lang="fr-FR" dirty="0">
                <a:solidFill>
                  <a:srgbClr val="FF0000"/>
                </a:solidFill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Arial" panose="020B0604020202020204" pitchFamily="34" charset="0"/>
              </a:rPr>
              <a:t>Si le nourrisson est en coma , la  vitesse de correction de la natrémie est de  5 </a:t>
            </a:r>
            <a:r>
              <a:rPr lang="fr-FR" dirty="0" err="1">
                <a:solidFill>
                  <a:srgbClr val="FF0000"/>
                </a:solidFill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Arial" panose="020B0604020202020204" pitchFamily="34" charset="0"/>
              </a:rPr>
              <a:t>mmol</a:t>
            </a:r>
            <a:r>
              <a:rPr lang="fr-FR" dirty="0">
                <a:solidFill>
                  <a:srgbClr val="FF0000"/>
                </a:solidFill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Arial" panose="020B0604020202020204" pitchFamily="34" charset="0"/>
              </a:rPr>
              <a:t>/l/h initialement</a:t>
            </a:r>
            <a:endParaRPr lang="fr-TN" dirty="0">
              <a:solidFill>
                <a:srgbClr val="FF0000"/>
              </a:solidFill>
              <a:effectLst/>
              <a:latin typeface="Calibri" panose="020F0502020204030204" pitchFamily="34" charset="0"/>
              <a:ea typeface="Calibri" panose="020F0502020204030204" pitchFamily="34" charset="0"/>
              <a:cs typeface="Arial" panose="020B0604020202020204" pitchFamily="34" charset="0"/>
            </a:endParaRPr>
          </a:p>
          <a:p>
            <a:pPr marL="914400">
              <a:lnSpc>
                <a:spcPct val="107000"/>
              </a:lnSpc>
              <a:buNone/>
            </a:pPr>
            <a:endParaRPr lang="fr-TN" dirty="0">
              <a:effectLst/>
              <a:latin typeface="Calibri" panose="020F0502020204030204" pitchFamily="34" charset="0"/>
              <a:ea typeface="Calibri" panose="020F0502020204030204" pitchFamily="34" charset="0"/>
              <a:cs typeface="Arial" panose="020B0604020202020204" pitchFamily="34" charset="0"/>
            </a:endParaRPr>
          </a:p>
          <a:p>
            <a:pPr marL="914400">
              <a:lnSpc>
                <a:spcPct val="107000"/>
              </a:lnSpc>
              <a:spcAft>
                <a:spcPts val="800"/>
              </a:spcAft>
              <a:buNone/>
            </a:pPr>
            <a:r>
              <a:rPr lang="fr-FR" dirty="0"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Arial" panose="020B0604020202020204" pitchFamily="34" charset="0"/>
              </a:rPr>
              <a:t> </a:t>
            </a:r>
            <a:endParaRPr lang="fr-TN" dirty="0">
              <a:effectLst/>
              <a:latin typeface="Calibri" panose="020F0502020204030204" pitchFamily="34" charset="0"/>
              <a:ea typeface="Calibri" panose="020F0502020204030204" pitchFamily="34" charset="0"/>
              <a:cs typeface="Arial" panose="020B0604020202020204" pitchFamily="34" charset="0"/>
            </a:endParaRPr>
          </a:p>
          <a:p>
            <a:endParaRPr lang="fr-TN" dirty="0"/>
          </a:p>
        </p:txBody>
      </p:sp>
    </p:spTree>
    <p:extLst>
      <p:ext uri="{BB962C8B-B14F-4D97-AF65-F5344CB8AC3E}">
        <p14:creationId xmlns:p14="http://schemas.microsoft.com/office/powerpoint/2010/main" val="3601928794"/>
      </p:ext>
    </p:extLst>
  </p:cSld>
  <p:clrMapOvr>
    <a:masterClrMapping/>
  </p:clrMapOvr>
</p:sld>
</file>

<file path=ppt/slides/slide5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>
            <a:extLst>
              <a:ext uri="{FF2B5EF4-FFF2-40B4-BE49-F238E27FC236}">
                <a16:creationId xmlns:a16="http://schemas.microsoft.com/office/drawing/2014/main" id="{62D8DA84-1961-E7F2-A496-B186A57D0D2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fr-TN" dirty="0"/>
          </a:p>
        </p:txBody>
      </p:sp>
      <p:pic>
        <p:nvPicPr>
          <p:cNvPr id="7" name="Espace réservé du contenu 6">
            <a:extLst>
              <a:ext uri="{FF2B5EF4-FFF2-40B4-BE49-F238E27FC236}">
                <a16:creationId xmlns:a16="http://schemas.microsoft.com/office/drawing/2014/main" id="{CB424770-3D42-4CBD-CB83-A4ABEDD272C0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2392082" y="1721673"/>
            <a:ext cx="6744641" cy="1419423"/>
          </a:xfrm>
          <a:prstGeom prst="rect">
            <a:avLst/>
          </a:prstGeom>
        </p:spPr>
      </p:pic>
      <p:pic>
        <p:nvPicPr>
          <p:cNvPr id="5" name="Image 4">
            <a:extLst>
              <a:ext uri="{FF2B5EF4-FFF2-40B4-BE49-F238E27FC236}">
                <a16:creationId xmlns:a16="http://schemas.microsoft.com/office/drawing/2014/main" id="{8256D09D-11B3-AF79-5C4D-3CFC63104A9C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835057" y="804489"/>
            <a:ext cx="5858693" cy="84784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170547005"/>
      </p:ext>
    </p:extLst>
  </p:cSld>
  <p:clrMapOvr>
    <a:masterClrMapping/>
  </p:clrMapOvr>
</p:sld>
</file>

<file path=ppt/slides/slide5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Rectangle 9">
            <a:extLst>
              <a:ext uri="{FF2B5EF4-FFF2-40B4-BE49-F238E27FC236}">
                <a16:creationId xmlns:a16="http://schemas.microsoft.com/office/drawing/2014/main" id="{AA6EC888-B85F-410F-B430-06583E94BEEC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478095" y="376"/>
            <a:ext cx="228600" cy="6858000"/>
          </a:xfrm>
          <a:prstGeom prst="rect">
            <a:avLst/>
          </a:prstGeom>
          <a:solidFill>
            <a:schemeClr val="tx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 lang="fr-TN"/>
          </a:p>
        </p:txBody>
      </p:sp>
      <p:sp>
        <p:nvSpPr>
          <p:cNvPr id="12" name="Rectangle 11">
            <a:extLst>
              <a:ext uri="{FF2B5EF4-FFF2-40B4-BE49-F238E27FC236}">
                <a16:creationId xmlns:a16="http://schemas.microsoft.com/office/drawing/2014/main" id="{7A9832FF-2FB7-4330-B055-6ABDD80C07A4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1036321" y="321731"/>
            <a:ext cx="10833946" cy="6131654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13" name="Image 12">
            <a:extLst>
              <a:ext uri="{FF2B5EF4-FFF2-40B4-BE49-F238E27FC236}">
                <a16:creationId xmlns:a16="http://schemas.microsoft.com/office/drawing/2014/main" id="{D0E04827-7010-B50D-0DE2-42F6CD6ADBFE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395021" y="2289605"/>
            <a:ext cx="7401958" cy="3972479"/>
          </a:xfrm>
          <a:prstGeom prst="rect">
            <a:avLst/>
          </a:prstGeom>
        </p:spPr>
      </p:pic>
      <p:pic>
        <p:nvPicPr>
          <p:cNvPr id="7" name="Image 6">
            <a:extLst>
              <a:ext uri="{FF2B5EF4-FFF2-40B4-BE49-F238E27FC236}">
                <a16:creationId xmlns:a16="http://schemas.microsoft.com/office/drawing/2014/main" id="{09F51860-4558-FA9E-CBEB-69A3FA3F6FB6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803604" y="3921803"/>
            <a:ext cx="9352075" cy="935423"/>
          </a:xfrm>
          <a:prstGeom prst="rect">
            <a:avLst/>
          </a:prstGeom>
        </p:spPr>
      </p:pic>
      <p:sp>
        <p:nvSpPr>
          <p:cNvPr id="6" name="Rectangle 5">
            <a:extLst>
              <a:ext uri="{FF2B5EF4-FFF2-40B4-BE49-F238E27FC236}">
                <a16:creationId xmlns:a16="http://schemas.microsoft.com/office/drawing/2014/main" id="{DC8C89AD-23A0-A2BF-6862-5E6D236183F6}"/>
              </a:ext>
            </a:extLst>
          </p:cNvPr>
          <p:cNvSpPr/>
          <p:nvPr/>
        </p:nvSpPr>
        <p:spPr>
          <a:xfrm flipV="1">
            <a:off x="1777256" y="4857226"/>
            <a:ext cx="9558891" cy="723481"/>
          </a:xfrm>
          <a:prstGeom prst="rect">
            <a:avLst/>
          </a:prstGeom>
          <a:noFill/>
          <a:ln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3495662992"/>
      </p:ext>
    </p:extLst>
  </p:cSld>
  <p:clrMapOvr>
    <a:masterClrMapping/>
  </p:clrMapOvr>
</p:sld>
</file>

<file path=ppt/slides/slide5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>
            <a:extLst>
              <a:ext uri="{FF2B5EF4-FFF2-40B4-BE49-F238E27FC236}">
                <a16:creationId xmlns:a16="http://schemas.microsoft.com/office/drawing/2014/main" id="{0D49006A-C699-2644-49A6-DB335CC84DD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fr-TN"/>
          </a:p>
        </p:txBody>
      </p:sp>
      <p:sp>
        <p:nvSpPr>
          <p:cNvPr id="3" name="Espace réservé du contenu 2">
            <a:extLst>
              <a:ext uri="{FF2B5EF4-FFF2-40B4-BE49-F238E27FC236}">
                <a16:creationId xmlns:a16="http://schemas.microsoft.com/office/drawing/2014/main" id="{444E87E1-8DA6-741B-EC79-05125E7AC931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fr-FR" dirty="0"/>
              <a:t>0,6 </a:t>
            </a:r>
            <a:r>
              <a:rPr lang="fr-FR" dirty="0" err="1"/>
              <a:t>xPoids</a:t>
            </a:r>
            <a:r>
              <a:rPr lang="fr-FR" dirty="0"/>
              <a:t> x (125 mEq/l – Natrémie mesurée) =30mEq</a:t>
            </a:r>
            <a:endParaRPr lang="fr-TN" dirty="0"/>
          </a:p>
        </p:txBody>
      </p:sp>
    </p:spTree>
    <p:extLst>
      <p:ext uri="{BB962C8B-B14F-4D97-AF65-F5344CB8AC3E}">
        <p14:creationId xmlns:p14="http://schemas.microsoft.com/office/powerpoint/2010/main" val="3446059394"/>
      </p:ext>
    </p:extLst>
  </p:cSld>
  <p:clrMapOvr>
    <a:masterClrMapping/>
  </p:clrMapOvr>
</p:sld>
</file>

<file path=ppt/slides/slide5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>
            <a:extLst>
              <a:ext uri="{FF2B5EF4-FFF2-40B4-BE49-F238E27FC236}">
                <a16:creationId xmlns:a16="http://schemas.microsoft.com/office/drawing/2014/main" id="{4A8D3201-B2E7-93E4-6F2B-B5E3254D435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pPr marL="342900" lvl="0" indent="-342900" rtl="0">
              <a:lnSpc>
                <a:spcPct val="107000"/>
              </a:lnSpc>
              <a:spcAft>
                <a:spcPts val="800"/>
              </a:spcAft>
            </a:pPr>
            <a:r>
              <a:rPr lang="fr-FR" sz="4400" b="1" dirty="0"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Arial" panose="020B0604020202020204" pitchFamily="34" charset="0"/>
              </a:rPr>
              <a:t>14- Au cours d’une déshydratation avec une natrémie  à 151 </a:t>
            </a:r>
            <a:r>
              <a:rPr lang="fr-FR" sz="4400" b="1" dirty="0" err="1"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Arial" panose="020B0604020202020204" pitchFamily="34" charset="0"/>
              </a:rPr>
              <a:t>mmol</a:t>
            </a:r>
            <a:r>
              <a:rPr lang="fr-FR" sz="4400" b="1" dirty="0"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Arial" panose="020B0604020202020204" pitchFamily="34" charset="0"/>
              </a:rPr>
              <a:t>/L:</a:t>
            </a:r>
            <a:br>
              <a:rPr lang="fr-TN" sz="3600" dirty="0">
                <a:effectLst/>
                <a:latin typeface="Calibri" panose="020F0502020204030204" pitchFamily="34" charset="0"/>
                <a:ea typeface="Calibri" panose="020F0502020204030204" pitchFamily="34" charset="0"/>
                <a:cs typeface="Arial" panose="020B0604020202020204" pitchFamily="34" charset="0"/>
              </a:rPr>
            </a:br>
            <a:endParaRPr lang="fr-TN" dirty="0"/>
          </a:p>
        </p:txBody>
      </p:sp>
      <p:sp>
        <p:nvSpPr>
          <p:cNvPr id="3" name="Espace réservé du contenu 2">
            <a:extLst>
              <a:ext uri="{FF2B5EF4-FFF2-40B4-BE49-F238E27FC236}">
                <a16:creationId xmlns:a16="http://schemas.microsoft.com/office/drawing/2014/main" id="{0AF183C4-96F3-9517-BE52-2BC9EC9A9230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pPr marL="1143000" lvl="2" indent="-228600" rtl="0">
              <a:lnSpc>
                <a:spcPct val="107000"/>
              </a:lnSpc>
              <a:buFont typeface="+mj-lt"/>
              <a:buAutoNum type="alphaUcPeriod"/>
            </a:pPr>
            <a:r>
              <a:rPr lang="fr-FR" sz="2400" dirty="0"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Arial" panose="020B0604020202020204" pitchFamily="34" charset="0"/>
              </a:rPr>
              <a:t>Une correction trop lente expose au risque d’œdème cérébral </a:t>
            </a:r>
            <a:endParaRPr lang="fr-TN" sz="2400" dirty="0">
              <a:effectLst/>
              <a:latin typeface="Calibri" panose="020F0502020204030204" pitchFamily="34" charset="0"/>
              <a:ea typeface="Calibri" panose="020F0502020204030204" pitchFamily="34" charset="0"/>
              <a:cs typeface="Arial" panose="020B0604020202020204" pitchFamily="34" charset="0"/>
            </a:endParaRPr>
          </a:p>
          <a:p>
            <a:pPr marL="1143000" lvl="2" indent="-228600">
              <a:lnSpc>
                <a:spcPct val="107000"/>
              </a:lnSpc>
              <a:buFont typeface="+mj-lt"/>
              <a:buAutoNum type="alphaUcPeriod"/>
            </a:pPr>
            <a:r>
              <a:rPr lang="fr-FR" sz="2400" dirty="0"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Arial" panose="020B0604020202020204" pitchFamily="34" charset="0"/>
              </a:rPr>
              <a:t>La baisse de la natrémie doit être  de 5 </a:t>
            </a:r>
            <a:r>
              <a:rPr lang="fr-FR" sz="2400" dirty="0" err="1"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Arial" panose="020B0604020202020204" pitchFamily="34" charset="0"/>
              </a:rPr>
              <a:t>mmol</a:t>
            </a:r>
            <a:r>
              <a:rPr lang="fr-FR" sz="2400" dirty="0"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Arial" panose="020B0604020202020204" pitchFamily="34" charset="0"/>
              </a:rPr>
              <a:t>/l/h </a:t>
            </a:r>
            <a:endParaRPr lang="fr-TN" sz="2400" dirty="0">
              <a:effectLst/>
              <a:latin typeface="Calibri" panose="020F0502020204030204" pitchFamily="34" charset="0"/>
              <a:ea typeface="Calibri" panose="020F0502020204030204" pitchFamily="34" charset="0"/>
              <a:cs typeface="Arial" panose="020B0604020202020204" pitchFamily="34" charset="0"/>
            </a:endParaRPr>
          </a:p>
          <a:p>
            <a:pPr marL="1143000" lvl="2" indent="-228600">
              <a:lnSpc>
                <a:spcPct val="107000"/>
              </a:lnSpc>
              <a:buFont typeface="+mj-lt"/>
              <a:buAutoNum type="alphaUcPeriod"/>
            </a:pPr>
            <a:r>
              <a:rPr lang="fr-FR" sz="2400" dirty="0"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Arial" panose="020B0604020202020204" pitchFamily="34" charset="0"/>
              </a:rPr>
              <a:t>La réhydratation est effectuée sur 48 heures. </a:t>
            </a:r>
            <a:endParaRPr lang="fr-TN" sz="2400" dirty="0">
              <a:effectLst/>
              <a:latin typeface="Calibri" panose="020F0502020204030204" pitchFamily="34" charset="0"/>
              <a:ea typeface="Calibri" panose="020F0502020204030204" pitchFamily="34" charset="0"/>
              <a:cs typeface="Arial" panose="020B0604020202020204" pitchFamily="34" charset="0"/>
            </a:endParaRPr>
          </a:p>
          <a:p>
            <a:pPr marL="1143000" lvl="2" indent="-228600">
              <a:lnSpc>
                <a:spcPct val="107000"/>
              </a:lnSpc>
              <a:buFont typeface="+mj-lt"/>
              <a:buAutoNum type="alphaUcPeriod"/>
            </a:pPr>
            <a:r>
              <a:rPr lang="fr-FR" sz="2400" dirty="0"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Arial" panose="020B0604020202020204" pitchFamily="34" charset="0"/>
              </a:rPr>
              <a:t>Le rythme de perfusion est rapide  (sur  4 heures) puis lent ( 20 heures)</a:t>
            </a:r>
            <a:endParaRPr lang="fr-TN" sz="2400" dirty="0">
              <a:effectLst/>
              <a:latin typeface="Calibri" panose="020F0502020204030204" pitchFamily="34" charset="0"/>
              <a:ea typeface="Calibri" panose="020F0502020204030204" pitchFamily="34" charset="0"/>
              <a:cs typeface="Arial" panose="020B0604020202020204" pitchFamily="34" charset="0"/>
            </a:endParaRPr>
          </a:p>
          <a:p>
            <a:pPr marL="1143000" lvl="2" indent="-228600">
              <a:lnSpc>
                <a:spcPct val="107000"/>
              </a:lnSpc>
              <a:spcAft>
                <a:spcPts val="800"/>
              </a:spcAft>
              <a:buFont typeface="+mj-lt"/>
              <a:buAutoNum type="alphaUcPeriod"/>
            </a:pPr>
            <a:r>
              <a:rPr lang="fr-FR" sz="2400" dirty="0"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Arial" panose="020B0604020202020204" pitchFamily="34" charset="0"/>
              </a:rPr>
              <a:t>La quantité de sodium par  500 ml perfusion de sérum G 5% est de 2 ampoules et ¼ </a:t>
            </a:r>
            <a:endParaRPr lang="fr-TN" sz="2400" dirty="0">
              <a:effectLst/>
              <a:latin typeface="Calibri" panose="020F0502020204030204" pitchFamily="34" charset="0"/>
              <a:ea typeface="Calibri" panose="020F0502020204030204" pitchFamily="34" charset="0"/>
              <a:cs typeface="Arial" panose="020B0604020202020204" pitchFamily="34" charset="0"/>
            </a:endParaRPr>
          </a:p>
          <a:p>
            <a:endParaRPr lang="fr-TN" sz="2400" dirty="0"/>
          </a:p>
        </p:txBody>
      </p:sp>
    </p:spTree>
    <p:extLst>
      <p:ext uri="{BB962C8B-B14F-4D97-AF65-F5344CB8AC3E}">
        <p14:creationId xmlns:p14="http://schemas.microsoft.com/office/powerpoint/2010/main" val="845989951"/>
      </p:ext>
    </p:extLst>
  </p:cSld>
  <p:clrMapOvr>
    <a:masterClrMapping/>
  </p:clrMapOvr>
</p:sld>
</file>

<file path=ppt/slides/slide5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Rectangle 9">
            <a:extLst>
              <a:ext uri="{FF2B5EF4-FFF2-40B4-BE49-F238E27FC236}">
                <a16:creationId xmlns:a16="http://schemas.microsoft.com/office/drawing/2014/main" id="{AA6EC888-B85F-410F-B430-06583E94BEEC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478095" y="376"/>
            <a:ext cx="228600" cy="6858000"/>
          </a:xfrm>
          <a:prstGeom prst="rect">
            <a:avLst/>
          </a:prstGeom>
          <a:solidFill>
            <a:schemeClr val="tx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 lang="fr-TN"/>
          </a:p>
        </p:txBody>
      </p:sp>
      <p:sp>
        <p:nvSpPr>
          <p:cNvPr id="12" name="Rectangle 11">
            <a:extLst>
              <a:ext uri="{FF2B5EF4-FFF2-40B4-BE49-F238E27FC236}">
                <a16:creationId xmlns:a16="http://schemas.microsoft.com/office/drawing/2014/main" id="{69805AF4-7989-43AB-9A60-14E3F851FB30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chemeClr val="tx1">
              <a:lumMod val="65000"/>
              <a:lumOff val="3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4" name="Rectangle 13">
            <a:extLst>
              <a:ext uri="{FF2B5EF4-FFF2-40B4-BE49-F238E27FC236}">
                <a16:creationId xmlns:a16="http://schemas.microsoft.com/office/drawing/2014/main" id="{E0036B63-B0EC-4AF3-95D3-2E2DCA25FBC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477012" y="480060"/>
            <a:ext cx="11237976" cy="589788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5" name="Espace réservé du contenu 4">
            <a:extLst>
              <a:ext uri="{FF2B5EF4-FFF2-40B4-BE49-F238E27FC236}">
                <a16:creationId xmlns:a16="http://schemas.microsoft.com/office/drawing/2014/main" id="{5BDDCFE9-FFDE-DD62-E502-BE31F3D4DD1F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783286" y="1383605"/>
            <a:ext cx="10625429" cy="4090790"/>
          </a:xfrm>
          <a:prstGeom prst="rect">
            <a:avLst/>
          </a:prstGeom>
        </p:spPr>
      </p:pic>
      <p:pic>
        <p:nvPicPr>
          <p:cNvPr id="6" name="Image 5">
            <a:extLst>
              <a:ext uri="{FF2B5EF4-FFF2-40B4-BE49-F238E27FC236}">
                <a16:creationId xmlns:a16="http://schemas.microsoft.com/office/drawing/2014/main" id="{B62EC4A0-8D2A-46B7-326B-8DF01A823BC6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568966" y="3186079"/>
            <a:ext cx="1851908" cy="935423"/>
          </a:xfrm>
          <a:prstGeom prst="rect">
            <a:avLst/>
          </a:prstGeom>
        </p:spPr>
      </p:pic>
      <p:pic>
        <p:nvPicPr>
          <p:cNvPr id="7" name="Image 6">
            <a:extLst>
              <a:ext uri="{FF2B5EF4-FFF2-40B4-BE49-F238E27FC236}">
                <a16:creationId xmlns:a16="http://schemas.microsoft.com/office/drawing/2014/main" id="{7B23AB82-642D-2AEC-8213-00194A087DD2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783724" y="2282534"/>
            <a:ext cx="4295564" cy="58679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071631618"/>
      </p:ext>
    </p:extLst>
  </p:cSld>
  <p:clrMapOvr>
    <a:masterClrMapping/>
  </p:clrMapOvr>
</p:sld>
</file>

<file path=ppt/slides/slide5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3C91E15-1F6B-D79E-5570-8585E108A23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>
            <a:extLst>
              <a:ext uri="{FF2B5EF4-FFF2-40B4-BE49-F238E27FC236}">
                <a16:creationId xmlns:a16="http://schemas.microsoft.com/office/drawing/2014/main" id="{3AA2F555-0AE7-2DC4-707D-8F1EC1E4A40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pPr marL="342900" lvl="0" indent="-342900" rtl="0">
              <a:lnSpc>
                <a:spcPct val="107000"/>
              </a:lnSpc>
              <a:spcAft>
                <a:spcPts val="800"/>
              </a:spcAft>
            </a:pPr>
            <a:r>
              <a:rPr lang="fr-FR" sz="4400" b="1" dirty="0"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Arial" panose="020B0604020202020204" pitchFamily="34" charset="0"/>
              </a:rPr>
              <a:t>14- Au cours d’une déshydratation avec une natrémie  à 151 </a:t>
            </a:r>
            <a:r>
              <a:rPr lang="fr-FR" sz="4400" b="1" dirty="0" err="1"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Arial" panose="020B0604020202020204" pitchFamily="34" charset="0"/>
              </a:rPr>
              <a:t>mmol</a:t>
            </a:r>
            <a:r>
              <a:rPr lang="fr-FR" sz="4400" b="1" dirty="0"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Arial" panose="020B0604020202020204" pitchFamily="34" charset="0"/>
              </a:rPr>
              <a:t>/L:</a:t>
            </a:r>
            <a:br>
              <a:rPr lang="fr-TN" sz="3600" dirty="0">
                <a:effectLst/>
                <a:latin typeface="Calibri" panose="020F0502020204030204" pitchFamily="34" charset="0"/>
                <a:ea typeface="Calibri" panose="020F0502020204030204" pitchFamily="34" charset="0"/>
                <a:cs typeface="Arial" panose="020B0604020202020204" pitchFamily="34" charset="0"/>
              </a:rPr>
            </a:br>
            <a:endParaRPr lang="fr-TN" dirty="0"/>
          </a:p>
        </p:txBody>
      </p:sp>
      <p:sp>
        <p:nvSpPr>
          <p:cNvPr id="3" name="Espace réservé du contenu 2">
            <a:extLst>
              <a:ext uri="{FF2B5EF4-FFF2-40B4-BE49-F238E27FC236}">
                <a16:creationId xmlns:a16="http://schemas.microsoft.com/office/drawing/2014/main" id="{11DA3E89-6C37-3DED-806D-2FF63FB2223A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pPr marL="1143000" lvl="2" indent="-228600" rtl="0">
              <a:lnSpc>
                <a:spcPct val="107000"/>
              </a:lnSpc>
              <a:buFont typeface="+mj-lt"/>
              <a:buAutoNum type="alphaUcPeriod"/>
            </a:pPr>
            <a:r>
              <a:rPr lang="fr-FR" sz="2400" dirty="0"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Arial" panose="020B0604020202020204" pitchFamily="34" charset="0"/>
              </a:rPr>
              <a:t>Une correction trop lente expose au risque d’œdème cérébral </a:t>
            </a:r>
            <a:endParaRPr lang="fr-TN" sz="2400" dirty="0">
              <a:effectLst/>
              <a:latin typeface="Calibri" panose="020F0502020204030204" pitchFamily="34" charset="0"/>
              <a:ea typeface="Calibri" panose="020F0502020204030204" pitchFamily="34" charset="0"/>
              <a:cs typeface="Arial" panose="020B0604020202020204" pitchFamily="34" charset="0"/>
            </a:endParaRPr>
          </a:p>
          <a:p>
            <a:pPr marL="1143000" lvl="2" indent="-228600">
              <a:lnSpc>
                <a:spcPct val="107000"/>
              </a:lnSpc>
              <a:buFont typeface="+mj-lt"/>
              <a:buAutoNum type="alphaUcPeriod"/>
            </a:pPr>
            <a:r>
              <a:rPr lang="fr-FR" sz="2400" dirty="0"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Arial" panose="020B0604020202020204" pitchFamily="34" charset="0"/>
              </a:rPr>
              <a:t>La baisse de la natrémie doit être  de 5 </a:t>
            </a:r>
            <a:r>
              <a:rPr lang="fr-FR" sz="2400" dirty="0" err="1"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Arial" panose="020B0604020202020204" pitchFamily="34" charset="0"/>
              </a:rPr>
              <a:t>mmol</a:t>
            </a:r>
            <a:r>
              <a:rPr lang="fr-FR" sz="2400" dirty="0"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Arial" panose="020B0604020202020204" pitchFamily="34" charset="0"/>
              </a:rPr>
              <a:t>/l/h </a:t>
            </a:r>
            <a:endParaRPr lang="fr-TN" sz="2400" dirty="0">
              <a:effectLst/>
              <a:latin typeface="Calibri" panose="020F0502020204030204" pitchFamily="34" charset="0"/>
              <a:ea typeface="Calibri" panose="020F0502020204030204" pitchFamily="34" charset="0"/>
              <a:cs typeface="Arial" panose="020B0604020202020204" pitchFamily="34" charset="0"/>
            </a:endParaRPr>
          </a:p>
          <a:p>
            <a:pPr marL="1143000" lvl="2" indent="-228600">
              <a:lnSpc>
                <a:spcPct val="107000"/>
              </a:lnSpc>
              <a:buFont typeface="+mj-lt"/>
              <a:buAutoNum type="alphaUcPeriod"/>
            </a:pPr>
            <a:r>
              <a:rPr lang="fr-FR" sz="2400" dirty="0">
                <a:solidFill>
                  <a:srgbClr val="FF0000"/>
                </a:solidFill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Arial" panose="020B0604020202020204" pitchFamily="34" charset="0"/>
              </a:rPr>
              <a:t>La réhydratation est effectuée sur 48 heures. </a:t>
            </a:r>
            <a:endParaRPr lang="fr-TN" sz="2400" dirty="0">
              <a:solidFill>
                <a:srgbClr val="FF0000"/>
              </a:solidFill>
              <a:effectLst/>
              <a:latin typeface="Calibri" panose="020F0502020204030204" pitchFamily="34" charset="0"/>
              <a:ea typeface="Calibri" panose="020F0502020204030204" pitchFamily="34" charset="0"/>
              <a:cs typeface="Arial" panose="020B0604020202020204" pitchFamily="34" charset="0"/>
            </a:endParaRPr>
          </a:p>
          <a:p>
            <a:pPr marL="1143000" lvl="2" indent="-228600">
              <a:lnSpc>
                <a:spcPct val="107000"/>
              </a:lnSpc>
              <a:buFont typeface="+mj-lt"/>
              <a:buAutoNum type="alphaUcPeriod"/>
            </a:pPr>
            <a:r>
              <a:rPr lang="fr-FR" sz="2400" dirty="0"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Arial" panose="020B0604020202020204" pitchFamily="34" charset="0"/>
              </a:rPr>
              <a:t>Le rythme de perfusion est rapide  (sur  4 heures) puis lent ( 20 heures)</a:t>
            </a:r>
            <a:endParaRPr lang="fr-TN" sz="2400" dirty="0">
              <a:effectLst/>
              <a:latin typeface="Calibri" panose="020F0502020204030204" pitchFamily="34" charset="0"/>
              <a:ea typeface="Calibri" panose="020F0502020204030204" pitchFamily="34" charset="0"/>
              <a:cs typeface="Arial" panose="020B0604020202020204" pitchFamily="34" charset="0"/>
            </a:endParaRPr>
          </a:p>
          <a:p>
            <a:pPr marL="1143000" lvl="2" indent="-228600">
              <a:lnSpc>
                <a:spcPct val="107000"/>
              </a:lnSpc>
              <a:spcAft>
                <a:spcPts val="800"/>
              </a:spcAft>
              <a:buFont typeface="+mj-lt"/>
              <a:buAutoNum type="alphaUcPeriod"/>
            </a:pPr>
            <a:r>
              <a:rPr lang="fr-FR" sz="2400" dirty="0">
                <a:solidFill>
                  <a:srgbClr val="FF0000"/>
                </a:solidFill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Arial" panose="020B0604020202020204" pitchFamily="34" charset="0"/>
              </a:rPr>
              <a:t>La quantité de sodium par  500 ml perfusion de sérum G 5% est de 2 ampoules et ¼ </a:t>
            </a:r>
            <a:endParaRPr lang="fr-TN" sz="2400" dirty="0">
              <a:solidFill>
                <a:srgbClr val="FF0000"/>
              </a:solidFill>
              <a:effectLst/>
              <a:latin typeface="Calibri" panose="020F0502020204030204" pitchFamily="34" charset="0"/>
              <a:ea typeface="Calibri" panose="020F0502020204030204" pitchFamily="34" charset="0"/>
              <a:cs typeface="Arial" panose="020B0604020202020204" pitchFamily="34" charset="0"/>
            </a:endParaRPr>
          </a:p>
          <a:p>
            <a:endParaRPr lang="fr-TN" sz="2400" dirty="0"/>
          </a:p>
        </p:txBody>
      </p:sp>
    </p:spTree>
    <p:extLst>
      <p:ext uri="{BB962C8B-B14F-4D97-AF65-F5344CB8AC3E}">
        <p14:creationId xmlns:p14="http://schemas.microsoft.com/office/powerpoint/2010/main" val="3849947143"/>
      </p:ext>
    </p:extLst>
  </p:cSld>
  <p:clrMapOvr>
    <a:masterClrMapping/>
  </p:clrMapOvr>
</p:sld>
</file>

<file path=ppt/slides/slide5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>
            <a:extLst>
              <a:ext uri="{FF2B5EF4-FFF2-40B4-BE49-F238E27FC236}">
                <a16:creationId xmlns:a16="http://schemas.microsoft.com/office/drawing/2014/main" id="{D2A6539A-CA88-6B9E-E0E0-02F59457C81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Autofit/>
          </a:bodyPr>
          <a:lstStyle/>
          <a:p>
            <a:pPr marL="342900" lvl="0" indent="-342900" rtl="0">
              <a:lnSpc>
                <a:spcPct val="107000"/>
              </a:lnSpc>
              <a:spcAft>
                <a:spcPts val="800"/>
              </a:spcAft>
            </a:pPr>
            <a:r>
              <a:rPr lang="fr-FR" sz="3200" b="1" dirty="0"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Arial" panose="020B0604020202020204" pitchFamily="34" charset="0"/>
              </a:rPr>
              <a:t>15-Le soluté de réhydratation par voie orale (SRO) : </a:t>
            </a:r>
            <a:r>
              <a:rPr lang="fr-FR" sz="3200" b="1" dirty="0" err="1"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Arial" panose="020B0604020202020204" pitchFamily="34" charset="0"/>
              </a:rPr>
              <a:t>Oralyte</a:t>
            </a:r>
            <a:r>
              <a:rPr lang="fr-FR" sz="3200" b="1" dirty="0"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Arial" panose="020B0604020202020204" pitchFamily="34" charset="0"/>
              </a:rPr>
              <a:t>    est  :</a:t>
            </a:r>
            <a:br>
              <a:rPr lang="fr-TN" sz="3200" dirty="0">
                <a:effectLst/>
                <a:latin typeface="Calibri" panose="020F0502020204030204" pitchFamily="34" charset="0"/>
                <a:ea typeface="Calibri" panose="020F0502020204030204" pitchFamily="34" charset="0"/>
                <a:cs typeface="Arial" panose="020B0604020202020204" pitchFamily="34" charset="0"/>
              </a:rPr>
            </a:br>
            <a:endParaRPr lang="fr-TN" sz="3200" dirty="0"/>
          </a:p>
        </p:txBody>
      </p:sp>
      <p:sp>
        <p:nvSpPr>
          <p:cNvPr id="3" name="Espace réservé du contenu 2">
            <a:extLst>
              <a:ext uri="{FF2B5EF4-FFF2-40B4-BE49-F238E27FC236}">
                <a16:creationId xmlns:a16="http://schemas.microsoft.com/office/drawing/2014/main" id="{14617E02-5C6F-A443-B749-7E34EEEFD9E4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pPr marL="1143000" lvl="2" indent="-228600" rtl="0">
              <a:lnSpc>
                <a:spcPct val="107000"/>
              </a:lnSpc>
              <a:buFont typeface="+mj-lt"/>
              <a:buAutoNum type="alphaUcPeriod"/>
            </a:pPr>
            <a:r>
              <a:rPr lang="fr-FR" sz="2400" dirty="0"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Arial" panose="020B0604020202020204" pitchFamily="34" charset="0"/>
              </a:rPr>
              <a:t>Indiqué après chaque selle liquide pour compenser les pertes en cours </a:t>
            </a:r>
            <a:endParaRPr lang="fr-TN" sz="2400" dirty="0">
              <a:effectLst/>
              <a:latin typeface="Calibri" panose="020F0502020204030204" pitchFamily="34" charset="0"/>
              <a:ea typeface="Calibri" panose="020F0502020204030204" pitchFamily="34" charset="0"/>
              <a:cs typeface="Arial" panose="020B0604020202020204" pitchFamily="34" charset="0"/>
            </a:endParaRPr>
          </a:p>
          <a:p>
            <a:pPr marL="1143000" lvl="2" indent="-228600">
              <a:lnSpc>
                <a:spcPct val="107000"/>
              </a:lnSpc>
              <a:buFont typeface="+mj-lt"/>
              <a:buAutoNum type="alphaUcPeriod"/>
            </a:pPr>
            <a:r>
              <a:rPr lang="fr-FR" sz="2400" dirty="0"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Arial" panose="020B0604020202020204" pitchFamily="34" charset="0"/>
              </a:rPr>
              <a:t>Caractérisé par une osmolarité supérieure à celle du  plasma</a:t>
            </a:r>
            <a:endParaRPr lang="fr-TN" sz="2400" dirty="0">
              <a:effectLst/>
              <a:latin typeface="Calibri" panose="020F0502020204030204" pitchFamily="34" charset="0"/>
              <a:ea typeface="Calibri" panose="020F0502020204030204" pitchFamily="34" charset="0"/>
              <a:cs typeface="Arial" panose="020B0604020202020204" pitchFamily="34" charset="0"/>
            </a:endParaRPr>
          </a:p>
          <a:p>
            <a:pPr marL="1143000" lvl="2" indent="-228600">
              <a:lnSpc>
                <a:spcPct val="107000"/>
              </a:lnSpc>
              <a:buFont typeface="+mj-lt"/>
              <a:buAutoNum type="alphaUcPeriod"/>
            </a:pPr>
            <a:r>
              <a:rPr lang="fr-FR" sz="2400" dirty="0"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Arial" panose="020B0604020202020204" pitchFamily="34" charset="0"/>
              </a:rPr>
              <a:t>Administré en cas de déshydratation stade I et II</a:t>
            </a:r>
            <a:endParaRPr lang="fr-TN" sz="2400" dirty="0">
              <a:effectLst/>
              <a:latin typeface="Calibri" panose="020F0502020204030204" pitchFamily="34" charset="0"/>
              <a:ea typeface="Calibri" panose="020F0502020204030204" pitchFamily="34" charset="0"/>
              <a:cs typeface="Arial" panose="020B0604020202020204" pitchFamily="34" charset="0"/>
            </a:endParaRPr>
          </a:p>
          <a:p>
            <a:pPr marL="1143000" lvl="2" indent="-228600">
              <a:lnSpc>
                <a:spcPct val="107000"/>
              </a:lnSpc>
              <a:buFont typeface="+mj-lt"/>
              <a:buAutoNum type="alphaUcPeriod"/>
            </a:pPr>
            <a:r>
              <a:rPr lang="fr-FR" sz="2400" dirty="0"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Arial" panose="020B0604020202020204" pitchFamily="34" charset="0"/>
              </a:rPr>
              <a:t>Composé de glucose, sodium , potassium et calcium</a:t>
            </a:r>
            <a:endParaRPr lang="fr-TN" sz="2400" dirty="0">
              <a:effectLst/>
              <a:latin typeface="Calibri" panose="020F0502020204030204" pitchFamily="34" charset="0"/>
              <a:ea typeface="Calibri" panose="020F0502020204030204" pitchFamily="34" charset="0"/>
              <a:cs typeface="Arial" panose="020B0604020202020204" pitchFamily="34" charset="0"/>
            </a:endParaRPr>
          </a:p>
          <a:p>
            <a:pPr marL="1143000" lvl="2" indent="-228600">
              <a:lnSpc>
                <a:spcPct val="107000"/>
              </a:lnSpc>
              <a:spcAft>
                <a:spcPts val="800"/>
              </a:spcAft>
              <a:buFont typeface="+mj-lt"/>
              <a:buAutoNum type="alphaUcPeriod"/>
            </a:pPr>
            <a:r>
              <a:rPr lang="fr-FR" sz="2400" dirty="0"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Arial" panose="020B0604020202020204" pitchFamily="34" charset="0"/>
              </a:rPr>
              <a:t>Est moins concentré que les nouveaux SRO en glucose et sodium </a:t>
            </a:r>
            <a:endParaRPr lang="fr-TN" sz="2400" dirty="0">
              <a:effectLst/>
              <a:latin typeface="Calibri" panose="020F0502020204030204" pitchFamily="34" charset="0"/>
              <a:ea typeface="Calibri" panose="020F0502020204030204" pitchFamily="34" charset="0"/>
              <a:cs typeface="Arial" panose="020B0604020202020204" pitchFamily="34" charset="0"/>
            </a:endParaRPr>
          </a:p>
          <a:p>
            <a:endParaRPr lang="fr-TN" sz="2400" dirty="0"/>
          </a:p>
        </p:txBody>
      </p:sp>
    </p:spTree>
    <p:extLst>
      <p:ext uri="{BB962C8B-B14F-4D97-AF65-F5344CB8AC3E}">
        <p14:creationId xmlns:p14="http://schemas.microsoft.com/office/powerpoint/2010/main" val="2054342768"/>
      </p:ext>
    </p:extLst>
  </p:cSld>
  <p:clrMapOvr>
    <a:masterClrMapping/>
  </p:clrMapOvr>
</p:sld>
</file>

<file path=ppt/slides/slide6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Rectangle 8">
            <a:extLst>
              <a:ext uri="{FF2B5EF4-FFF2-40B4-BE49-F238E27FC236}">
                <a16:creationId xmlns:a16="http://schemas.microsoft.com/office/drawing/2014/main" id="{AA6EC888-B85F-410F-B430-06583E94BEEC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478095" y="376"/>
            <a:ext cx="228600" cy="6858000"/>
          </a:xfrm>
          <a:prstGeom prst="rect">
            <a:avLst/>
          </a:prstGeom>
          <a:solidFill>
            <a:schemeClr val="tx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 lang="fr-TN"/>
          </a:p>
        </p:txBody>
      </p:sp>
      <p:sp>
        <p:nvSpPr>
          <p:cNvPr id="11" name="Rectangle 10">
            <a:extLst>
              <a:ext uri="{FF2B5EF4-FFF2-40B4-BE49-F238E27FC236}">
                <a16:creationId xmlns:a16="http://schemas.microsoft.com/office/drawing/2014/main" id="{69805AF4-7989-43AB-9A60-14E3F851FB30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chemeClr val="tx1">
              <a:lumMod val="65000"/>
              <a:lumOff val="3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3" name="Rectangle 12">
            <a:extLst>
              <a:ext uri="{FF2B5EF4-FFF2-40B4-BE49-F238E27FC236}">
                <a16:creationId xmlns:a16="http://schemas.microsoft.com/office/drawing/2014/main" id="{E0036B63-B0EC-4AF3-95D3-2E2DCA25FBC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477012" y="480060"/>
            <a:ext cx="11237976" cy="589788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4" name="Espace réservé du contenu 3">
            <a:extLst>
              <a:ext uri="{FF2B5EF4-FFF2-40B4-BE49-F238E27FC236}">
                <a16:creationId xmlns:a16="http://schemas.microsoft.com/office/drawing/2014/main" id="{B1F246B8-CA66-F142-8E2E-47FF7D48B6C5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783286" y="1157816"/>
            <a:ext cx="10625429" cy="4542369"/>
          </a:xfrm>
          <a:prstGeom prst="rect">
            <a:avLst/>
          </a:prstGeom>
        </p:spPr>
      </p:pic>
      <p:pic>
        <p:nvPicPr>
          <p:cNvPr id="5" name="Image 4">
            <a:extLst>
              <a:ext uri="{FF2B5EF4-FFF2-40B4-BE49-F238E27FC236}">
                <a16:creationId xmlns:a16="http://schemas.microsoft.com/office/drawing/2014/main" id="{50C9A6BD-3238-1FDB-D161-DC30740BCA03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154390" y="3429000"/>
            <a:ext cx="1847248" cy="154239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65616530"/>
      </p:ext>
    </p:extLst>
  </p:cSld>
  <p:clrMapOvr>
    <a:masterClrMapping/>
  </p:clrMapOvr>
</p:sld>
</file>

<file path=ppt/slides/slide6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Rectangle 9">
            <a:extLst>
              <a:ext uri="{FF2B5EF4-FFF2-40B4-BE49-F238E27FC236}">
                <a16:creationId xmlns:a16="http://schemas.microsoft.com/office/drawing/2014/main" id="{AA6EC888-B85F-410F-B430-06583E94BEEC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478095" y="376"/>
            <a:ext cx="228600" cy="6858000"/>
          </a:xfrm>
          <a:prstGeom prst="rect">
            <a:avLst/>
          </a:prstGeom>
          <a:solidFill>
            <a:schemeClr val="tx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 lang="fr-FR" noProof="0" dirty="0"/>
          </a:p>
        </p:txBody>
      </p:sp>
      <p:sp>
        <p:nvSpPr>
          <p:cNvPr id="12" name="Rectangle 11">
            <a:extLst>
              <a:ext uri="{FF2B5EF4-FFF2-40B4-BE49-F238E27FC236}">
                <a16:creationId xmlns:a16="http://schemas.microsoft.com/office/drawing/2014/main" id="{D488911C-0EC7-40A9-9BCB-CA8A66E4623A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chemeClr val="bg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FR" noProof="0" dirty="0"/>
          </a:p>
        </p:txBody>
      </p:sp>
      <p:grpSp>
        <p:nvGrpSpPr>
          <p:cNvPr id="14" name="Group 13">
            <a:extLst>
              <a:ext uri="{FF2B5EF4-FFF2-40B4-BE49-F238E27FC236}">
                <a16:creationId xmlns:a16="http://schemas.microsoft.com/office/drawing/2014/main" id="{53023EA8-527A-4FA2-A71D-626F912756C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>
            <a:grpSpLocks noGrp="1" noUngrp="1" noRot="1" noChangeAspect="1" noMove="1" noResize="1"/>
          </p:cNvGrp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GrpSpPr>
        <p:grpSpPr>
          <a:xfrm>
            <a:off x="752858" y="744469"/>
            <a:ext cx="10674117" cy="5349671"/>
            <a:chOff x="752858" y="744469"/>
            <a:chExt cx="10674117" cy="5349671"/>
          </a:xfrm>
        </p:grpSpPr>
        <p:sp>
          <p:nvSpPr>
            <p:cNvPr id="15" name="Freeform 6">
              <a:extLst>
                <a:ext uri="{FF2B5EF4-FFF2-40B4-BE49-F238E27FC236}">
                  <a16:creationId xmlns:a16="http://schemas.microsoft.com/office/drawing/2014/main" id="{60C46CD6-ADBB-41BC-8969-7C707D4332ED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8151962" y="1685652"/>
              <a:ext cx="3275013" cy="4408488"/>
            </a:xfrm>
            <a:custGeom>
              <a:avLst/>
              <a:gdLst/>
              <a:ahLst/>
              <a:cxnLst/>
              <a:rect l="l" t="t" r="r" b="b"/>
              <a:pathLst>
                <a:path w="10000" h="10000">
                  <a:moveTo>
                    <a:pt x="8761" y="0"/>
                  </a:moveTo>
                  <a:lnTo>
                    <a:pt x="10000" y="0"/>
                  </a:lnTo>
                  <a:lnTo>
                    <a:pt x="10000" y="10000"/>
                  </a:lnTo>
                  <a:lnTo>
                    <a:pt x="0" y="10000"/>
                  </a:lnTo>
                  <a:lnTo>
                    <a:pt x="0" y="9126"/>
                  </a:lnTo>
                  <a:lnTo>
                    <a:pt x="8761" y="9127"/>
                  </a:lnTo>
                  <a:lnTo>
                    <a:pt x="8761" y="0"/>
                  </a:lnTo>
                  <a:close/>
                </a:path>
              </a:pathLst>
            </a:custGeom>
            <a:solidFill>
              <a:schemeClr val="tx2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/>
            <a:lstStyle/>
            <a:p>
              <a:endParaRPr lang="fr-FR" noProof="0" dirty="0"/>
            </a:p>
          </p:txBody>
        </p:sp>
        <p:sp>
          <p:nvSpPr>
            <p:cNvPr id="16" name="Freeform 6">
              <a:extLst>
                <a:ext uri="{FF2B5EF4-FFF2-40B4-BE49-F238E27FC236}">
                  <a16:creationId xmlns:a16="http://schemas.microsoft.com/office/drawing/2014/main" id="{B6C38415-998B-45FB-A12C-BD0B184CB805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 flipH="1" flipV="1">
              <a:off x="752858" y="744469"/>
              <a:ext cx="3275668" cy="4408488"/>
            </a:xfrm>
            <a:custGeom>
              <a:avLst/>
              <a:gdLst/>
              <a:ahLst/>
              <a:cxnLst/>
              <a:rect l="l" t="t" r="r" b="b"/>
              <a:pathLst>
                <a:path w="10002" h="10000">
                  <a:moveTo>
                    <a:pt x="8763" y="0"/>
                  </a:moveTo>
                  <a:lnTo>
                    <a:pt x="10002" y="0"/>
                  </a:lnTo>
                  <a:lnTo>
                    <a:pt x="10002" y="10000"/>
                  </a:lnTo>
                  <a:lnTo>
                    <a:pt x="2" y="10000"/>
                  </a:lnTo>
                  <a:cubicBezTo>
                    <a:pt x="-2" y="9698"/>
                    <a:pt x="4" y="9427"/>
                    <a:pt x="0" y="9125"/>
                  </a:cubicBezTo>
                  <a:lnTo>
                    <a:pt x="8763" y="9128"/>
                  </a:lnTo>
                  <a:lnTo>
                    <a:pt x="8763" y="0"/>
                  </a:lnTo>
                  <a:close/>
                </a:path>
              </a:pathLst>
            </a:custGeom>
            <a:solidFill>
              <a:schemeClr val="tx2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/>
            <a:lstStyle/>
            <a:p>
              <a:endParaRPr lang="fr-FR" noProof="0" dirty="0"/>
            </a:p>
          </p:txBody>
        </p:sp>
      </p:grpSp>
      <p:sp>
        <p:nvSpPr>
          <p:cNvPr id="18" name="Rectangle 17">
            <a:extLst>
              <a:ext uri="{FF2B5EF4-FFF2-40B4-BE49-F238E27FC236}">
                <a16:creationId xmlns:a16="http://schemas.microsoft.com/office/drawing/2014/main" id="{C8D89F71-9459-4318-ACAE-874616C3ADA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1000462" y="968188"/>
            <a:ext cx="10194046" cy="4894232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FR" noProof="0" dirty="0"/>
          </a:p>
        </p:txBody>
      </p:sp>
      <p:pic>
        <p:nvPicPr>
          <p:cNvPr id="5" name="Espace réservé du contenu 4" descr="Une image contenant texte, Police, blanc, algèbre&#10;&#10;Le contenu généré par l’IA peut être incorrect.">
            <a:extLst>
              <a:ext uri="{FF2B5EF4-FFF2-40B4-BE49-F238E27FC236}">
                <a16:creationId xmlns:a16="http://schemas.microsoft.com/office/drawing/2014/main" id="{FE68A4A7-475F-B601-84B6-ACFB09E950DD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1322194" y="2527916"/>
            <a:ext cx="9550581" cy="1766856"/>
          </a:xfrm>
          <a:prstGeom prst="rect">
            <a:avLst/>
          </a:prstGeom>
        </p:spPr>
      </p:pic>
      <p:cxnSp>
        <p:nvCxnSpPr>
          <p:cNvPr id="7" name="Connecteur droit 6">
            <a:extLst>
              <a:ext uri="{FF2B5EF4-FFF2-40B4-BE49-F238E27FC236}">
                <a16:creationId xmlns:a16="http://schemas.microsoft.com/office/drawing/2014/main" id="{D4F5B2F9-5BB8-D26E-A72D-94E72B63572F}"/>
              </a:ext>
            </a:extLst>
          </p:cNvPr>
          <p:cNvCxnSpPr>
            <a:stCxn id="5" idx="1"/>
          </p:cNvCxnSpPr>
          <p:nvPr/>
        </p:nvCxnSpPr>
        <p:spPr>
          <a:xfrm>
            <a:off x="1322194" y="3411344"/>
            <a:ext cx="2924686" cy="17656"/>
          </a:xfrm>
          <a:prstGeom prst="line">
            <a:avLst/>
          </a:prstGeom>
          <a:ln w="57150">
            <a:solidFill>
              <a:srgbClr val="C0000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136544941"/>
      </p:ext>
    </p:extLst>
  </p:cSld>
  <p:clrMapOvr>
    <a:masterClrMapping/>
  </p:clrMapOvr>
</p:sld>
</file>

<file path=ppt/slides/slide6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586A853-77A3-9AE4-31F4-14DBFF2C94C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>
            <a:extLst>
              <a:ext uri="{FF2B5EF4-FFF2-40B4-BE49-F238E27FC236}">
                <a16:creationId xmlns:a16="http://schemas.microsoft.com/office/drawing/2014/main" id="{6DD006EE-6E52-624C-6BA0-15EB38179CF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Autofit/>
          </a:bodyPr>
          <a:lstStyle/>
          <a:p>
            <a:pPr marL="342900" lvl="0" indent="-342900" rtl="0">
              <a:lnSpc>
                <a:spcPct val="107000"/>
              </a:lnSpc>
              <a:spcAft>
                <a:spcPts val="800"/>
              </a:spcAft>
            </a:pPr>
            <a:r>
              <a:rPr lang="fr-FR" sz="3200" b="1" dirty="0"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Arial" panose="020B0604020202020204" pitchFamily="34" charset="0"/>
              </a:rPr>
              <a:t>15-Le soluté de réhydratation par voie orale (SRO) : </a:t>
            </a:r>
            <a:r>
              <a:rPr lang="fr-FR" sz="3200" b="1" dirty="0" err="1"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Arial" panose="020B0604020202020204" pitchFamily="34" charset="0"/>
              </a:rPr>
              <a:t>Oralyte</a:t>
            </a:r>
            <a:r>
              <a:rPr lang="fr-FR" sz="3200" b="1" dirty="0"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Arial" panose="020B0604020202020204" pitchFamily="34" charset="0"/>
              </a:rPr>
              <a:t>    est  :</a:t>
            </a:r>
            <a:br>
              <a:rPr lang="fr-TN" sz="3200" dirty="0">
                <a:effectLst/>
                <a:latin typeface="Calibri" panose="020F0502020204030204" pitchFamily="34" charset="0"/>
                <a:ea typeface="Calibri" panose="020F0502020204030204" pitchFamily="34" charset="0"/>
                <a:cs typeface="Arial" panose="020B0604020202020204" pitchFamily="34" charset="0"/>
              </a:rPr>
            </a:br>
            <a:endParaRPr lang="fr-TN" sz="3200" dirty="0"/>
          </a:p>
        </p:txBody>
      </p:sp>
      <p:sp>
        <p:nvSpPr>
          <p:cNvPr id="3" name="Espace réservé du contenu 2">
            <a:extLst>
              <a:ext uri="{FF2B5EF4-FFF2-40B4-BE49-F238E27FC236}">
                <a16:creationId xmlns:a16="http://schemas.microsoft.com/office/drawing/2014/main" id="{0CBAC720-872F-EC1D-20F9-E8B65D78FBF3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pPr marL="1143000" lvl="2" indent="-228600" rtl="0">
              <a:lnSpc>
                <a:spcPct val="107000"/>
              </a:lnSpc>
              <a:buFont typeface="+mj-lt"/>
              <a:buAutoNum type="alphaUcPeriod"/>
            </a:pPr>
            <a:r>
              <a:rPr lang="fr-FR" sz="2400" dirty="0">
                <a:solidFill>
                  <a:srgbClr val="FF0000"/>
                </a:solidFill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Arial" panose="020B0604020202020204" pitchFamily="34" charset="0"/>
              </a:rPr>
              <a:t>Indiqué après chaque selle liquide pour compenser les pertes en cours </a:t>
            </a:r>
            <a:endParaRPr lang="fr-TN" sz="2400" dirty="0">
              <a:solidFill>
                <a:srgbClr val="FF0000"/>
              </a:solidFill>
              <a:effectLst/>
              <a:latin typeface="Calibri" panose="020F0502020204030204" pitchFamily="34" charset="0"/>
              <a:ea typeface="Calibri" panose="020F0502020204030204" pitchFamily="34" charset="0"/>
              <a:cs typeface="Arial" panose="020B0604020202020204" pitchFamily="34" charset="0"/>
            </a:endParaRPr>
          </a:p>
          <a:p>
            <a:pPr marL="1143000" lvl="2" indent="-228600">
              <a:lnSpc>
                <a:spcPct val="107000"/>
              </a:lnSpc>
              <a:buFont typeface="+mj-lt"/>
              <a:buAutoNum type="alphaUcPeriod"/>
            </a:pPr>
            <a:r>
              <a:rPr lang="fr-FR" sz="2400" dirty="0"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Arial" panose="020B0604020202020204" pitchFamily="34" charset="0"/>
              </a:rPr>
              <a:t>Caractérisé par une osmolarité supérieure à celle du  plasma</a:t>
            </a:r>
            <a:endParaRPr lang="fr-TN" sz="2400" dirty="0">
              <a:effectLst/>
              <a:latin typeface="Calibri" panose="020F0502020204030204" pitchFamily="34" charset="0"/>
              <a:ea typeface="Calibri" panose="020F0502020204030204" pitchFamily="34" charset="0"/>
              <a:cs typeface="Arial" panose="020B0604020202020204" pitchFamily="34" charset="0"/>
            </a:endParaRPr>
          </a:p>
          <a:p>
            <a:pPr marL="1143000" lvl="2" indent="-228600">
              <a:lnSpc>
                <a:spcPct val="107000"/>
              </a:lnSpc>
              <a:buFont typeface="+mj-lt"/>
              <a:buAutoNum type="alphaUcPeriod"/>
            </a:pPr>
            <a:r>
              <a:rPr lang="fr-FR" sz="2400" dirty="0">
                <a:solidFill>
                  <a:srgbClr val="FF0000"/>
                </a:solidFill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Arial" panose="020B0604020202020204" pitchFamily="34" charset="0"/>
              </a:rPr>
              <a:t>Administré en cas de déshydratation stade I et II</a:t>
            </a:r>
            <a:endParaRPr lang="fr-TN" sz="2400" dirty="0">
              <a:solidFill>
                <a:srgbClr val="FF0000"/>
              </a:solidFill>
              <a:effectLst/>
              <a:latin typeface="Calibri" panose="020F0502020204030204" pitchFamily="34" charset="0"/>
              <a:ea typeface="Calibri" panose="020F0502020204030204" pitchFamily="34" charset="0"/>
              <a:cs typeface="Arial" panose="020B0604020202020204" pitchFamily="34" charset="0"/>
            </a:endParaRPr>
          </a:p>
          <a:p>
            <a:pPr marL="1143000" lvl="2" indent="-228600">
              <a:lnSpc>
                <a:spcPct val="107000"/>
              </a:lnSpc>
              <a:buFont typeface="+mj-lt"/>
              <a:buAutoNum type="alphaUcPeriod"/>
            </a:pPr>
            <a:r>
              <a:rPr lang="fr-FR" sz="2400" dirty="0"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Arial" panose="020B0604020202020204" pitchFamily="34" charset="0"/>
              </a:rPr>
              <a:t>Composé de glucose, sodium , potassium et calcium</a:t>
            </a:r>
            <a:endParaRPr lang="fr-TN" sz="2400" dirty="0">
              <a:effectLst/>
              <a:latin typeface="Calibri" panose="020F0502020204030204" pitchFamily="34" charset="0"/>
              <a:ea typeface="Calibri" panose="020F0502020204030204" pitchFamily="34" charset="0"/>
              <a:cs typeface="Arial" panose="020B0604020202020204" pitchFamily="34" charset="0"/>
            </a:endParaRPr>
          </a:p>
          <a:p>
            <a:pPr marL="1143000" lvl="2" indent="-228600">
              <a:lnSpc>
                <a:spcPct val="107000"/>
              </a:lnSpc>
              <a:spcAft>
                <a:spcPts val="800"/>
              </a:spcAft>
              <a:buFont typeface="+mj-lt"/>
              <a:buAutoNum type="alphaUcPeriod"/>
            </a:pPr>
            <a:r>
              <a:rPr lang="fr-FR" sz="2400" dirty="0"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Arial" panose="020B0604020202020204" pitchFamily="34" charset="0"/>
              </a:rPr>
              <a:t>Est moins concentré que les nouveaux SRO en glucose et sodium </a:t>
            </a:r>
            <a:endParaRPr lang="fr-TN" sz="2400" dirty="0">
              <a:effectLst/>
              <a:latin typeface="Calibri" panose="020F0502020204030204" pitchFamily="34" charset="0"/>
              <a:ea typeface="Calibri" panose="020F0502020204030204" pitchFamily="34" charset="0"/>
              <a:cs typeface="Arial" panose="020B0604020202020204" pitchFamily="34" charset="0"/>
            </a:endParaRPr>
          </a:p>
          <a:p>
            <a:endParaRPr lang="fr-TN" sz="2400" dirty="0"/>
          </a:p>
        </p:txBody>
      </p:sp>
    </p:spTree>
    <p:extLst>
      <p:ext uri="{BB962C8B-B14F-4D97-AF65-F5344CB8AC3E}">
        <p14:creationId xmlns:p14="http://schemas.microsoft.com/office/powerpoint/2010/main" val="1150118937"/>
      </p:ext>
    </p:extLst>
  </p:cSld>
  <p:clrMapOvr>
    <a:masterClrMapping/>
  </p:clrMapOvr>
</p:sld>
</file>

<file path=ppt/slides/slide6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>
            <a:extLst>
              <a:ext uri="{FF2B5EF4-FFF2-40B4-BE49-F238E27FC236}">
                <a16:creationId xmlns:a16="http://schemas.microsoft.com/office/drawing/2014/main" id="{9DFFB1A9-C54B-8D2D-8833-D9D1A66235D1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fr-FR" dirty="0">
                <a:solidFill>
                  <a:srgbClr val="00B0F0"/>
                </a:solidFill>
              </a:rPr>
              <a:t>Cas cliniques</a:t>
            </a:r>
            <a:endParaRPr lang="fr-TN" dirty="0">
              <a:solidFill>
                <a:srgbClr val="00B0F0"/>
              </a:solidFill>
            </a:endParaRPr>
          </a:p>
        </p:txBody>
      </p:sp>
      <p:sp>
        <p:nvSpPr>
          <p:cNvPr id="3" name="Sous-titre 2">
            <a:extLst>
              <a:ext uri="{FF2B5EF4-FFF2-40B4-BE49-F238E27FC236}">
                <a16:creationId xmlns:a16="http://schemas.microsoft.com/office/drawing/2014/main" id="{023C8129-DE14-3525-1C27-6366C54A865E}"/>
              </a:ext>
            </a:extLst>
          </p:cNvPr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endParaRPr lang="fr-TN"/>
          </a:p>
        </p:txBody>
      </p:sp>
    </p:spTree>
    <p:extLst>
      <p:ext uri="{BB962C8B-B14F-4D97-AF65-F5344CB8AC3E}">
        <p14:creationId xmlns:p14="http://schemas.microsoft.com/office/powerpoint/2010/main" val="1274248852"/>
      </p:ext>
    </p:extLst>
  </p:cSld>
  <p:clrMapOvr>
    <a:masterClrMapping/>
  </p:clrMapOvr>
</p:sld>
</file>

<file path=ppt/slides/slide6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>
            <a:extLst>
              <a:ext uri="{FF2B5EF4-FFF2-40B4-BE49-F238E27FC236}">
                <a16:creationId xmlns:a16="http://schemas.microsoft.com/office/drawing/2014/main" id="{9A46F131-11E9-F5B4-645C-24C233272A9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371600" y="685800"/>
            <a:ext cx="9601200" cy="716280"/>
          </a:xfrm>
        </p:spPr>
        <p:txBody>
          <a:bodyPr/>
          <a:lstStyle/>
          <a:p>
            <a:r>
              <a:rPr lang="fr-FR" b="1" dirty="0">
                <a:solidFill>
                  <a:srgbClr val="0070C0"/>
                </a:solidFill>
              </a:rPr>
              <a:t>Cas clinique N°1</a:t>
            </a:r>
            <a:endParaRPr lang="fr-TN" b="1" dirty="0">
              <a:solidFill>
                <a:srgbClr val="0070C0"/>
              </a:solidFill>
            </a:endParaRPr>
          </a:p>
        </p:txBody>
      </p:sp>
      <p:sp>
        <p:nvSpPr>
          <p:cNvPr id="3" name="Espace réservé du contenu 2">
            <a:extLst>
              <a:ext uri="{FF2B5EF4-FFF2-40B4-BE49-F238E27FC236}">
                <a16:creationId xmlns:a16="http://schemas.microsoft.com/office/drawing/2014/main" id="{A2A0EA30-F297-BDFD-F99D-478B2A456D67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371600" y="1645920"/>
            <a:ext cx="9601200" cy="4221480"/>
          </a:xfrm>
        </p:spPr>
        <p:txBody>
          <a:bodyPr>
            <a:noAutofit/>
          </a:bodyPr>
          <a:lstStyle/>
          <a:p>
            <a:pPr marL="457200">
              <a:lnSpc>
                <a:spcPct val="107000"/>
              </a:lnSpc>
              <a:spcAft>
                <a:spcPts val="800"/>
              </a:spcAft>
              <a:buNone/>
            </a:pPr>
            <a:r>
              <a:rPr lang="fr-FR" sz="2400" dirty="0"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Arial" panose="020B0604020202020204" pitchFamily="34" charset="0"/>
              </a:rPr>
              <a:t>Ahmed , âgé de 2 mois , est amené aux urgences pour des diarrhées aigues (6 épisodes par jour) évoluant depuis 48 heures. </a:t>
            </a:r>
            <a:endParaRPr lang="fr-TN" sz="2400" dirty="0">
              <a:effectLst/>
              <a:latin typeface="Calibri" panose="020F0502020204030204" pitchFamily="34" charset="0"/>
              <a:ea typeface="Calibri" panose="020F0502020204030204" pitchFamily="34" charset="0"/>
              <a:cs typeface="Arial" panose="020B0604020202020204" pitchFamily="34" charset="0"/>
            </a:endParaRPr>
          </a:p>
          <a:p>
            <a:pPr>
              <a:lnSpc>
                <a:spcPct val="107000"/>
              </a:lnSpc>
              <a:spcAft>
                <a:spcPts val="800"/>
              </a:spcAft>
              <a:buNone/>
            </a:pPr>
            <a:r>
              <a:rPr lang="fr-FR" sz="2400" dirty="0"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Arial" panose="020B0604020202020204" pitchFamily="34" charset="0"/>
              </a:rPr>
              <a:t>  Il y a 1 semaine, son  poids était  à 5 kg. </a:t>
            </a:r>
            <a:endParaRPr lang="fr-TN" sz="2400" dirty="0">
              <a:effectLst/>
              <a:latin typeface="Calibri" panose="020F0502020204030204" pitchFamily="34" charset="0"/>
              <a:ea typeface="Calibri" panose="020F0502020204030204" pitchFamily="34" charset="0"/>
              <a:cs typeface="Arial" panose="020B0604020202020204" pitchFamily="34" charset="0"/>
            </a:endParaRPr>
          </a:p>
          <a:p>
            <a:pPr marL="457200">
              <a:lnSpc>
                <a:spcPct val="107000"/>
              </a:lnSpc>
              <a:buNone/>
            </a:pPr>
            <a:r>
              <a:rPr lang="fr-FR" sz="2400" dirty="0"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Arial" panose="020B0604020202020204" pitchFamily="34" charset="0"/>
              </a:rPr>
              <a:t>A l’examen, son poids est à 4kg500. </a:t>
            </a:r>
            <a:endParaRPr lang="fr-TN" sz="2400" dirty="0">
              <a:effectLst/>
              <a:latin typeface="Calibri" panose="020F0502020204030204" pitchFamily="34" charset="0"/>
              <a:ea typeface="Calibri" panose="020F0502020204030204" pitchFamily="34" charset="0"/>
              <a:cs typeface="Arial" panose="020B0604020202020204" pitchFamily="34" charset="0"/>
            </a:endParaRPr>
          </a:p>
          <a:p>
            <a:pPr marL="457200">
              <a:lnSpc>
                <a:spcPct val="107000"/>
              </a:lnSpc>
              <a:spcAft>
                <a:spcPts val="800"/>
              </a:spcAft>
              <a:buNone/>
            </a:pPr>
            <a:r>
              <a:rPr lang="fr-FR" sz="2400" dirty="0"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Arial" panose="020B0604020202020204" pitchFamily="34" charset="0"/>
              </a:rPr>
              <a:t>Sa température est à 38 ,5°, il a un pli persistant, sa respiration est ample avec une  FR : 60 cycles/min, son état neurologique est normal, la fontanelle antérieure (FANT) est légèrement  déprimée, sa langue  est un peu desséchée, le TRC&lt;3, TA : 90/40 </a:t>
            </a:r>
            <a:r>
              <a:rPr lang="fr-FR" sz="2400" dirty="0" err="1"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Arial" panose="020B0604020202020204" pitchFamily="34" charset="0"/>
              </a:rPr>
              <a:t>mmhg</a:t>
            </a:r>
            <a:r>
              <a:rPr lang="fr-FR" sz="2400" dirty="0"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Arial" panose="020B0604020202020204" pitchFamily="34" charset="0"/>
              </a:rPr>
              <a:t>, les globes oculaires sont légèrement enfoncés.</a:t>
            </a:r>
            <a:endParaRPr lang="fr-TN" sz="2400" dirty="0">
              <a:effectLst/>
              <a:latin typeface="Calibri" panose="020F0502020204030204" pitchFamily="34" charset="0"/>
              <a:ea typeface="Calibri" panose="020F0502020204030204" pitchFamily="34" charset="0"/>
              <a:cs typeface="Arial" panose="020B0604020202020204" pitchFamily="34" charset="0"/>
            </a:endParaRPr>
          </a:p>
          <a:p>
            <a:endParaRPr lang="fr-TN" sz="2400" dirty="0"/>
          </a:p>
        </p:txBody>
      </p:sp>
    </p:spTree>
    <p:extLst>
      <p:ext uri="{BB962C8B-B14F-4D97-AF65-F5344CB8AC3E}">
        <p14:creationId xmlns:p14="http://schemas.microsoft.com/office/powerpoint/2010/main" val="3416755420"/>
      </p:ext>
    </p:extLst>
  </p:cSld>
  <p:clrMapOvr>
    <a:masterClrMapping/>
  </p:clrMapOvr>
</p:sld>
</file>

<file path=ppt/slides/slide6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>
            <a:extLst>
              <a:ext uri="{FF2B5EF4-FFF2-40B4-BE49-F238E27FC236}">
                <a16:creationId xmlns:a16="http://schemas.microsoft.com/office/drawing/2014/main" id="{144D5664-A07D-48B0-50DD-61479EF92E8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Autofit/>
          </a:bodyPr>
          <a:lstStyle/>
          <a:p>
            <a:pPr marL="457200" marR="0" lvl="0" indent="-384048" defTabSz="914400" rtl="0" eaLnBrk="1" fontAlgn="auto" latinLnBrk="0" hangingPunct="1">
              <a:lnSpc>
                <a:spcPct val="107000"/>
              </a:lnSpc>
              <a:spcBef>
                <a:spcPts val="1000"/>
              </a:spcBef>
              <a:spcAft>
                <a:spcPts val="200"/>
              </a:spcAft>
              <a:tabLst/>
              <a:defRPr/>
            </a:pPr>
            <a:r>
              <a:rPr kumimoji="0" lang="fr-FR" sz="3200" b="0" i="0" u="none" strike="noStrike" kern="1200" cap="none" spc="0" normalizeH="0" baseline="0" noProof="0" dirty="0">
                <a:ln>
                  <a:noFill/>
                </a:ln>
                <a:solidFill>
                  <a:srgbClr val="191B0E"/>
                </a:solidFill>
                <a:effectLst/>
                <a:uLnTx/>
                <a:uFillTx/>
                <a:latin typeface="Times New Roman" panose="02020603050405020304" pitchFamily="18" charset="0"/>
                <a:ea typeface="Calibri" panose="020F0502020204030204" pitchFamily="34" charset="0"/>
                <a:cs typeface="Arial" panose="020B0604020202020204" pitchFamily="34" charset="0"/>
              </a:rPr>
              <a:t> </a:t>
            </a:r>
            <a:br>
              <a:rPr kumimoji="0" lang="fr-TN" sz="3200" b="0" i="0" u="none" strike="noStrike" kern="1200" cap="none" spc="0" normalizeH="0" baseline="0" noProof="0" dirty="0">
                <a:ln>
                  <a:noFill/>
                </a:ln>
                <a:solidFill>
                  <a:srgbClr val="191B0E"/>
                </a:solidFill>
                <a:effectLst/>
                <a:uLnTx/>
                <a:uFillTx/>
                <a:latin typeface="Calibri" panose="020F0502020204030204" pitchFamily="34" charset="0"/>
                <a:ea typeface="Calibri" panose="020F0502020204030204" pitchFamily="34" charset="0"/>
                <a:cs typeface="Arial" panose="020B0604020202020204" pitchFamily="34" charset="0"/>
              </a:rPr>
            </a:br>
            <a:r>
              <a:rPr kumimoji="0" lang="fr-FR" sz="3200" b="0" i="0" u="none" strike="noStrike" kern="1200" cap="none" spc="0" normalizeH="0" baseline="0" noProof="0" dirty="0">
                <a:ln>
                  <a:noFill/>
                </a:ln>
                <a:solidFill>
                  <a:srgbClr val="191B0E"/>
                </a:solidFill>
                <a:effectLst/>
                <a:uLnTx/>
                <a:uFillTx/>
                <a:latin typeface="Calibri" panose="020F0502020204030204" pitchFamily="34" charset="0"/>
                <a:ea typeface="Calibri" panose="020F0502020204030204" pitchFamily="34" charset="0"/>
                <a:cs typeface="Arial" panose="020B0604020202020204" pitchFamily="34" charset="0"/>
              </a:rPr>
              <a:t>1-</a:t>
            </a:r>
            <a:r>
              <a:rPr kumimoji="0" lang="fr-FR" sz="3200" b="1" i="0" u="none" strike="noStrike" kern="1200" cap="none" spc="0" normalizeH="0" baseline="0" noProof="0" dirty="0">
                <a:ln>
                  <a:noFill/>
                </a:ln>
                <a:solidFill>
                  <a:srgbClr val="191B0E"/>
                </a:solidFill>
                <a:effectLst/>
                <a:uLnTx/>
                <a:uFillTx/>
                <a:latin typeface="Times New Roman" panose="02020603050405020304" pitchFamily="18" charset="0"/>
                <a:ea typeface="Calibri" panose="020F0502020204030204" pitchFamily="34" charset="0"/>
                <a:cs typeface="Arial" panose="020B0604020202020204" pitchFamily="34" charset="0"/>
              </a:rPr>
              <a:t>Les signes de déshydratation extracellulaire chez Ahmed :</a:t>
            </a:r>
            <a:br>
              <a:rPr kumimoji="0" lang="fr-TN" sz="3200" b="0" i="0" u="none" strike="noStrike" kern="1200" cap="none" spc="0" normalizeH="0" baseline="0" noProof="0" dirty="0">
                <a:ln>
                  <a:noFill/>
                </a:ln>
                <a:solidFill>
                  <a:srgbClr val="191B0E"/>
                </a:solidFill>
                <a:effectLst/>
                <a:uLnTx/>
                <a:uFillTx/>
                <a:latin typeface="Calibri" panose="020F0502020204030204" pitchFamily="34" charset="0"/>
                <a:ea typeface="Calibri" panose="020F0502020204030204" pitchFamily="34" charset="0"/>
                <a:cs typeface="Arial" panose="020B0604020202020204" pitchFamily="34" charset="0"/>
              </a:rPr>
            </a:br>
            <a:endParaRPr lang="fr-TN" sz="3200" dirty="0"/>
          </a:p>
        </p:txBody>
      </p:sp>
      <p:sp>
        <p:nvSpPr>
          <p:cNvPr id="3" name="Espace réservé du contenu 2">
            <a:extLst>
              <a:ext uri="{FF2B5EF4-FFF2-40B4-BE49-F238E27FC236}">
                <a16:creationId xmlns:a16="http://schemas.microsoft.com/office/drawing/2014/main" id="{00186891-9F74-E7A8-C72B-3601F7F3B003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pPr marL="342900" lvl="0" indent="-342900">
              <a:lnSpc>
                <a:spcPct val="107000"/>
              </a:lnSpc>
              <a:buFont typeface="+mj-lt"/>
              <a:buAutoNum type="alphaUcPeriod"/>
            </a:pPr>
            <a:r>
              <a:rPr lang="fr-FR" sz="2400" dirty="0"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Arial" panose="020B0604020202020204" pitchFamily="34" charset="0"/>
              </a:rPr>
              <a:t>Fièvre</a:t>
            </a:r>
            <a:endParaRPr lang="fr-TN" sz="2400" dirty="0">
              <a:effectLst/>
              <a:latin typeface="Calibri" panose="020F0502020204030204" pitchFamily="34" charset="0"/>
              <a:ea typeface="Calibri" panose="020F0502020204030204" pitchFamily="34" charset="0"/>
              <a:cs typeface="Arial" panose="020B0604020202020204" pitchFamily="34" charset="0"/>
            </a:endParaRPr>
          </a:p>
          <a:p>
            <a:pPr marL="342900" lvl="0" indent="-342900">
              <a:lnSpc>
                <a:spcPct val="107000"/>
              </a:lnSpc>
              <a:buFont typeface="+mj-lt"/>
              <a:buAutoNum type="alphaUcPeriod"/>
            </a:pPr>
            <a:r>
              <a:rPr lang="fr-FR" sz="2400" dirty="0"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Arial" panose="020B0604020202020204" pitchFamily="34" charset="0"/>
              </a:rPr>
              <a:t>Pli persistant</a:t>
            </a:r>
            <a:endParaRPr lang="fr-TN" sz="2400" dirty="0">
              <a:effectLst/>
              <a:latin typeface="Calibri" panose="020F0502020204030204" pitchFamily="34" charset="0"/>
              <a:ea typeface="Calibri" panose="020F0502020204030204" pitchFamily="34" charset="0"/>
              <a:cs typeface="Arial" panose="020B0604020202020204" pitchFamily="34" charset="0"/>
            </a:endParaRPr>
          </a:p>
          <a:p>
            <a:pPr marL="342900" lvl="0" indent="-342900">
              <a:lnSpc>
                <a:spcPct val="107000"/>
              </a:lnSpc>
              <a:buFont typeface="+mj-lt"/>
              <a:buAutoNum type="alphaUcPeriod"/>
            </a:pPr>
            <a:r>
              <a:rPr lang="fr-FR" sz="2400" dirty="0"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Arial" panose="020B0604020202020204" pitchFamily="34" charset="0"/>
              </a:rPr>
              <a:t>Langue un peu desséchée</a:t>
            </a:r>
            <a:endParaRPr lang="fr-TN" sz="2400" dirty="0">
              <a:effectLst/>
              <a:latin typeface="Calibri" panose="020F0502020204030204" pitchFamily="34" charset="0"/>
              <a:ea typeface="Calibri" panose="020F0502020204030204" pitchFamily="34" charset="0"/>
              <a:cs typeface="Arial" panose="020B0604020202020204" pitchFamily="34" charset="0"/>
            </a:endParaRPr>
          </a:p>
          <a:p>
            <a:pPr marL="342900" lvl="0" indent="-342900">
              <a:lnSpc>
                <a:spcPct val="107000"/>
              </a:lnSpc>
              <a:buFont typeface="+mj-lt"/>
              <a:buAutoNum type="alphaUcPeriod"/>
            </a:pPr>
            <a:r>
              <a:rPr lang="fr-FR" sz="2400" dirty="0"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Arial" panose="020B0604020202020204" pitchFamily="34" charset="0"/>
              </a:rPr>
              <a:t>TRC&lt;3</a:t>
            </a:r>
            <a:endParaRPr lang="fr-TN" sz="2400" dirty="0">
              <a:effectLst/>
              <a:latin typeface="Calibri" panose="020F0502020204030204" pitchFamily="34" charset="0"/>
              <a:ea typeface="Calibri" panose="020F0502020204030204" pitchFamily="34" charset="0"/>
              <a:cs typeface="Arial" panose="020B0604020202020204" pitchFamily="34" charset="0"/>
            </a:endParaRPr>
          </a:p>
          <a:p>
            <a:pPr marL="342900" lvl="0" indent="-342900">
              <a:lnSpc>
                <a:spcPct val="107000"/>
              </a:lnSpc>
              <a:spcAft>
                <a:spcPts val="800"/>
              </a:spcAft>
              <a:buFont typeface="+mj-lt"/>
              <a:buAutoNum type="alphaUcPeriod"/>
            </a:pPr>
            <a:r>
              <a:rPr lang="fr-FR" sz="2400" dirty="0"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Arial" panose="020B0604020202020204" pitchFamily="34" charset="0"/>
              </a:rPr>
              <a:t>FANT légèrement déprimée</a:t>
            </a:r>
            <a:endParaRPr lang="fr-TN" sz="2400" dirty="0">
              <a:effectLst/>
              <a:latin typeface="Calibri" panose="020F0502020204030204" pitchFamily="34" charset="0"/>
              <a:ea typeface="Calibri" panose="020F0502020204030204" pitchFamily="34" charset="0"/>
              <a:cs typeface="Arial" panose="020B0604020202020204" pitchFamily="34" charset="0"/>
            </a:endParaRPr>
          </a:p>
          <a:p>
            <a:endParaRPr lang="fr-TN" sz="2400" dirty="0"/>
          </a:p>
        </p:txBody>
      </p:sp>
    </p:spTree>
    <p:extLst>
      <p:ext uri="{BB962C8B-B14F-4D97-AF65-F5344CB8AC3E}">
        <p14:creationId xmlns:p14="http://schemas.microsoft.com/office/powerpoint/2010/main" val="750646590"/>
      </p:ext>
    </p:extLst>
  </p:cSld>
  <p:clrMapOvr>
    <a:masterClrMapping/>
  </p:clrMapOvr>
</p:sld>
</file>

<file path=ppt/slides/slide6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3D2B4C6-56B5-F803-3894-54A02AF3050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Espace réservé du contenu 4">
            <a:extLst>
              <a:ext uri="{FF2B5EF4-FFF2-40B4-BE49-F238E27FC236}">
                <a16:creationId xmlns:a16="http://schemas.microsoft.com/office/drawing/2014/main" id="{5AF24FC4-27BF-8D3B-BB9B-17539F1FEF3D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>
          <a:xfrm>
            <a:off x="1834681" y="540310"/>
            <a:ext cx="9353676" cy="1558946"/>
          </a:xfrm>
          <a:prstGeom prst="rect">
            <a:avLst/>
          </a:prstGeom>
        </p:spPr>
      </p:pic>
      <p:pic>
        <p:nvPicPr>
          <p:cNvPr id="3" name="Image 6">
            <a:extLst>
              <a:ext uri="{FF2B5EF4-FFF2-40B4-BE49-F238E27FC236}">
                <a16:creationId xmlns:a16="http://schemas.microsoft.com/office/drawing/2014/main" id="{1171DF94-61C1-1B1E-28F5-A18F79AB3279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834681" y="2099256"/>
            <a:ext cx="9353676" cy="276895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</p:spTree>
    <p:extLst>
      <p:ext uri="{BB962C8B-B14F-4D97-AF65-F5344CB8AC3E}">
        <p14:creationId xmlns:p14="http://schemas.microsoft.com/office/powerpoint/2010/main" val="1717246954"/>
      </p:ext>
    </p:extLst>
  </p:cSld>
  <p:clrMapOvr>
    <a:masterClrMapping/>
  </p:clrMapOvr>
</p:sld>
</file>

<file path=ppt/slides/slide6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8D88EC7-43CA-CE64-2B7C-45BD30ACF77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>
            <a:extLst>
              <a:ext uri="{FF2B5EF4-FFF2-40B4-BE49-F238E27FC236}">
                <a16:creationId xmlns:a16="http://schemas.microsoft.com/office/drawing/2014/main" id="{9F8816C7-F30E-B6EA-4E9B-139AD20ED49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Autofit/>
          </a:bodyPr>
          <a:lstStyle/>
          <a:p>
            <a:pPr marL="457200" marR="0" lvl="0" indent="-384048" defTabSz="914400" rtl="0" eaLnBrk="1" fontAlgn="auto" latinLnBrk="0" hangingPunct="1">
              <a:lnSpc>
                <a:spcPct val="107000"/>
              </a:lnSpc>
              <a:spcBef>
                <a:spcPts val="1000"/>
              </a:spcBef>
              <a:spcAft>
                <a:spcPts val="200"/>
              </a:spcAft>
              <a:tabLst/>
              <a:defRPr/>
            </a:pPr>
            <a:r>
              <a:rPr kumimoji="0" lang="fr-FR" sz="3200" b="0" i="0" u="none" strike="noStrike" kern="1200" cap="none" spc="0" normalizeH="0" baseline="0" noProof="0" dirty="0">
                <a:ln>
                  <a:noFill/>
                </a:ln>
                <a:solidFill>
                  <a:srgbClr val="191B0E"/>
                </a:solidFill>
                <a:effectLst/>
                <a:uLnTx/>
                <a:uFillTx/>
                <a:latin typeface="Times New Roman" panose="02020603050405020304" pitchFamily="18" charset="0"/>
                <a:ea typeface="Calibri" panose="020F0502020204030204" pitchFamily="34" charset="0"/>
                <a:cs typeface="Arial" panose="020B0604020202020204" pitchFamily="34" charset="0"/>
              </a:rPr>
              <a:t> </a:t>
            </a:r>
            <a:br>
              <a:rPr kumimoji="0" lang="fr-TN" sz="3200" b="0" i="0" u="none" strike="noStrike" kern="1200" cap="none" spc="0" normalizeH="0" baseline="0" noProof="0" dirty="0">
                <a:ln>
                  <a:noFill/>
                </a:ln>
                <a:solidFill>
                  <a:srgbClr val="191B0E"/>
                </a:solidFill>
                <a:effectLst/>
                <a:uLnTx/>
                <a:uFillTx/>
                <a:latin typeface="Calibri" panose="020F0502020204030204" pitchFamily="34" charset="0"/>
                <a:ea typeface="Calibri" panose="020F0502020204030204" pitchFamily="34" charset="0"/>
                <a:cs typeface="Arial" panose="020B0604020202020204" pitchFamily="34" charset="0"/>
              </a:rPr>
            </a:br>
            <a:r>
              <a:rPr kumimoji="0" lang="fr-FR" sz="3200" b="0" i="0" u="none" strike="noStrike" kern="1200" cap="none" spc="0" normalizeH="0" baseline="0" noProof="0" dirty="0">
                <a:ln>
                  <a:noFill/>
                </a:ln>
                <a:solidFill>
                  <a:srgbClr val="191B0E"/>
                </a:solidFill>
                <a:effectLst/>
                <a:uLnTx/>
                <a:uFillTx/>
                <a:latin typeface="Calibri" panose="020F0502020204030204" pitchFamily="34" charset="0"/>
                <a:ea typeface="Calibri" panose="020F0502020204030204" pitchFamily="34" charset="0"/>
                <a:cs typeface="Arial" panose="020B0604020202020204" pitchFamily="34" charset="0"/>
              </a:rPr>
              <a:t>1-</a:t>
            </a:r>
            <a:r>
              <a:rPr kumimoji="0" lang="fr-FR" sz="3200" b="1" i="0" u="none" strike="noStrike" kern="1200" cap="none" spc="0" normalizeH="0" baseline="0" noProof="0" dirty="0">
                <a:ln>
                  <a:noFill/>
                </a:ln>
                <a:solidFill>
                  <a:srgbClr val="191B0E"/>
                </a:solidFill>
                <a:effectLst/>
                <a:uLnTx/>
                <a:uFillTx/>
                <a:latin typeface="Times New Roman" panose="02020603050405020304" pitchFamily="18" charset="0"/>
                <a:ea typeface="Calibri" panose="020F0502020204030204" pitchFamily="34" charset="0"/>
                <a:cs typeface="Arial" panose="020B0604020202020204" pitchFamily="34" charset="0"/>
              </a:rPr>
              <a:t>Les signes de déshydratation extracellulaire chez Ahmed :</a:t>
            </a:r>
            <a:br>
              <a:rPr kumimoji="0" lang="fr-TN" sz="3200" b="0" i="0" u="none" strike="noStrike" kern="1200" cap="none" spc="0" normalizeH="0" baseline="0" noProof="0" dirty="0">
                <a:ln>
                  <a:noFill/>
                </a:ln>
                <a:solidFill>
                  <a:srgbClr val="191B0E"/>
                </a:solidFill>
                <a:effectLst/>
                <a:uLnTx/>
                <a:uFillTx/>
                <a:latin typeface="Calibri" panose="020F0502020204030204" pitchFamily="34" charset="0"/>
                <a:ea typeface="Calibri" panose="020F0502020204030204" pitchFamily="34" charset="0"/>
                <a:cs typeface="Arial" panose="020B0604020202020204" pitchFamily="34" charset="0"/>
              </a:rPr>
            </a:br>
            <a:endParaRPr lang="fr-TN" sz="3200" dirty="0"/>
          </a:p>
        </p:txBody>
      </p:sp>
      <p:sp>
        <p:nvSpPr>
          <p:cNvPr id="3" name="Espace réservé du contenu 2">
            <a:extLst>
              <a:ext uri="{FF2B5EF4-FFF2-40B4-BE49-F238E27FC236}">
                <a16:creationId xmlns:a16="http://schemas.microsoft.com/office/drawing/2014/main" id="{A554E698-5555-4D03-38F2-72AE9CED3214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pPr marL="342900" lvl="0" indent="-342900">
              <a:lnSpc>
                <a:spcPct val="107000"/>
              </a:lnSpc>
              <a:buFont typeface="+mj-lt"/>
              <a:buAutoNum type="alphaUcPeriod"/>
            </a:pPr>
            <a:r>
              <a:rPr lang="fr-FR" sz="2400" dirty="0"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Arial" panose="020B0604020202020204" pitchFamily="34" charset="0"/>
              </a:rPr>
              <a:t>Fièvre</a:t>
            </a:r>
            <a:endParaRPr lang="fr-TN" sz="2400" dirty="0">
              <a:effectLst/>
              <a:latin typeface="Calibri" panose="020F0502020204030204" pitchFamily="34" charset="0"/>
              <a:ea typeface="Calibri" panose="020F0502020204030204" pitchFamily="34" charset="0"/>
              <a:cs typeface="Arial" panose="020B0604020202020204" pitchFamily="34" charset="0"/>
            </a:endParaRPr>
          </a:p>
          <a:p>
            <a:pPr marL="342900" lvl="0" indent="-342900">
              <a:lnSpc>
                <a:spcPct val="107000"/>
              </a:lnSpc>
              <a:buFont typeface="+mj-lt"/>
              <a:buAutoNum type="alphaUcPeriod"/>
            </a:pPr>
            <a:r>
              <a:rPr lang="fr-FR" sz="2400" dirty="0">
                <a:solidFill>
                  <a:srgbClr val="FF0000"/>
                </a:solidFill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Arial" panose="020B0604020202020204" pitchFamily="34" charset="0"/>
              </a:rPr>
              <a:t>Pli persistant</a:t>
            </a:r>
            <a:endParaRPr lang="fr-TN" sz="2400" dirty="0">
              <a:solidFill>
                <a:srgbClr val="FF0000"/>
              </a:solidFill>
              <a:effectLst/>
              <a:latin typeface="Calibri" panose="020F0502020204030204" pitchFamily="34" charset="0"/>
              <a:ea typeface="Calibri" panose="020F0502020204030204" pitchFamily="34" charset="0"/>
              <a:cs typeface="Arial" panose="020B0604020202020204" pitchFamily="34" charset="0"/>
            </a:endParaRPr>
          </a:p>
          <a:p>
            <a:pPr marL="342900" lvl="0" indent="-342900">
              <a:lnSpc>
                <a:spcPct val="107000"/>
              </a:lnSpc>
              <a:buFont typeface="+mj-lt"/>
              <a:buAutoNum type="alphaUcPeriod"/>
            </a:pPr>
            <a:r>
              <a:rPr lang="fr-FR" sz="2400" dirty="0"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Arial" panose="020B0604020202020204" pitchFamily="34" charset="0"/>
              </a:rPr>
              <a:t>Langue un peu desséchée</a:t>
            </a:r>
            <a:endParaRPr lang="fr-TN" sz="2400" dirty="0">
              <a:effectLst/>
              <a:latin typeface="Calibri" panose="020F0502020204030204" pitchFamily="34" charset="0"/>
              <a:ea typeface="Calibri" panose="020F0502020204030204" pitchFamily="34" charset="0"/>
              <a:cs typeface="Arial" panose="020B0604020202020204" pitchFamily="34" charset="0"/>
            </a:endParaRPr>
          </a:p>
          <a:p>
            <a:pPr marL="342900" lvl="0" indent="-342900">
              <a:lnSpc>
                <a:spcPct val="107000"/>
              </a:lnSpc>
              <a:buFont typeface="+mj-lt"/>
              <a:buAutoNum type="alphaUcPeriod"/>
            </a:pPr>
            <a:r>
              <a:rPr lang="fr-FR" sz="2400" dirty="0"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Arial" panose="020B0604020202020204" pitchFamily="34" charset="0"/>
              </a:rPr>
              <a:t>TRC&lt;3</a:t>
            </a:r>
            <a:endParaRPr lang="fr-TN" sz="2400" dirty="0">
              <a:effectLst/>
              <a:latin typeface="Calibri" panose="020F0502020204030204" pitchFamily="34" charset="0"/>
              <a:ea typeface="Calibri" panose="020F0502020204030204" pitchFamily="34" charset="0"/>
              <a:cs typeface="Arial" panose="020B0604020202020204" pitchFamily="34" charset="0"/>
            </a:endParaRPr>
          </a:p>
          <a:p>
            <a:pPr marL="342900" lvl="0" indent="-342900">
              <a:lnSpc>
                <a:spcPct val="107000"/>
              </a:lnSpc>
              <a:spcAft>
                <a:spcPts val="800"/>
              </a:spcAft>
              <a:buFont typeface="+mj-lt"/>
              <a:buAutoNum type="alphaUcPeriod"/>
            </a:pPr>
            <a:r>
              <a:rPr lang="fr-FR" sz="2400" dirty="0">
                <a:solidFill>
                  <a:srgbClr val="FF0000"/>
                </a:solidFill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Arial" panose="020B0604020202020204" pitchFamily="34" charset="0"/>
              </a:rPr>
              <a:t>FANT légèrement déprimée</a:t>
            </a:r>
            <a:endParaRPr lang="fr-TN" sz="2400" dirty="0">
              <a:solidFill>
                <a:srgbClr val="FF0000"/>
              </a:solidFill>
              <a:effectLst/>
              <a:latin typeface="Calibri" panose="020F0502020204030204" pitchFamily="34" charset="0"/>
              <a:ea typeface="Calibri" panose="020F0502020204030204" pitchFamily="34" charset="0"/>
              <a:cs typeface="Arial" panose="020B0604020202020204" pitchFamily="34" charset="0"/>
            </a:endParaRPr>
          </a:p>
          <a:p>
            <a:endParaRPr lang="fr-TN" sz="2400" dirty="0"/>
          </a:p>
        </p:txBody>
      </p:sp>
    </p:spTree>
    <p:extLst>
      <p:ext uri="{BB962C8B-B14F-4D97-AF65-F5344CB8AC3E}">
        <p14:creationId xmlns:p14="http://schemas.microsoft.com/office/powerpoint/2010/main" val="2124823196"/>
      </p:ext>
    </p:extLst>
  </p:cSld>
  <p:clrMapOvr>
    <a:masterClrMapping/>
  </p:clrMapOvr>
</p:sld>
</file>

<file path=ppt/slides/slide6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>
            <a:extLst>
              <a:ext uri="{FF2B5EF4-FFF2-40B4-BE49-F238E27FC236}">
                <a16:creationId xmlns:a16="http://schemas.microsoft.com/office/drawing/2014/main" id="{42016559-4BC6-4C39-980E-CCE70550D3B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Autofit/>
          </a:bodyPr>
          <a:lstStyle/>
          <a:p>
            <a:pPr marL="342900" marR="0" lvl="0" indent="-342900" defTabSz="914400" rtl="0" eaLnBrk="1" fontAlgn="auto" latinLnBrk="0" hangingPunct="1">
              <a:lnSpc>
                <a:spcPct val="107000"/>
              </a:lnSpc>
              <a:spcBef>
                <a:spcPts val="1000"/>
              </a:spcBef>
              <a:spcAft>
                <a:spcPts val="200"/>
              </a:spcAft>
              <a:tabLst/>
              <a:defRPr/>
            </a:pPr>
            <a:r>
              <a:rPr kumimoji="0" lang="fr-FR" sz="3600" b="1" i="0" u="none" strike="noStrike" kern="1200" cap="none" spc="0" normalizeH="0" baseline="0" noProof="0" dirty="0">
                <a:ln>
                  <a:noFill/>
                </a:ln>
                <a:solidFill>
                  <a:srgbClr val="191B0E"/>
                </a:solidFill>
                <a:effectLst/>
                <a:uLnTx/>
                <a:uFillTx/>
                <a:latin typeface="Times New Roman" panose="02020603050405020304" pitchFamily="18" charset="0"/>
                <a:ea typeface="Calibri" panose="020F0502020204030204" pitchFamily="34" charset="0"/>
                <a:cs typeface="Arial" panose="020B0604020202020204" pitchFamily="34" charset="0"/>
              </a:rPr>
              <a:t>Le score de déshydratation d’Ahmed est estimé à  :</a:t>
            </a:r>
            <a:br>
              <a:rPr kumimoji="0" lang="fr-TN" sz="3600" b="0" i="0" u="none" strike="noStrike" kern="1200" cap="none" spc="0" normalizeH="0" baseline="0" noProof="0" dirty="0">
                <a:ln>
                  <a:noFill/>
                </a:ln>
                <a:solidFill>
                  <a:srgbClr val="191B0E"/>
                </a:solidFill>
                <a:effectLst/>
                <a:uLnTx/>
                <a:uFillTx/>
                <a:latin typeface="Calibri" panose="020F0502020204030204" pitchFamily="34" charset="0"/>
                <a:ea typeface="Calibri" panose="020F0502020204030204" pitchFamily="34" charset="0"/>
                <a:cs typeface="Arial" panose="020B0604020202020204" pitchFamily="34" charset="0"/>
              </a:rPr>
            </a:br>
            <a:endParaRPr lang="fr-TN" sz="3600" dirty="0"/>
          </a:p>
        </p:txBody>
      </p:sp>
      <p:sp>
        <p:nvSpPr>
          <p:cNvPr id="3" name="Espace réservé du contenu 2">
            <a:extLst>
              <a:ext uri="{FF2B5EF4-FFF2-40B4-BE49-F238E27FC236}">
                <a16:creationId xmlns:a16="http://schemas.microsoft.com/office/drawing/2014/main" id="{9729AEE9-73B3-A9FD-82F2-2B1B367909EA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pPr marL="342900" lvl="0" indent="-342900">
              <a:lnSpc>
                <a:spcPct val="107000"/>
              </a:lnSpc>
              <a:buFont typeface="+mj-lt"/>
              <a:buAutoNum type="alphaUcPeriod"/>
            </a:pPr>
            <a:r>
              <a:rPr lang="fr-FR" sz="2400" dirty="0"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Arial" panose="020B0604020202020204" pitchFamily="34" charset="0"/>
              </a:rPr>
              <a:t>6</a:t>
            </a:r>
            <a:endParaRPr lang="fr-TN" sz="2400" dirty="0">
              <a:effectLst/>
              <a:latin typeface="Calibri" panose="020F0502020204030204" pitchFamily="34" charset="0"/>
              <a:ea typeface="Calibri" panose="020F0502020204030204" pitchFamily="34" charset="0"/>
              <a:cs typeface="Arial" panose="020B0604020202020204" pitchFamily="34" charset="0"/>
            </a:endParaRPr>
          </a:p>
          <a:p>
            <a:pPr marL="342900" lvl="0" indent="-342900">
              <a:lnSpc>
                <a:spcPct val="107000"/>
              </a:lnSpc>
              <a:buFont typeface="+mj-lt"/>
              <a:buAutoNum type="alphaUcPeriod"/>
            </a:pPr>
            <a:r>
              <a:rPr lang="fr-FR" sz="2400" dirty="0"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Arial" panose="020B0604020202020204" pitchFamily="34" charset="0"/>
              </a:rPr>
              <a:t>7</a:t>
            </a:r>
            <a:endParaRPr lang="fr-TN" sz="2400" dirty="0">
              <a:effectLst/>
              <a:latin typeface="Calibri" panose="020F0502020204030204" pitchFamily="34" charset="0"/>
              <a:ea typeface="Calibri" panose="020F0502020204030204" pitchFamily="34" charset="0"/>
              <a:cs typeface="Arial" panose="020B0604020202020204" pitchFamily="34" charset="0"/>
            </a:endParaRPr>
          </a:p>
          <a:p>
            <a:pPr marL="342900" lvl="0" indent="-342900">
              <a:lnSpc>
                <a:spcPct val="107000"/>
              </a:lnSpc>
              <a:buFont typeface="+mj-lt"/>
              <a:buAutoNum type="alphaUcPeriod"/>
            </a:pPr>
            <a:r>
              <a:rPr lang="fr-FR" sz="2400" dirty="0"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Arial" panose="020B0604020202020204" pitchFamily="34" charset="0"/>
              </a:rPr>
              <a:t>8</a:t>
            </a:r>
            <a:endParaRPr lang="fr-TN" sz="2400" dirty="0">
              <a:effectLst/>
              <a:latin typeface="Calibri" panose="020F0502020204030204" pitchFamily="34" charset="0"/>
              <a:ea typeface="Calibri" panose="020F0502020204030204" pitchFamily="34" charset="0"/>
              <a:cs typeface="Arial" panose="020B0604020202020204" pitchFamily="34" charset="0"/>
            </a:endParaRPr>
          </a:p>
          <a:p>
            <a:pPr marL="342900" lvl="0" indent="-342900">
              <a:lnSpc>
                <a:spcPct val="107000"/>
              </a:lnSpc>
              <a:buFont typeface="+mj-lt"/>
              <a:buAutoNum type="alphaUcPeriod"/>
            </a:pPr>
            <a:r>
              <a:rPr lang="fr-FR" sz="2400" dirty="0"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Arial" panose="020B0604020202020204" pitchFamily="34" charset="0"/>
              </a:rPr>
              <a:t>9</a:t>
            </a:r>
            <a:endParaRPr lang="fr-TN" sz="2400" dirty="0">
              <a:effectLst/>
              <a:latin typeface="Calibri" panose="020F0502020204030204" pitchFamily="34" charset="0"/>
              <a:ea typeface="Calibri" panose="020F0502020204030204" pitchFamily="34" charset="0"/>
              <a:cs typeface="Arial" panose="020B0604020202020204" pitchFamily="34" charset="0"/>
            </a:endParaRPr>
          </a:p>
          <a:p>
            <a:pPr marL="342900" lvl="0" indent="-342900">
              <a:lnSpc>
                <a:spcPct val="107000"/>
              </a:lnSpc>
              <a:spcAft>
                <a:spcPts val="800"/>
              </a:spcAft>
              <a:buFont typeface="+mj-lt"/>
              <a:buAutoNum type="alphaUcPeriod"/>
            </a:pPr>
            <a:r>
              <a:rPr lang="fr-FR" sz="2400" dirty="0"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Arial" panose="020B0604020202020204" pitchFamily="34" charset="0"/>
              </a:rPr>
              <a:t>10</a:t>
            </a:r>
            <a:endParaRPr lang="fr-TN" sz="2400" dirty="0">
              <a:effectLst/>
              <a:latin typeface="Calibri" panose="020F0502020204030204" pitchFamily="34" charset="0"/>
              <a:ea typeface="Calibri" panose="020F0502020204030204" pitchFamily="34" charset="0"/>
              <a:cs typeface="Arial" panose="020B0604020202020204" pitchFamily="34" charset="0"/>
            </a:endParaRPr>
          </a:p>
          <a:p>
            <a:endParaRPr lang="fr-TN" sz="2400" dirty="0"/>
          </a:p>
        </p:txBody>
      </p:sp>
    </p:spTree>
    <p:extLst>
      <p:ext uri="{BB962C8B-B14F-4D97-AF65-F5344CB8AC3E}">
        <p14:creationId xmlns:p14="http://schemas.microsoft.com/office/powerpoint/2010/main" val="1475812714"/>
      </p:ext>
    </p:extLst>
  </p:cSld>
  <p:clrMapOvr>
    <a:masterClrMapping/>
  </p:clrMapOvr>
</p:sld>
</file>

<file path=ppt/slides/slide6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9C6A3B6-5163-5E39-C2CD-A19B0D85157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>
            <a:extLst>
              <a:ext uri="{FF2B5EF4-FFF2-40B4-BE49-F238E27FC236}">
                <a16:creationId xmlns:a16="http://schemas.microsoft.com/office/drawing/2014/main" id="{B1D42A24-1AA7-719D-4E81-826392C9D10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371600" y="685800"/>
            <a:ext cx="9601200" cy="716280"/>
          </a:xfrm>
        </p:spPr>
        <p:txBody>
          <a:bodyPr/>
          <a:lstStyle/>
          <a:p>
            <a:r>
              <a:rPr lang="fr-FR" dirty="0"/>
              <a:t>Cas clinique N°1</a:t>
            </a:r>
            <a:endParaRPr lang="fr-TN" dirty="0"/>
          </a:p>
        </p:txBody>
      </p:sp>
      <p:sp>
        <p:nvSpPr>
          <p:cNvPr id="3" name="Espace réservé du contenu 2">
            <a:extLst>
              <a:ext uri="{FF2B5EF4-FFF2-40B4-BE49-F238E27FC236}">
                <a16:creationId xmlns:a16="http://schemas.microsoft.com/office/drawing/2014/main" id="{A3F589EE-4119-13A2-14D4-1D18A24DE119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371600" y="1645920"/>
            <a:ext cx="9601200" cy="4221480"/>
          </a:xfrm>
        </p:spPr>
        <p:txBody>
          <a:bodyPr>
            <a:noAutofit/>
          </a:bodyPr>
          <a:lstStyle/>
          <a:p>
            <a:pPr marL="457200">
              <a:lnSpc>
                <a:spcPct val="107000"/>
              </a:lnSpc>
              <a:spcAft>
                <a:spcPts val="800"/>
              </a:spcAft>
              <a:buNone/>
            </a:pPr>
            <a:r>
              <a:rPr lang="fr-FR" sz="2400" dirty="0"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Arial" panose="020B0604020202020204" pitchFamily="34" charset="0"/>
              </a:rPr>
              <a:t>Ahmed , âgé de 2 mois , est amené aux urgences pour des diarrhées aigues (6 épisodes par jour) évoluant depuis 48 heures. </a:t>
            </a:r>
            <a:endParaRPr lang="fr-TN" sz="2400" dirty="0">
              <a:effectLst/>
              <a:latin typeface="Calibri" panose="020F0502020204030204" pitchFamily="34" charset="0"/>
              <a:ea typeface="Calibri" panose="020F0502020204030204" pitchFamily="34" charset="0"/>
              <a:cs typeface="Arial" panose="020B0604020202020204" pitchFamily="34" charset="0"/>
            </a:endParaRPr>
          </a:p>
          <a:p>
            <a:pPr>
              <a:lnSpc>
                <a:spcPct val="107000"/>
              </a:lnSpc>
              <a:spcAft>
                <a:spcPts val="800"/>
              </a:spcAft>
              <a:buNone/>
            </a:pPr>
            <a:r>
              <a:rPr lang="fr-FR" sz="2400" dirty="0"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Arial" panose="020B0604020202020204" pitchFamily="34" charset="0"/>
              </a:rPr>
              <a:t>  Il y a 1 semaine, son  poids était  à 5 kg. </a:t>
            </a:r>
            <a:endParaRPr lang="fr-TN" sz="2400" dirty="0">
              <a:effectLst/>
              <a:latin typeface="Calibri" panose="020F0502020204030204" pitchFamily="34" charset="0"/>
              <a:ea typeface="Calibri" panose="020F0502020204030204" pitchFamily="34" charset="0"/>
              <a:cs typeface="Arial" panose="020B0604020202020204" pitchFamily="34" charset="0"/>
            </a:endParaRPr>
          </a:p>
          <a:p>
            <a:pPr marL="457200">
              <a:lnSpc>
                <a:spcPct val="107000"/>
              </a:lnSpc>
              <a:buNone/>
            </a:pPr>
            <a:r>
              <a:rPr lang="fr-FR" sz="2400" dirty="0"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Arial" panose="020B0604020202020204" pitchFamily="34" charset="0"/>
              </a:rPr>
              <a:t>A l’examen, son poids est à 4kg500. </a:t>
            </a:r>
            <a:endParaRPr lang="fr-TN" sz="2400" dirty="0">
              <a:effectLst/>
              <a:latin typeface="Calibri" panose="020F0502020204030204" pitchFamily="34" charset="0"/>
              <a:ea typeface="Calibri" panose="020F0502020204030204" pitchFamily="34" charset="0"/>
              <a:cs typeface="Arial" panose="020B0604020202020204" pitchFamily="34" charset="0"/>
            </a:endParaRPr>
          </a:p>
          <a:p>
            <a:pPr marL="457200">
              <a:lnSpc>
                <a:spcPct val="107000"/>
              </a:lnSpc>
              <a:spcAft>
                <a:spcPts val="800"/>
              </a:spcAft>
              <a:buNone/>
            </a:pPr>
            <a:r>
              <a:rPr lang="fr-FR" sz="2400" dirty="0"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Arial" panose="020B0604020202020204" pitchFamily="34" charset="0"/>
              </a:rPr>
              <a:t>Sa température est à 38 ,5°, il a un pli persistant, sa respiration est ample avec une  FR : 60 cycles/min, son état neurologique est normal, la fontanelle antérieure (FANT) est légèrement  déprimée, sa langue  est un peu desséchée, le TRC&lt;3, TA : 90/40 </a:t>
            </a:r>
            <a:r>
              <a:rPr lang="fr-FR" sz="2400" dirty="0" err="1"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Arial" panose="020B0604020202020204" pitchFamily="34" charset="0"/>
              </a:rPr>
              <a:t>mmhg</a:t>
            </a:r>
            <a:r>
              <a:rPr lang="fr-FR" sz="2400" dirty="0"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Arial" panose="020B0604020202020204" pitchFamily="34" charset="0"/>
              </a:rPr>
              <a:t>, les globes oculaires sont légèrement enfoncés.</a:t>
            </a:r>
            <a:endParaRPr lang="fr-TN" sz="2400" dirty="0">
              <a:effectLst/>
              <a:latin typeface="Calibri" panose="020F0502020204030204" pitchFamily="34" charset="0"/>
              <a:ea typeface="Calibri" panose="020F0502020204030204" pitchFamily="34" charset="0"/>
              <a:cs typeface="Arial" panose="020B0604020202020204" pitchFamily="34" charset="0"/>
            </a:endParaRPr>
          </a:p>
          <a:p>
            <a:endParaRPr lang="fr-TN" sz="2400" dirty="0"/>
          </a:p>
        </p:txBody>
      </p:sp>
    </p:spTree>
    <p:extLst>
      <p:ext uri="{BB962C8B-B14F-4D97-AF65-F5344CB8AC3E}">
        <p14:creationId xmlns:p14="http://schemas.microsoft.com/office/powerpoint/2010/main" val="2313584389"/>
      </p:ext>
    </p:extLst>
  </p:cSld>
  <p:clrMapOvr>
    <a:masterClrMapping/>
  </p:clrMapOvr>
</p:sld>
</file>

<file path=ppt/slides/slide7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897F428-C0A2-D685-A54D-EBE37131EA7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2">
            <a:extLst>
              <a:ext uri="{FF2B5EF4-FFF2-40B4-BE49-F238E27FC236}">
                <a16:creationId xmlns:a16="http://schemas.microsoft.com/office/drawing/2014/main" id="{B3C55B9F-B48F-2B87-D299-DCAFA5AC7BCD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>
          <a:xfrm>
            <a:off x="1135791" y="468361"/>
            <a:ext cx="10080771" cy="6251671"/>
          </a:xfrm>
          <a:prstGeom prst="rect">
            <a:avLst/>
          </a:prstGeom>
          <a:noFill/>
        </p:spPr>
      </p:pic>
      <p:sp>
        <p:nvSpPr>
          <p:cNvPr id="3" name="Rectangle : coins arrondis 2">
            <a:extLst>
              <a:ext uri="{FF2B5EF4-FFF2-40B4-BE49-F238E27FC236}">
                <a16:creationId xmlns:a16="http://schemas.microsoft.com/office/drawing/2014/main" id="{638A25A4-7629-BCBD-C4FA-225E4FACE041}"/>
              </a:ext>
            </a:extLst>
          </p:cNvPr>
          <p:cNvSpPr/>
          <p:nvPr/>
        </p:nvSpPr>
        <p:spPr>
          <a:xfrm>
            <a:off x="8595360" y="3952240"/>
            <a:ext cx="1950720" cy="528320"/>
          </a:xfrm>
          <a:prstGeom prst="roundRect">
            <a:avLst/>
          </a:prstGeom>
          <a:noFill/>
          <a:ln w="41275">
            <a:solidFill>
              <a:srgbClr val="FF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TN"/>
          </a:p>
        </p:txBody>
      </p:sp>
      <p:pic>
        <p:nvPicPr>
          <p:cNvPr id="4" name="Image 3">
            <a:extLst>
              <a:ext uri="{FF2B5EF4-FFF2-40B4-BE49-F238E27FC236}">
                <a16:creationId xmlns:a16="http://schemas.microsoft.com/office/drawing/2014/main" id="{A031BA99-1A59-6EBE-7C46-4D11F9BD661A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552515" y="3429000"/>
            <a:ext cx="1993565" cy="573074"/>
          </a:xfrm>
          <a:prstGeom prst="rect">
            <a:avLst/>
          </a:prstGeom>
        </p:spPr>
      </p:pic>
      <p:pic>
        <p:nvPicPr>
          <p:cNvPr id="5" name="Image 4">
            <a:extLst>
              <a:ext uri="{FF2B5EF4-FFF2-40B4-BE49-F238E27FC236}">
                <a16:creationId xmlns:a16="http://schemas.microsoft.com/office/drawing/2014/main" id="{E9E8452F-A06C-0196-49AD-7FDCE6ED6083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176177" y="2156943"/>
            <a:ext cx="1993565" cy="573074"/>
          </a:xfrm>
          <a:prstGeom prst="rect">
            <a:avLst/>
          </a:prstGeom>
        </p:spPr>
      </p:pic>
      <p:sp>
        <p:nvSpPr>
          <p:cNvPr id="6" name="Rectangle : coins arrondis 5">
            <a:extLst>
              <a:ext uri="{FF2B5EF4-FFF2-40B4-BE49-F238E27FC236}">
                <a16:creationId xmlns:a16="http://schemas.microsoft.com/office/drawing/2014/main" id="{CDC48E37-7C8F-2CBA-23C9-5B2D549018CF}"/>
              </a:ext>
            </a:extLst>
          </p:cNvPr>
          <p:cNvSpPr/>
          <p:nvPr/>
        </p:nvSpPr>
        <p:spPr>
          <a:xfrm>
            <a:off x="6219022" y="1198880"/>
            <a:ext cx="1950720" cy="528320"/>
          </a:xfrm>
          <a:prstGeom prst="roundRect">
            <a:avLst/>
          </a:prstGeom>
          <a:noFill/>
          <a:ln w="41275">
            <a:solidFill>
              <a:srgbClr val="FF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TN"/>
          </a:p>
        </p:txBody>
      </p:sp>
      <p:pic>
        <p:nvPicPr>
          <p:cNvPr id="7" name="Image 6">
            <a:extLst>
              <a:ext uri="{FF2B5EF4-FFF2-40B4-BE49-F238E27FC236}">
                <a16:creationId xmlns:a16="http://schemas.microsoft.com/office/drawing/2014/main" id="{2D6C9891-6E39-ED77-C25B-B8E406131C66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176176" y="1583869"/>
            <a:ext cx="1993565" cy="573074"/>
          </a:xfrm>
          <a:prstGeom prst="rect">
            <a:avLst/>
          </a:prstGeom>
        </p:spPr>
      </p:pic>
      <p:pic>
        <p:nvPicPr>
          <p:cNvPr id="8" name="Image 7">
            <a:extLst>
              <a:ext uri="{FF2B5EF4-FFF2-40B4-BE49-F238E27FC236}">
                <a16:creationId xmlns:a16="http://schemas.microsoft.com/office/drawing/2014/main" id="{F6192FD3-2CD6-10CE-F5D8-480046100C15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841582" y="2556206"/>
            <a:ext cx="1993565" cy="57307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854924464"/>
      </p:ext>
    </p:extLst>
  </p:cSld>
  <p:clrMapOvr>
    <a:masterClrMapping/>
  </p:clrMapOvr>
</p:sld>
</file>

<file path=ppt/slides/slide7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D06CE16-AAD6-69D5-D7CB-78674FD9BD7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1">
            <a:extLst>
              <a:ext uri="{FF2B5EF4-FFF2-40B4-BE49-F238E27FC236}">
                <a16:creationId xmlns:a16="http://schemas.microsoft.com/office/drawing/2014/main" id="{D29DD6FF-6C06-192E-E532-9104E56C8773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191837" y="193183"/>
            <a:ext cx="10102935" cy="666601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60860646"/>
      </p:ext>
    </p:extLst>
  </p:cSld>
  <p:clrMapOvr>
    <a:masterClrMapping/>
  </p:clrMapOvr>
</p:sld>
</file>

<file path=ppt/slides/slide7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5B63299-7808-DFE0-8E4B-101E6765AF0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6802" name="Titre 1">
            <a:extLst>
              <a:ext uri="{FF2B5EF4-FFF2-40B4-BE49-F238E27FC236}">
                <a16:creationId xmlns:a16="http://schemas.microsoft.com/office/drawing/2014/main" id="{88803090-4511-74F4-B053-5F97CD7C7E1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fr-TN" altLang="fr-TN" dirty="0"/>
          </a:p>
        </p:txBody>
      </p:sp>
      <p:pic>
        <p:nvPicPr>
          <p:cNvPr id="76803" name="Espace réservé du contenu 4">
            <a:extLst>
              <a:ext uri="{FF2B5EF4-FFF2-40B4-BE49-F238E27FC236}">
                <a16:creationId xmlns:a16="http://schemas.microsoft.com/office/drawing/2014/main" id="{D1C55B60-727A-D33B-D5B2-F94D2A4CBD37}"/>
              </a:ext>
            </a:extLst>
          </p:cNvPr>
          <p:cNvPicPr>
            <a:picLocks noGrp="1" noChangeAspect="1" noChangeArrowheads="1"/>
          </p:cNvPicPr>
          <p:nvPr>
            <p:ph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695090" y="3009751"/>
            <a:ext cx="6954220" cy="2133898"/>
          </a:xfrm>
        </p:spPr>
      </p:pic>
      <p:pic>
        <p:nvPicPr>
          <p:cNvPr id="3" name="Image 2">
            <a:extLst>
              <a:ext uri="{FF2B5EF4-FFF2-40B4-BE49-F238E27FC236}">
                <a16:creationId xmlns:a16="http://schemas.microsoft.com/office/drawing/2014/main" id="{AC6DDDCF-DFDF-629E-36F9-338D738C93AA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848446" y="274638"/>
            <a:ext cx="5417477" cy="302561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164901846"/>
      </p:ext>
    </p:extLst>
  </p:cSld>
  <p:clrMapOvr>
    <a:masterClrMapping/>
  </p:clrMapOvr>
</p:sld>
</file>

<file path=ppt/slides/slide7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6CC86DF-9F69-9240-3440-4B460B0FD2F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>
            <a:extLst>
              <a:ext uri="{FF2B5EF4-FFF2-40B4-BE49-F238E27FC236}">
                <a16:creationId xmlns:a16="http://schemas.microsoft.com/office/drawing/2014/main" id="{9837620B-9649-2584-EFF7-E99806847CB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Autofit/>
          </a:bodyPr>
          <a:lstStyle/>
          <a:p>
            <a:pPr marL="342900" marR="0" lvl="0" indent="-342900" defTabSz="914400" rtl="0" eaLnBrk="1" fontAlgn="auto" latinLnBrk="0" hangingPunct="1">
              <a:lnSpc>
                <a:spcPct val="107000"/>
              </a:lnSpc>
              <a:spcBef>
                <a:spcPts val="1000"/>
              </a:spcBef>
              <a:spcAft>
                <a:spcPts val="200"/>
              </a:spcAft>
              <a:tabLst/>
              <a:defRPr/>
            </a:pPr>
            <a:r>
              <a:rPr kumimoji="0" lang="fr-FR" sz="3600" b="1" i="0" u="none" strike="noStrike" kern="1200" cap="none" spc="0" normalizeH="0" baseline="0" noProof="0" dirty="0">
                <a:ln>
                  <a:noFill/>
                </a:ln>
                <a:solidFill>
                  <a:srgbClr val="191B0E"/>
                </a:solidFill>
                <a:effectLst/>
                <a:uLnTx/>
                <a:uFillTx/>
                <a:latin typeface="Times New Roman" panose="02020603050405020304" pitchFamily="18" charset="0"/>
                <a:ea typeface="Calibri" panose="020F0502020204030204" pitchFamily="34" charset="0"/>
                <a:cs typeface="Arial" panose="020B0604020202020204" pitchFamily="34" charset="0"/>
              </a:rPr>
              <a:t>Le score de déshydratation d’Ahmed est estimé à  :</a:t>
            </a:r>
            <a:br>
              <a:rPr kumimoji="0" lang="fr-TN" sz="3600" b="0" i="0" u="none" strike="noStrike" kern="1200" cap="none" spc="0" normalizeH="0" baseline="0" noProof="0" dirty="0">
                <a:ln>
                  <a:noFill/>
                </a:ln>
                <a:solidFill>
                  <a:srgbClr val="191B0E"/>
                </a:solidFill>
                <a:effectLst/>
                <a:uLnTx/>
                <a:uFillTx/>
                <a:latin typeface="Calibri" panose="020F0502020204030204" pitchFamily="34" charset="0"/>
                <a:ea typeface="Calibri" panose="020F0502020204030204" pitchFamily="34" charset="0"/>
                <a:cs typeface="Arial" panose="020B0604020202020204" pitchFamily="34" charset="0"/>
              </a:rPr>
            </a:br>
            <a:endParaRPr lang="fr-TN" sz="3600" dirty="0"/>
          </a:p>
        </p:txBody>
      </p:sp>
      <p:sp>
        <p:nvSpPr>
          <p:cNvPr id="3" name="Espace réservé du contenu 2">
            <a:extLst>
              <a:ext uri="{FF2B5EF4-FFF2-40B4-BE49-F238E27FC236}">
                <a16:creationId xmlns:a16="http://schemas.microsoft.com/office/drawing/2014/main" id="{04605478-CB79-B30F-6FC5-4FC2043CE6B0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pPr marL="342900" lvl="0" indent="-342900">
              <a:lnSpc>
                <a:spcPct val="107000"/>
              </a:lnSpc>
              <a:buFont typeface="+mj-lt"/>
              <a:buAutoNum type="alphaUcPeriod"/>
            </a:pPr>
            <a:r>
              <a:rPr lang="fr-FR" sz="2400" dirty="0"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Arial" panose="020B0604020202020204" pitchFamily="34" charset="0"/>
              </a:rPr>
              <a:t>6</a:t>
            </a:r>
            <a:endParaRPr lang="fr-TN" sz="2400" dirty="0">
              <a:effectLst/>
              <a:latin typeface="Calibri" panose="020F0502020204030204" pitchFamily="34" charset="0"/>
              <a:ea typeface="Calibri" panose="020F0502020204030204" pitchFamily="34" charset="0"/>
              <a:cs typeface="Arial" panose="020B0604020202020204" pitchFamily="34" charset="0"/>
            </a:endParaRPr>
          </a:p>
          <a:p>
            <a:pPr marL="342900" lvl="0" indent="-342900">
              <a:lnSpc>
                <a:spcPct val="107000"/>
              </a:lnSpc>
              <a:buFont typeface="+mj-lt"/>
              <a:buAutoNum type="alphaUcPeriod"/>
            </a:pPr>
            <a:r>
              <a:rPr lang="fr-FR" sz="2400" dirty="0">
                <a:solidFill>
                  <a:srgbClr val="FF0000"/>
                </a:solidFill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Arial" panose="020B0604020202020204" pitchFamily="34" charset="0"/>
              </a:rPr>
              <a:t>7</a:t>
            </a:r>
            <a:endParaRPr lang="fr-TN" sz="2400" dirty="0">
              <a:solidFill>
                <a:srgbClr val="FF0000"/>
              </a:solidFill>
              <a:effectLst/>
              <a:latin typeface="Calibri" panose="020F0502020204030204" pitchFamily="34" charset="0"/>
              <a:ea typeface="Calibri" panose="020F0502020204030204" pitchFamily="34" charset="0"/>
              <a:cs typeface="Arial" panose="020B0604020202020204" pitchFamily="34" charset="0"/>
            </a:endParaRPr>
          </a:p>
          <a:p>
            <a:pPr marL="342900" lvl="0" indent="-342900">
              <a:lnSpc>
                <a:spcPct val="107000"/>
              </a:lnSpc>
              <a:buFont typeface="+mj-lt"/>
              <a:buAutoNum type="alphaUcPeriod"/>
            </a:pPr>
            <a:r>
              <a:rPr lang="fr-FR" sz="2400" dirty="0"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Arial" panose="020B0604020202020204" pitchFamily="34" charset="0"/>
              </a:rPr>
              <a:t>8</a:t>
            </a:r>
            <a:endParaRPr lang="fr-TN" sz="2400" dirty="0">
              <a:effectLst/>
              <a:latin typeface="Calibri" panose="020F0502020204030204" pitchFamily="34" charset="0"/>
              <a:ea typeface="Calibri" panose="020F0502020204030204" pitchFamily="34" charset="0"/>
              <a:cs typeface="Arial" panose="020B0604020202020204" pitchFamily="34" charset="0"/>
            </a:endParaRPr>
          </a:p>
          <a:p>
            <a:pPr marL="342900" lvl="0" indent="-342900">
              <a:lnSpc>
                <a:spcPct val="107000"/>
              </a:lnSpc>
              <a:buFont typeface="+mj-lt"/>
              <a:buAutoNum type="alphaUcPeriod"/>
            </a:pPr>
            <a:r>
              <a:rPr lang="fr-FR" sz="2400" dirty="0"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Arial" panose="020B0604020202020204" pitchFamily="34" charset="0"/>
              </a:rPr>
              <a:t>9</a:t>
            </a:r>
            <a:endParaRPr lang="fr-TN" sz="2400" dirty="0">
              <a:effectLst/>
              <a:latin typeface="Calibri" panose="020F0502020204030204" pitchFamily="34" charset="0"/>
              <a:ea typeface="Calibri" panose="020F0502020204030204" pitchFamily="34" charset="0"/>
              <a:cs typeface="Arial" panose="020B0604020202020204" pitchFamily="34" charset="0"/>
            </a:endParaRPr>
          </a:p>
          <a:p>
            <a:pPr marL="342900" lvl="0" indent="-342900">
              <a:lnSpc>
                <a:spcPct val="107000"/>
              </a:lnSpc>
              <a:spcAft>
                <a:spcPts val="800"/>
              </a:spcAft>
              <a:buFont typeface="+mj-lt"/>
              <a:buAutoNum type="alphaUcPeriod"/>
            </a:pPr>
            <a:r>
              <a:rPr lang="fr-FR" sz="2400" dirty="0"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Arial" panose="020B0604020202020204" pitchFamily="34" charset="0"/>
              </a:rPr>
              <a:t>10</a:t>
            </a:r>
            <a:endParaRPr lang="fr-TN" sz="2400" dirty="0">
              <a:effectLst/>
              <a:latin typeface="Calibri" panose="020F0502020204030204" pitchFamily="34" charset="0"/>
              <a:ea typeface="Calibri" panose="020F0502020204030204" pitchFamily="34" charset="0"/>
              <a:cs typeface="Arial" panose="020B0604020202020204" pitchFamily="34" charset="0"/>
            </a:endParaRPr>
          </a:p>
          <a:p>
            <a:endParaRPr lang="fr-TN" sz="2400" dirty="0"/>
          </a:p>
        </p:txBody>
      </p:sp>
    </p:spTree>
    <p:extLst>
      <p:ext uri="{BB962C8B-B14F-4D97-AF65-F5344CB8AC3E}">
        <p14:creationId xmlns:p14="http://schemas.microsoft.com/office/powerpoint/2010/main" val="1199773427"/>
      </p:ext>
    </p:extLst>
  </p:cSld>
  <p:clrMapOvr>
    <a:masterClrMapping/>
  </p:clrMapOvr>
</p:sld>
</file>

<file path=ppt/slides/slide7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>
            <a:extLst>
              <a:ext uri="{FF2B5EF4-FFF2-40B4-BE49-F238E27FC236}">
                <a16:creationId xmlns:a16="http://schemas.microsoft.com/office/drawing/2014/main" id="{1AA928D9-63D2-4398-D056-7B013FC96B0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pPr marL="342900" marR="0" lvl="0" indent="-342900" defTabSz="914400" rtl="0" eaLnBrk="1" fontAlgn="auto" latinLnBrk="0" hangingPunct="1">
              <a:lnSpc>
                <a:spcPct val="107000"/>
              </a:lnSpc>
              <a:spcBef>
                <a:spcPts val="1000"/>
              </a:spcBef>
              <a:spcAft>
                <a:spcPts val="200"/>
              </a:spcAft>
              <a:tabLst/>
              <a:defRPr/>
            </a:pPr>
            <a:r>
              <a:rPr kumimoji="0" lang="fr-FR" sz="3200" b="1" i="0" u="none" strike="noStrike" kern="1200" cap="none" spc="0" normalizeH="0" baseline="0" noProof="0" dirty="0">
                <a:ln>
                  <a:noFill/>
                </a:ln>
                <a:solidFill>
                  <a:srgbClr val="191B0E"/>
                </a:solidFill>
                <a:effectLst/>
                <a:uLnTx/>
                <a:uFillTx/>
                <a:latin typeface="Times New Roman" panose="02020603050405020304" pitchFamily="18" charset="0"/>
                <a:ea typeface="Calibri" panose="020F0502020204030204" pitchFamily="34" charset="0"/>
                <a:cs typeface="Arial" panose="020B0604020202020204" pitchFamily="34" charset="0"/>
              </a:rPr>
              <a:t>Il s’agit d’une déshydratation :</a:t>
            </a:r>
            <a:br>
              <a:rPr kumimoji="0" lang="fr-TN" sz="3200" b="0" i="0" u="none" strike="noStrike" kern="1200" cap="none" spc="0" normalizeH="0" baseline="0" noProof="0" dirty="0">
                <a:ln>
                  <a:noFill/>
                </a:ln>
                <a:solidFill>
                  <a:srgbClr val="191B0E"/>
                </a:solidFill>
                <a:effectLst/>
                <a:uLnTx/>
                <a:uFillTx/>
                <a:latin typeface="Calibri" panose="020F0502020204030204" pitchFamily="34" charset="0"/>
                <a:ea typeface="Calibri" panose="020F0502020204030204" pitchFamily="34" charset="0"/>
                <a:cs typeface="Arial" panose="020B0604020202020204" pitchFamily="34" charset="0"/>
              </a:rPr>
            </a:br>
            <a:endParaRPr lang="fr-TN" sz="3200" dirty="0"/>
          </a:p>
        </p:txBody>
      </p:sp>
      <p:sp>
        <p:nvSpPr>
          <p:cNvPr id="3" name="Espace réservé du contenu 2">
            <a:extLst>
              <a:ext uri="{FF2B5EF4-FFF2-40B4-BE49-F238E27FC236}">
                <a16:creationId xmlns:a16="http://schemas.microsoft.com/office/drawing/2014/main" id="{48C40E94-AF37-5B20-3AF3-C3169C5CAF42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pPr marL="342900" lvl="0" indent="-342900">
              <a:lnSpc>
                <a:spcPct val="107000"/>
              </a:lnSpc>
              <a:buFont typeface="+mj-lt"/>
              <a:buAutoNum type="alphaUcPeriod"/>
            </a:pPr>
            <a:r>
              <a:rPr lang="fr-FR" sz="2400" dirty="0"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Arial" panose="020B0604020202020204" pitchFamily="34" charset="0"/>
              </a:rPr>
              <a:t>Stade II avec un score à 7 </a:t>
            </a:r>
            <a:endParaRPr lang="fr-TN" sz="2400" dirty="0">
              <a:effectLst/>
              <a:latin typeface="Calibri" panose="020F0502020204030204" pitchFamily="34" charset="0"/>
              <a:ea typeface="Calibri" panose="020F0502020204030204" pitchFamily="34" charset="0"/>
              <a:cs typeface="Arial" panose="020B0604020202020204" pitchFamily="34" charset="0"/>
            </a:endParaRPr>
          </a:p>
          <a:p>
            <a:pPr marL="342900" lvl="0" indent="-342900">
              <a:lnSpc>
                <a:spcPct val="107000"/>
              </a:lnSpc>
              <a:buFont typeface="+mj-lt"/>
              <a:buAutoNum type="alphaUcPeriod"/>
            </a:pPr>
            <a:r>
              <a:rPr lang="fr-FR" sz="2400" dirty="0"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Arial" panose="020B0604020202020204" pitchFamily="34" charset="0"/>
              </a:rPr>
              <a:t>Stade II avec une perte pondérale de 10 %</a:t>
            </a:r>
            <a:endParaRPr lang="fr-TN" sz="2400" dirty="0">
              <a:effectLst/>
              <a:latin typeface="Calibri" panose="020F0502020204030204" pitchFamily="34" charset="0"/>
              <a:ea typeface="Calibri" panose="020F0502020204030204" pitchFamily="34" charset="0"/>
              <a:cs typeface="Arial" panose="020B0604020202020204" pitchFamily="34" charset="0"/>
            </a:endParaRPr>
          </a:p>
          <a:p>
            <a:pPr marL="342900" lvl="0" indent="-342900">
              <a:lnSpc>
                <a:spcPct val="107000"/>
              </a:lnSpc>
              <a:buFont typeface="+mj-lt"/>
              <a:buAutoNum type="alphaUcPeriod"/>
            </a:pPr>
            <a:r>
              <a:rPr lang="fr-FR" sz="2400" dirty="0"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Arial" panose="020B0604020202020204" pitchFamily="34" charset="0"/>
              </a:rPr>
              <a:t>Stade II avec un score à 8</a:t>
            </a:r>
            <a:endParaRPr lang="fr-TN" sz="2400" dirty="0">
              <a:effectLst/>
              <a:latin typeface="Calibri" panose="020F0502020204030204" pitchFamily="34" charset="0"/>
              <a:ea typeface="Calibri" panose="020F0502020204030204" pitchFamily="34" charset="0"/>
              <a:cs typeface="Arial" panose="020B0604020202020204" pitchFamily="34" charset="0"/>
            </a:endParaRPr>
          </a:p>
          <a:p>
            <a:pPr marL="342900" lvl="0" indent="-342900">
              <a:lnSpc>
                <a:spcPct val="107000"/>
              </a:lnSpc>
              <a:buFont typeface="+mj-lt"/>
              <a:buAutoNum type="alphaUcPeriod"/>
            </a:pPr>
            <a:r>
              <a:rPr lang="fr-FR" sz="2400" dirty="0"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Arial" panose="020B0604020202020204" pitchFamily="34" charset="0"/>
              </a:rPr>
              <a:t>Stade II avec une perte de 9%</a:t>
            </a:r>
            <a:endParaRPr lang="fr-TN" sz="2400" dirty="0">
              <a:effectLst/>
              <a:latin typeface="Calibri" panose="020F0502020204030204" pitchFamily="34" charset="0"/>
              <a:ea typeface="Calibri" panose="020F0502020204030204" pitchFamily="34" charset="0"/>
              <a:cs typeface="Arial" panose="020B0604020202020204" pitchFamily="34" charset="0"/>
            </a:endParaRPr>
          </a:p>
          <a:p>
            <a:pPr marL="342900" lvl="0" indent="-342900">
              <a:lnSpc>
                <a:spcPct val="107000"/>
              </a:lnSpc>
              <a:spcAft>
                <a:spcPts val="800"/>
              </a:spcAft>
              <a:buFont typeface="+mj-lt"/>
              <a:buAutoNum type="alphaUcPeriod"/>
            </a:pPr>
            <a:r>
              <a:rPr lang="fr-FR" sz="2400" dirty="0"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Arial" panose="020B0604020202020204" pitchFamily="34" charset="0"/>
              </a:rPr>
              <a:t>Stade III avec un score à 9</a:t>
            </a:r>
            <a:endParaRPr lang="fr-TN" sz="2400" dirty="0">
              <a:effectLst/>
              <a:latin typeface="Calibri" panose="020F0502020204030204" pitchFamily="34" charset="0"/>
              <a:ea typeface="Calibri" panose="020F0502020204030204" pitchFamily="34" charset="0"/>
              <a:cs typeface="Arial" panose="020B0604020202020204" pitchFamily="34" charset="0"/>
            </a:endParaRPr>
          </a:p>
          <a:p>
            <a:pPr>
              <a:lnSpc>
                <a:spcPct val="107000"/>
              </a:lnSpc>
              <a:spcAft>
                <a:spcPts val="800"/>
              </a:spcAft>
              <a:buNone/>
            </a:pPr>
            <a:r>
              <a:rPr lang="fr-FR" sz="2400" dirty="0">
                <a:solidFill>
                  <a:srgbClr val="EE0000"/>
                </a:solidFill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Arial" panose="020B0604020202020204" pitchFamily="34" charset="0"/>
              </a:rPr>
              <a:t> </a:t>
            </a:r>
            <a:endParaRPr lang="fr-TN" sz="2400" dirty="0">
              <a:effectLst/>
              <a:latin typeface="Calibri" panose="020F0502020204030204" pitchFamily="34" charset="0"/>
              <a:ea typeface="Calibri" panose="020F0502020204030204" pitchFamily="34" charset="0"/>
              <a:cs typeface="Arial" panose="020B0604020202020204" pitchFamily="34" charset="0"/>
            </a:endParaRPr>
          </a:p>
          <a:p>
            <a:endParaRPr lang="fr-TN" sz="2400" dirty="0"/>
          </a:p>
        </p:txBody>
      </p:sp>
    </p:spTree>
    <p:extLst>
      <p:ext uri="{BB962C8B-B14F-4D97-AF65-F5344CB8AC3E}">
        <p14:creationId xmlns:p14="http://schemas.microsoft.com/office/powerpoint/2010/main" val="922871275"/>
      </p:ext>
    </p:extLst>
  </p:cSld>
  <p:clrMapOvr>
    <a:masterClrMapping/>
  </p:clrMapOvr>
</p:sld>
</file>

<file path=ppt/slides/slide7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A93F412-B72D-F969-DFB5-E10DBCE7787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>
            <a:extLst>
              <a:ext uri="{FF2B5EF4-FFF2-40B4-BE49-F238E27FC236}">
                <a16:creationId xmlns:a16="http://schemas.microsoft.com/office/drawing/2014/main" id="{34A17D12-9474-DB1A-52B3-FC9E0347DD8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pPr marL="342900" marR="0" lvl="0" indent="-342900" defTabSz="914400" rtl="0" eaLnBrk="1" fontAlgn="auto" latinLnBrk="0" hangingPunct="1">
              <a:lnSpc>
                <a:spcPct val="107000"/>
              </a:lnSpc>
              <a:spcBef>
                <a:spcPts val="1000"/>
              </a:spcBef>
              <a:spcAft>
                <a:spcPts val="200"/>
              </a:spcAft>
              <a:tabLst/>
              <a:defRPr/>
            </a:pPr>
            <a:r>
              <a:rPr kumimoji="0" lang="fr-FR" sz="3200" b="1" i="0" u="none" strike="noStrike" kern="1200" cap="none" spc="0" normalizeH="0" baseline="0" noProof="0" dirty="0">
                <a:ln>
                  <a:noFill/>
                </a:ln>
                <a:solidFill>
                  <a:srgbClr val="191B0E"/>
                </a:solidFill>
                <a:effectLst/>
                <a:uLnTx/>
                <a:uFillTx/>
                <a:latin typeface="Times New Roman" panose="02020603050405020304" pitchFamily="18" charset="0"/>
                <a:ea typeface="Calibri" panose="020F0502020204030204" pitchFamily="34" charset="0"/>
                <a:cs typeface="Arial" panose="020B0604020202020204" pitchFamily="34" charset="0"/>
              </a:rPr>
              <a:t>Il s’agit d’une déshydratation :</a:t>
            </a:r>
            <a:br>
              <a:rPr kumimoji="0" lang="fr-TN" sz="3200" b="0" i="0" u="none" strike="noStrike" kern="1200" cap="none" spc="0" normalizeH="0" baseline="0" noProof="0" dirty="0">
                <a:ln>
                  <a:noFill/>
                </a:ln>
                <a:solidFill>
                  <a:srgbClr val="191B0E"/>
                </a:solidFill>
                <a:effectLst/>
                <a:uLnTx/>
                <a:uFillTx/>
                <a:latin typeface="Calibri" panose="020F0502020204030204" pitchFamily="34" charset="0"/>
                <a:ea typeface="Calibri" panose="020F0502020204030204" pitchFamily="34" charset="0"/>
                <a:cs typeface="Arial" panose="020B0604020202020204" pitchFamily="34" charset="0"/>
              </a:rPr>
            </a:br>
            <a:endParaRPr lang="fr-TN" sz="3200" dirty="0"/>
          </a:p>
        </p:txBody>
      </p:sp>
      <p:sp>
        <p:nvSpPr>
          <p:cNvPr id="3" name="Espace réservé du contenu 2">
            <a:extLst>
              <a:ext uri="{FF2B5EF4-FFF2-40B4-BE49-F238E27FC236}">
                <a16:creationId xmlns:a16="http://schemas.microsoft.com/office/drawing/2014/main" id="{84C564FB-8795-408D-4EAE-9E7BE7701F1C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pPr marL="342900" lvl="0" indent="-342900">
              <a:lnSpc>
                <a:spcPct val="107000"/>
              </a:lnSpc>
              <a:buFont typeface="+mj-lt"/>
              <a:buAutoNum type="alphaUcPeriod"/>
            </a:pPr>
            <a:r>
              <a:rPr lang="fr-FR" sz="2400" dirty="0">
                <a:solidFill>
                  <a:srgbClr val="FF0000"/>
                </a:solidFill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Arial" panose="020B0604020202020204" pitchFamily="34" charset="0"/>
              </a:rPr>
              <a:t>Stade II avec un score à 7 </a:t>
            </a:r>
            <a:endParaRPr lang="fr-TN" sz="2400" dirty="0">
              <a:solidFill>
                <a:srgbClr val="FF0000"/>
              </a:solidFill>
              <a:effectLst/>
              <a:latin typeface="Calibri" panose="020F0502020204030204" pitchFamily="34" charset="0"/>
              <a:ea typeface="Calibri" panose="020F0502020204030204" pitchFamily="34" charset="0"/>
              <a:cs typeface="Arial" panose="020B0604020202020204" pitchFamily="34" charset="0"/>
            </a:endParaRPr>
          </a:p>
          <a:p>
            <a:pPr marL="342900" lvl="0" indent="-342900">
              <a:lnSpc>
                <a:spcPct val="107000"/>
              </a:lnSpc>
              <a:buFont typeface="+mj-lt"/>
              <a:buAutoNum type="alphaUcPeriod"/>
            </a:pPr>
            <a:r>
              <a:rPr lang="fr-FR" sz="2400" dirty="0">
                <a:solidFill>
                  <a:srgbClr val="FF0000"/>
                </a:solidFill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Arial" panose="020B0604020202020204" pitchFamily="34" charset="0"/>
              </a:rPr>
              <a:t>Stade II avec une perte pondérale de 10 %</a:t>
            </a:r>
            <a:endParaRPr lang="fr-TN" sz="2400" dirty="0">
              <a:solidFill>
                <a:srgbClr val="FF0000"/>
              </a:solidFill>
              <a:effectLst/>
              <a:latin typeface="Calibri" panose="020F0502020204030204" pitchFamily="34" charset="0"/>
              <a:ea typeface="Calibri" panose="020F0502020204030204" pitchFamily="34" charset="0"/>
              <a:cs typeface="Arial" panose="020B0604020202020204" pitchFamily="34" charset="0"/>
            </a:endParaRPr>
          </a:p>
          <a:p>
            <a:pPr marL="342900" lvl="0" indent="-342900">
              <a:lnSpc>
                <a:spcPct val="107000"/>
              </a:lnSpc>
              <a:buFont typeface="+mj-lt"/>
              <a:buAutoNum type="alphaUcPeriod"/>
            </a:pPr>
            <a:r>
              <a:rPr lang="fr-FR" sz="2400" dirty="0"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Arial" panose="020B0604020202020204" pitchFamily="34" charset="0"/>
              </a:rPr>
              <a:t>Stade II avec un score à 8</a:t>
            </a:r>
            <a:endParaRPr lang="fr-TN" sz="2400" dirty="0">
              <a:effectLst/>
              <a:latin typeface="Calibri" panose="020F0502020204030204" pitchFamily="34" charset="0"/>
              <a:ea typeface="Calibri" panose="020F0502020204030204" pitchFamily="34" charset="0"/>
              <a:cs typeface="Arial" panose="020B0604020202020204" pitchFamily="34" charset="0"/>
            </a:endParaRPr>
          </a:p>
          <a:p>
            <a:pPr marL="342900" lvl="0" indent="-342900">
              <a:lnSpc>
                <a:spcPct val="107000"/>
              </a:lnSpc>
              <a:buFont typeface="+mj-lt"/>
              <a:buAutoNum type="alphaUcPeriod"/>
            </a:pPr>
            <a:r>
              <a:rPr lang="fr-FR" sz="2400" dirty="0"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Arial" panose="020B0604020202020204" pitchFamily="34" charset="0"/>
              </a:rPr>
              <a:t>Stade II avec une perte de 9%</a:t>
            </a:r>
            <a:endParaRPr lang="fr-TN" sz="2400" dirty="0">
              <a:effectLst/>
              <a:latin typeface="Calibri" panose="020F0502020204030204" pitchFamily="34" charset="0"/>
              <a:ea typeface="Calibri" panose="020F0502020204030204" pitchFamily="34" charset="0"/>
              <a:cs typeface="Arial" panose="020B0604020202020204" pitchFamily="34" charset="0"/>
            </a:endParaRPr>
          </a:p>
          <a:p>
            <a:pPr marL="342900" lvl="0" indent="-342900">
              <a:lnSpc>
                <a:spcPct val="107000"/>
              </a:lnSpc>
              <a:spcAft>
                <a:spcPts val="800"/>
              </a:spcAft>
              <a:buFont typeface="+mj-lt"/>
              <a:buAutoNum type="alphaUcPeriod"/>
            </a:pPr>
            <a:r>
              <a:rPr lang="fr-FR" sz="2400" dirty="0"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Arial" panose="020B0604020202020204" pitchFamily="34" charset="0"/>
              </a:rPr>
              <a:t>Stade III avec un score à 9</a:t>
            </a:r>
            <a:endParaRPr lang="fr-TN" sz="2400" dirty="0">
              <a:effectLst/>
              <a:latin typeface="Calibri" panose="020F0502020204030204" pitchFamily="34" charset="0"/>
              <a:ea typeface="Calibri" panose="020F0502020204030204" pitchFamily="34" charset="0"/>
              <a:cs typeface="Arial" panose="020B0604020202020204" pitchFamily="34" charset="0"/>
            </a:endParaRPr>
          </a:p>
          <a:p>
            <a:pPr>
              <a:lnSpc>
                <a:spcPct val="107000"/>
              </a:lnSpc>
              <a:spcAft>
                <a:spcPts val="800"/>
              </a:spcAft>
              <a:buNone/>
            </a:pPr>
            <a:r>
              <a:rPr lang="fr-FR" sz="2400" dirty="0">
                <a:solidFill>
                  <a:srgbClr val="EE0000"/>
                </a:solidFill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Arial" panose="020B0604020202020204" pitchFamily="34" charset="0"/>
              </a:rPr>
              <a:t> </a:t>
            </a:r>
            <a:endParaRPr lang="fr-TN" sz="2400" dirty="0">
              <a:effectLst/>
              <a:latin typeface="Calibri" panose="020F0502020204030204" pitchFamily="34" charset="0"/>
              <a:ea typeface="Calibri" panose="020F0502020204030204" pitchFamily="34" charset="0"/>
              <a:cs typeface="Arial" panose="020B0604020202020204" pitchFamily="34" charset="0"/>
            </a:endParaRPr>
          </a:p>
          <a:p>
            <a:endParaRPr lang="fr-TN" sz="2400" dirty="0"/>
          </a:p>
        </p:txBody>
      </p:sp>
    </p:spTree>
    <p:extLst>
      <p:ext uri="{BB962C8B-B14F-4D97-AF65-F5344CB8AC3E}">
        <p14:creationId xmlns:p14="http://schemas.microsoft.com/office/powerpoint/2010/main" val="2220201210"/>
      </p:ext>
    </p:extLst>
  </p:cSld>
  <p:clrMapOvr>
    <a:masterClrMapping/>
  </p:clrMapOvr>
</p:sld>
</file>

<file path=ppt/slides/slide7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>
            <a:extLst>
              <a:ext uri="{FF2B5EF4-FFF2-40B4-BE49-F238E27FC236}">
                <a16:creationId xmlns:a16="http://schemas.microsoft.com/office/drawing/2014/main" id="{F45A6DB0-F5BD-EEBF-A8FF-AFB4F254029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marL="342900" lvl="0" indent="-342900" rtl="0">
              <a:lnSpc>
                <a:spcPct val="107000"/>
              </a:lnSpc>
              <a:spcAft>
                <a:spcPts val="800"/>
              </a:spcAft>
            </a:pPr>
            <a:r>
              <a:rPr lang="fr-FR" sz="4400" b="1" dirty="0"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Arial" panose="020B0604020202020204" pitchFamily="34" charset="0"/>
              </a:rPr>
              <a:t>4-La prise en charge consiste à :</a:t>
            </a:r>
            <a:br>
              <a:rPr lang="fr-TN" sz="3600" dirty="0">
                <a:effectLst/>
                <a:latin typeface="Calibri" panose="020F0502020204030204" pitchFamily="34" charset="0"/>
                <a:ea typeface="Calibri" panose="020F0502020204030204" pitchFamily="34" charset="0"/>
                <a:cs typeface="Arial" panose="020B0604020202020204" pitchFamily="34" charset="0"/>
              </a:rPr>
            </a:br>
            <a:endParaRPr lang="fr-TN" dirty="0"/>
          </a:p>
        </p:txBody>
      </p:sp>
      <p:sp>
        <p:nvSpPr>
          <p:cNvPr id="3" name="Espace réservé du contenu 2">
            <a:extLst>
              <a:ext uri="{FF2B5EF4-FFF2-40B4-BE49-F238E27FC236}">
                <a16:creationId xmlns:a16="http://schemas.microsoft.com/office/drawing/2014/main" id="{D88736F3-3048-9952-B5EC-C782F4D6059C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pPr marL="342900" lvl="0" indent="-342900" rtl="0">
              <a:lnSpc>
                <a:spcPct val="107000"/>
              </a:lnSpc>
              <a:buFont typeface="+mj-lt"/>
              <a:buAutoNum type="alphaUcPeriod"/>
            </a:pPr>
            <a:r>
              <a:rPr lang="fr-FR" sz="2400" dirty="0"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Arial" panose="020B0604020202020204" pitchFamily="34" charset="0"/>
              </a:rPr>
              <a:t>Hospitaliser en urgence </a:t>
            </a:r>
            <a:endParaRPr lang="fr-TN" sz="2400" dirty="0">
              <a:effectLst/>
              <a:latin typeface="Calibri" panose="020F0502020204030204" pitchFamily="34" charset="0"/>
              <a:ea typeface="Calibri" panose="020F0502020204030204" pitchFamily="34" charset="0"/>
              <a:cs typeface="Arial" panose="020B0604020202020204" pitchFamily="34" charset="0"/>
            </a:endParaRPr>
          </a:p>
          <a:p>
            <a:pPr marL="342900" lvl="0" indent="-342900">
              <a:lnSpc>
                <a:spcPct val="107000"/>
              </a:lnSpc>
              <a:buFont typeface="+mj-lt"/>
              <a:buAutoNum type="alphaUcPeriod"/>
            </a:pPr>
            <a:r>
              <a:rPr lang="fr-FR" sz="2400" dirty="0"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Arial" panose="020B0604020202020204" pitchFamily="34" charset="0"/>
              </a:rPr>
              <a:t>Indiquer une réhydratation parentérale</a:t>
            </a:r>
            <a:endParaRPr lang="fr-TN" sz="2400" dirty="0">
              <a:effectLst/>
              <a:latin typeface="Calibri" panose="020F0502020204030204" pitchFamily="34" charset="0"/>
              <a:ea typeface="Calibri" panose="020F0502020204030204" pitchFamily="34" charset="0"/>
              <a:cs typeface="Arial" panose="020B0604020202020204" pitchFamily="34" charset="0"/>
            </a:endParaRPr>
          </a:p>
          <a:p>
            <a:pPr marL="342900" lvl="0" indent="-342900">
              <a:lnSpc>
                <a:spcPct val="107000"/>
              </a:lnSpc>
              <a:buFont typeface="+mj-lt"/>
              <a:buAutoNum type="alphaUcPeriod"/>
            </a:pPr>
            <a:r>
              <a:rPr lang="fr-FR" sz="2400" dirty="0"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Arial" panose="020B0604020202020204" pitchFamily="34" charset="0"/>
              </a:rPr>
              <a:t>Conseiller l’allaitement maternel avec la réhydratation</a:t>
            </a:r>
            <a:endParaRPr lang="fr-TN" sz="2400" dirty="0">
              <a:effectLst/>
              <a:latin typeface="Calibri" panose="020F0502020204030204" pitchFamily="34" charset="0"/>
              <a:ea typeface="Calibri" panose="020F0502020204030204" pitchFamily="34" charset="0"/>
              <a:cs typeface="Arial" panose="020B0604020202020204" pitchFamily="34" charset="0"/>
            </a:endParaRPr>
          </a:p>
          <a:p>
            <a:pPr marL="342900" lvl="0" indent="-342900">
              <a:lnSpc>
                <a:spcPct val="107000"/>
              </a:lnSpc>
              <a:buFont typeface="+mj-lt"/>
              <a:buAutoNum type="alphaUcPeriod"/>
            </a:pPr>
            <a:r>
              <a:rPr lang="fr-FR" sz="2400" dirty="0"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Arial" panose="020B0604020202020204" pitchFamily="34" charset="0"/>
              </a:rPr>
              <a:t>Mettre une sonde nasogastrique d’emblée  pour la réhydratation</a:t>
            </a:r>
            <a:endParaRPr lang="fr-TN" sz="2400" dirty="0">
              <a:effectLst/>
              <a:latin typeface="Calibri" panose="020F0502020204030204" pitchFamily="34" charset="0"/>
              <a:ea typeface="Calibri" panose="020F0502020204030204" pitchFamily="34" charset="0"/>
              <a:cs typeface="Arial" panose="020B0604020202020204" pitchFamily="34" charset="0"/>
            </a:endParaRPr>
          </a:p>
          <a:p>
            <a:pPr marL="342900" lvl="0" indent="-342900">
              <a:lnSpc>
                <a:spcPct val="107000"/>
              </a:lnSpc>
              <a:spcAft>
                <a:spcPts val="800"/>
              </a:spcAft>
              <a:buFont typeface="+mj-lt"/>
              <a:buAutoNum type="alphaUcPeriod"/>
            </a:pPr>
            <a:r>
              <a:rPr lang="fr-FR" sz="2400" dirty="0"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Arial" panose="020B0604020202020204" pitchFamily="34" charset="0"/>
              </a:rPr>
              <a:t>Indiquer la réhydratation orale par SRO aux urgences</a:t>
            </a:r>
            <a:endParaRPr lang="fr-TN" sz="2400" dirty="0">
              <a:effectLst/>
              <a:latin typeface="Calibri" panose="020F0502020204030204" pitchFamily="34" charset="0"/>
              <a:ea typeface="Calibri" panose="020F0502020204030204" pitchFamily="34" charset="0"/>
              <a:cs typeface="Arial" panose="020B0604020202020204" pitchFamily="34" charset="0"/>
            </a:endParaRPr>
          </a:p>
          <a:p>
            <a:endParaRPr lang="fr-TN" sz="2400" dirty="0"/>
          </a:p>
        </p:txBody>
      </p:sp>
    </p:spTree>
    <p:extLst>
      <p:ext uri="{BB962C8B-B14F-4D97-AF65-F5344CB8AC3E}">
        <p14:creationId xmlns:p14="http://schemas.microsoft.com/office/powerpoint/2010/main" val="920016719"/>
      </p:ext>
    </p:extLst>
  </p:cSld>
  <p:clrMapOvr>
    <a:masterClrMapping/>
  </p:clrMapOvr>
</p:sld>
</file>

<file path=ppt/slides/slide7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8BB2A2E-C3D1-07C4-32D9-00257EF2297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>
            <a:extLst>
              <a:ext uri="{FF2B5EF4-FFF2-40B4-BE49-F238E27FC236}">
                <a16:creationId xmlns:a16="http://schemas.microsoft.com/office/drawing/2014/main" id="{11835A87-1142-A809-A2D9-35329E62DCC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marL="342900" lvl="0" indent="-342900" rtl="0">
              <a:lnSpc>
                <a:spcPct val="107000"/>
              </a:lnSpc>
              <a:spcAft>
                <a:spcPts val="800"/>
              </a:spcAft>
            </a:pPr>
            <a:r>
              <a:rPr lang="fr-FR" sz="4400" b="1" dirty="0"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Arial" panose="020B0604020202020204" pitchFamily="34" charset="0"/>
              </a:rPr>
              <a:t>4-La prise en charge consiste à :</a:t>
            </a:r>
            <a:br>
              <a:rPr lang="fr-TN" sz="3600" dirty="0">
                <a:effectLst/>
                <a:latin typeface="Calibri" panose="020F0502020204030204" pitchFamily="34" charset="0"/>
                <a:ea typeface="Calibri" panose="020F0502020204030204" pitchFamily="34" charset="0"/>
                <a:cs typeface="Arial" panose="020B0604020202020204" pitchFamily="34" charset="0"/>
              </a:rPr>
            </a:br>
            <a:endParaRPr lang="fr-TN" dirty="0"/>
          </a:p>
        </p:txBody>
      </p:sp>
      <p:sp>
        <p:nvSpPr>
          <p:cNvPr id="3" name="Espace réservé du contenu 2">
            <a:extLst>
              <a:ext uri="{FF2B5EF4-FFF2-40B4-BE49-F238E27FC236}">
                <a16:creationId xmlns:a16="http://schemas.microsoft.com/office/drawing/2014/main" id="{0439C530-DCEE-3188-F621-AFDCD441FB4C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pPr marL="342900" lvl="0" indent="-342900" rtl="0">
              <a:lnSpc>
                <a:spcPct val="107000"/>
              </a:lnSpc>
              <a:buFont typeface="+mj-lt"/>
              <a:buAutoNum type="alphaUcPeriod"/>
            </a:pPr>
            <a:r>
              <a:rPr lang="fr-FR" sz="2400" dirty="0">
                <a:solidFill>
                  <a:srgbClr val="FF0000"/>
                </a:solidFill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Arial" panose="020B0604020202020204" pitchFamily="34" charset="0"/>
              </a:rPr>
              <a:t>Hospitaliser en urgence </a:t>
            </a:r>
            <a:endParaRPr lang="fr-TN" sz="2400" dirty="0">
              <a:solidFill>
                <a:srgbClr val="FF0000"/>
              </a:solidFill>
              <a:effectLst/>
              <a:latin typeface="Calibri" panose="020F0502020204030204" pitchFamily="34" charset="0"/>
              <a:ea typeface="Calibri" panose="020F0502020204030204" pitchFamily="34" charset="0"/>
              <a:cs typeface="Arial" panose="020B0604020202020204" pitchFamily="34" charset="0"/>
            </a:endParaRPr>
          </a:p>
          <a:p>
            <a:pPr marL="342900" lvl="0" indent="-342900">
              <a:lnSpc>
                <a:spcPct val="107000"/>
              </a:lnSpc>
              <a:buFont typeface="+mj-lt"/>
              <a:buAutoNum type="alphaUcPeriod"/>
            </a:pPr>
            <a:r>
              <a:rPr lang="fr-FR" sz="2400" dirty="0"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Arial" panose="020B0604020202020204" pitchFamily="34" charset="0"/>
              </a:rPr>
              <a:t>Indiquer une réhydratation parentérale</a:t>
            </a:r>
            <a:endParaRPr lang="fr-TN" sz="2400" dirty="0">
              <a:effectLst/>
              <a:latin typeface="Calibri" panose="020F0502020204030204" pitchFamily="34" charset="0"/>
              <a:ea typeface="Calibri" panose="020F0502020204030204" pitchFamily="34" charset="0"/>
              <a:cs typeface="Arial" panose="020B0604020202020204" pitchFamily="34" charset="0"/>
            </a:endParaRPr>
          </a:p>
          <a:p>
            <a:pPr marL="342900" lvl="0" indent="-342900">
              <a:lnSpc>
                <a:spcPct val="107000"/>
              </a:lnSpc>
              <a:buFont typeface="+mj-lt"/>
              <a:buAutoNum type="alphaUcPeriod"/>
            </a:pPr>
            <a:r>
              <a:rPr lang="fr-FR" sz="2400" dirty="0">
                <a:solidFill>
                  <a:srgbClr val="FF0000"/>
                </a:solidFill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Arial" panose="020B0604020202020204" pitchFamily="34" charset="0"/>
              </a:rPr>
              <a:t>Conseiller l’allaitement maternel avec la réhydratation</a:t>
            </a:r>
            <a:endParaRPr lang="fr-TN" sz="2400" dirty="0">
              <a:solidFill>
                <a:srgbClr val="FF0000"/>
              </a:solidFill>
              <a:effectLst/>
              <a:latin typeface="Calibri" panose="020F0502020204030204" pitchFamily="34" charset="0"/>
              <a:ea typeface="Calibri" panose="020F0502020204030204" pitchFamily="34" charset="0"/>
              <a:cs typeface="Arial" panose="020B0604020202020204" pitchFamily="34" charset="0"/>
            </a:endParaRPr>
          </a:p>
          <a:p>
            <a:pPr marL="342900" lvl="0" indent="-342900">
              <a:lnSpc>
                <a:spcPct val="107000"/>
              </a:lnSpc>
              <a:buFont typeface="+mj-lt"/>
              <a:buAutoNum type="alphaUcPeriod"/>
            </a:pPr>
            <a:r>
              <a:rPr lang="fr-FR" sz="2400" dirty="0"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Arial" panose="020B0604020202020204" pitchFamily="34" charset="0"/>
              </a:rPr>
              <a:t>Mettre une sonde nasogastrique d’emblée  pour la réhydratation</a:t>
            </a:r>
            <a:endParaRPr lang="fr-TN" sz="2400" dirty="0">
              <a:effectLst/>
              <a:latin typeface="Calibri" panose="020F0502020204030204" pitchFamily="34" charset="0"/>
              <a:ea typeface="Calibri" panose="020F0502020204030204" pitchFamily="34" charset="0"/>
              <a:cs typeface="Arial" panose="020B0604020202020204" pitchFamily="34" charset="0"/>
            </a:endParaRPr>
          </a:p>
          <a:p>
            <a:pPr marL="342900" lvl="0" indent="-342900">
              <a:lnSpc>
                <a:spcPct val="107000"/>
              </a:lnSpc>
              <a:spcAft>
                <a:spcPts val="800"/>
              </a:spcAft>
              <a:buFont typeface="+mj-lt"/>
              <a:buAutoNum type="alphaUcPeriod"/>
            </a:pPr>
            <a:r>
              <a:rPr lang="fr-FR" sz="2400" dirty="0"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Arial" panose="020B0604020202020204" pitchFamily="34" charset="0"/>
              </a:rPr>
              <a:t>Indiquer la réhydratation orale par SRO aux urgences</a:t>
            </a:r>
            <a:endParaRPr lang="fr-TN" sz="2400" dirty="0">
              <a:effectLst/>
              <a:latin typeface="Calibri" panose="020F0502020204030204" pitchFamily="34" charset="0"/>
              <a:ea typeface="Calibri" panose="020F0502020204030204" pitchFamily="34" charset="0"/>
              <a:cs typeface="Arial" panose="020B0604020202020204" pitchFamily="34" charset="0"/>
            </a:endParaRPr>
          </a:p>
          <a:p>
            <a:endParaRPr lang="fr-TN" sz="2400" dirty="0"/>
          </a:p>
        </p:txBody>
      </p:sp>
    </p:spTree>
    <p:extLst>
      <p:ext uri="{BB962C8B-B14F-4D97-AF65-F5344CB8AC3E}">
        <p14:creationId xmlns:p14="http://schemas.microsoft.com/office/powerpoint/2010/main" val="2259488987"/>
      </p:ext>
    </p:extLst>
  </p:cSld>
  <p:clrMapOvr>
    <a:masterClrMapping/>
  </p:clrMapOvr>
</p:sld>
</file>

<file path=ppt/slides/slide7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Espace réservé du contenu 2">
            <a:extLst>
              <a:ext uri="{FF2B5EF4-FFF2-40B4-BE49-F238E27FC236}">
                <a16:creationId xmlns:a16="http://schemas.microsoft.com/office/drawing/2014/main" id="{E6A87FFD-6E06-0B2F-CBBC-157EB13B9DF4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pPr>
              <a:lnSpc>
                <a:spcPct val="107000"/>
              </a:lnSpc>
              <a:spcAft>
                <a:spcPts val="800"/>
              </a:spcAft>
              <a:buNone/>
            </a:pPr>
            <a:r>
              <a:rPr lang="fr-FR" sz="2400" dirty="0" err="1"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Arial" panose="020B0604020202020204" pitchFamily="34" charset="0"/>
              </a:rPr>
              <a:t>Zeineb</a:t>
            </a:r>
            <a:r>
              <a:rPr lang="fr-FR" sz="2400" dirty="0"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Arial" panose="020B0604020202020204" pitchFamily="34" charset="0"/>
              </a:rPr>
              <a:t> , nourrisson âgée de 13 mois, présente depuis 24 heures, 10 selles liquidiennes abondantes . </a:t>
            </a:r>
            <a:endParaRPr lang="fr-TN" sz="2400" dirty="0">
              <a:effectLst/>
              <a:latin typeface="Calibri" panose="020F0502020204030204" pitchFamily="34" charset="0"/>
              <a:ea typeface="Calibri" panose="020F0502020204030204" pitchFamily="34" charset="0"/>
              <a:cs typeface="Arial" panose="020B0604020202020204" pitchFamily="34" charset="0"/>
            </a:endParaRPr>
          </a:p>
          <a:p>
            <a:pPr>
              <a:buNone/>
            </a:pPr>
            <a:r>
              <a:rPr lang="fr-FR" sz="2400" dirty="0">
                <a:effectLst/>
                <a:latin typeface="Times New Roman" panose="02020603050405020304" pitchFamily="18" charset="0"/>
                <a:ea typeface="Calibri" panose="020F0502020204030204" pitchFamily="34" charset="0"/>
              </a:rPr>
              <a:t>A l’examen : nourrisson apathique, poids : 8,8 kg (son poids il y a une semaine 10 kg), T° : 38,5° , elle a un pli cutané persistant, sa  langue est  un peu desséchée, sa fontanelle est  très déprimée , ses globes oculaires sont  très enfoncés, sa FC à 180 battements /min , le TRC à 4 </a:t>
            </a:r>
            <a:r>
              <a:rPr lang="fr-FR" sz="2400" dirty="0">
                <a:solidFill>
                  <a:srgbClr val="000000"/>
                </a:solidFill>
                <a:effectLst/>
                <a:latin typeface="Times New Roman" panose="02020603050405020304" pitchFamily="18" charset="0"/>
                <a:ea typeface="Calibri" panose="020F0502020204030204" pitchFamily="34" charset="0"/>
              </a:rPr>
              <a:t>sec,  TA  à 60/ 30, sa respiration est  ample, FR à 60 cycles/min</a:t>
            </a:r>
            <a:endParaRPr lang="fr-TN" sz="2400" dirty="0"/>
          </a:p>
        </p:txBody>
      </p:sp>
      <p:sp>
        <p:nvSpPr>
          <p:cNvPr id="4" name="Titre 1">
            <a:extLst>
              <a:ext uri="{FF2B5EF4-FFF2-40B4-BE49-F238E27FC236}">
                <a16:creationId xmlns:a16="http://schemas.microsoft.com/office/drawing/2014/main" id="{3ACB5C3C-7A4A-0282-35A5-53357915E46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371600" y="685800"/>
            <a:ext cx="9601200" cy="1485900"/>
          </a:xfrm>
        </p:spPr>
        <p:txBody>
          <a:bodyPr/>
          <a:lstStyle/>
          <a:p>
            <a:r>
              <a:rPr lang="fr-FR" b="1" dirty="0">
                <a:solidFill>
                  <a:srgbClr val="0070C0"/>
                </a:solidFill>
              </a:rPr>
              <a:t>Cas clinique N°2</a:t>
            </a:r>
            <a:endParaRPr lang="fr-TN" b="1" dirty="0">
              <a:solidFill>
                <a:srgbClr val="0070C0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3778118863"/>
      </p:ext>
    </p:extLst>
  </p:cSld>
  <p:clrMapOvr>
    <a:masterClrMapping/>
  </p:clrMapOvr>
</p:sld>
</file>

<file path=ppt/slides/slide7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>
            <a:extLst>
              <a:ext uri="{FF2B5EF4-FFF2-40B4-BE49-F238E27FC236}">
                <a16:creationId xmlns:a16="http://schemas.microsoft.com/office/drawing/2014/main" id="{1D3C0A79-8F91-8969-78B9-CA56C22027F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pPr marL="342900" marR="0" lvl="0" indent="-342900" defTabSz="914400" rtl="0" eaLnBrk="1" fontAlgn="auto" latinLnBrk="0" hangingPunct="1">
              <a:lnSpc>
                <a:spcPct val="107000"/>
              </a:lnSpc>
              <a:spcBef>
                <a:spcPts val="1000"/>
              </a:spcBef>
              <a:spcAft>
                <a:spcPts val="200"/>
              </a:spcAft>
              <a:tabLst/>
              <a:defRPr/>
            </a:pPr>
            <a:r>
              <a:rPr kumimoji="0" lang="fr-FR" sz="3200" b="1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 panose="02020603050405020304" pitchFamily="18" charset="0"/>
                <a:ea typeface="Calibri" panose="020F0502020204030204" pitchFamily="34" charset="0"/>
                <a:cs typeface="Arial" panose="020B0604020202020204" pitchFamily="34" charset="0"/>
              </a:rPr>
              <a:t>Le score de déshydratation de </a:t>
            </a:r>
            <a:r>
              <a:rPr kumimoji="0" lang="fr-FR" sz="3200" b="1" i="0" u="none" strike="noStrike" kern="1200" cap="none" spc="0" normalizeH="0" baseline="0" noProof="0" dirty="0" err="1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 panose="02020603050405020304" pitchFamily="18" charset="0"/>
                <a:ea typeface="Calibri" panose="020F0502020204030204" pitchFamily="34" charset="0"/>
                <a:cs typeface="Arial" panose="020B0604020202020204" pitchFamily="34" charset="0"/>
              </a:rPr>
              <a:t>Zeineb</a:t>
            </a:r>
            <a:r>
              <a:rPr kumimoji="0" lang="fr-FR" sz="3200" b="1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 panose="02020603050405020304" pitchFamily="18" charset="0"/>
                <a:ea typeface="Calibri" panose="020F0502020204030204" pitchFamily="34" charset="0"/>
                <a:cs typeface="Arial" panose="020B0604020202020204" pitchFamily="34" charset="0"/>
              </a:rPr>
              <a:t> :</a:t>
            </a:r>
            <a:br>
              <a:rPr kumimoji="0" lang="fr-TN" sz="3200" b="0" i="0" u="none" strike="noStrike" kern="1200" cap="none" spc="0" normalizeH="0" baseline="0" noProof="0" dirty="0">
                <a:ln>
                  <a:noFill/>
                </a:ln>
                <a:solidFill>
                  <a:srgbClr val="191B0E"/>
                </a:solidFill>
                <a:effectLst/>
                <a:uLnTx/>
                <a:uFillTx/>
                <a:latin typeface="Calibri" panose="020F0502020204030204" pitchFamily="34" charset="0"/>
                <a:ea typeface="Calibri" panose="020F0502020204030204" pitchFamily="34" charset="0"/>
                <a:cs typeface="Arial" panose="020B0604020202020204" pitchFamily="34" charset="0"/>
              </a:rPr>
            </a:br>
            <a:endParaRPr lang="fr-TN" sz="3200" dirty="0"/>
          </a:p>
        </p:txBody>
      </p:sp>
      <p:sp>
        <p:nvSpPr>
          <p:cNvPr id="3" name="Espace réservé du contenu 2">
            <a:extLst>
              <a:ext uri="{FF2B5EF4-FFF2-40B4-BE49-F238E27FC236}">
                <a16:creationId xmlns:a16="http://schemas.microsoft.com/office/drawing/2014/main" id="{0B5F24FF-AD14-C313-F379-7BD87413ACB2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pPr marL="742950" lvl="1" indent="-285750">
              <a:lnSpc>
                <a:spcPct val="107000"/>
              </a:lnSpc>
              <a:buFont typeface="+mj-lt"/>
              <a:buAutoNum type="alphaUcPeriod"/>
            </a:pPr>
            <a:r>
              <a:rPr lang="fr-FR" sz="2400" dirty="0">
                <a:solidFill>
                  <a:srgbClr val="000000"/>
                </a:solidFill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Arial" panose="020B0604020202020204" pitchFamily="34" charset="0"/>
              </a:rPr>
              <a:t>11</a:t>
            </a:r>
            <a:endParaRPr lang="fr-TN" sz="2400" dirty="0">
              <a:effectLst/>
              <a:latin typeface="Calibri" panose="020F0502020204030204" pitchFamily="34" charset="0"/>
              <a:ea typeface="Calibri" panose="020F0502020204030204" pitchFamily="34" charset="0"/>
              <a:cs typeface="Arial" panose="020B0604020202020204" pitchFamily="34" charset="0"/>
            </a:endParaRPr>
          </a:p>
          <a:p>
            <a:pPr marL="742950" lvl="1" indent="-285750">
              <a:lnSpc>
                <a:spcPct val="107000"/>
              </a:lnSpc>
              <a:buFont typeface="+mj-lt"/>
              <a:buAutoNum type="alphaUcPeriod"/>
            </a:pPr>
            <a:r>
              <a:rPr lang="fr-FR" sz="2400" dirty="0">
                <a:solidFill>
                  <a:srgbClr val="000000"/>
                </a:solidFill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Arial" panose="020B0604020202020204" pitchFamily="34" charset="0"/>
              </a:rPr>
              <a:t>12</a:t>
            </a:r>
            <a:endParaRPr lang="fr-TN" sz="2400" dirty="0">
              <a:effectLst/>
              <a:latin typeface="Calibri" panose="020F0502020204030204" pitchFamily="34" charset="0"/>
              <a:ea typeface="Calibri" panose="020F0502020204030204" pitchFamily="34" charset="0"/>
              <a:cs typeface="Arial" panose="020B0604020202020204" pitchFamily="34" charset="0"/>
            </a:endParaRPr>
          </a:p>
          <a:p>
            <a:pPr marL="742950" lvl="1" indent="-285750">
              <a:lnSpc>
                <a:spcPct val="107000"/>
              </a:lnSpc>
              <a:buFont typeface="+mj-lt"/>
              <a:buAutoNum type="alphaUcPeriod"/>
            </a:pPr>
            <a:r>
              <a:rPr lang="fr-FR" sz="2400" dirty="0">
                <a:solidFill>
                  <a:srgbClr val="000000"/>
                </a:solidFill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Arial" panose="020B0604020202020204" pitchFamily="34" charset="0"/>
              </a:rPr>
              <a:t>13</a:t>
            </a:r>
            <a:endParaRPr lang="fr-TN" sz="2400" dirty="0">
              <a:effectLst/>
              <a:latin typeface="Calibri" panose="020F0502020204030204" pitchFamily="34" charset="0"/>
              <a:ea typeface="Calibri" panose="020F0502020204030204" pitchFamily="34" charset="0"/>
              <a:cs typeface="Arial" panose="020B0604020202020204" pitchFamily="34" charset="0"/>
            </a:endParaRPr>
          </a:p>
          <a:p>
            <a:pPr marL="742950" lvl="1" indent="-285750">
              <a:lnSpc>
                <a:spcPct val="107000"/>
              </a:lnSpc>
              <a:buFont typeface="+mj-lt"/>
              <a:buAutoNum type="alphaUcPeriod"/>
            </a:pPr>
            <a:r>
              <a:rPr lang="fr-FR" sz="2400" dirty="0">
                <a:solidFill>
                  <a:srgbClr val="000000"/>
                </a:solidFill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Arial" panose="020B0604020202020204" pitchFamily="34" charset="0"/>
              </a:rPr>
              <a:t>15</a:t>
            </a:r>
            <a:endParaRPr lang="fr-TN" sz="2400" dirty="0">
              <a:effectLst/>
              <a:latin typeface="Calibri" panose="020F0502020204030204" pitchFamily="34" charset="0"/>
              <a:ea typeface="Calibri" panose="020F0502020204030204" pitchFamily="34" charset="0"/>
              <a:cs typeface="Arial" panose="020B0604020202020204" pitchFamily="34" charset="0"/>
            </a:endParaRPr>
          </a:p>
          <a:p>
            <a:pPr marL="742950" lvl="1" indent="-285750">
              <a:lnSpc>
                <a:spcPct val="107000"/>
              </a:lnSpc>
              <a:spcAft>
                <a:spcPts val="800"/>
              </a:spcAft>
              <a:buFont typeface="+mj-lt"/>
              <a:buAutoNum type="alphaUcPeriod"/>
            </a:pPr>
            <a:r>
              <a:rPr lang="fr-FR" sz="2400" dirty="0">
                <a:solidFill>
                  <a:srgbClr val="000000"/>
                </a:solidFill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Arial" panose="020B0604020202020204" pitchFamily="34" charset="0"/>
              </a:rPr>
              <a:t>17</a:t>
            </a:r>
            <a:endParaRPr lang="fr-TN" sz="2400" dirty="0">
              <a:effectLst/>
              <a:latin typeface="Calibri" panose="020F0502020204030204" pitchFamily="34" charset="0"/>
              <a:ea typeface="Calibri" panose="020F0502020204030204" pitchFamily="34" charset="0"/>
              <a:cs typeface="Arial" panose="020B0604020202020204" pitchFamily="34" charset="0"/>
            </a:endParaRPr>
          </a:p>
          <a:p>
            <a:endParaRPr lang="fr-TN" sz="2400" dirty="0"/>
          </a:p>
        </p:txBody>
      </p:sp>
    </p:spTree>
    <p:extLst>
      <p:ext uri="{BB962C8B-B14F-4D97-AF65-F5344CB8AC3E}">
        <p14:creationId xmlns:p14="http://schemas.microsoft.com/office/powerpoint/2010/main" val="3240429551"/>
      </p:ext>
    </p:extLst>
  </p:cSld>
  <p:clrMapOvr>
    <a:masterClrMapping/>
  </p:clrMapOvr>
</p:sld>
</file>

<file path=ppt/slides/slide8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2E02D5F-AF46-3FE3-65B8-281C28D9C56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Espace réservé du contenu 2">
            <a:extLst>
              <a:ext uri="{FF2B5EF4-FFF2-40B4-BE49-F238E27FC236}">
                <a16:creationId xmlns:a16="http://schemas.microsoft.com/office/drawing/2014/main" id="{C12CCD6B-B510-1E71-3FB6-5A9F3CC26AA9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pPr>
              <a:lnSpc>
                <a:spcPct val="107000"/>
              </a:lnSpc>
              <a:spcAft>
                <a:spcPts val="800"/>
              </a:spcAft>
              <a:buNone/>
            </a:pPr>
            <a:r>
              <a:rPr lang="fr-FR" sz="2400" dirty="0" err="1"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Arial" panose="020B0604020202020204" pitchFamily="34" charset="0"/>
              </a:rPr>
              <a:t>Zeineb</a:t>
            </a:r>
            <a:r>
              <a:rPr lang="fr-FR" sz="2400" dirty="0"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Arial" panose="020B0604020202020204" pitchFamily="34" charset="0"/>
              </a:rPr>
              <a:t> , nourrisson âgée de 13 mois, présente depuis 24 heures, 10 selles liquidiennes abondantes . </a:t>
            </a:r>
            <a:endParaRPr lang="fr-TN" sz="2400" dirty="0">
              <a:effectLst/>
              <a:latin typeface="Calibri" panose="020F0502020204030204" pitchFamily="34" charset="0"/>
              <a:ea typeface="Calibri" panose="020F0502020204030204" pitchFamily="34" charset="0"/>
              <a:cs typeface="Arial" panose="020B0604020202020204" pitchFamily="34" charset="0"/>
            </a:endParaRPr>
          </a:p>
          <a:p>
            <a:pPr>
              <a:buNone/>
            </a:pPr>
            <a:r>
              <a:rPr lang="fr-FR" sz="2400" dirty="0">
                <a:effectLst/>
                <a:latin typeface="Times New Roman" panose="02020603050405020304" pitchFamily="18" charset="0"/>
                <a:ea typeface="Calibri" panose="020F0502020204030204" pitchFamily="34" charset="0"/>
              </a:rPr>
              <a:t>A l’examen : nourrisson apathique, poids : 8,8 kg (son poids il y a une semaine 10 kg), T° : 38,5° , elle a un pli cutané persistant, sa  langue est  un peu desséchée, sa fontanelle est  très déprimée , ses globes oculaires sont  très enfoncés, sa FC à 180 battements /min , le TRC à 4 </a:t>
            </a:r>
            <a:r>
              <a:rPr lang="fr-FR" sz="2400" dirty="0">
                <a:solidFill>
                  <a:srgbClr val="000000"/>
                </a:solidFill>
                <a:effectLst/>
                <a:latin typeface="Times New Roman" panose="02020603050405020304" pitchFamily="18" charset="0"/>
                <a:ea typeface="Calibri" panose="020F0502020204030204" pitchFamily="34" charset="0"/>
              </a:rPr>
              <a:t>sec,  TA  à 60/ 30, sa respiration est  ample, FR à 60 cycles/min</a:t>
            </a:r>
            <a:endParaRPr lang="fr-TN" sz="2400" dirty="0"/>
          </a:p>
        </p:txBody>
      </p:sp>
      <p:sp>
        <p:nvSpPr>
          <p:cNvPr id="4" name="Titre 1">
            <a:extLst>
              <a:ext uri="{FF2B5EF4-FFF2-40B4-BE49-F238E27FC236}">
                <a16:creationId xmlns:a16="http://schemas.microsoft.com/office/drawing/2014/main" id="{F82366A5-ED70-4F1F-BDD8-33F56B083FE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371600" y="685800"/>
            <a:ext cx="9601200" cy="1485900"/>
          </a:xfrm>
        </p:spPr>
        <p:txBody>
          <a:bodyPr/>
          <a:lstStyle/>
          <a:p>
            <a:r>
              <a:rPr lang="fr-FR" b="1" dirty="0">
                <a:solidFill>
                  <a:srgbClr val="0070C0"/>
                </a:solidFill>
              </a:rPr>
              <a:t>Cas clinique N°2</a:t>
            </a:r>
            <a:endParaRPr lang="fr-TN" b="1" dirty="0">
              <a:solidFill>
                <a:srgbClr val="0070C0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2867740727"/>
      </p:ext>
    </p:extLst>
  </p:cSld>
  <p:clrMapOvr>
    <a:masterClrMapping/>
  </p:clrMapOvr>
</p:sld>
</file>

<file path=ppt/slides/slide8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4E0D37E-EFC4-A62F-69CD-1C575F5090E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2">
            <a:extLst>
              <a:ext uri="{FF2B5EF4-FFF2-40B4-BE49-F238E27FC236}">
                <a16:creationId xmlns:a16="http://schemas.microsoft.com/office/drawing/2014/main" id="{409C581B-CD3E-C370-C716-2161C6E09DF6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>
          <a:xfrm>
            <a:off x="1318671" y="488681"/>
            <a:ext cx="10080771" cy="6251671"/>
          </a:xfrm>
          <a:prstGeom prst="rect">
            <a:avLst/>
          </a:prstGeom>
          <a:noFill/>
        </p:spPr>
      </p:pic>
      <p:sp>
        <p:nvSpPr>
          <p:cNvPr id="3" name="Rectangle : coins arrondis 2">
            <a:extLst>
              <a:ext uri="{FF2B5EF4-FFF2-40B4-BE49-F238E27FC236}">
                <a16:creationId xmlns:a16="http://schemas.microsoft.com/office/drawing/2014/main" id="{02F53FCA-88E1-FDE8-B21D-E2A64729A700}"/>
              </a:ext>
            </a:extLst>
          </p:cNvPr>
          <p:cNvSpPr/>
          <p:nvPr/>
        </p:nvSpPr>
        <p:spPr>
          <a:xfrm>
            <a:off x="8595360" y="3952240"/>
            <a:ext cx="1950720" cy="528320"/>
          </a:xfrm>
          <a:prstGeom prst="roundRect">
            <a:avLst/>
          </a:prstGeom>
          <a:noFill/>
          <a:ln w="41275">
            <a:solidFill>
              <a:srgbClr val="FF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TN"/>
          </a:p>
        </p:txBody>
      </p:sp>
      <p:pic>
        <p:nvPicPr>
          <p:cNvPr id="4" name="Image 3">
            <a:extLst>
              <a:ext uri="{FF2B5EF4-FFF2-40B4-BE49-F238E27FC236}">
                <a16:creationId xmlns:a16="http://schemas.microsoft.com/office/drawing/2014/main" id="{45046853-7699-57B4-B287-CF26A7AB3C0A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552515" y="3429000"/>
            <a:ext cx="1993565" cy="573074"/>
          </a:xfrm>
          <a:prstGeom prst="rect">
            <a:avLst/>
          </a:prstGeom>
        </p:spPr>
      </p:pic>
      <p:pic>
        <p:nvPicPr>
          <p:cNvPr id="5" name="Image 4">
            <a:extLst>
              <a:ext uri="{FF2B5EF4-FFF2-40B4-BE49-F238E27FC236}">
                <a16:creationId xmlns:a16="http://schemas.microsoft.com/office/drawing/2014/main" id="{4E8E551F-6C23-F102-D87C-08CDD33774CF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540938" y="2065503"/>
            <a:ext cx="1993565" cy="573074"/>
          </a:xfrm>
          <a:prstGeom prst="rect">
            <a:avLst/>
          </a:prstGeom>
        </p:spPr>
      </p:pic>
      <p:sp>
        <p:nvSpPr>
          <p:cNvPr id="6" name="Rectangle : coins arrondis 5">
            <a:extLst>
              <a:ext uri="{FF2B5EF4-FFF2-40B4-BE49-F238E27FC236}">
                <a16:creationId xmlns:a16="http://schemas.microsoft.com/office/drawing/2014/main" id="{19692C47-34A9-564E-4D3A-44528BD5C216}"/>
              </a:ext>
            </a:extLst>
          </p:cNvPr>
          <p:cNvSpPr/>
          <p:nvPr/>
        </p:nvSpPr>
        <p:spPr>
          <a:xfrm>
            <a:off x="6219022" y="1198880"/>
            <a:ext cx="1950720" cy="528320"/>
          </a:xfrm>
          <a:prstGeom prst="roundRect">
            <a:avLst/>
          </a:prstGeom>
          <a:noFill/>
          <a:ln w="41275">
            <a:solidFill>
              <a:srgbClr val="FF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TN"/>
          </a:p>
        </p:txBody>
      </p:sp>
      <p:pic>
        <p:nvPicPr>
          <p:cNvPr id="7" name="Image 6">
            <a:extLst>
              <a:ext uri="{FF2B5EF4-FFF2-40B4-BE49-F238E27FC236}">
                <a16:creationId xmlns:a16="http://schemas.microsoft.com/office/drawing/2014/main" id="{A25B07DF-DA38-79F9-64E4-16F502D8D790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595360" y="1569720"/>
            <a:ext cx="1950720" cy="573074"/>
          </a:xfrm>
          <a:prstGeom prst="rect">
            <a:avLst/>
          </a:prstGeom>
        </p:spPr>
      </p:pic>
      <p:pic>
        <p:nvPicPr>
          <p:cNvPr id="8" name="Image 7">
            <a:extLst>
              <a:ext uri="{FF2B5EF4-FFF2-40B4-BE49-F238E27FC236}">
                <a16:creationId xmlns:a16="http://schemas.microsoft.com/office/drawing/2014/main" id="{5C9EF1B6-95AD-C7B5-69E4-0E53B537ABF5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359056" y="2634463"/>
            <a:ext cx="1993565" cy="573074"/>
          </a:xfrm>
          <a:prstGeom prst="rect">
            <a:avLst/>
          </a:prstGeom>
        </p:spPr>
      </p:pic>
      <p:pic>
        <p:nvPicPr>
          <p:cNvPr id="9" name="Image 8">
            <a:extLst>
              <a:ext uri="{FF2B5EF4-FFF2-40B4-BE49-F238E27FC236}">
                <a16:creationId xmlns:a16="http://schemas.microsoft.com/office/drawing/2014/main" id="{5AE9A0C9-3D3D-6582-44D1-45BD0AF9F0B7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8552515" y="2960674"/>
            <a:ext cx="1993565" cy="57307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103119202"/>
      </p:ext>
    </p:extLst>
  </p:cSld>
  <p:clrMapOvr>
    <a:masterClrMapping/>
  </p:clrMapOvr>
</p:sld>
</file>

<file path=ppt/slides/slide8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B4F5ED6-9BD3-E804-2CE9-13730B2A949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1">
            <a:extLst>
              <a:ext uri="{FF2B5EF4-FFF2-40B4-BE49-F238E27FC236}">
                <a16:creationId xmlns:a16="http://schemas.microsoft.com/office/drawing/2014/main" id="{0A1C87E8-A425-D076-8743-A6AE456C007F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191837" y="193183"/>
            <a:ext cx="10102935" cy="666601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110808826"/>
      </p:ext>
    </p:extLst>
  </p:cSld>
  <p:clrMapOvr>
    <a:masterClrMapping/>
  </p:clrMapOvr>
</p:sld>
</file>

<file path=ppt/slides/slide8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05FA212-6D26-EECE-92D5-1D9C9609780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6802" name="Titre 1">
            <a:extLst>
              <a:ext uri="{FF2B5EF4-FFF2-40B4-BE49-F238E27FC236}">
                <a16:creationId xmlns:a16="http://schemas.microsoft.com/office/drawing/2014/main" id="{B38A324D-1C21-24E7-795B-09D7D7F56F5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fr-TN" altLang="fr-TN" dirty="0"/>
          </a:p>
        </p:txBody>
      </p:sp>
      <p:pic>
        <p:nvPicPr>
          <p:cNvPr id="76803" name="Espace réservé du contenu 4">
            <a:extLst>
              <a:ext uri="{FF2B5EF4-FFF2-40B4-BE49-F238E27FC236}">
                <a16:creationId xmlns:a16="http://schemas.microsoft.com/office/drawing/2014/main" id="{95C8B4F1-01AE-EE14-63E1-3C18029BA4D1}"/>
              </a:ext>
            </a:extLst>
          </p:cNvPr>
          <p:cNvPicPr>
            <a:picLocks noGrp="1" noChangeAspect="1" noChangeArrowheads="1"/>
          </p:cNvPicPr>
          <p:nvPr>
            <p:ph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695090" y="3009751"/>
            <a:ext cx="6954220" cy="2133898"/>
          </a:xfrm>
        </p:spPr>
      </p:pic>
      <p:pic>
        <p:nvPicPr>
          <p:cNvPr id="3" name="Image 2">
            <a:extLst>
              <a:ext uri="{FF2B5EF4-FFF2-40B4-BE49-F238E27FC236}">
                <a16:creationId xmlns:a16="http://schemas.microsoft.com/office/drawing/2014/main" id="{5F07152A-5EAB-C794-3831-08A2C8C02E5B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848446" y="274638"/>
            <a:ext cx="5417477" cy="302561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164371007"/>
      </p:ext>
    </p:extLst>
  </p:cSld>
  <p:clrMapOvr>
    <a:masterClrMapping/>
  </p:clrMapOvr>
</p:sld>
</file>

<file path=ppt/slides/slide8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F9770BE-4807-B84D-0BF6-29CAA38EEC4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>
            <a:extLst>
              <a:ext uri="{FF2B5EF4-FFF2-40B4-BE49-F238E27FC236}">
                <a16:creationId xmlns:a16="http://schemas.microsoft.com/office/drawing/2014/main" id="{9E2F89E7-9786-657E-24D0-10E82C61D20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pPr marL="342900" marR="0" lvl="0" indent="-342900" defTabSz="914400" rtl="0" eaLnBrk="1" fontAlgn="auto" latinLnBrk="0" hangingPunct="1">
              <a:lnSpc>
                <a:spcPct val="107000"/>
              </a:lnSpc>
              <a:spcBef>
                <a:spcPts val="1000"/>
              </a:spcBef>
              <a:spcAft>
                <a:spcPts val="200"/>
              </a:spcAft>
              <a:tabLst/>
              <a:defRPr/>
            </a:pPr>
            <a:r>
              <a:rPr kumimoji="0" lang="fr-FR" sz="3200" b="1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 panose="02020603050405020304" pitchFamily="18" charset="0"/>
                <a:ea typeface="Calibri" panose="020F0502020204030204" pitchFamily="34" charset="0"/>
                <a:cs typeface="Arial" panose="020B0604020202020204" pitchFamily="34" charset="0"/>
              </a:rPr>
              <a:t>Le score de déshydratation de </a:t>
            </a:r>
            <a:r>
              <a:rPr kumimoji="0" lang="fr-FR" sz="3200" b="1" i="0" u="none" strike="noStrike" kern="1200" cap="none" spc="0" normalizeH="0" baseline="0" noProof="0" dirty="0" err="1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 panose="02020603050405020304" pitchFamily="18" charset="0"/>
                <a:ea typeface="Calibri" panose="020F0502020204030204" pitchFamily="34" charset="0"/>
                <a:cs typeface="Arial" panose="020B0604020202020204" pitchFamily="34" charset="0"/>
              </a:rPr>
              <a:t>Zeineb</a:t>
            </a:r>
            <a:r>
              <a:rPr kumimoji="0" lang="fr-FR" sz="3200" b="1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 panose="02020603050405020304" pitchFamily="18" charset="0"/>
                <a:ea typeface="Calibri" panose="020F0502020204030204" pitchFamily="34" charset="0"/>
                <a:cs typeface="Arial" panose="020B0604020202020204" pitchFamily="34" charset="0"/>
              </a:rPr>
              <a:t> :</a:t>
            </a:r>
            <a:br>
              <a:rPr kumimoji="0" lang="fr-TN" sz="3200" b="0" i="0" u="none" strike="noStrike" kern="1200" cap="none" spc="0" normalizeH="0" baseline="0" noProof="0" dirty="0">
                <a:ln>
                  <a:noFill/>
                </a:ln>
                <a:solidFill>
                  <a:srgbClr val="191B0E"/>
                </a:solidFill>
                <a:effectLst/>
                <a:uLnTx/>
                <a:uFillTx/>
                <a:latin typeface="Calibri" panose="020F0502020204030204" pitchFamily="34" charset="0"/>
                <a:ea typeface="Calibri" panose="020F0502020204030204" pitchFamily="34" charset="0"/>
                <a:cs typeface="Arial" panose="020B0604020202020204" pitchFamily="34" charset="0"/>
              </a:rPr>
            </a:br>
            <a:endParaRPr lang="fr-TN" sz="3200" dirty="0"/>
          </a:p>
        </p:txBody>
      </p:sp>
      <p:sp>
        <p:nvSpPr>
          <p:cNvPr id="3" name="Espace réservé du contenu 2">
            <a:extLst>
              <a:ext uri="{FF2B5EF4-FFF2-40B4-BE49-F238E27FC236}">
                <a16:creationId xmlns:a16="http://schemas.microsoft.com/office/drawing/2014/main" id="{02914F36-2F67-69BC-3590-3F7D96FFD3F9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pPr marL="742950" lvl="1" indent="-285750">
              <a:lnSpc>
                <a:spcPct val="107000"/>
              </a:lnSpc>
              <a:buFont typeface="+mj-lt"/>
              <a:buAutoNum type="alphaUcPeriod"/>
            </a:pPr>
            <a:r>
              <a:rPr lang="fr-FR" sz="2400" dirty="0">
                <a:solidFill>
                  <a:srgbClr val="000000"/>
                </a:solidFill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Arial" panose="020B0604020202020204" pitchFamily="34" charset="0"/>
              </a:rPr>
              <a:t>11</a:t>
            </a:r>
            <a:endParaRPr lang="fr-TN" sz="2400" dirty="0">
              <a:effectLst/>
              <a:latin typeface="Calibri" panose="020F0502020204030204" pitchFamily="34" charset="0"/>
              <a:ea typeface="Calibri" panose="020F0502020204030204" pitchFamily="34" charset="0"/>
              <a:cs typeface="Arial" panose="020B0604020202020204" pitchFamily="34" charset="0"/>
            </a:endParaRPr>
          </a:p>
          <a:p>
            <a:pPr marL="742950" lvl="1" indent="-285750">
              <a:lnSpc>
                <a:spcPct val="107000"/>
              </a:lnSpc>
              <a:buFont typeface="+mj-lt"/>
              <a:buAutoNum type="alphaUcPeriod"/>
            </a:pPr>
            <a:r>
              <a:rPr lang="fr-FR" sz="2400" dirty="0">
                <a:solidFill>
                  <a:srgbClr val="000000"/>
                </a:solidFill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Arial" panose="020B0604020202020204" pitchFamily="34" charset="0"/>
              </a:rPr>
              <a:t>12</a:t>
            </a:r>
            <a:endParaRPr lang="fr-TN" sz="2400" dirty="0">
              <a:effectLst/>
              <a:latin typeface="Calibri" panose="020F0502020204030204" pitchFamily="34" charset="0"/>
              <a:ea typeface="Calibri" panose="020F0502020204030204" pitchFamily="34" charset="0"/>
              <a:cs typeface="Arial" panose="020B0604020202020204" pitchFamily="34" charset="0"/>
            </a:endParaRPr>
          </a:p>
          <a:p>
            <a:pPr marL="742950" lvl="1" indent="-285750">
              <a:lnSpc>
                <a:spcPct val="107000"/>
              </a:lnSpc>
              <a:buFont typeface="+mj-lt"/>
              <a:buAutoNum type="alphaUcPeriod"/>
            </a:pPr>
            <a:r>
              <a:rPr lang="fr-FR" sz="2400" dirty="0">
                <a:solidFill>
                  <a:srgbClr val="000000"/>
                </a:solidFill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Arial" panose="020B0604020202020204" pitchFamily="34" charset="0"/>
              </a:rPr>
              <a:t>13</a:t>
            </a:r>
            <a:endParaRPr lang="fr-TN" sz="2400" dirty="0">
              <a:effectLst/>
              <a:latin typeface="Calibri" panose="020F0502020204030204" pitchFamily="34" charset="0"/>
              <a:ea typeface="Calibri" panose="020F0502020204030204" pitchFamily="34" charset="0"/>
              <a:cs typeface="Arial" panose="020B0604020202020204" pitchFamily="34" charset="0"/>
            </a:endParaRPr>
          </a:p>
          <a:p>
            <a:pPr marL="742950" lvl="1" indent="-285750">
              <a:lnSpc>
                <a:spcPct val="107000"/>
              </a:lnSpc>
              <a:buFont typeface="+mj-lt"/>
              <a:buAutoNum type="alphaUcPeriod"/>
            </a:pPr>
            <a:r>
              <a:rPr lang="fr-FR" sz="2400" dirty="0">
                <a:solidFill>
                  <a:srgbClr val="000000"/>
                </a:solidFill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Arial" panose="020B0604020202020204" pitchFamily="34" charset="0"/>
              </a:rPr>
              <a:t>15</a:t>
            </a:r>
            <a:endParaRPr lang="fr-TN" sz="2400" dirty="0">
              <a:effectLst/>
              <a:latin typeface="Calibri" panose="020F0502020204030204" pitchFamily="34" charset="0"/>
              <a:ea typeface="Calibri" panose="020F0502020204030204" pitchFamily="34" charset="0"/>
              <a:cs typeface="Arial" panose="020B0604020202020204" pitchFamily="34" charset="0"/>
            </a:endParaRPr>
          </a:p>
          <a:p>
            <a:pPr marL="742950" lvl="1" indent="-285750">
              <a:lnSpc>
                <a:spcPct val="107000"/>
              </a:lnSpc>
              <a:spcAft>
                <a:spcPts val="800"/>
              </a:spcAft>
              <a:buFont typeface="+mj-lt"/>
              <a:buAutoNum type="alphaUcPeriod"/>
            </a:pPr>
            <a:r>
              <a:rPr lang="fr-FR" sz="2400" dirty="0">
                <a:solidFill>
                  <a:srgbClr val="FF0000"/>
                </a:solidFill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Arial" panose="020B0604020202020204" pitchFamily="34" charset="0"/>
              </a:rPr>
              <a:t>17</a:t>
            </a:r>
            <a:endParaRPr lang="fr-TN" sz="2400" dirty="0">
              <a:solidFill>
                <a:srgbClr val="FF0000"/>
              </a:solidFill>
              <a:effectLst/>
              <a:latin typeface="Calibri" panose="020F0502020204030204" pitchFamily="34" charset="0"/>
              <a:ea typeface="Calibri" panose="020F0502020204030204" pitchFamily="34" charset="0"/>
              <a:cs typeface="Arial" panose="020B0604020202020204" pitchFamily="34" charset="0"/>
            </a:endParaRPr>
          </a:p>
          <a:p>
            <a:endParaRPr lang="fr-TN" sz="2400" dirty="0"/>
          </a:p>
        </p:txBody>
      </p:sp>
    </p:spTree>
    <p:extLst>
      <p:ext uri="{BB962C8B-B14F-4D97-AF65-F5344CB8AC3E}">
        <p14:creationId xmlns:p14="http://schemas.microsoft.com/office/powerpoint/2010/main" val="1253554444"/>
      </p:ext>
    </p:extLst>
  </p:cSld>
  <p:clrMapOvr>
    <a:masterClrMapping/>
  </p:clrMapOvr>
</p:sld>
</file>

<file path=ppt/slides/slide8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>
            <a:extLst>
              <a:ext uri="{FF2B5EF4-FFF2-40B4-BE49-F238E27FC236}">
                <a16:creationId xmlns:a16="http://schemas.microsoft.com/office/drawing/2014/main" id="{F05A2DCD-6429-AE12-CD55-9AEB5C9351C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marL="342900" lvl="0" indent="-342900" rtl="0">
              <a:lnSpc>
                <a:spcPct val="107000"/>
              </a:lnSpc>
              <a:spcAft>
                <a:spcPts val="800"/>
              </a:spcAft>
            </a:pPr>
            <a:r>
              <a:rPr lang="fr-FR" sz="4400" b="1" dirty="0">
                <a:solidFill>
                  <a:srgbClr val="000000"/>
                </a:solidFill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Arial" panose="020B0604020202020204" pitchFamily="34" charset="0"/>
              </a:rPr>
              <a:t>Il s’agit d’une déshydratation :</a:t>
            </a:r>
            <a:br>
              <a:rPr lang="fr-TN" sz="3600" dirty="0">
                <a:effectLst/>
                <a:latin typeface="Calibri" panose="020F0502020204030204" pitchFamily="34" charset="0"/>
                <a:ea typeface="Calibri" panose="020F0502020204030204" pitchFamily="34" charset="0"/>
                <a:cs typeface="Arial" panose="020B0604020202020204" pitchFamily="34" charset="0"/>
              </a:rPr>
            </a:br>
            <a:endParaRPr lang="fr-TN" dirty="0"/>
          </a:p>
        </p:txBody>
      </p:sp>
      <p:sp>
        <p:nvSpPr>
          <p:cNvPr id="3" name="Espace réservé du contenu 2">
            <a:extLst>
              <a:ext uri="{FF2B5EF4-FFF2-40B4-BE49-F238E27FC236}">
                <a16:creationId xmlns:a16="http://schemas.microsoft.com/office/drawing/2014/main" id="{DC9A2B48-52AF-0B05-B3A2-3866FCF1A73C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371600" y="2265680"/>
            <a:ext cx="9601200" cy="3581400"/>
          </a:xfrm>
        </p:spPr>
        <p:txBody>
          <a:bodyPr>
            <a:normAutofit/>
          </a:bodyPr>
          <a:lstStyle/>
          <a:p>
            <a:pPr marL="742950" lvl="1" indent="-285750" rtl="0">
              <a:lnSpc>
                <a:spcPct val="107000"/>
              </a:lnSpc>
              <a:buFont typeface="+mj-lt"/>
              <a:buAutoNum type="alphaUcPeriod"/>
            </a:pPr>
            <a:r>
              <a:rPr lang="fr-FR" sz="2400" i="0" dirty="0">
                <a:solidFill>
                  <a:srgbClr val="000000"/>
                </a:solidFill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Stade III avec un score à 13</a:t>
            </a:r>
            <a:endParaRPr lang="fr-TN" sz="2400" i="0" dirty="0">
              <a:effectLst/>
              <a:latin typeface="Times New Roman" panose="02020603050405020304" pitchFamily="18" charset="0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pPr marL="742950" lvl="1" indent="-285750">
              <a:lnSpc>
                <a:spcPct val="107000"/>
              </a:lnSpc>
              <a:buFont typeface="+mj-lt"/>
              <a:buAutoNum type="alphaUcPeriod"/>
            </a:pPr>
            <a:r>
              <a:rPr lang="fr-FR" sz="2400" i="0" dirty="0">
                <a:solidFill>
                  <a:srgbClr val="000000"/>
                </a:solidFill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Stade III avec une perte pondérale de 12%</a:t>
            </a:r>
            <a:endParaRPr lang="fr-TN" sz="2400" i="0" dirty="0">
              <a:effectLst/>
              <a:latin typeface="Times New Roman" panose="02020603050405020304" pitchFamily="18" charset="0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pPr marL="742950" lvl="1" indent="-285750">
              <a:lnSpc>
                <a:spcPct val="107000"/>
              </a:lnSpc>
              <a:buFont typeface="+mj-lt"/>
              <a:buAutoNum type="alphaUcPeriod"/>
            </a:pPr>
            <a:r>
              <a:rPr lang="fr-FR" sz="2400" i="0" dirty="0">
                <a:solidFill>
                  <a:srgbClr val="000000"/>
                </a:solidFill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Stade III avec un score à 17</a:t>
            </a:r>
            <a:endParaRPr lang="fr-TN" sz="2400" i="0" dirty="0">
              <a:effectLst/>
              <a:latin typeface="Times New Roman" panose="02020603050405020304" pitchFamily="18" charset="0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pPr marL="742950" lvl="1" indent="-285750">
              <a:lnSpc>
                <a:spcPct val="107000"/>
              </a:lnSpc>
              <a:buFont typeface="+mj-lt"/>
              <a:buAutoNum type="alphaUcPeriod"/>
            </a:pPr>
            <a:r>
              <a:rPr lang="fr-FR" sz="2400" i="0" dirty="0">
                <a:solidFill>
                  <a:srgbClr val="000000"/>
                </a:solidFill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Stade III avec une perte de 10%</a:t>
            </a:r>
            <a:endParaRPr lang="fr-TN" sz="2400" i="0" dirty="0">
              <a:effectLst/>
              <a:latin typeface="Times New Roman" panose="02020603050405020304" pitchFamily="18" charset="0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pPr marL="742950" lvl="1" indent="-285750">
              <a:lnSpc>
                <a:spcPct val="107000"/>
              </a:lnSpc>
              <a:spcAft>
                <a:spcPts val="800"/>
              </a:spcAft>
              <a:buFont typeface="+mj-lt"/>
              <a:buAutoNum type="alphaUcPeriod"/>
            </a:pPr>
            <a:r>
              <a:rPr lang="fr-FR" sz="2400" i="0" dirty="0">
                <a:solidFill>
                  <a:srgbClr val="000000"/>
                </a:solidFill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Stade III avec un état de choc</a:t>
            </a:r>
            <a:endParaRPr lang="fr-TN" sz="2400" i="0" dirty="0">
              <a:effectLst/>
              <a:latin typeface="Times New Roman" panose="02020603050405020304" pitchFamily="18" charset="0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endParaRPr lang="fr-TN" sz="24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750879834"/>
      </p:ext>
    </p:extLst>
  </p:cSld>
  <p:clrMapOvr>
    <a:masterClrMapping/>
  </p:clrMapOvr>
</p:sld>
</file>

<file path=ppt/slides/slide8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B338C3F-E339-D004-F2E4-E290FF54ED2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Espace réservé du contenu 2">
            <a:extLst>
              <a:ext uri="{FF2B5EF4-FFF2-40B4-BE49-F238E27FC236}">
                <a16:creationId xmlns:a16="http://schemas.microsoft.com/office/drawing/2014/main" id="{ABBAA43A-074B-F79D-59EE-ADE516704EE1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pPr>
              <a:lnSpc>
                <a:spcPct val="107000"/>
              </a:lnSpc>
              <a:spcAft>
                <a:spcPts val="800"/>
              </a:spcAft>
              <a:buNone/>
            </a:pPr>
            <a:r>
              <a:rPr lang="fr-FR" sz="2400" dirty="0" err="1"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Arial" panose="020B0604020202020204" pitchFamily="34" charset="0"/>
              </a:rPr>
              <a:t>Zeineb</a:t>
            </a:r>
            <a:r>
              <a:rPr lang="fr-FR" sz="2400" dirty="0"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Arial" panose="020B0604020202020204" pitchFamily="34" charset="0"/>
              </a:rPr>
              <a:t> , nourrisson âgée de 13 mois, présente depuis 24 heures, 10 selles liquidiennes abondantes . </a:t>
            </a:r>
            <a:endParaRPr lang="fr-TN" sz="2400" dirty="0">
              <a:effectLst/>
              <a:latin typeface="Calibri" panose="020F0502020204030204" pitchFamily="34" charset="0"/>
              <a:ea typeface="Calibri" panose="020F0502020204030204" pitchFamily="34" charset="0"/>
              <a:cs typeface="Arial" panose="020B0604020202020204" pitchFamily="34" charset="0"/>
            </a:endParaRPr>
          </a:p>
          <a:p>
            <a:pPr>
              <a:buNone/>
            </a:pPr>
            <a:r>
              <a:rPr lang="fr-FR" sz="2400" dirty="0">
                <a:effectLst/>
                <a:latin typeface="Times New Roman" panose="02020603050405020304" pitchFamily="18" charset="0"/>
                <a:ea typeface="Calibri" panose="020F0502020204030204" pitchFamily="34" charset="0"/>
              </a:rPr>
              <a:t>A l’examen : nourrisson apathique, poids : 8,8 kg (son poids il y a une semaine 10 kg), T° : 38,5° , elle a un pli cutané persistant, sa  langue est  un peu desséchée, sa fontanelle est  très déprimée , ses globes oculaires sont  très enfoncés, sa FC à 180 battements /min , le TRC à 4 </a:t>
            </a:r>
            <a:r>
              <a:rPr lang="fr-FR" sz="2400" dirty="0">
                <a:solidFill>
                  <a:srgbClr val="000000"/>
                </a:solidFill>
                <a:effectLst/>
                <a:latin typeface="Times New Roman" panose="02020603050405020304" pitchFamily="18" charset="0"/>
                <a:ea typeface="Calibri" panose="020F0502020204030204" pitchFamily="34" charset="0"/>
              </a:rPr>
              <a:t>sec,  TA  à 60/ 30, sa respiration est  ample, FR à 60 cycles/min</a:t>
            </a:r>
            <a:endParaRPr lang="fr-TN" sz="2400" dirty="0"/>
          </a:p>
        </p:txBody>
      </p:sp>
      <p:sp>
        <p:nvSpPr>
          <p:cNvPr id="4" name="Titre 1">
            <a:extLst>
              <a:ext uri="{FF2B5EF4-FFF2-40B4-BE49-F238E27FC236}">
                <a16:creationId xmlns:a16="http://schemas.microsoft.com/office/drawing/2014/main" id="{865D9D2D-1F41-AFD4-CA63-A8D67A6E000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371600" y="685800"/>
            <a:ext cx="9601200" cy="1485900"/>
          </a:xfrm>
        </p:spPr>
        <p:txBody>
          <a:bodyPr/>
          <a:lstStyle/>
          <a:p>
            <a:r>
              <a:rPr lang="fr-FR" b="1" dirty="0">
                <a:solidFill>
                  <a:srgbClr val="0070C0"/>
                </a:solidFill>
              </a:rPr>
              <a:t>Cas clinique N°2</a:t>
            </a:r>
            <a:endParaRPr lang="fr-TN" b="1" dirty="0">
              <a:solidFill>
                <a:srgbClr val="0070C0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799248017"/>
      </p:ext>
    </p:extLst>
  </p:cSld>
  <p:clrMapOvr>
    <a:masterClrMapping/>
  </p:clrMapOvr>
</p:sld>
</file>

<file path=ppt/slides/slide8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F465A51-28E8-C896-797A-4A4653D9A38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>
            <a:extLst>
              <a:ext uri="{FF2B5EF4-FFF2-40B4-BE49-F238E27FC236}">
                <a16:creationId xmlns:a16="http://schemas.microsoft.com/office/drawing/2014/main" id="{FB9A5126-24CD-C558-6D65-92AFB63F3E3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pPr marL="342900" lvl="0" indent="-342900" rtl="0">
              <a:lnSpc>
                <a:spcPct val="107000"/>
              </a:lnSpc>
              <a:spcAft>
                <a:spcPts val="800"/>
              </a:spcAft>
            </a:pPr>
            <a:r>
              <a:rPr lang="fr-FR" sz="4400" b="1" dirty="0">
                <a:solidFill>
                  <a:srgbClr val="000000"/>
                </a:solidFill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Arial" panose="020B0604020202020204" pitchFamily="34" charset="0"/>
              </a:rPr>
              <a:t>Il s’agit d’une déshydratation :</a:t>
            </a:r>
            <a:br>
              <a:rPr lang="fr-TN" sz="3600" dirty="0">
                <a:effectLst/>
                <a:latin typeface="Calibri" panose="020F0502020204030204" pitchFamily="34" charset="0"/>
                <a:ea typeface="Calibri" panose="020F0502020204030204" pitchFamily="34" charset="0"/>
                <a:cs typeface="Arial" panose="020B0604020202020204" pitchFamily="34" charset="0"/>
              </a:rPr>
            </a:br>
            <a:br>
              <a:rPr lang="fr-FR" sz="3600">
                <a:effectLst/>
                <a:latin typeface="Calibri" panose="020F0502020204030204" pitchFamily="34" charset="0"/>
                <a:ea typeface="Calibri" panose="020F0502020204030204" pitchFamily="34" charset="0"/>
                <a:cs typeface="Arial" panose="020B0604020202020204" pitchFamily="34" charset="0"/>
              </a:rPr>
            </a:br>
            <a:endParaRPr lang="fr-TN" dirty="0"/>
          </a:p>
        </p:txBody>
      </p:sp>
      <p:sp>
        <p:nvSpPr>
          <p:cNvPr id="3" name="Espace réservé du contenu 2">
            <a:extLst>
              <a:ext uri="{FF2B5EF4-FFF2-40B4-BE49-F238E27FC236}">
                <a16:creationId xmlns:a16="http://schemas.microsoft.com/office/drawing/2014/main" id="{A047C6D3-DC9B-C7B1-70FD-D2764C88750A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371600" y="2265680"/>
            <a:ext cx="9601200" cy="3581400"/>
          </a:xfrm>
        </p:spPr>
        <p:txBody>
          <a:bodyPr>
            <a:normAutofit/>
          </a:bodyPr>
          <a:lstStyle/>
          <a:p>
            <a:pPr marL="742950" lvl="1" indent="-285750" rtl="0">
              <a:lnSpc>
                <a:spcPct val="107000"/>
              </a:lnSpc>
              <a:buFont typeface="+mj-lt"/>
              <a:buAutoNum type="alphaUcPeriod"/>
            </a:pPr>
            <a:r>
              <a:rPr lang="fr-FR" sz="2400" i="0" dirty="0">
                <a:solidFill>
                  <a:srgbClr val="000000"/>
                </a:solidFill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Stade III avec un score à 13</a:t>
            </a:r>
            <a:endParaRPr lang="fr-TN" sz="2400" i="0" dirty="0">
              <a:effectLst/>
              <a:latin typeface="Times New Roman" panose="02020603050405020304" pitchFamily="18" charset="0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pPr marL="742950" lvl="1" indent="-285750">
              <a:lnSpc>
                <a:spcPct val="107000"/>
              </a:lnSpc>
              <a:buFont typeface="+mj-lt"/>
              <a:buAutoNum type="alphaUcPeriod"/>
            </a:pPr>
            <a:r>
              <a:rPr lang="fr-FR" sz="2400" i="0" dirty="0">
                <a:solidFill>
                  <a:srgbClr val="FF0000"/>
                </a:solidFill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Stade III avec une perte pondérale de 12%</a:t>
            </a:r>
            <a:endParaRPr lang="fr-TN" sz="2400" i="0" dirty="0">
              <a:solidFill>
                <a:srgbClr val="FF0000"/>
              </a:solidFill>
              <a:effectLst/>
              <a:latin typeface="Times New Roman" panose="02020603050405020304" pitchFamily="18" charset="0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pPr marL="742950" lvl="1" indent="-285750">
              <a:lnSpc>
                <a:spcPct val="107000"/>
              </a:lnSpc>
              <a:buFont typeface="+mj-lt"/>
              <a:buAutoNum type="alphaUcPeriod"/>
            </a:pPr>
            <a:r>
              <a:rPr lang="fr-FR" sz="2400" i="0" dirty="0">
                <a:solidFill>
                  <a:srgbClr val="FF0000"/>
                </a:solidFill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Stade III avec un score à 17</a:t>
            </a:r>
            <a:endParaRPr lang="fr-TN" sz="2400" i="0" dirty="0">
              <a:solidFill>
                <a:srgbClr val="FF0000"/>
              </a:solidFill>
              <a:effectLst/>
              <a:latin typeface="Times New Roman" panose="02020603050405020304" pitchFamily="18" charset="0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pPr marL="742950" lvl="1" indent="-285750">
              <a:lnSpc>
                <a:spcPct val="107000"/>
              </a:lnSpc>
              <a:buFont typeface="+mj-lt"/>
              <a:buAutoNum type="alphaUcPeriod"/>
            </a:pPr>
            <a:r>
              <a:rPr lang="fr-FR" sz="2400" i="0" dirty="0">
                <a:solidFill>
                  <a:srgbClr val="000000"/>
                </a:solidFill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Stade III avec une perte de 10%</a:t>
            </a:r>
            <a:endParaRPr lang="fr-TN" sz="2400" i="0" dirty="0">
              <a:effectLst/>
              <a:latin typeface="Times New Roman" panose="02020603050405020304" pitchFamily="18" charset="0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pPr marL="742950" lvl="1" indent="-285750">
              <a:lnSpc>
                <a:spcPct val="107000"/>
              </a:lnSpc>
              <a:spcAft>
                <a:spcPts val="800"/>
              </a:spcAft>
              <a:buFont typeface="+mj-lt"/>
              <a:buAutoNum type="alphaUcPeriod"/>
            </a:pPr>
            <a:r>
              <a:rPr lang="fr-FR" sz="2400" i="0" dirty="0">
                <a:solidFill>
                  <a:srgbClr val="FF0000"/>
                </a:solidFill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Stade III avec un état de choc</a:t>
            </a:r>
            <a:endParaRPr lang="fr-TN" sz="2400" i="0" dirty="0">
              <a:solidFill>
                <a:srgbClr val="FF0000"/>
              </a:solidFill>
              <a:effectLst/>
              <a:latin typeface="Times New Roman" panose="02020603050405020304" pitchFamily="18" charset="0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endParaRPr lang="fr-TN" sz="24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073854024"/>
      </p:ext>
    </p:extLst>
  </p:cSld>
  <p:clrMapOvr>
    <a:masterClrMapping/>
  </p:clrMapOvr>
</p:sld>
</file>

<file path=ppt/slides/slide8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>
            <a:extLst>
              <a:ext uri="{FF2B5EF4-FFF2-40B4-BE49-F238E27FC236}">
                <a16:creationId xmlns:a16="http://schemas.microsoft.com/office/drawing/2014/main" id="{B43CCEAA-04EC-6D38-48A2-6041B96D8A3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Autofit/>
          </a:bodyPr>
          <a:lstStyle/>
          <a:p>
            <a:pPr marL="318770" marR="0" lvl="0" indent="-384048" defTabSz="914400" rtl="0" eaLnBrk="1" fontAlgn="auto" latinLnBrk="0" hangingPunct="1">
              <a:lnSpc>
                <a:spcPct val="107000"/>
              </a:lnSpc>
              <a:spcBef>
                <a:spcPts val="1000"/>
              </a:spcBef>
              <a:spcAft>
                <a:spcPts val="800"/>
              </a:spcAft>
              <a:tabLst/>
              <a:defRPr/>
            </a:pPr>
            <a:r>
              <a:rPr kumimoji="0" lang="fr-FR" sz="1800" b="1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 panose="02020603050405020304" pitchFamily="18" charset="0"/>
                <a:ea typeface="Calibri" panose="020F0502020204030204" pitchFamily="34" charset="0"/>
                <a:cs typeface="Arial" panose="020B0604020202020204" pitchFamily="34" charset="0"/>
              </a:rPr>
              <a:t>Le bilan demandé : Na+= 121 </a:t>
            </a:r>
            <a:r>
              <a:rPr kumimoji="0" lang="fr-FR" sz="1800" b="1" i="0" u="none" strike="noStrike" kern="1200" cap="none" spc="0" normalizeH="0" baseline="0" noProof="0" dirty="0" err="1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 panose="02020603050405020304" pitchFamily="18" charset="0"/>
                <a:ea typeface="Calibri" panose="020F0502020204030204" pitchFamily="34" charset="0"/>
                <a:cs typeface="Arial" panose="020B0604020202020204" pitchFamily="34" charset="0"/>
              </a:rPr>
              <a:t>mmol</a:t>
            </a:r>
            <a:r>
              <a:rPr kumimoji="0" lang="fr-FR" sz="1800" b="1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 panose="02020603050405020304" pitchFamily="18" charset="0"/>
                <a:ea typeface="Calibri" panose="020F0502020204030204" pitchFamily="34" charset="0"/>
                <a:cs typeface="Arial" panose="020B0604020202020204" pitchFamily="34" charset="0"/>
              </a:rPr>
              <a:t>/l, k+ = 4.8 </a:t>
            </a:r>
            <a:r>
              <a:rPr kumimoji="0" lang="fr-FR" sz="1800" b="1" i="0" u="none" strike="noStrike" kern="1200" cap="none" spc="0" normalizeH="0" baseline="0" noProof="0" dirty="0" err="1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 panose="02020603050405020304" pitchFamily="18" charset="0"/>
                <a:ea typeface="Calibri" panose="020F0502020204030204" pitchFamily="34" charset="0"/>
                <a:cs typeface="Arial" panose="020B0604020202020204" pitchFamily="34" charset="0"/>
              </a:rPr>
              <a:t>mmol</a:t>
            </a:r>
            <a:r>
              <a:rPr kumimoji="0" lang="fr-FR" sz="1800" b="1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 panose="02020603050405020304" pitchFamily="18" charset="0"/>
                <a:ea typeface="Calibri" panose="020F0502020204030204" pitchFamily="34" charset="0"/>
                <a:cs typeface="Arial" panose="020B0604020202020204" pitchFamily="34" charset="0"/>
              </a:rPr>
              <a:t>/l ,  Urée 20= </a:t>
            </a:r>
            <a:r>
              <a:rPr kumimoji="0" lang="fr-FR" sz="1800" b="1" i="0" u="none" strike="noStrike" kern="1200" cap="none" spc="0" normalizeH="0" baseline="0" noProof="0" dirty="0" err="1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 panose="02020603050405020304" pitchFamily="18" charset="0"/>
                <a:ea typeface="Calibri" panose="020F0502020204030204" pitchFamily="34" charset="0"/>
                <a:cs typeface="Arial" panose="020B0604020202020204" pitchFamily="34" charset="0"/>
              </a:rPr>
              <a:t>mmol</a:t>
            </a:r>
            <a:r>
              <a:rPr kumimoji="0" lang="fr-FR" sz="1800" b="1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 panose="02020603050405020304" pitchFamily="18" charset="0"/>
                <a:ea typeface="Calibri" panose="020F0502020204030204" pitchFamily="34" charset="0"/>
                <a:cs typeface="Arial" panose="020B0604020202020204" pitchFamily="34" charset="0"/>
              </a:rPr>
              <a:t>/l    créatinine =110umol/l , Glycémie =1,2g/L</a:t>
            </a:r>
            <a:br>
              <a:rPr kumimoji="0" lang="fr-TN" sz="1800" b="1" i="0" u="none" strike="noStrike" kern="1200" cap="none" spc="0" normalizeH="0" baseline="0" noProof="0" dirty="0">
                <a:ln>
                  <a:noFill/>
                </a:ln>
                <a:solidFill>
                  <a:srgbClr val="191B0E"/>
                </a:solidFill>
                <a:effectLst/>
                <a:uLnTx/>
                <a:uFillTx/>
                <a:latin typeface="Calibri" panose="020F0502020204030204" pitchFamily="34" charset="0"/>
                <a:ea typeface="Calibri" panose="020F0502020204030204" pitchFamily="34" charset="0"/>
                <a:cs typeface="Arial" panose="020B0604020202020204" pitchFamily="34" charset="0"/>
              </a:rPr>
            </a:br>
            <a:r>
              <a:rPr kumimoji="0" lang="fr-FR" sz="1800" b="1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 panose="02020603050405020304" pitchFamily="18" charset="0"/>
                <a:ea typeface="Calibri" panose="020F0502020204030204" pitchFamily="34" charset="0"/>
                <a:cs typeface="Arial" panose="020B0604020202020204" pitchFamily="34" charset="0"/>
              </a:rPr>
              <a:t>  </a:t>
            </a:r>
            <a:r>
              <a:rPr kumimoji="0" lang="en-GB" sz="1800" b="1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 panose="02020603050405020304" pitchFamily="18" charset="0"/>
                <a:ea typeface="Calibri" panose="020F0502020204030204" pitchFamily="34" charset="0"/>
                <a:cs typeface="Arial" panose="020B0604020202020204" pitchFamily="34" charset="0"/>
              </a:rPr>
              <a:t>GDS: 7,2, HCO3: 12, BE: -12 PCO2 : 30 </a:t>
            </a:r>
            <a:r>
              <a:rPr kumimoji="0" lang="en-GB" sz="1800" b="1" i="0" u="none" strike="noStrike" kern="1200" cap="none" spc="0" normalizeH="0" baseline="0" noProof="0" dirty="0" err="1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 panose="02020603050405020304" pitchFamily="18" charset="0"/>
                <a:ea typeface="Calibri" panose="020F0502020204030204" pitchFamily="34" charset="0"/>
                <a:cs typeface="Arial" panose="020B0604020202020204" pitchFamily="34" charset="0"/>
              </a:rPr>
              <a:t>glycémie</a:t>
            </a:r>
            <a:r>
              <a:rPr kumimoji="0" lang="en-GB" sz="1800" b="1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 panose="02020603050405020304" pitchFamily="18" charset="0"/>
                <a:ea typeface="Calibri" panose="020F0502020204030204" pitchFamily="34" charset="0"/>
                <a:cs typeface="Arial" panose="020B0604020202020204" pitchFamily="34" charset="0"/>
              </a:rPr>
              <a:t> : 5,6 mmol/l</a:t>
            </a:r>
            <a:br>
              <a:rPr kumimoji="0" lang="fr-TN" sz="1800" b="1" i="0" u="none" strike="noStrike" kern="1200" cap="none" spc="0" normalizeH="0" baseline="0" noProof="0" dirty="0">
                <a:ln>
                  <a:noFill/>
                </a:ln>
                <a:solidFill>
                  <a:srgbClr val="191B0E"/>
                </a:solidFill>
                <a:effectLst/>
                <a:uLnTx/>
                <a:uFillTx/>
                <a:latin typeface="Calibri" panose="020F0502020204030204" pitchFamily="34" charset="0"/>
                <a:ea typeface="Calibri" panose="020F0502020204030204" pitchFamily="34" charset="0"/>
                <a:cs typeface="Arial" panose="020B0604020202020204" pitchFamily="34" charset="0"/>
              </a:rPr>
            </a:br>
            <a:r>
              <a:rPr kumimoji="0" lang="en-GB" sz="1800" b="1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 panose="02020603050405020304" pitchFamily="18" charset="0"/>
                <a:ea typeface="Calibri" panose="020F0502020204030204" pitchFamily="34" charset="0"/>
                <a:cs typeface="Arial" panose="020B0604020202020204" pitchFamily="34" charset="0"/>
              </a:rPr>
              <a:t>  </a:t>
            </a:r>
            <a:br>
              <a:rPr kumimoji="0" lang="fr-TN" sz="1800" b="1" i="0" u="none" strike="noStrike" kern="1200" cap="none" spc="0" normalizeH="0" baseline="0" noProof="0" dirty="0">
                <a:ln>
                  <a:noFill/>
                </a:ln>
                <a:solidFill>
                  <a:srgbClr val="191B0E"/>
                </a:solidFill>
                <a:effectLst/>
                <a:uLnTx/>
                <a:uFillTx/>
                <a:latin typeface="Calibri" panose="020F0502020204030204" pitchFamily="34" charset="0"/>
                <a:ea typeface="Calibri" panose="020F0502020204030204" pitchFamily="34" charset="0"/>
                <a:cs typeface="Arial" panose="020B0604020202020204" pitchFamily="34" charset="0"/>
              </a:rPr>
            </a:br>
            <a:r>
              <a:rPr kumimoji="0" lang="fr-FR" sz="1800" b="1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 panose="02020603050405020304" pitchFamily="18" charset="0"/>
                <a:ea typeface="Calibri" panose="020F0502020204030204" pitchFamily="34" charset="0"/>
                <a:cs typeface="Arial" panose="020B0604020202020204" pitchFamily="34" charset="0"/>
              </a:rPr>
              <a:t>Ce nourrisson présente : </a:t>
            </a:r>
            <a:br>
              <a:rPr kumimoji="0" lang="fr-TN" sz="1800" b="1" i="0" u="none" strike="noStrike" kern="1200" cap="none" spc="0" normalizeH="0" baseline="0" noProof="0" dirty="0">
                <a:ln>
                  <a:noFill/>
                </a:ln>
                <a:solidFill>
                  <a:srgbClr val="191B0E"/>
                </a:solidFill>
                <a:effectLst/>
                <a:uLnTx/>
                <a:uFillTx/>
                <a:latin typeface="Calibri" panose="020F0502020204030204" pitchFamily="34" charset="0"/>
                <a:ea typeface="Calibri" panose="020F0502020204030204" pitchFamily="34" charset="0"/>
                <a:cs typeface="Arial" panose="020B0604020202020204" pitchFamily="34" charset="0"/>
              </a:rPr>
            </a:br>
            <a:endParaRPr lang="fr-TN" sz="1800" b="1" dirty="0"/>
          </a:p>
        </p:txBody>
      </p:sp>
      <p:sp>
        <p:nvSpPr>
          <p:cNvPr id="3" name="Espace réservé du contenu 2">
            <a:extLst>
              <a:ext uri="{FF2B5EF4-FFF2-40B4-BE49-F238E27FC236}">
                <a16:creationId xmlns:a16="http://schemas.microsoft.com/office/drawing/2014/main" id="{9273BFC9-1260-7EE1-9C6B-3C8F24143F1F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pPr marL="342900" lvl="0" indent="-342900">
              <a:lnSpc>
                <a:spcPct val="107000"/>
              </a:lnSpc>
              <a:spcAft>
                <a:spcPts val="800"/>
              </a:spcAft>
              <a:buFont typeface="+mj-lt"/>
              <a:buAutoNum type="alphaUcPeriod"/>
            </a:pPr>
            <a:r>
              <a:rPr lang="fr-FR" dirty="0">
                <a:solidFill>
                  <a:srgbClr val="000000"/>
                </a:solidFill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Arial" panose="020B0604020202020204" pitchFamily="34" charset="0"/>
              </a:rPr>
              <a:t>Une acidose métabolique non compensée</a:t>
            </a:r>
            <a:endParaRPr lang="fr-TN" dirty="0">
              <a:effectLst/>
              <a:latin typeface="Calibri" panose="020F0502020204030204" pitchFamily="34" charset="0"/>
              <a:ea typeface="Calibri" panose="020F0502020204030204" pitchFamily="34" charset="0"/>
              <a:cs typeface="Arial" panose="020B0604020202020204" pitchFamily="34" charset="0"/>
            </a:endParaRPr>
          </a:p>
          <a:p>
            <a:pPr marL="342900" lvl="0" indent="-342900">
              <a:lnSpc>
                <a:spcPct val="107000"/>
              </a:lnSpc>
              <a:spcAft>
                <a:spcPts val="800"/>
              </a:spcAft>
              <a:buFont typeface="+mj-lt"/>
              <a:buAutoNum type="alphaUcPeriod"/>
            </a:pPr>
            <a:r>
              <a:rPr lang="fr-FR" dirty="0">
                <a:solidFill>
                  <a:srgbClr val="000000"/>
                </a:solidFill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Arial" panose="020B0604020202020204" pitchFamily="34" charset="0"/>
              </a:rPr>
              <a:t>Une hyperglycémie</a:t>
            </a:r>
            <a:endParaRPr lang="fr-TN" dirty="0">
              <a:effectLst/>
              <a:latin typeface="Calibri" panose="020F0502020204030204" pitchFamily="34" charset="0"/>
              <a:ea typeface="Calibri" panose="020F0502020204030204" pitchFamily="34" charset="0"/>
              <a:cs typeface="Arial" panose="020B0604020202020204" pitchFamily="34" charset="0"/>
            </a:endParaRPr>
          </a:p>
          <a:p>
            <a:pPr marL="342900" lvl="0" indent="-342900">
              <a:lnSpc>
                <a:spcPct val="107000"/>
              </a:lnSpc>
              <a:spcAft>
                <a:spcPts val="800"/>
              </a:spcAft>
              <a:buFont typeface="+mj-lt"/>
              <a:buAutoNum type="alphaUcPeriod"/>
            </a:pPr>
            <a:r>
              <a:rPr lang="fr-FR" dirty="0">
                <a:solidFill>
                  <a:srgbClr val="000000"/>
                </a:solidFill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Arial" panose="020B0604020202020204" pitchFamily="34" charset="0"/>
              </a:rPr>
              <a:t>Une hyponatrémie</a:t>
            </a:r>
            <a:endParaRPr lang="fr-TN" dirty="0">
              <a:effectLst/>
              <a:latin typeface="Calibri" panose="020F0502020204030204" pitchFamily="34" charset="0"/>
              <a:ea typeface="Calibri" panose="020F0502020204030204" pitchFamily="34" charset="0"/>
              <a:cs typeface="Arial" panose="020B0604020202020204" pitchFamily="34" charset="0"/>
            </a:endParaRPr>
          </a:p>
          <a:p>
            <a:pPr marL="342900" lvl="0" indent="-342900">
              <a:lnSpc>
                <a:spcPct val="107000"/>
              </a:lnSpc>
              <a:spcAft>
                <a:spcPts val="800"/>
              </a:spcAft>
              <a:buFont typeface="+mj-lt"/>
              <a:buAutoNum type="alphaUcPeriod"/>
            </a:pPr>
            <a:r>
              <a:rPr lang="fr-FR" dirty="0">
                <a:solidFill>
                  <a:srgbClr val="000000"/>
                </a:solidFill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Arial" panose="020B0604020202020204" pitchFamily="34" charset="0"/>
              </a:rPr>
              <a:t>Une hyperkaliémie</a:t>
            </a:r>
            <a:endParaRPr lang="fr-TN" dirty="0">
              <a:effectLst/>
              <a:latin typeface="Calibri" panose="020F0502020204030204" pitchFamily="34" charset="0"/>
              <a:ea typeface="Calibri" panose="020F0502020204030204" pitchFamily="34" charset="0"/>
              <a:cs typeface="Arial" panose="020B0604020202020204" pitchFamily="34" charset="0"/>
            </a:endParaRPr>
          </a:p>
          <a:p>
            <a:pPr marL="342900" lvl="0" indent="-342900">
              <a:lnSpc>
                <a:spcPct val="107000"/>
              </a:lnSpc>
              <a:spcAft>
                <a:spcPts val="800"/>
              </a:spcAft>
              <a:buFont typeface="+mj-lt"/>
              <a:buAutoNum type="alphaUcPeriod"/>
            </a:pPr>
            <a:r>
              <a:rPr lang="fr-FR" dirty="0">
                <a:solidFill>
                  <a:srgbClr val="000000"/>
                </a:solidFill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Arial" panose="020B0604020202020204" pitchFamily="34" charset="0"/>
              </a:rPr>
              <a:t>Une insuffisance rénale</a:t>
            </a:r>
            <a:endParaRPr lang="fr-TN" dirty="0">
              <a:effectLst/>
              <a:latin typeface="Calibri" panose="020F0502020204030204" pitchFamily="34" charset="0"/>
              <a:ea typeface="Calibri" panose="020F0502020204030204" pitchFamily="34" charset="0"/>
              <a:cs typeface="Arial" panose="020B0604020202020204" pitchFamily="34" charset="0"/>
            </a:endParaRPr>
          </a:p>
          <a:p>
            <a:endParaRPr lang="fr-TN" dirty="0"/>
          </a:p>
        </p:txBody>
      </p:sp>
    </p:spTree>
    <p:extLst>
      <p:ext uri="{BB962C8B-B14F-4D97-AF65-F5344CB8AC3E}">
        <p14:creationId xmlns:p14="http://schemas.microsoft.com/office/powerpoint/2010/main" val="2951125140"/>
      </p:ext>
    </p:extLst>
  </p:cSld>
  <p:clrMapOvr>
    <a:masterClrMapping/>
  </p:clrMapOvr>
</p:sld>
</file>

<file path=ppt/slides/slide8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957F14B-5B71-1E28-05BD-F263D6BD88E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>
            <a:extLst>
              <a:ext uri="{FF2B5EF4-FFF2-40B4-BE49-F238E27FC236}">
                <a16:creationId xmlns:a16="http://schemas.microsoft.com/office/drawing/2014/main" id="{EED5935A-293D-4F98-7874-654FAC66B5C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Autofit/>
          </a:bodyPr>
          <a:lstStyle/>
          <a:p>
            <a:pPr marL="318770" marR="0" lvl="0" indent="-384048" defTabSz="914400" rtl="0" eaLnBrk="1" fontAlgn="auto" latinLnBrk="0" hangingPunct="1">
              <a:lnSpc>
                <a:spcPct val="107000"/>
              </a:lnSpc>
              <a:spcBef>
                <a:spcPts val="1000"/>
              </a:spcBef>
              <a:spcAft>
                <a:spcPts val="800"/>
              </a:spcAft>
              <a:tabLst/>
              <a:defRPr/>
            </a:pPr>
            <a:r>
              <a:rPr kumimoji="0" lang="fr-FR" sz="1800" b="1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 panose="02020603050405020304" pitchFamily="18" charset="0"/>
                <a:ea typeface="Calibri" panose="020F0502020204030204" pitchFamily="34" charset="0"/>
                <a:cs typeface="Arial" panose="020B0604020202020204" pitchFamily="34" charset="0"/>
              </a:rPr>
              <a:t>Le bilan demandé : Na+= 121 </a:t>
            </a:r>
            <a:r>
              <a:rPr kumimoji="0" lang="fr-FR" sz="1800" b="1" i="0" u="none" strike="noStrike" kern="1200" cap="none" spc="0" normalizeH="0" baseline="0" noProof="0" dirty="0" err="1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 panose="02020603050405020304" pitchFamily="18" charset="0"/>
                <a:ea typeface="Calibri" panose="020F0502020204030204" pitchFamily="34" charset="0"/>
                <a:cs typeface="Arial" panose="020B0604020202020204" pitchFamily="34" charset="0"/>
              </a:rPr>
              <a:t>mmol</a:t>
            </a:r>
            <a:r>
              <a:rPr kumimoji="0" lang="fr-FR" sz="1800" b="1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 panose="02020603050405020304" pitchFamily="18" charset="0"/>
                <a:ea typeface="Calibri" panose="020F0502020204030204" pitchFamily="34" charset="0"/>
                <a:cs typeface="Arial" panose="020B0604020202020204" pitchFamily="34" charset="0"/>
              </a:rPr>
              <a:t>/l, k+ = 4.8 </a:t>
            </a:r>
            <a:r>
              <a:rPr kumimoji="0" lang="fr-FR" sz="1800" b="1" i="0" u="none" strike="noStrike" kern="1200" cap="none" spc="0" normalizeH="0" baseline="0" noProof="0" dirty="0" err="1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 panose="02020603050405020304" pitchFamily="18" charset="0"/>
                <a:ea typeface="Calibri" panose="020F0502020204030204" pitchFamily="34" charset="0"/>
                <a:cs typeface="Arial" panose="020B0604020202020204" pitchFamily="34" charset="0"/>
              </a:rPr>
              <a:t>mmol</a:t>
            </a:r>
            <a:r>
              <a:rPr kumimoji="0" lang="fr-FR" sz="1800" b="1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 panose="02020603050405020304" pitchFamily="18" charset="0"/>
                <a:ea typeface="Calibri" panose="020F0502020204030204" pitchFamily="34" charset="0"/>
                <a:cs typeface="Arial" panose="020B0604020202020204" pitchFamily="34" charset="0"/>
              </a:rPr>
              <a:t>/l ,  Urée 20= </a:t>
            </a:r>
            <a:r>
              <a:rPr kumimoji="0" lang="fr-FR" sz="1800" b="1" i="0" u="none" strike="noStrike" kern="1200" cap="none" spc="0" normalizeH="0" baseline="0" noProof="0" dirty="0" err="1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 panose="02020603050405020304" pitchFamily="18" charset="0"/>
                <a:ea typeface="Calibri" panose="020F0502020204030204" pitchFamily="34" charset="0"/>
                <a:cs typeface="Arial" panose="020B0604020202020204" pitchFamily="34" charset="0"/>
              </a:rPr>
              <a:t>mmol</a:t>
            </a:r>
            <a:r>
              <a:rPr kumimoji="0" lang="fr-FR" sz="1800" b="1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 panose="02020603050405020304" pitchFamily="18" charset="0"/>
                <a:ea typeface="Calibri" panose="020F0502020204030204" pitchFamily="34" charset="0"/>
                <a:cs typeface="Arial" panose="020B0604020202020204" pitchFamily="34" charset="0"/>
              </a:rPr>
              <a:t>/l    créatinine =110umol/l , Glycémie =1,2g/L</a:t>
            </a:r>
            <a:br>
              <a:rPr kumimoji="0" lang="fr-TN" sz="1800" b="1" i="0" u="none" strike="noStrike" kern="1200" cap="none" spc="0" normalizeH="0" baseline="0" noProof="0" dirty="0">
                <a:ln>
                  <a:noFill/>
                </a:ln>
                <a:solidFill>
                  <a:srgbClr val="191B0E"/>
                </a:solidFill>
                <a:effectLst/>
                <a:uLnTx/>
                <a:uFillTx/>
                <a:latin typeface="Calibri" panose="020F0502020204030204" pitchFamily="34" charset="0"/>
                <a:ea typeface="Calibri" panose="020F0502020204030204" pitchFamily="34" charset="0"/>
                <a:cs typeface="Arial" panose="020B0604020202020204" pitchFamily="34" charset="0"/>
              </a:rPr>
            </a:br>
            <a:r>
              <a:rPr kumimoji="0" lang="fr-FR" sz="1800" b="1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 panose="02020603050405020304" pitchFamily="18" charset="0"/>
                <a:ea typeface="Calibri" panose="020F0502020204030204" pitchFamily="34" charset="0"/>
                <a:cs typeface="Arial" panose="020B0604020202020204" pitchFamily="34" charset="0"/>
              </a:rPr>
              <a:t>  </a:t>
            </a:r>
            <a:r>
              <a:rPr kumimoji="0" lang="en-GB" sz="1800" b="1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 panose="02020603050405020304" pitchFamily="18" charset="0"/>
                <a:ea typeface="Calibri" panose="020F0502020204030204" pitchFamily="34" charset="0"/>
                <a:cs typeface="Arial" panose="020B0604020202020204" pitchFamily="34" charset="0"/>
              </a:rPr>
              <a:t>GDS: 7,2, HCO3: 12, BE: -12 PCO2 : 30 </a:t>
            </a:r>
            <a:r>
              <a:rPr kumimoji="0" lang="en-GB" sz="1800" b="1" i="0" u="none" strike="noStrike" kern="1200" cap="none" spc="0" normalizeH="0" baseline="0" noProof="0" dirty="0" err="1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 panose="02020603050405020304" pitchFamily="18" charset="0"/>
                <a:ea typeface="Calibri" panose="020F0502020204030204" pitchFamily="34" charset="0"/>
                <a:cs typeface="Arial" panose="020B0604020202020204" pitchFamily="34" charset="0"/>
              </a:rPr>
              <a:t>glycémie</a:t>
            </a:r>
            <a:r>
              <a:rPr kumimoji="0" lang="en-GB" sz="1800" b="1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 panose="02020603050405020304" pitchFamily="18" charset="0"/>
                <a:ea typeface="Calibri" panose="020F0502020204030204" pitchFamily="34" charset="0"/>
                <a:cs typeface="Arial" panose="020B0604020202020204" pitchFamily="34" charset="0"/>
              </a:rPr>
              <a:t> : 5,6 mmol/l</a:t>
            </a:r>
            <a:br>
              <a:rPr kumimoji="0" lang="fr-TN" sz="1800" b="1" i="0" u="none" strike="noStrike" kern="1200" cap="none" spc="0" normalizeH="0" baseline="0" noProof="0" dirty="0">
                <a:ln>
                  <a:noFill/>
                </a:ln>
                <a:solidFill>
                  <a:srgbClr val="191B0E"/>
                </a:solidFill>
                <a:effectLst/>
                <a:uLnTx/>
                <a:uFillTx/>
                <a:latin typeface="Calibri" panose="020F0502020204030204" pitchFamily="34" charset="0"/>
                <a:ea typeface="Calibri" panose="020F0502020204030204" pitchFamily="34" charset="0"/>
                <a:cs typeface="Arial" panose="020B0604020202020204" pitchFamily="34" charset="0"/>
              </a:rPr>
            </a:br>
            <a:r>
              <a:rPr kumimoji="0" lang="en-GB" sz="1800" b="1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 panose="02020603050405020304" pitchFamily="18" charset="0"/>
                <a:ea typeface="Calibri" panose="020F0502020204030204" pitchFamily="34" charset="0"/>
                <a:cs typeface="Arial" panose="020B0604020202020204" pitchFamily="34" charset="0"/>
              </a:rPr>
              <a:t>  </a:t>
            </a:r>
            <a:br>
              <a:rPr kumimoji="0" lang="fr-TN" sz="1800" b="1" i="0" u="none" strike="noStrike" kern="1200" cap="none" spc="0" normalizeH="0" baseline="0" noProof="0" dirty="0">
                <a:ln>
                  <a:noFill/>
                </a:ln>
                <a:solidFill>
                  <a:srgbClr val="191B0E"/>
                </a:solidFill>
                <a:effectLst/>
                <a:uLnTx/>
                <a:uFillTx/>
                <a:latin typeface="Calibri" panose="020F0502020204030204" pitchFamily="34" charset="0"/>
                <a:ea typeface="Calibri" panose="020F0502020204030204" pitchFamily="34" charset="0"/>
                <a:cs typeface="Arial" panose="020B0604020202020204" pitchFamily="34" charset="0"/>
              </a:rPr>
            </a:br>
            <a:r>
              <a:rPr kumimoji="0" lang="fr-FR" sz="1800" b="1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 panose="02020603050405020304" pitchFamily="18" charset="0"/>
                <a:ea typeface="Calibri" panose="020F0502020204030204" pitchFamily="34" charset="0"/>
                <a:cs typeface="Arial" panose="020B0604020202020204" pitchFamily="34" charset="0"/>
              </a:rPr>
              <a:t>Ce nourrisson présente : </a:t>
            </a:r>
            <a:br>
              <a:rPr kumimoji="0" lang="fr-TN" sz="1800" b="1" i="0" u="none" strike="noStrike" kern="1200" cap="none" spc="0" normalizeH="0" baseline="0" noProof="0" dirty="0">
                <a:ln>
                  <a:noFill/>
                </a:ln>
                <a:solidFill>
                  <a:srgbClr val="191B0E"/>
                </a:solidFill>
                <a:effectLst/>
                <a:uLnTx/>
                <a:uFillTx/>
                <a:latin typeface="Calibri" panose="020F0502020204030204" pitchFamily="34" charset="0"/>
                <a:ea typeface="Calibri" panose="020F0502020204030204" pitchFamily="34" charset="0"/>
                <a:cs typeface="Arial" panose="020B0604020202020204" pitchFamily="34" charset="0"/>
              </a:rPr>
            </a:br>
            <a:endParaRPr lang="fr-TN" sz="1800" b="1" dirty="0"/>
          </a:p>
        </p:txBody>
      </p:sp>
      <p:sp>
        <p:nvSpPr>
          <p:cNvPr id="3" name="Espace réservé du contenu 2">
            <a:extLst>
              <a:ext uri="{FF2B5EF4-FFF2-40B4-BE49-F238E27FC236}">
                <a16:creationId xmlns:a16="http://schemas.microsoft.com/office/drawing/2014/main" id="{7CDAE3BF-958C-5A1C-97A6-B5D99A527D41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pPr marL="342900" lvl="0" indent="-342900">
              <a:lnSpc>
                <a:spcPct val="107000"/>
              </a:lnSpc>
              <a:spcAft>
                <a:spcPts val="800"/>
              </a:spcAft>
              <a:buFont typeface="+mj-lt"/>
              <a:buAutoNum type="alphaUcPeriod"/>
            </a:pPr>
            <a:r>
              <a:rPr lang="fr-FR" dirty="0">
                <a:solidFill>
                  <a:srgbClr val="FF0000"/>
                </a:solidFill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Arial" panose="020B0604020202020204" pitchFamily="34" charset="0"/>
              </a:rPr>
              <a:t>Une acidose métabolique non compensée</a:t>
            </a:r>
            <a:endParaRPr lang="fr-TN" dirty="0">
              <a:solidFill>
                <a:srgbClr val="FF0000"/>
              </a:solidFill>
              <a:effectLst/>
              <a:latin typeface="Calibri" panose="020F0502020204030204" pitchFamily="34" charset="0"/>
              <a:ea typeface="Calibri" panose="020F0502020204030204" pitchFamily="34" charset="0"/>
              <a:cs typeface="Arial" panose="020B0604020202020204" pitchFamily="34" charset="0"/>
            </a:endParaRPr>
          </a:p>
          <a:p>
            <a:pPr marL="342900" lvl="0" indent="-342900">
              <a:lnSpc>
                <a:spcPct val="107000"/>
              </a:lnSpc>
              <a:spcAft>
                <a:spcPts val="800"/>
              </a:spcAft>
              <a:buFont typeface="+mj-lt"/>
              <a:buAutoNum type="alphaUcPeriod"/>
            </a:pPr>
            <a:r>
              <a:rPr lang="fr-FR" dirty="0">
                <a:solidFill>
                  <a:srgbClr val="000000"/>
                </a:solidFill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Arial" panose="020B0604020202020204" pitchFamily="34" charset="0"/>
              </a:rPr>
              <a:t>Une hyperglycémie</a:t>
            </a:r>
            <a:endParaRPr lang="fr-TN" dirty="0">
              <a:effectLst/>
              <a:latin typeface="Calibri" panose="020F0502020204030204" pitchFamily="34" charset="0"/>
              <a:ea typeface="Calibri" panose="020F0502020204030204" pitchFamily="34" charset="0"/>
              <a:cs typeface="Arial" panose="020B0604020202020204" pitchFamily="34" charset="0"/>
            </a:endParaRPr>
          </a:p>
          <a:p>
            <a:pPr marL="342900" lvl="0" indent="-342900">
              <a:lnSpc>
                <a:spcPct val="107000"/>
              </a:lnSpc>
              <a:spcAft>
                <a:spcPts val="800"/>
              </a:spcAft>
              <a:buFont typeface="+mj-lt"/>
              <a:buAutoNum type="alphaUcPeriod"/>
            </a:pPr>
            <a:r>
              <a:rPr lang="fr-FR" dirty="0">
                <a:solidFill>
                  <a:srgbClr val="FF0000"/>
                </a:solidFill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Arial" panose="020B0604020202020204" pitchFamily="34" charset="0"/>
              </a:rPr>
              <a:t>Une hyponatrémie</a:t>
            </a:r>
            <a:endParaRPr lang="fr-TN" dirty="0">
              <a:solidFill>
                <a:srgbClr val="FF0000"/>
              </a:solidFill>
              <a:effectLst/>
              <a:latin typeface="Calibri" panose="020F0502020204030204" pitchFamily="34" charset="0"/>
              <a:ea typeface="Calibri" panose="020F0502020204030204" pitchFamily="34" charset="0"/>
              <a:cs typeface="Arial" panose="020B0604020202020204" pitchFamily="34" charset="0"/>
            </a:endParaRPr>
          </a:p>
          <a:p>
            <a:pPr marL="342900" lvl="0" indent="-342900">
              <a:lnSpc>
                <a:spcPct val="107000"/>
              </a:lnSpc>
              <a:spcAft>
                <a:spcPts val="800"/>
              </a:spcAft>
              <a:buFont typeface="+mj-lt"/>
              <a:buAutoNum type="alphaUcPeriod"/>
            </a:pPr>
            <a:r>
              <a:rPr lang="fr-FR" dirty="0">
                <a:solidFill>
                  <a:srgbClr val="000000"/>
                </a:solidFill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Arial" panose="020B0604020202020204" pitchFamily="34" charset="0"/>
              </a:rPr>
              <a:t>Une hyperkaliémie</a:t>
            </a:r>
            <a:endParaRPr lang="fr-TN" dirty="0">
              <a:effectLst/>
              <a:latin typeface="Calibri" panose="020F0502020204030204" pitchFamily="34" charset="0"/>
              <a:ea typeface="Calibri" panose="020F0502020204030204" pitchFamily="34" charset="0"/>
              <a:cs typeface="Arial" panose="020B0604020202020204" pitchFamily="34" charset="0"/>
            </a:endParaRPr>
          </a:p>
          <a:p>
            <a:pPr marL="342900" lvl="0" indent="-342900">
              <a:lnSpc>
                <a:spcPct val="107000"/>
              </a:lnSpc>
              <a:spcAft>
                <a:spcPts val="800"/>
              </a:spcAft>
              <a:buFont typeface="+mj-lt"/>
              <a:buAutoNum type="alphaUcPeriod"/>
            </a:pPr>
            <a:r>
              <a:rPr lang="fr-FR" dirty="0">
                <a:solidFill>
                  <a:srgbClr val="FF0000"/>
                </a:solidFill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Arial" panose="020B0604020202020204" pitchFamily="34" charset="0"/>
              </a:rPr>
              <a:t>Une insuffisance rénale</a:t>
            </a:r>
            <a:endParaRPr lang="fr-TN" dirty="0">
              <a:solidFill>
                <a:srgbClr val="FF0000"/>
              </a:solidFill>
              <a:effectLst/>
              <a:latin typeface="Calibri" panose="020F0502020204030204" pitchFamily="34" charset="0"/>
              <a:ea typeface="Calibri" panose="020F0502020204030204" pitchFamily="34" charset="0"/>
              <a:cs typeface="Arial" panose="020B0604020202020204" pitchFamily="34" charset="0"/>
            </a:endParaRPr>
          </a:p>
          <a:p>
            <a:endParaRPr lang="fr-TN" dirty="0"/>
          </a:p>
        </p:txBody>
      </p:sp>
    </p:spTree>
    <p:extLst>
      <p:ext uri="{BB962C8B-B14F-4D97-AF65-F5344CB8AC3E}">
        <p14:creationId xmlns:p14="http://schemas.microsoft.com/office/powerpoint/2010/main" val="1143344694"/>
      </p:ext>
    </p:extLst>
  </p:cSld>
  <p:clrMapOvr>
    <a:masterClrMapping/>
  </p:clrMapOvr>
</p:sld>
</file>

<file path=ppt/slides/slide9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>
            <a:extLst>
              <a:ext uri="{FF2B5EF4-FFF2-40B4-BE49-F238E27FC236}">
                <a16:creationId xmlns:a16="http://schemas.microsoft.com/office/drawing/2014/main" id="{2BD471A3-FBC2-D7E2-CF79-BE5F5A6A564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pPr marL="342900" marR="0" lvl="0" indent="-342900" defTabSz="914400" rtl="0" eaLnBrk="1" fontAlgn="auto" latinLnBrk="0" hangingPunct="1">
              <a:lnSpc>
                <a:spcPct val="107000"/>
              </a:lnSpc>
              <a:spcBef>
                <a:spcPts val="1000"/>
              </a:spcBef>
              <a:spcAft>
                <a:spcPts val="200"/>
              </a:spcAft>
              <a:tabLst/>
              <a:defRPr/>
            </a:pPr>
            <a:r>
              <a:rPr kumimoji="0" lang="fr-FR" sz="3200" b="1" i="0" u="none" strike="noStrike" kern="1200" cap="none" spc="0" normalizeH="0" baseline="0" noProof="0" dirty="0">
                <a:ln>
                  <a:noFill/>
                </a:ln>
                <a:solidFill>
                  <a:srgbClr val="191B0E"/>
                </a:solidFill>
                <a:effectLst/>
                <a:uLnTx/>
                <a:uFillTx/>
                <a:latin typeface="Times New Roman" panose="02020603050405020304" pitchFamily="18" charset="0"/>
                <a:ea typeface="Calibri" panose="020F0502020204030204" pitchFamily="34" charset="0"/>
                <a:cs typeface="Arial" panose="020B0604020202020204" pitchFamily="34" charset="0"/>
              </a:rPr>
              <a:t>Devant cet état de déshydratation :</a:t>
            </a:r>
            <a:br>
              <a:rPr kumimoji="0" lang="fr-TN" sz="3200" b="0" i="0" u="none" strike="noStrike" kern="1200" cap="none" spc="0" normalizeH="0" baseline="0" noProof="0" dirty="0">
                <a:ln>
                  <a:noFill/>
                </a:ln>
                <a:solidFill>
                  <a:srgbClr val="191B0E"/>
                </a:solidFill>
                <a:effectLst/>
                <a:uLnTx/>
                <a:uFillTx/>
                <a:latin typeface="Calibri" panose="020F0502020204030204" pitchFamily="34" charset="0"/>
                <a:ea typeface="Calibri" panose="020F0502020204030204" pitchFamily="34" charset="0"/>
                <a:cs typeface="Arial" panose="020B0604020202020204" pitchFamily="34" charset="0"/>
              </a:rPr>
            </a:br>
            <a:endParaRPr lang="fr-TN" sz="3200" dirty="0"/>
          </a:p>
        </p:txBody>
      </p:sp>
      <p:sp>
        <p:nvSpPr>
          <p:cNvPr id="3" name="Espace réservé du contenu 2">
            <a:extLst>
              <a:ext uri="{FF2B5EF4-FFF2-40B4-BE49-F238E27FC236}">
                <a16:creationId xmlns:a16="http://schemas.microsoft.com/office/drawing/2014/main" id="{B7109FE7-398A-8A13-18E9-A1C0BBDA7C21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pPr marL="342900" lvl="0" indent="-342900">
              <a:lnSpc>
                <a:spcPct val="107000"/>
              </a:lnSpc>
              <a:buFont typeface="+mj-lt"/>
              <a:buAutoNum type="alphaUcPeriod"/>
            </a:pPr>
            <a:r>
              <a:rPr lang="fr-FR" sz="2400" dirty="0"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Arial" panose="020B0604020202020204" pitchFamily="34" charset="0"/>
              </a:rPr>
              <a:t>L’hospitalisation est systématique </a:t>
            </a:r>
            <a:endParaRPr lang="fr-TN" sz="2400" dirty="0">
              <a:effectLst/>
              <a:latin typeface="Calibri" panose="020F0502020204030204" pitchFamily="34" charset="0"/>
              <a:ea typeface="Calibri" panose="020F0502020204030204" pitchFamily="34" charset="0"/>
              <a:cs typeface="Arial" panose="020B0604020202020204" pitchFamily="34" charset="0"/>
            </a:endParaRPr>
          </a:p>
          <a:p>
            <a:pPr marL="342900" lvl="0" indent="-342900">
              <a:lnSpc>
                <a:spcPct val="107000"/>
              </a:lnSpc>
              <a:buFont typeface="+mj-lt"/>
              <a:buAutoNum type="alphaUcPeriod"/>
            </a:pPr>
            <a:r>
              <a:rPr lang="fr-FR" sz="2400" dirty="0"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Arial" panose="020B0604020202020204" pitchFamily="34" charset="0"/>
              </a:rPr>
              <a:t>L’apport hydrique est de 150 ml/kg sur 24heures</a:t>
            </a:r>
            <a:endParaRPr lang="fr-TN" sz="2400" dirty="0">
              <a:effectLst/>
              <a:latin typeface="Calibri" panose="020F0502020204030204" pitchFamily="34" charset="0"/>
              <a:ea typeface="Calibri" panose="020F0502020204030204" pitchFamily="34" charset="0"/>
              <a:cs typeface="Arial" panose="020B0604020202020204" pitchFamily="34" charset="0"/>
            </a:endParaRPr>
          </a:p>
          <a:p>
            <a:pPr marL="342900" lvl="0" indent="-342900">
              <a:lnSpc>
                <a:spcPct val="107000"/>
              </a:lnSpc>
              <a:buFont typeface="+mj-lt"/>
              <a:buAutoNum type="alphaUcPeriod"/>
            </a:pPr>
            <a:r>
              <a:rPr lang="fr-FR" sz="2400" dirty="0"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Arial" panose="020B0604020202020204" pitchFamily="34" charset="0"/>
              </a:rPr>
              <a:t>La perfusion initiale ne doit pas contenir du potassium</a:t>
            </a:r>
            <a:endParaRPr lang="fr-TN" sz="2400" dirty="0">
              <a:effectLst/>
              <a:latin typeface="Calibri" panose="020F0502020204030204" pitchFamily="34" charset="0"/>
              <a:ea typeface="Calibri" panose="020F0502020204030204" pitchFamily="34" charset="0"/>
              <a:cs typeface="Arial" panose="020B0604020202020204" pitchFamily="34" charset="0"/>
            </a:endParaRPr>
          </a:p>
          <a:p>
            <a:pPr marL="342900" lvl="0" indent="-342900">
              <a:lnSpc>
                <a:spcPct val="107000"/>
              </a:lnSpc>
              <a:buFont typeface="+mj-lt"/>
              <a:buAutoNum type="alphaUcPeriod"/>
            </a:pPr>
            <a:r>
              <a:rPr lang="fr-FR" sz="2400" dirty="0"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Arial" panose="020B0604020202020204" pitchFamily="34" charset="0"/>
              </a:rPr>
              <a:t>La vitesse de correction du déficit sodé est de 15 </a:t>
            </a:r>
            <a:r>
              <a:rPr lang="fr-FR" sz="2400" dirty="0" err="1"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Arial" panose="020B0604020202020204" pitchFamily="34" charset="0"/>
              </a:rPr>
              <a:t>mmol</a:t>
            </a:r>
            <a:r>
              <a:rPr lang="fr-FR" sz="2400" dirty="0"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Arial" panose="020B0604020202020204" pitchFamily="34" charset="0"/>
              </a:rPr>
              <a:t>/L/h</a:t>
            </a:r>
            <a:endParaRPr lang="fr-TN" sz="2400" dirty="0">
              <a:effectLst/>
              <a:latin typeface="Calibri" panose="020F0502020204030204" pitchFamily="34" charset="0"/>
              <a:ea typeface="Calibri" panose="020F0502020204030204" pitchFamily="34" charset="0"/>
              <a:cs typeface="Arial" panose="020B0604020202020204" pitchFamily="34" charset="0"/>
            </a:endParaRPr>
          </a:p>
          <a:p>
            <a:pPr marL="342900" lvl="0" indent="-342900">
              <a:lnSpc>
                <a:spcPct val="107000"/>
              </a:lnSpc>
              <a:spcAft>
                <a:spcPts val="800"/>
              </a:spcAft>
              <a:buFont typeface="+mj-lt"/>
              <a:buAutoNum type="alphaUcPeriod"/>
            </a:pPr>
            <a:r>
              <a:rPr lang="fr-FR" sz="2400" dirty="0"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Arial" panose="020B0604020202020204" pitchFamily="34" charset="0"/>
              </a:rPr>
              <a:t>Un remplissage de 100 ml/kg de sérum Glucosé 5% doit être administré en urgence </a:t>
            </a:r>
            <a:endParaRPr lang="fr-TN" sz="2400" dirty="0">
              <a:effectLst/>
              <a:latin typeface="Calibri" panose="020F0502020204030204" pitchFamily="34" charset="0"/>
              <a:ea typeface="Calibri" panose="020F0502020204030204" pitchFamily="34" charset="0"/>
              <a:cs typeface="Arial" panose="020B0604020202020204" pitchFamily="34" charset="0"/>
            </a:endParaRPr>
          </a:p>
          <a:p>
            <a:endParaRPr lang="fr-TN" sz="2400" dirty="0"/>
          </a:p>
        </p:txBody>
      </p:sp>
    </p:spTree>
    <p:extLst>
      <p:ext uri="{BB962C8B-B14F-4D97-AF65-F5344CB8AC3E}">
        <p14:creationId xmlns:p14="http://schemas.microsoft.com/office/powerpoint/2010/main" val="1296460908"/>
      </p:ext>
    </p:extLst>
  </p:cSld>
  <p:clrMapOvr>
    <a:masterClrMapping/>
  </p:clrMapOvr>
</p:sld>
</file>

<file path=ppt/slides/slide9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B5DC068-FCC7-9A38-D237-C1F828D0628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>
            <a:extLst>
              <a:ext uri="{FF2B5EF4-FFF2-40B4-BE49-F238E27FC236}">
                <a16:creationId xmlns:a16="http://schemas.microsoft.com/office/drawing/2014/main" id="{05E9530E-8FF2-55B1-1732-AA4D35C47DA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pPr marL="342900" marR="0" lvl="0" indent="-342900" defTabSz="914400" rtl="0" eaLnBrk="1" fontAlgn="auto" latinLnBrk="0" hangingPunct="1">
              <a:lnSpc>
                <a:spcPct val="107000"/>
              </a:lnSpc>
              <a:spcBef>
                <a:spcPts val="1000"/>
              </a:spcBef>
              <a:spcAft>
                <a:spcPts val="200"/>
              </a:spcAft>
              <a:tabLst/>
              <a:defRPr/>
            </a:pPr>
            <a:r>
              <a:rPr kumimoji="0" lang="fr-FR" sz="3200" b="1" i="0" u="none" strike="noStrike" kern="1200" cap="none" spc="0" normalizeH="0" baseline="0" noProof="0" dirty="0">
                <a:ln>
                  <a:noFill/>
                </a:ln>
                <a:solidFill>
                  <a:srgbClr val="191B0E"/>
                </a:solidFill>
                <a:effectLst/>
                <a:uLnTx/>
                <a:uFillTx/>
                <a:latin typeface="Times New Roman" panose="02020603050405020304" pitchFamily="18" charset="0"/>
                <a:ea typeface="Calibri" panose="020F0502020204030204" pitchFamily="34" charset="0"/>
                <a:cs typeface="Arial" panose="020B0604020202020204" pitchFamily="34" charset="0"/>
              </a:rPr>
              <a:t>Devant cet état de déshydratation :</a:t>
            </a:r>
            <a:br>
              <a:rPr kumimoji="0" lang="fr-TN" sz="3200" b="0" i="0" u="none" strike="noStrike" kern="1200" cap="none" spc="0" normalizeH="0" baseline="0" noProof="0" dirty="0">
                <a:ln>
                  <a:noFill/>
                </a:ln>
                <a:solidFill>
                  <a:srgbClr val="191B0E"/>
                </a:solidFill>
                <a:effectLst/>
                <a:uLnTx/>
                <a:uFillTx/>
                <a:latin typeface="Calibri" panose="020F0502020204030204" pitchFamily="34" charset="0"/>
                <a:ea typeface="Calibri" panose="020F0502020204030204" pitchFamily="34" charset="0"/>
                <a:cs typeface="Arial" panose="020B0604020202020204" pitchFamily="34" charset="0"/>
              </a:rPr>
            </a:br>
            <a:endParaRPr lang="fr-TN" sz="3200" dirty="0"/>
          </a:p>
        </p:txBody>
      </p:sp>
      <p:sp>
        <p:nvSpPr>
          <p:cNvPr id="3" name="Espace réservé du contenu 2">
            <a:extLst>
              <a:ext uri="{FF2B5EF4-FFF2-40B4-BE49-F238E27FC236}">
                <a16:creationId xmlns:a16="http://schemas.microsoft.com/office/drawing/2014/main" id="{E9194F13-0189-1ABF-7ACC-45561A5FB48B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pPr marL="342900" lvl="0" indent="-342900">
              <a:lnSpc>
                <a:spcPct val="107000"/>
              </a:lnSpc>
              <a:buFont typeface="+mj-lt"/>
              <a:buAutoNum type="alphaUcPeriod"/>
            </a:pPr>
            <a:r>
              <a:rPr lang="fr-FR" sz="2400" dirty="0">
                <a:solidFill>
                  <a:srgbClr val="FF0000"/>
                </a:solidFill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Arial" panose="020B0604020202020204" pitchFamily="34" charset="0"/>
              </a:rPr>
              <a:t>L’hospitalisation est systématique </a:t>
            </a:r>
            <a:endParaRPr lang="fr-TN" sz="2400" dirty="0">
              <a:solidFill>
                <a:srgbClr val="FF0000"/>
              </a:solidFill>
              <a:effectLst/>
              <a:latin typeface="Calibri" panose="020F0502020204030204" pitchFamily="34" charset="0"/>
              <a:ea typeface="Calibri" panose="020F0502020204030204" pitchFamily="34" charset="0"/>
              <a:cs typeface="Arial" panose="020B0604020202020204" pitchFamily="34" charset="0"/>
            </a:endParaRPr>
          </a:p>
          <a:p>
            <a:pPr marL="342900" lvl="0" indent="-342900">
              <a:lnSpc>
                <a:spcPct val="107000"/>
              </a:lnSpc>
              <a:buFont typeface="+mj-lt"/>
              <a:buAutoNum type="alphaUcPeriod"/>
            </a:pPr>
            <a:r>
              <a:rPr lang="fr-FR" sz="2400" dirty="0"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Arial" panose="020B0604020202020204" pitchFamily="34" charset="0"/>
              </a:rPr>
              <a:t>L’apport hydrique est de 150 ml/kg sur 24heures</a:t>
            </a:r>
            <a:endParaRPr lang="fr-TN" sz="2400" dirty="0">
              <a:effectLst/>
              <a:latin typeface="Calibri" panose="020F0502020204030204" pitchFamily="34" charset="0"/>
              <a:ea typeface="Calibri" panose="020F0502020204030204" pitchFamily="34" charset="0"/>
              <a:cs typeface="Arial" panose="020B0604020202020204" pitchFamily="34" charset="0"/>
            </a:endParaRPr>
          </a:p>
          <a:p>
            <a:pPr marL="342900" lvl="0" indent="-342900">
              <a:lnSpc>
                <a:spcPct val="107000"/>
              </a:lnSpc>
              <a:buFont typeface="+mj-lt"/>
              <a:buAutoNum type="alphaUcPeriod"/>
            </a:pPr>
            <a:r>
              <a:rPr lang="fr-FR" sz="2400" dirty="0">
                <a:solidFill>
                  <a:srgbClr val="FF0000"/>
                </a:solidFill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Arial" panose="020B0604020202020204" pitchFamily="34" charset="0"/>
              </a:rPr>
              <a:t>La perfusion initiale ne doit pas contenir du potassium</a:t>
            </a:r>
            <a:endParaRPr lang="fr-TN" sz="2400" dirty="0">
              <a:solidFill>
                <a:srgbClr val="FF0000"/>
              </a:solidFill>
              <a:effectLst/>
              <a:latin typeface="Calibri" panose="020F0502020204030204" pitchFamily="34" charset="0"/>
              <a:ea typeface="Calibri" panose="020F0502020204030204" pitchFamily="34" charset="0"/>
              <a:cs typeface="Arial" panose="020B0604020202020204" pitchFamily="34" charset="0"/>
            </a:endParaRPr>
          </a:p>
          <a:p>
            <a:pPr marL="342900" lvl="0" indent="-342900">
              <a:lnSpc>
                <a:spcPct val="107000"/>
              </a:lnSpc>
              <a:buFont typeface="+mj-lt"/>
              <a:buAutoNum type="alphaUcPeriod"/>
            </a:pPr>
            <a:r>
              <a:rPr lang="fr-FR" sz="2400" dirty="0"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Arial" panose="020B0604020202020204" pitchFamily="34" charset="0"/>
              </a:rPr>
              <a:t>La vitesse de correction du déficit sodé est de 15 </a:t>
            </a:r>
            <a:r>
              <a:rPr lang="fr-FR" sz="2400" dirty="0" err="1"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Arial" panose="020B0604020202020204" pitchFamily="34" charset="0"/>
              </a:rPr>
              <a:t>mmol</a:t>
            </a:r>
            <a:r>
              <a:rPr lang="fr-FR" sz="2400" dirty="0"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Arial" panose="020B0604020202020204" pitchFamily="34" charset="0"/>
              </a:rPr>
              <a:t>/L/h</a:t>
            </a:r>
            <a:endParaRPr lang="fr-TN" sz="2400" dirty="0">
              <a:effectLst/>
              <a:latin typeface="Calibri" panose="020F0502020204030204" pitchFamily="34" charset="0"/>
              <a:ea typeface="Calibri" panose="020F0502020204030204" pitchFamily="34" charset="0"/>
              <a:cs typeface="Arial" panose="020B0604020202020204" pitchFamily="34" charset="0"/>
            </a:endParaRPr>
          </a:p>
          <a:p>
            <a:pPr marL="342900" lvl="0" indent="-342900">
              <a:lnSpc>
                <a:spcPct val="107000"/>
              </a:lnSpc>
              <a:spcAft>
                <a:spcPts val="800"/>
              </a:spcAft>
              <a:buFont typeface="+mj-lt"/>
              <a:buAutoNum type="alphaUcPeriod"/>
            </a:pPr>
            <a:r>
              <a:rPr lang="fr-FR" sz="2400" dirty="0"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Arial" panose="020B0604020202020204" pitchFamily="34" charset="0"/>
              </a:rPr>
              <a:t>Un remplissage de 100 ml/kg de sérum Glucosé 5% doit être administré en urgence </a:t>
            </a:r>
            <a:endParaRPr lang="fr-TN" sz="2400" dirty="0">
              <a:effectLst/>
              <a:latin typeface="Calibri" panose="020F0502020204030204" pitchFamily="34" charset="0"/>
              <a:ea typeface="Calibri" panose="020F0502020204030204" pitchFamily="34" charset="0"/>
              <a:cs typeface="Arial" panose="020B0604020202020204" pitchFamily="34" charset="0"/>
            </a:endParaRPr>
          </a:p>
          <a:p>
            <a:endParaRPr lang="fr-TN" sz="2400" dirty="0"/>
          </a:p>
        </p:txBody>
      </p:sp>
    </p:spTree>
    <p:extLst>
      <p:ext uri="{BB962C8B-B14F-4D97-AF65-F5344CB8AC3E}">
        <p14:creationId xmlns:p14="http://schemas.microsoft.com/office/powerpoint/2010/main" val="1678520311"/>
      </p:ext>
    </p:extLst>
  </p:cSld>
  <p:clrMapOvr>
    <a:masterClrMapping/>
  </p:clrMapOvr>
</p:sld>
</file>

<file path=ppt/slides/slide9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2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2C1C59B0-C0E5-0069-0D69-AEB8C31C2C4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Rectangle 9">
            <a:extLst>
              <a:ext uri="{FF2B5EF4-FFF2-40B4-BE49-F238E27FC236}">
                <a16:creationId xmlns:a16="http://schemas.microsoft.com/office/drawing/2014/main" id="{ED9B66D4-F447-6F46-EE53-30EB3F4C990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478095" y="376"/>
            <a:ext cx="228600" cy="6858000"/>
          </a:xfrm>
          <a:prstGeom prst="rect">
            <a:avLst/>
          </a:prstGeom>
          <a:solidFill>
            <a:schemeClr val="tx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fr-TN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Franklin Gothic Book" panose="020B0503020102020204"/>
              <a:ea typeface="+mn-ea"/>
              <a:cs typeface="+mn-cs"/>
            </a:endParaRPr>
          </a:p>
        </p:txBody>
      </p:sp>
      <p:sp>
        <p:nvSpPr>
          <p:cNvPr id="12" name="Rectangle 11">
            <a:extLst>
              <a:ext uri="{FF2B5EF4-FFF2-40B4-BE49-F238E27FC236}">
                <a16:creationId xmlns:a16="http://schemas.microsoft.com/office/drawing/2014/main" id="{8F74C34D-0996-B20A-D158-3204D59DF648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1036321" y="321731"/>
            <a:ext cx="10833946" cy="6131654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Franklin Gothic Book" panose="020B0503020102020204"/>
              <a:ea typeface="+mn-ea"/>
              <a:cs typeface="+mn-cs"/>
            </a:endParaRPr>
          </a:p>
        </p:txBody>
      </p:sp>
      <p:pic>
        <p:nvPicPr>
          <p:cNvPr id="13" name="Image 12">
            <a:extLst>
              <a:ext uri="{FF2B5EF4-FFF2-40B4-BE49-F238E27FC236}">
                <a16:creationId xmlns:a16="http://schemas.microsoft.com/office/drawing/2014/main" id="{FFF87297-1C51-FD84-78CC-F37DA5E8A388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395021" y="2289605"/>
            <a:ext cx="7401958" cy="3972479"/>
          </a:xfrm>
          <a:prstGeom prst="rect">
            <a:avLst/>
          </a:prstGeom>
        </p:spPr>
      </p:pic>
      <p:pic>
        <p:nvPicPr>
          <p:cNvPr id="7" name="Image 6">
            <a:extLst>
              <a:ext uri="{FF2B5EF4-FFF2-40B4-BE49-F238E27FC236}">
                <a16:creationId xmlns:a16="http://schemas.microsoft.com/office/drawing/2014/main" id="{06BD14EA-4CAB-B18B-34EF-079E8C94EB90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803604" y="3921803"/>
            <a:ext cx="9352075" cy="935423"/>
          </a:xfrm>
          <a:prstGeom prst="rect">
            <a:avLst/>
          </a:prstGeom>
        </p:spPr>
      </p:pic>
      <p:sp>
        <p:nvSpPr>
          <p:cNvPr id="6" name="Rectangle 5">
            <a:extLst>
              <a:ext uri="{FF2B5EF4-FFF2-40B4-BE49-F238E27FC236}">
                <a16:creationId xmlns:a16="http://schemas.microsoft.com/office/drawing/2014/main" id="{444C26DD-E621-D955-584E-3E4FED81C3FD}"/>
              </a:ext>
            </a:extLst>
          </p:cNvPr>
          <p:cNvSpPr/>
          <p:nvPr/>
        </p:nvSpPr>
        <p:spPr>
          <a:xfrm flipV="1">
            <a:off x="1777256" y="4857226"/>
            <a:ext cx="9558891" cy="723481"/>
          </a:xfrm>
          <a:prstGeom prst="rect">
            <a:avLst/>
          </a:prstGeom>
          <a:noFill/>
          <a:ln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fr-FR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Franklin Gothic Book" panose="020B0503020102020204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1149994512"/>
      </p:ext>
    </p:extLst>
  </p:cSld>
  <p:clrMapOvr>
    <a:masterClrMapping/>
  </p:clrMapOvr>
</p:sld>
</file>

<file path=ppt/slides/slide9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>
            <a:extLst>
              <a:ext uri="{FF2B5EF4-FFF2-40B4-BE49-F238E27FC236}">
                <a16:creationId xmlns:a16="http://schemas.microsoft.com/office/drawing/2014/main" id="{1086A4DA-A14B-F3B0-BC9E-44BE87DEBBB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0" lang="fr-FR" sz="4400" b="1" i="0" u="none" strike="noStrike" kern="1200" cap="none" spc="0" normalizeH="0" baseline="0" noProof="0" dirty="0">
                <a:ln>
                  <a:noFill/>
                </a:ln>
                <a:solidFill>
                  <a:srgbClr val="0070C0"/>
                </a:solidFill>
                <a:effectLst/>
                <a:uLnTx/>
                <a:uFillTx/>
                <a:latin typeface="Franklin Gothic Book" panose="020B0503020102020204"/>
                <a:ea typeface="+mj-ea"/>
                <a:cs typeface="+mj-cs"/>
              </a:rPr>
              <a:t>Cas clinique N°3</a:t>
            </a:r>
            <a:endParaRPr lang="fr-TN" dirty="0"/>
          </a:p>
        </p:txBody>
      </p:sp>
      <p:sp>
        <p:nvSpPr>
          <p:cNvPr id="3" name="Espace réservé du contenu 2">
            <a:extLst>
              <a:ext uri="{FF2B5EF4-FFF2-40B4-BE49-F238E27FC236}">
                <a16:creationId xmlns:a16="http://schemas.microsoft.com/office/drawing/2014/main" id="{46C62E2A-0E38-8AE2-D23C-15D9363DAF40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pPr marL="318770">
              <a:lnSpc>
                <a:spcPct val="107000"/>
              </a:lnSpc>
              <a:buNone/>
            </a:pPr>
            <a:r>
              <a:rPr lang="fr-FR" sz="2800" dirty="0"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Arial" panose="020B0604020202020204" pitchFamily="34" charset="0"/>
              </a:rPr>
              <a:t>Nourrisson Seif, âgé de 8 mois, présente 5 selles liquidiennes abondantes  ,depuis 24 heures.</a:t>
            </a:r>
            <a:endParaRPr lang="fr-TN" sz="2800" dirty="0">
              <a:effectLst/>
              <a:latin typeface="Calibri" panose="020F0502020204030204" pitchFamily="34" charset="0"/>
              <a:ea typeface="Calibri" panose="020F0502020204030204" pitchFamily="34" charset="0"/>
              <a:cs typeface="Arial" panose="020B0604020202020204" pitchFamily="34" charset="0"/>
            </a:endParaRPr>
          </a:p>
          <a:p>
            <a:pPr marL="318770">
              <a:lnSpc>
                <a:spcPct val="107000"/>
              </a:lnSpc>
              <a:spcAft>
                <a:spcPts val="800"/>
              </a:spcAft>
              <a:buNone/>
            </a:pPr>
            <a:r>
              <a:rPr lang="fr-FR" sz="2800" dirty="0"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Arial" panose="020B0604020202020204" pitchFamily="34" charset="0"/>
              </a:rPr>
              <a:t>A l’examen : nourrisson réactif, son poids: 7,7 kg, T°, 37° , il a un  pli cutané pâteux, langue un peu desséchée, fontanelle légèrement déprimée, globes oculaires normaux, FC à 120 battements /min , TRC 2 sec, extrémités chaudes, TA normale à 70/50. Sa respiration est calme et sa FR est à 37 cycles/min.</a:t>
            </a:r>
            <a:endParaRPr lang="fr-TN" sz="2800" dirty="0">
              <a:effectLst/>
              <a:latin typeface="Calibri" panose="020F0502020204030204" pitchFamily="34" charset="0"/>
              <a:ea typeface="Calibri" panose="020F0502020204030204" pitchFamily="34" charset="0"/>
              <a:cs typeface="Arial" panose="020B0604020202020204" pitchFamily="34" charset="0"/>
            </a:endParaRPr>
          </a:p>
          <a:p>
            <a:endParaRPr lang="fr-TN" sz="2800" dirty="0"/>
          </a:p>
        </p:txBody>
      </p:sp>
    </p:spTree>
    <p:extLst>
      <p:ext uri="{BB962C8B-B14F-4D97-AF65-F5344CB8AC3E}">
        <p14:creationId xmlns:p14="http://schemas.microsoft.com/office/powerpoint/2010/main" val="2735493950"/>
      </p:ext>
    </p:extLst>
  </p:cSld>
  <p:clrMapOvr>
    <a:masterClrMapping/>
  </p:clrMapOvr>
</p:sld>
</file>

<file path=ppt/slides/slide9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>
            <a:extLst>
              <a:ext uri="{FF2B5EF4-FFF2-40B4-BE49-F238E27FC236}">
                <a16:creationId xmlns:a16="http://schemas.microsoft.com/office/drawing/2014/main" id="{6F864570-F45C-90CB-EA09-59F241FC56C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pPr marL="318770" marR="0" lvl="0" indent="-384048" defTabSz="914400" rtl="0" eaLnBrk="1" fontAlgn="auto" latinLnBrk="0" hangingPunct="1">
              <a:lnSpc>
                <a:spcPct val="107000"/>
              </a:lnSpc>
              <a:spcBef>
                <a:spcPts val="1000"/>
              </a:spcBef>
              <a:spcAft>
                <a:spcPts val="200"/>
              </a:spcAft>
              <a:tabLst/>
              <a:defRPr/>
            </a:pPr>
            <a:r>
              <a:rPr kumimoji="0" lang="fr-FR" sz="3200" b="1" i="0" u="none" strike="noStrike" kern="1200" cap="none" spc="0" normalizeH="0" baseline="0" noProof="0" dirty="0">
                <a:ln>
                  <a:noFill/>
                </a:ln>
                <a:solidFill>
                  <a:srgbClr val="191B0E"/>
                </a:solidFill>
                <a:effectLst/>
                <a:uLnTx/>
                <a:uFillTx/>
                <a:latin typeface="Times New Roman" panose="02020603050405020304" pitchFamily="18" charset="0"/>
                <a:ea typeface="Calibri" panose="020F0502020204030204" pitchFamily="34" charset="0"/>
                <a:cs typeface="Arial" panose="020B0604020202020204" pitchFamily="34" charset="0"/>
              </a:rPr>
              <a:t>1-Devant cet état de déshydratation :</a:t>
            </a:r>
            <a:br>
              <a:rPr kumimoji="0" lang="fr-TN" sz="3200" b="0" i="0" u="none" strike="noStrike" kern="1200" cap="none" spc="0" normalizeH="0" baseline="0" noProof="0" dirty="0">
                <a:ln>
                  <a:noFill/>
                </a:ln>
                <a:solidFill>
                  <a:srgbClr val="191B0E"/>
                </a:solidFill>
                <a:effectLst/>
                <a:uLnTx/>
                <a:uFillTx/>
                <a:latin typeface="Calibri" panose="020F0502020204030204" pitchFamily="34" charset="0"/>
                <a:ea typeface="Calibri" panose="020F0502020204030204" pitchFamily="34" charset="0"/>
                <a:cs typeface="Arial" panose="020B0604020202020204" pitchFamily="34" charset="0"/>
              </a:rPr>
            </a:br>
            <a:endParaRPr lang="fr-TN" sz="3200" dirty="0"/>
          </a:p>
        </p:txBody>
      </p:sp>
      <p:sp>
        <p:nvSpPr>
          <p:cNvPr id="3" name="Espace réservé du contenu 2">
            <a:extLst>
              <a:ext uri="{FF2B5EF4-FFF2-40B4-BE49-F238E27FC236}">
                <a16:creationId xmlns:a16="http://schemas.microsoft.com/office/drawing/2014/main" id="{DF1B6EC2-E0C6-2099-3D88-6B74C8AA9A39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pPr marL="742950" lvl="1" indent="-285750">
              <a:lnSpc>
                <a:spcPct val="107000"/>
              </a:lnSpc>
              <a:buFont typeface="+mj-lt"/>
              <a:buAutoNum type="alphaUcPeriod"/>
            </a:pPr>
            <a:r>
              <a:rPr lang="fr-FR" sz="2400" i="0" dirty="0"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Arial" panose="020B0604020202020204" pitchFamily="34" charset="0"/>
              </a:rPr>
              <a:t>Le score de déshydratation est estimé à 4</a:t>
            </a:r>
            <a:endParaRPr lang="fr-TN" sz="2400" i="0" dirty="0">
              <a:effectLst/>
              <a:latin typeface="Calibri" panose="020F0502020204030204" pitchFamily="34" charset="0"/>
              <a:ea typeface="Calibri" panose="020F0502020204030204" pitchFamily="34" charset="0"/>
              <a:cs typeface="Arial" panose="020B0604020202020204" pitchFamily="34" charset="0"/>
            </a:endParaRPr>
          </a:p>
          <a:p>
            <a:pPr marL="742950" lvl="1" indent="-285750">
              <a:lnSpc>
                <a:spcPct val="107000"/>
              </a:lnSpc>
              <a:buFont typeface="+mj-lt"/>
              <a:buAutoNum type="alphaUcPeriod"/>
            </a:pPr>
            <a:r>
              <a:rPr lang="fr-FR" sz="2400" i="0" dirty="0"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Arial" panose="020B0604020202020204" pitchFamily="34" charset="0"/>
              </a:rPr>
              <a:t>Le déficit hydrique est entre 50 et 100 ml/kg/j</a:t>
            </a:r>
            <a:endParaRPr lang="fr-TN" sz="2400" i="0" dirty="0">
              <a:effectLst/>
              <a:latin typeface="Calibri" panose="020F0502020204030204" pitchFamily="34" charset="0"/>
              <a:ea typeface="Calibri" panose="020F0502020204030204" pitchFamily="34" charset="0"/>
              <a:cs typeface="Arial" panose="020B0604020202020204" pitchFamily="34" charset="0"/>
            </a:endParaRPr>
          </a:p>
          <a:p>
            <a:pPr marL="742950" lvl="1" indent="-285750">
              <a:lnSpc>
                <a:spcPct val="107000"/>
              </a:lnSpc>
              <a:buFont typeface="+mj-lt"/>
              <a:buAutoNum type="alphaUcPeriod"/>
            </a:pPr>
            <a:r>
              <a:rPr lang="fr-FR" sz="2400" i="0" dirty="0"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Arial" panose="020B0604020202020204" pitchFamily="34" charset="0"/>
              </a:rPr>
              <a:t>La perte pondérale est inférieure à 5%</a:t>
            </a:r>
            <a:endParaRPr lang="fr-TN" sz="2400" i="0" dirty="0">
              <a:effectLst/>
              <a:latin typeface="Calibri" panose="020F0502020204030204" pitchFamily="34" charset="0"/>
              <a:ea typeface="Calibri" panose="020F0502020204030204" pitchFamily="34" charset="0"/>
              <a:cs typeface="Arial" panose="020B0604020202020204" pitchFamily="34" charset="0"/>
            </a:endParaRPr>
          </a:p>
          <a:p>
            <a:pPr marL="742950" lvl="1" indent="-285750">
              <a:lnSpc>
                <a:spcPct val="107000"/>
              </a:lnSpc>
              <a:buFont typeface="+mj-lt"/>
              <a:buAutoNum type="alphaUcPeriod"/>
            </a:pPr>
            <a:r>
              <a:rPr lang="fr-FR" sz="2400" i="0" dirty="0"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Arial" panose="020B0604020202020204" pitchFamily="34" charset="0"/>
              </a:rPr>
              <a:t>La réhydratation se fait par des solutés de réhydratation orales</a:t>
            </a:r>
            <a:endParaRPr lang="fr-TN" sz="2400" i="0" dirty="0">
              <a:effectLst/>
              <a:latin typeface="Calibri" panose="020F0502020204030204" pitchFamily="34" charset="0"/>
              <a:ea typeface="Calibri" panose="020F0502020204030204" pitchFamily="34" charset="0"/>
              <a:cs typeface="Arial" panose="020B0604020202020204" pitchFamily="34" charset="0"/>
            </a:endParaRPr>
          </a:p>
          <a:p>
            <a:pPr marL="742950" lvl="1" indent="-285750">
              <a:lnSpc>
                <a:spcPct val="107000"/>
              </a:lnSpc>
              <a:buFont typeface="+mj-lt"/>
              <a:buAutoNum type="alphaUcPeriod"/>
            </a:pPr>
            <a:r>
              <a:rPr lang="fr-FR" sz="2400" i="0" dirty="0"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Arial" panose="020B0604020202020204" pitchFamily="34" charset="0"/>
              </a:rPr>
              <a:t>Le lait artificiel doit être arrêté durant 48 heures.</a:t>
            </a:r>
            <a:endParaRPr lang="fr-TN" sz="2400" i="0" dirty="0">
              <a:effectLst/>
              <a:latin typeface="Calibri" panose="020F0502020204030204" pitchFamily="34" charset="0"/>
              <a:ea typeface="Calibri" panose="020F0502020204030204" pitchFamily="34" charset="0"/>
              <a:cs typeface="Arial" panose="020B0604020202020204" pitchFamily="34" charset="0"/>
            </a:endParaRPr>
          </a:p>
          <a:p>
            <a:pPr marL="318770">
              <a:lnSpc>
                <a:spcPct val="107000"/>
              </a:lnSpc>
              <a:spcAft>
                <a:spcPts val="800"/>
              </a:spcAft>
              <a:buNone/>
            </a:pPr>
            <a:r>
              <a:rPr lang="fr-FR" sz="2400" dirty="0"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Arial" panose="020B0604020202020204" pitchFamily="34" charset="0"/>
              </a:rPr>
              <a:t> </a:t>
            </a:r>
            <a:endParaRPr lang="fr-TN" sz="2400" dirty="0">
              <a:effectLst/>
              <a:latin typeface="Calibri" panose="020F0502020204030204" pitchFamily="34" charset="0"/>
              <a:ea typeface="Calibri" panose="020F0502020204030204" pitchFamily="34" charset="0"/>
              <a:cs typeface="Arial" panose="020B0604020202020204" pitchFamily="34" charset="0"/>
            </a:endParaRPr>
          </a:p>
          <a:p>
            <a:endParaRPr lang="fr-TN" sz="2400" dirty="0"/>
          </a:p>
        </p:txBody>
      </p:sp>
    </p:spTree>
    <p:extLst>
      <p:ext uri="{BB962C8B-B14F-4D97-AF65-F5344CB8AC3E}">
        <p14:creationId xmlns:p14="http://schemas.microsoft.com/office/powerpoint/2010/main" val="2375437453"/>
      </p:ext>
    </p:extLst>
  </p:cSld>
  <p:clrMapOvr>
    <a:masterClrMapping/>
  </p:clrMapOvr>
</p:sld>
</file>

<file path=ppt/slides/slide9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6802" name="Titre 1">
            <a:extLst>
              <a:ext uri="{FF2B5EF4-FFF2-40B4-BE49-F238E27FC236}">
                <a16:creationId xmlns:a16="http://schemas.microsoft.com/office/drawing/2014/main" id="{E4C952F5-F23E-ACDA-3201-A2172F0625A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fr-TN" altLang="fr-TN" dirty="0"/>
          </a:p>
        </p:txBody>
      </p:sp>
      <p:pic>
        <p:nvPicPr>
          <p:cNvPr id="76803" name="Espace réservé du contenu 4">
            <a:extLst>
              <a:ext uri="{FF2B5EF4-FFF2-40B4-BE49-F238E27FC236}">
                <a16:creationId xmlns:a16="http://schemas.microsoft.com/office/drawing/2014/main" id="{968207B8-2843-07A5-BDFA-70A47BDEA55D}"/>
              </a:ext>
            </a:extLst>
          </p:cNvPr>
          <p:cNvPicPr>
            <a:picLocks noGrp="1" noChangeAspect="1" noChangeArrowheads="1"/>
          </p:cNvPicPr>
          <p:nvPr>
            <p:ph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695090" y="3009751"/>
            <a:ext cx="6954220" cy="2133898"/>
          </a:xfrm>
        </p:spPr>
      </p:pic>
      <p:pic>
        <p:nvPicPr>
          <p:cNvPr id="3" name="Image 2">
            <a:extLst>
              <a:ext uri="{FF2B5EF4-FFF2-40B4-BE49-F238E27FC236}">
                <a16:creationId xmlns:a16="http://schemas.microsoft.com/office/drawing/2014/main" id="{B66C56E5-852A-A01F-CA4B-CF38D3F0F6F7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848446" y="274638"/>
            <a:ext cx="5417477" cy="3025610"/>
          </a:xfrm>
          <a:prstGeom prst="rect">
            <a:avLst/>
          </a:prstGeom>
        </p:spPr>
      </p:pic>
    </p:spTree>
  </p:cSld>
  <p:clrMapOvr>
    <a:masterClrMapping/>
  </p:clrMapOvr>
</p:sld>
</file>

<file path=ppt/slides/slide9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D57D1A5-3C69-AE8C-4E6A-10CAF0513C9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>
            <a:extLst>
              <a:ext uri="{FF2B5EF4-FFF2-40B4-BE49-F238E27FC236}">
                <a16:creationId xmlns:a16="http://schemas.microsoft.com/office/drawing/2014/main" id="{6091F474-9386-3276-F2FF-6C4E048E4BA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pPr marL="318770" marR="0" lvl="0" indent="-384048" defTabSz="914400" rtl="0" eaLnBrk="1" fontAlgn="auto" latinLnBrk="0" hangingPunct="1">
              <a:lnSpc>
                <a:spcPct val="107000"/>
              </a:lnSpc>
              <a:spcBef>
                <a:spcPts val="1000"/>
              </a:spcBef>
              <a:spcAft>
                <a:spcPts val="200"/>
              </a:spcAft>
              <a:tabLst/>
              <a:defRPr/>
            </a:pPr>
            <a:r>
              <a:rPr kumimoji="0" lang="fr-FR" sz="3200" b="1" i="0" u="none" strike="noStrike" kern="1200" cap="none" spc="0" normalizeH="0" baseline="0" noProof="0" dirty="0">
                <a:ln>
                  <a:noFill/>
                </a:ln>
                <a:solidFill>
                  <a:srgbClr val="191B0E"/>
                </a:solidFill>
                <a:effectLst/>
                <a:uLnTx/>
                <a:uFillTx/>
                <a:latin typeface="Times New Roman" panose="02020603050405020304" pitchFamily="18" charset="0"/>
                <a:ea typeface="Calibri" panose="020F0502020204030204" pitchFamily="34" charset="0"/>
                <a:cs typeface="Arial" panose="020B0604020202020204" pitchFamily="34" charset="0"/>
              </a:rPr>
              <a:t>1-Devant cet état de déshydratation :</a:t>
            </a:r>
            <a:br>
              <a:rPr kumimoji="0" lang="fr-TN" sz="3200" b="0" i="0" u="none" strike="noStrike" kern="1200" cap="none" spc="0" normalizeH="0" baseline="0" noProof="0" dirty="0">
                <a:ln>
                  <a:noFill/>
                </a:ln>
                <a:solidFill>
                  <a:srgbClr val="191B0E"/>
                </a:solidFill>
                <a:effectLst/>
                <a:uLnTx/>
                <a:uFillTx/>
                <a:latin typeface="Calibri" panose="020F0502020204030204" pitchFamily="34" charset="0"/>
                <a:ea typeface="Calibri" panose="020F0502020204030204" pitchFamily="34" charset="0"/>
                <a:cs typeface="Arial" panose="020B0604020202020204" pitchFamily="34" charset="0"/>
              </a:rPr>
            </a:br>
            <a:endParaRPr lang="fr-TN" sz="3200" dirty="0"/>
          </a:p>
        </p:txBody>
      </p:sp>
      <p:sp>
        <p:nvSpPr>
          <p:cNvPr id="3" name="Espace réservé du contenu 2">
            <a:extLst>
              <a:ext uri="{FF2B5EF4-FFF2-40B4-BE49-F238E27FC236}">
                <a16:creationId xmlns:a16="http://schemas.microsoft.com/office/drawing/2014/main" id="{CBA05BD8-3F18-662B-B0C1-1E9828BB6C76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pPr marL="742950" lvl="1" indent="-285750">
              <a:lnSpc>
                <a:spcPct val="107000"/>
              </a:lnSpc>
              <a:buFont typeface="+mj-lt"/>
              <a:buAutoNum type="alphaUcPeriod"/>
            </a:pPr>
            <a:r>
              <a:rPr lang="fr-FR" sz="2400" i="0" dirty="0"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Arial" panose="020B0604020202020204" pitchFamily="34" charset="0"/>
              </a:rPr>
              <a:t>Le score de déshydratation est estimé à 4</a:t>
            </a:r>
            <a:endParaRPr lang="fr-TN" sz="2400" i="0" dirty="0">
              <a:effectLst/>
              <a:latin typeface="Calibri" panose="020F0502020204030204" pitchFamily="34" charset="0"/>
              <a:ea typeface="Calibri" panose="020F0502020204030204" pitchFamily="34" charset="0"/>
              <a:cs typeface="Arial" panose="020B0604020202020204" pitchFamily="34" charset="0"/>
            </a:endParaRPr>
          </a:p>
          <a:p>
            <a:pPr marL="742950" lvl="1" indent="-285750">
              <a:lnSpc>
                <a:spcPct val="107000"/>
              </a:lnSpc>
              <a:buFont typeface="+mj-lt"/>
              <a:buAutoNum type="alphaUcPeriod"/>
            </a:pPr>
            <a:r>
              <a:rPr lang="fr-FR" sz="2400" i="0" dirty="0"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Arial" panose="020B0604020202020204" pitchFamily="34" charset="0"/>
              </a:rPr>
              <a:t>Le déficit hydrique est entre 50 et 100 ml/kg/j</a:t>
            </a:r>
            <a:endParaRPr lang="fr-TN" sz="2400" i="0" dirty="0">
              <a:effectLst/>
              <a:latin typeface="Calibri" panose="020F0502020204030204" pitchFamily="34" charset="0"/>
              <a:ea typeface="Calibri" panose="020F0502020204030204" pitchFamily="34" charset="0"/>
              <a:cs typeface="Arial" panose="020B0604020202020204" pitchFamily="34" charset="0"/>
            </a:endParaRPr>
          </a:p>
          <a:p>
            <a:pPr marL="742950" lvl="1" indent="-285750">
              <a:lnSpc>
                <a:spcPct val="107000"/>
              </a:lnSpc>
              <a:buFont typeface="+mj-lt"/>
              <a:buAutoNum type="alphaUcPeriod"/>
            </a:pPr>
            <a:r>
              <a:rPr lang="fr-FR" sz="2400" i="0" dirty="0">
                <a:solidFill>
                  <a:srgbClr val="FF0000"/>
                </a:solidFill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Arial" panose="020B0604020202020204" pitchFamily="34" charset="0"/>
              </a:rPr>
              <a:t>La perte pondérale est inférieure à 5%</a:t>
            </a:r>
            <a:endParaRPr lang="fr-TN" sz="2400" i="0" dirty="0">
              <a:solidFill>
                <a:srgbClr val="FF0000"/>
              </a:solidFill>
              <a:effectLst/>
              <a:latin typeface="Calibri" panose="020F0502020204030204" pitchFamily="34" charset="0"/>
              <a:ea typeface="Calibri" panose="020F0502020204030204" pitchFamily="34" charset="0"/>
              <a:cs typeface="Arial" panose="020B0604020202020204" pitchFamily="34" charset="0"/>
            </a:endParaRPr>
          </a:p>
          <a:p>
            <a:pPr marL="742950" lvl="1" indent="-285750">
              <a:lnSpc>
                <a:spcPct val="107000"/>
              </a:lnSpc>
              <a:buFont typeface="+mj-lt"/>
              <a:buAutoNum type="alphaUcPeriod"/>
            </a:pPr>
            <a:r>
              <a:rPr lang="fr-FR" sz="2400" i="0" dirty="0">
                <a:solidFill>
                  <a:srgbClr val="FF0000"/>
                </a:solidFill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Arial" panose="020B0604020202020204" pitchFamily="34" charset="0"/>
              </a:rPr>
              <a:t>La réhydratation se fait par des solutés de réhydratation orales</a:t>
            </a:r>
            <a:endParaRPr lang="fr-TN" sz="2400" i="0" dirty="0">
              <a:solidFill>
                <a:srgbClr val="FF0000"/>
              </a:solidFill>
              <a:effectLst/>
              <a:latin typeface="Calibri" panose="020F0502020204030204" pitchFamily="34" charset="0"/>
              <a:ea typeface="Calibri" panose="020F0502020204030204" pitchFamily="34" charset="0"/>
              <a:cs typeface="Arial" panose="020B0604020202020204" pitchFamily="34" charset="0"/>
            </a:endParaRPr>
          </a:p>
          <a:p>
            <a:pPr marL="742950" lvl="1" indent="-285750">
              <a:lnSpc>
                <a:spcPct val="107000"/>
              </a:lnSpc>
              <a:buFont typeface="+mj-lt"/>
              <a:buAutoNum type="alphaUcPeriod"/>
            </a:pPr>
            <a:r>
              <a:rPr lang="fr-FR" sz="2400" i="0" dirty="0"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Arial" panose="020B0604020202020204" pitchFamily="34" charset="0"/>
              </a:rPr>
              <a:t>Le lait artificiel doit être arrêté durant 48 heures.</a:t>
            </a:r>
            <a:endParaRPr lang="fr-TN" sz="2400" i="0" dirty="0">
              <a:effectLst/>
              <a:latin typeface="Calibri" panose="020F0502020204030204" pitchFamily="34" charset="0"/>
              <a:ea typeface="Calibri" panose="020F0502020204030204" pitchFamily="34" charset="0"/>
              <a:cs typeface="Arial" panose="020B0604020202020204" pitchFamily="34" charset="0"/>
            </a:endParaRPr>
          </a:p>
          <a:p>
            <a:pPr marL="318770">
              <a:lnSpc>
                <a:spcPct val="107000"/>
              </a:lnSpc>
              <a:spcAft>
                <a:spcPts val="800"/>
              </a:spcAft>
              <a:buNone/>
            </a:pPr>
            <a:r>
              <a:rPr lang="fr-FR" sz="2400" dirty="0"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Arial" panose="020B0604020202020204" pitchFamily="34" charset="0"/>
              </a:rPr>
              <a:t> </a:t>
            </a:r>
            <a:endParaRPr lang="fr-TN" sz="2400" dirty="0">
              <a:effectLst/>
              <a:latin typeface="Calibri" panose="020F0502020204030204" pitchFamily="34" charset="0"/>
              <a:ea typeface="Calibri" panose="020F0502020204030204" pitchFamily="34" charset="0"/>
              <a:cs typeface="Arial" panose="020B0604020202020204" pitchFamily="34" charset="0"/>
            </a:endParaRPr>
          </a:p>
          <a:p>
            <a:endParaRPr lang="fr-TN" sz="2400" dirty="0"/>
          </a:p>
        </p:txBody>
      </p:sp>
    </p:spTree>
    <p:extLst>
      <p:ext uri="{BB962C8B-B14F-4D97-AF65-F5344CB8AC3E}">
        <p14:creationId xmlns:p14="http://schemas.microsoft.com/office/powerpoint/2010/main" val="358818427"/>
      </p:ext>
    </p:extLst>
  </p:cSld>
  <p:clrMapOvr>
    <a:masterClrMapping/>
  </p:clrMapOvr>
</p:sld>
</file>

<file path=ppt/slides/slide9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>
            <a:extLst>
              <a:ext uri="{FF2B5EF4-FFF2-40B4-BE49-F238E27FC236}">
                <a16:creationId xmlns:a16="http://schemas.microsoft.com/office/drawing/2014/main" id="{39048B6B-8B23-320E-3605-8B19D16FAC6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fr-TN"/>
          </a:p>
        </p:txBody>
      </p:sp>
      <p:sp>
        <p:nvSpPr>
          <p:cNvPr id="3" name="Espace réservé du contenu 2">
            <a:extLst>
              <a:ext uri="{FF2B5EF4-FFF2-40B4-BE49-F238E27FC236}">
                <a16:creationId xmlns:a16="http://schemas.microsoft.com/office/drawing/2014/main" id="{82E7229D-3FAE-97E7-100A-9C0999008F52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pPr marL="318770">
              <a:lnSpc>
                <a:spcPct val="107000"/>
              </a:lnSpc>
              <a:spcAft>
                <a:spcPts val="800"/>
              </a:spcAft>
              <a:buNone/>
            </a:pPr>
            <a:r>
              <a:rPr lang="fr-FR" sz="2800" dirty="0"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Arial" panose="020B0604020202020204" pitchFamily="34" charset="0"/>
              </a:rPr>
              <a:t>    Après 48 heures d’évolution à domicile, les diarrhées sont de plus en plus fréquentes et se sont associées à des vomissements,  le score de déshydratation est estimé à 10, au bilan : Na+= 159mmol/L, k+ = 6,5 159mmol/L    Urée= 25 </a:t>
            </a:r>
            <a:r>
              <a:rPr lang="fr-FR" sz="2800" dirty="0" err="1"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Arial" panose="020B0604020202020204" pitchFamily="34" charset="0"/>
              </a:rPr>
              <a:t>mmol</a:t>
            </a:r>
            <a:r>
              <a:rPr lang="fr-FR" sz="2800" dirty="0"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Arial" panose="020B0604020202020204" pitchFamily="34" charset="0"/>
              </a:rPr>
              <a:t>/l    créatinine= 160 </a:t>
            </a:r>
            <a:r>
              <a:rPr lang="fr-FR" sz="2800" dirty="0" err="1"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Arial" panose="020B0604020202020204" pitchFamily="34" charset="0"/>
              </a:rPr>
              <a:t>umol</a:t>
            </a:r>
            <a:r>
              <a:rPr lang="fr-FR" sz="2800" dirty="0"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Arial" panose="020B0604020202020204" pitchFamily="34" charset="0"/>
              </a:rPr>
              <a:t>/L  , GDS: PH :7,1, HCO3: 10, BE: -12 PaCO2 =22</a:t>
            </a:r>
            <a:endParaRPr lang="fr-TN" sz="2800" dirty="0">
              <a:effectLst/>
              <a:latin typeface="Calibri" panose="020F0502020204030204" pitchFamily="34" charset="0"/>
              <a:ea typeface="Calibri" panose="020F0502020204030204" pitchFamily="34" charset="0"/>
              <a:cs typeface="Arial" panose="020B0604020202020204" pitchFamily="34" charset="0"/>
            </a:endParaRPr>
          </a:p>
          <a:p>
            <a:endParaRPr lang="fr-TN" sz="2800" dirty="0"/>
          </a:p>
        </p:txBody>
      </p:sp>
    </p:spTree>
    <p:extLst>
      <p:ext uri="{BB962C8B-B14F-4D97-AF65-F5344CB8AC3E}">
        <p14:creationId xmlns:p14="http://schemas.microsoft.com/office/powerpoint/2010/main" val="1952104620"/>
      </p:ext>
    </p:extLst>
  </p:cSld>
  <p:clrMapOvr>
    <a:masterClrMapping/>
  </p:clrMapOvr>
</p:sld>
</file>

<file path=ppt/slides/slide9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>
            <a:extLst>
              <a:ext uri="{FF2B5EF4-FFF2-40B4-BE49-F238E27FC236}">
                <a16:creationId xmlns:a16="http://schemas.microsoft.com/office/drawing/2014/main" id="{091244F5-8140-F96A-CFDE-2B1E2B225DE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fr-FR" sz="2800" b="1" dirty="0">
                <a:effectLst/>
                <a:latin typeface="Times New Roman" panose="02020603050405020304" pitchFamily="18" charset="0"/>
                <a:ea typeface="Calibri" panose="020F0502020204030204" pitchFamily="34" charset="0"/>
              </a:rPr>
              <a:t>2-Concernant la stratégie de prise en charge pour cet enfant</a:t>
            </a:r>
            <a:r>
              <a:rPr lang="fr-FR" sz="2800" dirty="0">
                <a:effectLst/>
                <a:latin typeface="Times New Roman" panose="02020603050405020304" pitchFamily="18" charset="0"/>
                <a:ea typeface="Calibri" panose="020F0502020204030204" pitchFamily="34" charset="0"/>
              </a:rPr>
              <a:t> </a:t>
            </a:r>
            <a:endParaRPr lang="fr-TN" sz="2800" dirty="0"/>
          </a:p>
        </p:txBody>
      </p:sp>
      <p:sp>
        <p:nvSpPr>
          <p:cNvPr id="3" name="Espace réservé du contenu 2">
            <a:extLst>
              <a:ext uri="{FF2B5EF4-FFF2-40B4-BE49-F238E27FC236}">
                <a16:creationId xmlns:a16="http://schemas.microsoft.com/office/drawing/2014/main" id="{EBF311CC-BF12-3B12-6322-5C5FC38949D9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pPr marL="342900" lvl="0" indent="-342900" rtl="0">
              <a:lnSpc>
                <a:spcPct val="107000"/>
              </a:lnSpc>
              <a:buFont typeface="+mj-lt"/>
              <a:buAutoNum type="alphaUcPeriod"/>
            </a:pPr>
            <a:r>
              <a:rPr lang="fr-FR" sz="2400" dirty="0"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Arial" panose="020B0604020202020204" pitchFamily="34" charset="0"/>
              </a:rPr>
              <a:t>Une correction de l’acidose est indiquée</a:t>
            </a:r>
            <a:endParaRPr lang="fr-TN" sz="2400" dirty="0">
              <a:effectLst/>
              <a:latin typeface="Calibri" panose="020F0502020204030204" pitchFamily="34" charset="0"/>
              <a:ea typeface="Calibri" panose="020F0502020204030204" pitchFamily="34" charset="0"/>
              <a:cs typeface="Arial" panose="020B0604020202020204" pitchFamily="34" charset="0"/>
            </a:endParaRPr>
          </a:p>
          <a:p>
            <a:pPr marL="342900" lvl="0" indent="-342900">
              <a:lnSpc>
                <a:spcPct val="107000"/>
              </a:lnSpc>
              <a:buFont typeface="+mj-lt"/>
              <a:buAutoNum type="alphaUcPeriod"/>
            </a:pPr>
            <a:r>
              <a:rPr lang="fr-FR" sz="2400" dirty="0"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Arial" panose="020B0604020202020204" pitchFamily="34" charset="0"/>
              </a:rPr>
              <a:t>Les pertes   doivent être compensées sur 6 heures</a:t>
            </a:r>
            <a:endParaRPr lang="fr-TN" sz="2400" dirty="0">
              <a:effectLst/>
              <a:latin typeface="Calibri" panose="020F0502020204030204" pitchFamily="34" charset="0"/>
              <a:ea typeface="Calibri" panose="020F0502020204030204" pitchFamily="34" charset="0"/>
              <a:cs typeface="Arial" panose="020B0604020202020204" pitchFamily="34" charset="0"/>
            </a:endParaRPr>
          </a:p>
          <a:p>
            <a:pPr marL="342900" lvl="0" indent="-342900">
              <a:lnSpc>
                <a:spcPct val="107000"/>
              </a:lnSpc>
              <a:buFont typeface="+mj-lt"/>
              <a:buAutoNum type="alphaUcPeriod"/>
            </a:pPr>
            <a:r>
              <a:rPr lang="fr-FR" sz="2400" dirty="0"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Arial" panose="020B0604020202020204" pitchFamily="34" charset="0"/>
              </a:rPr>
              <a:t>La  perfusion de réhydratation  doit  contenir 38,25meq/L de   </a:t>
            </a:r>
            <a:r>
              <a:rPr lang="fr-FR" sz="2400" dirty="0" err="1"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Arial" panose="020B0604020202020204" pitchFamily="34" charset="0"/>
              </a:rPr>
              <a:t>Nacl</a:t>
            </a:r>
            <a:endParaRPr lang="fr-TN" sz="2400" dirty="0">
              <a:effectLst/>
              <a:latin typeface="Calibri" panose="020F0502020204030204" pitchFamily="34" charset="0"/>
              <a:ea typeface="Calibri" panose="020F0502020204030204" pitchFamily="34" charset="0"/>
              <a:cs typeface="Arial" panose="020B0604020202020204" pitchFamily="34" charset="0"/>
            </a:endParaRPr>
          </a:p>
          <a:p>
            <a:pPr marL="342900" lvl="0" indent="-342900">
              <a:lnSpc>
                <a:spcPct val="107000"/>
              </a:lnSpc>
              <a:buFont typeface="+mj-lt"/>
              <a:buAutoNum type="alphaUcPeriod"/>
            </a:pPr>
            <a:r>
              <a:rPr lang="fr-FR" sz="2400" dirty="0"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Arial" panose="020B0604020202020204" pitchFamily="34" charset="0"/>
              </a:rPr>
              <a:t>La vitesse de réhydratation  doit être  lente sur 48heures</a:t>
            </a:r>
            <a:endParaRPr lang="fr-TN" sz="2400" dirty="0">
              <a:effectLst/>
              <a:latin typeface="Calibri" panose="020F0502020204030204" pitchFamily="34" charset="0"/>
              <a:ea typeface="Calibri" panose="020F0502020204030204" pitchFamily="34" charset="0"/>
              <a:cs typeface="Arial" panose="020B0604020202020204" pitchFamily="34" charset="0"/>
            </a:endParaRPr>
          </a:p>
          <a:p>
            <a:pPr marL="342900" lvl="0" indent="-342900">
              <a:lnSpc>
                <a:spcPct val="107000"/>
              </a:lnSpc>
              <a:spcAft>
                <a:spcPts val="800"/>
              </a:spcAft>
              <a:buFont typeface="+mj-lt"/>
              <a:buAutoNum type="alphaUcPeriod"/>
            </a:pPr>
            <a:r>
              <a:rPr lang="fr-FR" sz="2400" dirty="0"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Arial" panose="020B0604020202020204" pitchFamily="34" charset="0"/>
              </a:rPr>
              <a:t>La phase rapide de réhydratation doit durer 2 heures </a:t>
            </a:r>
            <a:endParaRPr lang="fr-TN" sz="2400" dirty="0">
              <a:effectLst/>
              <a:latin typeface="Calibri" panose="020F0502020204030204" pitchFamily="34" charset="0"/>
              <a:ea typeface="Calibri" panose="020F0502020204030204" pitchFamily="34" charset="0"/>
              <a:cs typeface="Arial" panose="020B0604020202020204" pitchFamily="34" charset="0"/>
            </a:endParaRPr>
          </a:p>
          <a:p>
            <a:endParaRPr lang="fr-TN" sz="2400" dirty="0"/>
          </a:p>
        </p:txBody>
      </p:sp>
    </p:spTree>
    <p:extLst>
      <p:ext uri="{BB962C8B-B14F-4D97-AF65-F5344CB8AC3E}">
        <p14:creationId xmlns:p14="http://schemas.microsoft.com/office/powerpoint/2010/main" val="1770799548"/>
      </p:ext>
    </p:extLst>
  </p:cSld>
  <p:clrMapOvr>
    <a:masterClrMapping/>
  </p:clrMapOvr>
</p:sld>
</file>

<file path=ppt/slides/slide9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2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0C37C684-91CA-876F-465F-0307531BBDC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Rectangle 9">
            <a:extLst>
              <a:ext uri="{FF2B5EF4-FFF2-40B4-BE49-F238E27FC236}">
                <a16:creationId xmlns:a16="http://schemas.microsoft.com/office/drawing/2014/main" id="{87280C8C-8F2C-10F6-E97F-69AD6B268F1F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478095" y="376"/>
            <a:ext cx="228600" cy="6858000"/>
          </a:xfrm>
          <a:prstGeom prst="rect">
            <a:avLst/>
          </a:prstGeom>
          <a:solidFill>
            <a:schemeClr val="tx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fr-TN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Franklin Gothic Book" panose="020B0503020102020204"/>
              <a:ea typeface="+mn-ea"/>
              <a:cs typeface="+mn-cs"/>
            </a:endParaRPr>
          </a:p>
        </p:txBody>
      </p:sp>
      <p:sp>
        <p:nvSpPr>
          <p:cNvPr id="12" name="Rectangle 11">
            <a:extLst>
              <a:ext uri="{FF2B5EF4-FFF2-40B4-BE49-F238E27FC236}">
                <a16:creationId xmlns:a16="http://schemas.microsoft.com/office/drawing/2014/main" id="{2039C992-0EBB-9293-C6DB-3A03C63967C8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chemeClr val="tx1">
              <a:lumMod val="65000"/>
              <a:lumOff val="3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Franklin Gothic Book" panose="020B0503020102020204"/>
              <a:ea typeface="+mn-ea"/>
              <a:cs typeface="+mn-cs"/>
            </a:endParaRPr>
          </a:p>
        </p:txBody>
      </p:sp>
      <p:sp>
        <p:nvSpPr>
          <p:cNvPr id="14" name="Rectangle 13">
            <a:extLst>
              <a:ext uri="{FF2B5EF4-FFF2-40B4-BE49-F238E27FC236}">
                <a16:creationId xmlns:a16="http://schemas.microsoft.com/office/drawing/2014/main" id="{C87A24CF-E387-93AA-687E-10FBA27671B3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477012" y="480060"/>
            <a:ext cx="11237976" cy="589788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Franklin Gothic Book" panose="020B0503020102020204"/>
              <a:ea typeface="+mn-ea"/>
              <a:cs typeface="+mn-cs"/>
            </a:endParaRPr>
          </a:p>
        </p:txBody>
      </p:sp>
      <p:pic>
        <p:nvPicPr>
          <p:cNvPr id="5" name="Espace réservé du contenu 4">
            <a:extLst>
              <a:ext uri="{FF2B5EF4-FFF2-40B4-BE49-F238E27FC236}">
                <a16:creationId xmlns:a16="http://schemas.microsoft.com/office/drawing/2014/main" id="{446AB94A-F543-3077-F73F-4FB90265DF47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783286" y="1383605"/>
            <a:ext cx="10625429" cy="4090790"/>
          </a:xfrm>
          <a:prstGeom prst="rect">
            <a:avLst/>
          </a:prstGeom>
        </p:spPr>
      </p:pic>
      <p:pic>
        <p:nvPicPr>
          <p:cNvPr id="6" name="Image 5">
            <a:extLst>
              <a:ext uri="{FF2B5EF4-FFF2-40B4-BE49-F238E27FC236}">
                <a16:creationId xmlns:a16="http://schemas.microsoft.com/office/drawing/2014/main" id="{D9FE5894-5831-BC49-A842-8BAD2427D277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568966" y="3186079"/>
            <a:ext cx="1851908" cy="935423"/>
          </a:xfrm>
          <a:prstGeom prst="rect">
            <a:avLst/>
          </a:prstGeom>
        </p:spPr>
      </p:pic>
      <p:pic>
        <p:nvPicPr>
          <p:cNvPr id="7" name="Image 6">
            <a:extLst>
              <a:ext uri="{FF2B5EF4-FFF2-40B4-BE49-F238E27FC236}">
                <a16:creationId xmlns:a16="http://schemas.microsoft.com/office/drawing/2014/main" id="{7C468978-DA2E-5506-CDC1-CCD42CDB8985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783724" y="2282534"/>
            <a:ext cx="4295564" cy="58679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655295641"/>
      </p:ext>
    </p:extLst>
  </p:cSld>
  <p:clrMapOvr>
    <a:masterClrMapping/>
  </p:clrMapOvr>
</p:sld>
</file>

<file path=ppt/slides/slide10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2D66C4D-F21D-B0A8-5096-5DBCC942316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>
            <a:extLst>
              <a:ext uri="{FF2B5EF4-FFF2-40B4-BE49-F238E27FC236}">
                <a16:creationId xmlns:a16="http://schemas.microsoft.com/office/drawing/2014/main" id="{ED0F7E4A-BA6A-49FA-648F-E5DDF938D92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fr-FR" sz="2800" b="1" dirty="0">
                <a:effectLst/>
                <a:latin typeface="Times New Roman" panose="02020603050405020304" pitchFamily="18" charset="0"/>
                <a:ea typeface="Calibri" panose="020F0502020204030204" pitchFamily="34" charset="0"/>
              </a:rPr>
              <a:t>2-Concernant la stratégie de prise en charge pour cet enfant</a:t>
            </a:r>
            <a:r>
              <a:rPr lang="fr-FR" sz="2800" dirty="0">
                <a:effectLst/>
                <a:latin typeface="Times New Roman" panose="02020603050405020304" pitchFamily="18" charset="0"/>
                <a:ea typeface="Calibri" panose="020F0502020204030204" pitchFamily="34" charset="0"/>
              </a:rPr>
              <a:t> </a:t>
            </a:r>
            <a:endParaRPr lang="fr-TN" sz="2800" dirty="0"/>
          </a:p>
        </p:txBody>
      </p:sp>
      <p:sp>
        <p:nvSpPr>
          <p:cNvPr id="3" name="Espace réservé du contenu 2">
            <a:extLst>
              <a:ext uri="{FF2B5EF4-FFF2-40B4-BE49-F238E27FC236}">
                <a16:creationId xmlns:a16="http://schemas.microsoft.com/office/drawing/2014/main" id="{2B27548F-6C97-54F5-4D71-9CD9ADEC2294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pPr marL="342900" lvl="0" indent="-342900" rtl="0">
              <a:lnSpc>
                <a:spcPct val="107000"/>
              </a:lnSpc>
              <a:buFont typeface="+mj-lt"/>
              <a:buAutoNum type="alphaUcPeriod"/>
            </a:pPr>
            <a:r>
              <a:rPr lang="fr-FR" sz="2400" dirty="0"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Arial" panose="020B0604020202020204" pitchFamily="34" charset="0"/>
              </a:rPr>
              <a:t>Une correction de l’acidose est indiquée</a:t>
            </a:r>
            <a:endParaRPr lang="fr-TN" sz="2400" dirty="0">
              <a:effectLst/>
              <a:latin typeface="Calibri" panose="020F0502020204030204" pitchFamily="34" charset="0"/>
              <a:ea typeface="Calibri" panose="020F0502020204030204" pitchFamily="34" charset="0"/>
              <a:cs typeface="Arial" panose="020B0604020202020204" pitchFamily="34" charset="0"/>
            </a:endParaRPr>
          </a:p>
          <a:p>
            <a:pPr marL="342900" lvl="0" indent="-342900">
              <a:lnSpc>
                <a:spcPct val="107000"/>
              </a:lnSpc>
              <a:buFont typeface="+mj-lt"/>
              <a:buAutoNum type="alphaUcPeriod"/>
            </a:pPr>
            <a:r>
              <a:rPr lang="fr-FR" sz="2400" dirty="0"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Arial" panose="020B0604020202020204" pitchFamily="34" charset="0"/>
              </a:rPr>
              <a:t>Les pertes   doivent être compensées sur 6 heures</a:t>
            </a:r>
            <a:endParaRPr lang="fr-TN" sz="2400" dirty="0">
              <a:effectLst/>
              <a:latin typeface="Calibri" panose="020F0502020204030204" pitchFamily="34" charset="0"/>
              <a:ea typeface="Calibri" panose="020F0502020204030204" pitchFamily="34" charset="0"/>
              <a:cs typeface="Arial" panose="020B0604020202020204" pitchFamily="34" charset="0"/>
            </a:endParaRPr>
          </a:p>
          <a:p>
            <a:pPr marL="342900" lvl="0" indent="-342900">
              <a:lnSpc>
                <a:spcPct val="107000"/>
              </a:lnSpc>
              <a:buFont typeface="+mj-lt"/>
              <a:buAutoNum type="alphaUcPeriod"/>
            </a:pPr>
            <a:r>
              <a:rPr lang="fr-FR" sz="2400" dirty="0"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Arial" panose="020B0604020202020204" pitchFamily="34" charset="0"/>
              </a:rPr>
              <a:t>La  perfusion de réhydratation  doit  contenir 38,25meq/L de   </a:t>
            </a:r>
            <a:r>
              <a:rPr lang="fr-FR" sz="2400" dirty="0" err="1"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Arial" panose="020B0604020202020204" pitchFamily="34" charset="0"/>
              </a:rPr>
              <a:t>Nacl</a:t>
            </a:r>
            <a:endParaRPr lang="fr-TN" sz="2400" dirty="0">
              <a:effectLst/>
              <a:latin typeface="Calibri" panose="020F0502020204030204" pitchFamily="34" charset="0"/>
              <a:ea typeface="Calibri" panose="020F0502020204030204" pitchFamily="34" charset="0"/>
              <a:cs typeface="Arial" panose="020B0604020202020204" pitchFamily="34" charset="0"/>
            </a:endParaRPr>
          </a:p>
          <a:p>
            <a:pPr marL="342900" lvl="0" indent="-342900">
              <a:lnSpc>
                <a:spcPct val="107000"/>
              </a:lnSpc>
              <a:buFont typeface="+mj-lt"/>
              <a:buAutoNum type="alphaUcPeriod"/>
            </a:pPr>
            <a:r>
              <a:rPr lang="fr-FR" sz="2400" dirty="0">
                <a:solidFill>
                  <a:srgbClr val="FF0000"/>
                </a:solidFill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Arial" panose="020B0604020202020204" pitchFamily="34" charset="0"/>
              </a:rPr>
              <a:t>La vitesse de réhydratation  doit être  lente sur 48heures</a:t>
            </a:r>
            <a:endParaRPr lang="fr-TN" sz="2400" dirty="0">
              <a:solidFill>
                <a:srgbClr val="FF0000"/>
              </a:solidFill>
              <a:effectLst/>
              <a:latin typeface="Calibri" panose="020F0502020204030204" pitchFamily="34" charset="0"/>
              <a:ea typeface="Calibri" panose="020F0502020204030204" pitchFamily="34" charset="0"/>
              <a:cs typeface="Arial" panose="020B0604020202020204" pitchFamily="34" charset="0"/>
            </a:endParaRPr>
          </a:p>
          <a:p>
            <a:pPr marL="342900" lvl="0" indent="-342900">
              <a:lnSpc>
                <a:spcPct val="107000"/>
              </a:lnSpc>
              <a:spcAft>
                <a:spcPts val="800"/>
              </a:spcAft>
              <a:buFont typeface="+mj-lt"/>
              <a:buAutoNum type="alphaUcPeriod"/>
            </a:pPr>
            <a:r>
              <a:rPr lang="fr-FR" sz="2400" dirty="0"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Arial" panose="020B0604020202020204" pitchFamily="34" charset="0"/>
              </a:rPr>
              <a:t>La phase rapide de réhydratation doit durer 2 heures </a:t>
            </a:r>
            <a:endParaRPr lang="fr-TN" sz="2400" dirty="0">
              <a:effectLst/>
              <a:latin typeface="Calibri" panose="020F0502020204030204" pitchFamily="34" charset="0"/>
              <a:ea typeface="Calibri" panose="020F0502020204030204" pitchFamily="34" charset="0"/>
              <a:cs typeface="Arial" panose="020B0604020202020204" pitchFamily="34" charset="0"/>
            </a:endParaRPr>
          </a:p>
          <a:p>
            <a:endParaRPr lang="fr-TN" sz="2400" dirty="0"/>
          </a:p>
        </p:txBody>
      </p:sp>
    </p:spTree>
    <p:extLst>
      <p:ext uri="{BB962C8B-B14F-4D97-AF65-F5344CB8AC3E}">
        <p14:creationId xmlns:p14="http://schemas.microsoft.com/office/powerpoint/2010/main" val="3526378970"/>
      </p:ext>
    </p:extLst>
  </p:cSld>
  <p:clrMapOvr>
    <a:masterClrMapping/>
  </p:clrMapOvr>
</p:sld>
</file>

<file path=ppt/slides/slide10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>
            <a:extLst>
              <a:ext uri="{FF2B5EF4-FFF2-40B4-BE49-F238E27FC236}">
                <a16:creationId xmlns:a16="http://schemas.microsoft.com/office/drawing/2014/main" id="{5BA4A4ED-71FE-0311-4835-AA5A366728B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Autofit/>
          </a:bodyPr>
          <a:lstStyle/>
          <a:p>
            <a:pPr marL="318770" marR="0" lvl="0" indent="-384048" defTabSz="914400" rtl="0" eaLnBrk="1" fontAlgn="auto" latinLnBrk="0" hangingPunct="1">
              <a:lnSpc>
                <a:spcPct val="107000"/>
              </a:lnSpc>
              <a:spcBef>
                <a:spcPts val="1000"/>
              </a:spcBef>
              <a:spcAft>
                <a:spcPts val="200"/>
              </a:spcAft>
              <a:tabLst/>
              <a:defRPr/>
            </a:pPr>
            <a:r>
              <a:rPr kumimoji="0" lang="fr-FR" sz="2800" b="0" i="0" u="none" strike="noStrike" kern="1200" cap="none" spc="0" normalizeH="0" baseline="0" noProof="0" dirty="0">
                <a:ln>
                  <a:noFill/>
                </a:ln>
                <a:solidFill>
                  <a:srgbClr val="191B0E"/>
                </a:solidFill>
                <a:effectLst/>
                <a:uLnTx/>
                <a:uFillTx/>
                <a:latin typeface="Times New Roman" panose="02020603050405020304" pitchFamily="18" charset="0"/>
                <a:ea typeface="Calibri" panose="020F0502020204030204" pitchFamily="34" charset="0"/>
                <a:cs typeface="Arial" panose="020B0604020202020204" pitchFamily="34" charset="0"/>
              </a:rPr>
              <a:t>Après 6 heures de  prise en charge, le nourrisson a présenté une crise convulsive brève d’une minute, un bilan a été pratiqué : Na+ =140mmol/ , K+=2,8 </a:t>
            </a:r>
            <a:r>
              <a:rPr kumimoji="0" lang="fr-FR" sz="2800" b="0" i="0" u="none" strike="noStrike" kern="1200" cap="none" spc="0" normalizeH="0" baseline="0" noProof="0" dirty="0" err="1">
                <a:ln>
                  <a:noFill/>
                </a:ln>
                <a:solidFill>
                  <a:srgbClr val="191B0E"/>
                </a:solidFill>
                <a:effectLst/>
                <a:uLnTx/>
                <a:uFillTx/>
                <a:latin typeface="Times New Roman" panose="02020603050405020304" pitchFamily="18" charset="0"/>
                <a:ea typeface="Calibri" panose="020F0502020204030204" pitchFamily="34" charset="0"/>
                <a:cs typeface="Arial" panose="020B0604020202020204" pitchFamily="34" charset="0"/>
              </a:rPr>
              <a:t>mmol</a:t>
            </a:r>
            <a:r>
              <a:rPr kumimoji="0" lang="fr-FR" sz="2800" b="0" i="0" u="none" strike="noStrike" kern="1200" cap="none" spc="0" normalizeH="0" baseline="0" noProof="0" dirty="0">
                <a:ln>
                  <a:noFill/>
                </a:ln>
                <a:solidFill>
                  <a:srgbClr val="191B0E"/>
                </a:solidFill>
                <a:effectLst/>
                <a:uLnTx/>
                <a:uFillTx/>
                <a:latin typeface="Times New Roman" panose="02020603050405020304" pitchFamily="18" charset="0"/>
                <a:ea typeface="Calibri" panose="020F0502020204030204" pitchFamily="34" charset="0"/>
                <a:cs typeface="Arial" panose="020B0604020202020204" pitchFamily="34" charset="0"/>
              </a:rPr>
              <a:t>/l, glycémie = 6,2 </a:t>
            </a:r>
            <a:r>
              <a:rPr kumimoji="0" lang="fr-FR" sz="2800" b="0" i="0" u="none" strike="noStrike" kern="1200" cap="none" spc="0" normalizeH="0" baseline="0" noProof="0" dirty="0" err="1">
                <a:ln>
                  <a:noFill/>
                </a:ln>
                <a:solidFill>
                  <a:srgbClr val="191B0E"/>
                </a:solidFill>
                <a:effectLst/>
                <a:uLnTx/>
                <a:uFillTx/>
                <a:latin typeface="Times New Roman" panose="02020603050405020304" pitchFamily="18" charset="0"/>
                <a:ea typeface="Calibri" panose="020F0502020204030204" pitchFamily="34" charset="0"/>
                <a:cs typeface="Arial" panose="020B0604020202020204" pitchFamily="34" charset="0"/>
              </a:rPr>
              <a:t>mmol</a:t>
            </a:r>
            <a:r>
              <a:rPr kumimoji="0" lang="fr-FR" sz="2800" b="0" i="0" u="none" strike="noStrike" kern="1200" cap="none" spc="0" normalizeH="0" baseline="0" noProof="0" dirty="0">
                <a:ln>
                  <a:noFill/>
                </a:ln>
                <a:solidFill>
                  <a:srgbClr val="191B0E"/>
                </a:solidFill>
                <a:effectLst/>
                <a:uLnTx/>
                <a:uFillTx/>
                <a:latin typeface="Times New Roman" panose="02020603050405020304" pitchFamily="18" charset="0"/>
                <a:ea typeface="Calibri" panose="020F0502020204030204" pitchFamily="34" charset="0"/>
                <a:cs typeface="Arial" panose="020B0604020202020204" pitchFamily="34" charset="0"/>
              </a:rPr>
              <a:t>/l, urée=18mmol/l , créatinine=150umol/l, PH=7,29 HCO3- =18   PaCO2=30</a:t>
            </a:r>
            <a:br>
              <a:rPr kumimoji="0" lang="fr-TN" sz="2800" b="0" i="0" u="none" strike="noStrike" kern="1200" cap="none" spc="0" normalizeH="0" baseline="0" noProof="0" dirty="0">
                <a:ln>
                  <a:noFill/>
                </a:ln>
                <a:solidFill>
                  <a:srgbClr val="191B0E"/>
                </a:solidFill>
                <a:effectLst/>
                <a:uLnTx/>
                <a:uFillTx/>
                <a:latin typeface="Calibri" panose="020F0502020204030204" pitchFamily="34" charset="0"/>
                <a:ea typeface="Calibri" panose="020F0502020204030204" pitchFamily="34" charset="0"/>
                <a:cs typeface="Arial" panose="020B0604020202020204" pitchFamily="34" charset="0"/>
              </a:rPr>
            </a:br>
            <a:r>
              <a:rPr kumimoji="0" lang="fr-FR" sz="2800" b="0" i="0" u="none" strike="noStrike" kern="1200" cap="none" spc="0" normalizeH="0" baseline="0" noProof="0" dirty="0">
                <a:ln>
                  <a:noFill/>
                </a:ln>
                <a:solidFill>
                  <a:srgbClr val="191B0E"/>
                </a:solidFill>
                <a:effectLst/>
                <a:uLnTx/>
                <a:uFillTx/>
                <a:latin typeface="Times New Roman" panose="02020603050405020304" pitchFamily="18" charset="0"/>
                <a:ea typeface="Calibri" panose="020F0502020204030204" pitchFamily="34" charset="0"/>
                <a:cs typeface="Arial" panose="020B0604020202020204" pitchFamily="34" charset="0"/>
              </a:rPr>
              <a:t>3.	</a:t>
            </a:r>
            <a:r>
              <a:rPr kumimoji="0" lang="fr-FR" sz="2800" b="1" i="0" u="none" strike="noStrike" kern="1200" cap="none" spc="0" normalizeH="0" baseline="0" noProof="0" dirty="0">
                <a:ln>
                  <a:noFill/>
                </a:ln>
                <a:solidFill>
                  <a:srgbClr val="191B0E"/>
                </a:solidFill>
                <a:effectLst/>
                <a:uLnTx/>
                <a:uFillTx/>
                <a:latin typeface="Times New Roman" panose="02020603050405020304" pitchFamily="18" charset="0"/>
                <a:ea typeface="Calibri" panose="020F0502020204030204" pitchFamily="34" charset="0"/>
                <a:cs typeface="Arial" panose="020B0604020202020204" pitchFamily="34" charset="0"/>
              </a:rPr>
              <a:t>Les causes probables de cette convulsion sont :</a:t>
            </a:r>
            <a:br>
              <a:rPr kumimoji="0" lang="fr-TN" sz="2800" b="0" i="0" u="none" strike="noStrike" kern="1200" cap="none" spc="0" normalizeH="0" baseline="0" noProof="0" dirty="0">
                <a:ln>
                  <a:noFill/>
                </a:ln>
                <a:solidFill>
                  <a:srgbClr val="191B0E"/>
                </a:solidFill>
                <a:effectLst/>
                <a:uLnTx/>
                <a:uFillTx/>
                <a:latin typeface="Calibri" panose="020F0502020204030204" pitchFamily="34" charset="0"/>
                <a:ea typeface="Calibri" panose="020F0502020204030204" pitchFamily="34" charset="0"/>
                <a:cs typeface="Arial" panose="020B0604020202020204" pitchFamily="34" charset="0"/>
              </a:rPr>
            </a:br>
            <a:endParaRPr lang="fr-TN" sz="2800" dirty="0"/>
          </a:p>
        </p:txBody>
      </p:sp>
      <p:sp>
        <p:nvSpPr>
          <p:cNvPr id="3" name="Espace réservé du contenu 2">
            <a:extLst>
              <a:ext uri="{FF2B5EF4-FFF2-40B4-BE49-F238E27FC236}">
                <a16:creationId xmlns:a16="http://schemas.microsoft.com/office/drawing/2014/main" id="{8371A9A2-0571-2F82-9BCE-1F28675D776A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371600" y="3647440"/>
            <a:ext cx="9601200" cy="2936240"/>
          </a:xfrm>
        </p:spPr>
        <p:txBody>
          <a:bodyPr>
            <a:noAutofit/>
          </a:bodyPr>
          <a:lstStyle/>
          <a:p>
            <a:pPr marL="342900" lvl="0" indent="-342900">
              <a:lnSpc>
                <a:spcPct val="107000"/>
              </a:lnSpc>
              <a:buFont typeface="+mj-lt"/>
              <a:buAutoNum type="alphaUcPeriod"/>
            </a:pPr>
            <a:r>
              <a:rPr lang="fr-FR" sz="2400" dirty="0"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Arial" panose="020B0604020202020204" pitchFamily="34" charset="0"/>
              </a:rPr>
              <a:t>Un œdème cérébral </a:t>
            </a:r>
            <a:endParaRPr lang="fr-TN" sz="2400" dirty="0">
              <a:effectLst/>
              <a:latin typeface="Calibri" panose="020F0502020204030204" pitchFamily="34" charset="0"/>
              <a:ea typeface="Calibri" panose="020F0502020204030204" pitchFamily="34" charset="0"/>
              <a:cs typeface="Arial" panose="020B0604020202020204" pitchFamily="34" charset="0"/>
            </a:endParaRPr>
          </a:p>
          <a:p>
            <a:pPr marL="342900" lvl="0" indent="-342900">
              <a:lnSpc>
                <a:spcPct val="107000"/>
              </a:lnSpc>
              <a:buFont typeface="+mj-lt"/>
              <a:buAutoNum type="alphaUcPeriod"/>
            </a:pPr>
            <a:r>
              <a:rPr lang="fr-FR" sz="2400" dirty="0"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Arial" panose="020B0604020202020204" pitchFamily="34" charset="0"/>
              </a:rPr>
              <a:t>Une hyperglycémie</a:t>
            </a:r>
            <a:endParaRPr lang="fr-TN" sz="2400" dirty="0">
              <a:effectLst/>
              <a:latin typeface="Calibri" panose="020F0502020204030204" pitchFamily="34" charset="0"/>
              <a:ea typeface="Calibri" panose="020F0502020204030204" pitchFamily="34" charset="0"/>
              <a:cs typeface="Arial" panose="020B0604020202020204" pitchFamily="34" charset="0"/>
            </a:endParaRPr>
          </a:p>
          <a:p>
            <a:pPr marL="342900" lvl="0" indent="-342900">
              <a:lnSpc>
                <a:spcPct val="107000"/>
              </a:lnSpc>
              <a:buFont typeface="+mj-lt"/>
              <a:buAutoNum type="alphaUcPeriod"/>
            </a:pPr>
            <a:r>
              <a:rPr lang="fr-FR" sz="2400" dirty="0"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Arial" panose="020B0604020202020204" pitchFamily="34" charset="0"/>
              </a:rPr>
              <a:t>Une hypokaliémie</a:t>
            </a:r>
            <a:endParaRPr lang="fr-TN" sz="2400" dirty="0">
              <a:effectLst/>
              <a:latin typeface="Calibri" panose="020F0502020204030204" pitchFamily="34" charset="0"/>
              <a:ea typeface="Calibri" panose="020F0502020204030204" pitchFamily="34" charset="0"/>
              <a:cs typeface="Arial" panose="020B0604020202020204" pitchFamily="34" charset="0"/>
            </a:endParaRPr>
          </a:p>
          <a:p>
            <a:pPr marL="342900" lvl="0" indent="-342900">
              <a:lnSpc>
                <a:spcPct val="107000"/>
              </a:lnSpc>
              <a:buFont typeface="+mj-lt"/>
              <a:buAutoNum type="alphaUcPeriod"/>
            </a:pPr>
            <a:r>
              <a:rPr lang="fr-FR" sz="2400" dirty="0"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Arial" panose="020B0604020202020204" pitchFamily="34" charset="0"/>
              </a:rPr>
              <a:t>Une insuffisance rénale</a:t>
            </a:r>
            <a:endParaRPr lang="fr-TN" sz="2400" dirty="0">
              <a:effectLst/>
              <a:latin typeface="Calibri" panose="020F0502020204030204" pitchFamily="34" charset="0"/>
              <a:ea typeface="Calibri" panose="020F0502020204030204" pitchFamily="34" charset="0"/>
              <a:cs typeface="Arial" panose="020B0604020202020204" pitchFamily="34" charset="0"/>
            </a:endParaRPr>
          </a:p>
          <a:p>
            <a:pPr marL="342900" lvl="0" indent="-342900">
              <a:lnSpc>
                <a:spcPct val="107000"/>
              </a:lnSpc>
              <a:buFont typeface="+mj-lt"/>
              <a:buAutoNum type="alphaUcPeriod"/>
            </a:pPr>
            <a:r>
              <a:rPr lang="fr-FR" sz="2400" dirty="0"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Arial" panose="020B0604020202020204" pitchFamily="34" charset="0"/>
              </a:rPr>
              <a:t>Une acidose métabolique</a:t>
            </a:r>
            <a:endParaRPr lang="fr-TN" sz="2400" dirty="0">
              <a:effectLst/>
              <a:latin typeface="Calibri" panose="020F0502020204030204" pitchFamily="34" charset="0"/>
              <a:ea typeface="Calibri" panose="020F0502020204030204" pitchFamily="34" charset="0"/>
              <a:cs typeface="Arial" panose="020B0604020202020204" pitchFamily="34" charset="0"/>
            </a:endParaRPr>
          </a:p>
          <a:p>
            <a:pPr marL="318770">
              <a:lnSpc>
                <a:spcPct val="107000"/>
              </a:lnSpc>
              <a:spcAft>
                <a:spcPts val="800"/>
              </a:spcAft>
              <a:buNone/>
            </a:pPr>
            <a:r>
              <a:rPr lang="fr-FR" sz="2400" dirty="0"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Arial" panose="020B0604020202020204" pitchFamily="34" charset="0"/>
              </a:rPr>
              <a:t> </a:t>
            </a:r>
            <a:endParaRPr lang="fr-TN" sz="2400" dirty="0">
              <a:effectLst/>
              <a:latin typeface="Calibri" panose="020F0502020204030204" pitchFamily="34" charset="0"/>
              <a:ea typeface="Calibri" panose="020F0502020204030204" pitchFamily="34" charset="0"/>
              <a:cs typeface="Arial" panose="020B0604020202020204" pitchFamily="34" charset="0"/>
            </a:endParaRPr>
          </a:p>
          <a:p>
            <a:endParaRPr lang="fr-TN" sz="2400" dirty="0"/>
          </a:p>
        </p:txBody>
      </p:sp>
    </p:spTree>
    <p:extLst>
      <p:ext uri="{BB962C8B-B14F-4D97-AF65-F5344CB8AC3E}">
        <p14:creationId xmlns:p14="http://schemas.microsoft.com/office/powerpoint/2010/main" val="2558560488"/>
      </p:ext>
    </p:extLst>
  </p:cSld>
  <p:clrMapOvr>
    <a:masterClrMapping/>
  </p:clrMapOvr>
</p:sld>
</file>

<file path=ppt/slides/slide10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9453479-9EC5-0884-0C57-097618FD5E7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>
            <a:extLst>
              <a:ext uri="{FF2B5EF4-FFF2-40B4-BE49-F238E27FC236}">
                <a16:creationId xmlns:a16="http://schemas.microsoft.com/office/drawing/2014/main" id="{01B58774-FC71-FDDA-FEE5-0BD9D9E1591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Autofit/>
          </a:bodyPr>
          <a:lstStyle/>
          <a:p>
            <a:pPr marL="318770" marR="0" lvl="0" indent="-384048" defTabSz="914400" rtl="0" eaLnBrk="1" fontAlgn="auto" latinLnBrk="0" hangingPunct="1">
              <a:lnSpc>
                <a:spcPct val="107000"/>
              </a:lnSpc>
              <a:spcBef>
                <a:spcPts val="1000"/>
              </a:spcBef>
              <a:spcAft>
                <a:spcPts val="200"/>
              </a:spcAft>
              <a:tabLst/>
              <a:defRPr/>
            </a:pPr>
            <a:r>
              <a:rPr kumimoji="0" lang="fr-FR" sz="2800" b="0" i="0" u="none" strike="noStrike" kern="1200" cap="none" spc="0" normalizeH="0" baseline="0" noProof="0" dirty="0">
                <a:ln>
                  <a:noFill/>
                </a:ln>
                <a:solidFill>
                  <a:srgbClr val="191B0E"/>
                </a:solidFill>
                <a:effectLst/>
                <a:uLnTx/>
                <a:uFillTx/>
                <a:latin typeface="Times New Roman" panose="02020603050405020304" pitchFamily="18" charset="0"/>
                <a:ea typeface="Calibri" panose="020F0502020204030204" pitchFamily="34" charset="0"/>
                <a:cs typeface="Arial" panose="020B0604020202020204" pitchFamily="34" charset="0"/>
              </a:rPr>
              <a:t>     Après 6 heures de  prise en charge, le nourrisson a présenté une crise convulsive brève d’une minute, un bilan a été pratiqué : Na+ =140mmol/ , K+=2,8 </a:t>
            </a:r>
            <a:r>
              <a:rPr kumimoji="0" lang="fr-FR" sz="2800" b="0" i="0" u="none" strike="noStrike" kern="1200" cap="none" spc="0" normalizeH="0" baseline="0" noProof="0" dirty="0" err="1">
                <a:ln>
                  <a:noFill/>
                </a:ln>
                <a:solidFill>
                  <a:srgbClr val="191B0E"/>
                </a:solidFill>
                <a:effectLst/>
                <a:uLnTx/>
                <a:uFillTx/>
                <a:latin typeface="Times New Roman" panose="02020603050405020304" pitchFamily="18" charset="0"/>
                <a:ea typeface="Calibri" panose="020F0502020204030204" pitchFamily="34" charset="0"/>
                <a:cs typeface="Arial" panose="020B0604020202020204" pitchFamily="34" charset="0"/>
              </a:rPr>
              <a:t>mmol</a:t>
            </a:r>
            <a:r>
              <a:rPr kumimoji="0" lang="fr-FR" sz="2800" b="0" i="0" u="none" strike="noStrike" kern="1200" cap="none" spc="0" normalizeH="0" baseline="0" noProof="0" dirty="0">
                <a:ln>
                  <a:noFill/>
                </a:ln>
                <a:solidFill>
                  <a:srgbClr val="191B0E"/>
                </a:solidFill>
                <a:effectLst/>
                <a:uLnTx/>
                <a:uFillTx/>
                <a:latin typeface="Times New Roman" panose="02020603050405020304" pitchFamily="18" charset="0"/>
                <a:ea typeface="Calibri" panose="020F0502020204030204" pitchFamily="34" charset="0"/>
                <a:cs typeface="Arial" panose="020B0604020202020204" pitchFamily="34" charset="0"/>
              </a:rPr>
              <a:t>/l, glycémie = 6,2 </a:t>
            </a:r>
            <a:r>
              <a:rPr kumimoji="0" lang="fr-FR" sz="2800" b="0" i="0" u="none" strike="noStrike" kern="1200" cap="none" spc="0" normalizeH="0" baseline="0" noProof="0" dirty="0" err="1">
                <a:ln>
                  <a:noFill/>
                </a:ln>
                <a:solidFill>
                  <a:srgbClr val="191B0E"/>
                </a:solidFill>
                <a:effectLst/>
                <a:uLnTx/>
                <a:uFillTx/>
                <a:latin typeface="Times New Roman" panose="02020603050405020304" pitchFamily="18" charset="0"/>
                <a:ea typeface="Calibri" panose="020F0502020204030204" pitchFamily="34" charset="0"/>
                <a:cs typeface="Arial" panose="020B0604020202020204" pitchFamily="34" charset="0"/>
              </a:rPr>
              <a:t>mmol</a:t>
            </a:r>
            <a:r>
              <a:rPr kumimoji="0" lang="fr-FR" sz="2800" b="0" i="0" u="none" strike="noStrike" kern="1200" cap="none" spc="0" normalizeH="0" baseline="0" noProof="0" dirty="0">
                <a:ln>
                  <a:noFill/>
                </a:ln>
                <a:solidFill>
                  <a:srgbClr val="191B0E"/>
                </a:solidFill>
                <a:effectLst/>
                <a:uLnTx/>
                <a:uFillTx/>
                <a:latin typeface="Times New Roman" panose="02020603050405020304" pitchFamily="18" charset="0"/>
                <a:ea typeface="Calibri" panose="020F0502020204030204" pitchFamily="34" charset="0"/>
                <a:cs typeface="Arial" panose="020B0604020202020204" pitchFamily="34" charset="0"/>
              </a:rPr>
              <a:t>/l, urée=18mmol/l , créatinine=150umol/l, PH=7,29 HCO3- =18   PaCO2=30</a:t>
            </a:r>
            <a:br>
              <a:rPr kumimoji="0" lang="fr-TN" sz="2800" b="0" i="0" u="none" strike="noStrike" kern="1200" cap="none" spc="0" normalizeH="0" baseline="0" noProof="0" dirty="0">
                <a:ln>
                  <a:noFill/>
                </a:ln>
                <a:solidFill>
                  <a:srgbClr val="191B0E"/>
                </a:solidFill>
                <a:effectLst/>
                <a:uLnTx/>
                <a:uFillTx/>
                <a:latin typeface="Calibri" panose="020F0502020204030204" pitchFamily="34" charset="0"/>
                <a:ea typeface="Calibri" panose="020F0502020204030204" pitchFamily="34" charset="0"/>
                <a:cs typeface="Arial" panose="020B0604020202020204" pitchFamily="34" charset="0"/>
              </a:rPr>
            </a:br>
            <a:r>
              <a:rPr kumimoji="0" lang="fr-FR" sz="2800" b="0" i="0" u="none" strike="noStrike" kern="1200" cap="none" spc="0" normalizeH="0" baseline="0" noProof="0" dirty="0">
                <a:ln>
                  <a:noFill/>
                </a:ln>
                <a:solidFill>
                  <a:srgbClr val="191B0E"/>
                </a:solidFill>
                <a:effectLst/>
                <a:uLnTx/>
                <a:uFillTx/>
                <a:latin typeface="Times New Roman" panose="02020603050405020304" pitchFamily="18" charset="0"/>
                <a:ea typeface="Calibri" panose="020F0502020204030204" pitchFamily="34" charset="0"/>
                <a:cs typeface="Arial" panose="020B0604020202020204" pitchFamily="34" charset="0"/>
              </a:rPr>
              <a:t>3.	</a:t>
            </a:r>
            <a:r>
              <a:rPr kumimoji="0" lang="fr-FR" sz="2800" b="1" i="0" u="none" strike="noStrike" kern="1200" cap="none" spc="0" normalizeH="0" baseline="0" noProof="0" dirty="0">
                <a:ln>
                  <a:noFill/>
                </a:ln>
                <a:solidFill>
                  <a:srgbClr val="191B0E"/>
                </a:solidFill>
                <a:effectLst/>
                <a:uLnTx/>
                <a:uFillTx/>
                <a:latin typeface="Times New Roman" panose="02020603050405020304" pitchFamily="18" charset="0"/>
                <a:ea typeface="Calibri" panose="020F0502020204030204" pitchFamily="34" charset="0"/>
                <a:cs typeface="Arial" panose="020B0604020202020204" pitchFamily="34" charset="0"/>
              </a:rPr>
              <a:t>Les causes probables de cette convulsion sont :</a:t>
            </a:r>
            <a:br>
              <a:rPr kumimoji="0" lang="fr-TN" sz="2800" b="0" i="0" u="none" strike="noStrike" kern="1200" cap="none" spc="0" normalizeH="0" baseline="0" noProof="0" dirty="0">
                <a:ln>
                  <a:noFill/>
                </a:ln>
                <a:solidFill>
                  <a:srgbClr val="191B0E"/>
                </a:solidFill>
                <a:effectLst/>
                <a:uLnTx/>
                <a:uFillTx/>
                <a:latin typeface="Calibri" panose="020F0502020204030204" pitchFamily="34" charset="0"/>
                <a:ea typeface="Calibri" panose="020F0502020204030204" pitchFamily="34" charset="0"/>
                <a:cs typeface="Arial" panose="020B0604020202020204" pitchFamily="34" charset="0"/>
              </a:rPr>
            </a:br>
            <a:endParaRPr lang="fr-TN" sz="2800" dirty="0"/>
          </a:p>
        </p:txBody>
      </p:sp>
      <p:sp>
        <p:nvSpPr>
          <p:cNvPr id="3" name="Espace réservé du contenu 2">
            <a:extLst>
              <a:ext uri="{FF2B5EF4-FFF2-40B4-BE49-F238E27FC236}">
                <a16:creationId xmlns:a16="http://schemas.microsoft.com/office/drawing/2014/main" id="{102429A3-17C5-C6DB-334C-D00079F03004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371600" y="3647440"/>
            <a:ext cx="9601200" cy="2936240"/>
          </a:xfrm>
        </p:spPr>
        <p:txBody>
          <a:bodyPr>
            <a:noAutofit/>
          </a:bodyPr>
          <a:lstStyle/>
          <a:p>
            <a:pPr marL="342900" lvl="0" indent="-342900">
              <a:lnSpc>
                <a:spcPct val="107000"/>
              </a:lnSpc>
              <a:buFont typeface="+mj-lt"/>
              <a:buAutoNum type="alphaUcPeriod"/>
            </a:pPr>
            <a:r>
              <a:rPr lang="fr-FR" sz="2400" dirty="0">
                <a:solidFill>
                  <a:srgbClr val="FF0000"/>
                </a:solidFill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Arial" panose="020B0604020202020204" pitchFamily="34" charset="0"/>
              </a:rPr>
              <a:t>Un œdème cérébral </a:t>
            </a:r>
            <a:endParaRPr lang="fr-TN" sz="2400" dirty="0">
              <a:solidFill>
                <a:srgbClr val="FF0000"/>
              </a:solidFill>
              <a:effectLst/>
              <a:latin typeface="Calibri" panose="020F0502020204030204" pitchFamily="34" charset="0"/>
              <a:ea typeface="Calibri" panose="020F0502020204030204" pitchFamily="34" charset="0"/>
              <a:cs typeface="Arial" panose="020B0604020202020204" pitchFamily="34" charset="0"/>
            </a:endParaRPr>
          </a:p>
          <a:p>
            <a:pPr marL="342900" lvl="0" indent="-342900">
              <a:lnSpc>
                <a:spcPct val="107000"/>
              </a:lnSpc>
              <a:buFont typeface="+mj-lt"/>
              <a:buAutoNum type="alphaUcPeriod"/>
            </a:pPr>
            <a:r>
              <a:rPr lang="fr-FR" sz="2400" dirty="0"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Arial" panose="020B0604020202020204" pitchFamily="34" charset="0"/>
              </a:rPr>
              <a:t>Une hyperglycémie</a:t>
            </a:r>
            <a:endParaRPr lang="fr-TN" sz="2400" dirty="0">
              <a:effectLst/>
              <a:latin typeface="Calibri" panose="020F0502020204030204" pitchFamily="34" charset="0"/>
              <a:ea typeface="Calibri" panose="020F0502020204030204" pitchFamily="34" charset="0"/>
              <a:cs typeface="Arial" panose="020B0604020202020204" pitchFamily="34" charset="0"/>
            </a:endParaRPr>
          </a:p>
          <a:p>
            <a:pPr marL="342900" lvl="0" indent="-342900">
              <a:lnSpc>
                <a:spcPct val="107000"/>
              </a:lnSpc>
              <a:buFont typeface="+mj-lt"/>
              <a:buAutoNum type="alphaUcPeriod"/>
            </a:pPr>
            <a:r>
              <a:rPr lang="fr-FR" sz="2400" dirty="0"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Arial" panose="020B0604020202020204" pitchFamily="34" charset="0"/>
              </a:rPr>
              <a:t>Une hypokaliémie</a:t>
            </a:r>
            <a:endParaRPr lang="fr-TN" sz="2400" dirty="0">
              <a:effectLst/>
              <a:latin typeface="Calibri" panose="020F0502020204030204" pitchFamily="34" charset="0"/>
              <a:ea typeface="Calibri" panose="020F0502020204030204" pitchFamily="34" charset="0"/>
              <a:cs typeface="Arial" panose="020B0604020202020204" pitchFamily="34" charset="0"/>
            </a:endParaRPr>
          </a:p>
          <a:p>
            <a:pPr marL="342900" lvl="0" indent="-342900">
              <a:lnSpc>
                <a:spcPct val="107000"/>
              </a:lnSpc>
              <a:buFont typeface="+mj-lt"/>
              <a:buAutoNum type="alphaUcPeriod"/>
            </a:pPr>
            <a:r>
              <a:rPr lang="fr-FR" sz="2400" dirty="0"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Arial" panose="020B0604020202020204" pitchFamily="34" charset="0"/>
              </a:rPr>
              <a:t>Une insuffisance rénale</a:t>
            </a:r>
            <a:endParaRPr lang="fr-TN" sz="2400" dirty="0">
              <a:effectLst/>
              <a:latin typeface="Calibri" panose="020F0502020204030204" pitchFamily="34" charset="0"/>
              <a:ea typeface="Calibri" panose="020F0502020204030204" pitchFamily="34" charset="0"/>
              <a:cs typeface="Arial" panose="020B0604020202020204" pitchFamily="34" charset="0"/>
            </a:endParaRPr>
          </a:p>
          <a:p>
            <a:pPr marL="342900" lvl="0" indent="-342900">
              <a:lnSpc>
                <a:spcPct val="107000"/>
              </a:lnSpc>
              <a:buFont typeface="+mj-lt"/>
              <a:buAutoNum type="alphaUcPeriod"/>
            </a:pPr>
            <a:r>
              <a:rPr lang="fr-FR" sz="2400" dirty="0"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Arial" panose="020B0604020202020204" pitchFamily="34" charset="0"/>
              </a:rPr>
              <a:t>Une acidose métabolique</a:t>
            </a:r>
            <a:endParaRPr lang="fr-TN" sz="2400" dirty="0">
              <a:effectLst/>
              <a:latin typeface="Calibri" panose="020F0502020204030204" pitchFamily="34" charset="0"/>
              <a:ea typeface="Calibri" panose="020F0502020204030204" pitchFamily="34" charset="0"/>
              <a:cs typeface="Arial" panose="020B0604020202020204" pitchFamily="34" charset="0"/>
            </a:endParaRPr>
          </a:p>
          <a:p>
            <a:pPr marL="318770">
              <a:lnSpc>
                <a:spcPct val="107000"/>
              </a:lnSpc>
              <a:spcAft>
                <a:spcPts val="800"/>
              </a:spcAft>
              <a:buNone/>
            </a:pPr>
            <a:r>
              <a:rPr lang="fr-FR" sz="2400" dirty="0"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Arial" panose="020B0604020202020204" pitchFamily="34" charset="0"/>
              </a:rPr>
              <a:t> </a:t>
            </a:r>
            <a:endParaRPr lang="fr-TN" sz="2400" dirty="0">
              <a:effectLst/>
              <a:latin typeface="Calibri" panose="020F0502020204030204" pitchFamily="34" charset="0"/>
              <a:ea typeface="Calibri" panose="020F0502020204030204" pitchFamily="34" charset="0"/>
              <a:cs typeface="Arial" panose="020B0604020202020204" pitchFamily="34" charset="0"/>
            </a:endParaRPr>
          </a:p>
          <a:p>
            <a:endParaRPr lang="fr-TN" sz="2400" dirty="0"/>
          </a:p>
        </p:txBody>
      </p:sp>
    </p:spTree>
    <p:extLst>
      <p:ext uri="{BB962C8B-B14F-4D97-AF65-F5344CB8AC3E}">
        <p14:creationId xmlns:p14="http://schemas.microsoft.com/office/powerpoint/2010/main" val="2811467438"/>
      </p:ext>
    </p:extLst>
  </p:cSld>
  <p:clrMapOvr>
    <a:masterClrMapping/>
  </p:clrMapOvr>
</p:sld>
</file>

<file path=ppt/slides/slide10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>
            <a:extLst>
              <a:ext uri="{FF2B5EF4-FFF2-40B4-BE49-F238E27FC236}">
                <a16:creationId xmlns:a16="http://schemas.microsoft.com/office/drawing/2014/main" id="{76673D9C-4DF0-2656-A6D8-482B535A242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fr-TN"/>
          </a:p>
        </p:txBody>
      </p:sp>
      <p:sp>
        <p:nvSpPr>
          <p:cNvPr id="3" name="Espace réservé du contenu 2">
            <a:extLst>
              <a:ext uri="{FF2B5EF4-FFF2-40B4-BE49-F238E27FC236}">
                <a16:creationId xmlns:a16="http://schemas.microsoft.com/office/drawing/2014/main" id="{D54D58EF-45E8-A343-98FD-9F4D8E00D1F5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fr-TN"/>
          </a:p>
        </p:txBody>
      </p:sp>
    </p:spTree>
    <p:extLst>
      <p:ext uri="{BB962C8B-B14F-4D97-AF65-F5344CB8AC3E}">
        <p14:creationId xmlns:p14="http://schemas.microsoft.com/office/powerpoint/2010/main" val="215888408"/>
      </p:ext>
    </p:extLst>
  </p:cSld>
  <p:clrMapOvr>
    <a:masterClrMapping/>
  </p:clrMapOvr>
</p:sld>
</file>

<file path=ppt/slides/slide10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>
            <a:extLst>
              <a:ext uri="{FF2B5EF4-FFF2-40B4-BE49-F238E27FC236}">
                <a16:creationId xmlns:a16="http://schemas.microsoft.com/office/drawing/2014/main" id="{EE63746E-227E-99B6-14BF-77CDE4B2E563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fr-FR" dirty="0">
                <a:solidFill>
                  <a:srgbClr val="00B0F0"/>
                </a:solidFill>
              </a:rPr>
              <a:t>Autres cas</a:t>
            </a:r>
            <a:endParaRPr lang="fr-TN" dirty="0">
              <a:solidFill>
                <a:srgbClr val="00B0F0"/>
              </a:solidFill>
            </a:endParaRPr>
          </a:p>
        </p:txBody>
      </p:sp>
      <p:sp>
        <p:nvSpPr>
          <p:cNvPr id="3" name="Sous-titre 2">
            <a:extLst>
              <a:ext uri="{FF2B5EF4-FFF2-40B4-BE49-F238E27FC236}">
                <a16:creationId xmlns:a16="http://schemas.microsoft.com/office/drawing/2014/main" id="{EF589DB5-19E1-6EA5-E688-D881A453BB0E}"/>
              </a:ext>
            </a:extLst>
          </p:cNvPr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endParaRPr lang="fr-TN"/>
          </a:p>
        </p:txBody>
      </p:sp>
    </p:spTree>
    <p:extLst>
      <p:ext uri="{BB962C8B-B14F-4D97-AF65-F5344CB8AC3E}">
        <p14:creationId xmlns:p14="http://schemas.microsoft.com/office/powerpoint/2010/main" val="1282763283"/>
      </p:ext>
    </p:extLst>
  </p:cSld>
  <p:clrMapOvr>
    <a:masterClrMapping/>
  </p:clrMapOvr>
</p:sld>
</file>

<file path=ppt/slides/slide10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re 1">
            <a:extLst>
              <a:ext uri="{FF2B5EF4-FFF2-40B4-BE49-F238E27FC236}">
                <a16:creationId xmlns:a16="http://schemas.microsoft.com/office/drawing/2014/main" id="{7C05EDEA-180B-FBEB-705E-892613A5644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952625" y="0"/>
            <a:ext cx="8229600" cy="1143000"/>
          </a:xfrm>
          <a:solidFill>
            <a:schemeClr val="accent5"/>
          </a:solidFill>
        </p:spPr>
        <p:txBody>
          <a:bodyPr rtlCol="0">
            <a:normAutofit fontScale="90000"/>
          </a:bodyPr>
          <a:lstStyle/>
          <a:p>
            <a:pPr algn="l" eaLnBrk="1" fontAlgn="auto" hangingPunct="1">
              <a:spcAft>
                <a:spcPts val="0"/>
              </a:spcAft>
              <a:defRPr/>
            </a:pPr>
            <a:br>
              <a:rPr lang="fr-FR" b="1" dirty="0"/>
            </a:br>
            <a:r>
              <a:rPr lang="fr-FR" b="1" dirty="0"/>
              <a:t>Cas clinique 4 </a:t>
            </a:r>
            <a:br>
              <a:rPr lang="fr-FR" dirty="0"/>
            </a:br>
            <a:endParaRPr lang="fr-FR" dirty="0"/>
          </a:p>
        </p:txBody>
      </p:sp>
      <p:sp>
        <p:nvSpPr>
          <p:cNvPr id="74754" name="Espace réservé du contenu 2">
            <a:extLst>
              <a:ext uri="{FF2B5EF4-FFF2-40B4-BE49-F238E27FC236}">
                <a16:creationId xmlns:a16="http://schemas.microsoft.com/office/drawing/2014/main" id="{21B00352-7E0C-FA6A-1D61-B26B072CB5A1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809751" y="1285875"/>
            <a:ext cx="9464500" cy="4972050"/>
          </a:xfrm>
        </p:spPr>
        <p:txBody>
          <a:bodyPr>
            <a:noAutofit/>
          </a:bodyPr>
          <a:lstStyle/>
          <a:p>
            <a:pPr>
              <a:lnSpc>
                <a:spcPct val="115000"/>
              </a:lnSpc>
              <a:spcAft>
                <a:spcPts val="1000"/>
              </a:spcAft>
            </a:pPr>
            <a:r>
              <a:rPr lang="fr-FR" altLang="fr-TN" dirty="0" err="1">
                <a:solidFill>
                  <a:srgbClr val="000000"/>
                </a:solidFill>
                <a:latin typeface="Times New Roman" panose="02020603050405020304" pitchFamily="18" charset="0"/>
                <a:ea typeface="Calibri" panose="020F0502020204030204" pitchFamily="34" charset="0"/>
                <a:cs typeface="Arial" panose="020B0604020202020204" pitchFamily="34" charset="0"/>
              </a:rPr>
              <a:t>Ons</a:t>
            </a:r>
            <a:r>
              <a:rPr lang="fr-FR" altLang="fr-TN" dirty="0">
                <a:solidFill>
                  <a:srgbClr val="000000"/>
                </a:solidFill>
                <a:latin typeface="Times New Roman" panose="02020603050405020304" pitchFamily="18" charset="0"/>
                <a:ea typeface="Calibri" panose="020F0502020204030204" pitchFamily="34" charset="0"/>
                <a:cs typeface="Arial" panose="020B0604020202020204" pitchFamily="34" charset="0"/>
              </a:rPr>
              <a:t>, nourrisson âgée de 3 mois, présente depuis 4 jours, des vomissements alimentaires avec </a:t>
            </a:r>
            <a:endParaRPr lang="fr-TN" altLang="fr-TN" dirty="0">
              <a:ea typeface="Calibri" panose="020F0502020204030204" pitchFamily="34" charset="0"/>
              <a:cs typeface="Arial" panose="020B0604020202020204" pitchFamily="34" charset="0"/>
            </a:endParaRPr>
          </a:p>
          <a:p>
            <a:pPr>
              <a:lnSpc>
                <a:spcPct val="115000"/>
              </a:lnSpc>
              <a:spcAft>
                <a:spcPts val="1000"/>
              </a:spcAft>
            </a:pPr>
            <a:r>
              <a:rPr lang="fr-FR" altLang="fr-TN" dirty="0">
                <a:solidFill>
                  <a:srgbClr val="000000"/>
                </a:solidFill>
                <a:latin typeface="Times New Roman" panose="02020603050405020304" pitchFamily="18" charset="0"/>
                <a:ea typeface="Calibri" panose="020F0502020204030204" pitchFamily="34" charset="0"/>
                <a:cs typeface="Arial" panose="020B0604020202020204" pitchFamily="34" charset="0"/>
              </a:rPr>
              <a:t>diarrhée ( 7 selles liquides/ j).  Son poids il y a dix jours : 5 kg ;</a:t>
            </a:r>
            <a:endParaRPr lang="fr-TN" altLang="fr-TN" dirty="0">
              <a:ea typeface="Calibri" panose="020F0502020204030204" pitchFamily="34" charset="0"/>
              <a:cs typeface="Arial" panose="020B0604020202020204" pitchFamily="34" charset="0"/>
            </a:endParaRPr>
          </a:p>
          <a:p>
            <a:pPr>
              <a:lnSpc>
                <a:spcPct val="115000"/>
              </a:lnSpc>
              <a:spcAft>
                <a:spcPts val="1000"/>
              </a:spcAft>
            </a:pPr>
            <a:r>
              <a:rPr lang="fr-FR" altLang="fr-TN" dirty="0">
                <a:solidFill>
                  <a:srgbClr val="000000"/>
                </a:solidFill>
                <a:latin typeface="Times New Roman" panose="02020603050405020304" pitchFamily="18" charset="0"/>
                <a:ea typeface="Calibri" panose="020F0502020204030204" pitchFamily="34" charset="0"/>
                <a:cs typeface="Arial" panose="020B0604020202020204" pitchFamily="34" charset="0"/>
              </a:rPr>
              <a:t>A l’examen : Poids = 4,6 kg , Température = 38,9°; </a:t>
            </a:r>
            <a:endParaRPr lang="fr-TN" altLang="fr-TN" dirty="0">
              <a:ea typeface="Calibri" panose="020F0502020204030204" pitchFamily="34" charset="0"/>
              <a:cs typeface="Arial" panose="020B0604020202020204" pitchFamily="34" charset="0"/>
            </a:endParaRPr>
          </a:p>
          <a:p>
            <a:pPr>
              <a:lnSpc>
                <a:spcPct val="115000"/>
              </a:lnSpc>
              <a:spcAft>
                <a:spcPts val="1000"/>
              </a:spcAft>
              <a:buSzPts val="1400"/>
              <a:buFont typeface="Times New Roman" panose="02020603050405020304" pitchFamily="18" charset="0"/>
              <a:buChar char="–"/>
            </a:pPr>
            <a:r>
              <a:rPr lang="fr-FR" altLang="fr-TN" dirty="0">
                <a:solidFill>
                  <a:srgbClr val="000000"/>
                </a:solidFill>
                <a:latin typeface="Times New Roman" panose="02020603050405020304" pitchFamily="18" charset="0"/>
                <a:ea typeface="Calibri" panose="020F0502020204030204" pitchFamily="34" charset="0"/>
                <a:cs typeface="Arial" panose="020B0604020202020204" pitchFamily="34" charset="0"/>
              </a:rPr>
              <a:t>Pli cutané persistant , langue peu desséchée</a:t>
            </a:r>
            <a:endParaRPr lang="fr-TN" altLang="fr-TN" dirty="0">
              <a:ea typeface="Calibri" panose="020F0502020204030204" pitchFamily="34" charset="0"/>
              <a:cs typeface="Arial" panose="020B0604020202020204" pitchFamily="34" charset="0"/>
            </a:endParaRPr>
          </a:p>
          <a:p>
            <a:pPr>
              <a:lnSpc>
                <a:spcPct val="115000"/>
              </a:lnSpc>
              <a:spcAft>
                <a:spcPts val="1000"/>
              </a:spcAft>
              <a:buSzPts val="1400"/>
              <a:buFont typeface="Times New Roman" panose="02020603050405020304" pitchFamily="18" charset="0"/>
              <a:buChar char="–"/>
            </a:pPr>
            <a:r>
              <a:rPr lang="fr-FR" altLang="fr-TN" dirty="0">
                <a:solidFill>
                  <a:srgbClr val="000000"/>
                </a:solidFill>
                <a:latin typeface="Times New Roman" panose="02020603050405020304" pitchFamily="18" charset="0"/>
                <a:ea typeface="Calibri" panose="020F0502020204030204" pitchFamily="34" charset="0"/>
                <a:cs typeface="Arial" panose="020B0604020202020204" pitchFamily="34" charset="0"/>
              </a:rPr>
              <a:t>Globes oculaires légèrement enfoncés, Fontanelle antérieure </a:t>
            </a:r>
            <a:r>
              <a:rPr lang="fr-FR" altLang="fr-TN" dirty="0" err="1">
                <a:solidFill>
                  <a:srgbClr val="000000"/>
                </a:solidFill>
                <a:latin typeface="Times New Roman" panose="02020603050405020304" pitchFamily="18" charset="0"/>
                <a:ea typeface="Calibri" panose="020F0502020204030204" pitchFamily="34" charset="0"/>
                <a:cs typeface="Arial" panose="020B0604020202020204" pitchFamily="34" charset="0"/>
              </a:rPr>
              <a:t>trés</a:t>
            </a:r>
            <a:r>
              <a:rPr lang="fr-FR" altLang="fr-TN" dirty="0">
                <a:solidFill>
                  <a:srgbClr val="000000"/>
                </a:solidFill>
                <a:latin typeface="Times New Roman" panose="02020603050405020304" pitchFamily="18" charset="0"/>
                <a:ea typeface="Calibri" panose="020F0502020204030204" pitchFamily="34" charset="0"/>
                <a:cs typeface="Arial" panose="020B0604020202020204" pitchFamily="34" charset="0"/>
              </a:rPr>
              <a:t> déprimée</a:t>
            </a:r>
            <a:endParaRPr lang="fr-TN" altLang="fr-TN" dirty="0">
              <a:ea typeface="Calibri" panose="020F0502020204030204" pitchFamily="34" charset="0"/>
              <a:cs typeface="Arial" panose="020B0604020202020204" pitchFamily="34" charset="0"/>
            </a:endParaRPr>
          </a:p>
          <a:p>
            <a:pPr>
              <a:lnSpc>
                <a:spcPct val="115000"/>
              </a:lnSpc>
              <a:spcAft>
                <a:spcPts val="1000"/>
              </a:spcAft>
              <a:buSzPts val="1400"/>
              <a:buFont typeface="Times New Roman" panose="02020603050405020304" pitchFamily="18" charset="0"/>
              <a:buChar char="–"/>
            </a:pPr>
            <a:r>
              <a:rPr lang="fr-FR" altLang="fr-TN" dirty="0">
                <a:solidFill>
                  <a:srgbClr val="000000"/>
                </a:solidFill>
                <a:latin typeface="Times New Roman" panose="02020603050405020304" pitchFamily="18" charset="0"/>
                <a:ea typeface="Calibri" panose="020F0502020204030204" pitchFamily="34" charset="0"/>
                <a:cs typeface="Arial" panose="020B0604020202020204" pitchFamily="34" charset="0"/>
              </a:rPr>
              <a:t>Glasgow a 15/15</a:t>
            </a:r>
            <a:endParaRPr lang="fr-TN" altLang="fr-TN" dirty="0">
              <a:ea typeface="Calibri" panose="020F0502020204030204" pitchFamily="34" charset="0"/>
              <a:cs typeface="Arial" panose="020B0604020202020204" pitchFamily="34" charset="0"/>
            </a:endParaRPr>
          </a:p>
          <a:p>
            <a:pPr>
              <a:lnSpc>
                <a:spcPct val="115000"/>
              </a:lnSpc>
              <a:spcAft>
                <a:spcPts val="1000"/>
              </a:spcAft>
              <a:buSzPts val="1400"/>
              <a:buFont typeface="Times New Roman" panose="02020603050405020304" pitchFamily="18" charset="0"/>
              <a:buChar char="–"/>
            </a:pPr>
            <a:r>
              <a:rPr lang="fr-FR" altLang="fr-TN" dirty="0">
                <a:solidFill>
                  <a:srgbClr val="000000"/>
                </a:solidFill>
                <a:latin typeface="Times New Roman" panose="02020603050405020304" pitchFamily="18" charset="0"/>
                <a:ea typeface="Calibri" panose="020F0502020204030204" pitchFamily="34" charset="0"/>
                <a:cs typeface="Arial" panose="020B0604020202020204" pitchFamily="34" charset="0"/>
              </a:rPr>
              <a:t>Pouls = 160batt / min, TRC à 2 sec , extrémités chaudes, PA = 80 / 50 </a:t>
            </a:r>
            <a:r>
              <a:rPr lang="fr-FR" altLang="fr-TN" dirty="0" err="1">
                <a:solidFill>
                  <a:srgbClr val="000000"/>
                </a:solidFill>
                <a:latin typeface="Times New Roman" panose="02020603050405020304" pitchFamily="18" charset="0"/>
                <a:ea typeface="Calibri" panose="020F0502020204030204" pitchFamily="34" charset="0"/>
                <a:cs typeface="Arial" panose="020B0604020202020204" pitchFamily="34" charset="0"/>
              </a:rPr>
              <a:t>mmHg</a:t>
            </a:r>
            <a:r>
              <a:rPr lang="fr-FR" altLang="fr-TN" dirty="0">
                <a:solidFill>
                  <a:srgbClr val="000000"/>
                </a:solidFill>
                <a:latin typeface="Times New Roman" panose="02020603050405020304" pitchFamily="18" charset="0"/>
                <a:ea typeface="Calibri" panose="020F0502020204030204" pitchFamily="34" charset="0"/>
                <a:cs typeface="Arial" panose="020B0604020202020204" pitchFamily="34" charset="0"/>
              </a:rPr>
              <a:t> </a:t>
            </a:r>
            <a:endParaRPr lang="fr-TN" altLang="fr-TN" dirty="0">
              <a:ea typeface="Calibri" panose="020F0502020204030204" pitchFamily="34" charset="0"/>
              <a:cs typeface="Arial" panose="020B0604020202020204" pitchFamily="34" charset="0"/>
            </a:endParaRPr>
          </a:p>
          <a:p>
            <a:pPr>
              <a:lnSpc>
                <a:spcPct val="115000"/>
              </a:lnSpc>
              <a:spcAft>
                <a:spcPts val="1000"/>
              </a:spcAft>
              <a:buSzPts val="1400"/>
              <a:buFont typeface="Times New Roman" panose="02020603050405020304" pitchFamily="18" charset="0"/>
              <a:buChar char="–"/>
            </a:pPr>
            <a:r>
              <a:rPr lang="fr-FR" altLang="fr-TN" dirty="0">
                <a:solidFill>
                  <a:srgbClr val="000000"/>
                </a:solidFill>
                <a:latin typeface="Times New Roman" panose="02020603050405020304" pitchFamily="18" charset="0"/>
                <a:ea typeface="Calibri" panose="020F0502020204030204" pitchFamily="34" charset="0"/>
                <a:cs typeface="Arial" panose="020B0604020202020204" pitchFamily="34" charset="0"/>
              </a:rPr>
              <a:t>Respiration ample, fréquence respiratoire = 65 cycles/min </a:t>
            </a:r>
            <a:endParaRPr lang="fr-TN" altLang="fr-TN" dirty="0">
              <a:ea typeface="Calibri" panose="020F0502020204030204" pitchFamily="34" charset="0"/>
              <a:cs typeface="Arial" panose="020B0604020202020204" pitchFamily="34" charset="0"/>
            </a:endParaRPr>
          </a:p>
          <a:p>
            <a:pPr>
              <a:lnSpc>
                <a:spcPct val="115000"/>
              </a:lnSpc>
              <a:spcAft>
                <a:spcPts val="1000"/>
              </a:spcAft>
              <a:buFont typeface="Calibri" panose="020F0502020204030204" pitchFamily="34" charset="0"/>
              <a:buAutoNum type="alphaUcPeriod"/>
            </a:pPr>
            <a:endParaRPr lang="fr-TN" altLang="fr-TN" dirty="0">
              <a:ea typeface="Calibri" panose="020F0502020204030204" pitchFamily="34" charset="0"/>
              <a:cs typeface="Arial" panose="020B0604020202020204" pitchFamily="34" charset="0"/>
            </a:endParaRPr>
          </a:p>
        </p:txBody>
      </p:sp>
    </p:spTree>
  </p:cSld>
  <p:clrMapOvr>
    <a:masterClrMapping/>
  </p:clrMapOvr>
</p:sld>
</file>

<file path=ppt/slides/slide10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itre 1">
            <a:extLst>
              <a:ext uri="{FF2B5EF4-FFF2-40B4-BE49-F238E27FC236}">
                <a16:creationId xmlns:a16="http://schemas.microsoft.com/office/drawing/2014/main" id="{622B3B8D-7D11-14A6-4143-D19148C3287C}"/>
              </a:ext>
            </a:extLst>
          </p:cNvPr>
          <p:cNvSpPr>
            <a:spLocks noGrp="1"/>
          </p:cNvSpPr>
          <p:nvPr>
            <p:ph type="title"/>
          </p:nvPr>
        </p:nvSpPr>
        <p:spPr>
          <a:solidFill>
            <a:schemeClr val="accent6">
              <a:lumMod val="60000"/>
              <a:lumOff val="40000"/>
            </a:schemeClr>
          </a:solidFill>
        </p:spPr>
        <p:txBody>
          <a:bodyPr rtlCol="0">
            <a:normAutofit/>
          </a:bodyPr>
          <a:lstStyle/>
          <a:p>
            <a:pPr algn="l" eaLnBrk="1" fontAlgn="auto" hangingPunct="1">
              <a:spcAft>
                <a:spcPts val="0"/>
              </a:spcAft>
              <a:defRPr/>
            </a:pPr>
            <a:r>
              <a:rPr lang="fr-FR" b="1" dirty="0"/>
              <a:t>COMMENTAIRES</a:t>
            </a:r>
          </a:p>
        </p:txBody>
      </p:sp>
      <p:pic>
        <p:nvPicPr>
          <p:cNvPr id="75778" name="Picture 2">
            <a:extLst>
              <a:ext uri="{FF2B5EF4-FFF2-40B4-BE49-F238E27FC236}">
                <a16:creationId xmlns:a16="http://schemas.microsoft.com/office/drawing/2014/main" id="{B914789C-21B1-2F8D-86A9-051DB24D629A}"/>
              </a:ext>
            </a:extLst>
          </p:cNvPr>
          <p:cNvPicPr>
            <a:picLocks noGrp="1" noChangeAspect="1" noChangeArrowheads="1"/>
          </p:cNvPicPr>
          <p:nvPr>
            <p:ph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>
          <a:xfrm>
            <a:off x="1919289" y="1474789"/>
            <a:ext cx="8237537" cy="5108575"/>
          </a:xfrm>
          <a:noFill/>
        </p:spPr>
      </p:pic>
      <p:sp>
        <p:nvSpPr>
          <p:cNvPr id="8" name="Rectangle à coins arrondis 7">
            <a:extLst>
              <a:ext uri="{FF2B5EF4-FFF2-40B4-BE49-F238E27FC236}">
                <a16:creationId xmlns:a16="http://schemas.microsoft.com/office/drawing/2014/main" id="{FDE479F6-2969-3DB7-6E0A-D797B08594C4}"/>
              </a:ext>
            </a:extLst>
          </p:cNvPr>
          <p:cNvSpPr/>
          <p:nvPr/>
        </p:nvSpPr>
        <p:spPr>
          <a:xfrm>
            <a:off x="6021388" y="2127250"/>
            <a:ext cx="1643062" cy="357188"/>
          </a:xfrm>
          <a:prstGeom prst="roundRect">
            <a:avLst>
              <a:gd name="adj" fmla="val 0"/>
            </a:avLst>
          </a:prstGeom>
          <a:noFill/>
          <a:ln>
            <a:solidFill>
              <a:srgbClr val="FF0000"/>
            </a:solidFill>
            <a:prstDash val="dash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lang="fr-FR">
              <a:solidFill>
                <a:prstClr val="white"/>
              </a:solidFill>
              <a:latin typeface="Calibri"/>
            </a:endParaRPr>
          </a:p>
        </p:txBody>
      </p:sp>
      <p:sp>
        <p:nvSpPr>
          <p:cNvPr id="11" name="Rectangle à coins arrondis 10">
            <a:extLst>
              <a:ext uri="{FF2B5EF4-FFF2-40B4-BE49-F238E27FC236}">
                <a16:creationId xmlns:a16="http://schemas.microsoft.com/office/drawing/2014/main" id="{56D0D4F1-A9D7-C235-DC63-8282FCA2F99C}"/>
              </a:ext>
            </a:extLst>
          </p:cNvPr>
          <p:cNvSpPr/>
          <p:nvPr/>
        </p:nvSpPr>
        <p:spPr>
          <a:xfrm>
            <a:off x="8024813" y="4386264"/>
            <a:ext cx="1644650" cy="357187"/>
          </a:xfrm>
          <a:prstGeom prst="roundRect">
            <a:avLst>
              <a:gd name="adj" fmla="val 0"/>
            </a:avLst>
          </a:prstGeom>
          <a:noFill/>
          <a:ln>
            <a:solidFill>
              <a:srgbClr val="FF0000"/>
            </a:solidFill>
            <a:prstDash val="dash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lang="fr-FR">
              <a:solidFill>
                <a:prstClr val="white"/>
              </a:solidFill>
              <a:latin typeface="Calibri"/>
            </a:endParaRPr>
          </a:p>
        </p:txBody>
      </p:sp>
      <p:sp>
        <p:nvSpPr>
          <p:cNvPr id="12" name="ZoneTexte 11">
            <a:extLst>
              <a:ext uri="{FF2B5EF4-FFF2-40B4-BE49-F238E27FC236}">
                <a16:creationId xmlns:a16="http://schemas.microsoft.com/office/drawing/2014/main" id="{EBEE57AF-C104-8277-DC7B-4937AD66ABF5}"/>
              </a:ext>
            </a:extLst>
          </p:cNvPr>
          <p:cNvSpPr txBox="1"/>
          <p:nvPr/>
        </p:nvSpPr>
        <p:spPr>
          <a:xfrm>
            <a:off x="6524625" y="4929189"/>
            <a:ext cx="2071688" cy="923925"/>
          </a:xfrm>
          <a:prstGeom prst="rect">
            <a:avLst/>
          </a:prstGeom>
          <a:solidFill>
            <a:schemeClr val="accent5">
              <a:lumMod val="60000"/>
              <a:lumOff val="40000"/>
            </a:schemeClr>
          </a:solidFill>
        </p:spPr>
        <p:txBody>
          <a:bodyPr>
            <a:spAutoFit/>
          </a:bodyPr>
          <a:lstStyle/>
          <a:p>
            <a:pPr fontAlgn="base">
              <a:spcBef>
                <a:spcPct val="0"/>
              </a:spcBef>
              <a:spcAft>
                <a:spcPct val="0"/>
              </a:spcAft>
              <a:defRPr/>
            </a:pPr>
            <a:r>
              <a:rPr lang="fr-FR" b="1" dirty="0">
                <a:solidFill>
                  <a:prstClr val="black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On rajoute +5 : une seule fois </a:t>
            </a:r>
          </a:p>
          <a:p>
            <a:pPr fontAlgn="base">
              <a:spcBef>
                <a:spcPct val="0"/>
              </a:spcBef>
              <a:spcAft>
                <a:spcPct val="0"/>
              </a:spcAft>
              <a:defRPr/>
            </a:pPr>
            <a:endParaRPr lang="fr-FR" b="1" dirty="0">
              <a:solidFill>
                <a:prstClr val="black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pic>
        <p:nvPicPr>
          <p:cNvPr id="75784" name="Image 1">
            <a:extLst>
              <a:ext uri="{FF2B5EF4-FFF2-40B4-BE49-F238E27FC236}">
                <a16:creationId xmlns:a16="http://schemas.microsoft.com/office/drawing/2014/main" id="{7074BF8B-017A-9436-8820-6C8D0F18EC21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035675" y="2508251"/>
            <a:ext cx="1663700" cy="3841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75785" name="Image 1">
            <a:extLst>
              <a:ext uri="{FF2B5EF4-FFF2-40B4-BE49-F238E27FC236}">
                <a16:creationId xmlns:a16="http://schemas.microsoft.com/office/drawing/2014/main" id="{A31CB2FA-3C94-F61D-50C6-9C253D75181D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8048625" y="2817814"/>
            <a:ext cx="1663700" cy="3841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75786" name="Image 2">
            <a:extLst>
              <a:ext uri="{FF2B5EF4-FFF2-40B4-BE49-F238E27FC236}">
                <a16:creationId xmlns:a16="http://schemas.microsoft.com/office/drawing/2014/main" id="{82CB77D4-262F-FB96-EA6F-60D2B290BDA1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344988" y="3236914"/>
            <a:ext cx="1663700" cy="3841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75787" name="Image 3">
            <a:extLst>
              <a:ext uri="{FF2B5EF4-FFF2-40B4-BE49-F238E27FC236}">
                <a16:creationId xmlns:a16="http://schemas.microsoft.com/office/drawing/2014/main" id="{78FD075F-56C1-D684-0FD5-1998169F011C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8005763" y="3930651"/>
            <a:ext cx="1663700" cy="3841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</p:spTree>
  </p:cSld>
  <p:clrMapOvr>
    <a:masterClrMapping/>
  </p:clrMapOvr>
</p:sld>
</file>

<file path=ppt/slides/slide10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6802" name="Titre 1">
            <a:extLst>
              <a:ext uri="{FF2B5EF4-FFF2-40B4-BE49-F238E27FC236}">
                <a16:creationId xmlns:a16="http://schemas.microsoft.com/office/drawing/2014/main" id="{E4C952F5-F23E-ACDA-3201-A2172F0625A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fr-TN" altLang="fr-TN"/>
          </a:p>
        </p:txBody>
      </p:sp>
      <p:pic>
        <p:nvPicPr>
          <p:cNvPr id="76803" name="Espace réservé du contenu 4">
            <a:extLst>
              <a:ext uri="{FF2B5EF4-FFF2-40B4-BE49-F238E27FC236}">
                <a16:creationId xmlns:a16="http://schemas.microsoft.com/office/drawing/2014/main" id="{968207B8-2843-07A5-BDFA-70A47BDEA55D}"/>
              </a:ext>
            </a:extLst>
          </p:cNvPr>
          <p:cNvPicPr>
            <a:picLocks noGrp="1" noChangeAspect="1" noChangeArrowheads="1"/>
          </p:cNvPicPr>
          <p:nvPr>
            <p:ph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298369" y="2678155"/>
            <a:ext cx="9937791" cy="3049405"/>
          </a:xfrm>
        </p:spPr>
      </p:pic>
    </p:spTree>
  </p:cSld>
  <p:clrMapOvr>
    <a:masterClrMapping/>
  </p:clrMapOvr>
</p:sld>
</file>

<file path=ppt/slides/slide10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1682" name="Espace réservé du contenu 2">
            <a:extLst>
              <a:ext uri="{FF2B5EF4-FFF2-40B4-BE49-F238E27FC236}">
                <a16:creationId xmlns:a16="http://schemas.microsoft.com/office/drawing/2014/main" id="{BE808D55-FC50-7E4A-C5CF-5FB14A2AC4C7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809751" y="1285875"/>
            <a:ext cx="8443913" cy="4972050"/>
          </a:xfrm>
        </p:spPr>
        <p:txBody>
          <a:bodyPr/>
          <a:lstStyle/>
          <a:p>
            <a:pPr>
              <a:lnSpc>
                <a:spcPct val="115000"/>
              </a:lnSpc>
              <a:spcAft>
                <a:spcPts val="1000"/>
              </a:spcAft>
              <a:buFont typeface="+mj-lt"/>
              <a:buAutoNum type="arabicPeriod" startAt="2"/>
              <a:tabLst>
                <a:tab pos="457200" algn="l"/>
              </a:tabLst>
              <a:defRPr/>
            </a:pPr>
            <a:r>
              <a:rPr lang="fr-FR" sz="3200" b="1" dirty="0">
                <a:solidFill>
                  <a:srgbClr val="000000"/>
                </a:solidFill>
                <a:latin typeface="Times New Roman" panose="02020603050405020304" pitchFamily="18" charset="0"/>
                <a:ea typeface="Calibri" panose="020F0502020204030204" pitchFamily="34" charset="0"/>
                <a:cs typeface="Arial" panose="020B0604020202020204" pitchFamily="34" charset="0"/>
              </a:rPr>
              <a:t>Concernant la sévérité de la déshydratation de la patiente, il s’agit d’ :</a:t>
            </a:r>
          </a:p>
          <a:p>
            <a:pPr>
              <a:lnSpc>
                <a:spcPct val="115000"/>
              </a:lnSpc>
              <a:spcAft>
                <a:spcPts val="1000"/>
              </a:spcAft>
              <a:buFont typeface="+mj-lt"/>
              <a:buAutoNum type="arabicPeriod" startAt="2"/>
              <a:tabLst>
                <a:tab pos="457200" algn="l"/>
              </a:tabLst>
              <a:defRPr/>
            </a:pPr>
            <a:endParaRPr lang="fr-TN" sz="1400" dirty="0">
              <a:ea typeface="Calibri" panose="020F0502020204030204" pitchFamily="34" charset="0"/>
              <a:cs typeface="Arial" panose="020B0604020202020204" pitchFamily="34" charset="0"/>
            </a:endParaRPr>
          </a:p>
          <a:p>
            <a:pPr>
              <a:lnSpc>
                <a:spcPct val="115000"/>
              </a:lnSpc>
              <a:spcAft>
                <a:spcPts val="1000"/>
              </a:spcAft>
              <a:buFont typeface="+mj-lt"/>
              <a:buAutoNum type="alphaUcPeriod"/>
              <a:defRPr/>
            </a:pPr>
            <a:r>
              <a:rPr lang="fr-FR" dirty="0">
                <a:solidFill>
                  <a:srgbClr val="000000"/>
                </a:solidFill>
                <a:latin typeface="Times New Roman" panose="02020603050405020304" pitchFamily="18" charset="0"/>
                <a:ea typeface="Calibri" panose="020F0502020204030204" pitchFamily="34" charset="0"/>
                <a:cs typeface="Arial" panose="020B0604020202020204" pitchFamily="34" charset="0"/>
              </a:rPr>
              <a:t>Une déshydratation stade III avec un score à 8</a:t>
            </a:r>
            <a:endParaRPr lang="fr-TN" dirty="0">
              <a:ea typeface="Calibri" panose="020F0502020204030204" pitchFamily="34" charset="0"/>
              <a:cs typeface="Arial" panose="020B0604020202020204" pitchFamily="34" charset="0"/>
            </a:endParaRPr>
          </a:p>
          <a:p>
            <a:pPr>
              <a:lnSpc>
                <a:spcPct val="115000"/>
              </a:lnSpc>
              <a:spcAft>
                <a:spcPts val="1000"/>
              </a:spcAft>
              <a:buFont typeface="+mj-lt"/>
              <a:buAutoNum type="alphaUcPeriod"/>
              <a:defRPr/>
            </a:pPr>
            <a:r>
              <a:rPr lang="fr-FR" dirty="0">
                <a:solidFill>
                  <a:srgbClr val="000000"/>
                </a:solidFill>
                <a:latin typeface="Times New Roman" panose="02020603050405020304" pitchFamily="18" charset="0"/>
                <a:ea typeface="Calibri" panose="020F0502020204030204" pitchFamily="34" charset="0"/>
                <a:cs typeface="Arial" panose="020B0604020202020204" pitchFamily="34" charset="0"/>
              </a:rPr>
              <a:t>Une déshydratation stade III avec un score à 15</a:t>
            </a:r>
            <a:endParaRPr lang="fr-TN" dirty="0">
              <a:ea typeface="Calibri" panose="020F0502020204030204" pitchFamily="34" charset="0"/>
              <a:cs typeface="Arial" panose="020B0604020202020204" pitchFamily="34" charset="0"/>
            </a:endParaRPr>
          </a:p>
          <a:p>
            <a:pPr>
              <a:lnSpc>
                <a:spcPct val="115000"/>
              </a:lnSpc>
              <a:spcAft>
                <a:spcPts val="1000"/>
              </a:spcAft>
              <a:buFont typeface="+mj-lt"/>
              <a:buAutoNum type="alphaUcPeriod"/>
              <a:defRPr/>
            </a:pPr>
            <a:r>
              <a:rPr lang="fr-FR" dirty="0">
                <a:solidFill>
                  <a:srgbClr val="000000"/>
                </a:solidFill>
                <a:latin typeface="Times New Roman" panose="02020603050405020304" pitchFamily="18" charset="0"/>
                <a:ea typeface="Calibri" panose="020F0502020204030204" pitchFamily="34" charset="0"/>
                <a:cs typeface="Arial" panose="020B0604020202020204" pitchFamily="34" charset="0"/>
              </a:rPr>
              <a:t>Une déshydratation stade III avec une perte pondérale à 12%</a:t>
            </a:r>
            <a:endParaRPr lang="fr-TN" dirty="0">
              <a:ea typeface="Calibri" panose="020F0502020204030204" pitchFamily="34" charset="0"/>
              <a:cs typeface="Arial" panose="020B0604020202020204" pitchFamily="34" charset="0"/>
            </a:endParaRPr>
          </a:p>
          <a:p>
            <a:pPr>
              <a:lnSpc>
                <a:spcPct val="115000"/>
              </a:lnSpc>
              <a:spcAft>
                <a:spcPts val="1000"/>
              </a:spcAft>
              <a:buFont typeface="+mj-lt"/>
              <a:buAutoNum type="alphaUcPeriod"/>
              <a:defRPr/>
            </a:pPr>
            <a:r>
              <a:rPr lang="fr-FR" dirty="0">
                <a:solidFill>
                  <a:srgbClr val="000000"/>
                </a:solidFill>
                <a:latin typeface="Times New Roman" panose="02020603050405020304" pitchFamily="18" charset="0"/>
                <a:ea typeface="Calibri" panose="020F0502020204030204" pitchFamily="34" charset="0"/>
                <a:cs typeface="Arial" panose="020B0604020202020204" pitchFamily="34" charset="0"/>
              </a:rPr>
              <a:t>Une déshydratation stade II avec une  perte pondérale à 8%</a:t>
            </a:r>
            <a:endParaRPr lang="fr-TN" dirty="0">
              <a:ea typeface="Calibri" panose="020F0502020204030204" pitchFamily="34" charset="0"/>
              <a:cs typeface="Arial" panose="020B0604020202020204" pitchFamily="34" charset="0"/>
            </a:endParaRPr>
          </a:p>
          <a:p>
            <a:pPr>
              <a:lnSpc>
                <a:spcPct val="115000"/>
              </a:lnSpc>
              <a:spcAft>
                <a:spcPts val="1000"/>
              </a:spcAft>
              <a:buFont typeface="+mj-lt"/>
              <a:buAutoNum type="alphaUcPeriod"/>
              <a:defRPr/>
            </a:pPr>
            <a:r>
              <a:rPr lang="fr-FR" dirty="0">
                <a:solidFill>
                  <a:srgbClr val="000000"/>
                </a:solidFill>
                <a:latin typeface="Times New Roman" panose="02020603050405020304" pitchFamily="18" charset="0"/>
                <a:ea typeface="Calibri" panose="020F0502020204030204" pitchFamily="34" charset="0"/>
                <a:cs typeface="Arial" panose="020B0604020202020204" pitchFamily="34" charset="0"/>
              </a:rPr>
              <a:t>Une déshydratation stade II avec un score à 7</a:t>
            </a:r>
            <a:endParaRPr lang="fr-TN" dirty="0">
              <a:ea typeface="Calibri" panose="020F0502020204030204" pitchFamily="34" charset="0"/>
              <a:cs typeface="Arial" panose="020B0604020202020204" pitchFamily="34" charset="0"/>
            </a:endParaRPr>
          </a:p>
          <a:p>
            <a:pPr marL="0" indent="0">
              <a:lnSpc>
                <a:spcPct val="115000"/>
              </a:lnSpc>
              <a:spcAft>
                <a:spcPts val="1000"/>
              </a:spcAft>
              <a:buNone/>
              <a:defRPr/>
            </a:pPr>
            <a:endParaRPr lang="fr-TN" altLang="fr-TN" sz="1800" dirty="0">
              <a:ea typeface="Calibri" panose="020F0502020204030204" pitchFamily="34" charset="0"/>
              <a:cs typeface="Arial" panose="020B0604020202020204" pitchFamily="34" charset="0"/>
            </a:endParaRPr>
          </a:p>
        </p:txBody>
      </p:sp>
    </p:spTree>
  </p:cSld>
  <p:clrMapOvr>
    <a:masterClrMapping/>
  </p:clrMapOvr>
</p:sld>
</file>

<file path=ppt/slides/slide10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73F8C21-5873-737E-4E86-49B24CE1B0F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1682" name="Espace réservé du contenu 2">
            <a:extLst>
              <a:ext uri="{FF2B5EF4-FFF2-40B4-BE49-F238E27FC236}">
                <a16:creationId xmlns:a16="http://schemas.microsoft.com/office/drawing/2014/main" id="{412B03FC-039C-BD8F-3200-4CD84A7D0EA6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809751" y="1285875"/>
            <a:ext cx="8443913" cy="4972050"/>
          </a:xfrm>
        </p:spPr>
        <p:txBody>
          <a:bodyPr/>
          <a:lstStyle/>
          <a:p>
            <a:pPr>
              <a:lnSpc>
                <a:spcPct val="115000"/>
              </a:lnSpc>
              <a:spcAft>
                <a:spcPts val="1000"/>
              </a:spcAft>
              <a:buFont typeface="+mj-lt"/>
              <a:buAutoNum type="arabicPeriod" startAt="2"/>
              <a:tabLst>
                <a:tab pos="457200" algn="l"/>
              </a:tabLst>
              <a:defRPr/>
            </a:pPr>
            <a:r>
              <a:rPr lang="fr-FR" sz="3200" b="1" dirty="0">
                <a:solidFill>
                  <a:srgbClr val="000000"/>
                </a:solidFill>
                <a:latin typeface="Times New Roman" panose="02020603050405020304" pitchFamily="18" charset="0"/>
                <a:ea typeface="Calibri" panose="020F0502020204030204" pitchFamily="34" charset="0"/>
                <a:cs typeface="Arial" panose="020B0604020202020204" pitchFamily="34" charset="0"/>
              </a:rPr>
              <a:t>Concernant la sévérité de la déshydratation de la patiente, il s’agit d’ :</a:t>
            </a:r>
          </a:p>
          <a:p>
            <a:pPr>
              <a:lnSpc>
                <a:spcPct val="115000"/>
              </a:lnSpc>
              <a:spcAft>
                <a:spcPts val="1000"/>
              </a:spcAft>
              <a:buFont typeface="+mj-lt"/>
              <a:buAutoNum type="arabicPeriod" startAt="2"/>
              <a:tabLst>
                <a:tab pos="457200" algn="l"/>
              </a:tabLst>
              <a:defRPr/>
            </a:pPr>
            <a:endParaRPr lang="fr-TN" sz="1400" dirty="0">
              <a:ea typeface="Calibri" panose="020F0502020204030204" pitchFamily="34" charset="0"/>
              <a:cs typeface="Arial" panose="020B0604020202020204" pitchFamily="34" charset="0"/>
            </a:endParaRPr>
          </a:p>
          <a:p>
            <a:pPr>
              <a:lnSpc>
                <a:spcPct val="115000"/>
              </a:lnSpc>
              <a:spcAft>
                <a:spcPts val="1000"/>
              </a:spcAft>
              <a:buFont typeface="+mj-lt"/>
              <a:buAutoNum type="alphaUcPeriod"/>
              <a:defRPr/>
            </a:pPr>
            <a:r>
              <a:rPr lang="fr-FR" dirty="0">
                <a:solidFill>
                  <a:srgbClr val="000000"/>
                </a:solidFill>
                <a:latin typeface="Times New Roman" panose="02020603050405020304" pitchFamily="18" charset="0"/>
                <a:ea typeface="Calibri" panose="020F0502020204030204" pitchFamily="34" charset="0"/>
                <a:cs typeface="Arial" panose="020B0604020202020204" pitchFamily="34" charset="0"/>
              </a:rPr>
              <a:t>Une déshydratation stade III avec un score à 8</a:t>
            </a:r>
            <a:endParaRPr lang="fr-TN" dirty="0">
              <a:ea typeface="Calibri" panose="020F0502020204030204" pitchFamily="34" charset="0"/>
              <a:cs typeface="Arial" panose="020B0604020202020204" pitchFamily="34" charset="0"/>
            </a:endParaRPr>
          </a:p>
          <a:p>
            <a:pPr>
              <a:lnSpc>
                <a:spcPct val="115000"/>
              </a:lnSpc>
              <a:spcAft>
                <a:spcPts val="1000"/>
              </a:spcAft>
              <a:buFont typeface="+mj-lt"/>
              <a:buAutoNum type="alphaUcPeriod"/>
              <a:defRPr/>
            </a:pPr>
            <a:r>
              <a:rPr lang="fr-FR" dirty="0">
                <a:solidFill>
                  <a:srgbClr val="000000"/>
                </a:solidFill>
                <a:latin typeface="Times New Roman" panose="02020603050405020304" pitchFamily="18" charset="0"/>
                <a:ea typeface="Calibri" panose="020F0502020204030204" pitchFamily="34" charset="0"/>
                <a:cs typeface="Arial" panose="020B0604020202020204" pitchFamily="34" charset="0"/>
              </a:rPr>
              <a:t>Une déshydratation stade III avec un score à 15</a:t>
            </a:r>
            <a:endParaRPr lang="fr-TN" dirty="0">
              <a:ea typeface="Calibri" panose="020F0502020204030204" pitchFamily="34" charset="0"/>
              <a:cs typeface="Arial" panose="020B0604020202020204" pitchFamily="34" charset="0"/>
            </a:endParaRPr>
          </a:p>
          <a:p>
            <a:pPr>
              <a:lnSpc>
                <a:spcPct val="115000"/>
              </a:lnSpc>
              <a:spcAft>
                <a:spcPts val="1000"/>
              </a:spcAft>
              <a:buFont typeface="+mj-lt"/>
              <a:buAutoNum type="alphaUcPeriod"/>
              <a:defRPr/>
            </a:pPr>
            <a:r>
              <a:rPr lang="fr-FR" dirty="0">
                <a:solidFill>
                  <a:srgbClr val="000000"/>
                </a:solidFill>
                <a:latin typeface="Times New Roman" panose="02020603050405020304" pitchFamily="18" charset="0"/>
                <a:ea typeface="Calibri" panose="020F0502020204030204" pitchFamily="34" charset="0"/>
                <a:cs typeface="Arial" panose="020B0604020202020204" pitchFamily="34" charset="0"/>
              </a:rPr>
              <a:t>Une déshydratation stade III avec une perte pondérale à 12%</a:t>
            </a:r>
            <a:endParaRPr lang="fr-TN" dirty="0">
              <a:ea typeface="Calibri" panose="020F0502020204030204" pitchFamily="34" charset="0"/>
              <a:cs typeface="Arial" panose="020B0604020202020204" pitchFamily="34" charset="0"/>
            </a:endParaRPr>
          </a:p>
          <a:p>
            <a:pPr>
              <a:lnSpc>
                <a:spcPct val="115000"/>
              </a:lnSpc>
              <a:spcAft>
                <a:spcPts val="1000"/>
              </a:spcAft>
              <a:buFont typeface="+mj-lt"/>
              <a:buAutoNum type="alphaUcPeriod"/>
              <a:defRPr/>
            </a:pPr>
            <a:r>
              <a:rPr lang="fr-FR" dirty="0">
                <a:solidFill>
                  <a:srgbClr val="FF0000"/>
                </a:solidFill>
                <a:latin typeface="Times New Roman" panose="02020603050405020304" pitchFamily="18" charset="0"/>
                <a:ea typeface="Calibri" panose="020F0502020204030204" pitchFamily="34" charset="0"/>
                <a:cs typeface="Arial" panose="020B0604020202020204" pitchFamily="34" charset="0"/>
              </a:rPr>
              <a:t>Une déshydratation stade II avec une  perte pondérale à 8%</a:t>
            </a:r>
            <a:endParaRPr lang="fr-TN" dirty="0">
              <a:solidFill>
                <a:srgbClr val="FF0000"/>
              </a:solidFill>
              <a:ea typeface="Calibri" panose="020F0502020204030204" pitchFamily="34" charset="0"/>
              <a:cs typeface="Arial" panose="020B0604020202020204" pitchFamily="34" charset="0"/>
            </a:endParaRPr>
          </a:p>
          <a:p>
            <a:pPr>
              <a:lnSpc>
                <a:spcPct val="115000"/>
              </a:lnSpc>
              <a:spcAft>
                <a:spcPts val="1000"/>
              </a:spcAft>
              <a:buFont typeface="+mj-lt"/>
              <a:buAutoNum type="alphaUcPeriod"/>
              <a:defRPr/>
            </a:pPr>
            <a:r>
              <a:rPr lang="fr-FR" dirty="0">
                <a:solidFill>
                  <a:srgbClr val="000000"/>
                </a:solidFill>
                <a:latin typeface="Times New Roman" panose="02020603050405020304" pitchFamily="18" charset="0"/>
                <a:ea typeface="Calibri" panose="020F0502020204030204" pitchFamily="34" charset="0"/>
                <a:cs typeface="Arial" panose="020B0604020202020204" pitchFamily="34" charset="0"/>
              </a:rPr>
              <a:t>Une déshydratation stade II avec un score à 7</a:t>
            </a:r>
            <a:endParaRPr lang="fr-TN" dirty="0">
              <a:ea typeface="Calibri" panose="020F0502020204030204" pitchFamily="34" charset="0"/>
              <a:cs typeface="Arial" panose="020B0604020202020204" pitchFamily="34" charset="0"/>
            </a:endParaRPr>
          </a:p>
          <a:p>
            <a:pPr marL="0" indent="0">
              <a:lnSpc>
                <a:spcPct val="115000"/>
              </a:lnSpc>
              <a:spcAft>
                <a:spcPts val="1000"/>
              </a:spcAft>
              <a:buNone/>
              <a:defRPr/>
            </a:pPr>
            <a:endParaRPr lang="fr-TN" altLang="fr-TN" sz="1800" dirty="0">
              <a:ea typeface="Calibri" panose="020F0502020204030204" pitchFamily="34" charset="0"/>
              <a:cs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356741772"/>
      </p:ext>
    </p:extLst>
  </p:cSld>
  <p:clrMapOvr>
    <a:masterClrMapping/>
  </p:clrMapOvr>
</p:sld>
</file>

<file path=ppt/slides/slide1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9874" name="Espace réservé du contenu 2">
            <a:extLst>
              <a:ext uri="{FF2B5EF4-FFF2-40B4-BE49-F238E27FC236}">
                <a16:creationId xmlns:a16="http://schemas.microsoft.com/office/drawing/2014/main" id="{1ABFD805-0127-DF0F-9230-E48FBD2D5D5A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371600" y="2276669"/>
            <a:ext cx="9601200" cy="3581400"/>
          </a:xfrm>
        </p:spPr>
        <p:txBody>
          <a:bodyPr>
            <a:normAutofit/>
          </a:bodyPr>
          <a:lstStyle/>
          <a:p>
            <a:pPr>
              <a:lnSpc>
                <a:spcPct val="115000"/>
              </a:lnSpc>
              <a:spcAft>
                <a:spcPts val="1000"/>
              </a:spcAft>
              <a:buFont typeface="Calibri" panose="020F0502020204030204" pitchFamily="34" charset="0"/>
              <a:buAutoNum type="alphaUcPeriod"/>
            </a:pPr>
            <a:r>
              <a:rPr lang="fr-FR" altLang="fr-TN" sz="2400" dirty="0">
                <a:latin typeface="Times New Roman" panose="02020603050405020304" pitchFamily="18" charset="0"/>
                <a:ea typeface="Calibri" panose="020F0502020204030204" pitchFamily="34" charset="0"/>
                <a:cs typeface="Arial" panose="020B0604020202020204" pitchFamily="34" charset="0"/>
              </a:rPr>
              <a:t>900 ml sur 24 heures en  IV continu </a:t>
            </a:r>
            <a:endParaRPr lang="fr-TN" altLang="fr-TN" sz="2400" dirty="0">
              <a:ea typeface="Calibri" panose="020F0502020204030204" pitchFamily="34" charset="0"/>
              <a:cs typeface="Arial" panose="020B0604020202020204" pitchFamily="34" charset="0"/>
            </a:endParaRPr>
          </a:p>
          <a:p>
            <a:pPr>
              <a:lnSpc>
                <a:spcPct val="115000"/>
              </a:lnSpc>
              <a:spcAft>
                <a:spcPts val="1000"/>
              </a:spcAft>
              <a:buFont typeface="Calibri" panose="020F0502020204030204" pitchFamily="34" charset="0"/>
              <a:buAutoNum type="alphaUcPeriod"/>
            </a:pPr>
            <a:r>
              <a:rPr lang="fr-FR" altLang="fr-TN" sz="2400" dirty="0">
                <a:latin typeface="Times New Roman" panose="02020603050405020304" pitchFamily="18" charset="0"/>
                <a:ea typeface="Calibri" panose="020F0502020204030204" pitchFamily="34" charset="0"/>
                <a:cs typeface="Arial" panose="020B0604020202020204" pitchFamily="34" charset="0"/>
              </a:rPr>
              <a:t>200 ml sur 4 heures puis 700 ml en iv sur 20 heures</a:t>
            </a:r>
            <a:endParaRPr lang="fr-TN" altLang="fr-TN" sz="2400" dirty="0">
              <a:ea typeface="Calibri" panose="020F0502020204030204" pitchFamily="34" charset="0"/>
              <a:cs typeface="Arial" panose="020B0604020202020204" pitchFamily="34" charset="0"/>
            </a:endParaRPr>
          </a:p>
          <a:p>
            <a:pPr>
              <a:lnSpc>
                <a:spcPct val="115000"/>
              </a:lnSpc>
              <a:spcAft>
                <a:spcPts val="1000"/>
              </a:spcAft>
              <a:buFont typeface="Calibri" panose="020F0502020204030204" pitchFamily="34" charset="0"/>
              <a:buAutoNum type="alphaUcPeriod"/>
            </a:pPr>
            <a:r>
              <a:rPr lang="fr-FR" altLang="fr-TN" sz="2400" dirty="0">
                <a:latin typeface="Times New Roman" panose="02020603050405020304" pitchFamily="18" charset="0"/>
                <a:ea typeface="Calibri" panose="020F0502020204030204" pitchFamily="34" charset="0"/>
                <a:cs typeface="Arial" panose="020B0604020202020204" pitchFamily="34" charset="0"/>
              </a:rPr>
              <a:t>400 ml sur 4 heures par voie orale </a:t>
            </a:r>
            <a:endParaRPr lang="fr-TN" altLang="fr-TN" sz="2400" dirty="0">
              <a:ea typeface="Calibri" panose="020F0502020204030204" pitchFamily="34" charset="0"/>
              <a:cs typeface="Arial" panose="020B0604020202020204" pitchFamily="34" charset="0"/>
            </a:endParaRPr>
          </a:p>
          <a:p>
            <a:pPr>
              <a:lnSpc>
                <a:spcPct val="115000"/>
              </a:lnSpc>
              <a:spcAft>
                <a:spcPts val="1000"/>
              </a:spcAft>
              <a:buFont typeface="Calibri" panose="020F0502020204030204" pitchFamily="34" charset="0"/>
              <a:buAutoNum type="alphaUcPeriod"/>
            </a:pPr>
            <a:r>
              <a:rPr lang="fr-FR" altLang="fr-TN" sz="2400" dirty="0">
                <a:latin typeface="Times New Roman" panose="02020603050405020304" pitchFamily="18" charset="0"/>
                <a:ea typeface="Calibri" panose="020F0502020204030204" pitchFamily="34" charset="0"/>
                <a:cs typeface="Arial" panose="020B0604020202020204" pitchFamily="34" charset="0"/>
              </a:rPr>
              <a:t>500 ml sur 12 h puis 800 ml sur 12 h</a:t>
            </a:r>
            <a:endParaRPr lang="fr-FR" altLang="fr-TN" sz="2400" dirty="0">
              <a:ea typeface="Calibri" panose="020F0502020204030204" pitchFamily="34" charset="0"/>
              <a:cs typeface="Arial" panose="020B0604020202020204" pitchFamily="34" charset="0"/>
            </a:endParaRPr>
          </a:p>
          <a:p>
            <a:pPr>
              <a:lnSpc>
                <a:spcPct val="115000"/>
              </a:lnSpc>
              <a:spcAft>
                <a:spcPts val="1000"/>
              </a:spcAft>
              <a:buFont typeface="Calibri" panose="020F0502020204030204" pitchFamily="34" charset="0"/>
              <a:buAutoNum type="alphaUcPeriod"/>
            </a:pPr>
            <a:r>
              <a:rPr lang="fr-FR" altLang="fr-TN" sz="2400" dirty="0">
                <a:latin typeface="Times New Roman" panose="02020603050405020304" pitchFamily="18" charset="0"/>
                <a:cs typeface="Calibri" panose="020F0502020204030204" pitchFamily="34" charset="0"/>
              </a:rPr>
              <a:t>1500 ml sur 24 heures en continu</a:t>
            </a:r>
            <a:endParaRPr lang="fr-TN" altLang="fr-TN" sz="2400" dirty="0">
              <a:cs typeface="Calibri" panose="020F0502020204030204" pitchFamily="34" charset="0"/>
            </a:endParaRPr>
          </a:p>
        </p:txBody>
      </p:sp>
      <p:sp>
        <p:nvSpPr>
          <p:cNvPr id="3" name="Titre 2">
            <a:extLst>
              <a:ext uri="{FF2B5EF4-FFF2-40B4-BE49-F238E27FC236}">
                <a16:creationId xmlns:a16="http://schemas.microsoft.com/office/drawing/2014/main" id="{F19F3CE1-29CB-ADE6-7067-CF5D66795F2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pPr marL="384048" marR="0" lvl="0" indent="-384048" defTabSz="914400" rtl="0" eaLnBrk="1" fontAlgn="auto" latinLnBrk="0" hangingPunct="1">
              <a:lnSpc>
                <a:spcPct val="115000"/>
              </a:lnSpc>
              <a:spcBef>
                <a:spcPts val="1000"/>
              </a:spcBef>
              <a:spcAft>
                <a:spcPts val="1000"/>
              </a:spcAft>
              <a:tabLst/>
              <a:defRPr/>
            </a:pPr>
            <a:r>
              <a:rPr kumimoji="0" lang="fr-FR" altLang="fr-TN" sz="3200" b="1" i="0" u="none" strike="noStrike" kern="1200" cap="none" spc="0" normalizeH="0" baseline="0" noProof="0" dirty="0">
                <a:ln>
                  <a:noFill/>
                </a:ln>
                <a:solidFill>
                  <a:srgbClr val="191B0E"/>
                </a:solidFill>
                <a:effectLst/>
                <a:uLnTx/>
                <a:uFillTx/>
                <a:latin typeface="Times New Roman" panose="02020603050405020304" pitchFamily="18" charset="0"/>
                <a:ea typeface="Calibri" panose="020F0502020204030204" pitchFamily="34" charset="0"/>
                <a:cs typeface="Arial" panose="020B0604020202020204" pitchFamily="34" charset="0"/>
              </a:rPr>
              <a:t>A l’admission ,  vous prescrivez  : </a:t>
            </a:r>
            <a:br>
              <a:rPr kumimoji="0" lang="fr-TN" altLang="fr-TN" sz="3200" b="0" i="0" u="none" strike="noStrike" kern="1200" cap="none" spc="0" normalizeH="0" baseline="0" noProof="0" dirty="0">
                <a:ln>
                  <a:noFill/>
                </a:ln>
                <a:solidFill>
                  <a:srgbClr val="191B0E"/>
                </a:solidFill>
                <a:effectLst/>
                <a:uLnTx/>
                <a:uFillTx/>
                <a:latin typeface="Franklin Gothic Book" panose="020B0503020102020204"/>
                <a:ea typeface="Calibri" panose="020F0502020204030204" pitchFamily="34" charset="0"/>
                <a:cs typeface="Arial" panose="020B0604020202020204" pitchFamily="34" charset="0"/>
              </a:rPr>
            </a:br>
            <a:endParaRPr lang="fr-TN" sz="3200" dirty="0"/>
          </a:p>
        </p:txBody>
      </p:sp>
    </p:spTree>
  </p:cSld>
  <p:clrMapOvr>
    <a:masterClrMapping/>
  </p:clrMapOvr>
</p:sld>
</file>

<file path=ppt/slides/slide1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itre 2">
            <a:extLst>
              <a:ext uri="{FF2B5EF4-FFF2-40B4-BE49-F238E27FC236}">
                <a16:creationId xmlns:a16="http://schemas.microsoft.com/office/drawing/2014/main" id="{0CC8A141-4130-FCD2-228A-E81E7D207D7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fr-TN"/>
          </a:p>
        </p:txBody>
      </p:sp>
      <p:pic>
        <p:nvPicPr>
          <p:cNvPr id="8" name="Espace réservé du contenu 7">
            <a:extLst>
              <a:ext uri="{FF2B5EF4-FFF2-40B4-BE49-F238E27FC236}">
                <a16:creationId xmlns:a16="http://schemas.microsoft.com/office/drawing/2014/main" id="{3DD52AC4-16A2-BD90-479E-F86985FB47D8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1856792" y="1071816"/>
            <a:ext cx="6887088" cy="4795584"/>
          </a:xfrm>
          <a:prstGeom prst="rect">
            <a:avLst/>
          </a:prstGeom>
        </p:spPr>
      </p:pic>
      <p:pic>
        <p:nvPicPr>
          <p:cNvPr id="80900" name="Image 1">
            <a:extLst>
              <a:ext uri="{FF2B5EF4-FFF2-40B4-BE49-F238E27FC236}">
                <a16:creationId xmlns:a16="http://schemas.microsoft.com/office/drawing/2014/main" id="{1F2FAB17-DF7B-A453-1BEC-42ABC5BCF5D1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856792" y="3116834"/>
            <a:ext cx="7028257" cy="3841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</p:spTree>
  </p:cSld>
  <p:clrMapOvr>
    <a:masterClrMapping/>
  </p:clrMapOvr>
</p:sld>
</file>

<file path=ppt/slides/slide1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1922" name="Titre 1">
            <a:extLst>
              <a:ext uri="{FF2B5EF4-FFF2-40B4-BE49-F238E27FC236}">
                <a16:creationId xmlns:a16="http://schemas.microsoft.com/office/drawing/2014/main" id="{1E84A803-9C90-6F07-36F1-0ACFFBEEBAF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fr-TN" altLang="fr-TN"/>
          </a:p>
        </p:txBody>
      </p:sp>
      <p:sp>
        <p:nvSpPr>
          <p:cNvPr id="81923" name="Espace réservé du contenu 2">
            <a:extLst>
              <a:ext uri="{FF2B5EF4-FFF2-40B4-BE49-F238E27FC236}">
                <a16:creationId xmlns:a16="http://schemas.microsoft.com/office/drawing/2014/main" id="{DD266BCC-36A3-0254-D1D9-3EED230258B6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lang="fr-FR" altLang="fr-TN" sz="3200" dirty="0" err="1"/>
              <a:t>Desydratation</a:t>
            </a:r>
            <a:r>
              <a:rPr lang="fr-FR" altLang="fr-TN" sz="3200" dirty="0"/>
              <a:t> stade II, hydratation orale </a:t>
            </a:r>
          </a:p>
          <a:p>
            <a:r>
              <a:rPr lang="fr-FR" altLang="fr-TN" sz="3200" dirty="0"/>
              <a:t>Poids initial 5kg</a:t>
            </a:r>
          </a:p>
          <a:p>
            <a:r>
              <a:rPr lang="fr-FR" altLang="fr-TN" sz="3200" dirty="0"/>
              <a:t>Perte 8%</a:t>
            </a:r>
          </a:p>
          <a:p>
            <a:r>
              <a:rPr lang="fr-FR" altLang="fr-TN" sz="3200" dirty="0"/>
              <a:t>+80ml/kg</a:t>
            </a:r>
          </a:p>
          <a:p>
            <a:r>
              <a:rPr lang="fr-FR" altLang="fr-TN" sz="3200" dirty="0"/>
              <a:t>80X5=400ml sur 4 a 6heures</a:t>
            </a:r>
            <a:endParaRPr lang="fr-TN" altLang="fr-TN" sz="3200" dirty="0"/>
          </a:p>
        </p:txBody>
      </p:sp>
    </p:spTree>
  </p:cSld>
  <p:clrMapOvr>
    <a:masterClrMapping/>
  </p:clrMapOvr>
</p:sld>
</file>

<file path=ppt/slides/slide1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2946" name="Espace réservé du contenu 2">
            <a:extLst>
              <a:ext uri="{FF2B5EF4-FFF2-40B4-BE49-F238E27FC236}">
                <a16:creationId xmlns:a16="http://schemas.microsoft.com/office/drawing/2014/main" id="{ED5531E9-8136-196F-5C48-884A07EAB4AE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pPr>
              <a:lnSpc>
                <a:spcPct val="115000"/>
              </a:lnSpc>
              <a:spcAft>
                <a:spcPts val="1000"/>
              </a:spcAft>
              <a:buFont typeface="Calibri" panose="020F0502020204030204" pitchFamily="34" charset="0"/>
              <a:buAutoNum type="alphaUcPeriod"/>
            </a:pPr>
            <a:r>
              <a:rPr lang="fr-FR" altLang="fr-TN" sz="2400" dirty="0">
                <a:latin typeface="Times New Roman" panose="02020603050405020304" pitchFamily="18" charset="0"/>
                <a:ea typeface="Calibri" panose="020F0502020204030204" pitchFamily="34" charset="0"/>
                <a:cs typeface="Arial" panose="020B0604020202020204" pitchFamily="34" charset="0"/>
              </a:rPr>
              <a:t>900 ml sur 24 heures en  IV continu </a:t>
            </a:r>
            <a:endParaRPr lang="fr-TN" altLang="fr-TN" sz="2400" dirty="0">
              <a:ea typeface="Calibri" panose="020F0502020204030204" pitchFamily="34" charset="0"/>
              <a:cs typeface="Arial" panose="020B0604020202020204" pitchFamily="34" charset="0"/>
            </a:endParaRPr>
          </a:p>
          <a:p>
            <a:pPr>
              <a:lnSpc>
                <a:spcPct val="115000"/>
              </a:lnSpc>
              <a:spcAft>
                <a:spcPts val="1000"/>
              </a:spcAft>
              <a:buFont typeface="Calibri" panose="020F0502020204030204" pitchFamily="34" charset="0"/>
              <a:buAutoNum type="alphaUcPeriod"/>
            </a:pPr>
            <a:r>
              <a:rPr lang="fr-FR" altLang="fr-TN" sz="2400" dirty="0">
                <a:latin typeface="Times New Roman" panose="02020603050405020304" pitchFamily="18" charset="0"/>
                <a:ea typeface="Calibri" panose="020F0502020204030204" pitchFamily="34" charset="0"/>
                <a:cs typeface="Arial" panose="020B0604020202020204" pitchFamily="34" charset="0"/>
              </a:rPr>
              <a:t>200 ml sur 4 heures puis 700 ml en iv sur 20 heures</a:t>
            </a:r>
            <a:endParaRPr lang="fr-TN" altLang="fr-TN" sz="2400" dirty="0">
              <a:ea typeface="Calibri" panose="020F0502020204030204" pitchFamily="34" charset="0"/>
              <a:cs typeface="Arial" panose="020B0604020202020204" pitchFamily="34" charset="0"/>
            </a:endParaRPr>
          </a:p>
          <a:p>
            <a:pPr>
              <a:lnSpc>
                <a:spcPct val="115000"/>
              </a:lnSpc>
              <a:spcAft>
                <a:spcPts val="1000"/>
              </a:spcAft>
              <a:buFont typeface="Calibri" panose="020F0502020204030204" pitchFamily="34" charset="0"/>
              <a:buAutoNum type="alphaUcPeriod"/>
            </a:pPr>
            <a:r>
              <a:rPr lang="fr-FR" altLang="fr-TN" sz="2400" dirty="0">
                <a:solidFill>
                  <a:srgbClr val="FF0000"/>
                </a:solidFill>
                <a:latin typeface="Times New Roman" panose="02020603050405020304" pitchFamily="18" charset="0"/>
                <a:ea typeface="Calibri" panose="020F0502020204030204" pitchFamily="34" charset="0"/>
                <a:cs typeface="Arial" panose="020B0604020202020204" pitchFamily="34" charset="0"/>
              </a:rPr>
              <a:t>400 ml sur 4 heures par voie orale </a:t>
            </a:r>
            <a:endParaRPr lang="fr-TN" altLang="fr-TN" sz="2400" dirty="0">
              <a:solidFill>
                <a:srgbClr val="FF0000"/>
              </a:solidFill>
              <a:ea typeface="Calibri" panose="020F0502020204030204" pitchFamily="34" charset="0"/>
              <a:cs typeface="Arial" panose="020B0604020202020204" pitchFamily="34" charset="0"/>
            </a:endParaRPr>
          </a:p>
          <a:p>
            <a:pPr>
              <a:lnSpc>
                <a:spcPct val="115000"/>
              </a:lnSpc>
              <a:spcAft>
                <a:spcPts val="1000"/>
              </a:spcAft>
              <a:buFont typeface="Calibri" panose="020F0502020204030204" pitchFamily="34" charset="0"/>
              <a:buAutoNum type="alphaUcPeriod"/>
            </a:pPr>
            <a:r>
              <a:rPr lang="fr-FR" altLang="fr-TN" sz="2400" dirty="0">
                <a:latin typeface="Times New Roman" panose="02020603050405020304" pitchFamily="18" charset="0"/>
                <a:ea typeface="Calibri" panose="020F0502020204030204" pitchFamily="34" charset="0"/>
                <a:cs typeface="Arial" panose="020B0604020202020204" pitchFamily="34" charset="0"/>
              </a:rPr>
              <a:t>500 ml sur 12 h puis 800 ml sur 12 h</a:t>
            </a:r>
            <a:endParaRPr lang="fr-FR" altLang="fr-TN" sz="2400" dirty="0">
              <a:ea typeface="Calibri" panose="020F0502020204030204" pitchFamily="34" charset="0"/>
              <a:cs typeface="Arial" panose="020B0604020202020204" pitchFamily="34" charset="0"/>
            </a:endParaRPr>
          </a:p>
          <a:p>
            <a:pPr>
              <a:lnSpc>
                <a:spcPct val="115000"/>
              </a:lnSpc>
              <a:spcAft>
                <a:spcPts val="1000"/>
              </a:spcAft>
              <a:buFont typeface="Calibri" panose="020F0502020204030204" pitchFamily="34" charset="0"/>
              <a:buAutoNum type="alphaUcPeriod"/>
            </a:pPr>
            <a:r>
              <a:rPr lang="fr-FR" altLang="fr-TN" sz="2400" dirty="0">
                <a:latin typeface="Times New Roman" panose="02020603050405020304" pitchFamily="18" charset="0"/>
                <a:cs typeface="Calibri" panose="020F0502020204030204" pitchFamily="34" charset="0"/>
              </a:rPr>
              <a:t>1500 ml sur 24 heures en continu</a:t>
            </a:r>
            <a:endParaRPr lang="fr-TN" altLang="fr-TN" sz="2400" dirty="0">
              <a:cs typeface="Calibri" panose="020F0502020204030204" pitchFamily="34" charset="0"/>
            </a:endParaRPr>
          </a:p>
        </p:txBody>
      </p:sp>
      <p:sp>
        <p:nvSpPr>
          <p:cNvPr id="3" name="Titre 2">
            <a:extLst>
              <a:ext uri="{FF2B5EF4-FFF2-40B4-BE49-F238E27FC236}">
                <a16:creationId xmlns:a16="http://schemas.microsoft.com/office/drawing/2014/main" id="{C65FE613-2658-D186-1E5D-8BECC0BC0BE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fr-TN" dirty="0"/>
          </a:p>
        </p:txBody>
      </p:sp>
      <p:sp>
        <p:nvSpPr>
          <p:cNvPr id="6" name="ZoneTexte 5">
            <a:extLst>
              <a:ext uri="{FF2B5EF4-FFF2-40B4-BE49-F238E27FC236}">
                <a16:creationId xmlns:a16="http://schemas.microsoft.com/office/drawing/2014/main" id="{734D2CB7-438E-3375-B68E-C1978115D864}"/>
              </a:ext>
            </a:extLst>
          </p:cNvPr>
          <p:cNvSpPr txBox="1"/>
          <p:nvPr/>
        </p:nvSpPr>
        <p:spPr>
          <a:xfrm>
            <a:off x="1287624" y="1351631"/>
            <a:ext cx="7102929" cy="61292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384048" marR="0" lvl="0" indent="-384048" algn="l" defTabSz="914400" rtl="0" eaLnBrk="1" fontAlgn="auto" latinLnBrk="0" hangingPunct="1">
              <a:lnSpc>
                <a:spcPct val="115000"/>
              </a:lnSpc>
              <a:spcBef>
                <a:spcPts val="1000"/>
              </a:spcBef>
              <a:spcAft>
                <a:spcPts val="1000"/>
              </a:spcAft>
              <a:buClrTx/>
              <a:buSzTx/>
              <a:buFont typeface="Franklin Gothic Book" panose="020B0503020102020204" pitchFamily="34" charset="0"/>
              <a:buChar char="■"/>
              <a:tabLst/>
              <a:defRPr/>
            </a:pPr>
            <a:r>
              <a:rPr kumimoji="0" lang="fr-FR" altLang="fr-TN" sz="3200" b="1" i="0" u="none" strike="noStrike" kern="1200" cap="none" spc="0" normalizeH="0" baseline="0" noProof="0" dirty="0">
                <a:ln>
                  <a:noFill/>
                </a:ln>
                <a:solidFill>
                  <a:srgbClr val="191B0E"/>
                </a:solidFill>
                <a:effectLst/>
                <a:uLnTx/>
                <a:uFillTx/>
                <a:latin typeface="Times New Roman" panose="02020603050405020304" pitchFamily="18" charset="0"/>
                <a:ea typeface="Calibri" panose="020F0502020204030204" pitchFamily="34" charset="0"/>
                <a:cs typeface="Arial" panose="020B0604020202020204" pitchFamily="34" charset="0"/>
              </a:rPr>
              <a:t>A l’admission ,  vous prescrivez  : </a:t>
            </a:r>
            <a:endParaRPr kumimoji="0" lang="fr-TN" altLang="fr-TN" sz="3200" b="0" i="0" u="none" strike="noStrike" kern="1200" cap="none" spc="0" normalizeH="0" baseline="0" noProof="0" dirty="0">
              <a:ln>
                <a:noFill/>
              </a:ln>
              <a:solidFill>
                <a:srgbClr val="191B0E"/>
              </a:solidFill>
              <a:effectLst/>
              <a:uLnTx/>
              <a:uFillTx/>
              <a:latin typeface="Franklin Gothic Book" panose="020B0503020102020204"/>
              <a:ea typeface="Calibri" panose="020F0502020204030204" pitchFamily="34" charset="0"/>
              <a:cs typeface="Arial" panose="020B0604020202020204" pitchFamily="34" charset="0"/>
            </a:endParaRPr>
          </a:p>
        </p:txBody>
      </p:sp>
    </p:spTree>
  </p:cSld>
  <p:clrMapOvr>
    <a:masterClrMapping/>
  </p:clrMapOvr>
</p:sld>
</file>

<file path=ppt/slides/slide1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6802" name="Espace réservé du contenu 2">
            <a:extLst>
              <a:ext uri="{FF2B5EF4-FFF2-40B4-BE49-F238E27FC236}">
                <a16:creationId xmlns:a16="http://schemas.microsoft.com/office/drawing/2014/main" id="{700A498C-4484-3A16-4B28-5C77E2391E09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981199" y="1628776"/>
            <a:ext cx="9393535" cy="4993088"/>
          </a:xfrm>
        </p:spPr>
        <p:txBody>
          <a:bodyPr>
            <a:noAutofit/>
          </a:bodyPr>
          <a:lstStyle/>
          <a:p>
            <a:pPr>
              <a:lnSpc>
                <a:spcPct val="100000"/>
              </a:lnSpc>
              <a:spcAft>
                <a:spcPts val="1000"/>
              </a:spcAft>
              <a:defRPr/>
            </a:pPr>
            <a:r>
              <a:rPr lang="fr-FR" altLang="fr-TN" sz="2400" dirty="0"/>
              <a:t> </a:t>
            </a:r>
            <a:r>
              <a:rPr lang="fr-FR" sz="2400" dirty="0">
                <a:latin typeface="Times New Roman" panose="02020603050405020304" pitchFamily="18" charset="0"/>
                <a:ea typeface="Calibri" panose="020F0502020204030204" pitchFamily="34" charset="0"/>
                <a:cs typeface="Arial" panose="020B0604020202020204" pitchFamily="34" charset="0"/>
              </a:rPr>
              <a:t>Fares  âgé de 11 mois, présente depuis 3 jours des  épisodes de diarrhée ( 8 selles liquides/ j).  Son poids il y a  dix jours : 10 kg ;</a:t>
            </a:r>
            <a:endParaRPr lang="fr-TN" sz="2400" dirty="0">
              <a:ea typeface="Calibri" panose="020F0502020204030204" pitchFamily="34" charset="0"/>
              <a:cs typeface="Arial" panose="020B0604020202020204" pitchFamily="34" charset="0"/>
            </a:endParaRPr>
          </a:p>
          <a:p>
            <a:pPr marL="457200">
              <a:lnSpc>
                <a:spcPct val="100000"/>
              </a:lnSpc>
              <a:spcAft>
                <a:spcPts val="1000"/>
              </a:spcAft>
              <a:defRPr/>
            </a:pPr>
            <a:r>
              <a:rPr lang="fr-FR" sz="2400" dirty="0">
                <a:latin typeface="Times New Roman" panose="02020603050405020304" pitchFamily="18" charset="0"/>
                <a:ea typeface="Calibri" panose="020F0502020204030204" pitchFamily="34" charset="0"/>
                <a:cs typeface="Arial" panose="020B0604020202020204" pitchFamily="34" charset="0"/>
              </a:rPr>
              <a:t>A l’examen : Poids = 8,7 kg  , Température = 38°; </a:t>
            </a:r>
            <a:endParaRPr lang="fr-TN" sz="2400" dirty="0">
              <a:ea typeface="Calibri" panose="020F0502020204030204" pitchFamily="34" charset="0"/>
              <a:cs typeface="Arial" panose="020B0604020202020204" pitchFamily="34" charset="0"/>
            </a:endParaRPr>
          </a:p>
          <a:p>
            <a:pPr>
              <a:lnSpc>
                <a:spcPct val="100000"/>
              </a:lnSpc>
              <a:spcAft>
                <a:spcPts val="1000"/>
              </a:spcAft>
              <a:defRPr/>
            </a:pPr>
            <a:r>
              <a:rPr lang="fr-FR" sz="2400" dirty="0">
                <a:latin typeface="Times New Roman" panose="02020603050405020304" pitchFamily="18" charset="0"/>
                <a:ea typeface="Calibri" panose="020F0502020204030204" pitchFamily="34" charset="0"/>
                <a:cs typeface="Arial" panose="020B0604020202020204" pitchFamily="34" charset="0"/>
              </a:rPr>
              <a:t>Pli cutané persistant , langue très desséchée </a:t>
            </a:r>
            <a:endParaRPr lang="fr-TN" sz="2400" dirty="0">
              <a:ea typeface="Calibri" panose="020F0502020204030204" pitchFamily="34" charset="0"/>
              <a:cs typeface="Arial" panose="020B0604020202020204" pitchFamily="34" charset="0"/>
            </a:endParaRPr>
          </a:p>
          <a:p>
            <a:pPr algn="just">
              <a:lnSpc>
                <a:spcPct val="100000"/>
              </a:lnSpc>
              <a:spcAft>
                <a:spcPts val="1000"/>
              </a:spcAft>
              <a:defRPr/>
            </a:pPr>
            <a:r>
              <a:rPr lang="fr-FR" sz="2400" dirty="0">
                <a:latin typeface="Times New Roman" panose="02020603050405020304" pitchFamily="18" charset="0"/>
                <a:ea typeface="Calibri" panose="020F0502020204030204" pitchFamily="34" charset="0"/>
                <a:cs typeface="Arial" panose="020B0604020202020204" pitchFamily="34" charset="0"/>
              </a:rPr>
              <a:t>Globes oculaires très enfoncés, Fontanelle antérieure très déprimée</a:t>
            </a:r>
            <a:endParaRPr lang="fr-TN" sz="2400" dirty="0">
              <a:ea typeface="Calibri" panose="020F0502020204030204" pitchFamily="34" charset="0"/>
              <a:cs typeface="Arial" panose="020B0604020202020204" pitchFamily="34" charset="0"/>
            </a:endParaRPr>
          </a:p>
          <a:p>
            <a:pPr>
              <a:lnSpc>
                <a:spcPct val="100000"/>
              </a:lnSpc>
              <a:spcAft>
                <a:spcPts val="1000"/>
              </a:spcAft>
              <a:defRPr/>
            </a:pPr>
            <a:r>
              <a:rPr lang="fr-FR" sz="2400" dirty="0">
                <a:latin typeface="Times New Roman" panose="02020603050405020304" pitchFamily="18" charset="0"/>
                <a:ea typeface="Calibri" panose="020F0502020204030204" pitchFamily="34" charset="0"/>
                <a:cs typeface="Arial" panose="020B0604020202020204" pitchFamily="34" charset="0"/>
              </a:rPr>
              <a:t>Glasgow à 15/15</a:t>
            </a:r>
            <a:endParaRPr lang="fr-TN" sz="2400" dirty="0">
              <a:ea typeface="Calibri" panose="020F0502020204030204" pitchFamily="34" charset="0"/>
              <a:cs typeface="Arial" panose="020B0604020202020204" pitchFamily="34" charset="0"/>
            </a:endParaRPr>
          </a:p>
          <a:p>
            <a:pPr>
              <a:lnSpc>
                <a:spcPct val="100000"/>
              </a:lnSpc>
              <a:spcAft>
                <a:spcPts val="1000"/>
              </a:spcAft>
              <a:defRPr/>
            </a:pPr>
            <a:r>
              <a:rPr lang="fr-FR" sz="2400" dirty="0">
                <a:latin typeface="Times New Roman" panose="02020603050405020304" pitchFamily="18" charset="0"/>
                <a:ea typeface="Calibri" panose="020F0502020204030204" pitchFamily="34" charset="0"/>
                <a:cs typeface="Arial" panose="020B0604020202020204" pitchFamily="34" charset="0"/>
              </a:rPr>
              <a:t>Pouls = 190batt / min, TRC à 5 sec , extrémités froides, PA = 55 / 22 </a:t>
            </a:r>
            <a:r>
              <a:rPr lang="fr-FR" sz="2400" dirty="0" err="1">
                <a:latin typeface="Times New Roman" panose="02020603050405020304" pitchFamily="18" charset="0"/>
                <a:ea typeface="Calibri" panose="020F0502020204030204" pitchFamily="34" charset="0"/>
                <a:cs typeface="Arial" panose="020B0604020202020204" pitchFamily="34" charset="0"/>
              </a:rPr>
              <a:t>mmHg</a:t>
            </a:r>
            <a:r>
              <a:rPr lang="fr-FR" sz="2400" dirty="0">
                <a:latin typeface="Times New Roman" panose="02020603050405020304" pitchFamily="18" charset="0"/>
                <a:ea typeface="Calibri" panose="020F0502020204030204" pitchFamily="34" charset="0"/>
                <a:cs typeface="Arial" panose="020B0604020202020204" pitchFamily="34" charset="0"/>
              </a:rPr>
              <a:t> </a:t>
            </a:r>
            <a:endParaRPr lang="fr-TN" sz="2400" dirty="0">
              <a:ea typeface="Calibri" panose="020F0502020204030204" pitchFamily="34" charset="0"/>
              <a:cs typeface="Arial" panose="020B0604020202020204" pitchFamily="34" charset="0"/>
            </a:endParaRPr>
          </a:p>
          <a:p>
            <a:pPr>
              <a:lnSpc>
                <a:spcPct val="100000"/>
              </a:lnSpc>
              <a:spcAft>
                <a:spcPts val="1000"/>
              </a:spcAft>
              <a:defRPr/>
            </a:pPr>
            <a:r>
              <a:rPr lang="fr-FR" sz="2400" dirty="0">
                <a:latin typeface="Times New Roman" panose="02020603050405020304" pitchFamily="18" charset="0"/>
                <a:ea typeface="Calibri" panose="020F0502020204030204" pitchFamily="34" charset="0"/>
                <a:cs typeface="Arial" panose="020B0604020202020204" pitchFamily="34" charset="0"/>
              </a:rPr>
              <a:t>Respiration ample, fréquence respiratoire  = 65 cycles/min </a:t>
            </a:r>
            <a:endParaRPr lang="fr-TN" sz="2400" dirty="0">
              <a:ea typeface="Calibri" panose="020F0502020204030204" pitchFamily="34" charset="0"/>
              <a:cs typeface="Arial" panose="020B0604020202020204" pitchFamily="34" charset="0"/>
            </a:endParaRPr>
          </a:p>
          <a:p>
            <a:pPr marL="567690" indent="0">
              <a:lnSpc>
                <a:spcPct val="100000"/>
              </a:lnSpc>
              <a:spcAft>
                <a:spcPts val="1000"/>
              </a:spcAft>
              <a:buNone/>
              <a:defRPr/>
            </a:pPr>
            <a:r>
              <a:rPr lang="fr-FR" sz="2400" dirty="0">
                <a:latin typeface="Times New Roman" panose="02020603050405020304" pitchFamily="18" charset="0"/>
                <a:ea typeface="Calibri" panose="020F0502020204030204" pitchFamily="34" charset="0"/>
                <a:cs typeface="Arial" panose="020B0604020202020204" pitchFamily="34" charset="0"/>
              </a:rPr>
              <a:t> </a:t>
            </a:r>
            <a:endParaRPr lang="fr-TN" sz="2400" dirty="0">
              <a:ea typeface="Calibri" panose="020F0502020204030204" pitchFamily="34" charset="0"/>
              <a:cs typeface="Arial" panose="020B0604020202020204" pitchFamily="34" charset="0"/>
            </a:endParaRPr>
          </a:p>
          <a:p>
            <a:pPr>
              <a:lnSpc>
                <a:spcPct val="100000"/>
              </a:lnSpc>
              <a:spcBef>
                <a:spcPct val="0"/>
              </a:spcBef>
              <a:buFont typeface="Calibri" panose="020F0502020204030204" pitchFamily="34" charset="0"/>
              <a:buAutoNum type="arabicPeriod"/>
              <a:defRPr/>
            </a:pPr>
            <a:endParaRPr lang="fr-FR" altLang="fr-TN" sz="2400" dirty="0"/>
          </a:p>
        </p:txBody>
      </p:sp>
      <p:sp>
        <p:nvSpPr>
          <p:cNvPr id="6" name="Titre 1">
            <a:extLst>
              <a:ext uri="{FF2B5EF4-FFF2-40B4-BE49-F238E27FC236}">
                <a16:creationId xmlns:a16="http://schemas.microsoft.com/office/drawing/2014/main" id="{840A4CA4-133E-3C18-F0B5-39CD3583068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371600" y="150725"/>
            <a:ext cx="9601200" cy="1225899"/>
          </a:xfrm>
          <a:solidFill>
            <a:schemeClr val="accent5"/>
          </a:solidFill>
        </p:spPr>
        <p:txBody>
          <a:bodyPr rtlCol="0">
            <a:normAutofit fontScale="90000"/>
          </a:bodyPr>
          <a:lstStyle/>
          <a:p>
            <a:pPr algn="l" eaLnBrk="1" fontAlgn="auto" hangingPunct="1">
              <a:spcAft>
                <a:spcPts val="0"/>
              </a:spcAft>
              <a:defRPr/>
            </a:pPr>
            <a:br>
              <a:rPr lang="fr-FR" b="1" dirty="0"/>
            </a:br>
            <a:r>
              <a:rPr lang="fr-FR" b="1" dirty="0"/>
              <a:t>Cas clinique 5 </a:t>
            </a:r>
            <a:br>
              <a:rPr lang="fr-FR" dirty="0"/>
            </a:br>
            <a:endParaRPr lang="fr-FR" dirty="0"/>
          </a:p>
        </p:txBody>
      </p:sp>
    </p:spTree>
  </p:cSld>
  <p:clrMapOvr>
    <a:masterClrMapping/>
  </p:clrMapOvr>
</p:sld>
</file>

<file path=ppt/slides/slide1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4995" name="Espace réservé du contenu 2">
            <a:extLst>
              <a:ext uri="{FF2B5EF4-FFF2-40B4-BE49-F238E27FC236}">
                <a16:creationId xmlns:a16="http://schemas.microsoft.com/office/drawing/2014/main" id="{88F5524A-2940-BE5B-5B60-CC4B8364B3D1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371600" y="1156996"/>
            <a:ext cx="9601200" cy="4710404"/>
          </a:xfrm>
        </p:spPr>
        <p:txBody>
          <a:bodyPr>
            <a:normAutofit/>
          </a:bodyPr>
          <a:lstStyle/>
          <a:p>
            <a:pPr>
              <a:lnSpc>
                <a:spcPct val="115000"/>
              </a:lnSpc>
              <a:spcAft>
                <a:spcPts val="1000"/>
              </a:spcAft>
              <a:buFont typeface="Calibri" panose="020F0502020204030204" pitchFamily="34" charset="0"/>
              <a:buAutoNum type="arabicPeriod"/>
            </a:pPr>
            <a:r>
              <a:rPr lang="fr-FR" altLang="fr-TN" sz="2800" b="1" dirty="0">
                <a:solidFill>
                  <a:srgbClr val="000000"/>
                </a:solidFill>
                <a:latin typeface="Times New Roman" panose="02020603050405020304" pitchFamily="18" charset="0"/>
                <a:ea typeface="Calibri" panose="020F0502020204030204" pitchFamily="34" charset="0"/>
                <a:cs typeface="Arial" panose="020B0604020202020204" pitchFamily="34" charset="0"/>
              </a:rPr>
              <a:t>Le score de déshydratation est égal à</a:t>
            </a:r>
            <a:r>
              <a:rPr lang="fr-FR" altLang="fr-TN" sz="2800" dirty="0">
                <a:solidFill>
                  <a:srgbClr val="000000"/>
                </a:solidFill>
                <a:latin typeface="Times New Roman" panose="02020603050405020304" pitchFamily="18" charset="0"/>
                <a:ea typeface="Calibri" panose="020F0502020204030204" pitchFamily="34" charset="0"/>
                <a:cs typeface="Arial" panose="020B0604020202020204" pitchFamily="34" charset="0"/>
              </a:rPr>
              <a:t> :</a:t>
            </a:r>
            <a:endParaRPr lang="fr-TN" altLang="fr-TN" sz="2800" dirty="0">
              <a:solidFill>
                <a:srgbClr val="000000"/>
              </a:solidFill>
              <a:ea typeface="Calibri" panose="020F0502020204030204" pitchFamily="34" charset="0"/>
              <a:cs typeface="Arial" panose="020B0604020202020204" pitchFamily="34" charset="0"/>
            </a:endParaRPr>
          </a:p>
          <a:p>
            <a:pPr>
              <a:lnSpc>
                <a:spcPct val="115000"/>
              </a:lnSpc>
              <a:spcAft>
                <a:spcPts val="1000"/>
              </a:spcAft>
              <a:buFont typeface="Calibri" panose="020F0502020204030204" pitchFamily="34" charset="0"/>
              <a:buAutoNum type="alphaUcPeriod"/>
            </a:pPr>
            <a:r>
              <a:rPr lang="fr-FR" altLang="fr-TN" sz="2800" dirty="0">
                <a:solidFill>
                  <a:srgbClr val="000000"/>
                </a:solidFill>
                <a:latin typeface="Times New Roman" panose="02020603050405020304" pitchFamily="18" charset="0"/>
                <a:ea typeface="Calibri" panose="020F0502020204030204" pitchFamily="34" charset="0"/>
                <a:cs typeface="Arial" panose="020B0604020202020204" pitchFamily="34" charset="0"/>
              </a:rPr>
              <a:t>12</a:t>
            </a:r>
            <a:endParaRPr lang="fr-TN" altLang="fr-TN" sz="2800" dirty="0">
              <a:solidFill>
                <a:srgbClr val="000000"/>
              </a:solidFill>
              <a:ea typeface="Calibri" panose="020F0502020204030204" pitchFamily="34" charset="0"/>
              <a:cs typeface="Arial" panose="020B0604020202020204" pitchFamily="34" charset="0"/>
            </a:endParaRPr>
          </a:p>
          <a:p>
            <a:pPr>
              <a:lnSpc>
                <a:spcPct val="107000"/>
              </a:lnSpc>
              <a:spcAft>
                <a:spcPts val="1000"/>
              </a:spcAft>
              <a:buFont typeface="Calibri" panose="020F0502020204030204" pitchFamily="34" charset="0"/>
              <a:buAutoNum type="alphaUcPeriod"/>
            </a:pPr>
            <a:r>
              <a:rPr lang="fr-FR" altLang="fr-TN" sz="2800" dirty="0">
                <a:solidFill>
                  <a:srgbClr val="000000"/>
                </a:solidFill>
                <a:latin typeface="Times New Roman" panose="02020603050405020304" pitchFamily="18" charset="0"/>
                <a:ea typeface="Calibri" panose="020F0502020204030204" pitchFamily="34" charset="0"/>
                <a:cs typeface="Arial" panose="020B0604020202020204" pitchFamily="34" charset="0"/>
              </a:rPr>
              <a:t>19</a:t>
            </a:r>
            <a:endParaRPr lang="fr-TN" altLang="fr-TN" sz="2800" dirty="0">
              <a:solidFill>
                <a:srgbClr val="000000"/>
              </a:solidFill>
              <a:ea typeface="Calibri" panose="020F0502020204030204" pitchFamily="34" charset="0"/>
              <a:cs typeface="Arial" panose="020B0604020202020204" pitchFamily="34" charset="0"/>
            </a:endParaRPr>
          </a:p>
          <a:p>
            <a:pPr>
              <a:lnSpc>
                <a:spcPct val="107000"/>
              </a:lnSpc>
              <a:spcAft>
                <a:spcPts val="1000"/>
              </a:spcAft>
              <a:buFont typeface="Calibri" panose="020F0502020204030204" pitchFamily="34" charset="0"/>
              <a:buAutoNum type="alphaUcPeriod"/>
            </a:pPr>
            <a:r>
              <a:rPr lang="fr-FR" altLang="fr-TN" sz="2800" dirty="0">
                <a:solidFill>
                  <a:srgbClr val="000000"/>
                </a:solidFill>
                <a:latin typeface="Times New Roman" panose="02020603050405020304" pitchFamily="18" charset="0"/>
                <a:ea typeface="Calibri" panose="020F0502020204030204" pitchFamily="34" charset="0"/>
                <a:cs typeface="Arial" panose="020B0604020202020204" pitchFamily="34" charset="0"/>
              </a:rPr>
              <a:t>9</a:t>
            </a:r>
            <a:endParaRPr lang="fr-TN" altLang="fr-TN" sz="2800" dirty="0">
              <a:solidFill>
                <a:srgbClr val="000000"/>
              </a:solidFill>
              <a:ea typeface="Calibri" panose="020F0502020204030204" pitchFamily="34" charset="0"/>
              <a:cs typeface="Arial" panose="020B0604020202020204" pitchFamily="34" charset="0"/>
            </a:endParaRPr>
          </a:p>
          <a:p>
            <a:pPr>
              <a:lnSpc>
                <a:spcPct val="107000"/>
              </a:lnSpc>
              <a:spcAft>
                <a:spcPts val="1000"/>
              </a:spcAft>
              <a:buFont typeface="Calibri" panose="020F0502020204030204" pitchFamily="34" charset="0"/>
              <a:buAutoNum type="alphaUcPeriod"/>
            </a:pPr>
            <a:r>
              <a:rPr lang="fr-FR" altLang="fr-TN" sz="2800" dirty="0">
                <a:solidFill>
                  <a:srgbClr val="000000"/>
                </a:solidFill>
                <a:latin typeface="Times New Roman" panose="02020603050405020304" pitchFamily="18" charset="0"/>
                <a:ea typeface="Calibri" panose="020F0502020204030204" pitchFamily="34" charset="0"/>
                <a:cs typeface="Arial" panose="020B0604020202020204" pitchFamily="34" charset="0"/>
              </a:rPr>
              <a:t>15</a:t>
            </a:r>
            <a:endParaRPr lang="fr-TN" altLang="fr-TN" sz="2800" dirty="0">
              <a:solidFill>
                <a:srgbClr val="000000"/>
              </a:solidFill>
              <a:ea typeface="Calibri" panose="020F0502020204030204" pitchFamily="34" charset="0"/>
              <a:cs typeface="Arial" panose="020B0604020202020204" pitchFamily="34" charset="0"/>
            </a:endParaRPr>
          </a:p>
          <a:p>
            <a:pPr>
              <a:lnSpc>
                <a:spcPct val="107000"/>
              </a:lnSpc>
              <a:spcAft>
                <a:spcPts val="1000"/>
              </a:spcAft>
              <a:buFont typeface="Calibri" panose="020F0502020204030204" pitchFamily="34" charset="0"/>
              <a:buAutoNum type="alphaUcPeriod"/>
            </a:pPr>
            <a:r>
              <a:rPr lang="fr-FR" altLang="fr-TN" sz="2800" dirty="0">
                <a:solidFill>
                  <a:srgbClr val="000000"/>
                </a:solidFill>
                <a:latin typeface="Times New Roman" panose="02020603050405020304" pitchFamily="18" charset="0"/>
                <a:ea typeface="Calibri" panose="020F0502020204030204" pitchFamily="34" charset="0"/>
                <a:cs typeface="Arial" panose="020B0604020202020204" pitchFamily="34" charset="0"/>
              </a:rPr>
              <a:t>16</a:t>
            </a:r>
            <a:endParaRPr lang="fr-TN" altLang="fr-TN" sz="2800" dirty="0">
              <a:solidFill>
                <a:srgbClr val="000000"/>
              </a:solidFill>
              <a:ea typeface="Calibri" panose="020F0502020204030204" pitchFamily="34" charset="0"/>
              <a:cs typeface="Arial" panose="020B0604020202020204" pitchFamily="34" charset="0"/>
            </a:endParaRPr>
          </a:p>
          <a:p>
            <a:endParaRPr lang="fr-TN" altLang="fr-TN" sz="2800" dirty="0"/>
          </a:p>
        </p:txBody>
      </p:sp>
    </p:spTree>
  </p:cSld>
  <p:clrMapOvr>
    <a:masterClrMapping/>
  </p:clrMapOvr>
</p:sld>
</file>

<file path=ppt/slides/slide1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itre 1">
            <a:extLst>
              <a:ext uri="{FF2B5EF4-FFF2-40B4-BE49-F238E27FC236}">
                <a16:creationId xmlns:a16="http://schemas.microsoft.com/office/drawing/2014/main" id="{3DF5A8EF-294B-B20F-464C-670525C1CF10}"/>
              </a:ext>
            </a:extLst>
          </p:cNvPr>
          <p:cNvSpPr>
            <a:spLocks noGrp="1"/>
          </p:cNvSpPr>
          <p:nvPr>
            <p:ph type="title"/>
          </p:nvPr>
        </p:nvSpPr>
        <p:spPr>
          <a:solidFill>
            <a:schemeClr val="accent6">
              <a:lumMod val="60000"/>
              <a:lumOff val="40000"/>
            </a:schemeClr>
          </a:solidFill>
        </p:spPr>
        <p:txBody>
          <a:bodyPr rtlCol="0">
            <a:normAutofit/>
          </a:bodyPr>
          <a:lstStyle/>
          <a:p>
            <a:pPr algn="l" eaLnBrk="1" fontAlgn="auto" hangingPunct="1">
              <a:spcAft>
                <a:spcPts val="0"/>
              </a:spcAft>
              <a:defRPr/>
            </a:pPr>
            <a:r>
              <a:rPr lang="fr-FR" b="1" dirty="0"/>
              <a:t>COMMENTAIRES</a:t>
            </a:r>
          </a:p>
        </p:txBody>
      </p:sp>
      <p:pic>
        <p:nvPicPr>
          <p:cNvPr id="86018" name="Picture 2">
            <a:extLst>
              <a:ext uri="{FF2B5EF4-FFF2-40B4-BE49-F238E27FC236}">
                <a16:creationId xmlns:a16="http://schemas.microsoft.com/office/drawing/2014/main" id="{119916BF-9995-E03C-C566-903447BAAC59}"/>
              </a:ext>
            </a:extLst>
          </p:cNvPr>
          <p:cNvPicPr>
            <a:picLocks noGrp="1" noChangeAspect="1" noChangeArrowheads="1"/>
          </p:cNvPicPr>
          <p:nvPr>
            <p:ph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>
          <a:xfrm>
            <a:off x="1947864" y="1474789"/>
            <a:ext cx="8237537" cy="5108575"/>
          </a:xfrm>
          <a:noFill/>
        </p:spPr>
      </p:pic>
      <p:sp>
        <p:nvSpPr>
          <p:cNvPr id="8" name="Rectangle à coins arrondis 7">
            <a:extLst>
              <a:ext uri="{FF2B5EF4-FFF2-40B4-BE49-F238E27FC236}">
                <a16:creationId xmlns:a16="http://schemas.microsoft.com/office/drawing/2014/main" id="{6B87FE1E-91CB-4051-4F0A-2D39F28EF872}"/>
              </a:ext>
            </a:extLst>
          </p:cNvPr>
          <p:cNvSpPr/>
          <p:nvPr/>
        </p:nvSpPr>
        <p:spPr>
          <a:xfrm>
            <a:off x="8034338" y="2097088"/>
            <a:ext cx="1643062" cy="355600"/>
          </a:xfrm>
          <a:prstGeom prst="roundRect">
            <a:avLst>
              <a:gd name="adj" fmla="val 0"/>
            </a:avLst>
          </a:prstGeom>
          <a:noFill/>
          <a:ln>
            <a:solidFill>
              <a:srgbClr val="FF0000"/>
            </a:solidFill>
            <a:prstDash val="dash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lang="fr-FR">
              <a:solidFill>
                <a:prstClr val="white"/>
              </a:solidFill>
              <a:latin typeface="Calibri"/>
            </a:endParaRPr>
          </a:p>
        </p:txBody>
      </p:sp>
      <p:sp>
        <p:nvSpPr>
          <p:cNvPr id="11" name="Rectangle à coins arrondis 10">
            <a:extLst>
              <a:ext uri="{FF2B5EF4-FFF2-40B4-BE49-F238E27FC236}">
                <a16:creationId xmlns:a16="http://schemas.microsoft.com/office/drawing/2014/main" id="{8C8C6B0E-BA9B-F7E6-5BB2-A598223929DF}"/>
              </a:ext>
            </a:extLst>
          </p:cNvPr>
          <p:cNvSpPr/>
          <p:nvPr/>
        </p:nvSpPr>
        <p:spPr>
          <a:xfrm>
            <a:off x="4224338" y="3611564"/>
            <a:ext cx="1643062" cy="357187"/>
          </a:xfrm>
          <a:prstGeom prst="roundRect">
            <a:avLst>
              <a:gd name="adj" fmla="val 0"/>
            </a:avLst>
          </a:prstGeom>
          <a:noFill/>
          <a:ln>
            <a:solidFill>
              <a:srgbClr val="FF0000"/>
            </a:solidFill>
            <a:prstDash val="dash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lang="fr-FR">
              <a:solidFill>
                <a:prstClr val="white"/>
              </a:solidFill>
              <a:latin typeface="Calibri"/>
            </a:endParaRPr>
          </a:p>
        </p:txBody>
      </p:sp>
      <p:sp>
        <p:nvSpPr>
          <p:cNvPr id="12" name="ZoneTexte 11">
            <a:extLst>
              <a:ext uri="{FF2B5EF4-FFF2-40B4-BE49-F238E27FC236}">
                <a16:creationId xmlns:a16="http://schemas.microsoft.com/office/drawing/2014/main" id="{E7967E8E-0892-3460-BA95-C8ABDDC9D7D2}"/>
              </a:ext>
            </a:extLst>
          </p:cNvPr>
          <p:cNvSpPr txBox="1"/>
          <p:nvPr/>
        </p:nvSpPr>
        <p:spPr>
          <a:xfrm>
            <a:off x="6524625" y="4929189"/>
            <a:ext cx="2071688" cy="923925"/>
          </a:xfrm>
          <a:prstGeom prst="rect">
            <a:avLst/>
          </a:prstGeom>
          <a:solidFill>
            <a:schemeClr val="accent5">
              <a:lumMod val="60000"/>
              <a:lumOff val="40000"/>
            </a:schemeClr>
          </a:solidFill>
        </p:spPr>
        <p:txBody>
          <a:bodyPr>
            <a:spAutoFit/>
          </a:bodyPr>
          <a:lstStyle/>
          <a:p>
            <a:pPr fontAlgn="base">
              <a:spcBef>
                <a:spcPct val="0"/>
              </a:spcBef>
              <a:spcAft>
                <a:spcPct val="0"/>
              </a:spcAft>
              <a:defRPr/>
            </a:pPr>
            <a:r>
              <a:rPr lang="fr-FR" b="1" dirty="0">
                <a:solidFill>
                  <a:prstClr val="black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On rajoute +5 : une seule fois </a:t>
            </a:r>
          </a:p>
          <a:p>
            <a:pPr fontAlgn="base">
              <a:spcBef>
                <a:spcPct val="0"/>
              </a:spcBef>
              <a:spcAft>
                <a:spcPct val="0"/>
              </a:spcAft>
              <a:defRPr/>
            </a:pPr>
            <a:endParaRPr lang="fr-FR" b="1" dirty="0">
              <a:solidFill>
                <a:prstClr val="black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3" name="Rectangle à coins arrondis 7">
            <a:extLst>
              <a:ext uri="{FF2B5EF4-FFF2-40B4-BE49-F238E27FC236}">
                <a16:creationId xmlns:a16="http://schemas.microsoft.com/office/drawing/2014/main" id="{6FBFFB75-7616-43B0-552C-4BD26D87FF60}"/>
              </a:ext>
            </a:extLst>
          </p:cNvPr>
          <p:cNvSpPr/>
          <p:nvPr/>
        </p:nvSpPr>
        <p:spPr>
          <a:xfrm>
            <a:off x="8034338" y="2481264"/>
            <a:ext cx="1643062" cy="357187"/>
          </a:xfrm>
          <a:prstGeom prst="roundRect">
            <a:avLst>
              <a:gd name="adj" fmla="val 0"/>
            </a:avLst>
          </a:prstGeom>
          <a:noFill/>
          <a:ln>
            <a:solidFill>
              <a:srgbClr val="FF0000"/>
            </a:solidFill>
            <a:prstDash val="dash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lang="fr-FR" dirty="0">
              <a:solidFill>
                <a:prstClr val="white"/>
              </a:solidFill>
              <a:highlight>
                <a:srgbClr val="FFFF00"/>
              </a:highlight>
              <a:latin typeface="Calibri"/>
            </a:endParaRPr>
          </a:p>
        </p:txBody>
      </p:sp>
      <p:sp>
        <p:nvSpPr>
          <p:cNvPr id="6" name="Rectangle à coins arrondis 7">
            <a:extLst>
              <a:ext uri="{FF2B5EF4-FFF2-40B4-BE49-F238E27FC236}">
                <a16:creationId xmlns:a16="http://schemas.microsoft.com/office/drawing/2014/main" id="{20BD0256-5E9C-2157-FC4F-2A8B465583E3}"/>
              </a:ext>
            </a:extLst>
          </p:cNvPr>
          <p:cNvSpPr/>
          <p:nvPr/>
        </p:nvSpPr>
        <p:spPr>
          <a:xfrm>
            <a:off x="8112126" y="4365625"/>
            <a:ext cx="1643063" cy="357188"/>
          </a:xfrm>
          <a:prstGeom prst="roundRect">
            <a:avLst>
              <a:gd name="adj" fmla="val 0"/>
            </a:avLst>
          </a:prstGeom>
          <a:noFill/>
          <a:ln>
            <a:solidFill>
              <a:srgbClr val="FF0000"/>
            </a:solidFill>
            <a:prstDash val="dash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lang="fr-FR">
              <a:solidFill>
                <a:prstClr val="white"/>
              </a:solidFill>
              <a:latin typeface="Calibri"/>
            </a:endParaRPr>
          </a:p>
        </p:txBody>
      </p:sp>
      <p:sp>
        <p:nvSpPr>
          <p:cNvPr id="9" name="Rectangle à coins arrondis 7">
            <a:extLst>
              <a:ext uri="{FF2B5EF4-FFF2-40B4-BE49-F238E27FC236}">
                <a16:creationId xmlns:a16="http://schemas.microsoft.com/office/drawing/2014/main" id="{38481E79-466E-9615-A8B3-1B024AB78278}"/>
              </a:ext>
            </a:extLst>
          </p:cNvPr>
          <p:cNvSpPr/>
          <p:nvPr/>
        </p:nvSpPr>
        <p:spPr>
          <a:xfrm>
            <a:off x="8112126" y="2871789"/>
            <a:ext cx="1643063" cy="357187"/>
          </a:xfrm>
          <a:prstGeom prst="roundRect">
            <a:avLst>
              <a:gd name="adj" fmla="val 0"/>
            </a:avLst>
          </a:prstGeom>
          <a:noFill/>
          <a:ln>
            <a:solidFill>
              <a:srgbClr val="FF0000"/>
            </a:solidFill>
            <a:prstDash val="dash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lang="fr-FR">
              <a:solidFill>
                <a:prstClr val="white"/>
              </a:solidFill>
              <a:latin typeface="Calibri"/>
            </a:endParaRPr>
          </a:p>
        </p:txBody>
      </p:sp>
      <p:sp>
        <p:nvSpPr>
          <p:cNvPr id="13" name="Rectangle à coins arrondis 7">
            <a:extLst>
              <a:ext uri="{FF2B5EF4-FFF2-40B4-BE49-F238E27FC236}">
                <a16:creationId xmlns:a16="http://schemas.microsoft.com/office/drawing/2014/main" id="{8A4C1AAC-1903-C479-0CAC-A4EA9D6A0956}"/>
              </a:ext>
            </a:extLst>
          </p:cNvPr>
          <p:cNvSpPr/>
          <p:nvPr/>
        </p:nvSpPr>
        <p:spPr>
          <a:xfrm>
            <a:off x="8112126" y="3986214"/>
            <a:ext cx="1643063" cy="357187"/>
          </a:xfrm>
          <a:prstGeom prst="roundRect">
            <a:avLst>
              <a:gd name="adj" fmla="val 42198"/>
            </a:avLst>
          </a:prstGeom>
          <a:noFill/>
          <a:ln>
            <a:solidFill>
              <a:srgbClr val="FF0000"/>
            </a:solidFill>
            <a:prstDash val="dash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lang="fr-FR">
              <a:solidFill>
                <a:prstClr val="white"/>
              </a:solidFill>
              <a:latin typeface="Calibri"/>
            </a:endParaRPr>
          </a:p>
        </p:txBody>
      </p:sp>
      <p:sp>
        <p:nvSpPr>
          <p:cNvPr id="15" name="Rectangle à coins arrondis 7">
            <a:extLst>
              <a:ext uri="{FF2B5EF4-FFF2-40B4-BE49-F238E27FC236}">
                <a16:creationId xmlns:a16="http://schemas.microsoft.com/office/drawing/2014/main" id="{F0758EC5-F7EC-998E-EDC7-0EEA6CD7DD2C}"/>
              </a:ext>
            </a:extLst>
          </p:cNvPr>
          <p:cNvSpPr/>
          <p:nvPr/>
        </p:nvSpPr>
        <p:spPr>
          <a:xfrm>
            <a:off x="6096001" y="3243264"/>
            <a:ext cx="1643063" cy="357187"/>
          </a:xfrm>
          <a:prstGeom prst="roundRect">
            <a:avLst>
              <a:gd name="adj" fmla="val 0"/>
            </a:avLst>
          </a:prstGeom>
          <a:noFill/>
          <a:ln>
            <a:solidFill>
              <a:srgbClr val="FF0000"/>
            </a:solidFill>
            <a:prstDash val="dash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lang="fr-FR">
              <a:solidFill>
                <a:prstClr val="white"/>
              </a:solidFill>
              <a:latin typeface="Calibri"/>
            </a:endParaRPr>
          </a:p>
        </p:txBody>
      </p:sp>
    </p:spTree>
  </p:cSld>
  <p:clrMapOvr>
    <a:masterClrMapping/>
  </p:clrMapOvr>
</p:sld>
</file>

<file path=ppt/slides/slide1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7042" name="Titre 1">
            <a:extLst>
              <a:ext uri="{FF2B5EF4-FFF2-40B4-BE49-F238E27FC236}">
                <a16:creationId xmlns:a16="http://schemas.microsoft.com/office/drawing/2014/main" id="{44EE5C62-D6C4-18FA-5913-6DA852AF190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fr-TN" altLang="fr-TN"/>
          </a:p>
        </p:txBody>
      </p:sp>
      <p:pic>
        <p:nvPicPr>
          <p:cNvPr id="87043" name="Espace réservé du contenu 4">
            <a:extLst>
              <a:ext uri="{FF2B5EF4-FFF2-40B4-BE49-F238E27FC236}">
                <a16:creationId xmlns:a16="http://schemas.microsoft.com/office/drawing/2014/main" id="{4274ECD3-F3D8-9BFF-807F-451A3F5F404F}"/>
              </a:ext>
            </a:extLst>
          </p:cNvPr>
          <p:cNvPicPr>
            <a:picLocks noGrp="1" noChangeAspect="1" noChangeArrowheads="1"/>
          </p:cNvPicPr>
          <p:nvPr>
            <p:ph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695090" y="3009751"/>
            <a:ext cx="6954220" cy="2133898"/>
          </a:xfrm>
        </p:spPr>
      </p:pic>
    </p:spTree>
  </p:cSld>
  <p:clrMapOvr>
    <a:masterClrMapping/>
  </p:clrMapOvr>
</p:sld>
</file>

<file path=ppt/slides/slide1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871133C-A2EF-A17C-19D3-0C9948AE6FC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4995" name="Espace réservé du contenu 2">
            <a:extLst>
              <a:ext uri="{FF2B5EF4-FFF2-40B4-BE49-F238E27FC236}">
                <a16:creationId xmlns:a16="http://schemas.microsoft.com/office/drawing/2014/main" id="{B99A45A8-E4DE-34AD-1AC2-EC478B66D0AB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371600" y="1156996"/>
            <a:ext cx="9601200" cy="4710404"/>
          </a:xfrm>
        </p:spPr>
        <p:txBody>
          <a:bodyPr>
            <a:normAutofit/>
          </a:bodyPr>
          <a:lstStyle/>
          <a:p>
            <a:pPr>
              <a:lnSpc>
                <a:spcPct val="115000"/>
              </a:lnSpc>
              <a:spcAft>
                <a:spcPts val="1000"/>
              </a:spcAft>
              <a:buFont typeface="Calibri" panose="020F0502020204030204" pitchFamily="34" charset="0"/>
              <a:buAutoNum type="arabicPeriod"/>
            </a:pPr>
            <a:r>
              <a:rPr lang="fr-FR" altLang="fr-TN" sz="2800" b="1" dirty="0">
                <a:solidFill>
                  <a:srgbClr val="000000"/>
                </a:solidFill>
                <a:latin typeface="Times New Roman" panose="02020603050405020304" pitchFamily="18" charset="0"/>
                <a:ea typeface="Calibri" panose="020F0502020204030204" pitchFamily="34" charset="0"/>
                <a:cs typeface="Arial" panose="020B0604020202020204" pitchFamily="34" charset="0"/>
              </a:rPr>
              <a:t>Le score de déshydratation est égal à</a:t>
            </a:r>
            <a:r>
              <a:rPr lang="fr-FR" altLang="fr-TN" sz="2800" dirty="0">
                <a:solidFill>
                  <a:srgbClr val="000000"/>
                </a:solidFill>
                <a:latin typeface="Times New Roman" panose="02020603050405020304" pitchFamily="18" charset="0"/>
                <a:ea typeface="Calibri" panose="020F0502020204030204" pitchFamily="34" charset="0"/>
                <a:cs typeface="Arial" panose="020B0604020202020204" pitchFamily="34" charset="0"/>
              </a:rPr>
              <a:t> :</a:t>
            </a:r>
            <a:endParaRPr lang="fr-TN" altLang="fr-TN" sz="2800" dirty="0">
              <a:solidFill>
                <a:srgbClr val="000000"/>
              </a:solidFill>
              <a:ea typeface="Calibri" panose="020F0502020204030204" pitchFamily="34" charset="0"/>
              <a:cs typeface="Arial" panose="020B0604020202020204" pitchFamily="34" charset="0"/>
            </a:endParaRPr>
          </a:p>
          <a:p>
            <a:pPr>
              <a:lnSpc>
                <a:spcPct val="115000"/>
              </a:lnSpc>
              <a:spcAft>
                <a:spcPts val="1000"/>
              </a:spcAft>
              <a:buFont typeface="Calibri" panose="020F0502020204030204" pitchFamily="34" charset="0"/>
              <a:buAutoNum type="alphaUcPeriod"/>
            </a:pPr>
            <a:r>
              <a:rPr lang="fr-FR" altLang="fr-TN" sz="2800" dirty="0">
                <a:solidFill>
                  <a:srgbClr val="000000"/>
                </a:solidFill>
                <a:latin typeface="Times New Roman" panose="02020603050405020304" pitchFamily="18" charset="0"/>
                <a:ea typeface="Calibri" panose="020F0502020204030204" pitchFamily="34" charset="0"/>
                <a:cs typeface="Arial" panose="020B0604020202020204" pitchFamily="34" charset="0"/>
              </a:rPr>
              <a:t>12</a:t>
            </a:r>
            <a:endParaRPr lang="fr-TN" altLang="fr-TN" sz="2800" dirty="0">
              <a:solidFill>
                <a:srgbClr val="000000"/>
              </a:solidFill>
              <a:ea typeface="Calibri" panose="020F0502020204030204" pitchFamily="34" charset="0"/>
              <a:cs typeface="Arial" panose="020B0604020202020204" pitchFamily="34" charset="0"/>
            </a:endParaRPr>
          </a:p>
          <a:p>
            <a:pPr>
              <a:lnSpc>
                <a:spcPct val="107000"/>
              </a:lnSpc>
              <a:spcAft>
                <a:spcPts val="1000"/>
              </a:spcAft>
              <a:buFont typeface="Calibri" panose="020F0502020204030204" pitchFamily="34" charset="0"/>
              <a:buAutoNum type="alphaUcPeriod"/>
            </a:pPr>
            <a:r>
              <a:rPr lang="fr-FR" altLang="fr-TN" sz="2800" dirty="0">
                <a:solidFill>
                  <a:srgbClr val="000000"/>
                </a:solidFill>
                <a:latin typeface="Times New Roman" panose="02020603050405020304" pitchFamily="18" charset="0"/>
                <a:ea typeface="Calibri" panose="020F0502020204030204" pitchFamily="34" charset="0"/>
                <a:cs typeface="Arial" panose="020B0604020202020204" pitchFamily="34" charset="0"/>
              </a:rPr>
              <a:t>19</a:t>
            </a:r>
            <a:endParaRPr lang="fr-TN" altLang="fr-TN" sz="2800" dirty="0">
              <a:solidFill>
                <a:srgbClr val="000000"/>
              </a:solidFill>
              <a:ea typeface="Calibri" panose="020F0502020204030204" pitchFamily="34" charset="0"/>
              <a:cs typeface="Arial" panose="020B0604020202020204" pitchFamily="34" charset="0"/>
            </a:endParaRPr>
          </a:p>
          <a:p>
            <a:pPr>
              <a:lnSpc>
                <a:spcPct val="107000"/>
              </a:lnSpc>
              <a:spcAft>
                <a:spcPts val="1000"/>
              </a:spcAft>
              <a:buFont typeface="Calibri" panose="020F0502020204030204" pitchFamily="34" charset="0"/>
              <a:buAutoNum type="alphaUcPeriod"/>
            </a:pPr>
            <a:r>
              <a:rPr lang="fr-FR" altLang="fr-TN" sz="2800" dirty="0">
                <a:solidFill>
                  <a:srgbClr val="000000"/>
                </a:solidFill>
                <a:latin typeface="Times New Roman" panose="02020603050405020304" pitchFamily="18" charset="0"/>
                <a:ea typeface="Calibri" panose="020F0502020204030204" pitchFamily="34" charset="0"/>
                <a:cs typeface="Arial" panose="020B0604020202020204" pitchFamily="34" charset="0"/>
              </a:rPr>
              <a:t>9</a:t>
            </a:r>
            <a:endParaRPr lang="fr-TN" altLang="fr-TN" sz="2800" dirty="0">
              <a:solidFill>
                <a:srgbClr val="000000"/>
              </a:solidFill>
              <a:ea typeface="Calibri" panose="020F0502020204030204" pitchFamily="34" charset="0"/>
              <a:cs typeface="Arial" panose="020B0604020202020204" pitchFamily="34" charset="0"/>
            </a:endParaRPr>
          </a:p>
          <a:p>
            <a:pPr>
              <a:lnSpc>
                <a:spcPct val="107000"/>
              </a:lnSpc>
              <a:spcAft>
                <a:spcPts val="1000"/>
              </a:spcAft>
              <a:buFont typeface="Calibri" panose="020F0502020204030204" pitchFamily="34" charset="0"/>
              <a:buAutoNum type="alphaUcPeriod"/>
            </a:pPr>
            <a:r>
              <a:rPr lang="fr-FR" altLang="fr-TN" sz="2800" dirty="0">
                <a:solidFill>
                  <a:srgbClr val="000000"/>
                </a:solidFill>
                <a:latin typeface="Times New Roman" panose="02020603050405020304" pitchFamily="18" charset="0"/>
                <a:ea typeface="Calibri" panose="020F0502020204030204" pitchFamily="34" charset="0"/>
                <a:cs typeface="Arial" panose="020B0604020202020204" pitchFamily="34" charset="0"/>
              </a:rPr>
              <a:t>15</a:t>
            </a:r>
            <a:endParaRPr lang="fr-TN" altLang="fr-TN" sz="2800" dirty="0">
              <a:solidFill>
                <a:srgbClr val="000000"/>
              </a:solidFill>
              <a:ea typeface="Calibri" panose="020F0502020204030204" pitchFamily="34" charset="0"/>
              <a:cs typeface="Arial" panose="020B0604020202020204" pitchFamily="34" charset="0"/>
            </a:endParaRPr>
          </a:p>
          <a:p>
            <a:pPr>
              <a:lnSpc>
                <a:spcPct val="107000"/>
              </a:lnSpc>
              <a:spcAft>
                <a:spcPts val="1000"/>
              </a:spcAft>
              <a:buFont typeface="Calibri" panose="020F0502020204030204" pitchFamily="34" charset="0"/>
              <a:buAutoNum type="alphaUcPeriod"/>
            </a:pPr>
            <a:r>
              <a:rPr lang="fr-FR" altLang="fr-TN" sz="2800" dirty="0">
                <a:solidFill>
                  <a:srgbClr val="000000"/>
                </a:solidFill>
                <a:latin typeface="Times New Roman" panose="02020603050405020304" pitchFamily="18" charset="0"/>
                <a:ea typeface="Calibri" panose="020F0502020204030204" pitchFamily="34" charset="0"/>
                <a:cs typeface="Arial" panose="020B0604020202020204" pitchFamily="34" charset="0"/>
              </a:rPr>
              <a:t>16</a:t>
            </a:r>
            <a:endParaRPr lang="fr-TN" altLang="fr-TN" sz="2800" dirty="0">
              <a:solidFill>
                <a:srgbClr val="000000"/>
              </a:solidFill>
              <a:ea typeface="Calibri" panose="020F0502020204030204" pitchFamily="34" charset="0"/>
              <a:cs typeface="Arial" panose="020B0604020202020204" pitchFamily="34" charset="0"/>
            </a:endParaRPr>
          </a:p>
          <a:p>
            <a:endParaRPr lang="fr-TN" altLang="fr-TN" sz="2800" dirty="0"/>
          </a:p>
        </p:txBody>
      </p:sp>
    </p:spTree>
    <p:extLst>
      <p:ext uri="{BB962C8B-B14F-4D97-AF65-F5344CB8AC3E}">
        <p14:creationId xmlns:p14="http://schemas.microsoft.com/office/powerpoint/2010/main" val="2470331720"/>
      </p:ext>
    </p:extLst>
  </p:cSld>
  <p:clrMapOvr>
    <a:masterClrMapping/>
  </p:clrMapOvr>
</p:sld>
</file>

<file path=ppt/slides/slide1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704F399-6C3A-CF36-AD7C-9C98AEBA20A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4995" name="Espace réservé du contenu 2">
            <a:extLst>
              <a:ext uri="{FF2B5EF4-FFF2-40B4-BE49-F238E27FC236}">
                <a16:creationId xmlns:a16="http://schemas.microsoft.com/office/drawing/2014/main" id="{4242B61F-DAC4-0FBB-84D7-69B3C67DDEAD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371600" y="1156996"/>
            <a:ext cx="9601200" cy="4710404"/>
          </a:xfrm>
        </p:spPr>
        <p:txBody>
          <a:bodyPr>
            <a:normAutofit/>
          </a:bodyPr>
          <a:lstStyle/>
          <a:p>
            <a:pPr>
              <a:lnSpc>
                <a:spcPct val="115000"/>
              </a:lnSpc>
              <a:spcAft>
                <a:spcPts val="1000"/>
              </a:spcAft>
              <a:buFont typeface="Calibri" panose="020F0502020204030204" pitchFamily="34" charset="0"/>
              <a:buAutoNum type="arabicPeriod"/>
            </a:pPr>
            <a:r>
              <a:rPr lang="fr-FR" altLang="fr-TN" sz="2800" b="1" dirty="0">
                <a:solidFill>
                  <a:srgbClr val="000000"/>
                </a:solidFill>
                <a:latin typeface="Times New Roman" panose="02020603050405020304" pitchFamily="18" charset="0"/>
                <a:ea typeface="Calibri" panose="020F0502020204030204" pitchFamily="34" charset="0"/>
                <a:cs typeface="Arial" panose="020B0604020202020204" pitchFamily="34" charset="0"/>
              </a:rPr>
              <a:t>Le score de déshydratation est égal à</a:t>
            </a:r>
            <a:r>
              <a:rPr lang="fr-FR" altLang="fr-TN" sz="2800" dirty="0">
                <a:solidFill>
                  <a:srgbClr val="000000"/>
                </a:solidFill>
                <a:latin typeface="Times New Roman" panose="02020603050405020304" pitchFamily="18" charset="0"/>
                <a:ea typeface="Calibri" panose="020F0502020204030204" pitchFamily="34" charset="0"/>
                <a:cs typeface="Arial" panose="020B0604020202020204" pitchFamily="34" charset="0"/>
              </a:rPr>
              <a:t> :</a:t>
            </a:r>
            <a:endParaRPr lang="fr-TN" altLang="fr-TN" sz="2800" dirty="0">
              <a:solidFill>
                <a:srgbClr val="000000"/>
              </a:solidFill>
              <a:ea typeface="Calibri" panose="020F0502020204030204" pitchFamily="34" charset="0"/>
              <a:cs typeface="Arial" panose="020B0604020202020204" pitchFamily="34" charset="0"/>
            </a:endParaRPr>
          </a:p>
          <a:p>
            <a:pPr>
              <a:lnSpc>
                <a:spcPct val="115000"/>
              </a:lnSpc>
              <a:spcAft>
                <a:spcPts val="1000"/>
              </a:spcAft>
              <a:buFont typeface="Calibri" panose="020F0502020204030204" pitchFamily="34" charset="0"/>
              <a:buAutoNum type="alphaUcPeriod"/>
            </a:pPr>
            <a:r>
              <a:rPr lang="fr-FR" altLang="fr-TN" sz="2800" dirty="0">
                <a:solidFill>
                  <a:srgbClr val="000000"/>
                </a:solidFill>
                <a:latin typeface="Times New Roman" panose="02020603050405020304" pitchFamily="18" charset="0"/>
                <a:ea typeface="Calibri" panose="020F0502020204030204" pitchFamily="34" charset="0"/>
                <a:cs typeface="Arial" panose="020B0604020202020204" pitchFamily="34" charset="0"/>
              </a:rPr>
              <a:t>12</a:t>
            </a:r>
            <a:endParaRPr lang="fr-TN" altLang="fr-TN" sz="2800" dirty="0">
              <a:solidFill>
                <a:srgbClr val="000000"/>
              </a:solidFill>
              <a:ea typeface="Calibri" panose="020F0502020204030204" pitchFamily="34" charset="0"/>
              <a:cs typeface="Arial" panose="020B0604020202020204" pitchFamily="34" charset="0"/>
            </a:endParaRPr>
          </a:p>
          <a:p>
            <a:pPr>
              <a:lnSpc>
                <a:spcPct val="107000"/>
              </a:lnSpc>
              <a:spcAft>
                <a:spcPts val="1000"/>
              </a:spcAft>
              <a:buFont typeface="Calibri" panose="020F0502020204030204" pitchFamily="34" charset="0"/>
              <a:buAutoNum type="alphaUcPeriod"/>
            </a:pPr>
            <a:r>
              <a:rPr lang="fr-FR" altLang="fr-TN" sz="2800" dirty="0">
                <a:solidFill>
                  <a:srgbClr val="000000"/>
                </a:solidFill>
                <a:latin typeface="Times New Roman" panose="02020603050405020304" pitchFamily="18" charset="0"/>
                <a:ea typeface="Calibri" panose="020F0502020204030204" pitchFamily="34" charset="0"/>
                <a:cs typeface="Arial" panose="020B0604020202020204" pitchFamily="34" charset="0"/>
              </a:rPr>
              <a:t>19</a:t>
            </a:r>
            <a:endParaRPr lang="fr-TN" altLang="fr-TN" sz="2800" dirty="0">
              <a:solidFill>
                <a:srgbClr val="000000"/>
              </a:solidFill>
              <a:ea typeface="Calibri" panose="020F0502020204030204" pitchFamily="34" charset="0"/>
              <a:cs typeface="Arial" panose="020B0604020202020204" pitchFamily="34" charset="0"/>
            </a:endParaRPr>
          </a:p>
          <a:p>
            <a:pPr>
              <a:lnSpc>
                <a:spcPct val="107000"/>
              </a:lnSpc>
              <a:spcAft>
                <a:spcPts val="1000"/>
              </a:spcAft>
              <a:buFont typeface="Calibri" panose="020F0502020204030204" pitchFamily="34" charset="0"/>
              <a:buAutoNum type="alphaUcPeriod"/>
            </a:pPr>
            <a:r>
              <a:rPr lang="fr-FR" altLang="fr-TN" sz="2800" dirty="0">
                <a:solidFill>
                  <a:srgbClr val="000000"/>
                </a:solidFill>
                <a:latin typeface="Times New Roman" panose="02020603050405020304" pitchFamily="18" charset="0"/>
                <a:ea typeface="Calibri" panose="020F0502020204030204" pitchFamily="34" charset="0"/>
                <a:cs typeface="Arial" panose="020B0604020202020204" pitchFamily="34" charset="0"/>
              </a:rPr>
              <a:t>9</a:t>
            </a:r>
            <a:endParaRPr lang="fr-TN" altLang="fr-TN" sz="2800" dirty="0">
              <a:solidFill>
                <a:srgbClr val="000000"/>
              </a:solidFill>
              <a:ea typeface="Calibri" panose="020F0502020204030204" pitchFamily="34" charset="0"/>
              <a:cs typeface="Arial" panose="020B0604020202020204" pitchFamily="34" charset="0"/>
            </a:endParaRPr>
          </a:p>
          <a:p>
            <a:pPr>
              <a:lnSpc>
                <a:spcPct val="107000"/>
              </a:lnSpc>
              <a:spcAft>
                <a:spcPts val="1000"/>
              </a:spcAft>
              <a:buFont typeface="Calibri" panose="020F0502020204030204" pitchFamily="34" charset="0"/>
              <a:buAutoNum type="alphaUcPeriod"/>
            </a:pPr>
            <a:r>
              <a:rPr lang="fr-FR" altLang="fr-TN" sz="2800" dirty="0">
                <a:solidFill>
                  <a:srgbClr val="000000"/>
                </a:solidFill>
                <a:latin typeface="Times New Roman" panose="02020603050405020304" pitchFamily="18" charset="0"/>
                <a:ea typeface="Calibri" panose="020F0502020204030204" pitchFamily="34" charset="0"/>
                <a:cs typeface="Arial" panose="020B0604020202020204" pitchFamily="34" charset="0"/>
              </a:rPr>
              <a:t>15</a:t>
            </a:r>
            <a:endParaRPr lang="fr-TN" altLang="fr-TN" sz="2800" dirty="0">
              <a:solidFill>
                <a:srgbClr val="000000"/>
              </a:solidFill>
              <a:ea typeface="Calibri" panose="020F0502020204030204" pitchFamily="34" charset="0"/>
              <a:cs typeface="Arial" panose="020B0604020202020204" pitchFamily="34" charset="0"/>
            </a:endParaRPr>
          </a:p>
          <a:p>
            <a:pPr>
              <a:lnSpc>
                <a:spcPct val="107000"/>
              </a:lnSpc>
              <a:spcAft>
                <a:spcPts val="1000"/>
              </a:spcAft>
              <a:buFont typeface="Calibri" panose="020F0502020204030204" pitchFamily="34" charset="0"/>
              <a:buAutoNum type="alphaUcPeriod"/>
            </a:pPr>
            <a:r>
              <a:rPr lang="fr-FR" altLang="fr-TN" sz="2800" dirty="0">
                <a:solidFill>
                  <a:srgbClr val="FF0000"/>
                </a:solidFill>
                <a:latin typeface="Times New Roman" panose="02020603050405020304" pitchFamily="18" charset="0"/>
                <a:ea typeface="Calibri" panose="020F0502020204030204" pitchFamily="34" charset="0"/>
                <a:cs typeface="Arial" panose="020B0604020202020204" pitchFamily="34" charset="0"/>
              </a:rPr>
              <a:t>16</a:t>
            </a:r>
            <a:endParaRPr lang="fr-TN" altLang="fr-TN" sz="2800" dirty="0">
              <a:solidFill>
                <a:srgbClr val="FF0000"/>
              </a:solidFill>
              <a:ea typeface="Calibri" panose="020F0502020204030204" pitchFamily="34" charset="0"/>
              <a:cs typeface="Arial" panose="020B0604020202020204" pitchFamily="34" charset="0"/>
            </a:endParaRPr>
          </a:p>
          <a:p>
            <a:endParaRPr lang="fr-TN" altLang="fr-TN" sz="2800" dirty="0"/>
          </a:p>
        </p:txBody>
      </p:sp>
    </p:spTree>
    <p:extLst>
      <p:ext uri="{BB962C8B-B14F-4D97-AF65-F5344CB8AC3E}">
        <p14:creationId xmlns:p14="http://schemas.microsoft.com/office/powerpoint/2010/main" val="2892007021"/>
      </p:ext>
    </p:extLst>
  </p:cSld>
  <p:clrMapOvr>
    <a:masterClrMapping/>
  </p:clrMapOvr>
</p:sld>
</file>

<file path=ppt/slides/slide1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9874" name="Espace réservé du contenu 2">
            <a:extLst>
              <a:ext uri="{FF2B5EF4-FFF2-40B4-BE49-F238E27FC236}">
                <a16:creationId xmlns:a16="http://schemas.microsoft.com/office/drawing/2014/main" id="{2822312B-4F80-6438-B51E-68E71D1C5E45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981200" y="1341438"/>
            <a:ext cx="8229600" cy="4525962"/>
          </a:xfrm>
        </p:spPr>
        <p:txBody>
          <a:bodyPr>
            <a:noAutofit/>
          </a:bodyPr>
          <a:lstStyle/>
          <a:p>
            <a:pPr>
              <a:lnSpc>
                <a:spcPct val="115000"/>
              </a:lnSpc>
              <a:spcAft>
                <a:spcPts val="1000"/>
              </a:spcAft>
              <a:buFont typeface="+mj-lt"/>
              <a:buAutoNum type="arabicPeriod"/>
              <a:defRPr/>
            </a:pPr>
            <a:r>
              <a:rPr lang="fr-FR" sz="2400" b="1" dirty="0">
                <a:latin typeface="Times New Roman" panose="02020603050405020304" pitchFamily="18" charset="0"/>
                <a:ea typeface="Calibri" panose="020F0502020204030204" pitchFamily="34" charset="0"/>
                <a:cs typeface="Arial" panose="020B0604020202020204" pitchFamily="34" charset="0"/>
              </a:rPr>
              <a:t>La déshydratation est  :</a:t>
            </a:r>
            <a:endParaRPr lang="fr-TN" sz="2400" dirty="0">
              <a:ea typeface="Calibri" panose="020F0502020204030204" pitchFamily="34" charset="0"/>
              <a:cs typeface="Arial" panose="020B0604020202020204" pitchFamily="34" charset="0"/>
            </a:endParaRPr>
          </a:p>
          <a:p>
            <a:pPr>
              <a:lnSpc>
                <a:spcPct val="115000"/>
              </a:lnSpc>
              <a:spcAft>
                <a:spcPts val="1000"/>
              </a:spcAft>
              <a:buFont typeface="+mj-lt"/>
              <a:buAutoNum type="alphaUcPeriod"/>
              <a:defRPr/>
            </a:pPr>
            <a:r>
              <a:rPr lang="fr-FR" sz="2400" dirty="0">
                <a:latin typeface="Times New Roman" panose="02020603050405020304" pitchFamily="18" charset="0"/>
                <a:ea typeface="Calibri" panose="020F0502020204030204" pitchFamily="34" charset="0"/>
                <a:cs typeface="Arial" panose="020B0604020202020204" pitchFamily="34" charset="0"/>
              </a:rPr>
              <a:t>Une déshydratation stade II à prédominance extracellulaire</a:t>
            </a:r>
            <a:endParaRPr lang="fr-TN" sz="2400" dirty="0">
              <a:ea typeface="Calibri" panose="020F0502020204030204" pitchFamily="34" charset="0"/>
              <a:cs typeface="Arial" panose="020B0604020202020204" pitchFamily="34" charset="0"/>
            </a:endParaRPr>
          </a:p>
          <a:p>
            <a:pPr>
              <a:lnSpc>
                <a:spcPct val="115000"/>
              </a:lnSpc>
              <a:spcAft>
                <a:spcPts val="1000"/>
              </a:spcAft>
              <a:buFont typeface="+mj-lt"/>
              <a:buAutoNum type="alphaUcPeriod"/>
              <a:defRPr/>
            </a:pPr>
            <a:r>
              <a:rPr lang="fr-FR" sz="2400" dirty="0">
                <a:latin typeface="Times New Roman" panose="02020603050405020304" pitchFamily="18" charset="0"/>
                <a:ea typeface="Calibri" panose="020F0502020204030204" pitchFamily="34" charset="0"/>
                <a:cs typeface="Arial" panose="020B0604020202020204" pitchFamily="34" charset="0"/>
              </a:rPr>
              <a:t>Une déshydratation stade III à prédominance intracellulaire </a:t>
            </a:r>
            <a:endParaRPr lang="fr-TN" sz="2400" dirty="0">
              <a:ea typeface="Calibri" panose="020F0502020204030204" pitchFamily="34" charset="0"/>
              <a:cs typeface="Arial" panose="020B0604020202020204" pitchFamily="34" charset="0"/>
            </a:endParaRPr>
          </a:p>
          <a:p>
            <a:pPr>
              <a:lnSpc>
                <a:spcPct val="115000"/>
              </a:lnSpc>
              <a:spcAft>
                <a:spcPts val="1000"/>
              </a:spcAft>
              <a:buFont typeface="+mj-lt"/>
              <a:buAutoNum type="alphaUcPeriod"/>
              <a:defRPr/>
            </a:pPr>
            <a:r>
              <a:rPr lang="fr-FR" sz="2400" dirty="0">
                <a:latin typeface="Times New Roman" panose="02020603050405020304" pitchFamily="18" charset="0"/>
                <a:ea typeface="Calibri" panose="020F0502020204030204" pitchFamily="34" charset="0"/>
                <a:cs typeface="Arial" panose="020B0604020202020204" pitchFamily="34" charset="0"/>
              </a:rPr>
              <a:t>Une déshydratation stade II avec une  perte pondérale à 9%</a:t>
            </a:r>
            <a:endParaRPr lang="fr-TN" sz="2400" dirty="0">
              <a:ea typeface="Calibri" panose="020F0502020204030204" pitchFamily="34" charset="0"/>
              <a:cs typeface="Arial" panose="020B0604020202020204" pitchFamily="34" charset="0"/>
            </a:endParaRPr>
          </a:p>
          <a:p>
            <a:pPr>
              <a:lnSpc>
                <a:spcPct val="115000"/>
              </a:lnSpc>
              <a:spcAft>
                <a:spcPts val="1000"/>
              </a:spcAft>
              <a:buFont typeface="+mj-lt"/>
              <a:buAutoNum type="alphaUcPeriod"/>
              <a:defRPr/>
            </a:pPr>
            <a:r>
              <a:rPr lang="fr-FR" sz="2400" dirty="0">
                <a:latin typeface="Times New Roman" panose="02020603050405020304" pitchFamily="18" charset="0"/>
                <a:ea typeface="Calibri" panose="020F0502020204030204" pitchFamily="34" charset="0"/>
                <a:cs typeface="Arial" panose="020B0604020202020204" pitchFamily="34" charset="0"/>
              </a:rPr>
              <a:t>Une déshydratation stade III avec une perte pondérale à 13%</a:t>
            </a:r>
            <a:endParaRPr lang="fr-TN" sz="2400" dirty="0">
              <a:ea typeface="Calibri" panose="020F0502020204030204" pitchFamily="34" charset="0"/>
              <a:cs typeface="Arial" panose="020B0604020202020204" pitchFamily="34" charset="0"/>
            </a:endParaRPr>
          </a:p>
          <a:p>
            <a:pPr>
              <a:lnSpc>
                <a:spcPct val="115000"/>
              </a:lnSpc>
              <a:spcAft>
                <a:spcPts val="1000"/>
              </a:spcAft>
              <a:buFont typeface="+mj-lt"/>
              <a:buAutoNum type="alphaUcPeriod"/>
              <a:defRPr/>
            </a:pPr>
            <a:r>
              <a:rPr lang="fr-FR" sz="2400" dirty="0">
                <a:latin typeface="Times New Roman" panose="02020603050405020304" pitchFamily="18" charset="0"/>
                <a:ea typeface="Calibri" panose="020F0502020204030204" pitchFamily="34" charset="0"/>
                <a:cs typeface="Arial" panose="020B0604020202020204" pitchFamily="34" charset="0"/>
              </a:rPr>
              <a:t>Une déshydratation stade II avec un score à 7</a:t>
            </a:r>
            <a:endParaRPr lang="fr-TN" sz="2400" dirty="0">
              <a:ea typeface="Calibri" panose="020F0502020204030204" pitchFamily="34" charset="0"/>
              <a:cs typeface="Arial" panose="020B0604020202020204" pitchFamily="34" charset="0"/>
            </a:endParaRPr>
          </a:p>
          <a:p>
            <a:pPr marL="0" indent="0">
              <a:lnSpc>
                <a:spcPct val="115000"/>
              </a:lnSpc>
              <a:spcAft>
                <a:spcPts val="1000"/>
              </a:spcAft>
              <a:buNone/>
              <a:defRPr/>
            </a:pPr>
            <a:r>
              <a:rPr lang="fr-FR" sz="2400" dirty="0">
                <a:solidFill>
                  <a:srgbClr val="000000"/>
                </a:solidFill>
                <a:latin typeface="Times New Roman" panose="02020603050405020304" pitchFamily="18" charset="0"/>
                <a:ea typeface="Calibri" panose="020F0502020204030204" pitchFamily="34" charset="0"/>
                <a:cs typeface="Arial" panose="020B0604020202020204" pitchFamily="34" charset="0"/>
              </a:rPr>
              <a:t> </a:t>
            </a:r>
            <a:endParaRPr lang="fr-TN" sz="2400" dirty="0">
              <a:ea typeface="Calibri" panose="020F0502020204030204" pitchFamily="34" charset="0"/>
              <a:cs typeface="Arial" panose="020B0604020202020204" pitchFamily="34" charset="0"/>
            </a:endParaRPr>
          </a:p>
          <a:p>
            <a:pPr>
              <a:spcBef>
                <a:spcPct val="0"/>
              </a:spcBef>
              <a:buFont typeface="Calibri" panose="020F0502020204030204" pitchFamily="34" charset="0"/>
              <a:buAutoNum type="alphaUcPeriod"/>
              <a:defRPr/>
            </a:pPr>
            <a:endParaRPr lang="fr-FR" altLang="fr-TN" sz="2400" dirty="0">
              <a:solidFill>
                <a:srgbClr val="FF0000"/>
              </a:solidFill>
            </a:endParaRPr>
          </a:p>
        </p:txBody>
      </p:sp>
    </p:spTree>
  </p:cSld>
  <p:clrMapOvr>
    <a:masterClrMapping/>
  </p:clrMapOvr>
</p:sld>
</file>

<file path=ppt/slides/slide1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2790CDE-B55A-91D2-9724-20E88F855C9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6802" name="Espace réservé du contenu 2">
            <a:extLst>
              <a:ext uri="{FF2B5EF4-FFF2-40B4-BE49-F238E27FC236}">
                <a16:creationId xmlns:a16="http://schemas.microsoft.com/office/drawing/2014/main" id="{0C9EFEBB-0656-85CB-2E53-8955C2C66BAD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981199" y="1628776"/>
            <a:ext cx="9393535" cy="4993088"/>
          </a:xfrm>
        </p:spPr>
        <p:txBody>
          <a:bodyPr>
            <a:noAutofit/>
          </a:bodyPr>
          <a:lstStyle/>
          <a:p>
            <a:pPr>
              <a:lnSpc>
                <a:spcPct val="100000"/>
              </a:lnSpc>
              <a:spcAft>
                <a:spcPts val="1000"/>
              </a:spcAft>
              <a:defRPr/>
            </a:pPr>
            <a:r>
              <a:rPr lang="fr-FR" altLang="fr-TN" sz="2400" dirty="0"/>
              <a:t> </a:t>
            </a:r>
            <a:r>
              <a:rPr lang="fr-FR" sz="2400" dirty="0">
                <a:latin typeface="Times New Roman" panose="02020603050405020304" pitchFamily="18" charset="0"/>
                <a:ea typeface="Calibri" panose="020F0502020204030204" pitchFamily="34" charset="0"/>
                <a:cs typeface="Arial" panose="020B0604020202020204" pitchFamily="34" charset="0"/>
              </a:rPr>
              <a:t>Fares  âgé de 11 mois, présente depuis 3 jours des  épisodes de diarrhée ( 8 selles liquides/ j).  Son poids il y a  dix jours : 10 kg ;</a:t>
            </a:r>
            <a:endParaRPr lang="fr-TN" sz="2400" dirty="0">
              <a:ea typeface="Calibri" panose="020F0502020204030204" pitchFamily="34" charset="0"/>
              <a:cs typeface="Arial" panose="020B0604020202020204" pitchFamily="34" charset="0"/>
            </a:endParaRPr>
          </a:p>
          <a:p>
            <a:pPr marL="457200">
              <a:lnSpc>
                <a:spcPct val="100000"/>
              </a:lnSpc>
              <a:spcAft>
                <a:spcPts val="1000"/>
              </a:spcAft>
              <a:defRPr/>
            </a:pPr>
            <a:r>
              <a:rPr lang="fr-FR" sz="2400" dirty="0">
                <a:latin typeface="Times New Roman" panose="02020603050405020304" pitchFamily="18" charset="0"/>
                <a:ea typeface="Calibri" panose="020F0502020204030204" pitchFamily="34" charset="0"/>
                <a:cs typeface="Arial" panose="020B0604020202020204" pitchFamily="34" charset="0"/>
              </a:rPr>
              <a:t>A l’examen : Poids = 8,7 kg  , Température = 38°; </a:t>
            </a:r>
            <a:endParaRPr lang="fr-TN" sz="2400" dirty="0">
              <a:ea typeface="Calibri" panose="020F0502020204030204" pitchFamily="34" charset="0"/>
              <a:cs typeface="Arial" panose="020B0604020202020204" pitchFamily="34" charset="0"/>
            </a:endParaRPr>
          </a:p>
          <a:p>
            <a:pPr>
              <a:lnSpc>
                <a:spcPct val="100000"/>
              </a:lnSpc>
              <a:spcAft>
                <a:spcPts val="1000"/>
              </a:spcAft>
              <a:defRPr/>
            </a:pPr>
            <a:r>
              <a:rPr lang="fr-FR" sz="2400" dirty="0">
                <a:latin typeface="Times New Roman" panose="02020603050405020304" pitchFamily="18" charset="0"/>
                <a:ea typeface="Calibri" panose="020F0502020204030204" pitchFamily="34" charset="0"/>
                <a:cs typeface="Arial" panose="020B0604020202020204" pitchFamily="34" charset="0"/>
              </a:rPr>
              <a:t>Pli cutané persistant , langue très desséchée </a:t>
            </a:r>
            <a:endParaRPr lang="fr-TN" sz="2400" dirty="0">
              <a:ea typeface="Calibri" panose="020F0502020204030204" pitchFamily="34" charset="0"/>
              <a:cs typeface="Arial" panose="020B0604020202020204" pitchFamily="34" charset="0"/>
            </a:endParaRPr>
          </a:p>
          <a:p>
            <a:pPr algn="just">
              <a:lnSpc>
                <a:spcPct val="100000"/>
              </a:lnSpc>
              <a:spcAft>
                <a:spcPts val="1000"/>
              </a:spcAft>
              <a:defRPr/>
            </a:pPr>
            <a:r>
              <a:rPr lang="fr-FR" sz="2400" dirty="0">
                <a:latin typeface="Times New Roman" panose="02020603050405020304" pitchFamily="18" charset="0"/>
                <a:ea typeface="Calibri" panose="020F0502020204030204" pitchFamily="34" charset="0"/>
                <a:cs typeface="Arial" panose="020B0604020202020204" pitchFamily="34" charset="0"/>
              </a:rPr>
              <a:t>Globes oculaires très enfoncés, Fontanelle antérieure très déprimée</a:t>
            </a:r>
            <a:endParaRPr lang="fr-TN" sz="2400" dirty="0">
              <a:ea typeface="Calibri" panose="020F0502020204030204" pitchFamily="34" charset="0"/>
              <a:cs typeface="Arial" panose="020B0604020202020204" pitchFamily="34" charset="0"/>
            </a:endParaRPr>
          </a:p>
          <a:p>
            <a:pPr>
              <a:lnSpc>
                <a:spcPct val="100000"/>
              </a:lnSpc>
              <a:spcAft>
                <a:spcPts val="1000"/>
              </a:spcAft>
              <a:defRPr/>
            </a:pPr>
            <a:r>
              <a:rPr lang="fr-FR" sz="2400" dirty="0">
                <a:latin typeface="Times New Roman" panose="02020603050405020304" pitchFamily="18" charset="0"/>
                <a:ea typeface="Calibri" panose="020F0502020204030204" pitchFamily="34" charset="0"/>
                <a:cs typeface="Arial" panose="020B0604020202020204" pitchFamily="34" charset="0"/>
              </a:rPr>
              <a:t>Glasgow à 15/15</a:t>
            </a:r>
            <a:endParaRPr lang="fr-TN" sz="2400" dirty="0">
              <a:ea typeface="Calibri" panose="020F0502020204030204" pitchFamily="34" charset="0"/>
              <a:cs typeface="Arial" panose="020B0604020202020204" pitchFamily="34" charset="0"/>
            </a:endParaRPr>
          </a:p>
          <a:p>
            <a:pPr>
              <a:lnSpc>
                <a:spcPct val="100000"/>
              </a:lnSpc>
              <a:spcAft>
                <a:spcPts val="1000"/>
              </a:spcAft>
              <a:defRPr/>
            </a:pPr>
            <a:r>
              <a:rPr lang="fr-FR" sz="2400" dirty="0">
                <a:latin typeface="Times New Roman" panose="02020603050405020304" pitchFamily="18" charset="0"/>
                <a:ea typeface="Calibri" panose="020F0502020204030204" pitchFamily="34" charset="0"/>
                <a:cs typeface="Arial" panose="020B0604020202020204" pitchFamily="34" charset="0"/>
              </a:rPr>
              <a:t>Pouls = 190batt / min, TRC à 5 sec , extrémités froides, PA = 55 / 22 </a:t>
            </a:r>
            <a:r>
              <a:rPr lang="fr-FR" sz="2400" dirty="0" err="1">
                <a:latin typeface="Times New Roman" panose="02020603050405020304" pitchFamily="18" charset="0"/>
                <a:ea typeface="Calibri" panose="020F0502020204030204" pitchFamily="34" charset="0"/>
                <a:cs typeface="Arial" panose="020B0604020202020204" pitchFamily="34" charset="0"/>
              </a:rPr>
              <a:t>mmHg</a:t>
            </a:r>
            <a:r>
              <a:rPr lang="fr-FR" sz="2400" dirty="0">
                <a:latin typeface="Times New Roman" panose="02020603050405020304" pitchFamily="18" charset="0"/>
                <a:ea typeface="Calibri" panose="020F0502020204030204" pitchFamily="34" charset="0"/>
                <a:cs typeface="Arial" panose="020B0604020202020204" pitchFamily="34" charset="0"/>
              </a:rPr>
              <a:t> </a:t>
            </a:r>
            <a:endParaRPr lang="fr-TN" sz="2400" dirty="0">
              <a:ea typeface="Calibri" panose="020F0502020204030204" pitchFamily="34" charset="0"/>
              <a:cs typeface="Arial" panose="020B0604020202020204" pitchFamily="34" charset="0"/>
            </a:endParaRPr>
          </a:p>
          <a:p>
            <a:pPr>
              <a:lnSpc>
                <a:spcPct val="100000"/>
              </a:lnSpc>
              <a:spcAft>
                <a:spcPts val="1000"/>
              </a:spcAft>
              <a:defRPr/>
            </a:pPr>
            <a:r>
              <a:rPr lang="fr-FR" sz="2400" dirty="0">
                <a:latin typeface="Times New Roman" panose="02020603050405020304" pitchFamily="18" charset="0"/>
                <a:ea typeface="Calibri" panose="020F0502020204030204" pitchFamily="34" charset="0"/>
                <a:cs typeface="Arial" panose="020B0604020202020204" pitchFamily="34" charset="0"/>
              </a:rPr>
              <a:t>Respiration ample, fréquence respiratoire  = 65 cycles/min </a:t>
            </a:r>
            <a:endParaRPr lang="fr-TN" sz="2400" dirty="0">
              <a:ea typeface="Calibri" panose="020F0502020204030204" pitchFamily="34" charset="0"/>
              <a:cs typeface="Arial" panose="020B0604020202020204" pitchFamily="34" charset="0"/>
            </a:endParaRPr>
          </a:p>
          <a:p>
            <a:pPr marL="567690" indent="0">
              <a:lnSpc>
                <a:spcPct val="100000"/>
              </a:lnSpc>
              <a:spcAft>
                <a:spcPts val="1000"/>
              </a:spcAft>
              <a:buNone/>
              <a:defRPr/>
            </a:pPr>
            <a:r>
              <a:rPr lang="fr-FR" sz="2400" dirty="0">
                <a:latin typeface="Times New Roman" panose="02020603050405020304" pitchFamily="18" charset="0"/>
                <a:ea typeface="Calibri" panose="020F0502020204030204" pitchFamily="34" charset="0"/>
                <a:cs typeface="Arial" panose="020B0604020202020204" pitchFamily="34" charset="0"/>
              </a:rPr>
              <a:t> </a:t>
            </a:r>
            <a:endParaRPr lang="fr-TN" sz="2400" dirty="0">
              <a:ea typeface="Calibri" panose="020F0502020204030204" pitchFamily="34" charset="0"/>
              <a:cs typeface="Arial" panose="020B0604020202020204" pitchFamily="34" charset="0"/>
            </a:endParaRPr>
          </a:p>
          <a:p>
            <a:pPr>
              <a:lnSpc>
                <a:spcPct val="100000"/>
              </a:lnSpc>
              <a:spcBef>
                <a:spcPct val="0"/>
              </a:spcBef>
              <a:buFont typeface="Calibri" panose="020F0502020204030204" pitchFamily="34" charset="0"/>
              <a:buAutoNum type="arabicPeriod"/>
              <a:defRPr/>
            </a:pPr>
            <a:endParaRPr lang="fr-FR" altLang="fr-TN" sz="2400" dirty="0"/>
          </a:p>
        </p:txBody>
      </p:sp>
      <p:sp>
        <p:nvSpPr>
          <p:cNvPr id="6" name="Titre 1">
            <a:extLst>
              <a:ext uri="{FF2B5EF4-FFF2-40B4-BE49-F238E27FC236}">
                <a16:creationId xmlns:a16="http://schemas.microsoft.com/office/drawing/2014/main" id="{F2880546-E745-A7CF-F572-6DFD885B3F5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371600" y="150725"/>
            <a:ext cx="9601200" cy="1225899"/>
          </a:xfrm>
          <a:solidFill>
            <a:schemeClr val="accent5"/>
          </a:solidFill>
        </p:spPr>
        <p:txBody>
          <a:bodyPr rtlCol="0">
            <a:normAutofit fontScale="90000"/>
          </a:bodyPr>
          <a:lstStyle/>
          <a:p>
            <a:pPr algn="l" eaLnBrk="1" fontAlgn="auto" hangingPunct="1">
              <a:spcAft>
                <a:spcPts val="0"/>
              </a:spcAft>
              <a:defRPr/>
            </a:pPr>
            <a:br>
              <a:rPr lang="fr-FR" b="1" dirty="0"/>
            </a:br>
            <a:r>
              <a:rPr lang="fr-FR" b="1" dirty="0"/>
              <a:t>Cas clinique 5 </a:t>
            </a:r>
            <a:br>
              <a:rPr lang="fr-FR" dirty="0"/>
            </a:br>
            <a:endParaRPr lang="fr-FR" dirty="0"/>
          </a:p>
        </p:txBody>
      </p:sp>
    </p:spTree>
    <p:extLst>
      <p:ext uri="{BB962C8B-B14F-4D97-AF65-F5344CB8AC3E}">
        <p14:creationId xmlns:p14="http://schemas.microsoft.com/office/powerpoint/2010/main" val="3762449302"/>
      </p:ext>
    </p:extLst>
  </p:cSld>
  <p:clrMapOvr>
    <a:masterClrMapping/>
  </p:clrMapOvr>
</p:sld>
</file>

<file path=ppt/slides/slide1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91138" name="Picture 2">
            <a:extLst>
              <a:ext uri="{FF2B5EF4-FFF2-40B4-BE49-F238E27FC236}">
                <a16:creationId xmlns:a16="http://schemas.microsoft.com/office/drawing/2014/main" id="{1B1C15A5-3C53-5924-F898-734E00EC9CB4}"/>
              </a:ext>
            </a:extLst>
          </p:cNvPr>
          <p:cNvPicPr>
            <a:picLocks noGrp="1" noChangeAspect="1" noChangeArrowheads="1"/>
          </p:cNvPicPr>
          <p:nvPr>
            <p:ph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>
          <a:xfrm>
            <a:off x="1412876" y="2500314"/>
            <a:ext cx="9255125" cy="2682875"/>
          </a:xfrm>
          <a:noFill/>
        </p:spPr>
      </p:pic>
      <p:sp>
        <p:nvSpPr>
          <p:cNvPr id="3" name="Titre 2">
            <a:extLst>
              <a:ext uri="{FF2B5EF4-FFF2-40B4-BE49-F238E27FC236}">
                <a16:creationId xmlns:a16="http://schemas.microsoft.com/office/drawing/2014/main" id="{D5065BCB-F67D-B96F-ADA7-4E39D3A7A36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fr-TN"/>
          </a:p>
        </p:txBody>
      </p:sp>
    </p:spTree>
  </p:cSld>
  <p:clrMapOvr>
    <a:masterClrMapping/>
  </p:clrMapOvr>
</p:sld>
</file>

<file path=ppt/slides/slide1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31F27DA-35C8-1C27-2216-8A8ACE3F95D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9874" name="Espace réservé du contenu 2">
            <a:extLst>
              <a:ext uri="{FF2B5EF4-FFF2-40B4-BE49-F238E27FC236}">
                <a16:creationId xmlns:a16="http://schemas.microsoft.com/office/drawing/2014/main" id="{D5900BF7-246B-E798-CB54-775D1BEC0099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981200" y="1341438"/>
            <a:ext cx="8229600" cy="4525962"/>
          </a:xfrm>
        </p:spPr>
        <p:txBody>
          <a:bodyPr>
            <a:noAutofit/>
          </a:bodyPr>
          <a:lstStyle/>
          <a:p>
            <a:pPr>
              <a:lnSpc>
                <a:spcPct val="115000"/>
              </a:lnSpc>
              <a:spcAft>
                <a:spcPts val="1000"/>
              </a:spcAft>
              <a:buFont typeface="+mj-lt"/>
              <a:buAutoNum type="arabicPeriod"/>
              <a:defRPr/>
            </a:pPr>
            <a:r>
              <a:rPr lang="fr-FR" sz="2400" b="1" dirty="0">
                <a:latin typeface="Times New Roman" panose="02020603050405020304" pitchFamily="18" charset="0"/>
                <a:ea typeface="Calibri" panose="020F0502020204030204" pitchFamily="34" charset="0"/>
                <a:cs typeface="Arial" panose="020B0604020202020204" pitchFamily="34" charset="0"/>
              </a:rPr>
              <a:t>La déshydratation est  :</a:t>
            </a:r>
            <a:endParaRPr lang="fr-TN" sz="2400" dirty="0">
              <a:ea typeface="Calibri" panose="020F0502020204030204" pitchFamily="34" charset="0"/>
              <a:cs typeface="Arial" panose="020B0604020202020204" pitchFamily="34" charset="0"/>
            </a:endParaRPr>
          </a:p>
          <a:p>
            <a:pPr>
              <a:lnSpc>
                <a:spcPct val="115000"/>
              </a:lnSpc>
              <a:spcAft>
                <a:spcPts val="1000"/>
              </a:spcAft>
              <a:buFont typeface="+mj-lt"/>
              <a:buAutoNum type="alphaUcPeriod"/>
              <a:defRPr/>
            </a:pPr>
            <a:r>
              <a:rPr lang="fr-FR" sz="2400" dirty="0">
                <a:latin typeface="Times New Roman" panose="02020603050405020304" pitchFamily="18" charset="0"/>
                <a:ea typeface="Calibri" panose="020F0502020204030204" pitchFamily="34" charset="0"/>
                <a:cs typeface="Arial" panose="020B0604020202020204" pitchFamily="34" charset="0"/>
              </a:rPr>
              <a:t>Une déshydratation stade II à prédominance extracellulaire</a:t>
            </a:r>
            <a:endParaRPr lang="fr-TN" sz="2400" dirty="0">
              <a:ea typeface="Calibri" panose="020F0502020204030204" pitchFamily="34" charset="0"/>
              <a:cs typeface="Arial" panose="020B0604020202020204" pitchFamily="34" charset="0"/>
            </a:endParaRPr>
          </a:p>
          <a:p>
            <a:pPr>
              <a:lnSpc>
                <a:spcPct val="115000"/>
              </a:lnSpc>
              <a:spcAft>
                <a:spcPts val="1000"/>
              </a:spcAft>
              <a:buFont typeface="+mj-lt"/>
              <a:buAutoNum type="alphaUcPeriod"/>
              <a:defRPr/>
            </a:pPr>
            <a:r>
              <a:rPr lang="fr-FR" sz="2400" dirty="0">
                <a:latin typeface="Times New Roman" panose="02020603050405020304" pitchFamily="18" charset="0"/>
                <a:ea typeface="Calibri" panose="020F0502020204030204" pitchFamily="34" charset="0"/>
                <a:cs typeface="Arial" panose="020B0604020202020204" pitchFamily="34" charset="0"/>
              </a:rPr>
              <a:t>Une déshydratation stade III à prédominance intracellulaire </a:t>
            </a:r>
            <a:endParaRPr lang="fr-TN" sz="2400" dirty="0">
              <a:ea typeface="Calibri" panose="020F0502020204030204" pitchFamily="34" charset="0"/>
              <a:cs typeface="Arial" panose="020B0604020202020204" pitchFamily="34" charset="0"/>
            </a:endParaRPr>
          </a:p>
          <a:p>
            <a:pPr>
              <a:lnSpc>
                <a:spcPct val="115000"/>
              </a:lnSpc>
              <a:spcAft>
                <a:spcPts val="1000"/>
              </a:spcAft>
              <a:buFont typeface="+mj-lt"/>
              <a:buAutoNum type="alphaUcPeriod"/>
              <a:defRPr/>
            </a:pPr>
            <a:r>
              <a:rPr lang="fr-FR" sz="2400" dirty="0">
                <a:latin typeface="Times New Roman" panose="02020603050405020304" pitchFamily="18" charset="0"/>
                <a:ea typeface="Calibri" panose="020F0502020204030204" pitchFamily="34" charset="0"/>
                <a:cs typeface="Arial" panose="020B0604020202020204" pitchFamily="34" charset="0"/>
              </a:rPr>
              <a:t>Une déshydratation stade II avec une  perte pondérale à 9%</a:t>
            </a:r>
            <a:endParaRPr lang="fr-TN" sz="2400" dirty="0">
              <a:ea typeface="Calibri" panose="020F0502020204030204" pitchFamily="34" charset="0"/>
              <a:cs typeface="Arial" panose="020B0604020202020204" pitchFamily="34" charset="0"/>
            </a:endParaRPr>
          </a:p>
          <a:p>
            <a:pPr>
              <a:lnSpc>
                <a:spcPct val="115000"/>
              </a:lnSpc>
              <a:spcAft>
                <a:spcPts val="1000"/>
              </a:spcAft>
              <a:buFont typeface="+mj-lt"/>
              <a:buAutoNum type="alphaUcPeriod"/>
              <a:defRPr/>
            </a:pPr>
            <a:r>
              <a:rPr lang="fr-FR" sz="2400" dirty="0">
                <a:solidFill>
                  <a:srgbClr val="FF0000"/>
                </a:solidFill>
                <a:latin typeface="Times New Roman" panose="02020603050405020304" pitchFamily="18" charset="0"/>
                <a:ea typeface="Calibri" panose="020F0502020204030204" pitchFamily="34" charset="0"/>
                <a:cs typeface="Arial" panose="020B0604020202020204" pitchFamily="34" charset="0"/>
              </a:rPr>
              <a:t>Une déshydratation stade III avec une perte pondérale à 13%</a:t>
            </a:r>
            <a:endParaRPr lang="fr-TN" sz="2400" dirty="0">
              <a:solidFill>
                <a:srgbClr val="FF0000"/>
              </a:solidFill>
              <a:ea typeface="Calibri" panose="020F0502020204030204" pitchFamily="34" charset="0"/>
              <a:cs typeface="Arial" panose="020B0604020202020204" pitchFamily="34" charset="0"/>
            </a:endParaRPr>
          </a:p>
          <a:p>
            <a:pPr>
              <a:lnSpc>
                <a:spcPct val="115000"/>
              </a:lnSpc>
              <a:spcAft>
                <a:spcPts val="1000"/>
              </a:spcAft>
              <a:buFont typeface="+mj-lt"/>
              <a:buAutoNum type="alphaUcPeriod"/>
              <a:defRPr/>
            </a:pPr>
            <a:r>
              <a:rPr lang="fr-FR" sz="2400" dirty="0">
                <a:latin typeface="Times New Roman" panose="02020603050405020304" pitchFamily="18" charset="0"/>
                <a:ea typeface="Calibri" panose="020F0502020204030204" pitchFamily="34" charset="0"/>
                <a:cs typeface="Arial" panose="020B0604020202020204" pitchFamily="34" charset="0"/>
              </a:rPr>
              <a:t>Une déshydratation stade II avec un score à 7</a:t>
            </a:r>
            <a:endParaRPr lang="fr-TN" sz="2400" dirty="0">
              <a:ea typeface="Calibri" panose="020F0502020204030204" pitchFamily="34" charset="0"/>
              <a:cs typeface="Arial" panose="020B0604020202020204" pitchFamily="34" charset="0"/>
            </a:endParaRPr>
          </a:p>
          <a:p>
            <a:pPr marL="0" indent="0">
              <a:lnSpc>
                <a:spcPct val="115000"/>
              </a:lnSpc>
              <a:spcAft>
                <a:spcPts val="1000"/>
              </a:spcAft>
              <a:buNone/>
              <a:defRPr/>
            </a:pPr>
            <a:r>
              <a:rPr lang="fr-FR" sz="2400" dirty="0">
                <a:solidFill>
                  <a:srgbClr val="000000"/>
                </a:solidFill>
                <a:latin typeface="Times New Roman" panose="02020603050405020304" pitchFamily="18" charset="0"/>
                <a:ea typeface="Calibri" panose="020F0502020204030204" pitchFamily="34" charset="0"/>
                <a:cs typeface="Arial" panose="020B0604020202020204" pitchFamily="34" charset="0"/>
              </a:rPr>
              <a:t> </a:t>
            </a:r>
            <a:endParaRPr lang="fr-TN" sz="2400" dirty="0">
              <a:ea typeface="Calibri" panose="020F0502020204030204" pitchFamily="34" charset="0"/>
              <a:cs typeface="Arial" panose="020B0604020202020204" pitchFamily="34" charset="0"/>
            </a:endParaRPr>
          </a:p>
          <a:p>
            <a:pPr>
              <a:spcBef>
                <a:spcPct val="0"/>
              </a:spcBef>
              <a:buFont typeface="Calibri" panose="020F0502020204030204" pitchFamily="34" charset="0"/>
              <a:buAutoNum type="alphaUcPeriod"/>
              <a:defRPr/>
            </a:pPr>
            <a:endParaRPr lang="fr-FR" altLang="fr-TN" sz="2400" dirty="0">
              <a:solidFill>
                <a:srgbClr val="FF0000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3517768321"/>
      </p:ext>
    </p:extLst>
  </p:cSld>
  <p:clrMapOvr>
    <a:masterClrMapping/>
  </p:clrMapOvr>
</p:sld>
</file>

<file path=ppt/slides/slide1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9874" name="Espace réservé du contenu 2">
            <a:extLst>
              <a:ext uri="{FF2B5EF4-FFF2-40B4-BE49-F238E27FC236}">
                <a16:creationId xmlns:a16="http://schemas.microsoft.com/office/drawing/2014/main" id="{B32D3990-C838-FB54-2BA0-88B466900D1E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803917" y="493648"/>
            <a:ext cx="9803364" cy="4310062"/>
          </a:xfrm>
        </p:spPr>
        <p:txBody>
          <a:bodyPr>
            <a:noAutofit/>
          </a:bodyPr>
          <a:lstStyle/>
          <a:p>
            <a:pPr>
              <a:lnSpc>
                <a:spcPct val="115000"/>
              </a:lnSpc>
              <a:spcAft>
                <a:spcPts val="1000"/>
              </a:spcAft>
              <a:buFont typeface="+mj-lt"/>
              <a:buAutoNum type="arabicPeriod"/>
              <a:defRPr/>
            </a:pPr>
            <a:r>
              <a:rPr lang="fr-FR" sz="2400" b="1" dirty="0">
                <a:latin typeface="Times New Roman" panose="02020603050405020304" pitchFamily="18" charset="0"/>
                <a:ea typeface="Calibri" panose="020F0502020204030204" pitchFamily="34" charset="0"/>
                <a:cs typeface="Arial" panose="020B0604020202020204" pitchFamily="34" charset="0"/>
              </a:rPr>
              <a:t>Le bilan : Na+= 134mmol/l, k+ = 4,5 </a:t>
            </a:r>
            <a:r>
              <a:rPr lang="fr-FR" sz="2400" b="1" dirty="0" err="1">
                <a:latin typeface="Times New Roman" panose="02020603050405020304" pitchFamily="18" charset="0"/>
                <a:ea typeface="Calibri" panose="020F0502020204030204" pitchFamily="34" charset="0"/>
                <a:cs typeface="Arial" panose="020B0604020202020204" pitchFamily="34" charset="0"/>
              </a:rPr>
              <a:t>mmol</a:t>
            </a:r>
            <a:r>
              <a:rPr lang="fr-FR" sz="2400" b="1" dirty="0">
                <a:latin typeface="Times New Roman" panose="02020603050405020304" pitchFamily="18" charset="0"/>
                <a:ea typeface="Calibri" panose="020F0502020204030204" pitchFamily="34" charset="0"/>
                <a:cs typeface="Arial" panose="020B0604020202020204" pitchFamily="34" charset="0"/>
              </a:rPr>
              <a:t>/l   Urée 18 </a:t>
            </a:r>
            <a:r>
              <a:rPr lang="fr-FR" sz="2400" b="1" dirty="0" err="1">
                <a:latin typeface="Times New Roman" panose="02020603050405020304" pitchFamily="18" charset="0"/>
                <a:ea typeface="Calibri" panose="020F0502020204030204" pitchFamily="34" charset="0"/>
                <a:cs typeface="Arial" panose="020B0604020202020204" pitchFamily="34" charset="0"/>
              </a:rPr>
              <a:t>mmol</a:t>
            </a:r>
            <a:r>
              <a:rPr lang="fr-FR" sz="2400" b="1" dirty="0">
                <a:latin typeface="Times New Roman" panose="02020603050405020304" pitchFamily="18" charset="0"/>
                <a:ea typeface="Calibri" panose="020F0502020204030204" pitchFamily="34" charset="0"/>
                <a:cs typeface="Arial" panose="020B0604020202020204" pitchFamily="34" charset="0"/>
              </a:rPr>
              <a:t>/l    </a:t>
            </a:r>
            <a:r>
              <a:rPr lang="fr-FR" sz="2400" b="1" dirty="0" err="1">
                <a:latin typeface="Times New Roman" panose="02020603050405020304" pitchFamily="18" charset="0"/>
                <a:ea typeface="Calibri" panose="020F0502020204030204" pitchFamily="34" charset="0"/>
                <a:cs typeface="Arial" panose="020B0604020202020204" pitchFamily="34" charset="0"/>
              </a:rPr>
              <a:t>creatinine</a:t>
            </a:r>
            <a:r>
              <a:rPr lang="fr-FR" sz="2400" b="1" dirty="0">
                <a:latin typeface="Times New Roman" panose="02020603050405020304" pitchFamily="18" charset="0"/>
                <a:ea typeface="Calibri" panose="020F0502020204030204" pitchFamily="34" charset="0"/>
                <a:cs typeface="Arial" panose="020B0604020202020204" pitchFamily="34" charset="0"/>
              </a:rPr>
              <a:t> 100umol/l</a:t>
            </a:r>
            <a:endParaRPr lang="fr-TN" sz="2400" dirty="0">
              <a:ea typeface="Calibri" panose="020F0502020204030204" pitchFamily="34" charset="0"/>
              <a:cs typeface="Arial" panose="020B0604020202020204" pitchFamily="34" charset="0"/>
            </a:endParaRPr>
          </a:p>
          <a:p>
            <a:pPr marL="457200">
              <a:lnSpc>
                <a:spcPct val="115000"/>
              </a:lnSpc>
              <a:spcAft>
                <a:spcPts val="1000"/>
              </a:spcAft>
              <a:defRPr/>
            </a:pPr>
            <a:r>
              <a:rPr lang="fr-FR" sz="2400" b="1" dirty="0">
                <a:latin typeface="Times New Roman" panose="02020603050405020304" pitchFamily="18" charset="0"/>
                <a:ea typeface="Calibri" panose="020F0502020204030204" pitchFamily="34" charset="0"/>
                <a:cs typeface="Arial" panose="020B0604020202020204" pitchFamily="34" charset="0"/>
              </a:rPr>
              <a:t>GDS: 7,1, HCO3: 10, BE: -12 PCO2 : 30</a:t>
            </a:r>
            <a:endParaRPr lang="fr-TN" sz="2400" dirty="0">
              <a:ea typeface="Calibri" panose="020F0502020204030204" pitchFamily="34" charset="0"/>
              <a:cs typeface="Arial" panose="020B0604020202020204" pitchFamily="34" charset="0"/>
            </a:endParaRPr>
          </a:p>
          <a:p>
            <a:pPr marL="449580" indent="-449580">
              <a:lnSpc>
                <a:spcPct val="115000"/>
              </a:lnSpc>
              <a:spcAft>
                <a:spcPts val="1000"/>
              </a:spcAft>
              <a:defRPr/>
            </a:pPr>
            <a:r>
              <a:rPr lang="fr-FR" sz="2400" b="1" dirty="0">
                <a:latin typeface="Times New Roman" panose="02020603050405020304" pitchFamily="18" charset="0"/>
                <a:ea typeface="Calibri" panose="020F0502020204030204" pitchFamily="34" charset="0"/>
                <a:cs typeface="Arial" panose="020B0604020202020204" pitchFamily="34" charset="0"/>
              </a:rPr>
              <a:t>            Ce nourrisson présente : </a:t>
            </a:r>
            <a:endParaRPr lang="fr-TN" sz="2400" dirty="0">
              <a:ea typeface="Calibri" panose="020F0502020204030204" pitchFamily="34" charset="0"/>
              <a:cs typeface="Arial" panose="020B0604020202020204" pitchFamily="34" charset="0"/>
            </a:endParaRPr>
          </a:p>
          <a:p>
            <a:pPr>
              <a:lnSpc>
                <a:spcPct val="115000"/>
              </a:lnSpc>
              <a:spcAft>
                <a:spcPts val="1000"/>
              </a:spcAft>
              <a:buFont typeface="+mj-lt"/>
              <a:buAutoNum type="alphaUcPeriod"/>
              <a:defRPr/>
            </a:pPr>
            <a:r>
              <a:rPr lang="fr-FR" sz="2400" dirty="0">
                <a:latin typeface="Times New Roman" panose="02020603050405020304" pitchFamily="18" charset="0"/>
                <a:ea typeface="Calibri" panose="020F0502020204030204" pitchFamily="34" charset="0"/>
                <a:cs typeface="Arial" panose="020B0604020202020204" pitchFamily="34" charset="0"/>
              </a:rPr>
              <a:t>Une acidose respiratoire</a:t>
            </a:r>
            <a:endParaRPr lang="fr-TN" sz="2400" dirty="0">
              <a:ea typeface="Calibri" panose="020F0502020204030204" pitchFamily="34" charset="0"/>
              <a:cs typeface="Arial" panose="020B0604020202020204" pitchFamily="34" charset="0"/>
            </a:endParaRPr>
          </a:p>
          <a:p>
            <a:pPr>
              <a:lnSpc>
                <a:spcPct val="107000"/>
              </a:lnSpc>
              <a:spcAft>
                <a:spcPts val="1000"/>
              </a:spcAft>
              <a:buFont typeface="+mj-lt"/>
              <a:buAutoNum type="alphaUcPeriod"/>
              <a:defRPr/>
            </a:pPr>
            <a:r>
              <a:rPr lang="fr-FR" sz="2400" dirty="0">
                <a:latin typeface="Times New Roman" panose="02020603050405020304" pitchFamily="18" charset="0"/>
                <a:ea typeface="Calibri" panose="020F0502020204030204" pitchFamily="34" charset="0"/>
                <a:cs typeface="Arial" panose="020B0604020202020204" pitchFamily="34" charset="0"/>
              </a:rPr>
              <a:t>Une </a:t>
            </a:r>
            <a:r>
              <a:rPr lang="fr-FR" sz="2400" dirty="0" err="1">
                <a:latin typeface="Times New Roman" panose="02020603050405020304" pitchFamily="18" charset="0"/>
                <a:ea typeface="Calibri" panose="020F0502020204030204" pitchFamily="34" charset="0"/>
                <a:cs typeface="Arial" panose="020B0604020202020204" pitchFamily="34" charset="0"/>
              </a:rPr>
              <a:t>hypernatremie</a:t>
            </a:r>
            <a:endParaRPr lang="fr-TN" sz="2400" dirty="0">
              <a:ea typeface="Calibri" panose="020F0502020204030204" pitchFamily="34" charset="0"/>
              <a:cs typeface="Arial" panose="020B0604020202020204" pitchFamily="34" charset="0"/>
            </a:endParaRPr>
          </a:p>
          <a:p>
            <a:pPr>
              <a:lnSpc>
                <a:spcPct val="107000"/>
              </a:lnSpc>
              <a:spcAft>
                <a:spcPts val="1000"/>
              </a:spcAft>
              <a:buFont typeface="+mj-lt"/>
              <a:buAutoNum type="alphaUcPeriod"/>
              <a:defRPr/>
            </a:pPr>
            <a:r>
              <a:rPr lang="fr-FR" sz="2400" dirty="0">
                <a:latin typeface="Times New Roman" panose="02020603050405020304" pitchFamily="18" charset="0"/>
                <a:ea typeface="Calibri" panose="020F0502020204030204" pitchFamily="34" charset="0"/>
                <a:cs typeface="Arial" panose="020B0604020202020204" pitchFamily="34" charset="0"/>
              </a:rPr>
              <a:t>Une kaliémie corrigée à 2,5 mEq/l</a:t>
            </a:r>
            <a:endParaRPr lang="fr-TN" sz="2400" dirty="0">
              <a:ea typeface="Calibri" panose="020F0502020204030204" pitchFamily="34" charset="0"/>
              <a:cs typeface="Arial" panose="020B0604020202020204" pitchFamily="34" charset="0"/>
            </a:endParaRPr>
          </a:p>
          <a:p>
            <a:pPr>
              <a:lnSpc>
                <a:spcPct val="107000"/>
              </a:lnSpc>
              <a:spcAft>
                <a:spcPts val="1000"/>
              </a:spcAft>
              <a:buFont typeface="+mj-lt"/>
              <a:buAutoNum type="alphaUcPeriod"/>
              <a:defRPr/>
            </a:pPr>
            <a:r>
              <a:rPr lang="fr-FR" sz="2400" dirty="0">
                <a:latin typeface="Times New Roman" panose="02020603050405020304" pitchFamily="18" charset="0"/>
                <a:ea typeface="Calibri" panose="020F0502020204030204" pitchFamily="34" charset="0"/>
                <a:cs typeface="Arial" panose="020B0604020202020204" pitchFamily="34" charset="0"/>
              </a:rPr>
              <a:t>Une acidose métabolique non compensée</a:t>
            </a:r>
            <a:endParaRPr lang="fr-TN" sz="2400" dirty="0">
              <a:ea typeface="Calibri" panose="020F0502020204030204" pitchFamily="34" charset="0"/>
              <a:cs typeface="Arial" panose="020B0604020202020204" pitchFamily="34" charset="0"/>
            </a:endParaRPr>
          </a:p>
          <a:p>
            <a:pPr>
              <a:lnSpc>
                <a:spcPct val="107000"/>
              </a:lnSpc>
              <a:spcAft>
                <a:spcPts val="1000"/>
              </a:spcAft>
              <a:buFont typeface="+mj-lt"/>
              <a:buAutoNum type="alphaUcPeriod"/>
              <a:defRPr/>
            </a:pPr>
            <a:r>
              <a:rPr lang="fr-FR" sz="2400" dirty="0">
                <a:latin typeface="Times New Roman" panose="02020603050405020304" pitchFamily="18" charset="0"/>
                <a:ea typeface="Calibri" panose="020F0502020204030204" pitchFamily="34" charset="0"/>
                <a:cs typeface="Arial" panose="020B0604020202020204" pitchFamily="34" charset="0"/>
              </a:rPr>
              <a:t>Une insuffisance rénale</a:t>
            </a:r>
            <a:endParaRPr lang="fr-TN" sz="2400" dirty="0">
              <a:ea typeface="Calibri" panose="020F0502020204030204" pitchFamily="34" charset="0"/>
              <a:cs typeface="Arial" panose="020B0604020202020204" pitchFamily="34" charset="0"/>
            </a:endParaRPr>
          </a:p>
          <a:p>
            <a:pPr marL="0" indent="0">
              <a:lnSpc>
                <a:spcPct val="115000"/>
              </a:lnSpc>
              <a:spcAft>
                <a:spcPts val="1000"/>
              </a:spcAft>
              <a:buNone/>
              <a:defRPr/>
            </a:pPr>
            <a:r>
              <a:rPr lang="fr-FR" sz="2400" dirty="0">
                <a:solidFill>
                  <a:srgbClr val="000000"/>
                </a:solidFill>
                <a:latin typeface="Times New Roman" panose="02020603050405020304" pitchFamily="18" charset="0"/>
                <a:ea typeface="Calibri" panose="020F0502020204030204" pitchFamily="34" charset="0"/>
                <a:cs typeface="Arial" panose="020B0604020202020204" pitchFamily="34" charset="0"/>
              </a:rPr>
              <a:t> </a:t>
            </a:r>
            <a:endParaRPr lang="fr-TN" sz="2400" dirty="0">
              <a:ea typeface="Calibri" panose="020F0502020204030204" pitchFamily="34" charset="0"/>
              <a:cs typeface="Arial" panose="020B0604020202020204" pitchFamily="34" charset="0"/>
            </a:endParaRPr>
          </a:p>
          <a:p>
            <a:pPr>
              <a:spcBef>
                <a:spcPct val="0"/>
              </a:spcBef>
              <a:buFont typeface="Calibri" panose="020F0502020204030204" pitchFamily="34" charset="0"/>
              <a:buAutoNum type="alphaUcPeriod"/>
              <a:defRPr/>
            </a:pPr>
            <a:endParaRPr lang="fr-FR" altLang="fr-TN" sz="2400" dirty="0">
              <a:solidFill>
                <a:srgbClr val="FF0000"/>
              </a:solidFill>
            </a:endParaRPr>
          </a:p>
        </p:txBody>
      </p:sp>
    </p:spTree>
  </p:cSld>
  <p:clrMapOvr>
    <a:masterClrMapping/>
  </p:clrMapOvr>
</p:sld>
</file>

<file path=ppt/slides/slide1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Titre 1">
            <a:extLst>
              <a:ext uri="{FF2B5EF4-FFF2-40B4-BE49-F238E27FC236}">
                <a16:creationId xmlns:a16="http://schemas.microsoft.com/office/drawing/2014/main" id="{E6E6809D-EBA3-BC4A-6F13-E729D32B76B7}"/>
              </a:ext>
            </a:extLst>
          </p:cNvPr>
          <p:cNvSpPr>
            <a:spLocks noGrp="1"/>
          </p:cNvSpPr>
          <p:nvPr>
            <p:ph type="title"/>
          </p:nvPr>
        </p:nvSpPr>
        <p:spPr>
          <a:solidFill>
            <a:schemeClr val="accent6">
              <a:lumMod val="60000"/>
              <a:lumOff val="40000"/>
            </a:schemeClr>
          </a:solidFill>
        </p:spPr>
        <p:txBody>
          <a:bodyPr rtlCol="0">
            <a:normAutofit/>
          </a:bodyPr>
          <a:lstStyle/>
          <a:p>
            <a:pPr algn="l" eaLnBrk="1" fontAlgn="auto" hangingPunct="1">
              <a:spcAft>
                <a:spcPts val="0"/>
              </a:spcAft>
              <a:defRPr/>
            </a:pPr>
            <a:r>
              <a:rPr lang="fr-FR" b="1" dirty="0"/>
              <a:t>COMMENTAIRES</a:t>
            </a:r>
          </a:p>
        </p:txBody>
      </p:sp>
      <p:pic>
        <p:nvPicPr>
          <p:cNvPr id="94210" name="Picture 2">
            <a:extLst>
              <a:ext uri="{FF2B5EF4-FFF2-40B4-BE49-F238E27FC236}">
                <a16:creationId xmlns:a16="http://schemas.microsoft.com/office/drawing/2014/main" id="{83E13653-557C-FF64-6333-CA02F174DB03}"/>
              </a:ext>
            </a:extLst>
          </p:cNvPr>
          <p:cNvPicPr>
            <a:picLocks noGrp="1" noChangeAspect="1" noChangeArrowheads="1"/>
          </p:cNvPicPr>
          <p:nvPr>
            <p:ph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428875" y="3790950"/>
            <a:ext cx="7486650" cy="571500"/>
          </a:xfrm>
          <a:noFill/>
        </p:spPr>
      </p:pic>
      <p:pic>
        <p:nvPicPr>
          <p:cNvPr id="94211" name="Picture 3">
            <a:extLst>
              <a:ext uri="{FF2B5EF4-FFF2-40B4-BE49-F238E27FC236}">
                <a16:creationId xmlns:a16="http://schemas.microsoft.com/office/drawing/2014/main" id="{AC67D8DA-EB87-1A38-E849-6030C645B4C4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424113" y="2276476"/>
            <a:ext cx="7105650" cy="9048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cxnSp>
        <p:nvCxnSpPr>
          <p:cNvPr id="3" name="Connecteur droit 2">
            <a:extLst>
              <a:ext uri="{FF2B5EF4-FFF2-40B4-BE49-F238E27FC236}">
                <a16:creationId xmlns:a16="http://schemas.microsoft.com/office/drawing/2014/main" id="{7B6D133B-FA3C-1EAB-C28A-DD8D56EEF124}"/>
              </a:ext>
            </a:extLst>
          </p:cNvPr>
          <p:cNvCxnSpPr/>
          <p:nvPr/>
        </p:nvCxnSpPr>
        <p:spPr>
          <a:xfrm>
            <a:off x="3789680" y="1991360"/>
            <a:ext cx="3281680" cy="1859280"/>
          </a:xfrm>
          <a:prstGeom prst="line">
            <a:avLst/>
          </a:prstGeom>
          <a:ln w="47625">
            <a:solidFill>
              <a:srgbClr val="FF000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4" name="Image 3">
            <a:extLst>
              <a:ext uri="{FF2B5EF4-FFF2-40B4-BE49-F238E27FC236}">
                <a16:creationId xmlns:a16="http://schemas.microsoft.com/office/drawing/2014/main" id="{0C30EFBA-C54C-A5BA-60B0-F066D8B3E5B8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 rot="16845200">
            <a:off x="3711847" y="2268688"/>
            <a:ext cx="2837737" cy="1629746"/>
          </a:xfrm>
          <a:prstGeom prst="rect">
            <a:avLst/>
          </a:prstGeom>
        </p:spPr>
      </p:pic>
    </p:spTree>
  </p:cSld>
  <p:clrMapOvr>
    <a:masterClrMapping/>
  </p:clrMapOvr>
</p:sld>
</file>

<file path=ppt/slides/slide1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47B0DA2-CEBD-963B-94FF-0C7C51660B2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9874" name="Espace réservé du contenu 2">
            <a:extLst>
              <a:ext uri="{FF2B5EF4-FFF2-40B4-BE49-F238E27FC236}">
                <a16:creationId xmlns:a16="http://schemas.microsoft.com/office/drawing/2014/main" id="{777EAA17-1AE9-33CB-6009-B77C5F97C17F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803917" y="493648"/>
            <a:ext cx="9803364" cy="4310062"/>
          </a:xfrm>
        </p:spPr>
        <p:txBody>
          <a:bodyPr>
            <a:noAutofit/>
          </a:bodyPr>
          <a:lstStyle/>
          <a:p>
            <a:pPr>
              <a:lnSpc>
                <a:spcPct val="115000"/>
              </a:lnSpc>
              <a:spcAft>
                <a:spcPts val="1000"/>
              </a:spcAft>
              <a:buFont typeface="+mj-lt"/>
              <a:buAutoNum type="arabicPeriod"/>
              <a:defRPr/>
            </a:pPr>
            <a:r>
              <a:rPr lang="fr-FR" sz="2400" b="1" dirty="0">
                <a:latin typeface="Times New Roman" panose="02020603050405020304" pitchFamily="18" charset="0"/>
                <a:ea typeface="Calibri" panose="020F0502020204030204" pitchFamily="34" charset="0"/>
                <a:cs typeface="Arial" panose="020B0604020202020204" pitchFamily="34" charset="0"/>
              </a:rPr>
              <a:t>Le bilan : Na+= 134mmol/l, k+ = 4,5 </a:t>
            </a:r>
            <a:r>
              <a:rPr lang="fr-FR" sz="2400" b="1" dirty="0" err="1">
                <a:latin typeface="Times New Roman" panose="02020603050405020304" pitchFamily="18" charset="0"/>
                <a:ea typeface="Calibri" panose="020F0502020204030204" pitchFamily="34" charset="0"/>
                <a:cs typeface="Arial" panose="020B0604020202020204" pitchFamily="34" charset="0"/>
              </a:rPr>
              <a:t>mmol</a:t>
            </a:r>
            <a:r>
              <a:rPr lang="fr-FR" sz="2400" b="1" dirty="0">
                <a:latin typeface="Times New Roman" panose="02020603050405020304" pitchFamily="18" charset="0"/>
                <a:ea typeface="Calibri" panose="020F0502020204030204" pitchFamily="34" charset="0"/>
                <a:cs typeface="Arial" panose="020B0604020202020204" pitchFamily="34" charset="0"/>
              </a:rPr>
              <a:t>/l   Urée 18 </a:t>
            </a:r>
            <a:r>
              <a:rPr lang="fr-FR" sz="2400" b="1" dirty="0" err="1">
                <a:latin typeface="Times New Roman" panose="02020603050405020304" pitchFamily="18" charset="0"/>
                <a:ea typeface="Calibri" panose="020F0502020204030204" pitchFamily="34" charset="0"/>
                <a:cs typeface="Arial" panose="020B0604020202020204" pitchFamily="34" charset="0"/>
              </a:rPr>
              <a:t>mmol</a:t>
            </a:r>
            <a:r>
              <a:rPr lang="fr-FR" sz="2400" b="1" dirty="0">
                <a:latin typeface="Times New Roman" panose="02020603050405020304" pitchFamily="18" charset="0"/>
                <a:ea typeface="Calibri" panose="020F0502020204030204" pitchFamily="34" charset="0"/>
                <a:cs typeface="Arial" panose="020B0604020202020204" pitchFamily="34" charset="0"/>
              </a:rPr>
              <a:t>/l    </a:t>
            </a:r>
            <a:r>
              <a:rPr lang="fr-FR" sz="2400" b="1" dirty="0" err="1">
                <a:latin typeface="Times New Roman" panose="02020603050405020304" pitchFamily="18" charset="0"/>
                <a:ea typeface="Calibri" panose="020F0502020204030204" pitchFamily="34" charset="0"/>
                <a:cs typeface="Arial" panose="020B0604020202020204" pitchFamily="34" charset="0"/>
              </a:rPr>
              <a:t>creatinine</a:t>
            </a:r>
            <a:r>
              <a:rPr lang="fr-FR" sz="2400" b="1" dirty="0">
                <a:latin typeface="Times New Roman" panose="02020603050405020304" pitchFamily="18" charset="0"/>
                <a:ea typeface="Calibri" panose="020F0502020204030204" pitchFamily="34" charset="0"/>
                <a:cs typeface="Arial" panose="020B0604020202020204" pitchFamily="34" charset="0"/>
              </a:rPr>
              <a:t> 100umol/l</a:t>
            </a:r>
            <a:endParaRPr lang="fr-TN" sz="2400" dirty="0">
              <a:ea typeface="Calibri" panose="020F0502020204030204" pitchFamily="34" charset="0"/>
              <a:cs typeface="Arial" panose="020B0604020202020204" pitchFamily="34" charset="0"/>
            </a:endParaRPr>
          </a:p>
          <a:p>
            <a:pPr marL="457200">
              <a:lnSpc>
                <a:spcPct val="115000"/>
              </a:lnSpc>
              <a:spcAft>
                <a:spcPts val="1000"/>
              </a:spcAft>
              <a:defRPr/>
            </a:pPr>
            <a:r>
              <a:rPr lang="fr-FR" sz="2400" b="1" dirty="0">
                <a:latin typeface="Times New Roman" panose="02020603050405020304" pitchFamily="18" charset="0"/>
                <a:ea typeface="Calibri" panose="020F0502020204030204" pitchFamily="34" charset="0"/>
                <a:cs typeface="Arial" panose="020B0604020202020204" pitchFamily="34" charset="0"/>
              </a:rPr>
              <a:t>GDS: 7,1, HCO3: 10, BE: -12 PCO2 : 30</a:t>
            </a:r>
            <a:endParaRPr lang="fr-TN" sz="2400" dirty="0">
              <a:ea typeface="Calibri" panose="020F0502020204030204" pitchFamily="34" charset="0"/>
              <a:cs typeface="Arial" panose="020B0604020202020204" pitchFamily="34" charset="0"/>
            </a:endParaRPr>
          </a:p>
          <a:p>
            <a:pPr marL="449580" indent="-449580">
              <a:lnSpc>
                <a:spcPct val="115000"/>
              </a:lnSpc>
              <a:spcAft>
                <a:spcPts val="1000"/>
              </a:spcAft>
              <a:defRPr/>
            </a:pPr>
            <a:r>
              <a:rPr lang="fr-FR" sz="2400" b="1" dirty="0">
                <a:latin typeface="Times New Roman" panose="02020603050405020304" pitchFamily="18" charset="0"/>
                <a:ea typeface="Calibri" panose="020F0502020204030204" pitchFamily="34" charset="0"/>
                <a:cs typeface="Arial" panose="020B0604020202020204" pitchFamily="34" charset="0"/>
              </a:rPr>
              <a:t>            Ce nourrisson présente : </a:t>
            </a:r>
            <a:endParaRPr lang="fr-TN" sz="2400" dirty="0">
              <a:ea typeface="Calibri" panose="020F0502020204030204" pitchFamily="34" charset="0"/>
              <a:cs typeface="Arial" panose="020B0604020202020204" pitchFamily="34" charset="0"/>
            </a:endParaRPr>
          </a:p>
          <a:p>
            <a:pPr>
              <a:lnSpc>
                <a:spcPct val="115000"/>
              </a:lnSpc>
              <a:spcAft>
                <a:spcPts val="1000"/>
              </a:spcAft>
              <a:buFont typeface="+mj-lt"/>
              <a:buAutoNum type="alphaUcPeriod"/>
              <a:defRPr/>
            </a:pPr>
            <a:r>
              <a:rPr lang="fr-FR" sz="2400" dirty="0">
                <a:latin typeface="Times New Roman" panose="02020603050405020304" pitchFamily="18" charset="0"/>
                <a:ea typeface="Calibri" panose="020F0502020204030204" pitchFamily="34" charset="0"/>
                <a:cs typeface="Arial" panose="020B0604020202020204" pitchFamily="34" charset="0"/>
              </a:rPr>
              <a:t>Une acidose respiratoire</a:t>
            </a:r>
            <a:endParaRPr lang="fr-TN" sz="2400" dirty="0">
              <a:ea typeface="Calibri" panose="020F0502020204030204" pitchFamily="34" charset="0"/>
              <a:cs typeface="Arial" panose="020B0604020202020204" pitchFamily="34" charset="0"/>
            </a:endParaRPr>
          </a:p>
          <a:p>
            <a:pPr>
              <a:lnSpc>
                <a:spcPct val="107000"/>
              </a:lnSpc>
              <a:spcAft>
                <a:spcPts val="1000"/>
              </a:spcAft>
              <a:buFont typeface="+mj-lt"/>
              <a:buAutoNum type="alphaUcPeriod"/>
              <a:defRPr/>
            </a:pPr>
            <a:r>
              <a:rPr lang="fr-FR" sz="2400" dirty="0">
                <a:latin typeface="Times New Roman" panose="02020603050405020304" pitchFamily="18" charset="0"/>
                <a:ea typeface="Calibri" panose="020F0502020204030204" pitchFamily="34" charset="0"/>
                <a:cs typeface="Arial" panose="020B0604020202020204" pitchFamily="34" charset="0"/>
              </a:rPr>
              <a:t>Une </a:t>
            </a:r>
            <a:r>
              <a:rPr lang="fr-FR" sz="2400" dirty="0" err="1">
                <a:latin typeface="Times New Roman" panose="02020603050405020304" pitchFamily="18" charset="0"/>
                <a:ea typeface="Calibri" panose="020F0502020204030204" pitchFamily="34" charset="0"/>
                <a:cs typeface="Arial" panose="020B0604020202020204" pitchFamily="34" charset="0"/>
              </a:rPr>
              <a:t>hypernatremie</a:t>
            </a:r>
            <a:endParaRPr lang="fr-TN" sz="2400" dirty="0">
              <a:ea typeface="Calibri" panose="020F0502020204030204" pitchFamily="34" charset="0"/>
              <a:cs typeface="Arial" panose="020B0604020202020204" pitchFamily="34" charset="0"/>
            </a:endParaRPr>
          </a:p>
          <a:p>
            <a:pPr>
              <a:lnSpc>
                <a:spcPct val="107000"/>
              </a:lnSpc>
              <a:spcAft>
                <a:spcPts val="1000"/>
              </a:spcAft>
              <a:buFont typeface="+mj-lt"/>
              <a:buAutoNum type="alphaUcPeriod"/>
              <a:defRPr/>
            </a:pPr>
            <a:r>
              <a:rPr lang="fr-FR" sz="2400" dirty="0">
                <a:latin typeface="Times New Roman" panose="02020603050405020304" pitchFamily="18" charset="0"/>
                <a:ea typeface="Calibri" panose="020F0502020204030204" pitchFamily="34" charset="0"/>
                <a:cs typeface="Arial" panose="020B0604020202020204" pitchFamily="34" charset="0"/>
              </a:rPr>
              <a:t>Une kaliémie corrigée à 2,5 mEq/l</a:t>
            </a:r>
            <a:endParaRPr lang="fr-TN" sz="2400" dirty="0">
              <a:ea typeface="Calibri" panose="020F0502020204030204" pitchFamily="34" charset="0"/>
              <a:cs typeface="Arial" panose="020B0604020202020204" pitchFamily="34" charset="0"/>
            </a:endParaRPr>
          </a:p>
          <a:p>
            <a:pPr>
              <a:lnSpc>
                <a:spcPct val="107000"/>
              </a:lnSpc>
              <a:spcAft>
                <a:spcPts val="1000"/>
              </a:spcAft>
              <a:buFont typeface="+mj-lt"/>
              <a:buAutoNum type="alphaUcPeriod"/>
              <a:defRPr/>
            </a:pPr>
            <a:r>
              <a:rPr lang="fr-FR" sz="2400" dirty="0">
                <a:solidFill>
                  <a:srgbClr val="FF0000"/>
                </a:solidFill>
                <a:latin typeface="Times New Roman" panose="02020603050405020304" pitchFamily="18" charset="0"/>
                <a:ea typeface="Calibri" panose="020F0502020204030204" pitchFamily="34" charset="0"/>
                <a:cs typeface="Arial" panose="020B0604020202020204" pitchFamily="34" charset="0"/>
              </a:rPr>
              <a:t>Une acidose métabolique non compensée</a:t>
            </a:r>
            <a:endParaRPr lang="fr-TN" sz="2400" dirty="0">
              <a:solidFill>
                <a:srgbClr val="FF0000"/>
              </a:solidFill>
              <a:ea typeface="Calibri" panose="020F0502020204030204" pitchFamily="34" charset="0"/>
              <a:cs typeface="Arial" panose="020B0604020202020204" pitchFamily="34" charset="0"/>
            </a:endParaRPr>
          </a:p>
          <a:p>
            <a:pPr>
              <a:lnSpc>
                <a:spcPct val="107000"/>
              </a:lnSpc>
              <a:spcAft>
                <a:spcPts val="1000"/>
              </a:spcAft>
              <a:buFont typeface="+mj-lt"/>
              <a:buAutoNum type="alphaUcPeriod"/>
              <a:defRPr/>
            </a:pPr>
            <a:r>
              <a:rPr lang="fr-FR" sz="2400" dirty="0">
                <a:solidFill>
                  <a:srgbClr val="FF0000"/>
                </a:solidFill>
                <a:latin typeface="Times New Roman" panose="02020603050405020304" pitchFamily="18" charset="0"/>
                <a:ea typeface="Calibri" panose="020F0502020204030204" pitchFamily="34" charset="0"/>
                <a:cs typeface="Arial" panose="020B0604020202020204" pitchFamily="34" charset="0"/>
              </a:rPr>
              <a:t>Une insuffisance rénale</a:t>
            </a:r>
            <a:endParaRPr lang="fr-TN" sz="2400" dirty="0">
              <a:solidFill>
                <a:srgbClr val="FF0000"/>
              </a:solidFill>
              <a:ea typeface="Calibri" panose="020F0502020204030204" pitchFamily="34" charset="0"/>
              <a:cs typeface="Arial" panose="020B0604020202020204" pitchFamily="34" charset="0"/>
            </a:endParaRPr>
          </a:p>
          <a:p>
            <a:pPr marL="0" indent="0">
              <a:lnSpc>
                <a:spcPct val="115000"/>
              </a:lnSpc>
              <a:spcAft>
                <a:spcPts val="1000"/>
              </a:spcAft>
              <a:buNone/>
              <a:defRPr/>
            </a:pPr>
            <a:r>
              <a:rPr lang="fr-FR" sz="2400" dirty="0">
                <a:solidFill>
                  <a:srgbClr val="000000"/>
                </a:solidFill>
                <a:latin typeface="Times New Roman" panose="02020603050405020304" pitchFamily="18" charset="0"/>
                <a:ea typeface="Calibri" panose="020F0502020204030204" pitchFamily="34" charset="0"/>
                <a:cs typeface="Arial" panose="020B0604020202020204" pitchFamily="34" charset="0"/>
              </a:rPr>
              <a:t> </a:t>
            </a:r>
            <a:endParaRPr lang="fr-TN" sz="2400" dirty="0">
              <a:ea typeface="Calibri" panose="020F0502020204030204" pitchFamily="34" charset="0"/>
              <a:cs typeface="Arial" panose="020B0604020202020204" pitchFamily="34" charset="0"/>
            </a:endParaRPr>
          </a:p>
          <a:p>
            <a:pPr>
              <a:spcBef>
                <a:spcPct val="0"/>
              </a:spcBef>
              <a:buFont typeface="Calibri" panose="020F0502020204030204" pitchFamily="34" charset="0"/>
              <a:buAutoNum type="alphaUcPeriod"/>
              <a:defRPr/>
            </a:pPr>
            <a:endParaRPr lang="fr-FR" altLang="fr-TN" sz="2400" dirty="0">
              <a:solidFill>
                <a:srgbClr val="FF0000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2974562383"/>
      </p:ext>
    </p:extLst>
  </p:cSld>
  <p:clrMapOvr>
    <a:masterClrMapping/>
  </p:clrMapOvr>
</p:sld>
</file>

<file path=ppt/slides/slide1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49CAA4A-2DF5-2479-3D91-A73CCDB582E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9874" name="Espace réservé du contenu 2">
            <a:extLst>
              <a:ext uri="{FF2B5EF4-FFF2-40B4-BE49-F238E27FC236}">
                <a16:creationId xmlns:a16="http://schemas.microsoft.com/office/drawing/2014/main" id="{D3CD1498-7EDD-284D-2B4C-B356C3854602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371600" y="1763078"/>
            <a:ext cx="9997440" cy="4094162"/>
          </a:xfrm>
        </p:spPr>
        <p:txBody>
          <a:bodyPr>
            <a:normAutofit fontScale="92500" lnSpcReduction="20000"/>
          </a:bodyPr>
          <a:lstStyle/>
          <a:p>
            <a:pPr marL="0" indent="0">
              <a:lnSpc>
                <a:spcPct val="115000"/>
              </a:lnSpc>
              <a:spcAft>
                <a:spcPts val="1000"/>
              </a:spcAft>
              <a:buNone/>
              <a:defRPr/>
            </a:pPr>
            <a:r>
              <a:rPr lang="fr-FR" sz="2400" b="1" dirty="0">
                <a:latin typeface="Times New Roman" panose="02020603050405020304" pitchFamily="18" charset="0"/>
                <a:ea typeface="Calibri" panose="020F0502020204030204" pitchFamily="34" charset="0"/>
                <a:cs typeface="Arial" panose="020B0604020202020204" pitchFamily="34" charset="0"/>
              </a:rPr>
              <a:t>4.La prise en charge comporte :</a:t>
            </a:r>
            <a:endParaRPr lang="fr-TN" sz="2400" dirty="0">
              <a:ea typeface="Calibri" panose="020F0502020204030204" pitchFamily="34" charset="0"/>
              <a:cs typeface="Arial" panose="020B0604020202020204" pitchFamily="34" charset="0"/>
            </a:endParaRPr>
          </a:p>
          <a:p>
            <a:pPr>
              <a:lnSpc>
                <a:spcPct val="115000"/>
              </a:lnSpc>
              <a:spcAft>
                <a:spcPts val="1000"/>
              </a:spcAft>
              <a:buFont typeface="+mj-lt"/>
              <a:buAutoNum type="alphaUcPeriod"/>
              <a:defRPr/>
            </a:pPr>
            <a:r>
              <a:rPr lang="fr-FR" sz="2400" dirty="0"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Un remplissage par  </a:t>
            </a:r>
            <a:r>
              <a:rPr lang="fr-FR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du sérum physiologique isotonique à 9‰ 10 ml/kg à flot</a:t>
            </a:r>
            <a:endParaRPr lang="fr-TN" sz="2400" dirty="0">
              <a:latin typeface="Times New Roman" panose="02020603050405020304" pitchFamily="18" charset="0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pPr>
              <a:lnSpc>
                <a:spcPct val="115000"/>
              </a:lnSpc>
              <a:spcAft>
                <a:spcPts val="1000"/>
              </a:spcAft>
              <a:buFont typeface="+mj-lt"/>
              <a:buAutoNum type="alphaUcPeriod"/>
              <a:defRPr/>
            </a:pPr>
            <a:r>
              <a:rPr lang="fr-FR" sz="2400" dirty="0">
                <a:latin typeface="Times New Roman" panose="02020603050405020304" pitchFamily="18" charset="0"/>
                <a:ea typeface="Calibri" panose="020F0502020204030204" pitchFamily="34" charset="0"/>
                <a:cs typeface="Arial" panose="020B0604020202020204" pitchFamily="34" charset="0"/>
              </a:rPr>
              <a:t>Un soluté de réhydratation sans potassium au début</a:t>
            </a:r>
            <a:endParaRPr lang="fr-TN" sz="2400" dirty="0">
              <a:ea typeface="Calibri" panose="020F0502020204030204" pitchFamily="34" charset="0"/>
              <a:cs typeface="Arial" panose="020B0604020202020204" pitchFamily="34" charset="0"/>
            </a:endParaRPr>
          </a:p>
          <a:p>
            <a:pPr>
              <a:lnSpc>
                <a:spcPct val="115000"/>
              </a:lnSpc>
              <a:spcAft>
                <a:spcPts val="1000"/>
              </a:spcAft>
              <a:buFont typeface="+mj-lt"/>
              <a:buAutoNum type="alphaUcPeriod"/>
              <a:defRPr/>
            </a:pPr>
            <a:r>
              <a:rPr lang="fr-FR" sz="2400" dirty="0">
                <a:latin typeface="Times New Roman" panose="02020603050405020304" pitchFamily="18" charset="0"/>
                <a:ea typeface="Calibri" panose="020F0502020204030204" pitchFamily="34" charset="0"/>
                <a:cs typeface="Arial" panose="020B0604020202020204" pitchFamily="34" charset="0"/>
              </a:rPr>
              <a:t>Un apport de 650 ml les 4 premières heures </a:t>
            </a:r>
            <a:endParaRPr lang="fr-TN" sz="2400" dirty="0">
              <a:ea typeface="Calibri" panose="020F0502020204030204" pitchFamily="34" charset="0"/>
              <a:cs typeface="Arial" panose="020B0604020202020204" pitchFamily="34" charset="0"/>
            </a:endParaRPr>
          </a:p>
          <a:p>
            <a:pPr>
              <a:lnSpc>
                <a:spcPct val="115000"/>
              </a:lnSpc>
              <a:spcAft>
                <a:spcPts val="1000"/>
              </a:spcAft>
              <a:buFont typeface="+mj-lt"/>
              <a:buAutoNum type="alphaUcPeriod"/>
              <a:defRPr/>
            </a:pPr>
            <a:r>
              <a:rPr lang="fr-FR" sz="2400" dirty="0">
                <a:latin typeface="Times New Roman" panose="02020603050405020304" pitchFamily="18" charset="0"/>
                <a:ea typeface="Calibri" panose="020F0502020204030204" pitchFamily="34" charset="0"/>
                <a:cs typeface="Arial" panose="020B0604020202020204" pitchFamily="34" charset="0"/>
              </a:rPr>
              <a:t>Un débit de  perfusion constant</a:t>
            </a:r>
            <a:endParaRPr lang="fr-TN" sz="2400" dirty="0">
              <a:ea typeface="Calibri" panose="020F0502020204030204" pitchFamily="34" charset="0"/>
              <a:cs typeface="Arial" panose="020B0604020202020204" pitchFamily="34" charset="0"/>
            </a:endParaRPr>
          </a:p>
          <a:p>
            <a:pPr>
              <a:lnSpc>
                <a:spcPct val="115000"/>
              </a:lnSpc>
              <a:spcAft>
                <a:spcPts val="1000"/>
              </a:spcAft>
              <a:buFont typeface="+mj-lt"/>
              <a:buAutoNum type="alphaUcPeriod"/>
              <a:defRPr/>
            </a:pPr>
            <a:r>
              <a:rPr lang="fr-FR" sz="2400" dirty="0">
                <a:latin typeface="Times New Roman" panose="02020603050405020304" pitchFamily="18" charset="0"/>
                <a:ea typeface="Calibri" panose="020F0502020204030204" pitchFamily="34" charset="0"/>
                <a:cs typeface="Arial" panose="020B0604020202020204" pitchFamily="34" charset="0"/>
              </a:rPr>
              <a:t>Une correction du déficit sodé </a:t>
            </a:r>
            <a:endParaRPr lang="fr-TN" sz="2400" dirty="0">
              <a:ea typeface="Calibri" panose="020F0502020204030204" pitchFamily="34" charset="0"/>
              <a:cs typeface="Arial" panose="020B0604020202020204" pitchFamily="34" charset="0"/>
            </a:endParaRPr>
          </a:p>
          <a:p>
            <a:pPr marL="0" indent="0">
              <a:lnSpc>
                <a:spcPct val="115000"/>
              </a:lnSpc>
              <a:spcAft>
                <a:spcPts val="1000"/>
              </a:spcAft>
              <a:buNone/>
              <a:defRPr/>
            </a:pPr>
            <a:r>
              <a:rPr lang="fr-FR" sz="2400" dirty="0">
                <a:solidFill>
                  <a:srgbClr val="000000"/>
                </a:solidFill>
                <a:latin typeface="Times New Roman" panose="02020603050405020304" pitchFamily="18" charset="0"/>
                <a:ea typeface="Calibri" panose="020F0502020204030204" pitchFamily="34" charset="0"/>
                <a:cs typeface="Arial" panose="020B0604020202020204" pitchFamily="34" charset="0"/>
              </a:rPr>
              <a:t> </a:t>
            </a:r>
            <a:endParaRPr lang="fr-TN" sz="2400" dirty="0">
              <a:ea typeface="Calibri" panose="020F0502020204030204" pitchFamily="34" charset="0"/>
              <a:cs typeface="Arial" panose="020B0604020202020204" pitchFamily="34" charset="0"/>
            </a:endParaRPr>
          </a:p>
          <a:p>
            <a:pPr>
              <a:spcBef>
                <a:spcPct val="0"/>
              </a:spcBef>
              <a:buFont typeface="Calibri" panose="020F0502020204030204" pitchFamily="34" charset="0"/>
              <a:buAutoNum type="alphaUcPeriod"/>
              <a:defRPr/>
            </a:pPr>
            <a:endParaRPr lang="fr-FR" altLang="fr-TN" sz="2400" dirty="0">
              <a:solidFill>
                <a:srgbClr val="FF0000"/>
              </a:solidFill>
            </a:endParaRPr>
          </a:p>
        </p:txBody>
      </p:sp>
      <p:sp>
        <p:nvSpPr>
          <p:cNvPr id="3" name="Titre 2">
            <a:extLst>
              <a:ext uri="{FF2B5EF4-FFF2-40B4-BE49-F238E27FC236}">
                <a16:creationId xmlns:a16="http://schemas.microsoft.com/office/drawing/2014/main" id="{57A71112-E47B-430D-AB04-B8EF9C51B6A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fr-TN"/>
          </a:p>
        </p:txBody>
      </p:sp>
    </p:spTree>
    <p:extLst>
      <p:ext uri="{BB962C8B-B14F-4D97-AF65-F5344CB8AC3E}">
        <p14:creationId xmlns:p14="http://schemas.microsoft.com/office/powerpoint/2010/main" val="2576030644"/>
      </p:ext>
    </p:extLst>
  </p:cSld>
  <p:clrMapOvr>
    <a:masterClrMapping/>
  </p:clrMapOvr>
</p:sld>
</file>

<file path=ppt/slides/slide1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6FD22BB-496E-CA2B-595C-99C04BAC03E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6802" name="Espace réservé du contenu 2">
            <a:extLst>
              <a:ext uri="{FF2B5EF4-FFF2-40B4-BE49-F238E27FC236}">
                <a16:creationId xmlns:a16="http://schemas.microsoft.com/office/drawing/2014/main" id="{C23429E0-ECCC-D4D9-2CA9-C1ECCEC5DCF5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981199" y="1628776"/>
            <a:ext cx="9393535" cy="4993088"/>
          </a:xfrm>
        </p:spPr>
        <p:txBody>
          <a:bodyPr>
            <a:noAutofit/>
          </a:bodyPr>
          <a:lstStyle/>
          <a:p>
            <a:pPr>
              <a:lnSpc>
                <a:spcPct val="100000"/>
              </a:lnSpc>
              <a:spcAft>
                <a:spcPts val="1000"/>
              </a:spcAft>
              <a:defRPr/>
            </a:pPr>
            <a:r>
              <a:rPr lang="fr-FR" altLang="fr-TN" sz="2400" dirty="0"/>
              <a:t> </a:t>
            </a:r>
            <a:r>
              <a:rPr lang="fr-FR" sz="2400" dirty="0">
                <a:latin typeface="Times New Roman" panose="02020603050405020304" pitchFamily="18" charset="0"/>
                <a:ea typeface="Calibri" panose="020F0502020204030204" pitchFamily="34" charset="0"/>
                <a:cs typeface="Arial" panose="020B0604020202020204" pitchFamily="34" charset="0"/>
              </a:rPr>
              <a:t>Fares  âgé de 11 mois, présente depuis 3 jours des  épisodes de diarrhée ( 8 selles liquides/ j).  Son poids il y a  dix jours : 10 kg ;</a:t>
            </a:r>
            <a:endParaRPr lang="fr-TN" sz="2400" dirty="0">
              <a:ea typeface="Calibri" panose="020F0502020204030204" pitchFamily="34" charset="0"/>
              <a:cs typeface="Arial" panose="020B0604020202020204" pitchFamily="34" charset="0"/>
            </a:endParaRPr>
          </a:p>
          <a:p>
            <a:pPr marL="457200">
              <a:lnSpc>
                <a:spcPct val="100000"/>
              </a:lnSpc>
              <a:spcAft>
                <a:spcPts val="1000"/>
              </a:spcAft>
              <a:defRPr/>
            </a:pPr>
            <a:r>
              <a:rPr lang="fr-FR" sz="2400" dirty="0">
                <a:latin typeface="Times New Roman" panose="02020603050405020304" pitchFamily="18" charset="0"/>
                <a:ea typeface="Calibri" panose="020F0502020204030204" pitchFamily="34" charset="0"/>
                <a:cs typeface="Arial" panose="020B0604020202020204" pitchFamily="34" charset="0"/>
              </a:rPr>
              <a:t>A l’examen : Poids = 8,7 kg  , Température = 38°; </a:t>
            </a:r>
            <a:endParaRPr lang="fr-TN" sz="2400" dirty="0">
              <a:ea typeface="Calibri" panose="020F0502020204030204" pitchFamily="34" charset="0"/>
              <a:cs typeface="Arial" panose="020B0604020202020204" pitchFamily="34" charset="0"/>
            </a:endParaRPr>
          </a:p>
          <a:p>
            <a:pPr>
              <a:lnSpc>
                <a:spcPct val="100000"/>
              </a:lnSpc>
              <a:spcAft>
                <a:spcPts val="1000"/>
              </a:spcAft>
              <a:defRPr/>
            </a:pPr>
            <a:r>
              <a:rPr lang="fr-FR" sz="2400" dirty="0">
                <a:latin typeface="Times New Roman" panose="02020603050405020304" pitchFamily="18" charset="0"/>
                <a:ea typeface="Calibri" panose="020F0502020204030204" pitchFamily="34" charset="0"/>
                <a:cs typeface="Arial" panose="020B0604020202020204" pitchFamily="34" charset="0"/>
              </a:rPr>
              <a:t>Pli cutané persistant , langue très desséchée </a:t>
            </a:r>
            <a:endParaRPr lang="fr-TN" sz="2400" dirty="0">
              <a:ea typeface="Calibri" panose="020F0502020204030204" pitchFamily="34" charset="0"/>
              <a:cs typeface="Arial" panose="020B0604020202020204" pitchFamily="34" charset="0"/>
            </a:endParaRPr>
          </a:p>
          <a:p>
            <a:pPr algn="just">
              <a:lnSpc>
                <a:spcPct val="100000"/>
              </a:lnSpc>
              <a:spcAft>
                <a:spcPts val="1000"/>
              </a:spcAft>
              <a:defRPr/>
            </a:pPr>
            <a:r>
              <a:rPr lang="fr-FR" sz="2400" dirty="0">
                <a:latin typeface="Times New Roman" panose="02020603050405020304" pitchFamily="18" charset="0"/>
                <a:ea typeface="Calibri" panose="020F0502020204030204" pitchFamily="34" charset="0"/>
                <a:cs typeface="Arial" panose="020B0604020202020204" pitchFamily="34" charset="0"/>
              </a:rPr>
              <a:t>Globes oculaires très enfoncés, Fontanelle antérieure très déprimée</a:t>
            </a:r>
            <a:endParaRPr lang="fr-TN" sz="2400" dirty="0">
              <a:ea typeface="Calibri" panose="020F0502020204030204" pitchFamily="34" charset="0"/>
              <a:cs typeface="Arial" panose="020B0604020202020204" pitchFamily="34" charset="0"/>
            </a:endParaRPr>
          </a:p>
          <a:p>
            <a:pPr>
              <a:lnSpc>
                <a:spcPct val="100000"/>
              </a:lnSpc>
              <a:spcAft>
                <a:spcPts val="1000"/>
              </a:spcAft>
              <a:defRPr/>
            </a:pPr>
            <a:r>
              <a:rPr lang="fr-FR" sz="2400" dirty="0">
                <a:latin typeface="Times New Roman" panose="02020603050405020304" pitchFamily="18" charset="0"/>
                <a:ea typeface="Calibri" panose="020F0502020204030204" pitchFamily="34" charset="0"/>
                <a:cs typeface="Arial" panose="020B0604020202020204" pitchFamily="34" charset="0"/>
              </a:rPr>
              <a:t>Glasgow à 15/15</a:t>
            </a:r>
            <a:endParaRPr lang="fr-TN" sz="2400" dirty="0">
              <a:ea typeface="Calibri" panose="020F0502020204030204" pitchFamily="34" charset="0"/>
              <a:cs typeface="Arial" panose="020B0604020202020204" pitchFamily="34" charset="0"/>
            </a:endParaRPr>
          </a:p>
          <a:p>
            <a:pPr>
              <a:lnSpc>
                <a:spcPct val="100000"/>
              </a:lnSpc>
              <a:spcAft>
                <a:spcPts val="1000"/>
              </a:spcAft>
              <a:defRPr/>
            </a:pPr>
            <a:r>
              <a:rPr lang="fr-FR" sz="2400" dirty="0">
                <a:latin typeface="Times New Roman" panose="02020603050405020304" pitchFamily="18" charset="0"/>
                <a:ea typeface="Calibri" panose="020F0502020204030204" pitchFamily="34" charset="0"/>
                <a:cs typeface="Arial" panose="020B0604020202020204" pitchFamily="34" charset="0"/>
              </a:rPr>
              <a:t>Pouls = 190batt / min, TRC à 5 sec , extrémités froides, PA = 55 / 22 </a:t>
            </a:r>
            <a:r>
              <a:rPr lang="fr-FR" sz="2400" dirty="0" err="1">
                <a:latin typeface="Times New Roman" panose="02020603050405020304" pitchFamily="18" charset="0"/>
                <a:ea typeface="Calibri" panose="020F0502020204030204" pitchFamily="34" charset="0"/>
                <a:cs typeface="Arial" panose="020B0604020202020204" pitchFamily="34" charset="0"/>
              </a:rPr>
              <a:t>mmHg</a:t>
            </a:r>
            <a:r>
              <a:rPr lang="fr-FR" sz="2400" dirty="0">
                <a:latin typeface="Times New Roman" panose="02020603050405020304" pitchFamily="18" charset="0"/>
                <a:ea typeface="Calibri" panose="020F0502020204030204" pitchFamily="34" charset="0"/>
                <a:cs typeface="Arial" panose="020B0604020202020204" pitchFamily="34" charset="0"/>
              </a:rPr>
              <a:t> </a:t>
            </a:r>
            <a:endParaRPr lang="fr-TN" sz="2400" dirty="0">
              <a:ea typeface="Calibri" panose="020F0502020204030204" pitchFamily="34" charset="0"/>
              <a:cs typeface="Arial" panose="020B0604020202020204" pitchFamily="34" charset="0"/>
            </a:endParaRPr>
          </a:p>
          <a:p>
            <a:pPr>
              <a:lnSpc>
                <a:spcPct val="100000"/>
              </a:lnSpc>
              <a:spcAft>
                <a:spcPts val="1000"/>
              </a:spcAft>
              <a:defRPr/>
            </a:pPr>
            <a:r>
              <a:rPr lang="fr-FR" sz="2400" dirty="0">
                <a:latin typeface="Times New Roman" panose="02020603050405020304" pitchFamily="18" charset="0"/>
                <a:ea typeface="Calibri" panose="020F0502020204030204" pitchFamily="34" charset="0"/>
                <a:cs typeface="Arial" panose="020B0604020202020204" pitchFamily="34" charset="0"/>
              </a:rPr>
              <a:t>Respiration ample, fréquence respiratoire  = 65 cycles/min </a:t>
            </a:r>
            <a:endParaRPr lang="fr-TN" sz="2400" dirty="0">
              <a:ea typeface="Calibri" panose="020F0502020204030204" pitchFamily="34" charset="0"/>
              <a:cs typeface="Arial" panose="020B0604020202020204" pitchFamily="34" charset="0"/>
            </a:endParaRPr>
          </a:p>
          <a:p>
            <a:pPr marL="567690" indent="0">
              <a:lnSpc>
                <a:spcPct val="100000"/>
              </a:lnSpc>
              <a:spcAft>
                <a:spcPts val="1000"/>
              </a:spcAft>
              <a:buNone/>
              <a:defRPr/>
            </a:pPr>
            <a:r>
              <a:rPr lang="fr-FR" sz="2400" dirty="0">
                <a:latin typeface="Times New Roman" panose="02020603050405020304" pitchFamily="18" charset="0"/>
                <a:ea typeface="Calibri" panose="020F0502020204030204" pitchFamily="34" charset="0"/>
                <a:cs typeface="Arial" panose="020B0604020202020204" pitchFamily="34" charset="0"/>
              </a:rPr>
              <a:t> </a:t>
            </a:r>
            <a:endParaRPr lang="fr-TN" sz="2400" dirty="0">
              <a:ea typeface="Calibri" panose="020F0502020204030204" pitchFamily="34" charset="0"/>
              <a:cs typeface="Arial" panose="020B0604020202020204" pitchFamily="34" charset="0"/>
            </a:endParaRPr>
          </a:p>
          <a:p>
            <a:pPr>
              <a:lnSpc>
                <a:spcPct val="100000"/>
              </a:lnSpc>
              <a:spcBef>
                <a:spcPct val="0"/>
              </a:spcBef>
              <a:buFont typeface="Calibri" panose="020F0502020204030204" pitchFamily="34" charset="0"/>
              <a:buAutoNum type="arabicPeriod"/>
              <a:defRPr/>
            </a:pPr>
            <a:endParaRPr lang="fr-FR" altLang="fr-TN" sz="2400" dirty="0"/>
          </a:p>
        </p:txBody>
      </p:sp>
      <p:sp>
        <p:nvSpPr>
          <p:cNvPr id="6" name="Titre 1">
            <a:extLst>
              <a:ext uri="{FF2B5EF4-FFF2-40B4-BE49-F238E27FC236}">
                <a16:creationId xmlns:a16="http://schemas.microsoft.com/office/drawing/2014/main" id="{6FEA0CDA-3CCD-7FB3-1F3E-BA0A480714C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371600" y="150725"/>
            <a:ext cx="9601200" cy="1225899"/>
          </a:xfrm>
          <a:solidFill>
            <a:schemeClr val="accent5"/>
          </a:solidFill>
        </p:spPr>
        <p:txBody>
          <a:bodyPr rtlCol="0">
            <a:normAutofit fontScale="90000"/>
          </a:bodyPr>
          <a:lstStyle/>
          <a:p>
            <a:pPr algn="l" eaLnBrk="1" fontAlgn="auto" hangingPunct="1">
              <a:spcAft>
                <a:spcPts val="0"/>
              </a:spcAft>
              <a:defRPr/>
            </a:pPr>
            <a:br>
              <a:rPr lang="fr-FR" b="1" dirty="0"/>
            </a:br>
            <a:r>
              <a:rPr lang="fr-FR" b="1" dirty="0"/>
              <a:t>Cas clinique 5 </a:t>
            </a:r>
            <a:br>
              <a:rPr lang="fr-FR" dirty="0"/>
            </a:br>
            <a:endParaRPr lang="fr-FR" dirty="0"/>
          </a:p>
        </p:txBody>
      </p:sp>
    </p:spTree>
    <p:extLst>
      <p:ext uri="{BB962C8B-B14F-4D97-AF65-F5344CB8AC3E}">
        <p14:creationId xmlns:p14="http://schemas.microsoft.com/office/powerpoint/2010/main" val="1562764885"/>
      </p:ext>
    </p:extLst>
  </p:cSld>
  <p:clrMapOvr>
    <a:masterClrMapping/>
  </p:clrMapOvr>
</p:sld>
</file>

<file path=ppt/slides/slide1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9874" name="Espace réservé du contenu 2">
            <a:extLst>
              <a:ext uri="{FF2B5EF4-FFF2-40B4-BE49-F238E27FC236}">
                <a16:creationId xmlns:a16="http://schemas.microsoft.com/office/drawing/2014/main" id="{3E262952-925A-5AD7-4341-B61C4FE26CD3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371600" y="1763078"/>
            <a:ext cx="9997440" cy="4094162"/>
          </a:xfrm>
        </p:spPr>
        <p:txBody>
          <a:bodyPr>
            <a:normAutofit fontScale="92500" lnSpcReduction="20000"/>
          </a:bodyPr>
          <a:lstStyle/>
          <a:p>
            <a:pPr marL="0" indent="0">
              <a:lnSpc>
                <a:spcPct val="115000"/>
              </a:lnSpc>
              <a:spcAft>
                <a:spcPts val="1000"/>
              </a:spcAft>
              <a:buNone/>
              <a:defRPr/>
            </a:pPr>
            <a:r>
              <a:rPr lang="fr-FR" sz="2400" b="1" dirty="0">
                <a:latin typeface="Times New Roman" panose="02020603050405020304" pitchFamily="18" charset="0"/>
                <a:ea typeface="Calibri" panose="020F0502020204030204" pitchFamily="34" charset="0"/>
                <a:cs typeface="Arial" panose="020B0604020202020204" pitchFamily="34" charset="0"/>
              </a:rPr>
              <a:t>4.La prise en charge comporte :</a:t>
            </a:r>
            <a:endParaRPr lang="fr-TN" sz="2400" dirty="0">
              <a:ea typeface="Calibri" panose="020F0502020204030204" pitchFamily="34" charset="0"/>
              <a:cs typeface="Arial" panose="020B0604020202020204" pitchFamily="34" charset="0"/>
            </a:endParaRPr>
          </a:p>
          <a:p>
            <a:pPr>
              <a:lnSpc>
                <a:spcPct val="115000"/>
              </a:lnSpc>
              <a:spcAft>
                <a:spcPts val="1000"/>
              </a:spcAft>
              <a:buFont typeface="+mj-lt"/>
              <a:buAutoNum type="alphaUcPeriod"/>
              <a:defRPr/>
            </a:pPr>
            <a:r>
              <a:rPr lang="fr-FR" sz="2400" dirty="0">
                <a:solidFill>
                  <a:srgbClr val="FF0000"/>
                </a:solidFill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Un remplissage par  </a:t>
            </a:r>
            <a:r>
              <a:rPr lang="fr-FR" sz="2400" dirty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du sérum physiologique isotonique à 9‰ 10 ml/kg à flot</a:t>
            </a:r>
            <a:endParaRPr lang="fr-TN" sz="2400" dirty="0">
              <a:solidFill>
                <a:srgbClr val="FF0000"/>
              </a:solidFill>
              <a:latin typeface="Times New Roman" panose="02020603050405020304" pitchFamily="18" charset="0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pPr>
              <a:lnSpc>
                <a:spcPct val="115000"/>
              </a:lnSpc>
              <a:spcAft>
                <a:spcPts val="1000"/>
              </a:spcAft>
              <a:buFont typeface="+mj-lt"/>
              <a:buAutoNum type="alphaUcPeriod"/>
              <a:defRPr/>
            </a:pPr>
            <a:r>
              <a:rPr lang="fr-FR" sz="2400" dirty="0">
                <a:latin typeface="Times New Roman" panose="02020603050405020304" pitchFamily="18" charset="0"/>
                <a:ea typeface="Calibri" panose="020F0502020204030204" pitchFamily="34" charset="0"/>
                <a:cs typeface="Arial" panose="020B0604020202020204" pitchFamily="34" charset="0"/>
              </a:rPr>
              <a:t>Un soluté de réhydratation sans potassium au début</a:t>
            </a:r>
            <a:endParaRPr lang="fr-TN" sz="2400" dirty="0">
              <a:ea typeface="Calibri" panose="020F0502020204030204" pitchFamily="34" charset="0"/>
              <a:cs typeface="Arial" panose="020B0604020202020204" pitchFamily="34" charset="0"/>
            </a:endParaRPr>
          </a:p>
          <a:p>
            <a:pPr>
              <a:lnSpc>
                <a:spcPct val="115000"/>
              </a:lnSpc>
              <a:spcAft>
                <a:spcPts val="1000"/>
              </a:spcAft>
              <a:buFont typeface="+mj-lt"/>
              <a:buAutoNum type="alphaUcPeriod"/>
              <a:defRPr/>
            </a:pPr>
            <a:r>
              <a:rPr lang="fr-FR" sz="2400" dirty="0">
                <a:solidFill>
                  <a:srgbClr val="FF0000"/>
                </a:solidFill>
                <a:latin typeface="Times New Roman" panose="02020603050405020304" pitchFamily="18" charset="0"/>
                <a:ea typeface="Calibri" panose="020F0502020204030204" pitchFamily="34" charset="0"/>
                <a:cs typeface="Arial" panose="020B0604020202020204" pitchFamily="34" charset="0"/>
              </a:rPr>
              <a:t>Un apport de 650 ml les 4 premières heures </a:t>
            </a:r>
            <a:endParaRPr lang="fr-TN" sz="2400" dirty="0">
              <a:solidFill>
                <a:srgbClr val="FF0000"/>
              </a:solidFill>
              <a:ea typeface="Calibri" panose="020F0502020204030204" pitchFamily="34" charset="0"/>
              <a:cs typeface="Arial" panose="020B0604020202020204" pitchFamily="34" charset="0"/>
            </a:endParaRPr>
          </a:p>
          <a:p>
            <a:pPr>
              <a:lnSpc>
                <a:spcPct val="115000"/>
              </a:lnSpc>
              <a:spcAft>
                <a:spcPts val="1000"/>
              </a:spcAft>
              <a:buFont typeface="+mj-lt"/>
              <a:buAutoNum type="alphaUcPeriod"/>
              <a:defRPr/>
            </a:pPr>
            <a:r>
              <a:rPr lang="fr-FR" sz="2400" dirty="0">
                <a:latin typeface="Times New Roman" panose="02020603050405020304" pitchFamily="18" charset="0"/>
                <a:ea typeface="Calibri" panose="020F0502020204030204" pitchFamily="34" charset="0"/>
                <a:cs typeface="Arial" panose="020B0604020202020204" pitchFamily="34" charset="0"/>
              </a:rPr>
              <a:t>Un débit de  perfusion constant</a:t>
            </a:r>
            <a:endParaRPr lang="fr-TN" sz="2400" dirty="0">
              <a:ea typeface="Calibri" panose="020F0502020204030204" pitchFamily="34" charset="0"/>
              <a:cs typeface="Arial" panose="020B0604020202020204" pitchFamily="34" charset="0"/>
            </a:endParaRPr>
          </a:p>
          <a:p>
            <a:pPr>
              <a:lnSpc>
                <a:spcPct val="115000"/>
              </a:lnSpc>
              <a:spcAft>
                <a:spcPts val="1000"/>
              </a:spcAft>
              <a:buFont typeface="+mj-lt"/>
              <a:buAutoNum type="alphaUcPeriod"/>
              <a:defRPr/>
            </a:pPr>
            <a:r>
              <a:rPr lang="fr-FR" sz="2400" dirty="0">
                <a:latin typeface="Times New Roman" panose="02020603050405020304" pitchFamily="18" charset="0"/>
                <a:ea typeface="Calibri" panose="020F0502020204030204" pitchFamily="34" charset="0"/>
                <a:cs typeface="Arial" panose="020B0604020202020204" pitchFamily="34" charset="0"/>
              </a:rPr>
              <a:t>Une correction du déficit sodé </a:t>
            </a:r>
            <a:endParaRPr lang="fr-TN" sz="2400" dirty="0">
              <a:ea typeface="Calibri" panose="020F0502020204030204" pitchFamily="34" charset="0"/>
              <a:cs typeface="Arial" panose="020B0604020202020204" pitchFamily="34" charset="0"/>
            </a:endParaRPr>
          </a:p>
          <a:p>
            <a:pPr marL="0" indent="0">
              <a:lnSpc>
                <a:spcPct val="115000"/>
              </a:lnSpc>
              <a:spcAft>
                <a:spcPts val="1000"/>
              </a:spcAft>
              <a:buNone/>
              <a:defRPr/>
            </a:pPr>
            <a:r>
              <a:rPr lang="fr-FR" sz="2400" dirty="0">
                <a:solidFill>
                  <a:srgbClr val="000000"/>
                </a:solidFill>
                <a:latin typeface="Times New Roman" panose="02020603050405020304" pitchFamily="18" charset="0"/>
                <a:ea typeface="Calibri" panose="020F0502020204030204" pitchFamily="34" charset="0"/>
                <a:cs typeface="Arial" panose="020B0604020202020204" pitchFamily="34" charset="0"/>
              </a:rPr>
              <a:t> </a:t>
            </a:r>
            <a:endParaRPr lang="fr-TN" sz="2400" dirty="0">
              <a:ea typeface="Calibri" panose="020F0502020204030204" pitchFamily="34" charset="0"/>
              <a:cs typeface="Arial" panose="020B0604020202020204" pitchFamily="34" charset="0"/>
            </a:endParaRPr>
          </a:p>
          <a:p>
            <a:pPr>
              <a:spcBef>
                <a:spcPct val="0"/>
              </a:spcBef>
              <a:buFont typeface="Calibri" panose="020F0502020204030204" pitchFamily="34" charset="0"/>
              <a:buAutoNum type="alphaUcPeriod"/>
              <a:defRPr/>
            </a:pPr>
            <a:endParaRPr lang="fr-FR" altLang="fr-TN" sz="2400" dirty="0">
              <a:solidFill>
                <a:srgbClr val="FF0000"/>
              </a:solidFill>
            </a:endParaRPr>
          </a:p>
        </p:txBody>
      </p:sp>
      <p:sp>
        <p:nvSpPr>
          <p:cNvPr id="3" name="Titre 2">
            <a:extLst>
              <a:ext uri="{FF2B5EF4-FFF2-40B4-BE49-F238E27FC236}">
                <a16:creationId xmlns:a16="http://schemas.microsoft.com/office/drawing/2014/main" id="{8E641863-3D9B-0DEF-790C-9D0C8DA8C0D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fr-TN"/>
          </a:p>
        </p:txBody>
      </p:sp>
    </p:spTree>
  </p:cSld>
  <p:clrMapOvr>
    <a:masterClrMapping/>
  </p:clrMapOvr>
</p:sld>
</file>

<file path=ppt/slides/slide1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0354" name="Titre 1">
            <a:extLst>
              <a:ext uri="{FF2B5EF4-FFF2-40B4-BE49-F238E27FC236}">
                <a16:creationId xmlns:a16="http://schemas.microsoft.com/office/drawing/2014/main" id="{2C710597-7B15-635C-2FDB-31D03BC021F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fr-TN" altLang="fr-TN"/>
          </a:p>
        </p:txBody>
      </p:sp>
      <p:pic>
        <p:nvPicPr>
          <p:cNvPr id="100355" name="Espace réservé du contenu 3">
            <a:extLst>
              <a:ext uri="{FF2B5EF4-FFF2-40B4-BE49-F238E27FC236}">
                <a16:creationId xmlns:a16="http://schemas.microsoft.com/office/drawing/2014/main" id="{B0507A1D-CC45-37FC-3BFE-FE549464A885}"/>
              </a:ext>
            </a:extLst>
          </p:cNvPr>
          <p:cNvPicPr>
            <a:picLocks noGrp="1" noChangeAspect="1" noChangeArrowheads="1"/>
          </p:cNvPicPr>
          <p:nvPr>
            <p:ph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931676" y="2715208"/>
            <a:ext cx="9432825" cy="2299835"/>
          </a:xfrm>
        </p:spPr>
      </p:pic>
    </p:spTree>
  </p:cSld>
  <p:clrMapOvr>
    <a:masterClrMapping/>
  </p:clrMapOvr>
</p:sld>
</file>

<file path=ppt/slides/slide13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Espace réservé du contenu 3">
            <a:extLst>
              <a:ext uri="{FF2B5EF4-FFF2-40B4-BE49-F238E27FC236}">
                <a16:creationId xmlns:a16="http://schemas.microsoft.com/office/drawing/2014/main" id="{5BB28C19-2543-5254-D33A-45DB37DE719E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 bwMode="auto">
          <a:xfrm>
            <a:off x="1507694" y="233266"/>
            <a:ext cx="8502535" cy="554194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101380" name="Picture 4">
            <a:extLst>
              <a:ext uri="{FF2B5EF4-FFF2-40B4-BE49-F238E27FC236}">
                <a16:creationId xmlns:a16="http://schemas.microsoft.com/office/drawing/2014/main" id="{67620796-AF9B-21CC-AC3F-1BFE970D08A7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647950" y="6150032"/>
            <a:ext cx="6896100" cy="58102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3" name="Titre 2">
            <a:extLst>
              <a:ext uri="{FF2B5EF4-FFF2-40B4-BE49-F238E27FC236}">
                <a16:creationId xmlns:a16="http://schemas.microsoft.com/office/drawing/2014/main" id="{44841773-9545-DEFE-32F4-E60E5A4A818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fr-TN" dirty="0"/>
          </a:p>
        </p:txBody>
      </p:sp>
    </p:spTree>
  </p:cSld>
  <p:clrMapOvr>
    <a:masterClrMapping/>
  </p:clrMapOvr>
</p:sld>
</file>

<file path=ppt/slides/slide13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Titre 1">
            <a:extLst>
              <a:ext uri="{FF2B5EF4-FFF2-40B4-BE49-F238E27FC236}">
                <a16:creationId xmlns:a16="http://schemas.microsoft.com/office/drawing/2014/main" id="{B74E48CB-F371-9C2B-5AD3-18D2A6737018}"/>
              </a:ext>
            </a:extLst>
          </p:cNvPr>
          <p:cNvSpPr>
            <a:spLocks noGrp="1"/>
          </p:cNvSpPr>
          <p:nvPr>
            <p:ph type="title"/>
          </p:nvPr>
        </p:nvSpPr>
        <p:spPr>
          <a:solidFill>
            <a:schemeClr val="accent6">
              <a:lumMod val="60000"/>
              <a:lumOff val="40000"/>
            </a:schemeClr>
          </a:solidFill>
        </p:spPr>
        <p:txBody>
          <a:bodyPr rtlCol="0">
            <a:normAutofit/>
          </a:bodyPr>
          <a:lstStyle/>
          <a:p>
            <a:pPr algn="l" eaLnBrk="1" fontAlgn="auto" hangingPunct="1">
              <a:spcAft>
                <a:spcPts val="0"/>
              </a:spcAft>
              <a:defRPr/>
            </a:pPr>
            <a:r>
              <a:rPr lang="fr-FR" b="1" dirty="0"/>
              <a:t>COMMENTAIRES</a:t>
            </a:r>
          </a:p>
        </p:txBody>
      </p:sp>
      <p:sp>
        <p:nvSpPr>
          <p:cNvPr id="3" name="Espace réservé du contenu 2">
            <a:extLst>
              <a:ext uri="{FF2B5EF4-FFF2-40B4-BE49-F238E27FC236}">
                <a16:creationId xmlns:a16="http://schemas.microsoft.com/office/drawing/2014/main" id="{210461EF-46B1-87C5-1987-09439C5EEF4A}"/>
              </a:ext>
            </a:extLst>
          </p:cNvPr>
          <p:cNvSpPr>
            <a:spLocks noGrp="1"/>
          </p:cNvSpPr>
          <p:nvPr>
            <p:ph idx="1"/>
          </p:nvPr>
        </p:nvSpPr>
        <p:spPr>
          <a:solidFill>
            <a:schemeClr val="accent6">
              <a:lumMod val="20000"/>
              <a:lumOff val="80000"/>
            </a:schemeClr>
          </a:solidFill>
          <a:ln>
            <a:solidFill>
              <a:srgbClr val="FF0000"/>
            </a:solidFill>
          </a:ln>
        </p:spPr>
        <p:txBody>
          <a:bodyPr>
            <a:normAutofit fontScale="62500" lnSpcReduction="20000"/>
          </a:bodyPr>
          <a:lstStyle/>
          <a:p>
            <a:pPr eaLnBrk="1" hangingPunct="1">
              <a:defRPr/>
            </a:pPr>
            <a:r>
              <a:rPr lang="fr-FR" sz="2400" dirty="0">
                <a:solidFill>
                  <a:schemeClr val="accent1">
                    <a:lumMod val="50000"/>
                  </a:schemeClr>
                </a:solidFill>
              </a:rPr>
              <a:t>Poids initial =10 kg</a:t>
            </a:r>
          </a:p>
          <a:p>
            <a:pPr eaLnBrk="1" hangingPunct="1">
              <a:defRPr/>
            </a:pPr>
            <a:r>
              <a:rPr lang="fr-FR" sz="2400" dirty="0">
                <a:solidFill>
                  <a:schemeClr val="accent1">
                    <a:lumMod val="50000"/>
                  </a:schemeClr>
                </a:solidFill>
              </a:rPr>
              <a:t>Besoin: si 10kg=100ml/kg/j</a:t>
            </a:r>
          </a:p>
          <a:p>
            <a:pPr eaLnBrk="1" hangingPunct="1">
              <a:defRPr/>
            </a:pPr>
            <a:endParaRPr lang="fr-FR" sz="2400" dirty="0">
              <a:solidFill>
                <a:schemeClr val="accent1">
                  <a:lumMod val="50000"/>
                </a:schemeClr>
              </a:solidFill>
            </a:endParaRPr>
          </a:p>
          <a:p>
            <a:pPr eaLnBrk="1" hangingPunct="1">
              <a:defRPr/>
            </a:pPr>
            <a:r>
              <a:rPr lang="fr-FR" sz="2400" b="1" dirty="0" err="1">
                <a:solidFill>
                  <a:schemeClr val="accent1">
                    <a:lumMod val="50000"/>
                  </a:schemeClr>
                </a:solidFill>
              </a:rPr>
              <a:t>Qte</a:t>
            </a:r>
            <a:r>
              <a:rPr lang="fr-FR" sz="2400" b="1" dirty="0">
                <a:solidFill>
                  <a:schemeClr val="accent1">
                    <a:lumMod val="50000"/>
                  </a:schemeClr>
                </a:solidFill>
              </a:rPr>
              <a:t>: ½ Pertes + besoins de 24H sur 24H</a:t>
            </a:r>
          </a:p>
          <a:p>
            <a:pPr eaLnBrk="1" hangingPunct="1">
              <a:defRPr/>
            </a:pPr>
            <a:r>
              <a:rPr lang="fr-FR" sz="2400" dirty="0">
                <a:solidFill>
                  <a:schemeClr val="accent1">
                    <a:lumMod val="50000"/>
                  </a:schemeClr>
                </a:solidFill>
              </a:rPr>
              <a:t>STADE III et pertes = 13% DONC </a:t>
            </a:r>
            <a:r>
              <a:rPr lang="fr-FR" sz="2400" dirty="0" err="1">
                <a:solidFill>
                  <a:schemeClr val="accent1">
                    <a:lumMod val="50000"/>
                  </a:schemeClr>
                </a:solidFill>
              </a:rPr>
              <a:t>deficit</a:t>
            </a:r>
            <a:r>
              <a:rPr lang="fr-FR" sz="2400" dirty="0">
                <a:solidFill>
                  <a:schemeClr val="accent1">
                    <a:lumMod val="50000"/>
                  </a:schemeClr>
                </a:solidFill>
              </a:rPr>
              <a:t>   130ml/kg </a:t>
            </a:r>
          </a:p>
          <a:p>
            <a:pPr eaLnBrk="1" hangingPunct="1">
              <a:defRPr/>
            </a:pPr>
            <a:r>
              <a:rPr lang="fr-FR" sz="2400" dirty="0">
                <a:solidFill>
                  <a:schemeClr val="accent1">
                    <a:lumMod val="50000"/>
                  </a:schemeClr>
                </a:solidFill>
              </a:rPr>
              <a:t>REGLE DE 3= quand Perte P : 10%/ pertes : 100ml/kg</a:t>
            </a:r>
          </a:p>
          <a:p>
            <a:pPr eaLnBrk="1" hangingPunct="1">
              <a:defRPr/>
            </a:pPr>
            <a:endParaRPr lang="fr-FR" sz="2400" dirty="0">
              <a:solidFill>
                <a:schemeClr val="accent1">
                  <a:lumMod val="50000"/>
                </a:schemeClr>
              </a:solidFill>
            </a:endParaRPr>
          </a:p>
          <a:p>
            <a:pPr eaLnBrk="1" hangingPunct="1">
              <a:defRPr/>
            </a:pPr>
            <a:r>
              <a:rPr lang="en-US" sz="2400" b="1" dirty="0">
                <a:solidFill>
                  <a:schemeClr val="accent1">
                    <a:lumMod val="50000"/>
                  </a:schemeClr>
                </a:solidFill>
              </a:rPr>
              <a:t>65ml/kg =650 ml sur 4H</a:t>
            </a:r>
          </a:p>
          <a:p>
            <a:pPr eaLnBrk="1" hangingPunct="1">
              <a:defRPr/>
            </a:pPr>
            <a:r>
              <a:rPr lang="en-US" sz="2400" b="1" dirty="0">
                <a:solidFill>
                  <a:schemeClr val="accent1">
                    <a:lumMod val="50000"/>
                  </a:schemeClr>
                </a:solidFill>
              </a:rPr>
              <a:t>650ml+100ml/kg(=1000ml)=1650ml sur 20h</a:t>
            </a:r>
            <a:endParaRPr lang="fr-FR" sz="2400" b="1" dirty="0">
              <a:solidFill>
                <a:schemeClr val="accent1">
                  <a:lumMod val="50000"/>
                </a:schemeClr>
              </a:solidFill>
            </a:endParaRPr>
          </a:p>
          <a:p>
            <a:pPr eaLnBrk="1" hangingPunct="1">
              <a:buFont typeface="Arial" panose="020B0604020202020204" pitchFamily="34" charset="0"/>
              <a:buNone/>
              <a:defRPr/>
            </a:pPr>
            <a:endParaRPr lang="fr-FR" sz="2400" dirty="0">
              <a:solidFill>
                <a:schemeClr val="accent1">
                  <a:lumMod val="50000"/>
                </a:schemeClr>
              </a:solidFill>
            </a:endParaRPr>
          </a:p>
          <a:p>
            <a:pPr eaLnBrk="1" hangingPunct="1">
              <a:buFont typeface="Arial" panose="020B0604020202020204" pitchFamily="34" charset="0"/>
              <a:buNone/>
              <a:defRPr/>
            </a:pPr>
            <a:r>
              <a:rPr lang="fr-FR" dirty="0">
                <a:solidFill>
                  <a:schemeClr val="accent1">
                    <a:lumMod val="50000"/>
                  </a:schemeClr>
                </a:solidFill>
              </a:rPr>
              <a:t> </a:t>
            </a:r>
            <a:endParaRPr lang="fr-FR" sz="2800" dirty="0">
              <a:solidFill>
                <a:schemeClr val="accent1">
                  <a:lumMod val="50000"/>
                </a:schemeClr>
              </a:solidFill>
            </a:endParaRPr>
          </a:p>
          <a:p>
            <a:pPr marL="342900" lvl="1" indent="-342900" eaLnBrk="1" hangingPunct="1">
              <a:buFont typeface="Arial" panose="020B0604020202020204" pitchFamily="34" charset="0"/>
              <a:buChar char="•"/>
              <a:defRPr/>
            </a:pPr>
            <a:endParaRPr lang="fr-FR" sz="2400" dirty="0"/>
          </a:p>
          <a:p>
            <a:pPr eaLnBrk="1" hangingPunct="1">
              <a:defRPr/>
            </a:pPr>
            <a:endParaRPr lang="fr-FR" dirty="0"/>
          </a:p>
          <a:p>
            <a:pPr eaLnBrk="1" hangingPunct="1">
              <a:defRPr/>
            </a:pPr>
            <a:endParaRPr lang="fr-FR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Crop">
  <a:themeElements>
    <a:clrScheme name="Crop">
      <a:dk1>
        <a:sysClr val="windowText" lastClr="000000"/>
      </a:dk1>
      <a:lt1>
        <a:sysClr val="window" lastClr="FFFFFF"/>
      </a:lt1>
      <a:dk2>
        <a:srgbClr val="191B0E"/>
      </a:dk2>
      <a:lt2>
        <a:srgbClr val="EFEDE3"/>
      </a:lt2>
      <a:accent1>
        <a:srgbClr val="8C8D86"/>
      </a:accent1>
      <a:accent2>
        <a:srgbClr val="E6C069"/>
      </a:accent2>
      <a:accent3>
        <a:srgbClr val="897B61"/>
      </a:accent3>
      <a:accent4>
        <a:srgbClr val="8DAB8E"/>
      </a:accent4>
      <a:accent5>
        <a:srgbClr val="77A2BB"/>
      </a:accent5>
      <a:accent6>
        <a:srgbClr val="E28394"/>
      </a:accent6>
      <a:hlink>
        <a:srgbClr val="77A2BB"/>
      </a:hlink>
      <a:folHlink>
        <a:srgbClr val="957A99"/>
      </a:folHlink>
    </a:clrScheme>
    <a:fontScheme name="Crop">
      <a:majorFont>
        <a:latin typeface="Franklin Gothic Book" panose="020B0503020102020204"/>
        <a:ea typeface=""/>
        <a:cs typeface=""/>
        <a:font script="Jpan" typeface="メイリオ"/>
        <a:font script="Hang" typeface="돋움"/>
        <a:font script="Hans" typeface="华文楷体"/>
        <a:font script="Hant" typeface="微軟正黑體"/>
        <a:font script="Arab" typeface="Tahoma"/>
        <a:font script="Hebr" typeface="Aharoni"/>
        <a:font script="Thai" typeface="LilyUPC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ahoma"/>
        <a:font script="Uigh" typeface="Microsoft Uighur"/>
        <a:font script="Geor" typeface="Sylfaen"/>
      </a:majorFont>
      <a:minorFont>
        <a:latin typeface="Franklin Gothic Book" panose="020B0503020102020204"/>
        <a:ea typeface=""/>
        <a:cs typeface=""/>
        <a:font script="Jpan" typeface="メイリオ"/>
        <a:font script="Hang" typeface="돋움"/>
        <a:font script="Hans" typeface="华文楷体"/>
        <a:font script="Hant" typeface="微軟正黑體"/>
        <a:font script="Arab" typeface="Tahoma"/>
        <a:font script="Hebr" typeface="Aharoni"/>
        <a:font script="Thai" typeface="LilyUPC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ahoma"/>
        <a:font script="Uigh" typeface="Microsoft Uighur"/>
        <a:font script="Geor" typeface="Sylfaen"/>
      </a:minorFont>
    </a:fontScheme>
    <a:fmtScheme name="Crop">
      <a:fillStyleLst>
        <a:solidFill>
          <a:schemeClr val="phClr"/>
        </a:solidFill>
        <a:gradFill rotWithShape="1">
          <a:gsLst>
            <a:gs pos="0">
              <a:schemeClr val="phClr">
                <a:tint val="67000"/>
                <a:satMod val="105000"/>
                <a:lumMod val="110000"/>
              </a:schemeClr>
            </a:gs>
            <a:gs pos="50000">
              <a:schemeClr val="phClr">
                <a:tint val="73000"/>
                <a:satMod val="103000"/>
                <a:lumMod val="105000"/>
              </a:schemeClr>
            </a:gs>
            <a:gs pos="100000">
              <a:schemeClr val="phClr">
                <a:tint val="81000"/>
                <a:satMod val="109000"/>
                <a:lumMod val="105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tint val="94000"/>
                <a:satMod val="103000"/>
                <a:lumMod val="102000"/>
              </a:schemeClr>
            </a:gs>
            <a:gs pos="50000">
              <a:schemeClr val="phClr">
                <a:shade val="100000"/>
                <a:satMod val="110000"/>
                <a:lumMod val="100000"/>
              </a:schemeClr>
            </a:gs>
            <a:gs pos="100000">
              <a:schemeClr val="phClr">
                <a:shade val="78000"/>
                <a:satMod val="120000"/>
                <a:lumMod val="99000"/>
              </a:schemeClr>
            </a:gs>
          </a:gsLst>
          <a:lin ang="5400000" scaled="0"/>
        </a:gradFill>
      </a:fillStyleLst>
      <a:lnStyleLst>
        <a:ln w="6350" cap="flat" cmpd="sng" algn="in">
          <a:solidFill>
            <a:schemeClr val="phClr"/>
          </a:solidFill>
          <a:prstDash val="solid"/>
        </a:ln>
        <a:ln w="34925" cap="flat" cmpd="sng" algn="in">
          <a:solidFill>
            <a:schemeClr val="phClr"/>
          </a:solidFill>
          <a:prstDash val="solid"/>
        </a:ln>
        <a:ln w="19050" cap="flat" cmpd="sng" algn="in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35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hade val="98000"/>
                <a:satMod val="150000"/>
                <a:lumMod val="102000"/>
              </a:schemeClr>
            </a:gs>
            <a:gs pos="50000">
              <a:schemeClr val="phClr">
                <a:tint val="98000"/>
                <a:shade val="90000"/>
                <a:satMod val="13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Crop" id="{EC9488ED-E761-4D60-9AC4-764D1FE2C171}" vid="{CE19780C-D67D-4C13-9DE9-A52BC3BA51B4}"/>
    </a:ext>
  </a:extLst>
</a:theme>
</file>

<file path=ppt/theme/theme2.xml><?xml version="1.0" encoding="utf-8"?>
<a:theme xmlns:a="http://schemas.openxmlformats.org/drawingml/2006/main" name="Thème Offic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1199</TotalTime>
  <Words>4896</Words>
  <Application>Microsoft Office PowerPoint</Application>
  <PresentationFormat>Grand écran</PresentationFormat>
  <Paragraphs>577</Paragraphs>
  <Slides>132</Slides>
  <Notes>5</Notes>
  <HiddenSlides>0</HiddenSlides>
  <MMClips>0</MMClips>
  <ScaleCrop>false</ScaleCrop>
  <HeadingPairs>
    <vt:vector size="6" baseType="variant">
      <vt:variant>
        <vt:lpstr>Polices utilisées</vt:lpstr>
      </vt:variant>
      <vt:variant>
        <vt:i4>6</vt:i4>
      </vt:variant>
      <vt:variant>
        <vt:lpstr>Thème</vt:lpstr>
      </vt:variant>
      <vt:variant>
        <vt:i4>1</vt:i4>
      </vt:variant>
      <vt:variant>
        <vt:lpstr>Titres des diapositives</vt:lpstr>
      </vt:variant>
      <vt:variant>
        <vt:i4>132</vt:i4>
      </vt:variant>
    </vt:vector>
  </HeadingPairs>
  <TitlesOfParts>
    <vt:vector size="139" baseType="lpstr">
      <vt:lpstr>MS PGothic</vt:lpstr>
      <vt:lpstr>Arial</vt:lpstr>
      <vt:lpstr>Calibri</vt:lpstr>
      <vt:lpstr>Franklin Gothic Book</vt:lpstr>
      <vt:lpstr>Myriad Pro</vt:lpstr>
      <vt:lpstr>Times New Roman</vt:lpstr>
      <vt:lpstr>Crop</vt:lpstr>
      <vt:lpstr>Déshydratation Aigue chez l’enfant</vt:lpstr>
      <vt:lpstr>QCM</vt:lpstr>
      <vt:lpstr>Objectif N° 1 :   Définir la déshydratation aigue de l’enfant</vt:lpstr>
      <vt:lpstr>1-La déshydratation aigue :</vt:lpstr>
      <vt:lpstr>Présentation PowerPoint</vt:lpstr>
      <vt:lpstr>La déshydratation aigue :</vt:lpstr>
      <vt:lpstr>Objectif N° 4 :   Etablir le diagnostic positif d’une déshydratation en se basant sur les données de l’anamnèse et de l’examen physique.</vt:lpstr>
      <vt:lpstr>2-Concernant la déshydratation du nourrisson :</vt:lpstr>
      <vt:lpstr>Présentation PowerPoint</vt:lpstr>
      <vt:lpstr>2-Concernant la déshydratation du nourrisson :</vt:lpstr>
      <vt:lpstr>3. Les signes de déshydratation extracellulaire sont :</vt:lpstr>
      <vt:lpstr>Présentation PowerPoint</vt:lpstr>
      <vt:lpstr>COMMENTAIRES: extracellulaire</vt:lpstr>
      <vt:lpstr>Présentation PowerPoint</vt:lpstr>
      <vt:lpstr>COMMENTAIRES: extracellulaire</vt:lpstr>
      <vt:lpstr>COMMENTAIRES</vt:lpstr>
      <vt:lpstr>Fréquence cardiaque</vt:lpstr>
      <vt:lpstr>Pression Artérielle</vt:lpstr>
      <vt:lpstr>3. Les signes de déshydratation extracellulaire sont :</vt:lpstr>
      <vt:lpstr>4- Les signes de déshydratation intracellulaire :</vt:lpstr>
      <vt:lpstr>Présentation PowerPoint</vt:lpstr>
      <vt:lpstr>COMMENTAIRES</vt:lpstr>
      <vt:lpstr>4- Les signes de déshydratation intracellulaire :</vt:lpstr>
      <vt:lpstr>Objectif N° 5 :   Evaluer le degré de sévérité d’une déshydratation aigue de l’enfant selon le score de l’OMS</vt:lpstr>
      <vt:lpstr>5-Dans le score de déshydratation :</vt:lpstr>
      <vt:lpstr>Présentation PowerPoint</vt:lpstr>
      <vt:lpstr>Présentation PowerPoint</vt:lpstr>
      <vt:lpstr>5-Dans le score de déshydratation :</vt:lpstr>
      <vt:lpstr>6-La déshydratation aigue chez l’enfant :</vt:lpstr>
      <vt:lpstr>6-La déshydratation aigue chez l’enfant :</vt:lpstr>
      <vt:lpstr>Présentation PowerPoint</vt:lpstr>
      <vt:lpstr>7-Une déshydratation d’un nourrisson est dite modérée si : </vt:lpstr>
      <vt:lpstr>7-Une déshydratation d’un nourrisson est dite modérée si : </vt:lpstr>
      <vt:lpstr>7-Les items du score d’OMS de déshydratation sont :</vt:lpstr>
      <vt:lpstr>Présentation PowerPoint</vt:lpstr>
      <vt:lpstr>7-Les items du score d’OMS de déshydratation sont :</vt:lpstr>
      <vt:lpstr>Objectif N° 6 :   Etablir la prise en charge d’une déshydratation aigue en fonction de sa sévérité</vt:lpstr>
      <vt:lpstr> 9-La réhydratation orale :</vt:lpstr>
      <vt:lpstr>Présentation PowerPoint</vt:lpstr>
      <vt:lpstr> 9-La réhydratation orale :</vt:lpstr>
      <vt:lpstr>Présentation PowerPoint</vt:lpstr>
      <vt:lpstr> 10-Lors d’une déshydratation stade 2  chez un nourrisson âgé de 1 mois </vt:lpstr>
      <vt:lpstr> 10-Lors d’une déshydratation stade 2  chez un nourrisson âgé de 1 mois </vt:lpstr>
      <vt:lpstr>Présentation PowerPoint</vt:lpstr>
      <vt:lpstr>11-La réhydratation parentérale : </vt:lpstr>
      <vt:lpstr>11-La réhydratation parentérale : </vt:lpstr>
      <vt:lpstr>Présentation PowerPoint</vt:lpstr>
      <vt:lpstr>12-La réhydratation parentérale doit être privilégiée dans les situations suivantes : </vt:lpstr>
      <vt:lpstr>12-La réhydratation parentérale doit être privilégiée dans les situations suivantes : </vt:lpstr>
      <vt:lpstr>Présentation PowerPoint</vt:lpstr>
      <vt:lpstr>13-Au cours d’une déshydratation chez nourrisson de 10kg de poids  avec au bilan la  Na+=120  mmol/L  :  </vt:lpstr>
      <vt:lpstr>13-Au cours d’une déshydratation chez nourrisson de 10kg de poids  avec au bilan la  Na+=120  mmol/L  :  </vt:lpstr>
      <vt:lpstr>Présentation PowerPoint</vt:lpstr>
      <vt:lpstr>Présentation PowerPoint</vt:lpstr>
      <vt:lpstr>Présentation PowerPoint</vt:lpstr>
      <vt:lpstr>14- Au cours d’une déshydratation avec une natrémie  à 151 mmol/L: </vt:lpstr>
      <vt:lpstr>Présentation PowerPoint</vt:lpstr>
      <vt:lpstr>14- Au cours d’une déshydratation avec une natrémie  à 151 mmol/L: </vt:lpstr>
      <vt:lpstr>15-Le soluté de réhydratation par voie orale (SRO) : Oralyte    est  : </vt:lpstr>
      <vt:lpstr>Présentation PowerPoint</vt:lpstr>
      <vt:lpstr>Présentation PowerPoint</vt:lpstr>
      <vt:lpstr>15-Le soluté de réhydratation par voie orale (SRO) : Oralyte    est  : </vt:lpstr>
      <vt:lpstr>Cas cliniques</vt:lpstr>
      <vt:lpstr>Cas clinique N°1</vt:lpstr>
      <vt:lpstr>  1-Les signes de déshydratation extracellulaire chez Ahmed : </vt:lpstr>
      <vt:lpstr>Présentation PowerPoint</vt:lpstr>
      <vt:lpstr>  1-Les signes de déshydratation extracellulaire chez Ahmed : </vt:lpstr>
      <vt:lpstr>Le score de déshydratation d’Ahmed est estimé à  : </vt:lpstr>
      <vt:lpstr>Cas clinique N°1</vt:lpstr>
      <vt:lpstr>Présentation PowerPoint</vt:lpstr>
      <vt:lpstr>Présentation PowerPoint</vt:lpstr>
      <vt:lpstr>Présentation PowerPoint</vt:lpstr>
      <vt:lpstr>Le score de déshydratation d’Ahmed est estimé à  : </vt:lpstr>
      <vt:lpstr>Il s’agit d’une déshydratation : </vt:lpstr>
      <vt:lpstr>Il s’agit d’une déshydratation : </vt:lpstr>
      <vt:lpstr>4-La prise en charge consiste à : </vt:lpstr>
      <vt:lpstr>4-La prise en charge consiste à : </vt:lpstr>
      <vt:lpstr>Cas clinique N°2</vt:lpstr>
      <vt:lpstr>Le score de déshydratation de Zeineb : </vt:lpstr>
      <vt:lpstr>Cas clinique N°2</vt:lpstr>
      <vt:lpstr>Présentation PowerPoint</vt:lpstr>
      <vt:lpstr>Présentation PowerPoint</vt:lpstr>
      <vt:lpstr>Présentation PowerPoint</vt:lpstr>
      <vt:lpstr>Le score de déshydratation de Zeineb : </vt:lpstr>
      <vt:lpstr>Il s’agit d’une déshydratation : </vt:lpstr>
      <vt:lpstr>Cas clinique N°2</vt:lpstr>
      <vt:lpstr>Il s’agit d’une déshydratation :  </vt:lpstr>
      <vt:lpstr>Le bilan demandé : Na+= 121 mmol/l, k+ = 4.8 mmol/l ,  Urée 20= mmol/l    créatinine =110umol/l , Glycémie =1,2g/L   GDS: 7,2, HCO3: 12, BE: -12 PCO2 : 30 glycémie : 5,6 mmol/l    Ce nourrisson présente :  </vt:lpstr>
      <vt:lpstr>Le bilan demandé : Na+= 121 mmol/l, k+ = 4.8 mmol/l ,  Urée 20= mmol/l    créatinine =110umol/l , Glycémie =1,2g/L   GDS: 7,2, HCO3: 12, BE: -12 PCO2 : 30 glycémie : 5,6 mmol/l    Ce nourrisson présente :  </vt:lpstr>
      <vt:lpstr>Devant cet état de déshydratation : </vt:lpstr>
      <vt:lpstr>Devant cet état de déshydratation : </vt:lpstr>
      <vt:lpstr>Présentation PowerPoint</vt:lpstr>
      <vt:lpstr>Cas clinique N°3</vt:lpstr>
      <vt:lpstr>1-Devant cet état de déshydratation : </vt:lpstr>
      <vt:lpstr>Présentation PowerPoint</vt:lpstr>
      <vt:lpstr>1-Devant cet état de déshydratation : </vt:lpstr>
      <vt:lpstr>Présentation PowerPoint</vt:lpstr>
      <vt:lpstr>2-Concernant la stratégie de prise en charge pour cet enfant </vt:lpstr>
      <vt:lpstr>Présentation PowerPoint</vt:lpstr>
      <vt:lpstr>2-Concernant la stratégie de prise en charge pour cet enfant </vt:lpstr>
      <vt:lpstr>Après 6 heures de  prise en charge, le nourrisson a présenté une crise convulsive brève d’une minute, un bilan a été pratiqué : Na+ =140mmol/ , K+=2,8 mmol/l, glycémie = 6,2 mmol/l, urée=18mmol/l , créatinine=150umol/l, PH=7,29 HCO3- =18   PaCO2=30 3. Les causes probables de cette convulsion sont : </vt:lpstr>
      <vt:lpstr>     Après 6 heures de  prise en charge, le nourrisson a présenté une crise convulsive brève d’une minute, un bilan a été pratiqué : Na+ =140mmol/ , K+=2,8 mmol/l, glycémie = 6,2 mmol/l, urée=18mmol/l , créatinine=150umol/l, PH=7,29 HCO3- =18   PaCO2=30 3. Les causes probables de cette convulsion sont : </vt:lpstr>
      <vt:lpstr>Présentation PowerPoint</vt:lpstr>
      <vt:lpstr>Autres cas</vt:lpstr>
      <vt:lpstr> Cas clinique 4  </vt:lpstr>
      <vt:lpstr>COMMENTAIRES</vt:lpstr>
      <vt:lpstr>Présentation PowerPoint</vt:lpstr>
      <vt:lpstr>Présentation PowerPoint</vt:lpstr>
      <vt:lpstr>Présentation PowerPoint</vt:lpstr>
      <vt:lpstr>A l’admission ,  vous prescrivez  :  </vt:lpstr>
      <vt:lpstr>Présentation PowerPoint</vt:lpstr>
      <vt:lpstr>Présentation PowerPoint</vt:lpstr>
      <vt:lpstr>Présentation PowerPoint</vt:lpstr>
      <vt:lpstr> Cas clinique 5  </vt:lpstr>
      <vt:lpstr>Présentation PowerPoint</vt:lpstr>
      <vt:lpstr>COMMENTAIRES</vt:lpstr>
      <vt:lpstr>Présentation PowerPoint</vt:lpstr>
      <vt:lpstr>Présentation PowerPoint</vt:lpstr>
      <vt:lpstr>Présentation PowerPoint</vt:lpstr>
      <vt:lpstr>Présentation PowerPoint</vt:lpstr>
      <vt:lpstr> Cas clinique 5  </vt:lpstr>
      <vt:lpstr>Présentation PowerPoint</vt:lpstr>
      <vt:lpstr>Présentation PowerPoint</vt:lpstr>
      <vt:lpstr>Présentation PowerPoint</vt:lpstr>
      <vt:lpstr>COMMENTAIRES</vt:lpstr>
      <vt:lpstr>Présentation PowerPoint</vt:lpstr>
      <vt:lpstr>Présentation PowerPoint</vt:lpstr>
      <vt:lpstr> Cas clinique 5  </vt:lpstr>
      <vt:lpstr>Présentation PowerPoint</vt:lpstr>
      <vt:lpstr>Présentation PowerPoint</vt:lpstr>
      <vt:lpstr>Présentation PowerPoint</vt:lpstr>
      <vt:lpstr>COMMENTAIRES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Déshydratation Aigue chez l’enfant</dc:title>
  <dc:creator>LENOVO</dc:creator>
  <cp:lastModifiedBy>samia tilouche</cp:lastModifiedBy>
  <cp:revision>34</cp:revision>
  <dcterms:created xsi:type="dcterms:W3CDTF">2025-08-25T12:07:56Z</dcterms:created>
  <dcterms:modified xsi:type="dcterms:W3CDTF">2025-08-26T16:47:50Z</dcterms:modified>
</cp:coreProperties>
</file>
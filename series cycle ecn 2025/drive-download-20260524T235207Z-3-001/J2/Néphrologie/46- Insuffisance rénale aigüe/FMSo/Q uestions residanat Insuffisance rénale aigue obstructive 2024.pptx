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91" r:id="rId3"/>
    <p:sldId id="303" r:id="rId4"/>
    <p:sldId id="310" r:id="rId5"/>
    <p:sldId id="305" r:id="rId6"/>
    <p:sldId id="314" r:id="rId7"/>
    <p:sldId id="306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09" r:id="rId19"/>
    <p:sldId id="313" r:id="rId20"/>
    <p:sldId id="315" r:id="rId21"/>
    <p:sldId id="320" r:id="rId22"/>
    <p:sldId id="321" r:id="rId23"/>
    <p:sldId id="322" r:id="rId24"/>
    <p:sldId id="323" r:id="rId25"/>
    <p:sldId id="324" r:id="rId26"/>
    <p:sldId id="333" r:id="rId27"/>
    <p:sldId id="334" r:id="rId28"/>
    <p:sldId id="335" r:id="rId29"/>
    <p:sldId id="336" r:id="rId30"/>
    <p:sldId id="337" r:id="rId31"/>
    <p:sldId id="338" r:id="rId32"/>
    <p:sldId id="264" r:id="rId33"/>
    <p:sldId id="272" r:id="rId34"/>
    <p:sldId id="258" r:id="rId35"/>
    <p:sldId id="280" r:id="rId36"/>
    <p:sldId id="281" r:id="rId37"/>
    <p:sldId id="282" r:id="rId38"/>
    <p:sldId id="283" r:id="rId39"/>
    <p:sldId id="284" r:id="rId40"/>
    <p:sldId id="339" r:id="rId41"/>
    <p:sldId id="260" r:id="rId42"/>
    <p:sldId id="273" r:id="rId43"/>
    <p:sldId id="274" r:id="rId44"/>
    <p:sldId id="261" r:id="rId45"/>
    <p:sldId id="271" r:id="rId46"/>
    <p:sldId id="275" r:id="rId4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84727" autoAdjust="0"/>
  </p:normalViewPr>
  <p:slideViewPr>
    <p:cSldViewPr snapToGrid="0">
      <p:cViewPr varScale="1">
        <p:scale>
          <a:sx n="70" d="100"/>
          <a:sy n="70" d="100"/>
        </p:scale>
        <p:origin x="1344" y="43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AEEA8-C0EC-4188-8D2C-29E2A72F68E1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0EDD0-6873-4EE0-A37E-BA8461DC2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400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D0EDD0-6873-4EE0-A37E-BA8461DC2FB7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613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83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66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016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951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89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88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031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61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033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274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62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5D67B-8ECF-4E49-B5AD-454B1C720F2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018E7-DDB4-4A6B-8615-16166D2AAB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13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08882" y="286247"/>
            <a:ext cx="10710407" cy="4142629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sz="31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Préparation concours de résidanat</a:t>
            </a:r>
            <a:br>
              <a:rPr lang="fr-FR" sz="31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sz="31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96699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3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322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fr-FR" sz="3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OBJECTIFS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fr-FR" sz="2400" dirty="0"/>
              <a:t>Définir une IRA obstructive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fr-FR" sz="2400" dirty="0"/>
              <a:t>Expliquer les principaux mécanismes physiopathologiques impliqués dans l’IRA</a:t>
            </a:r>
            <a:br>
              <a:rPr lang="fr-FR" sz="2400" dirty="0"/>
            </a:br>
            <a:r>
              <a:rPr lang="fr-FR" sz="2400" dirty="0"/>
              <a:t>obstructive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fr-FR" sz="2400" dirty="0"/>
              <a:t>Etablir le diagnostic positif d’une IRA obstructive à partir des données anamnestiques, cliniques et échographiques.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fr-FR" sz="2400" dirty="0"/>
              <a:t>Indiquer un drainage urgent des voies excrétrices au cours de l’IRA obstructive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fr-FR" sz="2400" dirty="0"/>
              <a:t>Enumérer les éléments cliniques et biologiques permettant le diagnostic précoce d’un syndrome de levée d’obstacle</a:t>
            </a:r>
            <a:endParaRPr lang="fr-FR" sz="24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269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3310" y="759125"/>
            <a:ext cx="10515600" cy="853926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Objectif 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72706" y="2532991"/>
            <a:ext cx="10515600" cy="952081"/>
          </a:xfrm>
        </p:spPr>
        <p:txBody>
          <a:bodyPr/>
          <a:lstStyle/>
          <a:p>
            <a:r>
              <a:rPr lang="fr-FR" dirty="0"/>
              <a:t>Définir une IRA obstructive</a:t>
            </a:r>
          </a:p>
        </p:txBody>
      </p:sp>
    </p:spTree>
    <p:extLst>
      <p:ext uri="{BB962C8B-B14F-4D97-AF65-F5344CB8AC3E}">
        <p14:creationId xmlns:p14="http://schemas.microsoft.com/office/powerpoint/2010/main" val="126260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Définition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Insuffisance rénale aigue post rénale</a:t>
            </a:r>
          </a:p>
          <a:p>
            <a:pPr>
              <a:lnSpc>
                <a:spcPct val="150000"/>
              </a:lnSpc>
            </a:pPr>
            <a:r>
              <a:rPr lang="fr-FR" dirty="0"/>
              <a:t>Diminution du débit de filtration glomérulaire due  à une obstruction située à un niveau quelconque de la voie excrétrice</a:t>
            </a:r>
          </a:p>
          <a:p>
            <a:pPr>
              <a:lnSpc>
                <a:spcPct val="150000"/>
              </a:lnSpc>
            </a:pPr>
            <a:r>
              <a:rPr lang="fr-FR" b="1" u="sng" dirty="0"/>
              <a:t>Urgence médico-chirurgicale</a:t>
            </a:r>
          </a:p>
          <a:p>
            <a:pPr>
              <a:lnSpc>
                <a:spcPct val="150000"/>
              </a:lnSpc>
            </a:pPr>
            <a:r>
              <a:rPr lang="fr-FR" dirty="0"/>
              <a:t>Prise en charge repose sur le drainage des urines</a:t>
            </a:r>
          </a:p>
          <a:p>
            <a:pPr>
              <a:lnSpc>
                <a:spcPct val="150000"/>
              </a:lnSpc>
            </a:pPr>
            <a:r>
              <a:rPr lang="fr-FR" dirty="0"/>
              <a:t>Pronostic dépend du délai de prise en charge</a:t>
            </a:r>
          </a:p>
        </p:txBody>
      </p:sp>
    </p:spTree>
    <p:extLst>
      <p:ext uri="{BB962C8B-B14F-4D97-AF65-F5344CB8AC3E}">
        <p14:creationId xmlns:p14="http://schemas.microsoft.com/office/powerpoint/2010/main" val="220099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3310" y="759125"/>
            <a:ext cx="10515600" cy="853926"/>
          </a:xfrm>
        </p:spPr>
        <p:txBody>
          <a:bodyPr>
            <a:normAutofit/>
          </a:bodyPr>
          <a:lstStyle/>
          <a:p>
            <a:pPr algn="ctr"/>
            <a:r>
              <a:rPr lang="fr-FR" sz="360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Objectif 5</a:t>
            </a:r>
            <a:endParaRPr lang="fr-FR" sz="36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72706" y="2532991"/>
            <a:ext cx="10515600" cy="952081"/>
          </a:xfrm>
        </p:spPr>
        <p:txBody>
          <a:bodyPr>
            <a:normAutofit/>
          </a:bodyPr>
          <a:lstStyle/>
          <a:p>
            <a:r>
              <a:rPr lang="fr-FR" dirty="0"/>
              <a:t>Expliquer les principaux mécanismes physiopathologiques impliqués dans l’IRA obstructive</a:t>
            </a:r>
          </a:p>
        </p:txBody>
      </p:sp>
    </p:spTree>
    <p:extLst>
      <p:ext uri="{BB962C8B-B14F-4D97-AF65-F5344CB8AC3E}">
        <p14:creationId xmlns:p14="http://schemas.microsoft.com/office/powerpoint/2010/main" val="2889009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Physiopathologie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13467" y="2119824"/>
            <a:ext cx="8651020" cy="435133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fr-FR" dirty="0"/>
              <a:t>Une cascade de phénomènes</a:t>
            </a:r>
          </a:p>
          <a:p>
            <a:pPr lvl="2">
              <a:lnSpc>
                <a:spcPct val="200000"/>
              </a:lnSpc>
            </a:pPr>
            <a:r>
              <a:rPr lang="fr-FR" sz="2400" dirty="0"/>
              <a:t>Obstruction intrinsèque ou extrinsèque</a:t>
            </a:r>
          </a:p>
          <a:p>
            <a:pPr lvl="2">
              <a:lnSpc>
                <a:spcPct val="200000"/>
              </a:lnSpc>
            </a:pPr>
            <a:r>
              <a:rPr lang="fr-FR" sz="2400" dirty="0"/>
              <a:t>Hyperpression d’amant dans les tubules rénaux (TCP )</a:t>
            </a:r>
          </a:p>
          <a:p>
            <a:pPr lvl="2">
              <a:lnSpc>
                <a:spcPct val="200000"/>
              </a:lnSpc>
            </a:pPr>
            <a:r>
              <a:rPr lang="fr-FR" sz="2400" dirty="0"/>
              <a:t>Blocage de la filtration glomérulaire</a:t>
            </a:r>
          </a:p>
          <a:p>
            <a:pPr lvl="2">
              <a:lnSpc>
                <a:spcPct val="200000"/>
              </a:lnSpc>
            </a:pPr>
            <a:r>
              <a:rPr lang="fr-FR" sz="2400" dirty="0"/>
              <a:t>Diminution du débit sanguin rénal </a:t>
            </a:r>
          </a:p>
        </p:txBody>
      </p:sp>
      <p:pic>
        <p:nvPicPr>
          <p:cNvPr id="1026" name="Picture 2" descr="Physiopathologie de l'IRA obstructive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88" t="23198" r="37142" b="13730"/>
          <a:stretch/>
        </p:blipFill>
        <p:spPr bwMode="auto">
          <a:xfrm>
            <a:off x="8308451" y="2011680"/>
            <a:ext cx="3593989" cy="429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oins 5"/>
          <p:cNvSpPr/>
          <p:nvPr/>
        </p:nvSpPr>
        <p:spPr>
          <a:xfrm>
            <a:off x="9994790" y="6062868"/>
            <a:ext cx="803082" cy="246491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prstClr val="black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530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3310" y="759125"/>
            <a:ext cx="10515600" cy="853926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Objectif 10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72706" y="2532991"/>
            <a:ext cx="10515600" cy="952081"/>
          </a:xfrm>
        </p:spPr>
        <p:txBody>
          <a:bodyPr>
            <a:normAutofit/>
          </a:bodyPr>
          <a:lstStyle/>
          <a:p>
            <a:r>
              <a:rPr lang="fr-FR" dirty="0"/>
              <a:t>Etablir le diagnostic positif d’une IRA obstructive à partir des données anamnestiques, cliniques et échographiques.</a:t>
            </a:r>
          </a:p>
        </p:txBody>
      </p:sp>
    </p:spTree>
    <p:extLst>
      <p:ext uri="{BB962C8B-B14F-4D97-AF65-F5344CB8AC3E}">
        <p14:creationId xmlns:p14="http://schemas.microsoft.com/office/powerpoint/2010/main" val="2327953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Diagnostic positif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Contexte</a:t>
            </a:r>
          </a:p>
          <a:p>
            <a:pPr lvl="1"/>
            <a:r>
              <a:rPr lang="fr-FR" dirty="0"/>
              <a:t>Absence de miction</a:t>
            </a:r>
          </a:p>
          <a:p>
            <a:pPr lvl="1"/>
            <a:r>
              <a:rPr lang="fr-FR" dirty="0"/>
              <a:t>signes d’IR :nausées, vomissements, céphalées, diarrhées</a:t>
            </a:r>
          </a:p>
          <a:p>
            <a:pPr lvl="1"/>
            <a:r>
              <a:rPr lang="fr-FR" dirty="0"/>
              <a:t>Colique néphrétique</a:t>
            </a:r>
          </a:p>
          <a:p>
            <a:r>
              <a:rPr lang="fr-FR" dirty="0"/>
              <a:t>Mode d’installation</a:t>
            </a:r>
          </a:p>
          <a:p>
            <a:r>
              <a:rPr lang="fr-FR" dirty="0"/>
              <a:t>ATCD</a:t>
            </a:r>
          </a:p>
          <a:p>
            <a:r>
              <a:rPr lang="fr-FR" dirty="0"/>
              <a:t>Notion de rein unique</a:t>
            </a:r>
          </a:p>
          <a:p>
            <a:r>
              <a:rPr lang="fr-FR" dirty="0"/>
              <a:t>Notion de dlr précédent l’anurie</a:t>
            </a:r>
          </a:p>
          <a:p>
            <a:r>
              <a:rPr lang="fr-FR" b="1" dirty="0"/>
              <a:t>Souvent le diagnostic est facile si le sujet est conscient </a:t>
            </a:r>
          </a:p>
        </p:txBody>
      </p:sp>
    </p:spTree>
    <p:extLst>
      <p:ext uri="{BB962C8B-B14F-4D97-AF65-F5344CB8AC3E}">
        <p14:creationId xmlns:p14="http://schemas.microsoft.com/office/powerpoint/2010/main" val="399409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Diagnostic positif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2540" y="2350411"/>
            <a:ext cx="10515600" cy="3644872"/>
          </a:xfrm>
        </p:spPr>
        <p:txBody>
          <a:bodyPr>
            <a:normAutofit/>
          </a:bodyPr>
          <a:lstStyle/>
          <a:p>
            <a:r>
              <a:rPr lang="fr-FR" dirty="0"/>
              <a:t>Chercher un globe vésical</a:t>
            </a:r>
          </a:p>
          <a:p>
            <a:r>
              <a:rPr lang="fr-FR" dirty="0"/>
              <a:t>Chercher les signes d IRA</a:t>
            </a:r>
          </a:p>
          <a:p>
            <a:r>
              <a:rPr lang="fr-FR" dirty="0"/>
              <a:t>Chercher les signes d’orientation étiologiques</a:t>
            </a:r>
          </a:p>
          <a:p>
            <a:pPr lvl="1"/>
            <a:r>
              <a:rPr lang="fr-FR" dirty="0"/>
              <a:t>Cicatrices</a:t>
            </a:r>
          </a:p>
          <a:p>
            <a:pPr lvl="1"/>
            <a:r>
              <a:rPr lang="fr-FR" dirty="0"/>
              <a:t>Lombalgie provoqué</a:t>
            </a:r>
          </a:p>
          <a:p>
            <a:pPr lvl="1"/>
            <a:r>
              <a:rPr lang="fr-FR" dirty="0"/>
              <a:t>Touchers pelviens</a:t>
            </a:r>
          </a:p>
          <a:p>
            <a:r>
              <a:rPr lang="fr-FR" dirty="0"/>
              <a:t>Rechercher des signes de gravités de l’ IR </a:t>
            </a:r>
            <a:br>
              <a:rPr lang="fr-FR" dirty="0"/>
            </a:b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338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Diagnostic positif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3170" y="2294752"/>
            <a:ext cx="5013960" cy="3644872"/>
          </a:xfrm>
        </p:spPr>
        <p:txBody>
          <a:bodyPr>
            <a:normAutofit/>
          </a:bodyPr>
          <a:lstStyle/>
          <a:p>
            <a:r>
              <a:rPr lang="fr-FR" b="1" dirty="0"/>
              <a:t>Bilans à réaliser en urgence :</a:t>
            </a:r>
          </a:p>
          <a:p>
            <a:r>
              <a:rPr lang="fr-FR" dirty="0"/>
              <a:t>Urée , </a:t>
            </a:r>
            <a:r>
              <a:rPr lang="fr-FR" dirty="0" err="1"/>
              <a:t>créat</a:t>
            </a:r>
            <a:endParaRPr lang="fr-FR" dirty="0"/>
          </a:p>
          <a:p>
            <a:r>
              <a:rPr lang="fr-FR" dirty="0"/>
              <a:t>Ionogramme sanguin</a:t>
            </a:r>
          </a:p>
          <a:p>
            <a:r>
              <a:rPr lang="fr-FR" dirty="0"/>
              <a:t>Gaz du sang si disponible</a:t>
            </a:r>
          </a:p>
          <a:p>
            <a:r>
              <a:rPr lang="fr-FR" dirty="0"/>
              <a:t>RX Thorax</a:t>
            </a:r>
          </a:p>
          <a:p>
            <a:r>
              <a:rPr lang="fr-FR" dirty="0"/>
              <a:t>ECG</a:t>
            </a:r>
            <a:br>
              <a:rPr lang="fr-FR" dirty="0"/>
            </a:br>
            <a:endParaRPr lang="fr-FR" b="1" dirty="0"/>
          </a:p>
        </p:txBody>
      </p:sp>
      <p:sp>
        <p:nvSpPr>
          <p:cNvPr id="4" name="Accolade fermante 3"/>
          <p:cNvSpPr/>
          <p:nvPr/>
        </p:nvSpPr>
        <p:spPr>
          <a:xfrm>
            <a:off x="5852161" y="3490622"/>
            <a:ext cx="1367624" cy="1566407"/>
          </a:xfrm>
          <a:prstGeom prst="rightBrace">
            <a:avLst>
              <a:gd name="adj1" fmla="val 8333"/>
              <a:gd name="adj2" fmla="val 49492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black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7076661" y="4073770"/>
            <a:ext cx="3363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prstClr val="black"/>
                </a:solidFill>
              </a:rPr>
              <a:t>Signes de gravité</a:t>
            </a:r>
          </a:p>
        </p:txBody>
      </p:sp>
    </p:spTree>
    <p:extLst>
      <p:ext uri="{BB962C8B-B14F-4D97-AF65-F5344CB8AC3E}">
        <p14:creationId xmlns:p14="http://schemas.microsoft.com/office/powerpoint/2010/main" val="40277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Diagnostic positif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00877" y="2175483"/>
            <a:ext cx="7749210" cy="3533554"/>
          </a:xfrm>
        </p:spPr>
        <p:txBody>
          <a:bodyPr/>
          <a:lstStyle/>
          <a:p>
            <a:r>
              <a:rPr lang="fr-FR" dirty="0"/>
              <a:t>Examen radiologique de première intention:</a:t>
            </a:r>
          </a:p>
          <a:p>
            <a:pPr lvl="1"/>
            <a:r>
              <a:rPr lang="fr-FR" b="1" u="sng" dirty="0"/>
              <a:t>Echographie rénale :</a:t>
            </a:r>
          </a:p>
          <a:p>
            <a:pPr lvl="2"/>
            <a:r>
              <a:rPr lang="fr-FR" sz="2300" dirty="0"/>
              <a:t>Dilatation des VES </a:t>
            </a:r>
          </a:p>
          <a:p>
            <a:pPr lvl="2"/>
            <a:r>
              <a:rPr lang="fr-FR" sz="2300" dirty="0"/>
              <a:t>Taille normale des reins</a:t>
            </a:r>
          </a:p>
          <a:p>
            <a:pPr lvl="2"/>
            <a:r>
              <a:rPr lang="fr-FR" dirty="0">
                <a:solidFill>
                  <a:srgbClr val="FF0000"/>
                </a:solidFill>
              </a:rPr>
              <a:t>L’absence de dilatation des cavités ne permet pas d’exclure une origine obstructive à l’IRA </a:t>
            </a:r>
            <a:br>
              <a:rPr lang="fr-FR"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 lvl="1"/>
            <a:r>
              <a:rPr lang="fr-FR" dirty="0"/>
              <a:t>Autres examens : AUSP, TDM, </a:t>
            </a:r>
            <a:r>
              <a:rPr lang="fr-FR" dirty="0" err="1"/>
              <a:t>Uro</a:t>
            </a:r>
            <a:r>
              <a:rPr lang="fr-FR" dirty="0"/>
              <a:t>-IRM</a:t>
            </a:r>
          </a:p>
        </p:txBody>
      </p:sp>
      <p:pic>
        <p:nvPicPr>
          <p:cNvPr id="3074" name="Picture 2" descr="CHAPITRE 34 Insuffisance rénale aiguë de l'adulte ITEM 348 – Insuffisance  rénale aiguë (IRA). Anuri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930" y="1987826"/>
            <a:ext cx="3767069" cy="2957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998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ETIOLOGIES</a:t>
            </a:r>
            <a:endParaRPr lang="fr-F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957885" y="556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fr-FR" altLang="fr-FR">
                <a:solidFill>
                  <a:prstClr val="black"/>
                </a:solidFill>
                <a:latin typeface="Arial" panose="020B0604020202020204" pitchFamily="34" charset="0"/>
              </a:rPr>
            </a:br>
            <a:endParaRPr lang="fr-FR" altLang="fr-FR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1763" y="1720840"/>
            <a:ext cx="9994790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prstClr val="black"/>
                </a:solidFill>
              </a:rPr>
              <a:t>Lithiases urinaires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</a:rPr>
              <a:t>Calcul unilatéral sur rein fonctionnel unique ou lithiases bilatérales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prstClr val="black"/>
                </a:solidFill>
              </a:rPr>
              <a:t>Pathologie tumorale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</a:rPr>
              <a:t>Adénome de prostate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</a:rPr>
              <a:t>Cancer de la prostate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</a:rPr>
              <a:t>Cancer du col utérin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</a:rPr>
              <a:t>Tumeur de vessie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</a:rPr>
              <a:t>Cancer du rectum, de l’ovaire, de l’utérus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</a:rPr>
              <a:t>Métastases </a:t>
            </a:r>
            <a:r>
              <a:rPr lang="fr-FR" sz="2400" dirty="0" err="1">
                <a:solidFill>
                  <a:prstClr val="black"/>
                </a:solidFill>
              </a:rPr>
              <a:t>rétropéritonéales</a:t>
            </a:r>
            <a:endParaRPr lang="fr-FR" sz="2400" dirty="0">
              <a:solidFill>
                <a:prstClr val="black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prstClr val="black"/>
                </a:solidFill>
              </a:rPr>
              <a:t>Pathologies inflammatoires : fibrose </a:t>
            </a:r>
            <a:r>
              <a:rPr lang="fr-FR" sz="2400" b="1" dirty="0" err="1">
                <a:solidFill>
                  <a:prstClr val="black"/>
                </a:solidFill>
              </a:rPr>
              <a:t>rétropéritonéale</a:t>
            </a:r>
            <a:endParaRPr lang="fr-FR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578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3310" y="759125"/>
            <a:ext cx="10515600" cy="853926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Objectif 11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72706" y="2532991"/>
            <a:ext cx="10515600" cy="952081"/>
          </a:xfrm>
        </p:spPr>
        <p:txBody>
          <a:bodyPr>
            <a:normAutofit/>
          </a:bodyPr>
          <a:lstStyle/>
          <a:p>
            <a:r>
              <a:rPr lang="fr-FR" dirty="0"/>
              <a:t>Indiquer un drainage urgent des voies excrétrices au cours de l’IRA obstructive</a:t>
            </a:r>
          </a:p>
        </p:txBody>
      </p:sp>
    </p:spTree>
    <p:extLst>
      <p:ext uri="{BB962C8B-B14F-4D97-AF65-F5344CB8AC3E}">
        <p14:creationId xmlns:p14="http://schemas.microsoft.com/office/powerpoint/2010/main" val="2108829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PEC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Urgence médico-chirurgicale</a:t>
            </a:r>
          </a:p>
          <a:p>
            <a:pPr>
              <a:lnSpc>
                <a:spcPct val="150000"/>
              </a:lnSpc>
            </a:pPr>
            <a:r>
              <a:rPr lang="fr-FR" dirty="0"/>
              <a:t>Milieu Urologique</a:t>
            </a:r>
          </a:p>
          <a:p>
            <a:pPr>
              <a:lnSpc>
                <a:spcPct val="150000"/>
              </a:lnSpc>
            </a:pPr>
            <a:r>
              <a:rPr lang="fr-FR" dirty="0"/>
              <a:t>Hospitalisation</a:t>
            </a:r>
          </a:p>
          <a:p>
            <a:pPr>
              <a:lnSpc>
                <a:spcPct val="150000"/>
              </a:lnSpc>
            </a:pPr>
            <a:r>
              <a:rPr lang="fr-FR" dirty="0"/>
              <a:t>Eliminer une urgence à l’hémodialyse</a:t>
            </a:r>
          </a:p>
          <a:p>
            <a:pPr>
              <a:lnSpc>
                <a:spcPct val="150000"/>
              </a:lnSpc>
            </a:pPr>
            <a:r>
              <a:rPr lang="fr-FR" b="1" u="sng" dirty="0">
                <a:solidFill>
                  <a:srgbClr val="FF0000"/>
                </a:solidFill>
              </a:rPr>
              <a:t>Drainage en urgence des urines</a:t>
            </a:r>
          </a:p>
          <a:p>
            <a:pPr>
              <a:lnSpc>
                <a:spcPct val="150000"/>
              </a:lnSpc>
            </a:pPr>
            <a:r>
              <a:rPr lang="fr-FR" dirty="0"/>
              <a:t>Surveillance de la diurèse et dépistage du syndrome de levée d’obstacle</a:t>
            </a:r>
          </a:p>
          <a:p>
            <a:pPr>
              <a:lnSpc>
                <a:spcPct val="150000"/>
              </a:lnSpc>
            </a:pPr>
            <a:r>
              <a:rPr lang="fr-FR" dirty="0"/>
              <a:t>Traitement étiologique ultérieur </a:t>
            </a:r>
            <a:br>
              <a:rPr lang="fr-FR" dirty="0"/>
            </a:br>
            <a:endParaRPr lang="fr-FR" b="1" u="sng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957885" y="556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fr-FR" altLang="fr-FR">
                <a:solidFill>
                  <a:prstClr val="black"/>
                </a:solidFill>
                <a:latin typeface="Arial" panose="020B0604020202020204" pitchFamily="34" charset="0"/>
              </a:rPr>
            </a:br>
            <a:endParaRPr lang="fr-FR" altLang="fr-FR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345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Moyens de drainage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6095337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FR" u="sng" dirty="0"/>
              <a:t>Obstacle sous vésical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Sonde transuréthrale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Ponction sus pubienne</a:t>
            </a:r>
          </a:p>
          <a:p>
            <a:pPr>
              <a:lnSpc>
                <a:spcPct val="150000"/>
              </a:lnSpc>
            </a:pPr>
            <a:r>
              <a:rPr lang="fr-FR" dirty="0"/>
              <a:t>Obstacle sus vésical</a:t>
            </a:r>
            <a:endParaRPr lang="fr-FR" b="1" u="sng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fr-FR" dirty="0"/>
              <a:t>Sonde double j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Sonde urétérale 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Sonde de nephrostomie percutanée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957885" y="556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fr-FR" altLang="fr-FR">
                <a:solidFill>
                  <a:prstClr val="black"/>
                </a:solidFill>
                <a:latin typeface="Arial" panose="020B0604020202020204" pitchFamily="34" charset="0"/>
              </a:rPr>
            </a:br>
            <a:endParaRPr lang="fr-FR" altLang="fr-FR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pic>
        <p:nvPicPr>
          <p:cNvPr id="7170" name="Picture 2" descr="Urol'Orient - Chirurgie Urologique à Lori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192" y="1825625"/>
            <a:ext cx="1689128" cy="203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Néphrostomi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5478" y="3719512"/>
            <a:ext cx="1857375" cy="245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dr-dacremont.fr/Interventions/sondes%20ureterale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5478" y="1690688"/>
            <a:ext cx="2059388" cy="153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37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3310" y="759125"/>
            <a:ext cx="10515600" cy="853926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Objectif 12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72706" y="2532991"/>
            <a:ext cx="10515600" cy="952081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Enumérer les éléments cliniques et biologiques permettant le diagnostic précoce d’un</a:t>
            </a:r>
          </a:p>
          <a:p>
            <a:r>
              <a:rPr lang="fr-FR" dirty="0"/>
              <a:t>syndrome de levée d’obstacle</a:t>
            </a:r>
          </a:p>
        </p:txBody>
      </p:sp>
    </p:spTree>
    <p:extLst>
      <p:ext uri="{BB962C8B-B14F-4D97-AF65-F5344CB8AC3E}">
        <p14:creationId xmlns:p14="http://schemas.microsoft.com/office/powerpoint/2010/main" val="3519071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56099"/>
          </a:xfrm>
        </p:spPr>
        <p:txBody>
          <a:bodyPr/>
          <a:lstStyle/>
          <a:p>
            <a:pPr algn="ctr"/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Insuffisance rénale aigue obstructive</a:t>
            </a:r>
            <a:b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FR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Syndrome de levée d’obstacle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55693"/>
            <a:ext cx="11084859" cy="43212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Hyper diurèse secondaire à la perte du pouvoir de concentration des urines de l’un ou des 2 reins qui aboutit a la déshydratation majeure</a:t>
            </a:r>
          </a:p>
          <a:p>
            <a:pPr>
              <a:lnSpc>
                <a:spcPct val="150000"/>
              </a:lnSpc>
            </a:pPr>
            <a:r>
              <a:rPr lang="fr-FR" dirty="0"/>
              <a:t>Due à une compensation inefficace des pertes urinaires</a:t>
            </a:r>
          </a:p>
          <a:p>
            <a:pPr>
              <a:lnSpc>
                <a:spcPct val="150000"/>
              </a:lnSpc>
            </a:pPr>
            <a:r>
              <a:rPr lang="fr-FR" dirty="0"/>
              <a:t>Traitement 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Préventif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Surveillance clinique (état d’hydratation), diurèse, biologique ( Na+, K+)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Compensation efficace des pertes volume par volume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957885" y="556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683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2443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l’ IRA obstructive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/>
              <a:t>Est définie comme une IRA pré rénale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/>
              <a:t>Constitue une urgence médico-chirurgicale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/>
              <a:t>Les lithiases rénales constituent la cause la plus fréquente chez le sujet jeune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/>
              <a:t>Peut être due à une compression extrinsèque par une tumeur pelvienne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/>
              <a:t>Peut être due à une lithiase urétérale obstructive avec un rein controlatéral normal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91764" y="2639833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671886" y="3301117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91764" y="4001294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74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9836" y="365125"/>
            <a:ext cx="10673964" cy="1325563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 mécanismes physiopathologiques de l’’IRA obstructive comportent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8658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augmentation de la pression hydrostatique intra-tubulaire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diminution du débit plasmatique rénal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diminution de la pression d’ultrafiltration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 baisse du flux sanguin rénal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 obstacle sur les voies excrétrices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59958" y="2146853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79836" y="5487726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27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49223"/>
            <a:ext cx="10515600" cy="97864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 cours de l’ IRA obstructive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197764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 diurèse conservée élimine le diagnostic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L’obstacle est toujours bilatéral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fonction rénale normale antérieure est en faveur du diagnostic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La présence d’hématurie avec caillot est en faveur du diagnostic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Le délai de prise en charge conditionne le pronostic ultérieur</a:t>
            </a:r>
          </a:p>
        </p:txBody>
      </p:sp>
      <p:sp>
        <p:nvSpPr>
          <p:cNvPr id="4" name="Ellipse 3"/>
          <p:cNvSpPr/>
          <p:nvPr/>
        </p:nvSpPr>
        <p:spPr>
          <a:xfrm>
            <a:off x="699715" y="3983603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699715" y="4700546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99715" y="5495677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94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1366" y="4923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 faveur d’une IRA obstructive, vous retenez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197764"/>
            <a:ext cx="10515600" cy="4351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Antécédents de cancers digestifs ou utérins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hypotension orthostatique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 globe vésical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La présence d’urines concentrés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Antécédents de lithiase rénale</a:t>
            </a:r>
          </a:p>
        </p:txBody>
      </p:sp>
      <p:sp>
        <p:nvSpPr>
          <p:cNvPr id="4" name="Ellipse 3"/>
          <p:cNvSpPr/>
          <p:nvPr/>
        </p:nvSpPr>
        <p:spPr>
          <a:xfrm>
            <a:off x="588396" y="3950411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691763" y="2421047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588396" y="5479775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31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confirmation  diagnostique de l’IRA obstructive repose sur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La Clinique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L’Echographie rénale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L’AUSP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L’IRM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Le Couple AUSP- Echographie</a:t>
            </a:r>
          </a:p>
          <a:p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59957" y="2850417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76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L’echographie rénale dans le cadre de l’IRA obstructive: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Confirme le diagnostic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Elimine le diagnostic si elle est normale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Montre typiquement une dilatation des voies excrétrices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Peut visualiser l’obstacle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Est largement supplantée par l’AUSP</a:t>
            </a:r>
          </a:p>
          <a:p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731077" y="2050859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659957" y="3603728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3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4976" y="4843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 pathologies suivantes peuvent être responsables d’IRA obstructive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7325" y="219776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Cancer de la prostate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Cancer pulmonaire localisé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Rétrécissement urétral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Lithiase urétérale pelvienne bilatérale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Fibrose </a:t>
            </a:r>
            <a:r>
              <a:rPr lang="fr-FR" dirty="0" err="1"/>
              <a:t>rétropéritonéale</a:t>
            </a:r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310100" y="2421046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384976" y="3975868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344557" y="4761241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344557" y="5546614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93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7307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 bilans biologiques à réaliser en urgence devant une IRA obstructive sont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endParaRPr lang="fr-FR" dirty="0"/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Iono sanguin 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Urée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Protéinurie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Créatinine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 err="1"/>
              <a:t>Magnesemie</a:t>
            </a:r>
            <a:endParaRPr lang="fr-FR" dirty="0"/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91178" y="2536702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691179" y="3308139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09602" y="4858591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18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Quels sont les moyens de drainage possibles en cas d’obstacle sus vésical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sonde transuréthrale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Cathéter sus pubien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Sonde double J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Sonde urétérale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Sonde de nephrostomie percutanée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20201" y="3733011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620201" y="4557421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39417" y="5498202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35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Quels sont les moyens de drainage possibles en cas d’obstacle sous vésical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561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Sonde double J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sonde transuréthrale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Sonde urétérale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Cathéter sus pubien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Sonde de nephrostomie percutanée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56508" y="2945398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577579" y="4609398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86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2499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Concernant la prise en charge d’une insuffisance rénale aigue obstructive, quelles sont les propositions vraies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73333"/>
            <a:ext cx="10961536" cy="4797812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/>
              <a:t>En cas d’obstacle sous vésical, on doit effectuer un drainage vésical en 1ère intention 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/>
              <a:t>En cas de rétention aigue d’urine secondaire à une prostatite aigue, on peut poser une sonde urinaire 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/>
              <a:t>En cas de rétention aiguë d’urine secondaire à une hématurie caillotante, la pose d’un cathéter sus pubien est contre indiquée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/>
              <a:t> En cas de compression urétérale bilatérale, on peut poser deux sondes JJ 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/>
              <a:t>En cas de lithiase rénale bilatérale, on doit faire une lithotripsie extra corporelle en urgence afin de permettre la levée de l’obstacle</a:t>
            </a:r>
          </a:p>
        </p:txBody>
      </p:sp>
      <p:sp>
        <p:nvSpPr>
          <p:cNvPr id="4" name="Ellipse 3"/>
          <p:cNvSpPr/>
          <p:nvPr/>
        </p:nvSpPr>
        <p:spPr>
          <a:xfrm>
            <a:off x="623515" y="1980090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634780" y="3769134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14239" y="4890268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1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88979"/>
            <a:ext cx="1096394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 IRA obstructive secondaire à une fibrose retro péritonéale peut être traitée en urgence par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379010"/>
            <a:ext cx="10515600" cy="4263657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Drainage des voies excrétrices par sonde double j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Drainage par sonde transurethrale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Drainage par sonde de nephrostomie percutanée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Lithotripsie extracorporelle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urétéroscopie droite</a:t>
            </a:r>
          </a:p>
        </p:txBody>
      </p:sp>
      <p:sp>
        <p:nvSpPr>
          <p:cNvPr id="4" name="Ellipse 3"/>
          <p:cNvSpPr/>
          <p:nvPr/>
        </p:nvSpPr>
        <p:spPr>
          <a:xfrm>
            <a:off x="726882" y="4327943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726881" y="2689081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79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88979"/>
            <a:ext cx="10963940" cy="132556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 IRA obstructive secondaire à un engainement urétéral bilatéral par une tumeur pelvienne peut être traitée en urgence par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379010"/>
            <a:ext cx="10515600" cy="4263657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des voies excrétrices par sonde double j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par sonde transuréthrale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par sonde de nephrostomie percutanée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par ponction </a:t>
            </a:r>
            <a:r>
              <a:rPr lang="fr-FR" dirty="0" err="1"/>
              <a:t>sus-pubienne</a:t>
            </a:r>
            <a:endParaRPr lang="fr-FR" dirty="0"/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par Sonde urétérale</a:t>
            </a:r>
          </a:p>
        </p:txBody>
      </p:sp>
      <p:sp>
        <p:nvSpPr>
          <p:cNvPr id="4" name="Ellipse 3"/>
          <p:cNvSpPr/>
          <p:nvPr/>
        </p:nvSpPr>
        <p:spPr>
          <a:xfrm>
            <a:off x="726881" y="4172893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726881" y="2689081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640741" y="5656705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31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7470" y="38897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prise en charge de l’IRA obstructive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Peut nécessiter une hémodialyse en urgence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Peut être pratiquée en ambulatoire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Doit être faite en urgence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Est basée sur le drainage des urines 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Peut nécessiter le drainage par sonde double j en cas d’obstacle sous vésical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23515" y="2147068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623515" y="3764449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19539" y="4565170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83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 syndrome de levée d’obstacle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9472" y="1801771"/>
            <a:ext cx="10515600" cy="4535418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Peut être prévenu par une surveillance de la diurèse, clinique et biologique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Est du à une compensation inefficace des pertes  urinaires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Est du à un drainage inefficace des urines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Ne peut survenir que sur un rein unique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Il est associé à un défaut de réabsorption du sodium urinaire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23515" y="2147068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608275" y="5352769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08274" y="2889931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71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7125" y="11068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 syndrome de levée d'obstacle est suspecté devant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90492" y="175406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hémoconcentration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hypokaliémie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déshydratation extracellulaire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augmentation de la pression artérielle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/>
              <a:t>Une diurèse horaire abondante </a:t>
            </a:r>
          </a:p>
        </p:txBody>
      </p:sp>
      <p:sp>
        <p:nvSpPr>
          <p:cNvPr id="4" name="Ellipse 3"/>
          <p:cNvSpPr/>
          <p:nvPr/>
        </p:nvSpPr>
        <p:spPr>
          <a:xfrm>
            <a:off x="599661" y="2870636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571169" y="3730949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599661" y="5383249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646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 clinique N°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Patient âgé de 32 ans aux ATCD de rein unique congénital consulte pour des douleurs lombaires droites depuis 3 jours évoluant par crises. La diurèse est conservée selon ses dires.</a:t>
            </a:r>
          </a:p>
          <a:p>
            <a:r>
              <a:rPr lang="fr-FR" dirty="0"/>
              <a:t>Examen physique</a:t>
            </a:r>
          </a:p>
          <a:p>
            <a:pPr lvl="1"/>
            <a:r>
              <a:rPr lang="fr-FR" dirty="0"/>
              <a:t>Patient en BEG, Température : 37 ° </a:t>
            </a:r>
          </a:p>
          <a:p>
            <a:pPr lvl="1"/>
            <a:r>
              <a:rPr lang="fr-FR" dirty="0"/>
              <a:t>Douleur à l’</a:t>
            </a:r>
            <a:r>
              <a:rPr lang="fr-FR" dirty="0" err="1"/>
              <a:t>ebranlement</a:t>
            </a:r>
            <a:r>
              <a:rPr lang="fr-FR" dirty="0"/>
              <a:t> lombaire</a:t>
            </a:r>
          </a:p>
          <a:p>
            <a:pPr lvl="1"/>
            <a:r>
              <a:rPr lang="fr-FR" dirty="0"/>
              <a:t>Un bilan biologique demandé chez ce patient a montré une CRP =3, GB 7000 </a:t>
            </a:r>
            <a:r>
              <a:rPr lang="fr-FR" dirty="0" err="1"/>
              <a:t>elmnt</a:t>
            </a:r>
            <a:r>
              <a:rPr lang="fr-FR" dirty="0"/>
              <a:t>/mm3, créatinine = 300 micromol/l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97624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8102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Quel est le diagnostic le plus probable chez ce patient 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12800" y="2099945"/>
            <a:ext cx="10515600" cy="4351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Colique néphrétique simple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Rétention vésicale chronique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Colique néphrétique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Insuffisance rénale aigue obstructive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Distension urinaire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37649" y="4637840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59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6537" y="563908"/>
            <a:ext cx="10515600" cy="1325563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</a:pPr>
            <a:r>
              <a:rPr lang="fr-F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 échographie rénale à montré une dilatation </a:t>
            </a:r>
            <a:r>
              <a:rPr lang="fr-FR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urétéropyélocalicielle</a:t>
            </a:r>
            <a:r>
              <a:rPr lang="fr-F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modérée en amont d’un calcul urétéral pelvien droit de 7 mm, votre conduite à tenir en urgence?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01811" y="2278851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Hospitalisation en milieu urologique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Traitement antibiotique en ambulatoire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des voies excrétrices par sonde double j en urgence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Traitement antibiotique et lithotripsie extracorporelle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des urines par sonde transurethrale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18929" y="2498497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18929" y="3977440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0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6295" y="428736"/>
            <a:ext cx="10515600" cy="1325563"/>
          </a:xfrm>
        </p:spPr>
        <p:txBody>
          <a:bodyPr>
            <a:normAutofit/>
          </a:bodyPr>
          <a:lstStyle/>
          <a:p>
            <a:r>
              <a:rPr lang="de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Si un traitement adéquat ne serait pas proposé, ce patient risque </a:t>
            </a:r>
            <a:endParaRPr lang="fr-FR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anurie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 choc septique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insuffisance rénale fonctionnelle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Destruction du rein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insuffisance rénale irréversible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31464" y="2069127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87123" y="4398859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687123" y="5089128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74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8930" y="333320"/>
            <a:ext cx="10515600" cy="1325563"/>
          </a:xfrm>
        </p:spPr>
        <p:txBody>
          <a:bodyPr>
            <a:noAutofit/>
          </a:bodyPr>
          <a:lstStyle/>
          <a:p>
            <a:r>
              <a:rPr lang="fr-FR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 patient  a été pris en charge à temps, malgré le drainage des urines, on a remarqué une ré-ascension des chiffres de </a:t>
            </a:r>
            <a:r>
              <a:rPr lang="fr-FR" sz="1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créat</a:t>
            </a:r>
            <a:r>
              <a:rPr lang="fr-FR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à 500 µmol/L malgré une bonne diurèse. A l’examen clinique l patient rapporte une soif intense, des plis cutanés et une hypotension orthostatique Comment expliquez-vous ce tableau clinique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fr-FR" dirty="0"/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 drainage non efficace des urines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insuffisance rénale chronique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 syndrome de levée d’obstacle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IRA organique par NTA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Néphropathie interstitielle due aux antécédents de calculs urinaires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18874" y="4080807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88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 traitement ultérieur chez ce patient consiste à 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lvl="0" indent="-514350">
              <a:lnSpc>
                <a:spcPct val="220000"/>
              </a:lnSpc>
              <a:buFont typeface="+mj-lt"/>
              <a:buAutoNum type="alphaUcPeriod"/>
            </a:pPr>
            <a:r>
              <a:rPr lang="fr-FR" dirty="0"/>
              <a:t>Une hémodialyse doit être faite immédiatement	</a:t>
            </a:r>
          </a:p>
          <a:p>
            <a:pPr marL="514350" lvl="0" indent="-514350">
              <a:lnSpc>
                <a:spcPct val="220000"/>
              </a:lnSpc>
              <a:buFont typeface="+mj-lt"/>
              <a:buAutoNum type="alphaUcPeriod"/>
            </a:pPr>
            <a:r>
              <a:rPr lang="fr-FR" dirty="0"/>
              <a:t>Une hémodialyse est à prévoir car la diurèse sera inefficace	</a:t>
            </a:r>
          </a:p>
          <a:p>
            <a:pPr marL="514350" lvl="0" indent="-514350">
              <a:lnSpc>
                <a:spcPct val="220000"/>
              </a:lnSpc>
              <a:buFont typeface="+mj-lt"/>
              <a:buAutoNum type="alphaUcPeriod"/>
            </a:pPr>
            <a:r>
              <a:rPr lang="fr-FR" dirty="0"/>
              <a:t>On administrera du furosémide 500 mg pour éviter une insuffisance rénale fonctionnelle secondaire </a:t>
            </a:r>
          </a:p>
          <a:p>
            <a:pPr marL="514350" lvl="0" indent="-514350">
              <a:lnSpc>
                <a:spcPct val="220000"/>
              </a:lnSpc>
              <a:buFont typeface="+mj-lt"/>
              <a:buAutoNum type="alphaUcPeriod"/>
            </a:pPr>
            <a:r>
              <a:rPr lang="fr-FR" dirty="0"/>
              <a:t>On évitera les perfusions ou autres apports liquidiens pour réduire la polyurie	</a:t>
            </a:r>
          </a:p>
          <a:p>
            <a:pPr marL="514350" lvl="0" indent="-514350">
              <a:lnSpc>
                <a:spcPct val="220000"/>
              </a:lnSpc>
              <a:buFont typeface="+mj-lt"/>
              <a:buAutoNum type="alphaUcPeriod"/>
            </a:pPr>
            <a:r>
              <a:rPr lang="fr-FR" dirty="0"/>
              <a:t>On réalise dans les premières 24 heures une compensation hydro électrolytique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74533" y="5591555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987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307526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fr-FR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 clinique N°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Monsieur, M.A âgé de 69 ans aux ATCD de Néphrectomie droite  pour tumeur rénale il y’a 20 ans vous consulte aux urgences pour  baisse de la diurèse depuis la veille ( quelques gouttes d’urines ) associés à des lombalgies gauches depuis quelques jours</a:t>
            </a:r>
          </a:p>
          <a:p>
            <a:pPr>
              <a:lnSpc>
                <a:spcPct val="150000"/>
              </a:lnSpc>
            </a:pPr>
            <a:r>
              <a:rPr lang="fr-FR" dirty="0"/>
              <a:t>Examen: TA:14/7 </a:t>
            </a:r>
            <a:r>
              <a:rPr lang="fr-FR" dirty="0" err="1"/>
              <a:t>cmHg</a:t>
            </a:r>
            <a:r>
              <a:rPr lang="fr-FR" dirty="0"/>
              <a:t>, pouls : 85/ min, examen cardiopulmonaire est normal</a:t>
            </a:r>
          </a:p>
          <a:p>
            <a:pPr>
              <a:lnSpc>
                <a:spcPct val="150000"/>
              </a:lnSpc>
            </a:pPr>
            <a:r>
              <a:rPr lang="fr-FR" dirty="0"/>
              <a:t>Fosse lombaire gauche sensible</a:t>
            </a:r>
          </a:p>
          <a:p>
            <a:pPr>
              <a:lnSpc>
                <a:spcPct val="150000"/>
              </a:lnSpc>
            </a:pPr>
            <a:r>
              <a:rPr lang="fr-FR" dirty="0"/>
              <a:t>Pas de globe vésical</a:t>
            </a:r>
          </a:p>
          <a:p>
            <a:pPr>
              <a:lnSpc>
                <a:spcPct val="150000"/>
              </a:lnSpc>
            </a:pPr>
            <a:r>
              <a:rPr lang="fr-FR" dirty="0"/>
              <a:t>TR: petite prostate souple</a:t>
            </a:r>
          </a:p>
          <a:p>
            <a:pPr>
              <a:lnSpc>
                <a:spcPct val="150000"/>
              </a:lnSpc>
            </a:pPr>
            <a:r>
              <a:rPr lang="fr-FR" dirty="0"/>
              <a:t>Bandelettes urinaires: hématie ++ ; Leucocyte + ; nitrite –</a:t>
            </a:r>
          </a:p>
        </p:txBody>
      </p:sp>
    </p:spTree>
    <p:extLst>
      <p:ext uri="{BB962C8B-B14F-4D97-AF65-F5344CB8AC3E}">
        <p14:creationId xmlns:p14="http://schemas.microsoft.com/office/powerpoint/2010/main" val="6764904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Quel est le diagnostic le plus probable chez ce patient 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7713" y="2032359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Distension vésicale chronique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Anurie obstructive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Colique néphrétique simple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Distension urinaire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Rétention vésicale complète</a:t>
            </a:r>
          </a:p>
          <a:p>
            <a:pPr lvl="0"/>
            <a:endParaRPr lang="fr-FR" dirty="0"/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738144" y="3023284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77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93859" y="563908"/>
            <a:ext cx="10515600" cy="1325563"/>
          </a:xfrm>
        </p:spPr>
        <p:txBody>
          <a:bodyPr>
            <a:normAutofit/>
          </a:bodyPr>
          <a:lstStyle/>
          <a:p>
            <a:r>
              <a:rPr lang="fr-FR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Quels sont les examens biologiques à réaliser en urgence chez ce patient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93859" y="2088018"/>
            <a:ext cx="10515600" cy="3660775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Ionogramme sanguin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Calcémie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NFS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Urée, créatinine sanguins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Ionogramme urinaire</a:t>
            </a:r>
          </a:p>
        </p:txBody>
      </p:sp>
      <p:sp>
        <p:nvSpPr>
          <p:cNvPr id="4" name="Ellipse 3"/>
          <p:cNvSpPr/>
          <p:nvPr/>
        </p:nvSpPr>
        <p:spPr>
          <a:xfrm>
            <a:off x="746096" y="2339472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746096" y="4613545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54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6882" y="420784"/>
            <a:ext cx="10515600" cy="1325563"/>
          </a:xfrm>
        </p:spPr>
        <p:txBody>
          <a:bodyPr>
            <a:normAutofit/>
          </a:bodyPr>
          <a:lstStyle/>
          <a:p>
            <a:r>
              <a:rPr lang="fr-FR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bilan biologique demandé a montré une créatinine à 700 </a:t>
            </a:r>
            <a:r>
              <a:rPr lang="fr-FR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micromol</a:t>
            </a:r>
            <a:r>
              <a:rPr lang="fr-FR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/l, kaliémie = 5, 6 </a:t>
            </a:r>
            <a:r>
              <a:rPr lang="fr-FR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mmol</a:t>
            </a:r>
            <a:r>
              <a:rPr lang="fr-FR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/l, ECG est sans anomalies. L’auscultation cardiopulmonaire est sans anomalies, Quels sont les examens radiologiques à demander chez ce patient à ce stade?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3758" y="2103920"/>
            <a:ext cx="10515600" cy="4304831"/>
          </a:xfrm>
        </p:spPr>
        <p:txBody>
          <a:bodyPr>
            <a:normAutofit lnSpcReduction="10000"/>
          </a:bodyPr>
          <a:lstStyle/>
          <a:p>
            <a:pPr lvl="0"/>
            <a:endParaRPr lang="fr-FR" dirty="0"/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Aucun examen radiologique n’est nécessaire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Echographie abdominopelvienne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AUSP seulement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Scanner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IRM pelvienne</a:t>
            </a:r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451897" y="3524216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63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81028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fr-FR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 bilan radiologique demandé a montré une importante dilatation urétéro-pyélocalicielle gauche en amont d’une lithiase urétérale pelvienne de 1 cm, quelle est votre conduite à tenir?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des urines par sonde transurethrale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Simple surveillance clinique car le calcul peut s’</a:t>
            </a:r>
            <a:r>
              <a:rPr lang="fr-FR" dirty="0" err="1"/>
              <a:t>eliminer</a:t>
            </a:r>
            <a:r>
              <a:rPr lang="fr-FR" dirty="0"/>
              <a:t> spontanément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par sonde double j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Drainage par sonde de nephrostomie percutanée d’emblée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Hémodialyse en urgence</a:t>
            </a:r>
          </a:p>
        </p:txBody>
      </p:sp>
      <p:sp>
        <p:nvSpPr>
          <p:cNvPr id="4" name="Ellipse 3"/>
          <p:cNvSpPr/>
          <p:nvPr/>
        </p:nvSpPr>
        <p:spPr>
          <a:xfrm>
            <a:off x="682485" y="4001294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69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 patient a eu en urgence un drainage des urines avec bonne évolution ( normalisation de la fonction rénale après 3 jours, le traitement à distance chez ce patient de première intention consiste à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56020"/>
            <a:ext cx="10746850" cy="416528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Urétérotomie pelvienne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LEC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Urétéroscopie rigide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Urétéroscopie souple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/>
              <a:t>Une NLPC</a:t>
            </a:r>
          </a:p>
        </p:txBody>
      </p:sp>
      <p:sp>
        <p:nvSpPr>
          <p:cNvPr id="4" name="Ellipse 3"/>
          <p:cNvSpPr/>
          <p:nvPr/>
        </p:nvSpPr>
        <p:spPr>
          <a:xfrm>
            <a:off x="697059" y="3730915"/>
            <a:ext cx="675861" cy="397566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93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2914</TotalTime>
  <Words>1837</Words>
  <Application>Microsoft Office PowerPoint</Application>
  <PresentationFormat>Grand écran</PresentationFormat>
  <Paragraphs>281</Paragraphs>
  <Slides>46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Tahoma</vt:lpstr>
      <vt:lpstr>Thème Office</vt:lpstr>
      <vt:lpstr>Insuffisance rénale aigue obstructive  Préparation concours de résidanat 2024</vt:lpstr>
      <vt:lpstr>Insuffisance rénale aigue obstructive</vt:lpstr>
      <vt:lpstr>Objectif 4</vt:lpstr>
      <vt:lpstr>Insuffisance rénale aigue obstructive Définition</vt:lpstr>
      <vt:lpstr>Objectif 5</vt:lpstr>
      <vt:lpstr>Insuffisance rénale aigue obstructive Physiopathologie</vt:lpstr>
      <vt:lpstr>Objectif 10</vt:lpstr>
      <vt:lpstr>Insuffisance rénale aigue obstructive Diagnostic positif</vt:lpstr>
      <vt:lpstr>Insuffisance rénale aigue obstructive Diagnostic positif</vt:lpstr>
      <vt:lpstr>Insuffisance rénale aigue obstructive Diagnostic positif</vt:lpstr>
      <vt:lpstr>Insuffisance rénale aigue obstructive Diagnostic positif</vt:lpstr>
      <vt:lpstr>Insuffisance rénale aigue obstructive ETIOLOGIES</vt:lpstr>
      <vt:lpstr>Objectif 11</vt:lpstr>
      <vt:lpstr>Insuffisance rénale aigue obstructive PEC </vt:lpstr>
      <vt:lpstr>Insuffisance rénale aigue obstructive Moyens de drainage</vt:lpstr>
      <vt:lpstr>Objectif 12</vt:lpstr>
      <vt:lpstr>Insuffisance rénale aigue obstructive Syndrome de levée d’obstacle</vt:lpstr>
      <vt:lpstr>l’ IRA obstructive</vt:lpstr>
      <vt:lpstr>Les mécanismes physiopathologiques de l’’IRA obstructive comportent :</vt:lpstr>
      <vt:lpstr>Au cours de l’ IRA obstructive</vt:lpstr>
      <vt:lpstr>En faveur d’une IRA obstructive, vous retenez</vt:lpstr>
      <vt:lpstr>La confirmation  diagnostique de l’IRA obstructive repose sur :</vt:lpstr>
      <vt:lpstr>L’echographie rénale dans le cadre de l’IRA obstructive:</vt:lpstr>
      <vt:lpstr>Les pathologies suivantes peuvent être responsables d’IRA obstructive</vt:lpstr>
      <vt:lpstr>Les bilans biologiques à réaliser en urgence devant une IRA obstructive sont</vt:lpstr>
      <vt:lpstr>Quels sont les moyens de drainage possibles en cas d’obstacle sus vésical :</vt:lpstr>
      <vt:lpstr>Quels sont les moyens de drainage possibles en cas d’obstacle sous vésical :</vt:lpstr>
      <vt:lpstr>Concernant la prise en charge d’une insuffisance rénale aigue obstructive, quelles sont les propositions vraies</vt:lpstr>
      <vt:lpstr>Une IRA obstructive secondaire à une fibrose retro péritonéale peut être traitée en urgence par </vt:lpstr>
      <vt:lpstr>Une IRA obstructive secondaire à un engainement urétéral bilatéral par une tumeur pelvienne peut être traitée en urgence par :</vt:lpstr>
      <vt:lpstr>La prise en charge de l’IRA obstructive</vt:lpstr>
      <vt:lpstr>Le syndrome de levée d’obstacle</vt:lpstr>
      <vt:lpstr>Le syndrome de levée d'obstacle est suspecté devant</vt:lpstr>
      <vt:lpstr>Cas clinique N° 1</vt:lpstr>
      <vt:lpstr>Quel est le diagnostic le plus probable chez ce patient ?</vt:lpstr>
      <vt:lpstr>Une échographie rénale à montré une dilatation urétéropyélocalicielle modérée en amont d’un calcul urétéral pelvien droit de 7 mm, votre conduite à tenir en urgence? </vt:lpstr>
      <vt:lpstr>Si un traitement adéquat ne serait pas proposé, ce patient risque </vt:lpstr>
      <vt:lpstr>Le patient  a été pris en charge à temps, malgré le drainage des urines, on a remarqué une ré-ascension des chiffres de créat à 500 µmol/L malgré une bonne diurèse. A l’examen clinique l patient rapporte une soif intense, des plis cutanés et une hypotension orthostatique Comment expliquez-vous ce tableau clinique </vt:lpstr>
      <vt:lpstr>Le traitement ultérieur chez ce patient consiste à :</vt:lpstr>
      <vt:lpstr>FIN</vt:lpstr>
      <vt:lpstr>Cas clinique N° 2</vt:lpstr>
      <vt:lpstr>Quel est le diagnostic le plus probable chez ce patient ?</vt:lpstr>
      <vt:lpstr>Quels sont les examens biologiques à réaliser en urgence chez ce patient ?</vt:lpstr>
      <vt:lpstr>Un bilan biologique demandé a montré une créatinine à 700 micromol/l, kaliémie = 5, 6 mmol/l, ECG est sans anomalies. L’auscultation cardiopulmonaire est sans anomalies, Quels sont les examens radiologiques à demander chez ce patient à ce stade? </vt:lpstr>
      <vt:lpstr>Le bilan radiologique demandé a montré une importante dilatation urétéro-pyélocalicielle gauche en amont d’une lithiase urétérale pelvienne de 1 cm, quelle est votre conduite à tenir? </vt:lpstr>
      <vt:lpstr>Le patient a eu en urgence un drainage des urines avec bonne évolution ( normalisation de la fonction rénale après 3 jours, le traitement à distance chez ce patient de première intention consiste à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Insuffisance rénale aigue obstructive</dc:title>
  <dc:creator>ASUS</dc:creator>
  <cp:lastModifiedBy>Loghmari Ahmed ( FAMSO )</cp:lastModifiedBy>
  <cp:revision>79</cp:revision>
  <dcterms:created xsi:type="dcterms:W3CDTF">2022-07-22T12:17:52Z</dcterms:created>
  <dcterms:modified xsi:type="dcterms:W3CDTF">2025-07-30T15:46:18Z</dcterms:modified>
</cp:coreProperties>
</file>
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709" r:id="rId3"/>
  </p:sldMasterIdLst>
  <p:notesMasterIdLst>
    <p:notesMasterId r:id="rId60"/>
  </p:notesMasterIdLst>
  <p:sldIdLst>
    <p:sldId id="256" r:id="rId4"/>
    <p:sldId id="258" r:id="rId5"/>
    <p:sldId id="259" r:id="rId6"/>
    <p:sldId id="257" r:id="rId7"/>
    <p:sldId id="260" r:id="rId8"/>
    <p:sldId id="266" r:id="rId9"/>
    <p:sldId id="261" r:id="rId10"/>
    <p:sldId id="263" r:id="rId11"/>
    <p:sldId id="264" r:id="rId12"/>
    <p:sldId id="267" r:id="rId13"/>
    <p:sldId id="265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5" r:id="rId23"/>
    <p:sldId id="277" r:id="rId24"/>
    <p:sldId id="316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308" r:id="rId39"/>
    <p:sldId id="291" r:id="rId40"/>
    <p:sldId id="292" r:id="rId41"/>
    <p:sldId id="293" r:id="rId42"/>
    <p:sldId id="309" r:id="rId43"/>
    <p:sldId id="294" r:id="rId44"/>
    <p:sldId id="295" r:id="rId45"/>
    <p:sldId id="296" r:id="rId46"/>
    <p:sldId id="297" r:id="rId47"/>
    <p:sldId id="298" r:id="rId48"/>
    <p:sldId id="299" r:id="rId49"/>
    <p:sldId id="313" r:id="rId50"/>
    <p:sldId id="314" r:id="rId51"/>
    <p:sldId id="300" r:id="rId52"/>
    <p:sldId id="301" r:id="rId53"/>
    <p:sldId id="302" r:id="rId54"/>
    <p:sldId id="303" r:id="rId55"/>
    <p:sldId id="315" r:id="rId56"/>
    <p:sldId id="304" r:id="rId57"/>
    <p:sldId id="305" r:id="rId58"/>
    <p:sldId id="306" r:id="rId5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970" autoAdjust="0"/>
  </p:normalViewPr>
  <p:slideViewPr>
    <p:cSldViewPr snapToGrid="0">
      <p:cViewPr varScale="1">
        <p:scale>
          <a:sx n="93" d="100"/>
          <a:sy n="93" d="100"/>
        </p:scale>
        <p:origin x="3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presProps" Target="pres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B262A9-AA61-4C9C-8C8F-B4AB2DEBFED0}" type="datetimeFigureOut">
              <a:rPr lang="fr-FR" smtClean="0"/>
              <a:t>19/09/2025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A8B70-5B10-4900-A3E8-C84FE51FED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3721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;ge74a934a11_0_4:notes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58;ge74a934a11_0_4:notes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627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une meilleure reproductibilité et une corrélation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optimale avec les données pronostiques actuelles, il a été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recommandé en 2005 de ne plus utiliser de score 2 (1 + 1) et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d’éviter les scores 3 et 4</a:t>
            </a:r>
            <a:r>
              <a:rPr lang="fr-FR" dirty="0" smtClean="0"/>
              <a:t> 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A8B70-5B10-4900-A3E8-C84FE51FED3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2716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E2DD-7917-47E3-8C5E-A2C2611FAF97}" type="datetimeFigureOut">
              <a:rPr lang="fr-FR" smtClean="0"/>
              <a:t>19/09/2025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0A07-BE0E-4BE7-B281-3F73E79072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1583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E2DD-7917-47E3-8C5E-A2C2611FAF97}" type="datetimeFigureOut">
              <a:rPr lang="fr-FR" smtClean="0"/>
              <a:t>19/09/2025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0A07-BE0E-4BE7-B281-3F73E79072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309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E2DD-7917-47E3-8C5E-A2C2611FAF97}" type="datetimeFigureOut">
              <a:rPr lang="fr-FR" smtClean="0"/>
              <a:t>19/09/2025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0A07-BE0E-4BE7-B281-3F73E79072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49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E2DD-7917-47E3-8C5E-A2C2611FAF97}" type="datetimeFigureOut">
              <a:rPr lang="fr-FR" smtClean="0"/>
              <a:t>19/09/2025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0A07-BE0E-4BE7-B281-3F73E79072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7023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E2DD-7917-47E3-8C5E-A2C2611FAF97}" type="datetimeFigureOut">
              <a:rPr lang="fr-FR" smtClean="0"/>
              <a:t>19/09/2025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0A07-BE0E-4BE7-B281-3F73E79072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0728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E2DD-7917-47E3-8C5E-A2C2611FAF97}" type="datetimeFigureOut">
              <a:rPr lang="fr-FR" smtClean="0"/>
              <a:t>19/09/2025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0A07-BE0E-4BE7-B281-3F73E79072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6667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E2DD-7917-47E3-8C5E-A2C2611FAF97}" type="datetimeFigureOut">
              <a:rPr lang="fr-FR" smtClean="0"/>
              <a:t>19/09/2025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0A07-BE0E-4BE7-B281-3F73E79072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2058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E2DD-7917-47E3-8C5E-A2C2611FAF97}" type="datetimeFigureOut">
              <a:rPr lang="fr-FR" smtClean="0"/>
              <a:t>19/09/2025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0A07-BE0E-4BE7-B281-3F73E79072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548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E2DD-7917-47E3-8C5E-A2C2611FAF97}" type="datetimeFigureOut">
              <a:rPr lang="fr-FR" smtClean="0"/>
              <a:t>19/09/2025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0A07-BE0E-4BE7-B281-3F73E79072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068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E2DD-7917-47E3-8C5E-A2C2611FAF97}" type="datetimeFigureOut">
              <a:rPr lang="fr-FR" smtClean="0"/>
              <a:t>19/09/2025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0A07-BE0E-4BE7-B281-3F73E79072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920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E2DD-7917-47E3-8C5E-A2C2611FAF97}" type="datetimeFigureOut">
              <a:rPr lang="fr-FR" smtClean="0"/>
              <a:t>19/09/2025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0A07-BE0E-4BE7-B281-3F73E79072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6581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1"/>
            <a:ext cx="11360797" cy="1122395"/>
          </a:xfrm>
        </p:spPr>
        <p:txBody>
          <a:bodyPr anchor="ctr" anchorCtr="1"/>
          <a:lstStyle>
            <a:lvl1pPr algn="ctr">
              <a:defRPr sz="4800"/>
            </a:lvl1pPr>
          </a:lstStyle>
          <a:p>
            <a:pPr lvl="0"/>
            <a:endParaRPr lang="fr-FR"/>
          </a:p>
        </p:txBody>
      </p:sp>
      <p:sp>
        <p:nvSpPr>
          <p:cNvPr id="3" name="Google Shape;15;p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18635A28-F1D1-4797-A35A-7E22224876AC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711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/>
          <p:cNvSpPr txBox="1">
            <a:spLocks noGrp="1"/>
          </p:cNvSpPr>
          <p:nvPr>
            <p:ph type="ctrTitle"/>
          </p:nvPr>
        </p:nvSpPr>
        <p:spPr>
          <a:xfrm>
            <a:off x="415612" y="992770"/>
            <a:ext cx="11360797" cy="2736799"/>
          </a:xfrm>
        </p:spPr>
        <p:txBody>
          <a:bodyPr anchor="b" anchorCtr="1"/>
          <a:lstStyle>
            <a:lvl1pPr algn="ctr">
              <a:defRPr sz="6933"/>
            </a:lvl1pPr>
          </a:lstStyle>
          <a:p>
            <a:pPr lvl="0"/>
            <a:endParaRPr lang="fr-FR"/>
          </a:p>
        </p:txBody>
      </p:sp>
      <p:sp>
        <p:nvSpPr>
          <p:cNvPr id="3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7"/>
            <a:ext cx="11360797" cy="1056801"/>
          </a:xfrm>
        </p:spPr>
        <p:txBody>
          <a:bodyPr anchorCtr="1"/>
          <a:lstStyle>
            <a:lvl1pPr algn="ctr">
              <a:lnSpc>
                <a:spcPct val="100000"/>
              </a:lnSpc>
              <a:buNone/>
              <a:defRPr sz="3733"/>
            </a:lvl1pPr>
          </a:lstStyle>
          <a:p>
            <a:pPr lvl="0"/>
            <a:endParaRPr lang="fr-FR"/>
          </a:p>
        </p:txBody>
      </p:sp>
      <p:sp>
        <p:nvSpPr>
          <p:cNvPr id="4" name="Google Shape;12;p2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2F7FD448-01E0-4211-BC2C-252365D5650F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967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1"/>
            <a:ext cx="11360797" cy="1122395"/>
          </a:xfrm>
        </p:spPr>
        <p:txBody>
          <a:bodyPr anchor="ctr" anchorCtr="1"/>
          <a:lstStyle>
            <a:lvl1pPr algn="ctr">
              <a:defRPr sz="4800"/>
            </a:lvl1pPr>
          </a:lstStyle>
          <a:p>
            <a:pPr lvl="0"/>
            <a:endParaRPr lang="fr-FR"/>
          </a:p>
        </p:txBody>
      </p:sp>
      <p:sp>
        <p:nvSpPr>
          <p:cNvPr id="3" name="Google Shape;15;p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0DBC3F26-E447-4FE2-85FF-EB78B332D724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505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;p4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3" name="Google Shape;18;p4"/>
          <p:cNvSpPr txBox="1"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Google Shape;19;p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68A99F63-BC1A-4766-ADF2-7BCAFEA45FAC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172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;p5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3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1"/>
            <a:ext cx="5333195" cy="4555199"/>
          </a:xfrm>
        </p:spPr>
        <p:txBody>
          <a:bodyPr/>
          <a:lstStyle>
            <a:lvl1pPr indent="-423319">
              <a:buSzPts val="1400"/>
              <a:defRPr sz="1867"/>
            </a:lvl1pPr>
          </a:lstStyle>
          <a:p>
            <a:pPr lvl="0"/>
            <a:endParaRPr lang="fr-FR"/>
          </a:p>
        </p:txBody>
      </p:sp>
      <p:sp>
        <p:nvSpPr>
          <p:cNvPr id="4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3" y="1536631"/>
            <a:ext cx="5333195" cy="4555199"/>
          </a:xfrm>
        </p:spPr>
        <p:txBody>
          <a:bodyPr/>
          <a:lstStyle>
            <a:lvl1pPr indent="-423319">
              <a:buSzPts val="1400"/>
              <a:defRPr sz="1867"/>
            </a:lvl1pPr>
          </a:lstStyle>
          <a:p>
            <a:pPr lvl="0"/>
            <a:endParaRPr lang="fr-FR"/>
          </a:p>
        </p:txBody>
      </p:sp>
      <p:sp>
        <p:nvSpPr>
          <p:cNvPr id="5" name="Google Shape;24;p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92E3D7F9-C10F-461B-8FD4-7E503EC54BC7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16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;p6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3" name="Google Shape;27;p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03B3E6D2-8170-4439-B8E1-D400F5B8115A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8586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;p7"/>
          <p:cNvSpPr txBox="1">
            <a:spLocks noGrp="1"/>
          </p:cNvSpPr>
          <p:nvPr>
            <p:ph type="title"/>
          </p:nvPr>
        </p:nvSpPr>
        <p:spPr>
          <a:xfrm>
            <a:off x="415601" y="740797"/>
            <a:ext cx="3744004" cy="1007595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endParaRPr lang="fr-FR"/>
          </a:p>
        </p:txBody>
      </p:sp>
      <p:sp>
        <p:nvSpPr>
          <p:cNvPr id="3" name="Google Shape;30;p7"/>
          <p:cNvSpPr txBox="1">
            <a:spLocks noGrp="1"/>
          </p:cNvSpPr>
          <p:nvPr>
            <p:ph type="body" idx="4294967295"/>
          </p:nvPr>
        </p:nvSpPr>
        <p:spPr>
          <a:xfrm>
            <a:off x="415601" y="1852805"/>
            <a:ext cx="3744004" cy="4239195"/>
          </a:xfrm>
        </p:spPr>
        <p:txBody>
          <a:bodyPr/>
          <a:lstStyle>
            <a:lvl1pPr indent="-406385">
              <a:buSzPts val="1200"/>
              <a:defRPr sz="1600"/>
            </a:lvl1pPr>
          </a:lstStyle>
          <a:p>
            <a:pPr lvl="0"/>
            <a:endParaRPr lang="fr-FR"/>
          </a:p>
        </p:txBody>
      </p:sp>
      <p:sp>
        <p:nvSpPr>
          <p:cNvPr id="4" name="Google Shape;31;p7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4C456A2D-0389-412D-B173-1B4C771E476C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785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;p8"/>
          <p:cNvSpPr txBox="1">
            <a:spLocks noGrp="1"/>
          </p:cNvSpPr>
          <p:nvPr>
            <p:ph type="title"/>
          </p:nvPr>
        </p:nvSpPr>
        <p:spPr>
          <a:xfrm>
            <a:off x="653662" y="600199"/>
            <a:ext cx="8490399" cy="5454396"/>
          </a:xfrm>
        </p:spPr>
        <p:txBody>
          <a:bodyPr anchor="ctr"/>
          <a:lstStyle>
            <a:lvl1pPr>
              <a:defRPr sz="6400"/>
            </a:lvl1pPr>
          </a:lstStyle>
          <a:p>
            <a:pPr lvl="0"/>
            <a:endParaRPr lang="fr-FR"/>
          </a:p>
        </p:txBody>
      </p:sp>
      <p:sp>
        <p:nvSpPr>
          <p:cNvPr id="3" name="Google Shape;34;p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C1318C21-9EC2-4176-A6ED-51D1488C52FF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00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;p9"/>
          <p:cNvSpPr/>
          <p:nvPr/>
        </p:nvSpPr>
        <p:spPr>
          <a:xfrm>
            <a:off x="6096000" y="-170"/>
            <a:ext cx="6096000" cy="6857999"/>
          </a:xfrm>
          <a:prstGeom prst="rect">
            <a:avLst/>
          </a:prstGeom>
          <a:solidFill>
            <a:srgbClr val="EEEEEE"/>
          </a:solidFill>
          <a:ln cap="flat">
            <a:noFill/>
            <a:prstDash val="solid"/>
          </a:ln>
        </p:spPr>
        <p:txBody>
          <a:bodyPr vert="horz" wrap="square" lIns="121895" tIns="121895" rIns="121895" bIns="121895" anchor="ctr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Google Shape;37;p9"/>
          <p:cNvSpPr txBox="1">
            <a:spLocks noGrp="1"/>
          </p:cNvSpPr>
          <p:nvPr>
            <p:ph type="title"/>
          </p:nvPr>
        </p:nvSpPr>
        <p:spPr>
          <a:xfrm>
            <a:off x="353996" y="1644238"/>
            <a:ext cx="5393593" cy="1976396"/>
          </a:xfrm>
        </p:spPr>
        <p:txBody>
          <a:bodyPr anchor="b" anchorCtr="1"/>
          <a:lstStyle>
            <a:lvl1pPr algn="ctr">
              <a:defRPr sz="5600"/>
            </a:lvl1pPr>
          </a:lstStyle>
          <a:p>
            <a:pPr lvl="0"/>
            <a:endParaRPr lang="fr-FR"/>
          </a:p>
        </p:txBody>
      </p:sp>
      <p:sp>
        <p:nvSpPr>
          <p:cNvPr id="4" name="Google Shape;38;p9"/>
          <p:cNvSpPr txBox="1">
            <a:spLocks noGrp="1"/>
          </p:cNvSpPr>
          <p:nvPr>
            <p:ph type="subTitle" idx="4294967295"/>
          </p:nvPr>
        </p:nvSpPr>
        <p:spPr>
          <a:xfrm>
            <a:off x="353996" y="3737432"/>
            <a:ext cx="5393593" cy="1646797"/>
          </a:xfrm>
        </p:spPr>
        <p:txBody>
          <a:bodyPr anchorCtr="1"/>
          <a:lstStyle>
            <a:lvl1pPr algn="ctr">
              <a:lnSpc>
                <a:spcPct val="100000"/>
              </a:lnSpc>
              <a:buNone/>
              <a:defRPr sz="2800"/>
            </a:lvl1pPr>
          </a:lstStyle>
          <a:p>
            <a:pPr lvl="0"/>
            <a:endParaRPr lang="fr-FR"/>
          </a:p>
        </p:txBody>
      </p:sp>
      <p:sp>
        <p:nvSpPr>
          <p:cNvPr id="5" name="Google Shape;39;p9"/>
          <p:cNvSpPr txBox="1">
            <a:spLocks noGrp="1"/>
          </p:cNvSpPr>
          <p:nvPr>
            <p:ph type="body" idx="4294967295"/>
          </p:nvPr>
        </p:nvSpPr>
        <p:spPr>
          <a:xfrm>
            <a:off x="6585996" y="965435"/>
            <a:ext cx="5115995" cy="4926799"/>
          </a:xfrm>
        </p:spPr>
        <p:txBody>
          <a:bodyPr anchor="ctr"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Google Shape;40;p9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10937331-2C2B-4917-9F78-F3BFA8DCC8CF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0060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2;p10"/>
          <p:cNvSpPr txBox="1">
            <a:spLocks noGrp="1"/>
          </p:cNvSpPr>
          <p:nvPr>
            <p:ph type="body" idx="4294967295"/>
          </p:nvPr>
        </p:nvSpPr>
        <p:spPr>
          <a:xfrm>
            <a:off x="415600" y="5640763"/>
            <a:ext cx="7998403" cy="806805"/>
          </a:xfrm>
        </p:spPr>
        <p:txBody>
          <a:bodyPr anchor="ctr"/>
          <a:lstStyle>
            <a:lvl1pPr indent="-304792">
              <a:lnSpc>
                <a:spcPct val="100000"/>
              </a:lnSpc>
              <a:buNone/>
              <a:defRPr/>
            </a:lvl1pPr>
          </a:lstStyle>
          <a:p>
            <a:pPr lvl="0"/>
            <a:endParaRPr lang="fr-FR"/>
          </a:p>
        </p:txBody>
      </p:sp>
      <p:sp>
        <p:nvSpPr>
          <p:cNvPr id="3" name="Google Shape;43;p10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5E8C4EC3-007F-49F2-BE6E-EFCFAB50DA24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29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11"/>
          <p:cNvSpPr txBox="1">
            <a:spLocks noGrp="1"/>
          </p:cNvSpPr>
          <p:nvPr>
            <p:ph type="title"/>
          </p:nvPr>
        </p:nvSpPr>
        <p:spPr>
          <a:xfrm>
            <a:off x="415600" y="1474829"/>
            <a:ext cx="11360797" cy="2618000"/>
          </a:xfrm>
        </p:spPr>
        <p:txBody>
          <a:bodyPr anchor="b" anchorCtr="1"/>
          <a:lstStyle>
            <a:lvl1pPr algn="ctr">
              <a:defRPr sz="16000"/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3" name="Google Shape;46;p11"/>
          <p:cNvSpPr txBox="1">
            <a:spLocks noGrp="1"/>
          </p:cNvSpPr>
          <p:nvPr>
            <p:ph type="body" idx="4294967295"/>
          </p:nvPr>
        </p:nvSpPr>
        <p:spPr>
          <a:xfrm>
            <a:off x="415600" y="4202972"/>
            <a:ext cx="11360797" cy="1734397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endParaRPr lang="fr-FR"/>
          </a:p>
        </p:txBody>
      </p:sp>
      <p:sp>
        <p:nvSpPr>
          <p:cNvPr id="4" name="Google Shape;47;p11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8040791F-C682-4926-A604-F9FEF8A83B95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696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;p12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523C1E74-F3C8-4285-B172-9D409D6F9DB2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245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/>
          <p:cNvSpPr txBox="1">
            <a:spLocks noGrp="1"/>
          </p:cNvSpPr>
          <p:nvPr>
            <p:ph type="ctrTitle"/>
          </p:nvPr>
        </p:nvSpPr>
        <p:spPr>
          <a:xfrm>
            <a:off x="415612" y="992770"/>
            <a:ext cx="11360797" cy="2736799"/>
          </a:xfrm>
        </p:spPr>
        <p:txBody>
          <a:bodyPr anchor="b" anchorCtr="1"/>
          <a:lstStyle>
            <a:lvl1pPr algn="ctr">
              <a:defRPr sz="6933"/>
            </a:lvl1pPr>
          </a:lstStyle>
          <a:p>
            <a:pPr lvl="0"/>
            <a:endParaRPr lang="fr-FR"/>
          </a:p>
        </p:txBody>
      </p:sp>
      <p:sp>
        <p:nvSpPr>
          <p:cNvPr id="3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7"/>
            <a:ext cx="11360797" cy="1056801"/>
          </a:xfrm>
        </p:spPr>
        <p:txBody>
          <a:bodyPr anchorCtr="1"/>
          <a:lstStyle>
            <a:lvl1pPr algn="ctr">
              <a:lnSpc>
                <a:spcPct val="100000"/>
              </a:lnSpc>
              <a:buNone/>
              <a:defRPr sz="3733"/>
            </a:lvl1pPr>
          </a:lstStyle>
          <a:p>
            <a:pPr lvl="0"/>
            <a:endParaRPr lang="fr-FR"/>
          </a:p>
        </p:txBody>
      </p:sp>
      <p:sp>
        <p:nvSpPr>
          <p:cNvPr id="4" name="Google Shape;12;p2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2F7FD448-01E0-4211-BC2C-252365D5650F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411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1"/>
            <a:ext cx="11360797" cy="1122395"/>
          </a:xfrm>
        </p:spPr>
        <p:txBody>
          <a:bodyPr anchor="ctr" anchorCtr="1"/>
          <a:lstStyle>
            <a:lvl1pPr algn="ctr">
              <a:defRPr sz="4800"/>
            </a:lvl1pPr>
          </a:lstStyle>
          <a:p>
            <a:pPr lvl="0"/>
            <a:endParaRPr lang="fr-FR"/>
          </a:p>
        </p:txBody>
      </p:sp>
      <p:sp>
        <p:nvSpPr>
          <p:cNvPr id="3" name="Google Shape;15;p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0DBC3F26-E447-4FE2-85FF-EB78B332D724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4751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;p4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3" name="Google Shape;18;p4"/>
          <p:cNvSpPr txBox="1"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Google Shape;19;p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68A99F63-BC1A-4766-ADF2-7BCAFEA45FAC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2125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;p5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3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1"/>
            <a:ext cx="5333195" cy="4555199"/>
          </a:xfrm>
        </p:spPr>
        <p:txBody>
          <a:bodyPr/>
          <a:lstStyle>
            <a:lvl1pPr indent="-423319">
              <a:buSzPts val="1400"/>
              <a:defRPr sz="1867"/>
            </a:lvl1pPr>
          </a:lstStyle>
          <a:p>
            <a:pPr lvl="0"/>
            <a:endParaRPr lang="fr-FR"/>
          </a:p>
        </p:txBody>
      </p:sp>
      <p:sp>
        <p:nvSpPr>
          <p:cNvPr id="4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3" y="1536631"/>
            <a:ext cx="5333195" cy="4555199"/>
          </a:xfrm>
        </p:spPr>
        <p:txBody>
          <a:bodyPr/>
          <a:lstStyle>
            <a:lvl1pPr indent="-423319">
              <a:buSzPts val="1400"/>
              <a:defRPr sz="1867"/>
            </a:lvl1pPr>
          </a:lstStyle>
          <a:p>
            <a:pPr lvl="0"/>
            <a:endParaRPr lang="fr-FR"/>
          </a:p>
        </p:txBody>
      </p:sp>
      <p:sp>
        <p:nvSpPr>
          <p:cNvPr id="5" name="Google Shape;24;p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92E3D7F9-C10F-461B-8FD4-7E503EC54BC7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1374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;p6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3" name="Google Shape;27;p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03B3E6D2-8170-4439-B8E1-D400F5B8115A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707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;p7"/>
          <p:cNvSpPr txBox="1">
            <a:spLocks noGrp="1"/>
          </p:cNvSpPr>
          <p:nvPr>
            <p:ph type="title"/>
          </p:nvPr>
        </p:nvSpPr>
        <p:spPr>
          <a:xfrm>
            <a:off x="415601" y="740797"/>
            <a:ext cx="3744004" cy="1007595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endParaRPr lang="fr-FR"/>
          </a:p>
        </p:txBody>
      </p:sp>
      <p:sp>
        <p:nvSpPr>
          <p:cNvPr id="3" name="Google Shape;30;p7"/>
          <p:cNvSpPr txBox="1">
            <a:spLocks noGrp="1"/>
          </p:cNvSpPr>
          <p:nvPr>
            <p:ph type="body" idx="4294967295"/>
          </p:nvPr>
        </p:nvSpPr>
        <p:spPr>
          <a:xfrm>
            <a:off x="415601" y="1852805"/>
            <a:ext cx="3744004" cy="4239195"/>
          </a:xfrm>
        </p:spPr>
        <p:txBody>
          <a:bodyPr/>
          <a:lstStyle>
            <a:lvl1pPr indent="-406385">
              <a:buSzPts val="1200"/>
              <a:defRPr sz="1600"/>
            </a:lvl1pPr>
          </a:lstStyle>
          <a:p>
            <a:pPr lvl="0"/>
            <a:endParaRPr lang="fr-FR"/>
          </a:p>
        </p:txBody>
      </p:sp>
      <p:sp>
        <p:nvSpPr>
          <p:cNvPr id="4" name="Google Shape;31;p7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4C456A2D-0389-412D-B173-1B4C771E476C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284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;p8"/>
          <p:cNvSpPr txBox="1">
            <a:spLocks noGrp="1"/>
          </p:cNvSpPr>
          <p:nvPr>
            <p:ph type="title"/>
          </p:nvPr>
        </p:nvSpPr>
        <p:spPr>
          <a:xfrm>
            <a:off x="653662" y="600199"/>
            <a:ext cx="8490399" cy="5454396"/>
          </a:xfrm>
        </p:spPr>
        <p:txBody>
          <a:bodyPr anchor="ctr"/>
          <a:lstStyle>
            <a:lvl1pPr>
              <a:defRPr sz="6400"/>
            </a:lvl1pPr>
          </a:lstStyle>
          <a:p>
            <a:pPr lvl="0"/>
            <a:endParaRPr lang="fr-FR"/>
          </a:p>
        </p:txBody>
      </p:sp>
      <p:sp>
        <p:nvSpPr>
          <p:cNvPr id="3" name="Google Shape;34;p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C1318C21-9EC2-4176-A6ED-51D1488C52FF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641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;p9"/>
          <p:cNvSpPr/>
          <p:nvPr/>
        </p:nvSpPr>
        <p:spPr>
          <a:xfrm>
            <a:off x="6096000" y="-170"/>
            <a:ext cx="6096000" cy="6857999"/>
          </a:xfrm>
          <a:prstGeom prst="rect">
            <a:avLst/>
          </a:prstGeom>
          <a:solidFill>
            <a:srgbClr val="EEEEEE"/>
          </a:solidFill>
          <a:ln cap="flat">
            <a:noFill/>
            <a:prstDash val="solid"/>
          </a:ln>
        </p:spPr>
        <p:txBody>
          <a:bodyPr vert="horz" wrap="square" lIns="121895" tIns="121895" rIns="121895" bIns="121895" anchor="ctr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Google Shape;37;p9"/>
          <p:cNvSpPr txBox="1">
            <a:spLocks noGrp="1"/>
          </p:cNvSpPr>
          <p:nvPr>
            <p:ph type="title"/>
          </p:nvPr>
        </p:nvSpPr>
        <p:spPr>
          <a:xfrm>
            <a:off x="353996" y="1644238"/>
            <a:ext cx="5393593" cy="1976396"/>
          </a:xfrm>
        </p:spPr>
        <p:txBody>
          <a:bodyPr anchor="b" anchorCtr="1"/>
          <a:lstStyle>
            <a:lvl1pPr algn="ctr">
              <a:defRPr sz="5600"/>
            </a:lvl1pPr>
          </a:lstStyle>
          <a:p>
            <a:pPr lvl="0"/>
            <a:endParaRPr lang="fr-FR"/>
          </a:p>
        </p:txBody>
      </p:sp>
      <p:sp>
        <p:nvSpPr>
          <p:cNvPr id="4" name="Google Shape;38;p9"/>
          <p:cNvSpPr txBox="1">
            <a:spLocks noGrp="1"/>
          </p:cNvSpPr>
          <p:nvPr>
            <p:ph type="subTitle" idx="4294967295"/>
          </p:nvPr>
        </p:nvSpPr>
        <p:spPr>
          <a:xfrm>
            <a:off x="353996" y="3737432"/>
            <a:ext cx="5393593" cy="1646797"/>
          </a:xfrm>
        </p:spPr>
        <p:txBody>
          <a:bodyPr anchorCtr="1"/>
          <a:lstStyle>
            <a:lvl1pPr algn="ctr">
              <a:lnSpc>
                <a:spcPct val="100000"/>
              </a:lnSpc>
              <a:buNone/>
              <a:defRPr sz="2800"/>
            </a:lvl1pPr>
          </a:lstStyle>
          <a:p>
            <a:pPr lvl="0"/>
            <a:endParaRPr lang="fr-FR"/>
          </a:p>
        </p:txBody>
      </p:sp>
      <p:sp>
        <p:nvSpPr>
          <p:cNvPr id="5" name="Google Shape;39;p9"/>
          <p:cNvSpPr txBox="1">
            <a:spLocks noGrp="1"/>
          </p:cNvSpPr>
          <p:nvPr>
            <p:ph type="body" idx="4294967295"/>
          </p:nvPr>
        </p:nvSpPr>
        <p:spPr>
          <a:xfrm>
            <a:off x="6585996" y="965435"/>
            <a:ext cx="5115995" cy="4926799"/>
          </a:xfrm>
        </p:spPr>
        <p:txBody>
          <a:bodyPr anchor="ctr"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Google Shape;40;p9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10937331-2C2B-4917-9F78-F3BFA8DCC8CF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291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2;p10"/>
          <p:cNvSpPr txBox="1">
            <a:spLocks noGrp="1"/>
          </p:cNvSpPr>
          <p:nvPr>
            <p:ph type="body" idx="4294967295"/>
          </p:nvPr>
        </p:nvSpPr>
        <p:spPr>
          <a:xfrm>
            <a:off x="415600" y="5640763"/>
            <a:ext cx="7998403" cy="806805"/>
          </a:xfrm>
        </p:spPr>
        <p:txBody>
          <a:bodyPr anchor="ctr"/>
          <a:lstStyle>
            <a:lvl1pPr indent="-304792">
              <a:lnSpc>
                <a:spcPct val="100000"/>
              </a:lnSpc>
              <a:buNone/>
              <a:defRPr/>
            </a:lvl1pPr>
          </a:lstStyle>
          <a:p>
            <a:pPr lvl="0"/>
            <a:endParaRPr lang="fr-FR"/>
          </a:p>
        </p:txBody>
      </p:sp>
      <p:sp>
        <p:nvSpPr>
          <p:cNvPr id="3" name="Google Shape;43;p10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5E8C4EC3-007F-49F2-BE6E-EFCFAB50DA24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575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11"/>
          <p:cNvSpPr txBox="1">
            <a:spLocks noGrp="1"/>
          </p:cNvSpPr>
          <p:nvPr>
            <p:ph type="title"/>
          </p:nvPr>
        </p:nvSpPr>
        <p:spPr>
          <a:xfrm>
            <a:off x="415600" y="1474829"/>
            <a:ext cx="11360797" cy="2618000"/>
          </a:xfrm>
        </p:spPr>
        <p:txBody>
          <a:bodyPr anchor="b" anchorCtr="1"/>
          <a:lstStyle>
            <a:lvl1pPr algn="ctr">
              <a:defRPr sz="16000"/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3" name="Google Shape;46;p11"/>
          <p:cNvSpPr txBox="1">
            <a:spLocks noGrp="1"/>
          </p:cNvSpPr>
          <p:nvPr>
            <p:ph type="body" idx="4294967295"/>
          </p:nvPr>
        </p:nvSpPr>
        <p:spPr>
          <a:xfrm>
            <a:off x="415600" y="4202972"/>
            <a:ext cx="11360797" cy="1734397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endParaRPr lang="fr-FR"/>
          </a:p>
        </p:txBody>
      </p:sp>
      <p:sp>
        <p:nvSpPr>
          <p:cNvPr id="4" name="Google Shape;47;p11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8040791F-C682-4926-A604-F9FEF8A83B95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062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;p12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523C1E74-F3C8-4285-B172-9D409D6F9DB2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776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6E2DD-7917-47E3-8C5E-A2C2611FAF97}" type="datetimeFigureOut">
              <a:rPr lang="fr-FR" smtClean="0"/>
              <a:t>19/09/2025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60A07-BE0E-4BE7-B281-3F73E79072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996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73"/>
            <a:ext cx="11360797" cy="7635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rmAutofit/>
          </a:bodyPr>
          <a:lstStyle/>
          <a:p>
            <a:pPr lvl="0"/>
            <a:endParaRPr lang="fr-FR"/>
          </a:p>
        </p:txBody>
      </p:sp>
      <p:sp>
        <p:nvSpPr>
          <p:cNvPr id="3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1"/>
            <a:ext cx="11360797" cy="45551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Google Shape;8;p1"/>
          <p:cNvSpPr txBox="1">
            <a:spLocks noGrp="1"/>
          </p:cNvSpPr>
          <p:nvPr>
            <p:ph type="sldNum" sz="quarter" idx="4"/>
          </p:nvPr>
        </p:nvSpPr>
        <p:spPr>
          <a:xfrm>
            <a:off x="11296607" y="6217627"/>
            <a:ext cx="731605" cy="5248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ctr" anchorCtr="0" compatLnSpc="1">
            <a:normAutofit/>
          </a:bodyPr>
          <a:lstStyle>
            <a:lvl1pPr marL="0" marR="0" lvl="0" indent="0" algn="r" defTabSz="121917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333" b="0" i="0" u="none" strike="noStrike" kern="0" cap="none" spc="0" baseline="0">
                <a:solidFill>
                  <a:srgbClr val="595959"/>
                </a:solidFill>
                <a:uFillTx/>
                <a:latin typeface="Arial"/>
                <a:ea typeface="Arial"/>
                <a:cs typeface="Arial"/>
              </a:defRPr>
            </a:lvl1pPr>
          </a:lstStyle>
          <a:p>
            <a:fld id="{457B9A1F-9E38-471C-9078-85D7F24F6A5A}" type="slidenum">
              <a:rPr smtClean="0">
                <a:sym typeface="Arial"/>
              </a:rPr>
              <a:pPr/>
              <a:t>‹N°›</a:t>
            </a:fld>
            <a:endParaRPr smtClean="0"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069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marL="0" marR="0" lvl="0" indent="0" algn="l" defTabSz="121917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fr-FR" sz="3733" b="0" i="0" u="none" strike="noStrike" kern="0" cap="none" spc="0" baseline="0">
          <a:solidFill>
            <a:srgbClr val="000000"/>
          </a:solidFill>
          <a:uFillTx/>
          <a:latin typeface="Arial"/>
          <a:ea typeface="Arial"/>
          <a:cs typeface="Arial"/>
        </a:defRPr>
      </a:lvl1pPr>
    </p:titleStyle>
    <p:bodyStyle>
      <a:lvl1pPr marL="609585" marR="0" lvl="0" indent="-457189" algn="l" defTabSz="1219170" rtl="0" fontAlgn="auto" hangingPunct="1">
        <a:lnSpc>
          <a:spcPct val="115000"/>
        </a:lnSpc>
        <a:spcBef>
          <a:spcPts val="0"/>
        </a:spcBef>
        <a:spcAft>
          <a:spcPts val="0"/>
        </a:spcAft>
        <a:buClr>
          <a:srgbClr val="595959"/>
        </a:buClr>
        <a:buSzPts val="1800"/>
        <a:buFont typeface="Arial"/>
        <a:buChar char="●"/>
        <a:tabLst/>
        <a:defRPr lang="fr-FR" sz="2400" b="0" i="0" u="none" strike="noStrike" kern="0" cap="none" spc="0" baseline="0">
          <a:solidFill>
            <a:srgbClr val="595959"/>
          </a:solidFill>
          <a:uFillTx/>
          <a:latin typeface="Arial"/>
          <a:ea typeface="Arial"/>
          <a:cs typeface="Arial"/>
        </a:defRPr>
      </a:lvl1pPr>
      <a:lvl2pPr marL="914377" marR="0" lvl="1" indent="-304792" algn="l" defTabSz="1219170" rtl="0" fontAlgn="auto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itchFamily="34"/>
        <a:buChar char="•"/>
        <a:tabLst/>
        <a:defRPr lang="fr-FR" sz="32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523962" marR="0" lvl="2" indent="-304792" algn="l" defTabSz="1219170" rtl="0" fontAlgn="auto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itchFamily="34"/>
        <a:buChar char="•"/>
        <a:tabLst/>
        <a:defRPr lang="fr-FR" sz="2667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2133547" marR="0" lvl="3" indent="-304792" algn="l" defTabSz="1219170" rtl="0" fontAlgn="auto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743131" marR="0" lvl="4" indent="-304792" algn="l" defTabSz="1219170" rtl="0" fontAlgn="auto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73"/>
            <a:ext cx="11360797" cy="7635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rmAutofit/>
          </a:bodyPr>
          <a:lstStyle/>
          <a:p>
            <a:pPr lvl="0"/>
            <a:endParaRPr lang="fr-FR"/>
          </a:p>
        </p:txBody>
      </p:sp>
      <p:sp>
        <p:nvSpPr>
          <p:cNvPr id="3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1"/>
            <a:ext cx="11360797" cy="45551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Google Shape;8;p1"/>
          <p:cNvSpPr txBox="1">
            <a:spLocks noGrp="1"/>
          </p:cNvSpPr>
          <p:nvPr>
            <p:ph type="sldNum" sz="quarter" idx="4"/>
          </p:nvPr>
        </p:nvSpPr>
        <p:spPr>
          <a:xfrm>
            <a:off x="11296607" y="6217627"/>
            <a:ext cx="731605" cy="5248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ctr" anchorCtr="0" compatLnSpc="1">
            <a:normAutofit/>
          </a:bodyPr>
          <a:lstStyle>
            <a:lvl1pPr marL="0" marR="0" lvl="0" indent="0" algn="r" defTabSz="121917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333" b="0" i="0" u="none" strike="noStrike" kern="0" cap="none" spc="0" baseline="0">
                <a:solidFill>
                  <a:srgbClr val="595959"/>
                </a:solidFill>
                <a:uFillTx/>
                <a:latin typeface="Arial"/>
                <a:ea typeface="Arial"/>
                <a:cs typeface="Arial"/>
              </a:defRPr>
            </a:lvl1pPr>
          </a:lstStyle>
          <a:p>
            <a:fld id="{457B9A1F-9E38-471C-9078-85D7F24F6A5A}" type="slidenum">
              <a:rPr smtClean="0">
                <a:sym typeface="Arial"/>
              </a:rPr>
              <a:pPr/>
              <a:t>‹N°›</a:t>
            </a:fld>
            <a:endParaRPr smtClean="0"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1457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marL="0" marR="0" lvl="0" indent="0" algn="l" defTabSz="121917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fr-FR" sz="3733" b="0" i="0" u="none" strike="noStrike" kern="0" cap="none" spc="0" baseline="0">
          <a:solidFill>
            <a:srgbClr val="000000"/>
          </a:solidFill>
          <a:uFillTx/>
          <a:latin typeface="Arial"/>
          <a:ea typeface="Arial"/>
          <a:cs typeface="Arial"/>
        </a:defRPr>
      </a:lvl1pPr>
    </p:titleStyle>
    <p:bodyStyle>
      <a:lvl1pPr marL="609585" marR="0" lvl="0" indent="-457189" algn="l" defTabSz="1219170" rtl="0" fontAlgn="auto" hangingPunct="1">
        <a:lnSpc>
          <a:spcPct val="115000"/>
        </a:lnSpc>
        <a:spcBef>
          <a:spcPts val="0"/>
        </a:spcBef>
        <a:spcAft>
          <a:spcPts val="0"/>
        </a:spcAft>
        <a:buClr>
          <a:srgbClr val="595959"/>
        </a:buClr>
        <a:buSzPts val="1800"/>
        <a:buFont typeface="Arial"/>
        <a:buChar char="●"/>
        <a:tabLst/>
        <a:defRPr lang="fr-FR" sz="2400" b="0" i="0" u="none" strike="noStrike" kern="0" cap="none" spc="0" baseline="0">
          <a:solidFill>
            <a:srgbClr val="595959"/>
          </a:solidFill>
          <a:uFillTx/>
          <a:latin typeface="Arial"/>
          <a:ea typeface="Arial"/>
          <a:cs typeface="Arial"/>
        </a:defRPr>
      </a:lvl1pPr>
      <a:lvl2pPr marL="914377" marR="0" lvl="1" indent="-304792" algn="l" defTabSz="1219170" rtl="0" fontAlgn="auto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itchFamily="34"/>
        <a:buChar char="•"/>
        <a:tabLst/>
        <a:defRPr lang="fr-FR" sz="32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523962" marR="0" lvl="2" indent="-304792" algn="l" defTabSz="1219170" rtl="0" fontAlgn="auto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itchFamily="34"/>
        <a:buChar char="•"/>
        <a:tabLst/>
        <a:defRPr lang="fr-FR" sz="2667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2133547" marR="0" lvl="3" indent="-304792" algn="l" defTabSz="1219170" rtl="0" fontAlgn="auto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743131" marR="0" lvl="4" indent="-304792" algn="l" defTabSz="1219170" rtl="0" fontAlgn="auto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82460" y="629728"/>
            <a:ext cx="9144000" cy="1138687"/>
          </a:xfrm>
        </p:spPr>
        <p:txBody>
          <a:bodyPr>
            <a:normAutofit/>
          </a:bodyPr>
          <a:lstStyle/>
          <a:p>
            <a:r>
              <a:rPr lang="fr-FR" sz="4000" dirty="0">
                <a:solidFill>
                  <a:srgbClr val="3333FF"/>
                </a:solidFill>
                <a:latin typeface="Arial Black" panose="020B0A04020102020204" pitchFamily="34" charset="0"/>
              </a:rPr>
              <a:t>Cancer de la prostate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3057045" y="2705590"/>
            <a:ext cx="5934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RESIDANAT </a:t>
            </a:r>
            <a:r>
              <a:rPr lang="fr-FR" sz="2400" dirty="0" smtClean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2025</a:t>
            </a:r>
            <a:endParaRPr lang="fr-FR" sz="2400" dirty="0"/>
          </a:p>
        </p:txBody>
      </p:sp>
      <p:sp>
        <p:nvSpPr>
          <p:cNvPr id="5" name="Google Shape;55;p13"/>
          <p:cNvSpPr txBox="1"/>
          <p:nvPr/>
        </p:nvSpPr>
        <p:spPr>
          <a:xfrm>
            <a:off x="3535062" y="5038208"/>
            <a:ext cx="5945099" cy="907523"/>
          </a:xfrm>
          <a:prstGeom prst="rect">
            <a:avLst/>
          </a:prstGeom>
          <a:solidFill>
            <a:srgbClr val="EEEEEE"/>
          </a:solidFill>
          <a:ln cap="flat">
            <a:noFill/>
          </a:ln>
        </p:spPr>
        <p:txBody>
          <a:bodyPr vert="horz" wrap="square" lIns="91421" tIns="91421" rIns="91421" bIns="91421" anchor="t" anchorCtr="1" compatLnSpc="1">
            <a:normAutofit lnSpcReduction="10000"/>
          </a:bodyPr>
          <a:lstStyle/>
          <a:p>
            <a:pPr lvl="0" algn="ctr">
              <a:lnSpc>
                <a:spcPct val="60000"/>
              </a:lnSpc>
              <a:defRPr sz="17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000" b="1" kern="0" dirty="0">
                <a:solidFill>
                  <a:srgbClr val="DA0002"/>
                </a:solidFill>
                <a:latin typeface="Arial"/>
                <a:ea typeface="Arial"/>
                <a:cs typeface="Arial"/>
              </a:rPr>
              <a:t>Pr Wissem </a:t>
            </a:r>
            <a:r>
              <a:rPr lang="de-DE" sz="2000" b="1" kern="0" dirty="0" smtClean="0">
                <a:solidFill>
                  <a:srgbClr val="DA0002"/>
                </a:solidFill>
                <a:latin typeface="Arial"/>
                <a:ea typeface="Arial"/>
                <a:cs typeface="Arial"/>
              </a:rPr>
              <a:t>HMIDA</a:t>
            </a:r>
          </a:p>
          <a:p>
            <a:pPr lvl="0" algn="ctr">
              <a:lnSpc>
                <a:spcPct val="60000"/>
              </a:lnSpc>
              <a:defRPr sz="17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2000" b="1" kern="0" dirty="0">
              <a:solidFill>
                <a:srgbClr val="DA0002"/>
              </a:solidFill>
              <a:latin typeface="Arial"/>
              <a:ea typeface="Arial"/>
              <a:cs typeface="Arial"/>
            </a:endParaRPr>
          </a:p>
          <a:p>
            <a:pPr lvl="0" algn="ctr">
              <a:lnSpc>
                <a:spcPct val="60000"/>
              </a:lnSpc>
              <a:defRPr sz="17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2000" b="1" kern="0" dirty="0">
              <a:solidFill>
                <a:srgbClr val="DA0002"/>
              </a:solidFill>
              <a:latin typeface="Arial"/>
              <a:ea typeface="Arial"/>
              <a:cs typeface="Arial"/>
            </a:endParaRPr>
          </a:p>
          <a:p>
            <a:pPr lvl="0" algn="ctr">
              <a:lnSpc>
                <a:spcPct val="60000"/>
              </a:lnSpc>
              <a:defRPr sz="17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000" b="1" kern="0" dirty="0" smtClean="0">
                <a:solidFill>
                  <a:srgbClr val="DA0002"/>
                </a:solidFill>
                <a:latin typeface="Arial"/>
                <a:ea typeface="Arial"/>
                <a:cs typeface="Arial"/>
              </a:rPr>
              <a:t>Pr Ag. Mouna </a:t>
            </a:r>
            <a:r>
              <a:rPr lang="de-DE" sz="2000" b="1" kern="0" dirty="0">
                <a:solidFill>
                  <a:srgbClr val="DA0002"/>
                </a:solidFill>
                <a:latin typeface="Arial"/>
                <a:ea typeface="Arial"/>
                <a:cs typeface="Arial"/>
              </a:rPr>
              <a:t>BEN OTHMEN</a:t>
            </a:r>
          </a:p>
          <a:p>
            <a:pPr marL="0" marR="0" lvl="0" indent="0" algn="ctr" defTabSz="914400" rtl="0" fontAlgn="auto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7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2000" b="1" i="0" u="none" strike="noStrike" kern="0" cap="none" spc="0" baseline="0" dirty="0">
              <a:solidFill>
                <a:srgbClr val="DA0002"/>
              </a:solidFill>
              <a:uFillTx/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0034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0;p14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28682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347533" y="1393375"/>
            <a:ext cx="9276916" cy="827604"/>
          </a:xfrm>
        </p:spPr>
        <p:txBody>
          <a:bodyPr>
            <a:norm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dirty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Objectif n°1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8418" y="2935053"/>
            <a:ext cx="10202777" cy="9986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t" anchorCtr="1" compatLnSpc="1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dirty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Décrire l'anatomie de la loge prostatique (anatomie zonale, drainage lymphatique et rapports</a:t>
            </a:r>
          </a:p>
        </p:txBody>
      </p:sp>
    </p:spTree>
    <p:extLst>
      <p:ext uri="{BB962C8B-B14F-4D97-AF65-F5344CB8AC3E}">
        <p14:creationId xmlns:p14="http://schemas.microsoft.com/office/powerpoint/2010/main" val="179117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 zone de prédilection du </a:t>
            </a:r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cancer de la </a:t>
            </a:r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prostate est : </a:t>
            </a:r>
            <a:endParaRPr lang="fr-FR" sz="2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773866"/>
            <a:ext cx="10515600" cy="4351338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 de transition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 centrale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 des glandes péri-urétrales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 de stroma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fibro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-musculaire antérieure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 périphérique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08805" y="543464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917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Quels sont les zones qui peuvent </a:t>
            </a:r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siège d’un cancer de la </a:t>
            </a:r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prostate</a:t>
            </a:r>
            <a:endParaRPr lang="fr-FR" sz="2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9123" y="1850339"/>
            <a:ext cx="10515600" cy="4351338"/>
          </a:xfrm>
        </p:spPr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Zone des glandes péri-urétrales 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Zone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périphérique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Zone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transition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Zone centrale 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 de stroma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fibro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-musculaire antérieure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98021" y="297250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599167" y="3774423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44203" y="473788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86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347533" y="1393375"/>
            <a:ext cx="9276916" cy="827604"/>
          </a:xfrm>
        </p:spPr>
        <p:txBody>
          <a:bodyPr>
            <a:norm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dirty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Objectif </a:t>
            </a:r>
            <a:r>
              <a:rPr lang="fr-FR" sz="3200" dirty="0" smtClean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n°2</a:t>
            </a:r>
            <a:endParaRPr lang="fr-FR" sz="3200" dirty="0">
              <a:solidFill>
                <a:srgbClr val="3333FF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647771" y="3073076"/>
            <a:ext cx="10202777" cy="53694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t" anchorCtr="1" compatLnSpc="1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kern="0" dirty="0">
                <a:solidFill>
                  <a:srgbClr val="3333FF"/>
                </a:solidFill>
                <a:latin typeface="Arial Black" panose="020B0A04020102020204" pitchFamily="34" charset="0"/>
              </a:rPr>
              <a:t>Décrire les particularités épidémiologiques </a:t>
            </a:r>
            <a:r>
              <a:rPr lang="fr-FR" sz="2000" kern="0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du cancer de </a:t>
            </a:r>
            <a:r>
              <a:rPr lang="fr-FR" sz="2000" kern="0" dirty="0">
                <a:solidFill>
                  <a:srgbClr val="3333FF"/>
                </a:solidFill>
                <a:latin typeface="Arial Black" panose="020B0A04020102020204" pitchFamily="34" charset="0"/>
              </a:rPr>
              <a:t>la prostate</a:t>
            </a:r>
          </a:p>
        </p:txBody>
      </p:sp>
    </p:spTree>
    <p:extLst>
      <p:ext uri="{BB962C8B-B14F-4D97-AF65-F5344CB8AC3E}">
        <p14:creationId xmlns:p14="http://schemas.microsoft.com/office/powerpoint/2010/main" val="2425191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cancer de la </a:t>
            </a:r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prostate</a:t>
            </a:r>
            <a:endParaRPr lang="fr-FR" sz="2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le 1er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cancer chez l’homme &gt; 50 ans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Constitue </a:t>
            </a:r>
            <a:r>
              <a:rPr lang="fr-FR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1er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cancer urologique en Tunisie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la 2ème cause de mortalité par cancer dans les pays développés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 cancer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oestrogéno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-dépendant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une forme familiale dans 20% </a:t>
            </a:r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745870" y="3823045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735400" y="5546785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61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Quels sont les facteurs du risque du cancer de la prostate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Tabac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Origine Afro-américaine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Facteurs familiaux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Œstrogènes</a:t>
            </a:r>
          </a:p>
          <a:p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712397" y="298027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733864" y="376809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712396" y="463783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5236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Les formes familiales du cancer de la prostate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 caractérisés par un âge jeune au moment du diagnostic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 des cancers agressifs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 des cancers de bon pronostic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Nécessitent une enquête génétique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 retrouvés dans 15% des cas 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57043" y="2100147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57043" y="300993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57043" y="462239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542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347533" y="1393375"/>
            <a:ext cx="9276916" cy="827604"/>
          </a:xfrm>
        </p:spPr>
        <p:txBody>
          <a:bodyPr>
            <a:norm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dirty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Objectif </a:t>
            </a:r>
            <a:r>
              <a:rPr lang="fr-FR" sz="3200" dirty="0" smtClean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n°3</a:t>
            </a:r>
            <a:endParaRPr lang="fr-FR" sz="3200" dirty="0">
              <a:solidFill>
                <a:srgbClr val="3333FF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71726" y="3073076"/>
            <a:ext cx="10202777" cy="9986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t" anchorCtr="1" compatLnSpc="1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kern="0" dirty="0">
                <a:solidFill>
                  <a:srgbClr val="3333FF"/>
                </a:solidFill>
                <a:latin typeface="Arial Black" panose="020B0A04020102020204" pitchFamily="34" charset="0"/>
              </a:rPr>
              <a:t>Décrire les aspects anatomopathologiques des tumeurs malignes de la prostate</a:t>
            </a:r>
          </a:p>
        </p:txBody>
      </p:sp>
    </p:spTree>
    <p:extLst>
      <p:ext uri="{BB962C8B-B14F-4D97-AF65-F5344CB8AC3E}">
        <p14:creationId xmlns:p14="http://schemas.microsoft.com/office/powerpoint/2010/main" val="2278611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score de </a:t>
            </a:r>
            <a:r>
              <a:rPr lang="fr-FR" sz="2800" b="1" dirty="0" err="1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gleason</a:t>
            </a:r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 paramètre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histo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-pronostique majeur dans le cancer de la prostate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calcule uniquement sur la biopsie prostatique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(4+3) est plus agressif qu’un score (3+4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Prend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considération le degré d’atypie cellulaire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 à la somme des grades les plus élevés 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12397" y="203787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12397" y="3857255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712396" y="4665073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565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groupe </a:t>
            </a:r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 </a:t>
            </a:r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selon L’ISUP correspond à 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de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gleason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(4+4)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de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gleason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(3+4)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de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gleason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 (4+5)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de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gleason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(5+3)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de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gleason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(5+5)</a:t>
            </a:r>
          </a:p>
          <a:p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684572" y="2907867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4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L’extension du cancer de la prostate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rapide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plus rapide pour les cancers de la zone périphérique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fait latéralement vers les vésicules séminales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fait en haut vers la paroi pelvienne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fait en arrière vers le rectum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12393" y="290357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12393" y="375112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06492" y="548493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43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premier site métastatique du cancer de la prostate est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poumons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L’os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surrénales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foie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cerveau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12393" y="290357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16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Les métastases osseuses au cours du cancer de la prostate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773866"/>
            <a:ext cx="10515600" cy="4351338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 ostéolytiques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localisent préférentiellement au niveau du squelette périphérique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Peuvent être à l’origine de compression médullaire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Peuvent être une circonstance de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découverte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cancer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Peuvent être découverts à l’occasion d’une fracture pathologique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99448" y="371537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99447" y="458992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99446" y="551892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254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Parmi les éléments suivants, quels sont ceux qui permettent de rattacher une métastase osseuse à un primitif </a:t>
            </a:r>
            <a:r>
              <a:rPr lang="fr-FR" sz="28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prostatique</a:t>
            </a:r>
            <a:endParaRPr lang="fr-FR" sz="28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Localisation au niveau du squelette axiale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Ostéocondensantes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Ostéolytiques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Antécédents familial d’un cancer de la prostate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jeune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03042" y="2151107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49116" y="297692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703042" y="4658533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27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 classification D’</a:t>
            </a:r>
            <a:r>
              <a:rPr lang="fr-FR" sz="2800" b="1" dirty="0" err="1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Amico</a:t>
            </a:r>
            <a:r>
              <a:rPr lang="fr-FR" sz="28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comprend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de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gleason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PSAT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de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gleason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de l’IRM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Stade TNM clinique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649116" y="297692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60323" y="3834433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11618" y="548606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759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Dans la classification TNM (2016) du cancer de la prostate, le stade T2 b est un </a:t>
            </a:r>
            <a:r>
              <a:rPr lang="fr-FR" sz="31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cancer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 palpable au TR ni visible en Imagerie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Atteignant les 2 lobes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Atteignant les vésicules séminales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Atteignant plus que la moitié d’un lobe sans atteindre les 2 lobes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Atteignant la paroi pelvienne</a:t>
            </a:r>
          </a:p>
        </p:txBody>
      </p:sp>
      <p:sp>
        <p:nvSpPr>
          <p:cNvPr id="4" name="Ellipse 3"/>
          <p:cNvSpPr/>
          <p:nvPr/>
        </p:nvSpPr>
        <p:spPr>
          <a:xfrm>
            <a:off x="719542" y="471658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91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347533" y="1393375"/>
            <a:ext cx="9276916" cy="827604"/>
          </a:xfrm>
        </p:spPr>
        <p:txBody>
          <a:bodyPr>
            <a:norm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dirty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Objectif </a:t>
            </a:r>
            <a:r>
              <a:rPr lang="fr-FR" sz="3200" dirty="0" smtClean="0">
                <a:solidFill>
                  <a:srgbClr val="3333FF"/>
                </a:solidFill>
                <a:latin typeface="Arial Black" panose="020B0A04020102020204" pitchFamily="34" charset="0"/>
                <a:ea typeface="+mj-ea"/>
                <a:cs typeface="+mj-cs"/>
              </a:rPr>
              <a:t>n°8</a:t>
            </a:r>
            <a:endParaRPr lang="fr-FR" sz="3200" dirty="0">
              <a:solidFill>
                <a:srgbClr val="3333FF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088418" y="2935053"/>
            <a:ext cx="10202777" cy="9986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t" anchorCtr="1" compatLnSpc="1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kern="0" dirty="0">
                <a:solidFill>
                  <a:srgbClr val="3333FF"/>
                </a:solidFill>
                <a:latin typeface="Arial Black" panose="020B0A04020102020204" pitchFamily="34" charset="0"/>
              </a:rPr>
              <a:t>Réunir les éléments cliniques et paracliniques en faveur du diagnostic du cancer de la </a:t>
            </a:r>
            <a:r>
              <a:rPr lang="fr-FR" sz="2000" kern="0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prostate</a:t>
            </a:r>
            <a:endParaRPr lang="fr-FR" sz="2000" kern="0" dirty="0">
              <a:solidFill>
                <a:srgbClr val="3333FF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233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dépistage du cancer de la </a:t>
            </a:r>
            <a:r>
              <a:rPr lang="fr-FR" sz="31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prostate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indiqué à partir de 45 ans quel que soit l'espérance de vie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dépistage en masse est recommandé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indiqué à partir de 45 ans en présence de facteurs de risque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basé sur le TR et la biopsie prostatique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basé sur le TR et le dosage du PSA T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60211" y="375112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60210" y="551119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258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Au cours d’un cancer de la prostate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 peut être normal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 peut montrer un nodule dur unilatéral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 normal élimine le diagnostic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échographie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endorectale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normale élimine le diagnostic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 suspect est une indication formelle à la biopsie même si le PSA T est normale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17416" y="2116523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15182" y="288500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715181" y="523452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639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Arial"/>
              </a:rPr>
              <a:t>Devant une anomalie du TR, une biopsie prostatique est indiquée </a:t>
            </a:r>
            <a:endParaRPr lang="fr-FR" sz="31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19100">
              <a:lnSpc>
                <a:spcPct val="200000"/>
              </a:lnSpc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Même si le PSA est normal</a:t>
            </a:r>
          </a:p>
          <a:p>
            <a:pPr marL="457200" lvl="0" indent="-419100">
              <a:lnSpc>
                <a:spcPct val="200000"/>
              </a:lnSpc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Sauf si le PSA est élevé</a:t>
            </a:r>
          </a:p>
          <a:p>
            <a:pPr marL="457200" lvl="0" indent="-419100">
              <a:lnSpc>
                <a:spcPct val="200000"/>
              </a:lnSpc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Sauf si le patient est symptomatique</a:t>
            </a:r>
          </a:p>
          <a:p>
            <a:pPr marL="457200" lvl="0" indent="-419100">
              <a:lnSpc>
                <a:spcPct val="200000"/>
              </a:lnSpc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Sauf si l'échographie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endorectale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montre une lésion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hypoéchogène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457200" lvl="0" indent="-419100">
              <a:lnSpc>
                <a:spcPct val="200000"/>
              </a:lnSpc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 la recherche d’une tumeur du rectum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08033" y="205885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319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L’antigène spécifique de la prostate PSA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 marqueur tumoral prostatique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spécifique du cancer prostatique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 être </a:t>
            </a: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augmentée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la prise des inhibiteurs de la 5 alpha-réductase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 être augmentée par TR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 sous 2 formes libre et liés aux protides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39443" y="2148337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715180" y="5233283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260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rapport PSA L/ PSA 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86010"/>
            <a:ext cx="10515600" cy="4351338"/>
          </a:xfrm>
        </p:spPr>
        <p:txBody>
          <a:bodyPr>
            <a:normAutofit fontScale="92500"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recommandé de première intention quel que soit la valeur du PSA T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recommandé si la valeur du PSAT &gt;10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/ml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d’augmenter la spécificité de la détection des cancers de prostate chez les patients ayant un PSAT entre 4 et 10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/ml avec un toucher rectal normal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Peut-être indiqué avant une deuxième série de biopsie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indiqué dans le dépistage du cancer de la prostate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47125" y="3561347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47124" y="489922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731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L’aspect échographique classique d’un cancer de la </a:t>
            </a:r>
            <a:r>
              <a:rPr lang="fr-FR" sz="31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prostate</a:t>
            </a:r>
            <a:endParaRPr lang="fr-FR" sz="31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lésion hyperéchogène 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lésion hypo échogène de la zone périphérique non vascularisée au doppler couleur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lésion hyperéchogène avec cône d’ombre postérieur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lésion hypo échogène périphérique vascularisée au doppler couleur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lésion iso échogène non vascularisée au doppler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couleur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664766" y="425668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314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53529" y="408258"/>
            <a:ext cx="10515600" cy="1325563"/>
          </a:xfrm>
        </p:spPr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L’échographique </a:t>
            </a:r>
            <a:r>
              <a:rPr lang="fr-FR" sz="3100" b="1" dirty="0" err="1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endorectale</a:t>
            </a:r>
            <a:endParaRPr lang="fr-FR" sz="31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de guider la biopsie prostatique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d’éliminer le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du cancer de la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prostate si elle </a:t>
            </a:r>
            <a:r>
              <a:rPr lang="fr-FR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 normale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Montre classiquement une zone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hypoéchogène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hyper-vascularisée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Fait partie du bilan d’extension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de détecter les cancers de petites tailles non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palpables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725151" y="1987933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64766" y="350096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496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L’IRM prostatique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systématique avant une première biopsie prostatique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Sert à orienter les biopsies prostatiques 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Elimine le diagnostic si elle est normale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l’examen radiologique le plus performant pour évaluer l’extension capsulaire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indiquée essentiellement avant une deuxième série de biopsie et dans le cadre du bilan d’extension</a:t>
            </a:r>
          </a:p>
        </p:txBody>
      </p:sp>
      <p:sp>
        <p:nvSpPr>
          <p:cNvPr id="4" name="Ellipse 3"/>
          <p:cNvSpPr/>
          <p:nvPr/>
        </p:nvSpPr>
        <p:spPr>
          <a:xfrm>
            <a:off x="689394" y="2687735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89393" y="4202577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89392" y="493960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962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diagnostic positif du cancer prostatique repose sur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toucher rectal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dosage des P.S.A.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biopsie prostatique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échoguidée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L’association T.R. + dosage P.S.A.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résection transuréthrale de la prostate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41152" y="350096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567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Quelle est la complication la plus fréquente d’une biopsie prostatique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015406"/>
            <a:ext cx="10515600" cy="4351338"/>
          </a:xfrm>
        </p:spPr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Prostatite aigue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Rectorragie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Hémospermie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Hématurie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Rétention vésicale complète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29009" y="434635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357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Quelle est la complication la plus grave de la biopsie prostatique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Prostatite aigue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Rectorragie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Hémospermie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Hématurie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Rétention vésicale complète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72141" y="202584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482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Avant de pratiquer une biopsie prostatique il faut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information claire du patient des modalités, des objectifs et des complications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Prescrire une antibiothérapie depuis la veille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Prescrire une antibiothérapie après l’acte 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Arrêter un traitement anticoagulant par anti vitamine K 5 jours avant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Réaliser un ECBU systématique</a:t>
            </a:r>
          </a:p>
        </p:txBody>
      </p:sp>
      <p:sp>
        <p:nvSpPr>
          <p:cNvPr id="4" name="Ellipse 3"/>
          <p:cNvSpPr/>
          <p:nvPr/>
        </p:nvSpPr>
        <p:spPr>
          <a:xfrm>
            <a:off x="672141" y="202584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64156" y="421407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799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10588"/>
            <a:ext cx="10515600" cy="1325563"/>
          </a:xfrm>
        </p:spPr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 biopsie prostatique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Peut se compliquer d’un sepsis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Peut-être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pratiquée par voie périnéale ou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endorectale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réalisée sous anesthésie locale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Elimine le diagnostic de cancer si elle est normale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réalisée sous guidage échographique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77892" y="194319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79328" y="277224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98738" y="350096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698738" y="492144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23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Quels sont les critères qui définissent une tumeur de Faible risque selon D’</a:t>
            </a:r>
            <a:r>
              <a:rPr lang="fr-FR" sz="3100" b="1" dirty="0" err="1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Amico</a:t>
            </a:r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980901"/>
            <a:ext cx="10515600" cy="4351338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PSA &gt;10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/ml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PSA &lt;=10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score de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Gleason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7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de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gleason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&lt;=6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Stade clinique T1c ou T2 a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98737" y="288337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98735" y="435763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98736" y="5056155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07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Quels sont les critères qui définissent une tumeur à haut risque selon D’</a:t>
            </a:r>
            <a:r>
              <a:rPr lang="fr-FR" sz="3100" b="1" dirty="0" err="1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Amico</a:t>
            </a:r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Stade clinique T2 c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PSA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&gt;20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/ml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PSA &gt;10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de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gleason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&lt;=6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score de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Gleason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737790" y="2767623"/>
            <a:ext cx="602411" cy="428658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41070" y="204037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41070" y="494937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Quelle est la classification TNM clinique chez un patient qui présente un taux de PSA =12 </a:t>
            </a:r>
            <a:r>
              <a:rPr lang="fr-FR" sz="3100" b="1" dirty="0" err="1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ng</a:t>
            </a:r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/ml, TR = nodule qui prend presque les 2 lobes et un bilan d’extension négatif</a:t>
            </a:r>
            <a:b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fr-FR" sz="31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963648"/>
            <a:ext cx="10515600" cy="4351338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T2aN0M0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T2a N1M0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T1cN0M0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 bN0M0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T2c N0M0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90111" y="502964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023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223088" y="1250066"/>
            <a:ext cx="11360797" cy="842580"/>
          </a:xfrm>
        </p:spPr>
        <p:txBody>
          <a:bodyPr>
            <a:normAutofit/>
          </a:bodyPr>
          <a:lstStyle/>
          <a:p>
            <a:pPr lvl="0"/>
            <a:r>
              <a:rPr lang="fr-FR" sz="2800" b="1" dirty="0">
                <a:solidFill>
                  <a:srgbClr val="3333FF"/>
                </a:solidFill>
                <a:latin typeface="Arial Black" panose="020B0A04020102020204" pitchFamily="34" charset="0"/>
              </a:rPr>
              <a:t>Objectif n°9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788359" y="3483424"/>
            <a:ext cx="11119469" cy="10245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t" anchorCtr="0" compatLnSpc="1">
            <a:spAutoFit/>
          </a:bodyPr>
          <a:lstStyle/>
          <a:p>
            <a:pPr algn="ctr">
              <a:lnSpc>
                <a:spcPct val="107000"/>
              </a:lnSpc>
              <a:spcAft>
                <a:spcPts val="1067"/>
              </a:spcAft>
              <a:buClr>
                <a:srgbClr val="000000"/>
              </a:buClr>
            </a:pPr>
            <a:r>
              <a:rPr lang="fr-FR" sz="2800" kern="0" dirty="0">
                <a:solidFill>
                  <a:srgbClr val="3333FF"/>
                </a:solidFill>
                <a:latin typeface="Arial Black" pitchFamily="34"/>
                <a:cs typeface="Arial"/>
                <a:sym typeface="Arial"/>
              </a:rPr>
              <a:t>Etablir le bilan d'extension du cancer de la prostate à partir des données cliniques </a:t>
            </a:r>
            <a:r>
              <a:rPr lang="fr-FR" sz="2800" kern="0" dirty="0" smtClean="0">
                <a:solidFill>
                  <a:srgbClr val="3333FF"/>
                </a:solidFill>
                <a:latin typeface="Arial Black" pitchFamily="34"/>
                <a:cs typeface="Arial"/>
                <a:sym typeface="Arial"/>
              </a:rPr>
              <a:t>et paracliniques</a:t>
            </a:r>
            <a:endParaRPr lang="fr-FR" sz="2667" dirty="0">
              <a:solidFill>
                <a:srgbClr val="000000"/>
              </a:solidFill>
              <a:latin typeface="Arial Black" pitchFamily="34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042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L’examen le plus performant dans l’extension locale du cancer de la prostate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15838" y="1627218"/>
            <a:ext cx="10515600" cy="4351338"/>
          </a:xfrm>
        </p:spPr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TDM abdominopelvien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 scan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Scintigraphie osseuse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IRM prostatique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Toucher rectal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86439" y="404623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528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Pour un patient âgé de 65 ans porteur d’un Ca P risque intermédiaire (PSA =11 </a:t>
            </a:r>
            <a:r>
              <a:rPr lang="fr-FR" sz="3100" b="1" dirty="0" err="1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ng</a:t>
            </a:r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/ml, </a:t>
            </a:r>
            <a:r>
              <a:rPr lang="fr-FR" sz="3100" b="1" dirty="0" err="1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gleason</a:t>
            </a:r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7 (4+3), le bilan d’extension à demander est :</a:t>
            </a:r>
            <a:b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fr-FR" sz="31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échographie abdominale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IRM pelvienne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Scintigraphie osseuse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 TAP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scann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17428" y="356336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36915" y="276023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0370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529312"/>
            <a:ext cx="10515600" cy="1325563"/>
          </a:xfrm>
        </p:spPr>
        <p:txBody>
          <a:bodyPr>
            <a:no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traitement curatif d’un cancer de la prostate localisé risque intermédiaire avec bilan d’extension négatif chez un patient âgé de 60 ans qui présente des SBAU sévères repose sur :</a:t>
            </a:r>
            <a:b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fr-FR" sz="31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032660"/>
            <a:ext cx="10515600" cy="4351338"/>
          </a:xfrm>
        </p:spPr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radiothérapie externe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prostatectomie radicale 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chimiothérapie 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radiothérapie externe + Hormonothérapie 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hormonothérapie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717428" y="300265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45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223088" y="1250065"/>
            <a:ext cx="11360797" cy="1076445"/>
          </a:xfrm>
        </p:spPr>
        <p:txBody>
          <a:bodyPr>
            <a:normAutofit/>
          </a:bodyPr>
          <a:lstStyle/>
          <a:p>
            <a:pPr lvl="0"/>
            <a:r>
              <a:rPr lang="fr-FR" sz="2800" b="1" dirty="0">
                <a:solidFill>
                  <a:srgbClr val="3333FF"/>
                </a:solidFill>
                <a:latin typeface="Arial Black" panose="020B0A04020102020204" pitchFamily="34" charset="0"/>
              </a:rPr>
              <a:t>Objectif </a:t>
            </a:r>
            <a:r>
              <a:rPr lang="fr-FR" sz="2800" b="1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n°10</a:t>
            </a:r>
            <a:endParaRPr lang="fr-FR" sz="2800" b="1" dirty="0">
              <a:solidFill>
                <a:srgbClr val="3333FF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788359" y="3483424"/>
            <a:ext cx="11119469" cy="10245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t" anchorCtr="0" compatLnSpc="1">
            <a:spAutoFit/>
          </a:bodyPr>
          <a:lstStyle/>
          <a:p>
            <a:pPr algn="ctr">
              <a:lnSpc>
                <a:spcPct val="107000"/>
              </a:lnSpc>
              <a:spcAft>
                <a:spcPts val="1067"/>
              </a:spcAft>
              <a:buClr>
                <a:srgbClr val="000000"/>
              </a:buClr>
            </a:pPr>
            <a:r>
              <a:rPr lang="fr-FR" sz="2800" kern="0" dirty="0" smtClean="0">
                <a:solidFill>
                  <a:srgbClr val="3333FF"/>
                </a:solidFill>
                <a:latin typeface="Arial Black" pitchFamily="34"/>
                <a:cs typeface="Arial"/>
                <a:sym typeface="Arial"/>
              </a:rPr>
              <a:t>Planifier la prise en charge thérapeutique du cancer prostatique en fonction des stades évolutifs</a:t>
            </a:r>
            <a:endParaRPr lang="fr-FR" sz="2800" kern="0" dirty="0">
              <a:solidFill>
                <a:srgbClr val="3333FF"/>
              </a:solidFill>
              <a:latin typeface="Arial Black" pitchFamily="34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754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traitement curatif d’un cancer de la prostate localisé faible risque avec bilan d’extension négatif repose sur </a:t>
            </a:r>
            <a:r>
              <a:rPr lang="fr-FR" sz="31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fr-FR" sz="31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937768"/>
            <a:ext cx="10515600" cy="4351338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radiothérapie externe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prostatectomie radicale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chimiothérapie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radiothérapie externe + Hormonothérapie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hormonothérapie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31843" y="2186404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31842" y="293228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754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Les options thérapeutiques suivantes peuvent être indiquées chez un patient âgé de 50 ans en BEG porteur d’un </a:t>
            </a:r>
            <a:r>
              <a:rPr lang="fr-FR" sz="3100" b="1" dirty="0" err="1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CaP</a:t>
            </a:r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de haut risque D’</a:t>
            </a:r>
            <a:r>
              <a:rPr lang="fr-FR" sz="3100" b="1" dirty="0" err="1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Amico</a:t>
            </a:r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avec bilan d’extension négatif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929142"/>
            <a:ext cx="10515600" cy="4351338"/>
          </a:xfrm>
        </p:spPr>
        <p:txBody>
          <a:bodyPr>
            <a:normAutofit/>
          </a:bodyPr>
          <a:lstStyle/>
          <a:p>
            <a:pPr lvl="0"/>
            <a:endParaRPr lang="fr-FR" dirty="0"/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radiothérapie externe 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association radiothérapie externe +hormonothérapie 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prostatectomie radicale 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chimiothérapie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hormonothérapi</a:t>
            </a:r>
            <a:r>
              <a:rPr lang="fr-F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pPr marL="0" indent="0">
              <a:buNone/>
            </a:pPr>
            <a:endParaRPr lang="fr-FR" dirty="0" smtClean="0">
              <a:effectLst/>
            </a:endParaRP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65670" y="3369455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02409" y="410824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90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traitement d’un cancer de la prostate </a:t>
            </a:r>
            <a:r>
              <a:rPr lang="fr-FR" sz="3100" b="1" dirty="0" err="1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polymétastatique</a:t>
            </a:r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métastatique repose </a:t>
            </a:r>
            <a:r>
              <a:rPr lang="fr-FR" sz="31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sur</a:t>
            </a:r>
            <a:endParaRPr lang="fr-FR" sz="31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68757"/>
            <a:ext cx="10515600" cy="4351338"/>
          </a:xfrm>
        </p:spPr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radiothérapie externe 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association radiothérapie externe +hormonothérapie longue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prostatectomie radicale 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chimiothérapie 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hormonothérapie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665670" y="497396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615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Quels sont les effets secondaires de l’hormonothérapie?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Ostéoporose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Baisse de la libido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Perte de cheveux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Céphalées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Bouffées de chaleur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65668" y="203369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65669" y="275587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98073" y="494938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676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 prostatectomie radicale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le traitement de référence du cancer de la prostate localisé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vésicules séminales doivent être enlevées seulement si elles sont atteintes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une intervention hémorragique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Nécessite un drainage vésical d’au moins une semaine après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 en une exérèse de la prostate avec sa capsule et les 2 vésicules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séminales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665669" y="206976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599767" y="3468140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65669" y="432221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665669" y="4957488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078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Les complications d’une prostatectomie radicale sont 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Sténose de l’anastomose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urétro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-vésicale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Lithiase vésicale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Dysfonction érectile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Urétéro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-hydronéphrose bilatérale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Incontinence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urinaire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636194" y="204843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52591" y="349983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36194" y="495124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396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223088" y="970251"/>
            <a:ext cx="11360797" cy="1122395"/>
          </a:xfrm>
        </p:spPr>
        <p:txBody>
          <a:bodyPr>
            <a:normAutofit/>
          </a:bodyPr>
          <a:lstStyle/>
          <a:p>
            <a:pPr lvl="0"/>
            <a:r>
              <a:rPr lang="fr-FR" sz="2800" dirty="0">
                <a:solidFill>
                  <a:srgbClr val="3333FF"/>
                </a:solidFill>
                <a:latin typeface="Arial Black" pitchFamily="34"/>
                <a:ea typeface="+mn-ea"/>
              </a:rPr>
              <a:t>Objectif n°11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788359" y="3483424"/>
            <a:ext cx="11119469" cy="104515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t" anchorCtr="0" compatLnSpc="1">
            <a:spAutoFit/>
          </a:bodyPr>
          <a:lstStyle/>
          <a:p>
            <a:pPr algn="ctr">
              <a:lnSpc>
                <a:spcPct val="107000"/>
              </a:lnSpc>
              <a:spcAft>
                <a:spcPts val="1067"/>
              </a:spcAft>
              <a:buClr>
                <a:srgbClr val="000000"/>
              </a:buClr>
            </a:pPr>
            <a:r>
              <a:rPr lang="fr-FR" sz="2800" kern="0" dirty="0">
                <a:solidFill>
                  <a:srgbClr val="3333FF"/>
                </a:solidFill>
                <a:latin typeface="Arial Black" pitchFamily="34"/>
                <a:cs typeface="Arial"/>
                <a:sym typeface="Arial"/>
              </a:rPr>
              <a:t>Expliquer les bases de la surveillance post-thérapeutique d'un cancer prostatique</a:t>
            </a:r>
            <a:r>
              <a:rPr lang="fr-FR" sz="2800" kern="0" dirty="0" smtClean="0">
                <a:solidFill>
                  <a:srgbClr val="3333FF"/>
                </a:solidFill>
                <a:latin typeface="Arial Black" pitchFamily="34"/>
                <a:cs typeface="Arial"/>
                <a:sym typeface="Arial"/>
              </a:rPr>
              <a:t>.</a:t>
            </a:r>
            <a:endParaRPr lang="fr-FR" sz="2800" kern="0" dirty="0">
              <a:solidFill>
                <a:srgbClr val="3333FF"/>
              </a:solidFill>
              <a:latin typeface="Arial Black" pitchFamily="34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3044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buClr>
                <a:schemeClr val="accent1"/>
              </a:buClr>
              <a:buSzPts val="3600"/>
            </a:pPr>
            <a:r>
              <a:rPr lang="fr-FR" sz="3100" b="1" kern="1200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+mj-cs"/>
                <a:sym typeface="Arial"/>
              </a:rPr>
              <a:t>Après prostatectomie radicale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ln w="28575"/>
        </p:spPr>
        <p:txBody>
          <a:bodyPr>
            <a:normAutofit/>
          </a:bodyPr>
          <a:lstStyle/>
          <a:p>
            <a:pPr marL="514350" indent="-514350" defTabSz="914400">
              <a:lnSpc>
                <a:spcPct val="200000"/>
              </a:lnSpc>
              <a:spcBef>
                <a:spcPts val="1000"/>
              </a:spcBef>
              <a:buClr>
                <a:schemeClr val="dk1"/>
              </a:buClr>
              <a:buFont typeface="+mj-lt"/>
              <a:buAutoNum type="alphaUcPeriod"/>
            </a:pPr>
            <a:r>
              <a:rPr lang="fr-FR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Le dosage du PSAT est indiqué de façon mensuelle</a:t>
            </a:r>
          </a:p>
          <a:p>
            <a:pPr marL="514350" indent="-514350" defTabSz="914400">
              <a:lnSpc>
                <a:spcPct val="200000"/>
              </a:lnSpc>
              <a:spcBef>
                <a:spcPts val="1000"/>
              </a:spcBef>
              <a:buClr>
                <a:schemeClr val="dk1"/>
              </a:buClr>
              <a:buFont typeface="+mj-lt"/>
              <a:buAutoNum type="alphaUcPeriod"/>
            </a:pPr>
            <a:r>
              <a:rPr lang="fr-FR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Le suivi est basé sur le TR uniquement</a:t>
            </a:r>
          </a:p>
          <a:p>
            <a:pPr marL="514350" indent="-514350" defTabSz="914400">
              <a:lnSpc>
                <a:spcPct val="200000"/>
              </a:lnSpc>
              <a:spcBef>
                <a:spcPts val="1000"/>
              </a:spcBef>
              <a:buClr>
                <a:schemeClr val="dk1"/>
              </a:buClr>
              <a:buFont typeface="+mj-lt"/>
              <a:buAutoNum type="alphaUcPeriod"/>
            </a:pPr>
            <a:r>
              <a:rPr lang="fr-FR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Le suivi est basé sur le TR et le dosage du chiffre du PSAT </a:t>
            </a:r>
          </a:p>
          <a:p>
            <a:pPr marL="514350" indent="-514350" defTabSz="914400">
              <a:lnSpc>
                <a:spcPct val="200000"/>
              </a:lnSpc>
              <a:spcBef>
                <a:spcPts val="1000"/>
              </a:spcBef>
              <a:buClr>
                <a:schemeClr val="dk1"/>
              </a:buClr>
              <a:buFont typeface="+mj-lt"/>
              <a:buAutoNum type="alphaUcPeriod"/>
            </a:pPr>
            <a:r>
              <a:rPr lang="fr-FR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Le suivi est basé sur le TR, le dosage du PSAT et l’IRM </a:t>
            </a:r>
          </a:p>
          <a:p>
            <a:pPr marL="514350" indent="-514350" defTabSz="914400">
              <a:lnSpc>
                <a:spcPct val="200000"/>
              </a:lnSpc>
              <a:spcBef>
                <a:spcPts val="1000"/>
              </a:spcBef>
              <a:buClr>
                <a:schemeClr val="dk1"/>
              </a:buClr>
              <a:buFont typeface="+mj-lt"/>
              <a:buAutoNum type="alphaUcPeriod"/>
            </a:pPr>
            <a:r>
              <a:rPr lang="fr-FR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L’imagerie est demandée sauf en cas de suspicion de récidive</a:t>
            </a:r>
          </a:p>
        </p:txBody>
      </p:sp>
      <p:sp>
        <p:nvSpPr>
          <p:cNvPr id="4" name="Google Shape;459;p69"/>
          <p:cNvSpPr/>
          <p:nvPr/>
        </p:nvSpPr>
        <p:spPr>
          <a:xfrm>
            <a:off x="234368" y="3273030"/>
            <a:ext cx="721600" cy="541200"/>
          </a:xfrm>
          <a:prstGeom prst="ellipse">
            <a:avLst/>
          </a:prstGeom>
          <a:noFill/>
          <a:ln w="28575" cap="flat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defRPr/>
            </a:pPr>
            <a:endParaRPr sz="2400" kern="0">
              <a:solidFill>
                <a:srgbClr val="3333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" name="Google Shape;459;p69"/>
          <p:cNvSpPr/>
          <p:nvPr/>
        </p:nvSpPr>
        <p:spPr>
          <a:xfrm>
            <a:off x="234368" y="4705561"/>
            <a:ext cx="721600" cy="541200"/>
          </a:xfrm>
          <a:prstGeom prst="ellipse">
            <a:avLst/>
          </a:prstGeom>
          <a:noFill/>
          <a:ln w="28575" cap="flat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defRPr/>
            </a:pPr>
            <a:endParaRPr sz="2400" kern="0">
              <a:solidFill>
                <a:sysClr val="windowText" lastClr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8111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38552" y="3426106"/>
            <a:ext cx="10515600" cy="1041722"/>
          </a:xfrm>
        </p:spPr>
        <p:txBody>
          <a:bodyPr>
            <a:normAutofit/>
          </a:bodyPr>
          <a:lstStyle/>
          <a:p>
            <a:pPr algn="ctr"/>
            <a:r>
              <a:rPr lang="fr-FR" sz="4000" dirty="0" smtClean="0">
                <a:solidFill>
                  <a:srgbClr val="3333FF"/>
                </a:solidFill>
                <a:latin typeface="Arial Black" panose="020B0A04020102020204" pitchFamily="34" charset="0"/>
              </a:rPr>
              <a:t>Cas  clinique</a:t>
            </a:r>
            <a:endParaRPr lang="fr-FR" sz="4000" dirty="0">
              <a:solidFill>
                <a:srgbClr val="3333FF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26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Cas clinique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891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fr-FR" sz="3200" dirty="0"/>
              <a:t>Un patient âgé de 64 ans, diabétique est adressé pour des chiffres de PSA à 22 </a:t>
            </a:r>
            <a:r>
              <a:rPr lang="fr-FR" sz="3200" dirty="0" err="1"/>
              <a:t>ng</a:t>
            </a:r>
            <a:r>
              <a:rPr lang="fr-FR" sz="3200" dirty="0"/>
              <a:t>/ml, prescrit dans le cadre d'un bilan de routine</a:t>
            </a:r>
            <a:endParaRPr lang="fr-FR" sz="3200" dirty="0" smtClean="0">
              <a:effectLst/>
            </a:endParaRPr>
          </a:p>
          <a:p>
            <a:pPr>
              <a:lnSpc>
                <a:spcPct val="150000"/>
              </a:lnSpc>
            </a:pPr>
            <a:r>
              <a:rPr lang="fr-FR" sz="3200" dirty="0"/>
              <a:t>TR : prostate moyenne avec la palpation d’un nodule étendue aux 2 lobes de la </a:t>
            </a:r>
            <a:r>
              <a:rPr lang="fr-FR" sz="3200" dirty="0" smtClean="0"/>
              <a:t>prostate, plancher vésical mobile</a:t>
            </a:r>
            <a:endParaRPr lang="fr-FR" sz="3200" dirty="0" smtClean="0">
              <a:effectLst/>
            </a:endParaRPr>
          </a:p>
          <a:p>
            <a:pPr>
              <a:lnSpc>
                <a:spcPct val="150000"/>
              </a:lnSpc>
            </a:pPr>
            <a:r>
              <a:rPr lang="fr-FR" sz="3200" dirty="0"/>
              <a:t>Biopsie prostatique : adénocarcinome prostatique présent sur toutes les carottes, un score de </a:t>
            </a:r>
            <a:r>
              <a:rPr lang="fr-FR" sz="3200" dirty="0" err="1"/>
              <a:t>Gleason</a:t>
            </a:r>
            <a:r>
              <a:rPr lang="fr-FR" sz="3200" dirty="0"/>
              <a:t> à 7 (4+3)</a:t>
            </a:r>
            <a:endParaRPr lang="fr-FR" sz="3200" dirty="0" smtClean="0">
              <a:effectLst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06582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Classer ce cancer selon la nouvelle classification ISUP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Groupe 1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Groupe 2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Groupe 3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Groupe 4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Groupe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696579" y="350096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360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Classer ce cancer selon la classification D’</a:t>
            </a:r>
            <a:r>
              <a:rPr lang="fr-FR" sz="3100" b="1" dirty="0" err="1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Amico</a:t>
            </a:r>
            <a:endParaRPr lang="fr-FR" sz="31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041286"/>
            <a:ext cx="10515600" cy="4351338"/>
          </a:xfrm>
        </p:spPr>
        <p:txBody>
          <a:bodyPr/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Faible risque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Risque Intermédiaire favorable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Risque intermédiaire défavorable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Haut risque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Très risque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44821" y="444124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95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Quelle est la classification TNM clinique chez ce </a:t>
            </a:r>
            <a:r>
              <a:rPr lang="fr-FR" sz="31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patient?</a:t>
            </a:r>
            <a:endParaRPr lang="fr-FR" sz="31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22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T3aN0M0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2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T2a N1M0</a:t>
            </a:r>
          </a:p>
          <a:p>
            <a:pPr marL="514350" indent="-514350">
              <a:lnSpc>
                <a:spcPct val="22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T2c N0M0</a:t>
            </a:r>
          </a:p>
          <a:p>
            <a:pPr marL="514350" indent="-514350">
              <a:lnSpc>
                <a:spcPct val="220000"/>
              </a:lnSpc>
              <a:buFont typeface="+mj-lt"/>
              <a:buAutoNum type="alphaUcPeriod"/>
            </a:pP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T1cN0M0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20000"/>
              </a:lnSpc>
              <a:buFont typeface="+mj-lt"/>
              <a:buAutoNum type="alphaU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 bN0M0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02486" y="383987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743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bilan d’extension à demander chez ce patient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Scintigraphie osseuse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IRM pelvienne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TEP à la choline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IRM corps entier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IRM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prostatique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680764" y="2791139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80764" y="2058216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143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1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bilan d’extension n’a pas montré de localisations secondaires, Quelle serait votre conduite à tenir </a:t>
            </a:r>
            <a:r>
              <a:rPr lang="fr-FR" sz="31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thérapeutique</a:t>
            </a:r>
            <a:endParaRPr lang="fr-FR" sz="31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Radiothérapie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Hormothérapie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Radiothérapie + Hormothérapie 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Prostatectomie radicale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Prostatectomie radicale + hormonothérapie</a:t>
            </a:r>
          </a:p>
        </p:txBody>
      </p:sp>
      <p:sp>
        <p:nvSpPr>
          <p:cNvPr id="4" name="Ellipse 3"/>
          <p:cNvSpPr/>
          <p:nvPr/>
        </p:nvSpPr>
        <p:spPr>
          <a:xfrm>
            <a:off x="680764" y="3500962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033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4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patient a été mis sous traitement adéquat (PSA nadir = 3 </a:t>
            </a:r>
            <a:r>
              <a:rPr lang="fr-FR" sz="2400" b="1" dirty="0" err="1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ng</a:t>
            </a:r>
            <a:r>
              <a:rPr lang="fr-FR" sz="24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/ml), il est suivi régulièrement à la consultation depuis 4 ans. Au dernier contrôle il vous consulte avec un taux de PSA = 7 confirmé par 2 dosages. A noter que le patient est asymptomatique. Vous suspectez chez ce patient :</a:t>
            </a:r>
            <a:br>
              <a:rPr lang="fr-FR" sz="2400" b="1" dirty="0">
                <a:solidFill>
                  <a:srgbClr val="3333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fr-FR" sz="2400" b="1" dirty="0">
              <a:solidFill>
                <a:srgbClr val="3333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110297"/>
            <a:ext cx="10515600" cy="4351338"/>
          </a:xfrm>
        </p:spPr>
        <p:txBody>
          <a:bodyPr>
            <a:normAutofit/>
          </a:bodyPr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récidive à distance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récidive clinique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métastase à distance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récidive biologique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récidive clinique et biologique</a:t>
            </a:r>
          </a:p>
        </p:txBody>
      </p:sp>
      <p:sp>
        <p:nvSpPr>
          <p:cNvPr id="4" name="Ellipse 3"/>
          <p:cNvSpPr/>
          <p:nvPr/>
        </p:nvSpPr>
        <p:spPr>
          <a:xfrm>
            <a:off x="646259" y="4467121"/>
            <a:ext cx="602411" cy="500332"/>
          </a:xfrm>
          <a:prstGeom prst="ellipse">
            <a:avLst/>
          </a:prstGeom>
          <a:noFill/>
          <a:ln w="28575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863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2520</TotalTime>
  <Words>1886</Words>
  <Application>Microsoft Office PowerPoint</Application>
  <PresentationFormat>Grand écran</PresentationFormat>
  <Paragraphs>298</Paragraphs>
  <Slides>56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56</vt:i4>
      </vt:variant>
    </vt:vector>
  </HeadingPairs>
  <TitlesOfParts>
    <vt:vector size="64" baseType="lpstr">
      <vt:lpstr>Arial</vt:lpstr>
      <vt:lpstr>Arial Black</vt:lpstr>
      <vt:lpstr>Calibri</vt:lpstr>
      <vt:lpstr>Calibri Light</vt:lpstr>
      <vt:lpstr>Times New Roman</vt:lpstr>
      <vt:lpstr>Thème Office</vt:lpstr>
      <vt:lpstr>2_Simple Light</vt:lpstr>
      <vt:lpstr>3_Simple Light</vt:lpstr>
      <vt:lpstr>Cancer de la prostate</vt:lpstr>
      <vt:lpstr>Présentation PowerPoint</vt:lpstr>
      <vt:lpstr>Objectif n°1</vt:lpstr>
      <vt:lpstr>La zone de prédilection du cancer de la prostate est : </vt:lpstr>
      <vt:lpstr>Quels sont les zones qui peuvent le siège d’un cancer de la prostate</vt:lpstr>
      <vt:lpstr>Objectif n°2</vt:lpstr>
      <vt:lpstr>Le cancer de la prostate</vt:lpstr>
      <vt:lpstr>Quels sont les facteurs du risque du cancer de la prostate</vt:lpstr>
      <vt:lpstr>Les formes familiales du cancer de la prostate</vt:lpstr>
      <vt:lpstr>Objectif n°3</vt:lpstr>
      <vt:lpstr>Le score de gleason </vt:lpstr>
      <vt:lpstr>Le groupe 2 selon L’ISUP correspond à :</vt:lpstr>
      <vt:lpstr>L’extension du cancer de la prostate</vt:lpstr>
      <vt:lpstr>Le premier site métastatique du cancer de la prostate est </vt:lpstr>
      <vt:lpstr>Les métastases osseuses au cours du cancer de la prostate :</vt:lpstr>
      <vt:lpstr>Parmi les éléments suivants, quels sont ceux qui permettent de rattacher une métastase osseuse à un primitif prostatique</vt:lpstr>
      <vt:lpstr>La classification D’Amico comprend</vt:lpstr>
      <vt:lpstr>Dans la classification TNM (2016) du cancer de la prostate, le stade T2 b est un cancer</vt:lpstr>
      <vt:lpstr>Objectif n°8</vt:lpstr>
      <vt:lpstr>Le dépistage du cancer de la prostate</vt:lpstr>
      <vt:lpstr>Au cours d’un cancer de la prostate</vt:lpstr>
      <vt:lpstr>Devant une anomalie du TR, une biopsie prostatique est indiquée </vt:lpstr>
      <vt:lpstr>L’antigène spécifique de la prostate PSA </vt:lpstr>
      <vt:lpstr>Le rapport PSA L/ PSA T</vt:lpstr>
      <vt:lpstr>L’aspect échographique classique d’un cancer de la prostate</vt:lpstr>
      <vt:lpstr>L’échographique endorectale</vt:lpstr>
      <vt:lpstr>L’IRM prostatique</vt:lpstr>
      <vt:lpstr>Le diagnostic positif du cancer prostatique repose sur :</vt:lpstr>
      <vt:lpstr>Quelle est la complication la plus fréquente d’une biopsie prostatique</vt:lpstr>
      <vt:lpstr>Quelle est la complication la plus grave de la biopsie prostatique</vt:lpstr>
      <vt:lpstr>Avant de pratiquer une biopsie prostatique il faut</vt:lpstr>
      <vt:lpstr>La biopsie prostatique</vt:lpstr>
      <vt:lpstr>Quels sont les critères qui définissent une tumeur de Faible risque selon D’Amico ?</vt:lpstr>
      <vt:lpstr>Quels sont les critères qui définissent une tumeur à haut risque selon D’Amico ?</vt:lpstr>
      <vt:lpstr>Quelle est la classification TNM clinique chez un patient qui présente un taux de PSA =12 ng/ml, TR = nodule qui prend presque les 2 lobes et un bilan d’extension négatif </vt:lpstr>
      <vt:lpstr>Objectif n°9</vt:lpstr>
      <vt:lpstr>L’examen le plus performant dans l’extension locale du cancer de la prostate</vt:lpstr>
      <vt:lpstr>Pour un patient âgé de 65 ans porteur d’un Ca P risque intermédiaire (PSA =11 ng/ml, gleason 7 (4+3), le bilan d’extension à demander est : </vt:lpstr>
      <vt:lpstr>Le traitement curatif d’un cancer de la prostate localisé risque intermédiaire avec bilan d’extension négatif chez un patient âgé de 60 ans qui présente des SBAU sévères repose sur : </vt:lpstr>
      <vt:lpstr>Objectif n°10</vt:lpstr>
      <vt:lpstr>Le traitement curatif d’un cancer de la prostate localisé faible risque avec bilan d’extension négatif repose sur :</vt:lpstr>
      <vt:lpstr>Les options thérapeutiques suivantes peuvent être indiquées chez un patient âgé de 50 ans en BEG porteur d’un CaP de haut risque D’Amico avec bilan d’extension négatif</vt:lpstr>
      <vt:lpstr>Le traitement d’un cancer de la prostate polymétastatique métastatique repose sur</vt:lpstr>
      <vt:lpstr>Quels sont les effets secondaires de l’hormonothérapie?</vt:lpstr>
      <vt:lpstr>La prostatectomie radicale</vt:lpstr>
      <vt:lpstr>Les complications d’une prostatectomie radicale sont :</vt:lpstr>
      <vt:lpstr>Objectif n°11</vt:lpstr>
      <vt:lpstr>Après prostatectomie radicale</vt:lpstr>
      <vt:lpstr>Cas  clinique</vt:lpstr>
      <vt:lpstr>Cas clinique</vt:lpstr>
      <vt:lpstr>Classer ce cancer selon la nouvelle classification ISUP</vt:lpstr>
      <vt:lpstr>Classer ce cancer selon la classification D’Amico</vt:lpstr>
      <vt:lpstr>Quelle est la classification TNM clinique chez ce patient?</vt:lpstr>
      <vt:lpstr>Le bilan d’extension à demander chez ce patient</vt:lpstr>
      <vt:lpstr>Le bilan d’extension n’a pas montré de localisations secondaires, Quelle serait votre conduite à tenir thérapeutique</vt:lpstr>
      <vt:lpstr>Le patient a été mis sous traitement adéquat (PSA nadir = 3 ng/ml), il est suivi régulièrement à la consultation depuis 4 ans. Au dernier contrôle il vous consulte avec un taux de PSA = 7 confirmé par 2 dosages. A noter que le patient est asymptomatique. Vous suspectez chez ce patient :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Cancer de la prostate</dc:title>
  <dc:creator>Compte Microsoft</dc:creator>
  <cp:lastModifiedBy>Compte Microsoft</cp:lastModifiedBy>
  <cp:revision>42</cp:revision>
  <dcterms:created xsi:type="dcterms:W3CDTF">2024-07-28T09:57:58Z</dcterms:created>
  <dcterms:modified xsi:type="dcterms:W3CDTF">2025-09-19T08:14:36Z</dcterms:modified>
</cp:coreProperties>
</file>
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h5u8cuYQlhb1Ja4zXdB9Gn4Ksn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10" Type="http://schemas.openxmlformats.org/officeDocument/2006/relationships/slide" Target="slides/slide6.xml"/><Relationship Id="rId54"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type="title">
  <p:cSld name="TITLE">
    <p:spTree>
      <p:nvGrpSpPr>
        <p:cNvPr id="12" name="Shape 12"/>
        <p:cNvGrpSpPr/>
        <p:nvPr/>
      </p:nvGrpSpPr>
      <p:grpSpPr>
        <a:xfrm>
          <a:off x="0" y="0"/>
          <a:ext cx="0" cy="0"/>
          <a:chOff x="0" y="0"/>
          <a:chExt cx="0" cy="0"/>
        </a:xfrm>
      </p:grpSpPr>
      <p:sp>
        <p:nvSpPr>
          <p:cNvPr id="13" name="Google Shape;13;p51"/>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51"/>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51"/>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51"/>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17" name="Google Shape;17;p5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20" name="Google Shape;20;p51"/>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4" name="Google Shape;24;p5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showMasterSp="0" type="secHead">
  <p:cSld name="SECTION_HEADER">
    <p:spTree>
      <p:nvGrpSpPr>
        <p:cNvPr id="27" name="Shape 27"/>
        <p:cNvGrpSpPr/>
        <p:nvPr/>
      </p:nvGrpSpPr>
      <p:grpSpPr>
        <a:xfrm>
          <a:off x="0" y="0"/>
          <a:ext cx="0" cy="0"/>
          <a:chOff x="0" y="0"/>
          <a:chExt cx="0" cy="0"/>
        </a:xfrm>
      </p:grpSpPr>
      <p:sp>
        <p:nvSpPr>
          <p:cNvPr id="28" name="Google Shape;28;p53"/>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3"/>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3"/>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3"/>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2" name="Google Shape;32;p5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35" name="Google Shape;35;p53"/>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6" name="Shape 36"/>
        <p:cNvGrpSpPr/>
        <p:nvPr/>
      </p:nvGrpSpPr>
      <p:grpSpPr>
        <a:xfrm>
          <a:off x="0" y="0"/>
          <a:ext cx="0" cy="0"/>
          <a:chOff x="0" y="0"/>
          <a:chExt cx="0" cy="0"/>
        </a:xfrm>
      </p:grpSpPr>
      <p:sp>
        <p:nvSpPr>
          <p:cNvPr id="37" name="Google Shape;37;p5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4"/>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54"/>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0" name="Google Shape;40;p5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3" name="Shape 43"/>
        <p:cNvGrpSpPr/>
        <p:nvPr/>
      </p:nvGrpSpPr>
      <p:grpSpPr>
        <a:xfrm>
          <a:off x="0" y="0"/>
          <a:ext cx="0" cy="0"/>
          <a:chOff x="0" y="0"/>
          <a:chExt cx="0" cy="0"/>
        </a:xfrm>
      </p:grpSpPr>
      <p:sp>
        <p:nvSpPr>
          <p:cNvPr id="44" name="Google Shape;44;p5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5"/>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6" name="Google Shape;46;p55"/>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55"/>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55"/>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5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2" name="Shape 52"/>
        <p:cNvGrpSpPr/>
        <p:nvPr/>
      </p:nvGrpSpPr>
      <p:grpSpPr>
        <a:xfrm>
          <a:off x="0" y="0"/>
          <a:ext cx="0" cy="0"/>
          <a:chOff x="0" y="0"/>
          <a:chExt cx="0" cy="0"/>
        </a:xfrm>
      </p:grpSpPr>
      <p:sp>
        <p:nvSpPr>
          <p:cNvPr id="53" name="Google Shape;53;p5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5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showMasterSp="0" type="blank">
  <p:cSld name="BLANK">
    <p:spTree>
      <p:nvGrpSpPr>
        <p:cNvPr id="57" name="Shape 57"/>
        <p:cNvGrpSpPr/>
        <p:nvPr/>
      </p:nvGrpSpPr>
      <p:grpSpPr>
        <a:xfrm>
          <a:off x="0" y="0"/>
          <a:ext cx="0" cy="0"/>
          <a:chOff x="0" y="0"/>
          <a:chExt cx="0" cy="0"/>
        </a:xfrm>
      </p:grpSpPr>
      <p:sp>
        <p:nvSpPr>
          <p:cNvPr id="58" name="Google Shape;58;p5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1" name="Shape 61"/>
        <p:cNvGrpSpPr/>
        <p:nvPr/>
      </p:nvGrpSpPr>
      <p:grpSpPr>
        <a:xfrm>
          <a:off x="0" y="0"/>
          <a:ext cx="0" cy="0"/>
          <a:chOff x="0" y="0"/>
          <a:chExt cx="0" cy="0"/>
        </a:xfrm>
      </p:grpSpPr>
      <p:sp>
        <p:nvSpPr>
          <p:cNvPr id="62" name="Google Shape;62;p58"/>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8"/>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4" name="Google Shape;64;p58"/>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5" name="Google Shape;65;p5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showMasterSp="0" type="picTx">
  <p:cSld name="PICTURE_WITH_CAPTION_TEXT">
    <p:spTree>
      <p:nvGrpSpPr>
        <p:cNvPr id="68" name="Shape 68"/>
        <p:cNvGrpSpPr/>
        <p:nvPr/>
      </p:nvGrpSpPr>
      <p:grpSpPr>
        <a:xfrm>
          <a:off x="0" y="0"/>
          <a:ext cx="0" cy="0"/>
          <a:chOff x="0" y="0"/>
          <a:chExt cx="0" cy="0"/>
        </a:xfrm>
      </p:grpSpPr>
      <p:sp>
        <p:nvSpPr>
          <p:cNvPr id="69" name="Google Shape;69;p59"/>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9"/>
          <p:cNvSpPr/>
          <p:nvPr>
            <p:ph idx="2" type="pic"/>
          </p:nvPr>
        </p:nvSpPr>
        <p:spPr>
          <a:xfrm>
            <a:off x="0" y="-1"/>
            <a:ext cx="12188952" cy="4572000"/>
          </a:xfrm>
          <a:prstGeom prst="rect">
            <a:avLst/>
          </a:prstGeom>
          <a:solidFill>
            <a:srgbClr val="76CEEF"/>
          </a:solidFill>
          <a:ln>
            <a:noFill/>
          </a:ln>
        </p:spPr>
      </p:sp>
      <p:sp>
        <p:nvSpPr>
          <p:cNvPr id="71" name="Google Shape;71;p59"/>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2" name="Google Shape;72;p5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75" name="Google Shape;75;p59"/>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6" name="Shape 76"/>
        <p:cNvGrpSpPr/>
        <p:nvPr/>
      </p:nvGrpSpPr>
      <p:grpSpPr>
        <a:xfrm>
          <a:off x="0" y="0"/>
          <a:ext cx="0" cy="0"/>
          <a:chOff x="0" y="0"/>
          <a:chExt cx="0" cy="0"/>
        </a:xfrm>
      </p:grpSpPr>
      <p:sp>
        <p:nvSpPr>
          <p:cNvPr id="77" name="Google Shape;77;p6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0"/>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9" name="Google Shape;79;p6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showMasterSp="0" type="vertTitleAndTx">
  <p:cSld name="VERTICAL_TITLE_AND_VERTICAL_TEXT">
    <p:spTree>
      <p:nvGrpSpPr>
        <p:cNvPr id="82" name="Shape 82"/>
        <p:cNvGrpSpPr/>
        <p:nvPr/>
      </p:nvGrpSpPr>
      <p:grpSpPr>
        <a:xfrm>
          <a:off x="0" y="0"/>
          <a:ext cx="0" cy="0"/>
          <a:chOff x="0" y="0"/>
          <a:chExt cx="0" cy="0"/>
        </a:xfrm>
      </p:grpSpPr>
      <p:sp>
        <p:nvSpPr>
          <p:cNvPr id="83" name="Google Shape;83;p61"/>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61"/>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6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88" name="Google Shape;88;p61"/>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8" name="Google Shape;8;p5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9" name="Google Shape;9;p5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5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fr-FR"/>
              <a:t>‹#›</a:t>
            </a:fld>
            <a:endParaRPr/>
          </a:p>
        </p:txBody>
      </p:sp>
      <p:cxnSp>
        <p:nvCxnSpPr>
          <p:cNvPr id="11" name="Google Shape;11;p50"/>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ctrTitle"/>
          </p:nvPr>
        </p:nvSpPr>
        <p:spPr>
          <a:xfrm>
            <a:off x="1524000" y="1913021"/>
            <a:ext cx="9144000" cy="902368"/>
          </a:xfrm>
          <a:prstGeom prst="rect">
            <a:avLst/>
          </a:prstGeom>
          <a:solidFill>
            <a:srgbClr val="CFE6F6"/>
          </a:solid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0C0C0C"/>
              </a:buClr>
              <a:buSzPts val="5000"/>
              <a:buFont typeface="Twentieth Century"/>
              <a:buNone/>
            </a:pPr>
            <a:r>
              <a:rPr b="1" lang="fr-FR"/>
              <a:t>EVALUATION : COURS ŒDÈME</a:t>
            </a:r>
            <a:endParaRPr/>
          </a:p>
        </p:txBody>
      </p:sp>
      <p:sp>
        <p:nvSpPr>
          <p:cNvPr id="94" name="Google Shape;94;p1"/>
          <p:cNvSpPr txBox="1"/>
          <p:nvPr>
            <p:ph idx="1" type="subTitle"/>
          </p:nvPr>
        </p:nvSpPr>
        <p:spPr>
          <a:xfrm>
            <a:off x="0" y="4827790"/>
            <a:ext cx="8710862" cy="146304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b="1" lang="fr-FR" sz="3200"/>
              <a:t>Cycle de préparation du concours de Résidanat</a:t>
            </a:r>
            <a:endParaRPr/>
          </a:p>
          <a:p>
            <a:pPr indent="0" lvl="0" marL="0" rtl="0" algn="ctr">
              <a:lnSpc>
                <a:spcPct val="100000"/>
              </a:lnSpc>
              <a:spcBef>
                <a:spcPts val="200"/>
              </a:spcBef>
              <a:spcAft>
                <a:spcPts val="0"/>
              </a:spcAft>
              <a:buSzPts val="3200"/>
              <a:buNone/>
            </a:pPr>
            <a:r>
              <a:rPr b="1" lang="fr-FR" sz="3200"/>
              <a:t>Sujet :55  </a:t>
            </a:r>
            <a:endParaRPr/>
          </a:p>
          <a:p>
            <a:pPr indent="0" lvl="0" marL="0" rtl="0" algn="ctr">
              <a:lnSpc>
                <a:spcPct val="100000"/>
              </a:lnSpc>
              <a:spcBef>
                <a:spcPts val="200"/>
              </a:spcBef>
              <a:spcAft>
                <a:spcPts val="0"/>
              </a:spcAft>
              <a:buSzPts val="3200"/>
              <a:buNone/>
            </a:pPr>
            <a:r>
              <a:rPr b="1" lang="fr-FR" sz="3200"/>
              <a:t>Session 2024-2025</a:t>
            </a:r>
            <a:endParaRPr/>
          </a:p>
        </p:txBody>
      </p:sp>
      <p:sp>
        <p:nvSpPr>
          <p:cNvPr descr="-" id="95" name="Google Shape;95;p1"/>
          <p:cNvSpPr/>
          <p:nvPr/>
        </p:nvSpPr>
        <p:spPr>
          <a:xfrm>
            <a:off x="0" y="0"/>
            <a:ext cx="0" cy="0"/>
          </a:xfrm>
          <a:prstGeom prst="lightningBolt">
            <a:avLst/>
          </a:prstGeom>
          <a:solidFill>
            <a:schemeClr val="accent5"/>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descr="-" id="96" name="Google Shape;96;p1"/>
          <p:cNvSpPr/>
          <p:nvPr/>
        </p:nvSpPr>
        <p:spPr>
          <a:xfrm>
            <a:off x="0" y="0"/>
            <a:ext cx="0" cy="0"/>
          </a:xfrm>
          <a:prstGeom prst="lightningBolt">
            <a:avLst/>
          </a:prstGeom>
          <a:solidFill>
            <a:schemeClr val="accent5"/>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idx="1" type="body"/>
          </p:nvPr>
        </p:nvSpPr>
        <p:spPr>
          <a:xfrm>
            <a:off x="939907" y="2286000"/>
            <a:ext cx="10935261" cy="2177716"/>
          </a:xfrm>
          <a:prstGeom prst="rect">
            <a:avLst/>
          </a:prstGeom>
          <a:noFill/>
          <a:ln>
            <a:noFill/>
          </a:ln>
        </p:spPr>
        <p:txBody>
          <a:bodyPr anchorCtr="0" anchor="ctr" bIns="45700" lIns="91425" spcFirstLastPara="1" rIns="91425" wrap="square" tIns="45700">
            <a:normAutofit fontScale="97500"/>
          </a:bodyPr>
          <a:lstStyle/>
          <a:p>
            <a:pPr indent="-91440" lvl="0" marL="91440" marR="0" rtl="0" algn="ctr">
              <a:lnSpc>
                <a:spcPct val="80000"/>
              </a:lnSpc>
              <a:spcBef>
                <a:spcPts val="0"/>
              </a:spcBef>
              <a:spcAft>
                <a:spcPts val="0"/>
              </a:spcAft>
              <a:buClr>
                <a:schemeClr val="accent1"/>
              </a:buClr>
              <a:buSzPct val="100000"/>
              <a:buFont typeface="Twentieth Century"/>
              <a:buNone/>
            </a:pPr>
            <a:r>
              <a:rPr b="1" i="0" lang="fr-FR" sz="5000" u="none" cap="none" strike="noStrike">
                <a:solidFill>
                  <a:srgbClr val="002060"/>
                </a:solidFill>
                <a:latin typeface="Twentieth Century"/>
                <a:ea typeface="Twentieth Century"/>
                <a:cs typeface="Twentieth Century"/>
                <a:sym typeface="Twentieth Century"/>
              </a:rPr>
              <a:t>OBJECTIF N°1: EXPLIQUER LES MÉCANISMES PHYSIOPATHOLOGIQUES DES ŒDÈMES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1144444" y="208867"/>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a:t>
            </a:r>
            <a:endParaRPr/>
          </a:p>
        </p:txBody>
      </p:sp>
      <p:sp>
        <p:nvSpPr>
          <p:cNvPr id="107" name="Google Shape;107;p3"/>
          <p:cNvSpPr txBox="1"/>
          <p:nvPr>
            <p:ph idx="1" type="body"/>
          </p:nvPr>
        </p:nvSpPr>
        <p:spPr>
          <a:xfrm>
            <a:off x="1420448" y="1708483"/>
            <a:ext cx="9168064" cy="4824663"/>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400"/>
              <a:buNone/>
            </a:pPr>
            <a:r>
              <a:rPr b="1" lang="fr-FR" sz="2400">
                <a:solidFill>
                  <a:srgbClr val="002060"/>
                </a:solidFill>
              </a:rPr>
              <a:t>L’œdème est défini par une rétention  hydro sodée au niveau interstitiel de plus de :</a:t>
            </a:r>
            <a:endParaRPr/>
          </a:p>
          <a:p>
            <a:pPr indent="-91440" lvl="0" marL="91440" rtl="0" algn="l">
              <a:lnSpc>
                <a:spcPct val="90000"/>
              </a:lnSpc>
              <a:spcBef>
                <a:spcPts val="1400"/>
              </a:spcBef>
              <a:spcAft>
                <a:spcPts val="0"/>
              </a:spcAft>
              <a:buSzPts val="2400"/>
              <a:buNone/>
            </a:pPr>
            <a:r>
              <a:t/>
            </a:r>
            <a:endParaRPr sz="2400"/>
          </a:p>
          <a:p>
            <a:pPr indent="-91440" lvl="0" marL="91440" rtl="0" algn="l">
              <a:lnSpc>
                <a:spcPct val="90000"/>
              </a:lnSpc>
              <a:spcBef>
                <a:spcPts val="1400"/>
              </a:spcBef>
              <a:spcAft>
                <a:spcPts val="0"/>
              </a:spcAft>
              <a:buSzPts val="2400"/>
              <a:buNone/>
            </a:pPr>
            <a:r>
              <a:rPr lang="fr-FR" sz="2400"/>
              <a:t>A - 30%</a:t>
            </a:r>
            <a:endParaRPr/>
          </a:p>
          <a:p>
            <a:pPr indent="-91440" lvl="0" marL="91440" rtl="0" algn="l">
              <a:lnSpc>
                <a:spcPct val="90000"/>
              </a:lnSpc>
              <a:spcBef>
                <a:spcPts val="1400"/>
              </a:spcBef>
              <a:spcAft>
                <a:spcPts val="0"/>
              </a:spcAft>
              <a:buSzPts val="2400"/>
              <a:buNone/>
            </a:pPr>
            <a:r>
              <a:rPr lang="fr-FR" sz="2400"/>
              <a:t>B - 20%</a:t>
            </a:r>
            <a:endParaRPr/>
          </a:p>
          <a:p>
            <a:pPr indent="-91440" lvl="0" marL="91440" rtl="0" algn="l">
              <a:lnSpc>
                <a:spcPct val="90000"/>
              </a:lnSpc>
              <a:spcBef>
                <a:spcPts val="1400"/>
              </a:spcBef>
              <a:spcAft>
                <a:spcPts val="0"/>
              </a:spcAft>
              <a:buSzPts val="2400"/>
              <a:buNone/>
            </a:pPr>
            <a:r>
              <a:rPr lang="fr-FR" sz="2400"/>
              <a:t>C -50%</a:t>
            </a:r>
            <a:endParaRPr/>
          </a:p>
          <a:p>
            <a:pPr indent="-91440" lvl="0" marL="91440" rtl="0" algn="l">
              <a:lnSpc>
                <a:spcPct val="90000"/>
              </a:lnSpc>
              <a:spcBef>
                <a:spcPts val="1400"/>
              </a:spcBef>
              <a:spcAft>
                <a:spcPts val="0"/>
              </a:spcAft>
              <a:buSzPts val="2400"/>
              <a:buNone/>
            </a:pPr>
            <a:r>
              <a:rPr lang="fr-FR" sz="2400"/>
              <a:t>D - 10%</a:t>
            </a:r>
            <a:endParaRPr/>
          </a:p>
          <a:p>
            <a:pPr indent="-91440" lvl="0" marL="91440" rtl="0" algn="l">
              <a:lnSpc>
                <a:spcPct val="90000"/>
              </a:lnSpc>
              <a:spcBef>
                <a:spcPts val="1400"/>
              </a:spcBef>
              <a:spcAft>
                <a:spcPts val="0"/>
              </a:spcAft>
              <a:buSzPts val="2400"/>
              <a:buNone/>
            </a:pPr>
            <a:r>
              <a:rPr lang="fr-FR" sz="2400"/>
              <a:t>E - 5%</a:t>
            </a:r>
            <a:endParaRPr/>
          </a:p>
          <a:p>
            <a:pPr indent="-9144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a:t>
            </a:r>
            <a:endParaRPr/>
          </a:p>
        </p:txBody>
      </p:sp>
      <p:sp>
        <p:nvSpPr>
          <p:cNvPr id="113" name="Google Shape;113;p4"/>
          <p:cNvSpPr txBox="1"/>
          <p:nvPr>
            <p:ph idx="1" type="body"/>
          </p:nvPr>
        </p:nvSpPr>
        <p:spPr>
          <a:xfrm>
            <a:off x="1264759" y="1937085"/>
            <a:ext cx="9720073" cy="4528686"/>
          </a:xfrm>
          <a:prstGeom prst="rect">
            <a:avLst/>
          </a:prstGeom>
          <a:noFill/>
          <a:ln>
            <a:noFill/>
          </a:ln>
        </p:spPr>
        <p:txBody>
          <a:bodyPr anchorCtr="0" anchor="t" bIns="45700" lIns="45700" spcFirstLastPara="1" rIns="45700" wrap="square" tIns="45700">
            <a:normAutofit/>
          </a:bodyPr>
          <a:lstStyle/>
          <a:p>
            <a:pPr indent="-152400" lvl="0" marL="91440" rtl="0" algn="l">
              <a:lnSpc>
                <a:spcPct val="90000"/>
              </a:lnSpc>
              <a:spcBef>
                <a:spcPts val="0"/>
              </a:spcBef>
              <a:spcAft>
                <a:spcPts val="0"/>
              </a:spcAft>
              <a:buSzPts val="2400"/>
              <a:buChar char=" "/>
            </a:pPr>
            <a:r>
              <a:rPr b="1" lang="fr-FR" sz="2400">
                <a:solidFill>
                  <a:srgbClr val="002060"/>
                </a:solidFill>
              </a:rPr>
              <a:t>L’œdème est défini  par :</a:t>
            </a:r>
            <a:endParaRPr/>
          </a:p>
          <a:p>
            <a:pPr indent="-152400" lvl="0" marL="91440" rtl="0" algn="l">
              <a:lnSpc>
                <a:spcPct val="90000"/>
              </a:lnSpc>
              <a:spcBef>
                <a:spcPts val="1400"/>
              </a:spcBef>
              <a:spcAft>
                <a:spcPts val="0"/>
              </a:spcAft>
              <a:buSzPts val="2400"/>
              <a:buChar char=" "/>
            </a:pPr>
            <a:r>
              <a:rPr lang="fr-FR" sz="2400"/>
              <a:t>A- Une augmentation du volume du liquide intracellulaire</a:t>
            </a:r>
            <a:endParaRPr/>
          </a:p>
          <a:p>
            <a:pPr indent="-152400" lvl="0" marL="91440" rtl="0" algn="l">
              <a:lnSpc>
                <a:spcPct val="90000"/>
              </a:lnSpc>
              <a:spcBef>
                <a:spcPts val="1400"/>
              </a:spcBef>
              <a:spcAft>
                <a:spcPts val="0"/>
              </a:spcAft>
              <a:buSzPts val="2400"/>
              <a:buChar char=" "/>
            </a:pPr>
            <a:r>
              <a:rPr lang="fr-FR" sz="2400"/>
              <a:t>B- Une augmentation du volume du liquide plasmatique</a:t>
            </a:r>
            <a:endParaRPr/>
          </a:p>
          <a:p>
            <a:pPr indent="-152400" lvl="0" marL="91440" rtl="0" algn="l">
              <a:lnSpc>
                <a:spcPct val="90000"/>
              </a:lnSpc>
              <a:spcBef>
                <a:spcPts val="1400"/>
              </a:spcBef>
              <a:spcAft>
                <a:spcPts val="0"/>
              </a:spcAft>
              <a:buSzPts val="2400"/>
              <a:buChar char=" "/>
            </a:pPr>
            <a:r>
              <a:rPr lang="fr-FR" sz="2400"/>
              <a:t>C- Une augmentation du volume du liquide interstitiel </a:t>
            </a:r>
            <a:endParaRPr/>
          </a:p>
          <a:p>
            <a:pPr indent="-152400" lvl="0" marL="91440" rtl="0" algn="l">
              <a:lnSpc>
                <a:spcPct val="90000"/>
              </a:lnSpc>
              <a:spcBef>
                <a:spcPts val="1400"/>
              </a:spcBef>
              <a:spcAft>
                <a:spcPts val="0"/>
              </a:spcAft>
              <a:buSzPts val="2400"/>
              <a:buChar char=" "/>
            </a:pPr>
            <a:r>
              <a:rPr lang="fr-FR" sz="2400"/>
              <a:t>D- Une augmentation du débit cardiaque</a:t>
            </a:r>
            <a:endParaRPr/>
          </a:p>
          <a:p>
            <a:pPr indent="-152400" lvl="0" marL="91440" rtl="0" algn="l">
              <a:lnSpc>
                <a:spcPct val="90000"/>
              </a:lnSpc>
              <a:spcBef>
                <a:spcPts val="1400"/>
              </a:spcBef>
              <a:spcAft>
                <a:spcPts val="0"/>
              </a:spcAft>
              <a:buSzPts val="2400"/>
              <a:buChar char=" "/>
            </a:pPr>
            <a:r>
              <a:rPr lang="fr-FR" sz="2400"/>
              <a:t>E- Une rétention hydrosodée</a:t>
            </a:r>
            <a:endParaRPr sz="2400"/>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QCM3:</a:t>
            </a:r>
            <a:endParaRPr/>
          </a:p>
        </p:txBody>
      </p:sp>
      <p:sp>
        <p:nvSpPr>
          <p:cNvPr id="119" name="Google Shape;119;p5"/>
          <p:cNvSpPr txBox="1"/>
          <p:nvPr>
            <p:ph idx="1" type="body"/>
          </p:nvPr>
        </p:nvSpPr>
        <p:spPr>
          <a:xfrm>
            <a:off x="1024128" y="1973179"/>
            <a:ext cx="9720073" cy="4463716"/>
          </a:xfrm>
          <a:prstGeom prst="rect">
            <a:avLst/>
          </a:prstGeom>
          <a:noFill/>
          <a:ln>
            <a:noFill/>
          </a:ln>
        </p:spPr>
        <p:txBody>
          <a:bodyPr anchorCtr="0" anchor="t" bIns="45700" lIns="45700" spcFirstLastPara="1" rIns="45700" wrap="square" tIns="45700">
            <a:normAutofit/>
          </a:bodyPr>
          <a:lstStyle/>
          <a:p>
            <a:pPr indent="-152400" lvl="0" marL="91440" rtl="0" algn="l">
              <a:lnSpc>
                <a:spcPct val="90000"/>
              </a:lnSpc>
              <a:spcBef>
                <a:spcPts val="0"/>
              </a:spcBef>
              <a:spcAft>
                <a:spcPts val="0"/>
              </a:spcAft>
              <a:buSzPts val="2400"/>
              <a:buChar char=" "/>
            </a:pPr>
            <a:r>
              <a:rPr b="1" lang="fr-FR" sz="2400">
                <a:solidFill>
                  <a:srgbClr val="002060"/>
                </a:solidFill>
              </a:rPr>
              <a:t>Le secteur interstitiel correspond à </a:t>
            </a:r>
            <a:r>
              <a:rPr lang="fr-FR" sz="2400">
                <a:solidFill>
                  <a:srgbClr val="002060"/>
                </a:solidFill>
              </a:rPr>
              <a:t>:</a:t>
            </a:r>
            <a:endParaRPr/>
          </a:p>
          <a:p>
            <a:pPr indent="-152400" lvl="0" marL="91440" rtl="0" algn="l">
              <a:lnSpc>
                <a:spcPct val="90000"/>
              </a:lnSpc>
              <a:spcBef>
                <a:spcPts val="1400"/>
              </a:spcBef>
              <a:spcAft>
                <a:spcPts val="0"/>
              </a:spcAft>
              <a:buSzPts val="2400"/>
              <a:buChar char=" "/>
            </a:pPr>
            <a:r>
              <a:rPr lang="fr-FR" sz="2400"/>
              <a:t>A- à l’espace intracellulaire</a:t>
            </a:r>
            <a:endParaRPr/>
          </a:p>
          <a:p>
            <a:pPr indent="-152400" lvl="0" marL="91440" rtl="0" algn="l">
              <a:lnSpc>
                <a:spcPct val="90000"/>
              </a:lnSpc>
              <a:spcBef>
                <a:spcPts val="1400"/>
              </a:spcBef>
              <a:spcAft>
                <a:spcPts val="0"/>
              </a:spcAft>
              <a:buSzPts val="2400"/>
              <a:buChar char=" "/>
            </a:pPr>
            <a:r>
              <a:rPr lang="fr-FR" sz="2400"/>
              <a:t>B- au tissu sous cutané</a:t>
            </a:r>
            <a:endParaRPr/>
          </a:p>
          <a:p>
            <a:pPr indent="-152400" lvl="0" marL="91440" rtl="0" algn="l">
              <a:lnSpc>
                <a:spcPct val="90000"/>
              </a:lnSpc>
              <a:spcBef>
                <a:spcPts val="1400"/>
              </a:spcBef>
              <a:spcAft>
                <a:spcPts val="0"/>
              </a:spcAft>
              <a:buSzPts val="2400"/>
              <a:buChar char=" "/>
            </a:pPr>
            <a:r>
              <a:rPr lang="fr-FR" sz="2400"/>
              <a:t>C- à l’espace pleural</a:t>
            </a:r>
            <a:endParaRPr/>
          </a:p>
          <a:p>
            <a:pPr indent="-152400" lvl="0" marL="91440" rtl="0" algn="l">
              <a:lnSpc>
                <a:spcPct val="90000"/>
              </a:lnSpc>
              <a:spcBef>
                <a:spcPts val="1400"/>
              </a:spcBef>
              <a:spcAft>
                <a:spcPts val="0"/>
              </a:spcAft>
              <a:buSzPts val="2400"/>
              <a:buChar char=" "/>
            </a:pPr>
            <a:r>
              <a:rPr lang="fr-FR" sz="2400"/>
              <a:t>D- au liquide plasmatique</a:t>
            </a:r>
            <a:endParaRPr/>
          </a:p>
          <a:p>
            <a:pPr indent="-152400" lvl="0" marL="91440" rtl="0" algn="l">
              <a:lnSpc>
                <a:spcPct val="90000"/>
              </a:lnSpc>
              <a:spcBef>
                <a:spcPts val="1400"/>
              </a:spcBef>
              <a:spcAft>
                <a:spcPts val="0"/>
              </a:spcAft>
              <a:buSzPts val="2400"/>
              <a:buChar char=" "/>
            </a:pPr>
            <a:r>
              <a:rPr lang="fr-FR" sz="2400"/>
              <a:t>E- au fascias de décollement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QCM4:</a:t>
            </a:r>
            <a:endParaRPr/>
          </a:p>
        </p:txBody>
      </p:sp>
      <p:sp>
        <p:nvSpPr>
          <p:cNvPr id="125" name="Google Shape;125;p6"/>
          <p:cNvSpPr txBox="1"/>
          <p:nvPr>
            <p:ph idx="1" type="body"/>
          </p:nvPr>
        </p:nvSpPr>
        <p:spPr>
          <a:xfrm>
            <a:off x="1180538" y="2084832"/>
            <a:ext cx="9720073" cy="402336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400"/>
              <a:buNone/>
            </a:pPr>
            <a:r>
              <a:rPr b="1" lang="fr-FR" sz="2400">
                <a:solidFill>
                  <a:srgbClr val="002060"/>
                </a:solidFill>
              </a:rPr>
              <a:t>Lesquels parmi ces mécanismes sont à l’origine d’un œdème généralisé: </a:t>
            </a:r>
            <a:endParaRPr/>
          </a:p>
          <a:p>
            <a:pPr indent="-91440" lvl="0" marL="91440" rtl="0" algn="l">
              <a:lnSpc>
                <a:spcPct val="90000"/>
              </a:lnSpc>
              <a:spcBef>
                <a:spcPts val="1400"/>
              </a:spcBef>
              <a:spcAft>
                <a:spcPts val="0"/>
              </a:spcAft>
              <a:buSzPts val="2400"/>
              <a:buNone/>
            </a:pPr>
            <a:r>
              <a:rPr lang="fr-FR" sz="2400"/>
              <a:t>A -  une</a:t>
            </a:r>
            <a:r>
              <a:rPr b="1" lang="fr-FR" sz="2400"/>
              <a:t> </a:t>
            </a:r>
            <a:r>
              <a:rPr lang="fr-FR" sz="2400"/>
              <a:t>augmentation de la pression hydrostatique capillaire</a:t>
            </a:r>
            <a:endParaRPr/>
          </a:p>
          <a:p>
            <a:pPr indent="-91440" lvl="0" marL="91440" rtl="0" algn="l">
              <a:lnSpc>
                <a:spcPct val="90000"/>
              </a:lnSpc>
              <a:spcBef>
                <a:spcPts val="1400"/>
              </a:spcBef>
              <a:spcAft>
                <a:spcPts val="0"/>
              </a:spcAft>
              <a:buSzPts val="2400"/>
              <a:buNone/>
            </a:pPr>
            <a:r>
              <a:rPr lang="fr-FR" sz="2400"/>
              <a:t>B -  une diminution  de la pression hydrostatique interstitielle</a:t>
            </a:r>
            <a:endParaRPr/>
          </a:p>
          <a:p>
            <a:pPr indent="-91440" lvl="0" marL="91440" rtl="0" algn="l">
              <a:lnSpc>
                <a:spcPct val="90000"/>
              </a:lnSpc>
              <a:spcBef>
                <a:spcPts val="1400"/>
              </a:spcBef>
              <a:spcAft>
                <a:spcPts val="0"/>
              </a:spcAft>
              <a:buSzPts val="2400"/>
              <a:buNone/>
            </a:pPr>
            <a:r>
              <a:rPr lang="fr-FR" sz="2400"/>
              <a:t>C -  une augmentation de la perméabilité capillaire</a:t>
            </a:r>
            <a:endParaRPr/>
          </a:p>
          <a:p>
            <a:pPr indent="-91440" lvl="0" marL="91440" rtl="0" algn="l">
              <a:lnSpc>
                <a:spcPct val="90000"/>
              </a:lnSpc>
              <a:spcBef>
                <a:spcPts val="1400"/>
              </a:spcBef>
              <a:spcAft>
                <a:spcPts val="0"/>
              </a:spcAft>
              <a:buSzPts val="2400"/>
              <a:buNone/>
            </a:pPr>
            <a:r>
              <a:rPr lang="fr-FR" sz="2400"/>
              <a:t>D -  une saturation du drainage lymphatique</a:t>
            </a:r>
            <a:endParaRPr/>
          </a:p>
          <a:p>
            <a:pPr indent="-91440" lvl="0" marL="91440" rtl="0" algn="l">
              <a:lnSpc>
                <a:spcPct val="90000"/>
              </a:lnSpc>
              <a:spcBef>
                <a:spcPts val="1400"/>
              </a:spcBef>
              <a:spcAft>
                <a:spcPts val="0"/>
              </a:spcAft>
              <a:buSzPts val="2400"/>
              <a:buNone/>
            </a:pPr>
            <a:r>
              <a:rPr lang="fr-FR" sz="2400"/>
              <a:t>E -  une  rétention de sodium et d’eau par les reins</a:t>
            </a:r>
            <a:endParaRPr/>
          </a:p>
          <a:p>
            <a:pPr indent="-9144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QCM5:</a:t>
            </a:r>
            <a:endParaRPr/>
          </a:p>
        </p:txBody>
      </p:sp>
      <p:sp>
        <p:nvSpPr>
          <p:cNvPr id="131" name="Google Shape;131;p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œdèmes au cours de l’insuffisance cardiaque sont secondaires à:</a:t>
            </a:r>
            <a:endParaRPr/>
          </a:p>
          <a:p>
            <a:pPr indent="-139700" lvl="0" marL="91440" rtl="0" algn="l">
              <a:lnSpc>
                <a:spcPct val="90000"/>
              </a:lnSpc>
              <a:spcBef>
                <a:spcPts val="1400"/>
              </a:spcBef>
              <a:spcAft>
                <a:spcPts val="0"/>
              </a:spcAft>
              <a:buSzPts val="2200"/>
              <a:buChar char=" "/>
            </a:pPr>
            <a:r>
              <a:rPr lang="fr-FR"/>
              <a:t>A- une augmentation de la pression hydrostatique capillaire</a:t>
            </a:r>
            <a:endParaRPr/>
          </a:p>
          <a:p>
            <a:pPr indent="-139700" lvl="0" marL="91440" rtl="0" algn="l">
              <a:lnSpc>
                <a:spcPct val="90000"/>
              </a:lnSpc>
              <a:spcBef>
                <a:spcPts val="1400"/>
              </a:spcBef>
              <a:spcAft>
                <a:spcPts val="0"/>
              </a:spcAft>
              <a:buSzPts val="2200"/>
              <a:buChar char=" "/>
            </a:pPr>
            <a:r>
              <a:rPr lang="fr-FR"/>
              <a:t>B- une rétention d’eau et de sodium indépendante du système rénine angiotensine</a:t>
            </a:r>
            <a:endParaRPr/>
          </a:p>
          <a:p>
            <a:pPr indent="-139700" lvl="0" marL="91440" rtl="0" algn="l">
              <a:lnSpc>
                <a:spcPct val="90000"/>
              </a:lnSpc>
              <a:spcBef>
                <a:spcPts val="1400"/>
              </a:spcBef>
              <a:spcAft>
                <a:spcPts val="0"/>
              </a:spcAft>
              <a:buSzPts val="2200"/>
              <a:buChar char=" "/>
            </a:pPr>
            <a:r>
              <a:rPr lang="fr-FR"/>
              <a:t>C- une baisse de la pression oncotique</a:t>
            </a:r>
            <a:endParaRPr/>
          </a:p>
          <a:p>
            <a:pPr indent="-139700" lvl="0" marL="91440" rtl="0" algn="l">
              <a:lnSpc>
                <a:spcPct val="90000"/>
              </a:lnSpc>
              <a:spcBef>
                <a:spcPts val="1400"/>
              </a:spcBef>
              <a:spcAft>
                <a:spcPts val="0"/>
              </a:spcAft>
              <a:buSzPts val="2200"/>
              <a:buChar char=" "/>
            </a:pPr>
            <a:r>
              <a:rPr lang="fr-FR"/>
              <a:t>D- une hyperperméabilité capillaire</a:t>
            </a:r>
            <a:endParaRPr/>
          </a:p>
          <a:p>
            <a:pPr indent="-139700" lvl="0" marL="91440" rtl="0" algn="l">
              <a:lnSpc>
                <a:spcPct val="90000"/>
              </a:lnSpc>
              <a:spcBef>
                <a:spcPts val="1400"/>
              </a:spcBef>
              <a:spcAft>
                <a:spcPts val="0"/>
              </a:spcAft>
              <a:buSzPts val="2200"/>
              <a:buChar char=" "/>
            </a:pPr>
            <a:r>
              <a:rPr lang="fr-FR"/>
              <a:t>E- une saturation du système lymphatique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QCM6:</a:t>
            </a:r>
            <a:endParaRPr/>
          </a:p>
        </p:txBody>
      </p:sp>
      <p:sp>
        <p:nvSpPr>
          <p:cNvPr id="137" name="Google Shape;137;p8"/>
          <p:cNvSpPr txBox="1"/>
          <p:nvPr>
            <p:ph idx="1" type="body"/>
          </p:nvPr>
        </p:nvSpPr>
        <p:spPr>
          <a:xfrm>
            <a:off x="1024128" y="1852863"/>
            <a:ext cx="9720073" cy="4456497"/>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400"/>
              <a:buNone/>
            </a:pPr>
            <a:r>
              <a:rPr b="1" lang="fr-FR" sz="2400">
                <a:solidFill>
                  <a:srgbClr val="002060"/>
                </a:solidFill>
              </a:rPr>
              <a:t>Le principal mécanisme physiopathologique de l’œdème de stase est:</a:t>
            </a:r>
            <a:endParaRPr/>
          </a:p>
          <a:p>
            <a:pPr indent="-91440" lvl="0" marL="91440" rtl="0" algn="l">
              <a:lnSpc>
                <a:spcPct val="90000"/>
              </a:lnSpc>
              <a:spcBef>
                <a:spcPts val="1400"/>
              </a:spcBef>
              <a:spcAft>
                <a:spcPts val="0"/>
              </a:spcAft>
              <a:buSzPts val="2400"/>
              <a:buNone/>
            </a:pPr>
            <a:r>
              <a:rPr lang="fr-FR" sz="2400"/>
              <a:t>A- Une hyperperméabilité capillaire</a:t>
            </a:r>
            <a:endParaRPr/>
          </a:p>
          <a:p>
            <a:pPr indent="-91440" lvl="0" marL="91440" rtl="0" algn="l">
              <a:lnSpc>
                <a:spcPct val="90000"/>
              </a:lnSpc>
              <a:spcBef>
                <a:spcPts val="1400"/>
              </a:spcBef>
              <a:spcAft>
                <a:spcPts val="0"/>
              </a:spcAft>
              <a:buSzPts val="2400"/>
              <a:buNone/>
            </a:pPr>
            <a:r>
              <a:rPr lang="fr-FR" sz="2400"/>
              <a:t>B- Une diminution de la pression oncotique</a:t>
            </a:r>
            <a:endParaRPr/>
          </a:p>
          <a:p>
            <a:pPr indent="-91440" lvl="0" marL="91440" rtl="0" algn="l">
              <a:lnSpc>
                <a:spcPct val="90000"/>
              </a:lnSpc>
              <a:spcBef>
                <a:spcPts val="1400"/>
              </a:spcBef>
              <a:spcAft>
                <a:spcPts val="0"/>
              </a:spcAft>
              <a:buSzPts val="2400"/>
              <a:buNone/>
            </a:pPr>
            <a:r>
              <a:rPr lang="fr-FR" sz="2400"/>
              <a:t>C- une augmentation de la pression hydrostatique au pole veineux</a:t>
            </a:r>
            <a:endParaRPr/>
          </a:p>
          <a:p>
            <a:pPr indent="-91440" lvl="0" marL="91440" rtl="0" algn="l">
              <a:lnSpc>
                <a:spcPct val="90000"/>
              </a:lnSpc>
              <a:spcBef>
                <a:spcPts val="1400"/>
              </a:spcBef>
              <a:spcAft>
                <a:spcPts val="0"/>
              </a:spcAft>
              <a:buSzPts val="2400"/>
              <a:buNone/>
            </a:pPr>
            <a:r>
              <a:rPr lang="fr-FR" sz="2400"/>
              <a:t>D – Une augmentation de la pression hydrostatique interstitielle</a:t>
            </a:r>
            <a:endParaRPr/>
          </a:p>
          <a:p>
            <a:pPr indent="-91440" lvl="0" marL="91440" rtl="0" algn="l">
              <a:lnSpc>
                <a:spcPct val="90000"/>
              </a:lnSpc>
              <a:spcBef>
                <a:spcPts val="1400"/>
              </a:spcBef>
              <a:spcAft>
                <a:spcPts val="0"/>
              </a:spcAft>
              <a:buSzPts val="2400"/>
              <a:buNone/>
            </a:pPr>
            <a:r>
              <a:rPr lang="fr-FR" sz="2400"/>
              <a:t>E – une diminution du drainage lymphatique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QCM7:</a:t>
            </a:r>
            <a:endParaRPr/>
          </a:p>
        </p:txBody>
      </p:sp>
      <p:sp>
        <p:nvSpPr>
          <p:cNvPr id="143" name="Google Shape;143;p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Une augmentation de la pression hydrostatique capillaire est observée au cours:</a:t>
            </a:r>
            <a:endParaRPr/>
          </a:p>
          <a:p>
            <a:pPr indent="-91440" lvl="0" marL="91440" rtl="0" algn="l">
              <a:lnSpc>
                <a:spcPct val="90000"/>
              </a:lnSpc>
              <a:spcBef>
                <a:spcPts val="1400"/>
              </a:spcBef>
              <a:spcAft>
                <a:spcPts val="0"/>
              </a:spcAft>
              <a:buSzPts val="2400"/>
              <a:buNone/>
            </a:pPr>
            <a:r>
              <a:rPr b="1" lang="fr-FR" sz="2400"/>
              <a:t>A –  </a:t>
            </a:r>
            <a:r>
              <a:rPr lang="fr-FR" sz="2400"/>
              <a:t>une dénutrition</a:t>
            </a:r>
            <a:endParaRPr/>
          </a:p>
          <a:p>
            <a:pPr indent="-91440" lvl="0" marL="91440" rtl="0" algn="l">
              <a:lnSpc>
                <a:spcPct val="90000"/>
              </a:lnSpc>
              <a:spcBef>
                <a:spcPts val="1400"/>
              </a:spcBef>
              <a:spcAft>
                <a:spcPts val="0"/>
              </a:spcAft>
              <a:buSzPts val="2400"/>
              <a:buNone/>
            </a:pPr>
            <a:r>
              <a:rPr b="1" lang="fr-FR" sz="2400"/>
              <a:t>B –</a:t>
            </a:r>
            <a:r>
              <a:rPr lang="fr-FR" sz="2400"/>
              <a:t> une insuffisance cardiaque congestive</a:t>
            </a:r>
            <a:endParaRPr/>
          </a:p>
          <a:p>
            <a:pPr indent="-91440" lvl="0" marL="91440" rtl="0" algn="l">
              <a:lnSpc>
                <a:spcPct val="90000"/>
              </a:lnSpc>
              <a:spcBef>
                <a:spcPts val="1400"/>
              </a:spcBef>
              <a:spcAft>
                <a:spcPts val="0"/>
              </a:spcAft>
              <a:buSzPts val="2400"/>
              <a:buNone/>
            </a:pPr>
            <a:r>
              <a:rPr b="1" lang="fr-FR" sz="2400"/>
              <a:t>C -  </a:t>
            </a:r>
            <a:r>
              <a:rPr lang="fr-FR" sz="2400"/>
              <a:t>une péricardite constrictive</a:t>
            </a:r>
            <a:endParaRPr/>
          </a:p>
          <a:p>
            <a:pPr indent="-91440" lvl="0" marL="91440" rtl="0" algn="l">
              <a:lnSpc>
                <a:spcPct val="90000"/>
              </a:lnSpc>
              <a:spcBef>
                <a:spcPts val="1400"/>
              </a:spcBef>
              <a:spcAft>
                <a:spcPts val="0"/>
              </a:spcAft>
              <a:buSzPts val="2400"/>
              <a:buNone/>
            </a:pPr>
            <a:r>
              <a:rPr b="1" lang="fr-FR" sz="2400"/>
              <a:t>D-  </a:t>
            </a:r>
            <a:r>
              <a:rPr lang="fr-FR" sz="2400"/>
              <a:t>une entéropathie exsudative</a:t>
            </a:r>
            <a:endParaRPr/>
          </a:p>
          <a:p>
            <a:pPr indent="-91440" lvl="0" marL="91440" rtl="0" algn="l">
              <a:lnSpc>
                <a:spcPct val="90000"/>
              </a:lnSpc>
              <a:spcBef>
                <a:spcPts val="1400"/>
              </a:spcBef>
              <a:spcAft>
                <a:spcPts val="0"/>
              </a:spcAft>
              <a:buSzPts val="2400"/>
              <a:buNone/>
            </a:pPr>
            <a:r>
              <a:rPr b="1" lang="fr-FR" sz="2400"/>
              <a:t>E –  </a:t>
            </a:r>
            <a:r>
              <a:rPr lang="fr-FR" sz="2400"/>
              <a:t>un syndrome néphrotique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QCM8:</a:t>
            </a:r>
            <a:endParaRPr/>
          </a:p>
        </p:txBody>
      </p:sp>
      <p:sp>
        <p:nvSpPr>
          <p:cNvPr id="149" name="Google Shape;149;p1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L’œdème au cours du syndrome néphrotique est secondaire à:</a:t>
            </a:r>
            <a:endParaRPr/>
          </a:p>
          <a:p>
            <a:pPr indent="-91440" lvl="0" marL="91440" rtl="0" algn="l">
              <a:lnSpc>
                <a:spcPct val="90000"/>
              </a:lnSpc>
              <a:spcBef>
                <a:spcPts val="1400"/>
              </a:spcBef>
              <a:spcAft>
                <a:spcPts val="0"/>
              </a:spcAft>
              <a:buSzPts val="2400"/>
              <a:buNone/>
            </a:pPr>
            <a:r>
              <a:rPr lang="fr-FR" sz="2400"/>
              <a:t>A –  un hyepraldostéronisme secondaire   </a:t>
            </a:r>
            <a:endParaRPr/>
          </a:p>
          <a:p>
            <a:pPr indent="-91440" lvl="0" marL="91440" rtl="0" algn="l">
              <a:lnSpc>
                <a:spcPct val="90000"/>
              </a:lnSpc>
              <a:spcBef>
                <a:spcPts val="1400"/>
              </a:spcBef>
              <a:spcAft>
                <a:spcPts val="0"/>
              </a:spcAft>
              <a:buSzPts val="2400"/>
              <a:buNone/>
            </a:pPr>
            <a:r>
              <a:rPr lang="fr-FR" sz="2400"/>
              <a:t>B –  une hyper réabsorption tubulaire de sodium</a:t>
            </a:r>
            <a:endParaRPr/>
          </a:p>
          <a:p>
            <a:pPr indent="-91440" lvl="0" marL="91440" rtl="0" algn="l">
              <a:lnSpc>
                <a:spcPct val="90000"/>
              </a:lnSpc>
              <a:spcBef>
                <a:spcPts val="1400"/>
              </a:spcBef>
              <a:spcAft>
                <a:spcPts val="0"/>
              </a:spcAft>
              <a:buSzPts val="2400"/>
              <a:buNone/>
            </a:pPr>
            <a:r>
              <a:rPr lang="fr-FR" sz="2400"/>
              <a:t>C -   une augmentation de la pression oncotique</a:t>
            </a:r>
            <a:endParaRPr/>
          </a:p>
          <a:p>
            <a:pPr indent="-91440" lvl="0" marL="91440" rtl="0" algn="l">
              <a:lnSpc>
                <a:spcPct val="90000"/>
              </a:lnSpc>
              <a:spcBef>
                <a:spcPts val="1400"/>
              </a:spcBef>
              <a:spcAft>
                <a:spcPts val="0"/>
              </a:spcAft>
              <a:buSzPts val="2400"/>
              <a:buNone/>
            </a:pPr>
            <a:r>
              <a:rPr lang="fr-FR" sz="2400"/>
              <a:t>D -  une inhibition de l’hormone ADH</a:t>
            </a:r>
            <a:endParaRPr/>
          </a:p>
          <a:p>
            <a:pPr indent="-152400" lvl="0" marL="91440" rtl="0" algn="l">
              <a:lnSpc>
                <a:spcPct val="90000"/>
              </a:lnSpc>
              <a:spcBef>
                <a:spcPts val="1400"/>
              </a:spcBef>
              <a:spcAft>
                <a:spcPts val="0"/>
              </a:spcAft>
              <a:buSzPts val="2400"/>
              <a:buChar char=" "/>
            </a:pPr>
            <a:r>
              <a:rPr lang="fr-FR" sz="2400"/>
              <a:t>E –  une inhibition de facteur atrial natriurétique</a:t>
            </a:r>
            <a:endParaRPr sz="2400"/>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1144444" y="3027626"/>
            <a:ext cx="9720072" cy="149961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0000"/>
              </a:lnSpc>
              <a:spcBef>
                <a:spcPts val="0"/>
              </a:spcBef>
              <a:spcAft>
                <a:spcPts val="0"/>
              </a:spcAft>
              <a:buClr>
                <a:srgbClr val="002060"/>
              </a:buClr>
              <a:buSzPct val="100000"/>
              <a:buFont typeface="Twentieth Century"/>
              <a:buNone/>
            </a:pPr>
            <a:r>
              <a:rPr b="1" lang="fr-FR">
                <a:solidFill>
                  <a:srgbClr val="002060"/>
                </a:solidFill>
              </a:rPr>
              <a:t>OBJECTIF N°2: DISTINGUER LES ŒDÈMES À PARTIR DE LEUR CARACTÉRISTIQUES CLINIQUES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QCM9:</a:t>
            </a:r>
            <a:endParaRPr/>
          </a:p>
        </p:txBody>
      </p:sp>
      <p:sp>
        <p:nvSpPr>
          <p:cNvPr id="160" name="Google Shape;160;p1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œdèmes au cours de l’insuffisance cardiaque sont </a:t>
            </a:r>
            <a:r>
              <a:rPr b="1" lang="fr-FR"/>
              <a:t>:</a:t>
            </a:r>
            <a:endParaRPr/>
          </a:p>
          <a:p>
            <a:pPr indent="-139700" lvl="0" marL="91440" rtl="0" algn="l">
              <a:lnSpc>
                <a:spcPct val="90000"/>
              </a:lnSpc>
              <a:spcBef>
                <a:spcPts val="1400"/>
              </a:spcBef>
              <a:spcAft>
                <a:spcPts val="0"/>
              </a:spcAft>
              <a:buSzPts val="2200"/>
              <a:buChar char=" "/>
            </a:pPr>
            <a:r>
              <a:rPr lang="fr-FR"/>
              <a:t>A- blancs</a:t>
            </a:r>
            <a:endParaRPr/>
          </a:p>
          <a:p>
            <a:pPr indent="-139700" lvl="0" marL="91440" rtl="0" algn="l">
              <a:lnSpc>
                <a:spcPct val="90000"/>
              </a:lnSpc>
              <a:spcBef>
                <a:spcPts val="1400"/>
              </a:spcBef>
              <a:spcAft>
                <a:spcPts val="0"/>
              </a:spcAft>
              <a:buSzPts val="2200"/>
              <a:buChar char=" "/>
            </a:pPr>
            <a:r>
              <a:rPr lang="fr-FR"/>
              <a:t>B- prenant le godet</a:t>
            </a:r>
            <a:endParaRPr/>
          </a:p>
          <a:p>
            <a:pPr indent="-139700" lvl="0" marL="91440" rtl="0" algn="l">
              <a:lnSpc>
                <a:spcPct val="90000"/>
              </a:lnSpc>
              <a:spcBef>
                <a:spcPts val="1400"/>
              </a:spcBef>
              <a:spcAft>
                <a:spcPts val="0"/>
              </a:spcAft>
              <a:buSzPts val="2200"/>
              <a:buChar char=" "/>
            </a:pPr>
            <a:r>
              <a:rPr lang="fr-FR"/>
              <a:t>C- ferme</a:t>
            </a:r>
            <a:endParaRPr/>
          </a:p>
          <a:p>
            <a:pPr indent="-139700" lvl="0" marL="91440" rtl="0" algn="l">
              <a:lnSpc>
                <a:spcPct val="90000"/>
              </a:lnSpc>
              <a:spcBef>
                <a:spcPts val="1400"/>
              </a:spcBef>
              <a:spcAft>
                <a:spcPts val="0"/>
              </a:spcAft>
              <a:buSzPts val="2200"/>
              <a:buChar char=" "/>
            </a:pPr>
            <a:r>
              <a:rPr lang="fr-FR"/>
              <a:t>D- non déclives</a:t>
            </a:r>
            <a:endParaRPr/>
          </a:p>
          <a:p>
            <a:pPr indent="-139700" lvl="0" marL="91440" rtl="0" algn="l">
              <a:lnSpc>
                <a:spcPct val="90000"/>
              </a:lnSpc>
              <a:spcBef>
                <a:spcPts val="1400"/>
              </a:spcBef>
              <a:spcAft>
                <a:spcPts val="0"/>
              </a:spcAft>
              <a:buSzPts val="2200"/>
              <a:buChar char=" "/>
            </a:pPr>
            <a:r>
              <a:rPr lang="fr-FR"/>
              <a:t>E- inflammatoires</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QCM10:</a:t>
            </a:r>
            <a:endParaRPr/>
          </a:p>
        </p:txBody>
      </p:sp>
      <p:sp>
        <p:nvSpPr>
          <p:cNvPr id="166" name="Google Shape;166;p13"/>
          <p:cNvSpPr txBox="1"/>
          <p:nvPr>
            <p:ph idx="1" type="body"/>
          </p:nvPr>
        </p:nvSpPr>
        <p:spPr>
          <a:xfrm>
            <a:off x="1204602" y="1925052"/>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solidFill>
                  <a:srgbClr val="002060"/>
                </a:solidFill>
              </a:rPr>
              <a:t>Les caractéristiques du lymphœdème primitif sont:</a:t>
            </a:r>
            <a:endParaRPr/>
          </a:p>
          <a:p>
            <a:pPr indent="-91440" lvl="0" marL="91440" rtl="0" algn="l">
              <a:lnSpc>
                <a:spcPct val="90000"/>
              </a:lnSpc>
              <a:spcBef>
                <a:spcPts val="1400"/>
              </a:spcBef>
              <a:spcAft>
                <a:spcPts val="0"/>
              </a:spcAft>
              <a:buSzPts val="2200"/>
              <a:buNone/>
            </a:pPr>
            <a:r>
              <a:rPr lang="fr-FR"/>
              <a:t>A- Début pubertaire</a:t>
            </a:r>
            <a:endParaRPr/>
          </a:p>
          <a:p>
            <a:pPr indent="-91440" lvl="0" marL="91440" rtl="0" algn="l">
              <a:lnSpc>
                <a:spcPct val="90000"/>
              </a:lnSpc>
              <a:spcBef>
                <a:spcPts val="1400"/>
              </a:spcBef>
              <a:spcAft>
                <a:spcPts val="0"/>
              </a:spcAft>
              <a:buSzPts val="2200"/>
              <a:buNone/>
            </a:pPr>
            <a:r>
              <a:rPr lang="fr-FR"/>
              <a:t>B- Une prédominance masculine</a:t>
            </a:r>
            <a:endParaRPr/>
          </a:p>
          <a:p>
            <a:pPr indent="-91440" lvl="0" marL="91440" rtl="0" algn="l">
              <a:lnSpc>
                <a:spcPct val="90000"/>
              </a:lnSpc>
              <a:spcBef>
                <a:spcPts val="1400"/>
              </a:spcBef>
              <a:spcAft>
                <a:spcPts val="0"/>
              </a:spcAft>
              <a:buSzPts val="2200"/>
              <a:buNone/>
            </a:pPr>
            <a:r>
              <a:rPr lang="fr-FR"/>
              <a:t>C- Une extension centrifuge</a:t>
            </a:r>
            <a:endParaRPr/>
          </a:p>
          <a:p>
            <a:pPr indent="-91440" lvl="0" marL="91440" rtl="0" algn="l">
              <a:lnSpc>
                <a:spcPct val="90000"/>
              </a:lnSpc>
              <a:spcBef>
                <a:spcPts val="1400"/>
              </a:spcBef>
              <a:spcAft>
                <a:spcPts val="0"/>
              </a:spcAft>
              <a:buSzPts val="2200"/>
              <a:buNone/>
            </a:pPr>
            <a:r>
              <a:rPr lang="fr-FR"/>
              <a:t>D- Peut évoluer vers une sclérose </a:t>
            </a:r>
            <a:endParaRPr/>
          </a:p>
          <a:p>
            <a:pPr indent="-91440" lvl="0" marL="91440" rtl="0" algn="l">
              <a:lnSpc>
                <a:spcPct val="90000"/>
              </a:lnSpc>
              <a:spcBef>
                <a:spcPts val="1400"/>
              </a:spcBef>
              <a:spcAft>
                <a:spcPts val="0"/>
              </a:spcAft>
              <a:buSzPts val="2200"/>
              <a:buNone/>
            </a:pPr>
            <a:r>
              <a:rPr lang="fr-FR"/>
              <a:t>E- aggravé par les traumatismes</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QCM11:</a:t>
            </a:r>
            <a:endParaRPr/>
          </a:p>
        </p:txBody>
      </p:sp>
      <p:sp>
        <p:nvSpPr>
          <p:cNvPr id="172" name="Google Shape;172;p1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200"/>
              <a:buNone/>
            </a:pPr>
            <a:r>
              <a:rPr b="1" lang="fr-FR">
                <a:solidFill>
                  <a:srgbClr val="002060"/>
                </a:solidFill>
              </a:rPr>
              <a:t>Les caractéristiques sémiologiques de l’œdème d’origine lymphatique sont:</a:t>
            </a:r>
            <a:endParaRPr/>
          </a:p>
          <a:p>
            <a:pPr indent="-91440" lvl="0" marL="91440" rtl="0" algn="l">
              <a:lnSpc>
                <a:spcPct val="90000"/>
              </a:lnSpc>
              <a:spcBef>
                <a:spcPts val="1400"/>
              </a:spcBef>
              <a:spcAft>
                <a:spcPts val="0"/>
              </a:spcAft>
              <a:buSzPts val="2200"/>
              <a:buNone/>
            </a:pPr>
            <a:r>
              <a:rPr lang="fr-FR"/>
              <a:t>A- Le caractère mou</a:t>
            </a:r>
            <a:endParaRPr/>
          </a:p>
          <a:p>
            <a:pPr indent="-91440" lvl="0" marL="91440" rtl="0" algn="l">
              <a:lnSpc>
                <a:spcPct val="90000"/>
              </a:lnSpc>
              <a:spcBef>
                <a:spcPts val="1400"/>
              </a:spcBef>
              <a:spcAft>
                <a:spcPts val="0"/>
              </a:spcAft>
              <a:buSzPts val="2200"/>
              <a:buNone/>
            </a:pPr>
            <a:r>
              <a:rPr lang="fr-FR"/>
              <a:t>B-  La présence  de signes inflammatoires associés</a:t>
            </a:r>
            <a:endParaRPr/>
          </a:p>
          <a:p>
            <a:pPr indent="-91440" lvl="0" marL="91440" rtl="0" algn="l">
              <a:lnSpc>
                <a:spcPct val="90000"/>
              </a:lnSpc>
              <a:spcBef>
                <a:spcPts val="1400"/>
              </a:spcBef>
              <a:spcAft>
                <a:spcPts val="0"/>
              </a:spcAft>
              <a:buSzPts val="2200"/>
              <a:buNone/>
            </a:pPr>
            <a:r>
              <a:rPr lang="fr-FR"/>
              <a:t>C- évolution centrifuge </a:t>
            </a:r>
            <a:endParaRPr/>
          </a:p>
          <a:p>
            <a:pPr indent="-91440" lvl="0" marL="91440" rtl="0" algn="l">
              <a:lnSpc>
                <a:spcPct val="90000"/>
              </a:lnSpc>
              <a:spcBef>
                <a:spcPts val="1400"/>
              </a:spcBef>
              <a:spcAft>
                <a:spcPts val="0"/>
              </a:spcAft>
              <a:buSzPts val="2200"/>
              <a:buNone/>
            </a:pPr>
            <a:r>
              <a:rPr lang="fr-FR"/>
              <a:t>D- un aspect luisant de la peau en regard</a:t>
            </a:r>
            <a:endParaRPr/>
          </a:p>
          <a:p>
            <a:pPr indent="-91440" lvl="0" marL="91440" rtl="0" algn="l">
              <a:lnSpc>
                <a:spcPct val="90000"/>
              </a:lnSpc>
              <a:spcBef>
                <a:spcPts val="1400"/>
              </a:spcBef>
              <a:spcAft>
                <a:spcPts val="0"/>
              </a:spcAft>
              <a:buSzPts val="2200"/>
              <a:buNone/>
            </a:pPr>
            <a:r>
              <a:rPr lang="fr-FR"/>
              <a:t>E- indolore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QCM12:</a:t>
            </a:r>
            <a:endParaRPr/>
          </a:p>
        </p:txBody>
      </p:sp>
      <p:sp>
        <p:nvSpPr>
          <p:cNvPr id="178" name="Google Shape;178;p1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caractéristiques cliniques de l’œdème de bleu de Charcot sont:</a:t>
            </a:r>
            <a:endParaRPr/>
          </a:p>
          <a:p>
            <a:pPr indent="-139700" lvl="0" marL="91440" rtl="0" algn="l">
              <a:lnSpc>
                <a:spcPct val="90000"/>
              </a:lnSpc>
              <a:spcBef>
                <a:spcPts val="1400"/>
              </a:spcBef>
              <a:spcAft>
                <a:spcPts val="0"/>
              </a:spcAft>
              <a:buSzPts val="2200"/>
              <a:buChar char=" "/>
            </a:pPr>
            <a:r>
              <a:rPr lang="fr-FR"/>
              <a:t>A- Le caractère localisé</a:t>
            </a:r>
            <a:endParaRPr/>
          </a:p>
          <a:p>
            <a:pPr indent="-139700" lvl="0" marL="91440" rtl="0" algn="l">
              <a:lnSpc>
                <a:spcPct val="90000"/>
              </a:lnSpc>
              <a:spcBef>
                <a:spcPts val="1400"/>
              </a:spcBef>
              <a:spcAft>
                <a:spcPts val="0"/>
              </a:spcAft>
              <a:buSzPts val="2200"/>
              <a:buChar char=" "/>
            </a:pPr>
            <a:r>
              <a:rPr lang="fr-FR"/>
              <a:t>B- L’existence d’une marque de striction</a:t>
            </a:r>
            <a:endParaRPr/>
          </a:p>
          <a:p>
            <a:pPr indent="-139700" lvl="0" marL="91440" rtl="0" algn="l">
              <a:lnSpc>
                <a:spcPct val="90000"/>
              </a:lnSpc>
              <a:spcBef>
                <a:spcPts val="1400"/>
              </a:spcBef>
              <a:spcAft>
                <a:spcPts val="0"/>
              </a:spcAft>
              <a:buSzPts val="2200"/>
              <a:buChar char=" "/>
            </a:pPr>
            <a:r>
              <a:rPr lang="fr-FR"/>
              <a:t>C- Un profil de pathomimie du patient</a:t>
            </a:r>
            <a:endParaRPr/>
          </a:p>
          <a:p>
            <a:pPr indent="-139700" lvl="0" marL="91440" rtl="0" algn="l">
              <a:lnSpc>
                <a:spcPct val="90000"/>
              </a:lnSpc>
              <a:spcBef>
                <a:spcPts val="1400"/>
              </a:spcBef>
              <a:spcAft>
                <a:spcPts val="0"/>
              </a:spcAft>
              <a:buSzPts val="2200"/>
              <a:buChar char=" "/>
            </a:pPr>
            <a:r>
              <a:rPr lang="fr-FR"/>
              <a:t>D- Un contexte de revascularisation chirurgicale</a:t>
            </a:r>
            <a:endParaRPr/>
          </a:p>
          <a:p>
            <a:pPr indent="-139700" lvl="0" marL="91440" rtl="0" algn="l">
              <a:lnSpc>
                <a:spcPct val="90000"/>
              </a:lnSpc>
              <a:spcBef>
                <a:spcPts val="1400"/>
              </a:spcBef>
              <a:spcAft>
                <a:spcPts val="0"/>
              </a:spcAft>
              <a:buSzPts val="2200"/>
              <a:buChar char=" "/>
            </a:pPr>
            <a:r>
              <a:rPr lang="fr-FR"/>
              <a:t>E- Un aspect blanc</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QCM13:</a:t>
            </a:r>
            <a:endParaRPr/>
          </a:p>
        </p:txBody>
      </p:sp>
      <p:sp>
        <p:nvSpPr>
          <p:cNvPr id="184" name="Google Shape;184;p1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200"/>
              <a:buNone/>
            </a:pPr>
            <a:r>
              <a:rPr b="1" lang="fr-FR">
                <a:solidFill>
                  <a:srgbClr val="002060"/>
                </a:solidFill>
              </a:rPr>
              <a:t>Une femme âgée de 35 ans qui consulte pour un œdème des membres inférieurs prenant le godet évoluant depuis un mois. Le premier examen à visée étiologique à réaliser est:</a:t>
            </a:r>
            <a:endParaRPr/>
          </a:p>
          <a:p>
            <a:pPr indent="-91440" lvl="0" marL="91440" rtl="0" algn="l">
              <a:lnSpc>
                <a:spcPct val="90000"/>
              </a:lnSpc>
              <a:spcBef>
                <a:spcPts val="1400"/>
              </a:spcBef>
              <a:spcAft>
                <a:spcPts val="0"/>
              </a:spcAft>
              <a:buSzPts val="2200"/>
              <a:buNone/>
            </a:pPr>
            <a:r>
              <a:rPr lang="fr-FR"/>
              <a:t>A- Une NFS</a:t>
            </a:r>
            <a:endParaRPr/>
          </a:p>
          <a:p>
            <a:pPr indent="-91440" lvl="0" marL="91440" rtl="0" algn="l">
              <a:lnSpc>
                <a:spcPct val="90000"/>
              </a:lnSpc>
              <a:spcBef>
                <a:spcPts val="1400"/>
              </a:spcBef>
              <a:spcAft>
                <a:spcPts val="0"/>
              </a:spcAft>
              <a:buSzPts val="2200"/>
              <a:buNone/>
            </a:pPr>
            <a:r>
              <a:rPr lang="fr-FR"/>
              <a:t>B- Un ionogramme sanguin</a:t>
            </a:r>
            <a:endParaRPr/>
          </a:p>
          <a:p>
            <a:pPr indent="-91440" lvl="0" marL="91440" rtl="0" algn="l">
              <a:lnSpc>
                <a:spcPct val="90000"/>
              </a:lnSpc>
              <a:spcBef>
                <a:spcPts val="1400"/>
              </a:spcBef>
              <a:spcAft>
                <a:spcPts val="0"/>
              </a:spcAft>
              <a:buSzPts val="2200"/>
              <a:buNone/>
            </a:pPr>
            <a:r>
              <a:rPr lang="fr-FR"/>
              <a:t>C- Une protidémie</a:t>
            </a:r>
            <a:endParaRPr/>
          </a:p>
          <a:p>
            <a:pPr indent="-91440" lvl="0" marL="91440" rtl="0" algn="l">
              <a:lnSpc>
                <a:spcPct val="90000"/>
              </a:lnSpc>
              <a:spcBef>
                <a:spcPts val="1400"/>
              </a:spcBef>
              <a:spcAft>
                <a:spcPts val="0"/>
              </a:spcAft>
              <a:buSzPts val="2200"/>
              <a:buNone/>
            </a:pPr>
            <a:r>
              <a:rPr lang="fr-FR"/>
              <a:t>D- Un ECG</a:t>
            </a:r>
            <a:endParaRPr/>
          </a:p>
          <a:p>
            <a:pPr indent="-91440" lvl="0" marL="91440" rtl="0" algn="l">
              <a:lnSpc>
                <a:spcPct val="90000"/>
              </a:lnSpc>
              <a:spcBef>
                <a:spcPts val="1400"/>
              </a:spcBef>
              <a:spcAft>
                <a:spcPts val="0"/>
              </a:spcAft>
              <a:buSzPts val="2200"/>
              <a:buNone/>
            </a:pPr>
            <a:r>
              <a:rPr lang="fr-FR"/>
              <a:t>E- Une bandelette urinaire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QCM14:</a:t>
            </a:r>
            <a:endParaRPr/>
          </a:p>
        </p:txBody>
      </p:sp>
      <p:sp>
        <p:nvSpPr>
          <p:cNvPr id="190" name="Google Shape;190;p17"/>
          <p:cNvSpPr txBox="1"/>
          <p:nvPr>
            <p:ph idx="1" type="body"/>
          </p:nvPr>
        </p:nvSpPr>
        <p:spPr>
          <a:xfrm>
            <a:off x="1024128" y="1961147"/>
            <a:ext cx="10153209" cy="4348213"/>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600"/>
              <a:buNone/>
            </a:pPr>
            <a:r>
              <a:t/>
            </a:r>
            <a:endParaRPr sz="2600"/>
          </a:p>
          <a:p>
            <a:pPr indent="-91440" lvl="0" marL="91440" rtl="0" algn="l">
              <a:lnSpc>
                <a:spcPct val="90000"/>
              </a:lnSpc>
              <a:spcBef>
                <a:spcPts val="1400"/>
              </a:spcBef>
              <a:spcAft>
                <a:spcPts val="0"/>
              </a:spcAft>
              <a:buSzPts val="2600"/>
              <a:buNone/>
            </a:pPr>
            <a:r>
              <a:rPr b="1" lang="fr-FR" sz="2600">
                <a:solidFill>
                  <a:srgbClr val="002060"/>
                </a:solidFill>
              </a:rPr>
              <a:t>Les caractéristiques sémiologiques  de l’ angioedème  histaminique sont:</a:t>
            </a:r>
            <a:endParaRPr sz="2600"/>
          </a:p>
          <a:p>
            <a:pPr indent="-91440" lvl="0" marL="91440" rtl="0" algn="l">
              <a:lnSpc>
                <a:spcPct val="90000"/>
              </a:lnSpc>
              <a:spcBef>
                <a:spcPts val="1400"/>
              </a:spcBef>
              <a:spcAft>
                <a:spcPts val="0"/>
              </a:spcAft>
              <a:buSzPts val="2600"/>
              <a:buNone/>
            </a:pPr>
            <a:r>
              <a:rPr lang="fr-FR" sz="2600"/>
              <a:t>A- une durée prolongée </a:t>
            </a:r>
            <a:endParaRPr/>
          </a:p>
          <a:p>
            <a:pPr indent="-91440" lvl="0" marL="91440" rtl="0" algn="l">
              <a:lnSpc>
                <a:spcPct val="90000"/>
              </a:lnSpc>
              <a:spcBef>
                <a:spcPts val="1400"/>
              </a:spcBef>
              <a:spcAft>
                <a:spcPts val="0"/>
              </a:spcAft>
              <a:buSzPts val="2600"/>
              <a:buNone/>
            </a:pPr>
            <a:r>
              <a:rPr lang="fr-FR" sz="2600"/>
              <a:t>B- une fréquence des crises abdominales</a:t>
            </a:r>
            <a:endParaRPr/>
          </a:p>
          <a:p>
            <a:pPr indent="-91440" lvl="0" marL="91440" rtl="0" algn="l">
              <a:lnSpc>
                <a:spcPct val="90000"/>
              </a:lnSpc>
              <a:spcBef>
                <a:spcPts val="1400"/>
              </a:spcBef>
              <a:spcAft>
                <a:spcPts val="0"/>
              </a:spcAft>
              <a:buSzPts val="2600"/>
              <a:buNone/>
            </a:pPr>
            <a:r>
              <a:rPr lang="fr-FR" sz="2600"/>
              <a:t>C- une efficacité des anti histaminiques</a:t>
            </a:r>
            <a:endParaRPr/>
          </a:p>
          <a:p>
            <a:pPr indent="-91440" lvl="0" marL="91440" rtl="0" algn="l">
              <a:lnSpc>
                <a:spcPct val="90000"/>
              </a:lnSpc>
              <a:spcBef>
                <a:spcPts val="1400"/>
              </a:spcBef>
              <a:spcAft>
                <a:spcPts val="0"/>
              </a:spcAft>
              <a:buSzPts val="2600"/>
              <a:buNone/>
            </a:pPr>
            <a:r>
              <a:rPr lang="fr-FR" sz="2600"/>
              <a:t>D-  favorisé par la prise des IEC</a:t>
            </a:r>
            <a:endParaRPr/>
          </a:p>
          <a:p>
            <a:pPr indent="-91440" lvl="0" marL="91440" rtl="0" algn="l">
              <a:lnSpc>
                <a:spcPct val="90000"/>
              </a:lnSpc>
              <a:spcBef>
                <a:spcPts val="1400"/>
              </a:spcBef>
              <a:spcAft>
                <a:spcPts val="0"/>
              </a:spcAft>
              <a:buSzPts val="2600"/>
              <a:buNone/>
            </a:pPr>
            <a:r>
              <a:rPr lang="fr-FR" sz="2600"/>
              <a:t>E- La présence de l’urticaire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QCM15:</a:t>
            </a:r>
            <a:endParaRPr/>
          </a:p>
        </p:txBody>
      </p:sp>
      <p:sp>
        <p:nvSpPr>
          <p:cNvPr id="196" name="Google Shape;196;p1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200"/>
              <a:buNone/>
            </a:pPr>
            <a:r>
              <a:rPr b="1" lang="fr-FR">
                <a:solidFill>
                  <a:srgbClr val="002060"/>
                </a:solidFill>
              </a:rPr>
              <a:t>Les œdèmes par perméabilité capillaire sont:</a:t>
            </a:r>
            <a:endParaRPr/>
          </a:p>
          <a:p>
            <a:pPr indent="-91440" lvl="0" marL="91440" rtl="0" algn="l">
              <a:lnSpc>
                <a:spcPct val="90000"/>
              </a:lnSpc>
              <a:spcBef>
                <a:spcPts val="1400"/>
              </a:spcBef>
              <a:spcAft>
                <a:spcPts val="0"/>
              </a:spcAft>
              <a:buSzPts val="2200"/>
              <a:buNone/>
            </a:pPr>
            <a:r>
              <a:rPr lang="fr-FR"/>
              <a:t>A-  localisés</a:t>
            </a:r>
            <a:endParaRPr/>
          </a:p>
          <a:p>
            <a:pPr indent="-91440" lvl="0" marL="91440" rtl="0" algn="l">
              <a:lnSpc>
                <a:spcPct val="90000"/>
              </a:lnSpc>
              <a:spcBef>
                <a:spcPts val="1400"/>
              </a:spcBef>
              <a:spcAft>
                <a:spcPts val="0"/>
              </a:spcAft>
              <a:buSzPts val="2200"/>
              <a:buNone/>
            </a:pPr>
            <a:r>
              <a:rPr lang="fr-FR"/>
              <a:t>B-  d’installation chronique</a:t>
            </a:r>
            <a:endParaRPr/>
          </a:p>
          <a:p>
            <a:pPr indent="-91440" lvl="0" marL="91440" rtl="0" algn="l">
              <a:lnSpc>
                <a:spcPct val="90000"/>
              </a:lnSpc>
              <a:spcBef>
                <a:spcPts val="1400"/>
              </a:spcBef>
              <a:spcAft>
                <a:spcPts val="0"/>
              </a:spcAft>
              <a:buSzPts val="2200"/>
              <a:buNone/>
            </a:pPr>
            <a:r>
              <a:rPr lang="fr-FR"/>
              <a:t>C- sans signes de gravité  </a:t>
            </a:r>
            <a:endParaRPr/>
          </a:p>
          <a:p>
            <a:pPr indent="-91440" lvl="0" marL="91440" rtl="0" algn="l">
              <a:lnSpc>
                <a:spcPct val="90000"/>
              </a:lnSpc>
              <a:spcBef>
                <a:spcPts val="1400"/>
              </a:spcBef>
              <a:spcAft>
                <a:spcPts val="0"/>
              </a:spcAft>
              <a:buSzPts val="2200"/>
              <a:buNone/>
            </a:pPr>
            <a:r>
              <a:rPr lang="fr-FR"/>
              <a:t>D- d’aspect parfois blancs</a:t>
            </a:r>
            <a:endParaRPr/>
          </a:p>
          <a:p>
            <a:pPr indent="-91440" lvl="0" marL="91440" rtl="0" algn="l">
              <a:lnSpc>
                <a:spcPct val="90000"/>
              </a:lnSpc>
              <a:spcBef>
                <a:spcPts val="1400"/>
              </a:spcBef>
              <a:spcAft>
                <a:spcPts val="0"/>
              </a:spcAft>
              <a:buSzPts val="2200"/>
              <a:buNone/>
            </a:pPr>
            <a:r>
              <a:rPr lang="fr-FR"/>
              <a:t>E- indolores</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QCM16:</a:t>
            </a:r>
            <a:endParaRPr/>
          </a:p>
        </p:txBody>
      </p:sp>
      <p:sp>
        <p:nvSpPr>
          <p:cNvPr id="202" name="Google Shape;202;p1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caractéristiques de l’œdème d’origine digestive sont:</a:t>
            </a:r>
            <a:endParaRPr/>
          </a:p>
          <a:p>
            <a:pPr indent="-139700" lvl="0" marL="91440" rtl="0" algn="l">
              <a:lnSpc>
                <a:spcPct val="90000"/>
              </a:lnSpc>
              <a:spcBef>
                <a:spcPts val="1400"/>
              </a:spcBef>
              <a:spcAft>
                <a:spcPts val="0"/>
              </a:spcAft>
              <a:buSzPts val="2200"/>
              <a:buChar char=" "/>
            </a:pPr>
            <a:r>
              <a:rPr lang="fr-FR"/>
              <a:t>A- Aspect inflammatoire</a:t>
            </a:r>
            <a:endParaRPr/>
          </a:p>
          <a:p>
            <a:pPr indent="-139700" lvl="0" marL="91440" rtl="0" algn="l">
              <a:lnSpc>
                <a:spcPct val="90000"/>
              </a:lnSpc>
              <a:spcBef>
                <a:spcPts val="1400"/>
              </a:spcBef>
              <a:spcAft>
                <a:spcPts val="0"/>
              </a:spcAft>
              <a:buSzPts val="2200"/>
              <a:buChar char=" "/>
            </a:pPr>
            <a:r>
              <a:rPr lang="fr-FR"/>
              <a:t>B- Le caractère mou</a:t>
            </a:r>
            <a:endParaRPr/>
          </a:p>
          <a:p>
            <a:pPr indent="-139700" lvl="0" marL="91440" rtl="0" algn="l">
              <a:lnSpc>
                <a:spcPct val="90000"/>
              </a:lnSpc>
              <a:spcBef>
                <a:spcPts val="1400"/>
              </a:spcBef>
              <a:spcAft>
                <a:spcPts val="0"/>
              </a:spcAft>
              <a:buSzPts val="2200"/>
              <a:buChar char=" "/>
            </a:pPr>
            <a:r>
              <a:rPr lang="fr-FR"/>
              <a:t>C- prend le godet</a:t>
            </a:r>
            <a:endParaRPr/>
          </a:p>
          <a:p>
            <a:pPr indent="-139700" lvl="0" marL="91440" rtl="0" algn="l">
              <a:lnSpc>
                <a:spcPct val="90000"/>
              </a:lnSpc>
              <a:spcBef>
                <a:spcPts val="1400"/>
              </a:spcBef>
              <a:spcAft>
                <a:spcPts val="0"/>
              </a:spcAft>
              <a:buSzPts val="2200"/>
              <a:buChar char=" "/>
            </a:pPr>
            <a:r>
              <a:rPr lang="fr-FR"/>
              <a:t>D- le type élastique</a:t>
            </a:r>
            <a:endParaRPr/>
          </a:p>
          <a:p>
            <a:pPr indent="-139700" lvl="0" marL="91440" rtl="0" algn="l">
              <a:lnSpc>
                <a:spcPct val="90000"/>
              </a:lnSpc>
              <a:spcBef>
                <a:spcPts val="1400"/>
              </a:spcBef>
              <a:spcAft>
                <a:spcPts val="0"/>
              </a:spcAft>
              <a:buSzPts val="2200"/>
              <a:buChar char=" "/>
            </a:pPr>
            <a:r>
              <a:rPr lang="fr-FR"/>
              <a:t>E- Aspect dur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1228664" y="2835122"/>
            <a:ext cx="9720072" cy="1499616"/>
          </a:xfrm>
          <a:prstGeom prst="rect">
            <a:avLst/>
          </a:prstGeom>
          <a:no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rgbClr val="002060"/>
              </a:buClr>
              <a:buSzPts val="3600"/>
              <a:buFont typeface="Twentieth Century"/>
              <a:buNone/>
            </a:pPr>
            <a:r>
              <a:rPr b="1" lang="fr-FR" sz="3600">
                <a:solidFill>
                  <a:srgbClr val="002060"/>
                </a:solidFill>
              </a:rPr>
              <a:t>OBECTIF3: ÉTABLIR LE DIAGNOSTIC ÉTIOLOGIQUE DES DIFFÉRENTS TYPES D’ŒDÈME À PARTIR DES DONNÉES CLINIQUES ET PARA CLINIQUES</a:t>
            </a:r>
            <a:endParaRPr sz="3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02060"/>
              </a:buClr>
              <a:buSzPts val="5000"/>
              <a:buFont typeface="Twentieth Century"/>
              <a:buNone/>
            </a:pPr>
            <a:br>
              <a:rPr b="1" lang="fr-FR">
                <a:solidFill>
                  <a:srgbClr val="002060"/>
                </a:solidFill>
              </a:rPr>
            </a:br>
            <a:endParaRPr/>
          </a:p>
        </p:txBody>
      </p:sp>
      <p:sp>
        <p:nvSpPr>
          <p:cNvPr id="213" name="Google Shape;213;p2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causes iatrogènes de l’œdème généralisé sont:</a:t>
            </a:r>
            <a:endParaRPr/>
          </a:p>
          <a:p>
            <a:pPr indent="-91440" lvl="0" marL="91440" rtl="0" algn="l">
              <a:lnSpc>
                <a:spcPct val="90000"/>
              </a:lnSpc>
              <a:spcBef>
                <a:spcPts val="1400"/>
              </a:spcBef>
              <a:spcAft>
                <a:spcPts val="0"/>
              </a:spcAft>
              <a:buSzPts val="2400"/>
              <a:buNone/>
            </a:pPr>
            <a:r>
              <a:rPr lang="fr-FR" sz="2400"/>
              <a:t>A- Les Inhibiteurs de l’enzyme de conversion</a:t>
            </a:r>
            <a:endParaRPr/>
          </a:p>
          <a:p>
            <a:pPr indent="-91440" lvl="0" marL="91440" rtl="0" algn="l">
              <a:lnSpc>
                <a:spcPct val="90000"/>
              </a:lnSpc>
              <a:spcBef>
                <a:spcPts val="1400"/>
              </a:spcBef>
              <a:spcAft>
                <a:spcPts val="0"/>
              </a:spcAft>
              <a:buSzPts val="2400"/>
              <a:buNone/>
            </a:pPr>
            <a:r>
              <a:rPr lang="fr-FR" sz="2400"/>
              <a:t>B- La nifédipine</a:t>
            </a:r>
            <a:endParaRPr/>
          </a:p>
          <a:p>
            <a:pPr indent="-91440" lvl="0" marL="91440" rtl="0" algn="l">
              <a:lnSpc>
                <a:spcPct val="90000"/>
              </a:lnSpc>
              <a:spcBef>
                <a:spcPts val="1400"/>
              </a:spcBef>
              <a:spcAft>
                <a:spcPts val="0"/>
              </a:spcAft>
              <a:buSzPts val="2400"/>
              <a:buNone/>
            </a:pPr>
            <a:r>
              <a:rPr lang="fr-FR" sz="2400"/>
              <a:t>C- La ciclosporine</a:t>
            </a:r>
            <a:endParaRPr/>
          </a:p>
          <a:p>
            <a:pPr indent="-91440" lvl="0" marL="91440" rtl="0" algn="l">
              <a:lnSpc>
                <a:spcPct val="90000"/>
              </a:lnSpc>
              <a:spcBef>
                <a:spcPts val="1400"/>
              </a:spcBef>
              <a:spcAft>
                <a:spcPts val="0"/>
              </a:spcAft>
              <a:buSzPts val="2400"/>
              <a:buNone/>
            </a:pPr>
            <a:r>
              <a:rPr lang="fr-FR" sz="2400"/>
              <a:t>D- Les bétabloquants </a:t>
            </a:r>
            <a:endParaRPr/>
          </a:p>
          <a:p>
            <a:pPr indent="-91440" lvl="0" marL="91440" rtl="0" algn="l">
              <a:lnSpc>
                <a:spcPct val="90000"/>
              </a:lnSpc>
              <a:spcBef>
                <a:spcPts val="1400"/>
              </a:spcBef>
              <a:spcAft>
                <a:spcPts val="0"/>
              </a:spcAft>
              <a:buSzPts val="2400"/>
              <a:buNone/>
            </a:pPr>
            <a:r>
              <a:rPr lang="fr-FR" sz="2400"/>
              <a:t>E- La paracétamol</a:t>
            </a:r>
            <a:endParaRPr/>
          </a:p>
          <a:p>
            <a:pPr indent="0" lvl="0" marL="91440" rtl="0" algn="l">
              <a:lnSpc>
                <a:spcPct val="90000"/>
              </a:lnSpc>
              <a:spcBef>
                <a:spcPts val="1400"/>
              </a:spcBef>
              <a:spcAft>
                <a:spcPts val="0"/>
              </a:spcAft>
              <a:buSzPts val="2200"/>
              <a:buNone/>
            </a:pPr>
            <a:r>
              <a:t/>
            </a:r>
            <a:endParaRPr/>
          </a:p>
        </p:txBody>
      </p:sp>
      <p:sp>
        <p:nvSpPr>
          <p:cNvPr id="214" name="Google Shape;214;p21"/>
          <p:cNvSpPr txBox="1"/>
          <p:nvPr/>
        </p:nvSpPr>
        <p:spPr>
          <a:xfrm>
            <a:off x="1176528" y="737616"/>
            <a:ext cx="9720072" cy="1499616"/>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C0C0C"/>
              </a:buClr>
              <a:buSzPts val="5000"/>
              <a:buFont typeface="Twentieth Century"/>
              <a:buNone/>
            </a:pPr>
            <a:r>
              <a:rPr b="0" i="0" lang="fr-FR" sz="5000" u="none" cap="none" strike="noStrike">
                <a:solidFill>
                  <a:srgbClr val="0C0C0C"/>
                </a:solidFill>
                <a:latin typeface="Twentieth Century"/>
                <a:ea typeface="Twentieth Century"/>
                <a:cs typeface="Twentieth Century"/>
                <a:sym typeface="Twentieth Century"/>
              </a:rPr>
              <a:t>QCM17:</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QCM18:</a:t>
            </a:r>
            <a:br>
              <a:rPr lang="fr-FR"/>
            </a:br>
            <a:endParaRPr/>
          </a:p>
        </p:txBody>
      </p:sp>
      <p:sp>
        <p:nvSpPr>
          <p:cNvPr id="220" name="Google Shape;220;p22"/>
          <p:cNvSpPr txBox="1"/>
          <p:nvPr>
            <p:ph idx="1" type="body"/>
          </p:nvPr>
        </p:nvSpPr>
        <p:spPr>
          <a:xfrm>
            <a:off x="1024128" y="1913021"/>
            <a:ext cx="9720073" cy="4396339"/>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mécanismes de l’œdème post opératoires sont:</a:t>
            </a:r>
            <a:endParaRPr/>
          </a:p>
          <a:p>
            <a:pPr indent="0" lvl="0" marL="0" rtl="0" algn="l">
              <a:lnSpc>
                <a:spcPct val="90000"/>
              </a:lnSpc>
              <a:spcBef>
                <a:spcPts val="1400"/>
              </a:spcBef>
              <a:spcAft>
                <a:spcPts val="0"/>
              </a:spcAft>
              <a:buSzPts val="2200"/>
              <a:buNone/>
            </a:pPr>
            <a:r>
              <a:rPr lang="fr-FR"/>
              <a:t>A- un trouble de la perméabilité capillaire</a:t>
            </a:r>
            <a:endParaRPr/>
          </a:p>
          <a:p>
            <a:pPr indent="0" lvl="0" marL="0" rtl="0" algn="l">
              <a:lnSpc>
                <a:spcPct val="90000"/>
              </a:lnSpc>
              <a:spcBef>
                <a:spcPts val="1400"/>
              </a:spcBef>
              <a:spcAft>
                <a:spcPts val="0"/>
              </a:spcAft>
              <a:buSzPts val="2200"/>
              <a:buNone/>
            </a:pPr>
            <a:r>
              <a:rPr lang="fr-FR"/>
              <a:t>B- une hypo albuminémie sévère </a:t>
            </a:r>
            <a:endParaRPr/>
          </a:p>
          <a:p>
            <a:pPr indent="0" lvl="0" marL="0" rtl="0" algn="l">
              <a:lnSpc>
                <a:spcPct val="90000"/>
              </a:lnSpc>
              <a:spcBef>
                <a:spcPts val="1400"/>
              </a:spcBef>
              <a:spcAft>
                <a:spcPts val="0"/>
              </a:spcAft>
              <a:buSzPts val="2200"/>
              <a:buNone/>
            </a:pPr>
            <a:r>
              <a:rPr lang="fr-FR"/>
              <a:t>C- une agression lymphatique</a:t>
            </a:r>
            <a:endParaRPr/>
          </a:p>
          <a:p>
            <a:pPr indent="0" lvl="0" marL="0" rtl="0" algn="l">
              <a:lnSpc>
                <a:spcPct val="90000"/>
              </a:lnSpc>
              <a:spcBef>
                <a:spcPts val="1400"/>
              </a:spcBef>
              <a:spcAft>
                <a:spcPts val="0"/>
              </a:spcAft>
              <a:buSzPts val="2200"/>
              <a:buNone/>
            </a:pPr>
            <a:r>
              <a:rPr lang="fr-FR"/>
              <a:t>D- une agression veineuse </a:t>
            </a:r>
            <a:endParaRPr/>
          </a:p>
          <a:p>
            <a:pPr indent="0" lvl="0" marL="0" rtl="0" algn="l">
              <a:lnSpc>
                <a:spcPct val="90000"/>
              </a:lnSpc>
              <a:spcBef>
                <a:spcPts val="1400"/>
              </a:spcBef>
              <a:spcAft>
                <a:spcPts val="0"/>
              </a:spcAft>
              <a:buSzPts val="2200"/>
              <a:buNone/>
            </a:pPr>
            <a:r>
              <a:rPr lang="fr-FR"/>
              <a:t>E- une rupture de kyste de Becker </a:t>
            </a:r>
            <a:endParaRPr/>
          </a:p>
          <a:p>
            <a:pPr indent="0" lvl="0" marL="0" rtl="0" algn="l">
              <a:lnSpc>
                <a:spcPct val="90000"/>
              </a:lnSpc>
              <a:spcBef>
                <a:spcPts val="1400"/>
              </a:spcBef>
              <a:spcAft>
                <a:spcPts val="0"/>
              </a:spcAft>
              <a:buSzPts val="2200"/>
              <a:buNone/>
            </a:pPr>
            <a:r>
              <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QCM19:</a:t>
            </a:r>
            <a:endParaRPr/>
          </a:p>
        </p:txBody>
      </p:sp>
      <p:sp>
        <p:nvSpPr>
          <p:cNvPr id="226" name="Google Shape;226;p23"/>
          <p:cNvSpPr txBox="1"/>
          <p:nvPr>
            <p:ph idx="1" type="body"/>
          </p:nvPr>
        </p:nvSpPr>
        <p:spPr>
          <a:xfrm>
            <a:off x="1120380" y="1925053"/>
            <a:ext cx="9720073" cy="402336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200"/>
              <a:buNone/>
            </a:pPr>
            <a:r>
              <a:rPr b="1" lang="fr-FR">
                <a:solidFill>
                  <a:srgbClr val="002060"/>
                </a:solidFill>
              </a:rPr>
              <a:t>Parmi ces causes lesquelles sont responsable d’un œdème par hyperperméabilité capillaire:</a:t>
            </a:r>
            <a:endParaRPr/>
          </a:p>
          <a:p>
            <a:pPr indent="-91440" lvl="0" marL="91440" rtl="0" algn="l">
              <a:lnSpc>
                <a:spcPct val="90000"/>
              </a:lnSpc>
              <a:spcBef>
                <a:spcPts val="1400"/>
              </a:spcBef>
              <a:spcAft>
                <a:spcPts val="0"/>
              </a:spcAft>
              <a:buSzPts val="2200"/>
              <a:buNone/>
            </a:pPr>
            <a:r>
              <a:rPr lang="fr-FR"/>
              <a:t>A- la péricardite constrictive</a:t>
            </a:r>
            <a:endParaRPr/>
          </a:p>
          <a:p>
            <a:pPr indent="-91440" lvl="0" marL="91440" rtl="0" algn="l">
              <a:lnSpc>
                <a:spcPct val="90000"/>
              </a:lnSpc>
              <a:spcBef>
                <a:spcPts val="1400"/>
              </a:spcBef>
              <a:spcAft>
                <a:spcPts val="0"/>
              </a:spcAft>
              <a:buSzPts val="2200"/>
              <a:buNone/>
            </a:pPr>
            <a:r>
              <a:rPr lang="fr-FR"/>
              <a:t>B-œdème angioneurotique</a:t>
            </a:r>
            <a:endParaRPr/>
          </a:p>
          <a:p>
            <a:pPr indent="-91440" lvl="0" marL="91440" rtl="0" algn="l">
              <a:lnSpc>
                <a:spcPct val="90000"/>
              </a:lnSpc>
              <a:spcBef>
                <a:spcPts val="1400"/>
              </a:spcBef>
              <a:spcAft>
                <a:spcPts val="0"/>
              </a:spcAft>
              <a:buSzPts val="2200"/>
              <a:buNone/>
            </a:pPr>
            <a:r>
              <a:rPr lang="fr-FR"/>
              <a:t>C- œdème de Quincke</a:t>
            </a:r>
            <a:endParaRPr/>
          </a:p>
          <a:p>
            <a:pPr indent="-91440" lvl="0" marL="91440" rtl="0" algn="l">
              <a:lnSpc>
                <a:spcPct val="90000"/>
              </a:lnSpc>
              <a:spcBef>
                <a:spcPts val="1400"/>
              </a:spcBef>
              <a:spcAft>
                <a:spcPts val="0"/>
              </a:spcAft>
              <a:buSzPts val="2200"/>
              <a:buNone/>
            </a:pPr>
            <a:r>
              <a:rPr lang="fr-FR"/>
              <a:t>D- Eryhtemalgie</a:t>
            </a:r>
            <a:endParaRPr/>
          </a:p>
          <a:p>
            <a:pPr indent="-91440" lvl="0" marL="91440" rtl="0" algn="l">
              <a:lnSpc>
                <a:spcPct val="90000"/>
              </a:lnSpc>
              <a:spcBef>
                <a:spcPts val="1400"/>
              </a:spcBef>
              <a:spcAft>
                <a:spcPts val="0"/>
              </a:spcAft>
              <a:buSzPts val="2200"/>
              <a:buNone/>
            </a:pPr>
            <a:r>
              <a:rPr lang="fr-FR"/>
              <a:t>E- lymphœdème </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QCM20:</a:t>
            </a:r>
            <a:endParaRPr/>
          </a:p>
        </p:txBody>
      </p:sp>
      <p:sp>
        <p:nvSpPr>
          <p:cNvPr id="232" name="Google Shape;232;p2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solidFill>
                  <a:srgbClr val="002060"/>
                </a:solidFill>
              </a:rPr>
              <a:t>Devant un œdème aigu d’un membre inférieur chez un homme de 45 ans  sont évoqués:</a:t>
            </a:r>
            <a:endParaRPr/>
          </a:p>
          <a:p>
            <a:pPr indent="-91440" lvl="0" marL="91440" rtl="0" algn="l">
              <a:lnSpc>
                <a:spcPct val="90000"/>
              </a:lnSpc>
              <a:spcBef>
                <a:spcPts val="1400"/>
              </a:spcBef>
              <a:spcAft>
                <a:spcPts val="0"/>
              </a:spcAft>
              <a:buSzPts val="2200"/>
              <a:buNone/>
            </a:pPr>
            <a:r>
              <a:rPr lang="fr-FR"/>
              <a:t>A- une thrombose veineuse du membre inférieur</a:t>
            </a:r>
            <a:endParaRPr/>
          </a:p>
          <a:p>
            <a:pPr indent="-91440" lvl="0" marL="91440" rtl="0" algn="l">
              <a:lnSpc>
                <a:spcPct val="90000"/>
              </a:lnSpc>
              <a:spcBef>
                <a:spcPts val="1400"/>
              </a:spcBef>
              <a:spcAft>
                <a:spcPts val="0"/>
              </a:spcAft>
              <a:buSzPts val="2200"/>
              <a:buNone/>
            </a:pPr>
            <a:r>
              <a:rPr lang="fr-FR"/>
              <a:t>B- Un érysipèle</a:t>
            </a:r>
            <a:endParaRPr/>
          </a:p>
          <a:p>
            <a:pPr indent="-91440" lvl="0" marL="91440" rtl="0" algn="l">
              <a:lnSpc>
                <a:spcPct val="90000"/>
              </a:lnSpc>
              <a:spcBef>
                <a:spcPts val="1400"/>
              </a:spcBef>
              <a:spcAft>
                <a:spcPts val="0"/>
              </a:spcAft>
              <a:buSzPts val="2200"/>
              <a:buNone/>
            </a:pPr>
            <a:r>
              <a:rPr lang="fr-FR"/>
              <a:t>C- Une rupture d’un kyste poplité</a:t>
            </a:r>
            <a:endParaRPr/>
          </a:p>
          <a:p>
            <a:pPr indent="-91440" lvl="0" marL="91440" rtl="0" algn="l">
              <a:lnSpc>
                <a:spcPct val="90000"/>
              </a:lnSpc>
              <a:spcBef>
                <a:spcPts val="1400"/>
              </a:spcBef>
              <a:spcAft>
                <a:spcPts val="0"/>
              </a:spcAft>
              <a:buSzPts val="2200"/>
              <a:buNone/>
            </a:pPr>
            <a:r>
              <a:rPr lang="fr-FR"/>
              <a:t>D- Un lymphoedème</a:t>
            </a:r>
            <a:endParaRPr/>
          </a:p>
          <a:p>
            <a:pPr indent="-91440" lvl="0" marL="91440" rtl="0" algn="l">
              <a:lnSpc>
                <a:spcPct val="90000"/>
              </a:lnSpc>
              <a:spcBef>
                <a:spcPts val="1400"/>
              </a:spcBef>
              <a:spcAft>
                <a:spcPts val="0"/>
              </a:spcAft>
              <a:buSzPts val="2200"/>
              <a:buNone/>
            </a:pPr>
            <a:r>
              <a:rPr lang="fr-FR"/>
              <a:t>E- Un myxœdème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QCM21:</a:t>
            </a:r>
            <a:endParaRPr/>
          </a:p>
        </p:txBody>
      </p:sp>
      <p:sp>
        <p:nvSpPr>
          <p:cNvPr id="238" name="Google Shape;238;p2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L’insuffisance  veineuse chronique: </a:t>
            </a:r>
            <a:endParaRPr/>
          </a:p>
          <a:p>
            <a:pPr indent="0" lvl="0" marL="0" rtl="0" algn="just">
              <a:lnSpc>
                <a:spcPct val="90000"/>
              </a:lnSpc>
              <a:spcBef>
                <a:spcPts val="1400"/>
              </a:spcBef>
              <a:spcAft>
                <a:spcPts val="0"/>
              </a:spcAft>
              <a:buSzPts val="2200"/>
              <a:buNone/>
            </a:pPr>
            <a:r>
              <a:rPr lang="fr-FR"/>
              <a:t>A- est secondaire à un dysfonctionnement du système veineux superficiel </a:t>
            </a:r>
            <a:endParaRPr/>
          </a:p>
          <a:p>
            <a:pPr indent="0" lvl="0" marL="0" rtl="0" algn="just">
              <a:lnSpc>
                <a:spcPct val="90000"/>
              </a:lnSpc>
              <a:spcBef>
                <a:spcPts val="1400"/>
              </a:spcBef>
              <a:spcAft>
                <a:spcPts val="0"/>
              </a:spcAft>
              <a:buSzPts val="2200"/>
              <a:buNone/>
            </a:pPr>
            <a:r>
              <a:rPr lang="fr-FR"/>
              <a:t>B- l’œdème est secondaire à une hyperpression hydrostatique au pole veineux </a:t>
            </a:r>
            <a:endParaRPr/>
          </a:p>
          <a:p>
            <a:pPr indent="0" lvl="0" marL="0" rtl="0" algn="l">
              <a:lnSpc>
                <a:spcPct val="90000"/>
              </a:lnSpc>
              <a:spcBef>
                <a:spcPts val="1400"/>
              </a:spcBef>
              <a:spcAft>
                <a:spcPts val="0"/>
              </a:spcAft>
              <a:buSzPts val="2200"/>
              <a:buNone/>
            </a:pPr>
            <a:r>
              <a:rPr lang="fr-FR"/>
              <a:t>C- est toujours bilatérale </a:t>
            </a:r>
            <a:endParaRPr/>
          </a:p>
          <a:p>
            <a:pPr indent="0" lvl="0" marL="0" rtl="0" algn="l">
              <a:lnSpc>
                <a:spcPct val="90000"/>
              </a:lnSpc>
              <a:spcBef>
                <a:spcPts val="1400"/>
              </a:spcBef>
              <a:spcAft>
                <a:spcPts val="0"/>
              </a:spcAft>
              <a:buSzPts val="2200"/>
              <a:buNone/>
            </a:pPr>
            <a:r>
              <a:rPr lang="fr-FR"/>
              <a:t>D- peut se compliquer d’atrophie cutané</a:t>
            </a:r>
            <a:endParaRPr/>
          </a:p>
          <a:p>
            <a:pPr indent="0" lvl="0" marL="0" rtl="0" algn="l">
              <a:lnSpc>
                <a:spcPct val="90000"/>
              </a:lnSpc>
              <a:spcBef>
                <a:spcPts val="1400"/>
              </a:spcBef>
              <a:spcAft>
                <a:spcPts val="0"/>
              </a:spcAft>
              <a:buSzPts val="2200"/>
              <a:buNone/>
            </a:pPr>
            <a:r>
              <a:rPr lang="fr-FR"/>
              <a:t>E-  est plus fréquente chez le sujet jeune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QCM22:</a:t>
            </a:r>
            <a:endParaRPr/>
          </a:p>
        </p:txBody>
      </p:sp>
      <p:sp>
        <p:nvSpPr>
          <p:cNvPr id="244" name="Google Shape;244;p2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Char char=" "/>
            </a:pPr>
            <a:r>
              <a:rPr b="1" lang="fr-FR">
                <a:solidFill>
                  <a:srgbClr val="002060"/>
                </a:solidFill>
              </a:rPr>
              <a:t>Parmi ces causes lesquelles sont responsables d’un œdème vasomoteur par anomalies de la microcirculation:</a:t>
            </a:r>
            <a:endParaRPr/>
          </a:p>
          <a:p>
            <a:pPr indent="0" lvl="0" marL="0" rtl="0" algn="l">
              <a:lnSpc>
                <a:spcPct val="90000"/>
              </a:lnSpc>
              <a:spcBef>
                <a:spcPts val="1400"/>
              </a:spcBef>
              <a:spcAft>
                <a:spcPts val="0"/>
              </a:spcAft>
              <a:buSzPts val="2200"/>
              <a:buNone/>
            </a:pPr>
            <a:r>
              <a:rPr lang="fr-FR"/>
              <a:t>A- insuffisance cardiaque</a:t>
            </a:r>
            <a:endParaRPr/>
          </a:p>
          <a:p>
            <a:pPr indent="0" lvl="0" marL="0" rtl="0" algn="l">
              <a:lnSpc>
                <a:spcPct val="90000"/>
              </a:lnSpc>
              <a:spcBef>
                <a:spcPts val="1400"/>
              </a:spcBef>
              <a:spcAft>
                <a:spcPts val="0"/>
              </a:spcAft>
              <a:buSzPts val="2200"/>
              <a:buNone/>
            </a:pPr>
            <a:r>
              <a:rPr lang="fr-FR"/>
              <a:t>B- œdème bradydkinique</a:t>
            </a:r>
            <a:endParaRPr/>
          </a:p>
          <a:p>
            <a:pPr indent="0" lvl="0" marL="0" rtl="0" algn="l">
              <a:lnSpc>
                <a:spcPct val="90000"/>
              </a:lnSpc>
              <a:spcBef>
                <a:spcPts val="1400"/>
              </a:spcBef>
              <a:spcAft>
                <a:spcPts val="0"/>
              </a:spcAft>
              <a:buSzPts val="2200"/>
              <a:buNone/>
            </a:pPr>
            <a:r>
              <a:rPr lang="fr-FR"/>
              <a:t>C- algodystrophie</a:t>
            </a:r>
            <a:endParaRPr/>
          </a:p>
          <a:p>
            <a:pPr indent="0" lvl="0" marL="0" rtl="0" algn="l">
              <a:lnSpc>
                <a:spcPct val="90000"/>
              </a:lnSpc>
              <a:spcBef>
                <a:spcPts val="1400"/>
              </a:spcBef>
              <a:spcAft>
                <a:spcPts val="0"/>
              </a:spcAft>
              <a:buSzPts val="2200"/>
              <a:buNone/>
            </a:pPr>
            <a:r>
              <a:rPr lang="fr-FR"/>
              <a:t>D- erythèmalgie</a:t>
            </a:r>
            <a:endParaRPr/>
          </a:p>
          <a:p>
            <a:pPr indent="0" lvl="0" marL="0" rtl="0" algn="l">
              <a:lnSpc>
                <a:spcPct val="90000"/>
              </a:lnSpc>
              <a:spcBef>
                <a:spcPts val="1400"/>
              </a:spcBef>
              <a:spcAft>
                <a:spcPts val="0"/>
              </a:spcAft>
              <a:buSzPts val="2200"/>
              <a:buNone/>
            </a:pPr>
            <a:r>
              <a:rPr lang="fr-FR"/>
              <a:t>E- phénomène de Raynaud </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QCM23:</a:t>
            </a:r>
            <a:endParaRPr/>
          </a:p>
        </p:txBody>
      </p:sp>
      <p:sp>
        <p:nvSpPr>
          <p:cNvPr id="250" name="Google Shape;250;p2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L’œdème idiopathique: </a:t>
            </a:r>
            <a:endParaRPr/>
          </a:p>
          <a:p>
            <a:pPr indent="-139700" lvl="0" marL="91440" rtl="0" algn="l">
              <a:lnSpc>
                <a:spcPct val="90000"/>
              </a:lnSpc>
              <a:spcBef>
                <a:spcPts val="1400"/>
              </a:spcBef>
              <a:spcAft>
                <a:spcPts val="0"/>
              </a:spcAft>
              <a:buSzPts val="2200"/>
              <a:buChar char=" "/>
            </a:pPr>
            <a:r>
              <a:rPr lang="fr-FR"/>
              <a:t>A- survient chez les femmes </a:t>
            </a:r>
            <a:endParaRPr/>
          </a:p>
          <a:p>
            <a:pPr indent="-139700" lvl="0" marL="91440" rtl="0" algn="l">
              <a:lnSpc>
                <a:spcPct val="90000"/>
              </a:lnSpc>
              <a:spcBef>
                <a:spcPts val="1400"/>
              </a:spcBef>
              <a:spcAft>
                <a:spcPts val="0"/>
              </a:spcAft>
              <a:buSzPts val="2200"/>
              <a:buChar char=" "/>
            </a:pPr>
            <a:r>
              <a:rPr lang="fr-FR"/>
              <a:t>B- non lié au cycle menstruel</a:t>
            </a:r>
            <a:endParaRPr/>
          </a:p>
          <a:p>
            <a:pPr indent="-139700" lvl="0" marL="91440" rtl="0" algn="l">
              <a:lnSpc>
                <a:spcPct val="90000"/>
              </a:lnSpc>
              <a:spcBef>
                <a:spcPts val="1400"/>
              </a:spcBef>
              <a:spcAft>
                <a:spcPts val="0"/>
              </a:spcAft>
              <a:buSzPts val="2200"/>
              <a:buChar char=" "/>
            </a:pPr>
            <a:r>
              <a:rPr lang="fr-FR"/>
              <a:t>C- entraine une prise importante de poids</a:t>
            </a:r>
            <a:endParaRPr/>
          </a:p>
          <a:p>
            <a:pPr indent="-139700" lvl="0" marL="91440" rtl="0" algn="l">
              <a:lnSpc>
                <a:spcPct val="90000"/>
              </a:lnSpc>
              <a:spcBef>
                <a:spcPts val="1400"/>
              </a:spcBef>
              <a:spcAft>
                <a:spcPts val="0"/>
              </a:spcAft>
              <a:buSzPts val="2200"/>
              <a:buChar char=" "/>
            </a:pPr>
            <a:r>
              <a:rPr lang="fr-FR"/>
              <a:t>D- est du à une rétention hydro sodée</a:t>
            </a:r>
            <a:endParaRPr/>
          </a:p>
          <a:p>
            <a:pPr indent="-139700" lvl="0" marL="91440" rtl="0" algn="l">
              <a:lnSpc>
                <a:spcPct val="90000"/>
              </a:lnSpc>
              <a:spcBef>
                <a:spcPts val="1400"/>
              </a:spcBef>
              <a:spcAft>
                <a:spcPts val="0"/>
              </a:spcAft>
              <a:buSzPts val="2200"/>
              <a:buChar char=" "/>
            </a:pPr>
            <a:r>
              <a:rPr lang="fr-FR"/>
              <a:t>E- sont secondaire à une carence oesrtogénique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QCM24:</a:t>
            </a:r>
            <a:endParaRPr/>
          </a:p>
        </p:txBody>
      </p:sp>
      <p:sp>
        <p:nvSpPr>
          <p:cNvPr id="256" name="Google Shape;256;p2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solidFill>
                  <a:srgbClr val="002060"/>
                </a:solidFill>
              </a:rPr>
              <a:t>Les causes d’œdème généralisé par une rétention hydrososée sont:</a:t>
            </a:r>
            <a:endParaRPr/>
          </a:p>
          <a:p>
            <a:pPr indent="-91440" lvl="0" marL="91440" rtl="0" algn="l">
              <a:lnSpc>
                <a:spcPct val="90000"/>
              </a:lnSpc>
              <a:spcBef>
                <a:spcPts val="1400"/>
              </a:spcBef>
              <a:spcAft>
                <a:spcPts val="0"/>
              </a:spcAft>
              <a:buSzPts val="2200"/>
              <a:buNone/>
            </a:pPr>
            <a:r>
              <a:rPr lang="fr-FR"/>
              <a:t>A- Insuffisance rénale</a:t>
            </a:r>
            <a:endParaRPr/>
          </a:p>
          <a:p>
            <a:pPr indent="-91440" lvl="0" marL="91440" rtl="0" algn="l">
              <a:lnSpc>
                <a:spcPct val="90000"/>
              </a:lnSpc>
              <a:spcBef>
                <a:spcPts val="1400"/>
              </a:spcBef>
              <a:spcAft>
                <a:spcPts val="0"/>
              </a:spcAft>
              <a:buSzPts val="2200"/>
              <a:buNone/>
            </a:pPr>
            <a:r>
              <a:rPr lang="fr-FR"/>
              <a:t>B- inhibiteurs calciques</a:t>
            </a:r>
            <a:endParaRPr/>
          </a:p>
          <a:p>
            <a:pPr indent="-91440" lvl="0" marL="91440" rtl="0" algn="l">
              <a:lnSpc>
                <a:spcPct val="90000"/>
              </a:lnSpc>
              <a:spcBef>
                <a:spcPts val="1400"/>
              </a:spcBef>
              <a:spcAft>
                <a:spcPts val="0"/>
              </a:spcAft>
              <a:buSzPts val="2200"/>
              <a:buNone/>
            </a:pPr>
            <a:r>
              <a:rPr lang="fr-FR"/>
              <a:t>C- AINS</a:t>
            </a:r>
            <a:endParaRPr/>
          </a:p>
          <a:p>
            <a:pPr indent="-91440" lvl="0" marL="91440" rtl="0" algn="l">
              <a:lnSpc>
                <a:spcPct val="90000"/>
              </a:lnSpc>
              <a:spcBef>
                <a:spcPts val="1400"/>
              </a:spcBef>
              <a:spcAft>
                <a:spcPts val="0"/>
              </a:spcAft>
              <a:buSzPts val="2200"/>
              <a:buNone/>
            </a:pPr>
            <a:r>
              <a:rPr lang="fr-FR"/>
              <a:t>D-œdème de Quincke</a:t>
            </a:r>
            <a:endParaRPr/>
          </a:p>
          <a:p>
            <a:pPr indent="-91440" lvl="0" marL="91440" rtl="0" algn="l">
              <a:lnSpc>
                <a:spcPct val="90000"/>
              </a:lnSpc>
              <a:spcBef>
                <a:spcPts val="1400"/>
              </a:spcBef>
              <a:spcAft>
                <a:spcPts val="0"/>
              </a:spcAft>
              <a:buSzPts val="2200"/>
              <a:buNone/>
            </a:pPr>
            <a:r>
              <a:rPr lang="fr-FR"/>
              <a:t>E- thrombophlébite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QCM25:</a:t>
            </a:r>
            <a:endParaRPr/>
          </a:p>
        </p:txBody>
      </p:sp>
      <p:sp>
        <p:nvSpPr>
          <p:cNvPr id="262" name="Google Shape;262;p2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b="1" lang="fr-FR">
                <a:solidFill>
                  <a:srgbClr val="002060"/>
                </a:solidFill>
              </a:rPr>
              <a:t>Le(s) cause(s) d’ œdème bilatéral des membres inférieurs ne gardant pas le godet chez un une femme de 50 ans évoluant depuis 3 mois sont :</a:t>
            </a:r>
            <a:endParaRPr b="1">
              <a:solidFill>
                <a:srgbClr val="002060"/>
              </a:solidFill>
            </a:endParaRPr>
          </a:p>
          <a:p>
            <a:pPr indent="-139700" lvl="0" marL="91440" rtl="0" algn="l">
              <a:lnSpc>
                <a:spcPct val="90000"/>
              </a:lnSpc>
              <a:spcBef>
                <a:spcPts val="1400"/>
              </a:spcBef>
              <a:spcAft>
                <a:spcPts val="0"/>
              </a:spcAft>
              <a:buSzPts val="2200"/>
              <a:buChar char=" "/>
            </a:pPr>
            <a:r>
              <a:rPr lang="fr-FR"/>
              <a:t>A- Une cirrhose hépatique</a:t>
            </a:r>
            <a:endParaRPr/>
          </a:p>
          <a:p>
            <a:pPr indent="-139700" lvl="0" marL="91440" rtl="0" algn="l">
              <a:lnSpc>
                <a:spcPct val="90000"/>
              </a:lnSpc>
              <a:spcBef>
                <a:spcPts val="1400"/>
              </a:spcBef>
              <a:spcAft>
                <a:spcPts val="0"/>
              </a:spcAft>
              <a:buSzPts val="2200"/>
              <a:buChar char=" "/>
            </a:pPr>
            <a:r>
              <a:rPr lang="fr-FR"/>
              <a:t>B- Une hypothyroïdie</a:t>
            </a:r>
            <a:endParaRPr/>
          </a:p>
          <a:p>
            <a:pPr indent="-139700" lvl="0" marL="91440" rtl="0" algn="l">
              <a:lnSpc>
                <a:spcPct val="90000"/>
              </a:lnSpc>
              <a:spcBef>
                <a:spcPts val="1400"/>
              </a:spcBef>
              <a:spcAft>
                <a:spcPts val="0"/>
              </a:spcAft>
              <a:buSzPts val="2200"/>
              <a:buChar char=" "/>
            </a:pPr>
            <a:r>
              <a:rPr lang="fr-FR"/>
              <a:t>C- Une thrombose veineuse  </a:t>
            </a:r>
            <a:endParaRPr/>
          </a:p>
          <a:p>
            <a:pPr indent="-139700" lvl="0" marL="91440" rtl="0" algn="l">
              <a:lnSpc>
                <a:spcPct val="90000"/>
              </a:lnSpc>
              <a:spcBef>
                <a:spcPts val="1400"/>
              </a:spcBef>
              <a:spcAft>
                <a:spcPts val="0"/>
              </a:spcAft>
              <a:buSzPts val="2200"/>
              <a:buChar char=" "/>
            </a:pPr>
            <a:r>
              <a:rPr lang="fr-FR"/>
              <a:t>D- Un syndrome néphrotique</a:t>
            </a:r>
            <a:endParaRPr/>
          </a:p>
          <a:p>
            <a:pPr indent="-139700" lvl="0" marL="91440" rtl="0" algn="l">
              <a:lnSpc>
                <a:spcPct val="90000"/>
              </a:lnSpc>
              <a:spcBef>
                <a:spcPts val="1400"/>
              </a:spcBef>
              <a:spcAft>
                <a:spcPts val="0"/>
              </a:spcAft>
              <a:buSzPts val="2200"/>
              <a:buChar char=" "/>
            </a:pPr>
            <a:r>
              <a:rPr lang="fr-FR"/>
              <a:t>E- Un lymphœdème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QCM26:</a:t>
            </a:r>
            <a:endParaRPr/>
          </a:p>
        </p:txBody>
      </p:sp>
      <p:sp>
        <p:nvSpPr>
          <p:cNvPr id="268" name="Google Shape;268;p3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solidFill>
                  <a:srgbClr val="002060"/>
                </a:solidFill>
              </a:rPr>
              <a:t>Les signes de gravité de l’œdème généralisé sont</a:t>
            </a:r>
            <a:r>
              <a:rPr b="1" lang="fr-FR"/>
              <a:t>:</a:t>
            </a:r>
            <a:endParaRPr/>
          </a:p>
          <a:p>
            <a:pPr indent="-91440" lvl="0" marL="91440" rtl="0" algn="l">
              <a:lnSpc>
                <a:spcPct val="90000"/>
              </a:lnSpc>
              <a:spcBef>
                <a:spcPts val="1400"/>
              </a:spcBef>
              <a:spcAft>
                <a:spcPts val="0"/>
              </a:spcAft>
              <a:buSzPts val="2200"/>
              <a:buNone/>
            </a:pPr>
            <a:r>
              <a:t/>
            </a:r>
            <a:endParaRPr b="1"/>
          </a:p>
        </p:txBody>
      </p:sp>
      <p:sp>
        <p:nvSpPr>
          <p:cNvPr id="269" name="Google Shape;269;p30"/>
          <p:cNvSpPr/>
          <p:nvPr/>
        </p:nvSpPr>
        <p:spPr>
          <a:xfrm>
            <a:off x="1155037" y="3251239"/>
            <a:ext cx="7072362"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600"/>
              <a:buFont typeface="Twentieth Century"/>
              <a:buNone/>
            </a:pPr>
            <a:r>
              <a:rPr b="0" i="0" lang="fr-FR" sz="2600" u="none" cap="none" strike="noStrike">
                <a:solidFill>
                  <a:schemeClr val="dk1"/>
                </a:solidFill>
                <a:latin typeface="Twentieth Century"/>
                <a:ea typeface="Twentieth Century"/>
                <a:cs typeface="Twentieth Century"/>
                <a:sym typeface="Twentieth Century"/>
              </a:rPr>
              <a:t>A –  un essoufflement  </a:t>
            </a:r>
            <a:endParaRPr/>
          </a:p>
          <a:p>
            <a:pPr indent="0" lvl="0" marL="0" marR="0" rtl="0" algn="l">
              <a:spcBef>
                <a:spcPts val="0"/>
              </a:spcBef>
              <a:spcAft>
                <a:spcPts val="0"/>
              </a:spcAft>
              <a:buClr>
                <a:schemeClr val="dk1"/>
              </a:buClr>
              <a:buSzPts val="2600"/>
              <a:buFont typeface="Twentieth Century"/>
              <a:buNone/>
            </a:pPr>
            <a:r>
              <a:rPr b="0" i="0" lang="fr-FR" sz="2600" u="none" cap="none" strike="noStrike">
                <a:solidFill>
                  <a:schemeClr val="dk1"/>
                </a:solidFill>
                <a:latin typeface="Twentieth Century"/>
                <a:ea typeface="Twentieth Century"/>
                <a:cs typeface="Twentieth Century"/>
                <a:sym typeface="Twentieth Century"/>
              </a:rPr>
              <a:t>B –  une obnubilation</a:t>
            </a:r>
            <a:endParaRPr/>
          </a:p>
          <a:p>
            <a:pPr indent="0" lvl="0" marL="0" marR="0" rtl="0" algn="l">
              <a:spcBef>
                <a:spcPts val="0"/>
              </a:spcBef>
              <a:spcAft>
                <a:spcPts val="0"/>
              </a:spcAft>
              <a:buClr>
                <a:schemeClr val="dk1"/>
              </a:buClr>
              <a:buSzPts val="2600"/>
              <a:buFont typeface="Twentieth Century"/>
              <a:buNone/>
            </a:pPr>
            <a:r>
              <a:rPr b="0" i="0" lang="fr-FR" sz="2600" u="none" cap="none" strike="noStrike">
                <a:solidFill>
                  <a:schemeClr val="dk1"/>
                </a:solidFill>
                <a:latin typeface="Twentieth Century"/>
                <a:ea typeface="Twentieth Century"/>
                <a:cs typeface="Twentieth Century"/>
                <a:sym typeface="Twentieth Century"/>
              </a:rPr>
              <a:t>C -   une dyspnée inspiratoire</a:t>
            </a:r>
            <a:endParaRPr/>
          </a:p>
          <a:p>
            <a:pPr indent="0" lvl="0" marL="0" marR="0" rtl="0" algn="l">
              <a:spcBef>
                <a:spcPts val="0"/>
              </a:spcBef>
              <a:spcAft>
                <a:spcPts val="0"/>
              </a:spcAft>
              <a:buClr>
                <a:schemeClr val="dk1"/>
              </a:buClr>
              <a:buSzPts val="2600"/>
              <a:buFont typeface="Twentieth Century"/>
              <a:buNone/>
            </a:pPr>
            <a:r>
              <a:rPr b="0" i="0" lang="fr-FR" sz="2600" u="none" cap="none" strike="noStrike">
                <a:solidFill>
                  <a:schemeClr val="dk1"/>
                </a:solidFill>
                <a:latin typeface="Twentieth Century"/>
                <a:ea typeface="Twentieth Century"/>
                <a:cs typeface="Twentieth Century"/>
                <a:sym typeface="Twentieth Century"/>
              </a:rPr>
              <a:t>D-  un œdème de la face</a:t>
            </a:r>
            <a:endParaRPr/>
          </a:p>
          <a:p>
            <a:pPr indent="0" lvl="0" marL="0" marR="0" rtl="0" algn="l">
              <a:spcBef>
                <a:spcPts val="0"/>
              </a:spcBef>
              <a:spcAft>
                <a:spcPts val="0"/>
              </a:spcAft>
              <a:buNone/>
            </a:pPr>
            <a:r>
              <a:rPr b="0" i="0" lang="fr-FR" sz="2600" u="none" cap="none" strike="noStrike">
                <a:solidFill>
                  <a:schemeClr val="dk1"/>
                </a:solidFill>
                <a:latin typeface="Twentieth Century"/>
                <a:ea typeface="Twentieth Century"/>
                <a:cs typeface="Twentieth Century"/>
                <a:sym typeface="Twentieth Century"/>
              </a:rPr>
              <a:t>E –  la présence de râles crépitants</a:t>
            </a:r>
            <a:endParaRPr/>
          </a:p>
          <a:p>
            <a:pPr indent="0" lvl="0" marL="0" marR="0" rtl="0" algn="l">
              <a:spcBef>
                <a:spcPts val="0"/>
              </a:spcBef>
              <a:spcAft>
                <a:spcPts val="0"/>
              </a:spcAft>
              <a:buNone/>
            </a:pPr>
            <a:r>
              <a:t/>
            </a:r>
            <a:endParaRPr sz="26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CAS CLINIQUE N°1:</a:t>
            </a:r>
            <a:endParaRPr/>
          </a:p>
        </p:txBody>
      </p:sp>
      <p:sp>
        <p:nvSpPr>
          <p:cNvPr id="275" name="Google Shape;275;p3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203200" lvl="0" marL="91440" rtl="0" algn="just">
              <a:lnSpc>
                <a:spcPct val="90000"/>
              </a:lnSpc>
              <a:spcBef>
                <a:spcPts val="0"/>
              </a:spcBef>
              <a:spcAft>
                <a:spcPts val="0"/>
              </a:spcAft>
              <a:buSzPts val="3200"/>
              <a:buFont typeface="Noto Sans Symbols"/>
              <a:buChar char="▪"/>
            </a:pPr>
            <a:r>
              <a:rPr lang="fr-FR" sz="3200"/>
              <a:t> Un homme de 70 ans consulte aux  urgences pour une dyspnée d’aggravation progressive devenant au moindre effort ainsi que pour l’apparition d’œdèmes des membres inférieurs et une prise de poids récente de 4 kg. </a:t>
            </a:r>
            <a:endParaRPr/>
          </a:p>
          <a:p>
            <a:pPr indent="-203200" lvl="0" marL="91440" rtl="0" algn="just">
              <a:lnSpc>
                <a:spcPct val="90000"/>
              </a:lnSpc>
              <a:spcBef>
                <a:spcPts val="1400"/>
              </a:spcBef>
              <a:spcAft>
                <a:spcPts val="0"/>
              </a:spcAft>
              <a:buSzPts val="3200"/>
              <a:buFont typeface="Noto Sans Symbols"/>
              <a:buChar char="▪"/>
            </a:pPr>
            <a:r>
              <a:rPr lang="fr-FR" sz="3200"/>
              <a:t> Le patient n’a pas d’antécédent particulier hormis une appendicectomie, un glaucome traité par un collyre prostaglandine (Xalatan®) et un tabagisme estimé à 30 paquets-années non sevré.</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CAS CLINIQUE N°1:</a:t>
            </a:r>
            <a:endParaRPr/>
          </a:p>
        </p:txBody>
      </p:sp>
      <p:sp>
        <p:nvSpPr>
          <p:cNvPr id="281" name="Google Shape;281;p3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77800" lvl="0" marL="91440" rtl="0" algn="l">
              <a:lnSpc>
                <a:spcPct val="90000"/>
              </a:lnSpc>
              <a:spcBef>
                <a:spcPts val="0"/>
              </a:spcBef>
              <a:spcAft>
                <a:spcPts val="0"/>
              </a:spcAft>
              <a:buSzPts val="2800"/>
              <a:buChar char=" "/>
            </a:pPr>
            <a:r>
              <a:rPr lang="fr-FR" sz="2800"/>
              <a:t> </a:t>
            </a:r>
            <a:r>
              <a:rPr b="1" lang="fr-FR" sz="2800"/>
              <a:t>A l’examen clinique</a:t>
            </a:r>
            <a:endParaRPr sz="2800"/>
          </a:p>
          <a:p>
            <a:pPr indent="-177800" lvl="0" marL="91440" rtl="0" algn="l">
              <a:lnSpc>
                <a:spcPct val="90000"/>
              </a:lnSpc>
              <a:spcBef>
                <a:spcPts val="1400"/>
              </a:spcBef>
              <a:spcAft>
                <a:spcPts val="0"/>
              </a:spcAft>
              <a:buSzPts val="2800"/>
              <a:buFont typeface="Noto Sans Symbols"/>
              <a:buChar char="▪"/>
            </a:pPr>
            <a:r>
              <a:rPr lang="fr-FR" sz="2800"/>
              <a:t> la tension artérielle à 110/67 mm Hg, la fréquence respiratoire à 17/min. l’auscultation cardiaque retrouve un souffle holosystolique de pointe </a:t>
            </a:r>
            <a:endParaRPr/>
          </a:p>
          <a:p>
            <a:pPr indent="-177800" lvl="0" marL="91440" rtl="0" algn="l">
              <a:lnSpc>
                <a:spcPct val="90000"/>
              </a:lnSpc>
              <a:spcBef>
                <a:spcPts val="1400"/>
              </a:spcBef>
              <a:spcAft>
                <a:spcPts val="0"/>
              </a:spcAft>
              <a:buSzPts val="2800"/>
              <a:buFont typeface="Noto Sans Symbols"/>
              <a:buChar char="▪"/>
            </a:pPr>
            <a:r>
              <a:rPr lang="fr-FR" sz="2800"/>
              <a:t> L’auscultation pulmonaire retrouve des râles crépitants bilatéraux. </a:t>
            </a:r>
            <a:endParaRPr/>
          </a:p>
          <a:p>
            <a:pPr indent="-177800" lvl="0" marL="91440" rtl="0" algn="l">
              <a:lnSpc>
                <a:spcPct val="90000"/>
              </a:lnSpc>
              <a:spcBef>
                <a:spcPts val="1400"/>
              </a:spcBef>
              <a:spcAft>
                <a:spcPts val="0"/>
              </a:spcAft>
              <a:buSzPts val="2800"/>
              <a:buFont typeface="Noto Sans Symbols"/>
              <a:buChar char="▪"/>
            </a:pPr>
            <a:r>
              <a:rPr lang="fr-FR" sz="2800"/>
              <a:t> Il existe une turgescence jugulaire avec reflux hépato jugulaire. </a:t>
            </a:r>
            <a:endParaRPr/>
          </a:p>
          <a:p>
            <a:pPr indent="-177800" lvl="0" marL="91440" rtl="0" algn="l">
              <a:lnSpc>
                <a:spcPct val="90000"/>
              </a:lnSpc>
              <a:spcBef>
                <a:spcPts val="1400"/>
              </a:spcBef>
              <a:spcAft>
                <a:spcPts val="0"/>
              </a:spcAft>
              <a:buSzPts val="2800"/>
              <a:buFont typeface="Noto Sans Symbols"/>
              <a:buChar char="▪"/>
            </a:pPr>
            <a:r>
              <a:rPr lang="fr-FR" sz="2800"/>
              <a:t> ECG : un axe droit avec une tachycardie sinusale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Q1:</a:t>
            </a:r>
            <a:endParaRPr/>
          </a:p>
        </p:txBody>
      </p:sp>
      <p:sp>
        <p:nvSpPr>
          <p:cNvPr id="287" name="Google Shape;287;p33"/>
          <p:cNvSpPr txBox="1"/>
          <p:nvPr>
            <p:ph idx="1" type="body"/>
          </p:nvPr>
        </p:nvSpPr>
        <p:spPr>
          <a:xfrm>
            <a:off x="1397107" y="1995162"/>
            <a:ext cx="9186672" cy="3624274"/>
          </a:xfrm>
          <a:prstGeom prst="rect">
            <a:avLst/>
          </a:prstGeom>
          <a:noFill/>
          <a:ln>
            <a:noFill/>
          </a:ln>
        </p:spPr>
        <p:txBody>
          <a:bodyPr anchorCtr="0" anchor="t" bIns="45700" lIns="45700" spcFirstLastPara="1" rIns="45700" wrap="square" tIns="45700">
            <a:normAutofit lnSpcReduction="10000"/>
          </a:bodyPr>
          <a:lstStyle/>
          <a:p>
            <a:pPr indent="-91440" lvl="0" marL="91440" rtl="0" algn="l">
              <a:lnSpc>
                <a:spcPct val="90000"/>
              </a:lnSpc>
              <a:spcBef>
                <a:spcPts val="0"/>
              </a:spcBef>
              <a:spcAft>
                <a:spcPts val="0"/>
              </a:spcAft>
              <a:buSzPts val="2800"/>
              <a:buNone/>
            </a:pPr>
            <a:r>
              <a:rPr b="1" lang="fr-FR" sz="2800"/>
              <a:t>Quel (s) type d’œdème présente ce malade:</a:t>
            </a:r>
            <a:endParaRPr/>
          </a:p>
          <a:p>
            <a:pPr indent="0" lvl="0" marL="91440" rtl="0" algn="l">
              <a:lnSpc>
                <a:spcPct val="90000"/>
              </a:lnSpc>
              <a:spcBef>
                <a:spcPts val="1400"/>
              </a:spcBef>
              <a:spcAft>
                <a:spcPts val="0"/>
              </a:spcAft>
              <a:buSzPts val="2800"/>
              <a:buNone/>
            </a:pPr>
            <a:r>
              <a:t/>
            </a:r>
            <a:endParaRPr sz="2800"/>
          </a:p>
          <a:p>
            <a:pPr indent="-91440" lvl="0" marL="91440" rtl="0" algn="l">
              <a:lnSpc>
                <a:spcPct val="90000"/>
              </a:lnSpc>
              <a:spcBef>
                <a:spcPts val="1400"/>
              </a:spcBef>
              <a:spcAft>
                <a:spcPts val="0"/>
              </a:spcAft>
              <a:buSzPts val="2800"/>
              <a:buNone/>
            </a:pPr>
            <a:r>
              <a:rPr lang="fr-FR" sz="2800"/>
              <a:t>A- un œdème généralisé </a:t>
            </a:r>
            <a:endParaRPr/>
          </a:p>
          <a:p>
            <a:pPr indent="-91440" lvl="0" marL="91440" rtl="0" algn="l">
              <a:lnSpc>
                <a:spcPct val="90000"/>
              </a:lnSpc>
              <a:spcBef>
                <a:spcPts val="1400"/>
              </a:spcBef>
              <a:spcAft>
                <a:spcPts val="0"/>
              </a:spcAft>
              <a:buSzPts val="2800"/>
              <a:buNone/>
            </a:pPr>
            <a:r>
              <a:rPr lang="fr-FR" sz="2800"/>
              <a:t>B- un anasarque</a:t>
            </a:r>
            <a:endParaRPr/>
          </a:p>
          <a:p>
            <a:pPr indent="-91440" lvl="0" marL="91440" rtl="0" algn="l">
              <a:lnSpc>
                <a:spcPct val="90000"/>
              </a:lnSpc>
              <a:spcBef>
                <a:spcPts val="1400"/>
              </a:spcBef>
              <a:spcAft>
                <a:spcPts val="0"/>
              </a:spcAft>
              <a:buSzPts val="2800"/>
              <a:buNone/>
            </a:pPr>
            <a:r>
              <a:rPr lang="fr-FR" sz="2800"/>
              <a:t>C-une pleurésie</a:t>
            </a:r>
            <a:endParaRPr/>
          </a:p>
          <a:p>
            <a:pPr indent="-91440" lvl="0" marL="91440" rtl="0" algn="l">
              <a:lnSpc>
                <a:spcPct val="90000"/>
              </a:lnSpc>
              <a:spcBef>
                <a:spcPts val="1400"/>
              </a:spcBef>
              <a:spcAft>
                <a:spcPts val="0"/>
              </a:spcAft>
              <a:buSzPts val="2800"/>
              <a:buNone/>
            </a:pPr>
            <a:r>
              <a:rPr lang="fr-FR" sz="2800"/>
              <a:t>D-une péricardite</a:t>
            </a:r>
            <a:endParaRPr/>
          </a:p>
          <a:p>
            <a:pPr indent="-91440" lvl="0" marL="91440" rtl="0" algn="l">
              <a:lnSpc>
                <a:spcPct val="90000"/>
              </a:lnSpc>
              <a:spcBef>
                <a:spcPts val="1400"/>
              </a:spcBef>
              <a:spcAft>
                <a:spcPts val="0"/>
              </a:spcAft>
              <a:buSzPts val="2800"/>
              <a:buNone/>
            </a:pPr>
            <a:r>
              <a:rPr lang="fr-FR" sz="2800"/>
              <a:t>E- une ascite</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Q2:</a:t>
            </a:r>
            <a:endParaRPr/>
          </a:p>
        </p:txBody>
      </p:sp>
      <p:sp>
        <p:nvSpPr>
          <p:cNvPr id="293" name="Google Shape;293;p34"/>
          <p:cNvSpPr txBox="1"/>
          <p:nvPr>
            <p:ph idx="1" type="body"/>
          </p:nvPr>
        </p:nvSpPr>
        <p:spPr>
          <a:xfrm>
            <a:off x="1762735" y="1799461"/>
            <a:ext cx="8242857" cy="45720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None/>
            </a:pPr>
            <a:r>
              <a:rPr b="1" lang="fr-FR" sz="2800"/>
              <a:t>Les élément(s)  de gravité de cet œdème chez ce patient:</a:t>
            </a:r>
            <a:endParaRPr/>
          </a:p>
          <a:p>
            <a:pPr indent="-91440" lvl="0" marL="91440" rtl="0" algn="l">
              <a:lnSpc>
                <a:spcPct val="90000"/>
              </a:lnSpc>
              <a:spcBef>
                <a:spcPts val="1400"/>
              </a:spcBef>
              <a:spcAft>
                <a:spcPts val="0"/>
              </a:spcAft>
              <a:buSzPts val="2800"/>
              <a:buNone/>
            </a:pPr>
            <a:r>
              <a:rPr lang="fr-FR" sz="2800"/>
              <a:t>A- dyspnée</a:t>
            </a:r>
            <a:endParaRPr/>
          </a:p>
          <a:p>
            <a:pPr indent="-91440" lvl="0" marL="91440" rtl="0" algn="l">
              <a:lnSpc>
                <a:spcPct val="90000"/>
              </a:lnSpc>
              <a:spcBef>
                <a:spcPts val="1400"/>
              </a:spcBef>
              <a:spcAft>
                <a:spcPts val="0"/>
              </a:spcAft>
              <a:buSzPts val="2800"/>
              <a:buNone/>
            </a:pPr>
            <a:r>
              <a:rPr lang="fr-FR" sz="2800"/>
              <a:t>B- fièvre</a:t>
            </a:r>
            <a:endParaRPr/>
          </a:p>
          <a:p>
            <a:pPr indent="-91440" lvl="0" marL="91440" rtl="0" algn="l">
              <a:lnSpc>
                <a:spcPct val="90000"/>
              </a:lnSpc>
              <a:spcBef>
                <a:spcPts val="1400"/>
              </a:spcBef>
              <a:spcAft>
                <a:spcPts val="0"/>
              </a:spcAft>
              <a:buSzPts val="2800"/>
              <a:buNone/>
            </a:pPr>
            <a:r>
              <a:rPr lang="fr-FR" sz="2800"/>
              <a:t>C- âge </a:t>
            </a:r>
            <a:endParaRPr/>
          </a:p>
          <a:p>
            <a:pPr indent="-91440" lvl="0" marL="91440" rtl="0" algn="l">
              <a:lnSpc>
                <a:spcPct val="90000"/>
              </a:lnSpc>
              <a:spcBef>
                <a:spcPts val="1400"/>
              </a:spcBef>
              <a:spcAft>
                <a:spcPts val="0"/>
              </a:spcAft>
              <a:buSzPts val="2800"/>
              <a:buNone/>
            </a:pPr>
            <a:r>
              <a:rPr lang="fr-FR" sz="2800"/>
              <a:t>D- œdème laryngé</a:t>
            </a:r>
            <a:endParaRPr/>
          </a:p>
          <a:p>
            <a:pPr indent="-91440" lvl="0" marL="91440" rtl="0" algn="l">
              <a:lnSpc>
                <a:spcPct val="90000"/>
              </a:lnSpc>
              <a:spcBef>
                <a:spcPts val="1400"/>
              </a:spcBef>
              <a:spcAft>
                <a:spcPts val="0"/>
              </a:spcAft>
              <a:buSzPts val="2800"/>
              <a:buNone/>
            </a:pPr>
            <a:r>
              <a:rPr lang="fr-FR" sz="2800"/>
              <a:t>E- TVJ</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Q3:</a:t>
            </a:r>
            <a:endParaRPr/>
          </a:p>
        </p:txBody>
      </p:sp>
      <p:sp>
        <p:nvSpPr>
          <p:cNvPr id="299" name="Google Shape;299;p35"/>
          <p:cNvSpPr txBox="1"/>
          <p:nvPr>
            <p:ph idx="1" type="body"/>
          </p:nvPr>
        </p:nvSpPr>
        <p:spPr>
          <a:xfrm>
            <a:off x="1024128" y="1961147"/>
            <a:ext cx="9720073" cy="4348213"/>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None/>
            </a:pPr>
            <a:r>
              <a:rPr b="1" lang="fr-FR" sz="2400"/>
              <a:t>Quelles sont les explorations nécessaires chez ce patient pour établir le diagnostic étiologique de cet œdème:</a:t>
            </a:r>
            <a:endParaRPr/>
          </a:p>
          <a:p>
            <a:pPr indent="-91440" lvl="0" marL="91440" rtl="0" algn="l">
              <a:lnSpc>
                <a:spcPct val="90000"/>
              </a:lnSpc>
              <a:spcBef>
                <a:spcPts val="1400"/>
              </a:spcBef>
              <a:spcAft>
                <a:spcPts val="0"/>
              </a:spcAft>
              <a:buSzPts val="2400"/>
              <a:buNone/>
            </a:pPr>
            <a:r>
              <a:rPr lang="fr-FR" sz="2400"/>
              <a:t>A- Une échographie cardiaque</a:t>
            </a:r>
            <a:endParaRPr/>
          </a:p>
          <a:p>
            <a:pPr indent="-91440" lvl="0" marL="91440" rtl="0" algn="l">
              <a:lnSpc>
                <a:spcPct val="90000"/>
              </a:lnSpc>
              <a:spcBef>
                <a:spcPts val="1400"/>
              </a:spcBef>
              <a:spcAft>
                <a:spcPts val="0"/>
              </a:spcAft>
              <a:buSzPts val="2400"/>
              <a:buNone/>
            </a:pPr>
            <a:r>
              <a:rPr lang="fr-FR" sz="2400"/>
              <a:t>B- Une bandelette urinaire</a:t>
            </a:r>
            <a:endParaRPr/>
          </a:p>
          <a:p>
            <a:pPr indent="-91440" lvl="0" marL="91440" rtl="0" algn="l">
              <a:lnSpc>
                <a:spcPct val="90000"/>
              </a:lnSpc>
              <a:spcBef>
                <a:spcPts val="1400"/>
              </a:spcBef>
              <a:spcAft>
                <a:spcPts val="0"/>
              </a:spcAft>
              <a:buSzPts val="2400"/>
              <a:buNone/>
            </a:pPr>
            <a:r>
              <a:rPr lang="fr-FR" sz="2400"/>
              <a:t>C- Un coroscanner</a:t>
            </a:r>
            <a:endParaRPr/>
          </a:p>
          <a:p>
            <a:pPr indent="-91440" lvl="0" marL="91440" rtl="0" algn="l">
              <a:lnSpc>
                <a:spcPct val="90000"/>
              </a:lnSpc>
              <a:spcBef>
                <a:spcPts val="1400"/>
              </a:spcBef>
              <a:spcAft>
                <a:spcPts val="0"/>
              </a:spcAft>
              <a:buSzPts val="2400"/>
              <a:buNone/>
            </a:pPr>
            <a:r>
              <a:rPr lang="fr-FR" sz="2400"/>
              <a:t>D- Un scanner thoracique</a:t>
            </a:r>
            <a:endParaRPr/>
          </a:p>
          <a:p>
            <a:pPr indent="-91440" lvl="0" marL="91440" rtl="0" algn="l">
              <a:lnSpc>
                <a:spcPct val="90000"/>
              </a:lnSpc>
              <a:spcBef>
                <a:spcPts val="1400"/>
              </a:spcBef>
              <a:spcAft>
                <a:spcPts val="0"/>
              </a:spcAft>
              <a:buSzPts val="2400"/>
              <a:buNone/>
            </a:pPr>
            <a:r>
              <a:rPr lang="fr-FR" sz="2400"/>
              <a:t>E- un ionogramme sanguin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Q4:</a:t>
            </a:r>
            <a:endParaRPr/>
          </a:p>
        </p:txBody>
      </p:sp>
      <p:sp>
        <p:nvSpPr>
          <p:cNvPr id="305" name="Google Shape;305;p3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Autofit/>
          </a:bodyPr>
          <a:lstStyle/>
          <a:p>
            <a:pPr indent="-91440" lvl="0" marL="91440" rtl="0" algn="l">
              <a:lnSpc>
                <a:spcPct val="90000"/>
              </a:lnSpc>
              <a:spcBef>
                <a:spcPts val="0"/>
              </a:spcBef>
              <a:spcAft>
                <a:spcPts val="0"/>
              </a:spcAft>
              <a:buSzPts val="2400"/>
              <a:buNone/>
            </a:pPr>
            <a:r>
              <a:rPr b="1" lang="fr-FR" sz="2400"/>
              <a:t>Le mécanisme physiopathologique de cet œdème est :</a:t>
            </a:r>
            <a:endParaRPr/>
          </a:p>
          <a:p>
            <a:pPr indent="-91440" lvl="0" marL="91440" rtl="0" algn="l">
              <a:lnSpc>
                <a:spcPct val="90000"/>
              </a:lnSpc>
              <a:spcBef>
                <a:spcPts val="1400"/>
              </a:spcBef>
              <a:spcAft>
                <a:spcPts val="0"/>
              </a:spcAft>
              <a:buSzPts val="2400"/>
              <a:buNone/>
            </a:pPr>
            <a:r>
              <a:t/>
            </a:r>
            <a:endParaRPr b="1" sz="2400"/>
          </a:p>
          <a:p>
            <a:pPr indent="-91440" lvl="0" marL="91440" rtl="0" algn="l">
              <a:lnSpc>
                <a:spcPct val="90000"/>
              </a:lnSpc>
              <a:spcBef>
                <a:spcPts val="1400"/>
              </a:spcBef>
              <a:spcAft>
                <a:spcPts val="0"/>
              </a:spcAft>
              <a:buSzPts val="2400"/>
              <a:buNone/>
            </a:pPr>
            <a:r>
              <a:rPr lang="fr-FR" sz="2400"/>
              <a:t>A- Une augmentation de la pression hydrostatique</a:t>
            </a:r>
            <a:endParaRPr/>
          </a:p>
          <a:p>
            <a:pPr indent="-91440" lvl="0" marL="91440" rtl="0" algn="l">
              <a:lnSpc>
                <a:spcPct val="90000"/>
              </a:lnSpc>
              <a:spcBef>
                <a:spcPts val="1400"/>
              </a:spcBef>
              <a:spcAft>
                <a:spcPts val="0"/>
              </a:spcAft>
              <a:buSzPts val="2400"/>
              <a:buNone/>
            </a:pPr>
            <a:r>
              <a:rPr lang="fr-FR" sz="2400"/>
              <a:t>B- Une hyperperméabilité capillaire </a:t>
            </a:r>
            <a:endParaRPr/>
          </a:p>
          <a:p>
            <a:pPr indent="-91440" lvl="0" marL="91440" rtl="0" algn="l">
              <a:lnSpc>
                <a:spcPct val="90000"/>
              </a:lnSpc>
              <a:spcBef>
                <a:spcPts val="1400"/>
              </a:spcBef>
              <a:spcAft>
                <a:spcPts val="0"/>
              </a:spcAft>
              <a:buSzPts val="2400"/>
              <a:buNone/>
            </a:pPr>
            <a:r>
              <a:rPr lang="fr-FR" sz="2400"/>
              <a:t>C- Un obstacle au drainage lymphatique</a:t>
            </a:r>
            <a:endParaRPr/>
          </a:p>
          <a:p>
            <a:pPr indent="-91440" lvl="0" marL="91440" rtl="0" algn="l">
              <a:lnSpc>
                <a:spcPct val="90000"/>
              </a:lnSpc>
              <a:spcBef>
                <a:spcPts val="1400"/>
              </a:spcBef>
              <a:spcAft>
                <a:spcPts val="0"/>
              </a:spcAft>
              <a:buSzPts val="2400"/>
              <a:buNone/>
            </a:pPr>
            <a:r>
              <a:rPr lang="fr-FR" sz="2400"/>
              <a:t>D- Une diminution de la pression oncotique</a:t>
            </a:r>
            <a:endParaRPr/>
          </a:p>
          <a:p>
            <a:pPr indent="-91440" lvl="0" marL="91440" rtl="0" algn="l">
              <a:lnSpc>
                <a:spcPct val="90000"/>
              </a:lnSpc>
              <a:spcBef>
                <a:spcPts val="1400"/>
              </a:spcBef>
              <a:spcAft>
                <a:spcPts val="0"/>
              </a:spcAft>
              <a:buSzPts val="2400"/>
              <a:buNone/>
            </a:pPr>
            <a:r>
              <a:rPr lang="fr-FR" sz="2400"/>
              <a:t>E- une vasodilatation capillaire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CAS CLINIQUE N°2:</a:t>
            </a:r>
            <a:endParaRPr/>
          </a:p>
        </p:txBody>
      </p:sp>
      <p:sp>
        <p:nvSpPr>
          <p:cNvPr id="311" name="Google Shape;311;p3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77800" lvl="0" marL="91440" rtl="0" algn="l">
              <a:lnSpc>
                <a:spcPct val="90000"/>
              </a:lnSpc>
              <a:spcBef>
                <a:spcPts val="0"/>
              </a:spcBef>
              <a:spcAft>
                <a:spcPts val="0"/>
              </a:spcAft>
              <a:buSzPts val="2800"/>
              <a:buFont typeface="Noto Sans Symbols"/>
              <a:buChar char="▪"/>
            </a:pPr>
            <a:r>
              <a:rPr lang="fr-FR" sz="2800"/>
              <a:t> Un jeune de 10 ans présente, 15 jours après une angine, une hématurie macroscopique.</a:t>
            </a:r>
            <a:endParaRPr/>
          </a:p>
          <a:p>
            <a:pPr indent="-177800" lvl="0" marL="91440" rtl="0" algn="l">
              <a:lnSpc>
                <a:spcPct val="90000"/>
              </a:lnSpc>
              <a:spcBef>
                <a:spcPts val="1400"/>
              </a:spcBef>
              <a:spcAft>
                <a:spcPts val="0"/>
              </a:spcAft>
              <a:buSzPts val="2800"/>
              <a:buFont typeface="Noto Sans Symbols"/>
              <a:buChar char="▪"/>
            </a:pPr>
            <a:r>
              <a:rPr lang="fr-FR" sz="2800"/>
              <a:t>  A l’Examen physique : Présence d’œdèmes des membres inférieurs Pression artérielle : 160/100 mmHg </a:t>
            </a:r>
            <a:endParaRPr/>
          </a:p>
          <a:p>
            <a:pPr indent="-177800" lvl="0" marL="91440" rtl="0" algn="l">
              <a:lnSpc>
                <a:spcPct val="90000"/>
              </a:lnSpc>
              <a:spcBef>
                <a:spcPts val="1400"/>
              </a:spcBef>
              <a:spcAft>
                <a:spcPts val="0"/>
              </a:spcAft>
              <a:buSzPts val="2800"/>
              <a:buFont typeface="Noto Sans Symbols"/>
              <a:buChar char="▪"/>
            </a:pPr>
            <a:r>
              <a:rPr lang="fr-FR" sz="2800"/>
              <a:t> Protéinurie à 2 croix, hématurie à 3 croix à l’examen des urines à la bandelette réactive </a:t>
            </a:r>
            <a:endParaRPr/>
          </a:p>
          <a:p>
            <a:pPr indent="-177800" lvl="0" marL="91440" rtl="0" algn="l">
              <a:lnSpc>
                <a:spcPct val="90000"/>
              </a:lnSpc>
              <a:spcBef>
                <a:spcPts val="1400"/>
              </a:spcBef>
              <a:spcAft>
                <a:spcPts val="0"/>
              </a:spcAft>
              <a:buSzPts val="2800"/>
              <a:buFont typeface="Noto Sans Symbols"/>
              <a:buChar char="▪"/>
            </a:pPr>
            <a:r>
              <a:rPr lang="fr-FR" sz="2800"/>
              <a:t> A la biologie : Créatininémie 160µmol/l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800"/>
              <a:buFont typeface="Twentieth Century"/>
              <a:buNone/>
            </a:pPr>
            <a:r>
              <a:rPr lang="fr-FR" sz="4800"/>
              <a:t>Q1:</a:t>
            </a:r>
            <a:endParaRPr/>
          </a:p>
        </p:txBody>
      </p:sp>
      <p:sp>
        <p:nvSpPr>
          <p:cNvPr id="317" name="Google Shape;317;p38"/>
          <p:cNvSpPr txBox="1"/>
          <p:nvPr>
            <p:ph idx="1" type="body"/>
          </p:nvPr>
        </p:nvSpPr>
        <p:spPr>
          <a:xfrm>
            <a:off x="1197239" y="1713787"/>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None/>
            </a:pPr>
            <a:r>
              <a:rPr b="1" lang="fr-FR" sz="2800"/>
              <a:t>Le mécanisme responsable de l’œdème chez cette patiente est:</a:t>
            </a:r>
            <a:endParaRPr/>
          </a:p>
          <a:p>
            <a:pPr indent="-91440" lvl="0" marL="91440" rtl="0" algn="l">
              <a:lnSpc>
                <a:spcPct val="90000"/>
              </a:lnSpc>
              <a:spcBef>
                <a:spcPts val="1400"/>
              </a:spcBef>
              <a:spcAft>
                <a:spcPts val="0"/>
              </a:spcAft>
              <a:buSzPts val="2800"/>
              <a:buNone/>
            </a:pPr>
            <a:r>
              <a:rPr lang="fr-FR" sz="2800"/>
              <a:t>A- rétention hydrosodée</a:t>
            </a:r>
            <a:endParaRPr/>
          </a:p>
          <a:p>
            <a:pPr indent="-91440" lvl="0" marL="91440" rtl="0" algn="l">
              <a:lnSpc>
                <a:spcPct val="90000"/>
              </a:lnSpc>
              <a:spcBef>
                <a:spcPts val="1400"/>
              </a:spcBef>
              <a:spcAft>
                <a:spcPts val="0"/>
              </a:spcAft>
              <a:buSzPts val="2800"/>
              <a:buNone/>
            </a:pPr>
            <a:r>
              <a:rPr lang="fr-FR" sz="2800"/>
              <a:t>B- une augmentation de la pression hydrostatique au pole artériolaire</a:t>
            </a:r>
            <a:endParaRPr/>
          </a:p>
          <a:p>
            <a:pPr indent="-91440" lvl="0" marL="91440" rtl="0" algn="l">
              <a:lnSpc>
                <a:spcPct val="90000"/>
              </a:lnSpc>
              <a:spcBef>
                <a:spcPts val="1400"/>
              </a:spcBef>
              <a:spcAft>
                <a:spcPts val="0"/>
              </a:spcAft>
              <a:buSzPts val="2800"/>
              <a:buNone/>
            </a:pPr>
            <a:r>
              <a:rPr lang="fr-FR" sz="2800"/>
              <a:t>C- une diminution de la résorption lymphatique</a:t>
            </a:r>
            <a:endParaRPr/>
          </a:p>
          <a:p>
            <a:pPr indent="-91440" lvl="0" marL="91440" rtl="0" algn="l">
              <a:lnSpc>
                <a:spcPct val="90000"/>
              </a:lnSpc>
              <a:spcBef>
                <a:spcPts val="1400"/>
              </a:spcBef>
              <a:spcAft>
                <a:spcPts val="0"/>
              </a:spcAft>
              <a:buSzPts val="2800"/>
              <a:buNone/>
            </a:pPr>
            <a:r>
              <a:rPr lang="fr-FR" sz="2800"/>
              <a:t>D- une réabsorption sodium au tube distale dépendante de SRAA</a:t>
            </a:r>
            <a:endParaRPr/>
          </a:p>
          <a:p>
            <a:pPr indent="-91440" lvl="0" marL="91440" rtl="0" algn="l">
              <a:lnSpc>
                <a:spcPct val="90000"/>
              </a:lnSpc>
              <a:spcBef>
                <a:spcPts val="1400"/>
              </a:spcBef>
              <a:spcAft>
                <a:spcPts val="0"/>
              </a:spcAft>
              <a:buSzPts val="2800"/>
              <a:buNone/>
            </a:pPr>
            <a:r>
              <a:rPr lang="fr-FR" sz="2800"/>
              <a:t>E- Un défaut de synthèse de l’albumine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Q2:</a:t>
            </a:r>
            <a:endParaRPr/>
          </a:p>
        </p:txBody>
      </p:sp>
      <p:sp>
        <p:nvSpPr>
          <p:cNvPr id="323" name="Google Shape;323;p39"/>
          <p:cNvSpPr txBox="1"/>
          <p:nvPr>
            <p:ph idx="1" type="body"/>
          </p:nvPr>
        </p:nvSpPr>
        <p:spPr>
          <a:xfrm>
            <a:off x="1608943" y="1730597"/>
            <a:ext cx="8550442" cy="4338654"/>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None/>
            </a:pPr>
            <a:r>
              <a:rPr b="1" lang="fr-FR" sz="2800"/>
              <a:t>Les caractéristiques de l’œdème chez cette patiente seront</a:t>
            </a:r>
            <a:r>
              <a:rPr lang="fr-FR" sz="2800"/>
              <a:t>:</a:t>
            </a:r>
            <a:endParaRPr/>
          </a:p>
          <a:p>
            <a:pPr indent="-91440" lvl="0" marL="91440" rtl="0" algn="l">
              <a:lnSpc>
                <a:spcPct val="90000"/>
              </a:lnSpc>
              <a:spcBef>
                <a:spcPts val="1400"/>
              </a:spcBef>
              <a:spcAft>
                <a:spcPts val="0"/>
              </a:spcAft>
              <a:buSzPts val="2800"/>
              <a:buNone/>
            </a:pPr>
            <a:r>
              <a:t/>
            </a:r>
            <a:endParaRPr sz="2800"/>
          </a:p>
          <a:p>
            <a:pPr indent="-91440" lvl="0" marL="91440" rtl="0" algn="l">
              <a:lnSpc>
                <a:spcPct val="90000"/>
              </a:lnSpc>
              <a:spcBef>
                <a:spcPts val="1400"/>
              </a:spcBef>
              <a:spcAft>
                <a:spcPts val="0"/>
              </a:spcAft>
              <a:buSzPts val="2800"/>
              <a:buNone/>
            </a:pPr>
            <a:r>
              <a:rPr lang="fr-FR" sz="2800"/>
              <a:t>A- mou</a:t>
            </a:r>
            <a:endParaRPr/>
          </a:p>
          <a:p>
            <a:pPr indent="-91440" lvl="0" marL="91440" rtl="0" algn="l">
              <a:lnSpc>
                <a:spcPct val="90000"/>
              </a:lnSpc>
              <a:spcBef>
                <a:spcPts val="1400"/>
              </a:spcBef>
              <a:spcAft>
                <a:spcPts val="0"/>
              </a:spcAft>
              <a:buSzPts val="2800"/>
              <a:buNone/>
            </a:pPr>
            <a:r>
              <a:rPr lang="fr-FR" sz="2800"/>
              <a:t>B- élastique</a:t>
            </a:r>
            <a:endParaRPr/>
          </a:p>
          <a:p>
            <a:pPr indent="-91440" lvl="0" marL="91440" rtl="0" algn="l">
              <a:lnSpc>
                <a:spcPct val="90000"/>
              </a:lnSpc>
              <a:spcBef>
                <a:spcPts val="1400"/>
              </a:spcBef>
              <a:spcAft>
                <a:spcPts val="0"/>
              </a:spcAft>
              <a:buSzPts val="2800"/>
              <a:buNone/>
            </a:pPr>
            <a:r>
              <a:rPr lang="fr-FR" sz="2800"/>
              <a:t>C-blanc</a:t>
            </a:r>
            <a:endParaRPr/>
          </a:p>
          <a:p>
            <a:pPr indent="-91440" lvl="0" marL="91440" rtl="0" algn="l">
              <a:lnSpc>
                <a:spcPct val="90000"/>
              </a:lnSpc>
              <a:spcBef>
                <a:spcPts val="1400"/>
              </a:spcBef>
              <a:spcAft>
                <a:spcPts val="0"/>
              </a:spcAft>
              <a:buSzPts val="2800"/>
              <a:buNone/>
            </a:pPr>
            <a:r>
              <a:rPr lang="fr-FR" sz="2800"/>
              <a:t>D- ne prenant pas le godet </a:t>
            </a:r>
            <a:endParaRPr/>
          </a:p>
          <a:p>
            <a:pPr indent="-91440" lvl="0" marL="91440" rtl="0" algn="l">
              <a:lnSpc>
                <a:spcPct val="90000"/>
              </a:lnSpc>
              <a:spcBef>
                <a:spcPts val="1400"/>
              </a:spcBef>
              <a:spcAft>
                <a:spcPts val="0"/>
              </a:spcAft>
              <a:buSzPts val="2800"/>
              <a:buNone/>
            </a:pPr>
            <a:r>
              <a:rPr lang="fr-FR" sz="2800"/>
              <a:t>E- généralisée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Q3:</a:t>
            </a:r>
            <a:endParaRPr/>
          </a:p>
        </p:txBody>
      </p:sp>
      <p:sp>
        <p:nvSpPr>
          <p:cNvPr id="329" name="Google Shape;329;p40"/>
          <p:cNvSpPr txBox="1"/>
          <p:nvPr>
            <p:ph idx="1" type="body"/>
          </p:nvPr>
        </p:nvSpPr>
        <p:spPr>
          <a:xfrm>
            <a:off x="1144444" y="1953266"/>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None/>
            </a:pPr>
            <a:r>
              <a:rPr b="1" lang="fr-FR" sz="2400"/>
              <a:t>Le diagnostic étiologique  le plus probable est:</a:t>
            </a:r>
            <a:endParaRPr/>
          </a:p>
          <a:p>
            <a:pPr indent="-91440" lvl="0" marL="91440" rtl="0" algn="l">
              <a:lnSpc>
                <a:spcPct val="90000"/>
              </a:lnSpc>
              <a:spcBef>
                <a:spcPts val="1400"/>
              </a:spcBef>
              <a:spcAft>
                <a:spcPts val="0"/>
              </a:spcAft>
              <a:buSzPts val="2400"/>
              <a:buNone/>
            </a:pPr>
            <a:r>
              <a:rPr lang="fr-FR" sz="2400"/>
              <a:t> </a:t>
            </a:r>
            <a:endParaRPr/>
          </a:p>
          <a:p>
            <a:pPr indent="-91440" lvl="0" marL="91440" rtl="0" algn="l">
              <a:lnSpc>
                <a:spcPct val="90000"/>
              </a:lnSpc>
              <a:spcBef>
                <a:spcPts val="1400"/>
              </a:spcBef>
              <a:spcAft>
                <a:spcPts val="0"/>
              </a:spcAft>
              <a:buSzPts val="2400"/>
              <a:buNone/>
            </a:pPr>
            <a:r>
              <a:rPr lang="fr-FR" sz="2400"/>
              <a:t> A. Une glomérulonéphrite mésangiale à dépôts d’IgA</a:t>
            </a:r>
            <a:endParaRPr/>
          </a:p>
          <a:p>
            <a:pPr indent="-91440" lvl="0" marL="91440" rtl="0" algn="l">
              <a:lnSpc>
                <a:spcPct val="90000"/>
              </a:lnSpc>
              <a:spcBef>
                <a:spcPts val="1400"/>
              </a:spcBef>
              <a:spcAft>
                <a:spcPts val="0"/>
              </a:spcAft>
              <a:buSzPts val="2400"/>
              <a:buNone/>
            </a:pPr>
            <a:r>
              <a:rPr lang="fr-FR" sz="2400"/>
              <a:t> B. Une infection urinaire </a:t>
            </a:r>
            <a:endParaRPr/>
          </a:p>
          <a:p>
            <a:pPr indent="-91440" lvl="0" marL="91440" rtl="0" algn="l">
              <a:lnSpc>
                <a:spcPct val="90000"/>
              </a:lnSpc>
              <a:spcBef>
                <a:spcPts val="1400"/>
              </a:spcBef>
              <a:spcAft>
                <a:spcPts val="0"/>
              </a:spcAft>
              <a:buSzPts val="2400"/>
              <a:buNone/>
            </a:pPr>
            <a:r>
              <a:rPr lang="fr-FR" sz="2400"/>
              <a:t> C. Un reflux vésico-urétéral</a:t>
            </a:r>
            <a:endParaRPr/>
          </a:p>
          <a:p>
            <a:pPr indent="-91440" lvl="0" marL="91440" rtl="0" algn="l">
              <a:lnSpc>
                <a:spcPct val="90000"/>
              </a:lnSpc>
              <a:spcBef>
                <a:spcPts val="1400"/>
              </a:spcBef>
              <a:spcAft>
                <a:spcPts val="0"/>
              </a:spcAft>
              <a:buSzPts val="2400"/>
              <a:buNone/>
            </a:pPr>
            <a:r>
              <a:rPr lang="fr-FR" sz="2400"/>
              <a:t> D. Une glomérulonéphrite aigue post-streptococcique </a:t>
            </a:r>
            <a:endParaRPr/>
          </a:p>
          <a:p>
            <a:pPr indent="-91440" lvl="0" marL="91440" rtl="0" algn="l">
              <a:lnSpc>
                <a:spcPct val="90000"/>
              </a:lnSpc>
              <a:spcBef>
                <a:spcPts val="1400"/>
              </a:spcBef>
              <a:spcAft>
                <a:spcPts val="0"/>
              </a:spcAft>
              <a:buSzPts val="2400"/>
              <a:buNone/>
            </a:pPr>
            <a:r>
              <a:rPr lang="fr-FR" sz="2400"/>
              <a:t> E. Une glomérulonéphrite membrano-proliférative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CAS CLINIQUE N°3:</a:t>
            </a:r>
            <a:endParaRPr/>
          </a:p>
        </p:txBody>
      </p:sp>
      <p:sp>
        <p:nvSpPr>
          <p:cNvPr id="335" name="Google Shape;335;p41"/>
          <p:cNvSpPr txBox="1"/>
          <p:nvPr>
            <p:ph idx="1" type="body"/>
          </p:nvPr>
        </p:nvSpPr>
        <p:spPr>
          <a:xfrm>
            <a:off x="1024128" y="2084832"/>
            <a:ext cx="10141177" cy="4023360"/>
          </a:xfrm>
          <a:prstGeom prst="rect">
            <a:avLst/>
          </a:prstGeom>
          <a:noFill/>
          <a:ln>
            <a:noFill/>
          </a:ln>
        </p:spPr>
        <p:txBody>
          <a:bodyPr anchorCtr="0" anchor="t" bIns="45700" lIns="45700" spcFirstLastPara="1" rIns="45700" wrap="square" tIns="45700">
            <a:normAutofit/>
          </a:bodyPr>
          <a:lstStyle/>
          <a:p>
            <a:pPr indent="-203200" lvl="0" marL="91440" rtl="0" algn="just">
              <a:lnSpc>
                <a:spcPct val="90000"/>
              </a:lnSpc>
              <a:spcBef>
                <a:spcPts val="0"/>
              </a:spcBef>
              <a:spcAft>
                <a:spcPts val="0"/>
              </a:spcAft>
              <a:buSzPts val="3200"/>
              <a:buFont typeface="Noto Sans Symbols"/>
              <a:buChar char="▪"/>
            </a:pPr>
            <a:r>
              <a:rPr lang="fr-FR" sz="3200"/>
              <a:t> un homme 26 ans, chez qui apparaissait une phlyctène purulente de la pointe du nez 12heures après une piqûre d’insecte. Après manipulation, il développait un œdème et érythème du visage.</a:t>
            </a:r>
            <a:endParaRPr/>
          </a:p>
          <a:p>
            <a:pPr indent="-203200" lvl="0" marL="91440" rtl="0" algn="just">
              <a:lnSpc>
                <a:spcPct val="90000"/>
              </a:lnSpc>
              <a:spcBef>
                <a:spcPts val="1400"/>
              </a:spcBef>
              <a:spcAft>
                <a:spcPts val="0"/>
              </a:spcAft>
              <a:buSzPts val="3200"/>
              <a:buFont typeface="Noto Sans Symbols"/>
              <a:buChar char="▪"/>
            </a:pPr>
            <a:r>
              <a:rPr lang="fr-FR" sz="3200"/>
              <a:t>  L’examen trouvait une fièvre à 41°C, un important œdème inflammatoire centro-facial et un placard érythémateux mal limité, chaud, douloureux surmonté de croûtes s’étendant aux paupières et front.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Q1:</a:t>
            </a:r>
            <a:endParaRPr/>
          </a:p>
        </p:txBody>
      </p:sp>
      <p:sp>
        <p:nvSpPr>
          <p:cNvPr id="341" name="Google Shape;341;p42"/>
          <p:cNvSpPr txBox="1"/>
          <p:nvPr>
            <p:ph idx="1" type="body"/>
          </p:nvPr>
        </p:nvSpPr>
        <p:spPr>
          <a:xfrm>
            <a:off x="2089484" y="1712495"/>
            <a:ext cx="7772400" cy="3481398"/>
          </a:xfrm>
          <a:prstGeom prst="rect">
            <a:avLst/>
          </a:prstGeom>
          <a:noFill/>
          <a:ln>
            <a:noFill/>
          </a:ln>
        </p:spPr>
        <p:txBody>
          <a:bodyPr anchorCtr="0" anchor="t" bIns="45700" lIns="45700" spcFirstLastPara="1" rIns="45700" wrap="square" tIns="45700">
            <a:noAutofit/>
          </a:bodyPr>
          <a:lstStyle/>
          <a:p>
            <a:pPr indent="-91440" lvl="0" marL="91440" rtl="0" algn="l">
              <a:lnSpc>
                <a:spcPct val="90000"/>
              </a:lnSpc>
              <a:spcBef>
                <a:spcPts val="0"/>
              </a:spcBef>
              <a:spcAft>
                <a:spcPts val="0"/>
              </a:spcAft>
              <a:buSzPts val="2800"/>
              <a:buNone/>
            </a:pPr>
            <a:r>
              <a:rPr b="1" lang="fr-FR" sz="2800"/>
              <a:t>Les éléments de sévérité de cet œdème sont:</a:t>
            </a:r>
            <a:endParaRPr/>
          </a:p>
          <a:p>
            <a:pPr indent="-91440" lvl="0" marL="91440" rtl="0" algn="l">
              <a:lnSpc>
                <a:spcPct val="90000"/>
              </a:lnSpc>
              <a:spcBef>
                <a:spcPts val="1400"/>
              </a:spcBef>
              <a:spcAft>
                <a:spcPts val="0"/>
              </a:spcAft>
              <a:buSzPts val="2800"/>
              <a:buNone/>
            </a:pPr>
            <a:r>
              <a:t/>
            </a:r>
            <a:endParaRPr sz="2800"/>
          </a:p>
          <a:p>
            <a:pPr indent="-91440" lvl="0" marL="91440" rtl="0" algn="l">
              <a:lnSpc>
                <a:spcPct val="90000"/>
              </a:lnSpc>
              <a:spcBef>
                <a:spcPts val="1400"/>
              </a:spcBef>
              <a:spcAft>
                <a:spcPts val="0"/>
              </a:spcAft>
              <a:buSzPts val="2800"/>
              <a:buNone/>
            </a:pPr>
            <a:r>
              <a:rPr lang="fr-FR" sz="2800"/>
              <a:t>A- Le caractère localisé</a:t>
            </a:r>
            <a:endParaRPr/>
          </a:p>
          <a:p>
            <a:pPr indent="-91440" lvl="0" marL="91440" rtl="0" algn="l">
              <a:lnSpc>
                <a:spcPct val="90000"/>
              </a:lnSpc>
              <a:spcBef>
                <a:spcPts val="1400"/>
              </a:spcBef>
              <a:spcAft>
                <a:spcPts val="0"/>
              </a:spcAft>
              <a:buSzPts val="2800"/>
              <a:buNone/>
            </a:pPr>
            <a:r>
              <a:rPr lang="fr-FR" sz="2800"/>
              <a:t>B- Le type inflammatoire </a:t>
            </a:r>
            <a:endParaRPr/>
          </a:p>
          <a:p>
            <a:pPr indent="-91440" lvl="0" marL="91440" rtl="0" algn="l">
              <a:lnSpc>
                <a:spcPct val="90000"/>
              </a:lnSpc>
              <a:spcBef>
                <a:spcPts val="1400"/>
              </a:spcBef>
              <a:spcAft>
                <a:spcPts val="0"/>
              </a:spcAft>
              <a:buSzPts val="2800"/>
              <a:buNone/>
            </a:pPr>
            <a:r>
              <a:rPr lang="fr-FR" sz="2800"/>
              <a:t>C- La fièvre</a:t>
            </a:r>
            <a:endParaRPr/>
          </a:p>
          <a:p>
            <a:pPr indent="-91440" lvl="0" marL="91440" rtl="0" algn="l">
              <a:lnSpc>
                <a:spcPct val="90000"/>
              </a:lnSpc>
              <a:spcBef>
                <a:spcPts val="1400"/>
              </a:spcBef>
              <a:spcAft>
                <a:spcPts val="0"/>
              </a:spcAft>
              <a:buSzPts val="2800"/>
              <a:buNone/>
            </a:pPr>
            <a:r>
              <a:rPr lang="fr-FR" sz="2800"/>
              <a:t>D- L’ âge </a:t>
            </a:r>
            <a:endParaRPr/>
          </a:p>
          <a:p>
            <a:pPr indent="-91440" lvl="0" marL="91440" rtl="0" algn="l">
              <a:lnSpc>
                <a:spcPct val="90000"/>
              </a:lnSpc>
              <a:spcBef>
                <a:spcPts val="1400"/>
              </a:spcBef>
              <a:spcAft>
                <a:spcPts val="0"/>
              </a:spcAft>
              <a:buSzPts val="2800"/>
              <a:buNone/>
            </a:pPr>
            <a:r>
              <a:rPr lang="fr-FR" sz="2800"/>
              <a:t>E- le siège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Q2:</a:t>
            </a:r>
            <a:endParaRPr/>
          </a:p>
        </p:txBody>
      </p:sp>
      <p:sp>
        <p:nvSpPr>
          <p:cNvPr id="347" name="Google Shape;347;p43"/>
          <p:cNvSpPr txBox="1"/>
          <p:nvPr>
            <p:ph idx="1" type="body"/>
          </p:nvPr>
        </p:nvSpPr>
        <p:spPr>
          <a:xfrm>
            <a:off x="1414558" y="1857686"/>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None/>
            </a:pPr>
            <a:r>
              <a:t/>
            </a:r>
            <a:endParaRPr b="1" sz="2800"/>
          </a:p>
          <a:p>
            <a:pPr indent="-91440" lvl="0" marL="91440" rtl="0" algn="l">
              <a:lnSpc>
                <a:spcPct val="90000"/>
              </a:lnSpc>
              <a:spcBef>
                <a:spcPts val="1400"/>
              </a:spcBef>
              <a:spcAft>
                <a:spcPts val="0"/>
              </a:spcAft>
              <a:buSzPts val="2800"/>
              <a:buNone/>
            </a:pPr>
            <a:r>
              <a:rPr b="1" lang="fr-FR" sz="2800"/>
              <a:t>Le diagnostic le plus probable est:</a:t>
            </a:r>
            <a:endParaRPr/>
          </a:p>
          <a:p>
            <a:pPr indent="-91440" lvl="0" marL="91440" rtl="0" algn="l">
              <a:lnSpc>
                <a:spcPct val="90000"/>
              </a:lnSpc>
              <a:spcBef>
                <a:spcPts val="1400"/>
              </a:spcBef>
              <a:spcAft>
                <a:spcPts val="0"/>
              </a:spcAft>
              <a:buSzPts val="2800"/>
              <a:buNone/>
            </a:pPr>
            <a:r>
              <a:rPr lang="fr-FR" sz="2800"/>
              <a:t>A- Une staphylococcie de la face</a:t>
            </a:r>
            <a:endParaRPr/>
          </a:p>
          <a:p>
            <a:pPr indent="-91440" lvl="0" marL="91440" rtl="0" algn="l">
              <a:lnSpc>
                <a:spcPct val="90000"/>
              </a:lnSpc>
              <a:spcBef>
                <a:spcPts val="1400"/>
              </a:spcBef>
              <a:spcAft>
                <a:spcPts val="0"/>
              </a:spcAft>
              <a:buSzPts val="2800"/>
              <a:buNone/>
            </a:pPr>
            <a:r>
              <a:rPr lang="fr-FR" sz="2800"/>
              <a:t>B-  une éthmoidite aigue</a:t>
            </a:r>
            <a:endParaRPr/>
          </a:p>
          <a:p>
            <a:pPr indent="-91440" lvl="0" marL="91440" rtl="0" algn="l">
              <a:lnSpc>
                <a:spcPct val="90000"/>
              </a:lnSpc>
              <a:spcBef>
                <a:spcPts val="1400"/>
              </a:spcBef>
              <a:spcAft>
                <a:spcPts val="0"/>
              </a:spcAft>
              <a:buSzPts val="2800"/>
              <a:buNone/>
            </a:pPr>
            <a:r>
              <a:rPr lang="fr-FR" sz="2800"/>
              <a:t>C- un œdème angioneurotique</a:t>
            </a:r>
            <a:endParaRPr/>
          </a:p>
          <a:p>
            <a:pPr indent="-91440" lvl="0" marL="91440" rtl="0" algn="l">
              <a:lnSpc>
                <a:spcPct val="90000"/>
              </a:lnSpc>
              <a:spcBef>
                <a:spcPts val="1400"/>
              </a:spcBef>
              <a:spcAft>
                <a:spcPts val="0"/>
              </a:spcAft>
              <a:buSzPts val="2800"/>
              <a:buNone/>
            </a:pPr>
            <a:r>
              <a:rPr lang="fr-FR" sz="2800"/>
              <a:t>D- un lupus systémique</a:t>
            </a:r>
            <a:endParaRPr/>
          </a:p>
          <a:p>
            <a:pPr indent="-91440" lvl="0" marL="91440" rtl="0" algn="l">
              <a:lnSpc>
                <a:spcPct val="90000"/>
              </a:lnSpc>
              <a:spcBef>
                <a:spcPts val="1400"/>
              </a:spcBef>
              <a:spcAft>
                <a:spcPts val="0"/>
              </a:spcAft>
              <a:buSzPts val="2800"/>
              <a:buNone/>
            </a:pPr>
            <a:r>
              <a:rPr lang="fr-FR" sz="2800"/>
              <a:t>E- une dermatomyosite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Q3:</a:t>
            </a:r>
            <a:endParaRPr/>
          </a:p>
        </p:txBody>
      </p:sp>
      <p:sp>
        <p:nvSpPr>
          <p:cNvPr id="353" name="Google Shape;353;p44"/>
          <p:cNvSpPr txBox="1"/>
          <p:nvPr>
            <p:ph idx="1" type="body"/>
          </p:nvPr>
        </p:nvSpPr>
        <p:spPr>
          <a:xfrm>
            <a:off x="1048191" y="1875887"/>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None/>
            </a:pPr>
            <a:r>
              <a:rPr b="1" lang="fr-FR" sz="2800"/>
              <a:t>Votre attitude thérapeutique est:</a:t>
            </a:r>
            <a:endParaRPr/>
          </a:p>
          <a:p>
            <a:pPr indent="-91440" lvl="0" marL="91440" rtl="0" algn="l">
              <a:lnSpc>
                <a:spcPct val="90000"/>
              </a:lnSpc>
              <a:spcBef>
                <a:spcPts val="1400"/>
              </a:spcBef>
              <a:spcAft>
                <a:spcPts val="0"/>
              </a:spcAft>
              <a:buSzPts val="2800"/>
              <a:buNone/>
            </a:pPr>
            <a:r>
              <a:t/>
            </a:r>
            <a:endParaRPr sz="2800"/>
          </a:p>
          <a:p>
            <a:pPr indent="-91440" lvl="0" marL="91440" rtl="0" algn="l">
              <a:lnSpc>
                <a:spcPct val="90000"/>
              </a:lnSpc>
              <a:spcBef>
                <a:spcPts val="1400"/>
              </a:spcBef>
              <a:spcAft>
                <a:spcPts val="0"/>
              </a:spcAft>
              <a:buSzPts val="2800"/>
              <a:buNone/>
            </a:pPr>
            <a:r>
              <a:rPr lang="fr-FR" sz="2800"/>
              <a:t>A- Une antibiothérapie urgente</a:t>
            </a:r>
            <a:endParaRPr/>
          </a:p>
          <a:p>
            <a:pPr indent="-91440" lvl="0" marL="91440" rtl="0" algn="l">
              <a:lnSpc>
                <a:spcPct val="90000"/>
              </a:lnSpc>
              <a:spcBef>
                <a:spcPts val="1400"/>
              </a:spcBef>
              <a:spcAft>
                <a:spcPts val="0"/>
              </a:spcAft>
              <a:buSzPts val="2800"/>
              <a:buNone/>
            </a:pPr>
            <a:r>
              <a:rPr lang="fr-FR" sz="2800"/>
              <a:t>B- Une hospitalisation</a:t>
            </a:r>
            <a:endParaRPr/>
          </a:p>
          <a:p>
            <a:pPr indent="-91440" lvl="0" marL="91440" rtl="0" algn="l">
              <a:lnSpc>
                <a:spcPct val="90000"/>
              </a:lnSpc>
              <a:spcBef>
                <a:spcPts val="1400"/>
              </a:spcBef>
              <a:spcAft>
                <a:spcPts val="0"/>
              </a:spcAft>
              <a:buSzPts val="2800"/>
              <a:buNone/>
            </a:pPr>
            <a:r>
              <a:rPr lang="fr-FR" sz="2800"/>
              <a:t>C- Un diurétique</a:t>
            </a:r>
            <a:endParaRPr/>
          </a:p>
          <a:p>
            <a:pPr indent="-91440" lvl="0" marL="91440" rtl="0" algn="l">
              <a:lnSpc>
                <a:spcPct val="90000"/>
              </a:lnSpc>
              <a:spcBef>
                <a:spcPts val="1400"/>
              </a:spcBef>
              <a:spcAft>
                <a:spcPts val="0"/>
              </a:spcAft>
              <a:buSzPts val="2800"/>
              <a:buNone/>
            </a:pPr>
            <a:r>
              <a:rPr lang="fr-FR" sz="2800"/>
              <a:t>D- Un AINS</a:t>
            </a:r>
            <a:endParaRPr/>
          </a:p>
          <a:p>
            <a:pPr indent="-91440" lvl="0" marL="91440" rtl="0" algn="l">
              <a:lnSpc>
                <a:spcPct val="90000"/>
              </a:lnSpc>
              <a:spcBef>
                <a:spcPts val="1400"/>
              </a:spcBef>
              <a:spcAft>
                <a:spcPts val="0"/>
              </a:spcAft>
              <a:buSzPts val="2800"/>
              <a:buNone/>
            </a:pPr>
            <a:r>
              <a:rPr lang="fr-FR" sz="2800"/>
              <a:t>E- Un anti histaminique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CAS CLINIQUE N°4:</a:t>
            </a:r>
            <a:endParaRPr/>
          </a:p>
        </p:txBody>
      </p:sp>
      <p:sp>
        <p:nvSpPr>
          <p:cNvPr id="359" name="Google Shape;359;p4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Char char=" "/>
            </a:pPr>
            <a:r>
              <a:rPr lang="fr-FR"/>
              <a:t>Un  jeune femme de 25 ans, vient vous voir en urgence pour un volumineux œdème de la lèvre supérieure apparu une heure auparavant. </a:t>
            </a:r>
            <a:endParaRPr/>
          </a:p>
          <a:p>
            <a:pPr indent="-139700" lvl="0" marL="91440" rtl="0" algn="just">
              <a:lnSpc>
                <a:spcPct val="90000"/>
              </a:lnSpc>
              <a:spcBef>
                <a:spcPts val="1400"/>
              </a:spcBef>
              <a:spcAft>
                <a:spcPts val="0"/>
              </a:spcAft>
              <a:buSzPts val="2200"/>
              <a:buChar char=" "/>
            </a:pPr>
            <a:r>
              <a:rPr lang="fr-FR"/>
              <a:t>Vous apprenez que l'apparition de cet œdème fait suite à la prise de 2 comprimés d'ampicilline pris pour un mal de gorge.</a:t>
            </a:r>
            <a:endParaRPr/>
          </a:p>
          <a:p>
            <a:pPr indent="-139700" lvl="0" marL="91440" rtl="0" algn="just">
              <a:lnSpc>
                <a:spcPct val="90000"/>
              </a:lnSpc>
              <a:spcBef>
                <a:spcPts val="1400"/>
              </a:spcBef>
              <a:spcAft>
                <a:spcPts val="0"/>
              </a:spcAft>
              <a:buSzPts val="2200"/>
              <a:buChar char=" "/>
            </a:pPr>
            <a:r>
              <a:rPr lang="fr-FR"/>
              <a:t> A l'examen, il n'y a pas de gêne respiratoire ni de dysphagie. Par contre, vous trouvez des lésions papuleuses et érythémateuses, arrondies et entourées d'un halo blanc, de la racine des cuisses, des avant-bras et sur le tronc.</a:t>
            </a:r>
            <a:endParaRPr/>
          </a:p>
          <a:p>
            <a:pPr indent="-139700" lvl="0" marL="91440" rtl="0" algn="just">
              <a:lnSpc>
                <a:spcPct val="90000"/>
              </a:lnSpc>
              <a:spcBef>
                <a:spcPts val="1400"/>
              </a:spcBef>
              <a:spcAft>
                <a:spcPts val="0"/>
              </a:spcAft>
              <a:buSzPts val="2200"/>
              <a:buChar char=" "/>
            </a:pPr>
            <a:r>
              <a:rPr lang="fr-FR"/>
              <a:t> C'est le premier épisode de ce genre.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Q1:</a:t>
            </a:r>
            <a:endParaRPr/>
          </a:p>
        </p:txBody>
      </p:sp>
      <p:sp>
        <p:nvSpPr>
          <p:cNvPr id="365" name="Google Shape;365;p4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t>L’œdème chez ce malade est:</a:t>
            </a:r>
            <a:endParaRPr/>
          </a:p>
          <a:p>
            <a:pPr indent="-91440" lvl="0" marL="91440" rtl="0" algn="l">
              <a:lnSpc>
                <a:spcPct val="90000"/>
              </a:lnSpc>
              <a:spcBef>
                <a:spcPts val="1400"/>
              </a:spcBef>
              <a:spcAft>
                <a:spcPts val="0"/>
              </a:spcAft>
              <a:buSzPts val="2200"/>
              <a:buNone/>
            </a:pPr>
            <a:r>
              <a:t/>
            </a:r>
            <a:endParaRPr/>
          </a:p>
          <a:p>
            <a:pPr indent="-91440" lvl="0" marL="91440" rtl="0" algn="l">
              <a:lnSpc>
                <a:spcPct val="90000"/>
              </a:lnSpc>
              <a:spcBef>
                <a:spcPts val="1400"/>
              </a:spcBef>
              <a:spcAft>
                <a:spcPts val="0"/>
              </a:spcAft>
              <a:buSzPts val="2200"/>
              <a:buNone/>
            </a:pPr>
            <a:r>
              <a:rPr lang="fr-FR"/>
              <a:t>A- Localisé</a:t>
            </a:r>
            <a:endParaRPr/>
          </a:p>
          <a:p>
            <a:pPr indent="-91440" lvl="0" marL="91440" rtl="0" algn="l">
              <a:lnSpc>
                <a:spcPct val="90000"/>
              </a:lnSpc>
              <a:spcBef>
                <a:spcPts val="1400"/>
              </a:spcBef>
              <a:spcAft>
                <a:spcPts val="0"/>
              </a:spcAft>
              <a:buSzPts val="2200"/>
              <a:buNone/>
            </a:pPr>
            <a:r>
              <a:rPr lang="fr-FR"/>
              <a:t>B- est de type histaminique</a:t>
            </a:r>
            <a:endParaRPr/>
          </a:p>
          <a:p>
            <a:pPr indent="-91440" lvl="0" marL="91440" rtl="0" algn="l">
              <a:lnSpc>
                <a:spcPct val="90000"/>
              </a:lnSpc>
              <a:spcBef>
                <a:spcPts val="1400"/>
              </a:spcBef>
              <a:spcAft>
                <a:spcPts val="0"/>
              </a:spcAft>
              <a:buSzPts val="2200"/>
              <a:buNone/>
            </a:pPr>
            <a:r>
              <a:rPr lang="fr-FR"/>
              <a:t>C- douloureux</a:t>
            </a:r>
            <a:endParaRPr/>
          </a:p>
          <a:p>
            <a:pPr indent="-91440" lvl="0" marL="91440" rtl="0" algn="l">
              <a:lnSpc>
                <a:spcPct val="90000"/>
              </a:lnSpc>
              <a:spcBef>
                <a:spcPts val="1400"/>
              </a:spcBef>
              <a:spcAft>
                <a:spcPts val="0"/>
              </a:spcAft>
              <a:buSzPts val="2200"/>
              <a:buNone/>
            </a:pPr>
            <a:r>
              <a:rPr lang="fr-FR"/>
              <a:t>D- inflammatoire</a:t>
            </a:r>
            <a:endParaRPr/>
          </a:p>
          <a:p>
            <a:pPr indent="-91440" lvl="0" marL="91440" rtl="0" algn="l">
              <a:lnSpc>
                <a:spcPct val="90000"/>
              </a:lnSpc>
              <a:spcBef>
                <a:spcPts val="1400"/>
              </a:spcBef>
              <a:spcAft>
                <a:spcPts val="0"/>
              </a:spcAft>
              <a:buSzPts val="2200"/>
              <a:buNone/>
            </a:pPr>
            <a:r>
              <a:rPr lang="fr-FR"/>
              <a:t>E- est héréditaire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Q2:</a:t>
            </a:r>
            <a:endParaRPr/>
          </a:p>
        </p:txBody>
      </p:sp>
      <p:sp>
        <p:nvSpPr>
          <p:cNvPr id="371" name="Google Shape;371;p4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t>Le mécanisme de cet œdème est </a:t>
            </a:r>
            <a:endParaRPr/>
          </a:p>
          <a:p>
            <a:pPr indent="-91440" lvl="0" marL="91440" rtl="0" algn="l">
              <a:lnSpc>
                <a:spcPct val="90000"/>
              </a:lnSpc>
              <a:spcBef>
                <a:spcPts val="1400"/>
              </a:spcBef>
              <a:spcAft>
                <a:spcPts val="0"/>
              </a:spcAft>
              <a:buSzPts val="2200"/>
              <a:buNone/>
            </a:pPr>
            <a:r>
              <a:t/>
            </a:r>
            <a:endParaRPr/>
          </a:p>
          <a:p>
            <a:pPr indent="-91440" lvl="0" marL="91440" rtl="0" algn="l">
              <a:lnSpc>
                <a:spcPct val="90000"/>
              </a:lnSpc>
              <a:spcBef>
                <a:spcPts val="1400"/>
              </a:spcBef>
              <a:spcAft>
                <a:spcPts val="0"/>
              </a:spcAft>
              <a:buSzPts val="2200"/>
              <a:buNone/>
            </a:pPr>
            <a:r>
              <a:rPr lang="fr-FR"/>
              <a:t>A- une hyperperméabilité capillaire liée à l’histamine</a:t>
            </a:r>
            <a:endParaRPr/>
          </a:p>
          <a:p>
            <a:pPr indent="-91440" lvl="0" marL="91440" rtl="0" algn="l">
              <a:lnSpc>
                <a:spcPct val="90000"/>
              </a:lnSpc>
              <a:spcBef>
                <a:spcPts val="1400"/>
              </a:spcBef>
              <a:spcAft>
                <a:spcPts val="0"/>
              </a:spcAft>
              <a:buSzPts val="2200"/>
              <a:buNone/>
            </a:pPr>
            <a:r>
              <a:rPr lang="fr-FR"/>
              <a:t>B- une hyperperméabilité capillaire liée à la bradykinine</a:t>
            </a:r>
            <a:endParaRPr/>
          </a:p>
          <a:p>
            <a:pPr indent="-91440" lvl="0" marL="91440" rtl="0" algn="l">
              <a:lnSpc>
                <a:spcPct val="90000"/>
              </a:lnSpc>
              <a:spcBef>
                <a:spcPts val="1400"/>
              </a:spcBef>
              <a:spcAft>
                <a:spcPts val="0"/>
              </a:spcAft>
              <a:buSzPts val="2200"/>
              <a:buNone/>
            </a:pPr>
            <a:r>
              <a:rPr lang="fr-FR"/>
              <a:t>C- une insuffisance lutéale</a:t>
            </a:r>
            <a:endParaRPr/>
          </a:p>
          <a:p>
            <a:pPr indent="-91440" lvl="0" marL="91440" rtl="0" algn="l">
              <a:lnSpc>
                <a:spcPct val="90000"/>
              </a:lnSpc>
              <a:spcBef>
                <a:spcPts val="1400"/>
              </a:spcBef>
              <a:spcAft>
                <a:spcPts val="0"/>
              </a:spcAft>
              <a:buSzPts val="2200"/>
              <a:buNone/>
            </a:pPr>
            <a:r>
              <a:rPr lang="fr-FR"/>
              <a:t>D- une rétention hydro sodée</a:t>
            </a:r>
            <a:endParaRPr/>
          </a:p>
          <a:p>
            <a:pPr indent="-91440" lvl="0" marL="91440" rtl="0" algn="l">
              <a:lnSpc>
                <a:spcPct val="90000"/>
              </a:lnSpc>
              <a:spcBef>
                <a:spcPts val="1400"/>
              </a:spcBef>
              <a:spcAft>
                <a:spcPts val="0"/>
              </a:spcAft>
              <a:buSzPts val="2200"/>
              <a:buNone/>
            </a:pPr>
            <a:r>
              <a:rPr lang="fr-FR"/>
              <a:t>E- une angiodysplasie veineuse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Q3:</a:t>
            </a:r>
            <a:endParaRPr/>
          </a:p>
        </p:txBody>
      </p:sp>
      <p:sp>
        <p:nvSpPr>
          <p:cNvPr id="377" name="Google Shape;377;p4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t>Les risques encourus chez cette patiente sont:</a:t>
            </a:r>
            <a:endParaRPr/>
          </a:p>
          <a:p>
            <a:pPr indent="-91440" lvl="0" marL="91440" rtl="0" algn="l">
              <a:lnSpc>
                <a:spcPct val="90000"/>
              </a:lnSpc>
              <a:spcBef>
                <a:spcPts val="1400"/>
              </a:spcBef>
              <a:spcAft>
                <a:spcPts val="0"/>
              </a:spcAft>
              <a:buSzPts val="2200"/>
              <a:buNone/>
            </a:pPr>
            <a:r>
              <a:t/>
            </a:r>
            <a:endParaRPr b="1"/>
          </a:p>
          <a:p>
            <a:pPr indent="-91440" lvl="0" marL="91440" rtl="0" algn="l">
              <a:lnSpc>
                <a:spcPct val="90000"/>
              </a:lnSpc>
              <a:spcBef>
                <a:spcPts val="1400"/>
              </a:spcBef>
              <a:spcAft>
                <a:spcPts val="0"/>
              </a:spcAft>
              <a:buSzPts val="2200"/>
              <a:buNone/>
            </a:pPr>
            <a:r>
              <a:rPr lang="fr-FR"/>
              <a:t>A- une détresse respiratoire</a:t>
            </a:r>
            <a:endParaRPr/>
          </a:p>
          <a:p>
            <a:pPr indent="-91440" lvl="0" marL="91440" rtl="0" algn="l">
              <a:lnSpc>
                <a:spcPct val="90000"/>
              </a:lnSpc>
              <a:spcBef>
                <a:spcPts val="1400"/>
              </a:spcBef>
              <a:spcAft>
                <a:spcPts val="0"/>
              </a:spcAft>
              <a:buSzPts val="2200"/>
              <a:buNone/>
            </a:pPr>
            <a:r>
              <a:rPr lang="fr-FR"/>
              <a:t>B- un choc vasoplégique</a:t>
            </a:r>
            <a:endParaRPr/>
          </a:p>
          <a:p>
            <a:pPr indent="-91440" lvl="0" marL="91440" rtl="0" algn="l">
              <a:lnSpc>
                <a:spcPct val="90000"/>
              </a:lnSpc>
              <a:spcBef>
                <a:spcPts val="1400"/>
              </a:spcBef>
              <a:spcAft>
                <a:spcPts val="0"/>
              </a:spcAft>
              <a:buSzPts val="2200"/>
              <a:buNone/>
            </a:pPr>
            <a:r>
              <a:rPr lang="fr-FR"/>
              <a:t>C- un œdème de Quincke</a:t>
            </a:r>
            <a:endParaRPr/>
          </a:p>
          <a:p>
            <a:pPr indent="-91440" lvl="0" marL="91440" rtl="0" algn="l">
              <a:lnSpc>
                <a:spcPct val="90000"/>
              </a:lnSpc>
              <a:spcBef>
                <a:spcPts val="1400"/>
              </a:spcBef>
              <a:spcAft>
                <a:spcPts val="0"/>
              </a:spcAft>
              <a:buSzPts val="2200"/>
              <a:buNone/>
            </a:pPr>
            <a:r>
              <a:rPr lang="fr-FR"/>
              <a:t>D- une hémopathie maligne</a:t>
            </a:r>
            <a:endParaRPr/>
          </a:p>
          <a:p>
            <a:pPr indent="-91440" lvl="0" marL="91440" rtl="0" algn="l">
              <a:lnSpc>
                <a:spcPct val="90000"/>
              </a:lnSpc>
              <a:spcBef>
                <a:spcPts val="1400"/>
              </a:spcBef>
              <a:spcAft>
                <a:spcPts val="0"/>
              </a:spcAft>
              <a:buSzPts val="2200"/>
              <a:buNone/>
            </a:pPr>
            <a:r>
              <a:rPr lang="fr-FR"/>
              <a:t>E- une crise de douleur abdominale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fr-FR"/>
              <a:t>Q4:</a:t>
            </a:r>
            <a:endParaRPr/>
          </a:p>
        </p:txBody>
      </p:sp>
      <p:sp>
        <p:nvSpPr>
          <p:cNvPr id="383" name="Google Shape;383;p49"/>
          <p:cNvSpPr txBox="1"/>
          <p:nvPr>
            <p:ph idx="1" type="body"/>
          </p:nvPr>
        </p:nvSpPr>
        <p:spPr>
          <a:xfrm>
            <a:off x="2238348" y="1714488"/>
            <a:ext cx="7772400" cy="45720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None/>
            </a:pPr>
            <a:r>
              <a:rPr b="1" lang="fr-FR"/>
              <a:t>Quelle sera votre conduite thérapeutique:</a:t>
            </a:r>
            <a:endParaRPr/>
          </a:p>
          <a:p>
            <a:pPr indent="-91440" lvl="0" marL="91440" rtl="0" algn="l">
              <a:lnSpc>
                <a:spcPct val="90000"/>
              </a:lnSpc>
              <a:spcBef>
                <a:spcPts val="1400"/>
              </a:spcBef>
              <a:spcAft>
                <a:spcPts val="0"/>
              </a:spcAft>
              <a:buSzPts val="2200"/>
              <a:buNone/>
            </a:pPr>
            <a:r>
              <a:t/>
            </a:r>
            <a:endParaRPr/>
          </a:p>
          <a:p>
            <a:pPr indent="-91440" lvl="0" marL="91440" rtl="0" algn="l">
              <a:lnSpc>
                <a:spcPct val="90000"/>
              </a:lnSpc>
              <a:spcBef>
                <a:spcPts val="1400"/>
              </a:spcBef>
              <a:spcAft>
                <a:spcPts val="0"/>
              </a:spcAft>
              <a:buSzPts val="2200"/>
              <a:buNone/>
            </a:pPr>
            <a:r>
              <a:rPr lang="fr-FR"/>
              <a:t>A- Un anti- histaminique</a:t>
            </a:r>
            <a:endParaRPr/>
          </a:p>
          <a:p>
            <a:pPr indent="-91440" lvl="0" marL="91440" rtl="0" algn="l">
              <a:lnSpc>
                <a:spcPct val="90000"/>
              </a:lnSpc>
              <a:spcBef>
                <a:spcPts val="1400"/>
              </a:spcBef>
              <a:spcAft>
                <a:spcPts val="0"/>
              </a:spcAft>
              <a:buSzPts val="2200"/>
              <a:buNone/>
            </a:pPr>
            <a:r>
              <a:rPr lang="fr-FR"/>
              <a:t>B- un AINS</a:t>
            </a:r>
            <a:endParaRPr/>
          </a:p>
          <a:p>
            <a:pPr indent="-91440" lvl="0" marL="91440" rtl="0" algn="l">
              <a:lnSpc>
                <a:spcPct val="90000"/>
              </a:lnSpc>
              <a:spcBef>
                <a:spcPts val="1400"/>
              </a:spcBef>
              <a:spcAft>
                <a:spcPts val="0"/>
              </a:spcAft>
              <a:buSzPts val="2200"/>
              <a:buNone/>
            </a:pPr>
            <a:r>
              <a:rPr lang="fr-FR"/>
              <a:t>C- Une éviction des betalactamines</a:t>
            </a:r>
            <a:endParaRPr/>
          </a:p>
          <a:p>
            <a:pPr indent="-91440" lvl="0" marL="91440" rtl="0" algn="l">
              <a:lnSpc>
                <a:spcPct val="90000"/>
              </a:lnSpc>
              <a:spcBef>
                <a:spcPts val="1400"/>
              </a:spcBef>
              <a:spcAft>
                <a:spcPts val="0"/>
              </a:spcAft>
              <a:buSzPts val="2200"/>
              <a:buNone/>
            </a:pPr>
            <a:r>
              <a:rPr lang="fr-FR"/>
              <a:t>D- un immunosuppresseur</a:t>
            </a:r>
            <a:endParaRPr/>
          </a:p>
          <a:p>
            <a:pPr indent="-91440" lvl="0" marL="91440" rtl="0" algn="l">
              <a:lnSpc>
                <a:spcPct val="90000"/>
              </a:lnSpc>
              <a:spcBef>
                <a:spcPts val="1400"/>
              </a:spcBef>
              <a:spcAft>
                <a:spcPts val="0"/>
              </a:spcAft>
              <a:buSzPts val="2200"/>
              <a:buNone/>
            </a:pPr>
            <a:r>
              <a:rPr lang="fr-FR"/>
              <a:t>E- une corticothérapie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égral">
  <a:themeElements>
    <a:clrScheme name="Inté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2025-08-31T16:44:44Z</dcterms:created>
  <dc:creator>Lenovo</dc:creator>
</cp:coreProperties>
</file>
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46"/>
  </p:notesMasterIdLst>
  <p:sldIdLst>
    <p:sldId id="256" r:id="rId2"/>
    <p:sldId id="258" r:id="rId3"/>
    <p:sldId id="564" r:id="rId4"/>
    <p:sldId id="565" r:id="rId5"/>
    <p:sldId id="624" r:id="rId6"/>
    <p:sldId id="518" r:id="rId7"/>
    <p:sldId id="577" r:id="rId8"/>
    <p:sldId id="578" r:id="rId9"/>
    <p:sldId id="579" r:id="rId10"/>
    <p:sldId id="580" r:id="rId11"/>
    <p:sldId id="625" r:id="rId12"/>
    <p:sldId id="581" r:id="rId13"/>
    <p:sldId id="626" r:id="rId14"/>
    <p:sldId id="627" r:id="rId15"/>
    <p:sldId id="582" r:id="rId16"/>
    <p:sldId id="583" r:id="rId17"/>
    <p:sldId id="584" r:id="rId18"/>
    <p:sldId id="585" r:id="rId19"/>
    <p:sldId id="586" r:id="rId20"/>
    <p:sldId id="628" r:id="rId21"/>
    <p:sldId id="629" r:id="rId22"/>
    <p:sldId id="443" r:id="rId23"/>
    <p:sldId id="467" r:id="rId24"/>
    <p:sldId id="468" r:id="rId25"/>
    <p:sldId id="469" r:id="rId26"/>
    <p:sldId id="470" r:id="rId27"/>
    <p:sldId id="466" r:id="rId28"/>
    <p:sldId id="380" r:id="rId29"/>
    <p:sldId id="383" r:id="rId30"/>
    <p:sldId id="378" r:id="rId31"/>
    <p:sldId id="385" r:id="rId32"/>
    <p:sldId id="576" r:id="rId33"/>
    <p:sldId id="388" r:id="rId34"/>
    <p:sldId id="389" r:id="rId35"/>
    <p:sldId id="390" r:id="rId36"/>
    <p:sldId id="391" r:id="rId37"/>
    <p:sldId id="392" r:id="rId38"/>
    <p:sldId id="321" r:id="rId39"/>
    <p:sldId id="302" r:id="rId40"/>
    <p:sldId id="630" r:id="rId41"/>
    <p:sldId id="587" r:id="rId42"/>
    <p:sldId id="588" r:id="rId43"/>
    <p:sldId id="589" r:id="rId44"/>
    <p:sldId id="444" r:id="rId45"/>
    <p:sldId id="393" r:id="rId46"/>
    <p:sldId id="394" r:id="rId47"/>
    <p:sldId id="395" r:id="rId48"/>
    <p:sldId id="396" r:id="rId49"/>
    <p:sldId id="397" r:id="rId50"/>
    <p:sldId id="303" r:id="rId51"/>
    <p:sldId id="592" r:id="rId52"/>
    <p:sldId id="593" r:id="rId53"/>
    <p:sldId id="594" r:id="rId54"/>
    <p:sldId id="596" r:id="rId55"/>
    <p:sldId id="446" r:id="rId56"/>
    <p:sldId id="382" r:id="rId57"/>
    <p:sldId id="342" r:id="rId58"/>
    <p:sldId id="343" r:id="rId59"/>
    <p:sldId id="400" r:id="rId60"/>
    <p:sldId id="401" r:id="rId61"/>
    <p:sldId id="402" r:id="rId62"/>
    <p:sldId id="403" r:id="rId63"/>
    <p:sldId id="404" r:id="rId64"/>
    <p:sldId id="405" r:id="rId65"/>
    <p:sldId id="324" r:id="rId66"/>
    <p:sldId id="631" r:id="rId67"/>
    <p:sldId id="632" r:id="rId68"/>
    <p:sldId id="633" r:id="rId69"/>
    <p:sldId id="634" r:id="rId70"/>
    <p:sldId id="635" r:id="rId71"/>
    <p:sldId id="636" r:id="rId72"/>
    <p:sldId id="637" r:id="rId73"/>
    <p:sldId id="304" r:id="rId74"/>
    <p:sldId id="599" r:id="rId75"/>
    <p:sldId id="600" r:id="rId76"/>
    <p:sldId id="638" r:id="rId77"/>
    <p:sldId id="601" r:id="rId78"/>
    <p:sldId id="602" r:id="rId79"/>
    <p:sldId id="603" r:id="rId80"/>
    <p:sldId id="604" r:id="rId81"/>
    <p:sldId id="605" r:id="rId82"/>
    <p:sldId id="607" r:id="rId83"/>
    <p:sldId id="608" r:id="rId84"/>
    <p:sldId id="609" r:id="rId85"/>
    <p:sldId id="445" r:id="rId86"/>
    <p:sldId id="406" r:id="rId87"/>
    <p:sldId id="407" r:id="rId88"/>
    <p:sldId id="408" r:id="rId89"/>
    <p:sldId id="409" r:id="rId90"/>
    <p:sldId id="410" r:id="rId91"/>
    <p:sldId id="411" r:id="rId92"/>
    <p:sldId id="412" r:id="rId93"/>
    <p:sldId id="413" r:id="rId94"/>
    <p:sldId id="414" r:id="rId95"/>
    <p:sldId id="415" r:id="rId96"/>
    <p:sldId id="416" r:id="rId97"/>
    <p:sldId id="417" r:id="rId98"/>
    <p:sldId id="418" r:id="rId99"/>
    <p:sldId id="419" r:id="rId100"/>
    <p:sldId id="420" r:id="rId101"/>
    <p:sldId id="421" r:id="rId102"/>
    <p:sldId id="422" r:id="rId103"/>
    <p:sldId id="423" r:id="rId104"/>
    <p:sldId id="424" r:id="rId105"/>
    <p:sldId id="425" r:id="rId106"/>
    <p:sldId id="325" r:id="rId107"/>
    <p:sldId id="306" r:id="rId108"/>
    <p:sldId id="613" r:id="rId109"/>
    <p:sldId id="610" r:id="rId110"/>
    <p:sldId id="611" r:id="rId111"/>
    <p:sldId id="612" r:id="rId112"/>
    <p:sldId id="614" r:id="rId113"/>
    <p:sldId id="615" r:id="rId114"/>
    <p:sldId id="426" r:id="rId115"/>
    <p:sldId id="448" r:id="rId116"/>
    <p:sldId id="427" r:id="rId117"/>
    <p:sldId id="428" r:id="rId118"/>
    <p:sldId id="431" r:id="rId119"/>
    <p:sldId id="432" r:id="rId120"/>
    <p:sldId id="433" r:id="rId121"/>
    <p:sldId id="434" r:id="rId122"/>
    <p:sldId id="435" r:id="rId123"/>
    <p:sldId id="436" r:id="rId124"/>
    <p:sldId id="438" r:id="rId125"/>
    <p:sldId id="439" r:id="rId126"/>
    <p:sldId id="440" r:id="rId127"/>
    <p:sldId id="575" r:id="rId128"/>
    <p:sldId id="441" r:id="rId129"/>
    <p:sldId id="442" r:id="rId130"/>
    <p:sldId id="496" r:id="rId131"/>
    <p:sldId id="566" r:id="rId132"/>
    <p:sldId id="567" r:id="rId133"/>
    <p:sldId id="616" r:id="rId134"/>
    <p:sldId id="617" r:id="rId135"/>
    <p:sldId id="618" r:id="rId136"/>
    <p:sldId id="619" r:id="rId137"/>
    <p:sldId id="497" r:id="rId138"/>
    <p:sldId id="620" r:id="rId139"/>
    <p:sldId id="621" r:id="rId140"/>
    <p:sldId id="622" r:id="rId141"/>
    <p:sldId id="623" r:id="rId142"/>
    <p:sldId id="429" r:id="rId143"/>
    <p:sldId id="430" r:id="rId144"/>
    <p:sldId id="269" r:id="rId145"/>
  </p:sldIdLst>
  <p:sldSz cx="12192000" cy="6858000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306" autoAdjust="0"/>
    <p:restoredTop sz="94660"/>
  </p:normalViewPr>
  <p:slideViewPr>
    <p:cSldViewPr snapToGrid="0">
      <p:cViewPr varScale="1">
        <p:scale>
          <a:sx n="73" d="100"/>
          <a:sy n="73" d="100"/>
        </p:scale>
        <p:origin x="606" y="7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38" Type="http://schemas.openxmlformats.org/officeDocument/2006/relationships/slide" Target="slides/slide137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144" Type="http://schemas.openxmlformats.org/officeDocument/2006/relationships/slide" Target="slides/slide143.xml"/><Relationship Id="rId149" Type="http://schemas.openxmlformats.org/officeDocument/2006/relationships/theme" Target="theme/theme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5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16" Type="http://schemas.openxmlformats.org/officeDocument/2006/relationships/slide" Target="slides/slide115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137" Type="http://schemas.openxmlformats.org/officeDocument/2006/relationships/slide" Target="slides/slide13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43" Type="http://schemas.openxmlformats.org/officeDocument/2006/relationships/slide" Target="slides/slide142.xml"/><Relationship Id="rId148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C8E0B2-444C-461A-8675-DACAC2387315}" type="datetimeFigureOut">
              <a:rPr lang="fr-FR" smtClean="0"/>
              <a:pPr/>
              <a:t>17/07/2025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B51DDA-19A8-4588-A3CB-9067C75B38EC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15134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fld id="{F699EEB1-5309-4FAA-8878-7FF31DF1091A}" type="slidenum">
              <a:rPr lang="fr-FR" sz="1200"/>
              <a:pPr eaLnBrk="1" hangingPunct="1"/>
              <a:t>32</a:t>
            </a:fld>
            <a:endParaRPr lang="fr-FR" sz="1200"/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072772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F7AFFB9B-9FB8-469E-96F9-4D32314110B6}" type="datetimeFigureOut">
              <a:rPr lang="en-US" dirty="0"/>
              <a:pPr/>
              <a:t>7/17/2025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5560" y="4883024"/>
            <a:ext cx="4047239" cy="1195538"/>
          </a:xfr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FBDC27-E420-4878-9EE6-7B9656D6442A}" type="datetimeFigureOut">
              <a:rPr lang="en-US" dirty="0"/>
              <a:pPr/>
              <a:t>7/17/2025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F47CF-67C9-420C-80A5-E2069FF0C2DF}" type="datetimeFigureOut">
              <a:rPr lang="en-US" dirty="0"/>
              <a:pPr/>
              <a:t>7/17/2025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2DC73-F065-42F5-A9F2-D90B2E42A0B3}" type="datetimeFigureOut">
              <a:rPr lang="en-US" dirty="0"/>
              <a:pPr/>
              <a:t>7/17/2025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EA702-9B29-41CC-9BCC-3DF8A0D379FE}" type="datetimeFigureOut">
              <a:rPr lang="en-US" dirty="0"/>
              <a:pPr/>
              <a:t>7/17/2025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649AC-CB8F-4FF1-9A34-5861C74DD0A7}" type="datetimeFigureOut">
              <a:rPr lang="en-US" dirty="0"/>
              <a:pPr/>
              <a:t>7/17/2025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5CECA-2D3A-4680-9B49-752200DE467C}" type="datetimeFigureOut">
              <a:rPr lang="en-US" dirty="0"/>
              <a:pPr/>
              <a:t>7/17/2025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3BFE2-83B7-4B0A-B9D3-AB28331082B3}" type="datetimeFigureOut">
              <a:rPr lang="en-US" dirty="0"/>
              <a:pPr/>
              <a:t>7/17/2025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EF78E3-FDA3-4D28-AAA2-0B81F349A39D}" type="datetimeFigureOut">
              <a:rPr lang="en-US" dirty="0"/>
              <a:pPr/>
              <a:t>7/17/2025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D2AC3-6A0B-4169-B1EA-E3AE8B351BDD}" type="datetimeFigureOut">
              <a:rPr lang="en-US" dirty="0"/>
              <a:pPr/>
              <a:t>7/17/2025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4B9363-8B87-41B7-9F8E-64519CBB8F34}" type="datetimeFigureOut">
              <a:rPr lang="en-US" dirty="0"/>
              <a:pPr/>
              <a:t>7/17/2025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F5746-5284-4951-9F37-7AE924EDBCB7}" type="datetimeFigureOut">
              <a:rPr lang="en-US" dirty="0"/>
              <a:pPr/>
              <a:t>7/17/2025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98B29-7265-4A65-A2A4-6703C057B7C1}" type="datetimeFigureOut">
              <a:rPr lang="en-US" dirty="0"/>
              <a:pPr/>
              <a:t>7/17/2025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BA082-94DF-4C4B-A041-6624924AB0A8}" type="datetimeFigureOut">
              <a:rPr lang="en-US" dirty="0"/>
              <a:pPr/>
              <a:t>7/17/2025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686C4-3AB5-4E0C-86CA-FB108C350AA9}" type="datetimeFigureOut">
              <a:rPr lang="en-US" dirty="0"/>
              <a:pPr/>
              <a:t>7/17/2025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F1211-4E0C-4AB3-B04F-585959BDAFE8}" type="datetimeFigureOut">
              <a:rPr lang="en-US" dirty="0"/>
              <a:pPr/>
              <a:t>7/17/2025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BDECAF-D3BE-4069-9C78-642ECCD01477}" type="datetimeFigureOut">
              <a:rPr lang="en-US" dirty="0"/>
              <a:pPr/>
              <a:t>7/17/2025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25397" y="0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C35BB1C6-BF8F-4481-8AB2-603A1C8A906A}" type="datetimeFigureOut">
              <a:rPr lang="en-US" dirty="0"/>
              <a:pPr/>
              <a:t>7/17/2025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 rot="21420000">
            <a:off x="-503718" y="873841"/>
            <a:ext cx="12264051" cy="2575498"/>
          </a:xfrm>
        </p:spPr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r>
              <a:rPr lang="fr-FR" sz="5400" b="1" dirty="0">
                <a:solidFill>
                  <a:schemeClr val="accent2"/>
                </a:solidFill>
                <a:latin typeface="Arial Narrow" panose="020B0606020202030204" pitchFamily="34" charset="0"/>
              </a:rPr>
              <a:t>Sujet : 37</a:t>
            </a:r>
            <a:br>
              <a:rPr lang="fr-FR" sz="5400" b="1" dirty="0">
                <a:solidFill>
                  <a:schemeClr val="accent2"/>
                </a:solidFill>
                <a:latin typeface="Arial Narrow" panose="020B0606020202030204" pitchFamily="34" charset="0"/>
              </a:rPr>
            </a:br>
            <a:r>
              <a:rPr lang="fr-FR" sz="5400" b="1" dirty="0">
                <a:solidFill>
                  <a:srgbClr val="0070C0"/>
                </a:solidFill>
                <a:latin typeface="Arial Narrow" panose="020B0606020202030204" pitchFamily="34" charset="0"/>
              </a:rPr>
              <a:t>les Hypercalcémies</a:t>
            </a:r>
            <a:r>
              <a:rPr lang="fr-FR" sz="5400" b="1" dirty="0">
                <a:latin typeface="Arial Narrow" panose="020B0606020202030204" pitchFamily="34" charset="0"/>
              </a:rPr>
              <a:t/>
            </a:r>
            <a:br>
              <a:rPr lang="fr-FR" sz="5400" b="1" dirty="0">
                <a:latin typeface="Arial Narrow" panose="020B0606020202030204" pitchFamily="34" charset="0"/>
              </a:rPr>
            </a:br>
            <a:r>
              <a:rPr lang="fr-FR" sz="3200" b="1" dirty="0">
                <a:solidFill>
                  <a:schemeClr val="accent2"/>
                </a:solidFill>
                <a:latin typeface="Arial Narrow" panose="020B0606020202030204" pitchFamily="34" charset="0"/>
              </a:rPr>
              <a:t>Physiopathologie, Orientation diagnostique, Traitement. </a:t>
            </a:r>
            <a:endParaRPr lang="fr-FR" sz="3200" dirty="0">
              <a:solidFill>
                <a:schemeClr val="accent2"/>
              </a:solidFill>
              <a:latin typeface="Arial Narrow" panose="020B0606020202030204" pitchFamily="34" charset="0"/>
            </a:endParaRPr>
          </a:p>
        </p:txBody>
      </p:sp>
      <p:sp>
        <p:nvSpPr>
          <p:cNvPr id="5" name="Sous-titre 4"/>
          <p:cNvSpPr>
            <a:spLocks noGrp="1"/>
          </p:cNvSpPr>
          <p:nvPr>
            <p:ph type="subTitle" idx="1"/>
          </p:nvPr>
        </p:nvSpPr>
        <p:spPr>
          <a:xfrm rot="21420000">
            <a:off x="2554286" y="4599913"/>
            <a:ext cx="9755187" cy="550333"/>
          </a:xfrm>
        </p:spPr>
        <p:txBody>
          <a:bodyPr/>
          <a:lstStyle/>
          <a:p>
            <a:pPr algn="ctr"/>
            <a:r>
              <a:rPr lang="fr-FR" b="1" dirty="0">
                <a:solidFill>
                  <a:schemeClr val="bg1"/>
                </a:solidFill>
                <a:latin typeface="Arial Narrow" panose="020B0606020202030204" pitchFamily="34" charset="0"/>
              </a:rPr>
              <a:t>Pr </a:t>
            </a:r>
            <a:r>
              <a:rPr lang="fr-FR" b="1" dirty="0" err="1">
                <a:solidFill>
                  <a:schemeClr val="bg1"/>
                </a:solidFill>
                <a:latin typeface="Arial Narrow" panose="020B0606020202030204" pitchFamily="34" charset="0"/>
              </a:rPr>
              <a:t>Neirouz</a:t>
            </a:r>
            <a:r>
              <a:rPr lang="fr-FR" b="1" dirty="0">
                <a:solidFill>
                  <a:schemeClr val="bg1"/>
                </a:solidFill>
                <a:latin typeface="Arial Narrow" panose="020B0606020202030204" pitchFamily="34" charset="0"/>
              </a:rPr>
              <a:t> </a:t>
            </a:r>
            <a:r>
              <a:rPr lang="fr-FR" b="1" dirty="0" err="1">
                <a:solidFill>
                  <a:schemeClr val="bg1"/>
                </a:solidFill>
                <a:latin typeface="Arial Narrow" panose="020B0606020202030204" pitchFamily="34" charset="0"/>
              </a:rPr>
              <a:t>ghannouchi</a:t>
            </a:r>
            <a:endParaRPr lang="fr-FR" b="1" dirty="0">
              <a:solidFill>
                <a:schemeClr val="bg1"/>
              </a:solidFill>
              <a:latin typeface="Arial Narrow" panose="020B0606020202030204" pitchFamily="34" charset="0"/>
            </a:endParaRPr>
          </a:p>
          <a:p>
            <a:pPr algn="ctr"/>
            <a:r>
              <a:rPr lang="fr-FR" b="1" dirty="0" smtClean="0">
                <a:solidFill>
                  <a:schemeClr val="bg1"/>
                </a:solidFill>
                <a:latin typeface="Arial Narrow" panose="020B0606020202030204" pitchFamily="34" charset="0"/>
              </a:rPr>
              <a:t>Pr ag </a:t>
            </a:r>
            <a:r>
              <a:rPr lang="fr-FR" b="1" dirty="0">
                <a:solidFill>
                  <a:schemeClr val="bg1"/>
                </a:solidFill>
                <a:latin typeface="Arial Narrow" panose="020B0606020202030204" pitchFamily="34" charset="0"/>
              </a:rPr>
              <a:t>Wissal BEN YAHIA</a:t>
            </a:r>
          </a:p>
          <a:p>
            <a:endParaRPr lang="fr-FR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  <p:sp>
        <p:nvSpPr>
          <p:cNvPr id="6" name="Sous-titre 4"/>
          <p:cNvSpPr txBox="1">
            <a:spLocks/>
          </p:cNvSpPr>
          <p:nvPr/>
        </p:nvSpPr>
        <p:spPr>
          <a:xfrm rot="21420000">
            <a:off x="168401" y="5129976"/>
            <a:ext cx="3653398" cy="55033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r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2800" kern="1200" cap="all" baseline="0">
                <a:solidFill>
                  <a:schemeClr val="bg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b="1" smtClean="0">
                <a:solidFill>
                  <a:schemeClr val="bg1"/>
                </a:solidFill>
                <a:latin typeface="Arial Narrow" panose="020B0606020202030204" pitchFamily="34" charset="0"/>
              </a:rPr>
              <a:t>17/07/2025</a:t>
            </a:r>
            <a:endParaRPr lang="fr-FR" b="1" dirty="0">
              <a:solidFill>
                <a:schemeClr val="bg1"/>
              </a:solidFill>
              <a:latin typeface="Arial Narrow" panose="020B0606020202030204" pitchFamily="34" charset="0"/>
            </a:endParaRPr>
          </a:p>
          <a:p>
            <a:endParaRPr lang="fr-FR" dirty="0">
              <a:solidFill>
                <a:schemeClr val="bg1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2915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>
            <a:extLst>
              <a:ext uri="{FF2B5EF4-FFF2-40B4-BE49-F238E27FC236}">
                <a16:creationId xmlns:a16="http://schemas.microsoft.com/office/drawing/2014/main" id="{CCB86D27-68F1-47B9-A6E0-2CEAFAEB2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594" y="719760"/>
            <a:ext cx="10396882" cy="550572"/>
          </a:xfrm>
        </p:spPr>
        <p:txBody>
          <a:bodyPr rtlCol="0">
            <a:normAutofit fontScale="90000"/>
          </a:bodyPr>
          <a:lstStyle/>
          <a:p>
            <a:pPr algn="ctr"/>
            <a:r>
              <a:rPr lang="fr-FR" dirty="0">
                <a:solidFill>
                  <a:srgbClr val="0070C0"/>
                </a:solidFill>
              </a:rPr>
              <a:t>    </a:t>
            </a:r>
            <a:r>
              <a:rPr lang="fr-FR" b="1" dirty="0">
                <a:solidFill>
                  <a:srgbClr val="0070C0"/>
                </a:solidFill>
                <a:latin typeface="Arial Narrow" panose="020B0606020202030204" pitchFamily="34" charset="0"/>
              </a:rPr>
              <a:t>Objectifs EDUCATIONNELS</a:t>
            </a:r>
            <a:r>
              <a:rPr lang="fr-FR" dirty="0">
                <a:solidFill>
                  <a:srgbClr val="0070C0"/>
                </a:solidFill>
              </a:rPr>
              <a:t/>
            </a:r>
            <a:br>
              <a:rPr lang="fr-FR" dirty="0">
                <a:solidFill>
                  <a:srgbClr val="0070C0"/>
                </a:solidFill>
              </a:rPr>
            </a:br>
            <a:endParaRPr lang="fr-FR" dirty="0">
              <a:solidFill>
                <a:srgbClr val="0070C0"/>
              </a:solidFill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262" y="-1"/>
            <a:ext cx="1603755" cy="1366161"/>
          </a:xfrm>
          <a:prstGeom prst="rect">
            <a:avLst/>
          </a:prstGeom>
        </p:spPr>
      </p:pic>
      <p:sp>
        <p:nvSpPr>
          <p:cNvPr id="6" name="Espace réservé du contenu 2"/>
          <p:cNvSpPr txBox="1">
            <a:spLocks/>
          </p:cNvSpPr>
          <p:nvPr/>
        </p:nvSpPr>
        <p:spPr>
          <a:xfrm>
            <a:off x="193184" y="1093248"/>
            <a:ext cx="11372045" cy="487289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fr-FR" sz="1800" cap="none" dirty="0">
                <a:latin typeface="Arial" panose="020B0604020202020204" pitchFamily="34" charset="0"/>
                <a:cs typeface="Arial" panose="020B0604020202020204" pitchFamily="34" charset="0"/>
              </a:rPr>
              <a:t>1. Expliquer les </a:t>
            </a:r>
            <a:r>
              <a:rPr lang="fr-FR" sz="1800" b="1" cap="none" dirty="0">
                <a:latin typeface="Arial" panose="020B0604020202020204" pitchFamily="34" charset="0"/>
                <a:cs typeface="Arial" panose="020B0604020202020204" pitchFamily="34" charset="0"/>
              </a:rPr>
              <a:t>mécanismes physiopathologiques</a:t>
            </a:r>
            <a:r>
              <a:rPr lang="fr-FR" sz="1800" cap="none" dirty="0">
                <a:latin typeface="Arial" panose="020B0604020202020204" pitchFamily="34" charset="0"/>
                <a:cs typeface="Arial" panose="020B0604020202020204" pitchFamily="34" charset="0"/>
              </a:rPr>
              <a:t> induisant une hypercalcémie.</a:t>
            </a:r>
          </a:p>
          <a:p>
            <a:pPr marL="0" indent="0" algn="just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fr-FR" sz="1800" cap="none" dirty="0">
                <a:latin typeface="Arial" panose="020B0604020202020204" pitchFamily="34" charset="0"/>
                <a:cs typeface="Arial" panose="020B0604020202020204" pitchFamily="34" charset="0"/>
              </a:rPr>
              <a:t>2. Décrire les </a:t>
            </a:r>
            <a:r>
              <a:rPr lang="fr-FR" sz="1800" b="1" cap="none" dirty="0">
                <a:latin typeface="Arial" panose="020B0604020202020204" pitchFamily="34" charset="0"/>
                <a:cs typeface="Arial" panose="020B0604020202020204" pitchFamily="34" charset="0"/>
              </a:rPr>
              <a:t>conséquences physiopathologiques </a:t>
            </a:r>
            <a:r>
              <a:rPr lang="fr-FR" sz="1800" cap="none" dirty="0">
                <a:latin typeface="Arial" panose="020B0604020202020204" pitchFamily="34" charset="0"/>
                <a:cs typeface="Arial" panose="020B0604020202020204" pitchFamily="34" charset="0"/>
              </a:rPr>
              <a:t>de l’hypercalcémie.</a:t>
            </a:r>
          </a:p>
          <a:p>
            <a:pPr marL="0" indent="0" algn="just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fr-FR" sz="1800" cap="none" dirty="0">
                <a:latin typeface="Arial" panose="020B0604020202020204" pitchFamily="34" charset="0"/>
                <a:cs typeface="Arial" panose="020B0604020202020204" pitchFamily="34" charset="0"/>
              </a:rPr>
              <a:t>3. Réunir les éléments cliniques et paracliniques en faveur du </a:t>
            </a:r>
            <a:r>
              <a:rPr lang="fr-FR" sz="1800" b="1" cap="none" dirty="0">
                <a:latin typeface="Arial" panose="020B0604020202020204" pitchFamily="34" charset="0"/>
                <a:cs typeface="Arial" panose="020B0604020202020204" pitchFamily="34" charset="0"/>
              </a:rPr>
              <a:t>diagnostic positif </a:t>
            </a:r>
            <a:r>
              <a:rPr lang="fr-FR" sz="1800" cap="none" dirty="0">
                <a:latin typeface="Arial" panose="020B0604020202020204" pitchFamily="34" charset="0"/>
                <a:cs typeface="Arial" panose="020B0604020202020204" pitchFamily="34" charset="0"/>
              </a:rPr>
              <a:t>d’une hypercalcémie.</a:t>
            </a:r>
          </a:p>
          <a:p>
            <a:pPr marL="0" indent="0" algn="just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fr-FR" sz="1800" cap="none" dirty="0">
                <a:latin typeface="Arial" panose="020B0604020202020204" pitchFamily="34" charset="0"/>
                <a:cs typeface="Arial" panose="020B0604020202020204" pitchFamily="34" charset="0"/>
              </a:rPr>
              <a:t>4. Réunir les éléments cliniques et paracliniques permettant d’établir le </a:t>
            </a:r>
            <a:r>
              <a:rPr lang="fr-FR" sz="1800" b="1" cap="none" dirty="0">
                <a:latin typeface="Arial" panose="020B0604020202020204" pitchFamily="34" charset="0"/>
                <a:cs typeface="Arial" panose="020B0604020202020204" pitchFamily="34" charset="0"/>
              </a:rPr>
              <a:t>diagnostic étiologique </a:t>
            </a:r>
            <a:r>
              <a:rPr lang="fr-FR" sz="1800" cap="none" dirty="0">
                <a:latin typeface="Arial" panose="020B0604020202020204" pitchFamily="34" charset="0"/>
                <a:cs typeface="Arial" panose="020B0604020202020204" pitchFamily="34" charset="0"/>
              </a:rPr>
              <a:t>de l’hypercalcémie.</a:t>
            </a:r>
          </a:p>
          <a:p>
            <a:pPr marL="0" indent="0" algn="just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fr-FR" sz="1800" cap="none" dirty="0">
                <a:latin typeface="Arial" panose="020B0604020202020204" pitchFamily="34" charset="0"/>
                <a:cs typeface="Arial" panose="020B0604020202020204" pitchFamily="34" charset="0"/>
              </a:rPr>
              <a:t>5. Identifier les manifestations cliniques et biologiques d’une </a:t>
            </a:r>
            <a:r>
              <a:rPr lang="fr-FR" sz="1800" b="1" cap="none" dirty="0">
                <a:latin typeface="Arial" panose="020B0604020202020204" pitchFamily="34" charset="0"/>
                <a:cs typeface="Arial" panose="020B0604020202020204" pitchFamily="34" charset="0"/>
              </a:rPr>
              <a:t>« crise aiguë hypercalcémique » </a:t>
            </a:r>
            <a:r>
              <a:rPr lang="fr-FR" sz="1800" cap="none" dirty="0">
                <a:latin typeface="Arial" panose="020B0604020202020204" pitchFamily="34" charset="0"/>
                <a:cs typeface="Arial" panose="020B0604020202020204" pitchFamily="34" charset="0"/>
              </a:rPr>
              <a:t>en établissant son degré de gravité.</a:t>
            </a:r>
          </a:p>
          <a:p>
            <a:pPr marL="0" indent="0" algn="just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fr-FR" sz="1800" cap="none" dirty="0">
                <a:latin typeface="Arial" panose="020B0604020202020204" pitchFamily="34" charset="0"/>
                <a:cs typeface="Arial" panose="020B0604020202020204" pitchFamily="34" charset="0"/>
              </a:rPr>
              <a:t>6. Planifier la </a:t>
            </a:r>
            <a:r>
              <a:rPr lang="fr-FR" sz="1800" b="1" cap="none" dirty="0">
                <a:latin typeface="Arial" panose="020B0604020202020204" pitchFamily="34" charset="0"/>
                <a:cs typeface="Arial" panose="020B0604020202020204" pitchFamily="34" charset="0"/>
              </a:rPr>
              <a:t>prise en charge </a:t>
            </a:r>
            <a:r>
              <a:rPr lang="fr-FR" sz="1800" cap="none" dirty="0">
                <a:latin typeface="Arial" panose="020B0604020202020204" pitchFamily="34" charset="0"/>
                <a:cs typeface="Arial" panose="020B0604020202020204" pitchFamily="34" charset="0"/>
              </a:rPr>
              <a:t>symptomatique et étiologique d’une hypercalcémie.</a:t>
            </a:r>
          </a:p>
          <a:p>
            <a:pPr marL="0" indent="0" algn="just">
              <a:lnSpc>
                <a:spcPct val="150000"/>
              </a:lnSpc>
              <a:buFont typeface="Arial" panose="020B0604020202020204" pitchFamily="34" charset="0"/>
              <a:buNone/>
            </a:pPr>
            <a:endParaRPr lang="fr-FR" sz="1800" cap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7738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73101" y="304800"/>
            <a:ext cx="10396882" cy="863600"/>
          </a:xfrm>
        </p:spPr>
        <p:txBody>
          <a:bodyPr>
            <a:normAutofit/>
          </a:bodyPr>
          <a:lstStyle/>
          <a:p>
            <a:pPr algn="ctr"/>
            <a:r>
              <a:rPr lang="fr-FR" sz="4400" dirty="0"/>
              <a:t>Introduction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3"/>
          </p:nvPr>
        </p:nvSpPr>
        <p:spPr>
          <a:xfrm>
            <a:off x="292100" y="1524000"/>
            <a:ext cx="11645900" cy="4193485"/>
          </a:xfrm>
        </p:spPr>
        <p:txBody>
          <a:bodyPr>
            <a:noAutofit/>
          </a:bodyPr>
          <a:lstStyle/>
          <a:p>
            <a:r>
              <a:rPr lang="fr-FR" sz="2400" b="1" cap="none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Problème clinique fréquent: </a:t>
            </a:r>
            <a:r>
              <a:rPr lang="fr-FR" sz="2400" cap="none" dirty="0">
                <a:latin typeface="Arial" pitchFamily="34" charset="0"/>
                <a:cs typeface="Arial" pitchFamily="34" charset="0"/>
              </a:rPr>
              <a:t>Incidence estimée = 500 cas/million d’habitants/an</a:t>
            </a:r>
          </a:p>
          <a:p>
            <a:pPr marL="0" indent="0">
              <a:buNone/>
            </a:pPr>
            <a:endParaRPr lang="fr-FR" sz="2400" b="1" cap="none" dirty="0">
              <a:solidFill>
                <a:srgbClr val="002060"/>
              </a:solidFill>
              <a:latin typeface="Arial" pitchFamily="34" charset="0"/>
              <a:cs typeface="Arial" pitchFamily="34" charset="0"/>
            </a:endParaRPr>
          </a:p>
          <a:p>
            <a:r>
              <a:rPr lang="fr-FR" sz="2400" b="1" cap="none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L’expression clinique est très variable. </a:t>
            </a:r>
          </a:p>
          <a:p>
            <a:pPr marL="0" indent="0">
              <a:buNone/>
            </a:pPr>
            <a:r>
              <a:rPr lang="fr-FR" sz="2400" b="1" cap="none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     Dépend du </a:t>
            </a:r>
            <a:r>
              <a:rPr lang="fr-FR" sz="2400" b="1" cap="none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taux de </a:t>
            </a:r>
            <a:r>
              <a:rPr lang="fr-FR" sz="2400" b="1" cap="none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l’hypercalcémie + sa </a:t>
            </a:r>
            <a:r>
              <a:rPr lang="fr-FR" sz="2400" b="1" cap="none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vitesse</a:t>
            </a:r>
            <a:r>
              <a:rPr lang="fr-FR" sz="2400" b="1" cap="none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 d’installation.</a:t>
            </a:r>
          </a:p>
          <a:p>
            <a:endParaRPr lang="fr-FR" sz="2400" b="1" cap="none" dirty="0">
              <a:solidFill>
                <a:srgbClr val="002060"/>
              </a:solidFill>
              <a:latin typeface="Arial" pitchFamily="34" charset="0"/>
              <a:cs typeface="Arial" pitchFamily="34" charset="0"/>
            </a:endParaRPr>
          </a:p>
          <a:p>
            <a:r>
              <a:rPr lang="fr-FR" sz="2400" b="1" cap="none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L’hypercalcémie symptomatique= </a:t>
            </a:r>
            <a:r>
              <a:rPr lang="fr-FR" sz="2400" b="1" cap="none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urgence médicale</a:t>
            </a:r>
          </a:p>
          <a:p>
            <a:endParaRPr lang="fr-FR" sz="2400" cap="none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1621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60044" y="927279"/>
            <a:ext cx="10396882" cy="3361386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ctr"/>
            <a:r>
              <a:rPr lang="fr-FR" sz="6000" dirty="0">
                <a:latin typeface="Arial Black" panose="020B0A04020102020204" pitchFamily="34" charset="0"/>
              </a:rPr>
              <a:t/>
            </a:r>
            <a:br>
              <a:rPr lang="fr-FR" sz="6000" dirty="0">
                <a:latin typeface="Arial Black" panose="020B0A04020102020204" pitchFamily="34" charset="0"/>
              </a:rPr>
            </a:br>
            <a:r>
              <a:rPr lang="fr-FR" sz="6000" dirty="0">
                <a:latin typeface="Arial Black" panose="020B0A04020102020204" pitchFamily="34" charset="0"/>
              </a:rPr>
              <a:t>objectif 1</a:t>
            </a:r>
            <a:br>
              <a:rPr lang="fr-FR" sz="6000" dirty="0">
                <a:latin typeface="Arial Black" panose="020B0A04020102020204" pitchFamily="34" charset="0"/>
              </a:rPr>
            </a:br>
            <a:r>
              <a:rPr lang="fr-FR" sz="4000" b="1" dirty="0">
                <a:latin typeface="Arial" panose="020B0604020202020204" pitchFamily="34" charset="0"/>
                <a:cs typeface="Arial" panose="020B0604020202020204" pitchFamily="34" charset="0"/>
              </a:rPr>
              <a:t>mécanismes physiopathologiques</a:t>
            </a:r>
            <a:r>
              <a:rPr lang="fr-FR" sz="6000" dirty="0">
                <a:latin typeface="Arial Black" panose="020B0A04020102020204" pitchFamily="34" charset="0"/>
              </a:rPr>
              <a:t/>
            </a:r>
            <a:br>
              <a:rPr lang="fr-FR" sz="6000" dirty="0">
                <a:latin typeface="Arial Black" panose="020B0A04020102020204" pitchFamily="34" charset="0"/>
              </a:rPr>
            </a:br>
            <a:endParaRPr lang="fr-FR" sz="60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1113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591285" y="4982692"/>
            <a:ext cx="31618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Réponse : </a:t>
            </a:r>
            <a:r>
              <a:rPr lang="fr-FR" sz="28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fr-FR" sz="28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879F8B-E95D-BC11-1609-C0F1B37FB01B}"/>
              </a:ext>
            </a:extLst>
          </p:cNvPr>
          <p:cNvSpPr txBox="1"/>
          <p:nvPr/>
        </p:nvSpPr>
        <p:spPr>
          <a:xfrm>
            <a:off x="1104404" y="714518"/>
            <a:ext cx="9071996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1. Les valeurs normales de la calcémie totale en mmol/l sont :</a:t>
            </a:r>
          </a:p>
          <a:p>
            <a:pPr lvl="0"/>
            <a:endParaRPr lang="fr-FR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A. Entre 1,2 et 1,6mmol/l</a:t>
            </a:r>
          </a:p>
          <a:p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B. Entre 2,1 et 2,5 mmol/l</a:t>
            </a:r>
          </a:p>
          <a:p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C. Entre 2,2 et 2,6 mmol/l</a:t>
            </a:r>
          </a:p>
          <a:p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D. Entre 2,3 et 2,8mmol/l</a:t>
            </a:r>
          </a:p>
          <a:p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E. Entre 3,2 et 3,6mmol/l</a:t>
            </a:r>
            <a:endParaRPr lang="fr-FR" sz="2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2045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591285" y="4982692"/>
            <a:ext cx="31618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Réponse : </a:t>
            </a:r>
            <a:r>
              <a:rPr lang="fr-FR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  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879F8B-E95D-BC11-1609-C0F1B37FB01B}"/>
              </a:ext>
            </a:extLst>
          </p:cNvPr>
          <p:cNvSpPr txBox="1"/>
          <p:nvPr/>
        </p:nvSpPr>
        <p:spPr>
          <a:xfrm>
            <a:off x="1909822" y="631391"/>
            <a:ext cx="7720314" cy="3529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</a:pPr>
            <a:r>
              <a:rPr lang="fr-FR" sz="28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2. On </a:t>
            </a:r>
            <a:r>
              <a:rPr lang="fr-FR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parle d’une hypercalcémie quand :</a:t>
            </a:r>
          </a:p>
          <a:p>
            <a:pPr lvl="0">
              <a:lnSpc>
                <a:spcPct val="115000"/>
              </a:lnSpc>
            </a:pP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lphaUcPeriod"/>
            </a:pPr>
            <a:r>
              <a:rPr lang="fr-FR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Le seuil de calcium total dépasse 2,5 </a:t>
            </a:r>
            <a:r>
              <a:rPr lang="fr-FR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mmol</a:t>
            </a:r>
            <a:r>
              <a:rPr lang="fr-FR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/l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lphaUcPeriod"/>
            </a:pPr>
            <a:r>
              <a:rPr lang="fr-FR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Le seuil de calcium total dépasse 2,6 </a:t>
            </a:r>
            <a:r>
              <a:rPr lang="fr-FR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mmol</a:t>
            </a:r>
            <a:r>
              <a:rPr lang="fr-FR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/l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lphaUcPeriod"/>
            </a:pPr>
            <a:r>
              <a:rPr lang="fr-FR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Le seuil de calcium ionisé dépasse 1,15 </a:t>
            </a:r>
            <a:r>
              <a:rPr lang="fr-FR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mmol</a:t>
            </a:r>
            <a:r>
              <a:rPr lang="fr-FR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/l 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lphaUcPeriod"/>
            </a:pPr>
            <a:r>
              <a:rPr lang="fr-FR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Le seuil de calcium ionisé dépasse 1,35 </a:t>
            </a:r>
            <a:r>
              <a:rPr lang="fr-FR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mmol</a:t>
            </a:r>
            <a:r>
              <a:rPr lang="fr-FR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/l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+mj-lt"/>
              <a:buAutoNum type="alphaUcPeriod"/>
            </a:pPr>
            <a:r>
              <a:rPr lang="fr-FR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Le seuil de calcium ionisé dépasse 1,65 </a:t>
            </a:r>
            <a:r>
              <a:rPr lang="fr-FR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mmol</a:t>
            </a:r>
            <a:r>
              <a:rPr lang="fr-FR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/l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2045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DC90435-1E8B-E29D-C039-67138F2CF85A}"/>
              </a:ext>
            </a:extLst>
          </p:cNvPr>
          <p:cNvSpPr txBox="1"/>
          <p:nvPr/>
        </p:nvSpPr>
        <p:spPr>
          <a:xfrm>
            <a:off x="1932972" y="918108"/>
            <a:ext cx="7720314" cy="34732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</a:pPr>
            <a:r>
              <a:rPr lang="fr-FR" sz="26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3</a:t>
            </a:r>
            <a:r>
              <a:rPr lang="fr-FR" sz="26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. </a:t>
            </a:r>
            <a:r>
              <a:rPr lang="fr-FR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Le calcium plasmatique total contient :</a:t>
            </a:r>
          </a:p>
          <a:p>
            <a:pPr lvl="0">
              <a:lnSpc>
                <a:spcPct val="115000"/>
              </a:lnSpc>
            </a:pPr>
            <a:endParaRPr lang="en-US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sz="2600" dirty="0" smtClean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Majoritairement le calcium ionisé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sz="2600" dirty="0" smtClean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Le calcium lié aux protéines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sz="2600" dirty="0" smtClean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Le calcium complexé aux cations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sz="2600" dirty="0" smtClean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Le calcium complexé aux citrates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sz="2600" dirty="0" smtClean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Le calcium complexé aux phosphates</a:t>
            </a: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+mj-lt"/>
              <a:buAutoNum type="alphaUcPeriod"/>
            </a:pPr>
            <a:endParaRPr lang="en-US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049FB5C-8C99-A263-7636-2BDA14C3E103}"/>
              </a:ext>
            </a:extLst>
          </p:cNvPr>
          <p:cNvSpPr txBox="1"/>
          <p:nvPr/>
        </p:nvSpPr>
        <p:spPr>
          <a:xfrm>
            <a:off x="591285" y="4994267"/>
            <a:ext cx="35177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Réponse </a:t>
            </a:r>
            <a:r>
              <a:rPr lang="fr-FR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fr-FR" sz="28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ABDE</a:t>
            </a:r>
            <a:endParaRPr lang="fr-FR" sz="28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3162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1123721" y="4461831"/>
            <a:ext cx="31618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Réponse </a:t>
            </a:r>
            <a:r>
              <a:rPr lang="fr-FR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fr-FR" sz="28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 E  </a:t>
            </a:r>
            <a:endParaRPr lang="fr-FR" sz="28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879F8B-E95D-BC11-1609-C0F1B37FB01B}"/>
              </a:ext>
            </a:extLst>
          </p:cNvPr>
          <p:cNvSpPr txBox="1"/>
          <p:nvPr/>
        </p:nvSpPr>
        <p:spPr>
          <a:xfrm>
            <a:off x="1296365" y="631391"/>
            <a:ext cx="8333771" cy="32378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</a:pPr>
            <a:r>
              <a:rPr lang="fr-FR" sz="2800" dirty="0">
                <a:latin typeface="Times New Roman" panose="02020603050405020304" pitchFamily="18" charset="0"/>
                <a:cs typeface="Arial" panose="020B0604020202020204" pitchFamily="34" charset="0"/>
              </a:rPr>
              <a:t>4</a:t>
            </a:r>
            <a:r>
              <a:rPr lang="fr-FR" sz="2800" dirty="0" smtClean="0">
                <a:latin typeface="Times New Roman" panose="02020603050405020304" pitchFamily="18" charset="0"/>
                <a:cs typeface="Arial" panose="020B0604020202020204" pitchFamily="34" charset="0"/>
              </a:rPr>
              <a:t>. </a:t>
            </a:r>
            <a:r>
              <a:rPr lang="fr-FR" sz="2800" dirty="0">
                <a:latin typeface="Times New Roman" panose="02020603050405020304" pitchFamily="18" charset="0"/>
                <a:cs typeface="Arial" panose="020B0604020202020204" pitchFamily="34" charset="0"/>
              </a:rPr>
              <a:t>Une fausse hypercalcémie peut être secondaire à :</a:t>
            </a:r>
          </a:p>
          <a:p>
            <a:pPr lvl="0">
              <a:lnSpc>
                <a:spcPct val="115000"/>
              </a:lnSpc>
            </a:pPr>
            <a:r>
              <a:rPr lang="fr-FR" sz="2800" dirty="0">
                <a:latin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en-US" sz="2800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Une hémodilution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Une hyperprotidémie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Un syndrome néphrotique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Un syndrome de malabsorption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Une déshydratation extracellulaire</a:t>
            </a:r>
            <a:endParaRPr lang="fr-FR" sz="2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9647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C65F7A2-5000-DA37-FE6B-DC6B108C05B7}"/>
              </a:ext>
            </a:extLst>
          </p:cNvPr>
          <p:cNvSpPr txBox="1"/>
          <p:nvPr/>
        </p:nvSpPr>
        <p:spPr>
          <a:xfrm>
            <a:off x="1021577" y="931186"/>
            <a:ext cx="9725592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fr-FR" sz="26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5</a:t>
            </a:r>
            <a:r>
              <a:rPr lang="fr-FR" sz="26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. </a:t>
            </a: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Quelle est la quantité journalière en calcium recommandée pour un adulte jeune?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500 mg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800 mg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1200 mg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1500 mg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2000 mg </a:t>
            </a:r>
            <a:endParaRPr lang="fr-FR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411F42CF-FFD2-A3F1-7C12-CD2EE25268FF}"/>
              </a:ext>
            </a:extLst>
          </p:cNvPr>
          <p:cNvSpPr txBox="1"/>
          <p:nvPr/>
        </p:nvSpPr>
        <p:spPr>
          <a:xfrm>
            <a:off x="591285" y="4982692"/>
            <a:ext cx="31618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Réponse </a:t>
            </a:r>
            <a:r>
              <a:rPr lang="fr-FR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fr-FR" sz="28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 </a:t>
            </a:r>
            <a:endParaRPr lang="fr-FR" sz="28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0897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92E28C-EFC4-EDDC-A08C-11016C73E398}"/>
              </a:ext>
            </a:extLst>
          </p:cNvPr>
          <p:cNvSpPr txBox="1"/>
          <p:nvPr/>
        </p:nvSpPr>
        <p:spPr>
          <a:xfrm>
            <a:off x="1655178" y="918109"/>
            <a:ext cx="8646289" cy="35686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fr-FR" sz="26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6</a:t>
            </a:r>
            <a:r>
              <a:rPr lang="fr-FR" sz="26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. </a:t>
            </a: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Le calcium ionisé dans l'organisme :</a:t>
            </a:r>
          </a:p>
          <a:p>
            <a:pPr lvl="0">
              <a:lnSpc>
                <a:spcPct val="115000"/>
              </a:lnSpc>
            </a:pPr>
            <a:endParaRPr lang="en-US" sz="2600" dirty="0">
              <a:effectLst/>
              <a:latin typeface="Times New Roman" pitchFamily="18" charset="0"/>
              <a:ea typeface="Calibri" panose="020F0502020204030204" pitchFamily="34" charset="0"/>
              <a:cs typeface="Times New Roman" pitchFamily="18" charset="0"/>
            </a:endParaRPr>
          </a:p>
          <a:p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A - Sert principalement de réserve dans les os</a:t>
            </a:r>
          </a:p>
          <a:p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B - Est uniquement une forme inactive de calcium</a:t>
            </a:r>
          </a:p>
          <a:p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C - Intervient dans la conduction nerveuse et la contraction musculaire</a:t>
            </a:r>
          </a:p>
          <a:p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D - Intervient dans la libération des transmetteurs</a:t>
            </a:r>
          </a:p>
          <a:p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E - Régule la sécrétion de PTH</a:t>
            </a:r>
            <a:endParaRPr lang="fr-FR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A8D8737-A8AD-3DFD-8271-C8007EC9953E}"/>
              </a:ext>
            </a:extLst>
          </p:cNvPr>
          <p:cNvSpPr txBox="1"/>
          <p:nvPr/>
        </p:nvSpPr>
        <p:spPr>
          <a:xfrm>
            <a:off x="591285" y="4982692"/>
            <a:ext cx="31618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Réponse </a:t>
            </a:r>
            <a:r>
              <a:rPr lang="fr-FR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fr-FR" sz="28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CDE</a:t>
            </a:r>
            <a:endParaRPr lang="fr-FR" sz="28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230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5802533-623C-3682-0088-D38B84F4791C}"/>
              </a:ext>
            </a:extLst>
          </p:cNvPr>
          <p:cNvSpPr txBox="1"/>
          <p:nvPr/>
        </p:nvSpPr>
        <p:spPr>
          <a:xfrm>
            <a:off x="1009403" y="839856"/>
            <a:ext cx="9685605" cy="2742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tabLst>
                <a:tab pos="180340" algn="l"/>
              </a:tabLst>
            </a:pPr>
            <a:r>
              <a:rPr lang="fr-FR" sz="2600" dirty="0" smtClean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7</a:t>
            </a:r>
            <a:r>
              <a:rPr lang="fr-FR" sz="2600" dirty="0" smtClean="0">
                <a:effectLst/>
                <a:latin typeface="Times New Roman" pitchFamily="18" charset="0"/>
                <a:ea typeface="Calibri" panose="020F0502020204030204" pitchFamily="34" charset="0"/>
                <a:cs typeface="Times New Roman" pitchFamily="18" charset="0"/>
              </a:rPr>
              <a:t>. </a:t>
            </a: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La principale voie d'excrétion du calcium chez un sujet sain est : </a:t>
            </a:r>
          </a:p>
          <a:p>
            <a:pPr lvl="1"/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A. L'excrétion urinaire</a:t>
            </a:r>
          </a:p>
          <a:p>
            <a:pPr lvl="1"/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B. L'excrétion par la bile</a:t>
            </a:r>
          </a:p>
          <a:p>
            <a:pPr lvl="1"/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C. L'excrétion par la peau</a:t>
            </a:r>
          </a:p>
          <a:p>
            <a:pPr lvl="1"/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D. L'excrétion digestive</a:t>
            </a:r>
          </a:p>
          <a:p>
            <a:pPr lvl="1"/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E. L'excrétion par la sueur</a:t>
            </a:r>
            <a:endParaRPr lang="fr-FR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4EFAA2D-07F5-6067-602C-C40CF6D2CE16}"/>
              </a:ext>
            </a:extLst>
          </p:cNvPr>
          <p:cNvSpPr txBox="1"/>
          <p:nvPr/>
        </p:nvSpPr>
        <p:spPr>
          <a:xfrm>
            <a:off x="591285" y="4982692"/>
            <a:ext cx="31618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Réponse </a:t>
            </a:r>
            <a:r>
              <a:rPr lang="fr-FR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fr-FR" sz="28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endParaRPr lang="fr-FR" sz="28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622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5802533-623C-3682-0088-D38B84F4791C}"/>
              </a:ext>
            </a:extLst>
          </p:cNvPr>
          <p:cNvSpPr txBox="1"/>
          <p:nvPr/>
        </p:nvSpPr>
        <p:spPr>
          <a:xfrm>
            <a:off x="1666753" y="839856"/>
            <a:ext cx="9028255" cy="32840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tabLst>
                <a:tab pos="180340" algn="l"/>
              </a:tabLst>
            </a:pPr>
            <a:r>
              <a:rPr lang="fr-FR" sz="2600" dirty="0" smtClean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8</a:t>
            </a:r>
            <a:r>
              <a:rPr lang="fr-FR" sz="26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. La régulation hormonale du métabolisme phosphocalcique se fait au niveau :</a:t>
            </a:r>
            <a:endParaRPr lang="en-US" sz="26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lphaUcPeriod"/>
            </a:pPr>
            <a:r>
              <a:rPr lang="fr-FR" sz="26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De </a:t>
            </a:r>
            <a:r>
              <a:rPr lang="fr-FR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l’os </a:t>
            </a:r>
            <a:endParaRPr lang="en-US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lphaUcPeriod"/>
            </a:pPr>
            <a:r>
              <a:rPr lang="fr-FR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Du rein</a:t>
            </a:r>
            <a:endParaRPr lang="en-US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lphaUcPeriod"/>
            </a:pPr>
            <a:r>
              <a:rPr lang="fr-FR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De la peau</a:t>
            </a:r>
            <a:endParaRPr lang="en-US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lphaUcPeriod"/>
            </a:pPr>
            <a:r>
              <a:rPr lang="fr-FR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De la thyroïde</a:t>
            </a:r>
            <a:endParaRPr lang="en-US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+mj-lt"/>
              <a:buAutoNum type="alphaUcPeriod"/>
            </a:pPr>
            <a:r>
              <a:rPr lang="fr-FR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Du tube digestif</a:t>
            </a:r>
            <a:r>
              <a:rPr lang="fr-FR" sz="2600" u="sng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endParaRPr lang="en-US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4EFAA2D-07F5-6067-602C-C40CF6D2CE16}"/>
              </a:ext>
            </a:extLst>
          </p:cNvPr>
          <p:cNvSpPr txBox="1"/>
          <p:nvPr/>
        </p:nvSpPr>
        <p:spPr>
          <a:xfrm>
            <a:off x="591285" y="4982692"/>
            <a:ext cx="31618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Réponse : </a:t>
            </a:r>
            <a:r>
              <a:rPr lang="fr-FR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 B  E</a:t>
            </a:r>
          </a:p>
        </p:txBody>
      </p:sp>
    </p:spTree>
    <p:extLst>
      <p:ext uri="{BB962C8B-B14F-4D97-AF65-F5344CB8AC3E}">
        <p14:creationId xmlns:p14="http://schemas.microsoft.com/office/powerpoint/2010/main" val="254622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5802533-623C-3682-0088-D38B84F4791C}"/>
              </a:ext>
            </a:extLst>
          </p:cNvPr>
          <p:cNvSpPr txBox="1"/>
          <p:nvPr/>
        </p:nvSpPr>
        <p:spPr>
          <a:xfrm>
            <a:off x="1666753" y="839856"/>
            <a:ext cx="9028255" cy="2742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tabLst>
                <a:tab pos="180340" algn="l"/>
              </a:tabLst>
            </a:pPr>
            <a:r>
              <a:rPr lang="fr-FR" sz="26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9. </a:t>
            </a: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La (Les) hormone(s) </a:t>
            </a:r>
            <a:r>
              <a:rPr lang="fr-FR" sz="2800" dirty="0" err="1" smtClean="0">
                <a:latin typeface="Times New Roman" pitchFamily="18" charset="0"/>
                <a:cs typeface="Times New Roman" pitchFamily="18" charset="0"/>
              </a:rPr>
              <a:t>hypocalcémiante</a:t>
            </a: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(s) est (sont) : </a:t>
            </a:r>
          </a:p>
          <a:p>
            <a:pPr lvl="1"/>
            <a:r>
              <a:rPr lang="it-IT" sz="2800" dirty="0" smtClean="0">
                <a:latin typeface="Times New Roman" pitchFamily="18" charset="0"/>
                <a:cs typeface="Times New Roman" pitchFamily="18" charset="0"/>
              </a:rPr>
              <a:t>A. L'insuline</a:t>
            </a:r>
            <a:endParaRPr lang="fr-FR" sz="2800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it-IT" sz="2800" dirty="0" smtClean="0">
                <a:latin typeface="Times New Roman" pitchFamily="18" charset="0"/>
                <a:cs typeface="Times New Roman" pitchFamily="18" charset="0"/>
              </a:rPr>
              <a:t>B. Le calcitriol</a:t>
            </a:r>
            <a:endParaRPr lang="fr-FR" sz="2800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it-IT" sz="2800" dirty="0" smtClean="0">
                <a:latin typeface="Times New Roman" pitchFamily="18" charset="0"/>
                <a:cs typeface="Times New Roman" pitchFamily="18" charset="0"/>
              </a:rPr>
              <a:t>C. La calcitonine</a:t>
            </a:r>
            <a:endParaRPr lang="fr-FR" sz="2800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it-IT" sz="2800" dirty="0" smtClean="0">
                <a:latin typeface="Times New Roman" pitchFamily="18" charset="0"/>
                <a:cs typeface="Times New Roman" pitchFamily="18" charset="0"/>
              </a:rPr>
              <a:t>D. La parathormone </a:t>
            </a:r>
            <a:endParaRPr lang="fr-FR" sz="2800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E. L'aldostérone</a:t>
            </a:r>
            <a:endParaRPr lang="fr-FR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4EFAA2D-07F5-6067-602C-C40CF6D2CE16}"/>
              </a:ext>
            </a:extLst>
          </p:cNvPr>
          <p:cNvSpPr txBox="1"/>
          <p:nvPr/>
        </p:nvSpPr>
        <p:spPr>
          <a:xfrm>
            <a:off x="591285" y="4982692"/>
            <a:ext cx="31618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Réponse : </a:t>
            </a:r>
            <a:r>
              <a:rPr lang="fr-FR" sz="28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fr-FR" sz="28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622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5802533-623C-3682-0088-D38B84F4791C}"/>
              </a:ext>
            </a:extLst>
          </p:cNvPr>
          <p:cNvSpPr txBox="1"/>
          <p:nvPr/>
        </p:nvSpPr>
        <p:spPr>
          <a:xfrm>
            <a:off x="1666753" y="839856"/>
            <a:ext cx="9028255" cy="32378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tabLst>
                <a:tab pos="180340" algn="l"/>
              </a:tabLst>
            </a:pPr>
            <a:r>
              <a:rPr lang="fr-FR" sz="26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10. </a:t>
            </a: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Quelle est l’hormone sécrétée par les cellules C de la thyroïde?</a:t>
            </a:r>
          </a:p>
          <a:p>
            <a:r>
              <a:rPr lang="it-IT" sz="2800" dirty="0" smtClean="0">
                <a:latin typeface="Times New Roman" pitchFamily="18" charset="0"/>
                <a:cs typeface="Times New Roman" pitchFamily="18" charset="0"/>
              </a:rPr>
              <a:t>A. La PTH</a:t>
            </a:r>
            <a:endParaRPr lang="fr-FR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it-IT" sz="2800" dirty="0" smtClean="0">
                <a:latin typeface="Times New Roman" pitchFamily="18" charset="0"/>
                <a:cs typeface="Times New Roman" pitchFamily="18" charset="0"/>
              </a:rPr>
              <a:t>B. La calcitonine</a:t>
            </a:r>
            <a:endParaRPr lang="fr-FR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C. Le </a:t>
            </a:r>
            <a:r>
              <a:rPr lang="fr-FR" sz="2800" dirty="0" err="1" smtClean="0">
                <a:latin typeface="Times New Roman" pitchFamily="18" charset="0"/>
                <a:cs typeface="Times New Roman" pitchFamily="18" charset="0"/>
              </a:rPr>
              <a:t>calcitriol</a:t>
            </a:r>
            <a:endParaRPr lang="fr-FR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D. L'insuline</a:t>
            </a:r>
          </a:p>
          <a:p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E. L'aldostérone</a:t>
            </a:r>
            <a:endParaRPr lang="fr-FR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4EFAA2D-07F5-6067-602C-C40CF6D2CE16}"/>
              </a:ext>
            </a:extLst>
          </p:cNvPr>
          <p:cNvSpPr txBox="1"/>
          <p:nvPr/>
        </p:nvSpPr>
        <p:spPr>
          <a:xfrm>
            <a:off x="591285" y="4982692"/>
            <a:ext cx="31618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Réponse : </a:t>
            </a:r>
            <a:r>
              <a:rPr lang="fr-FR" sz="28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fr-FR" sz="28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622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D7B9CA9-FEB9-2372-3723-A342ABB99C85}"/>
              </a:ext>
            </a:extLst>
          </p:cNvPr>
          <p:cNvSpPr txBox="1"/>
          <p:nvPr/>
        </p:nvSpPr>
        <p:spPr>
          <a:xfrm>
            <a:off x="1736202" y="802361"/>
            <a:ext cx="9120851" cy="32840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tabLst>
                <a:tab pos="180340" algn="l"/>
              </a:tabLst>
            </a:pPr>
            <a:r>
              <a:rPr lang="en-US" sz="26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11. </a:t>
            </a:r>
            <a:r>
              <a:rPr lang="fr-FR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La parathormone (PTH) est une hormone qui:</a:t>
            </a:r>
          </a:p>
          <a:p>
            <a:pPr lvl="0">
              <a:lnSpc>
                <a:spcPct val="115000"/>
              </a:lnSpc>
              <a:tabLst>
                <a:tab pos="180340" algn="l"/>
              </a:tabLst>
            </a:pPr>
            <a:endParaRPr lang="en-US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lphaUcPeriod"/>
            </a:pPr>
            <a:r>
              <a:rPr lang="fr-FR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Augmente la réabsorption urinaire du calcium</a:t>
            </a:r>
            <a:endParaRPr lang="en-US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lphaUcPeriod"/>
            </a:pPr>
            <a:r>
              <a:rPr lang="fr-FR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Diminue l’excrétion urinaire du phosphore</a:t>
            </a:r>
            <a:endParaRPr lang="en-US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lphaUcPeriod"/>
            </a:pPr>
            <a:r>
              <a:rPr lang="fr-FR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Stimule directement les ostéoblastes </a:t>
            </a:r>
            <a:endParaRPr lang="en-US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lphaUcPeriod"/>
            </a:pPr>
            <a:r>
              <a:rPr lang="fr-FR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Est régulée par le taux du calcium plasmatique </a:t>
            </a:r>
            <a:endParaRPr lang="en-US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+mj-lt"/>
              <a:buAutoNum type="alphaUcPeriod"/>
            </a:pPr>
            <a:r>
              <a:rPr lang="fr-FR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Augmente directement l’absorption digestive du calcium </a:t>
            </a:r>
            <a:endParaRPr lang="en-US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2888A5B6-E797-3DA5-13C4-0F179E344DD7}"/>
              </a:ext>
            </a:extLst>
          </p:cNvPr>
          <p:cNvSpPr txBox="1"/>
          <p:nvPr/>
        </p:nvSpPr>
        <p:spPr>
          <a:xfrm>
            <a:off x="591285" y="4982692"/>
            <a:ext cx="31618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Réponse :  </a:t>
            </a:r>
            <a:r>
              <a:rPr lang="fr-FR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 C D</a:t>
            </a:r>
          </a:p>
        </p:txBody>
      </p:sp>
    </p:spTree>
    <p:extLst>
      <p:ext uri="{BB962C8B-B14F-4D97-AF65-F5344CB8AC3E}">
        <p14:creationId xmlns:p14="http://schemas.microsoft.com/office/powerpoint/2010/main" val="3523667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87A3751-5D1D-B861-D7C5-344EDEEB1559}"/>
              </a:ext>
            </a:extLst>
          </p:cNvPr>
          <p:cNvSpPr txBox="1"/>
          <p:nvPr/>
        </p:nvSpPr>
        <p:spPr>
          <a:xfrm>
            <a:off x="872009" y="644474"/>
            <a:ext cx="9167150" cy="3925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1000"/>
              </a:spcAft>
              <a:tabLst>
                <a:tab pos="180340" algn="l"/>
              </a:tabLst>
            </a:pPr>
            <a:r>
              <a:rPr lang="fr-FR" sz="2600" dirty="0" smtClean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12. </a:t>
            </a:r>
            <a:r>
              <a:rPr lang="fr-FR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Une </a:t>
            </a:r>
            <a:r>
              <a:rPr lang="fr-FR" sz="2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hyperabsorption</a:t>
            </a:r>
            <a:r>
              <a:rPr lang="fr-FR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digestive du calcium est le mécanisme qui explique l’hypercalcémie au cours :</a:t>
            </a:r>
            <a:endParaRPr lang="en-US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800100" lvl="1" indent="-342900">
              <a:lnSpc>
                <a:spcPct val="115000"/>
              </a:lnSpc>
              <a:spcAft>
                <a:spcPts val="1000"/>
              </a:spcAft>
              <a:buFont typeface="+mj-lt"/>
              <a:buAutoNum type="alphaUcPeriod"/>
            </a:pPr>
            <a:r>
              <a:rPr lang="fr-FR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De l'hypervitaminose D </a:t>
            </a:r>
            <a:endParaRPr lang="en-US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800100" lvl="1" indent="-342900">
              <a:lnSpc>
                <a:spcPct val="115000"/>
              </a:lnSpc>
              <a:spcAft>
                <a:spcPts val="1000"/>
              </a:spcAft>
              <a:buFont typeface="+mj-lt"/>
              <a:buAutoNum type="alphaUcPeriod"/>
            </a:pPr>
            <a:r>
              <a:rPr lang="fr-FR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Des métastases osseuses </a:t>
            </a:r>
            <a:endParaRPr lang="en-US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800100" lvl="1" indent="-342900">
              <a:lnSpc>
                <a:spcPct val="115000"/>
              </a:lnSpc>
              <a:spcAft>
                <a:spcPts val="1000"/>
              </a:spcAft>
              <a:buFont typeface="+mj-lt"/>
              <a:buAutoNum type="alphaUcPeriod"/>
            </a:pPr>
            <a:r>
              <a:rPr lang="fr-FR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De la prise de lithium</a:t>
            </a:r>
            <a:endParaRPr lang="en-US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800100" lvl="1" indent="-342900">
              <a:lnSpc>
                <a:spcPct val="115000"/>
              </a:lnSpc>
              <a:spcAft>
                <a:spcPts val="1000"/>
              </a:spcAft>
              <a:buFont typeface="+mj-lt"/>
              <a:buAutoNum type="alphaUcPeriod"/>
            </a:pPr>
            <a:r>
              <a:rPr lang="fr-FR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De l'immobilisation prolongée</a:t>
            </a:r>
            <a:endParaRPr lang="en-US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800100" lvl="1" indent="-342900">
              <a:lnSpc>
                <a:spcPct val="115000"/>
              </a:lnSpc>
              <a:spcAft>
                <a:spcPts val="1000"/>
              </a:spcAft>
              <a:buFont typeface="+mj-lt"/>
              <a:buAutoNum type="alphaUcPeriod"/>
            </a:pPr>
            <a:r>
              <a:rPr lang="fr-FR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Du syndrome de buveur de lait</a:t>
            </a:r>
            <a:endParaRPr lang="en-US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94FFCC4-AF57-98C8-7A5D-C3C08D72780B}"/>
              </a:ext>
            </a:extLst>
          </p:cNvPr>
          <p:cNvSpPr txBox="1"/>
          <p:nvPr/>
        </p:nvSpPr>
        <p:spPr>
          <a:xfrm>
            <a:off x="591285" y="4982692"/>
            <a:ext cx="31618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Réponse : </a:t>
            </a:r>
            <a:r>
              <a:rPr lang="fr-FR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E</a:t>
            </a:r>
          </a:p>
        </p:txBody>
      </p:sp>
    </p:spTree>
    <p:extLst>
      <p:ext uri="{BB962C8B-B14F-4D97-AF65-F5344CB8AC3E}">
        <p14:creationId xmlns:p14="http://schemas.microsoft.com/office/powerpoint/2010/main" val="104115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A572EA8-902D-0C24-62CF-FD5B54DEAB67}"/>
              </a:ext>
            </a:extLst>
          </p:cNvPr>
          <p:cNvSpPr txBox="1"/>
          <p:nvPr/>
        </p:nvSpPr>
        <p:spPr>
          <a:xfrm>
            <a:off x="1713051" y="837086"/>
            <a:ext cx="7859211" cy="32840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tabLst>
                <a:tab pos="180340" algn="l"/>
              </a:tabLst>
            </a:pPr>
            <a:r>
              <a:rPr lang="fr-FR" sz="26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13. </a:t>
            </a:r>
            <a:r>
              <a:rPr lang="fr-FR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La parathormone (PTH):</a:t>
            </a:r>
          </a:p>
          <a:p>
            <a:pPr lvl="0">
              <a:lnSpc>
                <a:spcPct val="115000"/>
              </a:lnSpc>
              <a:tabLst>
                <a:tab pos="180340" algn="l"/>
              </a:tabLst>
            </a:pPr>
            <a:endParaRPr lang="en-US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lphaUcPeriod"/>
            </a:pPr>
            <a:r>
              <a:rPr lang="fr-FR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Provoque une </a:t>
            </a:r>
            <a:r>
              <a:rPr lang="fr-FR" sz="2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hypophosphaturie</a:t>
            </a:r>
            <a:endParaRPr lang="en-US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lphaUcPeriod"/>
            </a:pPr>
            <a:r>
              <a:rPr lang="fr-FR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Augmente la clairance d’eau libre</a:t>
            </a:r>
            <a:endParaRPr lang="en-US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lphaUcPeriod"/>
            </a:pPr>
            <a:r>
              <a:rPr lang="fr-FR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Inhibe la sécrétion du calcitriol </a:t>
            </a:r>
            <a:endParaRPr lang="en-US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lphaUcPeriod"/>
            </a:pPr>
            <a:r>
              <a:rPr lang="fr-FR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Diminue la résorption osseuse</a:t>
            </a:r>
            <a:endParaRPr lang="en-US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+mj-lt"/>
              <a:buAutoNum type="alphaUcPeriod"/>
            </a:pPr>
            <a:r>
              <a:rPr lang="fr-FR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Stimule la 1-alpha hydroxylase rénale</a:t>
            </a:r>
            <a:endParaRPr lang="en-US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CB813E3-DCC9-0302-9057-4338E1998E6D}"/>
              </a:ext>
            </a:extLst>
          </p:cNvPr>
          <p:cNvSpPr txBox="1"/>
          <p:nvPr/>
        </p:nvSpPr>
        <p:spPr>
          <a:xfrm>
            <a:off x="591285" y="4982692"/>
            <a:ext cx="31618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Réponse : </a:t>
            </a:r>
            <a:r>
              <a:rPr lang="fr-FR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 E</a:t>
            </a:r>
          </a:p>
        </p:txBody>
      </p:sp>
    </p:spTree>
    <p:extLst>
      <p:ext uri="{BB962C8B-B14F-4D97-AF65-F5344CB8AC3E}">
        <p14:creationId xmlns:p14="http://schemas.microsoft.com/office/powerpoint/2010/main" val="2041731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4BBBE0B-7380-7C14-C138-D27CD7AC3F24}"/>
              </a:ext>
            </a:extLst>
          </p:cNvPr>
          <p:cNvSpPr txBox="1"/>
          <p:nvPr/>
        </p:nvSpPr>
        <p:spPr>
          <a:xfrm>
            <a:off x="1689902" y="756063"/>
            <a:ext cx="8507393" cy="32840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</a:pPr>
            <a:r>
              <a:rPr lang="fr-FR" sz="26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14. </a:t>
            </a:r>
            <a:r>
              <a:rPr lang="fr-FR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Le calcitriol est une hormone :</a:t>
            </a:r>
          </a:p>
          <a:p>
            <a:pPr lvl="0">
              <a:lnSpc>
                <a:spcPct val="115000"/>
              </a:lnSpc>
            </a:pPr>
            <a:endParaRPr lang="en-US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lphaUcPeriod"/>
            </a:pPr>
            <a:r>
              <a:rPr lang="fr-FR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Hydrophile</a:t>
            </a:r>
            <a:endParaRPr lang="en-US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lphaUcPeriod"/>
            </a:pPr>
            <a:r>
              <a:rPr lang="fr-FR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Régulée par la phosphorémie</a:t>
            </a:r>
            <a:endParaRPr lang="en-US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lphaUcPeriod"/>
            </a:pPr>
            <a:r>
              <a:rPr lang="fr-FR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Régulée par la </a:t>
            </a:r>
            <a:r>
              <a:rPr lang="fr-FR" sz="2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magnésémie</a:t>
            </a:r>
            <a:endParaRPr lang="en-US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lphaUcPeriod"/>
            </a:pPr>
            <a:r>
              <a:rPr lang="fr-FR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Qui augmente la résorption osseuse</a:t>
            </a:r>
            <a:endParaRPr lang="en-US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+mj-lt"/>
              <a:buAutoNum type="alphaUcPeriod"/>
            </a:pPr>
            <a:r>
              <a:rPr lang="fr-FR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Qui a peu d’effets sous forme de vitamine D3</a:t>
            </a:r>
            <a:endParaRPr lang="en-US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5DA79EC-4EB5-FB7E-9E4E-B81B4AC82964}"/>
              </a:ext>
            </a:extLst>
          </p:cNvPr>
          <p:cNvSpPr txBox="1"/>
          <p:nvPr/>
        </p:nvSpPr>
        <p:spPr>
          <a:xfrm>
            <a:off x="591285" y="4982692"/>
            <a:ext cx="31618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Réponse : </a:t>
            </a:r>
            <a:r>
              <a:rPr lang="fr-FR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  D  E</a:t>
            </a:r>
          </a:p>
        </p:txBody>
      </p:sp>
    </p:spTree>
    <p:extLst>
      <p:ext uri="{BB962C8B-B14F-4D97-AF65-F5344CB8AC3E}">
        <p14:creationId xmlns:p14="http://schemas.microsoft.com/office/powerpoint/2010/main" val="3642081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C7C100E-9E28-A795-CC18-5E9742969B8C}"/>
              </a:ext>
            </a:extLst>
          </p:cNvPr>
          <p:cNvSpPr txBox="1"/>
          <p:nvPr/>
        </p:nvSpPr>
        <p:spPr>
          <a:xfrm>
            <a:off x="1689904" y="689386"/>
            <a:ext cx="9086126" cy="320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lang="fr-FR" sz="26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15</a:t>
            </a:r>
            <a:r>
              <a:rPr lang="fr-FR" sz="2800" dirty="0" smtClean="0">
                <a:effectLst/>
                <a:latin typeface="Times New Roman" pitchFamily="18" charset="0"/>
                <a:ea typeface="Calibri" panose="020F0502020204030204" pitchFamily="34" charset="0"/>
                <a:cs typeface="Times New Roman" pitchFamily="18" charset="0"/>
              </a:rPr>
              <a:t>. </a:t>
            </a: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La calcitonine chez l’homme: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Diminue l’absorption digestive du calcium 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Augmente la résorption osseuse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Diminue l’</a:t>
            </a:r>
            <a:r>
              <a:rPr lang="fr-FR" sz="2800" dirty="0" err="1" smtClean="0">
                <a:latin typeface="Times New Roman" pitchFamily="18" charset="0"/>
                <a:cs typeface="Times New Roman" pitchFamily="18" charset="0"/>
              </a:rPr>
              <a:t>ostéoformation</a:t>
            </a: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Est </a:t>
            </a:r>
            <a:r>
              <a:rPr lang="fr-FR" sz="2800" dirty="0" err="1" smtClean="0">
                <a:latin typeface="Times New Roman" pitchFamily="18" charset="0"/>
                <a:cs typeface="Times New Roman" pitchFamily="18" charset="0"/>
              </a:rPr>
              <a:t>hypophosphatémiante</a:t>
            </a: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Est </a:t>
            </a:r>
            <a:r>
              <a:rPr lang="fr-FR" sz="2800" dirty="0" err="1" smtClean="0">
                <a:latin typeface="Times New Roman" pitchFamily="18" charset="0"/>
                <a:cs typeface="Times New Roman" pitchFamily="18" charset="0"/>
              </a:rPr>
              <a:t>hypocalcémiante</a:t>
            </a: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+mj-lt"/>
              <a:buAutoNum type="alphaUcPeriod"/>
            </a:pPr>
            <a:endParaRPr lang="en-US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CE995962-A4D5-6D3B-22FD-5FABC8C74FC1}"/>
              </a:ext>
            </a:extLst>
          </p:cNvPr>
          <p:cNvSpPr txBox="1"/>
          <p:nvPr/>
        </p:nvSpPr>
        <p:spPr>
          <a:xfrm>
            <a:off x="591285" y="4982692"/>
            <a:ext cx="31618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Réponse </a:t>
            </a:r>
            <a:r>
              <a:rPr lang="fr-FR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fr-FR" sz="28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endParaRPr lang="fr-FR" sz="28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0198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C7C100E-9E28-A795-CC18-5E9742969B8C}"/>
              </a:ext>
            </a:extLst>
          </p:cNvPr>
          <p:cNvSpPr txBox="1"/>
          <p:nvPr/>
        </p:nvSpPr>
        <p:spPr>
          <a:xfrm>
            <a:off x="1001135" y="938768"/>
            <a:ext cx="9532278" cy="32378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lang="fr-FR" sz="26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16. </a:t>
            </a: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La vitamine D est une hormone:</a:t>
            </a:r>
          </a:p>
          <a:p>
            <a:pPr marL="514350" lvl="0" indent="-514350">
              <a:lnSpc>
                <a:spcPct val="115000"/>
              </a:lnSpc>
              <a:buFont typeface="+mj-lt"/>
              <a:buAutoNum type="alphaUcPeriod"/>
            </a:pPr>
            <a:endParaRPr lang="en-US" sz="2800" dirty="0">
              <a:effectLst/>
              <a:latin typeface="Times New Roman" pitchFamily="18" charset="0"/>
              <a:ea typeface="Calibri" panose="020F0502020204030204" pitchFamily="34" charset="0"/>
              <a:cs typeface="Times New Roman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Hypercalcémiante et </a:t>
            </a:r>
            <a:r>
              <a:rPr lang="fr-FR" sz="2800" dirty="0" err="1" smtClean="0">
                <a:latin typeface="Times New Roman" pitchFamily="18" charset="0"/>
                <a:cs typeface="Times New Roman" pitchFamily="18" charset="0"/>
              </a:rPr>
              <a:t>hypophosphatémiante</a:t>
            </a: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Qui augmente l’absorption intestinale du calcium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Qui augmente la différenciation </a:t>
            </a:r>
            <a:r>
              <a:rPr lang="fr-FR" sz="2800" dirty="0" err="1" smtClean="0">
                <a:latin typeface="Times New Roman" pitchFamily="18" charset="0"/>
                <a:cs typeface="Times New Roman" pitchFamily="18" charset="0"/>
              </a:rPr>
              <a:t>ostéoclastique</a:t>
            </a:r>
            <a:endParaRPr lang="fr-FR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Qui provient essentiellement de l’alimentation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Inhibe l’effet de la PTH sur la réabsorption rénale du calcium </a:t>
            </a:r>
            <a:endParaRPr lang="fr-FR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CE995962-A4D5-6D3B-22FD-5FABC8C74FC1}"/>
              </a:ext>
            </a:extLst>
          </p:cNvPr>
          <p:cNvSpPr txBox="1"/>
          <p:nvPr/>
        </p:nvSpPr>
        <p:spPr>
          <a:xfrm>
            <a:off x="591285" y="4982692"/>
            <a:ext cx="31618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Réponse </a:t>
            </a:r>
            <a:r>
              <a:rPr lang="fr-FR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fr-FR" sz="28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 D</a:t>
            </a:r>
            <a:endParaRPr lang="fr-FR" sz="28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0198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C7C100E-9E28-A795-CC18-5E9742969B8C}"/>
              </a:ext>
            </a:extLst>
          </p:cNvPr>
          <p:cNvSpPr txBox="1"/>
          <p:nvPr/>
        </p:nvSpPr>
        <p:spPr>
          <a:xfrm>
            <a:off x="799255" y="808140"/>
            <a:ext cx="9086126" cy="373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lang="fr-FR" sz="26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17. </a:t>
            </a: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Quel mécanisme explique l'hypercalcémie liée à une prise excessive de calcium alimentaire ?  </a:t>
            </a:r>
          </a:p>
          <a:p>
            <a:pPr>
              <a:lnSpc>
                <a:spcPct val="115000"/>
              </a:lnSpc>
            </a:pPr>
            <a:endParaRPr lang="fr-FR" sz="2800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A. Une diminution de la résorption osseuse</a:t>
            </a:r>
          </a:p>
          <a:p>
            <a:pPr lvl="1"/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B. Une augmentation de l'absorption digestive du calcium</a:t>
            </a:r>
          </a:p>
          <a:p>
            <a:pPr lvl="1"/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C. Une augmentation de l'excrétion rénale du calcium</a:t>
            </a:r>
          </a:p>
          <a:p>
            <a:pPr lvl="1"/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D. Une diminution de la synthèse de la vitamine D</a:t>
            </a:r>
          </a:p>
          <a:p>
            <a:pPr lvl="1"/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E. Une augmentation de la sécrétion de calcitonine</a:t>
            </a:r>
            <a:endParaRPr lang="en-US" sz="2600" dirty="0">
              <a:effectLst/>
              <a:latin typeface="Times New Roman" pitchFamily="18" charset="0"/>
              <a:ea typeface="Calibri" panose="020F0502020204030204" pitchFamily="34" charset="0"/>
              <a:cs typeface="Times New Roman" pitchFamily="18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CE995962-A4D5-6D3B-22FD-5FABC8C74FC1}"/>
              </a:ext>
            </a:extLst>
          </p:cNvPr>
          <p:cNvSpPr txBox="1"/>
          <p:nvPr/>
        </p:nvSpPr>
        <p:spPr>
          <a:xfrm>
            <a:off x="591285" y="4982692"/>
            <a:ext cx="31618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Réponse : </a:t>
            </a:r>
            <a:r>
              <a:rPr lang="fr-FR" sz="28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fr-FR" sz="28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0198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AutoShape 2" descr="MOST RECAP - MOST"/>
          <p:cNvSpPr>
            <a:spLocks noChangeAspect="1" noChangeArrowheads="1"/>
          </p:cNvSpPr>
          <p:nvPr/>
        </p:nvSpPr>
        <p:spPr bwMode="auto">
          <a:xfrm>
            <a:off x="155575" y="-830263"/>
            <a:ext cx="2638425" cy="1743076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76500" y="885825"/>
            <a:ext cx="5929313" cy="38957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587501" y="215900"/>
            <a:ext cx="4876799" cy="1151965"/>
          </a:xfrm>
        </p:spPr>
        <p:txBody>
          <a:bodyPr/>
          <a:lstStyle/>
          <a:p>
            <a:pPr algn="ctr"/>
            <a:r>
              <a:rPr lang="fr-FR" b="1" dirty="0">
                <a:solidFill>
                  <a:srgbClr val="00B0F0"/>
                </a:solidFill>
                <a:latin typeface="Arial Rounded MT Bold" pitchFamily="34" charset="0"/>
                <a:cs typeface="Arial" pitchFamily="34" charset="0"/>
              </a:rPr>
              <a:t>Calcium</a:t>
            </a:r>
            <a:endParaRPr lang="fr-FR" dirty="0">
              <a:solidFill>
                <a:srgbClr val="00B0F0"/>
              </a:solidFill>
              <a:latin typeface="Arial Rounded MT Bold" pitchFamily="34" charset="0"/>
              <a:cs typeface="Arial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04800" y="1451496"/>
            <a:ext cx="80518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fr-FR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Principal élément minéral de l’organisme.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endParaRPr lang="fr-FR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fr-FR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Constituant majeur du squelette, nécessaire à sa minéralisation.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endParaRPr lang="fr-FR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fr-FR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Il représente </a:t>
            </a:r>
            <a:r>
              <a:rPr lang="fr-FR" sz="24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1,6%</a:t>
            </a:r>
            <a:r>
              <a:rPr lang="fr-FR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la masse corporelle.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endParaRPr lang="fr-FR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L’organisme d’un adulte contient environ </a:t>
            </a:r>
            <a:r>
              <a:rPr lang="fr-FR" sz="24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kg</a:t>
            </a:r>
            <a:r>
              <a:rPr lang="fr-FR" sz="2400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de calcium, dont la quasi-totalité est contenue dans le squelette osseux.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endParaRPr lang="fr-FR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1216" y="1257300"/>
            <a:ext cx="3141596" cy="391876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98501" y="215900"/>
            <a:ext cx="10396882" cy="1151965"/>
          </a:xfrm>
        </p:spPr>
        <p:txBody>
          <a:bodyPr>
            <a:normAutofit/>
          </a:bodyPr>
          <a:lstStyle/>
          <a:p>
            <a:r>
              <a:rPr lang="fr-FR" sz="4000" b="1" dirty="0">
                <a:solidFill>
                  <a:srgbClr val="00B0F0"/>
                </a:solidFill>
                <a:latin typeface="Arial Rounded MT Bold" pitchFamily="34" charset="0"/>
                <a:cs typeface="Arial" pitchFamily="34" charset="0"/>
              </a:rPr>
              <a:t>Rôles du calcium</a:t>
            </a:r>
          </a:p>
        </p:txBody>
      </p:sp>
      <p:sp>
        <p:nvSpPr>
          <p:cNvPr id="4" name="Espace réservé du contenu 2"/>
          <p:cNvSpPr>
            <a:spLocks noGrp="1"/>
          </p:cNvSpPr>
          <p:nvPr>
            <p:ph idx="4294967295"/>
          </p:nvPr>
        </p:nvSpPr>
        <p:spPr>
          <a:xfrm>
            <a:off x="841041" y="1667396"/>
            <a:ext cx="10347659" cy="4111104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fr-FR" sz="2400" b="1" cap="none" dirty="0">
                <a:latin typeface="Arial" panose="020B0604020202020204" pitchFamily="34" charset="0"/>
                <a:cs typeface="Arial" panose="020B0604020202020204" pitchFamily="34" charset="0"/>
              </a:rPr>
              <a:t>Rôle de structure: </a:t>
            </a:r>
            <a:r>
              <a:rPr lang="fr-FR" sz="2400" cap="none" dirty="0">
                <a:latin typeface="Arial" panose="020B0604020202020204" pitchFamily="34" charset="0"/>
                <a:cs typeface="Arial" panose="020B0604020202020204" pitchFamily="34" charset="0"/>
              </a:rPr>
              <a:t>os, dents, tissus mous</a:t>
            </a:r>
          </a:p>
          <a:p>
            <a:pPr>
              <a:lnSpc>
                <a:spcPct val="150000"/>
              </a:lnSpc>
            </a:pPr>
            <a:r>
              <a:rPr lang="fr-FR" sz="2400" b="1" cap="none" dirty="0">
                <a:latin typeface="Arial" panose="020B0604020202020204" pitchFamily="34" charset="0"/>
                <a:cs typeface="Arial" panose="020B0604020202020204" pitchFamily="34" charset="0"/>
              </a:rPr>
              <a:t>Rôle de transmission: </a:t>
            </a:r>
            <a:r>
              <a:rPr lang="fr-FR" sz="2400" cap="none" dirty="0">
                <a:latin typeface="Arial" panose="020B0604020202020204" pitchFamily="34" charset="0"/>
                <a:cs typeface="Arial" panose="020B0604020202020204" pitchFamily="34" charset="0"/>
              </a:rPr>
              <a:t>signaux électriques des cellules excitables= cœur, vaisseaux, muscles lisses, neurones.</a:t>
            </a:r>
          </a:p>
          <a:p>
            <a:pPr>
              <a:lnSpc>
                <a:spcPct val="150000"/>
              </a:lnSpc>
            </a:pPr>
            <a:r>
              <a:rPr lang="fr-FR" sz="2400" b="1" cap="none" dirty="0">
                <a:latin typeface="Arial" panose="020B0604020202020204" pitchFamily="34" charset="0"/>
                <a:cs typeface="Arial" panose="020B0604020202020204" pitchFamily="34" charset="0"/>
              </a:rPr>
              <a:t>Rôle de transport d’information: </a:t>
            </a:r>
            <a:endParaRPr lang="fr-FR" sz="2400" cap="non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02970" lvl="2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r-FR" sz="2400" cap="none" dirty="0">
                <a:latin typeface="Arial" panose="020B0604020202020204" pitchFamily="34" charset="0"/>
                <a:cs typeface="Arial" panose="020B0604020202020204" pitchFamily="34" charset="0"/>
              </a:rPr>
              <a:t>Intracellulaire: 2</a:t>
            </a:r>
            <a:r>
              <a:rPr lang="fr-FR" sz="2400" cap="none" baseline="30000" dirty="0">
                <a:latin typeface="Arial" panose="020B0604020202020204" pitchFamily="34" charset="0"/>
                <a:cs typeface="Arial" panose="020B0604020202020204" pitchFamily="34" charset="0"/>
              </a:rPr>
              <a:t>ème</a:t>
            </a:r>
            <a:r>
              <a:rPr lang="fr-FR" sz="2400" cap="none" dirty="0">
                <a:latin typeface="Arial" panose="020B0604020202020204" pitchFamily="34" charset="0"/>
                <a:cs typeface="Arial" panose="020B0604020202020204" pitchFamily="34" charset="0"/>
              </a:rPr>
              <a:t> messager des hormones</a:t>
            </a:r>
          </a:p>
          <a:p>
            <a:pPr marL="902970" lvl="2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r-FR" sz="2400" cap="none" dirty="0">
                <a:latin typeface="Arial" panose="020B0604020202020204" pitchFamily="34" charset="0"/>
                <a:cs typeface="Arial" panose="020B0604020202020204" pitchFamily="34" charset="0"/>
              </a:rPr>
              <a:t>Extracellulaire: récepteur calcium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3901" y="0"/>
            <a:ext cx="10396882" cy="1151965"/>
          </a:xfrm>
        </p:spPr>
        <p:txBody>
          <a:bodyPr>
            <a:normAutofit/>
          </a:bodyPr>
          <a:lstStyle/>
          <a:p>
            <a:r>
              <a:rPr lang="fr-FR" sz="3600" b="1" dirty="0">
                <a:solidFill>
                  <a:srgbClr val="00B0F0"/>
                </a:solidFill>
                <a:latin typeface="Arial Rounded MT Bold" pitchFamily="34" charset="0"/>
                <a:cs typeface="Arial" pitchFamily="34" charset="0"/>
              </a:rPr>
              <a:t>Fonctions du calcium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270500"/>
            <a:ext cx="11709400" cy="1219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space réservé du contenu 2"/>
          <p:cNvSpPr>
            <a:spLocks noGrp="1"/>
          </p:cNvSpPr>
          <p:nvPr>
            <p:ph idx="4294967295"/>
          </p:nvPr>
        </p:nvSpPr>
        <p:spPr>
          <a:xfrm>
            <a:off x="522536" y="1230784"/>
            <a:ext cx="8568952" cy="5220816"/>
          </a:xfrm>
          <a:prstGeom prst="rect">
            <a:avLst/>
          </a:prstGeom>
          <a:solidFill>
            <a:schemeClr val="bg1"/>
          </a:solidFill>
        </p:spPr>
        <p:txBody>
          <a:bodyPr>
            <a:noAutofit/>
          </a:bodyPr>
          <a:lstStyle/>
          <a:p>
            <a:r>
              <a:rPr lang="fr-FR" sz="2000" b="1" cap="none" dirty="0">
                <a:latin typeface="Arial" panose="020B0604020202020204" pitchFamily="34" charset="0"/>
                <a:cs typeface="Arial" panose="020B0604020202020204" pitchFamily="34" charset="0"/>
              </a:rPr>
              <a:t>Sous forme de sels complexes non solubles:    </a:t>
            </a:r>
            <a:endParaRPr lang="fr-FR" sz="2000" cap="non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fr-FR" sz="2000" cap="none" dirty="0">
                <a:latin typeface="Arial" panose="020B0604020202020204" pitchFamily="34" charset="0"/>
                <a:cs typeface="Arial" panose="020B0604020202020204" pitchFamily="34" charset="0"/>
              </a:rPr>
              <a:t>Fonctions mécaniques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sz="2000" cap="none" dirty="0">
                <a:latin typeface="Arial" panose="020B0604020202020204" pitchFamily="34" charset="0"/>
                <a:cs typeface="Arial" panose="020B0604020202020204" pitchFamily="34" charset="0"/>
              </a:rPr>
              <a:t>Constitution du tissu osseux</a:t>
            </a:r>
          </a:p>
          <a:p>
            <a:pPr marL="0" indent="0">
              <a:buNone/>
            </a:pPr>
            <a:endParaRPr lang="fr-FR" sz="1050" cap="non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2000" b="1" cap="none" dirty="0">
                <a:latin typeface="Arial" panose="020B0604020202020204" pitchFamily="34" charset="0"/>
                <a:cs typeface="Arial" panose="020B0604020202020204" pitchFamily="34" charset="0"/>
              </a:rPr>
              <a:t>Sous forme ionisée: </a:t>
            </a:r>
            <a:endParaRPr lang="fr-FR" sz="2000" cap="non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fr-FR" sz="2000" cap="none" dirty="0">
                <a:latin typeface="Arial" panose="020B0604020202020204" pitchFamily="34" charset="0"/>
                <a:cs typeface="Arial" panose="020B0604020202020204" pitchFamily="34" charset="0"/>
              </a:rPr>
              <a:t>Conduction nerveuse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sz="2000" cap="none" dirty="0">
                <a:latin typeface="Arial" panose="020B0604020202020204" pitchFamily="34" charset="0"/>
                <a:cs typeface="Arial" panose="020B0604020202020204" pitchFamily="34" charset="0"/>
              </a:rPr>
              <a:t>Contraction musculaire (muscles lisses et striés)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sz="2000" cap="none" dirty="0">
                <a:latin typeface="Arial" panose="020B0604020202020204" pitchFamily="34" charset="0"/>
                <a:cs typeface="Arial" panose="020B0604020202020204" pitchFamily="34" charset="0"/>
              </a:rPr>
              <a:t>Coagulation  sanguine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sz="2000" cap="none" dirty="0">
                <a:latin typeface="Arial" panose="020B0604020202020204" pitchFamily="34" charset="0"/>
                <a:cs typeface="Arial" panose="020B0604020202020204" pitchFamily="34" charset="0"/>
              </a:rPr>
              <a:t>Signal intracellulaire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sz="2000" cap="none" dirty="0">
                <a:latin typeface="Arial" panose="020B0604020202020204" pitchFamily="34" charset="0"/>
                <a:cs typeface="Arial" panose="020B0604020202020204" pitchFamily="34" charset="0"/>
              </a:rPr>
              <a:t>Automatisme myocardique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sz="2000" cap="none" dirty="0">
                <a:latin typeface="Arial" panose="020B0604020202020204" pitchFamily="34" charset="0"/>
                <a:cs typeface="Arial" panose="020B0604020202020204" pitchFamily="34" charset="0"/>
              </a:rPr>
              <a:t>Stabilité des membranes cellulaires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fr-FR" sz="2000" cap="none" dirty="0">
                <a:latin typeface="Arial" panose="020B0604020202020204" pitchFamily="34" charset="0"/>
                <a:cs typeface="Arial" panose="020B0604020202020204" pitchFamily="34" charset="0"/>
              </a:rPr>
              <a:t>Sécrétion hormonale endocrines et exocrines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contenu 2"/>
          <p:cNvSpPr txBox="1">
            <a:spLocks/>
          </p:cNvSpPr>
          <p:nvPr/>
        </p:nvSpPr>
        <p:spPr>
          <a:xfrm>
            <a:off x="508000" y="1452546"/>
            <a:ext cx="10909300" cy="3970354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endParaRPr lang="fr-FR" sz="2800" b="1" cap="none" dirty="0">
              <a:solidFill>
                <a:schemeClr val="accent1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algn="ctr">
              <a:buFont typeface="Arial" panose="020B0604020202020204" pitchFamily="34" charset="0"/>
              <a:buNone/>
            </a:pPr>
            <a:r>
              <a:rPr lang="fr-FR" sz="2800" b="1" cap="none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Calcémie totale : VN= 2,2 - 2,6 mmol/l (88-104 mg/l)</a:t>
            </a:r>
          </a:p>
          <a:p>
            <a:endParaRPr lang="fr-FR" sz="2800" cap="none" dirty="0">
              <a:solidFill>
                <a:schemeClr val="tx1">
                  <a:lumMod val="85000"/>
                  <a:lumOff val="1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endParaRPr lang="fr-FR" sz="2800" cap="none" dirty="0">
              <a:solidFill>
                <a:schemeClr val="tx1">
                  <a:lumMod val="85000"/>
                  <a:lumOff val="1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algn="ctr">
              <a:buFont typeface="Arial" panose="020B0604020202020204" pitchFamily="34" charset="0"/>
              <a:buNone/>
            </a:pPr>
            <a:r>
              <a:rPr lang="fr-FR" sz="2800" b="1" cap="none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Hypercalcémie = calcium total sanguin &gt; 2,6 mmol/l</a:t>
            </a:r>
          </a:p>
          <a:p>
            <a:endParaRPr lang="fr-FR" sz="2800" cap="none" dirty="0">
              <a:solidFill>
                <a:schemeClr val="tx1">
                  <a:lumMod val="85000"/>
                  <a:lumOff val="1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endParaRPr lang="fr-FR" sz="2800" cap="none" dirty="0">
              <a:solidFill>
                <a:schemeClr val="tx1">
                  <a:lumMod val="85000"/>
                  <a:lumOff val="1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à coins arrondis 4"/>
          <p:cNvSpPr/>
          <p:nvPr/>
        </p:nvSpPr>
        <p:spPr>
          <a:xfrm>
            <a:off x="1333500" y="1651000"/>
            <a:ext cx="9347200" cy="143667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à coins arrondis 5"/>
          <p:cNvSpPr/>
          <p:nvPr/>
        </p:nvSpPr>
        <p:spPr>
          <a:xfrm>
            <a:off x="1382892" y="3606800"/>
            <a:ext cx="9348608" cy="1435100"/>
          </a:xfrm>
          <a:prstGeom prst="roundRect">
            <a:avLst/>
          </a:prstGeom>
          <a:noFill/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C00000"/>
              </a:solidFill>
            </a:endParaRPr>
          </a:p>
        </p:txBody>
      </p:sp>
      <p:sp>
        <p:nvSpPr>
          <p:cNvPr id="7" name="Titre 1"/>
          <p:cNvSpPr>
            <a:spLocks noGrp="1"/>
          </p:cNvSpPr>
          <p:nvPr>
            <p:ph type="title"/>
          </p:nvPr>
        </p:nvSpPr>
        <p:spPr>
          <a:xfrm>
            <a:off x="673101" y="304800"/>
            <a:ext cx="10396882" cy="863600"/>
          </a:xfrm>
        </p:spPr>
        <p:txBody>
          <a:bodyPr>
            <a:normAutofit/>
          </a:bodyPr>
          <a:lstStyle/>
          <a:p>
            <a:pPr algn="ctr"/>
            <a:r>
              <a:rPr lang="fr-FR" sz="4400" dirty="0"/>
              <a:t>Diagnostic = biologique</a:t>
            </a:r>
          </a:p>
        </p:txBody>
      </p:sp>
      <p:sp>
        <p:nvSpPr>
          <p:cNvPr id="2" name="Ellipse 1"/>
          <p:cNvSpPr/>
          <p:nvPr/>
        </p:nvSpPr>
        <p:spPr>
          <a:xfrm>
            <a:off x="8421478" y="1000930"/>
            <a:ext cx="1685581" cy="110168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X 40</a:t>
            </a:r>
          </a:p>
        </p:txBody>
      </p:sp>
    </p:spTree>
    <p:extLst>
      <p:ext uri="{BB962C8B-B14F-4D97-AF65-F5344CB8AC3E}">
        <p14:creationId xmlns:p14="http://schemas.microsoft.com/office/powerpoint/2010/main" val="2615292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35001" y="342900"/>
            <a:ext cx="10396882" cy="1151965"/>
          </a:xfrm>
        </p:spPr>
        <p:txBody>
          <a:bodyPr>
            <a:normAutofit/>
          </a:bodyPr>
          <a:lstStyle/>
          <a:p>
            <a:pPr algn="ctr"/>
            <a:r>
              <a:rPr lang="fr-FR" sz="4400" dirty="0"/>
              <a:t>Fausses hypercalcémies</a:t>
            </a:r>
          </a:p>
        </p:txBody>
      </p:sp>
      <p:sp>
        <p:nvSpPr>
          <p:cNvPr id="4" name="Espace réservé du contenu 2"/>
          <p:cNvSpPr>
            <a:spLocks noGrp="1"/>
          </p:cNvSpPr>
          <p:nvPr>
            <p:ph idx="4294967295"/>
          </p:nvPr>
        </p:nvSpPr>
        <p:spPr>
          <a:xfrm>
            <a:off x="522412" y="1833558"/>
            <a:ext cx="10805988" cy="3530600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indent="0">
              <a:buFontTx/>
              <a:buChar char="-"/>
            </a:pPr>
            <a:r>
              <a:rPr lang="fr-FR" sz="2400" b="1" cap="none" dirty="0">
                <a:latin typeface="Arial" pitchFamily="34" charset="0"/>
                <a:cs typeface="Arial" pitchFamily="34" charset="0"/>
              </a:rPr>
              <a:t> Hémoconcentration</a:t>
            </a:r>
            <a:r>
              <a:rPr lang="fr-FR" sz="2400" cap="none" dirty="0">
                <a:latin typeface="Arial" pitchFamily="34" charset="0"/>
                <a:cs typeface="Arial" pitchFamily="34" charset="0"/>
              </a:rPr>
              <a:t> ou </a:t>
            </a:r>
            <a:r>
              <a:rPr lang="fr-FR" sz="2400" b="1" cap="none" dirty="0">
                <a:latin typeface="Arial" pitchFamily="34" charset="0"/>
                <a:cs typeface="Arial" pitchFamily="34" charset="0"/>
              </a:rPr>
              <a:t>déshydratation </a:t>
            </a:r>
            <a:r>
              <a:rPr lang="fr-FR" sz="2400" b="1" cap="none" dirty="0" err="1">
                <a:latin typeface="Arial" pitchFamily="34" charset="0"/>
                <a:cs typeface="Arial" pitchFamily="34" charset="0"/>
              </a:rPr>
              <a:t>extra-cellulaire</a:t>
            </a:r>
            <a:endParaRPr lang="fr-FR" sz="2400" b="1" cap="none" dirty="0">
              <a:latin typeface="Arial" pitchFamily="34" charset="0"/>
              <a:cs typeface="Arial" pitchFamily="34" charset="0"/>
            </a:endParaRPr>
          </a:p>
          <a:p>
            <a:pPr marL="0" indent="0">
              <a:buFontTx/>
              <a:buChar char="-"/>
            </a:pPr>
            <a:endParaRPr lang="fr-FR" sz="2400" b="1" cap="none" dirty="0">
              <a:latin typeface="Arial" pitchFamily="34" charset="0"/>
              <a:cs typeface="Arial" pitchFamily="34" charset="0"/>
            </a:endParaRPr>
          </a:p>
          <a:p>
            <a:pPr>
              <a:buFontTx/>
              <a:buChar char="-"/>
            </a:pPr>
            <a:r>
              <a:rPr lang="fr-FR" sz="2400" b="1" cap="none" dirty="0">
                <a:latin typeface="Arial" pitchFamily="34" charset="0"/>
                <a:cs typeface="Arial" pitchFamily="34" charset="0"/>
              </a:rPr>
              <a:t>Hyperprotidémie </a:t>
            </a:r>
          </a:p>
          <a:p>
            <a:pPr>
              <a:buFontTx/>
              <a:buChar char="-"/>
            </a:pPr>
            <a:endParaRPr lang="fr-FR" sz="2400" b="1" cap="none" dirty="0">
              <a:latin typeface="Arial" pitchFamily="34" charset="0"/>
              <a:cs typeface="Arial" pitchFamily="34" charset="0"/>
            </a:endParaRPr>
          </a:p>
          <a:p>
            <a:pPr>
              <a:buFontTx/>
              <a:buChar char="-"/>
            </a:pPr>
            <a:r>
              <a:rPr lang="fr-FR" sz="2400" b="1" cap="none" dirty="0">
                <a:latin typeface="Arial" pitchFamily="34" charset="0"/>
                <a:cs typeface="Arial" pitchFamily="34" charset="0"/>
              </a:rPr>
              <a:t> Acidose:</a:t>
            </a:r>
            <a:r>
              <a:rPr lang="fr-FR" sz="2400" cap="none" dirty="0">
                <a:latin typeface="Arial" pitchFamily="34" charset="0"/>
                <a:cs typeface="Arial" pitchFamily="34" charset="0"/>
              </a:rPr>
              <a:t> ↗calcium ionisé + ↘fraction liée à l’albumine.</a:t>
            </a:r>
            <a:endParaRPr lang="fr-FR" sz="2400" b="1" cap="none" dirty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r>
              <a:rPr lang="fr-FR" sz="2400" cap="none" dirty="0">
                <a:latin typeface="Arial" pitchFamily="34" charset="0"/>
                <a:cs typeface="Arial" pitchFamily="34" charset="0"/>
              </a:rPr>
              <a:t>(Le calcium ionisé ↗ de 0,04 mmol/l dans le plasma quand le ph ↘ de 0,1UI)</a:t>
            </a:r>
          </a:p>
          <a:p>
            <a:pPr>
              <a:buNone/>
            </a:pPr>
            <a:r>
              <a:rPr lang="fr-FR" sz="2400" cap="none" dirty="0">
                <a:latin typeface="Arial" pitchFamily="34" charset="0"/>
                <a:cs typeface="Arial" pitchFamily="34" charset="0"/>
              </a:rPr>
              <a:t> </a:t>
            </a:r>
          </a:p>
        </p:txBody>
      </p:sp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278302" y="215900"/>
            <a:ext cx="2043748" cy="1993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0" y="1041400"/>
            <a:ext cx="12192000" cy="5816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4500" y="520700"/>
            <a:ext cx="11245162" cy="59866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Titre 1"/>
          <p:cNvSpPr txBox="1">
            <a:spLocks/>
          </p:cNvSpPr>
          <p:nvPr/>
        </p:nvSpPr>
        <p:spPr>
          <a:xfrm>
            <a:off x="0" y="711200"/>
            <a:ext cx="6743700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600" b="1" i="0" u="none" strike="noStrike" kern="1200" cap="all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 Rounded MT Bold" pitchFamily="34" charset="0"/>
                <a:ea typeface="+mj-ea"/>
                <a:cs typeface="Arial" pitchFamily="34" charset="0"/>
              </a:rPr>
              <a:t>Homéostasie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3600" b="1" i="0" u="none" strike="noStrike" kern="1200" cap="all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 Rounded MT Bold" pitchFamily="34" charset="0"/>
                <a:ea typeface="+mj-ea"/>
                <a:cs typeface="Arial" pitchFamily="34" charset="0"/>
              </a:rPr>
              <a:t>du calcium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76301" y="266700"/>
            <a:ext cx="10396882" cy="1151965"/>
          </a:xfrm>
        </p:spPr>
        <p:txBody>
          <a:bodyPr>
            <a:noAutofit/>
          </a:bodyPr>
          <a:lstStyle/>
          <a:p>
            <a:r>
              <a:rPr lang="fr-FR" sz="3600" b="1" dirty="0">
                <a:solidFill>
                  <a:srgbClr val="00B0F0"/>
                </a:solidFill>
                <a:latin typeface="Arial Rounded MT Bold" pitchFamily="34" charset="0"/>
                <a:cs typeface="Arial" pitchFamily="34" charset="0"/>
              </a:rPr>
              <a:t>Les besoins journaliers en calcium</a:t>
            </a:r>
          </a:p>
        </p:txBody>
      </p:sp>
      <p:sp>
        <p:nvSpPr>
          <p:cNvPr id="4" name="Rectangle 3"/>
          <p:cNvSpPr/>
          <p:nvPr/>
        </p:nvSpPr>
        <p:spPr>
          <a:xfrm>
            <a:off x="1549400" y="1469240"/>
            <a:ext cx="79248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Adulte jeune : </a:t>
            </a:r>
            <a:r>
              <a:rPr lang="fr-FR" sz="24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800 mg 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Femme enceinte ou allaitante : </a:t>
            </a:r>
            <a:r>
              <a:rPr lang="fr-FR" sz="24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1200 mg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Adolescent: </a:t>
            </a:r>
            <a:r>
              <a:rPr lang="fr-FR" sz="24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1500 mg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Femme en post ménopause: </a:t>
            </a:r>
            <a:r>
              <a:rPr lang="fr-FR" sz="24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1500 mg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Sujet âgé :</a:t>
            </a:r>
            <a:r>
              <a:rPr lang="fr-FR" sz="2400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1500 mg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0" y="1"/>
            <a:ext cx="11976100" cy="812800"/>
          </a:xfrm>
        </p:spPr>
        <p:txBody>
          <a:bodyPr>
            <a:noAutofit/>
          </a:bodyPr>
          <a:lstStyle/>
          <a:p>
            <a:pPr algn="ctr"/>
            <a:r>
              <a:rPr lang="fr-FR" sz="2800" dirty="0"/>
              <a:t/>
            </a:r>
            <a:br>
              <a:rPr lang="fr-FR" sz="2800" dirty="0"/>
            </a:br>
            <a:r>
              <a:rPr lang="fr-FR" sz="2800" b="1" dirty="0">
                <a:solidFill>
                  <a:srgbClr val="00B0F0"/>
                </a:solidFill>
                <a:latin typeface="Arial Rounded MT Bold" pitchFamily="34" charset="0"/>
                <a:cs typeface="Arial" pitchFamily="34" charset="0"/>
              </a:rPr>
              <a:t>Répartition du calcium extracellulaire soluble = plasmatique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41400"/>
            <a:ext cx="12192000" cy="5816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76301" y="961019"/>
            <a:ext cx="10134599" cy="59039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Ellipse 6"/>
          <p:cNvSpPr/>
          <p:nvPr/>
        </p:nvSpPr>
        <p:spPr>
          <a:xfrm>
            <a:off x="2527300" y="4064000"/>
            <a:ext cx="1447800" cy="7239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Ellipse 7"/>
          <p:cNvSpPr/>
          <p:nvPr/>
        </p:nvSpPr>
        <p:spPr>
          <a:xfrm>
            <a:off x="4025900" y="4025900"/>
            <a:ext cx="1968500" cy="7239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Ellipse 8"/>
          <p:cNvSpPr/>
          <p:nvPr/>
        </p:nvSpPr>
        <p:spPr>
          <a:xfrm>
            <a:off x="6743700" y="3784600"/>
            <a:ext cx="1676400" cy="8001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ZoneTexte 9"/>
          <p:cNvSpPr txBox="1"/>
          <p:nvPr/>
        </p:nvSpPr>
        <p:spPr>
          <a:xfrm>
            <a:off x="2679700" y="3784600"/>
            <a:ext cx="317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11" name="ZoneTexte 10"/>
          <p:cNvSpPr txBox="1"/>
          <p:nvPr/>
        </p:nvSpPr>
        <p:spPr>
          <a:xfrm>
            <a:off x="6832600" y="3543300"/>
            <a:ext cx="317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C00000"/>
                </a:solidFill>
              </a:rPr>
              <a:t>3</a:t>
            </a:r>
          </a:p>
        </p:txBody>
      </p:sp>
      <p:sp>
        <p:nvSpPr>
          <p:cNvPr id="12" name="ZoneTexte 11"/>
          <p:cNvSpPr txBox="1"/>
          <p:nvPr/>
        </p:nvSpPr>
        <p:spPr>
          <a:xfrm>
            <a:off x="5054600" y="3619500"/>
            <a:ext cx="317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C00000"/>
                </a:solidFill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35800" y="5524500"/>
            <a:ext cx="4076700" cy="133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/>
      <p:bldP spid="11" grpId="0"/>
      <p:bldP spid="12" grpId="0"/>
      <p:bldP spid="1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Rectangle 3"/>
          <p:cNvSpPr/>
          <p:nvPr/>
        </p:nvSpPr>
        <p:spPr>
          <a:xfrm>
            <a:off x="0" y="1041400"/>
            <a:ext cx="12192000" cy="5816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Espace réservé du contenu 2"/>
          <p:cNvSpPr txBox="1">
            <a:spLocks/>
          </p:cNvSpPr>
          <p:nvPr/>
        </p:nvSpPr>
        <p:spPr>
          <a:xfrm>
            <a:off x="355601" y="0"/>
            <a:ext cx="5283199" cy="2819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28600" marR="0" lvl="0" indent="-228600" algn="ctr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Absorption:</a:t>
            </a: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Au niveau du duodénum et jéjunum </a:t>
            </a: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Modulée par la vit D.</a:t>
            </a: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5791199" y="0"/>
            <a:ext cx="6007101" cy="3403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28600" marR="0" lvl="0" indent="-228600" algn="ctr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60000"/>
              <a:buFont typeface="Arial" panose="020B0604020202020204" pitchFamily="34" charset="0"/>
              <a:buNone/>
              <a:tabLst/>
              <a:defRPr/>
            </a:pPr>
            <a:r>
              <a:rPr kumimoji="0" lang="fr-FR" sz="2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Sorties / Pertes de calcium :</a:t>
            </a: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Secrétions du tractus gastro-intestinal ++</a:t>
            </a: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Excrétion urinaire</a:t>
            </a: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Fixation osseuse</a:t>
            </a:r>
          </a:p>
          <a:p>
            <a:pPr marL="228600" marR="0" lvl="0" indent="-228600" algn="l" defTabSz="9144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Sueurs --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157588" y="3544888"/>
            <a:ext cx="5829300" cy="2638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Ellipse 1"/>
          <p:cNvSpPr/>
          <p:nvPr/>
        </p:nvSpPr>
        <p:spPr>
          <a:xfrm>
            <a:off x="10229160" y="6059277"/>
            <a:ext cx="1962840" cy="688554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Lithium (+)</a:t>
            </a:r>
          </a:p>
        </p:txBody>
      </p:sp>
      <p:sp>
        <p:nvSpPr>
          <p:cNvPr id="6" name="Ellipse 5"/>
          <p:cNvSpPr/>
          <p:nvPr/>
        </p:nvSpPr>
        <p:spPr>
          <a:xfrm>
            <a:off x="10448580" y="4947322"/>
            <a:ext cx="1962840" cy="688554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Mg2+ </a:t>
            </a:r>
            <a:r>
              <a:rPr lang="fr-FR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↑</a:t>
            </a:r>
            <a:r>
              <a:rPr lang="fr-FR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(-)</a:t>
            </a:r>
          </a:p>
        </p:txBody>
      </p:sp>
      <p:sp>
        <p:nvSpPr>
          <p:cNvPr id="7" name="Ellipse 6"/>
          <p:cNvSpPr/>
          <p:nvPr/>
        </p:nvSpPr>
        <p:spPr>
          <a:xfrm>
            <a:off x="10338870" y="347100"/>
            <a:ext cx="1962840" cy="688554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Acidose (-)</a:t>
            </a:r>
          </a:p>
          <a:p>
            <a:pPr algn="ctr"/>
            <a:r>
              <a:rPr lang="fr-FR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 </a:t>
            </a:r>
            <a:r>
              <a:rPr lang="fr-FR" b="1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↓ (-)</a:t>
            </a:r>
            <a:endParaRPr lang="fr-FR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1004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97000" y="215901"/>
            <a:ext cx="8826499" cy="529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4294967295"/>
          </p:nvPr>
        </p:nvSpPr>
        <p:spPr>
          <a:xfrm>
            <a:off x="1155256" y="2489200"/>
            <a:ext cx="8457601" cy="3530600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  <p:sp>
        <p:nvSpPr>
          <p:cNvPr id="4" name="Rectangle 3"/>
          <p:cNvSpPr/>
          <p:nvPr/>
        </p:nvSpPr>
        <p:spPr>
          <a:xfrm>
            <a:off x="571068" y="250344"/>
            <a:ext cx="11233248" cy="63367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666712" y="1928803"/>
            <a:ext cx="8303876" cy="34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fr-FR" sz="2800" b="1" dirty="0"/>
          </a:p>
          <a:p>
            <a:pPr eaLnBrk="1" hangingPunct="1"/>
            <a:r>
              <a:rPr lang="fr-FR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intestin</a:t>
            </a:r>
            <a:r>
              <a:rPr lang="fr-FR" sz="24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24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</a:t>
            </a:r>
            <a:r>
              <a:rPr lang="fr-FR" sz="24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2400" b="1" dirty="0">
                <a:latin typeface="Times New Roman" pitchFamily="18" charset="0"/>
                <a:cs typeface="Times New Roman" pitchFamily="18" charset="0"/>
              </a:rPr>
              <a:t>absorption du Ca</a:t>
            </a: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 (indirect/ synthèse de 1-25(OH)</a:t>
            </a:r>
            <a:r>
              <a:rPr lang="fr-FR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D)</a:t>
            </a:r>
          </a:p>
          <a:p>
            <a:pPr eaLnBrk="1" hangingPunct="1"/>
            <a:endParaRPr lang="fr-FR" sz="2400" dirty="0"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rein:</a:t>
            </a: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	  </a:t>
            </a:r>
            <a:r>
              <a:rPr lang="fr-FR" sz="24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</a:t>
            </a:r>
            <a:r>
              <a:rPr lang="fr-FR" sz="2400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fr-FR" sz="24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réabsorption Ca</a:t>
            </a:r>
            <a:r>
              <a:rPr lang="fr-FR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(anse et TCD)</a:t>
            </a:r>
          </a:p>
          <a:p>
            <a:pPr eaLnBrk="1" hangingPunct="1"/>
            <a:r>
              <a:rPr lang="fr-FR" sz="24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  </a:t>
            </a:r>
            <a:r>
              <a:rPr lang="fr-FR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</a:t>
            </a:r>
            <a:r>
              <a:rPr lang="fr-FR" sz="24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réabsorption phosphates</a:t>
            </a:r>
            <a:r>
              <a:rPr lang="fr-FR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(TCP)</a:t>
            </a:r>
          </a:p>
          <a:p>
            <a:pPr eaLnBrk="1" hangingPunct="1"/>
            <a:r>
              <a:rPr lang="fr-FR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  </a:t>
            </a:r>
            <a:r>
              <a:rPr lang="fr-FR" sz="24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</a:t>
            </a:r>
            <a:r>
              <a:rPr lang="fr-FR" sz="2400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fr-FR" sz="24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synthèse </a:t>
            </a:r>
            <a:r>
              <a:rPr lang="fr-FR" sz="2400" b="1" dirty="0">
                <a:latin typeface="Times New Roman" pitchFamily="18" charset="0"/>
                <a:cs typeface="Times New Roman" pitchFamily="18" charset="0"/>
              </a:rPr>
              <a:t>1-25(OH)</a:t>
            </a:r>
            <a:r>
              <a:rPr lang="fr-FR" sz="2400" b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fr-FR" sz="2400" b="1" dirty="0">
                <a:latin typeface="Times New Roman" pitchFamily="18" charset="0"/>
                <a:cs typeface="Times New Roman" pitchFamily="18" charset="0"/>
              </a:rPr>
              <a:t>D</a:t>
            </a:r>
            <a:endParaRPr lang="fr-FR" sz="2400" b="1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endParaRPr lang="fr-FR" sz="2400" b="1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fr-FR" sz="2400" b="1" dirty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  </a:t>
            </a:r>
            <a:r>
              <a:rPr lang="fr-FR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os:</a:t>
            </a:r>
            <a:r>
              <a:rPr lang="fr-FR" sz="24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fr-FR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  </a:t>
            </a:r>
            <a:r>
              <a:rPr lang="fr-FR" sz="24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</a:t>
            </a:r>
            <a:r>
              <a:rPr lang="fr-FR" sz="2400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fr-FR" sz="24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libération du Ca</a:t>
            </a:r>
            <a:r>
              <a:rPr lang="fr-FR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(par activité </a:t>
            </a:r>
            <a:r>
              <a:rPr lang="fr-FR" sz="2400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ostéoclastique</a:t>
            </a:r>
            <a:r>
              <a:rPr lang="fr-FR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)</a:t>
            </a:r>
          </a:p>
          <a:p>
            <a:pPr eaLnBrk="1" hangingPunct="1"/>
            <a:r>
              <a:rPr lang="fr-FR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   </a:t>
            </a:r>
            <a:endParaRPr lang="fr-F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4667241" y="857232"/>
            <a:ext cx="1208985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r>
              <a:rPr lang="fr-FR" sz="4000" b="1" dirty="0">
                <a:solidFill>
                  <a:srgbClr val="C00000"/>
                </a:solidFill>
              </a:rPr>
              <a:t>PTH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65052" y="311448"/>
            <a:ext cx="11233248" cy="63367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1103446" y="1624012"/>
            <a:ext cx="5947462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fr-FR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Intestin:</a:t>
            </a:r>
            <a:r>
              <a:rPr lang="fr-FR" sz="2400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24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</a:t>
            </a:r>
            <a:r>
              <a:rPr lang="fr-FR" sz="24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2400" b="1" dirty="0">
                <a:latin typeface="Times New Roman" pitchFamily="18" charset="0"/>
                <a:cs typeface="Times New Roman" pitchFamily="18" charset="0"/>
              </a:rPr>
              <a:t>absorption intestinale du Ca, Ph</a:t>
            </a: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eaLnBrk="1" hangingPunct="1"/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 	   </a:t>
            </a:r>
          </a:p>
          <a:p>
            <a:pPr eaLnBrk="1" hangingPunct="1"/>
            <a:endParaRPr lang="fr-FR" sz="2400" dirty="0"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r>
              <a:rPr lang="fr-FR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Rein: </a:t>
            </a: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	  </a:t>
            </a:r>
            <a:r>
              <a:rPr lang="fr-FR" sz="24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</a:t>
            </a:r>
            <a:r>
              <a:rPr lang="fr-FR" sz="24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fr-FR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réabsorption Ca</a:t>
            </a:r>
            <a:endParaRPr lang="fr-FR" sz="2400" dirty="0"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	    effet synergique avec PTH</a:t>
            </a:r>
          </a:p>
          <a:p>
            <a:pPr eaLnBrk="1" hangingPunct="1"/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	  </a:t>
            </a:r>
            <a:r>
              <a:rPr lang="fr-FR" sz="24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</a:t>
            </a:r>
            <a:r>
              <a:rPr lang="fr-FR" sz="24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fr-FR" sz="24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réabsorption Ph</a:t>
            </a: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1103446" y="4289029"/>
            <a:ext cx="11293740" cy="1631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fr-FR" sz="28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Os:</a:t>
            </a:r>
            <a:r>
              <a:rPr lang="fr-FR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apport de calcium pour </a:t>
            </a:r>
            <a:r>
              <a:rPr lang="fr-FR" sz="2400" b="1" dirty="0">
                <a:latin typeface="Times New Roman" pitchFamily="18" charset="0"/>
                <a:cs typeface="Times New Roman" pitchFamily="18" charset="0"/>
              </a:rPr>
              <a:t>la minéralisation</a:t>
            </a: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 de la matrice collagène</a:t>
            </a:r>
          </a:p>
          <a:p>
            <a:pPr eaLnBrk="1" hangingPunct="1">
              <a:spcBef>
                <a:spcPct val="50000"/>
              </a:spcBef>
            </a:pP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       En excès: </a:t>
            </a:r>
            <a:r>
              <a:rPr lang="fr-FR" sz="24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</a:t>
            </a:r>
            <a:r>
              <a:rPr lang="fr-FR" sz="24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la résorption </a:t>
            </a:r>
            <a:r>
              <a:rPr lang="fr-FR" sz="2400" dirty="0" err="1">
                <a:latin typeface="Times New Roman" pitchFamily="18" charset="0"/>
                <a:cs typeface="Times New Roman" pitchFamily="18" charset="0"/>
              </a:rPr>
              <a:t>ostéoclastique</a:t>
            </a: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 en synergie avec la PTH</a:t>
            </a:r>
          </a:p>
          <a:p>
            <a:pPr eaLnBrk="1" hangingPunct="1">
              <a:spcBef>
                <a:spcPct val="50000"/>
              </a:spcBef>
            </a:pP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	</a:t>
            </a:r>
            <a:r>
              <a:rPr lang="fr-FR" sz="2400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           </a:t>
            </a:r>
            <a:r>
              <a:rPr lang="fr-FR" sz="24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</a:t>
            </a:r>
            <a:r>
              <a:rPr lang="fr-FR" sz="24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</a:t>
            </a:r>
            <a:r>
              <a:rPr lang="fr-FR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mobilisation du calcium de l ’os</a:t>
            </a:r>
          </a:p>
        </p:txBody>
      </p:sp>
      <p:sp>
        <p:nvSpPr>
          <p:cNvPr id="9" name="Text Box 23"/>
          <p:cNvSpPr txBox="1">
            <a:spLocks noChangeArrowheads="1"/>
          </p:cNvSpPr>
          <p:nvPr/>
        </p:nvSpPr>
        <p:spPr bwMode="auto">
          <a:xfrm>
            <a:off x="4290434" y="516323"/>
            <a:ext cx="2817823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fr-FR" sz="3600" b="1" dirty="0">
                <a:solidFill>
                  <a:srgbClr val="C00000"/>
                </a:solidFill>
              </a:rPr>
              <a:t>VITAMINE D</a:t>
            </a:r>
          </a:p>
        </p:txBody>
      </p:sp>
    </p:spTree>
    <p:extLst>
      <p:ext uri="{BB962C8B-B14F-4D97-AF65-F5344CB8AC3E}">
        <p14:creationId xmlns:p14="http://schemas.microsoft.com/office/powerpoint/2010/main" val="1443914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52352" y="260648"/>
            <a:ext cx="11233248" cy="63367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3791745" y="417740"/>
            <a:ext cx="333104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fr-FR" sz="3600" b="1" dirty="0">
                <a:solidFill>
                  <a:srgbClr val="C00000"/>
                </a:solidFill>
              </a:rPr>
              <a:t>CALCITONINE</a:t>
            </a: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1007435" y="1539603"/>
            <a:ext cx="10871200" cy="5170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Hormone peptidique 32 </a:t>
            </a:r>
            <a:r>
              <a:rPr lang="fr-FR" sz="2400" dirty="0" err="1">
                <a:latin typeface="Times New Roman" pitchFamily="18" charset="0"/>
                <a:cs typeface="Times New Roman" pitchFamily="18" charset="0"/>
              </a:rPr>
              <a:t>aa</a:t>
            </a:r>
            <a:endParaRPr lang="fr-FR" sz="2400" dirty="0"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endParaRPr lang="fr-FR" sz="2400" dirty="0"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Sécrétion par </a:t>
            </a:r>
            <a:r>
              <a:rPr lang="fr-FR" sz="2400" b="1" dirty="0">
                <a:latin typeface="Times New Roman" pitchFamily="18" charset="0"/>
                <a:cs typeface="Times New Roman" pitchFamily="18" charset="0"/>
              </a:rPr>
              <a:t>cellules C de la thyroïde</a:t>
            </a: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fr-FR" sz="2400" dirty="0" err="1">
                <a:latin typeface="Times New Roman" pitchFamily="18" charset="0"/>
                <a:cs typeface="Times New Roman" pitchFamily="18" charset="0"/>
              </a:rPr>
              <a:t>parafolliculaires</a:t>
            </a: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eaLnBrk="1" hangingPunct="1"/>
            <a:endParaRPr lang="fr-FR" sz="2400" dirty="0">
              <a:latin typeface="Times New Roman" pitchFamily="18" charset="0"/>
              <a:cs typeface="Times New Roman" pitchFamily="18" charset="0"/>
            </a:endParaRPr>
          </a:p>
          <a:p>
            <a:pPr eaLnBrk="1" hangingPunct="1"/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Modulée par : calcémie (</a:t>
            </a:r>
            <a:r>
              <a:rPr lang="fr-FR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</a:t>
            </a:r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 par hypercalcémie), </a:t>
            </a:r>
          </a:p>
          <a:p>
            <a:pPr eaLnBrk="1" hangingPunct="1"/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				</a:t>
            </a:r>
          </a:p>
          <a:p>
            <a:pPr eaLnBrk="1" hangingPunct="1"/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Os: 	</a:t>
            </a:r>
            <a:r>
              <a:rPr lang="fr-FR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</a:t>
            </a:r>
            <a:r>
              <a:rPr lang="fr-FR" sz="24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résorption </a:t>
            </a:r>
            <a:r>
              <a:rPr lang="fr-FR" sz="2400" b="1" dirty="0" err="1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ostéoclastique</a:t>
            </a:r>
            <a:r>
              <a:rPr lang="fr-FR" sz="24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 	</a:t>
            </a:r>
            <a:r>
              <a:rPr lang="fr-FR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		 	</a:t>
            </a:r>
          </a:p>
          <a:p>
            <a:pPr eaLnBrk="1" hangingPunct="1"/>
            <a:r>
              <a:rPr lang="fr-FR" sz="2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           </a:t>
            </a:r>
            <a:r>
              <a:rPr lang="fr-FR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</a:t>
            </a:r>
            <a:r>
              <a:rPr lang="fr-FR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 mobilisation calcium</a:t>
            </a:r>
          </a:p>
          <a:p>
            <a:pPr eaLnBrk="1" hangingPunct="1"/>
            <a:endParaRPr lang="fr-FR" sz="24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fr-FR" sz="2400" dirty="0">
                <a:latin typeface="Times New Roman" pitchFamily="18" charset="0"/>
                <a:cs typeface="Times New Roman" pitchFamily="18" charset="0"/>
              </a:rPr>
              <a:t>Rein:	</a:t>
            </a:r>
            <a:r>
              <a:rPr lang="fr-FR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</a:t>
            </a:r>
            <a:r>
              <a:rPr lang="fr-FR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réabsorption Ca anse et TCD</a:t>
            </a:r>
          </a:p>
          <a:p>
            <a:pPr eaLnBrk="1" hangingPunct="1"/>
            <a:r>
              <a:rPr lang="fr-FR" sz="2400" b="1" dirty="0">
                <a:solidFill>
                  <a:srgbClr val="008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          </a:t>
            </a:r>
            <a:r>
              <a:rPr lang="fr-FR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</a:t>
            </a:r>
            <a:r>
              <a:rPr lang="fr-FR" sz="24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 synthèse </a:t>
            </a:r>
            <a:r>
              <a:rPr lang="fr-FR" sz="2400" b="1" dirty="0">
                <a:latin typeface="Times New Roman" pitchFamily="18" charset="0"/>
                <a:cs typeface="Times New Roman" pitchFamily="18" charset="0"/>
              </a:rPr>
              <a:t>1-25(OH)</a:t>
            </a:r>
            <a:r>
              <a:rPr lang="fr-FR" sz="2400" b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fr-FR" sz="2400" b="1" dirty="0">
                <a:latin typeface="Times New Roman" pitchFamily="18" charset="0"/>
                <a:cs typeface="Times New Roman" pitchFamily="18" charset="0"/>
              </a:rPr>
              <a:t>D</a:t>
            </a:r>
          </a:p>
          <a:p>
            <a:pPr eaLnBrk="1" hangingPunct="1"/>
            <a:endParaRPr lang="fr-FR" sz="2400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eaLnBrk="1" hangingPunct="1"/>
            <a:r>
              <a:rPr lang="fr-FR" sz="2400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Intestin:?</a:t>
            </a:r>
          </a:p>
          <a:p>
            <a:pPr eaLnBrk="1" hangingPunct="1"/>
            <a:endParaRPr lang="fr-FR" dirty="0"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835104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41101" y="0"/>
            <a:ext cx="10396882" cy="798491"/>
          </a:xfrm>
        </p:spPr>
        <p:txBody>
          <a:bodyPr>
            <a:noAutofit/>
          </a:bodyPr>
          <a:lstStyle/>
          <a:p>
            <a:pPr algn="ctr"/>
            <a:r>
              <a:rPr lang="fr-FR" sz="3600" b="1" dirty="0">
                <a:solidFill>
                  <a:srgbClr val="00B0F0"/>
                </a:solidFill>
                <a:latin typeface="Arial Rounded MT Bold" pitchFamily="34" charset="0"/>
                <a:cs typeface="Arial" pitchFamily="34" charset="0"/>
              </a:rPr>
              <a:t>3 hormones / 3 sites de régulation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12920" y="698679"/>
            <a:ext cx="8001000" cy="470535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contenu 2"/>
          <p:cNvSpPr txBox="1">
            <a:spLocks/>
          </p:cNvSpPr>
          <p:nvPr/>
        </p:nvSpPr>
        <p:spPr>
          <a:xfrm>
            <a:off x="1151767" y="1439934"/>
            <a:ext cx="10322477" cy="4058631"/>
          </a:xfrm>
          <a:prstGeom prst="rect">
            <a:avLst/>
          </a:prstGeom>
          <a:solidFill>
            <a:schemeClr val="bg1"/>
          </a:solidFill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60000"/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fr-FR" u="sng" cap="none" dirty="0">
                <a:latin typeface="Arial" panose="020B0604020202020204" pitchFamily="34" charset="0"/>
                <a:cs typeface="Arial" pitchFamily="34" charset="0"/>
              </a:rPr>
              <a:t>Dérèglement entre flux entrant / sortant du Ca</a:t>
            </a:r>
            <a:r>
              <a:rPr lang="fr-FR" u="sng" cap="none" baseline="30000" dirty="0">
                <a:latin typeface="Arial" pitchFamily="34" charset="0"/>
                <a:cs typeface="Arial" pitchFamily="34" charset="0"/>
              </a:rPr>
              <a:t>2+</a:t>
            </a:r>
            <a:r>
              <a:rPr lang="fr-FR" u="sng" cap="none" dirty="0">
                <a:latin typeface="Arial" panose="020B0604020202020204" pitchFamily="34" charset="0"/>
                <a:cs typeface="Arial" pitchFamily="34" charset="0"/>
              </a:rPr>
              <a:t> dans le compartiment sanguin: </a:t>
            </a:r>
          </a:p>
          <a:p>
            <a:r>
              <a:rPr lang="fr-FR" b="1" cap="none" dirty="0">
                <a:latin typeface="Arial" pitchFamily="34" charset="0"/>
                <a:cs typeface="Arial" pitchFamily="34" charset="0"/>
              </a:rPr>
              <a:t>↗ Absorption calcique digestive: </a:t>
            </a:r>
          </a:p>
          <a:p>
            <a:pPr>
              <a:buFont typeface="Arial" panose="020B0604020202020204" pitchFamily="34" charset="0"/>
              <a:buNone/>
            </a:pPr>
            <a:r>
              <a:rPr lang="fr-FR" cap="none" dirty="0">
                <a:latin typeface="Arial" pitchFamily="34" charset="0"/>
                <a:cs typeface="Arial" pitchFamily="34" charset="0"/>
              </a:rPr>
              <a:t>              Vitamine D en excès,   surdosage thérapeutique,   origine alimentaire</a:t>
            </a:r>
          </a:p>
          <a:p>
            <a:r>
              <a:rPr lang="fr-FR" b="1" cap="none" dirty="0">
                <a:latin typeface="Arial" pitchFamily="34" charset="0"/>
                <a:cs typeface="Arial" pitchFamily="34" charset="0"/>
              </a:rPr>
              <a:t>Résorption osseuse accrue:  </a:t>
            </a:r>
          </a:p>
          <a:p>
            <a:pPr>
              <a:buFont typeface="Arial" panose="020B0604020202020204" pitchFamily="34" charset="0"/>
              <a:buNone/>
            </a:pPr>
            <a:r>
              <a:rPr lang="fr-FR" cap="none" dirty="0">
                <a:latin typeface="Arial" pitchFamily="34" charset="0"/>
                <a:cs typeface="Arial" pitchFamily="34" charset="0"/>
              </a:rPr>
              <a:t>             PTH, </a:t>
            </a:r>
            <a:r>
              <a:rPr lang="fr-FR" cap="none" dirty="0" err="1">
                <a:latin typeface="Arial" pitchFamily="34" charset="0"/>
                <a:cs typeface="Arial" pitchFamily="34" charset="0"/>
              </a:rPr>
              <a:t>PTHrp</a:t>
            </a:r>
            <a:r>
              <a:rPr lang="fr-FR" cap="none" dirty="0">
                <a:latin typeface="Arial" pitchFamily="34" charset="0"/>
                <a:cs typeface="Arial" pitchFamily="34" charset="0"/>
              </a:rPr>
              <a:t>, thyroxine, corticoïdes, cytokines à effet lytique osseux,</a:t>
            </a:r>
          </a:p>
          <a:p>
            <a:pPr>
              <a:buFont typeface="Arial" panose="020B0604020202020204" pitchFamily="34" charset="0"/>
              <a:buNone/>
            </a:pPr>
            <a:r>
              <a:rPr lang="fr-FR" cap="none" dirty="0">
                <a:latin typeface="Arial" pitchFamily="34" charset="0"/>
                <a:cs typeface="Arial" pitchFamily="34" charset="0"/>
              </a:rPr>
              <a:t>             Hypercalcémies d’immobilisation ;</a:t>
            </a:r>
          </a:p>
          <a:p>
            <a:r>
              <a:rPr lang="fr-FR" b="1" cap="none" dirty="0">
                <a:latin typeface="Arial" pitchFamily="34" charset="0"/>
                <a:cs typeface="Arial" pitchFamily="34" charset="0"/>
              </a:rPr>
              <a:t>↘ Excrétion rénale du calcium: </a:t>
            </a:r>
            <a:r>
              <a:rPr lang="fr-FR" cap="none" dirty="0">
                <a:latin typeface="Arial" pitchFamily="34" charset="0"/>
                <a:cs typeface="Arial" pitchFamily="34" charset="0"/>
              </a:rPr>
              <a:t>déshydratation , </a:t>
            </a:r>
            <a:r>
              <a:rPr lang="fr-FR" cap="none" dirty="0" err="1">
                <a:latin typeface="Arial" pitchFamily="34" charset="0"/>
                <a:cs typeface="Arial" pitchFamily="34" charset="0"/>
              </a:rPr>
              <a:t>hypercalciurie</a:t>
            </a:r>
            <a:r>
              <a:rPr lang="fr-FR" cap="none" dirty="0">
                <a:latin typeface="Arial" pitchFamily="34" charset="0"/>
                <a:cs typeface="Arial" pitchFamily="34" charset="0"/>
              </a:rPr>
              <a:t> chronique, diurétiques thiazidiques et du lithium.</a:t>
            </a:r>
          </a:p>
        </p:txBody>
      </p:sp>
      <p:sp>
        <p:nvSpPr>
          <p:cNvPr id="3" name="Rectangle 2"/>
          <p:cNvSpPr/>
          <p:nvPr/>
        </p:nvSpPr>
        <p:spPr>
          <a:xfrm>
            <a:off x="1851790" y="386834"/>
            <a:ext cx="860684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3600" b="1" cap="all" dirty="0">
                <a:solidFill>
                  <a:srgbClr val="00B0F0"/>
                </a:solidFill>
                <a:latin typeface="Arial Rounded MT Bold" pitchFamily="34" charset="0"/>
                <a:ea typeface="+mj-ea"/>
                <a:cs typeface="Arial" pitchFamily="34" charset="0"/>
              </a:rPr>
              <a:t>Mécanismes de l’hypercalcémie</a:t>
            </a:r>
          </a:p>
        </p:txBody>
      </p:sp>
    </p:spTree>
    <p:extLst>
      <p:ext uri="{BB962C8B-B14F-4D97-AF65-F5344CB8AC3E}">
        <p14:creationId xmlns:p14="http://schemas.microsoft.com/office/powerpoint/2010/main" val="1496400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8528" y="965916"/>
            <a:ext cx="10396882" cy="3361386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ctr"/>
            <a:r>
              <a:rPr lang="fr-FR" sz="6000" dirty="0">
                <a:latin typeface="Arial Black" panose="020B0A04020102020204" pitchFamily="34" charset="0"/>
              </a:rPr>
              <a:t/>
            </a:r>
            <a:br>
              <a:rPr lang="fr-FR" sz="6000" dirty="0">
                <a:latin typeface="Arial Black" panose="020B0A04020102020204" pitchFamily="34" charset="0"/>
              </a:rPr>
            </a:br>
            <a:r>
              <a:rPr lang="fr-FR" sz="6000" dirty="0">
                <a:latin typeface="Arial Black" panose="020B0A04020102020204" pitchFamily="34" charset="0"/>
              </a:rPr>
              <a:t>objectif 2</a:t>
            </a:r>
            <a:br>
              <a:rPr lang="fr-FR" sz="6000" dirty="0">
                <a:latin typeface="Arial Black" panose="020B0A04020102020204" pitchFamily="34" charset="0"/>
              </a:rPr>
            </a:br>
            <a:r>
              <a:rPr lang="fr-FR" sz="4400" b="1" dirty="0">
                <a:latin typeface="Arial" panose="020B0604020202020204" pitchFamily="34" charset="0"/>
                <a:cs typeface="Arial" panose="020B0604020202020204" pitchFamily="34" charset="0"/>
              </a:rPr>
              <a:t>conséquences physiopathologiques</a:t>
            </a:r>
            <a:r>
              <a:rPr lang="fr-FR" sz="6000" dirty="0">
                <a:latin typeface="Arial Black" panose="020B0A04020102020204" pitchFamily="34" charset="0"/>
              </a:rPr>
              <a:t/>
            </a:r>
            <a:br>
              <a:rPr lang="fr-FR" sz="6000" dirty="0">
                <a:latin typeface="Arial Black" panose="020B0A04020102020204" pitchFamily="34" charset="0"/>
              </a:rPr>
            </a:br>
            <a:endParaRPr lang="fr-FR" sz="60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86320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CF2EB69-706A-185B-A05E-4045FEB1D55C}"/>
              </a:ext>
            </a:extLst>
          </p:cNvPr>
          <p:cNvSpPr txBox="1"/>
          <p:nvPr/>
        </p:nvSpPr>
        <p:spPr>
          <a:xfrm>
            <a:off x="768864" y="740559"/>
            <a:ext cx="10891777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fr-FR" sz="26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18. </a:t>
            </a: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Le tableau clinique qui évoque le plus une hypercalcémie est:</a:t>
            </a:r>
          </a:p>
          <a:p>
            <a:pPr lvl="0"/>
            <a:endParaRPr lang="fr-FR" sz="2800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A. Fièvre, toux et dyspnée</a:t>
            </a:r>
          </a:p>
          <a:p>
            <a:pPr lvl="1"/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B. Vomissements, diarrhée et céphalées</a:t>
            </a:r>
          </a:p>
          <a:p>
            <a:pPr lvl="1"/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C. Amaigrissement, constipation et soif</a:t>
            </a:r>
          </a:p>
          <a:p>
            <a:pPr lvl="1"/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D. Amaigrissement, sueurs nocturnes et fatigue</a:t>
            </a:r>
          </a:p>
          <a:p>
            <a:pPr lvl="1"/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E. Douleurs abdominales, fièvre et rash cutané</a:t>
            </a:r>
            <a:endParaRPr lang="fr-FR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ZoneTexte 3">
            <a:extLst>
              <a:ext uri="{FF2B5EF4-FFF2-40B4-BE49-F238E27FC236}">
                <a16:creationId xmlns:a16="http://schemas.microsoft.com/office/drawing/2014/main" id="{696BD361-85C6-C768-EB2C-BD1D17446E67}"/>
              </a:ext>
            </a:extLst>
          </p:cNvPr>
          <p:cNvSpPr txBox="1"/>
          <p:nvPr/>
        </p:nvSpPr>
        <p:spPr>
          <a:xfrm>
            <a:off x="591285" y="4982692"/>
            <a:ext cx="31618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Réponse </a:t>
            </a:r>
            <a:r>
              <a:rPr lang="fr-FR" sz="28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C</a:t>
            </a:r>
            <a:endParaRPr lang="fr-FR" sz="28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7479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CF2EB69-706A-185B-A05E-4045FEB1D55C}"/>
              </a:ext>
            </a:extLst>
          </p:cNvPr>
          <p:cNvSpPr txBox="1"/>
          <p:nvPr/>
        </p:nvSpPr>
        <p:spPr>
          <a:xfrm>
            <a:off x="650111" y="657432"/>
            <a:ext cx="10891777" cy="32840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</a:pPr>
            <a:r>
              <a:rPr lang="fr-FR" sz="26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19. Les conséquences d’une hypercalcémie sur le cœur :</a:t>
            </a:r>
          </a:p>
          <a:p>
            <a:pPr lvl="0">
              <a:lnSpc>
                <a:spcPct val="115000"/>
              </a:lnSpc>
            </a:pPr>
            <a:endParaRPr lang="en-US" sz="26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lphaUcPeriod"/>
            </a:pPr>
            <a:r>
              <a:rPr lang="fr-FR" sz="26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Résultent de l’action du calcium complexé aux anions</a:t>
            </a:r>
            <a:endParaRPr lang="en-US" sz="26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lphaUcPeriod"/>
            </a:pPr>
            <a:r>
              <a:rPr lang="fr-FR" sz="26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Augmentent la durée de la phase II du potentiel d’action</a:t>
            </a:r>
            <a:endParaRPr lang="en-US" sz="26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lphaUcPeriod"/>
            </a:pPr>
            <a:r>
              <a:rPr lang="fr-FR" sz="26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Conduisent à une dépolarisation plus rapide</a:t>
            </a:r>
            <a:endParaRPr lang="en-US" sz="26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lphaUcPeriod"/>
            </a:pPr>
            <a:r>
              <a:rPr lang="fr-FR" sz="26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Accélèrent l'entrée du calcium pendant l'ouverture des canaux calciques</a:t>
            </a:r>
            <a:endParaRPr lang="en-US" sz="26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+mj-lt"/>
              <a:buAutoNum type="alphaUcPeriod"/>
            </a:pPr>
            <a:r>
              <a:rPr lang="fr-FR" sz="26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Réduisent le gradient de concentration entre le calcium intra et extracellulaire </a:t>
            </a:r>
            <a:endParaRPr lang="en-US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" name="ZoneTexte 3">
            <a:extLst>
              <a:ext uri="{FF2B5EF4-FFF2-40B4-BE49-F238E27FC236}">
                <a16:creationId xmlns:a16="http://schemas.microsoft.com/office/drawing/2014/main" id="{696BD361-85C6-C768-EB2C-BD1D17446E67}"/>
              </a:ext>
            </a:extLst>
          </p:cNvPr>
          <p:cNvSpPr txBox="1"/>
          <p:nvPr/>
        </p:nvSpPr>
        <p:spPr>
          <a:xfrm>
            <a:off x="591285" y="4982692"/>
            <a:ext cx="31618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Réponse </a:t>
            </a:r>
            <a:r>
              <a:rPr lang="fr-FR" sz="28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 C  D</a:t>
            </a:r>
            <a:endParaRPr lang="fr-FR" sz="28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7479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D1AC43-30DF-B5D3-2F48-8B584E2E4BB0}"/>
              </a:ext>
            </a:extLst>
          </p:cNvPr>
          <p:cNvSpPr txBox="1"/>
          <p:nvPr/>
        </p:nvSpPr>
        <p:spPr>
          <a:xfrm>
            <a:off x="775203" y="826995"/>
            <a:ext cx="10428790" cy="32378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lang="fr-FR" sz="26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20. </a:t>
            </a: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Une hypercalcémie chronique peut se compliquer sur le plan rénal par :</a:t>
            </a:r>
          </a:p>
          <a:p>
            <a:pPr lvl="1"/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A. Une néphropathie interstitielle</a:t>
            </a:r>
          </a:p>
          <a:p>
            <a:pPr lvl="1"/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B. Une insuffisance rénale aiguë par nécrose tubulaire</a:t>
            </a:r>
          </a:p>
          <a:p>
            <a:pPr lvl="1"/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C. Une pyélonéphrite chronique</a:t>
            </a:r>
          </a:p>
          <a:p>
            <a:pPr lvl="1"/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D. Une lithiase rénale</a:t>
            </a:r>
          </a:p>
          <a:p>
            <a:pPr lvl="1"/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E. Une </a:t>
            </a:r>
            <a:r>
              <a:rPr lang="fr-FR" sz="2800" dirty="0" err="1" smtClean="0">
                <a:latin typeface="Times New Roman" pitchFamily="18" charset="0"/>
                <a:cs typeface="Times New Roman" pitchFamily="18" charset="0"/>
              </a:rPr>
              <a:t>néphrocalcinose</a:t>
            </a:r>
            <a:endParaRPr lang="en-US" sz="2600" dirty="0">
              <a:effectLst/>
              <a:latin typeface="Times New Roman" pitchFamily="18" charset="0"/>
              <a:ea typeface="Calibri" panose="020F0502020204030204" pitchFamily="34" charset="0"/>
              <a:cs typeface="Times New Roman" pitchFamily="18" charset="0"/>
            </a:endParaRPr>
          </a:p>
        </p:txBody>
      </p:sp>
      <p:sp>
        <p:nvSpPr>
          <p:cNvPr id="5" name="ZoneTexte 3">
            <a:extLst>
              <a:ext uri="{FF2B5EF4-FFF2-40B4-BE49-F238E27FC236}">
                <a16:creationId xmlns:a16="http://schemas.microsoft.com/office/drawing/2014/main" id="{6CB1C58A-4B28-A52D-B8B2-4BBC357B329A}"/>
              </a:ext>
            </a:extLst>
          </p:cNvPr>
          <p:cNvSpPr txBox="1"/>
          <p:nvPr/>
        </p:nvSpPr>
        <p:spPr>
          <a:xfrm>
            <a:off x="591285" y="4982692"/>
            <a:ext cx="31618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Réponse </a:t>
            </a:r>
            <a:r>
              <a:rPr lang="fr-FR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fr-FR" sz="28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ADE</a:t>
            </a:r>
            <a:endParaRPr lang="fr-FR" sz="28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9044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47FD527-FAAB-52CF-CAB7-E6DEDE71D579}"/>
              </a:ext>
            </a:extLst>
          </p:cNvPr>
          <p:cNvSpPr txBox="1"/>
          <p:nvPr/>
        </p:nvSpPr>
        <p:spPr>
          <a:xfrm>
            <a:off x="705904" y="793559"/>
            <a:ext cx="10623155" cy="32378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tabLst>
                <a:tab pos="180340" algn="l"/>
              </a:tabLst>
            </a:pPr>
            <a:r>
              <a:rPr lang="fr-FR" sz="26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21. </a:t>
            </a: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Les signes neuromusculaires associés à une hypercalcémie majeure (&gt;3,5 mmol/l) peuvent être :</a:t>
            </a:r>
          </a:p>
          <a:p>
            <a:pPr lvl="1"/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A. Asthénie, Agitation, coma, convulsions</a:t>
            </a:r>
          </a:p>
          <a:p>
            <a:pPr lvl="1"/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B. Hyperactivité musculaire, </a:t>
            </a:r>
            <a:r>
              <a:rPr lang="fr-FR" sz="2800" dirty="0" err="1" smtClean="0">
                <a:latin typeface="Times New Roman" pitchFamily="18" charset="0"/>
                <a:cs typeface="Times New Roman" pitchFamily="18" charset="0"/>
              </a:rPr>
              <a:t>tremors</a:t>
            </a: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fr-FR" sz="2800" dirty="0" err="1" smtClean="0">
                <a:latin typeface="Times New Roman" pitchFamily="18" charset="0"/>
                <a:cs typeface="Times New Roman" pitchFamily="18" charset="0"/>
              </a:rPr>
              <a:t>hyperréflexie</a:t>
            </a:r>
            <a:endParaRPr lang="fr-FR" sz="2800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C. Hypotonie musculaire, faiblesse musculaire, absence de réflexes</a:t>
            </a:r>
          </a:p>
          <a:p>
            <a:pPr lvl="1"/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D. Douleurs musculaires, crampes, </a:t>
            </a:r>
            <a:r>
              <a:rPr lang="fr-FR" sz="2800" dirty="0" err="1" smtClean="0">
                <a:latin typeface="Times New Roman" pitchFamily="18" charset="0"/>
                <a:cs typeface="Times New Roman" pitchFamily="18" charset="0"/>
              </a:rPr>
              <a:t>hyperréflexie</a:t>
            </a:r>
            <a:endParaRPr lang="fr-FR" sz="2800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E. Tremblements, rigidité musculaire, hyperactivité réflexe</a:t>
            </a:r>
            <a:r>
              <a:rPr lang="fr-FR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  <a:endParaRPr lang="en-US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C840ECCF-D9AF-82DD-951D-66D787C50D0F}"/>
              </a:ext>
            </a:extLst>
          </p:cNvPr>
          <p:cNvSpPr txBox="1"/>
          <p:nvPr/>
        </p:nvSpPr>
        <p:spPr>
          <a:xfrm>
            <a:off x="591285" y="4982692"/>
            <a:ext cx="31618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Réponse </a:t>
            </a:r>
            <a:r>
              <a:rPr lang="fr-FR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fr-FR" sz="28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C</a:t>
            </a:r>
            <a:endParaRPr lang="fr-FR" sz="28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1431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6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93913" y="0"/>
            <a:ext cx="8098210" cy="4689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1371" y="335847"/>
            <a:ext cx="11329259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3600" b="1" i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Actions sur le cœur</a:t>
            </a:r>
          </a:p>
          <a:p>
            <a:pPr algn="just"/>
            <a:endParaRPr lang="fr-FR" sz="36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Font typeface="Wingdings" pitchFamily="2" charset="2"/>
              <a:buChar char="§"/>
            </a:pPr>
            <a:r>
              <a:rPr lang="fr-FR" sz="2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Calcium ionisé : rôle capital dans la dépolarisation de la cellule cardiaque. </a:t>
            </a:r>
          </a:p>
          <a:p>
            <a:pPr algn="just"/>
            <a:endParaRPr lang="fr-FR" sz="22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fr-FR" sz="2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=&gt; Retentissement majeur sur l'activité cardiaque.</a:t>
            </a:r>
          </a:p>
          <a:p>
            <a:pPr algn="just"/>
            <a:endParaRPr lang="fr-FR" sz="22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Font typeface="Wingdings" pitchFamily="2" charset="2"/>
              <a:buChar char="§"/>
            </a:pPr>
            <a:r>
              <a:rPr lang="fr-FR" sz="2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Hypercalcémie =&gt; accélère l'entrée du calcium pendant l'ouverture des canaux calciques =&gt; dépolarisation plus rapide. </a:t>
            </a:r>
          </a:p>
          <a:p>
            <a:pPr algn="just"/>
            <a:endParaRPr lang="fr-FR" sz="22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Font typeface="Wingdings" pitchFamily="2" charset="2"/>
              <a:buChar char="§"/>
            </a:pPr>
            <a:r>
              <a:rPr lang="fr-FR" sz="2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ECG: raccourcissement du segment ST et de l’intervalle QT.</a:t>
            </a:r>
          </a:p>
          <a:p>
            <a:pPr algn="just"/>
            <a:endParaRPr lang="fr-FR" sz="22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Font typeface="Wingdings" pitchFamily="2" charset="2"/>
              <a:buChar char="§"/>
            </a:pPr>
            <a:r>
              <a:rPr lang="fr-FR" sz="2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Hypercalcémie aiguë: </a:t>
            </a:r>
          </a:p>
          <a:p>
            <a:pPr algn="just">
              <a:buFont typeface="Wingdings" pitchFamily="2" charset="2"/>
              <a:buChar char="ü"/>
            </a:pPr>
            <a:r>
              <a:rPr lang="fr-FR" sz="2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troubles du rythme ventriculaires (ESV, TV, FV) </a:t>
            </a:r>
          </a:p>
          <a:p>
            <a:pPr algn="just">
              <a:buFont typeface="Wingdings" pitchFamily="2" charset="2"/>
              <a:buChar char="ü"/>
            </a:pPr>
            <a:r>
              <a:rPr lang="fr-FR" sz="2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blocs de conduction (sino-auriculaires ou auriculoventriculaires).</a:t>
            </a:r>
          </a:p>
        </p:txBody>
      </p:sp>
    </p:spTree>
    <p:extLst>
      <p:ext uri="{BB962C8B-B14F-4D97-AF65-F5344CB8AC3E}">
        <p14:creationId xmlns:p14="http://schemas.microsoft.com/office/powerpoint/2010/main" val="2189946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1371" y="240804"/>
            <a:ext cx="11137237" cy="41242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3600" b="1" i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Actions sur le rein</a:t>
            </a:r>
          </a:p>
          <a:p>
            <a:pPr algn="ctr"/>
            <a:endParaRPr lang="fr-FR" sz="36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fr-FR" sz="36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Font typeface="Wingdings" pitchFamily="2" charset="2"/>
              <a:buChar char="§"/>
            </a:pPr>
            <a:r>
              <a:rPr lang="fr-FR" sz="2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Hypercalcémie =&gt; action diurétique: </a:t>
            </a:r>
            <a:r>
              <a:rPr lang="fr-FR" sz="22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polyurie </a:t>
            </a:r>
            <a:r>
              <a:rPr lang="fr-FR" sz="2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 </a:t>
            </a:r>
            <a:r>
              <a:rPr lang="fr-FR" sz="22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polydipsie </a:t>
            </a:r>
          </a:p>
          <a:p>
            <a:pPr algn="just"/>
            <a:r>
              <a:rPr lang="fr-FR" sz="2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=&gt; </a:t>
            </a:r>
            <a:r>
              <a:rPr lang="fr-FR" sz="22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déshydratation globale</a:t>
            </a:r>
            <a:r>
              <a:rPr lang="fr-FR" sz="2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endParaRPr lang="fr-FR" sz="22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fr-FR" sz="22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Font typeface="Wingdings" pitchFamily="2" charset="2"/>
              <a:buChar char="§"/>
            </a:pPr>
            <a:r>
              <a:rPr lang="fr-FR" sz="2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Hypercalcémie =&gt; augmentation de la réabsorption tubulaire des bicarbonates et de l’excrétion d’acides =&gt; </a:t>
            </a:r>
            <a:r>
              <a:rPr lang="fr-FR" sz="2200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acidurie</a:t>
            </a:r>
            <a:r>
              <a:rPr lang="fr-FR" sz="22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just"/>
            <a:r>
              <a:rPr lang="fr-FR" sz="22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=&gt; alcalose métabolique </a:t>
            </a:r>
            <a:r>
              <a:rPr lang="fr-FR" sz="2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souvent associée</a:t>
            </a:r>
            <a:endParaRPr lang="fr-FR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4684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39349" y="620688"/>
            <a:ext cx="11515923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3200" b="1" i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Actions sur les muscles lisses</a:t>
            </a:r>
          </a:p>
          <a:p>
            <a:endParaRPr lang="fr-FR" sz="32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32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fr-FR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Hypercalcémie =&gt; contraction des cellules musculaires lisses artérielles par augmentation du calcium </a:t>
            </a:r>
            <a:r>
              <a:rPr lang="fr-FR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intracytosolique</a:t>
            </a:r>
            <a:r>
              <a:rPr lang="fr-FR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endParaRPr lang="fr-FR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fr-FR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fr-FR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=&gt; hypertension artérielle  (HTA) par augmentation des résistances vasculaires systémiques </a:t>
            </a:r>
            <a:r>
              <a:rPr lang="fr-FR" sz="24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sans </a:t>
            </a:r>
            <a:r>
              <a:rPr lang="fr-FR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augmentation du débit cardiaque.</a:t>
            </a:r>
            <a:endParaRPr lang="fr-FR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6645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15413" y="620688"/>
            <a:ext cx="10657184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3200" b="1" i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Actions sur les muscles striés</a:t>
            </a:r>
          </a:p>
          <a:p>
            <a:endParaRPr lang="fr-FR" sz="32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32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L’hypercalcémie altère l’excitabilité neuromusculaire:</a:t>
            </a:r>
          </a:p>
          <a:p>
            <a:endParaRPr lang="fr-FR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fr-FR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Diminution de la force musculaire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fr-FR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Fatigabilité importante</a:t>
            </a:r>
            <a:endParaRPr lang="fr-FR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2398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19403" y="548680"/>
            <a:ext cx="10753195" cy="51398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3200" b="1" i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Actions </a:t>
            </a:r>
            <a:r>
              <a:rPr lang="fr-FR" sz="3200" b="1" i="1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neuro-psychiatriques</a:t>
            </a:r>
            <a:r>
              <a:rPr lang="fr-FR" sz="3200" b="1" i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just"/>
            <a:endParaRPr lang="fr-FR" sz="32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fr-FR" sz="2400" u="sng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Tableaux neurologiques divers:</a:t>
            </a:r>
          </a:p>
          <a:p>
            <a:pPr algn="just"/>
            <a:endParaRPr lang="fr-FR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fr-FR" sz="24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Troubles psychiatriques</a:t>
            </a:r>
            <a:r>
              <a:rPr lang="fr-FR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troubles de l’humeur –dépression –troubles de la mémoire, … 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endParaRPr lang="fr-FR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fr-FR" sz="24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Troubles de conscience </a:t>
            </a:r>
            <a:r>
              <a:rPr lang="fr-FR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pouvant aller jusqu’au coma, -Dépression de l’activité </a:t>
            </a:r>
            <a:r>
              <a:rPr lang="fr-FR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électroencéphalographique</a:t>
            </a:r>
            <a:r>
              <a:rPr lang="fr-FR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(EEG), 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endParaRPr lang="fr-FR" sz="24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fr-FR" sz="24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Faiblesse musculaire </a:t>
            </a:r>
            <a:r>
              <a:rPr lang="fr-FR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tableau pseudo-</a:t>
            </a:r>
            <a:r>
              <a:rPr lang="fr-FR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myopathique</a:t>
            </a:r>
            <a:r>
              <a:rPr lang="fr-FR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fr-FR" sz="2400" b="1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Hyporéflexie</a:t>
            </a:r>
            <a:r>
              <a:rPr lang="fr-FR" sz="24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voire une aréflexie 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fr-FR" sz="24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Paralysie </a:t>
            </a:r>
            <a:r>
              <a:rPr lang="fr-FR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réalisant un tableau pseudo-</a:t>
            </a:r>
            <a:r>
              <a:rPr lang="fr-FR" sz="2400" dirty="0" err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polynévritique</a:t>
            </a:r>
            <a:r>
              <a:rPr lang="fr-FR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fr-FR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6834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60044" y="927279"/>
            <a:ext cx="10396882" cy="3361386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ctr"/>
            <a:r>
              <a:rPr lang="fr-FR" sz="6000" dirty="0">
                <a:latin typeface="Arial Black" panose="020B0A04020102020204" pitchFamily="34" charset="0"/>
              </a:rPr>
              <a:t/>
            </a:r>
            <a:br>
              <a:rPr lang="fr-FR" sz="6000" dirty="0">
                <a:latin typeface="Arial Black" panose="020B0A04020102020204" pitchFamily="34" charset="0"/>
              </a:rPr>
            </a:br>
            <a:r>
              <a:rPr lang="fr-FR" sz="6000" dirty="0">
                <a:latin typeface="Arial Black" panose="020B0A04020102020204" pitchFamily="34" charset="0"/>
              </a:rPr>
              <a:t>objectif 3</a:t>
            </a:r>
            <a:br>
              <a:rPr lang="fr-FR" sz="6000" dirty="0">
                <a:latin typeface="Arial Black" panose="020B0A04020102020204" pitchFamily="34" charset="0"/>
              </a:rPr>
            </a:br>
            <a:r>
              <a:rPr lang="fr-FR" sz="4800" b="1" dirty="0">
                <a:latin typeface="Arial" panose="020B0604020202020204" pitchFamily="34" charset="0"/>
                <a:cs typeface="Arial" panose="020B0604020202020204" pitchFamily="34" charset="0"/>
              </a:rPr>
              <a:t>diagnostic positif</a:t>
            </a:r>
            <a:r>
              <a:rPr lang="fr-FR" sz="6000" dirty="0">
                <a:latin typeface="Arial Black" panose="020B0A04020102020204" pitchFamily="34" charset="0"/>
              </a:rPr>
              <a:t/>
            </a:r>
            <a:br>
              <a:rPr lang="fr-FR" sz="6000" dirty="0">
                <a:latin typeface="Arial Black" panose="020B0A04020102020204" pitchFamily="34" charset="0"/>
              </a:rPr>
            </a:br>
            <a:endParaRPr lang="fr-FR" sz="60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8033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E919AF-CE0F-3B32-6C06-58AC6F10B1C8}"/>
              </a:ext>
            </a:extLst>
          </p:cNvPr>
          <p:cNvSpPr txBox="1"/>
          <p:nvPr/>
        </p:nvSpPr>
        <p:spPr>
          <a:xfrm>
            <a:off x="1076444" y="829216"/>
            <a:ext cx="9456517" cy="3330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tabLst>
                <a:tab pos="180340" algn="l"/>
              </a:tabLst>
            </a:pPr>
            <a:r>
              <a:rPr lang="fr-FR" sz="26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22. </a:t>
            </a: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Les signes fonctionnels d’une hypercalcémie peuvent être :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Un syndrome sub-occlusif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Des réflexes </a:t>
            </a: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ostéo-tendineux abolis</a:t>
            </a:r>
            <a:endParaRPr lang="fr-FR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971550" lvl="1" indent="-514350">
              <a:buFont typeface="+mj-lt"/>
              <a:buAutoNum type="alphaUcPeriod"/>
            </a:pP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Des crampes musculaires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Des douleurs osseuses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Une hypertension artérielle</a:t>
            </a:r>
          </a:p>
          <a:p>
            <a:pPr marL="678180">
              <a:lnSpc>
                <a:spcPct val="115000"/>
              </a:lnSpc>
              <a:spcAft>
                <a:spcPts val="1000"/>
              </a:spcAft>
            </a:pPr>
            <a:endParaRPr lang="en-US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" name="ZoneTexte 3">
            <a:extLst>
              <a:ext uri="{FF2B5EF4-FFF2-40B4-BE49-F238E27FC236}">
                <a16:creationId xmlns:a16="http://schemas.microsoft.com/office/drawing/2014/main" id="{8B8D0F58-4F92-44D0-D694-FDB23E7E2183}"/>
              </a:ext>
            </a:extLst>
          </p:cNvPr>
          <p:cNvSpPr txBox="1"/>
          <p:nvPr/>
        </p:nvSpPr>
        <p:spPr>
          <a:xfrm>
            <a:off x="591285" y="4982692"/>
            <a:ext cx="31618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Réponse </a:t>
            </a:r>
            <a:r>
              <a:rPr lang="fr-FR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fr-FR" sz="28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fr-FR" sz="28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 E</a:t>
            </a:r>
            <a:endParaRPr lang="fr-FR" sz="28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0914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66B65C4-DCB6-69CF-EE2D-7CA3AF8F42DA}"/>
              </a:ext>
            </a:extLst>
          </p:cNvPr>
          <p:cNvSpPr txBox="1"/>
          <p:nvPr/>
        </p:nvSpPr>
        <p:spPr>
          <a:xfrm>
            <a:off x="992865" y="799721"/>
            <a:ext cx="10193691" cy="32378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lang="fr-FR" sz="26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23. </a:t>
            </a: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Les manifestations rhumatologiques d’une hypercalcémie sont :</a:t>
            </a:r>
          </a:p>
          <a:p>
            <a:pPr lvl="0">
              <a:lnSpc>
                <a:spcPct val="115000"/>
              </a:lnSpc>
            </a:pPr>
            <a:endParaRPr lang="en-US" sz="2800" dirty="0">
              <a:effectLst/>
              <a:latin typeface="Times New Roman" pitchFamily="18" charset="0"/>
              <a:ea typeface="Calibri" panose="020F0502020204030204" pitchFamily="34" charset="0"/>
              <a:cs typeface="Times New Roman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Une arthrite septique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Une arthrite pseudo-goutteuse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Une médiacalcose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Des calcifications ligamentaires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Une chondrocalcinose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610C97E0-EACA-6197-2308-4DFAD3EEFF56}"/>
              </a:ext>
            </a:extLst>
          </p:cNvPr>
          <p:cNvSpPr txBox="1"/>
          <p:nvPr/>
        </p:nvSpPr>
        <p:spPr>
          <a:xfrm>
            <a:off x="591285" y="4982692"/>
            <a:ext cx="39228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Réponse </a:t>
            </a:r>
            <a:r>
              <a:rPr lang="fr-FR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fr-FR" sz="28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BDE</a:t>
            </a:r>
            <a:endParaRPr lang="fr-FR" sz="28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9360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379ABDF-1BC5-FBA6-1760-270098B4D309}"/>
              </a:ext>
            </a:extLst>
          </p:cNvPr>
          <p:cNvSpPr txBox="1"/>
          <p:nvPr/>
        </p:nvSpPr>
        <p:spPr>
          <a:xfrm>
            <a:off x="918757" y="968263"/>
            <a:ext cx="10588431" cy="3366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tabLst>
                <a:tab pos="180340" algn="l"/>
              </a:tabLst>
            </a:pPr>
            <a:r>
              <a:rPr lang="fr-FR" sz="26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24</a:t>
            </a:r>
            <a:r>
              <a:rPr lang="fr-FR" sz="2600" dirty="0" smtClean="0">
                <a:effectLst/>
                <a:latin typeface="Times New Roman" pitchFamily="18" charset="0"/>
                <a:ea typeface="Calibri" panose="020F0502020204030204" pitchFamily="34" charset="0"/>
                <a:cs typeface="Times New Roman" pitchFamily="18" charset="0"/>
              </a:rPr>
              <a:t>. </a:t>
            </a: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Les signes radiologiques qui peuvent indiquer une hypercalcémie chronique peuvent être :</a:t>
            </a:r>
          </a:p>
          <a:p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A. Fractures multiples sans autres anomalies</a:t>
            </a:r>
          </a:p>
          <a:p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B. Ostéoporose généralisée sans calcifications</a:t>
            </a:r>
          </a:p>
          <a:p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C. Calcifications capsulaires et tendineuses </a:t>
            </a:r>
          </a:p>
          <a:p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D. Médiacalcose</a:t>
            </a:r>
          </a:p>
          <a:p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E. Opacités des </a:t>
            </a:r>
            <a:r>
              <a:rPr lang="fr-FR" sz="2800" dirty="0" err="1" smtClean="0">
                <a:latin typeface="Times New Roman" pitchFamily="18" charset="0"/>
                <a:cs typeface="Times New Roman" pitchFamily="18" charset="0"/>
              </a:rPr>
              <a:t>fibro-cartilages</a:t>
            </a:r>
            <a:endParaRPr lang="en-US" sz="2600" dirty="0">
              <a:effectLst/>
              <a:latin typeface="Times New Roman" pitchFamily="18" charset="0"/>
              <a:ea typeface="Calibri" panose="020F0502020204030204" pitchFamily="34" charset="0"/>
              <a:cs typeface="Times New Roman" pitchFamily="18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18DD7D1A-5C27-8426-A11C-FC722202982B}"/>
              </a:ext>
            </a:extLst>
          </p:cNvPr>
          <p:cNvSpPr txBox="1"/>
          <p:nvPr/>
        </p:nvSpPr>
        <p:spPr>
          <a:xfrm>
            <a:off x="591285" y="4982692"/>
            <a:ext cx="37955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Réponse </a:t>
            </a:r>
            <a:r>
              <a:rPr lang="fr-FR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fr-FR" sz="28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CDE</a:t>
            </a:r>
            <a:endParaRPr lang="fr-FR" sz="28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2530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D9F5C21-19E9-053A-11D3-6D98DB4AF434}"/>
              </a:ext>
            </a:extLst>
          </p:cNvPr>
          <p:cNvSpPr txBox="1"/>
          <p:nvPr/>
        </p:nvSpPr>
        <p:spPr>
          <a:xfrm>
            <a:off x="1298618" y="875256"/>
            <a:ext cx="9329798" cy="320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tabLst>
                <a:tab pos="180340" algn="l"/>
              </a:tabLst>
            </a:pPr>
            <a:r>
              <a:rPr lang="fr-FR" sz="26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25. </a:t>
            </a: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L’hypercalcémie chronique peut être évoquée devant:</a:t>
            </a:r>
          </a:p>
          <a:p>
            <a:pPr marL="514350" lvl="0" indent="-514350">
              <a:lnSpc>
                <a:spcPct val="115000"/>
              </a:lnSpc>
              <a:buFont typeface="+mj-lt"/>
              <a:buAutoNum type="alphaUcPeriod"/>
              <a:tabLst>
                <a:tab pos="180340" algn="l"/>
              </a:tabLst>
            </a:pPr>
            <a:endParaRPr lang="en-US" sz="2600" dirty="0">
              <a:effectLst/>
              <a:latin typeface="Times New Roman" pitchFamily="18" charset="0"/>
              <a:ea typeface="Calibri" panose="020F0502020204030204" pitchFamily="34" charset="0"/>
              <a:cs typeface="Times New Roman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Un prurit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Une uvéite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Une crise convulsive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Une chondrocalcinose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Une </a:t>
            </a:r>
            <a:r>
              <a:rPr lang="fr-FR" sz="2800" dirty="0" err="1" smtClean="0">
                <a:latin typeface="Times New Roman" pitchFamily="18" charset="0"/>
                <a:cs typeface="Times New Roman" pitchFamily="18" charset="0"/>
              </a:rPr>
              <a:t>polychondrite</a:t>
            </a: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2800" dirty="0" err="1" smtClean="0">
                <a:latin typeface="Times New Roman" pitchFamily="18" charset="0"/>
                <a:cs typeface="Times New Roman" pitchFamily="18" charset="0"/>
              </a:rPr>
              <a:t>atrophiante</a:t>
            </a: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fr-FR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67368C60-FCEA-3946-9C1C-2D83485209A2}"/>
              </a:ext>
            </a:extLst>
          </p:cNvPr>
          <p:cNvSpPr txBox="1"/>
          <p:nvPr/>
        </p:nvSpPr>
        <p:spPr>
          <a:xfrm>
            <a:off x="591285" y="4982692"/>
            <a:ext cx="31618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Réponse </a:t>
            </a:r>
            <a:r>
              <a:rPr lang="fr-FR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fr-FR" sz="28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</a:t>
            </a:r>
            <a:endParaRPr lang="fr-FR" sz="28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0363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69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5913" y="703263"/>
            <a:ext cx="6046787" cy="4023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47738" y="336550"/>
            <a:ext cx="8541472" cy="4222750"/>
          </a:xfrm>
          <a:prstGeom prst="rect">
            <a:avLst/>
          </a:prstGeom>
          <a:noFill/>
          <a:ln w="9525">
            <a:solidFill>
              <a:srgbClr val="0070C0"/>
            </a:solidFill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558338" y="1341438"/>
            <a:ext cx="2143125" cy="2143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contenu 3"/>
          <p:cNvSpPr>
            <a:spLocks noGrp="1"/>
          </p:cNvSpPr>
          <p:nvPr>
            <p:ph sz="quarter" idx="13"/>
          </p:nvPr>
        </p:nvSpPr>
        <p:spPr>
          <a:xfrm>
            <a:off x="505496" y="405407"/>
            <a:ext cx="10394707" cy="28407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fr-FR" sz="3600" b="1" dirty="0">
                <a:solidFill>
                  <a:srgbClr val="FF6600"/>
                </a:solidFill>
                <a:latin typeface="Arial" pitchFamily="34" charset="0"/>
                <a:cs typeface="Arial" pitchFamily="34" charset="0"/>
              </a:rPr>
              <a:t>Hypercalcémie asymptomatique: </a:t>
            </a:r>
          </a:p>
          <a:p>
            <a:pPr marL="0" indent="0" algn="just">
              <a:buNone/>
            </a:pPr>
            <a:endParaRPr lang="fr-FR" sz="2000" dirty="0">
              <a:latin typeface="Arial" pitchFamily="34" charset="0"/>
              <a:cs typeface="Arial" pitchFamily="34" charset="0"/>
            </a:endParaRPr>
          </a:p>
          <a:p>
            <a:pPr marL="0" indent="0" algn="just">
              <a:buNone/>
            </a:pPr>
            <a:r>
              <a:rPr lang="fr-FR" sz="2400" b="1" cap="none" dirty="0">
                <a:latin typeface="Arial" pitchFamily="34" charset="0"/>
                <a:cs typeface="Arial" pitchFamily="34" charset="0"/>
              </a:rPr>
              <a:t>40 % </a:t>
            </a:r>
            <a:r>
              <a:rPr lang="fr-FR" sz="2400" cap="none" dirty="0">
                <a:latin typeface="Arial" pitchFamily="34" charset="0"/>
                <a:cs typeface="Arial" pitchFamily="34" charset="0"/>
              </a:rPr>
              <a:t>des hypercalcémies :</a:t>
            </a:r>
          </a:p>
          <a:p>
            <a:pPr marL="0" indent="0" algn="just">
              <a:buNone/>
            </a:pPr>
            <a:r>
              <a:rPr lang="fr-FR" sz="2400" cap="none" dirty="0">
                <a:latin typeface="Arial" pitchFamily="34" charset="0"/>
                <a:cs typeface="Arial" pitchFamily="34" charset="0"/>
              </a:rPr>
              <a:t>    asymptomatiques / découverte fortuite sur un bilan sanguin fait à titre systématique. </a:t>
            </a:r>
          </a:p>
        </p:txBody>
      </p:sp>
      <p:pic>
        <p:nvPicPr>
          <p:cNvPr id="5" name="Imag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5487" y="3061555"/>
            <a:ext cx="3585619" cy="22275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88382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951643" y="351011"/>
            <a:ext cx="10304492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3600" b="1" dirty="0">
                <a:solidFill>
                  <a:srgbClr val="FF6600"/>
                </a:solidFill>
                <a:latin typeface="Arial" pitchFamily="34" charset="0"/>
                <a:cs typeface="Arial" pitchFamily="34" charset="0"/>
              </a:rPr>
              <a:t>Hypercalcémie symptomatique </a:t>
            </a:r>
          </a:p>
          <a:p>
            <a:endParaRPr lang="fr-FR" sz="3600" dirty="0">
              <a:latin typeface="Arial" pitchFamily="34" charset="0"/>
              <a:cs typeface="Arial" pitchFamily="34" charset="0"/>
            </a:endParaRPr>
          </a:p>
          <a:p>
            <a:r>
              <a:rPr lang="fr-FR" sz="2400" dirty="0">
                <a:latin typeface="Arial" pitchFamily="34" charset="0"/>
                <a:cs typeface="Arial" pitchFamily="34" charset="0"/>
              </a:rPr>
              <a:t>Signes cliniques = très variés dans leur </a:t>
            </a:r>
            <a:r>
              <a:rPr lang="fr-FR" sz="2400" u="sng" dirty="0">
                <a:latin typeface="Arial" pitchFamily="34" charset="0"/>
                <a:cs typeface="Arial" pitchFamily="34" charset="0"/>
              </a:rPr>
              <a:t>gravité</a:t>
            </a:r>
            <a:r>
              <a:rPr lang="fr-FR" sz="2400" dirty="0">
                <a:latin typeface="Arial" pitchFamily="34" charset="0"/>
                <a:cs typeface="Arial" pitchFamily="34" charset="0"/>
              </a:rPr>
              <a:t> </a:t>
            </a:r>
          </a:p>
          <a:p>
            <a:r>
              <a:rPr lang="fr-FR" sz="2400" dirty="0">
                <a:latin typeface="Arial" pitchFamily="34" charset="0"/>
                <a:cs typeface="Arial" pitchFamily="34" charset="0"/>
              </a:rPr>
              <a:t>                            + dans leur </a:t>
            </a:r>
            <a:r>
              <a:rPr lang="fr-FR" sz="2400" u="sng" dirty="0">
                <a:latin typeface="Arial" pitchFamily="34" charset="0"/>
                <a:cs typeface="Arial" pitchFamily="34" charset="0"/>
              </a:rPr>
              <a:t>présentation.</a:t>
            </a:r>
            <a:r>
              <a:rPr lang="fr-FR" sz="2400" dirty="0">
                <a:latin typeface="Arial" pitchFamily="34" charset="0"/>
                <a:cs typeface="Arial" pitchFamily="34" charset="0"/>
              </a:rPr>
              <a:t> </a:t>
            </a:r>
          </a:p>
          <a:p>
            <a:endParaRPr lang="fr-FR" sz="2400" dirty="0">
              <a:latin typeface="Arial" pitchFamily="34" charset="0"/>
              <a:cs typeface="Arial" pitchFamily="34" charset="0"/>
            </a:endParaRPr>
          </a:p>
          <a:p>
            <a:r>
              <a:rPr lang="fr-FR" sz="2400" u="sng" dirty="0">
                <a:latin typeface="Arial" pitchFamily="34" charset="0"/>
                <a:cs typeface="Arial" pitchFamily="34" charset="0"/>
              </a:rPr>
              <a:t>Installation rapide</a:t>
            </a:r>
          </a:p>
          <a:p>
            <a:r>
              <a:rPr lang="fr-FR" sz="2400" u="sng" dirty="0">
                <a:latin typeface="Arial" pitchFamily="34" charset="0"/>
                <a:cs typeface="Arial" pitchFamily="34" charset="0"/>
              </a:rPr>
              <a:t>Taux important</a:t>
            </a:r>
          </a:p>
          <a:p>
            <a:r>
              <a:rPr lang="fr-FR" sz="2400" u="sng" dirty="0">
                <a:latin typeface="Arial" pitchFamily="34" charset="0"/>
                <a:cs typeface="Arial" pitchFamily="34" charset="0"/>
              </a:rPr>
              <a:t>Terrain fragile</a:t>
            </a:r>
          </a:p>
          <a:p>
            <a:endParaRPr lang="fr-FR" sz="2400" dirty="0">
              <a:latin typeface="Arial" pitchFamily="34" charset="0"/>
              <a:cs typeface="Arial" pitchFamily="34" charset="0"/>
            </a:endParaRPr>
          </a:p>
          <a:p>
            <a:endParaRPr lang="fr-FR" sz="2400" dirty="0">
              <a:latin typeface="Arial" pitchFamily="34" charset="0"/>
              <a:cs typeface="Arial" pitchFamily="34" charset="0"/>
            </a:endParaRPr>
          </a:p>
          <a:p>
            <a:r>
              <a:rPr lang="fr-FR" sz="2400" dirty="0">
                <a:latin typeface="Arial" pitchFamily="34" charset="0"/>
                <a:cs typeface="Arial" pitchFamily="34" charset="0"/>
              </a:rPr>
              <a:t> PARFOIS en second plan par rapport aux signes de </a:t>
            </a:r>
            <a:r>
              <a:rPr lang="fr-FR" sz="2400" u="sng" dirty="0">
                <a:latin typeface="Arial" pitchFamily="34" charset="0"/>
                <a:cs typeface="Arial" pitchFamily="34" charset="0"/>
              </a:rPr>
              <a:t>la maladie causale. </a:t>
            </a:r>
          </a:p>
        </p:txBody>
      </p:sp>
      <p:sp>
        <p:nvSpPr>
          <p:cNvPr id="3" name="Accolade fermante 2"/>
          <p:cNvSpPr/>
          <p:nvPr/>
        </p:nvSpPr>
        <p:spPr>
          <a:xfrm>
            <a:off x="3561544" y="2669158"/>
            <a:ext cx="612673" cy="100013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sz="2000"/>
          </a:p>
        </p:txBody>
      </p:sp>
      <p:sp>
        <p:nvSpPr>
          <p:cNvPr id="4" name="ZoneTexte 3"/>
          <p:cNvSpPr txBox="1"/>
          <p:nvPr/>
        </p:nvSpPr>
        <p:spPr>
          <a:xfrm>
            <a:off x="4230650" y="2969169"/>
            <a:ext cx="65643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latin typeface="Arial" pitchFamily="34" charset="0"/>
                <a:cs typeface="Arial" pitchFamily="34" charset="0"/>
              </a:rPr>
              <a:t>Symptomatologie plus </a:t>
            </a:r>
            <a:r>
              <a:rPr lang="fr-FR" sz="2400" u="sng" dirty="0">
                <a:latin typeface="Arial" pitchFamily="34" charset="0"/>
                <a:cs typeface="Arial" pitchFamily="34" charset="0"/>
              </a:rPr>
              <a:t>sévère</a:t>
            </a:r>
            <a:r>
              <a:rPr lang="fr-FR" sz="2400" dirty="0">
                <a:latin typeface="Arial" pitchFamily="34" charset="0"/>
                <a:cs typeface="Arial" pitchFamily="34" charset="0"/>
              </a:rPr>
              <a:t> et </a:t>
            </a:r>
            <a:r>
              <a:rPr lang="fr-FR" sz="2400" u="sng" dirty="0">
                <a:latin typeface="Arial" pitchFamily="34" charset="0"/>
                <a:cs typeface="Arial" pitchFamily="34" charset="0"/>
              </a:rPr>
              <a:t>fréquente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294208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21669" y="260291"/>
            <a:ext cx="11233248" cy="63367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/>
          <p:cNvSpPr/>
          <p:nvPr/>
        </p:nvSpPr>
        <p:spPr>
          <a:xfrm>
            <a:off x="643911" y="3428643"/>
            <a:ext cx="11144285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3600" b="1" i="1" dirty="0">
                <a:solidFill>
                  <a:srgbClr val="FF6600"/>
                </a:solidFill>
                <a:latin typeface="Arial" pitchFamily="34" charset="0"/>
                <a:cs typeface="Arial" pitchFamily="34" charset="0"/>
              </a:rPr>
              <a:t>Signes digestifs </a:t>
            </a:r>
            <a:endParaRPr lang="fr-FR" sz="2400" dirty="0">
              <a:latin typeface="Arial" pitchFamily="34" charset="0"/>
              <a:cs typeface="Arial" pitchFamily="34" charset="0"/>
            </a:endParaRPr>
          </a:p>
          <a:p>
            <a:endParaRPr lang="fr-FR" sz="2400" dirty="0">
              <a:latin typeface="Arial" pitchFamily="34" charset="0"/>
              <a:cs typeface="Arial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fr-FR" sz="2400" dirty="0">
                <a:latin typeface="Arial" pitchFamily="34" charset="0"/>
                <a:cs typeface="Arial" pitchFamily="34" charset="0"/>
              </a:rPr>
              <a:t>Anorexie </a:t>
            </a:r>
          </a:p>
          <a:p>
            <a:pPr>
              <a:buFont typeface="Arial" pitchFamily="34" charset="0"/>
              <a:buChar char="•"/>
            </a:pPr>
            <a:r>
              <a:rPr lang="fr-FR" sz="2400" dirty="0">
                <a:latin typeface="Arial" pitchFamily="34" charset="0"/>
                <a:cs typeface="Arial" pitchFamily="34" charset="0"/>
              </a:rPr>
              <a:t>Nausée </a:t>
            </a:r>
          </a:p>
          <a:p>
            <a:pPr>
              <a:buFont typeface="Arial" pitchFamily="34" charset="0"/>
              <a:buChar char="•"/>
            </a:pPr>
            <a:r>
              <a:rPr lang="fr-FR" sz="2400" dirty="0">
                <a:latin typeface="Arial" pitchFamily="34" charset="0"/>
                <a:cs typeface="Arial" pitchFamily="34" charset="0"/>
              </a:rPr>
              <a:t>Vomissements, constipation         syndrome </a:t>
            </a:r>
            <a:r>
              <a:rPr lang="fr-FR" sz="2400" dirty="0" err="1">
                <a:latin typeface="Arial" pitchFamily="34" charset="0"/>
                <a:cs typeface="Arial" pitchFamily="34" charset="0"/>
              </a:rPr>
              <a:t>sub</a:t>
            </a:r>
            <a:r>
              <a:rPr lang="fr-FR" sz="2400" dirty="0">
                <a:latin typeface="Arial" pitchFamily="34" charset="0"/>
                <a:cs typeface="Arial" pitchFamily="34" charset="0"/>
              </a:rPr>
              <a:t>-occlusif</a:t>
            </a:r>
          </a:p>
          <a:p>
            <a:pPr>
              <a:buFont typeface="Arial" pitchFamily="34" charset="0"/>
              <a:buChar char="•"/>
            </a:pPr>
            <a:r>
              <a:rPr lang="fr-FR" sz="2400" dirty="0">
                <a:latin typeface="Arial" pitchFamily="34" charset="0"/>
                <a:cs typeface="Arial" pitchFamily="34" charset="0"/>
              </a:rPr>
              <a:t>Douleurs épigastriques:  ulcère gastrique, pancréatite aiguë </a:t>
            </a:r>
          </a:p>
        </p:txBody>
      </p:sp>
      <p:sp>
        <p:nvSpPr>
          <p:cNvPr id="6" name="Rectangle 5"/>
          <p:cNvSpPr/>
          <p:nvPr/>
        </p:nvSpPr>
        <p:spPr>
          <a:xfrm>
            <a:off x="782317" y="782638"/>
            <a:ext cx="10511952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3600" b="1" i="1" dirty="0">
                <a:solidFill>
                  <a:srgbClr val="FF6600"/>
                </a:solidFill>
                <a:latin typeface="Arial" pitchFamily="34" charset="0"/>
                <a:cs typeface="Arial" pitchFamily="34" charset="0"/>
              </a:rPr>
              <a:t>Signes généraux </a:t>
            </a:r>
            <a:endParaRPr lang="fr-FR" sz="3600" dirty="0">
              <a:solidFill>
                <a:srgbClr val="FF6600"/>
              </a:solidFill>
              <a:latin typeface="Arial" pitchFamily="34" charset="0"/>
              <a:cs typeface="Arial" pitchFamily="34" charset="0"/>
            </a:endParaRPr>
          </a:p>
          <a:p>
            <a:endParaRPr lang="fr-FR" sz="2400" dirty="0">
              <a:latin typeface="Arial" pitchFamily="34" charset="0"/>
              <a:cs typeface="Arial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fr-FR" sz="2400" dirty="0">
                <a:latin typeface="Arial" pitchFamily="34" charset="0"/>
                <a:cs typeface="Arial" pitchFamily="34" charset="0"/>
              </a:rPr>
              <a:t>Amaigrissement avec déshydratation extracellulaire </a:t>
            </a:r>
          </a:p>
          <a:p>
            <a:pPr>
              <a:buFont typeface="Arial" pitchFamily="34" charset="0"/>
              <a:buChar char="•"/>
            </a:pPr>
            <a:r>
              <a:rPr lang="fr-FR" sz="2400" dirty="0">
                <a:latin typeface="Arial" pitchFamily="34" charset="0"/>
                <a:cs typeface="Arial" pitchFamily="34" charset="0"/>
              </a:rPr>
              <a:t>Asthénie</a:t>
            </a:r>
          </a:p>
          <a:p>
            <a:pPr>
              <a:buFont typeface="Arial" pitchFamily="34" charset="0"/>
              <a:buChar char="•"/>
            </a:pPr>
            <a:r>
              <a:rPr lang="fr-FR" sz="2400" dirty="0">
                <a:latin typeface="Arial" pitchFamily="34" charset="0"/>
                <a:cs typeface="Arial" pitchFamily="34" charset="0"/>
              </a:rPr>
              <a:t>Fièvre </a:t>
            </a:r>
          </a:p>
        </p:txBody>
      </p:sp>
      <p:sp>
        <p:nvSpPr>
          <p:cNvPr id="7" name="Flèche droite 6"/>
          <p:cNvSpPr/>
          <p:nvPr/>
        </p:nvSpPr>
        <p:spPr>
          <a:xfrm>
            <a:off x="4722775" y="5305400"/>
            <a:ext cx="571504" cy="12919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32049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76211" y="285728"/>
            <a:ext cx="11233248" cy="63367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 3"/>
          <p:cNvSpPr/>
          <p:nvPr/>
        </p:nvSpPr>
        <p:spPr>
          <a:xfrm>
            <a:off x="857213" y="714357"/>
            <a:ext cx="10287072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3600" b="1" i="1" dirty="0">
                <a:solidFill>
                  <a:srgbClr val="FF6600"/>
                </a:solidFill>
                <a:latin typeface="Arial" pitchFamily="34" charset="0"/>
                <a:cs typeface="Arial" pitchFamily="34" charset="0"/>
              </a:rPr>
              <a:t>Manifestations cardiovasculaires </a:t>
            </a:r>
            <a:r>
              <a:rPr lang="fr-FR" sz="3200" b="1" i="1" dirty="0">
                <a:solidFill>
                  <a:srgbClr val="FF6600"/>
                </a:solidFill>
                <a:latin typeface="Arial" pitchFamily="34" charset="0"/>
                <a:cs typeface="Arial" pitchFamily="34" charset="0"/>
              </a:rPr>
              <a:t>:</a:t>
            </a:r>
          </a:p>
          <a:p>
            <a:endParaRPr lang="fr-FR" sz="3200" b="1" i="1" dirty="0">
              <a:solidFill>
                <a:srgbClr val="FF6600"/>
              </a:solidFill>
              <a:latin typeface="Arial" pitchFamily="34" charset="0"/>
              <a:cs typeface="Arial" pitchFamily="34" charset="0"/>
            </a:endParaRPr>
          </a:p>
          <a:p>
            <a:endParaRPr lang="fr-FR" sz="2400" dirty="0">
              <a:solidFill>
                <a:srgbClr val="FF6600"/>
              </a:solidFill>
              <a:latin typeface="Arial" pitchFamily="34" charset="0"/>
              <a:cs typeface="Arial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fr-FR" sz="2400" dirty="0">
                <a:latin typeface="Arial" pitchFamily="34" charset="0"/>
                <a:cs typeface="Arial" pitchFamily="34" charset="0"/>
              </a:rPr>
              <a:t>Graves:    Troubles du rythme         mort subite</a:t>
            </a:r>
          </a:p>
          <a:p>
            <a:pPr>
              <a:buFont typeface="Arial" pitchFamily="34" charset="0"/>
              <a:buChar char="•"/>
            </a:pPr>
            <a:endParaRPr lang="fr-FR" sz="2400" dirty="0">
              <a:latin typeface="Arial" pitchFamily="34" charset="0"/>
              <a:cs typeface="Arial" pitchFamily="34" charset="0"/>
            </a:endParaRPr>
          </a:p>
          <a:p>
            <a:pPr marL="0" lvl="1">
              <a:buFont typeface="Arial" pitchFamily="34" charset="0"/>
              <a:buChar char="•"/>
            </a:pPr>
            <a:r>
              <a:rPr lang="fr-FR" sz="2400" dirty="0">
                <a:latin typeface="Arial" pitchFamily="34" charset="0"/>
                <a:cs typeface="Arial" pitchFamily="34" charset="0"/>
              </a:rPr>
              <a:t>Hypertension artérielle. </a:t>
            </a:r>
          </a:p>
          <a:p>
            <a:pPr>
              <a:buFont typeface="Arial" pitchFamily="34" charset="0"/>
              <a:buChar char="•"/>
            </a:pPr>
            <a:endParaRPr lang="fr-FR" sz="2200" dirty="0">
              <a:latin typeface="Arial" pitchFamily="34" charset="0"/>
              <a:cs typeface="Arial" pitchFamily="34" charset="0"/>
            </a:endParaRPr>
          </a:p>
          <a:p>
            <a:r>
              <a:rPr lang="fr-FR" sz="2200" dirty="0">
                <a:latin typeface="Arial" pitchFamily="34" charset="0"/>
                <a:cs typeface="Arial" pitchFamily="34" charset="0"/>
              </a:rPr>
              <a:t>       </a:t>
            </a:r>
          </a:p>
          <a:p>
            <a:r>
              <a:rPr lang="fr-FR" sz="2200" dirty="0">
                <a:latin typeface="Arial" pitchFamily="34" charset="0"/>
                <a:cs typeface="Arial" pitchFamily="34" charset="0"/>
              </a:rPr>
              <a:t>        </a:t>
            </a:r>
          </a:p>
          <a:p>
            <a:r>
              <a:rPr lang="fr-FR" sz="2200" dirty="0">
                <a:latin typeface="Arial" pitchFamily="34" charset="0"/>
                <a:cs typeface="Arial" pitchFamily="34" charset="0"/>
              </a:rPr>
              <a:t>        Raccourcissement du segment ST + l’intervalle QT</a:t>
            </a:r>
          </a:p>
          <a:p>
            <a:pPr>
              <a:buFont typeface="Arial" pitchFamily="34" charset="0"/>
              <a:buChar char="•"/>
            </a:pPr>
            <a:endParaRPr lang="fr-FR" sz="2200" dirty="0">
              <a:latin typeface="Arial" pitchFamily="34" charset="0"/>
              <a:cs typeface="Arial" pitchFamily="34" charset="0"/>
            </a:endParaRPr>
          </a:p>
          <a:p>
            <a:r>
              <a:rPr lang="fr-FR" sz="2200" dirty="0">
                <a:latin typeface="Arial" pitchFamily="34" charset="0"/>
                <a:cs typeface="Arial" pitchFamily="34" charset="0"/>
              </a:rPr>
              <a:t>        </a:t>
            </a:r>
            <a:r>
              <a:rPr lang="fr-FR" sz="2200" u="sng" dirty="0">
                <a:latin typeface="Arial" pitchFamily="34" charset="0"/>
                <a:cs typeface="Arial" pitchFamily="34" charset="0"/>
              </a:rPr>
              <a:t>Hyper Ca</a:t>
            </a:r>
            <a:r>
              <a:rPr lang="fr-FR" sz="2200" u="sng" baseline="30000" dirty="0">
                <a:latin typeface="Arial" pitchFamily="34" charset="0"/>
                <a:cs typeface="Arial" pitchFamily="34" charset="0"/>
              </a:rPr>
              <a:t>2+</a:t>
            </a:r>
            <a:r>
              <a:rPr lang="fr-FR" sz="2200" u="sng" dirty="0">
                <a:latin typeface="Arial" pitchFamily="34" charset="0"/>
                <a:cs typeface="Arial" pitchFamily="34" charset="0"/>
              </a:rPr>
              <a:t> aiguë</a:t>
            </a:r>
            <a:r>
              <a:rPr lang="fr-FR" sz="2200" dirty="0">
                <a:latin typeface="Arial" pitchFamily="34" charset="0"/>
                <a:cs typeface="Arial" pitchFamily="34" charset="0"/>
              </a:rPr>
              <a:t>: troubles du rythme ventriculaires </a:t>
            </a:r>
          </a:p>
          <a:p>
            <a:r>
              <a:rPr lang="fr-FR" sz="2200" dirty="0">
                <a:latin typeface="Arial" pitchFamily="34" charset="0"/>
                <a:cs typeface="Arial" pitchFamily="34" charset="0"/>
              </a:rPr>
              <a:t>    (ESV,  Tachycardie ventriculaire, Fibrillation ventriculaire) </a:t>
            </a:r>
          </a:p>
          <a:p>
            <a:r>
              <a:rPr lang="fr-FR" sz="2200" dirty="0">
                <a:latin typeface="Arial" pitchFamily="34" charset="0"/>
                <a:cs typeface="Arial" pitchFamily="34" charset="0"/>
              </a:rPr>
              <a:t>     </a:t>
            </a:r>
          </a:p>
          <a:p>
            <a:r>
              <a:rPr lang="fr-FR" sz="2200" dirty="0">
                <a:latin typeface="Arial" pitchFamily="34" charset="0"/>
                <a:cs typeface="Arial" pitchFamily="34" charset="0"/>
              </a:rPr>
              <a:t>         </a:t>
            </a:r>
            <a:r>
              <a:rPr lang="fr-FR" sz="2200" u="sng" dirty="0">
                <a:latin typeface="Arial" pitchFamily="34" charset="0"/>
                <a:cs typeface="Arial" pitchFamily="34" charset="0"/>
              </a:rPr>
              <a:t>Hyper Ca</a:t>
            </a:r>
            <a:r>
              <a:rPr lang="fr-FR" sz="2200" u="sng" baseline="30000" dirty="0">
                <a:latin typeface="Arial" pitchFamily="34" charset="0"/>
                <a:cs typeface="Arial" pitchFamily="34" charset="0"/>
              </a:rPr>
              <a:t>2+</a:t>
            </a:r>
            <a:r>
              <a:rPr lang="fr-FR" sz="2200" u="sng" dirty="0">
                <a:latin typeface="Arial" pitchFamily="34" charset="0"/>
                <a:cs typeface="Arial" pitchFamily="34" charset="0"/>
              </a:rPr>
              <a:t> chronique</a:t>
            </a:r>
            <a:r>
              <a:rPr lang="fr-FR" sz="2200" dirty="0">
                <a:latin typeface="Arial" pitchFamily="34" charset="0"/>
                <a:cs typeface="Arial" pitchFamily="34" charset="0"/>
              </a:rPr>
              <a:t>: BAV , fibrillation auriculaire</a:t>
            </a:r>
          </a:p>
          <a:p>
            <a:pPr>
              <a:buFont typeface="Arial" pitchFamily="34" charset="0"/>
              <a:buChar char="•"/>
            </a:pPr>
            <a:endParaRPr lang="fr-FR" sz="22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Flèche droite 5"/>
          <p:cNvSpPr/>
          <p:nvPr/>
        </p:nvSpPr>
        <p:spPr>
          <a:xfrm>
            <a:off x="5173464" y="2289572"/>
            <a:ext cx="571504" cy="214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à coins arrondis 6"/>
          <p:cNvSpPr/>
          <p:nvPr/>
        </p:nvSpPr>
        <p:spPr>
          <a:xfrm>
            <a:off x="1142965" y="3786190"/>
            <a:ext cx="10096571" cy="2643206"/>
          </a:xfrm>
          <a:prstGeom prst="roundRect">
            <a:avLst/>
          </a:prstGeom>
          <a:noFill/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/>
          <p:cNvSpPr txBox="1"/>
          <p:nvPr/>
        </p:nvSpPr>
        <p:spPr>
          <a:xfrm>
            <a:off x="4857741" y="3143248"/>
            <a:ext cx="26670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u="sng" dirty="0">
                <a:solidFill>
                  <a:srgbClr val="FF6600"/>
                </a:solidFill>
              </a:rPr>
              <a:t>ECG</a:t>
            </a:r>
          </a:p>
        </p:txBody>
      </p:sp>
    </p:spTree>
    <p:extLst>
      <p:ext uri="{BB962C8B-B14F-4D97-AF65-F5344CB8AC3E}">
        <p14:creationId xmlns:p14="http://schemas.microsoft.com/office/powerpoint/2010/main" val="4287313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55660" y="260648"/>
            <a:ext cx="11233248" cy="63367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Rectangle 3"/>
          <p:cNvSpPr/>
          <p:nvPr/>
        </p:nvSpPr>
        <p:spPr>
          <a:xfrm>
            <a:off x="1103446" y="391317"/>
            <a:ext cx="9121013" cy="59400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3200" b="1" i="1" dirty="0">
                <a:solidFill>
                  <a:srgbClr val="FF6600"/>
                </a:solidFill>
                <a:latin typeface="Arial" pitchFamily="34" charset="0"/>
                <a:cs typeface="Arial" pitchFamily="34" charset="0"/>
              </a:rPr>
              <a:t>Signes neurologiques </a:t>
            </a:r>
          </a:p>
          <a:p>
            <a:r>
              <a:rPr lang="fr-FR" sz="3200" b="1" i="1" dirty="0">
                <a:solidFill>
                  <a:srgbClr val="FF6600"/>
                </a:solidFill>
                <a:latin typeface="Arial" pitchFamily="34" charset="0"/>
                <a:cs typeface="Arial" pitchFamily="34" charset="0"/>
              </a:rPr>
              <a:t>        et psychiatriques: </a:t>
            </a:r>
          </a:p>
          <a:p>
            <a:endParaRPr lang="fr-FR" sz="2800" dirty="0">
              <a:solidFill>
                <a:srgbClr val="FF6600"/>
              </a:solidFill>
              <a:latin typeface="Arial" pitchFamily="34" charset="0"/>
              <a:cs typeface="Arial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fr-FR" sz="2400" dirty="0">
                <a:latin typeface="Arial" pitchFamily="34" charset="0"/>
                <a:cs typeface="Arial" pitchFamily="34" charset="0"/>
              </a:rPr>
              <a:t> Céphalées</a:t>
            </a:r>
          </a:p>
          <a:p>
            <a:pPr>
              <a:buFont typeface="Arial" pitchFamily="34" charset="0"/>
              <a:buChar char="•"/>
            </a:pPr>
            <a:endParaRPr lang="fr-FR" sz="2400" dirty="0">
              <a:latin typeface="Arial" pitchFamily="34" charset="0"/>
              <a:cs typeface="Arial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fr-FR" sz="2400" dirty="0">
                <a:latin typeface="Arial" pitchFamily="34" charset="0"/>
                <a:cs typeface="Arial" pitchFamily="34" charset="0"/>
              </a:rPr>
              <a:t> Asthénie physique ou psychique</a:t>
            </a:r>
          </a:p>
          <a:p>
            <a:pPr>
              <a:buFont typeface="Arial" pitchFamily="34" charset="0"/>
              <a:buChar char="•"/>
            </a:pPr>
            <a:endParaRPr lang="fr-FR" sz="2400" dirty="0">
              <a:latin typeface="Arial" pitchFamily="34" charset="0"/>
              <a:cs typeface="Arial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fr-FR" sz="2400" dirty="0">
                <a:latin typeface="Arial" pitchFamily="34" charset="0"/>
                <a:cs typeface="Arial" pitchFamily="34" charset="0"/>
              </a:rPr>
              <a:t> Hypotonie musculaire </a:t>
            </a:r>
          </a:p>
          <a:p>
            <a:pPr>
              <a:buFont typeface="Arial" pitchFamily="34" charset="0"/>
              <a:buChar char="•"/>
            </a:pPr>
            <a:endParaRPr lang="fr-FR" sz="2400" dirty="0">
              <a:latin typeface="Arial" pitchFamily="34" charset="0"/>
              <a:cs typeface="Arial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fr-FR" sz="2400" dirty="0">
                <a:latin typeface="Arial" pitchFamily="34" charset="0"/>
                <a:cs typeface="Arial" pitchFamily="34" charset="0"/>
              </a:rPr>
              <a:t>Diminution des réflexes </a:t>
            </a:r>
            <a:r>
              <a:rPr lang="fr-FR" sz="2400" dirty="0" err="1">
                <a:latin typeface="Arial" pitchFamily="34" charset="0"/>
                <a:cs typeface="Arial" pitchFamily="34" charset="0"/>
              </a:rPr>
              <a:t>ostéotendineux</a:t>
            </a:r>
            <a:endParaRPr lang="fr-FR" sz="2400" dirty="0">
              <a:latin typeface="Arial" pitchFamily="34" charset="0"/>
              <a:cs typeface="Arial" pitchFamily="34" charset="0"/>
            </a:endParaRPr>
          </a:p>
          <a:p>
            <a:pPr>
              <a:buFont typeface="Arial" pitchFamily="34" charset="0"/>
              <a:buChar char="•"/>
            </a:pPr>
            <a:endParaRPr lang="fr-FR" sz="2400" dirty="0">
              <a:latin typeface="Arial" pitchFamily="34" charset="0"/>
              <a:cs typeface="Arial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fr-FR" sz="2400" dirty="0">
                <a:latin typeface="Arial" pitchFamily="34" charset="0"/>
                <a:cs typeface="Arial" pitchFamily="34" charset="0"/>
              </a:rPr>
              <a:t> Confusion mentale, somnolence et coma </a:t>
            </a:r>
          </a:p>
          <a:p>
            <a:pPr>
              <a:buFont typeface="Arial" pitchFamily="34" charset="0"/>
              <a:buChar char="•"/>
            </a:pPr>
            <a:endParaRPr lang="fr-FR" sz="2400" dirty="0">
              <a:latin typeface="Arial" pitchFamily="34" charset="0"/>
              <a:cs typeface="Arial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fr-FR" sz="2400" dirty="0">
                <a:latin typeface="Arial" pitchFamily="34" charset="0"/>
                <a:cs typeface="Arial" pitchFamily="34" charset="0"/>
              </a:rPr>
              <a:t> Symptôme psychiatrique </a:t>
            </a:r>
          </a:p>
          <a:p>
            <a:r>
              <a:rPr lang="fr-FR" sz="2400" dirty="0">
                <a:latin typeface="Arial" pitchFamily="34" charset="0"/>
                <a:cs typeface="Arial" pitchFamily="34" charset="0"/>
              </a:rPr>
              <a:t>(agitation ou syndrome dépressif, etc.)</a:t>
            </a:r>
          </a:p>
        </p:txBody>
      </p:sp>
    </p:spTree>
    <p:extLst>
      <p:ext uri="{BB962C8B-B14F-4D97-AF65-F5344CB8AC3E}">
        <p14:creationId xmlns:p14="http://schemas.microsoft.com/office/powerpoint/2010/main" val="761941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52352" y="260648"/>
            <a:ext cx="11233248" cy="63367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/>
          <p:cNvSpPr/>
          <p:nvPr/>
        </p:nvSpPr>
        <p:spPr>
          <a:xfrm>
            <a:off x="766033" y="595853"/>
            <a:ext cx="11425967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3600" b="1" i="1" dirty="0">
                <a:solidFill>
                  <a:srgbClr val="FF6600"/>
                </a:solidFill>
                <a:latin typeface="Arial" pitchFamily="34" charset="0"/>
                <a:cs typeface="Arial" pitchFamily="34" charset="0"/>
              </a:rPr>
              <a:t>Manifestations rénales :</a:t>
            </a:r>
          </a:p>
          <a:p>
            <a:endParaRPr lang="fr-FR" sz="3600" b="1" i="1" dirty="0">
              <a:solidFill>
                <a:srgbClr val="FF6600"/>
              </a:solidFill>
              <a:latin typeface="Arial" pitchFamily="34" charset="0"/>
              <a:cs typeface="Arial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fr-FR" sz="2200" dirty="0">
                <a:latin typeface="Arial" pitchFamily="34" charset="0"/>
                <a:cs typeface="Arial" pitchFamily="34" charset="0"/>
              </a:rPr>
              <a:t> </a:t>
            </a:r>
            <a:r>
              <a:rPr lang="fr-FR" sz="2400" dirty="0">
                <a:latin typeface="Arial" pitchFamily="34" charset="0"/>
                <a:cs typeface="Arial" pitchFamily="34" charset="0"/>
              </a:rPr>
              <a:t>Syndrome </a:t>
            </a:r>
            <a:r>
              <a:rPr lang="fr-FR" sz="2400" dirty="0" err="1">
                <a:latin typeface="Arial" pitchFamily="34" charset="0"/>
                <a:cs typeface="Arial" pitchFamily="34" charset="0"/>
              </a:rPr>
              <a:t>polyuro-polydypsique</a:t>
            </a:r>
            <a:r>
              <a:rPr lang="fr-FR" sz="2400" dirty="0">
                <a:latin typeface="Arial" pitchFamily="34" charset="0"/>
                <a:cs typeface="Arial" pitchFamily="34" charset="0"/>
              </a:rPr>
              <a:t> (20 %): </a:t>
            </a:r>
          </a:p>
          <a:p>
            <a:r>
              <a:rPr lang="fr-FR" sz="2400" dirty="0">
                <a:latin typeface="Arial" pitchFamily="34" charset="0"/>
                <a:cs typeface="Arial" pitchFamily="34" charset="0"/>
              </a:rPr>
              <a:t>                 Dysfonction tubulaire  </a:t>
            </a:r>
          </a:p>
          <a:p>
            <a:pPr>
              <a:buFont typeface="Arial" pitchFamily="34" charset="0"/>
              <a:buChar char="•"/>
            </a:pPr>
            <a:endParaRPr lang="fr-FR" sz="2400" dirty="0">
              <a:latin typeface="Arial" pitchFamily="34" charset="0"/>
              <a:cs typeface="Arial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fr-FR" sz="2400" dirty="0">
                <a:latin typeface="Arial" pitchFamily="34" charset="0"/>
                <a:cs typeface="Arial" pitchFamily="34" charset="0"/>
              </a:rPr>
              <a:t> Insuffisance rénale. </a:t>
            </a:r>
          </a:p>
          <a:p>
            <a:r>
              <a:rPr lang="fr-FR" sz="2400" dirty="0">
                <a:latin typeface="Arial" pitchFamily="34" charset="0"/>
                <a:cs typeface="Arial" pitchFamily="34" charset="0"/>
              </a:rPr>
              <a:t> </a:t>
            </a:r>
          </a:p>
          <a:p>
            <a:r>
              <a:rPr lang="fr-FR" sz="2400" u="sng" dirty="0">
                <a:latin typeface="Arial" pitchFamily="34" charset="0"/>
                <a:cs typeface="Arial" pitchFamily="34" charset="0"/>
              </a:rPr>
              <a:t>Hypercalcémie chronique :</a:t>
            </a:r>
            <a:r>
              <a:rPr lang="fr-FR" sz="2400" dirty="0">
                <a:latin typeface="Arial" pitchFamily="34" charset="0"/>
                <a:cs typeface="Arial" pitchFamily="34" charset="0"/>
              </a:rPr>
              <a:t> </a:t>
            </a:r>
          </a:p>
          <a:p>
            <a:pPr>
              <a:buFont typeface="Wingdings" pitchFamily="2" charset="2"/>
              <a:buChar char="ü"/>
            </a:pPr>
            <a:r>
              <a:rPr lang="fr-FR" sz="2400" dirty="0">
                <a:latin typeface="Arial" pitchFamily="34" charset="0"/>
                <a:cs typeface="Arial" pitchFamily="34" charset="0"/>
              </a:rPr>
              <a:t> Lithiases de phosphates ou d’oxalate de calcium </a:t>
            </a:r>
          </a:p>
          <a:p>
            <a:r>
              <a:rPr lang="fr-FR" sz="2400" dirty="0">
                <a:latin typeface="Arial" pitchFamily="34" charset="0"/>
                <a:cs typeface="Arial" pitchFamily="34" charset="0"/>
              </a:rPr>
              <a:t>(coliques néphrétiques, hématurie ou infection urinaire)</a:t>
            </a:r>
          </a:p>
          <a:p>
            <a:r>
              <a:rPr lang="fr-FR" sz="2400" dirty="0">
                <a:latin typeface="Arial" pitchFamily="34" charset="0"/>
                <a:cs typeface="Arial" pitchFamily="34" charset="0"/>
              </a:rPr>
              <a:t> </a:t>
            </a:r>
          </a:p>
          <a:p>
            <a:pPr>
              <a:buFont typeface="Wingdings" pitchFamily="2" charset="2"/>
              <a:buChar char="ü"/>
            </a:pPr>
            <a:r>
              <a:rPr lang="fr-FR" sz="2400" dirty="0">
                <a:latin typeface="Arial" pitchFamily="34" charset="0"/>
                <a:cs typeface="Arial" pitchFamily="34" charset="0"/>
              </a:rPr>
              <a:t> </a:t>
            </a:r>
            <a:r>
              <a:rPr lang="fr-FR" sz="2400" dirty="0" err="1">
                <a:latin typeface="Arial" pitchFamily="34" charset="0"/>
                <a:cs typeface="Arial" pitchFamily="34" charset="0"/>
              </a:rPr>
              <a:t>Néphrocalcinose</a:t>
            </a:r>
            <a:r>
              <a:rPr lang="fr-FR" sz="2400" dirty="0">
                <a:latin typeface="Arial" pitchFamily="34" charset="0"/>
                <a:cs typeface="Arial" pitchFamily="34" charset="0"/>
              </a:rPr>
              <a:t>  </a:t>
            </a:r>
          </a:p>
          <a:p>
            <a:pPr>
              <a:buFont typeface="Wingdings" pitchFamily="2" charset="2"/>
              <a:buChar char="ü"/>
            </a:pPr>
            <a:endParaRPr lang="fr-FR" sz="2400" dirty="0">
              <a:latin typeface="Arial" pitchFamily="34" charset="0"/>
              <a:cs typeface="Arial" pitchFamily="34" charset="0"/>
            </a:endParaRPr>
          </a:p>
          <a:p>
            <a:pPr>
              <a:buFont typeface="Wingdings" pitchFamily="2" charset="2"/>
              <a:buChar char="ü"/>
            </a:pPr>
            <a:r>
              <a:rPr lang="fr-FR" sz="2400" dirty="0">
                <a:latin typeface="Arial" pitchFamily="34" charset="0"/>
                <a:cs typeface="Arial" pitchFamily="34" charset="0"/>
              </a:rPr>
              <a:t> Insuffisance rénale obstructive ou chronique. </a:t>
            </a:r>
          </a:p>
        </p:txBody>
      </p:sp>
    </p:spTree>
    <p:extLst>
      <p:ext uri="{BB962C8B-B14F-4D97-AF65-F5344CB8AC3E}">
        <p14:creationId xmlns:p14="http://schemas.microsoft.com/office/powerpoint/2010/main" val="761941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52352" y="260648"/>
            <a:ext cx="11233248" cy="63367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Rectangle 2"/>
          <p:cNvSpPr/>
          <p:nvPr/>
        </p:nvSpPr>
        <p:spPr>
          <a:xfrm>
            <a:off x="666712" y="714356"/>
            <a:ext cx="11381949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3600" b="1" i="1" dirty="0">
                <a:solidFill>
                  <a:srgbClr val="FF6600"/>
                </a:solidFill>
                <a:latin typeface="Arial" pitchFamily="34" charset="0"/>
                <a:cs typeface="Arial" pitchFamily="34" charset="0"/>
              </a:rPr>
              <a:t>Manifestations rhumatologiques :</a:t>
            </a:r>
          </a:p>
          <a:p>
            <a:endParaRPr lang="fr-FR" sz="3600" b="1" i="1" dirty="0">
              <a:solidFill>
                <a:srgbClr val="FF6600"/>
              </a:solidFill>
              <a:latin typeface="Arial" pitchFamily="34" charset="0"/>
              <a:cs typeface="Arial" pitchFamily="34" charset="0"/>
            </a:endParaRPr>
          </a:p>
          <a:p>
            <a:endParaRPr lang="fr-FR" sz="2200" dirty="0">
              <a:solidFill>
                <a:srgbClr val="FF6600"/>
              </a:solidFill>
              <a:latin typeface="Arial" pitchFamily="34" charset="0"/>
              <a:cs typeface="Arial" pitchFamily="34" charset="0"/>
            </a:endParaRPr>
          </a:p>
          <a:p>
            <a:endParaRPr lang="fr-FR" sz="2400" dirty="0">
              <a:latin typeface="Arial" pitchFamily="34" charset="0"/>
              <a:cs typeface="Arial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fr-FR" sz="2400" dirty="0">
                <a:latin typeface="Arial" pitchFamily="34" charset="0"/>
                <a:cs typeface="Arial" pitchFamily="34" charset="0"/>
              </a:rPr>
              <a:t>Chondrocalcinose (cristaux de pyrophosphate de calcium)</a:t>
            </a:r>
          </a:p>
          <a:p>
            <a:endParaRPr lang="fr-FR" sz="2400" dirty="0">
              <a:latin typeface="Arial" pitchFamily="34" charset="0"/>
              <a:cs typeface="Arial" pitchFamily="34" charset="0"/>
            </a:endParaRPr>
          </a:p>
          <a:p>
            <a:r>
              <a:rPr lang="fr-FR" sz="2400" u="sng" dirty="0">
                <a:latin typeface="Arial" pitchFamily="34" charset="0"/>
                <a:cs typeface="Arial" pitchFamily="34" charset="0"/>
              </a:rPr>
              <a:t>Signes radiologiques : </a:t>
            </a:r>
          </a:p>
          <a:p>
            <a:pPr>
              <a:buFontTx/>
              <a:buChar char="-"/>
            </a:pPr>
            <a:r>
              <a:rPr lang="fr-FR" sz="2400" dirty="0">
                <a:latin typeface="Arial" pitchFamily="34" charset="0"/>
                <a:cs typeface="Arial" pitchFamily="34" charset="0"/>
              </a:rPr>
              <a:t> Opacités des </a:t>
            </a:r>
            <a:r>
              <a:rPr lang="fr-FR" sz="2400" dirty="0" err="1">
                <a:latin typeface="Arial" pitchFamily="34" charset="0"/>
                <a:cs typeface="Arial" pitchFamily="34" charset="0"/>
              </a:rPr>
              <a:t>fibro-cartilages</a:t>
            </a:r>
            <a:r>
              <a:rPr lang="fr-FR" sz="2400" dirty="0">
                <a:latin typeface="Arial" pitchFamily="34" charset="0"/>
                <a:cs typeface="Arial" pitchFamily="34" charset="0"/>
              </a:rPr>
              <a:t>.</a:t>
            </a:r>
          </a:p>
          <a:p>
            <a:r>
              <a:rPr lang="fr-FR" sz="2400" dirty="0">
                <a:latin typeface="Arial" pitchFamily="34" charset="0"/>
                <a:cs typeface="Arial" pitchFamily="34" charset="0"/>
              </a:rPr>
              <a:t>- Calcifications capsulaires et tendineuses</a:t>
            </a:r>
          </a:p>
          <a:p>
            <a:r>
              <a:rPr lang="fr-FR" sz="2400" dirty="0">
                <a:latin typeface="Arial" pitchFamily="34" charset="0"/>
                <a:cs typeface="Arial" pitchFamily="34" charset="0"/>
              </a:rPr>
              <a:t>- Calcifications ligamentaires</a:t>
            </a:r>
          </a:p>
        </p:txBody>
      </p:sp>
    </p:spTree>
    <p:extLst>
      <p:ext uri="{BB962C8B-B14F-4D97-AF65-F5344CB8AC3E}">
        <p14:creationId xmlns:p14="http://schemas.microsoft.com/office/powerpoint/2010/main" val="761941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79624" y="0"/>
            <a:ext cx="11137237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Hypercalcémies</a:t>
            </a:r>
          </a:p>
          <a:p>
            <a:pPr algn="ctr"/>
            <a:r>
              <a:rPr lang="fr-FR" sz="32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prolongées et chroniques</a:t>
            </a:r>
          </a:p>
          <a:p>
            <a:endParaRPr lang="fr-FR" sz="2400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2400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fr-FR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Lithiases rénales 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calciques (bilatérales et récidivantes)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fr-F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Une insuffisance rénale de type </a:t>
            </a:r>
            <a:r>
              <a:rPr lang="fr-FR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néphropathie interstitielle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fr-F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fr-FR" sz="2400" i="1" u="sng" dirty="0">
                <a:latin typeface="Arial" panose="020B0604020202020204" pitchFamily="34" charset="0"/>
                <a:cs typeface="Arial" panose="020B0604020202020204" pitchFamily="34" charset="0"/>
              </a:rPr>
              <a:t>Calcifications ectopiques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Parenchyme rénal: </a:t>
            </a:r>
            <a:r>
              <a:rPr lang="fr-FR" sz="24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néphrocalcinose</a:t>
            </a:r>
            <a:endParaRPr lang="fr-FR" sz="24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Artères: </a:t>
            </a:r>
            <a:r>
              <a:rPr lang="fr-FR" sz="2400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médiacalcose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artérielle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Dépôts sous-cutanés: </a:t>
            </a:r>
            <a:r>
              <a:rPr lang="fr-FR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prurit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Articulations: </a:t>
            </a:r>
            <a:r>
              <a:rPr lang="fr-FR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Chondrocalcinose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Yeux: Cornée, </a:t>
            </a:r>
            <a:r>
              <a:rPr lang="fr-FR" sz="240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conjonctives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832850" y="0"/>
            <a:ext cx="2857500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001327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contenu 2"/>
          <p:cNvSpPr>
            <a:spLocks noGrp="1"/>
          </p:cNvSpPr>
          <p:nvPr>
            <p:ph idx="4294967295"/>
          </p:nvPr>
        </p:nvSpPr>
        <p:spPr>
          <a:xfrm>
            <a:off x="457200" y="1271064"/>
            <a:ext cx="11188700" cy="4253436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algn="just"/>
            <a:r>
              <a:rPr lang="fr-FR" b="1" cap="none" dirty="0">
                <a:latin typeface="Arial" panose="020B0604020202020204" pitchFamily="34" charset="0"/>
                <a:cs typeface="Arial" pitchFamily="34" charset="0"/>
              </a:rPr>
              <a:t>Ca</a:t>
            </a:r>
            <a:r>
              <a:rPr lang="fr-FR" b="1" cap="none" baseline="30000" dirty="0">
                <a:latin typeface="Arial" pitchFamily="34" charset="0"/>
                <a:cs typeface="Arial" pitchFamily="34" charset="0"/>
              </a:rPr>
              <a:t>2+ </a:t>
            </a:r>
            <a:r>
              <a:rPr lang="fr-FR" b="1" cap="none" dirty="0">
                <a:latin typeface="Arial" panose="020B0604020202020204" pitchFamily="34" charset="0"/>
                <a:cs typeface="Arial" pitchFamily="34" charset="0"/>
              </a:rPr>
              <a:t>= [</a:t>
            </a:r>
            <a:r>
              <a:rPr lang="fr-FR" b="1" cap="none" dirty="0" smtClean="0">
                <a:latin typeface="Arial" panose="020B0604020202020204" pitchFamily="34" charset="0"/>
                <a:cs typeface="Arial" pitchFamily="34" charset="0"/>
              </a:rPr>
              <a:t>2,6 </a:t>
            </a:r>
            <a:r>
              <a:rPr lang="fr-FR" b="1" cap="none" dirty="0">
                <a:latin typeface="Arial" panose="020B0604020202020204" pitchFamily="34" charset="0"/>
                <a:cs typeface="Arial" pitchFamily="34" charset="0"/>
              </a:rPr>
              <a:t>- 3 </a:t>
            </a:r>
            <a:r>
              <a:rPr lang="fr-FR" b="1" cap="none" dirty="0" err="1">
                <a:latin typeface="Arial" panose="020B0604020202020204" pitchFamily="34" charset="0"/>
                <a:cs typeface="Arial" pitchFamily="34" charset="0"/>
              </a:rPr>
              <a:t>mmol</a:t>
            </a:r>
            <a:r>
              <a:rPr lang="fr-FR" b="1" cap="none" dirty="0">
                <a:latin typeface="Arial" panose="020B0604020202020204" pitchFamily="34" charset="0"/>
                <a:cs typeface="Arial" pitchFamily="34" charset="0"/>
              </a:rPr>
              <a:t>/L] (106 - 120mg/L)          </a:t>
            </a:r>
            <a:r>
              <a:rPr lang="fr-FR" cap="none" dirty="0">
                <a:latin typeface="Arial" pitchFamily="34" charset="0"/>
                <a:cs typeface="Arial" pitchFamily="34" charset="0"/>
              </a:rPr>
              <a:t>hypercalcémie </a:t>
            </a:r>
            <a:r>
              <a:rPr lang="fr-FR" b="1" cap="none" dirty="0">
                <a:latin typeface="Arial" panose="020B0604020202020204" pitchFamily="34" charset="0"/>
                <a:cs typeface="Arial" pitchFamily="34" charset="0"/>
              </a:rPr>
              <a:t>modérée </a:t>
            </a:r>
          </a:p>
          <a:p>
            <a:pPr algn="just">
              <a:buNone/>
            </a:pPr>
            <a:r>
              <a:rPr lang="fr-FR" cap="none" dirty="0">
                <a:latin typeface="Arial" pitchFamily="34" charset="0"/>
                <a:cs typeface="Arial" pitchFamily="34" charset="0"/>
              </a:rPr>
              <a:t>    *souvent de découverte fortuite, asymptomatique + évolue sur un mode chronique.</a:t>
            </a:r>
          </a:p>
          <a:p>
            <a:pPr algn="just">
              <a:buNone/>
            </a:pPr>
            <a:endParaRPr lang="fr-FR" cap="none" dirty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fr-FR" b="1" cap="none" dirty="0">
                <a:latin typeface="Arial" panose="020B0604020202020204" pitchFamily="34" charset="0"/>
                <a:cs typeface="Arial" pitchFamily="34" charset="0"/>
              </a:rPr>
              <a:t>Ca</a:t>
            </a:r>
            <a:r>
              <a:rPr lang="fr-FR" b="1" cap="none" baseline="30000" dirty="0">
                <a:latin typeface="Arial" pitchFamily="34" charset="0"/>
                <a:cs typeface="Arial" pitchFamily="34" charset="0"/>
              </a:rPr>
              <a:t>2+ </a:t>
            </a:r>
            <a:r>
              <a:rPr lang="fr-FR" b="1" cap="none" dirty="0">
                <a:latin typeface="Arial" panose="020B0604020202020204" pitchFamily="34" charset="0"/>
                <a:cs typeface="Arial" pitchFamily="34" charset="0"/>
              </a:rPr>
              <a:t>= [3 - 3,5 </a:t>
            </a:r>
            <a:r>
              <a:rPr lang="fr-FR" b="1" cap="none" dirty="0" err="1">
                <a:latin typeface="Arial" panose="020B0604020202020204" pitchFamily="34" charset="0"/>
                <a:cs typeface="Arial" pitchFamily="34" charset="0"/>
              </a:rPr>
              <a:t>mmol</a:t>
            </a:r>
            <a:r>
              <a:rPr lang="fr-FR" b="1" cap="none" dirty="0">
                <a:latin typeface="Arial" panose="020B0604020202020204" pitchFamily="34" charset="0"/>
                <a:cs typeface="Arial" pitchFamily="34" charset="0"/>
              </a:rPr>
              <a:t>/l ] (120 à 140 mg/l)</a:t>
            </a:r>
            <a:r>
              <a:rPr lang="fr-FR" cap="none" dirty="0">
                <a:latin typeface="Arial" pitchFamily="34" charset="0"/>
                <a:cs typeface="Arial" pitchFamily="34" charset="0"/>
              </a:rPr>
              <a:t>          hypercalcémie </a:t>
            </a:r>
            <a:r>
              <a:rPr lang="fr-FR" b="1" cap="none" dirty="0">
                <a:latin typeface="Arial" panose="020B0604020202020204" pitchFamily="34" charset="0"/>
                <a:cs typeface="Arial" pitchFamily="34" charset="0"/>
              </a:rPr>
              <a:t>importante</a:t>
            </a:r>
            <a:r>
              <a:rPr lang="fr-FR" cap="none" dirty="0">
                <a:latin typeface="Arial" pitchFamily="34" charset="0"/>
                <a:cs typeface="Arial" pitchFamily="34" charset="0"/>
              </a:rPr>
              <a:t>  </a:t>
            </a:r>
          </a:p>
          <a:p>
            <a:pPr algn="just">
              <a:buNone/>
            </a:pPr>
            <a:r>
              <a:rPr lang="fr-FR" cap="none" dirty="0">
                <a:latin typeface="Arial" pitchFamily="34" charset="0"/>
                <a:cs typeface="Arial" pitchFamily="34" charset="0"/>
              </a:rPr>
              <a:t>*génératrice de symptômes systémiques très variés : rénaux, ostéo-articulaires ou digestifs</a:t>
            </a:r>
          </a:p>
          <a:p>
            <a:pPr algn="just">
              <a:buNone/>
            </a:pPr>
            <a:r>
              <a:rPr lang="fr-FR" cap="none" dirty="0">
                <a:latin typeface="Arial" pitchFamily="34" charset="0"/>
                <a:cs typeface="Arial" pitchFamily="34" charset="0"/>
              </a:rPr>
              <a:t>       traduisent un retentissement viscéral.</a:t>
            </a:r>
          </a:p>
          <a:p>
            <a:pPr algn="just">
              <a:buNone/>
            </a:pPr>
            <a:endParaRPr lang="fr-FR" cap="none" dirty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fr-FR" b="1" cap="none" dirty="0">
                <a:latin typeface="Arial" panose="020B0604020202020204" pitchFamily="34" charset="0"/>
                <a:cs typeface="Arial" pitchFamily="34" charset="0"/>
              </a:rPr>
              <a:t>Ca</a:t>
            </a:r>
            <a:r>
              <a:rPr lang="fr-FR" b="1" cap="none" baseline="30000" dirty="0">
                <a:latin typeface="Arial" pitchFamily="34" charset="0"/>
                <a:cs typeface="Arial" pitchFamily="34" charset="0"/>
              </a:rPr>
              <a:t>2+ </a:t>
            </a:r>
            <a:r>
              <a:rPr lang="fr-FR" b="1" cap="none" dirty="0">
                <a:latin typeface="Arial" panose="020B0604020202020204" pitchFamily="34" charset="0"/>
                <a:cs typeface="Arial" pitchFamily="34" charset="0"/>
              </a:rPr>
              <a:t>&gt; 3,5 </a:t>
            </a:r>
            <a:r>
              <a:rPr lang="fr-FR" b="1" cap="none" dirty="0" err="1">
                <a:latin typeface="Arial" panose="020B0604020202020204" pitchFamily="34" charset="0"/>
                <a:cs typeface="Arial" pitchFamily="34" charset="0"/>
              </a:rPr>
              <a:t>mmol</a:t>
            </a:r>
            <a:r>
              <a:rPr lang="fr-FR" b="1" cap="none" dirty="0">
                <a:latin typeface="Arial" panose="020B0604020202020204" pitchFamily="34" charset="0"/>
                <a:cs typeface="Arial" pitchFamily="34" charset="0"/>
              </a:rPr>
              <a:t>/l (&gt;140 mg/l)          </a:t>
            </a:r>
            <a:r>
              <a:rPr lang="fr-FR" cap="none" dirty="0">
                <a:latin typeface="Arial" pitchFamily="34" charset="0"/>
                <a:cs typeface="Arial" pitchFamily="34" charset="0"/>
              </a:rPr>
              <a:t>hypercalcémie </a:t>
            </a:r>
            <a:r>
              <a:rPr lang="fr-FR" b="1" cap="none" dirty="0">
                <a:latin typeface="Arial" panose="020B0604020202020204" pitchFamily="34" charset="0"/>
                <a:cs typeface="Arial" pitchFamily="34" charset="0"/>
              </a:rPr>
              <a:t>sévère</a:t>
            </a:r>
            <a:r>
              <a:rPr lang="fr-FR" cap="none" dirty="0">
                <a:latin typeface="Arial" pitchFamily="34" charset="0"/>
                <a:cs typeface="Arial" pitchFamily="34" charset="0"/>
              </a:rPr>
              <a:t> </a:t>
            </a:r>
          </a:p>
          <a:p>
            <a:pPr algn="just">
              <a:buNone/>
            </a:pPr>
            <a:r>
              <a:rPr lang="fr-FR" cap="none" dirty="0">
                <a:latin typeface="Arial" pitchFamily="34" charset="0"/>
                <a:cs typeface="Arial" pitchFamily="34" charset="0"/>
              </a:rPr>
              <a:t>       tableau d’encéphalopathie + nécessite un traitement </a:t>
            </a:r>
            <a:r>
              <a:rPr lang="fr-FR" b="1" cap="none" dirty="0">
                <a:latin typeface="Arial" panose="020B0604020202020204" pitchFamily="34" charset="0"/>
                <a:cs typeface="Arial" pitchFamily="34" charset="0"/>
              </a:rPr>
              <a:t>urgent</a:t>
            </a:r>
            <a:r>
              <a:rPr lang="fr-FR" cap="none" dirty="0">
                <a:latin typeface="Arial" pitchFamily="34" charset="0"/>
                <a:cs typeface="Arial" pitchFamily="34" charset="0"/>
              </a:rPr>
              <a:t>. </a:t>
            </a:r>
          </a:p>
        </p:txBody>
      </p:sp>
      <p:sp>
        <p:nvSpPr>
          <p:cNvPr id="5" name="Flèche droite 4"/>
          <p:cNvSpPr/>
          <p:nvPr/>
        </p:nvSpPr>
        <p:spPr>
          <a:xfrm>
            <a:off x="5680112" y="1515541"/>
            <a:ext cx="357190" cy="14287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</a:p>
        </p:txBody>
      </p:sp>
      <p:sp>
        <p:nvSpPr>
          <p:cNvPr id="6" name="Flèche droite 5"/>
          <p:cNvSpPr/>
          <p:nvPr/>
        </p:nvSpPr>
        <p:spPr>
          <a:xfrm>
            <a:off x="5595974" y="2888739"/>
            <a:ext cx="357190" cy="14287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</a:p>
        </p:txBody>
      </p:sp>
      <p:sp>
        <p:nvSpPr>
          <p:cNvPr id="7" name="Flèche droite 6"/>
          <p:cNvSpPr/>
          <p:nvPr/>
        </p:nvSpPr>
        <p:spPr>
          <a:xfrm>
            <a:off x="604918" y="3801159"/>
            <a:ext cx="357190" cy="14287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</a:p>
        </p:txBody>
      </p:sp>
      <p:sp>
        <p:nvSpPr>
          <p:cNvPr id="8" name="Flèche droite 7"/>
          <p:cNvSpPr/>
          <p:nvPr/>
        </p:nvSpPr>
        <p:spPr>
          <a:xfrm>
            <a:off x="4365398" y="4653255"/>
            <a:ext cx="357190" cy="14287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</a:p>
        </p:txBody>
      </p:sp>
      <p:sp>
        <p:nvSpPr>
          <p:cNvPr id="9" name="Flèche droite 8"/>
          <p:cNvSpPr/>
          <p:nvPr/>
        </p:nvSpPr>
        <p:spPr>
          <a:xfrm>
            <a:off x="618337" y="5143028"/>
            <a:ext cx="357190" cy="20367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</a:p>
        </p:txBody>
      </p:sp>
      <p:sp>
        <p:nvSpPr>
          <p:cNvPr id="10" name="Rectangle à coins arrondis 9"/>
          <p:cNvSpPr/>
          <p:nvPr/>
        </p:nvSpPr>
        <p:spPr>
          <a:xfrm>
            <a:off x="695332" y="1263127"/>
            <a:ext cx="4867268" cy="50006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à coins arrondis 10"/>
          <p:cNvSpPr/>
          <p:nvPr/>
        </p:nvSpPr>
        <p:spPr>
          <a:xfrm>
            <a:off x="720732" y="2651406"/>
            <a:ext cx="4765668" cy="50006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Rectangle à coins arrondis 11"/>
          <p:cNvSpPr/>
          <p:nvPr/>
        </p:nvSpPr>
        <p:spPr>
          <a:xfrm>
            <a:off x="737932" y="4428622"/>
            <a:ext cx="3491168" cy="500066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itre 1"/>
          <p:cNvSpPr>
            <a:spLocks noGrp="1"/>
          </p:cNvSpPr>
          <p:nvPr>
            <p:ph type="title"/>
          </p:nvPr>
        </p:nvSpPr>
        <p:spPr>
          <a:xfrm>
            <a:off x="1189836" y="304846"/>
            <a:ext cx="9859164" cy="709865"/>
          </a:xfrm>
        </p:spPr>
        <p:txBody>
          <a:bodyPr>
            <a:normAutofit fontScale="90000"/>
          </a:bodyPr>
          <a:lstStyle/>
          <a:p>
            <a:pPr lvl="1" algn="l" defTabSz="457200" rtl="0">
              <a:spcBef>
                <a:spcPct val="0"/>
              </a:spcBef>
            </a:pPr>
            <a:r>
              <a:rPr lang="fr-FR" sz="2800" b="1" dirty="0">
                <a:solidFill>
                  <a:srgbClr val="0070C0"/>
                </a:solidFill>
              </a:rPr>
              <a:t>Corrélation entre taux de calcémie et intensité des symptômes</a:t>
            </a:r>
            <a:r>
              <a:rPr lang="fr-FR" sz="2400" dirty="0">
                <a:solidFill>
                  <a:srgbClr val="0070C0"/>
                </a:solidFill>
              </a:rPr>
              <a:t/>
            </a:r>
            <a:br>
              <a:rPr lang="fr-FR" sz="2400" dirty="0">
                <a:solidFill>
                  <a:srgbClr val="0070C0"/>
                </a:solidFill>
              </a:rPr>
            </a:br>
            <a:endParaRPr lang="fr-FR" sz="28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3457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60044" y="927279"/>
            <a:ext cx="10396882" cy="3361386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ctr"/>
            <a:r>
              <a:rPr lang="fr-FR" sz="6000" dirty="0">
                <a:latin typeface="Arial Black" panose="020B0A04020102020204" pitchFamily="34" charset="0"/>
              </a:rPr>
              <a:t/>
            </a:r>
            <a:br>
              <a:rPr lang="fr-FR" sz="6000" dirty="0">
                <a:latin typeface="Arial Black" panose="020B0A04020102020204" pitchFamily="34" charset="0"/>
              </a:rPr>
            </a:br>
            <a:r>
              <a:rPr lang="fr-FR" sz="6000" dirty="0">
                <a:latin typeface="Arial Black" panose="020B0A04020102020204" pitchFamily="34" charset="0"/>
              </a:rPr>
              <a:t>objectif 5</a:t>
            </a:r>
            <a:br>
              <a:rPr lang="fr-FR" sz="6000" dirty="0">
                <a:latin typeface="Arial Black" panose="020B0A04020102020204" pitchFamily="34" charset="0"/>
              </a:rPr>
            </a:br>
            <a:r>
              <a:rPr lang="fr-FR" sz="4400" b="1" dirty="0">
                <a:latin typeface="Arial" panose="020B0604020202020204" pitchFamily="34" charset="0"/>
                <a:cs typeface="Arial" panose="020B0604020202020204" pitchFamily="34" charset="0"/>
              </a:rPr>
              <a:t>crise aiguë hypercalcémique</a:t>
            </a:r>
            <a:r>
              <a:rPr lang="fr-FR" sz="4400" dirty="0">
                <a:latin typeface="Arial Black" panose="020B0A04020102020204" pitchFamily="34" charset="0"/>
              </a:rPr>
              <a:t/>
            </a:r>
            <a:br>
              <a:rPr lang="fr-FR" sz="4400" dirty="0">
                <a:latin typeface="Arial Black" panose="020B0A04020102020204" pitchFamily="34" charset="0"/>
              </a:rPr>
            </a:br>
            <a:endParaRPr lang="fr-FR" sz="60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5825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166A56D-A5C3-03A0-EC09-600D6AE40C45}"/>
              </a:ext>
            </a:extLst>
          </p:cNvPr>
          <p:cNvSpPr txBox="1"/>
          <p:nvPr/>
        </p:nvSpPr>
        <p:spPr>
          <a:xfrm>
            <a:off x="924621" y="964105"/>
            <a:ext cx="8831484" cy="31670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</a:pPr>
            <a:r>
              <a:rPr lang="fr-FR" sz="26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26. </a:t>
            </a:r>
            <a:r>
              <a:rPr lang="fr-FR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Une crise aiguë </a:t>
            </a:r>
            <a:r>
              <a:rPr lang="fr-FR" sz="2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hypercalcémique</a:t>
            </a:r>
            <a:r>
              <a:rPr lang="fr-FR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peut se manifester par :</a:t>
            </a:r>
          </a:p>
          <a:p>
            <a:pPr lvl="0">
              <a:lnSpc>
                <a:spcPct val="115000"/>
              </a:lnSpc>
            </a:pPr>
            <a:endParaRPr lang="en-US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971550" lvl="1" indent="-514350">
              <a:buFont typeface="+mj-lt"/>
              <a:buAutoNum type="alphaUcPeriod"/>
            </a:pP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Une pancréatite 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Une angiocholite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Une crise d’ulcère </a:t>
            </a:r>
            <a:r>
              <a:rPr lang="fr-FR" sz="2800" dirty="0" err="1" smtClean="0">
                <a:latin typeface="Times New Roman" pitchFamily="18" charset="0"/>
                <a:cs typeface="Times New Roman" pitchFamily="18" charset="0"/>
              </a:rPr>
              <a:t>gastro-duoadénal</a:t>
            </a:r>
            <a:endParaRPr lang="fr-FR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971550" lvl="1" indent="-514350">
              <a:buFont typeface="+mj-lt"/>
              <a:buAutoNum type="alphaUcPeriod"/>
            </a:pP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Une déshydratation sévère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Une crise convulsive</a:t>
            </a:r>
            <a:endParaRPr lang="fr-FR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ZoneTexte 3">
            <a:extLst>
              <a:ext uri="{FF2B5EF4-FFF2-40B4-BE49-F238E27FC236}">
                <a16:creationId xmlns:a16="http://schemas.microsoft.com/office/drawing/2014/main" id="{6C2E7931-DE90-90EC-205C-DF98C4CFA08B}"/>
              </a:ext>
            </a:extLst>
          </p:cNvPr>
          <p:cNvSpPr txBox="1"/>
          <p:nvPr/>
        </p:nvSpPr>
        <p:spPr>
          <a:xfrm>
            <a:off x="591285" y="4982692"/>
            <a:ext cx="31618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Réponse </a:t>
            </a:r>
            <a:r>
              <a:rPr lang="fr-FR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fr-FR" sz="28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ACDE  </a:t>
            </a:r>
            <a:endParaRPr lang="fr-FR" sz="28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361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CB41288-214D-9014-EC70-37ABA42C5F69}"/>
              </a:ext>
            </a:extLst>
          </p:cNvPr>
          <p:cNvSpPr txBox="1"/>
          <p:nvPr/>
        </p:nvSpPr>
        <p:spPr>
          <a:xfrm>
            <a:off x="1216092" y="948661"/>
            <a:ext cx="8750461" cy="32840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</a:pPr>
            <a:r>
              <a:rPr lang="fr-FR" sz="26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27. </a:t>
            </a:r>
            <a:r>
              <a:rPr lang="fr-FR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Le bilan d’une hypercalcémie aiguë montre :</a:t>
            </a:r>
          </a:p>
          <a:p>
            <a:pPr lvl="0">
              <a:lnSpc>
                <a:spcPct val="115000"/>
              </a:lnSpc>
            </a:pPr>
            <a:endParaRPr lang="en-US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lphaUcPeriod"/>
            </a:pPr>
            <a:r>
              <a:rPr lang="fr-FR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Une hémodilution</a:t>
            </a:r>
            <a:endParaRPr lang="en-US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lphaUcPeriod"/>
            </a:pPr>
            <a:r>
              <a:rPr lang="fr-FR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Une hypokaliémie</a:t>
            </a:r>
            <a:endParaRPr lang="en-US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lphaUcPeriod"/>
            </a:pPr>
            <a:r>
              <a:rPr lang="fr-FR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Une hypochlorémie</a:t>
            </a:r>
            <a:endParaRPr lang="en-US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lphaUcPeriod"/>
            </a:pPr>
            <a:r>
              <a:rPr lang="fr-FR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Une hypoprotidémie</a:t>
            </a:r>
            <a:endParaRPr lang="en-US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+mj-lt"/>
              <a:buAutoNum type="alphaUcPeriod"/>
            </a:pPr>
            <a:r>
              <a:rPr lang="fr-FR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Une insuffisance rénale</a:t>
            </a:r>
            <a:endParaRPr lang="en-US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15F3BE7-EA76-C75F-1BC9-CB048BF04C48}"/>
              </a:ext>
            </a:extLst>
          </p:cNvPr>
          <p:cNvSpPr txBox="1"/>
          <p:nvPr/>
        </p:nvSpPr>
        <p:spPr>
          <a:xfrm>
            <a:off x="591285" y="4982692"/>
            <a:ext cx="31618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Réponse :  </a:t>
            </a:r>
            <a:r>
              <a:rPr lang="fr-FR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 C E</a:t>
            </a:r>
          </a:p>
        </p:txBody>
      </p:sp>
    </p:spTree>
    <p:extLst>
      <p:ext uri="{BB962C8B-B14F-4D97-AF65-F5344CB8AC3E}">
        <p14:creationId xmlns:p14="http://schemas.microsoft.com/office/powerpoint/2010/main" val="68907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69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5913" y="703263"/>
            <a:ext cx="6046787" cy="4023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3"/>
          </p:nvPr>
        </p:nvSpPr>
        <p:spPr>
          <a:xfrm>
            <a:off x="700549" y="1490315"/>
            <a:ext cx="10394707" cy="331118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fr-FR" sz="2400" b="1" i="1" cap="none" dirty="0">
                <a:latin typeface="Arial" panose="020B0604020202020204" pitchFamily="34" charset="0"/>
                <a:cs typeface="Arial" panose="020B0604020202020204" pitchFamily="34" charset="0"/>
              </a:rPr>
              <a:t>Crise aiguë hypercalcémique </a:t>
            </a:r>
            <a:r>
              <a:rPr lang="fr-FR" sz="2400" cap="none" dirty="0">
                <a:latin typeface="Arial" panose="020B0604020202020204" pitchFamily="34" charset="0"/>
                <a:cs typeface="Arial" panose="020B0604020202020204" pitchFamily="34" charset="0"/>
              </a:rPr>
              <a:t>survient quand la calcémie s’installe </a:t>
            </a:r>
            <a:r>
              <a:rPr lang="fr-FR" sz="2400" b="1" cap="none" dirty="0">
                <a:latin typeface="Arial" panose="020B0604020202020204" pitchFamily="34" charset="0"/>
                <a:cs typeface="Arial" panose="020B0604020202020204" pitchFamily="34" charset="0"/>
              </a:rPr>
              <a:t>brutalement </a:t>
            </a:r>
            <a:r>
              <a:rPr lang="fr-FR" sz="2400" cap="none" dirty="0">
                <a:latin typeface="Arial" panose="020B0604020202020204" pitchFamily="34" charset="0"/>
                <a:cs typeface="Arial" panose="020B0604020202020204" pitchFamily="34" charset="0"/>
              </a:rPr>
              <a:t>à des </a:t>
            </a:r>
            <a:r>
              <a:rPr lang="fr-FR" sz="2400" b="1" cap="none" dirty="0">
                <a:latin typeface="Arial" panose="020B0604020202020204" pitchFamily="34" charset="0"/>
                <a:cs typeface="Arial" panose="020B0604020202020204" pitchFamily="34" charset="0"/>
              </a:rPr>
              <a:t>taux très élevés </a:t>
            </a:r>
            <a:r>
              <a:rPr lang="fr-FR" sz="2400" cap="none" dirty="0">
                <a:latin typeface="Arial" panose="020B0604020202020204" pitchFamily="34" charset="0"/>
                <a:cs typeface="Arial" panose="020B0604020202020204" pitchFamily="34" charset="0"/>
              </a:rPr>
              <a:t>dépassant 3,5 </a:t>
            </a:r>
            <a:r>
              <a:rPr lang="fr-FR" sz="2400" cap="none" dirty="0" err="1">
                <a:latin typeface="Arial" panose="020B0604020202020204" pitchFamily="34" charset="0"/>
                <a:cs typeface="Arial" panose="020B0604020202020204" pitchFamily="34" charset="0"/>
              </a:rPr>
              <a:t>mmol</a:t>
            </a:r>
            <a:r>
              <a:rPr lang="fr-FR" sz="2400" cap="none" dirty="0">
                <a:latin typeface="Arial" panose="020B0604020202020204" pitchFamily="34" charset="0"/>
                <a:cs typeface="Arial" panose="020B0604020202020204" pitchFamily="34" charset="0"/>
              </a:rPr>
              <a:t>/l. (&gt;140mg/L).</a:t>
            </a:r>
          </a:p>
          <a:p>
            <a:pPr>
              <a:lnSpc>
                <a:spcPct val="150000"/>
              </a:lnSpc>
            </a:pPr>
            <a:endParaRPr lang="fr-FR" sz="2400" cap="non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fr-FR" sz="2400" cap="none" dirty="0">
                <a:latin typeface="Arial" panose="020B0604020202020204" pitchFamily="34" charset="0"/>
                <a:cs typeface="Arial" panose="020B0604020202020204" pitchFamily="34" charset="0"/>
              </a:rPr>
              <a:t>Le tableau clinique est sévère et elle met en jeu le pronostic vital à court terme.</a:t>
            </a:r>
          </a:p>
        </p:txBody>
      </p:sp>
    </p:spTree>
    <p:extLst>
      <p:ext uri="{BB962C8B-B14F-4D97-AF65-F5344CB8AC3E}">
        <p14:creationId xmlns:p14="http://schemas.microsoft.com/office/powerpoint/2010/main" val="1913740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6723" y="260773"/>
            <a:ext cx="10945216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40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Hypercalcémie</a:t>
            </a:r>
            <a:r>
              <a:rPr lang="fr-FR" sz="36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fr-FR" sz="40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majeure</a:t>
            </a:r>
            <a:r>
              <a:rPr lang="fr-FR" sz="36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</a:p>
          <a:p>
            <a:endParaRPr lang="fr-FR" sz="2400" b="1" i="1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  <a:p>
            <a:r>
              <a:rPr lang="fr-FR" sz="2800" b="1" i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Signes d’hypercalcémie majeure </a:t>
            </a:r>
          </a:p>
          <a:p>
            <a:endParaRPr lang="fr-FR" sz="2800" dirty="0">
              <a:solidFill>
                <a:srgbClr val="FF6600"/>
              </a:solidFill>
              <a:latin typeface="Arial" pitchFamily="34" charset="0"/>
              <a:cs typeface="Arial" pitchFamily="34" charset="0"/>
            </a:endParaRPr>
          </a:p>
          <a:p>
            <a:r>
              <a:rPr lang="fr-FR" sz="2400" dirty="0">
                <a:latin typeface="Arial" pitchFamily="34" charset="0"/>
                <a:cs typeface="Arial" pitchFamily="34" charset="0"/>
              </a:rPr>
              <a:t>Déshydratation avec risque d’insuffisance rénale, </a:t>
            </a:r>
          </a:p>
          <a:p>
            <a:endParaRPr lang="fr-FR" sz="2400" dirty="0">
              <a:latin typeface="Arial" pitchFamily="34" charset="0"/>
              <a:cs typeface="Arial" pitchFamily="34" charset="0"/>
            </a:endParaRPr>
          </a:p>
          <a:p>
            <a:r>
              <a:rPr lang="fr-FR" sz="2400" dirty="0">
                <a:latin typeface="Arial" pitchFamily="34" charset="0"/>
                <a:cs typeface="Arial" pitchFamily="34" charset="0"/>
              </a:rPr>
              <a:t>Fièvre, Obnubilation, Agitation, délire, convulsions, coma</a:t>
            </a:r>
          </a:p>
          <a:p>
            <a:endParaRPr lang="fr-FR" sz="2400" dirty="0">
              <a:latin typeface="Arial" pitchFamily="34" charset="0"/>
              <a:cs typeface="Arial" pitchFamily="34" charset="0"/>
            </a:endParaRPr>
          </a:p>
          <a:p>
            <a:r>
              <a:rPr lang="fr-FR" sz="2400" dirty="0">
                <a:latin typeface="Arial" pitchFamily="34" charset="0"/>
                <a:cs typeface="Arial" pitchFamily="34" charset="0"/>
              </a:rPr>
              <a:t>Douleurs abdominales pseudo-chirurgicales + vomissements, ulcère, pancréatite</a:t>
            </a:r>
          </a:p>
          <a:p>
            <a:endParaRPr lang="fr-FR" sz="2400" dirty="0">
              <a:latin typeface="Arial" pitchFamily="34" charset="0"/>
              <a:cs typeface="Arial" pitchFamily="34" charset="0"/>
            </a:endParaRPr>
          </a:p>
          <a:p>
            <a:r>
              <a:rPr lang="fr-FR" sz="2400" dirty="0">
                <a:latin typeface="Arial" pitchFamily="34" charset="0"/>
                <a:cs typeface="Arial" pitchFamily="34" charset="0"/>
              </a:rPr>
              <a:t>Troubles du rythme cardiaque + de la conduction. </a:t>
            </a:r>
          </a:p>
          <a:p>
            <a:endParaRPr lang="fr-FR" sz="2400" b="1" i="1" dirty="0">
              <a:latin typeface="Arial" pitchFamily="34" charset="0"/>
              <a:cs typeface="Arial" pitchFamily="34" charset="0"/>
            </a:endParaRPr>
          </a:p>
          <a:p>
            <a:endParaRPr lang="fr-FR" sz="2400" b="1" i="1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858269" y="571481"/>
            <a:ext cx="2753216" cy="20716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879871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92115" y="217466"/>
            <a:ext cx="10081120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40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Hypercalcémie majeure </a:t>
            </a:r>
            <a:endParaRPr lang="fr-FR" sz="4000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  <a:p>
            <a:endParaRPr lang="fr-FR" sz="2400" b="1" i="1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  <a:p>
            <a:r>
              <a:rPr lang="fr-FR" sz="2400" b="1" i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Signes biologiques associés:</a:t>
            </a:r>
          </a:p>
          <a:p>
            <a:r>
              <a:rPr lang="fr-FR" sz="2400" b="1" i="1" dirty="0">
                <a:solidFill>
                  <a:srgbClr val="FF6600"/>
                </a:solidFill>
                <a:latin typeface="Arial" pitchFamily="34" charset="0"/>
                <a:cs typeface="Arial" pitchFamily="34" charset="0"/>
              </a:rPr>
              <a:t> </a:t>
            </a:r>
            <a:endParaRPr lang="fr-FR" sz="2800" dirty="0">
              <a:solidFill>
                <a:srgbClr val="FF6600"/>
              </a:solidFill>
              <a:latin typeface="Arial" pitchFamily="34" charset="0"/>
              <a:cs typeface="Arial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fr-FR" sz="2400" dirty="0">
                <a:latin typeface="Arial" pitchFamily="34" charset="0"/>
                <a:cs typeface="Arial" pitchFamily="34" charset="0"/>
              </a:rPr>
              <a:t>Calcémie généralement &gt; 3,5 </a:t>
            </a:r>
            <a:r>
              <a:rPr lang="fr-FR" sz="2400" dirty="0" err="1">
                <a:latin typeface="Arial" pitchFamily="34" charset="0"/>
                <a:cs typeface="Arial" pitchFamily="34" charset="0"/>
              </a:rPr>
              <a:t>μmol</a:t>
            </a:r>
            <a:r>
              <a:rPr lang="fr-FR" sz="2400" dirty="0">
                <a:latin typeface="Arial" pitchFamily="34" charset="0"/>
                <a:cs typeface="Arial" pitchFamily="34" charset="0"/>
              </a:rPr>
              <a:t>/L ; </a:t>
            </a:r>
          </a:p>
          <a:p>
            <a:pPr>
              <a:buFont typeface="Arial" pitchFamily="34" charset="0"/>
              <a:buChar char="•"/>
            </a:pPr>
            <a:endParaRPr lang="fr-FR" sz="2400" dirty="0">
              <a:latin typeface="Arial" pitchFamily="34" charset="0"/>
              <a:cs typeface="Arial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fr-FR" sz="2400" dirty="0">
                <a:latin typeface="Arial" pitchFamily="34" charset="0"/>
                <a:cs typeface="Arial" pitchFamily="34" charset="0"/>
              </a:rPr>
              <a:t>Déshydratation extracellulaire</a:t>
            </a:r>
          </a:p>
          <a:p>
            <a:r>
              <a:rPr lang="fr-FR" sz="2400" dirty="0">
                <a:latin typeface="Arial" pitchFamily="34" charset="0"/>
                <a:cs typeface="Arial" pitchFamily="34" charset="0"/>
              </a:rPr>
              <a:t> (</a:t>
            </a:r>
            <a:r>
              <a:rPr lang="fr-FR" sz="2400" dirty="0">
                <a:latin typeface="Calibri"/>
                <a:cs typeface="Arial" pitchFamily="34" charset="0"/>
              </a:rPr>
              <a:t>↗</a:t>
            </a:r>
            <a:r>
              <a:rPr lang="fr-FR" sz="2400" dirty="0">
                <a:latin typeface="Arial" pitchFamily="34" charset="0"/>
                <a:cs typeface="Arial" pitchFamily="34" charset="0"/>
              </a:rPr>
              <a:t>protidémie, </a:t>
            </a:r>
            <a:r>
              <a:rPr lang="fr-FR" sz="2400" dirty="0">
                <a:latin typeface="Calibri"/>
                <a:cs typeface="Arial" pitchFamily="34" charset="0"/>
              </a:rPr>
              <a:t>↗ Hé</a:t>
            </a:r>
            <a:r>
              <a:rPr lang="fr-FR" sz="2400" dirty="0">
                <a:latin typeface="Arial" pitchFamily="34" charset="0"/>
                <a:cs typeface="Arial" pitchFamily="34" charset="0"/>
              </a:rPr>
              <a:t>matocrite) ; </a:t>
            </a:r>
          </a:p>
          <a:p>
            <a:endParaRPr lang="fr-FR" sz="2400" dirty="0">
              <a:latin typeface="Arial" pitchFamily="34" charset="0"/>
              <a:cs typeface="Arial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fr-FR" sz="2400" dirty="0">
                <a:latin typeface="Arial" pitchFamily="34" charset="0"/>
                <a:cs typeface="Arial" pitchFamily="34" charset="0"/>
              </a:rPr>
              <a:t>Insuffisance rénale fonctionnelle </a:t>
            </a:r>
          </a:p>
          <a:p>
            <a:pPr>
              <a:buFont typeface="Arial" pitchFamily="34" charset="0"/>
              <a:buChar char="•"/>
            </a:pPr>
            <a:endParaRPr lang="fr-FR" sz="2400" dirty="0">
              <a:latin typeface="Arial" pitchFamily="34" charset="0"/>
              <a:cs typeface="Arial" pitchFamily="34" charset="0"/>
            </a:endParaRPr>
          </a:p>
          <a:p>
            <a:pPr>
              <a:buFont typeface="Arial" pitchFamily="34" charset="0"/>
              <a:buChar char="•"/>
            </a:pPr>
            <a:endParaRPr lang="fr-FR" sz="2400" dirty="0">
              <a:latin typeface="Arial" pitchFamily="34" charset="0"/>
              <a:cs typeface="Arial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fr-FR" sz="2400" dirty="0" err="1">
                <a:latin typeface="Arial" pitchFamily="34" charset="0"/>
                <a:cs typeface="Arial" pitchFamily="34" charset="0"/>
              </a:rPr>
              <a:t>Hypochlorémie</a:t>
            </a:r>
            <a:r>
              <a:rPr lang="fr-FR" sz="2400" dirty="0">
                <a:latin typeface="Arial" pitchFamily="34" charset="0"/>
                <a:cs typeface="Arial" pitchFamily="34" charset="0"/>
              </a:rPr>
              <a:t> + hypokaliémie. </a:t>
            </a:r>
          </a:p>
          <a:p>
            <a:endParaRPr lang="fr-FR" sz="24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688288" y="1484785"/>
            <a:ext cx="2753216" cy="20716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344139" y="4228250"/>
            <a:ext cx="4689720" cy="21921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044754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60044" y="927279"/>
            <a:ext cx="10396882" cy="3361386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ctr"/>
            <a:r>
              <a:rPr lang="fr-FR" sz="6000" dirty="0">
                <a:latin typeface="Arial Black" panose="020B0A04020102020204" pitchFamily="34" charset="0"/>
              </a:rPr>
              <a:t/>
            </a:r>
            <a:br>
              <a:rPr lang="fr-FR" sz="6000" dirty="0">
                <a:latin typeface="Arial Black" panose="020B0A04020102020204" pitchFamily="34" charset="0"/>
              </a:rPr>
            </a:br>
            <a:r>
              <a:rPr lang="fr-FR" sz="6000" dirty="0">
                <a:latin typeface="Arial Black" panose="020B0A04020102020204" pitchFamily="34" charset="0"/>
              </a:rPr>
              <a:t>objectif 4</a:t>
            </a:r>
            <a:br>
              <a:rPr lang="fr-FR" sz="6000" dirty="0">
                <a:latin typeface="Arial Black" panose="020B0A04020102020204" pitchFamily="34" charset="0"/>
              </a:rPr>
            </a:br>
            <a:r>
              <a:rPr lang="fr-FR" sz="4800" b="1" dirty="0">
                <a:latin typeface="Arial" panose="020B0604020202020204" pitchFamily="34" charset="0"/>
                <a:cs typeface="Arial" panose="020B0604020202020204" pitchFamily="34" charset="0"/>
              </a:rPr>
              <a:t>diagnostic étiologique</a:t>
            </a:r>
            <a:r>
              <a:rPr lang="fr-FR" sz="6000" dirty="0">
                <a:latin typeface="Arial Black" panose="020B0A04020102020204" pitchFamily="34" charset="0"/>
              </a:rPr>
              <a:t/>
            </a:r>
            <a:br>
              <a:rPr lang="fr-FR" sz="6000" dirty="0">
                <a:latin typeface="Arial Black" panose="020B0A04020102020204" pitchFamily="34" charset="0"/>
              </a:rPr>
            </a:br>
            <a:endParaRPr lang="fr-FR" sz="60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1434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180A791-640C-B576-1A13-6F08B6CD7078}"/>
              </a:ext>
            </a:extLst>
          </p:cNvPr>
          <p:cNvSpPr txBox="1"/>
          <p:nvPr/>
        </p:nvSpPr>
        <p:spPr>
          <a:xfrm>
            <a:off x="831273" y="1060677"/>
            <a:ext cx="10557162" cy="32378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tabLst>
                <a:tab pos="180340" algn="l"/>
              </a:tabLst>
            </a:pPr>
            <a:r>
              <a:rPr lang="fr-FR" sz="26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28. </a:t>
            </a: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La principale étiologie d'une hypercalcémie en pratique clinique est :</a:t>
            </a:r>
          </a:p>
          <a:p>
            <a:pPr>
              <a:lnSpc>
                <a:spcPct val="115000"/>
              </a:lnSpc>
              <a:tabLst>
                <a:tab pos="180340" algn="l"/>
              </a:tabLst>
            </a:pPr>
            <a:endParaRPr lang="fr-FR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A.  L'hyperparathyroïdie primaire</a:t>
            </a:r>
          </a:p>
          <a:p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B.  L’excès en vitamine D</a:t>
            </a:r>
          </a:p>
          <a:p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C.  L'hyperthyroïdie</a:t>
            </a:r>
          </a:p>
          <a:p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D.  Le syndrome de buveur de lait</a:t>
            </a:r>
          </a:p>
          <a:p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E. L'insuffisance rénale chronique</a:t>
            </a:r>
            <a:endParaRPr lang="fr-FR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ZoneTexte 3">
            <a:extLst>
              <a:ext uri="{FF2B5EF4-FFF2-40B4-BE49-F238E27FC236}">
                <a16:creationId xmlns:a16="http://schemas.microsoft.com/office/drawing/2014/main" id="{AE5CD673-B3BF-C273-D641-38CA79A78140}"/>
              </a:ext>
            </a:extLst>
          </p:cNvPr>
          <p:cNvSpPr txBox="1"/>
          <p:nvPr/>
        </p:nvSpPr>
        <p:spPr>
          <a:xfrm>
            <a:off x="591285" y="4982692"/>
            <a:ext cx="31618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Réponse :  </a:t>
            </a:r>
            <a:r>
              <a:rPr lang="fr-FR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</a:p>
        </p:txBody>
      </p:sp>
    </p:spTree>
    <p:extLst>
      <p:ext uri="{BB962C8B-B14F-4D97-AF65-F5344CB8AC3E}">
        <p14:creationId xmlns:p14="http://schemas.microsoft.com/office/powerpoint/2010/main" val="1651416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6B35EB5-EF36-9482-098B-EFDA05F09EC7}"/>
              </a:ext>
            </a:extLst>
          </p:cNvPr>
          <p:cNvSpPr txBox="1"/>
          <p:nvPr/>
        </p:nvSpPr>
        <p:spPr>
          <a:xfrm>
            <a:off x="1805050" y="652010"/>
            <a:ext cx="8562109" cy="3697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lang="fr-FR" sz="26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29. </a:t>
            </a: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La principale étiologie d'une hypercalcémie après l’hyperparathyroïdie est:</a:t>
            </a:r>
          </a:p>
          <a:p>
            <a:pPr marL="971550" lvl="1" indent="-514350">
              <a:lnSpc>
                <a:spcPct val="115000"/>
              </a:lnSpc>
              <a:buFont typeface="+mj-lt"/>
              <a:buAutoNum type="alphaUcPeriod"/>
            </a:pPr>
            <a:endParaRPr lang="en-US" sz="2800" dirty="0">
              <a:effectLst/>
              <a:latin typeface="Times New Roman" pitchFamily="18" charset="0"/>
              <a:ea typeface="Calibri" panose="020F0502020204030204" pitchFamily="34" charset="0"/>
              <a:cs typeface="Times New Roman" pitchFamily="18" charset="0"/>
            </a:endParaRPr>
          </a:p>
          <a:p>
            <a:pPr marL="971550" lvl="1" indent="-514350">
              <a:buFont typeface="+mj-lt"/>
              <a:buAutoNum type="alphaUcPeriod"/>
            </a:pP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Une cause néoplasique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Une granulomatose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Une hyperthyroïdie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Une cause médicamenteuse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Une hypercalcémie hypocalciurie familiale</a:t>
            </a:r>
            <a:endParaRPr lang="fr-FR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2E4B3F5D-08B1-7AC1-6A93-C6D803BB927D}"/>
              </a:ext>
            </a:extLst>
          </p:cNvPr>
          <p:cNvSpPr txBox="1"/>
          <p:nvPr/>
        </p:nvSpPr>
        <p:spPr>
          <a:xfrm>
            <a:off x="591285" y="4685809"/>
            <a:ext cx="31618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Réponse : </a:t>
            </a:r>
            <a:r>
              <a:rPr lang="fr-FR" sz="28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lang="fr-FR" sz="28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0469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EE31AEE-74F1-C627-1F3C-776F715B7D43}"/>
              </a:ext>
            </a:extLst>
          </p:cNvPr>
          <p:cNvSpPr txBox="1"/>
          <p:nvPr/>
        </p:nvSpPr>
        <p:spPr>
          <a:xfrm>
            <a:off x="1180167" y="785295"/>
            <a:ext cx="8981954" cy="3697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tabLst>
                <a:tab pos="180340" algn="l"/>
              </a:tabLst>
            </a:pPr>
            <a:r>
              <a:rPr lang="fr-FR" sz="26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30. </a:t>
            </a: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Les deux pathologies néoplasiques les plus fréquentes en cause d’une hypercalcémie sont :</a:t>
            </a:r>
          </a:p>
          <a:p>
            <a:pPr marL="971550" lvl="1" indent="-514350">
              <a:lnSpc>
                <a:spcPct val="115000"/>
              </a:lnSpc>
              <a:buFont typeface="+mj-lt"/>
              <a:buAutoNum type="alphaUcPeriod"/>
              <a:tabLst>
                <a:tab pos="180340" algn="l"/>
              </a:tabLst>
            </a:pPr>
            <a:endParaRPr lang="en-US" sz="2600" dirty="0">
              <a:effectLst/>
              <a:latin typeface="Times New Roman" pitchFamily="18" charset="0"/>
              <a:ea typeface="Calibri" panose="020F0502020204030204" pitchFamily="34" charset="0"/>
              <a:cs typeface="Times New Roman" pitchFamily="18" charset="0"/>
            </a:endParaRPr>
          </a:p>
          <a:p>
            <a:pPr marL="971550" lvl="1" indent="-514350">
              <a:buFont typeface="+mj-lt"/>
              <a:buAutoNum type="alphaUcPeriod"/>
            </a:pP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Un myélome multiple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Des métastases osseuses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Une tumeur avec sécrétion ectopique de PTH 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Une tumeur avec sécrétion de PTH </a:t>
            </a:r>
            <a:r>
              <a:rPr lang="fr-FR" sz="2800" dirty="0" err="1" smtClean="0">
                <a:latin typeface="Times New Roman" pitchFamily="18" charset="0"/>
                <a:cs typeface="Times New Roman" pitchFamily="18" charset="0"/>
              </a:rPr>
              <a:t>rp</a:t>
            </a: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 (PTH </a:t>
            </a:r>
            <a:r>
              <a:rPr lang="fr-FR" sz="2800" dirty="0" err="1" smtClean="0">
                <a:latin typeface="Times New Roman" pitchFamily="18" charset="0"/>
                <a:cs typeface="Times New Roman" pitchFamily="18" charset="0"/>
              </a:rPr>
              <a:t>like</a:t>
            </a: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Une tumeur avec sécrétion humorale de Vitamine D</a:t>
            </a:r>
            <a:endParaRPr lang="fr-FR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3CAB289-BF2D-5369-B6EF-EAEA5886FEA5}"/>
              </a:ext>
            </a:extLst>
          </p:cNvPr>
          <p:cNvSpPr txBox="1"/>
          <p:nvPr/>
        </p:nvSpPr>
        <p:spPr>
          <a:xfrm>
            <a:off x="591285" y="4982692"/>
            <a:ext cx="31618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Réponse :  </a:t>
            </a:r>
            <a:r>
              <a:rPr lang="fr-FR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 </a:t>
            </a:r>
            <a:r>
              <a:rPr lang="fr-FR" sz="28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fr-FR" sz="28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3462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EE31AEE-74F1-C627-1F3C-776F715B7D43}"/>
              </a:ext>
            </a:extLst>
          </p:cNvPr>
          <p:cNvSpPr txBox="1"/>
          <p:nvPr/>
        </p:nvSpPr>
        <p:spPr>
          <a:xfrm>
            <a:off x="1655180" y="1177181"/>
            <a:ext cx="8981954" cy="2981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tabLst>
                <a:tab pos="180340" algn="l"/>
              </a:tabLst>
            </a:pPr>
            <a:r>
              <a:rPr lang="fr-FR" sz="26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31. </a:t>
            </a:r>
            <a:r>
              <a:rPr lang="fr-FR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Une hypercalcémie peut être secondaire à:</a:t>
            </a:r>
            <a:endParaRPr lang="en-US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lphaUcPeriod"/>
            </a:pPr>
            <a:r>
              <a:rPr lang="fr-FR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Une sarcoïdose</a:t>
            </a:r>
            <a:endParaRPr lang="en-US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lphaUcPeriod"/>
            </a:pPr>
            <a:r>
              <a:rPr lang="fr-FR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Une hémochromatose</a:t>
            </a:r>
            <a:endParaRPr lang="en-US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lphaUcPeriod"/>
            </a:pPr>
            <a:r>
              <a:rPr lang="fr-FR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Une chondrocalcinose</a:t>
            </a:r>
            <a:endParaRPr lang="en-US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+mj-lt"/>
              <a:buAutoNum type="alphaUcPeriod"/>
            </a:pPr>
            <a:r>
              <a:rPr lang="fr-FR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Une maladie de Hodgkin</a:t>
            </a: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+mj-lt"/>
              <a:buAutoNum type="alphaUcPeriod"/>
            </a:pPr>
            <a:r>
              <a:rPr lang="fr-FR" sz="26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fr-FR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Un myélome multiple </a:t>
            </a:r>
            <a:endParaRPr lang="en-US" sz="2600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3CAB289-BF2D-5369-B6EF-EAEA5886FEA5}"/>
              </a:ext>
            </a:extLst>
          </p:cNvPr>
          <p:cNvSpPr txBox="1"/>
          <p:nvPr/>
        </p:nvSpPr>
        <p:spPr>
          <a:xfrm>
            <a:off x="591285" y="4982692"/>
            <a:ext cx="31618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Réponse :  </a:t>
            </a:r>
            <a:r>
              <a:rPr lang="fr-FR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 D  E</a:t>
            </a:r>
          </a:p>
        </p:txBody>
      </p:sp>
    </p:spTree>
    <p:extLst>
      <p:ext uri="{BB962C8B-B14F-4D97-AF65-F5344CB8AC3E}">
        <p14:creationId xmlns:p14="http://schemas.microsoft.com/office/powerpoint/2010/main" val="4183462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E4F778-9CF5-039F-0FA3-B6010AB533B4}"/>
              </a:ext>
            </a:extLst>
          </p:cNvPr>
          <p:cNvSpPr txBox="1"/>
          <p:nvPr/>
        </p:nvSpPr>
        <p:spPr>
          <a:xfrm>
            <a:off x="1261641" y="1092299"/>
            <a:ext cx="9375494" cy="2853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tabLst>
                <a:tab pos="180340" algn="l"/>
              </a:tabLst>
            </a:pPr>
            <a:r>
              <a:rPr lang="fr-FR" sz="26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32. </a:t>
            </a:r>
            <a:r>
              <a:rPr lang="fr-FR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Les causes endocriniennes à l’origine d’une hypercalcémie sont:</a:t>
            </a:r>
            <a:endParaRPr lang="en-US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lphaUcPeriod"/>
            </a:pPr>
            <a:r>
              <a:rPr lang="fr-FR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L’acromégalie </a:t>
            </a:r>
            <a:endParaRPr lang="en-US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lphaUcPeriod"/>
            </a:pPr>
            <a:r>
              <a:rPr lang="fr-FR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L’hypothyroïdie</a:t>
            </a:r>
            <a:endParaRPr lang="en-US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lphaUcPeriod"/>
            </a:pPr>
            <a:r>
              <a:rPr lang="fr-FR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Le phéochromocytome</a:t>
            </a:r>
            <a:endParaRPr lang="en-US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lphaUcPeriod"/>
            </a:pPr>
            <a:r>
              <a:rPr lang="fr-FR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L’insuffisance surrénalienne aiguë</a:t>
            </a:r>
            <a:endParaRPr lang="en-US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+mj-lt"/>
              <a:buAutoNum type="alphaUcPeriod"/>
            </a:pPr>
            <a:r>
              <a:rPr lang="fr-FR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L’hyperparathyroïdie secondaire</a:t>
            </a:r>
            <a:endParaRPr lang="en-US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E287D036-93ED-CEC4-AC02-1C03CA16A25B}"/>
              </a:ext>
            </a:extLst>
          </p:cNvPr>
          <p:cNvSpPr txBox="1"/>
          <p:nvPr/>
        </p:nvSpPr>
        <p:spPr>
          <a:xfrm>
            <a:off x="591285" y="4982692"/>
            <a:ext cx="31618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Réponse :  </a:t>
            </a:r>
            <a:r>
              <a:rPr lang="fr-FR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 C D</a:t>
            </a:r>
          </a:p>
        </p:txBody>
      </p:sp>
    </p:spTree>
    <p:extLst>
      <p:ext uri="{BB962C8B-B14F-4D97-AF65-F5344CB8AC3E}">
        <p14:creationId xmlns:p14="http://schemas.microsoft.com/office/powerpoint/2010/main" val="517057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20A744B-4C82-F036-6EEF-ED5D30052B92}"/>
              </a:ext>
            </a:extLst>
          </p:cNvPr>
          <p:cNvSpPr txBox="1"/>
          <p:nvPr/>
        </p:nvSpPr>
        <p:spPr>
          <a:xfrm>
            <a:off x="1504709" y="1091729"/>
            <a:ext cx="9109276" cy="2853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tabLst>
                <a:tab pos="180340" algn="l"/>
              </a:tabLst>
            </a:pPr>
            <a:r>
              <a:rPr lang="fr-FR" sz="26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33. </a:t>
            </a:r>
            <a:r>
              <a:rPr lang="fr-FR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Parmi les causes possibles d’une hypercalcémie, on retient:</a:t>
            </a:r>
            <a:endParaRPr lang="en-US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lphaUcPeriod"/>
            </a:pPr>
            <a:r>
              <a:rPr lang="fr-FR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L’ostéoporose</a:t>
            </a:r>
            <a:endParaRPr lang="en-US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lphaUcPeriod"/>
            </a:pPr>
            <a:r>
              <a:rPr lang="fr-FR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Les diurétiques de l’anse</a:t>
            </a:r>
            <a:endParaRPr lang="en-US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lphaUcPeriod"/>
            </a:pPr>
            <a:r>
              <a:rPr lang="fr-FR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Les cancers non métastasés </a:t>
            </a:r>
            <a:endParaRPr lang="en-US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lphaUcPeriod"/>
            </a:pPr>
            <a:r>
              <a:rPr lang="fr-FR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L’hyperparathyroïdie tertiaire</a:t>
            </a:r>
            <a:endParaRPr lang="en-US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+mj-lt"/>
              <a:buAutoNum type="alphaUcPeriod"/>
            </a:pPr>
            <a:r>
              <a:rPr lang="fr-FR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 traitement prolongé par la vitamine E</a:t>
            </a:r>
            <a:endParaRPr lang="en-US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E64F4C9F-FB10-2AD4-8E18-3CE4F1AF0CDC}"/>
              </a:ext>
            </a:extLst>
          </p:cNvPr>
          <p:cNvSpPr txBox="1"/>
          <p:nvPr/>
        </p:nvSpPr>
        <p:spPr>
          <a:xfrm>
            <a:off x="591285" y="4982692"/>
            <a:ext cx="31618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Réponse : </a:t>
            </a:r>
            <a:r>
              <a:rPr lang="fr-FR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 D</a:t>
            </a:r>
          </a:p>
        </p:txBody>
      </p:sp>
    </p:spTree>
    <p:extLst>
      <p:ext uri="{BB962C8B-B14F-4D97-AF65-F5344CB8AC3E}">
        <p14:creationId xmlns:p14="http://schemas.microsoft.com/office/powerpoint/2010/main" val="2900371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B28A757-2EAC-92CF-D776-C8C3D9515458}"/>
              </a:ext>
            </a:extLst>
          </p:cNvPr>
          <p:cNvSpPr txBox="1"/>
          <p:nvPr/>
        </p:nvSpPr>
        <p:spPr>
          <a:xfrm>
            <a:off x="1134318" y="1069150"/>
            <a:ext cx="9699585" cy="2823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</a:pPr>
            <a:r>
              <a:rPr lang="fr-FR" sz="2600" dirty="0" smtClean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34</a:t>
            </a:r>
            <a:r>
              <a:rPr lang="fr-FR" sz="26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. </a:t>
            </a:r>
            <a:r>
              <a:rPr lang="fr-FR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Les étiologies d’une hypercalcémie avec élévation de la PTH sont :</a:t>
            </a:r>
            <a:endParaRPr lang="en-US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lphaUcPeriod"/>
            </a:pPr>
            <a:r>
              <a:rPr lang="fr-FR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La prise prolongée du lithium</a:t>
            </a:r>
            <a:endParaRPr lang="en-US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lphaUcPeriod"/>
            </a:pPr>
            <a:r>
              <a:rPr lang="fr-FR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Une hyperparathyroïdie secondaire</a:t>
            </a:r>
            <a:endParaRPr lang="en-US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lphaUcPeriod"/>
            </a:pPr>
            <a:r>
              <a:rPr lang="fr-FR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Une hyperparathyroïdie tertiaire</a:t>
            </a:r>
            <a:endParaRPr lang="en-US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lphaUcPeriod"/>
            </a:pPr>
            <a:r>
              <a:rPr lang="fr-FR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Une sécrétion de PTH </a:t>
            </a:r>
            <a:r>
              <a:rPr lang="fr-FR" sz="2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rp</a:t>
            </a:r>
            <a:r>
              <a:rPr lang="fr-FR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(PTH like) </a:t>
            </a:r>
            <a:endParaRPr lang="en-US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0"/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E. Les néoplasies endocriniennes multiples type I</a:t>
            </a:r>
            <a:endParaRPr lang="fr-FR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3D155790-ADD6-B1D0-0D00-6BD1A6B2B3C6}"/>
              </a:ext>
            </a:extLst>
          </p:cNvPr>
          <p:cNvSpPr txBox="1"/>
          <p:nvPr/>
        </p:nvSpPr>
        <p:spPr>
          <a:xfrm>
            <a:off x="591285" y="4982692"/>
            <a:ext cx="31618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Réponse : </a:t>
            </a:r>
            <a:r>
              <a:rPr lang="fr-FR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C E</a:t>
            </a:r>
          </a:p>
        </p:txBody>
      </p:sp>
    </p:spTree>
    <p:extLst>
      <p:ext uri="{BB962C8B-B14F-4D97-AF65-F5344CB8AC3E}">
        <p14:creationId xmlns:p14="http://schemas.microsoft.com/office/powerpoint/2010/main" val="2449804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B0C9E16-E237-8BA1-DA91-089BF0F67185}"/>
              </a:ext>
            </a:extLst>
          </p:cNvPr>
          <p:cNvSpPr txBox="1"/>
          <p:nvPr/>
        </p:nvSpPr>
        <p:spPr>
          <a:xfrm>
            <a:off x="606843" y="828648"/>
            <a:ext cx="10289894" cy="4064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tabLst>
                <a:tab pos="180340" algn="l"/>
              </a:tabLst>
            </a:pPr>
            <a:r>
              <a:rPr lang="fr-FR" sz="26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35. </a:t>
            </a: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L’hyperparathyroïdie primaire :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Peut se compliquer d’une pancréatite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Peut être évoquée devant des lithiases rénales récidivantes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Montre à la biologie une </a:t>
            </a:r>
            <a:r>
              <a:rPr lang="fr-FR" sz="2800" dirty="0" err="1" smtClean="0">
                <a:latin typeface="Times New Roman" pitchFamily="18" charset="0"/>
                <a:cs typeface="Times New Roman" pitchFamily="18" charset="0"/>
              </a:rPr>
              <a:t>hypophosphorémie</a:t>
            </a: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 et une hypocalciurie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Peut être à l’origine de résorption osseuse des houppes phalangiennes à la radiographie</a:t>
            </a:r>
          </a:p>
          <a:p>
            <a:pPr marL="514350" indent="-514350">
              <a:buFont typeface="+mj-lt"/>
              <a:buAutoNum type="alphaUcPeriod"/>
            </a:pP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Est mieux diagnostiquée par le scanner cervical en cas d’adénome ectopique</a:t>
            </a:r>
            <a:endParaRPr lang="en-US" sz="2600" dirty="0">
              <a:effectLst/>
              <a:latin typeface="Times New Roman" pitchFamily="18" charset="0"/>
              <a:ea typeface="Calibri" panose="020F0502020204030204" pitchFamily="34" charset="0"/>
              <a:cs typeface="Times New Roman" pitchFamily="18" charset="0"/>
            </a:endParaRPr>
          </a:p>
          <a:p>
            <a:pPr marL="678180">
              <a:lnSpc>
                <a:spcPct val="115000"/>
              </a:lnSpc>
              <a:spcAft>
                <a:spcPts val="1000"/>
              </a:spcAft>
            </a:pPr>
            <a:r>
              <a:rPr lang="fr-FR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  <a:endParaRPr lang="en-US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E251421E-6A25-0993-EBAC-4DD79D8D3A8E}"/>
              </a:ext>
            </a:extLst>
          </p:cNvPr>
          <p:cNvSpPr txBox="1"/>
          <p:nvPr/>
        </p:nvSpPr>
        <p:spPr>
          <a:xfrm>
            <a:off x="591285" y="4994267"/>
            <a:ext cx="31618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Réponse </a:t>
            </a:r>
            <a:r>
              <a:rPr lang="fr-FR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fr-FR" sz="28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B D E</a:t>
            </a:r>
            <a:r>
              <a:rPr lang="fr-FR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fr-FR" sz="28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2399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C753005-78DD-8439-7866-B9D2DB21A0EC}"/>
              </a:ext>
            </a:extLst>
          </p:cNvPr>
          <p:cNvSpPr txBox="1"/>
          <p:nvPr/>
        </p:nvSpPr>
        <p:spPr>
          <a:xfrm>
            <a:off x="1180617" y="909304"/>
            <a:ext cx="9444942" cy="32840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</a:pPr>
            <a:r>
              <a:rPr lang="fr-FR" sz="26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36. </a:t>
            </a:r>
            <a:r>
              <a:rPr lang="fr-FR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Les consommations vitaminiques en cause d’une hypercalcémie peuvent être :</a:t>
            </a:r>
            <a:endParaRPr lang="en-US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lphaUcPeriod"/>
            </a:pPr>
            <a:r>
              <a:rPr lang="fr-FR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La vitamine A</a:t>
            </a:r>
            <a:endParaRPr lang="en-US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lphaUcPeriod"/>
            </a:pPr>
            <a:r>
              <a:rPr lang="fr-FR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La vitamine </a:t>
            </a:r>
            <a:r>
              <a:rPr lang="fr-FR" sz="26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B12</a:t>
            </a:r>
            <a:endParaRPr lang="en-US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lphaUcPeriod"/>
            </a:pPr>
            <a:r>
              <a:rPr lang="fr-FR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La vitamine C</a:t>
            </a:r>
            <a:endParaRPr lang="en-US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lphaUcPeriod"/>
            </a:pPr>
            <a:r>
              <a:rPr lang="fr-FR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La vitamine D</a:t>
            </a:r>
            <a:endParaRPr lang="en-US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+mj-lt"/>
              <a:buAutoNum type="alphaUcPeriod"/>
            </a:pPr>
            <a:r>
              <a:rPr lang="fr-FR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La vitamine E</a:t>
            </a:r>
            <a:endParaRPr lang="en-US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6F7ACE59-7136-4F15-70DD-F30966A8B2A4}"/>
              </a:ext>
            </a:extLst>
          </p:cNvPr>
          <p:cNvSpPr txBox="1"/>
          <p:nvPr/>
        </p:nvSpPr>
        <p:spPr>
          <a:xfrm>
            <a:off x="591285" y="4982692"/>
            <a:ext cx="31618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Réponse </a:t>
            </a:r>
            <a:r>
              <a:rPr lang="fr-FR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fr-FR" sz="28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D</a:t>
            </a:r>
            <a:endParaRPr lang="fr-FR" sz="28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7345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430108F-A8B8-9355-33A8-6CB8821D9E74}"/>
              </a:ext>
            </a:extLst>
          </p:cNvPr>
          <p:cNvSpPr txBox="1"/>
          <p:nvPr/>
        </p:nvSpPr>
        <p:spPr>
          <a:xfrm>
            <a:off x="1307938" y="1149602"/>
            <a:ext cx="8924081" cy="28530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</a:pPr>
            <a:r>
              <a:rPr lang="fr-FR" sz="26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37. </a:t>
            </a:r>
            <a:r>
              <a:rPr lang="fr-FR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Une hypercalcémie peut être secondaire à :</a:t>
            </a:r>
            <a:endParaRPr lang="en-US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lphaUcPeriod"/>
            </a:pPr>
            <a:r>
              <a:rPr lang="fr-FR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Une ostéomalacie</a:t>
            </a:r>
            <a:endParaRPr lang="en-US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lphaUcPeriod"/>
            </a:pPr>
            <a:r>
              <a:rPr lang="fr-FR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 alitement prolongé</a:t>
            </a:r>
            <a:endParaRPr lang="en-US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lphaUcPeriod"/>
            </a:pPr>
            <a:r>
              <a:rPr lang="fr-FR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Une tuberculose</a:t>
            </a:r>
            <a:endParaRPr lang="en-US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lphaUcPeriod"/>
            </a:pPr>
            <a:r>
              <a:rPr lang="fr-FR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Une maladie de Cushing</a:t>
            </a:r>
            <a:endParaRPr lang="en-US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+mj-lt"/>
              <a:buAutoNum type="alphaUcPeriod"/>
            </a:pPr>
            <a:r>
              <a:rPr lang="fr-FR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Une maladie de Paget</a:t>
            </a:r>
            <a:endParaRPr lang="en-US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D37101D-3849-EF4E-F379-5AB8C3FB3B8B}"/>
              </a:ext>
            </a:extLst>
          </p:cNvPr>
          <p:cNvSpPr txBox="1"/>
          <p:nvPr/>
        </p:nvSpPr>
        <p:spPr>
          <a:xfrm>
            <a:off x="591285" y="4982692"/>
            <a:ext cx="31618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Réponse :  </a:t>
            </a:r>
            <a:r>
              <a:rPr lang="fr-FR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 C E</a:t>
            </a:r>
          </a:p>
        </p:txBody>
      </p:sp>
    </p:spTree>
    <p:extLst>
      <p:ext uri="{BB962C8B-B14F-4D97-AF65-F5344CB8AC3E}">
        <p14:creationId xmlns:p14="http://schemas.microsoft.com/office/powerpoint/2010/main" val="2684852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0CCF6EE-7A8C-D8CE-F7EC-8DE4929B29EA}"/>
              </a:ext>
            </a:extLst>
          </p:cNvPr>
          <p:cNvSpPr txBox="1"/>
          <p:nvPr/>
        </p:nvSpPr>
        <p:spPr>
          <a:xfrm>
            <a:off x="1238491" y="1106074"/>
            <a:ext cx="9317620" cy="2706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</a:pPr>
            <a:r>
              <a:rPr lang="fr-FR" sz="26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38. </a:t>
            </a:r>
            <a:r>
              <a:rPr lang="fr-FR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Les causes iatrogènes d’une hypercalcémie peuvent être la prise :</a:t>
            </a:r>
            <a:endParaRPr lang="en-US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De Lithium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De </a:t>
            </a:r>
            <a:r>
              <a:rPr lang="fr-FR" sz="2800" dirty="0" err="1" smtClean="0">
                <a:latin typeface="Times New Roman" pitchFamily="18" charset="0"/>
                <a:cs typeface="Times New Roman" pitchFamily="18" charset="0"/>
              </a:rPr>
              <a:t>Foscarnet</a:t>
            </a:r>
            <a:endParaRPr lang="fr-FR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D’</a:t>
            </a:r>
            <a:r>
              <a:rPr lang="fr-FR" sz="2800" dirty="0" err="1" smtClean="0">
                <a:latin typeface="Times New Roman" pitchFamily="18" charset="0"/>
                <a:cs typeface="Times New Roman" pitchFamily="18" charset="0"/>
              </a:rPr>
              <a:t>hydrochlorothiazide</a:t>
            </a:r>
            <a:endParaRPr lang="fr-FR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D’inhibiteurs de SGLT2</a:t>
            </a:r>
          </a:p>
          <a:p>
            <a:pPr marL="514350" indent="-514350">
              <a:buFont typeface="+mj-lt"/>
              <a:buAutoNum type="alphaUcPeriod"/>
            </a:pP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De </a:t>
            </a:r>
            <a:r>
              <a:rPr lang="fr-FR" sz="2800" dirty="0" err="1" smtClean="0">
                <a:latin typeface="Times New Roman" pitchFamily="18" charset="0"/>
                <a:cs typeface="Times New Roman" pitchFamily="18" charset="0"/>
              </a:rPr>
              <a:t>cinacalcet</a:t>
            </a:r>
            <a:endParaRPr lang="en-US" sz="2600" dirty="0">
              <a:effectLst/>
              <a:latin typeface="Times New Roman" pitchFamily="18" charset="0"/>
              <a:ea typeface="Calibri" panose="020F0502020204030204" pitchFamily="34" charset="0"/>
              <a:cs typeface="Times New Roman" pitchFamily="18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44F062CC-D62E-EDC2-051D-619D726BC413}"/>
              </a:ext>
            </a:extLst>
          </p:cNvPr>
          <p:cNvSpPr txBox="1"/>
          <p:nvPr/>
        </p:nvSpPr>
        <p:spPr>
          <a:xfrm>
            <a:off x="591285" y="4982692"/>
            <a:ext cx="31618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Réponse </a:t>
            </a:r>
            <a:r>
              <a:rPr lang="fr-FR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fr-FR" sz="28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fr-FR" sz="2800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r>
              <a:rPr lang="fr-FR" sz="28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 </a:t>
            </a:r>
            <a:r>
              <a:rPr lang="fr-FR" sz="2800" dirty="0" smtClean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endParaRPr lang="fr-FR" sz="2800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1226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6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93913" y="0"/>
            <a:ext cx="8098210" cy="4689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22837" y="177756"/>
            <a:ext cx="5515001" cy="59359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4288667" y="1246610"/>
            <a:ext cx="1146218" cy="2215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Tertiaire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52352" y="260648"/>
            <a:ext cx="11233248" cy="63367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ZoneTexte 2"/>
          <p:cNvSpPr txBox="1"/>
          <p:nvPr/>
        </p:nvSpPr>
        <p:spPr>
          <a:xfrm>
            <a:off x="911425" y="404665"/>
            <a:ext cx="973623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400" b="1" dirty="0">
                <a:solidFill>
                  <a:srgbClr val="002060"/>
                </a:solidFill>
              </a:rPr>
              <a:t>HYPERPARATHYROÏDIE</a:t>
            </a:r>
          </a:p>
        </p:txBody>
      </p:sp>
      <p:pic>
        <p:nvPicPr>
          <p:cNvPr id="4" name="Picture 4" descr="LES PARATHYROID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9616" y="1556792"/>
            <a:ext cx="7488832" cy="4161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10113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59545" y="260648"/>
            <a:ext cx="11233248" cy="63367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Rectangle 1"/>
          <p:cNvSpPr/>
          <p:nvPr/>
        </p:nvSpPr>
        <p:spPr>
          <a:xfrm>
            <a:off x="761963" y="642918"/>
            <a:ext cx="10703180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b="1" dirty="0">
                <a:solidFill>
                  <a:schemeClr val="accent2"/>
                </a:solidFill>
                <a:latin typeface="Arial" pitchFamily="34" charset="0"/>
                <a:cs typeface="Arial" pitchFamily="34" charset="0"/>
              </a:rPr>
              <a:t>Hyperparathyroïdie primitive:</a:t>
            </a:r>
          </a:p>
          <a:p>
            <a:endParaRPr lang="fr-FR" sz="2400" dirty="0"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fr-FR" sz="2400" dirty="0">
                <a:latin typeface="Arial" pitchFamily="34" charset="0"/>
                <a:cs typeface="Arial" pitchFamily="34" charset="0"/>
              </a:rPr>
              <a:t>Incidence: </a:t>
            </a:r>
            <a:r>
              <a:rPr lang="fr-FR" sz="2400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30 cas pour 100 000 personnes/an 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fr-FR" sz="2400" dirty="0">
                <a:latin typeface="Arial" pitchFamily="34" charset="0"/>
                <a:cs typeface="Arial" pitchFamily="34" charset="0"/>
              </a:rPr>
              <a:t>sex-ratio F/H = </a:t>
            </a:r>
            <a:r>
              <a:rPr lang="fr-FR" sz="2400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3,5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fr-FR" sz="2400" dirty="0">
                <a:latin typeface="Arial" pitchFamily="34" charset="0"/>
                <a:cs typeface="Arial" pitchFamily="34" charset="0"/>
              </a:rPr>
              <a:t>âge moyen: </a:t>
            </a:r>
            <a:r>
              <a:rPr lang="fr-FR" sz="2400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40-50 ans </a:t>
            </a:r>
            <a:r>
              <a:rPr lang="fr-FR" sz="2400" dirty="0">
                <a:latin typeface="Arial" pitchFamily="34" charset="0"/>
                <a:cs typeface="Arial" pitchFamily="34" charset="0"/>
              </a:rPr>
              <a:t>lors du diagnostic.</a:t>
            </a:r>
          </a:p>
          <a:p>
            <a:endParaRPr lang="fr-FR" sz="2400" dirty="0">
              <a:latin typeface="Arial" pitchFamily="34" charset="0"/>
              <a:cs typeface="Arial" pitchFamily="34" charset="0"/>
            </a:endParaRPr>
          </a:p>
          <a:p>
            <a:r>
              <a:rPr lang="fr-FR" sz="2400" b="1" i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Manifestations cliniques:</a:t>
            </a:r>
          </a:p>
          <a:p>
            <a:r>
              <a:rPr lang="fr-FR" sz="2400" dirty="0">
                <a:latin typeface="Arial" pitchFamily="34" charset="0"/>
                <a:cs typeface="Arial" pitchFamily="34" charset="0"/>
              </a:rPr>
              <a:t>Installation progressive </a:t>
            </a:r>
            <a:r>
              <a:rPr lang="fr-FR" sz="2400" dirty="0">
                <a:latin typeface="Arial" pitchFamily="34" charset="0"/>
                <a:cs typeface="Arial" pitchFamily="34" charset="0"/>
                <a:sym typeface="Wingdings 3"/>
              </a:rPr>
              <a:t></a:t>
            </a:r>
            <a:r>
              <a:rPr lang="fr-FR" sz="2400" dirty="0">
                <a:latin typeface="Arial" pitchFamily="34" charset="0"/>
                <a:cs typeface="Arial" pitchFamily="34" charset="0"/>
              </a:rPr>
              <a:t> découverte fortuite++</a:t>
            </a:r>
            <a:endParaRPr lang="fr-FR" sz="2000" dirty="0">
              <a:latin typeface="Arial" pitchFamily="34" charset="0"/>
              <a:cs typeface="Arial" pitchFamily="34" charset="0"/>
            </a:endParaRPr>
          </a:p>
          <a:p>
            <a:endParaRPr lang="fr-FR" sz="2400" dirty="0">
              <a:latin typeface="Arial" pitchFamily="34" charset="0"/>
              <a:cs typeface="Arial" pitchFamily="34" charset="0"/>
            </a:endParaRPr>
          </a:p>
          <a:p>
            <a:r>
              <a:rPr lang="fr-FR" sz="2400" b="1" i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Profil biologique: </a:t>
            </a:r>
          </a:p>
          <a:p>
            <a:r>
              <a:rPr lang="fr-FR" sz="2400" u="sng" dirty="0">
                <a:latin typeface="Arial" pitchFamily="34" charset="0"/>
                <a:cs typeface="Arial" pitchFamily="34" charset="0"/>
              </a:rPr>
              <a:t>Hyper Ca</a:t>
            </a:r>
            <a:r>
              <a:rPr lang="fr-FR" sz="2400" u="sng" baseline="30000" dirty="0">
                <a:latin typeface="Arial" pitchFamily="34" charset="0"/>
                <a:cs typeface="Arial" pitchFamily="34" charset="0"/>
              </a:rPr>
              <a:t>2+</a:t>
            </a:r>
            <a:r>
              <a:rPr lang="fr-FR" sz="2400" u="sng" dirty="0">
                <a:latin typeface="Arial" pitchFamily="34" charset="0"/>
                <a:cs typeface="Arial" pitchFamily="34" charset="0"/>
              </a:rPr>
              <a:t> </a:t>
            </a:r>
            <a:r>
              <a:rPr lang="fr-FR" sz="2400" dirty="0">
                <a:latin typeface="Arial" pitchFamily="34" charset="0"/>
                <a:cs typeface="Arial" pitchFamily="34" charset="0"/>
              </a:rPr>
              <a:t>fluctuante  x plusieurs mois ou une </a:t>
            </a:r>
            <a:r>
              <a:rPr lang="fr-FR" sz="2400" u="sng" dirty="0" err="1">
                <a:latin typeface="Arial" pitchFamily="34" charset="0"/>
                <a:cs typeface="Arial" pitchFamily="34" charset="0"/>
              </a:rPr>
              <a:t>hypercalciurie</a:t>
            </a:r>
            <a:r>
              <a:rPr lang="fr-FR" sz="2400" dirty="0">
                <a:latin typeface="Arial" pitchFamily="34" charset="0"/>
                <a:cs typeface="Arial" pitchFamily="34" charset="0"/>
              </a:rPr>
              <a:t> </a:t>
            </a:r>
            <a:r>
              <a:rPr lang="fr-FR" sz="2000" dirty="0">
                <a:latin typeface="Arial" pitchFamily="34" charset="0"/>
                <a:cs typeface="Arial" pitchFamily="34" charset="0"/>
              </a:rPr>
              <a:t>(moins importante que ne le voudrait la calcémie)</a:t>
            </a:r>
          </a:p>
          <a:p>
            <a:r>
              <a:rPr lang="fr-FR" sz="2400" dirty="0">
                <a:latin typeface="Arial" pitchFamily="34" charset="0"/>
                <a:cs typeface="Arial" pitchFamily="34" charset="0"/>
              </a:rPr>
              <a:t>+ </a:t>
            </a:r>
          </a:p>
          <a:p>
            <a:r>
              <a:rPr lang="fr-FR" sz="2400" dirty="0">
                <a:latin typeface="Arial" pitchFamily="34" charset="0"/>
                <a:cs typeface="Arial" pitchFamily="34" charset="0"/>
              </a:rPr>
              <a:t>PTH </a:t>
            </a:r>
            <a:r>
              <a:rPr lang="fr-FR" sz="2400" dirty="0">
                <a:latin typeface="Calibri"/>
                <a:cs typeface="Arial" pitchFamily="34" charset="0"/>
              </a:rPr>
              <a:t>↗</a:t>
            </a:r>
            <a:r>
              <a:rPr lang="fr-FR" sz="2400" dirty="0">
                <a:latin typeface="Arial" pitchFamily="34" charset="0"/>
                <a:cs typeface="Arial" pitchFamily="34" charset="0"/>
              </a:rPr>
              <a:t> (90 %) ou inapproprié/ Ca</a:t>
            </a:r>
            <a:r>
              <a:rPr lang="fr-FR" sz="2400" baseline="30000" dirty="0">
                <a:latin typeface="Arial" pitchFamily="34" charset="0"/>
                <a:cs typeface="Arial" pitchFamily="34" charset="0"/>
              </a:rPr>
              <a:t>2+</a:t>
            </a:r>
          </a:p>
          <a:p>
            <a:endParaRPr lang="fr-FR" sz="24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0113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05799" y="227255"/>
            <a:ext cx="11233248" cy="63367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Rectangle 1"/>
          <p:cNvSpPr/>
          <p:nvPr/>
        </p:nvSpPr>
        <p:spPr>
          <a:xfrm>
            <a:off x="778061" y="620350"/>
            <a:ext cx="8870335" cy="26161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1/ Manifestations osseuses</a:t>
            </a:r>
          </a:p>
          <a:p>
            <a:endParaRPr lang="fr-FR" sz="2000" b="1" dirty="0"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b="1" dirty="0">
                <a:latin typeface="Arial" pitchFamily="34" charset="0"/>
                <a:cs typeface="Arial" pitchFamily="34" charset="0"/>
              </a:rPr>
              <a:t>Douleur osseuse mécanique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b="1" dirty="0"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b="1" dirty="0">
                <a:latin typeface="Arial" pitchFamily="34" charset="0"/>
                <a:cs typeface="Arial" pitchFamily="34" charset="0"/>
              </a:rPr>
              <a:t>Fracture osseuse spontanée </a:t>
            </a:r>
          </a:p>
          <a:p>
            <a:r>
              <a:rPr lang="fr-FR" sz="2400" b="1" dirty="0">
                <a:latin typeface="Arial" pitchFamily="34" charset="0"/>
                <a:cs typeface="Arial" pitchFamily="34" charset="0"/>
              </a:rPr>
              <a:t>     </a:t>
            </a:r>
            <a:endParaRPr lang="fr-FR" sz="2400" dirty="0">
              <a:latin typeface="Arial" pitchFamily="34" charset="0"/>
              <a:cs typeface="Arial" pitchFamily="34" charset="0"/>
            </a:endParaRPr>
          </a:p>
          <a:p>
            <a:pPr algn="just"/>
            <a:endParaRPr lang="fr-FR" sz="24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2283" y="404666"/>
            <a:ext cx="2683631" cy="3312367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4192" y="4095669"/>
            <a:ext cx="3694675" cy="246829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62817" y="2602952"/>
            <a:ext cx="7684497" cy="29854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fr-FR" sz="2000" b="1" dirty="0"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b="1" dirty="0">
                <a:latin typeface="Arial" pitchFamily="34" charset="0"/>
                <a:cs typeface="Arial" pitchFamily="34" charset="0"/>
              </a:rPr>
              <a:t>Tumeurs osseuses lytiques </a:t>
            </a:r>
            <a:r>
              <a:rPr lang="fr-FR" sz="2400" dirty="0">
                <a:latin typeface="Arial" pitchFamily="34" charset="0"/>
                <a:cs typeface="Arial" pitchFamily="34" charset="0"/>
              </a:rPr>
              <a:t>soufflantes (« tumeurs brunes ») </a:t>
            </a:r>
          </a:p>
          <a:p>
            <a:r>
              <a:rPr lang="fr-FR" sz="2400" dirty="0">
                <a:latin typeface="Arial" pitchFamily="34" charset="0"/>
                <a:cs typeface="Arial" pitchFamily="34" charset="0"/>
              </a:rPr>
              <a:t>   et géodes ovalaires disséminées (ostéite </a:t>
            </a:r>
            <a:r>
              <a:rPr lang="fr-FR" sz="2400" dirty="0" err="1">
                <a:latin typeface="Arial" pitchFamily="34" charset="0"/>
                <a:cs typeface="Arial" pitchFamily="34" charset="0"/>
              </a:rPr>
              <a:t>fibrokystique</a:t>
            </a:r>
            <a:r>
              <a:rPr lang="fr-FR" sz="2400" dirty="0">
                <a:latin typeface="Arial" pitchFamily="34" charset="0"/>
                <a:cs typeface="Arial" pitchFamily="34" charset="0"/>
              </a:rPr>
              <a:t>).</a:t>
            </a:r>
          </a:p>
          <a:p>
            <a:endParaRPr lang="fr-FR" sz="2400" dirty="0"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fr-FR" sz="2400" b="1" dirty="0">
                <a:latin typeface="Arial" pitchFamily="34" charset="0"/>
                <a:cs typeface="Arial" pitchFamily="34" charset="0"/>
              </a:rPr>
              <a:t>Erosions </a:t>
            </a:r>
          </a:p>
          <a:p>
            <a:pPr algn="just"/>
            <a:r>
              <a:rPr lang="fr-FR" sz="2400" b="1" dirty="0">
                <a:latin typeface="Arial" pitchFamily="34" charset="0"/>
                <a:cs typeface="Arial" pitchFamily="34" charset="0"/>
              </a:rPr>
              <a:t>  des houppes phalangiennes</a:t>
            </a:r>
          </a:p>
        </p:txBody>
      </p:sp>
    </p:spTree>
    <p:extLst>
      <p:ext uri="{BB962C8B-B14F-4D97-AF65-F5344CB8AC3E}">
        <p14:creationId xmlns:p14="http://schemas.microsoft.com/office/powerpoint/2010/main" val="1017758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52352" y="260648"/>
            <a:ext cx="11233248" cy="63367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Rectangle 1"/>
          <p:cNvSpPr/>
          <p:nvPr/>
        </p:nvSpPr>
        <p:spPr>
          <a:xfrm>
            <a:off x="815413" y="620689"/>
            <a:ext cx="9818059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2/ Manifestations extra-osseuses</a:t>
            </a:r>
          </a:p>
          <a:p>
            <a:endParaRPr lang="fr-FR" sz="2400" dirty="0"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fr-FR" sz="2400" dirty="0">
                <a:latin typeface="Arial" pitchFamily="34" charset="0"/>
                <a:cs typeface="Arial" pitchFamily="34" charset="0"/>
              </a:rPr>
              <a:t>Lithiase rénale bilatérale avec </a:t>
            </a:r>
            <a:r>
              <a:rPr lang="fr-FR" sz="2400" dirty="0" err="1">
                <a:latin typeface="Arial" pitchFamily="34" charset="0"/>
                <a:cs typeface="Arial" pitchFamily="34" charset="0"/>
              </a:rPr>
              <a:t>néphrocalcinose</a:t>
            </a:r>
            <a:r>
              <a:rPr lang="fr-FR" sz="2400" dirty="0">
                <a:latin typeface="Arial" pitchFamily="34" charset="0"/>
                <a:cs typeface="Arial" pitchFamily="34" charset="0"/>
              </a:rPr>
              <a:t> ;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fr-FR" sz="2400" dirty="0"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fr-FR" sz="2400" dirty="0">
                <a:latin typeface="Arial" pitchFamily="34" charset="0"/>
                <a:cs typeface="Arial" pitchFamily="34" charset="0"/>
              </a:rPr>
              <a:t>Ulcère gastroduodénal ;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fr-FR" sz="2400" dirty="0"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fr-FR" sz="2400" dirty="0">
                <a:latin typeface="Arial" pitchFamily="34" charset="0"/>
                <a:cs typeface="Arial" pitchFamily="34" charset="0"/>
              </a:rPr>
              <a:t>Pancréatite calcifiante aiguë ;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fr-FR" sz="2400" dirty="0"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fr-FR" sz="2400" dirty="0">
                <a:latin typeface="Arial" pitchFamily="34" charset="0"/>
                <a:cs typeface="Arial" pitchFamily="34" charset="0"/>
              </a:rPr>
              <a:t>Hypertension artérielle ;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fr-FR" sz="2400" dirty="0"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fr-FR" sz="2400" dirty="0">
                <a:latin typeface="Arial" pitchFamily="34" charset="0"/>
                <a:cs typeface="Arial" pitchFamily="34" charset="0"/>
              </a:rPr>
              <a:t>Chondrocalcinose articulaire ;</a:t>
            </a:r>
          </a:p>
          <a:p>
            <a:endParaRPr lang="fr-FR" sz="2400" dirty="0">
              <a:latin typeface="Arial" pitchFamily="34" charset="0"/>
              <a:cs typeface="Arial" pitchFamily="34" charset="0"/>
            </a:endParaRPr>
          </a:p>
          <a:p>
            <a:endParaRPr lang="fr-FR" sz="24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3785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52352" y="260648"/>
            <a:ext cx="11233248" cy="63367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2" name="Rectangle 1"/>
          <p:cNvSpPr/>
          <p:nvPr/>
        </p:nvSpPr>
        <p:spPr>
          <a:xfrm>
            <a:off x="552352" y="476672"/>
            <a:ext cx="11233248" cy="53860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b="1" dirty="0">
                <a:solidFill>
                  <a:schemeClr val="accent5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3/ Étiologies de l'hyperparathyroïdie primitive</a:t>
            </a:r>
          </a:p>
          <a:p>
            <a:endParaRPr lang="fr-FR" sz="2800" b="1" dirty="0">
              <a:solidFill>
                <a:schemeClr val="accent5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endParaRPr lang="fr-FR" sz="2400" dirty="0">
              <a:latin typeface="Arial" pitchFamily="34" charset="0"/>
              <a:cs typeface="Arial" pitchFamily="34" charset="0"/>
            </a:endParaRPr>
          </a:p>
          <a:p>
            <a:r>
              <a:rPr lang="fr-FR" sz="24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Adénome parathyroïdien </a:t>
            </a:r>
            <a:r>
              <a:rPr lang="fr-FR" sz="2200" dirty="0">
                <a:latin typeface="Arial" pitchFamily="34" charset="0"/>
                <a:cs typeface="Arial" pitchFamily="34" charset="0"/>
              </a:rPr>
              <a:t>(80 %), </a:t>
            </a:r>
          </a:p>
          <a:p>
            <a:pPr marL="342900" indent="-342900">
              <a:buFont typeface="Arial" pitchFamily="34" charset="0"/>
              <a:buChar char="•"/>
            </a:pPr>
            <a:endParaRPr lang="fr-FR" sz="2200" u="sng" dirty="0"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fr-FR" sz="2200" b="1" u="sng" dirty="0">
                <a:latin typeface="Arial" pitchFamily="34" charset="0"/>
                <a:cs typeface="Arial" pitchFamily="34" charset="0"/>
              </a:rPr>
              <a:t>NEM de type 1  </a:t>
            </a:r>
            <a:r>
              <a:rPr lang="fr-FR" sz="2200" dirty="0">
                <a:latin typeface="Arial" pitchFamily="34" charset="0"/>
                <a:cs typeface="Arial" pitchFamily="34" charset="0"/>
              </a:rPr>
              <a:t>(hyperparathyroïdie, tumeur hypophysaire, tumeur du pancréas), transmission:  autosomique dominante.</a:t>
            </a:r>
          </a:p>
          <a:p>
            <a:pPr marL="342900" indent="-342900">
              <a:buFont typeface="Arial" pitchFamily="34" charset="0"/>
              <a:buChar char="•"/>
            </a:pPr>
            <a:endParaRPr lang="fr-FR" sz="2200" dirty="0"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fr-FR" sz="2200" b="1" u="sng" dirty="0">
                <a:latin typeface="Arial" pitchFamily="34" charset="0"/>
                <a:cs typeface="Arial" pitchFamily="34" charset="0"/>
              </a:rPr>
              <a:t>NEM de type 2A</a:t>
            </a:r>
            <a:r>
              <a:rPr lang="fr-FR" sz="2200" u="sng" dirty="0">
                <a:latin typeface="Arial" pitchFamily="34" charset="0"/>
                <a:cs typeface="Arial" pitchFamily="34" charset="0"/>
              </a:rPr>
              <a:t>  </a:t>
            </a:r>
            <a:r>
              <a:rPr lang="fr-FR" sz="2200" dirty="0">
                <a:latin typeface="Arial" pitchFamily="34" charset="0"/>
                <a:cs typeface="Arial" pitchFamily="34" charset="0"/>
              </a:rPr>
              <a:t>(carcinome médullaire de la thyroïde, hyperparathyroïdie, phéochromocytome) ;</a:t>
            </a:r>
          </a:p>
          <a:p>
            <a:endParaRPr lang="fr-FR" sz="2200" dirty="0">
              <a:latin typeface="Arial" pitchFamily="34" charset="0"/>
              <a:cs typeface="Arial" pitchFamily="34" charset="0"/>
            </a:endParaRPr>
          </a:p>
          <a:p>
            <a:r>
              <a:rPr lang="fr-FR" sz="24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Hyperplasie diffuse</a:t>
            </a:r>
            <a:r>
              <a:rPr lang="fr-FR" sz="2200" dirty="0">
                <a:latin typeface="Arial" pitchFamily="34" charset="0"/>
                <a:cs typeface="Arial" pitchFamily="34" charset="0"/>
              </a:rPr>
              <a:t> des quatre glandes parathyroïdiennes </a:t>
            </a:r>
          </a:p>
          <a:p>
            <a:r>
              <a:rPr lang="fr-FR" sz="2200" dirty="0">
                <a:latin typeface="Arial" pitchFamily="34" charset="0"/>
                <a:cs typeface="Arial" pitchFamily="34" charset="0"/>
              </a:rPr>
              <a:t>         (10 à 15 %)</a:t>
            </a:r>
          </a:p>
          <a:p>
            <a:endParaRPr lang="fr-FR" sz="2200" dirty="0">
              <a:latin typeface="Arial" pitchFamily="34" charset="0"/>
              <a:cs typeface="Arial" pitchFamily="34" charset="0"/>
            </a:endParaRPr>
          </a:p>
          <a:p>
            <a:r>
              <a:rPr lang="fr-FR" sz="24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Carcinome parathyroïdien </a:t>
            </a:r>
            <a:r>
              <a:rPr lang="fr-FR" sz="2200" dirty="0">
                <a:latin typeface="Arial" pitchFamily="34" charset="0"/>
                <a:cs typeface="Arial" pitchFamily="34" charset="0"/>
              </a:rPr>
              <a:t>(&lt;2 %).</a:t>
            </a:r>
          </a:p>
        </p:txBody>
      </p:sp>
    </p:spTree>
    <p:extLst>
      <p:ext uri="{BB962C8B-B14F-4D97-AF65-F5344CB8AC3E}">
        <p14:creationId xmlns:p14="http://schemas.microsoft.com/office/powerpoint/2010/main" val="2468375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75387" y="260648"/>
            <a:ext cx="11233248" cy="63367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2" name="Rectangle 1"/>
          <p:cNvSpPr/>
          <p:nvPr/>
        </p:nvSpPr>
        <p:spPr>
          <a:xfrm>
            <a:off x="959779" y="548680"/>
            <a:ext cx="10848855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3200" b="1" dirty="0">
                <a:solidFill>
                  <a:schemeClr val="accent1"/>
                </a:solidFill>
                <a:latin typeface="Arial" pitchFamily="34" charset="0"/>
                <a:cs typeface="Arial" pitchFamily="34" charset="0"/>
              </a:rPr>
              <a:t>Comment mettre en évidence l'adénome ou l'hyperplasie ?</a:t>
            </a:r>
          </a:p>
          <a:p>
            <a:endParaRPr lang="fr-FR" sz="2000" b="1" dirty="0">
              <a:latin typeface="Arial" pitchFamily="34" charset="0"/>
              <a:cs typeface="Arial" pitchFamily="34" charset="0"/>
            </a:endParaRPr>
          </a:p>
          <a:p>
            <a:endParaRPr lang="fr-FR" sz="2000" b="1" dirty="0">
              <a:latin typeface="Arial" pitchFamily="34" charset="0"/>
              <a:cs typeface="Arial" pitchFamily="34" charset="0"/>
            </a:endParaRPr>
          </a:p>
          <a:p>
            <a:r>
              <a:rPr lang="fr-FR" sz="2000" dirty="0">
                <a:latin typeface="Arial" pitchFamily="34" charset="0"/>
                <a:cs typeface="Arial" pitchFamily="34" charset="0"/>
              </a:rPr>
              <a:t>– </a:t>
            </a:r>
            <a:r>
              <a:rPr lang="fr-FR" sz="2400" b="1" dirty="0">
                <a:latin typeface="Arial" pitchFamily="34" charset="0"/>
                <a:cs typeface="Arial" pitchFamily="34" charset="0"/>
              </a:rPr>
              <a:t>Echographie cervicale </a:t>
            </a:r>
            <a:r>
              <a:rPr lang="fr-FR" sz="2400" dirty="0">
                <a:latin typeface="Arial" pitchFamily="34" charset="0"/>
                <a:cs typeface="Arial" pitchFamily="34" charset="0"/>
              </a:rPr>
              <a:t>(Se=50 %, </a:t>
            </a:r>
            <a:r>
              <a:rPr lang="fr-FR" sz="2400" dirty="0" err="1">
                <a:latin typeface="Arial" pitchFamily="34" charset="0"/>
                <a:cs typeface="Arial" pitchFamily="34" charset="0"/>
              </a:rPr>
              <a:t>Sp</a:t>
            </a:r>
            <a:r>
              <a:rPr lang="fr-FR" sz="2400" dirty="0">
                <a:latin typeface="Arial" pitchFamily="34" charset="0"/>
                <a:cs typeface="Arial" pitchFamily="34" charset="0"/>
              </a:rPr>
              <a:t>= 93 %) ;</a:t>
            </a:r>
          </a:p>
          <a:p>
            <a:endParaRPr lang="fr-FR" sz="2400" dirty="0">
              <a:latin typeface="Arial" pitchFamily="34" charset="0"/>
              <a:cs typeface="Arial" pitchFamily="34" charset="0"/>
            </a:endParaRPr>
          </a:p>
          <a:p>
            <a:r>
              <a:rPr lang="fr-FR" sz="2400" dirty="0">
                <a:latin typeface="Arial" pitchFamily="34" charset="0"/>
                <a:cs typeface="Arial" pitchFamily="34" charset="0"/>
              </a:rPr>
              <a:t>– </a:t>
            </a:r>
            <a:r>
              <a:rPr lang="fr-FR" sz="2400" b="1" dirty="0">
                <a:latin typeface="Arial" pitchFamily="34" charset="0"/>
                <a:cs typeface="Arial" pitchFamily="34" charset="0"/>
              </a:rPr>
              <a:t>Scintigraphie au MIBI </a:t>
            </a:r>
            <a:r>
              <a:rPr lang="fr-FR" sz="2400" dirty="0">
                <a:latin typeface="Arial" pitchFamily="34" charset="0"/>
                <a:cs typeface="Arial" pitchFamily="34" charset="0"/>
              </a:rPr>
              <a:t>(1-méthoxy-isobutyl-isonitrile) </a:t>
            </a:r>
          </a:p>
          <a:p>
            <a:r>
              <a:rPr lang="fr-FR" sz="2400" dirty="0">
                <a:latin typeface="Arial" pitchFamily="34" charset="0"/>
                <a:cs typeface="Arial" pitchFamily="34" charset="0"/>
              </a:rPr>
              <a:t>    fixe tissu parathyroïdien (Se=80 %); </a:t>
            </a:r>
          </a:p>
          <a:p>
            <a:r>
              <a:rPr lang="fr-FR" sz="2400" dirty="0">
                <a:latin typeface="Arial" pitchFamily="34" charset="0"/>
                <a:cs typeface="Arial" pitchFamily="34" charset="0"/>
              </a:rPr>
              <a:t>                </a:t>
            </a:r>
            <a:r>
              <a:rPr lang="fr-FR" sz="2400" b="1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Localisations ectopiques ++++</a:t>
            </a:r>
          </a:p>
          <a:p>
            <a:endParaRPr lang="fr-FR" sz="2400" dirty="0">
              <a:latin typeface="Arial" pitchFamily="34" charset="0"/>
              <a:cs typeface="Arial" pitchFamily="34" charset="0"/>
            </a:endParaRPr>
          </a:p>
          <a:p>
            <a:r>
              <a:rPr lang="fr-FR" sz="2400" dirty="0">
                <a:latin typeface="Arial" pitchFamily="34" charset="0"/>
                <a:cs typeface="Arial" pitchFamily="34" charset="0"/>
              </a:rPr>
              <a:t>– </a:t>
            </a:r>
            <a:r>
              <a:rPr lang="fr-FR" sz="2400" b="1" dirty="0">
                <a:latin typeface="Arial" pitchFamily="34" charset="0"/>
                <a:cs typeface="Arial" pitchFamily="34" charset="0"/>
              </a:rPr>
              <a:t>Scanner cervical </a:t>
            </a:r>
            <a:r>
              <a:rPr lang="fr-FR" sz="2400" dirty="0">
                <a:latin typeface="Arial" pitchFamily="34" charset="0"/>
                <a:cs typeface="Arial" pitchFamily="34" charset="0"/>
              </a:rPr>
              <a:t>en coupes fines (</a:t>
            </a:r>
            <a:r>
              <a:rPr lang="fr-FR" sz="2400" dirty="0" err="1">
                <a:latin typeface="Arial" pitchFamily="34" charset="0"/>
                <a:cs typeface="Arial" pitchFamily="34" charset="0"/>
              </a:rPr>
              <a:t>Sp</a:t>
            </a:r>
            <a:r>
              <a:rPr lang="fr-FR" sz="2400" dirty="0">
                <a:latin typeface="Arial" pitchFamily="34" charset="0"/>
                <a:cs typeface="Arial" pitchFamily="34" charset="0"/>
              </a:rPr>
              <a:t>=90 %, Se= 30 %) </a:t>
            </a:r>
          </a:p>
          <a:p>
            <a:endParaRPr lang="fr-FR" sz="2400" dirty="0">
              <a:latin typeface="Arial" pitchFamily="34" charset="0"/>
              <a:cs typeface="Arial" pitchFamily="34" charset="0"/>
            </a:endParaRPr>
          </a:p>
          <a:p>
            <a:r>
              <a:rPr lang="fr-FR" sz="2400" dirty="0">
                <a:latin typeface="Arial" pitchFamily="34" charset="0"/>
                <a:cs typeface="Arial" pitchFamily="34" charset="0"/>
              </a:rPr>
              <a:t>– </a:t>
            </a:r>
            <a:r>
              <a:rPr lang="fr-FR" sz="2400" b="1" dirty="0">
                <a:latin typeface="Arial" pitchFamily="34" charset="0"/>
                <a:cs typeface="Arial" pitchFamily="34" charset="0"/>
              </a:rPr>
              <a:t>IRM cervicale</a:t>
            </a:r>
            <a:r>
              <a:rPr lang="fr-FR" sz="2400" dirty="0">
                <a:latin typeface="Arial" pitchFamily="34" charset="0"/>
                <a:cs typeface="Arial" pitchFamily="34" charset="0"/>
              </a:rPr>
              <a:t>: localisations ectopiques (interprétation difficile),</a:t>
            </a:r>
          </a:p>
        </p:txBody>
      </p:sp>
    </p:spTree>
    <p:extLst>
      <p:ext uri="{BB962C8B-B14F-4D97-AF65-F5344CB8AC3E}">
        <p14:creationId xmlns:p14="http://schemas.microsoft.com/office/powerpoint/2010/main" val="2468375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00468" y="260648"/>
            <a:ext cx="11233248" cy="63367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Rectangle 1"/>
          <p:cNvSpPr/>
          <p:nvPr/>
        </p:nvSpPr>
        <p:spPr>
          <a:xfrm>
            <a:off x="679033" y="437188"/>
            <a:ext cx="10876119" cy="36009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fr-FR" sz="2400" dirty="0">
              <a:latin typeface="Arial" pitchFamily="34" charset="0"/>
              <a:cs typeface="Arial" pitchFamily="34" charset="0"/>
            </a:endParaRPr>
          </a:p>
          <a:p>
            <a:r>
              <a:rPr lang="fr-FR" sz="2400" b="1" dirty="0">
                <a:latin typeface="Arial" pitchFamily="34" charset="0"/>
                <a:cs typeface="Arial" pitchFamily="34" charset="0"/>
              </a:rPr>
              <a:t> </a:t>
            </a:r>
            <a:r>
              <a:rPr lang="fr-FR" sz="3200" b="1" dirty="0">
                <a:solidFill>
                  <a:schemeClr val="accent3"/>
                </a:solidFill>
                <a:latin typeface="Arial" pitchFamily="34" charset="0"/>
                <a:cs typeface="Arial" pitchFamily="34" charset="0"/>
              </a:rPr>
              <a:t>Hyperparathyroïdie tertiaire : </a:t>
            </a:r>
          </a:p>
          <a:p>
            <a:endParaRPr lang="fr-FR" sz="2800" b="1" dirty="0">
              <a:solidFill>
                <a:schemeClr val="accent3"/>
              </a:solidFill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Hyperparathyroïdie secondaire prolongée: IRC prolongée</a:t>
            </a:r>
          </a:p>
          <a:p>
            <a:pPr algn="just"/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           développer une hyperplasie des parathyroïdes.</a:t>
            </a:r>
          </a:p>
          <a:p>
            <a:pPr algn="just"/>
            <a:endParaRPr lang="fr-F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=&gt;  production de PTH de façon continue inappropriée à la calcémie</a:t>
            </a:r>
          </a:p>
          <a:p>
            <a:pPr algn="just"/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=&gt; Hypercalcémie.</a:t>
            </a:r>
          </a:p>
          <a:p>
            <a:endParaRPr lang="fr-FR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ZoneTexte 2"/>
          <p:cNvSpPr txBox="1"/>
          <p:nvPr/>
        </p:nvSpPr>
        <p:spPr>
          <a:xfrm>
            <a:off x="335360" y="6568616"/>
            <a:ext cx="79439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b="1" dirty="0">
                <a:solidFill>
                  <a:schemeClr val="bg1"/>
                </a:solidFill>
              </a:rPr>
              <a:t>© Université Médicale Virtuelle Francophone -</a:t>
            </a:r>
          </a:p>
        </p:txBody>
      </p:sp>
      <p:sp>
        <p:nvSpPr>
          <p:cNvPr id="4" name="Flèche droite 3"/>
          <p:cNvSpPr/>
          <p:nvPr/>
        </p:nvSpPr>
        <p:spPr>
          <a:xfrm>
            <a:off x="679033" y="2237681"/>
            <a:ext cx="960107" cy="21602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1518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00468" y="260648"/>
            <a:ext cx="11233248" cy="63367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Rectangle 1"/>
          <p:cNvSpPr/>
          <p:nvPr/>
        </p:nvSpPr>
        <p:spPr>
          <a:xfrm>
            <a:off x="679033" y="437189"/>
            <a:ext cx="10876119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fr-FR" sz="2200" dirty="0">
              <a:latin typeface="Arial" panose="020B0604020202020204" pitchFamily="34" charset="0"/>
              <a:cs typeface="Arial" pitchFamily="34" charset="0"/>
            </a:endParaRPr>
          </a:p>
          <a:p>
            <a:pPr lvl="0"/>
            <a:r>
              <a:rPr lang="fr-FR" sz="2200" b="1" dirty="0">
                <a:latin typeface="Arial" pitchFamily="34" charset="0"/>
                <a:cs typeface="Arial" pitchFamily="34" charset="0"/>
              </a:rPr>
              <a:t> </a:t>
            </a:r>
            <a:r>
              <a:rPr lang="fr-FR" sz="3200" b="1" dirty="0">
                <a:solidFill>
                  <a:schemeClr val="accent3"/>
                </a:solidFill>
                <a:latin typeface="Arial" pitchFamily="34" charset="0"/>
                <a:cs typeface="Arial" pitchFamily="34" charset="0"/>
              </a:rPr>
              <a:t>Hypercalcémie hypocalciurie familiale</a:t>
            </a:r>
          </a:p>
          <a:p>
            <a:pPr lvl="0"/>
            <a:endParaRPr lang="fr-FR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fr-FR" sz="2200" dirty="0">
                <a:latin typeface="Arial" panose="020B0604020202020204" pitchFamily="34" charset="0"/>
                <a:cs typeface="Arial" panose="020B0604020202020204" pitchFamily="34" charset="0"/>
              </a:rPr>
              <a:t>Maladie familiale: autosomique dominante rare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fr-FR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fr-FR" sz="2200" dirty="0">
                <a:latin typeface="Arial" panose="020B0604020202020204" pitchFamily="34" charset="0"/>
                <a:cs typeface="Arial" panose="020B0604020202020204" pitchFamily="34" charset="0"/>
              </a:rPr>
              <a:t>Physiopathologie mal connue.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fr-FR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fr-FR" sz="2200" dirty="0">
                <a:latin typeface="Arial" panose="020B0604020202020204" pitchFamily="34" charset="0"/>
                <a:cs typeface="Arial" panose="020B0604020202020204" pitchFamily="34" charset="0"/>
              </a:rPr>
              <a:t>Mutations hétérozygotes: perte de fonction du gène </a:t>
            </a:r>
            <a:r>
              <a:rPr lang="fr-FR" sz="2200" dirty="0" err="1">
                <a:latin typeface="Arial" panose="020B0604020202020204" pitchFamily="34" charset="0"/>
                <a:cs typeface="Arial" panose="020B0604020202020204" pitchFamily="34" charset="0"/>
              </a:rPr>
              <a:t>CaSR</a:t>
            </a:r>
            <a:r>
              <a:rPr lang="fr-FR" sz="2200" dirty="0">
                <a:latin typeface="Arial" panose="020B0604020202020204" pitchFamily="34" charset="0"/>
                <a:cs typeface="Arial" panose="020B0604020202020204" pitchFamily="34" charset="0"/>
              </a:rPr>
              <a:t> + inactivation du récepteur.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fr-FR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fr-FR" sz="2200" dirty="0">
                <a:latin typeface="Arial" panose="020B0604020202020204" pitchFamily="34" charset="0"/>
                <a:cs typeface="Arial" panose="020B0604020202020204" pitchFamily="34" charset="0"/>
              </a:rPr>
              <a:t>Hypocalciurie franche + hypercalcémie modérée stable.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fr-FR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fr-FR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fr-FR" sz="2200" dirty="0">
                <a:latin typeface="Arial" panose="020B0604020202020204" pitchFamily="34" charset="0"/>
                <a:cs typeface="Arial" panose="020B0604020202020204" pitchFamily="34" charset="0"/>
              </a:rPr>
              <a:t>PTH: taux normal ou légèrement </a:t>
            </a:r>
          </a:p>
          <a:p>
            <a:r>
              <a:rPr lang="fr-FR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335360" y="6568616"/>
            <a:ext cx="794391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b="1" dirty="0">
                <a:solidFill>
                  <a:schemeClr val="bg1"/>
                </a:solidFill>
              </a:rPr>
              <a:t>© Université Médicale Virtuelle Francophone -</a:t>
            </a:r>
          </a:p>
        </p:txBody>
      </p:sp>
    </p:spTree>
    <p:extLst>
      <p:ext uri="{BB962C8B-B14F-4D97-AF65-F5344CB8AC3E}">
        <p14:creationId xmlns:p14="http://schemas.microsoft.com/office/powerpoint/2010/main" val="393257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52352" y="260648"/>
            <a:ext cx="11233248" cy="63367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Titre 1"/>
          <p:cNvSpPr>
            <a:spLocks noGrp="1"/>
          </p:cNvSpPr>
          <p:nvPr>
            <p:ph type="title"/>
          </p:nvPr>
        </p:nvSpPr>
        <p:spPr>
          <a:xfrm>
            <a:off x="552352" y="620688"/>
            <a:ext cx="10972800" cy="1728192"/>
          </a:xfrm>
        </p:spPr>
        <p:txBody>
          <a:bodyPr>
            <a:normAutofit/>
          </a:bodyPr>
          <a:lstStyle/>
          <a:p>
            <a:pPr algn="ctr"/>
            <a:r>
              <a:rPr lang="fr-FR" sz="3200" b="1" dirty="0">
                <a:solidFill>
                  <a:srgbClr val="002060"/>
                </a:solidFill>
                <a:latin typeface="Arial" pitchFamily="34" charset="0"/>
                <a:ea typeface="+mn-ea"/>
                <a:cs typeface="Arial" pitchFamily="34" charset="0"/>
              </a:rPr>
              <a:t>CAUSES NEOPLASIQUES</a:t>
            </a:r>
            <a:r>
              <a:rPr lang="fr-FR" sz="4800" b="1" dirty="0">
                <a:solidFill>
                  <a:srgbClr val="002060"/>
                </a:solidFill>
              </a:rPr>
              <a:t/>
            </a:r>
            <a:br>
              <a:rPr lang="fr-FR" sz="4800" b="1" dirty="0">
                <a:solidFill>
                  <a:srgbClr val="002060"/>
                </a:solidFill>
              </a:rPr>
            </a:br>
            <a:r>
              <a:rPr lang="fr-FR" sz="4000" dirty="0"/>
              <a:t/>
            </a:r>
            <a:br>
              <a:rPr lang="fr-FR" sz="4000" dirty="0"/>
            </a:br>
            <a:r>
              <a:rPr lang="fr-FR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1/ </a:t>
            </a:r>
            <a:r>
              <a:rPr lang="fr-FR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METASTASES OSSEUSES</a:t>
            </a:r>
          </a:p>
        </p:txBody>
      </p:sp>
      <p:sp>
        <p:nvSpPr>
          <p:cNvPr id="7" name="Espace réservé du contenu 2"/>
          <p:cNvSpPr>
            <a:spLocks noGrp="1"/>
          </p:cNvSpPr>
          <p:nvPr>
            <p:ph idx="4294967295"/>
          </p:nvPr>
        </p:nvSpPr>
        <p:spPr>
          <a:xfrm>
            <a:off x="552352" y="2564904"/>
            <a:ext cx="10972800" cy="370100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fr-FR" sz="2400" cap="none" dirty="0">
                <a:latin typeface="Arial" pitchFamily="34" charset="0"/>
                <a:cs typeface="Arial" pitchFamily="34" charset="0"/>
              </a:rPr>
              <a:t>Souvent symptomatique en raison de la rapidité d’installation.</a:t>
            </a:r>
          </a:p>
          <a:p>
            <a:r>
              <a:rPr lang="fr-FR" sz="2400" cap="none" dirty="0">
                <a:latin typeface="Arial" pitchFamily="34" charset="0"/>
                <a:cs typeface="Arial" pitchFamily="34" charset="0"/>
              </a:rPr>
              <a:t>20% des cas.</a:t>
            </a:r>
          </a:p>
          <a:p>
            <a:r>
              <a:rPr lang="fr-FR" sz="2400" cap="none" dirty="0">
                <a:latin typeface="Arial" pitchFamily="34" charset="0"/>
                <a:cs typeface="Arial" pitchFamily="34" charset="0"/>
              </a:rPr>
              <a:t>Révélatrice de la tumeur métastasée: </a:t>
            </a:r>
          </a:p>
          <a:p>
            <a:pPr marL="0" indent="0">
              <a:buNone/>
            </a:pPr>
            <a:r>
              <a:rPr lang="fr-FR" sz="2400" cap="none" dirty="0">
                <a:latin typeface="Arial" pitchFamily="34" charset="0"/>
                <a:cs typeface="Arial" pitchFamily="34" charset="0"/>
              </a:rPr>
              <a:t>                              néo du sein (30%), </a:t>
            </a:r>
          </a:p>
          <a:p>
            <a:pPr marL="0" indent="0">
              <a:buNone/>
            </a:pPr>
            <a:r>
              <a:rPr lang="fr-FR" sz="2400" cap="none" dirty="0">
                <a:latin typeface="Arial" pitchFamily="34" charset="0"/>
                <a:cs typeface="Arial" pitchFamily="34" charset="0"/>
              </a:rPr>
              <a:t>                              néo du poumon (30%),  </a:t>
            </a:r>
          </a:p>
          <a:p>
            <a:pPr marL="0" indent="0">
              <a:buNone/>
            </a:pPr>
            <a:r>
              <a:rPr lang="fr-FR" sz="2400" cap="none" dirty="0">
                <a:latin typeface="Arial" pitchFamily="34" charset="0"/>
                <a:cs typeface="Arial" pitchFamily="34" charset="0"/>
              </a:rPr>
              <a:t>                              néo du rein, prostate, thyroïde…</a:t>
            </a:r>
          </a:p>
        </p:txBody>
      </p:sp>
    </p:spTree>
    <p:extLst>
      <p:ext uri="{BB962C8B-B14F-4D97-AF65-F5344CB8AC3E}">
        <p14:creationId xmlns:p14="http://schemas.microsoft.com/office/powerpoint/2010/main" val="1664422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52352" y="260648"/>
            <a:ext cx="11233248" cy="63367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Titre 1"/>
          <p:cNvSpPr>
            <a:spLocks noGrp="1"/>
          </p:cNvSpPr>
          <p:nvPr>
            <p:ph type="title"/>
          </p:nvPr>
        </p:nvSpPr>
        <p:spPr>
          <a:xfrm>
            <a:off x="1219200" y="3882265"/>
            <a:ext cx="10972800" cy="1143000"/>
          </a:xfrm>
        </p:spPr>
        <p:txBody>
          <a:bodyPr>
            <a:normAutofit/>
          </a:bodyPr>
          <a:lstStyle/>
          <a:p>
            <a:pPr algn="ctr"/>
            <a:r>
              <a:rPr lang="fr-FR" sz="36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3/ HEMOPATHIES MALIGNES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4294967295"/>
          </p:nvPr>
        </p:nvSpPr>
        <p:spPr>
          <a:xfrm>
            <a:off x="623392" y="1976103"/>
            <a:ext cx="10972800" cy="1800200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fr-FR" sz="2400" cap="none" dirty="0">
                <a:latin typeface="Arial" pitchFamily="34" charset="0"/>
                <a:cs typeface="Arial" pitchFamily="34" charset="0"/>
              </a:rPr>
              <a:t>30% des cas </a:t>
            </a:r>
          </a:p>
          <a:p>
            <a:r>
              <a:rPr lang="fr-FR" sz="2400" cap="none" dirty="0">
                <a:latin typeface="Arial" pitchFamily="34" charset="0"/>
                <a:cs typeface="Arial" pitchFamily="34" charset="0"/>
              </a:rPr>
              <a:t>Aggravée par l’insuffisance rénale du myélome</a:t>
            </a:r>
          </a:p>
          <a:p>
            <a:endParaRPr lang="fr-FR" sz="2800" cap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812800" y="414300"/>
            <a:ext cx="11619904" cy="16338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600" b="1" cap="all" dirty="0">
                <a:solidFill>
                  <a:srgbClr val="002060"/>
                </a:solidFill>
                <a:latin typeface="Arial" pitchFamily="34" charset="0"/>
                <a:ea typeface="+mn-ea"/>
                <a:cs typeface="Arial" pitchFamily="34" charset="0"/>
              </a:rPr>
              <a:t>CAUSES NEOPLASIQUES</a:t>
            </a:r>
          </a:p>
          <a:p>
            <a:r>
              <a:rPr lang="fr-FR" b="1" dirty="0"/>
              <a:t/>
            </a:r>
            <a:br>
              <a:rPr lang="fr-FR" b="1" dirty="0"/>
            </a:br>
            <a:r>
              <a:rPr lang="fr-FR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2/ MYELOME MULTIPLE</a:t>
            </a:r>
          </a:p>
        </p:txBody>
      </p:sp>
      <p:sp>
        <p:nvSpPr>
          <p:cNvPr id="7" name="Espace réservé du contenu 2"/>
          <p:cNvSpPr txBox="1">
            <a:spLocks/>
          </p:cNvSpPr>
          <p:nvPr/>
        </p:nvSpPr>
        <p:spPr>
          <a:xfrm>
            <a:off x="604244" y="5157192"/>
            <a:ext cx="10972800" cy="10801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2800" dirty="0">
                <a:latin typeface="Arial" pitchFamily="34" charset="0"/>
                <a:cs typeface="Arial" pitchFamily="34" charset="0"/>
              </a:rPr>
              <a:t> LNH, LDH, Leucémies   (5%)</a:t>
            </a:r>
          </a:p>
        </p:txBody>
      </p:sp>
    </p:spTree>
    <p:extLst>
      <p:ext uri="{BB962C8B-B14F-4D97-AF65-F5344CB8AC3E}">
        <p14:creationId xmlns:p14="http://schemas.microsoft.com/office/powerpoint/2010/main" val="1438109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76707" y="240966"/>
            <a:ext cx="11233248" cy="63367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4294967295"/>
          </p:nvPr>
        </p:nvSpPr>
        <p:spPr>
          <a:xfrm>
            <a:off x="607715" y="1645122"/>
            <a:ext cx="10802967" cy="3528392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fr-FR" sz="3200" b="1" cap="none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4/ sécrétion ectopique de PTH</a:t>
            </a:r>
          </a:p>
          <a:p>
            <a:pPr marL="0" indent="0" algn="ctr">
              <a:buNone/>
            </a:pPr>
            <a:endParaRPr lang="fr-FR" sz="2800" cap="none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fr-FR" sz="2400" cap="none" dirty="0">
                <a:latin typeface="Arial" panose="020B0604020202020204" pitchFamily="34" charset="0"/>
                <a:cs typeface="Arial" panose="020B0604020202020204" pitchFamily="34" charset="0"/>
              </a:rPr>
              <a:t>Dans quelques cas de tumeurs: pulmonaires, ovariennes, neuroendocrines ou des sarcomes.</a:t>
            </a:r>
          </a:p>
          <a:p>
            <a:pPr marL="0" indent="0" algn="just">
              <a:buNone/>
            </a:pPr>
            <a:endParaRPr lang="fr-FR" sz="2400" cap="non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fr-FR" sz="2400" cap="none" dirty="0">
                <a:latin typeface="Arial" panose="020B0604020202020204" pitchFamily="34" charset="0"/>
                <a:cs typeface="Arial" panose="020B0604020202020204" pitchFamily="34" charset="0"/>
              </a:rPr>
              <a:t>C°↑ PTH au niveau du tissu tumoral </a:t>
            </a:r>
          </a:p>
          <a:p>
            <a:pPr algn="just"/>
            <a:r>
              <a:rPr lang="fr-FR" sz="2400" cap="none" dirty="0">
                <a:latin typeface="Arial" panose="020B0604020202020204" pitchFamily="34" charset="0"/>
                <a:cs typeface="Arial" panose="020B0604020202020204" pitchFamily="34" charset="0"/>
              </a:rPr>
              <a:t>Traitement de la tumeur =&gt; </a:t>
            </a:r>
            <a:r>
              <a:rPr lang="fr-FR" sz="2400" cap="none" dirty="0">
                <a:latin typeface="Century Gothic" panose="020B0502020202020204" pitchFamily="34" charset="0"/>
                <a:cs typeface="Arial" panose="020B0604020202020204" pitchFamily="34" charset="0"/>
              </a:rPr>
              <a:t>↓</a:t>
            </a:r>
            <a:r>
              <a:rPr lang="fr-FR" sz="2400" cap="none" dirty="0">
                <a:latin typeface="Arial" panose="020B0604020202020204" pitchFamily="34" charset="0"/>
                <a:cs typeface="Arial" panose="020B0604020202020204" pitchFamily="34" charset="0"/>
              </a:rPr>
              <a:t> PTH. </a:t>
            </a:r>
          </a:p>
          <a:p>
            <a:pPr algn="just"/>
            <a:endParaRPr lang="fr-FR" sz="2400" cap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431371" y="260687"/>
            <a:ext cx="11619904" cy="16338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0000"/>
              </a:lnSpc>
            </a:pPr>
            <a:r>
              <a:rPr lang="fr-FR" sz="3600" b="1" cap="all" dirty="0">
                <a:solidFill>
                  <a:srgbClr val="002060"/>
                </a:solidFill>
                <a:latin typeface="Arial" pitchFamily="34" charset="0"/>
                <a:ea typeface="+mn-ea"/>
                <a:cs typeface="Arial" pitchFamily="34" charset="0"/>
              </a:rPr>
              <a:t>CAUSES NEOPLASIQUES</a:t>
            </a:r>
          </a:p>
          <a:p>
            <a:pPr lvl="0"/>
            <a:r>
              <a:rPr lang="fr-FR" dirty="0"/>
              <a:t/>
            </a:r>
            <a:br>
              <a:rPr lang="fr-FR" dirty="0"/>
            </a:br>
            <a:endParaRPr lang="fr-FR" sz="3900" b="1" dirty="0">
              <a:solidFill>
                <a:srgbClr val="FF66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4777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52352" y="260648"/>
            <a:ext cx="11233248" cy="63367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4294967295"/>
          </p:nvPr>
        </p:nvSpPr>
        <p:spPr>
          <a:xfrm>
            <a:off x="552352" y="2348880"/>
            <a:ext cx="11250232" cy="3528392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fr-FR" sz="2400" cap="none" dirty="0">
                <a:latin typeface="Arial" pitchFamily="34" charset="0"/>
                <a:cs typeface="Arial" pitchFamily="34" charset="0"/>
              </a:rPr>
              <a:t>Tumeur maligne sécrétant PTH </a:t>
            </a:r>
            <a:r>
              <a:rPr lang="fr-FR" sz="2400" cap="none" dirty="0" err="1">
                <a:latin typeface="Arial" pitchFamily="34" charset="0"/>
                <a:cs typeface="Arial" pitchFamily="34" charset="0"/>
              </a:rPr>
              <a:t>rp</a:t>
            </a:r>
            <a:r>
              <a:rPr lang="fr-FR" sz="2400" cap="none" dirty="0">
                <a:latin typeface="Arial" pitchFamily="34" charset="0"/>
                <a:cs typeface="Arial" pitchFamily="34" charset="0"/>
              </a:rPr>
              <a:t> (</a:t>
            </a:r>
            <a:r>
              <a:rPr lang="fr-FR" sz="2400" cap="none" dirty="0" err="1">
                <a:latin typeface="Arial" pitchFamily="34" charset="0"/>
                <a:cs typeface="Arial" pitchFamily="34" charset="0"/>
              </a:rPr>
              <a:t>related</a:t>
            </a:r>
            <a:r>
              <a:rPr lang="fr-FR" sz="2400" cap="none" dirty="0">
                <a:latin typeface="Arial" pitchFamily="34" charset="0"/>
                <a:cs typeface="Arial" pitchFamily="34" charset="0"/>
              </a:rPr>
              <a:t> </a:t>
            </a:r>
            <a:r>
              <a:rPr lang="fr-FR" sz="2400" cap="none" dirty="0" err="1">
                <a:latin typeface="Arial" pitchFamily="34" charset="0"/>
                <a:cs typeface="Arial" pitchFamily="34" charset="0"/>
              </a:rPr>
              <a:t>peptid</a:t>
            </a:r>
            <a:r>
              <a:rPr lang="fr-FR" sz="2400" cap="none" dirty="0">
                <a:latin typeface="Arial" pitchFamily="34" charset="0"/>
                <a:cs typeface="Arial" pitchFamily="34" charset="0"/>
              </a:rPr>
              <a:t>)</a:t>
            </a:r>
          </a:p>
          <a:p>
            <a:r>
              <a:rPr lang="fr-FR" sz="2400" cap="none" dirty="0">
                <a:latin typeface="Arial" pitchFamily="34" charset="0"/>
                <a:cs typeface="Arial" pitchFamily="34" charset="0"/>
              </a:rPr>
              <a:t>Apparenté à la PTH + même activité biologique</a:t>
            </a:r>
          </a:p>
          <a:p>
            <a:r>
              <a:rPr lang="fr-FR" sz="2400" cap="none" dirty="0">
                <a:latin typeface="Arial" pitchFamily="34" charset="0"/>
                <a:cs typeface="Arial" pitchFamily="34" charset="0"/>
              </a:rPr>
              <a:t>Absence de métastases ostéolytiques</a:t>
            </a:r>
          </a:p>
          <a:p>
            <a:endParaRPr lang="fr-FR" sz="2400" cap="none" dirty="0">
              <a:latin typeface="Arial" pitchFamily="34" charset="0"/>
              <a:cs typeface="Arial" pitchFamily="34" charset="0"/>
            </a:endParaRPr>
          </a:p>
          <a:p>
            <a:r>
              <a:rPr lang="fr-FR" sz="2400" cap="none" dirty="0">
                <a:latin typeface="Arial" pitchFamily="34" charset="0"/>
                <a:cs typeface="Arial" pitchFamily="34" charset="0"/>
              </a:rPr>
              <a:t>Le cancer est le plus souvent: pulmonaire, </a:t>
            </a:r>
            <a:r>
              <a:rPr lang="fr-FR" sz="2400" cap="none" dirty="0" err="1">
                <a:latin typeface="Arial" pitchFamily="34" charset="0"/>
                <a:cs typeface="Arial" pitchFamily="34" charset="0"/>
              </a:rPr>
              <a:t>oesophagien</a:t>
            </a:r>
            <a:r>
              <a:rPr lang="fr-FR" sz="2400" cap="none" dirty="0">
                <a:latin typeface="Arial" pitchFamily="34" charset="0"/>
                <a:cs typeface="Arial" pitchFamily="34" charset="0"/>
              </a:rPr>
              <a:t>, utérin, cutané, ou glandulaire (rein, vessie, ovaire…)</a:t>
            </a:r>
          </a:p>
          <a:p>
            <a:endParaRPr lang="fr-FR" sz="2400" cap="none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Titre 1"/>
          <p:cNvSpPr txBox="1">
            <a:spLocks/>
          </p:cNvSpPr>
          <p:nvPr/>
        </p:nvSpPr>
        <p:spPr>
          <a:xfrm>
            <a:off x="431371" y="260687"/>
            <a:ext cx="11619904" cy="20161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10000"/>
              </a:lnSpc>
            </a:pPr>
            <a:r>
              <a:rPr lang="fr-FR" sz="2800" b="1" cap="all" dirty="0">
                <a:solidFill>
                  <a:srgbClr val="002060"/>
                </a:solidFill>
                <a:latin typeface="Arial" pitchFamily="34" charset="0"/>
                <a:ea typeface="+mn-ea"/>
                <a:cs typeface="Arial" pitchFamily="34" charset="0"/>
              </a:rPr>
              <a:t>CAUSES NEOPLASIQUES</a:t>
            </a:r>
          </a:p>
          <a:p>
            <a:pPr lvl="0"/>
            <a:r>
              <a:rPr lang="fr-FR" sz="4000" dirty="0"/>
              <a:t/>
            </a:r>
            <a:br>
              <a:rPr lang="fr-FR" sz="4000" dirty="0"/>
            </a:br>
            <a:r>
              <a:rPr lang="fr-FR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5/Hypercalcémies humorales paranéoplasiques</a:t>
            </a:r>
          </a:p>
        </p:txBody>
      </p:sp>
    </p:spTree>
    <p:extLst>
      <p:ext uri="{BB962C8B-B14F-4D97-AF65-F5344CB8AC3E}">
        <p14:creationId xmlns:p14="http://schemas.microsoft.com/office/powerpoint/2010/main" val="1438109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52352" y="260648"/>
            <a:ext cx="11233248" cy="63367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007435" y="297012"/>
            <a:ext cx="10972800" cy="792162"/>
          </a:xfrm>
        </p:spPr>
        <p:txBody>
          <a:bodyPr>
            <a:normAutofit/>
          </a:bodyPr>
          <a:lstStyle/>
          <a:p>
            <a:pPr algn="ctr">
              <a:lnSpc>
                <a:spcPct val="110000"/>
              </a:lnSpc>
              <a:defRPr/>
            </a:pPr>
            <a:r>
              <a:rPr lang="fr-FR" sz="3200" b="1" cap="none" dirty="0" err="1">
                <a:solidFill>
                  <a:srgbClr val="002060"/>
                </a:solidFill>
                <a:latin typeface="Arial" pitchFamily="34" charset="0"/>
                <a:ea typeface="+mn-ea"/>
                <a:cs typeface="Arial" pitchFamily="34" charset="0"/>
              </a:rPr>
              <a:t>PTHrp</a:t>
            </a:r>
            <a:r>
              <a:rPr lang="fr-FR" sz="3200" b="1" cap="none" dirty="0">
                <a:solidFill>
                  <a:srgbClr val="002060"/>
                </a:solidFill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fr-FR" sz="3200" b="1" dirty="0">
                <a:solidFill>
                  <a:srgbClr val="002060"/>
                </a:solidFill>
                <a:latin typeface="Arial" pitchFamily="34" charset="0"/>
                <a:ea typeface="+mn-ea"/>
                <a:cs typeface="Arial" pitchFamily="34" charset="0"/>
              </a:rPr>
              <a:t>et hypercalcémies malignes</a:t>
            </a:r>
          </a:p>
        </p:txBody>
      </p:sp>
      <p:sp>
        <p:nvSpPr>
          <p:cNvPr id="6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588580" y="1514055"/>
            <a:ext cx="10972800" cy="5327650"/>
          </a:xfrm>
          <a:prstGeom prst="rect">
            <a:avLst/>
          </a:prstGeo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2400" cap="none" dirty="0">
                <a:solidFill>
                  <a:schemeClr val="accent5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Forme prolongée de la PTH 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fr-FR" sz="2400" cap="none" dirty="0">
                <a:latin typeface="Arial" pitchFamily="34" charset="0"/>
                <a:cs typeface="Arial" pitchFamily="34" charset="0"/>
              </a:rPr>
              <a:t>(131 et 173 </a:t>
            </a:r>
            <a:r>
              <a:rPr lang="fr-FR" sz="2400" cap="none" dirty="0" err="1">
                <a:latin typeface="Arial" pitchFamily="34" charset="0"/>
                <a:cs typeface="Arial" pitchFamily="34" charset="0"/>
              </a:rPr>
              <a:t>aa</a:t>
            </a:r>
            <a:r>
              <a:rPr lang="fr-FR" sz="2400" cap="none" dirty="0">
                <a:latin typeface="Arial" pitchFamily="34" charset="0"/>
                <a:cs typeface="Arial" pitchFamily="34" charset="0"/>
              </a:rPr>
              <a:t> au lieu de 84, 173 : dans les cellules cancéreuses) sécrétée par des </a:t>
            </a:r>
            <a:r>
              <a:rPr lang="fr-FR" sz="2400" b="1" cap="none" dirty="0">
                <a:latin typeface="Arial" pitchFamily="34" charset="0"/>
                <a:cs typeface="Arial" pitchFamily="34" charset="0"/>
              </a:rPr>
              <a:t>cancers</a:t>
            </a:r>
            <a:r>
              <a:rPr lang="fr-FR" sz="2400" cap="none" dirty="0">
                <a:latin typeface="Arial" pitchFamily="34" charset="0"/>
                <a:cs typeface="Arial" pitchFamily="34" charset="0"/>
              </a:rPr>
              <a:t> squameux (ORL) + hématologiques, sein, rein,…</a:t>
            </a:r>
          </a:p>
          <a:p>
            <a:pPr eaLnBrk="1" hangingPunct="1">
              <a:lnSpc>
                <a:spcPct val="90000"/>
              </a:lnSpc>
              <a:defRPr/>
            </a:pPr>
            <a:endParaRPr lang="fr-FR" sz="2400" cap="none" dirty="0">
              <a:latin typeface="Arial" pitchFamily="34" charset="0"/>
              <a:cs typeface="Arial" pitchFamily="34" charset="0"/>
            </a:endParaRPr>
          </a:p>
          <a:p>
            <a:pPr eaLnBrk="1" hangingPunct="1">
              <a:lnSpc>
                <a:spcPct val="90000"/>
              </a:lnSpc>
              <a:defRPr/>
            </a:pPr>
            <a:endParaRPr lang="fr-FR" sz="2400" cap="none" dirty="0">
              <a:latin typeface="Arial" pitchFamily="34" charset="0"/>
              <a:cs typeface="Arial" pitchFamily="34" charset="0"/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lang="fr-FR" sz="2400" cap="none" dirty="0" err="1">
                <a:latin typeface="Arial" pitchFamily="34" charset="0"/>
                <a:cs typeface="Arial" pitchFamily="34" charset="0"/>
              </a:rPr>
              <a:t>PTHrp</a:t>
            </a:r>
            <a:r>
              <a:rPr lang="fr-FR" sz="2400" cap="none" dirty="0">
                <a:latin typeface="Arial" pitchFamily="34" charset="0"/>
                <a:cs typeface="Arial" pitchFamily="34" charset="0"/>
              </a:rPr>
              <a:t> se lie au </a:t>
            </a:r>
            <a:r>
              <a:rPr lang="fr-FR" sz="2400" cap="none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même récepteur que PTH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fr-FR" sz="2400" cap="none" dirty="0">
                <a:latin typeface="Arial" pitchFamily="34" charset="0"/>
                <a:cs typeface="Arial" pitchFamily="34" charset="0"/>
              </a:rPr>
              <a:t> ↑ production de RANKL par les ostéoblastes 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fr-FR" sz="2400" cap="none" dirty="0">
                <a:latin typeface="Arial" pitchFamily="34" charset="0"/>
                <a:cs typeface="Arial" pitchFamily="34" charset="0"/>
              </a:rPr>
              <a:t>  active les ostéoclastes en activant les récepteurs RANK. 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fr-FR" sz="2400" cap="none" dirty="0">
                <a:latin typeface="Arial" pitchFamily="34" charset="0"/>
                <a:cs typeface="Arial" pitchFamily="34" charset="0"/>
              </a:rPr>
              <a:t> Mêmes actions au niveau du rein</a:t>
            </a:r>
          </a:p>
        </p:txBody>
      </p:sp>
    </p:spTree>
    <p:extLst>
      <p:ext uri="{BB962C8B-B14F-4D97-AF65-F5344CB8AC3E}">
        <p14:creationId xmlns:p14="http://schemas.microsoft.com/office/powerpoint/2010/main" val="3823228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52352" y="260648"/>
            <a:ext cx="11233248" cy="63367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fr-FR" sz="3200" b="1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GRANULOMATOSES</a:t>
            </a:r>
          </a:p>
        </p:txBody>
      </p:sp>
      <p:sp>
        <p:nvSpPr>
          <p:cNvPr id="4" name="Espace réservé du contenu 2"/>
          <p:cNvSpPr>
            <a:spLocks noGrp="1"/>
          </p:cNvSpPr>
          <p:nvPr>
            <p:ph idx="4294967295"/>
          </p:nvPr>
        </p:nvSpPr>
        <p:spPr>
          <a:xfrm>
            <a:off x="1153349" y="1988840"/>
            <a:ext cx="10223239" cy="4176464"/>
          </a:xfrm>
          <a:prstGeom prst="rect">
            <a:avLst/>
          </a:prstGeom>
        </p:spPr>
        <p:txBody>
          <a:bodyPr>
            <a:normAutofit fontScale="85000" lnSpcReduction="20000"/>
          </a:bodyPr>
          <a:lstStyle/>
          <a:p>
            <a:r>
              <a:rPr lang="fr-FR" sz="2800" cap="none" dirty="0">
                <a:latin typeface="Arial" pitchFamily="34" charset="0"/>
                <a:cs typeface="Arial" pitchFamily="34" charset="0"/>
              </a:rPr>
              <a:t>Sarcoïdose</a:t>
            </a:r>
          </a:p>
          <a:p>
            <a:r>
              <a:rPr lang="fr-FR" sz="2800" cap="none" dirty="0">
                <a:latin typeface="Arial" pitchFamily="34" charset="0"/>
                <a:cs typeface="Arial" pitchFamily="34" charset="0"/>
              </a:rPr>
              <a:t>Tuberculose</a:t>
            </a:r>
          </a:p>
          <a:p>
            <a:r>
              <a:rPr lang="fr-FR" sz="2800" cap="none" dirty="0">
                <a:latin typeface="Arial" pitchFamily="34" charset="0"/>
                <a:cs typeface="Arial" pitchFamily="34" charset="0"/>
              </a:rPr>
              <a:t>Lèpre</a:t>
            </a:r>
          </a:p>
          <a:p>
            <a:r>
              <a:rPr lang="fr-FR" sz="2800" cap="none" dirty="0">
                <a:latin typeface="Arial" pitchFamily="34" charset="0"/>
                <a:cs typeface="Arial" pitchFamily="34" charset="0"/>
              </a:rPr>
              <a:t>Histoplasmose..</a:t>
            </a:r>
          </a:p>
          <a:p>
            <a:endParaRPr lang="fr-FR" sz="2800" cap="none" dirty="0">
              <a:latin typeface="Arial" pitchFamily="34" charset="0"/>
              <a:cs typeface="Arial" pitchFamily="34" charset="0"/>
            </a:endParaRPr>
          </a:p>
          <a:p>
            <a:pPr marL="0" indent="0" algn="just">
              <a:buNone/>
            </a:pPr>
            <a:r>
              <a:rPr lang="fr-FR" sz="2600" cap="none" dirty="0">
                <a:latin typeface="Arial" pitchFamily="34" charset="0"/>
                <a:cs typeface="Arial" pitchFamily="34" charset="0"/>
              </a:rPr>
              <a:t>=&gt;  Sécrétion inappropriée + non freinable d’une </a:t>
            </a:r>
            <a:r>
              <a:rPr lang="fr-FR" sz="2600" b="1" cap="none" dirty="0">
                <a:latin typeface="Arial" pitchFamily="34" charset="0"/>
                <a:cs typeface="Arial" pitchFamily="34" charset="0"/>
              </a:rPr>
              <a:t>1α hydroxylase </a:t>
            </a:r>
            <a:r>
              <a:rPr lang="fr-FR" sz="2600" cap="none" dirty="0">
                <a:latin typeface="Arial" pitchFamily="34" charset="0"/>
                <a:cs typeface="Arial" pitchFamily="34" charset="0"/>
              </a:rPr>
              <a:t>extra rénale par les </a:t>
            </a:r>
            <a:r>
              <a:rPr lang="fr-FR" sz="2600" b="1" cap="none" dirty="0">
                <a:latin typeface="Arial" pitchFamily="34" charset="0"/>
                <a:cs typeface="Arial" pitchFamily="34" charset="0"/>
              </a:rPr>
              <a:t>macrophages</a:t>
            </a:r>
            <a:r>
              <a:rPr lang="fr-FR" sz="2600" cap="none" dirty="0">
                <a:latin typeface="Arial" pitchFamily="34" charset="0"/>
                <a:cs typeface="Arial" pitchFamily="34" charset="0"/>
              </a:rPr>
              <a:t> activés au niveau des granulomes </a:t>
            </a:r>
          </a:p>
          <a:p>
            <a:pPr marL="0" indent="0" algn="just">
              <a:buNone/>
            </a:pPr>
            <a:r>
              <a:rPr lang="fr-FR" sz="2600" cap="none" dirty="0">
                <a:latin typeface="Arial" pitchFamily="34" charset="0"/>
                <a:cs typeface="Arial" pitchFamily="34" charset="0"/>
              </a:rPr>
              <a:t>=&gt; hydroxylation en 1 de la vitamine D + production anormale de 1,25 </a:t>
            </a:r>
            <a:r>
              <a:rPr lang="fr-FR" sz="2600" cap="none" dirty="0" err="1">
                <a:latin typeface="Arial" pitchFamily="34" charset="0"/>
                <a:cs typeface="Arial" pitchFamily="34" charset="0"/>
              </a:rPr>
              <a:t>dihydroxycalciférol</a:t>
            </a:r>
            <a:r>
              <a:rPr lang="fr-FR" sz="2600" cap="none" dirty="0">
                <a:latin typeface="Arial" pitchFamily="34" charset="0"/>
                <a:cs typeface="Arial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38109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52352" y="260648"/>
            <a:ext cx="11233248" cy="63367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fr-FR" sz="3200" b="1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CAUSES MEDICAMENTEUSES</a:t>
            </a:r>
          </a:p>
        </p:txBody>
      </p:sp>
      <p:sp>
        <p:nvSpPr>
          <p:cNvPr id="4" name="Espace réservé du contenu 2"/>
          <p:cNvSpPr>
            <a:spLocks noGrp="1"/>
          </p:cNvSpPr>
          <p:nvPr>
            <p:ph idx="4294967295"/>
          </p:nvPr>
        </p:nvSpPr>
        <p:spPr>
          <a:xfrm>
            <a:off x="812800" y="1988840"/>
            <a:ext cx="10972800" cy="3196952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 lang="fr-FR" sz="2800" cap="none" dirty="0">
              <a:latin typeface="Arial" pitchFamily="34" charset="0"/>
              <a:cs typeface="Arial" pitchFamily="34" charset="0"/>
            </a:endParaRPr>
          </a:p>
          <a:p>
            <a:r>
              <a:rPr lang="fr-FR" sz="2800" cap="none" dirty="0">
                <a:latin typeface="Arial" pitchFamily="34" charset="0"/>
                <a:cs typeface="Arial" pitchFamily="34" charset="0"/>
              </a:rPr>
              <a:t>Intoxication par la vit D (hypervitaminose D)</a:t>
            </a:r>
          </a:p>
          <a:p>
            <a:r>
              <a:rPr lang="fr-FR" sz="2800" cap="none" dirty="0">
                <a:latin typeface="Arial" pitchFamily="34" charset="0"/>
                <a:cs typeface="Arial" pitchFamily="34" charset="0"/>
              </a:rPr>
              <a:t>Rétinoïdes utilisés en dermato </a:t>
            </a:r>
            <a:r>
              <a:rPr lang="fr-FR" sz="2400" cap="none" dirty="0">
                <a:latin typeface="Arial" pitchFamily="34" charset="0"/>
                <a:cs typeface="Arial" pitchFamily="34" charset="0"/>
              </a:rPr>
              <a:t>(hypervitaminose A)</a:t>
            </a:r>
            <a:endParaRPr lang="fr-FR" sz="2800" cap="none" dirty="0">
              <a:latin typeface="Arial" pitchFamily="34" charset="0"/>
              <a:cs typeface="Arial" pitchFamily="34" charset="0"/>
            </a:endParaRPr>
          </a:p>
          <a:p>
            <a:r>
              <a:rPr lang="fr-FR" sz="2800" cap="none" dirty="0">
                <a:latin typeface="Arial" pitchFamily="34" charset="0"/>
                <a:cs typeface="Arial" pitchFamily="34" charset="0"/>
              </a:rPr>
              <a:t>Lithium </a:t>
            </a:r>
            <a:r>
              <a:rPr lang="fr-FR" sz="2400" cap="none" dirty="0">
                <a:latin typeface="Arial" pitchFamily="34" charset="0"/>
                <a:cs typeface="Arial" pitchFamily="34" charset="0"/>
              </a:rPr>
              <a:t>(action directe sur la parathyroïde)</a:t>
            </a:r>
          </a:p>
          <a:p>
            <a:r>
              <a:rPr lang="fr-FR" sz="2800" cap="none" dirty="0">
                <a:latin typeface="Arial" pitchFamily="34" charset="0"/>
                <a:cs typeface="Arial" pitchFamily="34" charset="0"/>
              </a:rPr>
              <a:t>Diurétiques thiazidiques</a:t>
            </a:r>
          </a:p>
          <a:p>
            <a:endParaRPr lang="fr-FR" sz="2800" cap="none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6" name="Imag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8288" y="4437112"/>
            <a:ext cx="2784309" cy="20882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38109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52352" y="260648"/>
            <a:ext cx="11233248" cy="63367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Titre 1"/>
          <p:cNvSpPr>
            <a:spLocks noGrp="1"/>
          </p:cNvSpPr>
          <p:nvPr>
            <p:ph type="title"/>
          </p:nvPr>
        </p:nvSpPr>
        <p:spPr>
          <a:xfrm>
            <a:off x="609600" y="260648"/>
            <a:ext cx="10972800" cy="1143000"/>
          </a:xfrm>
        </p:spPr>
        <p:txBody>
          <a:bodyPr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fr-FR" sz="3200" b="1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L’IMMOBILISATION</a:t>
            </a:r>
          </a:p>
        </p:txBody>
      </p:sp>
      <p:sp>
        <p:nvSpPr>
          <p:cNvPr id="4" name="Espace réservé du contenu 2"/>
          <p:cNvSpPr>
            <a:spLocks noGrp="1"/>
          </p:cNvSpPr>
          <p:nvPr>
            <p:ph idx="4294967295"/>
          </p:nvPr>
        </p:nvSpPr>
        <p:spPr>
          <a:xfrm>
            <a:off x="774071" y="2060848"/>
            <a:ext cx="10972800" cy="3268960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fr-FR" sz="2800" cap="none" dirty="0">
                <a:latin typeface="Arial" pitchFamily="34" charset="0"/>
                <a:cs typeface="Arial" pitchFamily="34" charset="0"/>
              </a:rPr>
              <a:t>Coma prolongé</a:t>
            </a:r>
          </a:p>
          <a:p>
            <a:r>
              <a:rPr lang="fr-FR" sz="2800" cap="none" dirty="0">
                <a:latin typeface="Arial" pitchFamily="34" charset="0"/>
                <a:cs typeface="Arial" pitchFamily="34" charset="0"/>
              </a:rPr>
              <a:t>Paraplégie</a:t>
            </a:r>
          </a:p>
          <a:p>
            <a:r>
              <a:rPr lang="fr-FR" sz="2800" cap="none" dirty="0">
                <a:latin typeface="Arial" pitchFamily="34" charset="0"/>
                <a:cs typeface="Arial" pitchFamily="34" charset="0"/>
              </a:rPr>
              <a:t>Aggravée par nutrition parentérale exclusive</a:t>
            </a:r>
          </a:p>
          <a:p>
            <a:r>
              <a:rPr lang="fr-FR" sz="2800" cap="none" dirty="0">
                <a:latin typeface="Arial" pitchFamily="34" charset="0"/>
                <a:cs typeface="Arial" pitchFamily="34" charset="0"/>
              </a:rPr>
              <a:t>Résolutive à la verticalisation</a:t>
            </a:r>
          </a:p>
          <a:p>
            <a:r>
              <a:rPr lang="fr-FR" sz="2800" cap="none" dirty="0">
                <a:latin typeface="Arial" pitchFamily="34" charset="0"/>
                <a:cs typeface="Arial" pitchFamily="34" charset="0"/>
              </a:rPr>
              <a:t>Associée à une </a:t>
            </a:r>
            <a:r>
              <a:rPr lang="fr-FR" sz="2800" cap="none" dirty="0" err="1">
                <a:latin typeface="Arial" pitchFamily="34" charset="0"/>
                <a:cs typeface="Arial" pitchFamily="34" charset="0"/>
              </a:rPr>
              <a:t>hypercalciurie</a:t>
            </a:r>
            <a:endParaRPr lang="fr-FR" sz="2800" cap="none" dirty="0">
              <a:latin typeface="Arial" pitchFamily="34" charset="0"/>
              <a:cs typeface="Arial" pitchFamily="34" charset="0"/>
            </a:endParaRPr>
          </a:p>
          <a:p>
            <a:endParaRPr lang="fr-FR" cap="none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9725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18484" y="334121"/>
            <a:ext cx="11233248" cy="63367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Titre 1"/>
          <p:cNvSpPr>
            <a:spLocks noGrp="1"/>
          </p:cNvSpPr>
          <p:nvPr>
            <p:ph type="title"/>
          </p:nvPr>
        </p:nvSpPr>
        <p:spPr>
          <a:xfrm>
            <a:off x="609600" y="332656"/>
            <a:ext cx="10972800" cy="1143000"/>
          </a:xfrm>
        </p:spPr>
        <p:txBody>
          <a:bodyPr>
            <a:normAutofit/>
          </a:bodyPr>
          <a:lstStyle/>
          <a:p>
            <a:pPr algn="ctr">
              <a:lnSpc>
                <a:spcPct val="110000"/>
              </a:lnSpc>
            </a:pPr>
            <a:r>
              <a:rPr lang="fr-FR" sz="3200" b="1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Causes endocriniennes</a:t>
            </a:r>
          </a:p>
        </p:txBody>
      </p:sp>
      <p:sp>
        <p:nvSpPr>
          <p:cNvPr id="4" name="Espace réservé du contenu 2"/>
          <p:cNvSpPr>
            <a:spLocks noGrp="1"/>
          </p:cNvSpPr>
          <p:nvPr>
            <p:ph idx="4294967295"/>
          </p:nvPr>
        </p:nvSpPr>
        <p:spPr>
          <a:xfrm>
            <a:off x="778932" y="2048013"/>
            <a:ext cx="10972800" cy="2908920"/>
          </a:xfrm>
          <a:prstGeom prst="rect">
            <a:avLst/>
          </a:prstGeom>
        </p:spPr>
        <p:txBody>
          <a:bodyPr>
            <a:normAutofit fontScale="92500" lnSpcReduction="10000"/>
          </a:bodyPr>
          <a:lstStyle/>
          <a:p>
            <a:r>
              <a:rPr lang="fr-FR" sz="2800" cap="none" dirty="0" err="1">
                <a:latin typeface="Arial" pitchFamily="34" charset="0"/>
                <a:cs typeface="Arial" pitchFamily="34" charset="0"/>
              </a:rPr>
              <a:t>Neuroendocrinopathies</a:t>
            </a:r>
            <a:r>
              <a:rPr lang="fr-FR" sz="2800" cap="none" dirty="0">
                <a:latin typeface="Arial" pitchFamily="34" charset="0"/>
                <a:cs typeface="Arial" pitchFamily="34" charset="0"/>
              </a:rPr>
              <a:t> multiples</a:t>
            </a:r>
          </a:p>
          <a:p>
            <a:r>
              <a:rPr lang="fr-FR" sz="2800" cap="none" dirty="0">
                <a:latin typeface="Arial" pitchFamily="34" charset="0"/>
                <a:cs typeface="Arial" pitchFamily="34" charset="0"/>
              </a:rPr>
              <a:t>Hyperthyroïdie</a:t>
            </a:r>
          </a:p>
          <a:p>
            <a:r>
              <a:rPr lang="fr-FR" sz="2800" cap="none" dirty="0">
                <a:latin typeface="Arial" pitchFamily="34" charset="0"/>
                <a:cs typeface="Arial" pitchFamily="34" charset="0"/>
              </a:rPr>
              <a:t>Insuffisance surrénalienne aiguë</a:t>
            </a:r>
          </a:p>
          <a:p>
            <a:r>
              <a:rPr lang="fr-FR" sz="2800" cap="none" dirty="0">
                <a:latin typeface="Arial" pitchFamily="34" charset="0"/>
                <a:cs typeface="Arial" pitchFamily="34" charset="0"/>
              </a:rPr>
              <a:t>Phéochromocytome isolé </a:t>
            </a:r>
          </a:p>
          <a:p>
            <a:r>
              <a:rPr lang="fr-FR" sz="2800" cap="none" dirty="0">
                <a:latin typeface="Arial" pitchFamily="34" charset="0"/>
                <a:cs typeface="Arial" pitchFamily="34" charset="0"/>
              </a:rPr>
              <a:t>Acromégalie</a:t>
            </a:r>
          </a:p>
          <a:p>
            <a:endParaRPr lang="fr-FR" sz="2800" cap="none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9109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19403" y="548680"/>
            <a:ext cx="11041227" cy="43765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400">
              <a:lnSpc>
                <a:spcPct val="110000"/>
              </a:lnSpc>
              <a:spcBef>
                <a:spcPct val="0"/>
              </a:spcBef>
            </a:pPr>
            <a:r>
              <a:rPr lang="fr-FR" sz="3200" b="1" cap="all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Insuffisance rénale aiguë</a:t>
            </a:r>
          </a:p>
          <a:p>
            <a:pPr algn="just"/>
            <a:endParaRPr lang="fr-FR" sz="3200" b="1" dirty="0">
              <a:solidFill>
                <a:srgbClr val="FFC000"/>
              </a:solidFill>
              <a:latin typeface="+mj-lt"/>
              <a:ea typeface="+mj-ea"/>
              <a:cs typeface="+mj-cs"/>
            </a:endParaRPr>
          </a:p>
          <a:p>
            <a:pPr algn="just"/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L’hypercalcémie s’observe à la phase de récupération des fonctions tubulaires surtout en cas de </a:t>
            </a:r>
            <a:r>
              <a:rPr lang="fr-FR" sz="2400" dirty="0" err="1">
                <a:latin typeface="Arial" panose="020B0604020202020204" pitchFamily="34" charset="0"/>
                <a:cs typeface="Arial" panose="020B0604020202020204" pitchFamily="34" charset="0"/>
              </a:rPr>
              <a:t>rhabdomyolyse</a:t>
            </a: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 aigue où il existe une forte libération endogène du calcium musculaire.</a:t>
            </a:r>
          </a:p>
          <a:p>
            <a:pPr algn="just"/>
            <a:endParaRPr lang="fr-F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fr-F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914400">
              <a:lnSpc>
                <a:spcPct val="110000"/>
              </a:lnSpc>
              <a:spcBef>
                <a:spcPct val="0"/>
              </a:spcBef>
            </a:pPr>
            <a:r>
              <a:rPr lang="fr-FR" sz="3200" b="1" cap="all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Maladie de </a:t>
            </a:r>
            <a:r>
              <a:rPr lang="fr-FR" sz="3200" b="1" cap="all" dirty="0" err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paget</a:t>
            </a:r>
            <a:endParaRPr lang="fr-FR" sz="3200" b="1" cap="all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fr-FR" sz="3200" b="1" dirty="0">
              <a:solidFill>
                <a:srgbClr val="FFC000"/>
              </a:solidFill>
              <a:latin typeface="+mj-lt"/>
              <a:ea typeface="+mj-ea"/>
              <a:cs typeface="+mj-cs"/>
            </a:endParaRPr>
          </a:p>
          <a:p>
            <a:pPr algn="just"/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Caractérisée par une accélération de la formation et de la résorption osseuse.</a:t>
            </a:r>
          </a:p>
        </p:txBody>
      </p:sp>
    </p:spTree>
    <p:extLst>
      <p:ext uri="{BB962C8B-B14F-4D97-AF65-F5344CB8AC3E}">
        <p14:creationId xmlns:p14="http://schemas.microsoft.com/office/powerpoint/2010/main" val="2999882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 txBox="1">
            <a:spLocks/>
          </p:cNvSpPr>
          <p:nvPr/>
        </p:nvSpPr>
        <p:spPr>
          <a:xfrm>
            <a:off x="719403" y="276518"/>
            <a:ext cx="10029312" cy="709865"/>
          </a:xfrm>
          <a:prstGeom prst="rect">
            <a:avLst/>
          </a:prstGeom>
        </p:spPr>
        <p:txBody>
          <a:bodyPr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200" b="0" i="0" kern="120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 defTabSz="914400">
              <a:lnSpc>
                <a:spcPct val="110000"/>
              </a:lnSpc>
            </a:pPr>
            <a:r>
              <a:rPr lang="fr-FR" b="1" cap="all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SYNDROME DU LAIT ET DES ALCALINS </a:t>
            </a:r>
            <a:br>
              <a:rPr lang="fr-FR" b="1" cap="all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</a:br>
            <a:r>
              <a:rPr lang="fr-FR" b="1" cap="all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 LE SYNDROME DE BURNETT</a:t>
            </a:r>
          </a:p>
        </p:txBody>
      </p:sp>
      <p:pic>
        <p:nvPicPr>
          <p:cNvPr id="3" name="Image 2" descr="http://www.docteurclic.com/galerie-photos/image_2882_m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2167" y="3437336"/>
            <a:ext cx="3937000" cy="2895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437882" y="1734044"/>
            <a:ext cx="1133143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>
                <a:latin typeface="Arial" pitchFamily="34" charset="0"/>
                <a:cs typeface="Arial" pitchFamily="34" charset="0"/>
              </a:rPr>
              <a:t> </a:t>
            </a:r>
            <a:r>
              <a:rPr lang="fr-FR" sz="2400" dirty="0">
                <a:latin typeface="Arial" pitchFamily="34" charset="0"/>
                <a:cs typeface="Arial" pitchFamily="34" charset="0"/>
              </a:rPr>
              <a:t>Consommation excessive et prolongée de lait et/ou de médicaments </a:t>
            </a:r>
            <a:r>
              <a:rPr lang="fr-FR" sz="2400" dirty="0" err="1">
                <a:latin typeface="Arial" pitchFamily="34" charset="0"/>
                <a:cs typeface="Arial" pitchFamily="34" charset="0"/>
              </a:rPr>
              <a:t>anti-acides</a:t>
            </a:r>
            <a:r>
              <a:rPr lang="fr-FR" sz="2400" dirty="0">
                <a:latin typeface="Arial" pitchFamily="34" charset="0"/>
                <a:cs typeface="Arial" pitchFamily="34" charset="0"/>
              </a:rPr>
              <a:t>. </a:t>
            </a:r>
          </a:p>
          <a:p>
            <a:endParaRPr lang="fr-FR" sz="2400" dirty="0">
              <a:latin typeface="Arial" pitchFamily="34" charset="0"/>
              <a:cs typeface="Arial" pitchFamily="34" charset="0"/>
            </a:endParaRPr>
          </a:p>
          <a:p>
            <a:r>
              <a:rPr lang="fr-FR" sz="2400" dirty="0">
                <a:latin typeface="Arial" pitchFamily="34" charset="0"/>
                <a:cs typeface="Arial" pitchFamily="34" charset="0"/>
              </a:rPr>
              <a:t>Patients souffrant d'un ulcère gastroduodénal et de troubles rénaux associés+++</a:t>
            </a:r>
          </a:p>
        </p:txBody>
      </p:sp>
      <p:pic>
        <p:nvPicPr>
          <p:cNvPr id="5" name="Imag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7664" y="3099352"/>
            <a:ext cx="2471307" cy="23131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60275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Imag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6428" y="463793"/>
            <a:ext cx="8553450" cy="541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3799268" y="2498501"/>
            <a:ext cx="1017431" cy="15454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3296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60044" y="927279"/>
            <a:ext cx="10396882" cy="3361386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ctr"/>
            <a:r>
              <a:rPr lang="fr-FR" sz="6000" dirty="0">
                <a:latin typeface="Arial Black" panose="020B0A04020102020204" pitchFamily="34" charset="0"/>
              </a:rPr>
              <a:t/>
            </a:r>
            <a:br>
              <a:rPr lang="fr-FR" sz="6000" dirty="0">
                <a:latin typeface="Arial Black" panose="020B0A04020102020204" pitchFamily="34" charset="0"/>
              </a:rPr>
            </a:br>
            <a:r>
              <a:rPr lang="fr-FR" sz="6000" dirty="0">
                <a:latin typeface="Arial Black" panose="020B0A04020102020204" pitchFamily="34" charset="0"/>
              </a:rPr>
              <a:t>objectif 6</a:t>
            </a:r>
            <a:br>
              <a:rPr lang="fr-FR" sz="6000" dirty="0">
                <a:latin typeface="Arial Black" panose="020B0A04020102020204" pitchFamily="34" charset="0"/>
              </a:rPr>
            </a:br>
            <a:r>
              <a:rPr lang="fr-FR" sz="4800" b="1" dirty="0">
                <a:latin typeface="Arial" panose="020B0604020202020204" pitchFamily="34" charset="0"/>
                <a:cs typeface="Arial" panose="020B0604020202020204" pitchFamily="34" charset="0"/>
              </a:rPr>
              <a:t>prise en charge</a:t>
            </a:r>
            <a:r>
              <a:rPr lang="fr-FR" sz="4800" dirty="0">
                <a:latin typeface="Arial Black" panose="020B0A04020102020204" pitchFamily="34" charset="0"/>
              </a:rPr>
              <a:t/>
            </a:r>
            <a:br>
              <a:rPr lang="fr-FR" sz="4800" dirty="0">
                <a:latin typeface="Arial Black" panose="020B0A04020102020204" pitchFamily="34" charset="0"/>
              </a:rPr>
            </a:br>
            <a:endParaRPr lang="fr-FR" sz="60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3871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F76134A-D962-B270-C06C-478201552BD7}"/>
              </a:ext>
            </a:extLst>
          </p:cNvPr>
          <p:cNvSpPr txBox="1"/>
          <p:nvPr/>
        </p:nvSpPr>
        <p:spPr>
          <a:xfrm>
            <a:off x="1145892" y="704451"/>
            <a:ext cx="9039829" cy="3295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1000"/>
              </a:spcAft>
              <a:tabLst>
                <a:tab pos="180340" algn="l"/>
              </a:tabLst>
            </a:pPr>
            <a:r>
              <a:rPr lang="fr-FR" sz="26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39. </a:t>
            </a:r>
            <a:r>
              <a:rPr lang="fr-FR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Les moyens thérapeutiques pouvant être indiqués en cas d’une hypercalcémie sont :</a:t>
            </a:r>
            <a:endParaRPr lang="en-US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Le </a:t>
            </a:r>
            <a:r>
              <a:rPr lang="fr-FR" sz="2800" dirty="0" err="1" smtClean="0">
                <a:latin typeface="Times New Roman" pitchFamily="18" charset="0"/>
                <a:cs typeface="Times New Roman" pitchFamily="18" charset="0"/>
              </a:rPr>
              <a:t>cinacalcet</a:t>
            </a:r>
            <a:endParaRPr lang="fr-FR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Le </a:t>
            </a:r>
            <a:r>
              <a:rPr lang="fr-FR" sz="2800" dirty="0" err="1" smtClean="0">
                <a:latin typeface="Times New Roman" pitchFamily="18" charset="0"/>
                <a:cs typeface="Times New Roman" pitchFamily="18" charset="0"/>
              </a:rPr>
              <a:t>denosumab</a:t>
            </a:r>
            <a:endParaRPr lang="fr-FR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Les rétinoïdes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Les glucocorticoïdes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Les inhibiteurs calciques</a:t>
            </a:r>
            <a:endParaRPr lang="fr-FR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927B665-BF62-F7EF-8986-EDA20F2EA7F6}"/>
              </a:ext>
            </a:extLst>
          </p:cNvPr>
          <p:cNvSpPr txBox="1"/>
          <p:nvPr/>
        </p:nvSpPr>
        <p:spPr>
          <a:xfrm>
            <a:off x="591285" y="4994267"/>
            <a:ext cx="31618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Réponse : </a:t>
            </a:r>
            <a:r>
              <a:rPr lang="fr-FR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fr-FR" sz="28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 D</a:t>
            </a:r>
            <a:endParaRPr lang="fr-FR" sz="28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4517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017E654-AE38-9123-BD89-3EE906252902}"/>
              </a:ext>
            </a:extLst>
          </p:cNvPr>
          <p:cNvSpPr txBox="1"/>
          <p:nvPr/>
        </p:nvSpPr>
        <p:spPr>
          <a:xfrm>
            <a:off x="462987" y="709416"/>
            <a:ext cx="10857054" cy="3366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49580" lvl="0">
              <a:lnSpc>
                <a:spcPct val="115000"/>
              </a:lnSpc>
              <a:spcAft>
                <a:spcPts val="1000"/>
              </a:spcAft>
            </a:pPr>
            <a:r>
              <a:rPr lang="fr-FR" sz="26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40. </a:t>
            </a: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Quelle est la première étape du traitement symptomatique d’une hypercalcémie à 3,2mmol/l</a:t>
            </a:r>
            <a:r>
              <a:rPr lang="fr-FR" sz="2800" dirty="0" smtClean="0">
                <a:effectLst/>
                <a:latin typeface="Times New Roman" pitchFamily="18" charset="0"/>
                <a:ea typeface="Calibri" panose="020F0502020204030204" pitchFamily="34" charset="0"/>
                <a:cs typeface="Times New Roman" pitchFamily="18" charset="0"/>
              </a:rPr>
              <a:t>:</a:t>
            </a:r>
            <a:endParaRPr lang="en-US" sz="2800" dirty="0">
              <a:effectLst/>
              <a:latin typeface="Times New Roman" pitchFamily="18" charset="0"/>
              <a:ea typeface="Calibri" panose="020F0502020204030204" pitchFamily="34" charset="0"/>
              <a:cs typeface="Times New Roman" pitchFamily="18" charset="0"/>
            </a:endParaRPr>
          </a:p>
          <a:p>
            <a:pPr lvl="2"/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A. Perfusion de biphosphonates</a:t>
            </a:r>
          </a:p>
          <a:p>
            <a:pPr lvl="2"/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B. Injection sous-cutanée de calcitonine </a:t>
            </a:r>
          </a:p>
          <a:p>
            <a:pPr lvl="2"/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C. Administration de vitamine D</a:t>
            </a:r>
          </a:p>
          <a:p>
            <a:pPr lvl="2"/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D. Réhydratation avec du sérum physiologique</a:t>
            </a:r>
          </a:p>
          <a:p>
            <a:pPr lvl="2"/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E. Epuration </a:t>
            </a:r>
            <a:r>
              <a:rPr lang="fr-FR" sz="2800" dirty="0" err="1" smtClean="0">
                <a:latin typeface="Times New Roman" pitchFamily="18" charset="0"/>
                <a:cs typeface="Times New Roman" pitchFamily="18" charset="0"/>
              </a:rPr>
              <a:t>exra-rénale</a:t>
            </a:r>
            <a:endParaRPr lang="fr-FR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33592D08-8E8B-AE0C-B31A-E0AAA6DBE9CC}"/>
              </a:ext>
            </a:extLst>
          </p:cNvPr>
          <p:cNvSpPr txBox="1"/>
          <p:nvPr/>
        </p:nvSpPr>
        <p:spPr>
          <a:xfrm>
            <a:off x="591285" y="4982692"/>
            <a:ext cx="31618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Réponse </a:t>
            </a:r>
            <a:r>
              <a:rPr lang="fr-FR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fr-FR" sz="28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endParaRPr lang="fr-FR" sz="28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4986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5B2767E-9B93-5F03-CBBB-3CF4F35AF441}"/>
              </a:ext>
            </a:extLst>
          </p:cNvPr>
          <p:cNvSpPr txBox="1"/>
          <p:nvPr/>
        </p:nvSpPr>
        <p:spPr>
          <a:xfrm>
            <a:off x="1089673" y="896228"/>
            <a:ext cx="9248173" cy="36271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</a:pPr>
            <a:r>
              <a:rPr lang="fr-FR" sz="26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41. Le </a:t>
            </a:r>
            <a:r>
              <a:rPr lang="fr-FR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traitement par la calcitonine au cours d’une hypercalcémie : </a:t>
            </a:r>
          </a:p>
          <a:p>
            <a:pPr lvl="0">
              <a:lnSpc>
                <a:spcPct val="115000"/>
              </a:lnSpc>
            </a:pPr>
            <a:endParaRPr lang="en-US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971550" lvl="1" indent="-514350">
              <a:buFont typeface="+mj-lt"/>
              <a:buAutoNum type="alphaUcPeriod"/>
            </a:pP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Est administré par voie sous-cutanée ou IM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Est suffisant en cas d’hypercalcémie maligne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Peut se compliquer de réaction allergique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A un effet rapide 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A un effet durable</a:t>
            </a: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+mj-lt"/>
              <a:buAutoNum type="alphaUcPeriod"/>
            </a:pPr>
            <a:endParaRPr lang="en-US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1B17B46F-4987-985D-9C40-1645A379A960}"/>
              </a:ext>
            </a:extLst>
          </p:cNvPr>
          <p:cNvSpPr txBox="1"/>
          <p:nvPr/>
        </p:nvSpPr>
        <p:spPr>
          <a:xfrm>
            <a:off x="591285" y="4982692"/>
            <a:ext cx="31618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Réponse </a:t>
            </a:r>
            <a:r>
              <a:rPr lang="fr-FR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fr-FR" sz="28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ACD</a:t>
            </a:r>
            <a:endParaRPr lang="fr-FR" sz="28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5873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EF834F2-231B-C677-953C-7C16A0675DA3}"/>
              </a:ext>
            </a:extLst>
          </p:cNvPr>
          <p:cNvSpPr txBox="1"/>
          <p:nvPr/>
        </p:nvSpPr>
        <p:spPr>
          <a:xfrm>
            <a:off x="859232" y="753121"/>
            <a:ext cx="10081550" cy="4128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lang="fr-FR" sz="2800" dirty="0" smtClean="0">
                <a:effectLst/>
                <a:latin typeface="Times New Roman" pitchFamily="18" charset="0"/>
                <a:ea typeface="Calibri" panose="020F0502020204030204" pitchFamily="34" charset="0"/>
                <a:cs typeface="Times New Roman" pitchFamily="18" charset="0"/>
              </a:rPr>
              <a:t>42. </a:t>
            </a: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Les principaux effets des </a:t>
            </a:r>
            <a:r>
              <a:rPr lang="fr-FR" sz="2800" dirty="0" err="1" smtClean="0">
                <a:latin typeface="Times New Roman" pitchFamily="18" charset="0"/>
                <a:cs typeface="Times New Roman" pitchFamily="18" charset="0"/>
              </a:rPr>
              <a:t>bisphosphonates</a:t>
            </a: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 dans le traitement de l'hypercalcémie sont :</a:t>
            </a:r>
          </a:p>
          <a:p>
            <a:pPr lvl="0">
              <a:lnSpc>
                <a:spcPct val="115000"/>
              </a:lnSpc>
            </a:pPr>
            <a:endParaRPr lang="en-US" sz="2800" dirty="0">
              <a:effectLst/>
              <a:latin typeface="Times New Roman" pitchFamily="18" charset="0"/>
              <a:ea typeface="Calibri" panose="020F0502020204030204" pitchFamily="34" charset="0"/>
              <a:cs typeface="Times New Roman" pitchFamily="18" charset="0"/>
            </a:endParaRPr>
          </a:p>
          <a:p>
            <a:pPr lvl="1"/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A. Diminution de l’absorption digestive de calcium</a:t>
            </a:r>
          </a:p>
          <a:p>
            <a:pPr lvl="1"/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B. Diminution de la viabilité des ostéoclastes</a:t>
            </a:r>
          </a:p>
          <a:p>
            <a:pPr lvl="1"/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C. Inhibition de la résorption osseuse par ostéoclastes</a:t>
            </a:r>
          </a:p>
          <a:p>
            <a:pPr lvl="1"/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D. Augmentation de la filtration glomérulaire</a:t>
            </a:r>
          </a:p>
          <a:p>
            <a:pPr lvl="1"/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E. Stimulation de la production de vitamine D</a:t>
            </a:r>
          </a:p>
          <a:p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 </a:t>
            </a:r>
            <a:endParaRPr lang="fr-FR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4E6533F0-D9FA-3307-1750-736E0E7690FB}"/>
              </a:ext>
            </a:extLst>
          </p:cNvPr>
          <p:cNvSpPr txBox="1"/>
          <p:nvPr/>
        </p:nvSpPr>
        <p:spPr>
          <a:xfrm>
            <a:off x="591285" y="4982692"/>
            <a:ext cx="31618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Réponse </a:t>
            </a:r>
            <a:r>
              <a:rPr lang="fr-FR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fr-FR" sz="28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BC</a:t>
            </a:r>
            <a:endParaRPr lang="fr-FR" sz="28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6150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F70EBA2-7F98-5960-C423-782AF62F9FBB}"/>
              </a:ext>
            </a:extLst>
          </p:cNvPr>
          <p:cNvSpPr txBox="1"/>
          <p:nvPr/>
        </p:nvSpPr>
        <p:spPr>
          <a:xfrm>
            <a:off x="821802" y="846515"/>
            <a:ext cx="10660284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fr-FR" sz="26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43. </a:t>
            </a: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Le meilleur traitement étiologique pour l'hypercalcémie causée par une hyperparathyroïdie primaire est :</a:t>
            </a:r>
          </a:p>
          <a:p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A. Utilisation de phosphore per os</a:t>
            </a:r>
          </a:p>
          <a:p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B. Traitement par diurétiques de l’anse</a:t>
            </a:r>
          </a:p>
          <a:p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C. Administration de vitamine D</a:t>
            </a:r>
          </a:p>
          <a:p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D. Prise de corticostéroïdes</a:t>
            </a:r>
          </a:p>
          <a:p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E. Exérèse chirurgicale de la parathyroïde</a:t>
            </a:r>
            <a:endParaRPr lang="fr-FR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6EB01799-DB6F-782D-C7B5-C0AB1461B9AD}"/>
              </a:ext>
            </a:extLst>
          </p:cNvPr>
          <p:cNvSpPr txBox="1"/>
          <p:nvPr/>
        </p:nvSpPr>
        <p:spPr>
          <a:xfrm>
            <a:off x="591285" y="4982692"/>
            <a:ext cx="31618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Réponse </a:t>
            </a:r>
            <a:r>
              <a:rPr lang="fr-FR" sz="28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E</a:t>
            </a:r>
            <a:endParaRPr lang="fr-FR" sz="28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9970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0199263-D2E8-FF6C-118F-1CF511BF525A}"/>
              </a:ext>
            </a:extLst>
          </p:cNvPr>
          <p:cNvSpPr txBox="1"/>
          <p:nvPr/>
        </p:nvSpPr>
        <p:spPr>
          <a:xfrm>
            <a:off x="1273214" y="925309"/>
            <a:ext cx="9734309" cy="34414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</a:pPr>
            <a:r>
              <a:rPr lang="fr-FR" sz="26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44. </a:t>
            </a:r>
            <a:r>
              <a:rPr lang="fr-FR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Les mesures thérapeutiques d’une hypercalcémie visant à diminuer l’absorption intestinale sont :</a:t>
            </a:r>
            <a:endParaRPr lang="en-US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lphaUcPeriod"/>
            </a:pPr>
            <a:r>
              <a:rPr lang="fr-FR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Les </a:t>
            </a:r>
            <a:r>
              <a:rPr lang="fr-FR" sz="26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biphosphonates</a:t>
            </a:r>
            <a:endParaRPr lang="en-US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lphaUcPeriod"/>
            </a:pPr>
            <a:r>
              <a:rPr lang="fr-FR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Les glucocorticoïdes</a:t>
            </a:r>
            <a:endParaRPr lang="en-US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lphaUcPeriod"/>
            </a:pPr>
            <a:r>
              <a:rPr lang="fr-FR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Le lithium </a:t>
            </a:r>
            <a:endParaRPr lang="en-US" sz="26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+mj-lt"/>
              <a:buAutoNum type="alphaUcPeriod"/>
            </a:pPr>
            <a:r>
              <a:rPr lang="fr-FR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Le phosphore per os</a:t>
            </a: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+mj-lt"/>
              <a:buAutoNum type="alphaUcPeriod"/>
            </a:pPr>
            <a:r>
              <a:rPr lang="fr-FR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La calcitonine</a:t>
            </a:r>
            <a:endParaRPr lang="en-US" sz="2600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E8C80624-20C5-0FF3-775D-9295B13ADFC2}"/>
              </a:ext>
            </a:extLst>
          </p:cNvPr>
          <p:cNvSpPr txBox="1"/>
          <p:nvPr/>
        </p:nvSpPr>
        <p:spPr>
          <a:xfrm>
            <a:off x="591285" y="4982692"/>
            <a:ext cx="31618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Réponse : </a:t>
            </a:r>
            <a:r>
              <a:rPr lang="fr-FR" sz="28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 D</a:t>
            </a:r>
          </a:p>
        </p:txBody>
      </p:sp>
    </p:spTree>
    <p:extLst>
      <p:ext uri="{BB962C8B-B14F-4D97-AF65-F5344CB8AC3E}">
        <p14:creationId xmlns:p14="http://schemas.microsoft.com/office/powerpoint/2010/main" val="2709413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/>
          <p:cNvSpPr txBox="1"/>
          <p:nvPr/>
        </p:nvSpPr>
        <p:spPr>
          <a:xfrm>
            <a:off x="2304976" y="1502296"/>
            <a:ext cx="770485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 traitement symptomatique doit être débuté en urgence avant toute démarche à visée étiologique.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064625" y="2960688"/>
            <a:ext cx="2343150" cy="1952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4025" y="2820988"/>
            <a:ext cx="2343150" cy="1952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7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59063" y="1138238"/>
            <a:ext cx="6142037" cy="32954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contenu 2"/>
          <p:cNvSpPr>
            <a:spLocks noGrp="1"/>
          </p:cNvSpPr>
          <p:nvPr>
            <p:ph idx="4294967295"/>
          </p:nvPr>
        </p:nvSpPr>
        <p:spPr>
          <a:xfrm>
            <a:off x="853513" y="1997472"/>
            <a:ext cx="10972800" cy="290892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fr-FR" sz="2400" dirty="0">
              <a:latin typeface="Arial" panose="020B0604020202020204" pitchFamily="34" charset="0"/>
              <a:cs typeface="Arial" pitchFamily="34" charset="0"/>
            </a:endParaRPr>
          </a:p>
          <a:p>
            <a:pPr marL="0" indent="0">
              <a:buNone/>
            </a:pPr>
            <a:r>
              <a:rPr lang="fr-FR" sz="2400" cap="none" dirty="0">
                <a:latin typeface="Arial" panose="020B0604020202020204" pitchFamily="34" charset="0"/>
                <a:cs typeface="Arial" panose="020B0604020202020204" pitchFamily="34" charset="0"/>
              </a:rPr>
              <a:t>Normaliser la calcémie</a:t>
            </a:r>
          </a:p>
          <a:p>
            <a:pPr marL="0" indent="0">
              <a:buNone/>
            </a:pPr>
            <a:endParaRPr lang="fr-FR" sz="2400" cap="non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fr-FR" sz="2400" cap="none" dirty="0">
                <a:latin typeface="Arial" panose="020B0604020202020204" pitchFamily="34" charset="0"/>
                <a:cs typeface="Arial" panose="020B0604020202020204" pitchFamily="34" charset="0"/>
              </a:rPr>
              <a:t>Prévenir ses complications</a:t>
            </a:r>
          </a:p>
          <a:p>
            <a:pPr marL="0" indent="0">
              <a:buNone/>
            </a:pPr>
            <a:endParaRPr lang="fr-FR" sz="2400" cap="non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fr-FR" sz="2400" cap="none" dirty="0">
                <a:latin typeface="Arial" panose="020B0604020202020204" pitchFamily="34" charset="0"/>
                <a:cs typeface="Arial" panose="020B0604020202020204" pitchFamily="34" charset="0"/>
              </a:rPr>
              <a:t>Traiter l’étiologie de l’hypercalcémie</a:t>
            </a:r>
          </a:p>
          <a:p>
            <a:pPr marL="0" indent="0">
              <a:buNone/>
            </a:pPr>
            <a:endParaRPr lang="fr-FR" sz="2400" cap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itre 1"/>
          <p:cNvSpPr>
            <a:spLocks noGrp="1"/>
          </p:cNvSpPr>
          <p:nvPr>
            <p:ph type="title"/>
          </p:nvPr>
        </p:nvSpPr>
        <p:spPr>
          <a:xfrm>
            <a:off x="1155253" y="927100"/>
            <a:ext cx="8457603" cy="709865"/>
          </a:xfrm>
        </p:spPr>
        <p:txBody>
          <a:bodyPr/>
          <a:lstStyle/>
          <a:p>
            <a:pPr lvl="2" algn="l" defTabSz="457200" rtl="0">
              <a:spcBef>
                <a:spcPct val="0"/>
              </a:spcBef>
            </a:pPr>
            <a:r>
              <a:rPr lang="fr-FR" sz="3600" b="1" dirty="0">
                <a:solidFill>
                  <a:schemeClr val="accent1"/>
                </a:solidFill>
              </a:rPr>
              <a:t>But du traitement</a:t>
            </a:r>
            <a:endParaRPr lang="fr-FR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1361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b="1" dirty="0"/>
              <a:t>Mesures générales</a:t>
            </a:r>
            <a:br>
              <a:rPr lang="fr-FR" b="1" dirty="0"/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3"/>
          </p:nvPr>
        </p:nvSpPr>
        <p:spPr>
          <a:xfrm>
            <a:off x="711200" y="1745896"/>
            <a:ext cx="10394707" cy="3311189"/>
          </a:xfrm>
        </p:spPr>
        <p:txBody>
          <a:bodyPr>
            <a:no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fr-FR" sz="2400" cap="none" dirty="0">
                <a:latin typeface="Arial" panose="020B0604020202020204" pitchFamily="34" charset="0"/>
                <a:cs typeface="Arial" panose="020B0604020202020204" pitchFamily="34" charset="0"/>
              </a:rPr>
              <a:t>Traitement symptomatique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fr-FR" sz="2400" cap="none" dirty="0">
                <a:latin typeface="Arial" panose="020B0604020202020204" pitchFamily="34" charset="0"/>
                <a:cs typeface="Arial" panose="020B0604020202020204" pitchFamily="34" charset="0"/>
              </a:rPr>
              <a:t>Certaines mesures générales sont indispensables:</a:t>
            </a:r>
          </a:p>
          <a:p>
            <a:pPr marL="457200" lvl="1" indent="0">
              <a:lnSpc>
                <a:spcPct val="130000"/>
              </a:lnSpc>
            </a:pPr>
            <a:r>
              <a:rPr lang="fr-FR" sz="2400" cap="none" dirty="0">
                <a:latin typeface="Arial" panose="020B0604020202020204" pitchFamily="34" charset="0"/>
                <a:cs typeface="Arial" panose="020B0604020202020204" pitchFamily="34" charset="0"/>
              </a:rPr>
              <a:t>Suppression de certains médicaments </a:t>
            </a:r>
          </a:p>
          <a:p>
            <a:pPr marL="1371600" lvl="3" indent="0">
              <a:lnSpc>
                <a:spcPct val="130000"/>
              </a:lnSpc>
              <a:buNone/>
            </a:pPr>
            <a:r>
              <a:rPr lang="fr-FR" sz="2400" cap="none" dirty="0">
                <a:latin typeface="Arial" panose="020B0604020202020204" pitchFamily="34" charset="0"/>
                <a:cs typeface="Arial" panose="020B0604020202020204" pitchFamily="34" charset="0"/>
              </a:rPr>
              <a:t>-digitaliques</a:t>
            </a:r>
          </a:p>
          <a:p>
            <a:pPr marL="1371600" lvl="3" indent="0">
              <a:lnSpc>
                <a:spcPct val="130000"/>
              </a:lnSpc>
              <a:buNone/>
            </a:pPr>
            <a:r>
              <a:rPr lang="fr-FR" sz="2400" cap="none" dirty="0">
                <a:latin typeface="Arial" panose="020B0604020202020204" pitchFamily="34" charset="0"/>
                <a:cs typeface="Arial" panose="020B0604020202020204" pitchFamily="34" charset="0"/>
              </a:rPr>
              <a:t>-alcalins</a:t>
            </a:r>
          </a:p>
          <a:p>
            <a:pPr marL="1371600" lvl="3" indent="0">
              <a:lnSpc>
                <a:spcPct val="130000"/>
              </a:lnSpc>
              <a:buNone/>
            </a:pPr>
            <a:r>
              <a:rPr lang="fr-FR" sz="2400" cap="none" dirty="0">
                <a:latin typeface="Arial" panose="020B0604020202020204" pitchFamily="34" charset="0"/>
                <a:cs typeface="Arial" panose="020B0604020202020204" pitchFamily="34" charset="0"/>
              </a:rPr>
              <a:t>-thiazidiques</a:t>
            </a:r>
          </a:p>
          <a:p>
            <a:pPr marL="457200" lvl="1" indent="0">
              <a:lnSpc>
                <a:spcPct val="130000"/>
              </a:lnSpc>
            </a:pPr>
            <a:r>
              <a:rPr lang="fr-FR" sz="2400" cap="none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fr-FR" sz="2200" cap="none" dirty="0">
                <a:latin typeface="Arial" panose="020B0604020202020204" pitchFamily="34" charset="0"/>
                <a:cs typeface="Arial" panose="020B0604020202020204" pitchFamily="34" charset="0"/>
              </a:rPr>
              <a:t>uppression d’aliments riches en calcium.</a:t>
            </a:r>
          </a:p>
          <a:p>
            <a:pPr marL="457200" lvl="1" indent="0">
              <a:lnSpc>
                <a:spcPct val="130000"/>
              </a:lnSpc>
            </a:pPr>
            <a:r>
              <a:rPr lang="fr-FR" sz="2400" cap="none" dirty="0">
                <a:latin typeface="Arial" panose="020B0604020202020204" pitchFamily="34" charset="0"/>
                <a:cs typeface="Arial" panose="020B0604020202020204" pitchFamily="34" charset="0"/>
              </a:rPr>
              <a:t>Réhydratation et rééquilibration hydro électrolytique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52352" y="260648"/>
            <a:ext cx="11233248" cy="63367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space réservé du contenu 2"/>
          <p:cNvSpPr>
            <a:spLocks noGrp="1"/>
          </p:cNvSpPr>
          <p:nvPr>
            <p:ph idx="4294967295"/>
          </p:nvPr>
        </p:nvSpPr>
        <p:spPr>
          <a:xfrm>
            <a:off x="552353" y="1196752"/>
            <a:ext cx="6604903" cy="2908920"/>
          </a:xfrm>
          <a:prstGeom prst="rect">
            <a:avLst/>
          </a:prstGeom>
        </p:spPr>
        <p:txBody>
          <a:bodyPr>
            <a:normAutofit fontScale="92500" lnSpcReduction="10000"/>
          </a:bodyPr>
          <a:lstStyle/>
          <a:p>
            <a:r>
              <a:rPr lang="fr-FR" sz="24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Réhydratation</a:t>
            </a:r>
            <a:r>
              <a:rPr lang="fr-FR" sz="2400" dirty="0">
                <a:latin typeface="Arial" pitchFamily="34" charset="0"/>
                <a:cs typeface="Arial" pitchFamily="34" charset="0"/>
              </a:rPr>
              <a:t>: 3-6 L/24H (chute de 0,4 à 0,6mmol/L)</a:t>
            </a:r>
          </a:p>
          <a:p>
            <a:pPr marL="0" indent="0">
              <a:buNone/>
            </a:pPr>
            <a:endParaRPr lang="fr-FR" sz="2800" dirty="0">
              <a:latin typeface="Arial" pitchFamily="34" charset="0"/>
              <a:cs typeface="Arial" pitchFamily="34" charset="0"/>
            </a:endParaRPr>
          </a:p>
          <a:p>
            <a:r>
              <a:rPr lang="fr-FR" sz="2800" dirty="0">
                <a:latin typeface="Arial" pitchFamily="34" charset="0"/>
                <a:cs typeface="Arial" pitchFamily="34" charset="0"/>
              </a:rPr>
              <a:t> </a:t>
            </a:r>
            <a:r>
              <a:rPr lang="fr-FR" sz="24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Diurétique de l’anse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(40 à 60 mg/j)</a:t>
            </a:r>
            <a:endParaRPr lang="fr-FR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r>
              <a:rPr lang="fr-FR" sz="2400" dirty="0">
                <a:latin typeface="Arial" pitchFamily="34" charset="0"/>
                <a:cs typeface="Arial" pitchFamily="34" charset="0"/>
              </a:rPr>
              <a:t>(diurétique thiazidique = hyper-</a:t>
            </a:r>
            <a:r>
              <a:rPr lang="fr-FR" sz="2400" dirty="0" err="1">
                <a:latin typeface="Arial" pitchFamily="34" charset="0"/>
                <a:cs typeface="Arial" pitchFamily="34" charset="0"/>
              </a:rPr>
              <a:t>calcémiants</a:t>
            </a:r>
            <a:r>
              <a:rPr lang="fr-FR" sz="2400" dirty="0">
                <a:latin typeface="Arial" pitchFamily="34" charset="0"/>
                <a:cs typeface="Arial" pitchFamily="34" charset="0"/>
              </a:rPr>
              <a:t> = CI)</a:t>
            </a:r>
          </a:p>
        </p:txBody>
      </p:sp>
      <p:pic>
        <p:nvPicPr>
          <p:cNvPr id="3074" name="Image 2" descr="http://www.pharmadom.ch/epharmag2011/306-thickbox/poche-a-perfusion-glucose-5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0096" y="692696"/>
            <a:ext cx="4547659" cy="3410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552352" y="4569723"/>
            <a:ext cx="1095540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Arial" pitchFamily="34" charset="0"/>
              <a:buChar char="•"/>
            </a:pPr>
            <a:r>
              <a:rPr lang="fr-FR" sz="2400" dirty="0">
                <a:latin typeface="Arial" pitchFamily="34" charset="0"/>
                <a:cs typeface="Arial" pitchFamily="34" charset="0"/>
              </a:rPr>
              <a:t>Après cette réhydratation, il faut envisager des traitements plus spécifiques en cas d’hypercalcémie sévère ou persistante au-delà de 3 </a:t>
            </a:r>
            <a:r>
              <a:rPr lang="fr-FR" sz="2400" dirty="0" err="1">
                <a:latin typeface="Arial" pitchFamily="34" charset="0"/>
                <a:cs typeface="Arial" pitchFamily="34" charset="0"/>
              </a:rPr>
              <a:t>mmol</a:t>
            </a:r>
            <a:r>
              <a:rPr lang="fr-FR" sz="2400" dirty="0">
                <a:latin typeface="Arial" pitchFamily="34" charset="0"/>
                <a:cs typeface="Arial" pitchFamily="34" charset="0"/>
              </a:rPr>
              <a:t>/L.</a:t>
            </a:r>
          </a:p>
        </p:txBody>
      </p:sp>
    </p:spTree>
    <p:extLst>
      <p:ext uri="{BB962C8B-B14F-4D97-AF65-F5344CB8AC3E}">
        <p14:creationId xmlns:p14="http://schemas.microsoft.com/office/powerpoint/2010/main" val="4181624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51729" y="285435"/>
            <a:ext cx="11233248" cy="63367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Rectangle 1"/>
          <p:cNvSpPr/>
          <p:nvPr/>
        </p:nvSpPr>
        <p:spPr>
          <a:xfrm>
            <a:off x="887767" y="1899516"/>
            <a:ext cx="10561173" cy="2369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Les </a:t>
            </a:r>
            <a:r>
              <a:rPr lang="fr-FR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biphosphonates</a:t>
            </a:r>
            <a:r>
              <a:rPr lang="fr-FR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fr-FR" sz="2400" dirty="0">
                <a:latin typeface="Arial" pitchFamily="34" charset="0"/>
                <a:cs typeface="Arial" pitchFamily="34" charset="0"/>
              </a:rPr>
              <a:t>= traitement de référence. </a:t>
            </a:r>
          </a:p>
          <a:p>
            <a:endParaRPr lang="fr-FR" sz="2400" dirty="0">
              <a:latin typeface="Arial" pitchFamily="34" charset="0"/>
              <a:cs typeface="Arial" pitchFamily="34" charset="0"/>
            </a:endParaRPr>
          </a:p>
          <a:p>
            <a:r>
              <a:rPr lang="fr-FR" sz="2400" dirty="0">
                <a:latin typeface="Arial" pitchFamily="34" charset="0"/>
                <a:cs typeface="Arial" pitchFamily="34" charset="0"/>
              </a:rPr>
              <a:t>Activité anti-</a:t>
            </a:r>
            <a:r>
              <a:rPr lang="fr-FR" sz="2400" dirty="0" err="1">
                <a:latin typeface="Arial" pitchFamily="34" charset="0"/>
                <a:cs typeface="Arial" pitchFamily="34" charset="0"/>
              </a:rPr>
              <a:t>ostéoclastique</a:t>
            </a:r>
            <a:r>
              <a:rPr lang="fr-FR" sz="2400" dirty="0">
                <a:latin typeface="Arial" pitchFamily="34" charset="0"/>
                <a:cs typeface="Arial" pitchFamily="34" charset="0"/>
              </a:rPr>
              <a:t> intense en se liant aux cristaux d’hydroxyapatite + en diminuant la durée de vie des ostéoclastes.</a:t>
            </a:r>
          </a:p>
          <a:p>
            <a:endParaRPr lang="fr-FR" sz="2400" dirty="0">
              <a:latin typeface="Arial" pitchFamily="34" charset="0"/>
              <a:cs typeface="Arial" pitchFamily="34" charset="0"/>
            </a:endParaRPr>
          </a:p>
          <a:p>
            <a:r>
              <a:rPr lang="fr-FR" sz="2400" dirty="0">
                <a:latin typeface="Arial" pitchFamily="34" charset="0"/>
                <a:cs typeface="Arial" pitchFamily="34" charset="0"/>
              </a:rPr>
              <a:t> </a:t>
            </a:r>
            <a:r>
              <a:rPr lang="fr-FR" sz="2400" u="sng" dirty="0">
                <a:latin typeface="Arial" pitchFamily="34" charset="0"/>
                <a:cs typeface="Arial" pitchFamily="34" charset="0"/>
              </a:rPr>
              <a:t>Effets retardés après leur diffusion à l’organisme. </a:t>
            </a:r>
          </a:p>
        </p:txBody>
      </p:sp>
      <p:pic>
        <p:nvPicPr>
          <p:cNvPr id="4" name="Image 3" descr="https://encrypted-tbn1.gstatic.com/images?q=tbn:ANd9GcRd0_2wkmGfTQLVq5mxE_9S44c2Kg5F0pWR_G3pGBUfr9nP4HY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5179" y="285435"/>
            <a:ext cx="3360375" cy="1411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9495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52352" y="260648"/>
            <a:ext cx="11233248" cy="63367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" name="Rectangle 1"/>
          <p:cNvSpPr/>
          <p:nvPr/>
        </p:nvSpPr>
        <p:spPr>
          <a:xfrm>
            <a:off x="1199456" y="1052737"/>
            <a:ext cx="10702492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fr-FR" sz="2800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  <a:p>
            <a:r>
              <a:rPr lang="fr-FR" sz="2400" dirty="0">
                <a:latin typeface="Arial" pitchFamily="34" charset="0"/>
                <a:cs typeface="Arial" pitchFamily="34" charset="0"/>
              </a:rPr>
              <a:t>Faible taux d’absorption digestive =&gt;  utilisés en urgence par voie </a:t>
            </a:r>
            <a:r>
              <a:rPr lang="fr-FR" sz="2400" b="1" dirty="0">
                <a:latin typeface="Arial" pitchFamily="34" charset="0"/>
                <a:cs typeface="Arial" pitchFamily="34" charset="0"/>
              </a:rPr>
              <a:t>IV. </a:t>
            </a:r>
          </a:p>
          <a:p>
            <a:endParaRPr lang="fr-FR" sz="2400" dirty="0">
              <a:latin typeface="Arial" pitchFamily="34" charset="0"/>
              <a:cs typeface="Arial" pitchFamily="34" charset="0"/>
            </a:endParaRPr>
          </a:p>
          <a:p>
            <a:r>
              <a:rPr lang="fr-FR" sz="2400" dirty="0">
                <a:latin typeface="Arial" pitchFamily="34" charset="0"/>
                <a:cs typeface="Arial" pitchFamily="34" charset="0"/>
              </a:rPr>
              <a:t>Leur début d’action commence 24 – 48 h avec un nadir entre J4 et J9. </a:t>
            </a:r>
          </a:p>
          <a:p>
            <a:endParaRPr lang="fr-FR" sz="2400" dirty="0">
              <a:latin typeface="Arial" pitchFamily="34" charset="0"/>
              <a:cs typeface="Arial" pitchFamily="34" charset="0"/>
            </a:endParaRPr>
          </a:p>
          <a:p>
            <a:r>
              <a:rPr lang="fr-FR" sz="2400" dirty="0">
                <a:latin typeface="Arial" pitchFamily="34" charset="0"/>
                <a:cs typeface="Arial" pitchFamily="34" charset="0"/>
              </a:rPr>
              <a:t>La baisse de la calcémie est généralement située entre 0,8 et 1 </a:t>
            </a:r>
            <a:r>
              <a:rPr lang="fr-FR" sz="2400" dirty="0" err="1">
                <a:latin typeface="Arial" pitchFamily="34" charset="0"/>
                <a:cs typeface="Arial" pitchFamily="34" charset="0"/>
              </a:rPr>
              <a:t>mmol</a:t>
            </a:r>
            <a:r>
              <a:rPr lang="fr-FR" sz="2400" dirty="0">
                <a:latin typeface="Arial" pitchFamily="34" charset="0"/>
                <a:cs typeface="Arial" pitchFamily="34" charset="0"/>
              </a:rPr>
              <a:t>/L. </a:t>
            </a:r>
          </a:p>
          <a:p>
            <a:endParaRPr lang="fr-FR" sz="2400" dirty="0">
              <a:latin typeface="Arial" pitchFamily="34" charset="0"/>
              <a:cs typeface="Arial" pitchFamily="34" charset="0"/>
            </a:endParaRPr>
          </a:p>
          <a:p>
            <a:r>
              <a:rPr lang="fr-FR" sz="2400" dirty="0">
                <a:latin typeface="Arial" pitchFamily="34" charset="0"/>
                <a:cs typeface="Arial" pitchFamily="34" charset="0"/>
              </a:rPr>
              <a:t>Effet durable de 3 à 4 semaines</a:t>
            </a:r>
          </a:p>
        </p:txBody>
      </p:sp>
    </p:spTree>
    <p:extLst>
      <p:ext uri="{BB962C8B-B14F-4D97-AF65-F5344CB8AC3E}">
        <p14:creationId xmlns:p14="http://schemas.microsoft.com/office/powerpoint/2010/main" val="4070854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52352" y="260648"/>
            <a:ext cx="11233248" cy="63367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" name="Rectangle 2"/>
          <p:cNvSpPr/>
          <p:nvPr/>
        </p:nvSpPr>
        <p:spPr>
          <a:xfrm>
            <a:off x="1141742" y="1268760"/>
            <a:ext cx="940904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dirty="0">
                <a:latin typeface="Arial" pitchFamily="34" charset="0"/>
                <a:cs typeface="Arial" pitchFamily="34" charset="0"/>
              </a:rPr>
              <a:t>Actuellement, plusieurs molécules sont à disposition :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fr-FR" sz="24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Pamidronate</a:t>
            </a:r>
            <a:r>
              <a:rPr lang="fr-FR" sz="24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de sodium (</a:t>
            </a:r>
            <a:r>
              <a:rPr lang="fr-FR" sz="24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Arediat</a:t>
            </a:r>
            <a:r>
              <a:rPr lang="fr-FR" sz="24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)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fr-FR" sz="24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Ibandronate</a:t>
            </a:r>
            <a:r>
              <a:rPr lang="fr-FR" sz="24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(</a:t>
            </a:r>
            <a:r>
              <a:rPr lang="fr-FR" sz="24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Bandronat</a:t>
            </a:r>
            <a:r>
              <a:rPr lang="fr-FR" sz="24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),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fr-FR" sz="24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Clodronate</a:t>
            </a:r>
            <a:r>
              <a:rPr lang="fr-FR" sz="24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(</a:t>
            </a:r>
            <a:r>
              <a:rPr lang="fr-FR" sz="24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Clastoban</a:t>
            </a:r>
            <a:r>
              <a:rPr lang="fr-FR" sz="24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)</a:t>
            </a:r>
          </a:p>
          <a:p>
            <a:pPr marL="285750" indent="-285750">
              <a:buFont typeface="Arial" pitchFamily="34" charset="0"/>
              <a:buChar char="•"/>
            </a:pPr>
            <a:endParaRPr lang="fr-FR" sz="2400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  <a:p>
            <a:pPr marL="285750" indent="-285750">
              <a:buFont typeface="Arial" pitchFamily="34" charset="0"/>
              <a:buChar char="•"/>
            </a:pPr>
            <a:endParaRPr lang="fr-FR" sz="24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332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52352" y="235211"/>
            <a:ext cx="11233248" cy="63367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Rectangle 1"/>
          <p:cNvSpPr/>
          <p:nvPr/>
        </p:nvSpPr>
        <p:spPr>
          <a:xfrm>
            <a:off x="1238326" y="627392"/>
            <a:ext cx="10177131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fr-FR" sz="2400" dirty="0"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fr-FR" sz="2400" dirty="0">
                <a:latin typeface="Arial" pitchFamily="34" charset="0"/>
                <a:cs typeface="Arial" pitchFamily="34" charset="0"/>
              </a:rPr>
              <a:t>Des </a:t>
            </a:r>
            <a:r>
              <a:rPr lang="fr-FR" sz="2400" dirty="0" err="1">
                <a:latin typeface="Arial" pitchFamily="34" charset="0"/>
                <a:cs typeface="Arial" pitchFamily="34" charset="0"/>
              </a:rPr>
              <a:t>biphosphonates</a:t>
            </a:r>
            <a:r>
              <a:rPr lang="fr-FR" sz="2400" dirty="0">
                <a:latin typeface="Arial" pitchFamily="34" charset="0"/>
                <a:cs typeface="Arial" pitchFamily="34" charset="0"/>
              </a:rPr>
              <a:t> de nouvelle génération émergent de façon plus récente comme:</a:t>
            </a:r>
          </a:p>
          <a:p>
            <a:r>
              <a:rPr lang="fr-FR" sz="2400" dirty="0">
                <a:latin typeface="Arial" pitchFamily="34" charset="0"/>
                <a:cs typeface="Arial" pitchFamily="34" charset="0"/>
              </a:rPr>
              <a:t>      le </a:t>
            </a:r>
            <a:r>
              <a:rPr lang="fr-FR" sz="24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zoledronate</a:t>
            </a:r>
            <a:r>
              <a:rPr lang="fr-FR" sz="24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(</a:t>
            </a:r>
            <a:r>
              <a:rPr lang="fr-FR" sz="24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Zometa</a:t>
            </a:r>
            <a:r>
              <a:rPr lang="fr-FR" sz="24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) </a:t>
            </a:r>
            <a:r>
              <a:rPr lang="fr-FR" sz="2400" dirty="0">
                <a:latin typeface="Arial" pitchFamily="34" charset="0"/>
                <a:cs typeface="Arial" pitchFamily="34" charset="0"/>
              </a:rPr>
              <a:t>à la dose de 4 mg en perfusion unique IV de 15 minutes,</a:t>
            </a:r>
          </a:p>
          <a:p>
            <a:endParaRPr lang="fr-FR" sz="2400" dirty="0">
              <a:latin typeface="Arial" pitchFamily="34" charset="0"/>
              <a:cs typeface="Arial" pitchFamily="34" charset="0"/>
            </a:endParaRPr>
          </a:p>
          <a:p>
            <a:r>
              <a:rPr lang="fr-FR" sz="2400" dirty="0">
                <a:latin typeface="Arial" pitchFamily="34" charset="0"/>
                <a:cs typeface="Arial" pitchFamily="34" charset="0"/>
              </a:rPr>
              <a:t>TTT : hypercalcémies + prévention des évènements osseux des métastases ostéolytiques et du myélome. </a:t>
            </a:r>
          </a:p>
          <a:p>
            <a:endParaRPr lang="fr-FR" sz="2400" dirty="0">
              <a:latin typeface="Arial" pitchFamily="34" charset="0"/>
              <a:cs typeface="Arial" pitchFamily="34" charset="0"/>
            </a:endParaRPr>
          </a:p>
          <a:p>
            <a:r>
              <a:rPr lang="fr-FR" sz="2400" dirty="0">
                <a:latin typeface="Arial" pitchFamily="34" charset="0"/>
                <a:cs typeface="Arial" pitchFamily="34" charset="0"/>
              </a:rPr>
              <a:t>CI = clairance de la créatinine &lt; 30 ml/min</a:t>
            </a:r>
          </a:p>
          <a:p>
            <a:endParaRPr lang="fr-FR" sz="24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8842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52352" y="260648"/>
            <a:ext cx="11233248" cy="63367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Rectangle 1"/>
          <p:cNvSpPr/>
          <p:nvPr/>
        </p:nvSpPr>
        <p:spPr>
          <a:xfrm>
            <a:off x="840384" y="1484785"/>
            <a:ext cx="10945216" cy="45858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La calcitonine</a:t>
            </a:r>
            <a:r>
              <a:rPr lang="fr-FR" sz="2400" dirty="0">
                <a:latin typeface="Arial" pitchFamily="34" charset="0"/>
                <a:cs typeface="Arial" pitchFamily="34" charset="0"/>
              </a:rPr>
              <a:t>= effet anti-</a:t>
            </a:r>
            <a:r>
              <a:rPr lang="fr-FR" sz="2400" dirty="0" err="1">
                <a:latin typeface="Arial" pitchFamily="34" charset="0"/>
                <a:cs typeface="Arial" pitchFamily="34" charset="0"/>
              </a:rPr>
              <a:t>ostéoclastique</a:t>
            </a:r>
            <a:r>
              <a:rPr lang="fr-FR" sz="2400" dirty="0"/>
              <a:t> </a:t>
            </a:r>
          </a:p>
          <a:p>
            <a:r>
              <a:rPr lang="fr-FR" sz="2400" dirty="0">
                <a:latin typeface="Arial" pitchFamily="34" charset="0"/>
                <a:cs typeface="Arial" pitchFamily="34" charset="0"/>
              </a:rPr>
              <a:t>(-) la résorption osseuse + (+) l’excrétion urinaire.</a:t>
            </a:r>
          </a:p>
          <a:p>
            <a:endParaRPr lang="fr-FR" sz="2400" dirty="0">
              <a:latin typeface="Arial" pitchFamily="34" charset="0"/>
              <a:cs typeface="Arial" pitchFamily="34" charset="0"/>
            </a:endParaRPr>
          </a:p>
          <a:p>
            <a:r>
              <a:rPr lang="fr-FR" sz="2400" dirty="0">
                <a:latin typeface="Arial" pitchFamily="34" charset="0"/>
                <a:cs typeface="Arial" pitchFamily="34" charset="0"/>
              </a:rPr>
              <a:t>Exemple : </a:t>
            </a:r>
            <a:r>
              <a:rPr lang="fr-FR" sz="2400" dirty="0" err="1">
                <a:latin typeface="Arial" pitchFamily="34" charset="0"/>
                <a:cs typeface="Arial" pitchFamily="34" charset="0"/>
              </a:rPr>
              <a:t>CalsynR</a:t>
            </a:r>
            <a:r>
              <a:rPr lang="fr-FR" sz="2400" dirty="0">
                <a:latin typeface="Arial" pitchFamily="34" charset="0"/>
                <a:cs typeface="Arial" pitchFamily="34" charset="0"/>
              </a:rPr>
              <a:t> 4 a 8 UI/Kg/j en 4 a 6 injections S/C ou IM</a:t>
            </a:r>
          </a:p>
          <a:p>
            <a:endParaRPr lang="fr-FR" sz="2400" dirty="0">
              <a:latin typeface="Arial" pitchFamily="34" charset="0"/>
              <a:cs typeface="Arial" pitchFamily="34" charset="0"/>
            </a:endParaRPr>
          </a:p>
          <a:p>
            <a:r>
              <a:rPr lang="fr-FR" sz="2400" dirty="0">
                <a:latin typeface="Arial" pitchFamily="34" charset="0"/>
                <a:cs typeface="Arial" pitchFamily="34" charset="0"/>
              </a:rPr>
              <a:t> L’efficacité =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fr-FR" sz="2400" dirty="0">
                <a:latin typeface="Arial" pitchFamily="34" charset="0"/>
                <a:cs typeface="Arial" pitchFamily="34" charset="0"/>
              </a:rPr>
              <a:t>près de 75 % de patients répondeurs / 25% résistance d’emblée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fr-FR" sz="2400" dirty="0">
                <a:latin typeface="Arial" pitchFamily="34" charset="0"/>
                <a:cs typeface="Arial" pitchFamily="34" charset="0"/>
              </a:rPr>
              <a:t> réponse rapide dès H2 et un nadir entre H6 et H9,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fr-FR" sz="2400" dirty="0">
                <a:latin typeface="Arial" pitchFamily="34" charset="0"/>
                <a:cs typeface="Arial" pitchFamily="34" charset="0"/>
              </a:rPr>
              <a:t>Echappement : n’est pas durable et s’épuise en 4 a 7 jours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fr-FR" sz="2400" dirty="0">
                <a:latin typeface="Arial" pitchFamily="34" charset="0"/>
                <a:cs typeface="Arial" pitchFamily="34" charset="0"/>
              </a:rPr>
              <a:t>Effets indésirables : nausées, vomissements, flush voire rares réactions allergiques.</a:t>
            </a:r>
          </a:p>
          <a:p>
            <a:endParaRPr lang="fr-FR" sz="24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9495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52352" y="260648"/>
            <a:ext cx="11233248" cy="63367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/>
          </a:p>
        </p:txBody>
      </p:sp>
      <p:sp>
        <p:nvSpPr>
          <p:cNvPr id="2" name="Rectangle 1"/>
          <p:cNvSpPr/>
          <p:nvPr/>
        </p:nvSpPr>
        <p:spPr>
          <a:xfrm>
            <a:off x="815413" y="705177"/>
            <a:ext cx="10753195" cy="39087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Denosumab</a:t>
            </a:r>
            <a:r>
              <a:rPr lang="fr-FR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(</a:t>
            </a:r>
            <a:r>
              <a:rPr lang="fr-FR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XgevaR</a:t>
            </a:r>
            <a:r>
              <a:rPr lang="fr-FR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: anti-RANK ligand) :</a:t>
            </a:r>
          </a:p>
          <a:p>
            <a:r>
              <a:rPr lang="fr-FR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XGEVA (</a:t>
            </a:r>
            <a:r>
              <a:rPr lang="fr-FR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Denosumab</a:t>
            </a:r>
            <a:r>
              <a:rPr lang="fr-FR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) </a:t>
            </a:r>
            <a:r>
              <a:rPr lang="fr-FR" sz="2400" dirty="0">
                <a:latin typeface="Arial" pitchFamily="34" charset="0"/>
                <a:cs typeface="Arial" pitchFamily="34" charset="0"/>
              </a:rPr>
              <a:t>: Ac monoclonal, (-) résorption osseuse,</a:t>
            </a:r>
          </a:p>
          <a:p>
            <a:endParaRPr lang="fr-FR" sz="2400" dirty="0">
              <a:latin typeface="Arial" pitchFamily="34" charset="0"/>
              <a:cs typeface="Arial" pitchFamily="34" charset="0"/>
            </a:endParaRPr>
          </a:p>
          <a:p>
            <a:r>
              <a:rPr lang="fr-FR" sz="2400" dirty="0">
                <a:latin typeface="Arial" pitchFamily="34" charset="0"/>
                <a:cs typeface="Arial" pitchFamily="34" charset="0"/>
              </a:rPr>
              <a:t>Indications : prévention des </a:t>
            </a:r>
            <a:r>
              <a:rPr lang="fr-FR" sz="2400" dirty="0" err="1">
                <a:latin typeface="Arial" pitchFamily="34" charset="0"/>
                <a:cs typeface="Arial" pitchFamily="34" charset="0"/>
              </a:rPr>
              <a:t>cpc</a:t>
            </a:r>
            <a:r>
              <a:rPr lang="fr-FR" sz="2400" dirty="0">
                <a:latin typeface="Arial" pitchFamily="34" charset="0"/>
                <a:cs typeface="Arial" pitchFamily="34" charset="0"/>
              </a:rPr>
              <a:t> osseuses si métastases osseuses</a:t>
            </a:r>
          </a:p>
          <a:p>
            <a:r>
              <a:rPr lang="fr-FR" sz="2400" dirty="0">
                <a:latin typeface="Arial" pitchFamily="34" charset="0"/>
                <a:cs typeface="Arial" pitchFamily="34" charset="0"/>
              </a:rPr>
              <a:t> (fractures pathologiques, irradiation osseuse, compression médullaire ou chirurgie osseuse)</a:t>
            </a:r>
          </a:p>
          <a:p>
            <a:endParaRPr lang="fr-FR" sz="2400" dirty="0">
              <a:latin typeface="Arial" pitchFamily="34" charset="0"/>
              <a:cs typeface="Arial" pitchFamily="34" charset="0"/>
            </a:endParaRPr>
          </a:p>
          <a:p>
            <a:r>
              <a:rPr lang="fr-FR" sz="2400" dirty="0">
                <a:latin typeface="Arial" pitchFamily="34" charset="0"/>
                <a:cs typeface="Arial" pitchFamily="34" charset="0"/>
              </a:rPr>
              <a:t>Si pas de réponse aux biphosphonates </a:t>
            </a:r>
          </a:p>
          <a:p>
            <a:endParaRPr lang="fr-FR" sz="2400" dirty="0">
              <a:latin typeface="Arial" pitchFamily="34" charset="0"/>
              <a:cs typeface="Arial" pitchFamily="34" charset="0"/>
            </a:endParaRPr>
          </a:p>
          <a:p>
            <a:r>
              <a:rPr lang="fr-FR" sz="2400" dirty="0">
                <a:latin typeface="Arial" pitchFamily="34" charset="0"/>
                <a:cs typeface="Arial" pitchFamily="34" charset="0"/>
              </a:rPr>
              <a:t>Posologie : 120 mg en SC.</a:t>
            </a:r>
          </a:p>
        </p:txBody>
      </p:sp>
    </p:spTree>
    <p:extLst>
      <p:ext uri="{BB962C8B-B14F-4D97-AF65-F5344CB8AC3E}">
        <p14:creationId xmlns:p14="http://schemas.microsoft.com/office/powerpoint/2010/main" val="1580863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52352" y="260648"/>
            <a:ext cx="11233248" cy="63367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Rectangle 1"/>
          <p:cNvSpPr/>
          <p:nvPr/>
        </p:nvSpPr>
        <p:spPr>
          <a:xfrm>
            <a:off x="961308" y="980729"/>
            <a:ext cx="9505056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Cinacalcet</a:t>
            </a:r>
            <a:r>
              <a:rPr lang="fr-FR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 (</a:t>
            </a:r>
            <a:r>
              <a:rPr lang="fr-FR" sz="2800" dirty="0" err="1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Mimpara</a:t>
            </a:r>
            <a:r>
              <a:rPr lang="fr-FR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®) :</a:t>
            </a:r>
          </a:p>
          <a:p>
            <a:endParaRPr lang="fr-FR" sz="2800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  <a:p>
            <a:r>
              <a:rPr lang="fr-FR" sz="2400" dirty="0">
                <a:latin typeface="Arial" pitchFamily="34" charset="0"/>
                <a:cs typeface="Arial" pitchFamily="34" charset="0"/>
              </a:rPr>
              <a:t>(+) récepteurs sensibles au calcium, </a:t>
            </a:r>
            <a:r>
              <a:rPr lang="fr-FR" sz="2400" dirty="0">
                <a:latin typeface="Calibri" panose="020F0502020204030204" pitchFamily="34" charset="0"/>
                <a:cs typeface="Calibri" panose="020F0502020204030204" pitchFamily="34" charset="0"/>
              </a:rPr>
              <a:t>↓ PTH </a:t>
            </a:r>
            <a:endParaRPr lang="fr-FR" sz="2400" dirty="0">
              <a:latin typeface="Arial" pitchFamily="34" charset="0"/>
              <a:cs typeface="Arial" pitchFamily="34" charset="0"/>
            </a:endParaRPr>
          </a:p>
          <a:p>
            <a:r>
              <a:rPr lang="fr-FR" sz="2400" dirty="0">
                <a:latin typeface="Arial" pitchFamily="34" charset="0"/>
                <a:cs typeface="Arial" pitchFamily="34" charset="0"/>
              </a:rPr>
              <a:t> </a:t>
            </a:r>
          </a:p>
          <a:p>
            <a:r>
              <a:rPr lang="fr-FR" sz="2400" dirty="0">
                <a:latin typeface="Arial" pitchFamily="34" charset="0"/>
                <a:cs typeface="Arial" pitchFamily="34" charset="0"/>
              </a:rPr>
              <a:t>Indications : IRC + hyperparathyroïdie.</a:t>
            </a:r>
          </a:p>
          <a:p>
            <a:endParaRPr lang="fr-FR" sz="2400" dirty="0">
              <a:latin typeface="Arial" pitchFamily="34" charset="0"/>
              <a:cs typeface="Arial" pitchFamily="34" charset="0"/>
            </a:endParaRPr>
          </a:p>
          <a:p>
            <a:r>
              <a:rPr lang="fr-FR" sz="2400" dirty="0">
                <a:latin typeface="Arial" pitchFamily="34" charset="0"/>
                <a:cs typeface="Arial" pitchFamily="34" charset="0"/>
              </a:rPr>
              <a:t>débuter à 30 mg/j per os.</a:t>
            </a:r>
          </a:p>
          <a:p>
            <a:endParaRPr lang="fr-FR" sz="24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0863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56516" y="233352"/>
            <a:ext cx="11233248" cy="63367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Rectangle 1"/>
          <p:cNvSpPr/>
          <p:nvPr/>
        </p:nvSpPr>
        <p:spPr>
          <a:xfrm>
            <a:off x="1212606" y="582936"/>
            <a:ext cx="9921067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fr-FR" sz="2400" dirty="0">
              <a:latin typeface="Arial" pitchFamily="34" charset="0"/>
              <a:cs typeface="Arial" pitchFamily="34" charset="0"/>
            </a:endParaRPr>
          </a:p>
          <a:p>
            <a:r>
              <a:rPr lang="fr-FR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Les corticoïdes=  </a:t>
            </a:r>
          </a:p>
          <a:p>
            <a:endParaRPr lang="fr-FR" sz="2800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  <a:p>
            <a:r>
              <a:rPr lang="fr-FR" sz="2400" dirty="0">
                <a:latin typeface="Arial" pitchFamily="34" charset="0"/>
                <a:cs typeface="Arial" pitchFamily="34" charset="0"/>
              </a:rPr>
              <a:t>Prednisone 0,5 à 1 mg/Kg/j, efficacité incomplète et modérée, délai d’action 3 à 4 jours.</a:t>
            </a:r>
          </a:p>
          <a:p>
            <a:endParaRPr lang="fr-FR" sz="2800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  <a:p>
            <a:r>
              <a:rPr lang="fr-FR" sz="2400" dirty="0">
                <a:latin typeface="Arial" pitchFamily="34" charset="0"/>
                <a:cs typeface="Arial" pitchFamily="34" charset="0"/>
              </a:rPr>
              <a:t>Efficaces dans les hypercalcémies d’origine:</a:t>
            </a:r>
          </a:p>
          <a:p>
            <a:endParaRPr lang="fr-FR" sz="2400" dirty="0"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fr-FR" sz="2400" dirty="0">
                <a:latin typeface="Arial" pitchFamily="34" charset="0"/>
                <a:cs typeface="Arial" pitchFamily="34" charset="0"/>
              </a:rPr>
              <a:t>Néoplasique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fr-FR" sz="2400" dirty="0">
                <a:latin typeface="Arial" pitchFamily="34" charset="0"/>
                <a:cs typeface="Arial" pitchFamily="34" charset="0"/>
              </a:rPr>
              <a:t>Hématologique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fr-FR" sz="2400" dirty="0">
                <a:latin typeface="Arial" pitchFamily="34" charset="0"/>
                <a:cs typeface="Arial" pitchFamily="34" charset="0"/>
              </a:rPr>
              <a:t>Granulomateuses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fr-FR" sz="2400" dirty="0">
                <a:latin typeface="Arial" pitchFamily="34" charset="0"/>
                <a:cs typeface="Arial" pitchFamily="34" charset="0"/>
              </a:rPr>
              <a:t>Toxiques = les intoxications à la Vit D.</a:t>
            </a:r>
          </a:p>
          <a:p>
            <a:endParaRPr lang="fr-FR" sz="24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3120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56516" y="233352"/>
            <a:ext cx="11233248" cy="63367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Rectangle 1"/>
          <p:cNvSpPr/>
          <p:nvPr/>
        </p:nvSpPr>
        <p:spPr>
          <a:xfrm>
            <a:off x="1212606" y="968526"/>
            <a:ext cx="9921067" cy="38472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fr-FR" sz="2400" dirty="0">
              <a:latin typeface="Arial" pitchFamily="34" charset="0"/>
              <a:cs typeface="Arial" pitchFamily="34" charset="0"/>
            </a:endParaRPr>
          </a:p>
          <a:p>
            <a:r>
              <a:rPr lang="fr-FR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Phosphore per os : </a:t>
            </a:r>
            <a:r>
              <a:rPr lang="fr-FR" sz="2400" dirty="0">
                <a:latin typeface="Arial" pitchFamily="34" charset="0"/>
                <a:cs typeface="Arial" pitchFamily="34" charset="0"/>
              </a:rPr>
              <a:t>HCa</a:t>
            </a:r>
            <a:r>
              <a:rPr lang="fr-FR" sz="2400" baseline="30000" dirty="0">
                <a:latin typeface="Arial" pitchFamily="34" charset="0"/>
                <a:cs typeface="Arial" pitchFamily="34" charset="0"/>
              </a:rPr>
              <a:t>2+ </a:t>
            </a:r>
            <a:r>
              <a:rPr lang="fr-FR" sz="2400" dirty="0">
                <a:latin typeface="Arial" pitchFamily="34" charset="0"/>
                <a:cs typeface="Arial" pitchFamily="34" charset="0"/>
              </a:rPr>
              <a:t>modérées / hyperparathyroïdie. </a:t>
            </a:r>
          </a:p>
          <a:p>
            <a:endParaRPr lang="fr-FR" sz="2400" dirty="0">
              <a:latin typeface="Arial" pitchFamily="34" charset="0"/>
              <a:cs typeface="Arial" pitchFamily="34" charset="0"/>
            </a:endParaRPr>
          </a:p>
          <a:p>
            <a:r>
              <a:rPr lang="fr-FR" sz="2400" dirty="0">
                <a:latin typeface="Calibri" panose="020F0502020204030204" pitchFamily="34" charset="0"/>
                <a:cs typeface="Calibri" panose="020F0502020204030204" pitchFamily="34" charset="0"/>
              </a:rPr>
              <a:t>↓ </a:t>
            </a:r>
            <a:r>
              <a:rPr lang="fr-FR" sz="2400" dirty="0">
                <a:latin typeface="Arial" pitchFamily="34" charset="0"/>
                <a:cs typeface="Arial" pitchFamily="34" charset="0"/>
              </a:rPr>
              <a:t>absorption intestinale Ca</a:t>
            </a:r>
            <a:r>
              <a:rPr lang="fr-FR" sz="2400" baseline="30000" dirty="0">
                <a:latin typeface="Arial" pitchFamily="34" charset="0"/>
                <a:cs typeface="Arial" pitchFamily="34" charset="0"/>
              </a:rPr>
              <a:t>2+</a:t>
            </a:r>
            <a:r>
              <a:rPr lang="fr-FR" sz="2400" dirty="0">
                <a:latin typeface="Arial" pitchFamily="34" charset="0"/>
                <a:cs typeface="Arial" pitchFamily="34" charset="0"/>
              </a:rPr>
              <a:t> par formation de sels de phosphate de calcium + (-) synthèse de 1,25 (OH)2 D3. </a:t>
            </a:r>
          </a:p>
          <a:p>
            <a:endParaRPr lang="fr-FR" sz="2400" dirty="0">
              <a:latin typeface="Arial" pitchFamily="34" charset="0"/>
              <a:cs typeface="Arial" pitchFamily="34" charset="0"/>
            </a:endParaRPr>
          </a:p>
          <a:p>
            <a:r>
              <a:rPr lang="fr-FR" sz="2400" dirty="0">
                <a:latin typeface="Arial" pitchFamily="34" charset="0"/>
                <a:cs typeface="Arial" pitchFamily="34" charset="0"/>
              </a:rPr>
              <a:t>per os 1 à 3 g/j x 3 semaines.</a:t>
            </a:r>
          </a:p>
          <a:p>
            <a:endParaRPr lang="fr-FR" sz="2400" dirty="0">
              <a:latin typeface="Arial" pitchFamily="34" charset="0"/>
              <a:cs typeface="Arial" pitchFamily="34" charset="0"/>
            </a:endParaRPr>
          </a:p>
          <a:p>
            <a:r>
              <a:rPr lang="fr-FR" sz="2400" dirty="0">
                <a:latin typeface="Arial" pitchFamily="34" charset="0"/>
                <a:cs typeface="Arial" pitchFamily="34" charset="0"/>
              </a:rPr>
              <a:t>Effets indésirables : mauvaise tolérance digestive (vomissements, diarrhée) + dépôts calciques tissulaires.</a:t>
            </a:r>
          </a:p>
        </p:txBody>
      </p:sp>
    </p:spTree>
    <p:extLst>
      <p:ext uri="{BB962C8B-B14F-4D97-AF65-F5344CB8AC3E}">
        <p14:creationId xmlns:p14="http://schemas.microsoft.com/office/powerpoint/2010/main" val="1781790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56516" y="260648"/>
            <a:ext cx="11233248" cy="63367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Rectangle 1"/>
          <p:cNvSpPr/>
          <p:nvPr/>
        </p:nvSpPr>
        <p:spPr>
          <a:xfrm>
            <a:off x="1071477" y="980729"/>
            <a:ext cx="9921067" cy="45858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fr-FR" sz="2400" dirty="0">
              <a:latin typeface="Arial" pitchFamily="34" charset="0"/>
              <a:cs typeface="Arial" pitchFamily="34" charset="0"/>
            </a:endParaRPr>
          </a:p>
          <a:p>
            <a:pPr lvl="0"/>
            <a:r>
              <a:rPr lang="fr-FR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Epuration extrarénale:</a:t>
            </a:r>
          </a:p>
          <a:p>
            <a:pPr lvl="0"/>
            <a:endParaRPr lang="fr-F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Terme ultime de l’escalade thérapeutique.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Soustraction rapide d’une partie importante de calcium circulant + normalisation de la calcémie en quelques heures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Effet transitoire.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400" dirty="0">
                <a:latin typeface="Arial" panose="020B0604020202020204" pitchFamily="34" charset="0"/>
                <a:cs typeface="Arial" panose="020B0604020202020204" pitchFamily="34" charset="0"/>
              </a:rPr>
              <a:t>Réservée aux hypercalcémies menaçantes au cours desquelles les autres traitements ont échoués.</a:t>
            </a:r>
          </a:p>
        </p:txBody>
      </p:sp>
    </p:spTree>
    <p:extLst>
      <p:ext uri="{BB962C8B-B14F-4D97-AF65-F5344CB8AC3E}">
        <p14:creationId xmlns:p14="http://schemas.microsoft.com/office/powerpoint/2010/main" val="861699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2" algn="l" defTabSz="457200" rtl="0">
              <a:spcBef>
                <a:spcPct val="0"/>
              </a:spcBef>
            </a:pPr>
            <a:r>
              <a:rPr lang="fr-FR" sz="3600" b="1" dirty="0">
                <a:solidFill>
                  <a:schemeClr val="accent1"/>
                </a:solidFill>
              </a:rPr>
              <a:t>Traitement étiologique</a:t>
            </a:r>
            <a:r>
              <a:rPr lang="fr-FR" dirty="0">
                <a:solidFill>
                  <a:schemeClr val="accent1"/>
                </a:solidFill>
              </a:rPr>
              <a:t/>
            </a:r>
            <a:br>
              <a:rPr lang="fr-FR" dirty="0">
                <a:solidFill>
                  <a:schemeClr val="accent1"/>
                </a:solidFill>
              </a:rPr>
            </a:br>
            <a:endParaRPr lang="fr-FR" sz="2400" dirty="0">
              <a:solidFill>
                <a:schemeClr val="accent1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4294967295"/>
          </p:nvPr>
        </p:nvSpPr>
        <p:spPr>
          <a:xfrm>
            <a:off x="1155255" y="2105742"/>
            <a:ext cx="10029311" cy="3530600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just"/>
            <a:r>
              <a:rPr lang="fr-FR" sz="2400" cap="none" dirty="0">
                <a:latin typeface="Arial" panose="020B0604020202020204" pitchFamily="34" charset="0"/>
                <a:cs typeface="Arial" panose="020B0604020202020204" pitchFamily="34" charset="0"/>
              </a:rPr>
              <a:t>Meilleur traitement à long terme.</a:t>
            </a:r>
          </a:p>
          <a:p>
            <a:pPr marL="0" indent="0" algn="just">
              <a:buNone/>
            </a:pPr>
            <a:endParaRPr lang="fr-FR" sz="2400" cap="non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fr-FR" sz="2400" cap="none" dirty="0">
                <a:latin typeface="Arial" panose="020B0604020202020204" pitchFamily="34" charset="0"/>
                <a:cs typeface="Arial" panose="020B0604020202020204" pitchFamily="34" charset="0"/>
              </a:rPr>
              <a:t>Hyperparathyroïdie primaire: exérèse chirurgicale</a:t>
            </a:r>
          </a:p>
          <a:p>
            <a:pPr marL="0" indent="0" algn="just">
              <a:buNone/>
            </a:pPr>
            <a:endParaRPr lang="fr-FR" sz="2400" cap="none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fr-FR" sz="2400" cap="none" dirty="0">
                <a:latin typeface="Arial" panose="020B0604020202020204" pitchFamily="34" charset="0"/>
                <a:cs typeface="Arial" panose="020B0604020202020204" pitchFamily="34" charset="0"/>
              </a:rPr>
              <a:t>Hypercalcémies iatrogènes: arrêt des médicaments responsables. </a:t>
            </a:r>
          </a:p>
          <a:p>
            <a:pPr algn="just"/>
            <a:endParaRPr lang="fr-FR" sz="2400" cap="non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9073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60044" y="927279"/>
            <a:ext cx="10396882" cy="3361386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ctr"/>
            <a:r>
              <a:rPr lang="fr-FR" sz="6000" dirty="0">
                <a:latin typeface="Arial Black" panose="020B0A04020102020204" pitchFamily="34" charset="0"/>
              </a:rPr>
              <a:t/>
            </a:r>
            <a:br>
              <a:rPr lang="fr-FR" sz="6000" dirty="0">
                <a:latin typeface="Arial Black" panose="020B0A04020102020204" pitchFamily="34" charset="0"/>
              </a:rPr>
            </a:br>
            <a:r>
              <a:rPr lang="fr-FR" sz="6000" dirty="0">
                <a:latin typeface="Arial Black" panose="020B0A04020102020204" pitchFamily="34" charset="0"/>
              </a:rPr>
              <a:t>Cas cliniques</a:t>
            </a:r>
          </a:p>
        </p:txBody>
      </p:sp>
    </p:spTree>
    <p:extLst>
      <p:ext uri="{BB962C8B-B14F-4D97-AF65-F5344CB8AC3E}">
        <p14:creationId xmlns:p14="http://schemas.microsoft.com/office/powerpoint/2010/main" val="3967835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85800" y="273676"/>
            <a:ext cx="10396882" cy="1151965"/>
          </a:xfrm>
        </p:spPr>
        <p:txBody>
          <a:bodyPr>
            <a:normAutofit fontScale="90000"/>
          </a:bodyPr>
          <a:lstStyle/>
          <a:p>
            <a:r>
              <a:rPr lang="fr-FR" b="1" dirty="0"/>
              <a:t>Cas Clinique 1 :</a:t>
            </a:r>
            <a:r>
              <a:rPr lang="fr-FR" dirty="0"/>
              <a:t/>
            </a:r>
            <a:br>
              <a:rPr lang="fr-FR" dirty="0"/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3"/>
          </p:nvPr>
        </p:nvSpPr>
        <p:spPr>
          <a:xfrm>
            <a:off x="315738" y="1004552"/>
            <a:ext cx="11137005" cy="4855335"/>
          </a:xfrm>
        </p:spPr>
        <p:txBody>
          <a:bodyPr>
            <a:normAutofit/>
          </a:bodyPr>
          <a:lstStyle/>
          <a:p>
            <a:pPr algn="just"/>
            <a:r>
              <a:rPr lang="fr-FR" sz="2400" cap="none" dirty="0" smtClean="0">
                <a:latin typeface="Times New Roman" pitchFamily="18" charset="0"/>
                <a:cs typeface="Times New Roman" pitchFamily="18" charset="0"/>
              </a:rPr>
              <a:t>Mme S, âgée de 48 ans, est suivie depuis quelques mois pour un cancer du sein gauche, opérée et traitée par chimio. Avant l’administration de la 5</a:t>
            </a:r>
            <a:r>
              <a:rPr lang="fr-FR" sz="2400" cap="none" baseline="30000" dirty="0" smtClean="0">
                <a:latin typeface="Times New Roman" pitchFamily="18" charset="0"/>
                <a:cs typeface="Times New Roman" pitchFamily="18" charset="0"/>
              </a:rPr>
              <a:t>ème</a:t>
            </a:r>
            <a:r>
              <a:rPr lang="fr-FR" sz="2400" cap="none" dirty="0" smtClean="0">
                <a:latin typeface="Times New Roman" pitchFamily="18" charset="0"/>
                <a:cs typeface="Times New Roman" pitchFamily="18" charset="0"/>
              </a:rPr>
              <a:t>cure, la patiente rapporte des douleurs osseuses diffuses et une faiblesse musculaire avec des vomissements non améliorés par un traitement symptomatique.</a:t>
            </a:r>
          </a:p>
          <a:p>
            <a:pPr algn="just"/>
            <a:r>
              <a:rPr lang="fr-FR" sz="2400" cap="none" dirty="0" smtClean="0">
                <a:latin typeface="Times New Roman" pitchFamily="18" charset="0"/>
                <a:cs typeface="Times New Roman" pitchFamily="18" charset="0"/>
              </a:rPr>
              <a:t> A l’examen on note des signes de déshydratation. </a:t>
            </a:r>
          </a:p>
          <a:p>
            <a:pPr algn="just"/>
            <a:r>
              <a:rPr lang="fr-FR" sz="2400" cap="none" dirty="0" smtClean="0">
                <a:latin typeface="Times New Roman" pitchFamily="18" charset="0"/>
                <a:cs typeface="Times New Roman" pitchFamily="18" charset="0"/>
              </a:rPr>
              <a:t>Le bilan ramené montre : NFS : </a:t>
            </a:r>
            <a:r>
              <a:rPr lang="fr-FR" sz="2400" cap="none" dirty="0" err="1" smtClean="0">
                <a:latin typeface="Times New Roman" pitchFamily="18" charset="0"/>
                <a:cs typeface="Times New Roman" pitchFamily="18" charset="0"/>
              </a:rPr>
              <a:t>Hb</a:t>
            </a:r>
            <a:r>
              <a:rPr lang="fr-FR" sz="2400" cap="none" dirty="0" smtClean="0">
                <a:latin typeface="Times New Roman" pitchFamily="18" charset="0"/>
                <a:cs typeface="Times New Roman" pitchFamily="18" charset="0"/>
              </a:rPr>
              <a:t> : 9 g/dl ; GB : 3200 éléments/mm</a:t>
            </a:r>
            <a:r>
              <a:rPr lang="fr-FR" sz="2400" cap="none" baseline="30000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fr-FR" sz="2400" cap="none" dirty="0" smtClean="0">
                <a:latin typeface="Times New Roman" pitchFamily="18" charset="0"/>
                <a:cs typeface="Times New Roman" pitchFamily="18" charset="0"/>
              </a:rPr>
              <a:t> ; </a:t>
            </a:r>
            <a:r>
              <a:rPr lang="fr-FR" sz="2400" cap="none" dirty="0" err="1" smtClean="0">
                <a:latin typeface="Times New Roman" pitchFamily="18" charset="0"/>
                <a:cs typeface="Times New Roman" pitchFamily="18" charset="0"/>
              </a:rPr>
              <a:t>plq</a:t>
            </a:r>
            <a:r>
              <a:rPr lang="fr-FR" sz="2400" cap="none" dirty="0" smtClean="0">
                <a:latin typeface="Times New Roman" pitchFamily="18" charset="0"/>
                <a:cs typeface="Times New Roman" pitchFamily="18" charset="0"/>
              </a:rPr>
              <a:t> : 120.000 éléments/mm</a:t>
            </a:r>
            <a:r>
              <a:rPr lang="fr-FR" sz="2400" cap="none" baseline="30000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fr-FR" sz="2400" cap="none" dirty="0" smtClean="0">
                <a:latin typeface="Times New Roman" pitchFamily="18" charset="0"/>
                <a:cs typeface="Times New Roman" pitchFamily="18" charset="0"/>
              </a:rPr>
              <a:t> ; calcémie : 3,4mmol/l ; VS = 94 H1.</a:t>
            </a:r>
            <a:endParaRPr lang="fr-FR" sz="2400" cap="none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7155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123721" y="4461831"/>
            <a:ext cx="31618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Réponse </a:t>
            </a:r>
            <a:r>
              <a:rPr lang="fr-FR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fr-FR" sz="28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B    </a:t>
            </a:r>
            <a:endParaRPr lang="fr-FR" sz="28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4AC098-E670-6BAD-17F1-AF1D3C250FBE}"/>
              </a:ext>
            </a:extLst>
          </p:cNvPr>
          <p:cNvSpPr txBox="1"/>
          <p:nvPr/>
        </p:nvSpPr>
        <p:spPr>
          <a:xfrm>
            <a:off x="1159120" y="777899"/>
            <a:ext cx="8721150" cy="32378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buFont typeface="+mj-lt"/>
              <a:buAutoNum type="arabicPeriod"/>
            </a:pP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Pour apprécier le retentissement de cette hypercalcémie, on doit compléter par :</a:t>
            </a:r>
            <a:endParaRPr lang="en-US" sz="2600" dirty="0">
              <a:effectLst/>
              <a:latin typeface="Times New Roman" pitchFamily="18" charset="0"/>
              <a:ea typeface="Calibri" panose="020F0502020204030204" pitchFamily="34" charset="0"/>
              <a:cs typeface="Times New Roman" pitchFamily="18" charset="0"/>
            </a:endParaRPr>
          </a:p>
          <a:p>
            <a:pPr marL="971550" lvl="1" indent="-514350">
              <a:buFont typeface="+mj-lt"/>
              <a:buAutoNum type="alphaUcPeriod"/>
            </a:pP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Un dosage de la créatinine 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Un ionogramme sanguin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Un holter rythmique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Un bilan hépatique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Un dosage de la phosphorémie</a:t>
            </a:r>
            <a:endParaRPr lang="fr-FR" sz="2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7504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123721" y="4746839"/>
            <a:ext cx="31618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Réponse </a:t>
            </a:r>
            <a:r>
              <a:rPr lang="fr-FR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fr-FR" sz="28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B C </a:t>
            </a:r>
            <a:endParaRPr lang="fr-FR" sz="28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B11DFE-71AC-D8EF-223D-D1A9DC6694DE}"/>
              </a:ext>
            </a:extLst>
          </p:cNvPr>
          <p:cNvSpPr txBox="1"/>
          <p:nvPr/>
        </p:nvSpPr>
        <p:spPr>
          <a:xfrm>
            <a:off x="708985" y="694741"/>
            <a:ext cx="10692078" cy="4128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lang="fr-FR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2. </a:t>
            </a: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Vous retenez un retentissement cardiaque de l’hypercalcémie si l’ECG montre :</a:t>
            </a:r>
          </a:p>
          <a:p>
            <a:pPr lvl="0">
              <a:lnSpc>
                <a:spcPct val="115000"/>
              </a:lnSpc>
            </a:pPr>
            <a:endParaRPr lang="en-US" sz="2800" dirty="0">
              <a:effectLst/>
              <a:latin typeface="Times New Roman" pitchFamily="18" charset="0"/>
              <a:ea typeface="Calibri" panose="020F0502020204030204" pitchFamily="34" charset="0"/>
              <a:cs typeface="Times New Roman" pitchFamily="18" charset="0"/>
            </a:endParaRPr>
          </a:p>
          <a:p>
            <a:pPr marL="971550" lvl="1" indent="-514350">
              <a:buFont typeface="+mj-lt"/>
              <a:buAutoNum type="alphaUcPeriod"/>
            </a:pP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Un raccourcissement de l’intervalle QT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Une fibrillation auriculaire 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Une fibrillation ventriculaire 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Un bloc de branche droit 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Un élargissement du complexe QRS</a:t>
            </a:r>
          </a:p>
          <a:p>
            <a:r>
              <a:rPr lang="fr-FR" sz="2800" dirty="0" smtClean="0"/>
              <a:t> 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603476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099971" y="4770589"/>
            <a:ext cx="35987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Réponse </a:t>
            </a:r>
            <a:r>
              <a:rPr lang="fr-FR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fr-FR" sz="28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lang="fr-FR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endParaRPr lang="fr-FR" sz="28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03367C-3BD4-A45F-0CA0-7C6B677D89D9}"/>
              </a:ext>
            </a:extLst>
          </p:cNvPr>
          <p:cNvSpPr txBox="1"/>
          <p:nvPr/>
        </p:nvSpPr>
        <p:spPr>
          <a:xfrm>
            <a:off x="1018572" y="694741"/>
            <a:ext cx="9549114" cy="3697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lang="fr-FR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3. </a:t>
            </a: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Le (les) mécanisme (s) de survenue de l’hypercalcémie chez cette patiente serait (</a:t>
            </a:r>
            <a:r>
              <a:rPr lang="fr-FR" sz="2800" dirty="0" err="1" smtClean="0">
                <a:latin typeface="Times New Roman" pitchFamily="18" charset="0"/>
                <a:cs typeface="Times New Roman" pitchFamily="18" charset="0"/>
              </a:rPr>
              <a:t>ent</a:t>
            </a: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) : </a:t>
            </a:r>
          </a:p>
          <a:p>
            <a:pPr lvl="0">
              <a:lnSpc>
                <a:spcPct val="115000"/>
              </a:lnSpc>
            </a:pPr>
            <a:endParaRPr lang="en-US" sz="2800" dirty="0">
              <a:effectLst/>
              <a:latin typeface="Times New Roman" pitchFamily="18" charset="0"/>
              <a:ea typeface="Calibri" panose="020F0502020204030204" pitchFamily="34" charset="0"/>
              <a:cs typeface="Times New Roman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Une augmentation de l’absorption digestive du calcium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Une diminution de l’excrétion urinaire du calcium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Une stimulation de l’ostéo-formation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Une augmentation de la résorption osseuse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Un mécanisme humoral paranéoplasique</a:t>
            </a:r>
            <a:endParaRPr lang="fr-FR" sz="2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671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016843" y="4889343"/>
            <a:ext cx="31618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Réponse </a:t>
            </a:r>
            <a:r>
              <a:rPr lang="fr-FR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:A </a:t>
            </a:r>
            <a:r>
              <a:rPr lang="fr-FR" sz="28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 E</a:t>
            </a:r>
            <a:endParaRPr lang="fr-FR" sz="28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C31391-91DB-BC33-D458-59E916C1E5F0}"/>
              </a:ext>
            </a:extLst>
          </p:cNvPr>
          <p:cNvSpPr txBox="1"/>
          <p:nvPr/>
        </p:nvSpPr>
        <p:spPr>
          <a:xfrm>
            <a:off x="887642" y="515999"/>
            <a:ext cx="10417667" cy="3826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1000"/>
              </a:spcAft>
            </a:pPr>
            <a:r>
              <a:rPr lang="fr-FR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4. </a:t>
            </a: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En tenant compte de l’hypothèse étiologique la plus vraisemblable, on notera comme perturbation (s) biologique (s) :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Une hyper calciurie 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Une </a:t>
            </a:r>
            <a:r>
              <a:rPr lang="fr-FR" sz="2800" dirty="0" err="1" smtClean="0">
                <a:latin typeface="Times New Roman" pitchFamily="18" charset="0"/>
                <a:cs typeface="Times New Roman" pitchFamily="18" charset="0"/>
              </a:rPr>
              <a:t>hypophosphorémie</a:t>
            </a:r>
            <a:endParaRPr lang="fr-FR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971550" lvl="1" indent="-514350">
              <a:buFont typeface="+mj-lt"/>
              <a:buAutoNum type="alphaUcPeriod"/>
            </a:pP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Un taux normal de PTH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Une élévation de la vitamine D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Une augmentation des phosphatases alcalines</a:t>
            </a: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+mj-lt"/>
              <a:buAutoNum type="alphaUcPeriod"/>
            </a:pP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1030386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123721" y="4461831"/>
            <a:ext cx="31618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Réponse </a:t>
            </a:r>
            <a:r>
              <a:rPr lang="fr-FR" sz="28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CDE</a:t>
            </a:r>
            <a:endParaRPr lang="fr-FR" sz="28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B34287-8A44-F6AD-2503-FD820D78EF04}"/>
              </a:ext>
            </a:extLst>
          </p:cNvPr>
          <p:cNvSpPr txBox="1"/>
          <p:nvPr/>
        </p:nvSpPr>
        <p:spPr>
          <a:xfrm>
            <a:off x="834354" y="641329"/>
            <a:ext cx="9768056" cy="3458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Aft>
                <a:spcPts val="1000"/>
              </a:spcAft>
            </a:pPr>
            <a:r>
              <a:rPr lang="fr-FR" sz="26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5. </a:t>
            </a: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La prise charge de cette patiente comporte :</a:t>
            </a:r>
          </a:p>
          <a:p>
            <a:pPr marL="514350" indent="-514350">
              <a:lnSpc>
                <a:spcPct val="115000"/>
              </a:lnSpc>
              <a:spcAft>
                <a:spcPts val="1000"/>
              </a:spcAft>
              <a:buFont typeface="+mj-lt"/>
              <a:buAutoNum type="alphaUcPeriod"/>
            </a:pPr>
            <a:endParaRPr lang="en-US" sz="2600" dirty="0">
              <a:effectLst/>
              <a:latin typeface="Times New Roman" pitchFamily="18" charset="0"/>
              <a:ea typeface="Calibri" panose="020F0502020204030204" pitchFamily="34" charset="0"/>
              <a:cs typeface="Times New Roman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Une hyperhydratation par voie orale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sz="2800" dirty="0" err="1" smtClean="0">
                <a:latin typeface="Times New Roman" pitchFamily="18" charset="0"/>
                <a:cs typeface="Times New Roman" pitchFamily="18" charset="0"/>
              </a:rPr>
              <a:t>Lasilix</a:t>
            </a: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 40 : 1 comprimé X 2 /jour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Une hospitalisation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L’administration d’acide </a:t>
            </a:r>
            <a:r>
              <a:rPr lang="fr-FR" sz="2800" dirty="0" err="1" smtClean="0">
                <a:latin typeface="Times New Roman" pitchFamily="18" charset="0"/>
                <a:cs typeface="Times New Roman" pitchFamily="18" charset="0"/>
              </a:rPr>
              <a:t>zoledronique</a:t>
            </a: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 en perfusion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Un traitement antalgique</a:t>
            </a:r>
            <a:endParaRPr lang="fr-FR" sz="2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9108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85800" y="273676"/>
            <a:ext cx="10396882" cy="1151965"/>
          </a:xfrm>
        </p:spPr>
        <p:txBody>
          <a:bodyPr>
            <a:normAutofit fontScale="90000"/>
          </a:bodyPr>
          <a:lstStyle/>
          <a:p>
            <a:r>
              <a:rPr lang="fr-FR" b="1" dirty="0"/>
              <a:t>Cas Clinique 2 :</a:t>
            </a:r>
            <a:r>
              <a:rPr lang="fr-FR" dirty="0"/>
              <a:t/>
            </a:r>
            <a:br>
              <a:rPr lang="fr-FR" dirty="0"/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3"/>
          </p:nvPr>
        </p:nvSpPr>
        <p:spPr>
          <a:xfrm>
            <a:off x="222539" y="1246909"/>
            <a:ext cx="11137005" cy="5082639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0" indent="0" algn="just">
              <a:lnSpc>
                <a:spcPct val="115000"/>
              </a:lnSpc>
              <a:spcAft>
                <a:spcPts val="1000"/>
              </a:spcAft>
            </a:pPr>
            <a:r>
              <a:rPr lang="fr-FR" sz="2200" cap="none" dirty="0" smtClean="0">
                <a:latin typeface="Times New Roman" pitchFamily="18" charset="0"/>
                <a:cs typeface="Times New Roman" pitchFamily="18" charset="0"/>
              </a:rPr>
              <a:t>Patient, âgé de 72 ans, sans antécédents pathologiques notables, est ramené aux urgences pour des troubles du comportement constaté il y a 48 h précédé quelques jours auparavant d’une faiblesse généralisée avec vomissements. </a:t>
            </a:r>
          </a:p>
          <a:p>
            <a:pPr marL="0" indent="0" algn="just">
              <a:lnSpc>
                <a:spcPct val="115000"/>
              </a:lnSpc>
              <a:spcAft>
                <a:spcPts val="1000"/>
              </a:spcAft>
            </a:pPr>
            <a:r>
              <a:rPr lang="fr-FR" sz="2200" cap="none" dirty="0" smtClean="0">
                <a:latin typeface="Times New Roman" pitchFamily="18" charset="0"/>
                <a:cs typeface="Times New Roman" pitchFamily="18" charset="0"/>
              </a:rPr>
              <a:t>Examen physique note une désorientation </a:t>
            </a:r>
            <a:r>
              <a:rPr lang="fr-FR" sz="2200" cap="none" dirty="0" err="1" smtClean="0">
                <a:latin typeface="Times New Roman" pitchFamily="18" charset="0"/>
                <a:cs typeface="Times New Roman" pitchFamily="18" charset="0"/>
              </a:rPr>
              <a:t>temporo</a:t>
            </a:r>
            <a:r>
              <a:rPr lang="fr-FR" sz="2200" cap="none" dirty="0" smtClean="0">
                <a:latin typeface="Times New Roman" pitchFamily="18" charset="0"/>
                <a:cs typeface="Times New Roman" pitchFamily="18" charset="0"/>
              </a:rPr>
              <a:t>-spatiale, température à 36.8°C, PA à 110/85 mmHg, pouls à 108 bat/mn, langue sèche avec une sensibilité abdominale épigastrique. </a:t>
            </a:r>
          </a:p>
          <a:p>
            <a:pPr marL="0" indent="0" algn="just">
              <a:lnSpc>
                <a:spcPct val="115000"/>
              </a:lnSpc>
              <a:spcAft>
                <a:spcPts val="1000"/>
              </a:spcAft>
            </a:pPr>
            <a:r>
              <a:rPr lang="fr-FR" sz="2200" cap="none" dirty="0" smtClean="0">
                <a:latin typeface="Times New Roman" pitchFamily="18" charset="0"/>
                <a:cs typeface="Times New Roman" pitchFamily="18" charset="0"/>
              </a:rPr>
              <a:t>Biologie : glycémie : 5.6mmol/l - ionogramme sanguin : Na+ : 144 mmol/l – K+ : 3.4 mmol/l – albuminémie : 20 g/l – créatinine : 118 µmol/l – urée 13 mmol/l, calcémie : 2.93mmol/l – phosphorémie : 1.4 mmol/l – NFS : GB :9400 éléments/ mm</a:t>
            </a:r>
            <a:r>
              <a:rPr lang="fr-FR" sz="2200" cap="none" baseline="30000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fr-FR" sz="2200" cap="none" dirty="0" smtClean="0">
                <a:latin typeface="Times New Roman" pitchFamily="18" charset="0"/>
                <a:cs typeface="Times New Roman" pitchFamily="18" charset="0"/>
              </a:rPr>
              <a:t> - </a:t>
            </a:r>
            <a:r>
              <a:rPr lang="fr-FR" sz="2200" cap="none" dirty="0" err="1" smtClean="0">
                <a:latin typeface="Times New Roman" pitchFamily="18" charset="0"/>
                <a:cs typeface="Times New Roman" pitchFamily="18" charset="0"/>
              </a:rPr>
              <a:t>Hb</a:t>
            </a:r>
            <a:r>
              <a:rPr lang="fr-FR" sz="2200" cap="none" dirty="0" smtClean="0">
                <a:latin typeface="Times New Roman" pitchFamily="18" charset="0"/>
                <a:cs typeface="Times New Roman" pitchFamily="18" charset="0"/>
              </a:rPr>
              <a:t> : 9.3 g/dl VGM : 82 </a:t>
            </a:r>
            <a:r>
              <a:rPr lang="fr-FR" sz="2200" cap="none" dirty="0" err="1" smtClean="0">
                <a:latin typeface="Times New Roman" pitchFamily="18" charset="0"/>
                <a:cs typeface="Times New Roman" pitchFamily="18" charset="0"/>
              </a:rPr>
              <a:t>fl</a:t>
            </a:r>
            <a:r>
              <a:rPr lang="fr-FR" sz="2200" cap="none" dirty="0" smtClean="0">
                <a:latin typeface="Times New Roman" pitchFamily="18" charset="0"/>
                <a:cs typeface="Times New Roman" pitchFamily="18" charset="0"/>
              </a:rPr>
              <a:t> - plaquettes : 178000 éléments/mm</a:t>
            </a:r>
            <a:r>
              <a:rPr lang="fr-FR" sz="2200" cap="none" baseline="30000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fr-FR" sz="2200" cap="none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marL="0" indent="0" algn="just">
              <a:lnSpc>
                <a:spcPct val="115000"/>
              </a:lnSpc>
              <a:spcAft>
                <a:spcPts val="1000"/>
              </a:spcAft>
              <a:buNone/>
            </a:pPr>
            <a:r>
              <a:rPr lang="fr-FR" sz="2200" cap="none" dirty="0" smtClean="0">
                <a:latin typeface="Times New Roman" pitchFamily="18" charset="0"/>
                <a:cs typeface="Times New Roman" pitchFamily="18" charset="0"/>
              </a:rPr>
              <a:t>La radio de thorax et l’échographie abdominale sont normales.</a:t>
            </a:r>
          </a:p>
          <a:p>
            <a:pPr marL="0" indent="0" algn="just">
              <a:lnSpc>
                <a:spcPct val="115000"/>
              </a:lnSpc>
              <a:spcAft>
                <a:spcPts val="1000"/>
              </a:spcAft>
            </a:pPr>
            <a:endParaRPr lang="en-US" sz="2200" cap="none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732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123721" y="4461831"/>
            <a:ext cx="37955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Réponse </a:t>
            </a:r>
            <a:r>
              <a:rPr lang="fr-FR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fr-FR" sz="28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fr-FR" sz="28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B34287-8A44-F6AD-2503-FD820D78EF04}"/>
              </a:ext>
            </a:extLst>
          </p:cNvPr>
          <p:cNvSpPr txBox="1"/>
          <p:nvPr/>
        </p:nvSpPr>
        <p:spPr>
          <a:xfrm>
            <a:off x="922116" y="689226"/>
            <a:ext cx="10347768" cy="4289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0170" lvl="0">
              <a:lnSpc>
                <a:spcPct val="115000"/>
              </a:lnSpc>
              <a:spcAft>
                <a:spcPts val="1000"/>
              </a:spcAft>
            </a:pPr>
            <a:r>
              <a:rPr lang="fr-FR" sz="2600" dirty="0">
                <a:effectLst/>
                <a:latin typeface="Times New Roman" pitchFamily="18" charset="0"/>
                <a:ea typeface="Calibri" panose="020F0502020204030204" pitchFamily="34" charset="0"/>
                <a:cs typeface="Times New Roman" pitchFamily="18" charset="0"/>
              </a:rPr>
              <a:t>1. </a:t>
            </a: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L’état confusionnel chez ce patient peut être expliqué par </a:t>
            </a:r>
            <a:r>
              <a:rPr lang="fr-FR" sz="2800" b="1" dirty="0" smtClean="0">
                <a:latin typeface="Times New Roman" pitchFamily="18" charset="0"/>
                <a:cs typeface="Times New Roman" pitchFamily="18" charset="0"/>
              </a:rPr>
              <a:t>: </a:t>
            </a:r>
            <a:endParaRPr lang="fr-FR" sz="2800" dirty="0" smtClean="0">
              <a:latin typeface="Times New Roman" pitchFamily="18" charset="0"/>
              <a:cs typeface="Times New Roman" pitchFamily="18" charset="0"/>
            </a:endParaRPr>
          </a:p>
          <a:p>
            <a:pPr marL="90170">
              <a:lnSpc>
                <a:spcPct val="115000"/>
              </a:lnSpc>
              <a:spcAft>
                <a:spcPts val="1000"/>
              </a:spcAft>
            </a:pPr>
            <a:endParaRPr lang="en-US" sz="2600" dirty="0">
              <a:effectLst/>
              <a:latin typeface="Times New Roman" pitchFamily="18" charset="0"/>
              <a:ea typeface="Calibri" panose="020F0502020204030204" pitchFamily="34" charset="0"/>
              <a:cs typeface="Times New Roman" pitchFamily="18" charset="0"/>
            </a:endParaRPr>
          </a:p>
          <a:p>
            <a:pPr marL="971550" lvl="1" indent="-514350">
              <a:buFont typeface="+mj-lt"/>
              <a:buAutoNum type="alphaUcPeriod"/>
            </a:pP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L’hypokaliémie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L’insuffisance rénale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L’hypercalcémie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L’hypo albuminémie</a:t>
            </a:r>
          </a:p>
          <a:p>
            <a:pPr marL="971550" lvl="1" indent="-514350">
              <a:buFont typeface="+mj-lt"/>
              <a:buAutoNum type="alphaUcPeriod"/>
            </a:pP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L’anémie</a:t>
            </a:r>
          </a:p>
          <a:p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endParaRPr lang="en-US" sz="26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1808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123721" y="4461831"/>
            <a:ext cx="31618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Réponse </a:t>
            </a:r>
            <a:r>
              <a:rPr lang="fr-FR" sz="28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A C D</a:t>
            </a:r>
            <a:endParaRPr lang="fr-FR" sz="28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F382A6-B7C7-9F92-5F51-FF083D3BF39E}"/>
              </a:ext>
            </a:extLst>
          </p:cNvPr>
          <p:cNvSpPr txBox="1"/>
          <p:nvPr/>
        </p:nvSpPr>
        <p:spPr>
          <a:xfrm>
            <a:off x="766858" y="433548"/>
            <a:ext cx="10587907" cy="3366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0170" lvl="0">
              <a:lnSpc>
                <a:spcPct val="115000"/>
              </a:lnSpc>
              <a:spcAft>
                <a:spcPts val="1000"/>
              </a:spcAft>
            </a:pPr>
            <a:r>
              <a:rPr lang="fr-FR" sz="2800" dirty="0">
                <a:effectLst/>
                <a:latin typeface="Times New Roman" pitchFamily="18" charset="0"/>
                <a:ea typeface="Calibri" panose="020F0502020204030204" pitchFamily="34" charset="0"/>
                <a:cs typeface="Times New Roman" pitchFamily="18" charset="0"/>
              </a:rPr>
              <a:t>2. </a:t>
            </a: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Les autres manifestations neuropsychiatriques qui peuvent s’observer au cours de cette même anomalie métaboliques sont :</a:t>
            </a:r>
          </a:p>
          <a:p>
            <a:pPr marL="800100" lvl="1" indent="-342900">
              <a:buFont typeface="+mj-lt"/>
              <a:buAutoNum type="alphaUcPeriod"/>
            </a:pP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Un coma</a:t>
            </a:r>
          </a:p>
          <a:p>
            <a:pPr marL="800100" lvl="1" indent="-342900">
              <a:buFont typeface="+mj-lt"/>
              <a:buAutoNum type="alphaUcPeriod"/>
            </a:pP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Des troubles de la sensibilité superficielles</a:t>
            </a:r>
          </a:p>
          <a:p>
            <a:pPr marL="800100" lvl="1" indent="-342900">
              <a:buFont typeface="+mj-lt"/>
              <a:buAutoNum type="alphaUcPeriod"/>
            </a:pP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Des crises convulsives</a:t>
            </a:r>
          </a:p>
          <a:p>
            <a:pPr marL="800100" lvl="1" indent="-342900">
              <a:buFont typeface="+mj-lt"/>
              <a:buAutoNum type="alphaUcPeriod"/>
            </a:pP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Une somnolence</a:t>
            </a:r>
          </a:p>
          <a:p>
            <a:pPr marL="800100" lvl="1" indent="-342900">
              <a:buFont typeface="+mj-lt"/>
              <a:buAutoNum type="alphaUcPeriod"/>
            </a:pP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Des réflexes vifs</a:t>
            </a:r>
          </a:p>
        </p:txBody>
      </p:sp>
    </p:spTree>
    <p:extLst>
      <p:ext uri="{BB962C8B-B14F-4D97-AF65-F5344CB8AC3E}">
        <p14:creationId xmlns:p14="http://schemas.microsoft.com/office/powerpoint/2010/main" val="1466255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123721" y="4461831"/>
            <a:ext cx="31618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Réponse </a:t>
            </a:r>
            <a:r>
              <a:rPr lang="fr-FR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fr-FR" sz="28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ABD</a:t>
            </a:r>
            <a:endParaRPr lang="fr-FR" sz="28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894DF1-A6CB-4A41-1C93-05BEB065FD4B}"/>
              </a:ext>
            </a:extLst>
          </p:cNvPr>
          <p:cNvSpPr txBox="1"/>
          <p:nvPr/>
        </p:nvSpPr>
        <p:spPr>
          <a:xfrm>
            <a:off x="914398" y="669959"/>
            <a:ext cx="9988953" cy="37969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5000"/>
              </a:lnSpc>
              <a:spcBef>
                <a:spcPts val="1200"/>
              </a:spcBef>
              <a:spcAft>
                <a:spcPts val="1000"/>
              </a:spcAft>
            </a:pPr>
            <a:r>
              <a:rPr lang="fr-FR" sz="2800" dirty="0">
                <a:effectLst/>
                <a:latin typeface="Times New Roman" pitchFamily="18" charset="0"/>
                <a:ea typeface="Calibri" panose="020F0502020204030204" pitchFamily="34" charset="0"/>
                <a:cs typeface="Times New Roman" pitchFamily="18" charset="0"/>
              </a:rPr>
              <a:t>3. </a:t>
            </a: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Les mesures à envisager dans la prise en charge de ce patient sont :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L’hospitalisation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Une hyperhydratation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Une diurèse forcée par des diurétiques thiazidiques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L’administration de calcitonine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Une corticothérapie par voie générale</a:t>
            </a:r>
          </a:p>
          <a:p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 </a:t>
            </a:r>
            <a:endParaRPr lang="fr-FR" sz="2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0118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1123721" y="4723088"/>
            <a:ext cx="41427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latin typeface="Arial" panose="020B0604020202020204" pitchFamily="34" charset="0"/>
                <a:cs typeface="Arial" panose="020B0604020202020204" pitchFamily="34" charset="0"/>
              </a:rPr>
              <a:t>Réponse </a:t>
            </a:r>
            <a:r>
              <a:rPr lang="fr-FR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fr-FR" sz="2800" dirty="0" smtClean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fr-FR" sz="28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58EC4C-46B6-812C-8BC0-2F938434C80C}"/>
              </a:ext>
            </a:extLst>
          </p:cNvPr>
          <p:cNvSpPr txBox="1"/>
          <p:nvPr/>
        </p:nvSpPr>
        <p:spPr>
          <a:xfrm>
            <a:off x="826837" y="695616"/>
            <a:ext cx="9791206" cy="3954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0170" lvl="0">
              <a:lnSpc>
                <a:spcPct val="115000"/>
              </a:lnSpc>
              <a:spcAft>
                <a:spcPts val="1000"/>
              </a:spcAft>
            </a:pPr>
            <a:r>
              <a:rPr lang="fr-FR" sz="2600" dirty="0">
                <a:effectLst/>
                <a:latin typeface="Times New Roman" pitchFamily="18" charset="0"/>
                <a:ea typeface="Calibri" panose="020F0502020204030204" pitchFamily="34" charset="0"/>
                <a:cs typeface="Times New Roman" pitchFamily="18" charset="0"/>
              </a:rPr>
              <a:t>4. </a:t>
            </a: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Quel examen complémentaire vous semble pertinent à demander en premier lieu pour orienter l’enquête étiologique :</a:t>
            </a:r>
          </a:p>
          <a:p>
            <a:pPr marL="604520" indent="-514350">
              <a:lnSpc>
                <a:spcPct val="115000"/>
              </a:lnSpc>
              <a:spcAft>
                <a:spcPts val="1000"/>
              </a:spcAft>
              <a:buFont typeface="+mj-lt"/>
              <a:buAutoNum type="alphaUcPeriod"/>
            </a:pPr>
            <a:endParaRPr lang="en-US" sz="2600" dirty="0">
              <a:effectLst/>
              <a:latin typeface="Times New Roman" pitchFamily="18" charset="0"/>
              <a:ea typeface="Calibri" panose="020F0502020204030204" pitchFamily="34" charset="0"/>
              <a:cs typeface="Times New Roman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Un dosage de la vitamine D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Un dosage de la PTH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Une électrophorèse des protéines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Une ponction lombaire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sz="2800" dirty="0" smtClean="0">
                <a:latin typeface="Times New Roman" pitchFamily="18" charset="0"/>
                <a:cs typeface="Times New Roman" pitchFamily="18" charset="0"/>
              </a:rPr>
              <a:t>Un dosage de la calcitonine</a:t>
            </a:r>
            <a:endParaRPr lang="fr-FR" sz="2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2697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56084" y="276023"/>
            <a:ext cx="11233248" cy="63367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FF6600"/>
              </a:solidFill>
            </a:endParaRPr>
          </a:p>
        </p:txBody>
      </p:sp>
      <p:sp>
        <p:nvSpPr>
          <p:cNvPr id="7" name="Titre 1"/>
          <p:cNvSpPr txBox="1">
            <a:spLocks/>
          </p:cNvSpPr>
          <p:nvPr/>
        </p:nvSpPr>
        <p:spPr>
          <a:xfrm>
            <a:off x="556084" y="764704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b="1" dirty="0">
                <a:solidFill>
                  <a:schemeClr val="accent1"/>
                </a:solidFill>
              </a:rPr>
              <a:t>CONCLUSION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22257" y="1880446"/>
            <a:ext cx="10906627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fr-FR" sz="2000" dirty="0"/>
          </a:p>
          <a:p>
            <a:pPr marL="285750" indent="-285750" algn="just">
              <a:buFont typeface="Arial" pitchFamily="34" charset="0"/>
              <a:buChar char="•"/>
            </a:pPr>
            <a:r>
              <a:rPr lang="fr-FR" sz="2000" dirty="0">
                <a:solidFill>
                  <a:schemeClr val="tx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L’hypercalcémie est définie par un calcium total supérieur à 2,6</a:t>
            </a:r>
            <a:r>
              <a:rPr lang="fr-FR" dirty="0">
                <a:solidFill>
                  <a:schemeClr val="tx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μmol/L.</a:t>
            </a:r>
            <a:r>
              <a:rPr lang="fr-FR" sz="2000" dirty="0">
                <a:solidFill>
                  <a:schemeClr val="tx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 </a:t>
            </a:r>
          </a:p>
          <a:p>
            <a:pPr marL="285750" indent="-285750" algn="just">
              <a:buFont typeface="Arial" pitchFamily="34" charset="0"/>
              <a:buChar char="•"/>
            </a:pPr>
            <a:endParaRPr lang="fr-FR" sz="2000" dirty="0">
              <a:solidFill>
                <a:schemeClr val="tx2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285750" indent="-285750" algn="just">
              <a:buFont typeface="Arial" pitchFamily="34" charset="0"/>
              <a:buChar char="•"/>
            </a:pPr>
            <a:r>
              <a:rPr lang="fr-FR" sz="2000" dirty="0">
                <a:solidFill>
                  <a:schemeClr val="tx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L’hypercalcémie majeure (&gt; 3,5 </a:t>
            </a:r>
            <a:r>
              <a:rPr lang="fr-FR" sz="2000" dirty="0" err="1">
                <a:solidFill>
                  <a:schemeClr val="tx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μmol</a:t>
            </a:r>
            <a:r>
              <a:rPr lang="fr-FR" sz="2000" dirty="0">
                <a:solidFill>
                  <a:schemeClr val="tx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/L) peut engager le pronostic vital et doit être traitée en urgence (réhydratation, calcitonine et </a:t>
            </a:r>
            <a:r>
              <a:rPr lang="fr-FR" sz="2000" dirty="0" err="1">
                <a:solidFill>
                  <a:schemeClr val="tx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bisphosphonate</a:t>
            </a:r>
            <a:r>
              <a:rPr lang="fr-FR" sz="2000" dirty="0">
                <a:solidFill>
                  <a:schemeClr val="tx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). </a:t>
            </a:r>
          </a:p>
          <a:p>
            <a:pPr marL="285750" indent="-285750" algn="just">
              <a:buFont typeface="Arial" pitchFamily="34" charset="0"/>
              <a:buChar char="•"/>
            </a:pPr>
            <a:endParaRPr lang="fr-FR" sz="2000" dirty="0">
              <a:solidFill>
                <a:schemeClr val="tx2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285750" indent="-285750" algn="just">
              <a:buFont typeface="Arial" pitchFamily="34" charset="0"/>
              <a:buChar char="•"/>
            </a:pPr>
            <a:r>
              <a:rPr lang="fr-FR" sz="2000" dirty="0">
                <a:solidFill>
                  <a:schemeClr val="tx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La présentation clinique de l’hypercalcémie est très trompeuse et polymorphe. </a:t>
            </a:r>
          </a:p>
          <a:p>
            <a:pPr marL="285750" indent="-285750" algn="just">
              <a:buFont typeface="Arial" pitchFamily="34" charset="0"/>
              <a:buChar char="•"/>
            </a:pPr>
            <a:endParaRPr lang="fr-FR" sz="2000" dirty="0">
              <a:solidFill>
                <a:schemeClr val="tx2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285750" indent="-285750" algn="just">
              <a:buFont typeface="Arial" pitchFamily="34" charset="0"/>
              <a:buChar char="•"/>
            </a:pPr>
            <a:r>
              <a:rPr lang="fr-FR" sz="2000" dirty="0">
                <a:solidFill>
                  <a:schemeClr val="tx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Toute hypercalcémie (même de découverte fortuite) doit être explorée. </a:t>
            </a:r>
          </a:p>
          <a:p>
            <a:pPr marL="285750" indent="-285750" algn="just">
              <a:buFont typeface="Arial" pitchFamily="34" charset="0"/>
              <a:buChar char="•"/>
            </a:pPr>
            <a:endParaRPr lang="fr-FR" sz="2000" b="1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1858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52352" y="260648"/>
            <a:ext cx="11233248" cy="63367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Rectangle 1"/>
          <p:cNvSpPr/>
          <p:nvPr/>
        </p:nvSpPr>
        <p:spPr>
          <a:xfrm>
            <a:off x="885352" y="1196753"/>
            <a:ext cx="9985109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Arial" pitchFamily="34" charset="0"/>
              <a:buChar char="•"/>
            </a:pPr>
            <a:r>
              <a:rPr lang="fr-FR" sz="2000" dirty="0">
                <a:solidFill>
                  <a:schemeClr val="tx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Les deux grandes causes d’hypercalcémies sont les affections malignes (métastases et myélome) et l’hyperparathyroïdie primitive. </a:t>
            </a:r>
          </a:p>
          <a:p>
            <a:pPr marL="285750" indent="-285750" algn="just">
              <a:buFont typeface="Arial" pitchFamily="34" charset="0"/>
              <a:buChar char="•"/>
            </a:pPr>
            <a:endParaRPr lang="fr-FR" sz="2000" dirty="0">
              <a:solidFill>
                <a:schemeClr val="tx2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285750" indent="-285750" algn="just">
              <a:buFont typeface="Arial" pitchFamily="34" charset="0"/>
              <a:buChar char="•"/>
            </a:pPr>
            <a:r>
              <a:rPr lang="fr-FR" sz="2000" dirty="0">
                <a:solidFill>
                  <a:schemeClr val="tx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Le traitement de l’hyperparathyroïdie primitive est chirurgical. </a:t>
            </a:r>
          </a:p>
          <a:p>
            <a:pPr marL="285750" indent="-285750" algn="just">
              <a:buFont typeface="Arial" pitchFamily="34" charset="0"/>
              <a:buChar char="•"/>
            </a:pPr>
            <a:endParaRPr lang="fr-FR" sz="2000" dirty="0">
              <a:solidFill>
                <a:schemeClr val="tx2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285750" indent="-285750" algn="just">
              <a:buFont typeface="Arial" pitchFamily="34" charset="0"/>
              <a:buChar char="•"/>
            </a:pPr>
            <a:r>
              <a:rPr lang="fr-FR" sz="2000" dirty="0">
                <a:solidFill>
                  <a:schemeClr val="tx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La prise en charge d’une hypercalcémie sévère est une urgence vitale (risque cardiovasculaire), associant de façon parallèle la thérapeutique et le diagnostic étiologique.</a:t>
            </a:r>
          </a:p>
          <a:p>
            <a:pPr marL="285750" indent="-285750" algn="just">
              <a:buFont typeface="Arial" pitchFamily="34" charset="0"/>
              <a:buChar char="•"/>
            </a:pPr>
            <a:endParaRPr lang="fr-FR" sz="2000" dirty="0">
              <a:solidFill>
                <a:schemeClr val="tx2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285750" indent="-285750" algn="just">
              <a:buFont typeface="Arial" pitchFamily="34" charset="0"/>
              <a:buChar char="•"/>
            </a:pPr>
            <a:endParaRPr lang="fr-FR" sz="2000" dirty="0">
              <a:solidFill>
                <a:schemeClr val="tx2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285750" indent="-285750" algn="just">
              <a:buFont typeface="Arial" pitchFamily="34" charset="0"/>
              <a:buChar char="•"/>
            </a:pPr>
            <a:r>
              <a:rPr lang="fr-FR" sz="2000" dirty="0">
                <a:solidFill>
                  <a:schemeClr val="tx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 L’axe thérapeutique repose sur la réhydratation (préambule obligatoire) et les </a:t>
            </a:r>
            <a:r>
              <a:rPr lang="fr-FR" sz="2000" dirty="0" err="1">
                <a:solidFill>
                  <a:schemeClr val="tx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biphosphonates</a:t>
            </a:r>
            <a:r>
              <a:rPr lang="fr-FR" sz="2000" dirty="0">
                <a:solidFill>
                  <a:schemeClr val="tx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, parfois assisté de la calcitonine en cas d’urgence vitale immédiate.</a:t>
            </a:r>
          </a:p>
        </p:txBody>
      </p:sp>
    </p:spTree>
    <p:extLst>
      <p:ext uri="{BB962C8B-B14F-4D97-AF65-F5344CB8AC3E}">
        <p14:creationId xmlns:p14="http://schemas.microsoft.com/office/powerpoint/2010/main" val="360124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523" y="888641"/>
            <a:ext cx="9549486" cy="5750418"/>
          </a:xfrm>
          <a:prstGeom prst="rect">
            <a:avLst/>
          </a:prstGeom>
        </p:spPr>
      </p:pic>
      <p:sp>
        <p:nvSpPr>
          <p:cNvPr id="5" name="Titre 1"/>
          <p:cNvSpPr txBox="1">
            <a:spLocks/>
          </p:cNvSpPr>
          <p:nvPr/>
        </p:nvSpPr>
        <p:spPr>
          <a:xfrm>
            <a:off x="2275267" y="0"/>
            <a:ext cx="7564192" cy="110758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solidFill>
                  <a:schemeClr val="dk1"/>
                </a:solidFill>
                <a:effectLst/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sz="6000" dirty="0">
                <a:latin typeface="Arial Black" panose="020B0A04020102020204" pitchFamily="34" charset="0"/>
              </a:rPr>
              <a:t>Bon courage</a:t>
            </a:r>
          </a:p>
        </p:txBody>
      </p:sp>
    </p:spTree>
    <p:extLst>
      <p:ext uri="{BB962C8B-B14F-4D97-AF65-F5344CB8AC3E}">
        <p14:creationId xmlns:p14="http://schemas.microsoft.com/office/powerpoint/2010/main" val="772333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Grand événement">
  <a:themeElements>
    <a:clrScheme name="Mé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ain Event">
      <a:majorFont>
        <a:latin typeface="Impac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in Even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1EFBDE3-1A95-4E3D-81AD-1F53D65BEA01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Grand événement</Template>
  <TotalTime>2850</TotalTime>
  <Words>3951</Words>
  <Application>Microsoft Office PowerPoint</Application>
  <PresentationFormat>Grand écran</PresentationFormat>
  <Paragraphs>1018</Paragraphs>
  <Slides>144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144</vt:i4>
      </vt:variant>
    </vt:vector>
  </HeadingPairs>
  <TitlesOfParts>
    <vt:vector size="156" baseType="lpstr">
      <vt:lpstr>Arial</vt:lpstr>
      <vt:lpstr>Arial Black</vt:lpstr>
      <vt:lpstr>Arial Narrow</vt:lpstr>
      <vt:lpstr>Arial Rounded MT Bold</vt:lpstr>
      <vt:lpstr>Calibri</vt:lpstr>
      <vt:lpstr>Century Gothic</vt:lpstr>
      <vt:lpstr>Impact</vt:lpstr>
      <vt:lpstr>Symbol</vt:lpstr>
      <vt:lpstr>Times New Roman</vt:lpstr>
      <vt:lpstr>Wingdings</vt:lpstr>
      <vt:lpstr>Wingdings 3</vt:lpstr>
      <vt:lpstr>Grand événement</vt:lpstr>
      <vt:lpstr>Sujet : 37 les Hypercalcémies Physiopathologie, Orientation diagnostique, Traitement. </vt:lpstr>
      <vt:lpstr>    Objectifs EDUCATIONNELS </vt:lpstr>
      <vt:lpstr>Introduction</vt:lpstr>
      <vt:lpstr> objectif 1 mécanismes physiopathologiques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Calcium</vt:lpstr>
      <vt:lpstr>Rôles du calcium</vt:lpstr>
      <vt:lpstr>Fonctions du calcium</vt:lpstr>
      <vt:lpstr>Diagnostic = biologique</vt:lpstr>
      <vt:lpstr>Fausses hypercalcémies</vt:lpstr>
      <vt:lpstr>Présentation PowerPoint</vt:lpstr>
      <vt:lpstr>Les besoins journaliers en calcium</vt:lpstr>
      <vt:lpstr> Répartition du calcium extracellulaire soluble = plasmatique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3 hormones / 3 sites de régulation</vt:lpstr>
      <vt:lpstr>Présentation PowerPoint</vt:lpstr>
      <vt:lpstr> objectif 2 conséquences physiopathologiques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 objectif 3 diagnostic positif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Corrélation entre taux de calcémie et intensité des symptômes </vt:lpstr>
      <vt:lpstr> objectif 5 crise aiguë hypercalcémique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 objectif 4 diagnostic étiologique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CAUSES NEOPLASIQUES  1/ METASTASES OSSEUSES</vt:lpstr>
      <vt:lpstr>3/ HEMOPATHIES MALIGNES</vt:lpstr>
      <vt:lpstr>Présentation PowerPoint</vt:lpstr>
      <vt:lpstr>Présentation PowerPoint</vt:lpstr>
      <vt:lpstr>PTHrp et hypercalcémies malignes</vt:lpstr>
      <vt:lpstr>GRANULOMATOSES</vt:lpstr>
      <vt:lpstr>CAUSES MEDICAMENTEUSES</vt:lpstr>
      <vt:lpstr>L’IMMOBILISATION</vt:lpstr>
      <vt:lpstr>Causes endocriniennes</vt:lpstr>
      <vt:lpstr>Présentation PowerPoint</vt:lpstr>
      <vt:lpstr>Présentation PowerPoint</vt:lpstr>
      <vt:lpstr>Présentation PowerPoint</vt:lpstr>
      <vt:lpstr> objectif 6 prise en charge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But du traitement</vt:lpstr>
      <vt:lpstr>Mesures générales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Traitement étiologique </vt:lpstr>
      <vt:lpstr> Cas cliniques</vt:lpstr>
      <vt:lpstr>Cas Clinique 1 :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Cas Clinique 2 :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ECOS</dc:title>
  <dc:creator>Utilisateur Windows</dc:creator>
  <cp:lastModifiedBy>Pc</cp:lastModifiedBy>
  <cp:revision>426</cp:revision>
  <dcterms:created xsi:type="dcterms:W3CDTF">2021-06-21T22:58:07Z</dcterms:created>
  <dcterms:modified xsi:type="dcterms:W3CDTF">2025-07-17T13:18:17Z</dcterms:modified>
</cp:coreProperties>
</file>
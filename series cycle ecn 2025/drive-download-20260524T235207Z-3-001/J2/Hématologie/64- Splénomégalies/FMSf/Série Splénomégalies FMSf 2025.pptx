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10" roundtripDataSignature="AMtx7miug6s8B4H0kKjU/mHLsgXIFS4k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28CF8E-B980-4365-A78B-6EBC05797B22}">
  <a:tblStyle styleId="{DC28CF8E-B980-4365-A78B-6EBC05797B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10" Type="http://customschemas.google.com/relationships/presentationmetadata" Target="meta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fr-FR"/>
              <a:t>liée à l’augmentation de la fonction macrophagique réactionnel à une hyper hémolyse, un agent infectieux, une pathologie inflammatoire</a:t>
            </a:r>
            <a:endParaRPr/>
          </a:p>
          <a:p>
            <a:pPr indent="-228600" lvl="0" marL="228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fr-FR"/>
              <a:t> entraine une congestion splénique secondaire</a:t>
            </a:r>
            <a:endParaRPr/>
          </a:p>
          <a:p>
            <a:pPr indent="-228600" lvl="0" marL="228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fr-FR"/>
              <a:t>(ou reprise de la fonction hématopoïétique), primitive ou secondaire.</a:t>
            </a:r>
            <a:endParaRPr/>
          </a:p>
          <a:p>
            <a:pPr indent="-152400" lvl="0" marL="228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-152400" lvl="0" marL="228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6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6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6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7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7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7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8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08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8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8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0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9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9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1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0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1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11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1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1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2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3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3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3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13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3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3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4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4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4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4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4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5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5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6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6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6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6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5"/>
          <p:cNvSpPr txBox="1"/>
          <p:nvPr>
            <p:ph idx="1"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5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5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>
            <p:ph idx="1" type="subTitle"/>
          </p:nvPr>
        </p:nvSpPr>
        <p:spPr>
          <a:xfrm>
            <a:off x="1828800" y="3886200"/>
            <a:ext cx="8534400" cy="1703388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fr-FR">
                <a:solidFill>
                  <a:schemeClr val="dk1"/>
                </a:solidFill>
              </a:rPr>
              <a:t>Pr Ag Imen Frikha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fr-FR">
                <a:solidFill>
                  <a:schemeClr val="dk1"/>
                </a:solidFill>
              </a:rPr>
              <a:t>27 Août 2025 </a:t>
            </a:r>
            <a:endParaRPr/>
          </a:p>
        </p:txBody>
      </p:sp>
      <p:sp>
        <p:nvSpPr>
          <p:cNvPr id="90" name="Google Shape;90;p1"/>
          <p:cNvSpPr/>
          <p:nvPr>
            <p:ph type="ctrTitle"/>
          </p:nvPr>
        </p:nvSpPr>
        <p:spPr>
          <a:xfrm>
            <a:off x="914400" y="2130425"/>
            <a:ext cx="10363200" cy="1470025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Splénomégalie </a:t>
            </a:r>
            <a:br>
              <a:rPr b="1" lang="fr-FR"/>
            </a:br>
            <a:r>
              <a:rPr b="1" lang="fr-FR"/>
              <a:t>Physiopathologie, Diagnostic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0704513" y="271463"/>
            <a:ext cx="1223962" cy="744537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6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Q64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" y="271463"/>
            <a:ext cx="1366838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Objectifs 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192088" y="1412875"/>
            <a:ext cx="11880850" cy="51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538" lvl="0" marL="36353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fr-FR" sz="2800"/>
              <a:t>Etablir le diagnostic positif d’une splénomégalie à partir des données cliniques et radiologiques.</a:t>
            </a:r>
            <a:endParaRPr/>
          </a:p>
          <a:p>
            <a:pPr indent="-363538" lvl="0" marL="36353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fr-FR" sz="2800"/>
              <a:t>Expliquer les mécanismes physiopathologiques à l’origine d’une splénomégalie.</a:t>
            </a:r>
            <a:endParaRPr/>
          </a:p>
          <a:p>
            <a:pPr indent="-363538" lvl="0" marL="36353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fr-FR" sz="2800"/>
              <a:t>Décrire les circonstances de découverte d’une splénomégalie.</a:t>
            </a:r>
            <a:endParaRPr/>
          </a:p>
          <a:p>
            <a:pPr indent="-363538" lvl="0" marL="36353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fr-FR" sz="2800"/>
              <a:t>Différencier par l’examen clinique et l’imagerie médicale une splénomégalie d’une autre masse de l’hypochondre gauche.</a:t>
            </a:r>
            <a:endParaRPr/>
          </a:p>
          <a:p>
            <a:pPr indent="-363538" lvl="0" marL="36353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fr-FR" sz="2800"/>
              <a:t>Réunir les arguments anamnestiques et cliniques permettant l’orientation du diagnostic étiologique en fonction de l'âge.</a:t>
            </a:r>
            <a:endParaRPr/>
          </a:p>
          <a:p>
            <a:pPr indent="-363538" lvl="0" marL="36353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fr-FR" sz="2800"/>
              <a:t>Planifier les examens complémentaires a réaliser chez un patient présentant une splénomégalie, en fonction de l’orientation étiologique.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609600" y="115888"/>
            <a:ext cx="109728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/>
              <a:t>A retenir</a:t>
            </a:r>
            <a:endParaRPr/>
          </a:p>
        </p:txBody>
      </p:sp>
      <p:sp>
        <p:nvSpPr>
          <p:cNvPr id="105" name="Google Shape;105;p4"/>
          <p:cNvSpPr/>
          <p:nvPr>
            <p:ph idx="1" type="body"/>
          </p:nvPr>
        </p:nvSpPr>
        <p:spPr>
          <a:xfrm>
            <a:off x="192088" y="836613"/>
            <a:ext cx="5111750" cy="863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6213" lvl="0" marL="1762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/>
              <a:t>Diagnostic d’une SMG est </a:t>
            </a:r>
            <a:r>
              <a:rPr b="1" lang="fr-FR" sz="2400">
                <a:solidFill>
                  <a:srgbClr val="FF0000"/>
                </a:solidFill>
              </a:rPr>
              <a:t>clinique</a:t>
            </a:r>
            <a:r>
              <a:rPr lang="fr-FR" sz="2400"/>
              <a:t> et repose sur la </a:t>
            </a:r>
            <a:r>
              <a:rPr b="1" lang="fr-FR" sz="2400">
                <a:solidFill>
                  <a:srgbClr val="FF0000"/>
                </a:solidFill>
              </a:rPr>
              <a:t>palpation</a:t>
            </a:r>
            <a:r>
              <a:rPr lang="fr-FR" sz="2400"/>
              <a:t>.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77800" y="1916113"/>
            <a:ext cx="5111750" cy="482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en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décubitus dorsal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à plat, genoux fléchis. </a:t>
            </a:r>
            <a:endParaRPr/>
          </a:p>
          <a:p>
            <a:pPr indent="-176213" lvl="0" marL="176213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Examinateur placé du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côté droit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 patient, et palper l’abdomen avec la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main droite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bien à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plat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remontant de la fosse iliaque jusque sous l’HCG. </a:t>
            </a:r>
            <a:endParaRPr/>
          </a:p>
          <a:p>
            <a:pPr indent="-176213" lvl="0" marL="176213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Masse de l’HCG,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superficielle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avec la respiration, à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bord antérieur crénelé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 donnant pas le contact lombaire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448300" y="836613"/>
            <a:ext cx="6659563" cy="1368425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débord splénique est mesuré en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à partir du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rebord costal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 la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ligne mamelonnaire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jusqu’au point le plus extrême de la rate.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472113" y="2276475"/>
            <a:ext cx="6659562" cy="1439863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en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décubitus latéral droit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cuisse gauche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Fléchie à 45°. Doigts de l’examinateur étant placés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 crochet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sous le rebord costal.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448300" y="3789363"/>
            <a:ext cx="6659563" cy="143986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Imagerie: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 indispensable</a:t>
            </a:r>
            <a:endParaRPr/>
          </a:p>
          <a:p>
            <a:pPr indent="-176213" lvl="0" marL="176213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Utilité: en cas de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doute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dans les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 difficiles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(ascite, obésité, paroi abdominale tonique).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448300" y="5300663"/>
            <a:ext cx="6659563" cy="144145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Echographie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abdominale: confirme la nature splénique de la masse palpée (taille, homogénéité et autres Alies (ADP, HMG, HTP).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609600" y="115888"/>
            <a:ext cx="109728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/>
              <a:t>A retenir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371475" y="1125538"/>
            <a:ext cx="11412538" cy="2879725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Mécanismes physiopathologiques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hyperplasie splénique 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augmentation de la pression dans le système porte ou la veine splénique 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métaplasie myéloïde de la rate 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prolifération cellulaire maligne (lymphoïde+++)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surcharge lors de certaines maladies métaboliques.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71475" y="4149725"/>
            <a:ext cx="11412538" cy="2519363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Conséquences de la splénomégalie</a:t>
            </a:r>
            <a:endParaRPr/>
          </a:p>
          <a:p>
            <a:pPr indent="-176213" lvl="0" marL="176213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Hypersplénisme avec cytopénies modérées par séquestration splénique.</a:t>
            </a:r>
            <a:endParaRPr/>
          </a:p>
          <a:p>
            <a:pPr indent="-176213" lvl="0" marL="176213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Hémodilution : par augmentation du volume plasmatique.</a:t>
            </a:r>
            <a:endParaRPr/>
          </a:p>
          <a:p>
            <a:pPr indent="-176213" lvl="0" marL="176213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Hypertension portale</a:t>
            </a:r>
            <a:endParaRPr/>
          </a:p>
          <a:p>
            <a:pPr indent="-176213" lvl="0" marL="176213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Diminution des taux de facteur V et de cholestérol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609600" y="115888"/>
            <a:ext cx="109728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/>
              <a:t>A retenir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92088" y="1052513"/>
            <a:ext cx="11807825" cy="5545137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Circonstances de découverte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splénomégalie est le plus souvent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indolore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1" lang="fr-FR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Examen clinique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« 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fortuite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» tableau clinique évocateur conduisant à la recherche d’une grosse rate (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fièvre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HMG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ADPs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périphériques, 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HTP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ictère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cutanéomuqueux)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1" lang="fr-FR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Troubles fonctionnels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pesanteur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douleur de l’HCG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signes digestifs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(sensation de 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plénitude gastrique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troubles dyspeptiques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douleurs abdominales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1" lang="fr-FR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 de l’hémogramme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thrombopénie, leucopénie, leuco neutropénie, anémie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voire une pancytopénie, présence de cellules anormales dans le sang;</a:t>
            </a:r>
            <a:endParaRPr/>
          </a:p>
          <a:p>
            <a:pPr indent="-176213" lvl="0" marL="176213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rarement, par </a:t>
            </a:r>
            <a:r>
              <a:rPr b="0" i="1" lang="fr-FR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complications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infarctus splénique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(des douleurs du flanc et/ou bas thoraciques gauches : fièvre souvent présente ; l’échographie ou le scanner confirme le diagnostic). La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rupture de la rate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(tableau de choc hémorragique, souvent précédé par des douleurs qui doivent faire rechercher un hématome sous-scapulaire splénique par l’échographie ou le scanner).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609600" y="115888"/>
            <a:ext cx="109728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/>
              <a:t>A retenir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92088" y="1052513"/>
            <a:ext cx="11807825" cy="4968875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Diagnostic différentiel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Gros rein gauche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mais la masse est plus postérieure, avec contact lombaire,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immobile a l’inspiration profonde ;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tumeur de l’angle colique gauche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parfois antérieure mais immobile, avec un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pole inférieur mal limite et un bord antérieur non crénelé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kyste</a:t>
            </a: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une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tumeur de la queue du pancréas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hypertrophie du lobe gauche hépatique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En cas de doute diagnostique clinique, l’imagerie (scanner abdomino-pelvien) permet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d’authentifier le diagnostic.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8"/>
          <p:cNvGraphicFramePr/>
          <p:nvPr/>
        </p:nvGraphicFramePr>
        <p:xfrm>
          <a:off x="766763" y="1484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{DC28CF8E-B980-4365-A78B-6EBC05797B22}</a:tableStyleId>
              </a:tblPr>
              <a:tblGrid>
                <a:gridCol w="2976550"/>
                <a:gridCol w="2976550"/>
                <a:gridCol w="2976550"/>
              </a:tblGrid>
              <a:tr h="798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u="none" cap="none" strike="noStrike"/>
                        <a:t>Enfant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u="none" cap="none" strike="noStrike"/>
                        <a:t>Adulte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98800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2000" u="none" cap="none" strike="noStrike"/>
                        <a:t>Étiologies des SMG</a:t>
                      </a:r>
                      <a:endParaRPr b="1"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 infections virales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 syndromes lympho-prolifératifs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798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 anémies hémolytiques constitutionnelles 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 syndromes myélo-prolifératifs 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798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 maladies de surcharge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 anémies hémolytiques acquises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798800">
                <a:tc v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 leucémies aigues 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 maladies inflammatoires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90337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Hypertension portale 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  <p:sp>
        <p:nvSpPr>
          <p:cNvPr id="138" name="Google Shape;138;p8"/>
          <p:cNvSpPr txBox="1"/>
          <p:nvPr/>
        </p:nvSpPr>
        <p:spPr>
          <a:xfrm>
            <a:off x="766763" y="1022350"/>
            <a:ext cx="28289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Etiologies selon l’âge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609600" y="274638"/>
            <a:ext cx="10972800" cy="74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fr-F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retenir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est recherchée à l’examen clinique chez un patient en: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Décubitus ventral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Position assise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Décubitus latéral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Décubitus dorsal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Décubitus latéral droit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151" name="Google Shape;151;p10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est recherchée à l’examen clinique chez un patient en: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Décubitus ventral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Position assise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Décubitus latéral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Décubitus dorsal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Décubitus latéral droit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157" name="Google Shape;157;p11"/>
          <p:cNvSpPr txBox="1"/>
          <p:nvPr>
            <p:ph idx="1" type="body"/>
          </p:nvPr>
        </p:nvSpPr>
        <p:spPr>
          <a:xfrm>
            <a:off x="192088" y="1639888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est recherchée à l’examen clinique au niveau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 flanc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 flanc droit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l’hypochondre droit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l’hypochondre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l’ombilic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163" name="Google Shape;163;p12"/>
          <p:cNvSpPr txBox="1"/>
          <p:nvPr>
            <p:ph idx="1" type="body"/>
          </p:nvPr>
        </p:nvSpPr>
        <p:spPr>
          <a:xfrm>
            <a:off x="192088" y="1639888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est recherchée à l’examen clinique au niveau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 flanc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 flanc droit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l’hypochondre droit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De l’hypochondre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l’ombilic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192088" y="1628775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est une masse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Localisée au niveau de l’hypochondre gauche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siège postérieur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Mobile à l’inspiration profonde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 bord antérieur non crénelé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Donnant le contact lombaire 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9" name="Google Shape;169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idx="1" type="body"/>
          </p:nvPr>
        </p:nvSpPr>
        <p:spPr>
          <a:xfrm>
            <a:off x="192088" y="1628775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est une masse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Localisée au niveau de l’hypochondre gauche</a:t>
            </a:r>
            <a:r>
              <a:rPr lang="fr-FR" sz="2400"/>
              <a:t>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siège postérieur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Mobile à l’inspiration profonde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 bord antérieur non crénelé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Donnant le contact lombaire 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75" name="Google Shape;175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mensuration d’une splénomégalie est appréciée: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centimètre du rebord costal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travée de doigts du rebord costal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centimètre de l’ombilic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 partir de la dernière côte non flottante et sur la ligne médio-claviculaire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combinant une percussion thoracique à une palpation abdominale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187" name="Google Shape;187;p16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mensuration d’une splénomégalie est appréciée: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En centimètre du rebord costal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travée de doigts du rebord costal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centimètre de l’ombilic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 partir de la dernière côte non flottante et sur la ligne médio-claviculaire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combinant une percussion thoracique à une palpation abdominale</a:t>
            </a:r>
            <a:endParaRPr/>
          </a:p>
        </p:txBody>
      </p:sp>
      <p:pic>
        <p:nvPicPr>
          <p:cNvPr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5084763"/>
            <a:ext cx="8686800" cy="762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89" name="Google Shape;189;p16"/>
          <p:cNvSpPr/>
          <p:nvPr/>
        </p:nvSpPr>
        <p:spPr>
          <a:xfrm>
            <a:off x="5375275" y="5049838"/>
            <a:ext cx="4752975" cy="395287"/>
          </a:xfrm>
          <a:prstGeom prst="rect">
            <a:avLst/>
          </a:prstGeom>
          <a:solidFill>
            <a:srgbClr val="FFC000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1752600" y="5451475"/>
            <a:ext cx="5999163" cy="360363"/>
          </a:xfrm>
          <a:prstGeom prst="rect">
            <a:avLst/>
          </a:prstGeom>
          <a:solidFill>
            <a:srgbClr val="FFC000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196" name="Google Shape;196;p17"/>
          <p:cNvSpPr txBox="1"/>
          <p:nvPr>
            <p:ph idx="1" type="body"/>
          </p:nvPr>
        </p:nvSpPr>
        <p:spPr>
          <a:xfrm>
            <a:off x="192088" y="1639888"/>
            <a:ext cx="102965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est vérifiée radiologiquement par: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Radiographie thoracique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Echographie abdominale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Abdomen sans préparation (ASP)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arbre urinaire sans préparation (AUSP)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bili-IRM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02" name="Google Shape;202;p18"/>
          <p:cNvSpPr txBox="1"/>
          <p:nvPr>
            <p:ph idx="1" type="body"/>
          </p:nvPr>
        </p:nvSpPr>
        <p:spPr>
          <a:xfrm>
            <a:off x="192088" y="1639888"/>
            <a:ext cx="102965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est vérifiée radiologiquement par: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Radiographie thoracique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Echographie abdominale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Abdomen sans préparation (ASP)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arbre urinaire sans préparation (AUSP)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bili-IRM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08" name="Google Shape;208;p19"/>
          <p:cNvSpPr txBox="1"/>
          <p:nvPr>
            <p:ph idx="1" type="body"/>
          </p:nvPr>
        </p:nvSpPr>
        <p:spPr>
          <a:xfrm>
            <a:off x="192088" y="1639888"/>
            <a:ext cx="102965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diagnostic d’une splénomégalie repose sur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Anamnèse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Examen physique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Échographie abdominale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Arguments biologiques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192088" y="1639888"/>
            <a:ext cx="102965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diagnostic d’une splénomégalie repose sur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Anamnèse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Examen physique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Échographie abdominale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Arguments biologiques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A propos de la splénomégalie 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L’examen radiologique est indispensable pour le diagnostic de SMG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L’échographie abdominale permet de confirmer le diagnostic de SMG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L’échographie abdominale permet de renseigner sur l’aspect de la SMG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L’échographie abdominale permet parfois d’orienter le diagnostic étiologique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SMG est retenue par une flèche splénique supérieure à 13 cm à l’échographie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20" name="Google Shape;220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A propos de la splénomégalie 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L’examen radiologique est indispensable pour le diagnostic de SMG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L’échographie abdominale permet de confirmer le diagnostic de SMG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L’échographie abdominale permet de renseigner sur l’aspect de la SMG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L’échographie abdominale permet parfois d’orienter le diagnostic étiologique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SMG est retenue par une flèche splénique supérieure à 13 cm à l’échographie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26" name="Google Shape;226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pic>
        <p:nvPicPr>
          <p:cNvPr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2138" y="4797425"/>
            <a:ext cx="8467725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1892300" y="4814888"/>
            <a:ext cx="2519363" cy="368300"/>
          </a:xfrm>
          <a:prstGeom prst="rect">
            <a:avLst/>
          </a:prstGeom>
          <a:solidFill>
            <a:srgbClr val="FFC000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22"/>
          <p:cNvCxnSpPr/>
          <p:nvPr/>
        </p:nvCxnSpPr>
        <p:spPr>
          <a:xfrm>
            <a:off x="4511675" y="5157788"/>
            <a:ext cx="4105275" cy="0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22"/>
          <p:cNvCxnSpPr/>
          <p:nvPr/>
        </p:nvCxnSpPr>
        <p:spPr>
          <a:xfrm>
            <a:off x="3167063" y="5516563"/>
            <a:ext cx="2663825" cy="0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22"/>
          <p:cNvCxnSpPr/>
          <p:nvPr/>
        </p:nvCxnSpPr>
        <p:spPr>
          <a:xfrm>
            <a:off x="1992313" y="5876925"/>
            <a:ext cx="7920037" cy="0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22"/>
          <p:cNvCxnSpPr/>
          <p:nvPr/>
        </p:nvCxnSpPr>
        <p:spPr>
          <a:xfrm>
            <a:off x="6262688" y="6381750"/>
            <a:ext cx="3001962" cy="0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L’imagerie au cours d’une splénomégalie est indiquée si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Abcès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Candidose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Gaucher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Signes d’hypertension portale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Lupus érythémateux systémique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38" name="Google Shape;238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L’imagerie au cours d’une splénomégalie est indiquée si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Abcès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Candidose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Gaucher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Signes d’hypertension portale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Lupus érythémateux systémique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44" name="Google Shape;244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92088" y="1711325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mécanisme physiopathologique d’une splénomégalie pourrait  être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hyperplasie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congestion par hypertension portale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augmentation de la séquestration des globules rouges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infiltration tumorale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surcharge en fer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56" name="Google Shape;256;p26"/>
          <p:cNvSpPr txBox="1"/>
          <p:nvPr>
            <p:ph idx="1" type="body"/>
          </p:nvPr>
        </p:nvSpPr>
        <p:spPr>
          <a:xfrm>
            <a:off x="192088" y="1711325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mécanisme physiopathologique d’une splénomégalie pourrait  être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hyperplasie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congestion par hypertension portale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augmentation de la séquestration des globules rouges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infiltration tumorale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surcharge en fer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62" name="Google Shape;262;p27"/>
          <p:cNvSpPr txBox="1"/>
          <p:nvPr>
            <p:ph idx="1" type="body"/>
          </p:nvPr>
        </p:nvSpPr>
        <p:spPr>
          <a:xfrm>
            <a:off x="192088" y="1711325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mécanisme physiopathologique d’une splénomégalie pourrait  être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hyperplasie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congestion par hypertension artérielle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augmentation de la séquestration des globules rouges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infiltration tumorale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dépôt de substances amyloïdes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192088" y="1711325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mécanisme physiopathologique d’une splénomégalie pourrait  être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hyperplasie splénique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congestion par hypertension artérielle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augmentation de la séquestration des globules rouges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infiltration tumorale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dépôt de substances amyloïdes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idx="1" type="body"/>
          </p:nvPr>
        </p:nvSpPr>
        <p:spPr>
          <a:xfrm>
            <a:off x="163513" y="1600200"/>
            <a:ext cx="11693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 peut être découverte par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douleurs de l’hypocondre gauche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pesanteur de l’hypochondre gauche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épigastralgies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sensation de plénitude gastrique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Peut être asymptomatique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74" name="Google Shape;274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idx="1" type="body"/>
          </p:nvPr>
        </p:nvSpPr>
        <p:spPr>
          <a:xfrm>
            <a:off x="163513" y="1600200"/>
            <a:ext cx="11693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 peut être découverte par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Des douleurs de l’hypocondre gauche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pesanteur de l’hypochondre gauche</a:t>
            </a:r>
            <a:r>
              <a:rPr lang="fr-FR" sz="2400"/>
              <a:t>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épigastralgies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sensation de plénitude gastrique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Peut être asymptomatique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80" name="Google Shape;280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 txBox="1"/>
          <p:nvPr>
            <p:ph idx="1" type="body"/>
          </p:nvPr>
        </p:nvSpPr>
        <p:spPr>
          <a:xfrm>
            <a:off x="163513" y="1600200"/>
            <a:ext cx="11693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circonstance de découverte d’une splénomégalie pourrait être 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douleur de l’hypochondre droit irradiant en bretelle à l’épaule droit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anémie isolée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pancytopénie souvent modérée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Fortuite par l’examen physique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pesanteur de l’hypochondre gauche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idx="1" type="body"/>
          </p:nvPr>
        </p:nvSpPr>
        <p:spPr>
          <a:xfrm>
            <a:off x="163513" y="1600200"/>
            <a:ext cx="11693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circonstance de découverte d’une splénomégalie pourrait être 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douleur de l’hypochondre droit irradiant en bretelle à l’épaule droit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anémie isolée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pancytopénie souvent modérée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Fortuite par l’examen physique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pesanteur de l’hypochondre gauche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92" name="Google Shape;292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98" name="Google Shape;298;p33"/>
          <p:cNvSpPr txBox="1"/>
          <p:nvPr>
            <p:ph idx="1" type="body"/>
          </p:nvPr>
        </p:nvSpPr>
        <p:spPr>
          <a:xfrm>
            <a:off x="192088" y="1600200"/>
            <a:ext cx="115204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pourrait être confondue à l’examen clinique à: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gastrique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hypertrophie du foie droit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de la queue du pancréas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du pôle supérieur du rein droit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de l’angle colique droit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04" name="Google Shape;304;p34"/>
          <p:cNvSpPr txBox="1"/>
          <p:nvPr>
            <p:ph idx="1" type="body"/>
          </p:nvPr>
        </p:nvSpPr>
        <p:spPr>
          <a:xfrm>
            <a:off x="192088" y="1600200"/>
            <a:ext cx="115204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pourrait être confondue à l’examen clinique à: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gastrique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hypertrophie du foie droit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tumeur de la queue du pancréas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du pôle supérieur du rein droit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de l’angle colique droit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10" name="Google Shape;310;p35"/>
          <p:cNvSpPr txBox="1"/>
          <p:nvPr>
            <p:ph idx="1" type="body"/>
          </p:nvPr>
        </p:nvSpPr>
        <p:spPr>
          <a:xfrm>
            <a:off x="192088" y="1600200"/>
            <a:ext cx="115919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pourrait être confondue à l’examen clinique à: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gastrique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hypertrophie du foie gauche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de la queue du pancréas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du pôle supérieur du rein droit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de l’angle colique droit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16" name="Google Shape;316;p36"/>
          <p:cNvSpPr txBox="1"/>
          <p:nvPr>
            <p:ph idx="1" type="body"/>
          </p:nvPr>
        </p:nvSpPr>
        <p:spPr>
          <a:xfrm>
            <a:off x="192088" y="1600200"/>
            <a:ext cx="115919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pourrait être confondue à l’examen clinique à: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gastrique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hypertrophie du foie gauche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tumeur de la queue du pancréas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du pôle supérieur du rein droit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de l’angle colique droit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22" name="Google Shape;322;p37"/>
          <p:cNvSpPr txBox="1"/>
          <p:nvPr>
            <p:ph idx="1" type="body"/>
          </p:nvPr>
        </p:nvSpPr>
        <p:spPr>
          <a:xfrm>
            <a:off x="192088" y="1600200"/>
            <a:ext cx="115919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Les conséquences de la SMG pourraient être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cytopénies sévères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cytopénies prédominantes sur les plaquettes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cytopénies avec moelle pauvre 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Hypertension portale d’apport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Hémodilution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28" name="Google Shape;328;p38"/>
          <p:cNvSpPr txBox="1"/>
          <p:nvPr>
            <p:ph idx="1" type="body"/>
          </p:nvPr>
        </p:nvSpPr>
        <p:spPr>
          <a:xfrm>
            <a:off x="192088" y="1600200"/>
            <a:ext cx="115919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Les conséquences de la SMG pourraient être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cytopénies sévères</a:t>
            </a:r>
            <a:endParaRPr/>
          </a:p>
          <a:p>
            <a:pPr indent="-442912" lvl="0" marL="44291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Des cytopénies prédominantes sur les plaquettes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cytopénies avec moelle pauvre 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Hypertension portale d’apport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Hémodilution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34" name="Google Shape;334;p39"/>
          <p:cNvSpPr txBox="1"/>
          <p:nvPr>
            <p:ph idx="1" type="body"/>
          </p:nvPr>
        </p:nvSpPr>
        <p:spPr>
          <a:xfrm>
            <a:off x="192088" y="1600200"/>
            <a:ext cx="115919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L’association d’une SMG et circulation veineuse collatérale fait évoquer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hépatite aigue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leucémie aigue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cirrhose 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lymphome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syndrome de Budd Chiari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40" name="Google Shape;340;p40"/>
          <p:cNvSpPr txBox="1"/>
          <p:nvPr>
            <p:ph idx="1" type="body"/>
          </p:nvPr>
        </p:nvSpPr>
        <p:spPr>
          <a:xfrm>
            <a:off x="192088" y="1600200"/>
            <a:ext cx="115919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L’association d’une SMG et circulation veineuse collatérale fait évoquer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hépatite aigue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leucémie aigue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cirrhose 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lymphome</a:t>
            </a:r>
            <a:endParaRPr/>
          </a:p>
          <a:p>
            <a:pPr indent="-442913" lvl="0" marL="442913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syndrome de Budd Chiari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46" name="Google Shape;346;p41"/>
          <p:cNvSpPr txBox="1"/>
          <p:nvPr>
            <p:ph idx="1" type="body"/>
          </p:nvPr>
        </p:nvSpPr>
        <p:spPr>
          <a:xfrm>
            <a:off x="192088" y="1600200"/>
            <a:ext cx="117363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peut se voir dans la (les) infections bactérienne(s) suivante (s):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Paludisme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fièvre Typhoïde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Brucellose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Tuberculose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Mononucléose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52" name="Google Shape;352;p42"/>
          <p:cNvSpPr txBox="1"/>
          <p:nvPr>
            <p:ph idx="1" type="body"/>
          </p:nvPr>
        </p:nvSpPr>
        <p:spPr>
          <a:xfrm>
            <a:off x="192088" y="1600200"/>
            <a:ext cx="117363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peut se voir dans la (les) infections bactérienne(s) suivante (s):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Paludisme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fièvre Typhoïde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Brucellose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Tuberculose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Mononucléose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58" name="Google Shape;358;p43"/>
          <p:cNvSpPr txBox="1"/>
          <p:nvPr>
            <p:ph idx="1" type="body"/>
          </p:nvPr>
        </p:nvSpPr>
        <p:spPr>
          <a:xfrm>
            <a:off x="192088" y="1600200"/>
            <a:ext cx="108727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peut se voir dans la (les) infections virale(s) suivante (s):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Kala-azar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Rickettsiose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toxoplasmose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Rubéole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Mononucléose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64" name="Google Shape;364;p44"/>
          <p:cNvSpPr txBox="1"/>
          <p:nvPr>
            <p:ph idx="1" type="body"/>
          </p:nvPr>
        </p:nvSpPr>
        <p:spPr>
          <a:xfrm>
            <a:off x="192088" y="1600200"/>
            <a:ext cx="108727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peut se voir dans la (les) infections virale(s) suivante (s):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Kala-azar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Rickettsiose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toxoplasmose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Rubéole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Mononucléose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70" name="Google Shape;370;p45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peut se voir dans la (les) infections parasitaire(s) suivante (s):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Leishmaniose viscérale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Paludisme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toxoplasmose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septicémie à Pyogène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primo-infection par le VIH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76" name="Google Shape;376;p46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peut se voir dans la (les) infections parasitaire(s) suivante (s):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Leishmaniose viscérale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Paludisme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toxoplasmose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septicémie à Pyogène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primo-infection par le VIH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82" name="Google Shape;382;p47"/>
          <p:cNvSpPr txBox="1"/>
          <p:nvPr>
            <p:ph idx="1" type="body"/>
          </p:nvPr>
        </p:nvSpPr>
        <p:spPr>
          <a:xfrm>
            <a:off x="192088" y="1600200"/>
            <a:ext cx="116649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peut se voir dans la (les) infections parasitaire(s) suivante (s):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Leishmaniose cutanée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Paludisme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toxoplasmose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septicémie à Pyogène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primo-infection par le VIH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88" name="Google Shape;388;p48"/>
          <p:cNvSpPr txBox="1"/>
          <p:nvPr>
            <p:ph idx="1" type="body"/>
          </p:nvPr>
        </p:nvSpPr>
        <p:spPr>
          <a:xfrm>
            <a:off x="192088" y="1600200"/>
            <a:ext cx="116649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peut se voir dans la (les) infections parasitaire(s) suivante (s):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Leishmaniose cutanée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Paludisme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toxoplasmose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septicémie à Pyogène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primo-infection par le VIH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394" name="Google Shape;394;p49"/>
          <p:cNvSpPr txBox="1"/>
          <p:nvPr>
            <p:ph idx="1" type="body"/>
          </p:nvPr>
        </p:nvSpPr>
        <p:spPr>
          <a:xfrm>
            <a:off x="192088" y="1600200"/>
            <a:ext cx="115204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fièvre Typhoïde associe: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leucopénie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diarrhée glairo-sanglante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sérologie de Wright positive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fièvre en plateau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00" name="Google Shape;400;p50"/>
          <p:cNvSpPr txBox="1"/>
          <p:nvPr>
            <p:ph idx="1" type="body"/>
          </p:nvPr>
        </p:nvSpPr>
        <p:spPr>
          <a:xfrm>
            <a:off x="192088" y="1600200"/>
            <a:ext cx="115204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fièvre Typhoïde associe: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leucopénie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diarrhée glairo-sanglante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sérologie de Wright positive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fièvre en plateau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06" name="Google Shape;406;p51"/>
          <p:cNvSpPr txBox="1"/>
          <p:nvPr>
            <p:ph idx="1" type="body"/>
          </p:nvPr>
        </p:nvSpPr>
        <p:spPr>
          <a:xfrm>
            <a:off x="192088" y="1600200"/>
            <a:ext cx="115919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Brucellose associe: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leucopénie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diarrhée glairo-sanglante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sérologie de Widal positive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fièvre suduro-algique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12" name="Google Shape;412;p52"/>
          <p:cNvSpPr txBox="1"/>
          <p:nvPr>
            <p:ph idx="1" type="body"/>
          </p:nvPr>
        </p:nvSpPr>
        <p:spPr>
          <a:xfrm>
            <a:off x="192088" y="1600200"/>
            <a:ext cx="115919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Brucellose associe: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leucopénie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diarrhée glairo-sanglante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sérologie de Widal positive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fièvre suduro-algique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18" name="Google Shape;418;p53"/>
          <p:cNvSpPr txBox="1"/>
          <p:nvPr>
            <p:ph idx="1" type="body"/>
          </p:nvPr>
        </p:nvSpPr>
        <p:spPr>
          <a:xfrm>
            <a:off x="192088" y="1600200"/>
            <a:ext cx="115204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carence en fer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carence en vitamine B12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 ’aplasie médullaire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hyperhémolyse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saignement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24" name="Google Shape;424;p54"/>
          <p:cNvSpPr txBox="1"/>
          <p:nvPr>
            <p:ph idx="1" type="body"/>
          </p:nvPr>
        </p:nvSpPr>
        <p:spPr>
          <a:xfrm>
            <a:off x="192088" y="1600200"/>
            <a:ext cx="1152048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carence en fer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carence en vitamine B12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 ’aplasie médullaire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L’anémie par hyperhémolyse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saignement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30" name="Google Shape;430;p55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ferriprive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de Biermer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L’aplasie médullaire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microsphérocytose de Minkowski Schauffard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rupture de varice œsophagien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36" name="Google Shape;436;p56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ferriprive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AutoNum type="alphaUcPeriod"/>
            </a:pPr>
            <a:r>
              <a:rPr lang="fr-FR" sz="2400"/>
              <a:t>L’anémie de Bierm</a:t>
            </a:r>
            <a:r>
              <a:rPr lang="fr-FR" sz="2400"/>
              <a:t>er (fausse)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L’aplasie médullaire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microsphérocytose de Minkowski Schauffard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par rupture de varice œsophagien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42" name="Google Shape;442;p57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syndromes drépanocytaires majeurs de l’adulte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drépanocytose double hétérozygote S/C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ferriprive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Microsphérocytose de Minkowski Schauffard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Déficit en glucose 6 phosphate déshydrogénase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syndromes drépanocytaires majeurs de l’adulte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drépanocytose double hétérozygote S/C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L’anémie ferriprive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Microsphérocytose de Minkowski Schauffard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Déficit en glucose 6 phosphate déshydrogénase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54" name="Google Shape;454;p59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anémie hémolytique associe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pâleur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ictère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urines foncées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syndrome neuro-anémique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60" name="Google Shape;460;p60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anémie hémolytique associe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pâleur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ictère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Des urines foncées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syndrome neuro-anémique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66" name="Google Shape;466;p61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anémie hémolytique associe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anémie normocytaire régénérative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anémie macrocytaire régénérative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augmentation des bilirubines conjuguées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baisse de l’haptoglobine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augmentation des LDH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72" name="Google Shape;472;p62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anémie hémolytique associe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anémie normocytaire régénérative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anémie macrocytaire régénérative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augmentation des bilirubines conjuguées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baisse de l’haptoglobine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augmentation des LDH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diagnostic de la Sphérocytose héréditaire se fait par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recherche de Sphérocytes au frottis sanguin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l’électrophorèse de l’Hémoglobine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l’électrophorèse des protéines sériques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la résistance globulaire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dosage enzymatique de la G6PD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84" name="Google Shape;484;p64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diagnostic de la Sphérocytose héréditaire se fait par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recherche de Sphérocytes au frottis sanguin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l’électrophorèse de l’Hémoglobine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l’électrophorèse des protéines sériques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L’étude de la résistance globulaire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dosage enzymatique de la G6PD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90" name="Google Shape;490;p65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diagnostic de l’anémie hémolytique auto-immune se fait par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du test de Coombs directe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des anticorps anti-nucléaires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du Facteur Rhumatoïde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myélogramme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l’immunofixation des protéines sériques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496" name="Google Shape;496;p66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diagnostic de l’anémie hémolytique auto-immune se fait par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L’étude du test de Coombs directe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des anticorps anti-nucléaires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du Facteur Rhumatoïde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myélogramme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L’étude de l’immunofixation des protéines sériques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02" name="Google Shape;502;p67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de Hodgkin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lymphoïde chronique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L’aplasie médullaire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de Waldenstrom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Déficit en G6PD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08" name="Google Shape;508;p68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maladie de Hodgkin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leucémie lymphoïde chronique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L’aplasie médullaire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maladie de Waldenstrom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Déficit en G6PD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14" name="Google Shape;514;p69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aigue lymphoblastique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lymphoïde chronique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à Tricholeucocytes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myélome multiple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lymphome splénique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20" name="Google Shape;520;p70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leucémie aigue lymphoblastique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leucémie lymphoïde chronique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leucémie à Tricholeucocytes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myélome multiple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lymphome splénique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26" name="Google Shape;526;p71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myéloïde chronique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myélofibrose primitive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myélome multiple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polyglobulie primitive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myélomonocytaire chronique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32" name="Google Shape;532;p72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leucémie myéloïde chronique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myélofibrose primitive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myélome multiple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polyglobulie primitive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Leucémie myélomonocytaire chronique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38" name="Google Shape;538;p73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fébrile avec leuconeutropénie fait évoquer 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brucellose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fièvre typhoïde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 une candidose viscérale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mononucléose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rickettsiose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44" name="Google Shape;544;p74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fébrile avec leuconeutropénie fait évoquer 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brucellose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fièvre typhoïde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 une candidose viscérale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mononucléose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rickettsiose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50" name="Google Shape;550;p75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L’association d’une pancytopénie et d’une splénomégalie peur évoquer 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aplasie médullaire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anémie réfractaire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leucémie aigue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leucémie lymphoïde chronique stade A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myélome multiple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56" name="Google Shape;556;p76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L’association d’une pancytopénie et d’une splénomégalie peur évoquer 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aplasie médullaire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anémie réfractaire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leucémie aigue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leucémie lymphoïde chronique stade A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myélome multiple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62" name="Google Shape;562;p77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tableau clinique d’une LMC en phase chronique associe: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hyperleucocytose avec myélémie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translocation t(9,22)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réarrangement moléculaire  bcr-abl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taux de blaste &gt; 20% au myélogramme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68" name="Google Shape;568;p78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tableau clinique d’une LMC en phase chronique associe: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hyperleucocytose avec myélémie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translocation t(9,22)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réarrangement moléculaire  bcr-abl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taux de blaste &gt; 20% au myélogramme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74" name="Google Shape;574;p79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de Still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périodique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Lupus systémique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sarcoïdose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Syndrome de Felty</a:t>
            </a:r>
            <a:endParaRPr sz="24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80" name="Google Shape;580;p80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maladie de Still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maladie périodique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Lupus systémique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sarcoïdose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Syndrome de Felty</a:t>
            </a:r>
            <a:endParaRPr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86" name="Google Shape;586;p81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syndrome de Felty associe: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polyarthrite Rhumatoïde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neutropénie profonde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adénopathies médiastinales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érythème du visage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92" name="Google Shape;592;p82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Le syndrome de Felty associe: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splénomégalie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polyarthrite Rhumatoïde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neutropénie profonde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Des adénopathies médiastinales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érythème du visage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598" name="Google Shape;598;p83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de Gaucher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de Niemann Pick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L’amylose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L’hémochromatose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Toutes les réponses sont fausses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604" name="Google Shape;604;p84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Une splénomégalie fait partie du tableau clinique de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maladie de Gaucher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maladie de Niemann Pick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L’amylose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L’hémochromatose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Toutes les réponses sont fausses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610" name="Google Shape;610;p85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Parmi les diagnostics suivants lequel ou lesquels s'accompagne(nt) d’une splénomégalie fébrile 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Septicémie à pyogènes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Syndrome myéloprolifératif chronique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gaucher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still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Mononucléose infectieuse</a:t>
            </a:r>
            <a:endParaRPr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616" name="Google Shape;616;p86"/>
          <p:cNvSpPr txBox="1"/>
          <p:nvPr>
            <p:ph idx="1" type="body"/>
          </p:nvPr>
        </p:nvSpPr>
        <p:spPr>
          <a:xfrm>
            <a:off x="192088" y="1639888"/>
            <a:ext cx="1180782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Parmi les diagnostics suivants lequel ou lesquels s'accompagne(nt) d’une splénomégalie fébrile 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Septicémie à pyogènes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Syndrome myéloprolifératif chronique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gaucher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Maladie de still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Mononucléose infectieuse</a:t>
            </a:r>
            <a:endParaRPr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622" name="Google Shape;622;p87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Quel est l’anomalie de l’hémogramme évoquant une splénomégalie par hypertension portale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présence de lymhpocytes activés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anémie microcytaire avec thrombopénie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thrombocytose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hyperleucocytose avec myélémie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lymphocytose chronique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628" name="Google Shape;628;p88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Quel est l’anomalie de l’hémogramme évoquant une splénomégalie par hypertension portale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présence de lymhpocytes activés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anémie microcytaire avec thrombopénie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thrombocytose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hyperleucocytose avec myélémie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lymphocytose chronique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634" name="Google Shape;634;p89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découverte d’une splénomégalie impose en première intention 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biopsie ostéo-médullaire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 bilan hépatique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scanner abdominal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bilan d’hémolyse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hémogramme avec numération de réticulocytes et frottis sanguin 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640" name="Google Shape;640;p90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La découverte d’une splénomégalie impose en première intention 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biopsie ostéo-médullaire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 bilan hépatique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scanner abdominal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bilan d’hémolyse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hémogramme avec numération de réticulocytes et frottis sanguin</a:t>
            </a:r>
            <a:r>
              <a:rPr lang="fr-FR" sz="2400"/>
              <a:t> 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1 </a:t>
            </a:r>
            <a:endParaRPr/>
          </a:p>
        </p:txBody>
      </p:sp>
      <p:sp>
        <p:nvSpPr>
          <p:cNvPr id="646" name="Google Shape;646;p91"/>
          <p:cNvSpPr txBox="1"/>
          <p:nvPr>
            <p:ph idx="1" type="body"/>
          </p:nvPr>
        </p:nvSpPr>
        <p:spPr>
          <a:xfrm>
            <a:off x="192088" y="1600200"/>
            <a:ext cx="11390312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Enfant âgé de 5 ans admis pour fièvre évoluant depuis deux mois avec asthénie.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A l’examen on note: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fr-FR" sz="2400"/>
              <a:t>Pâleur cutanéo muqueuse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fr-FR" sz="2400"/>
              <a:t>Une fièvre à 38,5°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fr-FR" sz="2400"/>
              <a:t>Une SMG volumineuse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Hémogramme: GB= 4,5 G/L, Hb=4,8 g/dl, plaquettes= 72 G/L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VS accélérée à 80 mm H1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EPP: protidémie = 85 g/l, une hypoalbuminémie et une hypergammaglobulinémie polyclonale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La recherche d’anticorps anti-leishmania est positive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Le myélogramme montre de nombreux amastigotes de leishmanies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1 </a:t>
            </a:r>
            <a:endParaRPr/>
          </a:p>
        </p:txBody>
      </p:sp>
      <p:sp>
        <p:nvSpPr>
          <p:cNvPr id="652" name="Google Shape;652;p92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QCM1- </a:t>
            </a:r>
            <a:r>
              <a:rPr lang="fr-FR" sz="2400"/>
              <a:t>les données cliniques faisant évoquer la leishmaniose viscérale sont :</a:t>
            </a:r>
            <a:r>
              <a:rPr b="1" lang="fr-FR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L’âge inférieur à 5 ans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diarrhées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triade: fièvre, pâleur, SMG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caractère douloureux de la SMG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caractère irrégulier de la fièvre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9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1 </a:t>
            </a:r>
            <a:endParaRPr/>
          </a:p>
        </p:txBody>
      </p:sp>
      <p:sp>
        <p:nvSpPr>
          <p:cNvPr id="658" name="Google Shape;658;p93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QCM1- </a:t>
            </a:r>
            <a:r>
              <a:rPr lang="fr-FR" sz="2400"/>
              <a:t>les données cliniques faisant évoquer la leishmaniose viscérale sont :</a:t>
            </a:r>
            <a:r>
              <a:rPr b="1" lang="fr-FR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L’âge inférieur à 5 ans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diarrhées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triade: fièvre, pâleur, SMG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caractère douloureux de la SMG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caractère irrégulier de la fièvre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1 </a:t>
            </a:r>
            <a:endParaRPr/>
          </a:p>
        </p:txBody>
      </p:sp>
      <p:sp>
        <p:nvSpPr>
          <p:cNvPr id="664" name="Google Shape;664;p94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QCM2- </a:t>
            </a:r>
            <a:r>
              <a:rPr lang="fr-FR" sz="2400"/>
              <a:t>les données biologiques faisant évoquer la leishmaniose chez cet enfant sont :</a:t>
            </a:r>
            <a:r>
              <a:rPr b="1" lang="fr-FR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syndrome inflammatoire biologique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taux de leucocytes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caractère polyclonal de l’hypergammaglobulinémie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pancytopénie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L’hypoalbuminémie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1 </a:t>
            </a:r>
            <a:endParaRPr/>
          </a:p>
        </p:txBody>
      </p:sp>
      <p:sp>
        <p:nvSpPr>
          <p:cNvPr id="670" name="Google Shape;670;p95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QCM2- </a:t>
            </a:r>
            <a:r>
              <a:rPr lang="fr-FR" sz="2400"/>
              <a:t>les données biologiques faisant évoquer la leishmaniose chez cet enfant sont :</a:t>
            </a:r>
            <a:r>
              <a:rPr b="1" lang="fr-FR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syndrome inflammatoire biologique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taux de leucocytes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caractère polyclonal de l’hypergammaglobulinémie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pancytopénie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L’hypoalbuminémie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1 </a:t>
            </a:r>
            <a:endParaRPr/>
          </a:p>
        </p:txBody>
      </p:sp>
      <p:sp>
        <p:nvSpPr>
          <p:cNvPr id="676" name="Google Shape;676;p96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QCM3- </a:t>
            </a:r>
            <a:r>
              <a:rPr lang="fr-FR" sz="2400"/>
              <a:t>les arguments confirmant le diagnostic parasitaire de leishmaniose sont :</a:t>
            </a:r>
            <a:r>
              <a:rPr b="1" lang="fr-FR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mise en évidence de corps de leishmanies  sur myélogramme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PCR positive sur sang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présence d’anticorps sériques anti-leishmania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L’hémoculture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culture positive du prélèvement médullaire sur milieu spécifique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9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</a:t>
            </a:r>
            <a:endParaRPr/>
          </a:p>
        </p:txBody>
      </p:sp>
      <p:sp>
        <p:nvSpPr>
          <p:cNvPr id="682" name="Google Shape;682;p97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QCM3- </a:t>
            </a:r>
            <a:r>
              <a:rPr lang="fr-FR" sz="2400"/>
              <a:t>les arguments confirmant le diagnostic parasitaire de leishmaniose sont :</a:t>
            </a:r>
            <a:r>
              <a:rPr b="1" lang="fr-FR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mise en évidence de corps de leishmanies  sur myélogramme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PCR positive sur sang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présence d’anticorps sériques anti-leishmania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L’hémoculture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culture positive du prélèvement médullaire sur milieu spécifique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2 </a:t>
            </a:r>
            <a:endParaRPr/>
          </a:p>
        </p:txBody>
      </p:sp>
      <p:sp>
        <p:nvSpPr>
          <p:cNvPr id="688" name="Google Shape;688;p98"/>
          <p:cNvSpPr txBox="1"/>
          <p:nvPr>
            <p:ph idx="1" type="body"/>
          </p:nvPr>
        </p:nvSpPr>
        <p:spPr>
          <a:xfrm>
            <a:off x="192088" y="1600200"/>
            <a:ext cx="11390312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Un garçon de 12 ans, issu d’un mariage consanguin, est adressé pour pâleur, ictère intermittent et pesanteur de l’hypochondre gauche.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ATCD: père splénectomisé</a:t>
            </a:r>
            <a:br>
              <a:rPr lang="fr-FR" sz="2400"/>
            </a:br>
            <a:r>
              <a:rPr lang="fr-FR" sz="2400"/>
              <a:t>À l’examen : splénomégalie à 5 cm du rebord costal gauche, subictère conjonctival, absence d’adénopathies.</a:t>
            </a:r>
            <a:br>
              <a:rPr lang="fr-FR" sz="2400"/>
            </a:br>
            <a:r>
              <a:rPr lang="fr-FR" sz="2400"/>
              <a:t>Biologie :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Hémogramme : Hb = 8,5 g/dl, VGM = 95 fl, réticulocytes = 200 000/mm³,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Le frottis sanguin montre des sphérocytes+++.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Bilan d’hémolyse: Bilirubine libre augmentée, LDH élevées, haptoglobine effondrée.</a:t>
            </a:r>
            <a:endParaRPr b="1" sz="24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9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2 </a:t>
            </a:r>
            <a:endParaRPr/>
          </a:p>
        </p:txBody>
      </p:sp>
      <p:sp>
        <p:nvSpPr>
          <p:cNvPr id="694" name="Google Shape;694;p99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QCM1- Devant ce tableau clinique et biologique, le diagnostic le plus probable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A. Anémie hémolytique auto-immune chaude</a:t>
            </a:r>
            <a:br>
              <a:rPr lang="fr-FR" sz="2400"/>
            </a:br>
            <a:r>
              <a:rPr lang="fr-FR" sz="2400"/>
              <a:t>B. Sphérocytose héréditaire (maladie de Minkowski-Chauffard)</a:t>
            </a:r>
            <a:br>
              <a:rPr lang="fr-FR" sz="2400"/>
            </a:br>
            <a:r>
              <a:rPr lang="fr-FR" sz="2400"/>
              <a:t>C. Déficit en pyruvate kinase</a:t>
            </a:r>
            <a:br>
              <a:rPr lang="fr-FR" sz="2400"/>
            </a:br>
            <a:r>
              <a:rPr lang="fr-FR" sz="2400"/>
              <a:t>D. Drépanocytose homozygote</a:t>
            </a:r>
            <a:br>
              <a:rPr lang="fr-FR" sz="2400"/>
            </a:br>
            <a:r>
              <a:rPr lang="fr-FR" sz="2400"/>
              <a:t>E. Bêta-thalassémie majeure</a:t>
            </a:r>
            <a:endParaRPr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0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2 </a:t>
            </a:r>
            <a:endParaRPr/>
          </a:p>
        </p:txBody>
      </p:sp>
      <p:sp>
        <p:nvSpPr>
          <p:cNvPr id="700" name="Google Shape;700;p100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QCM1- Devant ce tableau clinique et biologique, le diagnostic le plus probable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A. Anémie hémolytique auto-immune chaude</a:t>
            </a:r>
            <a:br>
              <a:rPr lang="fr-FR" sz="2400"/>
            </a:br>
            <a:r>
              <a:rPr lang="fr-FR" sz="2400">
                <a:solidFill>
                  <a:srgbClr val="FF0000"/>
                </a:solidFill>
              </a:rPr>
              <a:t>B. Sphérocytose héréditaire (maladie de Minkowski-Chauffard)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/>
              <a:t>C. Déficit en pyruvate kinase</a:t>
            </a:r>
            <a:br>
              <a:rPr lang="fr-FR" sz="2400"/>
            </a:br>
            <a:r>
              <a:rPr lang="fr-FR" sz="2400"/>
              <a:t>D. Drépanocytose homozygote</a:t>
            </a:r>
            <a:br>
              <a:rPr lang="fr-FR" sz="2400"/>
            </a:br>
            <a:r>
              <a:rPr lang="fr-FR" sz="2400"/>
              <a:t>E. Bêta-thalassémie majeure</a:t>
            </a:r>
            <a:endParaRPr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0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2 </a:t>
            </a:r>
            <a:endParaRPr/>
          </a:p>
        </p:txBody>
      </p:sp>
      <p:sp>
        <p:nvSpPr>
          <p:cNvPr id="706" name="Google Shape;706;p101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QCM2- Les examens complémentaires qui confirment l’hémolyse intra-tissulaire sont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A. Haptoglobine sérique effondrée</a:t>
            </a:r>
            <a:br>
              <a:rPr lang="fr-FR" sz="2400"/>
            </a:br>
            <a:r>
              <a:rPr lang="fr-FR" sz="2400"/>
              <a:t>B. LDH augmentées</a:t>
            </a:r>
            <a:br>
              <a:rPr lang="fr-FR" sz="2400"/>
            </a:br>
            <a:r>
              <a:rPr lang="fr-FR" sz="2400"/>
              <a:t>C. Hyperbilirubinémie libre prédominante</a:t>
            </a:r>
            <a:br>
              <a:rPr lang="fr-FR" sz="2400"/>
            </a:br>
            <a:r>
              <a:rPr lang="fr-FR" sz="2400"/>
              <a:t>D. Électrophorèse de l’hémoglobine avec HbF élevée</a:t>
            </a:r>
            <a:br>
              <a:rPr lang="fr-FR" sz="2400"/>
            </a:br>
            <a:r>
              <a:rPr lang="fr-FR" sz="2400"/>
              <a:t>E. Numération des réticulocytes augmentée</a:t>
            </a:r>
            <a:endParaRPr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0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2 </a:t>
            </a:r>
            <a:endParaRPr/>
          </a:p>
        </p:txBody>
      </p:sp>
      <p:sp>
        <p:nvSpPr>
          <p:cNvPr id="712" name="Google Shape;712;p102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QCM2- Les examens complémentaires qui confirment l’hémolyse intra-tissulaire sont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fr-FR" sz="2400">
                <a:solidFill>
                  <a:srgbClr val="FF0000"/>
                </a:solidFill>
              </a:rPr>
              <a:t>A. Haptoglobine sérique effondrée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B. LDH augmentées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C. Hyperbilirubinémie libre prédominante</a:t>
            </a:r>
            <a:br>
              <a:rPr lang="fr-FR" sz="2400"/>
            </a:br>
            <a:r>
              <a:rPr lang="fr-FR" sz="2400"/>
              <a:t>D. Électrophorèse de l’hémoglobine avec HbF élevée</a:t>
            </a:r>
            <a:br>
              <a:rPr lang="fr-FR" sz="2400"/>
            </a:br>
            <a:r>
              <a:rPr lang="fr-FR" sz="2400">
                <a:solidFill>
                  <a:srgbClr val="FF0000"/>
                </a:solidFill>
              </a:rPr>
              <a:t>E. Numération des réticulocytes augmentée</a:t>
            </a:r>
            <a:endParaRPr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0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2 </a:t>
            </a:r>
            <a:endParaRPr/>
          </a:p>
        </p:txBody>
      </p:sp>
      <p:sp>
        <p:nvSpPr>
          <p:cNvPr id="718" name="Google Shape;718;p103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QCM3- Les examens complémentaires qui permettent d’orienter vers l’étiologie sont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A. Myélogramme </a:t>
            </a:r>
            <a:br>
              <a:rPr lang="fr-FR" sz="2400"/>
            </a:br>
            <a:r>
              <a:rPr lang="fr-FR" sz="2400"/>
              <a:t>B. Test de résistance osmotique globulaire</a:t>
            </a:r>
            <a:br>
              <a:rPr lang="fr-FR" sz="2400"/>
            </a:br>
            <a:r>
              <a:rPr lang="fr-FR" sz="2400"/>
              <a:t>C. Test d’autohémolyse corrigée par le glucose</a:t>
            </a:r>
            <a:br>
              <a:rPr lang="fr-FR" sz="2400"/>
            </a:br>
            <a:r>
              <a:rPr lang="fr-FR" sz="2400"/>
              <a:t>D. Électrophorèse de l’hémoglobine</a:t>
            </a:r>
            <a:br>
              <a:rPr lang="fr-FR" sz="2400"/>
            </a:br>
            <a:r>
              <a:rPr lang="fr-FR" sz="2400"/>
              <a:t>E. Dosage enzymatique de la pyruvate kinase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0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/>
              <a:t>Cas clinique 2 </a:t>
            </a:r>
            <a:endParaRPr/>
          </a:p>
        </p:txBody>
      </p:sp>
      <p:sp>
        <p:nvSpPr>
          <p:cNvPr id="724" name="Google Shape;724;p104"/>
          <p:cNvSpPr txBox="1"/>
          <p:nvPr>
            <p:ph idx="1" type="body"/>
          </p:nvPr>
        </p:nvSpPr>
        <p:spPr>
          <a:xfrm>
            <a:off x="192088" y="1600200"/>
            <a:ext cx="113903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fr-FR" sz="2400"/>
              <a:t>QCM3- Les examens complémentaires qui permettent d’orienter vers l’étiologie sont 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/>
              <a:t>A. Myélogramme </a:t>
            </a:r>
            <a:br>
              <a:rPr lang="fr-FR" sz="2400"/>
            </a:br>
            <a:r>
              <a:rPr lang="fr-FR" sz="2400">
                <a:solidFill>
                  <a:srgbClr val="FF0000"/>
                </a:solidFill>
              </a:rPr>
              <a:t>B. Test de résistance osmotique globulaire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C. Test d’autohémolyse corrigée par le glucose</a:t>
            </a:r>
            <a:br>
              <a:rPr lang="fr-FR" sz="2400"/>
            </a:br>
            <a:r>
              <a:rPr lang="fr-FR" sz="2400"/>
              <a:t>D. Électrophorèse de l’hémoglobine</a:t>
            </a:r>
            <a:br>
              <a:rPr lang="fr-FR" sz="2400"/>
            </a:br>
            <a:r>
              <a:rPr lang="fr-FR" sz="2400"/>
              <a:t>E. Dosage enzymatique de la pyruvate kinase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2015-04-02T21:38:39Z</dcterms:created>
  <dc:creator>Sébastien Humbert</dc:creator>
</cp:coreProperties>
</file>
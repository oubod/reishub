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2"/>
  </p:notesMasterIdLst>
  <p:sldIdLst>
    <p:sldId id="256" r:id="rId2"/>
    <p:sldId id="366" r:id="rId3"/>
    <p:sldId id="378" r:id="rId4"/>
    <p:sldId id="433" r:id="rId5"/>
    <p:sldId id="397" r:id="rId6"/>
    <p:sldId id="306" r:id="rId7"/>
    <p:sldId id="371" r:id="rId8"/>
    <p:sldId id="367" r:id="rId9"/>
    <p:sldId id="446" r:id="rId10"/>
    <p:sldId id="445" r:id="rId11"/>
    <p:sldId id="372" r:id="rId12"/>
    <p:sldId id="312" r:id="rId13"/>
    <p:sldId id="373" r:id="rId14"/>
    <p:sldId id="374" r:id="rId15"/>
    <p:sldId id="376" r:id="rId16"/>
    <p:sldId id="311" r:id="rId17"/>
    <p:sldId id="377" r:id="rId18"/>
    <p:sldId id="383" r:id="rId19"/>
    <p:sldId id="385" r:id="rId20"/>
    <p:sldId id="384" r:id="rId21"/>
    <p:sldId id="386" r:id="rId22"/>
    <p:sldId id="380" r:id="rId23"/>
    <p:sldId id="382" r:id="rId24"/>
    <p:sldId id="315" r:id="rId25"/>
    <p:sldId id="387" r:id="rId26"/>
    <p:sldId id="317" r:id="rId27"/>
    <p:sldId id="388" r:id="rId28"/>
    <p:sldId id="307" r:id="rId29"/>
    <p:sldId id="391" r:id="rId30"/>
    <p:sldId id="318" r:id="rId31"/>
    <p:sldId id="392" r:id="rId32"/>
    <p:sldId id="393" r:id="rId33"/>
    <p:sldId id="394" r:id="rId34"/>
    <p:sldId id="423" r:id="rId35"/>
    <p:sldId id="424" r:id="rId36"/>
    <p:sldId id="319" r:id="rId37"/>
    <p:sldId id="400" r:id="rId38"/>
    <p:sldId id="368" r:id="rId39"/>
    <p:sldId id="401" r:id="rId40"/>
    <p:sldId id="369" r:id="rId41"/>
    <p:sldId id="402" r:id="rId42"/>
    <p:sldId id="447" r:id="rId43"/>
    <p:sldId id="448" r:id="rId44"/>
    <p:sldId id="320" r:id="rId45"/>
    <p:sldId id="450" r:id="rId46"/>
    <p:sldId id="449" r:id="rId47"/>
    <p:sldId id="403" r:id="rId48"/>
    <p:sldId id="425" r:id="rId49"/>
    <p:sldId id="426" r:id="rId50"/>
    <p:sldId id="451" r:id="rId51"/>
    <p:sldId id="452" r:id="rId52"/>
    <p:sldId id="322" r:id="rId53"/>
    <p:sldId id="404" r:id="rId54"/>
    <p:sldId id="323" r:id="rId55"/>
    <p:sldId id="405" r:id="rId56"/>
    <p:sldId id="326" r:id="rId57"/>
    <p:sldId id="406" r:id="rId58"/>
    <p:sldId id="327" r:id="rId59"/>
    <p:sldId id="407" r:id="rId60"/>
    <p:sldId id="324" r:id="rId61"/>
    <p:sldId id="408" r:id="rId62"/>
    <p:sldId id="325" r:id="rId63"/>
    <p:sldId id="409" r:id="rId64"/>
    <p:sldId id="328" r:id="rId65"/>
    <p:sldId id="410" r:id="rId66"/>
    <p:sldId id="329" r:id="rId67"/>
    <p:sldId id="412" r:id="rId68"/>
    <p:sldId id="330" r:id="rId69"/>
    <p:sldId id="413" r:id="rId70"/>
    <p:sldId id="331" r:id="rId71"/>
    <p:sldId id="414" r:id="rId72"/>
    <p:sldId id="332" r:id="rId73"/>
    <p:sldId id="415" r:id="rId74"/>
    <p:sldId id="333" r:id="rId75"/>
    <p:sldId id="416" r:id="rId76"/>
    <p:sldId id="336" r:id="rId77"/>
    <p:sldId id="417" r:id="rId78"/>
    <p:sldId id="334" r:id="rId79"/>
    <p:sldId id="418" r:id="rId80"/>
    <p:sldId id="337" r:id="rId81"/>
    <p:sldId id="419" r:id="rId82"/>
    <p:sldId id="335" r:id="rId83"/>
    <p:sldId id="420" r:id="rId84"/>
    <p:sldId id="338" r:id="rId85"/>
    <p:sldId id="421" r:id="rId86"/>
    <p:sldId id="339" r:id="rId87"/>
    <p:sldId id="427" r:id="rId88"/>
    <p:sldId id="340" r:id="rId89"/>
    <p:sldId id="428" r:id="rId90"/>
    <p:sldId id="341" r:id="rId91"/>
    <p:sldId id="429" r:id="rId92"/>
    <p:sldId id="357" r:id="rId93"/>
    <p:sldId id="430" r:id="rId94"/>
    <p:sldId id="434" r:id="rId95"/>
    <p:sldId id="439" r:id="rId96"/>
    <p:sldId id="438" r:id="rId97"/>
    <p:sldId id="435" r:id="rId98"/>
    <p:sldId id="436" r:id="rId99"/>
    <p:sldId id="437" r:id="rId100"/>
    <p:sldId id="441" r:id="rId101"/>
    <p:sldId id="442" r:id="rId102"/>
    <p:sldId id="443" r:id="rId103"/>
    <p:sldId id="444" r:id="rId104"/>
    <p:sldId id="343" r:id="rId105"/>
    <p:sldId id="346" r:id="rId106"/>
    <p:sldId id="411" r:id="rId107"/>
    <p:sldId id="350" r:id="rId108"/>
    <p:sldId id="431" r:id="rId109"/>
    <p:sldId id="351" r:id="rId110"/>
    <p:sldId id="432" r:id="rId111"/>
  </p:sldIdLst>
  <p:sldSz cx="12192000" cy="6858000"/>
  <p:notesSz cx="6858000" cy="9144000"/>
  <p:custDataLst>
    <p:tags r:id="rId113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73" autoAdjust="0"/>
  </p:normalViewPr>
  <p:slideViewPr>
    <p:cSldViewPr>
      <p:cViewPr varScale="1">
        <p:scale>
          <a:sx n="74" d="100"/>
          <a:sy n="74" d="100"/>
        </p:scale>
        <p:origin x="965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gs" Target="tags/tag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9DB48-4085-43E0-8423-B6E477951B30}" type="datetimeFigureOut">
              <a:rPr lang="fr-FR" smtClean="0"/>
              <a:t>27/08/2025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4B6C5-538E-4671-AC72-C42C1AC1FD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4030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4B6C5-538E-4671-AC72-C42C1AC1FD0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04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4B6C5-538E-4671-AC72-C42C1AC1FD0A}" type="slidenum">
              <a:rPr lang="fr-FR" smtClean="0"/>
              <a:t>63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9545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4B6C5-538E-4671-AC72-C42C1AC1FD0A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5769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4B6C5-538E-4671-AC72-C42C1AC1FD0A}" type="slidenum">
              <a:rPr lang="fr-FR" smtClean="0"/>
              <a:t>65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556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4B6C5-538E-4671-AC72-C42C1AC1FD0A}" type="slidenum">
              <a:rPr lang="fr-FR" smtClean="0"/>
              <a:t>87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5211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27/08/2025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27/08/2025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27/08/2025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27/08/2025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27/08/2025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27/08/2025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27/08/2025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641104" y="2276873"/>
            <a:ext cx="6909792" cy="108012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accent1"/>
            </a:solidFill>
          </a:ln>
        </p:spPr>
        <p:txBody>
          <a:bodyPr/>
          <a:lstStyle/>
          <a:p>
            <a:r>
              <a:rPr lang="fr-FR" b="1" dirty="0">
                <a:solidFill>
                  <a:schemeClr val="tx2"/>
                </a:solidFill>
              </a:rPr>
              <a:t>Les Purpuras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756484" y="3534008"/>
            <a:ext cx="4679032" cy="1296144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Pr Ag </a:t>
            </a:r>
            <a:r>
              <a:rPr lang="fr-FR" b="1" dirty="0" err="1">
                <a:solidFill>
                  <a:schemeClr val="tx1"/>
                </a:solidFill>
              </a:rPr>
              <a:t>Imen</a:t>
            </a:r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b="1" dirty="0" err="1">
                <a:solidFill>
                  <a:schemeClr val="tx1"/>
                </a:solidFill>
              </a:rPr>
              <a:t>Frikha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olidFill>
                  <a:schemeClr val="tx1"/>
                </a:solidFill>
              </a:rPr>
              <a:t>27 Août 2025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 bwMode="auto">
          <a:xfrm>
            <a:off x="10704513" y="271463"/>
            <a:ext cx="1223962" cy="7445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3600" dirty="0">
                <a:highlight>
                  <a:srgbClr val="00FFFF"/>
                </a:highlight>
              </a:rPr>
              <a:t>Q62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271463"/>
            <a:ext cx="1367132" cy="9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Objectifs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35360" y="1600200"/>
            <a:ext cx="11521280" cy="4972072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Etablir le diagnostic positif d’un purpura à partir des données de l’examen physique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Expliquer les différents mécanismes physiopathologiques à l’origine d’un purpura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Identifier les éléments de gravité d’un purpura à partir des données anamnestiques, cliniques et </a:t>
            </a:r>
            <a:r>
              <a:rPr lang="fr-FR" sz="2400" dirty="0" err="1"/>
              <a:t>paracliniques</a:t>
            </a:r>
            <a:endParaRPr lang="fr-FR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Etablir le diagnostic étiologique d’un purpura à partir des éléments anamnestiques, cliniques et </a:t>
            </a:r>
            <a:r>
              <a:rPr lang="fr-FR" sz="2400" dirty="0" err="1"/>
              <a:t>paracliniques</a:t>
            </a:r>
            <a:r>
              <a:rPr lang="fr-FR" sz="2400" dirty="0"/>
              <a:t> et en fonction de l’âge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Planifier la prise en charge thérapeutique et la surveillance d’un patient présentant un purpura en fonction de son étiologie</a:t>
            </a:r>
          </a:p>
        </p:txBody>
      </p:sp>
    </p:spTree>
    <p:extLst>
      <p:ext uri="{BB962C8B-B14F-4D97-AF65-F5344CB8AC3E}">
        <p14:creationId xmlns:p14="http://schemas.microsoft.com/office/powerpoint/2010/main" val="3711035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4082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A retenir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9376" y="1340768"/>
            <a:ext cx="5112568" cy="964703"/>
          </a:xfrm>
          <a:prstGeom prst="roundRect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Purpura: tâche</a:t>
            </a:r>
            <a:r>
              <a:rPr lang="fr-FR" sz="2400" b="1" dirty="0">
                <a:solidFill>
                  <a:srgbClr val="FF0000"/>
                </a:solidFill>
              </a:rPr>
              <a:t> rouge pourpre</a:t>
            </a:r>
            <a:r>
              <a:rPr lang="fr-FR" sz="2400" dirty="0"/>
              <a:t>, </a:t>
            </a:r>
            <a:r>
              <a:rPr lang="fr-FR" sz="2400" b="1" dirty="0">
                <a:solidFill>
                  <a:srgbClr val="FF0000"/>
                </a:solidFill>
              </a:rPr>
              <a:t>non effaçable </a:t>
            </a:r>
            <a:r>
              <a:rPr lang="fr-FR" sz="2400" dirty="0"/>
              <a:t>à la pression</a:t>
            </a:r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479376" y="2420888"/>
            <a:ext cx="5112568" cy="1324743"/>
          </a:xfrm>
          <a:prstGeom prst="roundRect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Les lésions </a:t>
            </a:r>
            <a:r>
              <a:rPr lang="fr-FR" sz="2400" dirty="0" err="1"/>
              <a:t>purpuriques</a:t>
            </a:r>
            <a:r>
              <a:rPr lang="fr-FR" sz="2400" dirty="0"/>
              <a:t> peuvent intéresser la </a:t>
            </a:r>
            <a:r>
              <a:rPr lang="fr-FR" sz="2400" b="1" dirty="0">
                <a:solidFill>
                  <a:srgbClr val="FF0000"/>
                </a:solidFill>
              </a:rPr>
              <a:t>peau</a:t>
            </a:r>
            <a:r>
              <a:rPr lang="fr-FR" sz="2400" b="1" dirty="0"/>
              <a:t> </a:t>
            </a:r>
            <a:r>
              <a:rPr lang="fr-FR" sz="2400" dirty="0"/>
              <a:t>et les </a:t>
            </a:r>
            <a:r>
              <a:rPr lang="fr-FR" sz="2400" b="1" dirty="0">
                <a:solidFill>
                  <a:srgbClr val="FF0000"/>
                </a:solidFill>
              </a:rPr>
              <a:t>muqueuses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479376" y="3861048"/>
            <a:ext cx="5112568" cy="1188168"/>
          </a:xfrm>
          <a:prstGeom prst="roundRect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Aspect: </a:t>
            </a:r>
            <a:r>
              <a:rPr lang="fr-FR" sz="2400" b="1" dirty="0">
                <a:solidFill>
                  <a:srgbClr val="FF0000"/>
                </a:solidFill>
              </a:rPr>
              <a:t>pétéchial </a:t>
            </a:r>
            <a:r>
              <a:rPr lang="fr-FR" sz="2400" dirty="0"/>
              <a:t>ou</a:t>
            </a:r>
            <a:r>
              <a:rPr lang="fr-FR" sz="2400" b="1" dirty="0">
                <a:solidFill>
                  <a:srgbClr val="FF0000"/>
                </a:solidFill>
              </a:rPr>
              <a:t> ecchymotique </a:t>
            </a:r>
            <a:r>
              <a:rPr lang="fr-FR" sz="2400" dirty="0"/>
              <a:t>ou rarement en </a:t>
            </a:r>
            <a:r>
              <a:rPr lang="fr-FR" sz="2400" b="1" dirty="0">
                <a:solidFill>
                  <a:srgbClr val="FF0000"/>
                </a:solidFill>
              </a:rPr>
              <a:t>vibices</a:t>
            </a:r>
            <a:endParaRPr lang="fr-FR" sz="2400" dirty="0"/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479376" y="5137175"/>
            <a:ext cx="5112568" cy="1316161"/>
          </a:xfrm>
          <a:prstGeom prst="roundRect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Disparition: en </a:t>
            </a:r>
            <a:r>
              <a:rPr lang="fr-FR" sz="2400" dirty="0" err="1"/>
              <a:t>qq</a:t>
            </a:r>
            <a:r>
              <a:rPr lang="fr-FR" sz="2400" dirty="0"/>
              <a:t> jours </a:t>
            </a:r>
            <a:r>
              <a:rPr lang="fr-FR" sz="2400" b="1" dirty="0">
                <a:solidFill>
                  <a:srgbClr val="FF0000"/>
                </a:solidFill>
              </a:rPr>
              <a:t>sans séquelles</a:t>
            </a:r>
            <a:r>
              <a:rPr lang="fr-FR" sz="2400" dirty="0"/>
              <a:t> prenant les </a:t>
            </a:r>
            <a:r>
              <a:rPr lang="fr-FR" sz="2400" b="1" dirty="0">
                <a:solidFill>
                  <a:srgbClr val="FF0000"/>
                </a:solidFill>
              </a:rPr>
              <a:t>teintes évolutives de la biligénèse</a:t>
            </a:r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5850868" y="1340768"/>
            <a:ext cx="5832648" cy="576064"/>
          </a:xfrm>
          <a:prstGeom prst="roundRect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Évolution par </a:t>
            </a:r>
            <a:r>
              <a:rPr lang="fr-FR" sz="2400" b="1" dirty="0">
                <a:solidFill>
                  <a:srgbClr val="FF0000"/>
                </a:solidFill>
              </a:rPr>
              <a:t>poussée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 rotWithShape="1">
          <a:blip r:embed="rId2"/>
          <a:srcRect l="16795" t="18499" r="25095" b="28736"/>
          <a:stretch/>
        </p:blipFill>
        <p:spPr>
          <a:xfrm>
            <a:off x="5850868" y="2449486"/>
            <a:ext cx="5832648" cy="385983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429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4082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A retenir</a:t>
            </a:r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6240016" y="1484784"/>
            <a:ext cx="5832648" cy="4500000"/>
          </a:xfrm>
          <a:prstGeom prst="roundRect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fr-FR" sz="2200" b="1" dirty="0">
                <a:solidFill>
                  <a:srgbClr val="FF0000"/>
                </a:solidFill>
              </a:rPr>
              <a:t>Les purpuras vasculaires:</a:t>
            </a:r>
          </a:p>
          <a:p>
            <a:pPr marL="363538" lvl="1" indent="-363538">
              <a:buFont typeface="Wingdings" panose="05000000000000000000" pitchFamily="2" charset="2"/>
              <a:buChar char="ü"/>
            </a:pPr>
            <a:r>
              <a:rPr lang="fr-FR" sz="2200" b="1" dirty="0"/>
              <a:t>Inflammatoires </a:t>
            </a:r>
            <a:r>
              <a:rPr lang="fr-FR" sz="2200" dirty="0"/>
              <a:t>: </a:t>
            </a:r>
            <a:r>
              <a:rPr lang="fr-FR" sz="2000" dirty="0"/>
              <a:t>infectieuse, toxique, médicamenteuse ou </a:t>
            </a:r>
            <a:r>
              <a:rPr lang="fr-FR" sz="2000" dirty="0" err="1"/>
              <a:t>dys-immunitaire</a:t>
            </a:r>
            <a:r>
              <a:rPr lang="fr-FR" sz="2000" dirty="0"/>
              <a:t>, due à </a:t>
            </a:r>
            <a:r>
              <a:rPr lang="fr-FR" sz="2000" b="1" dirty="0"/>
              <a:t>dépôts de complexe immun</a:t>
            </a:r>
            <a:r>
              <a:rPr lang="fr-FR" sz="2000" dirty="0"/>
              <a:t>, </a:t>
            </a:r>
            <a:r>
              <a:rPr lang="fr-FR" sz="2000" b="1" dirty="0"/>
              <a:t>d’anticorps anti-cellules endothéliales </a:t>
            </a:r>
            <a:r>
              <a:rPr lang="fr-FR" sz="2000" dirty="0"/>
              <a:t>ou de </a:t>
            </a:r>
            <a:r>
              <a:rPr lang="fr-FR" sz="2000" b="1" dirty="0"/>
              <a:t>cytokines pro-inflammatoires</a:t>
            </a:r>
            <a:r>
              <a:rPr lang="fr-FR" sz="2000" dirty="0"/>
              <a:t>.</a:t>
            </a:r>
          </a:p>
          <a:p>
            <a:pPr marL="363538" lvl="1" indent="-363538">
              <a:buFont typeface="Wingdings" panose="05000000000000000000" pitchFamily="2" charset="2"/>
              <a:buChar char="ü"/>
            </a:pPr>
            <a:r>
              <a:rPr lang="fr-FR" sz="2200" b="1" dirty="0"/>
              <a:t>Non inflammatoires: </a:t>
            </a:r>
          </a:p>
          <a:p>
            <a:pPr marL="363538" lvl="1" indent="-363538">
              <a:buFont typeface="Times New Roman" panose="02020603050405020304" pitchFamily="18" charset="0"/>
              <a:buChar char="‐"/>
            </a:pPr>
            <a:r>
              <a:rPr lang="fr-FR" sz="2000" dirty="0"/>
              <a:t>Thrombotique</a:t>
            </a:r>
          </a:p>
          <a:p>
            <a:pPr marL="363538" lvl="1" indent="-363538">
              <a:buFont typeface="Times New Roman" panose="02020603050405020304" pitchFamily="18" charset="0"/>
              <a:buChar char="‐"/>
            </a:pPr>
            <a:r>
              <a:rPr lang="fr-FR" sz="2000" dirty="0"/>
              <a:t>Embolique</a:t>
            </a:r>
          </a:p>
          <a:p>
            <a:pPr marL="363538" lvl="1" indent="-363538">
              <a:buFont typeface="Times New Roman" panose="02020603050405020304" pitchFamily="18" charset="0"/>
              <a:buChar char="‐"/>
            </a:pPr>
            <a:r>
              <a:rPr lang="fr-FR" sz="2000" dirty="0"/>
              <a:t>Fragilité vasculaire </a:t>
            </a:r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288876" y="1484784"/>
            <a:ext cx="5796000" cy="4500000"/>
          </a:xfrm>
          <a:prstGeom prst="roundRect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fr-FR" sz="2200" b="1" dirty="0">
                <a:solidFill>
                  <a:srgbClr val="FF0000"/>
                </a:solidFill>
              </a:rPr>
              <a:t>Les purpuras par anomalies plaquettaires: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sz="2200" b="1" dirty="0"/>
              <a:t>Purpura Thrombopénique :</a:t>
            </a:r>
            <a:endParaRPr lang="fr-FR" sz="2200" dirty="0"/>
          </a:p>
          <a:p>
            <a:pPr marL="0" indent="0">
              <a:lnSpc>
                <a:spcPct val="110000"/>
              </a:lnSpc>
              <a:buNone/>
            </a:pPr>
            <a:r>
              <a:rPr lang="fr-FR" sz="2000" b="1" dirty="0"/>
              <a:t>* Les thrombopénies centrales : </a:t>
            </a:r>
            <a:r>
              <a:rPr lang="fr-FR" sz="2000" dirty="0"/>
              <a:t>anomalie quantitative ou qualitative de la mégacaryopoïèse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2000" b="1" dirty="0"/>
              <a:t>* Les thrombopénies périphériques </a:t>
            </a:r>
            <a:r>
              <a:rPr lang="fr-FR" sz="2200" dirty="0"/>
              <a:t>par excès de destruction ou anomalie de répartition (hypersplénisme), hyperconsommation ou hémodilution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sz="2200" b="1" dirty="0"/>
              <a:t>Purpura thrombopathique : </a:t>
            </a:r>
            <a:r>
              <a:rPr lang="fr-FR" sz="2200" dirty="0"/>
              <a:t>par</a:t>
            </a:r>
          </a:p>
          <a:p>
            <a:pPr marL="57150" indent="0">
              <a:lnSpc>
                <a:spcPct val="110000"/>
              </a:lnSpc>
              <a:buNone/>
            </a:pPr>
            <a:r>
              <a:rPr lang="fr-FR" sz="2200" dirty="0"/>
              <a:t>anomalie qualitative des plaquettes</a:t>
            </a:r>
            <a:r>
              <a:rPr lang="fr-FR" sz="2200" b="1" dirty="0">
                <a:solidFill>
                  <a:srgbClr val="FF000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30959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4082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A retenir</a:t>
            </a:r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288876" y="1484784"/>
            <a:ext cx="11628000" cy="4860000"/>
          </a:xfrm>
          <a:prstGeom prst="roundRect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buFont typeface="Wingdings" panose="05000000000000000000" pitchFamily="2" charset="2"/>
              <a:buChar char="§"/>
            </a:pPr>
            <a:r>
              <a:rPr lang="fr-FR" sz="2200" b="1" dirty="0">
                <a:solidFill>
                  <a:srgbClr val="FF0000"/>
                </a:solidFill>
              </a:rPr>
              <a:t>Les signes de gravité d’un purpura: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/>
              <a:t>Les âges extrêmes, la prise de médicaments interférant avec l’hémostase (AAP, Anti-coag), la préexistence d’une maladie hémorragique.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/>
              <a:t> Purpura nécrotique ou ecchymotique ou extensif ou en carte de géographie,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/>
              <a:t> Purpura muqueux : Bulles hémorragiques </a:t>
            </a:r>
            <a:r>
              <a:rPr lang="fr-FR" sz="2200" dirty="0" err="1"/>
              <a:t>endobuccales</a:t>
            </a:r>
            <a:r>
              <a:rPr lang="fr-FR" sz="2200" dirty="0"/>
              <a:t>, </a:t>
            </a:r>
            <a:r>
              <a:rPr lang="fr-FR" sz="2200" dirty="0" err="1"/>
              <a:t>Hgies</a:t>
            </a:r>
            <a:r>
              <a:rPr lang="fr-FR" sz="2200" dirty="0"/>
              <a:t> conjonctivales, épistaxis bilatérale, gingivorragies, hématurie macroscopique, hémorragie au fond d’œil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/>
              <a:t> Syndrome septique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/>
              <a:t> Signes neurologiques (céphalées, obnubilation, coma, raideur méningée, S de localisation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/>
              <a:t> Signes cardiorespiratoires (polypnée, collapsus)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/>
              <a:t>Oligoanurie, syndrome abdominal aigu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/>
              <a:t>Thrombopénie &lt; 20 000/mm³ et CIVD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7752184" y="5157192"/>
            <a:ext cx="3272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accent3"/>
                </a:solidFill>
              </a:rPr>
              <a:t>Score hémorragique </a:t>
            </a:r>
          </a:p>
        </p:txBody>
      </p:sp>
      <p:sp>
        <p:nvSpPr>
          <p:cNvPr id="4" name="Accolade ouvrante 3"/>
          <p:cNvSpPr/>
          <p:nvPr/>
        </p:nvSpPr>
        <p:spPr>
          <a:xfrm>
            <a:off x="767408" y="2276872"/>
            <a:ext cx="216024" cy="576064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ccolade ouvrante 5"/>
          <p:cNvSpPr/>
          <p:nvPr/>
        </p:nvSpPr>
        <p:spPr>
          <a:xfrm>
            <a:off x="767408" y="3068960"/>
            <a:ext cx="216024" cy="244827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ccolade ouvrante 6"/>
          <p:cNvSpPr/>
          <p:nvPr/>
        </p:nvSpPr>
        <p:spPr>
          <a:xfrm>
            <a:off x="750714" y="5588700"/>
            <a:ext cx="232717" cy="360580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676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QCM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/>
              <a:t>Le purpura est une tâche :</a:t>
            </a:r>
          </a:p>
          <a:p>
            <a:pPr marL="0" indent="0">
              <a:buNone/>
            </a:pPr>
            <a:endParaRPr lang="fr-FR" sz="2400" dirty="0"/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D’apparition spontanée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De couleur rouge pourpre 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Qui disparait en quelques jours en prenant les teintes évolutives de la biligénèse 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Qui épargne les muqueuses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Qui s’efface à la vitro pression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endParaRPr lang="fr-FR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QCM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/>
              <a:t>Le purpura est une tâche :</a:t>
            </a:r>
          </a:p>
          <a:p>
            <a:pPr marL="0" indent="0">
              <a:buNone/>
            </a:pPr>
            <a:endParaRPr lang="fr-FR" sz="2400" dirty="0"/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D’apparition spontanée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De couleur rouge pourpre 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Qui disparait en quelques jours en prenant les teintes évolutives de la biligénèse 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Qui épargne les muqueuses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Qui s’efface à la vitro pression</a:t>
            </a:r>
          </a:p>
          <a:p>
            <a:pPr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310593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QCM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La lésion purpurique peut répondre à une ou plusieurs des caractéristiques suivantes: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Lésion cutanée ou muqueuse rouge pourpre spontanée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S’efface à la vitropression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De caractère douloureux et infiltré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Evolution selon les teintes de la biligénèse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Possibilité d’atteinte muqueuse </a:t>
            </a:r>
          </a:p>
        </p:txBody>
      </p:sp>
    </p:spTree>
    <p:extLst>
      <p:ext uri="{BB962C8B-B14F-4D97-AF65-F5344CB8AC3E}">
        <p14:creationId xmlns:p14="http://schemas.microsoft.com/office/powerpoint/2010/main" val="546033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DBDAB-D2F0-3485-67B3-B8656BF0F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691492-5902-323B-879B-DE65E935A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QCM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2294D9-9447-4434-A0EA-834E63E6D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La lésion purpurique peut répondre à une ou plusieurs des caractéristiques suivantes: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Lésion cutanée ou muqueuse rouge pourpre spontanée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S’efface à la vitropression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De caractère douloureux et infiltré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Evolution selon les teintes de la biligénèse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Possibilité d’atteinte muqueuse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518076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50861-A704-1850-3B91-FEDB2D026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CD938A-5DC4-9DC7-E1BD-7DDDA63E3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QCM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4920FE-4C89-312B-15C1-5B556ED3B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La lésion </a:t>
            </a:r>
            <a:r>
              <a:rPr lang="fr-FR" sz="2400" dirty="0" err="1"/>
              <a:t>purpurique</a:t>
            </a:r>
            <a:r>
              <a:rPr lang="fr-FR" sz="2400" dirty="0"/>
              <a:t> peut répondre à une ou plusieurs des caractéristiques suivantes: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Aspect pétéchial ou ecchymotique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Disparition à la pression des téguments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Evolution par les teints bleues, verdâtre puis jaunâtre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Respect de la rétine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Localisation cutanée ou muqueuse</a:t>
            </a:r>
          </a:p>
          <a:p>
            <a:pPr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351281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QCM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La lésion </a:t>
            </a:r>
            <a:r>
              <a:rPr lang="fr-FR" sz="2400" dirty="0" err="1"/>
              <a:t>purpurique</a:t>
            </a:r>
            <a:r>
              <a:rPr lang="fr-FR" sz="2400" dirty="0"/>
              <a:t> peut répondre à une ou plusieurs des caractéristiques suivantes: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Aspect pétéchial ou ecchymotique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Disparition à la pression des téguments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Evolution par les teints bleues, verdâtre puis jaunâtre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Respect de la rétine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Localisation cutanée ou muqueuse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984884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La lésion </a:t>
            </a:r>
            <a:r>
              <a:rPr lang="fr-FR" sz="2400" dirty="0" err="1"/>
              <a:t>purpurique</a:t>
            </a:r>
            <a:r>
              <a:rPr lang="fr-FR" sz="2400" dirty="0"/>
              <a:t> peut répondre à une ou plusieurs des caractéristiques suivantes: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Aspect pétéchial ou ecchymotique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S’efface à la vitro-pression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Respect de la muqueuse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Evolution par poussé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Polymorphe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La lésion </a:t>
            </a:r>
            <a:r>
              <a:rPr lang="fr-FR" sz="2400" dirty="0" err="1"/>
              <a:t>purpurique</a:t>
            </a:r>
            <a:r>
              <a:rPr lang="fr-FR" sz="2400" dirty="0"/>
              <a:t> peut répondre à une ou plusieurs des caractéristiques suivantes: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Aspect pétéchial ou ecchymotique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S’efface à la vitro-pression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Respect de la muqueuse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Evolution par poussé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Polymorphe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3649062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thrombopénique 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Plan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Infiltré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Polymorphe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Déclive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Associé à des hémorragies muqueuses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783740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thrombopénique 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Plan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Infiltré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Polymorphe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Déclive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Associé à des hémorragies muqueuses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840763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vasculaire est: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Plan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Infiltré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Polymorphe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Diffus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Nécrotique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vasculaire est: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Plan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Infiltré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Polymorphe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Diffus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Nécrotique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3243544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00808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vasculaire est:</a:t>
            </a:r>
          </a:p>
          <a:p>
            <a:pPr>
              <a:buNone/>
            </a:pPr>
            <a:endParaRPr lang="fr-FR" sz="2400" dirty="0"/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Associé à un saignement muqueux 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Infiltré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Monomorphe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Déclive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Parfois nécrotique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1996408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vasculaire est:</a:t>
            </a:r>
          </a:p>
          <a:p>
            <a:pPr>
              <a:buNone/>
            </a:pPr>
            <a:endParaRPr lang="fr-FR" sz="2400" dirty="0"/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Associé à un saignement muqueux 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Infiltré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Monomorphe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Déclive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Parfois nécrotique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3829820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vasculaire 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Est cutané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Est non infiltré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S’accompagne d’hémorragies muqueuses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Évolue en plusieurs poussées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Peut être révélateur d’une connectivite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4137578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vasculaire 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Est cutané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Est non infiltré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S’accompagne d’hémorragies muqueuses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Évolue en plusieurs poussées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Peut être révélateur d’une connectivite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3524369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hématologique résulte de: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Dépôt de complexes immuns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/>
              <a:t>Microthrombi</a:t>
            </a:r>
            <a:r>
              <a:rPr lang="fr-FR" sz="2400" dirty="0"/>
              <a:t> dans la lumière vasculaire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thrombopénie &lt;50.000/mm3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Allongement de temps de saignement (TOP ou PFA100)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Migration des emboles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4266066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hématologique résulte de: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Dépôt de complexes immuns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/>
              <a:t>Microthrombi</a:t>
            </a:r>
            <a:r>
              <a:rPr lang="fr-FR" sz="2400" dirty="0"/>
              <a:t> dans la lumière vasculaire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Une thrombopénie &lt;50.000/mm3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Allongement de temps de saignement (TOP ou PFA100)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Migration des emboles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077649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vasculaire de mécanisme inflammatoire peut être dû à un(e):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Dépôt de complexes immuns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/>
              <a:t>Microthrombi</a:t>
            </a:r>
            <a:r>
              <a:rPr lang="fr-FR" sz="2400" dirty="0"/>
              <a:t> dans la lumière vasculaire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Anticorps anti-cellule endothéliale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Dépôt des substances amyloïdes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Carence en vitamine C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vasculaire de mécanisme inflammatoire peut être dû à un(e):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Dépôt de complexes immuns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/>
              <a:t>Microthrombi</a:t>
            </a:r>
            <a:r>
              <a:rPr lang="fr-FR" sz="2400" dirty="0"/>
              <a:t> dans la lumière vasculaire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Anticorps anti-cellule endothéliale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Dépôt des substances amyloïdes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Carence en vitamine C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3852023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vasculaire de mécanisme non inflammatoire peut être dû à un(e):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Dépôt de complexes immuns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/>
              <a:t>Microthrombi</a:t>
            </a:r>
            <a:r>
              <a:rPr lang="fr-FR" sz="2400" dirty="0"/>
              <a:t> dans la lumière vasculaire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Anticorps anti-cellule endothéliale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Dépôt des substances amyloïdes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Fragilité vasculaire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vasculaire de mécanisme non inflammatoire peut être dû à un(e):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Dépôt de complexes immuns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>
                <a:solidFill>
                  <a:srgbClr val="FF0000"/>
                </a:solidFill>
              </a:rPr>
              <a:t>Microthrombi</a:t>
            </a:r>
            <a:r>
              <a:rPr lang="fr-FR" sz="2400" dirty="0">
                <a:solidFill>
                  <a:srgbClr val="FF0000"/>
                </a:solidFill>
              </a:rPr>
              <a:t> dans la lumière vasculaire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Anticorps anti-cellule endothéliale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Dépôt des substances amyloïdes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Fragilité vasculaire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4189178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signes de gravités devant un purpura sont: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ecchymotique extensif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Etat de Choc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Hémorragie digestive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Polyarthrite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Syndrome méningé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signes de gravités devant un purpura sont: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Purpura ecchymotique extensif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Etat de Choc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Hémorragie digestive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Polyarthrite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Syndrome méningé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14269098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signes de gravités devant un purpura sont: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Trouble de la conscience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Plaquettes &gt; 20 000/mm³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Hypertension artérielle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Bulle hémorragique </a:t>
            </a:r>
            <a:r>
              <a:rPr lang="fr-FR" sz="2400" dirty="0" err="1"/>
              <a:t>endobuccales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Hémorragie Alvéolaire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signes de gravités devant un purpura sont: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Trouble de la conscience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Plaquettes &gt; 20 000/mm³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Hypertension artérielle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Bulle hémorragique </a:t>
            </a:r>
            <a:r>
              <a:rPr lang="fr-FR" sz="2400" dirty="0" err="1">
                <a:solidFill>
                  <a:srgbClr val="FF0000"/>
                </a:solidFill>
              </a:rPr>
              <a:t>endobuccales</a:t>
            </a:r>
            <a:endParaRPr lang="fr-FR" sz="24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Hémorragie Alvéolaire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133997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signes de gravités devant un purpura sont: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Bulles hémorragiques </a:t>
            </a:r>
            <a:r>
              <a:rPr lang="fr-FR" sz="2400" dirty="0" err="1"/>
              <a:t>endobuccales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Plaquettes &lt; 20 000/mm³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Hypertension artérielle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Hémorragie rétinienne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CIVD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1711998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signes de gravités devant un purpura sont: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Bulles hémorragiques </a:t>
            </a:r>
            <a:r>
              <a:rPr lang="fr-FR" sz="2400" dirty="0" err="1">
                <a:solidFill>
                  <a:srgbClr val="FF0000"/>
                </a:solidFill>
              </a:rPr>
              <a:t>endobuccales</a:t>
            </a:r>
            <a:endParaRPr lang="fr-FR" sz="24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Plaquettes &lt; 20 000/mm³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Hypertension artérielle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Hémorragie rétinienne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CIVD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1181312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En présence d’un purpura pétéchial d’apparition récente chez une fille de 18 ans, vous demandez en première intention dans un but diagnostique: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Taux de Prothrombine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numération des plaquettes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dosage du facteur du </a:t>
            </a:r>
            <a:r>
              <a:rPr lang="fr-FR" sz="2400" dirty="0" err="1"/>
              <a:t>Willebrand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Taux de fibrinogène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TCA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39768313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En présence d’un purpura pétéchial d’apparition récente chez une fille de 18 ans, vous demandez en première intention dans un but diagnostique: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Taux de Prothrombine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Une numération des plaquettes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dosage du facteur du </a:t>
            </a:r>
            <a:r>
              <a:rPr lang="fr-FR" sz="2400" dirty="0" err="1"/>
              <a:t>Willebrand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Taux de fibrinogène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TCA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3958929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Un purpura pétéchial et </a:t>
            </a:r>
            <a:r>
              <a:rPr lang="fr-FR" sz="2400" dirty="0" err="1"/>
              <a:t>écchymotique</a:t>
            </a:r>
            <a:r>
              <a:rPr lang="fr-FR" sz="2400" dirty="0"/>
              <a:t> </a:t>
            </a:r>
            <a:r>
              <a:rPr lang="fr-FR" sz="2400" dirty="0" err="1"/>
              <a:t>cutanéo-muqueux</a:t>
            </a:r>
            <a:r>
              <a:rPr lang="fr-FR" sz="2400" dirty="0"/>
              <a:t>, diffus doit faire discuter: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thrombopénie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hémophilie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déficit en vitamine K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déficit en facteur V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déficit en facteur </a:t>
            </a:r>
            <a:r>
              <a:rPr lang="fr-FR" sz="2400" dirty="0" err="1"/>
              <a:t>Willebrand</a:t>
            </a:r>
            <a:endParaRPr lang="fr-FR" sz="2400" dirty="0"/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Un purpura pétéchial et </a:t>
            </a:r>
            <a:r>
              <a:rPr lang="fr-FR" sz="2400" dirty="0" err="1"/>
              <a:t>écchymotique</a:t>
            </a:r>
            <a:r>
              <a:rPr lang="fr-FR" sz="2400" dirty="0"/>
              <a:t> </a:t>
            </a:r>
            <a:r>
              <a:rPr lang="fr-FR" sz="2400" dirty="0" err="1"/>
              <a:t>cutanéo-muqueux</a:t>
            </a:r>
            <a:r>
              <a:rPr lang="fr-FR" sz="2400" dirty="0"/>
              <a:t>, diffus doit faire discuter: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Une thrombopénie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hémophilie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déficit en vitamine K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déficit en facteur V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déficit en facteur </a:t>
            </a:r>
            <a:r>
              <a:rPr lang="fr-FR" sz="2400" dirty="0" err="1"/>
              <a:t>Willebrand</a:t>
            </a:r>
            <a:endParaRPr lang="fr-FR" sz="2400" dirty="0"/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0319201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Au cours du purpura thrombopénique immunologique, la manifestation hémorragique inhabituelle est : </a:t>
            </a:r>
          </a:p>
          <a:p>
            <a:pPr marL="0" indent="0">
              <a:buNone/>
            </a:pPr>
            <a:endParaRPr lang="fr-FR" sz="2400" dirty="0"/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Les bulles hémorragiques </a:t>
            </a:r>
            <a:r>
              <a:rPr lang="fr-FR" sz="2400" dirty="0" err="1"/>
              <a:t>endo</a:t>
            </a:r>
            <a:r>
              <a:rPr lang="fr-FR" sz="2400" dirty="0"/>
              <a:t>-buccales	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Les ecchymoses 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Les hémorragies au fond d'œil 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Les hémarthroses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Les pétéchies 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33058566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Au cours du purpura thrombopénique immunologique, la manifestation hémorragique inhabituelle est : </a:t>
            </a:r>
          </a:p>
          <a:p>
            <a:pPr marL="0" indent="0">
              <a:buNone/>
            </a:pPr>
            <a:endParaRPr lang="fr-FR" sz="2400" dirty="0"/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Les bulles hémorragiques </a:t>
            </a:r>
            <a:r>
              <a:rPr lang="fr-FR" sz="2400" dirty="0" err="1"/>
              <a:t>endo</a:t>
            </a:r>
            <a:r>
              <a:rPr lang="fr-FR" sz="2400" dirty="0"/>
              <a:t>-buccales	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Les ecchymoses 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Les hémorragies au fond d'œil 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Les hémarthroses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Les pétéchies </a:t>
            </a:r>
          </a:p>
          <a:p>
            <a:pPr marL="457200" lvl="0" indent="-457200">
              <a:buFont typeface="+mj-lt"/>
              <a:buAutoNum type="alphaUcPeriod"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0510301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Concernant le purpura thrombopénique immunologique :</a:t>
            </a:r>
          </a:p>
          <a:p>
            <a:pPr marL="0" indent="0">
              <a:buNone/>
            </a:pPr>
            <a:endParaRPr lang="fr-FR" sz="2400" dirty="0"/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Il est fréquent chez l’enfant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Il s’agit d’un diagnostic d’élimination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La thrombopénie est périphérique par hyperconsommation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Le myélogramme montre une moelle pauvre en mégacaryocytes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Le traitement repose sur la corticothérapie</a:t>
            </a:r>
          </a:p>
          <a:p>
            <a:pPr marL="0" lvl="0" indent="0"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11762653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Concernant le purpura thrombopénique immunologique :</a:t>
            </a:r>
          </a:p>
          <a:p>
            <a:pPr marL="0" indent="0">
              <a:buNone/>
            </a:pPr>
            <a:endParaRPr lang="fr-FR" sz="2400" dirty="0"/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Il est fréquent chez l’enfant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Il s’agit d’un diagnostic d’élimination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La thrombopénie est périphérique par hyperconsommation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/>
              <a:t>Le myélogramme montre une moelle pauvre en mégacaryocytes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Le traitement repose sur la corticothérapie</a:t>
            </a:r>
          </a:p>
          <a:p>
            <a:pPr marL="0" lvl="0" indent="0"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36786046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7182E-7745-6A23-D443-D3FEC1FBE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BE0DE2-CAF4-FF87-386A-6A9A22D4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Concernant la thrombopénie immunologique :</a:t>
            </a:r>
          </a:p>
          <a:p>
            <a:pPr marL="0" indent="0"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C’est la cause la plus fréquente de purpura chez l’enfant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Le myélogramme est toujours indispensable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Il associe destruction périphérique et défaut relatif de production plaquettaire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Le traitement de première ligne est la corticothérapie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Les immunoglobulines IV sont indiquées en cas de syndrome hémorragique sévère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9659737-E9E6-E905-6808-B2B786F97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35965758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3BB97-309F-2C7C-5311-EFE08F862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77B2E7-9C1D-7377-1068-9AC6A3B22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Concernant la thrombopénie immunologique :</a:t>
            </a:r>
          </a:p>
          <a:p>
            <a:pPr marL="0" indent="0"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C’est la cause la plus fréquente de purpura chez l’enfant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Le myélogramme est toujours indispensable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Il associe destruction périphérique et défaut relatif de production plaquettaire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Le traitement de première ligne est la corticothérapie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Les immunoglobulines IV sont indiquées en cas de syndrome hémorragique sévère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0CDBC265-65CD-60CA-4B71-597010A1E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9176450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146306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Concernant le purpura thrombotique thrombocytopénique :</a:t>
            </a:r>
          </a:p>
          <a:p>
            <a:pPr marL="457200" indent="-457200">
              <a:buFont typeface="+mj-lt"/>
              <a:buAutoNum type="alphaUcPeriod"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Il s’agit d’une microangiopathie thrombotique sévère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Il associe fièvre, atteinte neurologique, anémie hémolytique mécanique, thrombopénie, atteinte rénale</a:t>
            </a:r>
          </a:p>
          <a:p>
            <a:pPr marL="457200" indent="-457200">
              <a:buFont typeface="+mj-lt"/>
              <a:buAutoNum type="alphaUcPeriod" startAt="3"/>
            </a:pPr>
            <a:r>
              <a:rPr lang="fr-FR" sz="2400" dirty="0"/>
              <a:t>Il est lié à un déficit en ADAMTS-13</a:t>
            </a:r>
          </a:p>
          <a:p>
            <a:pPr marL="457200" indent="-457200">
              <a:buFont typeface="+mj-lt"/>
              <a:buAutoNum type="alphaUcPeriod" startAt="3"/>
            </a:pPr>
            <a:r>
              <a:rPr lang="fr-FR" sz="2400" dirty="0"/>
              <a:t>Le traitement repose sur la transfusion plaquettaire massive</a:t>
            </a:r>
          </a:p>
          <a:p>
            <a:pPr marL="457200" indent="-457200">
              <a:buFont typeface="+mj-lt"/>
              <a:buAutoNum type="alphaUcPeriod" startAt="3"/>
            </a:pPr>
            <a:r>
              <a:rPr lang="fr-FR" sz="2400" dirty="0"/>
              <a:t>Le traitement de référence est l’échange plasmatique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AA084-FF50-0026-BE95-87BBA909E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64F15D-66C3-B22B-1FE4-DAA15DA9C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1349"/>
            <a:ext cx="1146306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Concernant le purpura thrombotique thrombocytopénique :</a:t>
            </a:r>
          </a:p>
          <a:p>
            <a:pPr marL="457200" indent="-457200">
              <a:buFont typeface="+mj-lt"/>
              <a:buAutoNum type="alphaUcPeriod"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Il s’agit d’une microangiopathie thrombotique sévère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Il associe fièvre, atteinte neurologique, anémie hémolytique mécanique, thrombopénie, atteinte rénale</a:t>
            </a:r>
          </a:p>
          <a:p>
            <a:pPr marL="457200" indent="-457200">
              <a:buFont typeface="+mj-lt"/>
              <a:buAutoNum type="alphaUcPeriod" startAt="3"/>
            </a:pPr>
            <a:r>
              <a:rPr lang="fr-FR" sz="2400" dirty="0">
                <a:solidFill>
                  <a:srgbClr val="FF0000"/>
                </a:solidFill>
              </a:rPr>
              <a:t>Il est lié à un déficit en ADAMTS-13</a:t>
            </a:r>
          </a:p>
          <a:p>
            <a:pPr marL="457200" indent="-457200">
              <a:buFont typeface="+mj-lt"/>
              <a:buAutoNum type="alphaUcPeriod" startAt="3"/>
            </a:pPr>
            <a:r>
              <a:rPr lang="fr-FR" sz="2400" dirty="0"/>
              <a:t>Le traitement repose sur la transfusion plaquettaire massive</a:t>
            </a:r>
          </a:p>
          <a:p>
            <a:pPr marL="457200" indent="-457200">
              <a:buFont typeface="+mj-lt"/>
              <a:buAutoNum type="alphaUcPeriod" startAt="3"/>
            </a:pPr>
            <a:r>
              <a:rPr lang="fr-FR" sz="2400" dirty="0">
                <a:solidFill>
                  <a:srgbClr val="FF0000"/>
                </a:solidFill>
              </a:rPr>
              <a:t>Le traitement de référence est l’échange plasmatique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AF630B2-26A7-0056-7F7D-1044FBEA0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4924509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A32CE-CC55-72D8-CCD9-2D5FEFEC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9AB3C7-CDE8-FA44-4FBC-78747CF29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pathologies suivantes peuvent se manifester par un purpura vasculaire: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Septicémie à staphylocoque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Aplasie médullaire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Endocardite d’Osler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Hémophilie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Rhumatoïde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B2E6BC4-4C04-5D66-DB9A-77A1E207D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455687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pathologies suivantes peuvent se manifester par un purpura vasculaire: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Septicémie à staphylocoque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Aplasie médullaire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Endocardite d’Osler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Hémophilie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Purpura Rhumatoïde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6752331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diagnostic à évoquer devant un tableau de fièvre à 39°C, état de choc, coma avec un purpura des quatre membres: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thrombotique thrombopénique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Méningo-encéphalite virale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thrombopénique idiopathique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Choc anaphylactique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</a:t>
            </a:r>
            <a:r>
              <a:rPr lang="fr-FR" sz="2400" dirty="0" err="1"/>
              <a:t>Fulminans</a:t>
            </a:r>
            <a:endParaRPr lang="fr-FR" sz="2400" dirty="0"/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0151882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diagnostic à évoquer devant un tableau de fièvre à 39°C, état de choc, coma avec un purpura des quatre membres: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thrombotique thrombopénique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Méningo-encéphalite virale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thrombopénique idiopathique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Choc anaphylactique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Purpura </a:t>
            </a:r>
            <a:r>
              <a:rPr lang="fr-FR" sz="2400" dirty="0" err="1">
                <a:solidFill>
                  <a:srgbClr val="FF0000"/>
                </a:solidFill>
              </a:rPr>
              <a:t>Fulminans</a:t>
            </a:r>
            <a:endParaRPr lang="fr-FR" sz="2400" dirty="0">
              <a:solidFill>
                <a:srgbClr val="FF0000"/>
              </a:solidFill>
            </a:endParaRP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10023566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7BB1C-4570-8BF2-4C12-4C74FC7FE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5B3A83-49DA-7A46-208F-A653AB80C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diagnostic à évoquer devant un tableau de purpura fébrile avec souffle à l’auscultation cardiaque: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thrombotique thrombopénique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Méningo-encéphalite virale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thrombopénique idiopathique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Choc anaphylactique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Endocardite d’Osler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B2E842B-68DE-2648-A33F-048E0E1E1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1214654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42E35-E6A4-85BC-31E5-3207952A9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878D03-C94F-4D42-4C48-82CCF5998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diagnostic à évoquer devant un tableau de purpura fébrile avec souffle à l’auscultation cardiaque: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thrombotique thrombopénique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Méningo-encéphalite virale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thrombopénique idiopathique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Choc anaphylactique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Endocardite d’Osler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1052091-3E31-D989-9689-4E568B67D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397BD65-F234-6B7D-DAA8-02652A90E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64" y="5301208"/>
            <a:ext cx="8726118" cy="1105054"/>
          </a:xfrm>
          <a:prstGeom prst="rect">
            <a:avLst/>
          </a:prstGeom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645549E-0844-15DD-9E62-C575216937E3}"/>
              </a:ext>
            </a:extLst>
          </p:cNvPr>
          <p:cNvCxnSpPr/>
          <p:nvPr/>
        </p:nvCxnSpPr>
        <p:spPr>
          <a:xfrm>
            <a:off x="7248128" y="5661248"/>
            <a:ext cx="2304256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1E5DA8E-C07A-E069-5C06-4138438F5B2F}"/>
              </a:ext>
            </a:extLst>
          </p:cNvPr>
          <p:cNvCxnSpPr/>
          <p:nvPr/>
        </p:nvCxnSpPr>
        <p:spPr>
          <a:xfrm>
            <a:off x="1487488" y="6021288"/>
            <a:ext cx="2304256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D0ECBEC-1FF9-819F-20F3-8425CD0ABDB6}"/>
              </a:ext>
            </a:extLst>
          </p:cNvPr>
          <p:cNvCxnSpPr/>
          <p:nvPr/>
        </p:nvCxnSpPr>
        <p:spPr>
          <a:xfrm>
            <a:off x="7392144" y="6067981"/>
            <a:ext cx="2304256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645C1BA-B9D0-84B7-CB89-6C5F600491A8}"/>
              </a:ext>
            </a:extLst>
          </p:cNvPr>
          <p:cNvCxnSpPr>
            <a:cxnSpLocks/>
          </p:cNvCxnSpPr>
          <p:nvPr/>
        </p:nvCxnSpPr>
        <p:spPr>
          <a:xfrm>
            <a:off x="1487488" y="6406262"/>
            <a:ext cx="1224136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76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1700808"/>
            <a:ext cx="11377264" cy="49251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Un purpura infiltré et nécrotique des membres inférieurs chez un adolescent, en association à des douleurs abdominales, évoque en premier lieu : 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thrombopénique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Fibrinolyse aigue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par </a:t>
            </a:r>
            <a:r>
              <a:rPr lang="fr-FR" sz="2400" dirty="0" err="1"/>
              <a:t>thrombopathie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rhumatoïde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</a:t>
            </a:r>
            <a:r>
              <a:rPr lang="fr-FR" sz="2400" dirty="0" err="1"/>
              <a:t>dysglobulinémique</a:t>
            </a:r>
            <a:endParaRPr lang="fr-FR" sz="2400" dirty="0"/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1700808"/>
            <a:ext cx="11377264" cy="49251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Un purpura infiltré et nécrotique des membres inférieurs chez un adolescent, en association à des douleurs abdominales, évoque en premier lieu : 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thrombopénique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Fibrinolyse aigue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par </a:t>
            </a:r>
            <a:r>
              <a:rPr lang="fr-FR" sz="2400" dirty="0" err="1"/>
              <a:t>thrombopathie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Purpura rhumatoïde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</a:t>
            </a:r>
            <a:r>
              <a:rPr lang="fr-FR" sz="2400" dirty="0" err="1"/>
              <a:t>dysglobulinémique</a:t>
            </a:r>
            <a:endParaRPr lang="fr-FR" sz="2400" dirty="0"/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5959A94-BC7D-2C18-6893-3213A0D6B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872" y="2996952"/>
            <a:ext cx="6311400" cy="30963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343C134-57E6-0A9D-BE14-1DED17689244}"/>
              </a:ext>
            </a:extLst>
          </p:cNvPr>
          <p:cNvSpPr/>
          <p:nvPr/>
        </p:nvSpPr>
        <p:spPr>
          <a:xfrm>
            <a:off x="5735960" y="3429000"/>
            <a:ext cx="2088232" cy="216024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C7C8FD-1D25-6201-91DC-5C27B2130A8A}"/>
              </a:ext>
            </a:extLst>
          </p:cNvPr>
          <p:cNvSpPr/>
          <p:nvPr/>
        </p:nvSpPr>
        <p:spPr>
          <a:xfrm>
            <a:off x="5051884" y="4077072"/>
            <a:ext cx="1044116" cy="216024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13CEC1-C5FD-9CC1-7B9C-2FE79AE4E51D}"/>
              </a:ext>
            </a:extLst>
          </p:cNvPr>
          <p:cNvSpPr/>
          <p:nvPr/>
        </p:nvSpPr>
        <p:spPr>
          <a:xfrm>
            <a:off x="8400256" y="4055368"/>
            <a:ext cx="2016224" cy="216024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0BD6BB-2F79-4C41-AC7A-818B6D884959}"/>
              </a:ext>
            </a:extLst>
          </p:cNvPr>
          <p:cNvSpPr/>
          <p:nvPr/>
        </p:nvSpPr>
        <p:spPr>
          <a:xfrm>
            <a:off x="6312024" y="4365015"/>
            <a:ext cx="2088232" cy="216024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4107E5-9BE5-3225-22FC-D711474844E9}"/>
              </a:ext>
            </a:extLst>
          </p:cNvPr>
          <p:cNvSpPr/>
          <p:nvPr/>
        </p:nvSpPr>
        <p:spPr>
          <a:xfrm>
            <a:off x="5051884" y="5301030"/>
            <a:ext cx="2088232" cy="216024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CFB8D-EFF5-8813-5FBB-DE418278483C}"/>
              </a:ext>
            </a:extLst>
          </p:cNvPr>
          <p:cNvSpPr/>
          <p:nvPr/>
        </p:nvSpPr>
        <p:spPr>
          <a:xfrm>
            <a:off x="10632503" y="4941168"/>
            <a:ext cx="900739" cy="216024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37459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00808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La présence d’une sinusite chronique associée à un purpura vasculaire oriente vers le diagnostic de: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Granulomatose avec </a:t>
            </a:r>
            <a:r>
              <a:rPr lang="fr-FR" sz="2400" dirty="0" err="1"/>
              <a:t>polyangéite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Granulomatose </a:t>
            </a:r>
            <a:r>
              <a:rPr lang="fr-FR" sz="2400" dirty="0" err="1"/>
              <a:t>éosinophilique</a:t>
            </a:r>
            <a:r>
              <a:rPr lang="fr-FR" sz="2400" dirty="0"/>
              <a:t> avec </a:t>
            </a:r>
            <a:r>
              <a:rPr lang="fr-FR" sz="2400" dirty="0" err="1"/>
              <a:t>polyangéite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Vascularite </a:t>
            </a:r>
            <a:r>
              <a:rPr lang="fr-FR" sz="2400" dirty="0" err="1"/>
              <a:t>cryoglobulinémique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Rhumatoïde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/>
              <a:t>Périartérite</a:t>
            </a:r>
            <a:r>
              <a:rPr lang="fr-FR" sz="2400" dirty="0"/>
              <a:t> noueuse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00808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La présence d’une sinusite chronique associée à un purpura vasculaire oriente vers le diagnostic de: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Granulomatose avec </a:t>
            </a:r>
            <a:r>
              <a:rPr lang="fr-FR" sz="2400" dirty="0" err="1">
                <a:solidFill>
                  <a:srgbClr val="FF0000"/>
                </a:solidFill>
              </a:rPr>
              <a:t>polyangéite</a:t>
            </a:r>
            <a:endParaRPr lang="fr-FR" sz="24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Granulomatose </a:t>
            </a:r>
            <a:r>
              <a:rPr lang="fr-FR" sz="2400" dirty="0" err="1"/>
              <a:t>éosinophilique</a:t>
            </a:r>
            <a:r>
              <a:rPr lang="fr-FR" sz="2400" dirty="0"/>
              <a:t> avec </a:t>
            </a:r>
            <a:r>
              <a:rPr lang="fr-FR" sz="2400" dirty="0" err="1"/>
              <a:t>polyangéite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Vascularite </a:t>
            </a:r>
            <a:r>
              <a:rPr lang="fr-FR" sz="2400" dirty="0" err="1"/>
              <a:t>cryoglobulinémique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Rhumatoïde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/>
              <a:t>Périartérite</a:t>
            </a:r>
            <a:r>
              <a:rPr lang="fr-FR" sz="2400" dirty="0"/>
              <a:t> noueuse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85DB650-D925-B63F-E167-0593BDE77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752" y="4581128"/>
            <a:ext cx="8030696" cy="142894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E3BDC4-E78E-EA8F-F9C4-AD1395863334}"/>
              </a:ext>
            </a:extLst>
          </p:cNvPr>
          <p:cNvSpPr/>
          <p:nvPr/>
        </p:nvSpPr>
        <p:spPr>
          <a:xfrm>
            <a:off x="3980803" y="5013176"/>
            <a:ext cx="2088232" cy="216024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3D2239D-72C4-17C7-EA8D-1FB82588761B}"/>
              </a:ext>
            </a:extLst>
          </p:cNvPr>
          <p:cNvCxnSpPr>
            <a:cxnSpLocks/>
          </p:cNvCxnSpPr>
          <p:nvPr/>
        </p:nvCxnSpPr>
        <p:spPr>
          <a:xfrm>
            <a:off x="8040216" y="5229200"/>
            <a:ext cx="1224136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4FAD6AE-187F-CD24-9BE7-6ADFDFB65814}"/>
              </a:ext>
            </a:extLst>
          </p:cNvPr>
          <p:cNvSpPr/>
          <p:nvPr/>
        </p:nvSpPr>
        <p:spPr>
          <a:xfrm>
            <a:off x="4007768" y="5307108"/>
            <a:ext cx="3456384" cy="354139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553097-EF97-14BB-32F9-17F806266998}"/>
              </a:ext>
            </a:extLst>
          </p:cNvPr>
          <p:cNvSpPr/>
          <p:nvPr/>
        </p:nvSpPr>
        <p:spPr>
          <a:xfrm>
            <a:off x="7875636" y="5307108"/>
            <a:ext cx="2842668" cy="285081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5CCA3E05-23A0-D197-0C54-A2A8309ACCB4}"/>
              </a:ext>
            </a:extLst>
          </p:cNvPr>
          <p:cNvCxnSpPr>
            <a:cxnSpLocks/>
          </p:cNvCxnSpPr>
          <p:nvPr/>
        </p:nvCxnSpPr>
        <p:spPr>
          <a:xfrm>
            <a:off x="4583832" y="6010077"/>
            <a:ext cx="432048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98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La présence d’un Asthme tardif associée à un purpura vasculaire  et </a:t>
            </a:r>
            <a:r>
              <a:rPr lang="fr-FR" sz="2400" dirty="0" err="1"/>
              <a:t>hyperéosinophilie</a:t>
            </a:r>
            <a:r>
              <a:rPr lang="fr-FR" sz="2400" dirty="0"/>
              <a:t> oriente vers le diagnostic suivant: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Granulomatose avec </a:t>
            </a:r>
            <a:r>
              <a:rPr lang="fr-FR" sz="2400" dirty="0" err="1"/>
              <a:t>polyangéite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Granulomatose </a:t>
            </a:r>
            <a:r>
              <a:rPr lang="fr-FR" sz="2400" dirty="0" err="1"/>
              <a:t>éosinophilique</a:t>
            </a:r>
            <a:r>
              <a:rPr lang="fr-FR" sz="2400" dirty="0"/>
              <a:t> avec </a:t>
            </a:r>
            <a:r>
              <a:rPr lang="fr-FR" sz="2400" dirty="0" err="1"/>
              <a:t>polyangéite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Vascularite </a:t>
            </a:r>
            <a:r>
              <a:rPr lang="fr-FR" sz="2400" dirty="0" err="1"/>
              <a:t>cryoglobulinémique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Rhumatoïde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/>
              <a:t>Périartérite</a:t>
            </a:r>
            <a:r>
              <a:rPr lang="fr-FR" sz="2400" dirty="0"/>
              <a:t> noueuse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La présence d’un Asthme tardif associée à un purpura vasculaire  et </a:t>
            </a:r>
            <a:r>
              <a:rPr lang="fr-FR" sz="2400" dirty="0" err="1"/>
              <a:t>hyperéosinophilie</a:t>
            </a:r>
            <a:r>
              <a:rPr lang="fr-FR" sz="2400" dirty="0"/>
              <a:t> oriente vers le diagnostic suivant: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Granulomatose avec </a:t>
            </a:r>
            <a:r>
              <a:rPr lang="fr-FR" sz="2400" dirty="0" err="1"/>
              <a:t>polyangéite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Granulomatose </a:t>
            </a:r>
            <a:r>
              <a:rPr lang="fr-FR" sz="2400" dirty="0" err="1">
                <a:solidFill>
                  <a:srgbClr val="FF0000"/>
                </a:solidFill>
              </a:rPr>
              <a:t>éosinophilique</a:t>
            </a:r>
            <a:r>
              <a:rPr lang="fr-FR" sz="2400" dirty="0">
                <a:solidFill>
                  <a:srgbClr val="FF0000"/>
                </a:solidFill>
              </a:rPr>
              <a:t> avec </a:t>
            </a:r>
            <a:r>
              <a:rPr lang="fr-FR" sz="2400" dirty="0" err="1">
                <a:solidFill>
                  <a:srgbClr val="FF0000"/>
                </a:solidFill>
              </a:rPr>
              <a:t>polyangéite</a:t>
            </a:r>
            <a:endParaRPr lang="fr-FR" sz="24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Vascularite </a:t>
            </a:r>
            <a:r>
              <a:rPr lang="fr-FR" sz="2400" dirty="0" err="1"/>
              <a:t>cryoglobulinémique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Rhumatoïde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/>
              <a:t>Périartérite</a:t>
            </a:r>
            <a:r>
              <a:rPr lang="fr-FR" sz="2400" dirty="0"/>
              <a:t> noueuse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A2F14B0-FD07-AF33-8067-22F617C12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744" y="4760662"/>
            <a:ext cx="8097380" cy="14956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0A404F-A465-5FB2-9FD2-D1B1067B795F}"/>
              </a:ext>
            </a:extLst>
          </p:cNvPr>
          <p:cNvSpPr/>
          <p:nvPr/>
        </p:nvSpPr>
        <p:spPr>
          <a:xfrm>
            <a:off x="4655840" y="5146650"/>
            <a:ext cx="2376264" cy="226565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526FC-96E8-0DC1-5954-A6AB1316BBF6}"/>
              </a:ext>
            </a:extLst>
          </p:cNvPr>
          <p:cNvSpPr/>
          <p:nvPr/>
        </p:nvSpPr>
        <p:spPr>
          <a:xfrm>
            <a:off x="7536160" y="5146649"/>
            <a:ext cx="3744416" cy="226565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7BFC2CD-2B8A-21E2-383E-646E2A632739}"/>
              </a:ext>
            </a:extLst>
          </p:cNvPr>
          <p:cNvCxnSpPr>
            <a:cxnSpLocks/>
          </p:cNvCxnSpPr>
          <p:nvPr/>
        </p:nvCxnSpPr>
        <p:spPr>
          <a:xfrm>
            <a:off x="3935760" y="5805264"/>
            <a:ext cx="764664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80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00808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La présence d’une </a:t>
            </a:r>
            <a:r>
              <a:rPr lang="fr-FR" sz="2400" dirty="0" err="1"/>
              <a:t>Orchyépididymite</a:t>
            </a:r>
            <a:r>
              <a:rPr lang="fr-FR" sz="2400" dirty="0"/>
              <a:t> , hypertension artérielle sévère et un purpura vasculaire oriente vers le diagnostic suivant: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Granulomatose avec </a:t>
            </a:r>
            <a:r>
              <a:rPr lang="fr-FR" sz="2400" dirty="0" err="1"/>
              <a:t>polyangéite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Granulomatose </a:t>
            </a:r>
            <a:r>
              <a:rPr lang="fr-FR" sz="2400" dirty="0" err="1"/>
              <a:t>éosinophilique</a:t>
            </a:r>
            <a:r>
              <a:rPr lang="fr-FR" sz="2400" dirty="0"/>
              <a:t> avec </a:t>
            </a:r>
            <a:r>
              <a:rPr lang="fr-FR" sz="2400" dirty="0" err="1"/>
              <a:t>polyangéite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Vascularite </a:t>
            </a:r>
            <a:r>
              <a:rPr lang="fr-FR" sz="2400" dirty="0" err="1"/>
              <a:t>cryoglobulinémique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Rhumatoïde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/>
              <a:t>Périartérite</a:t>
            </a:r>
            <a:r>
              <a:rPr lang="fr-FR" sz="2400" dirty="0"/>
              <a:t> noueuse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00808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La présence d’une </a:t>
            </a:r>
            <a:r>
              <a:rPr lang="fr-FR" sz="2400" dirty="0" err="1"/>
              <a:t>Orchyépididymite</a:t>
            </a:r>
            <a:r>
              <a:rPr lang="fr-FR" sz="2400" dirty="0"/>
              <a:t> , hypertension artérielle sévère et un purpura vasculaire oriente vers le diagnostic suivant: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Granulomatose avec </a:t>
            </a:r>
            <a:r>
              <a:rPr lang="fr-FR" sz="2400" dirty="0" err="1"/>
              <a:t>polyangéite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Granulomatose </a:t>
            </a:r>
            <a:r>
              <a:rPr lang="fr-FR" sz="2400" dirty="0" err="1"/>
              <a:t>éosinophilique</a:t>
            </a:r>
            <a:r>
              <a:rPr lang="fr-FR" sz="2400" dirty="0"/>
              <a:t> avec </a:t>
            </a:r>
            <a:r>
              <a:rPr lang="fr-FR" sz="2400" dirty="0" err="1"/>
              <a:t>polyangéite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Vascularite </a:t>
            </a:r>
            <a:r>
              <a:rPr lang="fr-FR" sz="2400" dirty="0" err="1"/>
              <a:t>cryoglobulinémique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Rhumatoïde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>
                <a:solidFill>
                  <a:srgbClr val="FF0000"/>
                </a:solidFill>
              </a:rPr>
              <a:t>Périartérite</a:t>
            </a:r>
            <a:r>
              <a:rPr lang="fr-FR" sz="2400" dirty="0">
                <a:solidFill>
                  <a:srgbClr val="FF0000"/>
                </a:solidFill>
              </a:rPr>
              <a:t> noueuse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7690179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Dans un purpura thrombopénique immunologique: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La moelle est riche en Mégacaryocytes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Les adénopathies sont un signe fréquent de la maladie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La splénomégalie est absente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Les anticorps </a:t>
            </a:r>
            <a:r>
              <a:rPr lang="fr-FR" sz="2400" dirty="0" err="1"/>
              <a:t>antiphospholipides</a:t>
            </a:r>
            <a:r>
              <a:rPr lang="fr-FR" sz="2400" dirty="0"/>
              <a:t> sont positifs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Le risque hémorragique contre indique les corticoïdes per os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Dans un purpura thrombopénique immunologique: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La moelle est riche en Mégacaryocytes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Les adénopathies sont un signe fréquent de la maladie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La splénomégalie est absente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Les anticorps </a:t>
            </a:r>
            <a:r>
              <a:rPr lang="fr-FR" sz="2400" dirty="0" err="1"/>
              <a:t>antiphospholipides</a:t>
            </a:r>
            <a:r>
              <a:rPr lang="fr-FR" sz="2400" dirty="0"/>
              <a:t> sont positifs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Le risque hémorragique contre indique les corticoïdes per os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9544307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Un purpura avec un temps de saignement normal peut se voir au cours: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purpura Rhumatoïde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prise d’Aspirine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</a:t>
            </a:r>
            <a:r>
              <a:rPr lang="fr-FR" sz="2400" dirty="0" err="1"/>
              <a:t>Thrombopathie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</a:t>
            </a:r>
            <a:r>
              <a:rPr lang="fr-FR" sz="2400" dirty="0" err="1"/>
              <a:t>Dysglobulinémie</a:t>
            </a:r>
            <a:r>
              <a:rPr lang="fr-FR" sz="2400" dirty="0"/>
              <a:t> monoclonale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Vascularite </a:t>
            </a:r>
            <a:r>
              <a:rPr lang="fr-FR" sz="2400" dirty="0" err="1"/>
              <a:t>cryoglobulinémique</a:t>
            </a:r>
            <a:endParaRPr lang="fr-FR" sz="2400" dirty="0"/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Un purpura avec un temps de saignement normal peut se voir au cours: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Un purpura Rhumatoïde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prise d’Aspirine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</a:t>
            </a:r>
            <a:r>
              <a:rPr lang="fr-FR" sz="2400" dirty="0" err="1"/>
              <a:t>Thrombopathie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</a:t>
            </a:r>
            <a:r>
              <a:rPr lang="fr-FR" sz="2400" dirty="0" err="1"/>
              <a:t>Dysglobulinémie</a:t>
            </a:r>
            <a:r>
              <a:rPr lang="fr-FR" sz="2400" dirty="0"/>
              <a:t> monoclonale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Vascularite </a:t>
            </a:r>
            <a:r>
              <a:rPr lang="fr-FR" sz="2400" dirty="0" err="1">
                <a:solidFill>
                  <a:srgbClr val="FF0000"/>
                </a:solidFill>
              </a:rPr>
              <a:t>cryoglobulinémique</a:t>
            </a:r>
            <a:endParaRPr lang="fr-FR" sz="2400" dirty="0">
              <a:solidFill>
                <a:srgbClr val="FF0000"/>
              </a:solidFill>
            </a:endParaRP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35698498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Un purpura pétéchial peut se voir en cas de: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Syndrome de </a:t>
            </a:r>
            <a:r>
              <a:rPr lang="fr-FR" sz="2400" dirty="0" err="1"/>
              <a:t>Mosckowvitz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/>
              <a:t>Cryoglobulinémie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Avitaminose K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Maladie de </a:t>
            </a:r>
            <a:r>
              <a:rPr lang="fr-FR" sz="2400" dirty="0" err="1"/>
              <a:t>Willebrand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Hémophilie B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Un purpura pétéchial peut se voir en cas de: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Syndrome de </a:t>
            </a:r>
            <a:r>
              <a:rPr lang="fr-FR" sz="2400" dirty="0" err="1">
                <a:solidFill>
                  <a:srgbClr val="FF0000"/>
                </a:solidFill>
              </a:rPr>
              <a:t>Mosckowvitz</a:t>
            </a:r>
            <a:endParaRPr lang="fr-FR" sz="24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/>
              <a:t>Cryoglobulinémie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Avitaminose K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Maladie de </a:t>
            </a:r>
            <a:r>
              <a:rPr lang="fr-FR" sz="2400" dirty="0" err="1"/>
              <a:t>Willebrand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Hémophilie B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9712180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En dehors du purpura vasculaire, le purpura rhumatoïde peut se manifester par: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Arthralgies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Douleur Abdominale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Néphropathie glomérulaire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Neuropathie périphérique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Phénomène de Raynaud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En dehors du purpura vasculaire, le purpura rhumatoïde peut se manifester par: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Arthralgies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Douleur Abdominale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Néphropathie glomérulaire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Neuropathie périphérique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Phénomène de Raynaud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16175324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caractéristiques du purpura thrombopénique  sont: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Présence de Pétéchies et ecchymoses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Association à d’autre manifestations hémorragiques des muqueuses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Taux de plaquettes &lt;50.000/mm³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Association à des arthralgies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Association à un TOP allongé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caractéristiques du purpura thrombopénique  sont: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Présence de Pétéchies et ecchymoses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Association à d’autre manifestations hémorragiques des muqueuses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Taux de plaquettes &lt;50.000/mm³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Association à des arthralgies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Association à un TOP allongé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2204511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Une </a:t>
            </a:r>
            <a:r>
              <a:rPr lang="fr-FR" sz="2400" dirty="0" err="1"/>
              <a:t>amégacaryocytose</a:t>
            </a:r>
            <a:r>
              <a:rPr lang="fr-FR" sz="2400" dirty="0"/>
              <a:t> acquise isolée se caractérise par: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anémie profonde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L’absence de mégacaryocyte au myélogramme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La présence d’une densité cellulaire normale dans la BOM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Le plus souvent d’origine toxique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purpura de type vasculaire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Une </a:t>
            </a:r>
            <a:r>
              <a:rPr lang="fr-FR" sz="2400" dirty="0" err="1"/>
              <a:t>amégacaryocytose</a:t>
            </a:r>
            <a:r>
              <a:rPr lang="fr-FR" sz="2400" dirty="0"/>
              <a:t> acquise isolée se caractérise par: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anémie profonde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L’absence de mégacaryocyte au myélogramme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La présence d’une densité </a:t>
            </a:r>
            <a:r>
              <a:rPr lang="fr-FR" sz="2400"/>
              <a:t>des mégacaryocytes </a:t>
            </a:r>
            <a:r>
              <a:rPr lang="fr-FR" sz="2400" dirty="0"/>
              <a:t>normale dans la BOM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Le plus souvent d’origine toxique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purpura de type vasculaire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196975415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Un purpura thrombopénique peut se voir au cours des pathologies suivantes: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/>
              <a:t>Amégacaryocytose</a:t>
            </a:r>
            <a:r>
              <a:rPr lang="fr-FR" sz="2400" dirty="0"/>
              <a:t> acquise isolée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Aplasie médullaire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Endocardite infectieuse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Polyarthrite rhumatoïde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Hypersplénisme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Un purpura thrombopénique peut se voir au cours des pathologies suivantes: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>
                <a:solidFill>
                  <a:srgbClr val="FF0000"/>
                </a:solidFill>
              </a:rPr>
              <a:t>Amégacaryocytose</a:t>
            </a:r>
            <a:r>
              <a:rPr lang="fr-FR" sz="2400" dirty="0">
                <a:solidFill>
                  <a:srgbClr val="FF0000"/>
                </a:solidFill>
              </a:rPr>
              <a:t> acquise isolée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Aplasie médullaire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Endocardite infectieuse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Polyarthrite rhumatoïde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Hypersplénisme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16284835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1391056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chez un enfant âgé de 3 ans présentant des lésions </a:t>
            </a:r>
            <a:r>
              <a:rPr lang="fr-FR" sz="2400" dirty="0" err="1"/>
              <a:t>purpuriques</a:t>
            </a:r>
            <a:r>
              <a:rPr lang="fr-FR" sz="2400" dirty="0"/>
              <a:t> pétéchiales, en faveur d’une thrombopénie constitutionnelle: 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Présence d’une splénomégalie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myélogramme normal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Bilan immunologique négatif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Sérologies virales négatives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Absence de prise médicamenteuse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endParaRPr lang="fr-FR" sz="2400" dirty="0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1391056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chez un enfant âgé de 3 ans présentant des lésions </a:t>
            </a:r>
            <a:r>
              <a:rPr lang="fr-FR" sz="2400" dirty="0" err="1"/>
              <a:t>purpuriques</a:t>
            </a:r>
            <a:r>
              <a:rPr lang="fr-FR" sz="2400" dirty="0"/>
              <a:t> pétéchiales, en faveur d’une thrombopénie constitutionnelle: 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Présence d’une splénomégalie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Un myélogramme normal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Bilan immunologique négatif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Sérologies virales négatives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Absence de prise médicamenteuse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18648453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pathologies suivantes sont à l’origine d’une thrombopénie par consommation: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Hypersplénisme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Coagulation intravasculaire disséminée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thrombotique thrombopénique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Lupus érythémateux systémique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Syndrome Hémolytique et Urémique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pathologies suivantes sont à l’origine d’une thrombopénie par consommation: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Hypersplénisme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Coagulation intravasculaire disséminée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Purpura thrombotique thrombopénique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Lupus érythémateux systémique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Syndrome Hémolytique et Urémique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82789644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examens complémentaires à demander devant un purpura vasculaire sont: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Biopsie cutanée avec IFD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Bilan inflammatoire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Temps de saignement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Protéinurie de 24h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Electrophorèse de l’hémoglobine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examens complémentaires à demander devant un purpura vasculaire sont: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Biopsie cutanée avec IFD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Bilan inflammatoire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Temps de saignement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Protéinurie de 24h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Electrophorèse de l’hémoglobine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57668493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L’étiologie la plus fréquente de purpura vasculaire est: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Vascularite d’hypersensibilité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Vascularite à ANCA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Connectivite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Hémopathie maligne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Vascularite à complexe immuns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L’étiologie la plus fréquente de purpura vasculaire est: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Vascularite d’hypersensibilité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Vascularite à ANCA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Connectivite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Hémopathie maligne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Vascularite à complexe immuns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55771678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Un purpura vasculaire associé à un syndrome infectieux et un souffle cardiaque évoque en premier lieux: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endocardite infectieuse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purpura </a:t>
            </a:r>
            <a:r>
              <a:rPr lang="fr-FR" sz="2400" dirty="0" err="1"/>
              <a:t>fulminans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Leishmaniose viscérale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Paludisme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Septicémie à streptocoque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Un purpura vasculaire associé à un syndrome infectieux et un souffle cardiaque évoque en premier lieux: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Une endocardite infectieuse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purpura </a:t>
            </a:r>
            <a:r>
              <a:rPr lang="fr-FR" sz="2400" dirty="0" err="1"/>
              <a:t>fulminans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Leishmaniose viscérale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Paludisme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Septicémie à streptocoque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105446545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Devant un purpura vasculaire extensif et nécrotique fébrile, le premier diagnostic à évoquer: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Endocardite infectieuse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</a:t>
            </a:r>
            <a:r>
              <a:rPr lang="fr-FR" sz="2400" dirty="0" err="1"/>
              <a:t>fulminans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Septicémie à staphylocoque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Lupus érythémateux disséminé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/>
              <a:t>Périartérite</a:t>
            </a:r>
            <a:r>
              <a:rPr lang="fr-FR" sz="2400" dirty="0"/>
              <a:t> noueuse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Devant un purpura vasculaire extensif et nécrotique fébrile, le premier diagnostic à évoquer: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Endocardite infectieuse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Purpura </a:t>
            </a:r>
            <a:r>
              <a:rPr lang="fr-FR" sz="2400" dirty="0" err="1">
                <a:solidFill>
                  <a:srgbClr val="FF0000"/>
                </a:solidFill>
              </a:rPr>
              <a:t>fulminans</a:t>
            </a:r>
            <a:endParaRPr lang="fr-FR" sz="24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Septicémie à staphylocoque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Lupus érythémateux disséminé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 err="1"/>
              <a:t>Périartérite</a:t>
            </a:r>
            <a:r>
              <a:rPr lang="fr-FR" sz="2400" dirty="0"/>
              <a:t> noueuse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39576312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lésions </a:t>
            </a:r>
            <a:r>
              <a:rPr lang="fr-FR" sz="2400" dirty="0" err="1"/>
              <a:t>purpuriques</a:t>
            </a:r>
            <a:r>
              <a:rPr lang="fr-FR" sz="2400" dirty="0"/>
              <a:t> au cours du purpura rhumatoïde: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S’accompagnent de trouble de la crase sanguine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Précédé souvent d’une infection rhinopharyngée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Peuvent être nécrotique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Sont souvent associées à des arthralgies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Sont caractérisées par un dépôt à </a:t>
            </a:r>
            <a:r>
              <a:rPr lang="fr-FR" sz="2400" dirty="0" err="1"/>
              <a:t>IgA</a:t>
            </a:r>
            <a:endParaRPr lang="fr-FR" sz="2400" dirty="0"/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lésions </a:t>
            </a:r>
            <a:r>
              <a:rPr lang="fr-FR" sz="2400" dirty="0" err="1"/>
              <a:t>purpuriques</a:t>
            </a:r>
            <a:r>
              <a:rPr lang="fr-FR" sz="2400" dirty="0"/>
              <a:t> au cours du purpura rhumatoïde: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S’accompagnent de trouble de la crase sanguine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Précédé souvent d’une infection rhinopharyngée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Peuvent être nécrotique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Sont souvent associées à des arthralgies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Sont caractérisées par un dépôt à </a:t>
            </a:r>
            <a:r>
              <a:rPr lang="fr-FR" sz="2400" dirty="0" err="1">
                <a:solidFill>
                  <a:srgbClr val="FF0000"/>
                </a:solidFill>
              </a:rPr>
              <a:t>IgA</a:t>
            </a:r>
            <a:endParaRPr lang="fr-FR" sz="2400" dirty="0">
              <a:solidFill>
                <a:srgbClr val="FF0000"/>
              </a:solidFill>
            </a:endParaRP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36238504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au cours du purpura rhumatoïde est caractérisé sur le plan histologique par: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aspect de vascularite </a:t>
            </a:r>
            <a:r>
              <a:rPr lang="fr-FR" sz="2400" dirty="0" err="1"/>
              <a:t>leucocytoclasique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dépôt vasculaire à </a:t>
            </a:r>
            <a:r>
              <a:rPr lang="fr-FR" sz="2400" dirty="0" err="1"/>
              <a:t>IgA</a:t>
            </a: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Présence de granulome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Dépôt d’éosinophiles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Dépôt de complément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 purpura au cours du purpura rhumatoïde est caractérisé sur le plan histologique par: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Un aspect de vascularite </a:t>
            </a:r>
            <a:r>
              <a:rPr lang="fr-FR" sz="2400" dirty="0" err="1">
                <a:solidFill>
                  <a:srgbClr val="FF0000"/>
                </a:solidFill>
              </a:rPr>
              <a:t>leucocytoclasique</a:t>
            </a:r>
            <a:endParaRPr lang="fr-FR" sz="24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Un dépôt vasculaire à </a:t>
            </a:r>
            <a:r>
              <a:rPr lang="fr-FR" sz="2400" dirty="0" err="1">
                <a:solidFill>
                  <a:srgbClr val="FF0000"/>
                </a:solidFill>
              </a:rPr>
              <a:t>IgA</a:t>
            </a:r>
            <a:endParaRPr lang="fr-FR" sz="24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Présence de granulome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Dépôt d’éosinophiles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Dépôt de complément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151430846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signes de gravité d’un purpura rhumatoïde sont: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Rectorragies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Atteinte rénale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Polyarthrite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Fièvre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nécrotique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signes de gravité d’un purpura rhumatoïde sont: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Rectorragies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Atteinte rénale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Polyarthrite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Fièvre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nécrotique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318785216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étiologies de purpura vasculaire par fragilité vasculaire sont: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sénile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Carence en vitamine C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Effort de vomissement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Lupus érythémateux systémique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Endocardite infectieuse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Les étiologies de purpura vasculaire par fragilité vasculaire sont: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Purpura sénile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Carence en vitamine C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Effort de vomissement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Lupus érythémateux systémique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Endocardite infectieuse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402025615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Un purpura thrombopénique peut être observé au cours de : </a:t>
            </a:r>
          </a:p>
          <a:p>
            <a:pPr marL="0" indent="0"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coagulation </a:t>
            </a:r>
            <a:r>
              <a:rPr lang="fr-FR" sz="2400" dirty="0" err="1"/>
              <a:t>intra-vasculaire</a:t>
            </a:r>
            <a:r>
              <a:rPr lang="fr-FR" sz="2400" dirty="0"/>
              <a:t> disséminée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infection par le virus HIV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lupus érythémateux aigu disséminé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traitement par les corticoïdes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traitement par les immunoglobulines intraveineuses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121680519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Un purpura thrombopénique peut être observé au cours de : </a:t>
            </a:r>
          </a:p>
          <a:p>
            <a:pPr marL="0" indent="0"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Une coagulation </a:t>
            </a:r>
            <a:r>
              <a:rPr lang="fr-FR" sz="2400" dirty="0" err="1">
                <a:solidFill>
                  <a:srgbClr val="FF0000"/>
                </a:solidFill>
              </a:rPr>
              <a:t>intra-vasculaire</a:t>
            </a:r>
            <a:r>
              <a:rPr lang="fr-FR" sz="2400" dirty="0">
                <a:solidFill>
                  <a:srgbClr val="FF0000"/>
                </a:solidFill>
              </a:rPr>
              <a:t> disséminée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Une infection par le virus HIV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Un lupus érythémateux aigu disséminé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traitement par les corticoïdes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traitement par les immunoglobulines intraveineuses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90206701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Une thrombopénie périphérique par consommation peut se voire en cas:</a:t>
            </a:r>
          </a:p>
          <a:p>
            <a:pPr marL="0" indent="0">
              <a:buNone/>
            </a:pPr>
            <a:r>
              <a:rPr lang="fr-FR" sz="2400" dirty="0"/>
              <a:t>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Sulfamides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Syndrome d’Evans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syndrome hémolytique et urémique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CIVD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Transfusion massive 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74002206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Une thrombopénie périphérique par consommation peut se voire en cas:</a:t>
            </a:r>
          </a:p>
          <a:p>
            <a:pPr marL="0" indent="0">
              <a:buNone/>
            </a:pPr>
            <a:r>
              <a:rPr lang="fr-FR" sz="2400" dirty="0"/>
              <a:t>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Sulfamides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Syndrome d’Evans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Un syndrome hémolytique et urémique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Une CIVD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Transfusion massive 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42356593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Un purpura pétéchial et ecchymotique, cutanéo-muqueux, diffus et hémorragique est caractéristique de: </a:t>
            </a:r>
          </a:p>
          <a:p>
            <a:pPr marL="0" indent="0"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thrombopénie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hémophilie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</a:t>
            </a:r>
            <a:r>
              <a:rPr lang="fr-FR" sz="2400" dirty="0" err="1"/>
              <a:t>cryoglobulinémie</a:t>
            </a:r>
            <a:r>
              <a:rPr lang="fr-FR" sz="2400" dirty="0"/>
              <a:t>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déficit en facteur V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thrombopathie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357262059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Un purpura pétéchial et ecchymotique, cutanéo-muqueux, diffus et hémorragique est caractéristique de: </a:t>
            </a:r>
          </a:p>
          <a:p>
            <a:pPr marL="0" indent="0"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Une thrombopénie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hémophilie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</a:t>
            </a:r>
            <a:r>
              <a:rPr lang="fr-FR" sz="2400" dirty="0" err="1"/>
              <a:t>cryoglobulinémie</a:t>
            </a:r>
            <a:r>
              <a:rPr lang="fr-FR" sz="2400" dirty="0"/>
              <a:t>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 déficit en facteur V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Une thrombopathie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38571453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Le traitement du purpura thrombotique thrombocytopénique repose sur : </a:t>
            </a:r>
          </a:p>
          <a:p>
            <a:pPr marL="0" indent="0"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Transfusion de plaquettes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Corticothérapie 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Échanges érythrocytaires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Échanges plasmatiques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Rituximab 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94753440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Le traitement du purpura thrombotique thrombocytopénique repose sur : </a:t>
            </a:r>
          </a:p>
          <a:p>
            <a:pPr marL="0" indent="0"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Transfusion de plaquettes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Corticothérapie 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Échanges érythrocytaires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Échanges plasmatiques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Rituximab 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41412599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Le traitement du purpura thrombopénique immunologique nouvellement diagnostiqué repose sur : </a:t>
            </a:r>
          </a:p>
          <a:p>
            <a:pPr marL="0" indent="0"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Transfusion de plaquettes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Corticothérapie 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Splénectomie 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Analogues de thrombopoïétine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Rituximab 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51119523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11349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Le traitement du purpura thrombopénique immunologique nouvellement diagnostiqué repose sur : </a:t>
            </a:r>
          </a:p>
          <a:p>
            <a:pPr marL="0" indent="0"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Transfusion de plaquettes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Corticothérapie 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Splénectomie 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Analogues de thrombopoïétine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Rituximab 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QCM</a:t>
            </a:r>
          </a:p>
        </p:txBody>
      </p:sp>
    </p:spTree>
    <p:extLst>
      <p:ext uri="{BB962C8B-B14F-4D97-AF65-F5344CB8AC3E}">
        <p14:creationId xmlns:p14="http://schemas.microsoft.com/office/powerpoint/2010/main" val="258658559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983161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2400" b="1" dirty="0"/>
              <a:t>Cas clinique1: </a:t>
            </a:r>
          </a:p>
          <a:p>
            <a:pPr>
              <a:buNone/>
            </a:pPr>
            <a:r>
              <a:rPr lang="fr-FR" sz="2400" dirty="0"/>
              <a:t>Une femme âgée de 35 ans, consulte pour </a:t>
            </a:r>
            <a:r>
              <a:rPr lang="fr-FR" sz="2400" b="1" dirty="0"/>
              <a:t>purpura pétéchial et ecchymotique aux quatre membres.</a:t>
            </a:r>
          </a:p>
          <a:p>
            <a:pPr>
              <a:buNone/>
            </a:pPr>
            <a:r>
              <a:rPr lang="fr-FR" sz="2400" dirty="0"/>
              <a:t>L’interrogatoire ne trouve pas la notion de fièvre ni de prise médicamenteuse. </a:t>
            </a:r>
          </a:p>
          <a:p>
            <a:pPr>
              <a:buNone/>
            </a:pPr>
            <a:r>
              <a:rPr lang="fr-FR" sz="2400" dirty="0"/>
              <a:t>A l’examen: Purpura pétéchial et ecchymotique diffus aux 4 membres et au tronc</a:t>
            </a:r>
          </a:p>
          <a:p>
            <a:pPr>
              <a:buNone/>
            </a:pPr>
            <a:r>
              <a:rPr lang="fr-FR" sz="2400" dirty="0"/>
              <a:t>		       Stigmates de gingivorragies et d’épistaxis</a:t>
            </a:r>
          </a:p>
          <a:p>
            <a:pPr>
              <a:buNone/>
            </a:pPr>
            <a:r>
              <a:rPr lang="fr-FR" sz="2400" dirty="0"/>
              <a:t>		       Pas d’adénopathies ni splénomégalie. </a:t>
            </a:r>
          </a:p>
          <a:p>
            <a:pPr>
              <a:buNone/>
            </a:pPr>
            <a:r>
              <a:rPr lang="fr-FR" sz="2400" dirty="0"/>
              <a:t>NFS: Thrombopénie isolée à </a:t>
            </a:r>
            <a:r>
              <a:rPr lang="fr-FR" sz="2400" dirty="0">
                <a:solidFill>
                  <a:srgbClr val="FF0000"/>
                </a:solidFill>
              </a:rPr>
              <a:t>8.000/mm³</a:t>
            </a:r>
            <a:r>
              <a:rPr lang="fr-FR" sz="2400" dirty="0"/>
              <a:t>.</a:t>
            </a:r>
          </a:p>
          <a:p>
            <a:pPr>
              <a:buNone/>
            </a:pPr>
            <a:r>
              <a:rPr lang="fr-FR" sz="2400" dirty="0"/>
              <a:t>TP=100%, TCA=30/30, Sérologie VHB VHC et VIH négatives</a:t>
            </a:r>
          </a:p>
          <a:p>
            <a:pPr>
              <a:buNone/>
            </a:pPr>
            <a:r>
              <a:rPr lang="fr-FR" sz="2400" dirty="0"/>
              <a:t>Anticorps anti Nucléaire Négatif</a:t>
            </a:r>
          </a:p>
          <a:p>
            <a:pPr>
              <a:buNone/>
            </a:pPr>
            <a:r>
              <a:rPr lang="fr-FR" sz="2400" dirty="0"/>
              <a:t>Myélogramme: moelle riche avec lignée mégacaryocytaire présente.</a:t>
            </a:r>
          </a:p>
          <a:p>
            <a:pPr>
              <a:buNone/>
            </a:pPr>
            <a:r>
              <a:rPr lang="fr-FR" sz="2400" dirty="0"/>
              <a:t>Le diagnostic d’un purpura </a:t>
            </a:r>
            <a:r>
              <a:rPr lang="fr-FR" sz="2400" dirty="0" err="1"/>
              <a:t>thrombopénique</a:t>
            </a:r>
            <a:r>
              <a:rPr lang="fr-FR" sz="2400" dirty="0"/>
              <a:t> idiopathique a été retenu </a:t>
            </a: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Cas clinique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QCM1: </a:t>
            </a:r>
          </a:p>
          <a:p>
            <a:pPr>
              <a:buNone/>
            </a:pPr>
            <a:r>
              <a:rPr lang="fr-FR" sz="2400" dirty="0"/>
              <a:t>Les signes de gravité du purpura chez cette patiente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Purpura étendu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Âge de la patiente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Saignement muqueux associé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Sexe féminin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Profondeur de la thrombopénie</a:t>
            </a:r>
          </a:p>
        </p:txBody>
      </p:sp>
      <p:sp>
        <p:nvSpPr>
          <p:cNvPr id="6" name="Titre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Cas clinique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QCM1: </a:t>
            </a:r>
          </a:p>
          <a:p>
            <a:pPr>
              <a:buNone/>
            </a:pPr>
            <a:r>
              <a:rPr lang="fr-FR" sz="2400" dirty="0"/>
              <a:t>Les signes de gravité du purpura chez cette patiente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Purpura étendu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Âge de la patiente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Saignement muqueux associé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Sexe féminin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Profondeur de la thrombopénie</a:t>
            </a:r>
          </a:p>
        </p:txBody>
      </p:sp>
      <p:sp>
        <p:nvSpPr>
          <p:cNvPr id="6" name="Titre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Cas clinique</a:t>
            </a:r>
          </a:p>
        </p:txBody>
      </p:sp>
    </p:spTree>
    <p:extLst>
      <p:ext uri="{BB962C8B-B14F-4D97-AF65-F5344CB8AC3E}">
        <p14:creationId xmlns:p14="http://schemas.microsoft.com/office/powerpoint/2010/main" val="131218375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QCM2: </a:t>
            </a:r>
          </a:p>
          <a:p>
            <a:pPr>
              <a:buNone/>
            </a:pPr>
            <a:r>
              <a:rPr lang="fr-FR" sz="2400" dirty="0"/>
              <a:t>Le caractère périphérique de la thrombopénie est retenu sur: 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Thrombopénie isolée à l’hémogramme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Lignée </a:t>
            </a:r>
            <a:r>
              <a:rPr lang="fr-FR" sz="2400" dirty="0" err="1"/>
              <a:t>Mégacaryocytaire</a:t>
            </a:r>
            <a:r>
              <a:rPr lang="fr-FR" sz="2400" dirty="0"/>
              <a:t> présente au myélogramme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Bilan d’hémostase normal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Absence de syndrome tumoral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Bilan étiologique négatif</a:t>
            </a:r>
          </a:p>
          <a:p>
            <a:pPr marL="457200" indent="-457200">
              <a:buFont typeface="+mj-lt"/>
              <a:buAutoNum type="alphaUcPeriod"/>
            </a:pPr>
            <a:endParaRPr lang="fr-FR" sz="2400" dirty="0"/>
          </a:p>
        </p:txBody>
      </p:sp>
      <p:sp>
        <p:nvSpPr>
          <p:cNvPr id="5" name="Titre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Cas clinique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QCM2: </a:t>
            </a:r>
          </a:p>
          <a:p>
            <a:pPr>
              <a:buNone/>
            </a:pPr>
            <a:r>
              <a:rPr lang="fr-FR" sz="2400" dirty="0"/>
              <a:t>Le caractère périphérique de la thrombopénie est retenu sur: </a:t>
            </a:r>
          </a:p>
          <a:p>
            <a:pPr>
              <a:buNone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Thrombopénie isolée à l’hémogramme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Lignée </a:t>
            </a:r>
            <a:r>
              <a:rPr lang="fr-FR" sz="2400" dirty="0" err="1">
                <a:solidFill>
                  <a:srgbClr val="FF0000"/>
                </a:solidFill>
              </a:rPr>
              <a:t>Mégacaryocytaire</a:t>
            </a:r>
            <a:r>
              <a:rPr lang="fr-FR" sz="2400" dirty="0">
                <a:solidFill>
                  <a:srgbClr val="FF0000"/>
                </a:solidFill>
              </a:rPr>
              <a:t> présente au myélogramme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Bilan d’hémostase normal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Absence de syndrome tumoral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Bilan étiologique négatif</a:t>
            </a:r>
          </a:p>
          <a:p>
            <a:pPr marL="457200" indent="-457200">
              <a:buFont typeface="+mj-lt"/>
              <a:buAutoNum type="alphaUcPeriod"/>
            </a:pPr>
            <a:endParaRPr lang="fr-FR" sz="2400" dirty="0"/>
          </a:p>
        </p:txBody>
      </p:sp>
      <p:sp>
        <p:nvSpPr>
          <p:cNvPr id="5" name="Titre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Cas clinique</a:t>
            </a:r>
          </a:p>
        </p:txBody>
      </p:sp>
    </p:spTree>
    <p:extLst>
      <p:ext uri="{BB962C8B-B14F-4D97-AF65-F5344CB8AC3E}">
        <p14:creationId xmlns:p14="http://schemas.microsoft.com/office/powerpoint/2010/main" val="104723250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QCM3: </a:t>
            </a:r>
          </a:p>
          <a:p>
            <a:pPr>
              <a:buNone/>
            </a:pPr>
            <a:r>
              <a:rPr lang="fr-FR" sz="2400" dirty="0"/>
              <a:t>Le mécanisme physiopathologique de cette thrombopénie: </a:t>
            </a:r>
          </a:p>
          <a:p>
            <a:pPr marL="457200" indent="-457200">
              <a:buFont typeface="+mj-lt"/>
              <a:buAutoNum type="alphaUcPeriod"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Hyperconsommation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Excès de destruction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Anomalie de répartition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Hémodilution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Défaut de synthèse médullaire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Cas clinique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QCM3: </a:t>
            </a:r>
          </a:p>
          <a:p>
            <a:pPr>
              <a:buNone/>
            </a:pPr>
            <a:r>
              <a:rPr lang="fr-FR" sz="2400" dirty="0"/>
              <a:t>Le mécanisme physiopathologique de cette thrombopénie: </a:t>
            </a:r>
          </a:p>
          <a:p>
            <a:pPr marL="457200" indent="-457200">
              <a:buFont typeface="+mj-lt"/>
              <a:buAutoNum type="alphaUcPeriod"/>
            </a:pPr>
            <a:endParaRPr lang="fr-FR" sz="2400" dirty="0"/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Hyperconsommation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</a:rPr>
              <a:t>Excès de destruction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Anomalie de répartition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Hémodilution 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dirty="0"/>
              <a:t>Défaut de synthèse médullaire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5" name="Titre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 b="1" dirty="0"/>
              <a:t>Cas clinique</a:t>
            </a:r>
          </a:p>
        </p:txBody>
      </p:sp>
    </p:spTree>
    <p:extLst>
      <p:ext uri="{BB962C8B-B14F-4D97-AF65-F5344CB8AC3E}">
        <p14:creationId xmlns:p14="http://schemas.microsoft.com/office/powerpoint/2010/main" val="32072365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c24e52fe-4640-432b-913e-5a20a2ec65f4"/>
</p:tagLst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20094</TotalTime>
  <Words>3565</Words>
  <Application>Microsoft Office PowerPoint</Application>
  <PresentationFormat>Grand écran</PresentationFormat>
  <Paragraphs>895</Paragraphs>
  <Slides>110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110</vt:i4>
      </vt:variant>
    </vt:vector>
  </HeadingPairs>
  <TitlesOfParts>
    <vt:vector size="115" baseType="lpstr">
      <vt:lpstr>Arial</vt:lpstr>
      <vt:lpstr>Calibri</vt:lpstr>
      <vt:lpstr>Times New Roman</vt:lpstr>
      <vt:lpstr>Wingdings</vt:lpstr>
      <vt:lpstr>Thème Office</vt:lpstr>
      <vt:lpstr>Les Purpuras</vt:lpstr>
      <vt:lpstr>Objectifs</vt:lpstr>
      <vt:lpstr>A retenir</vt:lpstr>
      <vt:lpstr>A retenir</vt:lpstr>
      <vt:lpstr>A retenir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QCM</vt:lpstr>
      <vt:lpstr>Cas clinique</vt:lpstr>
      <vt:lpstr>Cas clinique</vt:lpstr>
      <vt:lpstr>Cas clinique</vt:lpstr>
      <vt:lpstr>Cas clinique</vt:lpstr>
      <vt:lpstr>Cas clinique</vt:lpstr>
      <vt:lpstr>Cas clinique</vt:lpstr>
      <vt:lpstr>Cas clinique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Q62 Purpura</dc:title>
  <dc:creator>pc</dc:creator>
  <cp:lastModifiedBy>Imen Frikha</cp:lastModifiedBy>
  <cp:revision>169</cp:revision>
  <dcterms:created xsi:type="dcterms:W3CDTF">2018-10-12T04:52:24Z</dcterms:created>
  <dcterms:modified xsi:type="dcterms:W3CDTF">2025-08-29T09:33:39Z</dcterms:modified>
</cp:coreProperties>
</file>
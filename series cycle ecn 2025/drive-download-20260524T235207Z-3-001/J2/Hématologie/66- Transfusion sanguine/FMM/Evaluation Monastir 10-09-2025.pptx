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3" r:id="rId1"/>
  </p:sldMasterIdLst>
  <p:notesMasterIdLst>
    <p:notesMasterId r:id="rId29"/>
  </p:notesMasterIdLst>
  <p:sldIdLst>
    <p:sldId id="663" r:id="rId2"/>
    <p:sldId id="380" r:id="rId3"/>
    <p:sldId id="409" r:id="rId4"/>
    <p:sldId id="677" r:id="rId5"/>
    <p:sldId id="678" r:id="rId6"/>
    <p:sldId id="533" r:id="rId7"/>
    <p:sldId id="417" r:id="rId8"/>
    <p:sldId id="419" r:id="rId9"/>
    <p:sldId id="421" r:id="rId10"/>
    <p:sldId id="536" r:id="rId11"/>
    <p:sldId id="537" r:id="rId12"/>
    <p:sldId id="535" r:id="rId13"/>
    <p:sldId id="542" r:id="rId14"/>
    <p:sldId id="543" r:id="rId15"/>
    <p:sldId id="679" r:id="rId16"/>
    <p:sldId id="544" r:id="rId17"/>
    <p:sldId id="545" r:id="rId18"/>
    <p:sldId id="423" r:id="rId19"/>
    <p:sldId id="538" r:id="rId20"/>
    <p:sldId id="425" r:id="rId21"/>
    <p:sldId id="427" r:id="rId22"/>
    <p:sldId id="471" r:id="rId23"/>
    <p:sldId id="669" r:id="rId24"/>
    <p:sldId id="546" r:id="rId25"/>
    <p:sldId id="481" r:id="rId26"/>
    <p:sldId id="676" r:id="rId27"/>
    <p:sldId id="492" r:id="rId28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D60093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5" autoAdjust="0"/>
    <p:restoredTop sz="97491" autoAdjust="0"/>
  </p:normalViewPr>
  <p:slideViewPr>
    <p:cSldViewPr>
      <p:cViewPr varScale="1">
        <p:scale>
          <a:sx n="63" d="100"/>
          <a:sy n="63" d="100"/>
        </p:scale>
        <p:origin x="137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38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68B55BF-CE83-4048-AB3F-E2AF7AB1F34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altLang="fr-FR">
              <a:latin typeface="Arial" pitchFamily="34" charset="0"/>
              <a:cs typeface="Arial" pitchFamily="34" charset="0"/>
            </a:endParaRP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D28D30-FDDA-4508-860A-8085ACE61E26}" type="slidenum">
              <a:rPr lang="fr-FR" alt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altLang="fr-FR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altLang="fr-FR">
                <a:latin typeface="Arial" pitchFamily="34" charset="0"/>
                <a:cs typeface="Arial" pitchFamily="34" charset="0"/>
              </a:rPr>
              <a:t>Dg positif e la MHNN tcd+ chez le nné</a:t>
            </a:r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B736A8-1AFE-4535-BDDB-275B452B6C85}" type="slidenum">
              <a:rPr lang="fr-FR" altLang="fr-FR" smtClean="0">
                <a:latin typeface="Arial" pitchFamily="34" charset="0"/>
                <a:cs typeface="Arial" pitchFamily="34" charset="0"/>
              </a:rPr>
              <a:pPr/>
              <a:t>20</a:t>
            </a:fld>
            <a:endParaRPr lang="fr-FR" altLang="fr-FR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221A4-5EA7-44A4-B264-7CA126EE54F2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2291A-527D-4315-B511-72AC3C7092E2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19DDDC-F9E2-4E60-889F-02A6BF849D56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3BA25B-0BFD-46F1-A0B8-D7344A8CA0C2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076FAC-3C82-4101-8E34-24647FB75C3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4AAB8D-74E4-4255-B516-4AB675F1AAEB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33429A-20A4-4A5D-A9E0-551152A16EC9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ED0A0-798A-4242-B1B4-757905A1C230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36A602-B581-4043-B52E-0E7AE187A40D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EE5C0B-4694-4E37-B52C-F6B5D43610FD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23615B-CB55-4178-A26C-8E5AA8C0C78F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437672-3813-4082-BECB-56DC3ADDC652}" type="slidenum">
              <a:rPr lang="fr-FR" altLang="fr-FR" smtClean="0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440" r:id="rId7"/>
    <p:sldLayoutId id="2147484441" r:id="rId8"/>
    <p:sldLayoutId id="2147484442" r:id="rId9"/>
    <p:sldLayoutId id="2147484443" r:id="rId10"/>
    <p:sldLayoutId id="214748444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ctrTitle"/>
          </p:nvPr>
        </p:nvSpPr>
        <p:spPr>
          <a:xfrm>
            <a:off x="429406" y="2211555"/>
            <a:ext cx="8508581" cy="235743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fr-FR" altLang="fr-FR" sz="3000" b="1" dirty="0">
                <a:solidFill>
                  <a:srgbClr val="002060"/>
                </a:solidFill>
              </a:rPr>
              <a:t>Transfusion sanguine: </a:t>
            </a:r>
            <a:br>
              <a:rPr lang="fr-FR" altLang="fr-FR" sz="3000" b="1" dirty="0">
                <a:solidFill>
                  <a:srgbClr val="002060"/>
                </a:solidFill>
              </a:rPr>
            </a:br>
            <a:r>
              <a:rPr lang="fr-FR" altLang="fr-FR" sz="3000" b="1" dirty="0">
                <a:solidFill>
                  <a:srgbClr val="002060"/>
                </a:solidFill>
              </a:rPr>
              <a:t>Bases </a:t>
            </a:r>
            <a:r>
              <a:rPr lang="fr-FR" altLang="fr-FR" sz="3000" b="1" dirty="0" err="1">
                <a:solidFill>
                  <a:srgbClr val="002060"/>
                </a:solidFill>
              </a:rPr>
              <a:t>immuno</a:t>
            </a:r>
            <a:r>
              <a:rPr lang="fr-FR" altLang="fr-FR" sz="3000" b="1" dirty="0">
                <a:solidFill>
                  <a:srgbClr val="002060"/>
                </a:solidFill>
              </a:rPr>
              <a:t>-hématologiques, Indications, </a:t>
            </a:r>
            <a:br>
              <a:rPr lang="fr-FR" altLang="fr-FR" sz="3000" b="1" dirty="0">
                <a:solidFill>
                  <a:srgbClr val="002060"/>
                </a:solidFill>
              </a:rPr>
            </a:br>
            <a:r>
              <a:rPr lang="fr-FR" altLang="fr-FR" sz="3000" b="1" dirty="0">
                <a:solidFill>
                  <a:srgbClr val="002060"/>
                </a:solidFill>
              </a:rPr>
              <a:t>Complications</a:t>
            </a:r>
            <a:r>
              <a:rPr lang="fr-FR" altLang="fr-FR" sz="3000" b="1" dirty="0"/>
              <a:t/>
            </a:r>
            <a:br>
              <a:rPr lang="fr-FR" altLang="fr-FR" sz="3000" b="1" dirty="0"/>
            </a:br>
            <a:endParaRPr lang="fr-FR" altLang="fr-FR" sz="30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1763688" y="1257706"/>
            <a:ext cx="58400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fr-FR" altLang="fr-FR" sz="2400" b="1" dirty="0">
                <a:solidFill>
                  <a:srgbClr val="C00000"/>
                </a:solidFill>
              </a:rPr>
              <a:t>PREPARATION DE L’EXAMEN TCEM</a:t>
            </a:r>
          </a:p>
          <a:p>
            <a:pPr algn="ctr" eaLnBrk="1" hangingPunct="1"/>
            <a:endParaRPr lang="fr-FR" altLang="fr-FR" sz="1200" b="1" dirty="0">
              <a:solidFill>
                <a:schemeClr val="accent2"/>
              </a:solidFill>
            </a:endParaRPr>
          </a:p>
        </p:txBody>
      </p:sp>
      <p:sp>
        <p:nvSpPr>
          <p:cNvPr id="16388" name="ZoneTexte 4"/>
          <p:cNvSpPr txBox="1">
            <a:spLocks noChangeArrowheads="1"/>
          </p:cNvSpPr>
          <p:nvPr/>
        </p:nvSpPr>
        <p:spPr bwMode="auto">
          <a:xfrm>
            <a:off x="2514974" y="4779151"/>
            <a:ext cx="433744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800" b="1" dirty="0">
                <a:solidFill>
                  <a:srgbClr val="002060"/>
                </a:solidFill>
                <a:latin typeface="Calibri" pitchFamily="34" charset="0"/>
              </a:rPr>
              <a:t>Pr </a:t>
            </a:r>
            <a:r>
              <a:rPr lang="fr-FR" sz="1800" b="1" dirty="0" err="1">
                <a:solidFill>
                  <a:srgbClr val="002060"/>
                </a:solidFill>
                <a:latin typeface="Calibri" pitchFamily="34" charset="0"/>
              </a:rPr>
              <a:t>Naouel</a:t>
            </a:r>
            <a:r>
              <a:rPr lang="fr-FR" sz="1800" b="1" dirty="0">
                <a:solidFill>
                  <a:srgbClr val="002060"/>
                </a:solidFill>
                <a:latin typeface="Calibri" pitchFamily="34" charset="0"/>
              </a:rPr>
              <a:t> Ben Salah  </a:t>
            </a:r>
          </a:p>
          <a:p>
            <a:pPr algn="ctr"/>
            <a:r>
              <a:rPr lang="fr-FR" sz="1800" b="1" dirty="0">
                <a:solidFill>
                  <a:srgbClr val="002060"/>
                </a:solidFill>
                <a:latin typeface="Calibri" pitchFamily="34" charset="0"/>
              </a:rPr>
              <a:t>Dr </a:t>
            </a:r>
            <a:r>
              <a:rPr lang="fr-FR" sz="1800" b="1" dirty="0" smtClean="0">
                <a:solidFill>
                  <a:srgbClr val="002060"/>
                </a:solidFill>
                <a:latin typeface="Calibri" pitchFamily="34" charset="0"/>
              </a:rPr>
              <a:t>Amani </a:t>
            </a:r>
            <a:r>
              <a:rPr lang="fr-FR" sz="1800" b="1" dirty="0" err="1" smtClean="0">
                <a:solidFill>
                  <a:srgbClr val="002060"/>
                </a:solidFill>
                <a:latin typeface="Calibri" pitchFamily="34" charset="0"/>
              </a:rPr>
              <a:t>Jabri</a:t>
            </a:r>
            <a:endParaRPr lang="fr-FR" sz="1800" b="1" dirty="0">
              <a:solidFill>
                <a:srgbClr val="002060"/>
              </a:solidFill>
              <a:latin typeface="Calibri" pitchFamily="34" charset="0"/>
            </a:endParaRPr>
          </a:p>
          <a:p>
            <a:pPr algn="ctr"/>
            <a:r>
              <a:rPr lang="fr-FR" sz="1800" b="1" dirty="0" smtClean="0">
                <a:solidFill>
                  <a:srgbClr val="002060"/>
                </a:solidFill>
                <a:latin typeface="Calibri" pitchFamily="34" charset="0"/>
              </a:rPr>
              <a:t>10</a:t>
            </a:r>
            <a:r>
              <a:rPr lang="fr-FR" sz="1800" b="1" dirty="0" smtClean="0">
                <a:solidFill>
                  <a:srgbClr val="002060"/>
                </a:solidFill>
                <a:latin typeface="Calibri" pitchFamily="34" charset="0"/>
              </a:rPr>
              <a:t>/09/2025</a:t>
            </a:r>
            <a:endParaRPr lang="fr-FR" sz="1800" b="1" dirty="0">
              <a:solidFill>
                <a:srgbClr val="00206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contenu 2"/>
          <p:cNvSpPr>
            <a:spLocks noGrp="1"/>
          </p:cNvSpPr>
          <p:nvPr>
            <p:ph idx="1"/>
          </p:nvPr>
        </p:nvSpPr>
        <p:spPr>
          <a:xfrm>
            <a:off x="428625" y="428625"/>
            <a:ext cx="8429625" cy="585787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1. Expliquer les caractéristiques biochimiques, génétiques, immunologiques de répartition cellulaire des systèmes ABO et Rhésus (y compris le D faible et partiel).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2. Expliquer les circonstances d'apparition et les conséquences </a:t>
            </a:r>
            <a:r>
              <a:rPr lang="fr-FR" sz="2000" dirty="0" err="1"/>
              <a:t>immuno</a:t>
            </a:r>
            <a:r>
              <a:rPr lang="fr-FR" sz="2000" dirty="0"/>
              <a:t>-hématologiques d'une hémolysine </a:t>
            </a:r>
            <a:r>
              <a:rPr lang="fr-FR" sz="2000" dirty="0" err="1"/>
              <a:t>anti-A</a:t>
            </a:r>
            <a:r>
              <a:rPr lang="fr-FR" sz="2000" dirty="0"/>
              <a:t> et/ou </a:t>
            </a:r>
            <a:r>
              <a:rPr lang="fr-FR" sz="2000" dirty="0" err="1"/>
              <a:t>anti-B</a:t>
            </a:r>
            <a:r>
              <a:rPr lang="fr-FR" sz="2000" dirty="0"/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3. Expliquer l’intérêt </a:t>
            </a:r>
            <a:r>
              <a:rPr lang="fr-FR" sz="2000" dirty="0" err="1"/>
              <a:t>immuno</a:t>
            </a:r>
            <a:r>
              <a:rPr lang="fr-FR" sz="2000" dirty="0"/>
              <a:t>-hématologique des sous-groupes A1 et A2.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4. Décrire les caractéristiques immunologiques et l’intérêt </a:t>
            </a:r>
            <a:r>
              <a:rPr lang="fr-FR" sz="2000" dirty="0" err="1"/>
              <a:t>immuno</a:t>
            </a:r>
            <a:r>
              <a:rPr lang="fr-FR" sz="2000" dirty="0"/>
              <a:t>-hématologique des systèmes apparentés aux systèmes ABO et Rhésus.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5. Justifier selon l’indication clinique le choix des produits sanguins stables et labiles.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6. Expliquer les principes et les indications des tests de Coombs direct et indirect.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7. Préciser les règles transfusionnelles et les tests </a:t>
            </a:r>
            <a:r>
              <a:rPr lang="fr-FR" sz="2000" dirty="0" err="1"/>
              <a:t>immuno</a:t>
            </a:r>
            <a:r>
              <a:rPr lang="fr-FR" sz="2000" dirty="0"/>
              <a:t>-hématologiques à respecter de façon absolue en fonction du produit sanguin labile transfusé.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8. Expliquer les mécanismes physiopathologiques des différents accidents transfusionnels.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9. Planifier la prise en charge d’un accident transfusionnel.</a:t>
            </a:r>
          </a:p>
          <a:p>
            <a:pPr marL="274320" indent="-27432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2000" dirty="0"/>
              <a:t>10. Etablir les mesures préventives des complications transfusionnelles.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7200" y="1916832"/>
            <a:ext cx="8229600" cy="1143000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fr-FR" sz="4400" b="1" dirty="0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EVALUATION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1975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QCM N°1 </a:t>
            </a:r>
            <a:r>
              <a:rPr lang="fr-FR" sz="3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Sont associés au système ABO, les systèmes de groupes sanguins suivants.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Le système Se/se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 système Rh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 système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Duffy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 système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Kidd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 système </a:t>
            </a:r>
            <a:r>
              <a:rPr lang="fr-FR" sz="2400" dirty="0" err="1">
                <a:latin typeface="Calibri" pitchFamily="34" charset="0"/>
                <a:cs typeface="Arial" charset="0"/>
              </a:rPr>
              <a:t>Hh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64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0681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QCM N°2  </a:t>
            </a:r>
            <a:r>
              <a:rPr lang="fr-FR" sz="3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 smtClean="0">
                <a:latin typeface="Calibri" pitchFamily="34" charset="0"/>
                <a:cs typeface="+mn-cs"/>
              </a:rPr>
              <a:t>Parmi les caractéristiques suivantes </a:t>
            </a:r>
            <a:r>
              <a:rPr lang="fr-FR" sz="2400" b="1" dirty="0" err="1" smtClean="0">
                <a:latin typeface="Calibri" pitchFamily="34" charset="0"/>
                <a:cs typeface="+mn-cs"/>
              </a:rPr>
              <a:t>lequelle</a:t>
            </a:r>
            <a:r>
              <a:rPr lang="fr-FR" sz="2400" b="1" dirty="0" smtClean="0">
                <a:latin typeface="Calibri" pitchFamily="34" charset="0"/>
                <a:cs typeface="+mn-cs"/>
              </a:rPr>
              <a:t>(s) correspond(</a:t>
            </a:r>
            <a:r>
              <a:rPr lang="fr-FR" sz="2400" b="1" dirty="0" err="1" smtClean="0">
                <a:latin typeface="Calibri" pitchFamily="34" charset="0"/>
                <a:cs typeface="+mn-cs"/>
              </a:rPr>
              <a:t>ent</a:t>
            </a:r>
            <a:r>
              <a:rPr lang="fr-FR" sz="2400" b="1" dirty="0" smtClean="0">
                <a:latin typeface="Calibri" pitchFamily="34" charset="0"/>
                <a:cs typeface="+mn-cs"/>
              </a:rPr>
              <a:t>) aux s </a:t>
            </a:r>
            <a:r>
              <a:rPr lang="fr-FR" sz="2400" b="1" dirty="0">
                <a:latin typeface="Calibri" pitchFamily="34" charset="0"/>
                <a:cs typeface="+mn-cs"/>
              </a:rPr>
              <a:t>antigènes du système ABO 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+mn-cs"/>
              </a:rPr>
              <a:t>sont </a:t>
            </a:r>
            <a:r>
              <a:rPr lang="fr-FR" sz="2400" dirty="0" smtClean="0">
                <a:latin typeface="Calibri" pitchFamily="34" charset="0"/>
                <a:cs typeface="+mn-cs"/>
              </a:rPr>
              <a:t>bien exprimés à la naissance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s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ont des glycoprotéines </a:t>
            </a:r>
            <a:r>
              <a:rPr lang="fr-FR" sz="2400" dirty="0">
                <a:latin typeface="Calibri" pitchFamily="34" charset="0"/>
                <a:cs typeface="Arial" charset="0"/>
              </a:rPr>
              <a:t>et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des </a:t>
            </a:r>
            <a:r>
              <a:rPr lang="fr-FR" sz="2400" dirty="0">
                <a:latin typeface="Calibri" pitchFamily="34" charset="0"/>
                <a:cs typeface="Arial" charset="0"/>
              </a:rPr>
              <a:t>glycolipides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sont </a:t>
            </a:r>
            <a:r>
              <a:rPr lang="fr-FR" sz="2400" dirty="0">
                <a:latin typeface="Calibri" pitchFamily="34" charset="0"/>
                <a:cs typeface="Arial" charset="0"/>
              </a:rPr>
              <a:t>exprimés uniquement sur les GR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sont </a:t>
            </a:r>
            <a:r>
              <a:rPr lang="fr-FR" sz="2400" dirty="0">
                <a:latin typeface="Calibri" pitchFamily="34" charset="0"/>
                <a:cs typeface="Arial" charset="0"/>
              </a:rPr>
              <a:t>reconnus par des anticorps naturels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Sont des produits directs </a:t>
            </a:r>
            <a:r>
              <a:rPr lang="fr-FR" sz="2400" dirty="0">
                <a:latin typeface="Calibri" pitchFamily="34" charset="0"/>
                <a:cs typeface="Arial" charset="0"/>
              </a:rPr>
              <a:t>du gène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15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0681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N°3  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Concernant le système ABO 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Les principaux allèles sont A, B et AB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Les allèles A et B sont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présents sur le chromosome 1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L’allèle O produit une N- </a:t>
            </a:r>
            <a:r>
              <a:rPr lang="fr-FR" sz="2400" dirty="0" err="1">
                <a:latin typeface="Calibri" pitchFamily="34" charset="0"/>
                <a:cs typeface="Arial" charset="0"/>
              </a:rPr>
              <a:t>galactosamine</a:t>
            </a:r>
            <a:r>
              <a:rPr lang="fr-FR" sz="2400" dirty="0">
                <a:latin typeface="Calibri" pitchFamily="34" charset="0"/>
                <a:cs typeface="Arial" charset="0"/>
              </a:rPr>
              <a:t> transférase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L’enzyme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A1 </a:t>
            </a:r>
            <a:r>
              <a:rPr lang="fr-FR" sz="2400" dirty="0">
                <a:latin typeface="Calibri" pitchFamily="34" charset="0"/>
                <a:cs typeface="Arial" charset="0"/>
              </a:rPr>
              <a:t>est plus active que l’enzyme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A2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 sucre spécifique de l’Ag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A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est </a:t>
            </a:r>
            <a:r>
              <a:rPr lang="fr-FR" sz="2400" dirty="0">
                <a:latin typeface="Calibri" pitchFamily="34" charset="0"/>
                <a:cs typeface="Arial" charset="0"/>
              </a:rPr>
              <a:t>un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galactose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457200"/>
            <a:ext cx="2304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N°4 </a:t>
            </a:r>
            <a:r>
              <a:rPr lang="fr-FR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Sont considérés comme </a:t>
            </a:r>
            <a:r>
              <a:rPr lang="fr-FR" sz="2400" b="1" dirty="0" smtClean="0">
                <a:latin typeface="Calibri" pitchFamily="34" charset="0"/>
                <a:cs typeface="+mn-cs"/>
              </a:rPr>
              <a:t>naturels irréguliers </a:t>
            </a:r>
            <a:r>
              <a:rPr lang="fr-FR" sz="2400" b="1" dirty="0">
                <a:latin typeface="Calibri" pitchFamily="34" charset="0"/>
                <a:cs typeface="+mn-cs"/>
              </a:rPr>
              <a:t>les anticorps 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>
                <a:latin typeface="Calibri" pitchFamily="34" charset="0"/>
                <a:cs typeface="+mn-cs"/>
              </a:rPr>
              <a:t>Anti-D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Anti-</a:t>
            </a:r>
            <a:r>
              <a:rPr lang="fr-FR" sz="2400" dirty="0" err="1">
                <a:latin typeface="Calibri" pitchFamily="34" charset="0"/>
                <a:cs typeface="Arial" charset="0"/>
              </a:rPr>
              <a:t>Kell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 smtClean="0">
                <a:latin typeface="Calibri" pitchFamily="34" charset="0"/>
                <a:cs typeface="Arial" charset="0"/>
              </a:rPr>
              <a:t>Anti-M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>
                <a:latin typeface="Calibri" pitchFamily="34" charset="0"/>
                <a:cs typeface="Arial" charset="0"/>
              </a:rPr>
              <a:t>Anti-H</a:t>
            </a:r>
            <a:r>
              <a:rPr lang="fr-FR" sz="2400" dirty="0">
                <a:latin typeface="Calibri" pitchFamily="34" charset="0"/>
                <a:cs typeface="Arial" charset="0"/>
              </a:rPr>
              <a:t> des sujets Bombay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>
                <a:latin typeface="Calibri" pitchFamily="34" charset="0"/>
                <a:cs typeface="Arial" charset="0"/>
              </a:rPr>
              <a:t>Anti-B</a:t>
            </a:r>
            <a:r>
              <a:rPr lang="fr-FR" sz="2400" dirty="0">
                <a:latin typeface="Calibri" pitchFamily="34" charset="0"/>
                <a:cs typeface="Arial" charset="0"/>
              </a:rPr>
              <a:t> de type </a:t>
            </a:r>
            <a:r>
              <a:rPr lang="fr-FR" sz="2400" dirty="0" err="1">
                <a:latin typeface="Calibri" pitchFamily="34" charset="0"/>
                <a:cs typeface="Arial" charset="0"/>
              </a:rPr>
              <a:t>IgM</a:t>
            </a:r>
            <a:r>
              <a:rPr lang="fr-FR" sz="2400" dirty="0">
                <a:latin typeface="Calibri" pitchFamily="34" charset="0"/>
                <a:cs typeface="Arial" charset="0"/>
              </a:rPr>
              <a:t> d’un sujet A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1975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N°5 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Les anticorps naturels du système ABO: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Sont présents chez l’adulte en absence de l’antigène correspondant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Sont des anticorps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chauds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Sont le souvent responsables d’une maladie hémolytique néonatale grave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Sont mis en évidence par une technique de </a:t>
            </a:r>
            <a:r>
              <a:rPr lang="fr-FR" sz="2400" dirty="0" err="1" smtClean="0">
                <a:latin typeface="Calibri" pitchFamily="34" charset="0"/>
                <a:cs typeface="Arial" charset="0"/>
              </a:rPr>
              <a:t>Coombs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indirect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Sont de nature IgM</a:t>
            </a: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1975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N°6 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179512" y="1143000"/>
            <a:ext cx="8784975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Les anticorps immuns du système ABO: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Sont constamment présents en absence de l’antigène correspondant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Peuvent apparaitre suite à une vaccination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Peuvent traverser la barrière </a:t>
            </a:r>
            <a:r>
              <a:rPr lang="fr-FR" sz="2400" dirty="0" err="1">
                <a:latin typeface="Calibri" pitchFamily="34" charset="0"/>
                <a:cs typeface="Arial" charset="0"/>
              </a:rPr>
              <a:t>foetoplacentaire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+mn-cs"/>
              </a:rPr>
              <a:t>Leur présence définit</a:t>
            </a:r>
            <a:r>
              <a:rPr lang="fr-FR" sz="2400" dirty="0" smtClean="0">
                <a:latin typeface="Calibri" pitchFamily="34" charset="0"/>
                <a:cs typeface="+mn-cs"/>
              </a:rPr>
              <a:t> </a:t>
            </a:r>
            <a:r>
              <a:rPr lang="fr-FR" sz="2400" dirty="0">
                <a:latin typeface="Calibri" pitchFamily="34" charset="0"/>
                <a:cs typeface="+mn-cs"/>
              </a:rPr>
              <a:t>les </a:t>
            </a:r>
            <a:r>
              <a:rPr lang="fr-FR" sz="2400" dirty="0" smtClean="0">
                <a:latin typeface="Calibri" pitchFamily="34" charset="0"/>
                <a:cs typeface="+mn-cs"/>
              </a:rPr>
              <a:t>donneurs de groupe sanguin O dangereux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Sont hémolysants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in vitro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1975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N°7 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Concernant le système rhésus , quelles sont les propositions justes: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Les antigènes sont </a:t>
            </a:r>
            <a:r>
              <a:rPr lang="fr-FR" sz="2400" dirty="0" smtClean="0">
                <a:latin typeface="Calibri" pitchFamily="34" charset="0"/>
                <a:cs typeface="+mn-cs"/>
              </a:rPr>
              <a:t>bien exprimés à la naissance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L’expression antigénique est restreinte aux hématies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Les antigènes sont reconnus par des anticorps naturels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Le gèn</a:t>
            </a:r>
            <a:r>
              <a:rPr lang="fr-FR" sz="2400" dirty="0" smtClean="0">
                <a:latin typeface="Calibri" pitchFamily="34" charset="0"/>
                <a:cs typeface="+mn-cs"/>
              </a:rPr>
              <a:t>e</a:t>
            </a:r>
            <a:r>
              <a:rPr lang="fr-FR" sz="2400" dirty="0">
                <a:latin typeface="Calibri" pitchFamily="34" charset="0"/>
                <a:cs typeface="Arial" charset="0"/>
              </a:rPr>
              <a:t>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Rh-D est présent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</a:t>
            </a:r>
            <a:r>
              <a:rPr lang="fr-FR" sz="2400" dirty="0">
                <a:latin typeface="Calibri" pitchFamily="34" charset="0"/>
                <a:cs typeface="Arial" charset="0"/>
              </a:rPr>
              <a:t>sur le chromosome 1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La délétion totale du gène Rh-D définit le Rh(-1)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Arial" charset="0"/>
            </a:endParaRPr>
          </a:p>
          <a:p>
            <a:pPr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Arial" charset="0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1975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N°8 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Concernant le système rhésus , les trois haplotypes les plus fréquents sont: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altLang="fr-FR" sz="2400" dirty="0" err="1">
                <a:latin typeface="Calibri" pitchFamily="34" charset="0"/>
                <a:cs typeface="Arial" charset="0"/>
              </a:rPr>
              <a:t>DCe</a:t>
            </a:r>
            <a:r>
              <a:rPr lang="fr-FR" altLang="fr-FR" sz="2400" dirty="0">
                <a:latin typeface="Calibri" pitchFamily="34" charset="0"/>
                <a:cs typeface="Arial" charset="0"/>
              </a:rPr>
              <a:t>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DCE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altLang="fr-FR" sz="2400" dirty="0" err="1">
                <a:latin typeface="Calibri" pitchFamily="34" charset="0"/>
                <a:cs typeface="Arial" charset="0"/>
              </a:rPr>
              <a:t>DcE</a:t>
            </a:r>
            <a:r>
              <a:rPr lang="fr-FR" altLang="fr-FR" sz="2400" dirty="0">
                <a:latin typeface="Calibri" pitchFamily="34" charset="0"/>
                <a:cs typeface="Arial" charset="0"/>
              </a:rPr>
              <a:t>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altLang="fr-FR" sz="2400" dirty="0" err="1">
                <a:latin typeface="Calibri" pitchFamily="34" charset="0"/>
                <a:cs typeface="Arial" charset="0"/>
              </a:rPr>
              <a:t>dce</a:t>
            </a:r>
            <a:endParaRPr lang="fr-FR" alt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>
                <a:latin typeface="Calibri" pitchFamily="34" charset="0"/>
                <a:cs typeface="Arial" charset="0"/>
              </a:rPr>
              <a:t>dCE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1882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N°9: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Concernant les phénotypes A1 et A2, </a:t>
            </a:r>
            <a:r>
              <a:rPr lang="fr-FR" sz="2400" b="1" dirty="0" smtClean="0">
                <a:latin typeface="Calibri" pitchFamily="34" charset="0"/>
                <a:cs typeface="+mn-cs"/>
              </a:rPr>
              <a:t>quelles </a:t>
            </a:r>
            <a:r>
              <a:rPr lang="fr-FR" sz="2400" b="1" dirty="0">
                <a:latin typeface="Calibri" pitchFamily="34" charset="0"/>
                <a:cs typeface="+mn-cs"/>
              </a:rPr>
              <a:t>sont les propositions justes: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Le phénotype </a:t>
            </a:r>
            <a:r>
              <a:rPr lang="fr-FR" sz="2400" dirty="0" smtClean="0">
                <a:latin typeface="Calibri" pitchFamily="34" charset="0"/>
                <a:cs typeface="+mn-cs"/>
              </a:rPr>
              <a:t>A1 </a:t>
            </a:r>
            <a:r>
              <a:rPr lang="fr-FR" sz="2400" dirty="0">
                <a:latin typeface="Calibri" pitchFamily="34" charset="0"/>
                <a:cs typeface="+mn-cs"/>
              </a:rPr>
              <a:t>est plus fréquent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Le sujet A2 présente plus d’antigène A que le sujet A1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L’enzyme A2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transforme toute la quantité de substance H en A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Certains sujets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A2 peuvent </a:t>
            </a:r>
            <a:r>
              <a:rPr lang="fr-FR" sz="2400" dirty="0">
                <a:latin typeface="Calibri" pitchFamily="34" charset="0"/>
                <a:cs typeface="Arial" charset="0"/>
              </a:rPr>
              <a:t>développer un anticorps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immun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</a:t>
            </a:r>
            <a:r>
              <a:rPr lang="fr-FR" sz="2400" dirty="0">
                <a:latin typeface="Calibri" pitchFamily="34" charset="0"/>
                <a:cs typeface="Arial" charset="0"/>
              </a:rPr>
              <a:t>anti-A1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L’anticorps anti-A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1 est souvent de titre faible 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N°10: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 smtClean="0">
                <a:latin typeface="Calibri" pitchFamily="34" charset="0"/>
              </a:rPr>
              <a:t>Il est indiqué de transfuser un patient polytransfusé par </a:t>
            </a:r>
            <a:r>
              <a:rPr lang="fr-FR" sz="2400" b="1" dirty="0" smtClean="0">
                <a:latin typeface="Calibri" pitchFamily="34" charset="0"/>
                <a:cs typeface="+mn-cs"/>
              </a:rPr>
              <a:t>un</a:t>
            </a:r>
            <a:r>
              <a:rPr lang="fr-FR" sz="2400" b="1" dirty="0" smtClean="0">
                <a:latin typeface="Calibri" pitchFamily="34" charset="0"/>
                <a:cs typeface="+mn-cs"/>
              </a:rPr>
              <a:t> concentré </a:t>
            </a:r>
            <a:r>
              <a:rPr lang="fr-FR" sz="2400" b="1" dirty="0">
                <a:latin typeface="Calibri" pitchFamily="34" charset="0"/>
                <a:cs typeface="+mn-cs"/>
              </a:rPr>
              <a:t>de </a:t>
            </a:r>
            <a:r>
              <a:rPr lang="fr-FR" sz="2400" b="1" dirty="0" smtClean="0">
                <a:latin typeface="Calibri" pitchFamily="34" charset="0"/>
                <a:cs typeface="+mn-cs"/>
              </a:rPr>
              <a:t>GR :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 smtClean="0">
                <a:latin typeface="Calibri" pitchFamily="34" charset="0"/>
                <a:cs typeface="+mn-cs"/>
              </a:rPr>
              <a:t>Phénotypé</a:t>
            </a:r>
            <a:r>
              <a:rPr lang="fr-FR" sz="2400" dirty="0" smtClean="0">
                <a:latin typeface="Calibri" pitchFamily="34" charset="0"/>
                <a:cs typeface="+mn-cs"/>
              </a:rPr>
              <a:t> 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 smtClean="0">
                <a:latin typeface="Calibri" pitchFamily="34" charset="0"/>
                <a:cs typeface="Arial" charset="0"/>
              </a:rPr>
              <a:t>Cryoconservé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 smtClean="0">
                <a:latin typeface="Calibri" pitchFamily="34" charset="0"/>
                <a:cs typeface="Arial" charset="0"/>
              </a:rPr>
              <a:t>Déleucocyté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+mn-cs"/>
              </a:rPr>
              <a:t>Lavé 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Irradié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N°11: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La </a:t>
            </a:r>
            <a:r>
              <a:rPr lang="fr-FR" sz="2400" b="1" dirty="0" err="1">
                <a:latin typeface="Calibri" pitchFamily="34" charset="0"/>
                <a:cs typeface="+mn-cs"/>
              </a:rPr>
              <a:t>déleucocytation</a:t>
            </a:r>
            <a:r>
              <a:rPr lang="fr-FR" sz="2400" b="1" dirty="0">
                <a:latin typeface="Calibri" pitchFamily="34" charset="0"/>
                <a:cs typeface="+mn-cs"/>
              </a:rPr>
              <a:t>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Est une procédure de filtration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Réduit le risque d’allo-immunisation érythrocytaire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Réduit le risque de transmission de CMV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Est indiquée pour prévenir une réaction de type frissons hyperthermie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Est indiquée pour la prévention des accidents allergiques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QCM </a:t>
            </a:r>
            <a:r>
              <a:rPr kumimoji="0" lang="fr-FR" sz="32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N°12</a:t>
            </a:r>
            <a:r>
              <a:rPr kumimoji="0" lang="fr-FR" sz="3200" b="1" i="1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: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071563"/>
            <a:ext cx="7970838" cy="5043487"/>
          </a:xfrm>
          <a:prstGeom prst="rect">
            <a:avLst/>
          </a:prstGeom>
        </p:spPr>
        <p:txBody>
          <a:bodyPr/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Wingdings" pitchFamily="2" charset="2"/>
              <a:buChar char="q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L’irradiation  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Wingdings" pitchFamily="2" charset="2"/>
              <a:buChar char="q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Est indiquée chez les polytransfusés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Permet d’inactiver les lymphocytes immunocompétents du donneur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Est indiquée chez les patients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immuno-déprimés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Est indiquée chez les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patients avec un déficit en </a:t>
            </a:r>
            <a:r>
              <a:rPr kumimoji="0" lang="fr-FR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IgA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Prévient la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réaction greffon contre l’hôte (GVH)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  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rabicPeriod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 typeface="+mj-lt"/>
              <a:buAutoNum type="alphaUcPeriod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5000"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 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21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N°13: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071563"/>
            <a:ext cx="7970838" cy="504348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Pour prévenir la récidive d’une réaction allergique sévère résistante à la prémédication, on transfuse des CGR: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+mn-lt"/>
                <a:cs typeface="+mn-cs"/>
              </a:rPr>
              <a:t>Irradiés</a:t>
            </a:r>
            <a:endParaRPr lang="fr-FR" sz="2400" dirty="0">
              <a:latin typeface="+mn-lt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>
                <a:latin typeface="+mn-lt"/>
              </a:rPr>
              <a:t>Déleucocytés</a:t>
            </a:r>
            <a:r>
              <a:rPr lang="fr-FR" sz="2400" dirty="0">
                <a:latin typeface="+mn-lt"/>
              </a:rPr>
              <a:t>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 smtClean="0">
                <a:latin typeface="+mn-lt"/>
              </a:rPr>
              <a:t>Cryoconservé</a:t>
            </a:r>
            <a:r>
              <a:rPr lang="fr-FR" sz="2400" dirty="0" smtClean="0">
                <a:latin typeface="+mn-lt"/>
              </a:rPr>
              <a:t> </a:t>
            </a:r>
            <a:endParaRPr lang="fr-FR" sz="2400" dirty="0">
              <a:latin typeface="+mn-lt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+mn-lt"/>
              </a:rPr>
              <a:t>CMV négatifs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err="1">
                <a:latin typeface="+mn-lt"/>
              </a:rPr>
              <a:t>Déplasmatisés</a:t>
            </a:r>
            <a:endParaRPr lang="fr-FR" sz="2400" dirty="0">
              <a:latin typeface="+mn-lt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+mn-lt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/>
          </a:p>
          <a:p>
            <a:pPr>
              <a:defRPr/>
            </a:pPr>
            <a:r>
              <a:rPr lang="fr-FR" sz="2400" dirty="0"/>
              <a:t>      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379124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N°14: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La transfusion d’une femme multipare âgée de 32 ans de GS </a:t>
            </a:r>
            <a:r>
              <a:rPr lang="fr-FR" sz="2400" b="1" dirty="0" smtClean="0">
                <a:latin typeface="Calibri" pitchFamily="34" charset="0"/>
                <a:cs typeface="+mn-cs"/>
              </a:rPr>
              <a:t>A </a:t>
            </a:r>
            <a:r>
              <a:rPr lang="fr-FR" sz="2400" b="1" dirty="0">
                <a:latin typeface="Calibri" pitchFamily="34" charset="0"/>
                <a:cs typeface="+mn-cs"/>
              </a:rPr>
              <a:t>positif </a:t>
            </a:r>
            <a:r>
              <a:rPr lang="fr-FR" sz="2400" b="1" dirty="0" err="1">
                <a:latin typeface="Calibri" pitchFamily="34" charset="0"/>
                <a:cs typeface="Arial" charset="0"/>
              </a:rPr>
              <a:t>Eneg</a:t>
            </a:r>
            <a:r>
              <a:rPr lang="fr-FR" sz="2400" b="1" dirty="0">
                <a:latin typeface="Calibri" pitchFamily="34" charset="0"/>
                <a:cs typeface="Arial" charset="0"/>
              </a:rPr>
              <a:t> e+ </a:t>
            </a:r>
            <a:r>
              <a:rPr lang="fr-FR" sz="2400" b="1" dirty="0" smtClean="0">
                <a:latin typeface="Calibri" pitchFamily="34" charset="0"/>
                <a:cs typeface="Arial" charset="0"/>
              </a:rPr>
              <a:t>C+ </a:t>
            </a:r>
            <a:r>
              <a:rPr lang="fr-FR" sz="2400" b="1" dirty="0">
                <a:latin typeface="Calibri" pitchFamily="34" charset="0"/>
                <a:cs typeface="Arial" charset="0"/>
              </a:rPr>
              <a:t>c+ </a:t>
            </a:r>
            <a:r>
              <a:rPr lang="fr-FR" sz="2400" b="1" dirty="0" err="1">
                <a:latin typeface="Calibri" pitchFamily="34" charset="0"/>
                <a:cs typeface="Arial" charset="0"/>
              </a:rPr>
              <a:t>Kneg</a:t>
            </a:r>
            <a:r>
              <a:rPr lang="fr-FR" sz="2400" b="1" dirty="0">
                <a:latin typeface="Calibri" pitchFamily="34" charset="0"/>
                <a:cs typeface="Arial" charset="0"/>
              </a:rPr>
              <a:t> peut se faire avec des CGR</a:t>
            </a:r>
            <a:r>
              <a:rPr lang="fr-FR" sz="2400" dirty="0">
                <a:latin typeface="Comic Sans MS" pitchFamily="66" charset="0"/>
                <a:cs typeface="Arial" charset="0"/>
              </a:rPr>
              <a:t>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A </a:t>
            </a:r>
            <a:r>
              <a:rPr lang="fr-FR" sz="2400" dirty="0">
                <a:latin typeface="Calibri" pitchFamily="34" charset="0"/>
                <a:cs typeface="Arial" charset="0"/>
              </a:rPr>
              <a:t>positif </a:t>
            </a:r>
            <a:r>
              <a:rPr lang="fr-FR" sz="2400" dirty="0" err="1">
                <a:latin typeface="Calibri" pitchFamily="34" charset="0"/>
                <a:cs typeface="Arial" charset="0"/>
              </a:rPr>
              <a:t>Eneg</a:t>
            </a:r>
            <a:r>
              <a:rPr lang="fr-FR" sz="2400" dirty="0">
                <a:latin typeface="Calibri" pitchFamily="34" charset="0"/>
                <a:cs typeface="Arial" charset="0"/>
              </a:rPr>
              <a:t> </a:t>
            </a:r>
            <a:r>
              <a:rPr lang="fr-FR" sz="2400" dirty="0" err="1" smtClean="0">
                <a:latin typeface="Calibri" pitchFamily="34" charset="0"/>
                <a:cs typeface="Arial" charset="0"/>
              </a:rPr>
              <a:t>e+Cneg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</a:t>
            </a:r>
            <a:r>
              <a:rPr lang="fr-FR" sz="2400" dirty="0" err="1" smtClean="0">
                <a:latin typeface="Calibri" pitchFamily="34" charset="0"/>
                <a:cs typeface="Arial" charset="0"/>
              </a:rPr>
              <a:t>c+K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+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O positif E+ </a:t>
            </a:r>
            <a:r>
              <a:rPr lang="fr-FR" sz="2400" dirty="0" err="1">
                <a:latin typeface="Calibri" pitchFamily="34" charset="0"/>
                <a:cs typeface="+mn-cs"/>
              </a:rPr>
              <a:t>e+C+c+Kneg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A</a:t>
            </a:r>
            <a:r>
              <a:rPr lang="fr-FR" sz="2400" dirty="0" smtClean="0">
                <a:latin typeface="Calibri" pitchFamily="34" charset="0"/>
                <a:cs typeface="+mn-cs"/>
              </a:rPr>
              <a:t> </a:t>
            </a:r>
            <a:r>
              <a:rPr lang="fr-FR" sz="2400" dirty="0">
                <a:latin typeface="Calibri" pitchFamily="34" charset="0"/>
                <a:cs typeface="+mn-cs"/>
              </a:rPr>
              <a:t>négatif </a:t>
            </a:r>
            <a:r>
              <a:rPr lang="fr-FR" sz="2400" dirty="0" err="1">
                <a:latin typeface="Calibri" pitchFamily="34" charset="0"/>
                <a:cs typeface="+mn-cs"/>
              </a:rPr>
              <a:t>Eneg</a:t>
            </a:r>
            <a:r>
              <a:rPr lang="fr-FR" sz="2400" dirty="0">
                <a:latin typeface="Calibri" pitchFamily="34" charset="0"/>
                <a:cs typeface="+mn-cs"/>
              </a:rPr>
              <a:t> e+ </a:t>
            </a:r>
            <a:r>
              <a:rPr lang="fr-FR" sz="2400" dirty="0" err="1">
                <a:latin typeface="Calibri" pitchFamily="34" charset="0"/>
                <a:cs typeface="+mn-cs"/>
              </a:rPr>
              <a:t>Cneg</a:t>
            </a:r>
            <a:r>
              <a:rPr lang="fr-FR" sz="2400" dirty="0">
                <a:latin typeface="Calibri" pitchFamily="34" charset="0"/>
                <a:cs typeface="+mn-cs"/>
              </a:rPr>
              <a:t> c+ </a:t>
            </a:r>
            <a:r>
              <a:rPr lang="fr-FR" sz="2400" dirty="0" err="1">
                <a:latin typeface="Calibri" pitchFamily="34" charset="0"/>
                <a:cs typeface="+mn-cs"/>
              </a:rPr>
              <a:t>Kneg</a:t>
            </a:r>
            <a:r>
              <a:rPr lang="fr-FR" sz="2400" dirty="0">
                <a:latin typeface="Calibri" pitchFamily="34" charset="0"/>
                <a:cs typeface="+mn-cs"/>
              </a:rPr>
              <a:t>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O positif </a:t>
            </a:r>
            <a:r>
              <a:rPr lang="fr-FR" sz="2400" dirty="0" err="1">
                <a:latin typeface="Calibri" pitchFamily="34" charset="0"/>
                <a:cs typeface="+mn-cs"/>
              </a:rPr>
              <a:t>Eneg</a:t>
            </a:r>
            <a:r>
              <a:rPr lang="fr-FR" sz="2400" dirty="0">
                <a:latin typeface="Calibri" pitchFamily="34" charset="0"/>
                <a:cs typeface="+mn-cs"/>
              </a:rPr>
              <a:t> e+ </a:t>
            </a:r>
            <a:r>
              <a:rPr lang="fr-FR" sz="2400" dirty="0" smtClean="0">
                <a:latin typeface="Calibri" pitchFamily="34" charset="0"/>
                <a:cs typeface="+mn-cs"/>
              </a:rPr>
              <a:t>C</a:t>
            </a:r>
            <a:r>
              <a:rPr lang="fr-FR" sz="2400" dirty="0" smtClean="0">
                <a:latin typeface="Calibri" pitchFamily="34" charset="0"/>
                <a:cs typeface="+mn-cs"/>
              </a:rPr>
              <a:t>+</a:t>
            </a:r>
            <a:r>
              <a:rPr lang="fr-FR" sz="2400" dirty="0" smtClean="0">
                <a:latin typeface="Calibri" pitchFamily="34" charset="0"/>
                <a:cs typeface="+mn-cs"/>
              </a:rPr>
              <a:t> </a:t>
            </a:r>
            <a:r>
              <a:rPr lang="fr-FR" sz="2400" dirty="0">
                <a:latin typeface="Calibri" pitchFamily="34" charset="0"/>
                <a:cs typeface="+mn-cs"/>
              </a:rPr>
              <a:t>c+ </a:t>
            </a:r>
            <a:r>
              <a:rPr lang="fr-FR" sz="2400" dirty="0" err="1">
                <a:latin typeface="Calibri" pitchFamily="34" charset="0"/>
                <a:cs typeface="+mn-cs"/>
              </a:rPr>
              <a:t>Kneg</a:t>
            </a:r>
            <a:r>
              <a:rPr lang="fr-FR" sz="2400" dirty="0">
                <a:latin typeface="Calibri" pitchFamily="34" charset="0"/>
                <a:cs typeface="+mn-cs"/>
              </a:rPr>
              <a:t>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B positif </a:t>
            </a:r>
            <a:r>
              <a:rPr lang="fr-FR" sz="2400" dirty="0" err="1">
                <a:latin typeface="Calibri" pitchFamily="34" charset="0"/>
                <a:cs typeface="+mn-cs"/>
              </a:rPr>
              <a:t>Eneg</a:t>
            </a:r>
            <a:r>
              <a:rPr lang="fr-FR" sz="2400" dirty="0">
                <a:latin typeface="Calibri" pitchFamily="34" charset="0"/>
                <a:cs typeface="+mn-cs"/>
              </a:rPr>
              <a:t> </a:t>
            </a:r>
            <a:r>
              <a:rPr lang="fr-FR" sz="2400" dirty="0" err="1">
                <a:latin typeface="Calibri" pitchFamily="34" charset="0"/>
                <a:cs typeface="+mn-cs"/>
              </a:rPr>
              <a:t>e+C+c+K</a:t>
            </a:r>
            <a:r>
              <a:rPr lang="fr-FR" sz="2400" dirty="0">
                <a:latin typeface="Calibri" pitchFamily="34" charset="0"/>
                <a:cs typeface="+mn-cs"/>
              </a:rPr>
              <a:t>+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948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N°15</a:t>
            </a:r>
            <a:r>
              <a:rPr lang="fr-FR" sz="3200" b="1" u="sng" dirty="0">
                <a:latin typeface="Calibri" pitchFamily="34" charset="0"/>
                <a:cs typeface="Arial" charset="0"/>
              </a:rPr>
              <a:t> 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Le test de Coombs direct: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Détecte la sensibilisation des globules rouges par des anticorps 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Peut détecter des allo-anticorps sériques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Est pratiqué chez </a:t>
            </a:r>
            <a:r>
              <a:rPr lang="fr-FR" sz="2400" dirty="0" smtClean="0">
                <a:latin typeface="Calibri" pitchFamily="34" charset="0"/>
                <a:cs typeface="+mn-cs"/>
              </a:rPr>
              <a:t>le </a:t>
            </a:r>
            <a:r>
              <a:rPr lang="fr-FR" sz="2400" dirty="0">
                <a:latin typeface="Calibri" pitchFamily="34" charset="0"/>
              </a:rPr>
              <a:t>nouveau </a:t>
            </a:r>
            <a:r>
              <a:rPr lang="fr-FR" sz="2400" dirty="0" smtClean="0">
                <a:latin typeface="Calibri" pitchFamily="34" charset="0"/>
              </a:rPr>
              <a:t>né</a:t>
            </a:r>
            <a:r>
              <a:rPr lang="fr-FR" sz="2400" dirty="0" smtClean="0">
                <a:latin typeface="Calibri" pitchFamily="34" charset="0"/>
                <a:cs typeface="+mn-cs"/>
              </a:rPr>
              <a:t> dans le diagnostic</a:t>
            </a:r>
            <a:r>
              <a:rPr lang="fr-FR" sz="2400" dirty="0" smtClean="0">
                <a:latin typeface="Calibri" pitchFamily="34" charset="0"/>
                <a:cs typeface="+mn-cs"/>
              </a:rPr>
              <a:t> </a:t>
            </a:r>
            <a:r>
              <a:rPr lang="fr-FR" sz="2400" dirty="0">
                <a:latin typeface="Calibri" pitchFamily="34" charset="0"/>
                <a:cs typeface="+mn-cs"/>
              </a:rPr>
              <a:t>de maladie hémolytique du nouveau né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+mn-cs"/>
              </a:rPr>
              <a:t>Utilise une </a:t>
            </a:r>
            <a:r>
              <a:rPr lang="fr-FR" sz="2400" dirty="0" err="1" smtClean="0">
                <a:latin typeface="Calibri" pitchFamily="34" charset="0"/>
                <a:cs typeface="+mn-cs"/>
              </a:rPr>
              <a:t>antiglobuline</a:t>
            </a:r>
            <a:r>
              <a:rPr lang="fr-FR" sz="2400" dirty="0" smtClean="0">
                <a:latin typeface="Calibri" pitchFamily="34" charset="0"/>
                <a:cs typeface="+mn-cs"/>
              </a:rPr>
              <a:t> humaine polyvalente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Est une technique d’agglutination </a:t>
            </a:r>
            <a:r>
              <a:rPr lang="fr-FR" sz="2400" dirty="0" smtClean="0">
                <a:latin typeface="Calibri" pitchFamily="34" charset="0"/>
                <a:cs typeface="+mn-cs"/>
              </a:rPr>
              <a:t>spontanée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N°16: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4" y="1071563"/>
            <a:ext cx="9001159" cy="532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 sz="2400" dirty="0">
              <a:latin typeface="Calibri" pitchFamily="34" charset="0"/>
              <a:cs typeface="Calibri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Calibri" pitchFamily="34" charset="0"/>
              </a:rPr>
              <a:t>Le test de Coombs direct:</a:t>
            </a:r>
          </a:p>
          <a:p>
            <a:pPr>
              <a:defRPr/>
            </a:pPr>
            <a:endParaRPr lang="fr-FR" sz="24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Calibri" pitchFamily="34" charset="0"/>
              </a:rPr>
              <a:t>Est </a:t>
            </a:r>
            <a:r>
              <a:rPr lang="fr-FR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sz="2400" dirty="0">
                <a:latin typeface="Calibri" pitchFamily="34" charset="0"/>
                <a:cs typeface="Calibri" pitchFamily="34" charset="0"/>
              </a:rPr>
              <a:t>réalisé en deux étapes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Calibri" pitchFamily="34" charset="0"/>
              </a:rPr>
              <a:t>Peut détecter le complément à la surface des GR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Calibri" pitchFamily="34" charset="0"/>
              </a:rPr>
              <a:t>Permet de confirmer le mécanisme immunologique d’une hémolyse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Calibri" pitchFamily="34" charset="0"/>
              </a:rPr>
              <a:t>Est utilisé pour le </a:t>
            </a:r>
            <a:r>
              <a:rPr lang="fr-FR" sz="2400" dirty="0" err="1" smtClean="0">
                <a:latin typeface="Calibri" pitchFamily="34" charset="0"/>
                <a:cs typeface="Calibri" pitchFamily="34" charset="0"/>
              </a:rPr>
              <a:t>phénotypage</a:t>
            </a:r>
            <a:r>
              <a:rPr lang="fr-FR" sz="2400" dirty="0" smtClean="0">
                <a:latin typeface="Calibri" pitchFamily="34" charset="0"/>
                <a:cs typeface="Calibri" pitchFamily="34" charset="0"/>
              </a:rPr>
              <a:t> érythrocytaire Duffy</a:t>
            </a:r>
            <a:endParaRPr lang="fr-FR" sz="24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Calibri" pitchFamily="34" charset="0"/>
              </a:rPr>
              <a:t>Est u</a:t>
            </a:r>
            <a:r>
              <a:rPr lang="fr-FR" sz="2400" dirty="0" smtClean="0">
                <a:latin typeface="Calibri" pitchFamily="34" charset="0"/>
                <a:cs typeface="Calibri" pitchFamily="34" charset="0"/>
              </a:rPr>
              <a:t>tilisé </a:t>
            </a:r>
            <a:r>
              <a:rPr lang="fr-FR" sz="2400" dirty="0">
                <a:latin typeface="Calibri" pitchFamily="34" charset="0"/>
                <a:cs typeface="Calibri" pitchFamily="34" charset="0"/>
              </a:rPr>
              <a:t>pour l’épreuve directe de compatibilité au laboratoire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N°17: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8429625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Le test de Coombs indirect est indiqué pour: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La recherche des anticorps irréguliers sériques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La recherche d’anticorps anti –érythrocytaires fixés sur les GR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La détermination du D faible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La détermination du</a:t>
            </a:r>
            <a:r>
              <a:rPr lang="fr-FR" sz="2400" dirty="0">
                <a:latin typeface="Calibri" pitchFamily="34" charset="0"/>
                <a:cs typeface="+mn-cs"/>
              </a:rPr>
              <a:t> </a:t>
            </a:r>
            <a:r>
              <a:rPr lang="fr-FR" sz="2400" dirty="0" err="1">
                <a:latin typeface="Calibri" pitchFamily="34" charset="0"/>
                <a:cs typeface="+mn-cs"/>
              </a:rPr>
              <a:t>phénotypage</a:t>
            </a:r>
            <a:r>
              <a:rPr lang="fr-FR" sz="2400" dirty="0">
                <a:latin typeface="Calibri" pitchFamily="34" charset="0"/>
                <a:cs typeface="+mn-cs"/>
              </a:rPr>
              <a:t> érythrocytaire </a:t>
            </a:r>
            <a:r>
              <a:rPr lang="fr-FR" sz="2400" dirty="0" err="1">
                <a:latin typeface="Calibri" pitchFamily="34" charset="0"/>
                <a:cs typeface="+mn-cs"/>
              </a:rPr>
              <a:t>Fya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La réalisation du test du compatibilité au laboratoire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N°18: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143000"/>
            <a:ext cx="7970838" cy="5043488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Parmi les propositions suivantes concernant le test ultime au lit du malade la ou les quelles est (sont) justes: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+mn-cs"/>
              </a:rPr>
              <a:t>Est </a:t>
            </a:r>
            <a:r>
              <a:rPr lang="fr-FR" sz="2400" dirty="0">
                <a:latin typeface="Calibri" pitchFamily="34" charset="0"/>
                <a:cs typeface="+mn-cs"/>
              </a:rPr>
              <a:t>obligatoire avant toute transfusion de CGR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Consiste à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mélanger une </a:t>
            </a:r>
            <a:r>
              <a:rPr lang="fr-FR" sz="2400" dirty="0">
                <a:latin typeface="Calibri" pitchFamily="34" charset="0"/>
                <a:cs typeface="Arial" charset="0"/>
              </a:rPr>
              <a:t>goutte de sang du patient et une goutte de concentré globulaire de la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poche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Une vérification documentaire est nécessaire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Peut être remplacée par un test de compatibilité au laboratoire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Peut ne pas être réalisé en cas d’urgence vitale immédiate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N°19: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071563"/>
            <a:ext cx="7970838" cy="504348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+mn-lt"/>
                <a:cs typeface="+mn-cs"/>
              </a:rPr>
              <a:t>Une patiente présente </a:t>
            </a:r>
            <a:r>
              <a:rPr lang="fr-FR" sz="2400" b="1" dirty="0" smtClean="0">
                <a:latin typeface="+mn-lt"/>
                <a:cs typeface="+mn-cs"/>
              </a:rPr>
              <a:t>au</a:t>
            </a:r>
            <a:r>
              <a:rPr lang="fr-FR" sz="2400" b="1" dirty="0" smtClean="0">
                <a:latin typeface="+mn-lt"/>
                <a:cs typeface="+mn-cs"/>
              </a:rPr>
              <a:t> </a:t>
            </a:r>
            <a:r>
              <a:rPr lang="fr-FR" sz="2400" b="1" dirty="0">
                <a:latin typeface="+mn-lt"/>
                <a:cs typeface="+mn-cs"/>
              </a:rPr>
              <a:t>cours d’une transfusion de CGR un malaise avec des frissons et une hyperthermie. </a:t>
            </a:r>
            <a:r>
              <a:rPr lang="fr-FR" sz="2400" b="1" dirty="0" smtClean="0">
                <a:latin typeface="+mn-lt"/>
                <a:cs typeface="+mn-cs"/>
              </a:rPr>
              <a:t>Quel diagnostic </a:t>
            </a:r>
            <a:r>
              <a:rPr lang="fr-FR" sz="2400" b="1" dirty="0">
                <a:latin typeface="+mn-lt"/>
                <a:cs typeface="+mn-cs"/>
              </a:rPr>
              <a:t>évoquez </a:t>
            </a:r>
            <a:r>
              <a:rPr lang="fr-FR" sz="2400" b="1" dirty="0" smtClean="0">
                <a:latin typeface="+mn-lt"/>
                <a:cs typeface="+mn-cs"/>
              </a:rPr>
              <a:t>vous en premier lieu ?</a:t>
            </a:r>
            <a:r>
              <a:rPr lang="fr-FR" sz="2400" b="1" dirty="0" smtClean="0">
                <a:latin typeface="+mn-lt"/>
                <a:cs typeface="Arial" charset="0"/>
              </a:rPr>
              <a:t>(une seule réponse juste)</a:t>
            </a:r>
            <a:endParaRPr lang="fr-FR" sz="2400" b="1" dirty="0">
              <a:latin typeface="+mn-lt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Accident hémolytique par incompatibilité ABO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Accident hémolytique lié au système Rhésus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Choc endotoxinique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Réaction frissons </a:t>
            </a:r>
            <a:r>
              <a:rPr lang="fr-FR" sz="2400" dirty="0" err="1">
                <a:latin typeface="Calibri" pitchFamily="34" charset="0"/>
                <a:cs typeface="+mn-cs"/>
              </a:rPr>
              <a:t>hypethermie</a:t>
            </a: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Surcharge potassique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N°20: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071563"/>
            <a:ext cx="7970838" cy="504348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Parmi les accidents transfusionnels suivants le ou les quels sont retardés</a:t>
            </a:r>
            <a:r>
              <a:rPr lang="fr-FR" sz="2400" dirty="0">
                <a:latin typeface="Comic Sans MS" pitchFamily="66" charset="0"/>
                <a:cs typeface="Arial" charset="0"/>
              </a:rPr>
              <a:t>: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Séroconversion virale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Réaction allergique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Allo immunisation Rhésus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Choc endotoxinique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+mn-cs"/>
              </a:rPr>
              <a:t>Surcharge martiale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20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N°21: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071563"/>
            <a:ext cx="7970838" cy="532923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Le TRALI est une complication transfusionnelle grave due à une réaction immunologique pouvant mettre en jeu</a:t>
            </a:r>
          </a:p>
          <a:p>
            <a:pPr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Des anticorps anti érythrocytaires du receveur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Des agglutinines irrégulières présentes chez le donneur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Des anticorps anti-HLA du donneur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Des anticorps anti-HPA du receveur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Des anticorps </a:t>
            </a:r>
            <a:r>
              <a:rPr lang="fr-FR" sz="2400" dirty="0" err="1" smtClean="0">
                <a:latin typeface="Calibri" pitchFamily="34" charset="0"/>
                <a:cs typeface="Arial" charset="0"/>
              </a:rPr>
              <a:t>anti-granulocytaires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</a:t>
            </a:r>
            <a:r>
              <a:rPr lang="fr-FR" sz="2400" dirty="0">
                <a:latin typeface="Calibri" pitchFamily="34" charset="0"/>
                <a:cs typeface="Arial" charset="0"/>
              </a:rPr>
              <a:t>du donneur</a:t>
            </a: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N°22: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5" y="1071563"/>
            <a:ext cx="7970838" cy="504348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 smtClean="0">
                <a:latin typeface="Calibri" pitchFamily="34" charset="0"/>
                <a:cs typeface="+mn-cs"/>
              </a:rPr>
              <a:t>Le </a:t>
            </a:r>
            <a:r>
              <a:rPr lang="fr-FR" sz="2400" b="1" dirty="0" smtClean="0">
                <a:latin typeface="Calibri" pitchFamily="34" charset="0"/>
                <a:cs typeface="+mn-cs"/>
              </a:rPr>
              <a:t> </a:t>
            </a:r>
            <a:r>
              <a:rPr lang="fr-FR" sz="2400" b="1" dirty="0">
                <a:latin typeface="Calibri" pitchFamily="34" charset="0"/>
                <a:cs typeface="+mn-cs"/>
              </a:rPr>
              <a:t>purpura post transfusionnel aigu: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Est un accident fréquent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Est un accident grave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 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Est souvent immédiat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indique </a:t>
            </a:r>
            <a:r>
              <a:rPr lang="fr-FR" sz="2400" dirty="0">
                <a:latin typeface="Calibri" pitchFamily="34" charset="0"/>
                <a:cs typeface="Arial" charset="0"/>
              </a:rPr>
              <a:t>la recherche d’anticorps anti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HPA-1a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 smtClean="0">
                <a:latin typeface="Calibri" pitchFamily="34" charset="0"/>
                <a:cs typeface="Arial" charset="0"/>
              </a:rPr>
              <a:t>Est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prévenu par la </a:t>
            </a:r>
            <a:r>
              <a:rPr lang="fr-FR" sz="2400" dirty="0">
                <a:latin typeface="Calibri" pitchFamily="34" charset="0"/>
                <a:cs typeface="Arial" charset="0"/>
              </a:rPr>
              <a:t>transfusion de plaquettes irradiées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38" y="457200"/>
            <a:ext cx="2101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u="sng" dirty="0">
                <a:latin typeface="Calibri" pitchFamily="34" charset="0"/>
                <a:cs typeface="Arial" charset="0"/>
              </a:rPr>
              <a:t>QCM </a:t>
            </a:r>
            <a:r>
              <a:rPr lang="fr-FR" sz="3200" b="1" u="sng" dirty="0" smtClean="0">
                <a:latin typeface="Calibri" pitchFamily="34" charset="0"/>
                <a:cs typeface="Arial" charset="0"/>
              </a:rPr>
              <a:t>N°23:</a:t>
            </a:r>
            <a:endParaRPr lang="fr-FR" sz="3200" dirty="0">
              <a:latin typeface="Arial" charset="0"/>
              <a:cs typeface="Arial" charset="0"/>
            </a:endParaRPr>
          </a:p>
        </p:txBody>
      </p:sp>
      <p:sp>
        <p:nvSpPr>
          <p:cNvPr id="3" name="Espace réservé du contenu 5"/>
          <p:cNvSpPr txBox="1">
            <a:spLocks/>
          </p:cNvSpPr>
          <p:nvPr/>
        </p:nvSpPr>
        <p:spPr>
          <a:xfrm>
            <a:off x="428624" y="1071563"/>
            <a:ext cx="8247831" cy="532923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400" b="1" dirty="0">
                <a:latin typeface="Calibri" pitchFamily="34" charset="0"/>
                <a:cs typeface="+mn-cs"/>
              </a:rPr>
              <a:t>Une transfusion massive et rapide peut être à l’origine d’ :</a:t>
            </a:r>
          </a:p>
          <a:p>
            <a:pPr algn="just">
              <a:spcBef>
                <a:spcPct val="20000"/>
              </a:spcBef>
              <a:buClr>
                <a:srgbClr val="0070C0"/>
              </a:buClr>
              <a:buSzPct val="85000"/>
              <a:defRPr/>
            </a:pPr>
            <a:endParaRPr lang="fr-FR" sz="2400" b="1" dirty="0">
              <a:latin typeface="Calibri" pitchFamily="34" charset="0"/>
              <a:cs typeface="+mn-cs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Une Hyperkaliémie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Une hypocalcémie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Une </a:t>
            </a:r>
            <a:r>
              <a:rPr lang="fr-FR" sz="2400" dirty="0" smtClean="0">
                <a:latin typeface="Calibri" pitchFamily="34" charset="0"/>
                <a:cs typeface="Arial" charset="0"/>
              </a:rPr>
              <a:t>acidose</a:t>
            </a: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Un œdème pulmonaire de surcharge</a:t>
            </a: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r>
              <a:rPr lang="fr-FR" sz="2400" dirty="0">
                <a:latin typeface="Calibri" pitchFamily="34" charset="0"/>
                <a:cs typeface="Arial" charset="0"/>
              </a:rPr>
              <a:t>Une hémolyse</a:t>
            </a:r>
            <a:endParaRPr lang="fr-FR" sz="2400" b="1" dirty="0">
              <a:solidFill>
                <a:srgbClr val="92D050"/>
              </a:solidFill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b="1" dirty="0">
              <a:solidFill>
                <a:srgbClr val="92D050"/>
              </a:solidFill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rgbClr val="0070C0"/>
              </a:buClr>
              <a:buSzPct val="85000"/>
              <a:buFont typeface="+mj-lt"/>
              <a:buAutoNum type="alphaUcPeriod"/>
              <a:defRPr/>
            </a:pPr>
            <a:endParaRPr lang="fr-FR" sz="2400" dirty="0">
              <a:latin typeface="Calibri" pitchFamily="34" charset="0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defRPr/>
            </a:pPr>
            <a:endParaRPr lang="fr-FR" sz="2400" dirty="0">
              <a:latin typeface="Calibri" pitchFamily="34" charset="0"/>
              <a:cs typeface="+mn-cs"/>
            </a:endParaRPr>
          </a:p>
          <a:p>
            <a:pPr algn="just"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  <a:defRPr/>
            </a:pPr>
            <a:r>
              <a:rPr lang="fr-FR" sz="2400" dirty="0">
                <a:solidFill>
                  <a:srgbClr val="00B0F0"/>
                </a:solidFill>
                <a:latin typeface="+mn-lt"/>
                <a:cs typeface="+mn-cs"/>
              </a:rPr>
              <a:t>  </a:t>
            </a:r>
            <a:endParaRPr lang="fr-FR" sz="2400" dirty="0">
              <a:latin typeface="Calibri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41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675E16-2F22-6F93-EBED-1F1115E03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620688"/>
            <a:ext cx="7560840" cy="576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9794</TotalTime>
  <Words>1214</Words>
  <Application>Microsoft Office PowerPoint</Application>
  <PresentationFormat>Affichage à l'écran (4:3)</PresentationFormat>
  <Paragraphs>317</Paragraphs>
  <Slides>27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Comic Sans MS</vt:lpstr>
      <vt:lpstr>Wingdings</vt:lpstr>
      <vt:lpstr>Thème Office</vt:lpstr>
      <vt:lpstr>Transfusion sanguine:  Bases immuno-hématologiques, Indications,  Complications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dabbou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dabbou</dc:creator>
  <cp:lastModifiedBy>Amani</cp:lastModifiedBy>
  <cp:revision>457</cp:revision>
  <dcterms:created xsi:type="dcterms:W3CDTF">2009-02-18T14:20:40Z</dcterms:created>
  <dcterms:modified xsi:type="dcterms:W3CDTF">2025-09-08T10:58:33Z</dcterms:modified>
</cp:coreProperties>
</file>
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37" roundtripDataSignature="AMtx7miBW/Lgc8+slXUFEkDQqXD5J4M9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slide" Target="slides/slide120.xml"/><Relationship Id="rId29" Type="http://schemas.openxmlformats.org/officeDocument/2006/relationships/slide" Target="slides/slide24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7" Type="http://customschemas.google.com/relationships/presentationmetadata" Target="metadata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+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Essentiellement clinique</a:t>
            </a:r>
            <a:endParaRPr/>
          </a:p>
        </p:txBody>
      </p:sp>
      <p:sp>
        <p:nvSpPr>
          <p:cNvPr id="265" name="Google Shape;26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lang="fr-FR" sz="1200">
                <a:solidFill>
                  <a:srgbClr val="FF0000"/>
                </a:solidFill>
              </a:rPr>
              <a:t>Causé par un BGN </a:t>
            </a:r>
            <a:r>
              <a:rPr lang="fr-FR" sz="1200"/>
              <a:t>(Bartonella hensaele)</a:t>
            </a:r>
            <a:endParaRPr/>
          </a:p>
        </p:txBody>
      </p:sp>
      <p:sp>
        <p:nvSpPr>
          <p:cNvPr id="566" name="Google Shape;566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Incubation = 2 semaines</a:t>
            </a:r>
            <a:endParaRPr/>
          </a:p>
        </p:txBody>
      </p:sp>
      <p:sp>
        <p:nvSpPr>
          <p:cNvPr id="573" name="Google Shape;573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la maladie de Nicolas-Favre ou lymphogranulomatose vénérienne. Cliniquement il est retrouvé une adénopathie le plus souvent unilatérale, inflammatoire et douloureuse, évoluant vers une fistulisation cutanée. Le germe responsable est Chlamydia trachomatis.</a:t>
            </a:r>
            <a:endParaRPr/>
          </a:p>
        </p:txBody>
      </p:sp>
      <p:sp>
        <p:nvSpPr>
          <p:cNvPr id="658" name="Google Shape;658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la maladie de Nicolas-Favre ou lymphogranulomatose vénérienne. Cliniquement il est retrouvé une adénopathie le plus souvent unilatérale, inflammatoire et douloureuse, évoluant vers une fistulisation cutanée. Le germe responsable est Chlamydia trachomatis.</a:t>
            </a:r>
            <a:endParaRPr/>
          </a:p>
        </p:txBody>
      </p:sp>
      <p:sp>
        <p:nvSpPr>
          <p:cNvPr id="665" name="Google Shape;665;p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1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1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1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1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3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3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6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6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3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7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37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3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8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38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38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38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3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0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0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40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4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1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1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41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4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2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3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3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>
            <p:ph type="ctrTitle"/>
          </p:nvPr>
        </p:nvSpPr>
        <p:spPr>
          <a:xfrm>
            <a:off x="2316696" y="2060848"/>
            <a:ext cx="7558608" cy="147002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lang="fr-FR" sz="395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Adénopathies superficielles Orientation diagnostique</a:t>
            </a:r>
            <a:endParaRPr sz="3959"/>
          </a:p>
        </p:txBody>
      </p:sp>
      <p:sp>
        <p:nvSpPr>
          <p:cNvPr id="90" name="Google Shape;90;p1"/>
          <p:cNvSpPr txBox="1"/>
          <p:nvPr/>
        </p:nvSpPr>
        <p:spPr>
          <a:xfrm>
            <a:off x="10704513" y="271463"/>
            <a:ext cx="1223962" cy="744537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245" y="271463"/>
            <a:ext cx="1367132" cy="9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>
            <p:ph idx="1" type="subTitle"/>
          </p:nvPr>
        </p:nvSpPr>
        <p:spPr>
          <a:xfrm>
            <a:off x="4102371" y="3717032"/>
            <a:ext cx="3987257" cy="1152128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960"/>
              <a:buNone/>
            </a:pPr>
            <a:r>
              <a:rPr b="1" lang="fr-FR" sz="2960"/>
              <a:t>Pr Ag Imen Frikha</a:t>
            </a:r>
            <a:endParaRPr b="1" sz="2960"/>
          </a:p>
          <a:p>
            <a:pPr indent="0" lvl="0" marL="0" rtl="0" algn="ctr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ts val="2960"/>
              <a:buNone/>
            </a:pPr>
            <a:r>
              <a:rPr b="1" lang="fr-FR" sz="2960"/>
              <a:t>25 Août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OBJECTIFS</a:t>
            </a:r>
            <a:endParaRPr/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144016" y="1341344"/>
            <a:ext cx="12000656" cy="51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fr-FR" sz="2400"/>
              <a:t>Définir une adénopathie superficielle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fr-FR" sz="2400"/>
              <a:t>Reconnaître par l’interrogatoire et l’examen physique, les caractéristiques cliniques d’une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adénopathie superficielle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3"/>
            </a:pPr>
            <a:r>
              <a:rPr lang="fr-FR" sz="2400"/>
              <a:t>Différencier par l’examen clinique, une adénopathie superficielle d’une tuméfaction non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ganglionnaire dans la région axillaire, cervicale et inguinale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4"/>
            </a:pPr>
            <a:r>
              <a:rPr lang="fr-FR" sz="2400"/>
              <a:t>Reconnaître par les données de l’examen clinique, les caractéristiques orientant vers une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origine maligne d’une adénopathie superficielle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5"/>
            </a:pPr>
            <a:r>
              <a:rPr lang="fr-FR" sz="2400"/>
              <a:t>Hiérarchiser les examens complémentaires en fonction des données de l’examen clinique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chez un patient présentant une adénopathie superficielle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6"/>
            </a:pPr>
            <a:r>
              <a:rPr lang="fr-FR" sz="2400"/>
              <a:t>Etablir par l’examen clinique et les examens complémentaires le diagnostic étiologique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d’une adénopathie superficielle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609600" y="274638"/>
            <a:ext cx="10972800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fr-FR"/>
              <a:t>Rappel </a:t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335360" y="1412776"/>
            <a:ext cx="6048000" cy="4188381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2563" lvl="0" marL="18256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adénopathie: ↑du volume d’un ganglion lymphatique dont la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taille &gt; 1 cm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82563" lvl="0" marL="18256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Diagnostic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positif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par la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palpation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82563" lvl="0" marL="18256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diamètre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&gt; à 1 cm 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 retenu comme pathologique</a:t>
            </a:r>
            <a:endParaRPr/>
          </a:p>
          <a:p>
            <a:pPr indent="-182563" lvl="0" marL="18256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ganglions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inguinaux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sont considérés comme physiologiques jusqu’à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1,5-2cm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-182563" lvl="0" marL="18256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ganglions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épitrochléens 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sus claviculaires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sont considérés comme pathologiques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qq soit leur taille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6636648" y="2924944"/>
            <a:ext cx="5292000" cy="1328023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adénopathie est dite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chronique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 la durée d’évolution est </a:t>
            </a:r>
            <a:r>
              <a:rPr b="1" i="0" lang="fr-FR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supérieure à 3  semaines</a:t>
            </a: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609600" y="274638"/>
            <a:ext cx="10972800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fr-FR"/>
              <a:t>Rappel </a:t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191344" y="992237"/>
            <a:ext cx="6336000" cy="4597003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Interrogatoire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 d’apparition, son évolution ….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Caractère unique ou multiple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 d’apparition et son évolution spontanée ou sous l’effet d’un traitement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Douloureuse ou non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Aspect de la peau en regard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Taille : stable ou augmentation progressive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Symptômes associés : AEG (amaigrissement, fièvre, sueurs nocturnes), diarrhée, épistaxis, prurit….</a:t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6675120" y="1196547"/>
            <a:ext cx="5292000" cy="4188381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Examen physique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Toutes les aires ganglionnaires.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Patient examiné en </a:t>
            </a:r>
            <a:r>
              <a:rPr b="1" lang="fr-F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position assise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 bord du lit: palper les aires ganglionnaires </a:t>
            </a:r>
            <a:r>
              <a:rPr b="1" lang="fr-F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cervicales</a:t>
            </a: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et </a:t>
            </a:r>
            <a:r>
              <a:rPr b="1" lang="fr-F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axillaires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Puis </a:t>
            </a:r>
            <a:r>
              <a:rPr b="1" lang="fr-F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position couchée </a:t>
            </a: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l’abord des aires ganglionnaires </a:t>
            </a:r>
            <a:r>
              <a:rPr b="1" lang="fr-F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inguinales</a:t>
            </a: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et pour l’appréciation du sd tumoral profond (recherche d’une </a:t>
            </a:r>
            <a:r>
              <a:rPr b="1" lang="fr-F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hépato-splénomégalie</a:t>
            </a: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479376" y="5677951"/>
            <a:ext cx="11268000" cy="919401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Toute </a:t>
            </a:r>
            <a:r>
              <a:rPr b="1" lang="fr-F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ADP cervicale </a:t>
            </a: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impose une palpation de </a:t>
            </a:r>
            <a:r>
              <a:rPr b="1" lang="fr-F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toutes les autres aires ganglionnaires </a:t>
            </a: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un </a:t>
            </a:r>
            <a:r>
              <a:rPr b="1" lang="fr-F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examen ORL complet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609600" y="274638"/>
            <a:ext cx="10972800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fr-FR"/>
              <a:t>Rappel</a:t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119336" y="1413192"/>
            <a:ext cx="4392000" cy="3876238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b="1" lang="fr-F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Dans la région cervicale</a:t>
            </a:r>
            <a:endParaRPr/>
          </a:p>
          <a:p>
            <a:pPr indent="-127000" lvl="0" marL="857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‐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Grande corne Hyoïde</a:t>
            </a:r>
            <a:endParaRPr/>
          </a:p>
          <a:p>
            <a:pPr indent="-127000" lvl="0" marL="857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‐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Anévrysme carotidien</a:t>
            </a:r>
            <a:endParaRPr/>
          </a:p>
          <a:p>
            <a:pPr indent="-127000" lvl="0" marL="857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‐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Bulbe carotidien</a:t>
            </a:r>
            <a:endParaRPr/>
          </a:p>
          <a:p>
            <a:pPr indent="-127000" lvl="0" marL="857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‐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Ptose de la glande Submandibulaire  </a:t>
            </a:r>
            <a:endParaRPr/>
          </a:p>
          <a:p>
            <a:pPr indent="-127000" lvl="0" marL="857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‐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kystes du tractus thyréoglosse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857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‐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Nodules thyroïdiens</a:t>
            </a:r>
            <a:endParaRPr/>
          </a:p>
          <a:p>
            <a:pPr indent="-127000" lvl="0" marL="857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‐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Tumeurs de la parotide</a:t>
            </a:r>
            <a:endParaRPr/>
          </a:p>
          <a:p>
            <a:pPr indent="-127000" lvl="0" marL="857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‐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Tumeurs vasculo-nerveuses</a:t>
            </a:r>
            <a:endParaRPr/>
          </a:p>
          <a:p>
            <a:pPr indent="-127000" lvl="0" marL="857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‐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Kyste branchial</a:t>
            </a:r>
            <a:endParaRPr/>
          </a:p>
          <a:p>
            <a:pPr indent="-127000" lvl="0" marL="857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‐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Lymphangiome kystique ou lipome</a:t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2712268" y="5661664"/>
            <a:ext cx="7488632" cy="817245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b="1" lang="fr-F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Toute localisation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Lipome , Abcès, Anévrysme (pulsatile), Neurinome, neurofibrome</a:t>
            </a:r>
            <a:endParaRPr b="1"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4727848" y="951111"/>
            <a:ext cx="30051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Diagnostic différentiel</a:t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4645772" y="2602008"/>
            <a:ext cx="3600000" cy="1872853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b="1" lang="fr-F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Dans la région axillaire</a:t>
            </a:r>
            <a:endParaRPr/>
          </a:p>
          <a:p>
            <a:pPr indent="-127000" lvl="0" marL="857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‐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Hydrosadénite </a:t>
            </a:r>
            <a:endParaRPr/>
          </a:p>
          <a:p>
            <a:pPr indent="-127000" lvl="0" marL="857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‐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Digitations musculaires du grand dentelé</a:t>
            </a:r>
            <a:endParaRPr/>
          </a:p>
          <a:p>
            <a:pPr indent="-127000" lvl="0" marL="857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‐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Tuméfaction costale</a:t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8380208" y="2227437"/>
            <a:ext cx="3599512" cy="217932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b="1" lang="fr-F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Dans la région inguinale</a:t>
            </a:r>
            <a:endParaRPr/>
          </a:p>
          <a:p>
            <a:pPr indent="-127000" lvl="0" marL="857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‐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Hernie inguinale/crurale</a:t>
            </a:r>
            <a:endParaRPr/>
          </a:p>
          <a:p>
            <a:pPr indent="-127000" lvl="0" marL="857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‐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Testicule ectopique</a:t>
            </a:r>
            <a:endParaRPr/>
          </a:p>
          <a:p>
            <a:pPr indent="-127000" lvl="0" marL="857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‐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Kyste du cordon</a:t>
            </a:r>
            <a:endParaRPr/>
          </a:p>
          <a:p>
            <a:pPr indent="-127000" lvl="0" marL="857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‐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Anévrysme vasculaire (pulsatile)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>
            <p:ph type="title"/>
          </p:nvPr>
        </p:nvSpPr>
        <p:spPr>
          <a:xfrm>
            <a:off x="609600" y="274638"/>
            <a:ext cx="10972800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fr-FR"/>
              <a:t>Rappel </a:t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191344" y="1413192"/>
            <a:ext cx="11809312" cy="4801314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 faveur du caractère malin d’une adénopathie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</a:t>
            </a:r>
            <a:r>
              <a:rPr b="1"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caractère compressif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consistance </a:t>
            </a:r>
            <a:r>
              <a:rPr b="1"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dure pierreuse </a:t>
            </a: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(métastases), </a:t>
            </a:r>
            <a:r>
              <a:rPr b="1"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ferme</a:t>
            </a: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(hémopathies malignes)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Adénopathie volumineuse (</a:t>
            </a:r>
            <a:r>
              <a:rPr b="1"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&gt;2cm</a:t>
            </a: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et/ou augmentant </a:t>
            </a:r>
            <a:r>
              <a:rPr b="1"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rapidement de volume </a:t>
            </a: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sans porte d’entrée infectieuse associée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L’adhésion aux plans profond et superficiel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caractère </a:t>
            </a:r>
            <a:r>
              <a:rPr b="1"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indolore</a:t>
            </a: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non inflammatoire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perte de la forme du ganglion qui devient </a:t>
            </a:r>
            <a:r>
              <a:rPr b="1"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mal limité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>
            <p:ph type="title"/>
          </p:nvPr>
        </p:nvSpPr>
        <p:spPr>
          <a:xfrm>
            <a:off x="609600" y="274638"/>
            <a:ext cx="10972800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fr-FR"/>
              <a:t>Rappel </a:t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191344" y="1413192"/>
            <a:ext cx="5904656" cy="2943785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Adénopathie localisée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fr-F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examens complémentaires sont </a:t>
            </a:r>
            <a:r>
              <a:rPr b="1" lang="fr-F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indiqués</a:t>
            </a:r>
            <a:r>
              <a:rPr lang="fr-F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‐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D’absence d’étiologie au terme de l’ex clinique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‐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D’altération de l’état général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‐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D’adénopathie suspecte de malignité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168008" y="1413192"/>
            <a:ext cx="5904656" cy="1070931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localisation</a:t>
            </a: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d’une ADP périphérique isolée joue un rôle essentiel dans la </a:t>
            </a: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démarche diagnostique 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4052" y="2988595"/>
            <a:ext cx="5112568" cy="3350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9453" y="2624721"/>
            <a:ext cx="4922947" cy="281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609600" y="274638"/>
            <a:ext cx="10972800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fr-FR"/>
              <a:t>Rappel </a:t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191344" y="1413192"/>
            <a:ext cx="5904656" cy="3950018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Polyadénopathies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Démarche étiologique tout à fait différente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Bilan de première intention 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NFS, CRP, bilan hépatique, LDH, Sérologies VIH, EBV, CMV, toxoplasmose et une Rᵡ thorax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Bilan de 2</a:t>
            </a:r>
            <a:r>
              <a:rPr b="1" baseline="30000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ème</a:t>
            </a: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intention: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Sérologie syphilis, bilan immunologique, bilan phospho-calcique et TDM TAP.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479376" y="3660616"/>
            <a:ext cx="5400600" cy="408623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25400">
            <a:solidFill>
              <a:srgbClr val="683F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L’hémogramme (FS): examen d’orientation principal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240016" y="1849815"/>
            <a:ext cx="5760000" cy="715089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l’absence de cause précise ou devant une ADP suspecte, un examen anatomo-pathologique est indispensable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7550" l="0" r="0" t="0"/>
          <a:stretch/>
        </p:blipFill>
        <p:spPr>
          <a:xfrm>
            <a:off x="2279576" y="1307901"/>
            <a:ext cx="8136904" cy="528945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 txBox="1"/>
          <p:nvPr>
            <p:ph type="title"/>
          </p:nvPr>
        </p:nvSpPr>
        <p:spPr>
          <a:xfrm>
            <a:off x="609600" y="274638"/>
            <a:ext cx="10972800" cy="706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alibri"/>
              <a:buNone/>
            </a:pPr>
            <a:r>
              <a:rPr b="1" lang="fr-FR" sz="3600">
                <a:solidFill>
                  <a:srgbClr val="FF0000"/>
                </a:solidFill>
              </a:rPr>
              <a:t>Territoires de drainage des aires ganglionnaires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7647" l="0" r="0" t="0"/>
          <a:stretch/>
        </p:blipFill>
        <p:spPr>
          <a:xfrm>
            <a:off x="2207568" y="1451917"/>
            <a:ext cx="8064896" cy="521744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0"/>
          <p:cNvSpPr txBox="1"/>
          <p:nvPr>
            <p:ph type="title"/>
          </p:nvPr>
        </p:nvSpPr>
        <p:spPr>
          <a:xfrm>
            <a:off x="609600" y="274638"/>
            <a:ext cx="10972800" cy="706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alibri"/>
              <a:buNone/>
            </a:pPr>
            <a:r>
              <a:rPr b="1" lang="fr-FR" sz="3600">
                <a:solidFill>
                  <a:srgbClr val="FF0000"/>
                </a:solidFill>
              </a:rPr>
              <a:t>Territoire de drainage des aires ganglionnaires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8333" l="0" r="0" t="0"/>
          <a:stretch/>
        </p:blipFill>
        <p:spPr>
          <a:xfrm>
            <a:off x="2423593" y="1196752"/>
            <a:ext cx="8208911" cy="554461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1"/>
          <p:cNvSpPr txBox="1"/>
          <p:nvPr>
            <p:ph type="title"/>
          </p:nvPr>
        </p:nvSpPr>
        <p:spPr>
          <a:xfrm>
            <a:off x="609600" y="274638"/>
            <a:ext cx="10972800" cy="706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alibri"/>
              <a:buNone/>
            </a:pPr>
            <a:r>
              <a:rPr b="1" lang="fr-FR" sz="3600">
                <a:solidFill>
                  <a:srgbClr val="FF0000"/>
                </a:solidFill>
              </a:rPr>
              <a:t>Territoire de drainage des aires ganglionnaires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6373" l="0" r="0" t="0"/>
          <a:stretch/>
        </p:blipFill>
        <p:spPr>
          <a:xfrm>
            <a:off x="2423592" y="1451917"/>
            <a:ext cx="7992888" cy="528945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2"/>
          <p:cNvSpPr txBox="1"/>
          <p:nvPr>
            <p:ph type="title"/>
          </p:nvPr>
        </p:nvSpPr>
        <p:spPr>
          <a:xfrm>
            <a:off x="609600" y="274638"/>
            <a:ext cx="10972800" cy="706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alibri"/>
              <a:buNone/>
            </a:pPr>
            <a:r>
              <a:rPr b="1" lang="fr-FR" sz="3600">
                <a:solidFill>
                  <a:srgbClr val="FF0000"/>
                </a:solidFill>
              </a:rPr>
              <a:t>Territoire de drainage des aires ganglionnaires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3171" l="0" r="0" t="0"/>
          <a:stretch/>
        </p:blipFill>
        <p:spPr>
          <a:xfrm>
            <a:off x="2135560" y="1340769"/>
            <a:ext cx="8568952" cy="540059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3"/>
          <p:cNvSpPr txBox="1"/>
          <p:nvPr>
            <p:ph type="title"/>
          </p:nvPr>
        </p:nvSpPr>
        <p:spPr>
          <a:xfrm>
            <a:off x="609600" y="274638"/>
            <a:ext cx="10972800" cy="706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alibri"/>
              <a:buNone/>
            </a:pPr>
            <a:r>
              <a:rPr b="1" lang="fr-FR" sz="3600">
                <a:solidFill>
                  <a:srgbClr val="FF0000"/>
                </a:solidFill>
              </a:rPr>
              <a:t>Territoire de drainage des aires ganglionnaires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9155" l="0" r="0" t="0"/>
          <a:stretch/>
        </p:blipFill>
        <p:spPr>
          <a:xfrm>
            <a:off x="2351584" y="1523925"/>
            <a:ext cx="8064896" cy="500141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4"/>
          <p:cNvSpPr txBox="1"/>
          <p:nvPr>
            <p:ph type="title"/>
          </p:nvPr>
        </p:nvSpPr>
        <p:spPr>
          <a:xfrm>
            <a:off x="609600" y="274638"/>
            <a:ext cx="10972800" cy="706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alibri"/>
              <a:buNone/>
            </a:pPr>
            <a:r>
              <a:rPr b="1" lang="fr-FR" sz="3600">
                <a:solidFill>
                  <a:srgbClr val="FF0000"/>
                </a:solidFill>
              </a:rPr>
              <a:t>Territoire de drainage des aires ganglionnaires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250" l="0" r="1801" t="0"/>
          <a:stretch/>
        </p:blipFill>
        <p:spPr>
          <a:xfrm>
            <a:off x="2711624" y="1124744"/>
            <a:ext cx="7848872" cy="568863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5"/>
          <p:cNvSpPr txBox="1"/>
          <p:nvPr>
            <p:ph type="title"/>
          </p:nvPr>
        </p:nvSpPr>
        <p:spPr>
          <a:xfrm>
            <a:off x="609600" y="274638"/>
            <a:ext cx="10972800" cy="706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alibri"/>
              <a:buNone/>
            </a:pPr>
            <a:r>
              <a:rPr b="1" lang="fr-FR" sz="3600">
                <a:solidFill>
                  <a:srgbClr val="FF0000"/>
                </a:solidFill>
              </a:rPr>
              <a:t>Territoire de drainage des aires ganglionnaires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"/>
          <p:cNvSpPr/>
          <p:nvPr/>
        </p:nvSpPr>
        <p:spPr>
          <a:xfrm>
            <a:off x="1524000" y="149226"/>
            <a:ext cx="9144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Diagnostic d’une adénopathie superficielle isolée : </a:t>
            </a:r>
            <a:endParaRPr b="1" i="1"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p16"/>
          <p:cNvCxnSpPr/>
          <p:nvPr/>
        </p:nvCxnSpPr>
        <p:spPr>
          <a:xfrm>
            <a:off x="1524000" y="674688"/>
            <a:ext cx="9144000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7" name="Google Shape;19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5560" y="1169440"/>
            <a:ext cx="8398190" cy="5067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0642" l="0" r="0" t="0"/>
          <a:stretch/>
        </p:blipFill>
        <p:spPr>
          <a:xfrm>
            <a:off x="2315580" y="404664"/>
            <a:ext cx="7560840" cy="5112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257" y="13811"/>
            <a:ext cx="7773485" cy="6830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  </a:t>
            </a:r>
            <a:endParaRPr/>
          </a:p>
        </p:txBody>
      </p:sp>
      <p:sp>
        <p:nvSpPr>
          <p:cNvPr id="213" name="Google Shape;213;p1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Une adénopathie correspond à une: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Augmentation du volume d’un ganglion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Augmentation de la taille d’un ganglion de plus de 1cm si de siège inguinal 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Hypertrophie sous cutanée d’une masse graisseuse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Augmentation de la taille d’un ganglion de plus de 1,5cm si de siège épitrochléen 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Hypertrophie du lobe droit de la glande thyroïde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  </a:t>
            </a:r>
            <a:endParaRPr/>
          </a:p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Une adénopathie correspond à une: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Augmentation du volume d’un ganglion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Augmentation de la taille d’un ganglion de plus de 1cm si de siège inguinal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Hypertrophie sous cutanée d’une masse graisseuse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Augmentation de la taille d’un ganglion de plus de 1,5cm si de siège épitrochléen 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Hypertrophie du lobe droit de la glande thyroïde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Un ganglion est considéré comme pathologique à partir de: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 </a:t>
            </a:r>
            <a:endParaRPr sz="2400"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0,5 cm</a:t>
            </a:r>
            <a:endParaRPr sz="2400">
              <a:solidFill>
                <a:srgbClr val="FF0000"/>
              </a:solidFill>
            </a:endParaRPr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1 cm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2 cm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2,5 cm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3 cm</a:t>
            </a:r>
            <a:endParaRPr/>
          </a:p>
          <a:p>
            <a:pPr indent="-3619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25" name="Google Shape;225;p2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Un ganglion est considéré comme pathologique à partir de: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 </a:t>
            </a:r>
            <a:endParaRPr sz="2400"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0,5 cm</a:t>
            </a:r>
            <a:endParaRPr sz="2400">
              <a:solidFill>
                <a:srgbClr val="FF0000"/>
              </a:solidFill>
            </a:endParaRPr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1 cm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2 cm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2,5 cm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3 cm</a:t>
            </a:r>
            <a:endParaRPr/>
          </a:p>
          <a:p>
            <a:pPr indent="-3619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31" name="Google Shape;231;p2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237" name="Google Shape;237;p2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Une adénopathie est pathologique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Si sa taille dépasse 1 cm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Lorsqu'elle siège dans le creux Sus claviculaire gauche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Si elle évolue depuis plus de 3 semaines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Lorsqu’elle siège au niveau épitrochléen 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Quelque soit le siège et la taille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243" name="Google Shape;243;p2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Une adénopathie est pathologique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Si sa taille dépasse 1 cm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Lorsqu'elle siège dans le creux Sus claviculaire gauche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Si elle évolue depuis plus de 3 semaines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Lorsqu’elle siège au niveau épitrochléen 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Quelque soit le siège et la taille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249" name="Google Shape;249;p25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Les aires de palpation des adénopathies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Aires épitrochléennes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Aires trochantériennes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Aires palmaires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Aires axillaires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Aires pré-tragiennes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255" name="Google Shape;255;p2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Les aires de palpation des adénopathies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Aires épitrochléennes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Aires trochantériennes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Aires palmaires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Aires axillaires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Aires pré-tragiennes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261" name="Google Shape;261;p2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A propos du diagnostic positif d’une adénopathie superficielle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Est souvent clinique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Nécessite parfois un bilan radiologique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Nécessite une radiographie thoracique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Nécessite une échographie abdominale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Nécessite la pratique d’un PET scanner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268" name="Google Shape;268;p2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A propos du diagnostic positif d’une adénopathie superficielle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Est souvent clinique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Nécessite parfois un bilan radiologique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Nécessite une radiographie thoracique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Nécessite une échographie abdominale</a:t>
            </a:r>
            <a:endParaRPr/>
          </a:p>
          <a:p>
            <a:pPr indent="-447675" lvl="0" marL="4476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Nécessite la pratique d’un PET scanner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609600" y="1495325"/>
            <a:ext cx="11582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fr-FR" sz="2400"/>
              <a:t>Les propositions exactes sont :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  <a:p>
            <a:pPr indent="-457200" lvl="0" marL="4572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 sz="2400"/>
              <a:t>Les ganglions inguinaux sont considérés comme pathologiques lorsque leur taille est &gt; 1 cm </a:t>
            </a:r>
            <a:endParaRPr sz="2400"/>
          </a:p>
          <a:p>
            <a:pPr indent="-457200" lvl="0" marL="457200" rtl="0" algn="l">
              <a:lnSpc>
                <a:spcPct val="15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 sz="2400"/>
              <a:t>Les ganglions épitrochléens sont considérés pathologiques quelle que soit leur taille.</a:t>
            </a:r>
            <a:endParaRPr sz="2400"/>
          </a:p>
          <a:p>
            <a:pPr indent="-457200" lvl="0" marL="457200" rtl="0" algn="l">
              <a:lnSpc>
                <a:spcPct val="15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 sz="2400"/>
              <a:t>Les ganglions sus claviculaires sont considérés pathologiques lorsque la taille est &gt; 1.5 cm.</a:t>
            </a:r>
            <a:endParaRPr sz="2400"/>
          </a:p>
          <a:p>
            <a:pPr indent="-457200" lvl="0" marL="457200" rtl="0" algn="l">
              <a:lnSpc>
                <a:spcPct val="15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 sz="2400"/>
              <a:t>Une adénopathie est dite chronique si la durée d’évolution est supérieure à 3 semaines. </a:t>
            </a:r>
            <a:endParaRPr sz="2400"/>
          </a:p>
          <a:p>
            <a:pPr indent="-457200" lvl="0" marL="457200" rtl="0" algn="l">
              <a:lnSpc>
                <a:spcPct val="15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 sz="2400"/>
              <a:t>La démarche étiologique devant une adénopathie est la même qu’elle soit isolée ou multiple</a:t>
            </a:r>
            <a:endParaRPr sz="2400"/>
          </a:p>
          <a:p>
            <a:pPr indent="-201930" lvl="0" marL="342900" rtl="0" algn="l">
              <a:spcBef>
                <a:spcPts val="12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280" name="Google Shape;280;p30"/>
          <p:cNvSpPr txBox="1"/>
          <p:nvPr>
            <p:ph idx="1" type="body"/>
          </p:nvPr>
        </p:nvSpPr>
        <p:spPr>
          <a:xfrm>
            <a:off x="609600" y="1495325"/>
            <a:ext cx="11582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fr-FR" sz="2400"/>
              <a:t>Les propositions exactes sont :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  <a:p>
            <a:pPr indent="-457200" lvl="0" marL="4572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 sz="2400"/>
              <a:t>Les ganglions inguinaux sont considérés comme pathologiques lorsque leur taille est &gt; 1 cm </a:t>
            </a:r>
            <a:endParaRPr sz="2400"/>
          </a:p>
          <a:p>
            <a:pPr indent="-457200" lvl="0" marL="457200" rtl="0" algn="l">
              <a:lnSpc>
                <a:spcPct val="150000"/>
              </a:lnSpc>
              <a:spcBef>
                <a:spcPts val="444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Les ganglions épitrochléens sont considérés pathologiques quelle que soit leur taille.</a:t>
            </a:r>
            <a:endParaRPr sz="2400">
              <a:solidFill>
                <a:srgbClr val="FF0000"/>
              </a:solidFill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 sz="2400"/>
              <a:t>Les ganglions sus claviculaires sont considérés pathologiques lorsque la taille est &gt; 1.5 cm.</a:t>
            </a:r>
            <a:endParaRPr sz="2400"/>
          </a:p>
          <a:p>
            <a:pPr indent="-457200" lvl="0" marL="457200" rtl="0" algn="l">
              <a:lnSpc>
                <a:spcPct val="150000"/>
              </a:lnSpc>
              <a:spcBef>
                <a:spcPts val="444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adénopathie est dite chronique si la durée d’évolution est supérieure à 3 semaines. </a:t>
            </a:r>
            <a:endParaRPr sz="2400">
              <a:solidFill>
                <a:srgbClr val="FF0000"/>
              </a:solidFill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UcPeriod"/>
            </a:pPr>
            <a:r>
              <a:rPr lang="fr-FR" sz="2400"/>
              <a:t>La démarche étiologique devant une adénopathie est la même qu’elle soit isolée ou multiple</a:t>
            </a:r>
            <a:endParaRPr sz="2400"/>
          </a:p>
          <a:p>
            <a:pPr indent="-201930" lvl="0" marL="342900" rtl="0" algn="l">
              <a:spcBef>
                <a:spcPts val="12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286" name="Google Shape;286;p3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Le diagnostic positif d’une adénopathie superficielle se fait par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Inspection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Palpation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pratique d’une radiographie thoracique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pratique d’une échographie abdominale 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pratique d’un scanner thoracique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292" name="Google Shape;292;p3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Le diagnostic positif d’une adénopathie superficielle se fait par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Inspection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Palpation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pratique d’une radiographie thoracique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pratique d’une échographie abdominale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pratique d’un scanner thoracique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  <p:sp>
        <p:nvSpPr>
          <p:cNvPr id="298" name="Google Shape;298;p33"/>
          <p:cNvSpPr txBox="1"/>
          <p:nvPr>
            <p:ph idx="1" type="body"/>
          </p:nvPr>
        </p:nvSpPr>
        <p:spPr>
          <a:xfrm>
            <a:off x="609600" y="1600201"/>
            <a:ext cx="11463064" cy="4853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A propos de l’examen clinique des aires ganglionnaires: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Il est indispensable d’examiner toutes les aires ganglionnaires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En présence d’ADP superficielles la recherche d’hépato-splénomégalie n’est pas indispensable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L’examen des ganglions inguinaux se fait chez un patient couché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En présence d’ADP il faut toujours complété par une biopsie ganglionnaire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présence d’ADP axillaires nécessite un examen  ORL complet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/>
          <p:cNvSpPr txBox="1"/>
          <p:nvPr>
            <p:ph idx="1" type="body"/>
          </p:nvPr>
        </p:nvSpPr>
        <p:spPr>
          <a:xfrm>
            <a:off x="609600" y="1600201"/>
            <a:ext cx="11463064" cy="4853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A propos de l’examen clinique des aires ganglionnaires: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Il est indispensable d’examiner toutes les aires ganglionnaires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En présence d’ADP superficielles la recherche d’hépato-splénomégalie n’est pas indispensable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L’examen des ganglions inguinaux se fait chez un patient couché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En présence d’ADP il faut toujours complété par une biopsie ganglionnaire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présence d’ADP axillaires nécessite un examen  ORL complet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04" name="Google Shape;304;p3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5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A propos des adénopathies cervicales 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L’examen clinique doit intéresser les 6 groupes ganglionnaires cervicaux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L’examen doit être complété systématiquement par un examen de la sphère ORL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Peuvent être associés à un cancer du cavum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biopsie ganglionnaire est indispensable quel que soit l’étiologie évoquée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bilan biologique est nécessaire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10" name="Google Shape;310;p3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6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A propos des adénopathies cervicales 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L’examen clinique doit intéresser les 6 groupes ganglionnaires cervicaux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L’examen doit être complété systématiquement par un examen de la sphère ORL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Peuvent être associés à un cancer du cavum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biopsie ganglionnaire est indispensable quel que soit l’étiologie évoquée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bilan biologique est nécessaire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16" name="Google Shape;316;p3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7"/>
          <p:cNvSpPr txBox="1"/>
          <p:nvPr>
            <p:ph idx="1" type="body"/>
          </p:nvPr>
        </p:nvSpPr>
        <p:spPr>
          <a:xfrm>
            <a:off x="609600" y="1639341"/>
            <a:ext cx="1139105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Parmi les caractéristiques suivantes quelles sont celles nécessaires à l’orientation clinique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taille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consistance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L’adhérence aux plans profonds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présence des signes inflammatoires locaux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sensibilité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22" name="Google Shape;322;p3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8"/>
          <p:cNvSpPr txBox="1"/>
          <p:nvPr>
            <p:ph idx="1" type="body"/>
          </p:nvPr>
        </p:nvSpPr>
        <p:spPr>
          <a:xfrm>
            <a:off x="609600" y="1628800"/>
            <a:ext cx="1139105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Parmi les caractéristiques suivantes quelles sont celles nécessaires à l’orientation clinique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taille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consistance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L’adhérence aux plans profonds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présence des signes inflammatoires locaux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sensibilité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28" name="Google Shape;328;p3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9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Parmi les diagnostics différentiels d’une adénopathie cervicale: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kyste branchial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tuméfaction costale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hydrosadénite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neurinome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grande corne de l’os hyoïde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34" name="Google Shape;334;p3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0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Parmi les diagnostics différentiels d’une adénopathie cervicale: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 kyste branchial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tuméfaction costale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hydrosadénite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 neurinome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grande corne de l’os hyoïde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40" name="Google Shape;340;p4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Parmi les diagnostics différentiels d’une adénopathie cervicale: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tumeur parotidienne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tuméfaction costale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kyste du tractus thyréoglosse</a:t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kyste du cordon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grande corne de l’os hyoïde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46" name="Google Shape;346;p4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2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Parmi les diagnostics différentiels d’une adénopathie cervicale: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tumeur parotidienne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tuméfaction costale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 kyste du tractus thyréoglosse</a:t>
            </a:r>
            <a:endParaRPr sz="2400">
              <a:solidFill>
                <a:srgbClr val="FF0000"/>
              </a:solidFill>
            </a:endParaRPr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kyste du cordon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grande corne de l’os hyoïde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52" name="Google Shape;352;p4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3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Parmi les diagnostics différentiels d’une adénopathie axillaire: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abcès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digitation du muscle grand dentelé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kyste du cordon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neurofibrome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grande corne de l’os hyoïde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58" name="Google Shape;358;p4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4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Parmi les diagnostics différentiels d’une adénopathie axillaire: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 abcès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digitation du muscle grand dentelé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kyste du cordon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 neurofibrome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grande corne de l’os hyoïde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64" name="Google Shape;364;p4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5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Parmi les diagnostics différentiels d’une adénopathie inguinale: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hernie crurale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kyste branchial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lipome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anévrysme vasculaire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Digitations musculaires du grand dentelé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70" name="Google Shape;370;p4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6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Parmi les diagnostics différentiels d’une adénopathie inguinale: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hernie crurale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kyste branchial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 lipome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 anévrysme vasculaire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Digitations musculaires du grand dentelé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76" name="Google Shape;376;p4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7"/>
          <p:cNvSpPr txBox="1"/>
          <p:nvPr>
            <p:ph idx="1" type="body"/>
          </p:nvPr>
        </p:nvSpPr>
        <p:spPr>
          <a:xfrm>
            <a:off x="609600" y="1628800"/>
            <a:ext cx="1139105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En faveur du caractère malin d'une adénopathie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Taille&gt; 4cm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Consistance ferme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Signes inflammatoires locaux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Adhérence au plan profond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Modifications rapides du volume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82" name="Google Shape;382;p4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8"/>
          <p:cNvSpPr txBox="1"/>
          <p:nvPr>
            <p:ph idx="1" type="body"/>
          </p:nvPr>
        </p:nvSpPr>
        <p:spPr>
          <a:xfrm>
            <a:off x="609600" y="1628800"/>
            <a:ext cx="1139105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En faveur du caractère malin d'une adénopathie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Taille&gt; 4cm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Consistance ferme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Signes inflammatoires locaux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Adhérence au plan profond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Modifications rapides du volume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88" name="Google Shape;388;p4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9"/>
          <p:cNvSpPr txBox="1"/>
          <p:nvPr>
            <p:ph idx="1" type="body"/>
          </p:nvPr>
        </p:nvSpPr>
        <p:spPr>
          <a:xfrm>
            <a:off x="609600" y="1628800"/>
            <a:ext cx="1139105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En faveur du caractère malin d'une adénopathie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caractère compressif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consistance molle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caractère douloureux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mobilité au plan profond et superficiel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Limites floues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94" name="Google Shape;394;p4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0"/>
          <p:cNvSpPr txBox="1"/>
          <p:nvPr>
            <p:ph idx="1" type="body"/>
          </p:nvPr>
        </p:nvSpPr>
        <p:spPr>
          <a:xfrm>
            <a:off x="609600" y="1628800"/>
            <a:ext cx="1139105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En faveur du caractère malin d'une adénopathie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Le caractère compressif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consistance molle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caractère douloureux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mobilité au plan profond et superficiel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Limites floues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00" name="Google Shape;400;p5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1"/>
          <p:cNvSpPr txBox="1"/>
          <p:nvPr>
            <p:ph idx="1" type="body"/>
          </p:nvPr>
        </p:nvSpPr>
        <p:spPr>
          <a:xfrm>
            <a:off x="609600" y="1628800"/>
            <a:ext cx="1139105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Parmi les localisations des adénoapthies suivantes, laquelle traduit toujours une pathologie néoplasique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Inguinale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Axillaires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Sous mentonnières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Sus claviculaire gauche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Jugulo-carotidiennes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06" name="Google Shape;406;p5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2"/>
          <p:cNvSpPr txBox="1"/>
          <p:nvPr>
            <p:ph idx="1" type="body"/>
          </p:nvPr>
        </p:nvSpPr>
        <p:spPr>
          <a:xfrm>
            <a:off x="609600" y="1628800"/>
            <a:ext cx="1139105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Parmi les localisations des adénoapthies suivantes, laquelle traduit toujours une pathologie néoplasique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Inguinale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Axillaires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Sous mentonnières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Sus claviculaire gauche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Jugulo-carotidiennes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12" name="Google Shape;412;p5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3"/>
          <p:cNvSpPr txBox="1"/>
          <p:nvPr>
            <p:ph idx="1" type="body"/>
          </p:nvPr>
        </p:nvSpPr>
        <p:spPr>
          <a:xfrm>
            <a:off x="609600" y="1628800"/>
            <a:ext cx="1139105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Deux localisations ganglionnaires sont consodérées pathologiques quelque soit la taille: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Épitrochléenne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Sus claviculaire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Inguinale 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Axillaire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Rétro-auriculaire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18" name="Google Shape;418;p5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4"/>
          <p:cNvSpPr txBox="1"/>
          <p:nvPr>
            <p:ph idx="1" type="body"/>
          </p:nvPr>
        </p:nvSpPr>
        <p:spPr>
          <a:xfrm>
            <a:off x="609600" y="1628800"/>
            <a:ext cx="1139105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Deux localisations ganglionnaires sont consodérées pathologiques quelque soit la taille: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Épitrochléenne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Sus claviculaire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Inguinale 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Axillaire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Rétro-auriculaire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24" name="Google Shape;424;p5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5"/>
          <p:cNvSpPr txBox="1"/>
          <p:nvPr>
            <p:ph idx="1" type="body"/>
          </p:nvPr>
        </p:nvSpPr>
        <p:spPr>
          <a:xfrm>
            <a:off x="609600" y="1628800"/>
            <a:ext cx="1139105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Devant une adénopathie localisée les examens complémentaires sont demandés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De façon systématique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En l’absence d’étiologie au terme de l’examen clinique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Devant la présence de signes généraux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En cas d’adénopathie suspecte de malignité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Toutes les propositions sont justes</a:t>
            </a:r>
            <a:endParaRPr/>
          </a:p>
        </p:txBody>
      </p:sp>
      <p:sp>
        <p:nvSpPr>
          <p:cNvPr id="430" name="Google Shape;430;p5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6"/>
          <p:cNvSpPr txBox="1"/>
          <p:nvPr>
            <p:ph idx="1" type="body"/>
          </p:nvPr>
        </p:nvSpPr>
        <p:spPr>
          <a:xfrm>
            <a:off x="609600" y="1628800"/>
            <a:ext cx="1139105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Devant une adénopathie localisée les examens complémentaires sont demandés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De façon systématique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En l’absence d’étiologie au terme de l’examen clinique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Devant la présence de signes généraux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En cas d’adénopathie suspecte de malignité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Toutes les propositions sont justes</a:t>
            </a:r>
            <a:endParaRPr/>
          </a:p>
        </p:txBody>
      </p:sp>
      <p:sp>
        <p:nvSpPr>
          <p:cNvPr id="436" name="Google Shape;436;p5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7"/>
          <p:cNvSpPr txBox="1"/>
          <p:nvPr>
            <p:ph idx="1" type="body"/>
          </p:nvPr>
        </p:nvSpPr>
        <p:spPr>
          <a:xfrm>
            <a:off x="609600" y="1628800"/>
            <a:ext cx="1139105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Devant une adénopathie localisée la ponction ganglionnaire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Permet de retenir le diagnostic de lymphome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Permet l'étude cytologique d'une adénopathie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 un intérêt diagnostique dans les adénites à pyogènes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Est réalisée sous anesthésie général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Peut remplacer la biopsie dans les pathologies tumorales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 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42" name="Google Shape;442;p5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>
            <p:ph idx="1" type="body"/>
          </p:nvPr>
        </p:nvSpPr>
        <p:spPr>
          <a:xfrm>
            <a:off x="609600" y="1628800"/>
            <a:ext cx="1139105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Devant une adénopathie localisée la ponction ganglionnaire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Permet de retenir le diagnostic de lymphome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Permet l'étude cytologique d'une adénopathie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A un intérêt diagnostique dans les adénites à pyogènes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Est réalisée sous anesthésie général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Peut remplacer la biopsie dans les pathologies tumorales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 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48" name="Google Shape;448;p5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9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En cas de polyadénopathie superficielle, les examens complémentaires à demander en première intention: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hémogramme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Dosage de la CRP et de la vitesse de sédimentation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biopsie ganglionnaire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 Une tomodensitométrie thoraco-abdomino-pelvienne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sérologie HIV</a:t>
            </a:r>
            <a:endParaRPr/>
          </a:p>
        </p:txBody>
      </p:sp>
      <p:sp>
        <p:nvSpPr>
          <p:cNvPr id="454" name="Google Shape;454;p5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0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En cas de polyadénopathie superficielle, les examens complémentaires à demander en première intention: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 hémogramme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Dosage de la CRP et de la vitesse de sédimentation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biopsie ganglionnaire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 Une tomodensitométrie thoraco-abdomino-pelvienne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sérologie HIV</a:t>
            </a:r>
            <a:endParaRPr/>
          </a:p>
        </p:txBody>
      </p:sp>
      <p:sp>
        <p:nvSpPr>
          <p:cNvPr id="460" name="Google Shape;460;p6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A propos de bilan de deuxième intention en présence d’adénopathies superficielles multiples: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Demandé si bilan de 1</a:t>
            </a:r>
            <a:r>
              <a:rPr baseline="30000" lang="fr-FR" sz="2400"/>
              <a:t>ère</a:t>
            </a:r>
            <a:r>
              <a:rPr lang="fr-FR" sz="2400"/>
              <a:t> intention revient négatif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Comporte NFS, bilan hépatique et un bilan  inflammatoire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Comporte un bilan immunologique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TDM et/ou PET scanner est indiqué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biopsie ganglionnaire est indiquée toujours</a:t>
            </a:r>
            <a:endParaRPr/>
          </a:p>
        </p:txBody>
      </p:sp>
      <p:sp>
        <p:nvSpPr>
          <p:cNvPr id="466" name="Google Shape;466;p6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2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A propos de bilan de deuxième intention en présence d’adénopathies superficielles multiples: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Demandé si bilan de 1</a:t>
            </a:r>
            <a:r>
              <a:rPr baseline="30000" lang="fr-FR" sz="2400">
                <a:solidFill>
                  <a:srgbClr val="FF0000"/>
                </a:solidFill>
              </a:rPr>
              <a:t>ère</a:t>
            </a:r>
            <a:r>
              <a:rPr lang="fr-FR" sz="2400">
                <a:solidFill>
                  <a:srgbClr val="FF0000"/>
                </a:solidFill>
              </a:rPr>
              <a:t> intention revient négatif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Comporte NFS, bilan hépatique et un bilan  inflammatoire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Comporte un bilan immunologique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TDM et/ou PET scanner est indiqué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biopsie ganglionnaire est indiquée toujours</a:t>
            </a:r>
            <a:endParaRPr/>
          </a:p>
        </p:txBody>
      </p:sp>
      <p:sp>
        <p:nvSpPr>
          <p:cNvPr id="472" name="Google Shape;472;p6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3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Devant une adénopathie jugulo-carotidienne haute unilatérale de taille&gt;2 cm, vous demandez en première intention: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 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Numération-formule sanguine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Examen ORL spécialisé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Biopsie ganglionnaire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Echographie abdominale 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Cytoponction ganglionnaire</a:t>
            </a:r>
            <a:endParaRPr/>
          </a:p>
        </p:txBody>
      </p:sp>
      <p:sp>
        <p:nvSpPr>
          <p:cNvPr id="478" name="Google Shape;478;p6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4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Devant une adénopathie jugulo-carotidienne haute unilatérale de taille&gt;2 cm, vous demandez en première intention: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 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Numération-formule sanguine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Examen ORL spécialisé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Biopsie ganglionnaire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Echographie abdominale 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Cytoponction ganglionnaire</a:t>
            </a:r>
            <a:endParaRPr/>
          </a:p>
        </p:txBody>
      </p:sp>
      <p:sp>
        <p:nvSpPr>
          <p:cNvPr id="484" name="Google Shape;484;p6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5"/>
          <p:cNvSpPr txBox="1"/>
          <p:nvPr>
            <p:ph idx="1" type="body"/>
          </p:nvPr>
        </p:nvSpPr>
        <p:spPr>
          <a:xfrm>
            <a:off x="609600" y="1628800"/>
            <a:ext cx="1139105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Un cancer de la langue peut être exprimé par des ADP: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Retro auriculaires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Jugulaires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Sous maxillaires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Sus claviculaires gauches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Cervicales postérieurs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90" name="Google Shape;490;p6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6"/>
          <p:cNvSpPr txBox="1"/>
          <p:nvPr>
            <p:ph idx="1" type="body"/>
          </p:nvPr>
        </p:nvSpPr>
        <p:spPr>
          <a:xfrm>
            <a:off x="609600" y="1628800"/>
            <a:ext cx="1139105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Un cancer de la langue peut être exprimé par des ADP: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Retro auriculaires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Jugulaires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Sous maxillaires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Sus claviculaires gauches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Cervicales postérieurs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96" name="Google Shape;496;p6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7"/>
          <p:cNvSpPr txBox="1"/>
          <p:nvPr>
            <p:ph idx="1" type="body"/>
          </p:nvPr>
        </p:nvSpPr>
        <p:spPr>
          <a:xfrm>
            <a:off x="609600" y="1628800"/>
            <a:ext cx="1139105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La présence d’adénopathies inguinales doit faire évoquer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tumeur du vagin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infection du périnée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abcès de la paroi thoracique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tumeur du colon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abcès de la fesse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502" name="Google Shape;502;p6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8"/>
          <p:cNvSpPr txBox="1"/>
          <p:nvPr>
            <p:ph idx="1" type="body"/>
          </p:nvPr>
        </p:nvSpPr>
        <p:spPr>
          <a:xfrm>
            <a:off x="609600" y="1628800"/>
            <a:ext cx="1139105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La présence d’adénopathies inguinales doit faire évoquer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tumeur du vagin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infection du périnée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abcès de la paroi thoracique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tumeur du colon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 abcès de la fesse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508" name="Google Shape;508;p6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9"/>
          <p:cNvSpPr txBox="1"/>
          <p:nvPr>
            <p:ph idx="1" type="body"/>
          </p:nvPr>
        </p:nvSpPr>
        <p:spPr>
          <a:xfrm>
            <a:off x="609600" y="1628800"/>
            <a:ext cx="1139105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Une adénopathie sus claviculaire gauche peut être associée à une tumeur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Colique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Pulmonaire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Utérine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Pancréatique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Médiastin antérieur 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514" name="Google Shape;514;p6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0"/>
          <p:cNvSpPr txBox="1"/>
          <p:nvPr>
            <p:ph idx="1" type="body"/>
          </p:nvPr>
        </p:nvSpPr>
        <p:spPr>
          <a:xfrm>
            <a:off x="609600" y="1628800"/>
            <a:ext cx="1139105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Une adénopathie sus claviculaire gauche peut être associée à une tumeur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Colique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Pulmonaire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Utérine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Pancréatique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Médiastin antérieur 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520" name="Google Shape;520;p7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1"/>
          <p:cNvSpPr txBox="1"/>
          <p:nvPr>
            <p:ph idx="1" type="body"/>
          </p:nvPr>
        </p:nvSpPr>
        <p:spPr>
          <a:xfrm>
            <a:off x="609600" y="1628800"/>
            <a:ext cx="1139105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Une adénopathie sus claviculaire droite peut être associée à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Tumeur rénale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Cancer du poumon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Lymphome médiastinale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Thymome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Tumeur testiculaire</a:t>
            </a:r>
            <a:endParaRPr/>
          </a:p>
        </p:txBody>
      </p:sp>
      <p:sp>
        <p:nvSpPr>
          <p:cNvPr id="526" name="Google Shape;526;p7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2"/>
          <p:cNvSpPr txBox="1"/>
          <p:nvPr>
            <p:ph idx="1" type="body"/>
          </p:nvPr>
        </p:nvSpPr>
        <p:spPr>
          <a:xfrm>
            <a:off x="609600" y="1628800"/>
            <a:ext cx="1139105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Une adénopathie sus claviculaire droite peut être associée à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Tumeur rénale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Cancer du poumon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Lymphome médiastinale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Thymome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Tumeur testiculaire</a:t>
            </a:r>
            <a:endParaRPr/>
          </a:p>
        </p:txBody>
      </p:sp>
      <p:sp>
        <p:nvSpPr>
          <p:cNvPr id="532" name="Google Shape;532;p7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3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Parmi les propositions suivantes la ou les quelle(s) sont juste(s):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adénopathie axillaire peut révéler un cancer du sein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Les ADP épitrochléennes sont toujours pathologiques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Les ADP cervicales hautes avec épistaxis peuvent être révélatrices d'un cancer du cavum</a:t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Les ADP épitrochléennes sont associées aux infections du bras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ganglion de troisier doit chercher une tumeur de l’œsophage</a:t>
            </a:r>
            <a:endParaRPr/>
          </a:p>
        </p:txBody>
      </p:sp>
      <p:sp>
        <p:nvSpPr>
          <p:cNvPr id="538" name="Google Shape;538;p7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4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Parmi les propositions suivantes la ou les quelle(s) sont juste(s):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adénopathie axillaire peut révéler un cancer du sein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Les ADP épitrochléennes sont toujours pathologiques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Les ADP cervicales hautes avec épistaxis peuvent être révélatrices d'un cancer du cavum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Les ADP épitrochléennes sont associées aux infections du bras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ganglion de troisier doit chercher une tumeur de l’œsophage</a:t>
            </a:r>
            <a:endParaRPr/>
          </a:p>
        </p:txBody>
      </p:sp>
      <p:sp>
        <p:nvSpPr>
          <p:cNvPr id="544" name="Google Shape;544;p7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5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Une adénopathie à Pyogène est: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Principalement dû à des bacilles gram négatif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Associée à des signes inflammatoires loco-régionaux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porte d’entrée est souvent associée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ponction ganglionnaire est utile pour le diagnostic microbiologique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Son traitement comporte toujours un drainage chirurgical</a:t>
            </a:r>
            <a:endParaRPr/>
          </a:p>
        </p:txBody>
      </p:sp>
      <p:sp>
        <p:nvSpPr>
          <p:cNvPr id="550" name="Google Shape;550;p7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6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Une adénopathie à Pyogène est: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Principalement dû à des bacilles gram négatif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Associée à des signes inflammatoires loco-régionaux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porte d’entrée est souvent associée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ponction ganglionnaire est utile pour le diagnostic microbiologique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Son traitement comporte toujours un drainage chirurgical</a:t>
            </a:r>
            <a:endParaRPr/>
          </a:p>
        </p:txBody>
      </p:sp>
      <p:sp>
        <p:nvSpPr>
          <p:cNvPr id="556" name="Google Shape;556;p7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7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La maladie des griffes du chat est: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pathologie d’inoculation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Associé à une griffure ou morsure de chat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Principalement lié à une CGP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Caractérisée par des adénopathies aigues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Son traitement repose sur une antibiothérapie type Azithromycine</a:t>
            </a:r>
            <a:endParaRPr sz="2400"/>
          </a:p>
        </p:txBody>
      </p:sp>
      <p:sp>
        <p:nvSpPr>
          <p:cNvPr id="562" name="Google Shape;562;p7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8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La maladie des griffes du chat est: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pathologie d’inoculation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Associé à une griffure ou morsure de chat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Principalement lié à une CGP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Caractérisée par des adénopathies aigues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Son traitement repose sur une antibiothérapie type Azithromycine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569" name="Google Shape;569;p7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9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A propos de la maladie des griffes du chat: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période d’incubation est de 2 mois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Les adénopathies sont d’allure non inflammatoire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état subfébrile est souvent associé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diagnostic est confirmé par PCR mettant en évidence Bartonella henseloe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biopsie exérèse de l’adénopathie met en évidence une lymphadénite nodulaire abcédée</a:t>
            </a:r>
            <a:endParaRPr/>
          </a:p>
        </p:txBody>
      </p:sp>
      <p:sp>
        <p:nvSpPr>
          <p:cNvPr id="576" name="Google Shape;576;p7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80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A propos de la maladie des griffes du chat: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période d’incubation est de 2 mois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Les adénopathies sont d’allure non inflammatoire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 état subfébrile est souvent associé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Le diagnostic est confirmé par PCR mettant en évidence Bartonella henseloe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biopsie exérèse de l’adénopathie met en évidence une lymphadénite nodulaire abcédée</a:t>
            </a:r>
            <a:endParaRPr/>
          </a:p>
        </p:txBody>
      </p:sp>
      <p:sp>
        <p:nvSpPr>
          <p:cNvPr id="582" name="Google Shape;582;p8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81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Une adénopathie d’inoculation peut se voir en cas de</a:t>
            </a:r>
            <a:r>
              <a:rPr lang="fr-FR" sz="2400"/>
              <a:t>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maladie des griffes du chat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Morsure de chien (Pasteurellose)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Tularémie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Rickettsiose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Infection à staphylocoque</a:t>
            </a:r>
            <a:endParaRPr/>
          </a:p>
        </p:txBody>
      </p:sp>
      <p:sp>
        <p:nvSpPr>
          <p:cNvPr id="588" name="Google Shape;588;p8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82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Une adénopathie d’inoculation peut se voir en cas de</a:t>
            </a:r>
            <a:r>
              <a:rPr lang="fr-FR" sz="2400"/>
              <a:t>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maladie des griffes du chat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Morsure de chien (Pasteurellose)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Tularémie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Rickettsiose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Infection à staphylocoque</a:t>
            </a:r>
            <a:endParaRPr/>
          </a:p>
        </p:txBody>
      </p:sp>
      <p:sp>
        <p:nvSpPr>
          <p:cNvPr id="594" name="Google Shape;594;p8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3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Les adénopathies médiastinales sont fréquentes dans 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Maladie de vaquez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Lymphome de Hodgkin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Myélome multiple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Leucémie myéloïde chronique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Leucémie aigue lymphoblastique</a:t>
            </a:r>
            <a:endParaRPr sz="2400"/>
          </a:p>
        </p:txBody>
      </p:sp>
      <p:sp>
        <p:nvSpPr>
          <p:cNvPr id="600" name="Google Shape;600;p8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84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Les adénopathies médiastinales sont fréquentes dans 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Maladie de vaquez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Lymphome de Hodgkin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Myélome multiple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Leucémie myéloïde chronique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Leucémie aigue lymphoblastique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606" name="Google Shape;606;p8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85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Les éléments suivants sont en faveur de l’origine tuberculeuse des adénopathies: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D’allure très inflammatoire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plus souvent cervicales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plus souvent bilatérales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plus souvent volumineuses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Ces adénopathies évoluent toujours vers une fistulisation cutanée</a:t>
            </a:r>
            <a:endParaRPr/>
          </a:p>
        </p:txBody>
      </p:sp>
      <p:sp>
        <p:nvSpPr>
          <p:cNvPr id="612" name="Google Shape;612;p8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86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Les éléments suivants sont en faveur de l’origine tuberculeuse des adénopathies: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D’allure très inflammatoire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Le plus souvent cervicales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 plus souvent bilatérales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Le plus souvent volumineuses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Ces adénopathies évoluent toujours vers une fistulisation cutanée</a:t>
            </a:r>
            <a:endParaRPr/>
          </a:p>
        </p:txBody>
      </p:sp>
      <p:sp>
        <p:nvSpPr>
          <p:cNvPr id="618" name="Google Shape;618;p8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87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En faveur de diagnostic de mononucléose infectieuse chez un enfant ayant des adénopathies  multiples: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Les adénopathies sont souvent cervicales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Associé à une angine pseudomembraneuse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Présence d’une splénomégalie très volumineuse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hyperleucocytose à prédominance PNN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hyperlymphocytose</a:t>
            </a:r>
            <a:endParaRPr sz="2400"/>
          </a:p>
        </p:txBody>
      </p:sp>
      <p:sp>
        <p:nvSpPr>
          <p:cNvPr id="624" name="Google Shape;624;p8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88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En faveur de diagnostic de mononucléose infectieuse chez un enfant ayant des adénopathies  multiples: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Les adénopathies sont souvent cervicales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Associé à une angine pseudomembraneuse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Présence d’une splénomégalie très volumineuse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hyperleucocytose à prédominance PNN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hyperlymphocytose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630" name="Google Shape;630;p8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89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Une polyadénopathie peut se voire en cas des  infections virales suivantes: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Primo infection par le VIH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EBV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Infection par le CMV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Tuberculose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Leishmaniose viscérale</a:t>
            </a:r>
            <a:endParaRPr/>
          </a:p>
        </p:txBody>
      </p:sp>
      <p:sp>
        <p:nvSpPr>
          <p:cNvPr id="636" name="Google Shape;636;p8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90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Une polyadénopathie peut se voire en cas des  infections virales suivantes: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Primo infection par le VIH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EBV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Infection par le CMV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Tuberculose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Leishmaniose viscérale</a:t>
            </a:r>
            <a:endParaRPr/>
          </a:p>
        </p:txBody>
      </p:sp>
      <p:sp>
        <p:nvSpPr>
          <p:cNvPr id="642" name="Google Shape;642;p9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91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Le Syphilis primaire est: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maladie sexuellement transmise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Due à l’agent bactérien Treponema pallidum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Associé à des adénopathies multiples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Associé à une ADP volumineuse, inflammatoire et douloureuse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Associé à un chancre syphilitique</a:t>
            </a:r>
            <a:endParaRPr/>
          </a:p>
        </p:txBody>
      </p:sp>
      <p:sp>
        <p:nvSpPr>
          <p:cNvPr id="648" name="Google Shape;648;p9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92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Le Syphilis primaire est: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maladie sexuellement transmise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Due à l’agent bactérien Treponema pallidum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Associé à des adénopathies multiples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Associé à une ADP volumineuse, inflammatoire et douloureuse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Associé à un chancre syphilitique</a:t>
            </a:r>
            <a:endParaRPr/>
          </a:p>
        </p:txBody>
      </p:sp>
      <p:sp>
        <p:nvSpPr>
          <p:cNvPr id="654" name="Google Shape;654;p9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93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Dans les maladies sexuellement transmissibles suivantes les adénopathies sont caractérisées par: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ADP inguinale unique volumineuse non inflammatoire et indolore dans  la syphilis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ADP inguinales inflammatoires et d’ulcérations multiples dans le chancre mou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Due à l’Hæmophilus ducreyi dans la syphilis primaire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Due à Treponema pallidum dans le chancre mou.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Evoluant vers une fistulisation cutanée dans la maladie de Nicolas Favre ou lymphogranulomatose vénérienne</a:t>
            </a:r>
            <a:endParaRPr/>
          </a:p>
        </p:txBody>
      </p:sp>
      <p:sp>
        <p:nvSpPr>
          <p:cNvPr id="661" name="Google Shape;661;p9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94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Dans les maladies sexuellement transmissibles suivantes les adénopathies sont caractérisées par: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ADP inguinale unique volumineuse non inflammatoire et indolore dans  la syphilis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ADP inguinales inflammatoires et d’ulcérations multiples dans le chancre mou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Due à l’Hæmophilus ducreyi dans la syphilis primaire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Due à Treponema pallidum dans le chancre mou.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Evoluant vers une fistulisation cutanée dans la maladie de Nicolas Favre ou lymphogranulomatose vénérienne</a:t>
            </a:r>
            <a:endParaRPr/>
          </a:p>
        </p:txBody>
      </p:sp>
      <p:sp>
        <p:nvSpPr>
          <p:cNvPr id="668" name="Google Shape;668;p9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95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En plus d’une polyadénopathie, la brucellose associe: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Tuphos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fièvre ondulante suduro-algique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splénomégalie modérée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leucopénie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sérologie de Vidal positive pour confirmation</a:t>
            </a:r>
            <a:endParaRPr/>
          </a:p>
        </p:txBody>
      </p:sp>
      <p:sp>
        <p:nvSpPr>
          <p:cNvPr id="674" name="Google Shape;674;p9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96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En plus d’une polyadénopathie, la brucellose associe: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 Tuphos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fièvre ondulante suduro-algique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splénomégalie modérée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Une leucopénie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Une sérologie de Vidal positive pour confirmation</a:t>
            </a:r>
            <a:endParaRPr/>
          </a:p>
        </p:txBody>
      </p:sp>
      <p:sp>
        <p:nvSpPr>
          <p:cNvPr id="680" name="Google Shape;680;p9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97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Parmi les pathologies suivantes, le (les) quelle (s) pourrait (ent) être évoquées devant des adénopathies cervicales et un syndrome mononucélosique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Mononucléose infectieuse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Maladie de Hodgkin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Toxoplasmose acquise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Maladie de Griffe de chat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Infection à cytomégalovirus</a:t>
            </a:r>
            <a:endParaRPr/>
          </a:p>
        </p:txBody>
      </p:sp>
      <p:sp>
        <p:nvSpPr>
          <p:cNvPr id="686" name="Google Shape;686;p9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98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Parmi les pathologies suivantes, le (les) quelle (s) pourrait (ent) être évoquées devant des adénopathies cervicales et un syndrome mononucélosique 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Mononucléose infectieuse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Maladie de Hodgkin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Toxoplasmose acquise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Maladie de Griffe de chat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Infection à cytomégalovirus</a:t>
            </a:r>
            <a:endParaRPr/>
          </a:p>
        </p:txBody>
      </p:sp>
      <p:sp>
        <p:nvSpPr>
          <p:cNvPr id="692" name="Google Shape;692;p9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99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L'association splénomégalie, adénopathies cervicales peut être observée dans: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Leucémie myéloïde chronique (LMC)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L'aplasie médullaire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leucémie lymphoïde chronique (LLC)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leucémie aigue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maladie de Minkowski chauffard</a:t>
            </a:r>
            <a:endParaRPr/>
          </a:p>
        </p:txBody>
      </p:sp>
      <p:sp>
        <p:nvSpPr>
          <p:cNvPr id="698" name="Google Shape;698;p9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00"/>
          <p:cNvSpPr txBox="1"/>
          <p:nvPr>
            <p:ph idx="1" type="body"/>
          </p:nvPr>
        </p:nvSpPr>
        <p:spPr>
          <a:xfrm>
            <a:off x="609600" y="1628800"/>
            <a:ext cx="1139105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L'association splénomégalie, adénopathies cervicales peut être observée dans: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Leucémie myéloïde chronique (LMC)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L'aplasie médullaire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leucémie lymphoïde chronique (LLC)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La leucémie aigue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La maladie de Minkowski chauffard</a:t>
            </a:r>
            <a:endParaRPr/>
          </a:p>
        </p:txBody>
      </p:sp>
      <p:sp>
        <p:nvSpPr>
          <p:cNvPr id="704" name="Google Shape;704;p10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01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La présence des adénopathies axillaires unilatérales gauches peut évoquer un(e):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Carcinome-mammaire gauche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Maladie-de-Griffe-de-chat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Mononucléose-infectieuse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Cancer testiculaire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Syphilis-primaire</a:t>
            </a:r>
            <a:endParaRPr/>
          </a:p>
        </p:txBody>
      </p:sp>
      <p:sp>
        <p:nvSpPr>
          <p:cNvPr id="710" name="Google Shape;710;p10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02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La présence des adénopathies axillaires unilatérales gauches peut évoquer un(e):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Carcinome-mammaire gauche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Maladie-de-Griffe-de-chat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Mononucléose-infectieuse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Cancer testiculaire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Syphilis-primaire</a:t>
            </a:r>
            <a:endParaRPr/>
          </a:p>
        </p:txBody>
      </p:sp>
      <p:sp>
        <p:nvSpPr>
          <p:cNvPr id="716" name="Google Shape;716;p10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03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Une adénopathie localisée peut évoquer: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Leucémie lymphoïde chronique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Tuberculose ganglionnaire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Infection de voisinage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Maladie de Griffes du chat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Mononucléose infectieuse</a:t>
            </a:r>
            <a:endParaRPr/>
          </a:p>
        </p:txBody>
      </p:sp>
      <p:sp>
        <p:nvSpPr>
          <p:cNvPr id="722" name="Google Shape;722;p10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04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Une adénopathie localisée peut évoquer: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Leucémie lymphoïde chronique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Tuberculose ganglionnaire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Infection de voisinage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Maladie de Griffes du chat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Mononucléose infectieuse </a:t>
            </a:r>
            <a:endParaRPr/>
          </a:p>
        </p:txBody>
      </p:sp>
      <p:sp>
        <p:nvSpPr>
          <p:cNvPr id="728" name="Google Shape;728;p10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05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Les diagnostics à évoquer chez un patient se présentant avec une polyadénopathie axillaire et inguinale bilatérale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Métastase d’un cancer digestif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 Métastase d’un cancer de la prostate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 Infection par le VIH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Lymphome de Hodgkin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Connectivite</a:t>
            </a:r>
            <a:endParaRPr/>
          </a:p>
        </p:txBody>
      </p:sp>
      <p:sp>
        <p:nvSpPr>
          <p:cNvPr id="734" name="Google Shape;734;p10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06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Les diagnostics à évoquer chez un patient se présentant avec une polyadénopathie axillaire et inguinale bilatérale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Métastase d’un cancer digestif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 Métastase d’un cancer de la prostate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 Infection par le VIH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Lymphome de Hodgkin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Connectivite</a:t>
            </a:r>
            <a:endParaRPr/>
          </a:p>
        </p:txBody>
      </p:sp>
      <p:sp>
        <p:nvSpPr>
          <p:cNvPr id="740" name="Google Shape;740;p10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07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Devant une adénopathie cervicale isolée, vous évoquez le diagnostic de tuberculose ganglionnaire devant la présence de: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Autres localisations extra ganglionnaires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Signes d’imprégnation tuberculeuse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Présence de granulome </a:t>
            </a:r>
            <a:r>
              <a:rPr lang="fr-FR" sz="2400"/>
              <a:t>sans nécrose caséeuse à l’histologie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Fistulisation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Altération de l’état général</a:t>
            </a:r>
            <a:endParaRPr/>
          </a:p>
        </p:txBody>
      </p:sp>
      <p:sp>
        <p:nvSpPr>
          <p:cNvPr id="746" name="Google Shape;746;p10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108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Devant une adénopathie cervicale isolée, vous évoquez le diagnostic de tuberculose ganglionnaire devant la présence de: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Autres localisations extra ganglionnaires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Signes d’imprégnation tuberculeuse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Présence de granulome sans nécrose caséeuse à l’histologie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Fistulisation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Altération de l’état général</a:t>
            </a:r>
            <a:endParaRPr/>
          </a:p>
        </p:txBody>
      </p:sp>
      <p:sp>
        <p:nvSpPr>
          <p:cNvPr id="752" name="Google Shape;752;p10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09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La présence des adénopathies inguinales fistulisées peut évoquer un (e):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Primo infection par la syphilis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Abcès anal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 Chancre mou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 Leucémie aigue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Tuberculose</a:t>
            </a:r>
            <a:endParaRPr/>
          </a:p>
        </p:txBody>
      </p:sp>
      <p:sp>
        <p:nvSpPr>
          <p:cNvPr id="758" name="Google Shape;758;p10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10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La présence des adénopathies inguinales fistulisées peut évoquer un (e):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Primo infection par la syphilis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Abcès anal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 Chancre mou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 Leucémie aigue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Tuberculose</a:t>
            </a:r>
            <a:endParaRPr/>
          </a:p>
        </p:txBody>
      </p:sp>
      <p:sp>
        <p:nvSpPr>
          <p:cNvPr id="764" name="Google Shape;764;p11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11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Concernant les adénopathies dans la sarcoïdose, quelles affirmations sont exactes ?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A. Elles sont souvent superficielles, bilatérales, fermes et indolores</a:t>
            </a:r>
            <a:br>
              <a:rPr lang="fr-FR" sz="2400"/>
            </a:br>
            <a:r>
              <a:rPr lang="fr-FR" sz="2400"/>
              <a:t>B. Elles sont inflammatoires, douloureuses et suppuratives dans la majorité des cas</a:t>
            </a:r>
            <a:br>
              <a:rPr lang="fr-FR" sz="2400"/>
            </a:br>
            <a:r>
              <a:rPr lang="fr-FR" sz="2400"/>
              <a:t>C. Elles s’associent fréquemment à des atteintes pulmonaires, cutanées ou oculaires</a:t>
            </a:r>
            <a:br>
              <a:rPr lang="fr-FR" sz="2400"/>
            </a:br>
            <a:r>
              <a:rPr lang="fr-FR" sz="2400"/>
              <a:t>D. Elles surviennent dans environ 20 % des cas de sarcoïdose</a:t>
            </a:r>
            <a:br>
              <a:rPr lang="fr-FR" sz="2400"/>
            </a:br>
            <a:r>
              <a:rPr lang="fr-FR" sz="2400"/>
              <a:t>E. Leur histologie montre un granulome épithélioïde et giganto-cellulaire sans nécrose</a:t>
            </a:r>
            <a:endParaRPr/>
          </a:p>
        </p:txBody>
      </p:sp>
      <p:sp>
        <p:nvSpPr>
          <p:cNvPr id="770" name="Google Shape;770;p1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12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Concernant les adénopathies dans la sarcoïdose, quelles affirmations sont exactes ?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fr-FR" sz="2400">
                <a:solidFill>
                  <a:srgbClr val="FF0000"/>
                </a:solidFill>
              </a:rPr>
              <a:t>A. Elles sont souvent superficielles, bilatérales, fermes et indolores</a:t>
            </a:r>
            <a:br>
              <a:rPr lang="fr-FR" sz="2400"/>
            </a:br>
            <a:r>
              <a:rPr lang="fr-FR" sz="2400"/>
              <a:t>B. Elles sont inflammatoires, douloureuses et suppuratives dans la majorité des cas</a:t>
            </a:r>
            <a:br>
              <a:rPr lang="fr-FR" sz="2400"/>
            </a:br>
            <a:r>
              <a:rPr lang="fr-FR" sz="2400">
                <a:solidFill>
                  <a:srgbClr val="FF0000"/>
                </a:solidFill>
              </a:rPr>
              <a:t>C. Elles s’associent fréquemment à des atteintes pulmonaires, cutanées ou oculaires</a:t>
            </a:r>
            <a:br>
              <a:rPr lang="fr-FR" sz="2400">
                <a:solidFill>
                  <a:srgbClr val="FF0000"/>
                </a:solidFill>
              </a:rPr>
            </a:br>
            <a:r>
              <a:rPr lang="fr-FR" sz="2400">
                <a:solidFill>
                  <a:srgbClr val="FF0000"/>
                </a:solidFill>
              </a:rPr>
              <a:t>D. Elles surviennent dans environ 20 % des cas de sarcoïdose</a:t>
            </a:r>
            <a:br>
              <a:rPr lang="fr-FR" sz="2400">
                <a:solidFill>
                  <a:srgbClr val="FF0000"/>
                </a:solidFill>
              </a:rPr>
            </a:br>
            <a:r>
              <a:rPr lang="fr-FR" sz="2400">
                <a:solidFill>
                  <a:srgbClr val="FF0000"/>
                </a:solidFill>
              </a:rPr>
              <a:t>E. Leur histologie montre un granulome épithélioïde et giganto-cellulaire sans nécrose</a:t>
            </a:r>
            <a:endParaRPr/>
          </a:p>
        </p:txBody>
      </p:sp>
      <p:sp>
        <p:nvSpPr>
          <p:cNvPr id="776" name="Google Shape;776;p1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13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Parmi les anomalies suivantes, lesquelles sont caractéristiques de la sarcoïdose ?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A. Anergie tuberculinique</a:t>
            </a:r>
            <a:br>
              <a:rPr lang="fr-FR" sz="2400"/>
            </a:br>
            <a:r>
              <a:rPr lang="fr-FR" sz="2400"/>
              <a:t>B. Hypercalcémie</a:t>
            </a:r>
            <a:br>
              <a:rPr lang="fr-FR" sz="2400"/>
            </a:br>
            <a:r>
              <a:rPr lang="fr-FR" sz="2400"/>
              <a:t>C. Présence d’un granulome caséeux nécrosant</a:t>
            </a:r>
            <a:br>
              <a:rPr lang="fr-FR" sz="2400"/>
            </a:br>
            <a:r>
              <a:rPr lang="fr-FR" sz="2400"/>
              <a:t>D. Élévation de l’enzyme de conversion de l’angiotensine (ECA)</a:t>
            </a:r>
            <a:br>
              <a:rPr lang="fr-FR" sz="2400"/>
            </a:br>
            <a:r>
              <a:rPr lang="fr-FR" sz="2400"/>
              <a:t>E. Granulome épithélioïde et giganto-cellulaire sans nécrose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782" name="Google Shape;782;p1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14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Parmi les anomalies suivantes, lesquelles sont caractéristiques de la sarcoïdose ?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fr-FR" sz="2400">
                <a:solidFill>
                  <a:srgbClr val="FF0000"/>
                </a:solidFill>
              </a:rPr>
              <a:t>A. Anergie tuberculinique</a:t>
            </a:r>
            <a:br>
              <a:rPr lang="fr-FR" sz="2400">
                <a:solidFill>
                  <a:srgbClr val="FF0000"/>
                </a:solidFill>
              </a:rPr>
            </a:br>
            <a:r>
              <a:rPr lang="fr-FR" sz="2400">
                <a:solidFill>
                  <a:srgbClr val="FF0000"/>
                </a:solidFill>
              </a:rPr>
              <a:t>B. Hypercalcémie</a:t>
            </a:r>
            <a:br>
              <a:rPr lang="fr-FR" sz="2400">
                <a:solidFill>
                  <a:srgbClr val="FF0000"/>
                </a:solidFill>
              </a:rPr>
            </a:br>
            <a:r>
              <a:rPr lang="fr-FR" sz="2400"/>
              <a:t>C. Présence d’un granulome caséeux nécrosant</a:t>
            </a:r>
            <a:br>
              <a:rPr lang="fr-FR" sz="2400"/>
            </a:br>
            <a:r>
              <a:rPr lang="fr-FR" sz="2400">
                <a:solidFill>
                  <a:srgbClr val="FF0000"/>
                </a:solidFill>
              </a:rPr>
              <a:t>D. Élévation de l’enzyme de conversion de l’angiotensine (ECA)</a:t>
            </a:r>
            <a:br>
              <a:rPr lang="fr-FR" sz="2400">
                <a:solidFill>
                  <a:srgbClr val="FF0000"/>
                </a:solidFill>
              </a:rPr>
            </a:br>
            <a:r>
              <a:rPr lang="fr-FR" sz="2400">
                <a:solidFill>
                  <a:srgbClr val="FF0000"/>
                </a:solidFill>
              </a:rPr>
              <a:t>E. Granulome épithélioïde et giganto-cellulaire sans nécrose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788" name="Google Shape;788;p1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15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Lesquelles des pathologies suivantes peuvent être responsables d’adénopathies d’origine inflammatoire ?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A. Lupus érythémateux systémique (LES)</a:t>
            </a:r>
            <a:br>
              <a:rPr lang="fr-FR" sz="2400"/>
            </a:br>
            <a:r>
              <a:rPr lang="fr-FR" sz="2400"/>
              <a:t>B. Polyarthrite rhumatoïde (PR)</a:t>
            </a:r>
            <a:br>
              <a:rPr lang="fr-FR" sz="2400"/>
            </a:br>
            <a:r>
              <a:rPr lang="fr-FR" sz="2400"/>
              <a:t>C. Maladie de Still</a:t>
            </a:r>
            <a:br>
              <a:rPr lang="fr-FR" sz="2400"/>
            </a:br>
            <a:r>
              <a:rPr lang="fr-FR" sz="2400"/>
              <a:t>D. Syndrome de Kawasaki chez l’enfant</a:t>
            </a:r>
            <a:br>
              <a:rPr lang="fr-FR" sz="2400"/>
            </a:br>
            <a:r>
              <a:rPr lang="fr-FR" sz="2400"/>
              <a:t>E. Hyperthyroïdie de Basedow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794" name="Google Shape;794;p1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16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Lesquelles des pathologies suivantes peuvent être responsables d’adénopathies d’origine inflammatoire ?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fr-FR" sz="2400">
                <a:solidFill>
                  <a:srgbClr val="FF0000"/>
                </a:solidFill>
              </a:rPr>
              <a:t>A. Lupus érythémateux systémique (LES)</a:t>
            </a:r>
            <a:br>
              <a:rPr lang="fr-FR" sz="2400">
                <a:solidFill>
                  <a:srgbClr val="FF0000"/>
                </a:solidFill>
              </a:rPr>
            </a:br>
            <a:r>
              <a:rPr lang="fr-FR" sz="2400">
                <a:solidFill>
                  <a:srgbClr val="FF0000"/>
                </a:solidFill>
              </a:rPr>
              <a:t>B. Polyarthrite rhumatoïde (PR)</a:t>
            </a:r>
            <a:br>
              <a:rPr lang="fr-FR" sz="2400">
                <a:solidFill>
                  <a:srgbClr val="FF0000"/>
                </a:solidFill>
              </a:rPr>
            </a:br>
            <a:r>
              <a:rPr lang="fr-FR" sz="2400">
                <a:solidFill>
                  <a:srgbClr val="FF0000"/>
                </a:solidFill>
              </a:rPr>
              <a:t>C. Maladie de Still</a:t>
            </a:r>
            <a:br>
              <a:rPr lang="fr-FR" sz="2400">
                <a:solidFill>
                  <a:srgbClr val="FF0000"/>
                </a:solidFill>
              </a:rPr>
            </a:br>
            <a:r>
              <a:rPr lang="fr-FR" sz="2400">
                <a:solidFill>
                  <a:srgbClr val="FF0000"/>
                </a:solidFill>
              </a:rPr>
              <a:t>D. Syndrome de Kawasaki chez l’enfant</a:t>
            </a:r>
            <a:br>
              <a:rPr lang="fr-FR" sz="2400">
                <a:solidFill>
                  <a:srgbClr val="FF0000"/>
                </a:solidFill>
              </a:rPr>
            </a:br>
            <a:r>
              <a:rPr lang="fr-FR" sz="2400"/>
              <a:t>E. Hyperthyroïdie de Basedow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800" name="Google Shape;800;p1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QCM</a:t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17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Enfant âgé de 4 ans, ramené aux urgences pour fièvre résistante aux antibiotiques apparue depuis 1 semaine.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L’examen clinique :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	* Adénopathies cervicales bilatérales de 2 cm de grand axe, 	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	* Splénomégalie de 2 cm du rebord costal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	* Tâches ecchymotiques aux membres inférieurs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806" name="Google Shape;806;p1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Cas clinique 1</a:t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18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QCM1 : L’examen complémentaire de première intention à demander: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Scanner cervico-thoraco-abdominal</a:t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NFS+ frottis sanguin</a:t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Echographie cervicale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Cytoponction ganglionnaire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Biopsie ganglionnaire</a:t>
            </a:r>
            <a:endParaRPr/>
          </a:p>
          <a:p>
            <a:pPr indent="-3619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</p:txBody>
      </p:sp>
      <p:sp>
        <p:nvSpPr>
          <p:cNvPr id="812" name="Google Shape;812;p1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Cas clinique 1</a:t>
            </a:r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19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QCM1 : L’examen complémentaire de première intention à demander: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Scanner cervico-thoraco-abdominal</a:t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NFS+ frottis sanguin</a:t>
            </a:r>
            <a:endParaRPr sz="2400">
              <a:solidFill>
                <a:srgbClr val="FF0000"/>
              </a:solidFill>
            </a:endParaRPr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Echographie cervicale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Cytoponction ganglionnaire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Biopsie ganglionnaire</a:t>
            </a:r>
            <a:endParaRPr/>
          </a:p>
          <a:p>
            <a:pPr indent="-3619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</p:txBody>
      </p:sp>
      <p:sp>
        <p:nvSpPr>
          <p:cNvPr id="818" name="Google Shape;818;p1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Cas clinique 1 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20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La CRP était élevée, l’échographie cervicale montre des adénopathies cervicales bilatérales, la plus grande de 2 cm de grand axe. NFS montre : GB : 30 000/mm3 (PNN30%, Lymphocytes 20%, Monocytes 10%, blastes 40%)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QCM2 : Quel est le diagnostic le plus probable ?</a:t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Leucémie lymphoïde chronique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Lymphome de Hodgkin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Leucémie aigue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Leucémie myéloïde chronique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Lymphome non Hdgkinien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824" name="Google Shape;824;p12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Cas clinique 1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121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La CRP était élevée, l’échographie cervicale montre des adénopathies cervicales bilatérales, la plus grande de 2 cm de grand axe. NFS montre : GB : 30 000/mm3 (PNN30%, Lymphocytes 20%, Monocytes 10%, blastes 40%)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QCM2 : Quel est le diagnostic le plus probable ?</a:t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Leucémie lymphoïde chronique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Lymphome de Hodgkin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Leucémie aigue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Leucémie myéloïde chronique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Lymphome non Hdgkinien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830" name="Google Shape;830;p12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Cas clinique 1</a:t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122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QCM3 : La confirmation du diagnostic repose sur: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Biopsie ostéo-médullaire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Myélogramme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Biopsie ganglionnaire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Scanner cervico-abdominal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Cytoponction ganglionnaire</a:t>
            </a:r>
            <a:endParaRPr/>
          </a:p>
        </p:txBody>
      </p:sp>
      <p:sp>
        <p:nvSpPr>
          <p:cNvPr id="836" name="Google Shape;836;p12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Cas clinique 1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23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QCM3 : La confirmation du diagnostic repose sur: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Biopsie ostéo-médullaire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Myélogramme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Biopsie ganglionnaire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Scanner cervico-abdominal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Cytoponction ganglionnaire</a:t>
            </a:r>
            <a:endParaRPr/>
          </a:p>
        </p:txBody>
      </p:sp>
      <p:sp>
        <p:nvSpPr>
          <p:cNvPr id="842" name="Google Shape;842;p12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Cas clinique 1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24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Monsieur Ali âgé de 65 ans, consulte pour la découverte fortuite de tuméfaction cervicale.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L’examen clinique :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	* BEG avec IK à 90%, apyrétique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	* Multiples adénopathies cervicales, axillaires et inguinales bilatérales et   	 	   symétriques de 1 à 2 cm de grand axe, 	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	* Splénomégalie à 2 cm du rebord costal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	* Le reste de l’examen est sans particularité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848" name="Google Shape;848;p12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Cas clinique 2</a:t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25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QCM1 : L’examen complémentaire de première intention à demander: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Scanner cervico-thoraco-abdominal</a:t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NFS+ frottis sanguin</a:t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Echographie cervicale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Cytoponction ganglionnaire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Biopsie ganglionnaire</a:t>
            </a:r>
            <a:endParaRPr/>
          </a:p>
          <a:p>
            <a:pPr indent="-3619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</p:txBody>
      </p:sp>
      <p:sp>
        <p:nvSpPr>
          <p:cNvPr id="854" name="Google Shape;854;p12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Cas clinique 2 </a:t>
            </a:r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26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QCM1 : L’examen complémentaire de première intention à demander: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Scanner cervico-thoraco-abdominal</a:t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NFS+ frottis sanguin</a:t>
            </a:r>
            <a:endParaRPr sz="2400">
              <a:solidFill>
                <a:srgbClr val="FF0000"/>
              </a:solidFill>
            </a:endParaRPr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Echographie cervicale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Cytoponction ganglionnaire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Biopsie ganglionnaire</a:t>
            </a:r>
            <a:endParaRPr/>
          </a:p>
          <a:p>
            <a:pPr indent="-3619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</p:txBody>
      </p:sp>
      <p:sp>
        <p:nvSpPr>
          <p:cNvPr id="860" name="Google Shape;860;p12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Cas clinique 2 </a:t>
            </a:r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27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NFS montre : GB : 75 000/mm³ (PNN 10%, Lymphocytes 85%, Monocytes 5%, Ombre de Gumprecht)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QCM2 : Quel est le diagnostic le plus probable ?</a:t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Leucémie lymphoïde chronique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Lymphome de Hodgkin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Leucémie aigue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Leucémie myéloïde chronique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Lymphome non Hdgkinien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866" name="Google Shape;866;p12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Cas clinique 2 </a:t>
            </a:r>
            <a:endParaRPr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128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NFS montre : GB : 75 000/mm³ (PNN 10%, Lymphocytes 85%, Monocytes 5%, Ombre de Gumprecht)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QCM2 : Quel est le diagnostic le plus probable ?</a:t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Leucémie lymphoïde chronique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Lymphome de Hodgkin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Leucémie aigue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Leucémie myéloïde chronique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Lymphome non Hdgkinien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872" name="Google Shape;872;p12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Cas clinique 2 </a:t>
            </a:r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129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QCM3 : La confirmation du diagnostic repose sur: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Biopsie ostéo-médullaire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Myélogramme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Biopsie ganglionnaire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Scanner cervico-thoraco-abdominal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Immunophénotypage des lymphocytes sanguins</a:t>
            </a:r>
            <a:endParaRPr/>
          </a:p>
        </p:txBody>
      </p:sp>
      <p:sp>
        <p:nvSpPr>
          <p:cNvPr id="878" name="Google Shape;878;p12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Cas clinique 2 </a:t>
            </a:r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30"/>
          <p:cNvSpPr txBox="1"/>
          <p:nvPr>
            <p:ph idx="1" type="body"/>
          </p:nvPr>
        </p:nvSpPr>
        <p:spPr>
          <a:xfrm>
            <a:off x="609600" y="1628800"/>
            <a:ext cx="1146306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/>
              <a:t>QCM3 : La confirmation du diagnostic repose sur: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Biopsie ostéo-médullaire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Myélogramme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Biopsie ganglionnaire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fr-FR" sz="2400"/>
              <a:t>Scanner cervico-thoraco-abdominal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lphaUcPeriod"/>
            </a:pPr>
            <a:r>
              <a:rPr lang="fr-FR" sz="2400">
                <a:solidFill>
                  <a:srgbClr val="FF0000"/>
                </a:solidFill>
              </a:rPr>
              <a:t>Immunophénotypage des lymphocytes sanguins</a:t>
            </a:r>
            <a:endParaRPr/>
          </a:p>
        </p:txBody>
      </p:sp>
      <p:sp>
        <p:nvSpPr>
          <p:cNvPr id="884" name="Google Shape;884;p13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Cas clinique 2 </a:t>
            </a:r>
            <a:endParaRPr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131"/>
          <p:cNvSpPr txBox="1"/>
          <p:nvPr/>
        </p:nvSpPr>
        <p:spPr>
          <a:xfrm>
            <a:off x="1865514" y="3044279"/>
            <a:ext cx="846097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>
                <a:solidFill>
                  <a:srgbClr val="C00000"/>
                </a:solidFill>
                <a:latin typeface="Algerian"/>
                <a:ea typeface="Algerian"/>
                <a:cs typeface="Algerian"/>
                <a:sym typeface="Algerian"/>
              </a:rPr>
              <a:t>Merci pour votre attention </a:t>
            </a:r>
            <a:endParaRPr sz="4400">
              <a:solidFill>
                <a:srgbClr val="C00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2020-08-23T11:56:10Z</dcterms:created>
  <dc:creator>YOOSURF</dc:creator>
</cp:coreProperties>
</file>
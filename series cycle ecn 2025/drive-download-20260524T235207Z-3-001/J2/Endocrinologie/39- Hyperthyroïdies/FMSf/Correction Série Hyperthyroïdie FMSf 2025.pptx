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1" roundtripDataSignature="AMtx7mgOPz5bl26ShoLeEBLKDnBVrE5F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1" Type="http://customschemas.google.com/relationships/presentationmetadata" Target="meta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En début de grossesse, Corrélée avec les taux d’hCG et la gémellarité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Tumeurs placentaires:    Môles hydatiformes,   Plus rarement de choriocarcinomes.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L’apport massif en iode entraîne un blocage de l’organification de l’iode (par blocage de la thyroperoxydase). C’est l’effet de Wolff-Chaikoff à l’origine d’une diminution de la production des H thyroïdiennes.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Il existe physiologiquement un échappement à ce phénomène. En l’absence d’échappement </a:t>
            </a:r>
            <a:r>
              <a:rPr b="1" lang="fr-FR"/>
              <a:t>physiologique </a:t>
            </a:r>
            <a:r>
              <a:rPr lang="fr-FR"/>
              <a:t>à ce phénomène, l’hypothyroïdie s’installe</a:t>
            </a:r>
            <a:endParaRPr/>
          </a:p>
        </p:txBody>
      </p:sp>
      <p:sp>
        <p:nvSpPr>
          <p:cNvPr id="201" name="Google Shape;201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Fréquente et se traduit par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Une thermophobie: sensation permanente d'avoir trop chaud: Le sujet a toujours chaud, transpire de manière excessive, diminue la température de son milieu ambiant en ouvrant la fenêtre et baissant le chauffage </a:t>
            </a:r>
            <a:r>
              <a:rPr b="1" lang="fr-FR"/>
              <a:t>en décalage avec son milieu </a:t>
            </a:r>
            <a:r>
              <a:rPr lang="fr-FR"/>
              <a:t>social et familial</a:t>
            </a:r>
            <a:endParaRPr/>
          </a:p>
        </p:txBody>
      </p:sp>
      <p:sp>
        <p:nvSpPr>
          <p:cNvPr id="287" name="Google Shape;287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fr-FR" sz="2800"/>
              <a:t>Prédominance proximale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fr-FR" sz="2800"/>
              <a:t>Signe du tabouret: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fr-FR"/>
              <a:t>« difficulté à se relever de la position accroupie (le malade prend appui avec ses mains sur les genoux et « grimpe » le long de ses cuisses) ou de la position assise »</a:t>
            </a:r>
            <a:endParaRPr/>
          </a:p>
        </p:txBody>
      </p:sp>
      <p:sp>
        <p:nvSpPr>
          <p:cNvPr id="320" name="Google Shape;320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BROMOCRIPTINE</a:t>
            </a:r>
            <a:endParaRPr/>
          </a:p>
        </p:txBody>
      </p:sp>
      <p:sp>
        <p:nvSpPr>
          <p:cNvPr id="390" name="Google Shape;390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L'hyperthyroidie ne cree pas la maladie mais peut l'aggraver du fait de l'augmentation du debit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cardiaque et des besoins en oxygene du myocarde.</a:t>
            </a:r>
            <a:endParaRPr/>
          </a:p>
        </p:txBody>
      </p:sp>
      <p:sp>
        <p:nvSpPr>
          <p:cNvPr id="409" name="Google Shape;409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L'hyperthyroidie ne cree pas la maladie mais peut l'aggraver du fait de l'augmentation du debit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cardiaque et des besoins en oxygene du myocarde.</a:t>
            </a:r>
            <a:endParaRPr/>
          </a:p>
        </p:txBody>
      </p:sp>
      <p:sp>
        <p:nvSpPr>
          <p:cNvPr id="416" name="Google Shape;416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L'hyperthyroidie ne cree pas la maladie mais peut l'aggraver du fait de l'augmentation du debit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cardiaque et des besoins en oxygene du myocarde.</a:t>
            </a:r>
            <a:endParaRPr/>
          </a:p>
        </p:txBody>
      </p:sp>
      <p:sp>
        <p:nvSpPr>
          <p:cNvPr id="423" name="Google Shape;423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L'hyperthyroidie ne cree pas la maladie mais peut l'aggraver du fait de l'augmentation du debit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cardiaque et des besoins en oxygene du myocarde.</a:t>
            </a:r>
            <a:endParaRPr/>
          </a:p>
        </p:txBody>
      </p:sp>
      <p:sp>
        <p:nvSpPr>
          <p:cNvPr id="430" name="Google Shape;430;p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5" name="Google Shape;605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thyroïde hypoéchogène globuleuse avec des travées hyperéchogènes et des contours bosselés (figure 1.9). La vascularisation est variable mais rarement intense.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hétérogène ou qui contient des zones hyperplasiques pseudonodulaires hyperéchogènes</a:t>
            </a:r>
            <a:endParaRPr/>
          </a:p>
        </p:txBody>
      </p:sp>
      <p:sp>
        <p:nvSpPr>
          <p:cNvPr id="606" name="Google Shape;606;p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-F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9.png"/><Relationship Id="rId7" Type="http://schemas.openxmlformats.org/officeDocument/2006/relationships/hyperlink" Target="http://perso.wanadoo.fr/mn-net/nouveau/thyroide/thyrimage.html" TargetMode="External"/><Relationship Id="rId8" Type="http://schemas.openxmlformats.org/officeDocument/2006/relationships/image" Target="../media/image1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 sz="4950"/>
              <a:t>Évaluation objectif 39:</a:t>
            </a:r>
            <a:br>
              <a:rPr b="1" lang="fr-FR" sz="4950"/>
            </a:br>
            <a:r>
              <a:rPr b="1" lang="fr-FR" sz="4950"/>
              <a:t>HYPERTHYROIDIE </a:t>
            </a:r>
            <a:endParaRPr sz="4950"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323528" y="3886200"/>
            <a:ext cx="77723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fr-FR"/>
              <a:t>Pr Fatma MNIF BOUSSARSAR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fr-FR"/>
              <a:t>	Pr Ag Dhoha BEN SALAH KAMMOUN 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649893" y="789715"/>
            <a:ext cx="45720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Faculté de Médecine de Sfax  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1517435" y="1360566"/>
            <a:ext cx="64461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Préparation de concours de passage au 3</a:t>
            </a:r>
            <a:r>
              <a:rPr b="1" baseline="30000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cycle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236296" y="6228020"/>
            <a:ext cx="158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20/08/2025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à: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inflammation de la thyroïde d’origine virale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administration d’iode radioactif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hyperstimulation par HCG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hyperstimulation par GH-RH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ectopie thyroïdienne </a:t>
            </a:r>
            <a:endParaRPr/>
          </a:p>
          <a:p>
            <a:pPr indent="0" lvl="2" marL="3566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699516" rtl="0" algn="r">
              <a:spcBef>
                <a:spcPts val="1155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à: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inflammation de la thyroïde d’origine virale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administration d’iode radioactif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hyperstimulation par HCG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hyperstimulation par GH-RH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ectopie thyroïdienne </a:t>
            </a:r>
            <a:endParaRPr/>
          </a:p>
          <a:p>
            <a:pPr indent="-342900" lvl="2" marL="699516" rtl="0" algn="r">
              <a:spcBef>
                <a:spcPts val="1155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802386" y="961799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fr-FR" sz="2400">
                <a:solidFill>
                  <a:srgbClr val="FF0000"/>
                </a:solidFill>
              </a:rPr>
              <a:t>Stimulation par la HCG</a:t>
            </a:r>
            <a:endParaRPr/>
          </a:p>
        </p:txBody>
      </p:sp>
      <p:pic>
        <p:nvPicPr>
          <p:cNvPr descr="Image associée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1083659"/>
            <a:ext cx="7458190" cy="4330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277635" y="5451176"/>
            <a:ext cx="6770315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Baisse physiologique de la TSH au cours de la grossesse par effet TSH like de la HCG</a:t>
            </a:r>
            <a:endParaRPr/>
          </a:p>
        </p:txBody>
      </p:sp>
      <p:cxnSp>
        <p:nvCxnSpPr>
          <p:cNvPr id="113" name="Google Shape;113;p4"/>
          <p:cNvCxnSpPr/>
          <p:nvPr/>
        </p:nvCxnSpPr>
        <p:spPr>
          <a:xfrm>
            <a:off x="3545886" y="1862827"/>
            <a:ext cx="0" cy="3551444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 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 nodule thyroïdien froid 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thyroïdite de Hashimoto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 tératome ovarien contenant du tissu thyroïdien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prise factice d’hormones thyroïdiennes 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radiothérapie hypophysaire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 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 nodule thyroïdien froid 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thyroïdite de Hashimoto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 tératome ovarien contenant du tissu thyroïdien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prise factice d’hormones thyroïdiennes </a:t>
            </a:r>
            <a:endParaRPr/>
          </a:p>
          <a:p>
            <a:pPr indent="-514350" lvl="1" marL="10287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radiothérapie hypophysaire</a:t>
            </a:r>
            <a:endParaRPr/>
          </a:p>
          <a:p>
            <a:pPr indent="0" lvl="1" marL="5143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Les médications susceptibles d'engendrer une hyperthyroïdie sont :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 Lithium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Les hormones thyroïdiennes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Les corticoïdes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 phénobarbital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L’Interféron </a:t>
            </a: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Les médications susceptibles d'engendrer une hyperthyroïdie sont :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 Lithium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Les hormones thyroïdiennes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Les corticoïdes 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 phénobarbital</a:t>
            </a:r>
            <a:endParaRPr/>
          </a:p>
          <a:p>
            <a:pPr indent="-342900" lvl="2" marL="699516" rtl="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L’Interféron </a:t>
            </a: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699516" rtl="0" algn="r">
              <a:spcBef>
                <a:spcPts val="1155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Hyperthyroïdie Médicamenteuse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457200" y="1600200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3200"/>
              <a:buChar char="•"/>
            </a:pPr>
            <a:r>
              <a:rPr b="1" lang="fr-FR">
                <a:solidFill>
                  <a:srgbClr val="974806"/>
                </a:solidFill>
              </a:rPr>
              <a:t>L’inflammation</a:t>
            </a:r>
            <a:r>
              <a:rPr lang="fr-FR"/>
              <a:t> de la glande thyroïde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🡺"/>
            </a:pPr>
            <a:r>
              <a:rPr lang="fr-FR" sz="2800"/>
              <a:t>Amiodarone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🡺"/>
            </a:pPr>
            <a:r>
              <a:rPr lang="fr-FR" sz="2800"/>
              <a:t>Lithium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🡺"/>
            </a:pPr>
            <a:r>
              <a:rPr lang="fr-FR" sz="2800"/>
              <a:t>Interféron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🡺"/>
            </a:pPr>
            <a:r>
              <a:rPr lang="fr-FR" sz="2800"/>
              <a:t>interleukine 2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🡺"/>
            </a:pPr>
            <a:r>
              <a:rPr lang="fr-FR" sz="2800"/>
              <a:t>inhibiteurs de tyrosine kinase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🡺"/>
            </a:pPr>
            <a:r>
              <a:rPr lang="fr-FR" sz="2800"/>
              <a:t>nouvelles immunothérapies utilisées dans les cancers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251520" y="1600200"/>
            <a:ext cx="8579296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Concernant l’ hyperthyroïdie par surcharge iodée de type 1</a:t>
            </a:r>
            <a:r>
              <a:rPr lang="fr-FR" sz="2400"/>
              <a:t>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plus fréquente dans les zones d’apports iodés faibles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pathologie thyroïdienne sous-jacente est présente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scintigraphie thyroïdienne est blanche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L‘ échographie thyroïdienne est sans anomalie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liée a l’effet toxique de l'iode sur les thyréocytes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251520" y="1600200"/>
            <a:ext cx="8579296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Concernant l’ hyperthyroïdie par surcharge iodée de type 1</a:t>
            </a:r>
            <a:r>
              <a:rPr lang="fr-FR" sz="2400"/>
              <a:t>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FF0000"/>
              </a:solidFill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plus fréquente dans les zones d’apports iodés faibles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pathologie thyroïdienne sous-jacente est présente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scintigraphie thyroïdienne est blanche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L‘ échographie thyroïdienne est sans anomalie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liée a l’effet toxique de l'iode sur les thyréocytes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/>
          </a:p>
          <a:p>
            <a:pPr indent="-38735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251520" y="1600200"/>
            <a:ext cx="8579296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Concernant l’ hyperthyroïdie par surcharge iodée de type 2</a:t>
            </a:r>
            <a:r>
              <a:rPr lang="fr-FR" sz="2400"/>
              <a:t>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plus fréquente dans les zones d’apports iodés élevés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thyroïde est d'aspect clinique normal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scintigraphie thyroïdienne est blanche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L‘ échographie montre une glande hypoéchogène et homogène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liée a l’augmentation de la synthèse et la sécrétion d’hormones thyroïdiennes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251520" y="1600200"/>
            <a:ext cx="8579296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Concernant l’ hyperthyroïdie par surcharge iodée de type 2</a:t>
            </a:r>
            <a:r>
              <a:rPr lang="fr-FR" sz="2400"/>
              <a:t>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plus fréquente dans les zones d’apports iodés élevés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thyroïde est d'aspect clinique normal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scintigraphie thyroïdienne est blanche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L‘ échographie montre une glande hypoéchogène et homogène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liée a l’augmentation de la synthèse et la sécrétion d’hormones thyroïdiennes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  <a:p>
            <a:pPr indent="-38735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La surcharge iodée peut être responsable de: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par le phénomène de Wolff-Chaikoff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hypothyroïdie par défaut d’échappement au phénomène de Wolff-Chaikoff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par hyperfonctionnement  thyroïdien sur une glande thyroïde préalablement dystrophique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par mécanisme lésionnel sur une glande thyroïde préalablement saine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Une hypothyroïdie par infiltration lymphocytaire </a:t>
            </a:r>
            <a:endParaRPr sz="2400"/>
          </a:p>
          <a:p>
            <a:pPr indent="-514350" lvl="1" marL="914400" rtl="0" algn="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fr-FR" sz="2400">
                <a:solidFill>
                  <a:schemeClr val="lt1"/>
                </a:solidFill>
              </a:rPr>
              <a:t>BCD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La surcharge iodée peut être responsable de: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par le phénomène de Wolff-Chaikoff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hypothyroïdie par défaut d’échappement au phénomène de Wolff-Chaikoff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par hyperfonctionnement  thyroïdien sur une glande thyroïde préalablement dystrophique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par mécanisme lésionnel sur une glande thyroïde préalablement saine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hypothyroïdie par infiltration lymphocytaire </a:t>
            </a:r>
            <a:endParaRPr sz="2400"/>
          </a:p>
          <a:p>
            <a:pPr indent="-514350" lvl="1" marL="91440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</a:rPr>
              <a:t>BCD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fr-FR"/>
              <a:t>Concernant les hyperthyroïdies par surcharge iodée</a:t>
            </a:r>
            <a:endParaRPr/>
          </a:p>
        </p:txBody>
      </p:sp>
      <p:sp>
        <p:nvSpPr>
          <p:cNvPr id="185" name="Google Shape;185;p16"/>
          <p:cNvSpPr txBox="1"/>
          <p:nvPr>
            <p:ph idx="1" type="body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Char char="•"/>
            </a:pPr>
            <a:r>
              <a:rPr b="1" lang="fr-FR">
                <a:solidFill>
                  <a:srgbClr val="00B0F0"/>
                </a:solidFill>
              </a:rPr>
              <a:t>Remarque 1:</a:t>
            </a:r>
            <a:r>
              <a:rPr lang="fr-FR">
                <a:solidFill>
                  <a:srgbClr val="00B0F0"/>
                </a:solidFill>
              </a:rPr>
              <a:t> </a:t>
            </a:r>
            <a:r>
              <a:rPr lang="fr-FR"/>
              <a:t>On oppose 2 types d’hyperthyroïdies liées à la surcharge iodée (2 mécanismes physiopathologiques):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b="1" lang="fr-FR">
                <a:solidFill>
                  <a:srgbClr val="FF0000"/>
                </a:solidFill>
              </a:rPr>
              <a:t>Type 1</a:t>
            </a:r>
            <a:r>
              <a:rPr lang="fr-FR"/>
              <a:t>: hyperfonctionnement thyroïdien sur une glande thyroïde préalablement dystrophique (favorisée par la carence iodée):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Adénome ou goitre multinodulaire </a:t>
            </a:r>
            <a:r>
              <a:rPr lang="fr-FR" u="sng"/>
              <a:t>pré</a:t>
            </a:r>
            <a:r>
              <a:rPr lang="fr-FR"/>
              <a:t>toxique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Maladie de Basedow latente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457200" y="1600200"/>
            <a:ext cx="8229600" cy="470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Char char="–"/>
            </a:pPr>
            <a:r>
              <a:rPr b="1" i="0" lang="fr-FR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 2</a:t>
            </a:r>
            <a:r>
              <a:rPr b="0" i="0" lang="fr-F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mécanisme lésionnel (thyroïdite) sur une glande thyroïde préalablement saine.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🡺 Liée a l’effet toxique de l'iode sur les thyréocytes entrainant une lyse des cellules thyroïdiennes et une thyroïdite.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La thyroïde est d'aspect clinique normal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l’ </a:t>
            </a:r>
            <a:r>
              <a:rPr b="1" i="0" lang="fr-FR" sz="2800" u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échographie</a:t>
            </a:r>
            <a:r>
              <a:rPr b="0" i="0" lang="fr-FR" sz="2800" u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montre une glande hypoéchogène et homogène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la </a:t>
            </a:r>
            <a:r>
              <a:rPr b="1" lang="fr-FR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scintigraphie </a:t>
            </a: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est blanche (absence totale de fixation de l’iode).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457200" y="908720"/>
            <a:ext cx="8640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2400"/>
              <a:buFont typeface="Calibri"/>
              <a:buNone/>
            </a:pPr>
            <a:r>
              <a:rPr b="1" lang="fr-FR" sz="2400">
                <a:solidFill>
                  <a:srgbClr val="E36C09"/>
                </a:solidFill>
              </a:rPr>
              <a:t>-La maladie de basedow est-elle aggravée par la surcharge iodée ?</a:t>
            </a:r>
            <a:br>
              <a:rPr b="1" lang="fr-FR" sz="2400">
                <a:solidFill>
                  <a:srgbClr val="E36C09"/>
                </a:solidFill>
              </a:rPr>
            </a:br>
            <a:r>
              <a:rPr b="1" lang="fr-FR" sz="2400">
                <a:solidFill>
                  <a:srgbClr val="E36C09"/>
                </a:solidFill>
              </a:rPr>
              <a:t>-Comment l’iode radioactif aggrave la maladie de basedow ? </a:t>
            </a:r>
            <a:br>
              <a:rPr b="1" lang="fr-FR" sz="2400">
                <a:solidFill>
                  <a:srgbClr val="E36C09"/>
                </a:solidFill>
              </a:rPr>
            </a:br>
            <a:r>
              <a:rPr b="1" lang="fr-FR" sz="2400">
                <a:solidFill>
                  <a:srgbClr val="E36C09"/>
                </a:solidFill>
              </a:rPr>
              <a:t>-Peut-on considérer la surcharge comme étant un facteur déclenchant de la maladie de Basedow ?</a:t>
            </a:r>
            <a:endParaRPr/>
          </a:p>
        </p:txBody>
      </p:sp>
      <p:sp>
        <p:nvSpPr>
          <p:cNvPr id="197" name="Google Shape;197;p18"/>
          <p:cNvSpPr txBox="1"/>
          <p:nvPr>
            <p:ph idx="1" type="body"/>
          </p:nvPr>
        </p:nvSpPr>
        <p:spPr>
          <a:xfrm>
            <a:off x="457200" y="2863477"/>
            <a:ext cx="8229600" cy="3157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•"/>
            </a:pPr>
            <a:r>
              <a:rPr b="1" lang="fr-FR">
                <a:solidFill>
                  <a:srgbClr val="FF0000"/>
                </a:solidFill>
              </a:rPr>
              <a:t>oui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Il s’agit d’une hyperthyroïdie liée a l’augmentation de la synthèse et la sécrétion d’hormones thyroïdiennes suite a un apport brutal d'iode chez des patients ayant une pathologie thyroïdienne sous-jacente</a:t>
            </a:r>
            <a:endParaRPr/>
          </a:p>
          <a:p>
            <a:pPr indent="-88900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fr-FR"/>
              <a:t>Concernant les hyperthyroïdies par surcharge iodée</a:t>
            </a:r>
            <a:endParaRPr/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481262" y="1600200"/>
            <a:ext cx="820553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fr-FR" sz="2400">
                <a:solidFill>
                  <a:srgbClr val="00B0F0"/>
                </a:solidFill>
              </a:rPr>
              <a:t>Remarque 2: </a:t>
            </a:r>
            <a:r>
              <a:rPr lang="fr-FR" sz="2400"/>
              <a:t>La surcharge iodée peut également être responsable d’une </a:t>
            </a:r>
            <a:r>
              <a:rPr b="1" lang="fr-FR" sz="2400"/>
              <a:t>hypothyroïdie</a:t>
            </a:r>
            <a:r>
              <a:rPr lang="fr-FR" sz="2400"/>
              <a:t> par défaut d’échappement au phénomène de Wolff-Chaikoff</a:t>
            </a:r>
            <a:endParaRPr sz="2400"/>
          </a:p>
        </p:txBody>
      </p:sp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3281140"/>
            <a:ext cx="8136904" cy="324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Dysthyroïdies par surcharge iodée</a:t>
            </a:r>
            <a:endParaRPr/>
          </a:p>
        </p:txBody>
      </p:sp>
      <p:sp>
        <p:nvSpPr>
          <p:cNvPr id="211" name="Google Shape;211;p20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84784"/>
            <a:ext cx="9144000" cy="5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3707904" y="3573016"/>
            <a:ext cx="2592288" cy="64807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-Thyroïde dystrophique et hypervascularisée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-Zones de fixation au niveau des structures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actives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448872" y="3573016"/>
            <a:ext cx="2592288" cy="64807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-Glande hypoéchogène et homogène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-Scintigraphie est blanche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1835696" y="4797152"/>
            <a:ext cx="7205464" cy="720080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835696" y="4221088"/>
            <a:ext cx="7205464" cy="54260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799881" y="1916832"/>
            <a:ext cx="1908023" cy="2270794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020272" y="3284984"/>
            <a:ext cx="1330338" cy="220886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Dysthyroïdies par surcharge iodée</a:t>
            </a:r>
            <a:endParaRPr/>
          </a:p>
        </p:txBody>
      </p:sp>
      <p:sp>
        <p:nvSpPr>
          <p:cNvPr id="224" name="Google Shape;224;p21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84784"/>
            <a:ext cx="9144000" cy="5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3707904" y="3573016"/>
            <a:ext cx="2592288" cy="64807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-Thyroïde dystrophique et hypervascularisée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-Zones de fixation au niveau des structures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actives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6448872" y="3573016"/>
            <a:ext cx="2592288" cy="64807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-Glande hypoéchogène et homogène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-Scintigraphie est blanche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1835696" y="4797152"/>
            <a:ext cx="7205464" cy="720080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763988" y="4288234"/>
            <a:ext cx="2536204" cy="483108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ATS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6394044" y="4288234"/>
            <a:ext cx="2647116" cy="483108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-Corticoïdes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7020272" y="3284984"/>
            <a:ext cx="1330200" cy="220800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Dysthyroïdies par surcharge iodée</a:t>
            </a:r>
            <a:endParaRPr/>
          </a:p>
        </p:txBody>
      </p:sp>
      <p:sp>
        <p:nvSpPr>
          <p:cNvPr id="237" name="Google Shape;237;p22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84784"/>
            <a:ext cx="9144000" cy="5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3707904" y="3573016"/>
            <a:ext cx="2592288" cy="64807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-Thyroïde dystrophique et hypervascularisée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-Zones de fixation au niveau des structures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448872" y="3573016"/>
            <a:ext cx="2592288" cy="648072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-Glande hypoéchogène et homogène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-Scintigraphie est blanche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3763988" y="4288234"/>
            <a:ext cx="2536204" cy="483108"/>
          </a:xfrm>
          <a:prstGeom prst="rect">
            <a:avLst/>
          </a:prstGeom>
          <a:solidFill>
            <a:srgbClr val="DE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 txBox="1"/>
          <p:nvPr>
            <p:ph idx="1" type="body"/>
          </p:nvPr>
        </p:nvSpPr>
        <p:spPr>
          <a:xfrm>
            <a:off x="457200" y="1600200"/>
            <a:ext cx="832964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responsable de :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augmentation de la consommation d’oxygène </a:t>
            </a:r>
            <a:endParaRPr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hypersensibilité au système nerveux sympathique </a:t>
            </a:r>
            <a:endParaRPr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vasoconstriction </a:t>
            </a:r>
            <a:endParaRPr sz="1400"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 filtration glomérulaire</a:t>
            </a:r>
            <a:endParaRPr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Une stimulation de la lipolyse et de la lipogenèse au profit de cette dernière</a:t>
            </a:r>
            <a:endParaRPr/>
          </a:p>
          <a:p>
            <a:pPr indent="-1905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516636" rtl="0" algn="r">
              <a:spcBef>
                <a:spcPts val="1075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</a:t>
            </a:r>
            <a:endParaRPr/>
          </a:p>
          <a:p>
            <a:pPr indent="-342900" lvl="1" marL="516636" rtl="0" algn="r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 txBox="1"/>
          <p:nvPr>
            <p:ph idx="1" type="body"/>
          </p:nvPr>
        </p:nvSpPr>
        <p:spPr>
          <a:xfrm>
            <a:off x="457200" y="1600200"/>
            <a:ext cx="832964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responsable de :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augmentation de la consommation d’oxygène </a:t>
            </a:r>
            <a:endParaRPr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hypersensibilité au système nerveux sympathique </a:t>
            </a:r>
            <a:endParaRPr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vasoconstriction </a:t>
            </a:r>
            <a:endParaRPr sz="1400"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 filtration glomérulaire</a:t>
            </a:r>
            <a:endParaRPr/>
          </a:p>
          <a:p>
            <a:pPr indent="-342900" lvl="1" marL="516636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Une stimulation de la lipolyse et de la lipogenèse au profit de cette dernière</a:t>
            </a:r>
            <a:endParaRPr/>
          </a:p>
          <a:p>
            <a:pPr indent="-342900" lvl="1" marL="516636" rtl="0" algn="r">
              <a:spcBef>
                <a:spcPts val="1075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</a:t>
            </a:r>
            <a:endParaRPr/>
          </a:p>
          <a:p>
            <a:pPr indent="-342900" lvl="1" marL="516636" rtl="0" algn="r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système nerveux</a:t>
            </a:r>
            <a:endParaRPr/>
          </a:p>
        </p:txBody>
      </p:sp>
      <p:sp>
        <p:nvSpPr>
          <p:cNvPr id="259" name="Google Shape;25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Hypersensibilité au système nerveux sympathique </a:t>
            </a:r>
            <a:r>
              <a:rPr lang="fr-FR"/>
              <a:t>(au niveau de la paupière supérieure est a l’origine de signes oculaires : </a:t>
            </a:r>
            <a:endParaRPr/>
          </a:p>
          <a:p>
            <a:pPr indent="-514350" lvl="1" marL="914400" rtl="0" algn="l">
              <a:lnSpc>
                <a:spcPct val="15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fr-FR"/>
              <a:t>Rétraction de la paupière supérieure</a:t>
            </a:r>
            <a:endParaRPr/>
          </a:p>
          <a:p>
            <a:pPr indent="-514350" lvl="1" marL="914400" rtl="0" algn="l">
              <a:lnSpc>
                <a:spcPct val="15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fr-FR"/>
              <a:t>Asynergie oculopalpébrale (signe de von Graefe) où la paupière supérieure suit avec retard les mouvements du globe oculaire lors du regard vers le bas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5" name="Google Shape;265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i="1" lang="fr-FR" sz="4000"/>
              <a:t> </a:t>
            </a: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thyrotoxicose est évoquée devant :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teint caroténoïde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amaigrissement associé à une anorexie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rétraction de la paupière supérieure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syndrome du canal carpien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diminution de la force musculaire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1" name="Google Shape;271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i="1" lang="fr-FR" sz="4000"/>
              <a:t> </a:t>
            </a: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thyrotoxicose est évoquée devant :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teint caroténoïde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amaigrissement associé à une anorexie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rétraction de la paupière supérieure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syndrome du canal carpien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diminution de la force musculaire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Parmi les manifestations cliniques d’une hyperthyroïdie en dehors des complications: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fibrillation auriculaire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syndrome polyuro-polydipsique discret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Insuffisance cardiaque a prédominance droite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accès maniaque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Gynécomastie chez l’homme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endParaRPr/>
          </a:p>
          <a:p>
            <a:pPr indent="-514350" lvl="1" marL="9715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Parmi les manifestations cliniques d’une hyperthyroïdie en dehors des complications: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fibrillation auriculaire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syndrome polyuro-polydipsique discret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Insuffisance cardiaque a prédominance droite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accès maniaque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Gynécomastie chez l’homme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endParaRPr/>
          </a:p>
          <a:p>
            <a:pPr indent="-514350" lvl="1" marL="9715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fr-FR">
                <a:solidFill>
                  <a:srgbClr val="00B0F0"/>
                </a:solidFill>
              </a:rPr>
              <a:t>La dysrégulation thermique</a:t>
            </a:r>
            <a:endParaRPr/>
          </a:p>
        </p:txBody>
      </p:sp>
      <p:sp>
        <p:nvSpPr>
          <p:cNvPr id="290" name="Google Shape;290;p30"/>
          <p:cNvSpPr txBox="1"/>
          <p:nvPr>
            <p:ph idx="1" type="body"/>
          </p:nvPr>
        </p:nvSpPr>
        <p:spPr>
          <a:xfrm>
            <a:off x="457200" y="1340768"/>
            <a:ext cx="8229600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/>
              <a:t>Expliquée par l’</a:t>
            </a:r>
            <a:r>
              <a:rPr b="1" lang="fr-FR" sz="2800"/>
              <a:t>augmentation du métabolisme de base</a:t>
            </a:r>
            <a:r>
              <a:rPr lang="fr-FR" sz="2800"/>
              <a:t> (🡪 Production de chaleur) et par la </a:t>
            </a:r>
            <a:r>
              <a:rPr b="1" lang="fr-FR" sz="2800"/>
              <a:t>vasodilatation périphérique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291" name="Google Shape;291;p30"/>
          <p:cNvSpPr/>
          <p:nvPr/>
        </p:nvSpPr>
        <p:spPr>
          <a:xfrm>
            <a:off x="2915816" y="4149080"/>
            <a:ext cx="5688632" cy="237626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Se traduit par: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Thermophobie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Hypersudation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Discrète élévation thermique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Polydipsie</a:t>
            </a:r>
            <a:endParaRPr/>
          </a:p>
        </p:txBody>
      </p:sp>
      <p:pic>
        <p:nvPicPr>
          <p:cNvPr descr="http://www.esl-library.com/images/flashcards/colored/sm/hot-CT.png" id="292" name="Google Shape;29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590" y="2953469"/>
            <a:ext cx="2381250" cy="2491755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pic>
      <p:sp>
        <p:nvSpPr>
          <p:cNvPr id="293" name="Google Shape;293;p30"/>
          <p:cNvSpPr/>
          <p:nvPr/>
        </p:nvSpPr>
        <p:spPr>
          <a:xfrm>
            <a:off x="3356534" y="3121804"/>
            <a:ext cx="4743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Fréquente </a:t>
            </a:r>
            <a:r>
              <a:rPr lang="fr-FR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(≈50 à 90% des cas)</a:t>
            </a:r>
            <a:r>
              <a:rPr b="1" lang="fr-FR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312821" y="1323474"/>
            <a:ext cx="8507651" cy="138544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3275856" y="2996952"/>
            <a:ext cx="4973538" cy="936104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fr-FR">
                <a:solidFill>
                  <a:srgbClr val="00B0F0"/>
                </a:solidFill>
              </a:rPr>
              <a:t>Hyperthyroïdie et SPPD</a:t>
            </a:r>
            <a:endParaRPr/>
          </a:p>
        </p:txBody>
      </p:sp>
      <p:sp>
        <p:nvSpPr>
          <p:cNvPr id="302" name="Google Shape;302;p31"/>
          <p:cNvSpPr txBox="1"/>
          <p:nvPr>
            <p:ph idx="1" type="body"/>
          </p:nvPr>
        </p:nvSpPr>
        <p:spPr>
          <a:xfrm>
            <a:off x="457200" y="1340768"/>
            <a:ext cx="8229600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Syndrome polyuro-polydipsique discret 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conséquence de l'augmentation de la production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de chaleur et de l’hyperfiltration glomérulaire</a:t>
            </a:r>
            <a:endParaRPr b="1"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303" name="Google Shape;303;p31"/>
          <p:cNvSpPr/>
          <p:nvPr/>
        </p:nvSpPr>
        <p:spPr>
          <a:xfrm>
            <a:off x="323528" y="1340768"/>
            <a:ext cx="8363272" cy="2231108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5816" y="3717032"/>
            <a:ext cx="287655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0" name="Google Shape;310;p32"/>
          <p:cNvSpPr txBox="1"/>
          <p:nvPr>
            <p:ph idx="1" type="body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évoquée devant: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élargissement de la pression artérielle différentielle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pseudo-hypertrophie musculaire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signe du tabouret positif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prurit généralisé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Des paresthésies des extrémités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6" name="Google Shape;316;p33"/>
          <p:cNvSpPr txBox="1"/>
          <p:nvPr>
            <p:ph idx="1" type="body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évoquée devant: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élargissement de la pression artérielle différentielle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pseudo-hypertrophie musculaire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signe du tabouret positif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prurit généralisé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Des paresthésies des extrémités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Signes musculaires</a:t>
            </a:r>
            <a:endParaRPr/>
          </a:p>
        </p:txBody>
      </p:sp>
      <p:sp>
        <p:nvSpPr>
          <p:cNvPr id="323" name="Google Shape;323;p34"/>
          <p:cNvSpPr/>
          <p:nvPr/>
        </p:nvSpPr>
        <p:spPr>
          <a:xfrm>
            <a:off x="452869" y="1529408"/>
            <a:ext cx="6768752" cy="532859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Expliqués par l’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hypercatabolisme protidique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 aux hormones thyroïdiennes en excès</a:t>
            </a:r>
            <a:endParaRPr/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traduit par:</a:t>
            </a:r>
            <a:endParaRPr/>
          </a:p>
          <a:p>
            <a:pPr indent="-279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Fatigabilité et </a:t>
            </a: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faiblesse musculaire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Amyotrophie</a:t>
            </a: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prédominant au niveau des </a:t>
            </a: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racines des membres et des ceintures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Signe du tabouret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travail.gc.ca/fra/sante_securite/pubs_ss/images/squatting.jpg" id="324" name="Google Shape;32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4168" y="548680"/>
            <a:ext cx="2390939" cy="2610109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pic>
      <p:sp>
        <p:nvSpPr>
          <p:cNvPr id="325" name="Google Shape;325;p34"/>
          <p:cNvSpPr txBox="1"/>
          <p:nvPr/>
        </p:nvSpPr>
        <p:spPr>
          <a:xfrm>
            <a:off x="7221621" y="3140968"/>
            <a:ext cx="152684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Signe du tabouret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idx="1" type="body"/>
          </p:nvPr>
        </p:nvSpPr>
        <p:spPr>
          <a:xfrm>
            <a:off x="539552" y="1553753"/>
            <a:ext cx="8352928" cy="3643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 syndrome de thyrotoxicose comporte: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diarrhée motrice 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exophtalmie bilatérale 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nervosité excessive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 myxœdème prétibial 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Des réflexes ostéotendineux vifs</a:t>
            </a:r>
            <a:endParaRPr/>
          </a:p>
          <a:p>
            <a:pPr indent="-793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3" lvl="0" marL="385763" rtl="0" algn="l">
              <a:spcBef>
                <a:spcPts val="1086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182563" lvl="0" marL="385763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idx="1" type="body"/>
          </p:nvPr>
        </p:nvSpPr>
        <p:spPr>
          <a:xfrm>
            <a:off x="539552" y="1553753"/>
            <a:ext cx="8352928" cy="3643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 syndrome de thyrotoxicose comporte: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diarrhée motrice 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exophtalmie bilatérale 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Une nervosité excessive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Un myxœdème prétibial </a:t>
            </a:r>
            <a:endParaRPr/>
          </a:p>
          <a:p>
            <a:pPr indent="-257175" lvl="3" marL="981837" rtl="0" algn="l">
              <a:spcBef>
                <a:spcPts val="100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Des réflexes ostéotendineux vifs</a:t>
            </a:r>
            <a:endParaRPr/>
          </a:p>
          <a:p>
            <a:pPr indent="-182563" lvl="0" marL="385763" rtl="0" algn="l">
              <a:spcBef>
                <a:spcPts val="1086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182563" lvl="0" marL="385763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8" name="Google Shape;338;p36"/>
          <p:cNvSpPr/>
          <p:nvPr/>
        </p:nvSpPr>
        <p:spPr>
          <a:xfrm>
            <a:off x="5940152" y="5877272"/>
            <a:ext cx="2736305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ACE </a:t>
            </a:r>
            <a:endParaRPr sz="33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4" name="Google Shape;344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 bilan biologique au cours d’une hyperthyroïdie peut montrer: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anémie microcytaire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hypercholestérolémie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leuco-neutropénie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hypercalcémie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hyponatrémie</a:t>
            </a:r>
            <a:endParaRPr/>
          </a:p>
          <a:p>
            <a:pPr indent="-514350" lvl="2" marL="1314450" rtl="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0" name="Google Shape;350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 bilan biologique au cours d’une hyperthyroïdie peut montrer: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anémie microcytaire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hypercholestérolémie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leuco-neutropénie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hypercalcémie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hyponatrémie</a:t>
            </a:r>
            <a:endParaRPr/>
          </a:p>
          <a:p>
            <a:pPr indent="-514350" lvl="2" marL="13144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6" name="Google Shape;356;p39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Parmi les perturbations non spécifiques pouvant révéler une hyperthyroïdie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élévation des phosphatases alcalines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hyperleucocytose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hyperglycémie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Hypertriglycéridémie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élévation des enzymes musculaires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2" name="Google Shape;362;p40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Parmi les perturbations non spécifiques pouvant révéler une hyperthyroïdie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élévation des phosphatases alcalines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hyperleucocytose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hyperglycémie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Hypertriglycéridémie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élévation des enzymes musculaires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8" name="Google Shape;368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fr-FR" sz="3000">
                <a:latin typeface="Times New Roman"/>
                <a:ea typeface="Times New Roman"/>
                <a:cs typeface="Times New Roman"/>
                <a:sym typeface="Times New Roman"/>
              </a:rPr>
              <a:t>Le bilan demandé de première intention devant une suspicion d’une hyperthyroïdie est: 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FT4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TSH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FT4-TSH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FT3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Thyroglobuline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fr-FR">
                <a:solidFill>
                  <a:schemeClr val="lt1"/>
                </a:solidFill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4" name="Google Shape;374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fr-FR" sz="3000">
                <a:latin typeface="Times New Roman"/>
                <a:ea typeface="Times New Roman"/>
                <a:cs typeface="Times New Roman"/>
                <a:sym typeface="Times New Roman"/>
              </a:rPr>
              <a:t>Le bilan demandé de première intention devant une suspicion d’une hyperthyroïdie est: 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FT4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TSH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FT4-TSH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FT3</a:t>
            </a:r>
            <a:endParaRPr/>
          </a:p>
          <a:p>
            <a:pPr indent="-5143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lphaUcPeriod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Thyroglobuline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0" name="Google Shape;380;p43"/>
          <p:cNvSpPr txBox="1"/>
          <p:nvPr>
            <p:ph idx="1" type="body"/>
          </p:nvPr>
        </p:nvSpPr>
        <p:spPr>
          <a:xfrm>
            <a:off x="457200" y="1600200"/>
            <a:ext cx="832964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 sz="3000">
                <a:latin typeface="Times New Roman"/>
                <a:ea typeface="Times New Roman"/>
                <a:cs typeface="Times New Roman"/>
                <a:sym typeface="Times New Roman"/>
              </a:rPr>
              <a:t>Une baisse de la TSH peut être constatée indépendamment de toute maladie thyroïdienne: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en mauvais état général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Lors du troisième trimestre de la grossesse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traités par analogues de la somatostatine 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Lors d’une corticothérapie prolongée  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Lors d’un traitement par diurétique  </a:t>
            </a:r>
            <a:endParaRPr/>
          </a:p>
          <a:p>
            <a:pPr indent="-457200" lvl="1" marL="914400" rtl="0" algn="r">
              <a:spcBef>
                <a:spcPts val="444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  <a:p>
            <a:pPr indent="-339725" lvl="1" marL="9144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r">
              <a:spcBef>
                <a:spcPts val="61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fr-FR" sz="3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6" name="Google Shape;386;p44"/>
          <p:cNvSpPr txBox="1"/>
          <p:nvPr>
            <p:ph idx="1" type="body"/>
          </p:nvPr>
        </p:nvSpPr>
        <p:spPr>
          <a:xfrm>
            <a:off x="457200" y="1600200"/>
            <a:ext cx="832964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 sz="3000">
                <a:latin typeface="Times New Roman"/>
                <a:ea typeface="Times New Roman"/>
                <a:cs typeface="Times New Roman"/>
                <a:sym typeface="Times New Roman"/>
              </a:rPr>
              <a:t>Une baisse de la TSH peut être constatée indépendamment de toute maladie thyroïdienne: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en mauvais état général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Lors du troisième trimestre de la grossesse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traités par analogues de la somatostatine 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Lors d’une corticothérapie prolongée  </a:t>
            </a:r>
            <a:endParaRPr/>
          </a:p>
          <a:p>
            <a:pPr indent="-45720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Lors d’un traitement par diurétique </a:t>
            </a:r>
            <a:endParaRPr/>
          </a:p>
          <a:p>
            <a:pPr indent="-457200" lvl="1" marL="914400" rtl="0" algn="r">
              <a:spcBef>
                <a:spcPts val="444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  <a:p>
            <a:pPr indent="-339725" lvl="1" marL="9144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r">
              <a:spcBef>
                <a:spcPts val="61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fr-FR" sz="3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</a:t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3" name="Google Shape;39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baisse de la TSH isolée avec FT4 normale peut être constatée: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traités par dopaminergiques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En cas d’ hyperthyroïdie sub-clinique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En cas d’ hypothyroïdie centrale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En cas d’ hyperthyroïdie centrale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hospitalisés en unité de soins intensifs</a:t>
            </a:r>
            <a:endParaRPr/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518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endParaRPr/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9" name="Google Shape;399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baisse de la TSH isolée avec FT4 normale peut être constatée: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traités par dopaminergiques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En cas d’ hyperthyroïdie sub-clinique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En cas d’ hypothyroïdie centrale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En cas d’ hyperthyroïdie centrale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Chez les patients hospitalisés en unité de soins intensifs</a:t>
            </a:r>
            <a:endParaRPr/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ABE</a:t>
            </a:r>
            <a:endParaRPr/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885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1" lang="fr-FR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 baisse de la TSH peut être constatée indépendamment de toute maladie thyroïdienne:</a:t>
            </a:r>
            <a:endParaRPr b="1" sz="3600">
              <a:solidFill>
                <a:schemeClr val="dk2"/>
              </a:solidFill>
            </a:endParaRPr>
          </a:p>
        </p:txBody>
      </p:sp>
      <p:sp>
        <p:nvSpPr>
          <p:cNvPr id="405" name="Google Shape;405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Lors des premiers et deuxièmes trimestres de la grossesse, en raison de l’ activité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thyreostimulante de l’hormonechorionique placentaire (hCG).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Chez les patients en mauvais état général souvent hospitalisés en unité de soins intensifs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Chez les patients traites par </a:t>
            </a:r>
            <a:r>
              <a:rPr b="1" i="0" lang="fr-FR" sz="2800" u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corticoïdes</a:t>
            </a:r>
            <a:r>
              <a:rPr b="0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fr-FR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dopaminergiques, analogues de la somatostatine ou bromocriptine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57200" y="1600200"/>
            <a:ext cx="843528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Parmi les complications de l’ hyperthyroïdie, on peut citer: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Bloc auriculoventriculaire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Décompensation d’une insuffisance coronaire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Syndrome cérébelleux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Paralysie périodique thyrotoxique hypokaliémique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Ostéoporose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BDE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457200" y="1600200"/>
            <a:ext cx="843528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Parmi les complications de l’ hyperthyroïdie, on peut citer: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Bloc auriculoventriculaire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Décompensation d’une insuffisance coronaire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Syndrome cérébelleux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Paralysie périodique thyrotoxique hypokaliémique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Ostéoporose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BDE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6" name="Google Shape;426;p50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hyperthyroïdie non traitée peut se compliquer de :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Insuffisance cardiaque avec débit cardiaque altéré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Crise aiguë thyrotoxique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Délire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syndrome d’apnées du sommeil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Fracture osseuse 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hyperthyroïdie non traitée peut se compliquer de :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Insuffisance cardiaque avec débit cardiaque altéré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Crise aiguë thyrotoxique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Délire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syndrome d’apnées du sommeil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Fracture osseuse 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La cardiothyréose</a:t>
            </a:r>
            <a:endParaRPr/>
          </a:p>
        </p:txBody>
      </p:sp>
      <p:sp>
        <p:nvSpPr>
          <p:cNvPr id="439" name="Google Shape;439;p52"/>
          <p:cNvSpPr txBox="1"/>
          <p:nvPr>
            <p:ph idx="1" type="body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Elle peut être grave et révélatrice de la maladie. Elle touche surtout les sujets âgés ou ayant une cardiopathie antérieure. Elle peut se manifester par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fr-FR" sz="2400"/>
              <a:t>1. Troubles du rythme cardiaque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fr-FR" sz="1800"/>
              <a:t>Troubles du rythme supra-ventriculaires a type de </a:t>
            </a:r>
            <a:r>
              <a:rPr b="1" lang="fr-FR" sz="1800">
                <a:solidFill>
                  <a:schemeClr val="dk2"/>
                </a:solidFill>
              </a:rPr>
              <a:t>fibrillation auriculaire </a:t>
            </a:r>
            <a:r>
              <a:rPr lang="fr-FR" sz="1800"/>
              <a:t>(FA), plus rarement </a:t>
            </a:r>
            <a:r>
              <a:rPr b="1" lang="fr-FR" sz="1800">
                <a:solidFill>
                  <a:schemeClr val="dk2"/>
                </a:solidFill>
              </a:rPr>
              <a:t>flutter ou tachycardie atriale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fr-FR" sz="2400"/>
              <a:t>2. Insuffisance cardiaque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fr-FR" sz="1800"/>
              <a:t>Peut être a prédominance </a:t>
            </a:r>
            <a:r>
              <a:rPr b="1" lang="fr-FR" sz="1800">
                <a:solidFill>
                  <a:schemeClr val="dk2"/>
                </a:solidFill>
              </a:rPr>
              <a:t>droite </a:t>
            </a:r>
            <a:r>
              <a:rPr lang="fr-FR" sz="1800"/>
              <a:t>avec débit cardiaque </a:t>
            </a:r>
            <a:r>
              <a:rPr b="1" lang="fr-FR" sz="1800">
                <a:solidFill>
                  <a:schemeClr val="dk2"/>
                </a:solidFill>
              </a:rPr>
              <a:t>élevé ou normal</a:t>
            </a:r>
            <a:r>
              <a:rPr lang="fr-FR" sz="1800"/>
              <a:t>, ou d’ emblée globale évoquée devant des œdèmes, hépatomégalie ou reflux hépato-jugulaire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fr-FR" sz="2400"/>
              <a:t>3. Décompensation d’une insuffisance coronaire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b="1" lang="fr-FR" sz="1800">
                <a:solidFill>
                  <a:schemeClr val="dk2"/>
                </a:solidFill>
              </a:rPr>
              <a:t>L’ hyperthyroïdie ne crée pas la maladie </a:t>
            </a:r>
            <a:r>
              <a:rPr lang="fr-FR" sz="1800"/>
              <a:t>mais peut l'aggraver du fait de l'augmentation du débit cardiaque et des besoins en oxygène du myocarde</a:t>
            </a:r>
            <a:r>
              <a:rPr lang="fr-FR" sz="1600"/>
              <a:t>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5" name="Google Shape;445;p53"/>
          <p:cNvSpPr txBox="1"/>
          <p:nvPr>
            <p:ph idx="1" type="body"/>
          </p:nvPr>
        </p:nvSpPr>
        <p:spPr>
          <a:xfrm>
            <a:off x="251520" y="1600200"/>
            <a:ext cx="8686800" cy="4900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La Crise aiguë thyrotoxique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Est d’installation insidieuse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survenir à tout âge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mettre en jeu le pronostic vital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se voir après thyroïdectomie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être déclenchée par la mise sous antithyroïdiens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CD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1" name="Google Shape;451;p54"/>
          <p:cNvSpPr txBox="1"/>
          <p:nvPr>
            <p:ph idx="1" type="body"/>
          </p:nvPr>
        </p:nvSpPr>
        <p:spPr>
          <a:xfrm>
            <a:off x="251520" y="1600200"/>
            <a:ext cx="8686800" cy="4900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La Crise aiguë thyrotoxique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Est d’installation insidieuse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survenir à tout âge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mettre en jeu le pronostic vital 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se voir après thyroïdectomie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être déclenchée par la mise sous antithyroïdiens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BCD</a:t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1" marL="9715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7" name="Google Shape;457;p55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crise aigüe thyrotoxique peut être déclenchée par 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A.	Le froid 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B.	L’ arrêt du traitement antithyroïdien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C.	La prise d’amiodarone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D.	Une angio-TDM des artères rénales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E.	La prise de tranquillisants 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ABCD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3" name="Google Shape;463;p56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crise aigüe thyrotoxique peut être déclenchée par 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A.	Le froid 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B.	L’ arrêt du traitement antithyroïdien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C.	La prise d’amiodarone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D.	Une angio-TDM des artères rénales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E.	La prise de tranquillisants 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9" name="Google Shape;469;p57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crise aigüe thyrotoxique peut être déclenchée par 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Cholécystectomie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Traitement par iode radioactif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Prise de bétabloquants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Infarctus de myocarde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Infection respiratoire 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ABDE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5" name="Google Shape;475;p58"/>
          <p:cNvSpPr txBox="1"/>
          <p:nvPr>
            <p:ph idx="1" type="body"/>
          </p:nvPr>
        </p:nvSpPr>
        <p:spPr>
          <a:xfrm>
            <a:off x="457200" y="1600200"/>
            <a:ext cx="8229600" cy="4829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crise aigüe thyrotoxique peut être déclenchée par 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Cholécystectomie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Traitement par iode radioactif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Prise de bétabloquants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Infarctus de myocarde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Infection respiratoire 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ABDE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Crise aigüe thyrotoxique</a:t>
            </a:r>
            <a:endParaRPr/>
          </a:p>
        </p:txBody>
      </p:sp>
      <p:sp>
        <p:nvSpPr>
          <p:cNvPr id="481" name="Google Shape;481;p59"/>
          <p:cNvSpPr txBox="1"/>
          <p:nvPr>
            <p:ph idx="1" type="body"/>
          </p:nvPr>
        </p:nvSpPr>
        <p:spPr>
          <a:xfrm>
            <a:off x="251520" y="1542182"/>
            <a:ext cx="9433048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Complication exceptionnelle mais grave de l’ hyperthyroïdie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/>
              <a:t>Elle peut se voir après: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Thyroïdectomie en l’absence de préparation médicale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Hyperthyroïdie sévère et non traitée.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Infection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Chirurgie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Accident cardiovasculaire aigu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Retrait du traitement antithyroïdien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fr-FR" sz="2000"/>
              <a:t>Prise d’iode : administration de produit de contraste iode ou traitement par l’amiodarone (phase d’ échappement), phase précoce du traitement par iode radioactif…).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7" name="Google Shape;487;p60"/>
          <p:cNvSpPr txBox="1"/>
          <p:nvPr>
            <p:ph idx="1" type="body"/>
          </p:nvPr>
        </p:nvSpPr>
        <p:spPr>
          <a:xfrm>
            <a:off x="457200" y="1600200"/>
            <a:ext cx="8229600" cy="4972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crise aigüe thyrotoxique se traduit par: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Hyperthermie majeure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Déshydratation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Une hyponatrémie sévère (&lt; 120 mmol/l),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Vomissements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Hypercapnie</a:t>
            </a:r>
            <a:endParaRPr/>
          </a:p>
          <a:p>
            <a:pPr indent="-3111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2" marL="131445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3" name="Google Shape;493;p61"/>
          <p:cNvSpPr txBox="1"/>
          <p:nvPr>
            <p:ph idx="1" type="body"/>
          </p:nvPr>
        </p:nvSpPr>
        <p:spPr>
          <a:xfrm>
            <a:off x="457200" y="1600200"/>
            <a:ext cx="8229600" cy="4972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Une crise aigüe thyrotoxique se traduit par: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Hyperthermie majeure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Déshydratation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Une hyponatrémie sévère (&lt; 120 mmol/l),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Vomissements</a:t>
            </a:r>
            <a:endParaRPr/>
          </a:p>
          <a:p>
            <a:pPr indent="-5143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UcPeriod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Hypercapnie</a:t>
            </a:r>
            <a:endParaRPr/>
          </a:p>
          <a:p>
            <a:pPr indent="-31115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2" marL="131445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2"/>
          <p:cNvSpPr/>
          <p:nvPr/>
        </p:nvSpPr>
        <p:spPr>
          <a:xfrm>
            <a:off x="571500" y="928688"/>
            <a:ext cx="8072438" cy="5565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Devant une hyperthyroïdie, les signes en faveur de la maladie de Basedow sont :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Le caractère homogène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Le caractère ferme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La présence d’un œdème palpébral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La présence d’une rétraction de la paupière supérieure 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La présence d’anticorps anti récepteurs de la TSH    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 type stimulant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3"/>
          <p:cNvSpPr/>
          <p:nvPr/>
        </p:nvSpPr>
        <p:spPr>
          <a:xfrm>
            <a:off x="571500" y="928688"/>
            <a:ext cx="8072438" cy="5565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Devant une hyperthyroïdie, les signes en faveur de la maladie de Basedow sont :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Le caractère homogène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Le caractère ferme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La présence d’un œdème palpébral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La présence d’une rétraction de la paupière supérieure 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La présence d’anticorps anti récepteurs de la TSH    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 type stimulant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4"/>
          <p:cNvSpPr/>
          <p:nvPr/>
        </p:nvSpPr>
        <p:spPr>
          <a:xfrm>
            <a:off x="571500" y="928688"/>
            <a:ext cx="8072438" cy="5011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éléments qui évoquent une maladie de Basedow devant une hyperthyroïdie sont :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Le caractère douloureux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Le caractère hypervasculaire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le sexe féminin 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Asynergie oculopalpébrale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La présence d’un myxœdème prétibial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5"/>
          <p:cNvSpPr/>
          <p:nvPr/>
        </p:nvSpPr>
        <p:spPr>
          <a:xfrm>
            <a:off x="571500" y="928688"/>
            <a:ext cx="8072438" cy="5011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éléments qui évoquent une maladie de Basedow devant une hyperthyroïdie sont :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Le caractère douloureux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Le caractère hypervasculaire du goitre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le sexe féminin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Asynergie oculopalpébrale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La présence d’un myxœdème prétibial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BCE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Le goitre au cours de la maladie de basedow</a:t>
            </a:r>
            <a:endParaRPr/>
          </a:p>
        </p:txBody>
      </p:sp>
      <p:sp>
        <p:nvSpPr>
          <p:cNvPr id="519" name="Google Shape;519;p66"/>
          <p:cNvSpPr txBox="1"/>
          <p:nvPr>
            <p:ph idx="1" type="body"/>
          </p:nvPr>
        </p:nvSpPr>
        <p:spPr>
          <a:xfrm>
            <a:off x="611560" y="1772816"/>
            <a:ext cx="8229600" cy="4669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D'importance variable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Diffus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Symétrique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Homogène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Elastique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vasculaire (présence d’un thrill a la palpation et d'un souffle a l'auscultation de la thyroïde)</a:t>
            </a:r>
            <a:endParaRPr/>
          </a:p>
        </p:txBody>
      </p:sp>
      <p:pic>
        <p:nvPicPr>
          <p:cNvPr id="520" name="Google Shape;52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6416" y="1381894"/>
            <a:ext cx="2712955" cy="2481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 </a:t>
            </a:r>
            <a:endParaRPr/>
          </a:p>
        </p:txBody>
      </p:sp>
      <p:sp>
        <p:nvSpPr>
          <p:cNvPr id="526" name="Google Shape;526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Au cours de la maladie de Basedow l’exophtalmie: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b="0" i="0" lang="fr-FR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Est spécifique de la maladie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constante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sans relation avec le degré de thyrotoxicose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Est corrélée au taux des anticorps anti-récepteurs de la TSH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fr-FR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eut précéder la thyrotoxicose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Au cours de la maladie de Basedow l’exophtalmie: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b="0" i="0" lang="fr-FR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Est spécifique de la maladie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constante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Est sans relation avec le degré de thyrotoxicose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Est corrélée au taux des anticorps anti-récepteurs de la TSH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b="0" i="0" lang="fr-FR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Peut précéder la thyrotoxicose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</a:t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7" name="Google Shape;537;p69"/>
          <p:cNvSpPr txBox="1"/>
          <p:nvPr>
            <p:ph idx="1" type="body"/>
          </p:nvPr>
        </p:nvSpPr>
        <p:spPr>
          <a:xfrm>
            <a:off x="457200" y="1600200"/>
            <a:ext cx="8229600" cy="48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Lors de la maladie de Basedow, l’exophtalmie peut être aggravée par 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le tabac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l’iode radioactif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L’arrêt des antithyroïdiens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corticothérapie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passage rapide en hypothyroïdie</a:t>
            </a:r>
            <a:endParaRPr/>
          </a:p>
          <a:p>
            <a:pPr indent="0" lvl="1" marL="400050" rtl="0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ABE</a:t>
            </a:r>
            <a:endParaRPr/>
          </a:p>
          <a:p>
            <a:pPr indent="-190500" lvl="1" marL="74295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3" name="Google Shape;543;p70"/>
          <p:cNvSpPr txBox="1"/>
          <p:nvPr>
            <p:ph idx="1" type="body"/>
          </p:nvPr>
        </p:nvSpPr>
        <p:spPr>
          <a:xfrm>
            <a:off x="457200" y="1600200"/>
            <a:ext cx="8229600" cy="48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Lors de la maladie de Basedow, l’exophtalmie peut être aggravée par 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le tabac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l’iode radioactif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L’arrêt des antithyroïdiens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Une corticothérapie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4295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Un passage rapide en hypothyroïdie</a:t>
            </a:r>
            <a:endParaRPr/>
          </a:p>
          <a:p>
            <a:pPr indent="0" lvl="1" marL="400050" rtl="0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ABE</a:t>
            </a:r>
            <a:endParaRPr/>
          </a:p>
          <a:p>
            <a:pPr indent="-190500" lvl="1" marL="74295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1"/>
          <p:cNvSpPr txBox="1"/>
          <p:nvPr>
            <p:ph type="title"/>
          </p:nvPr>
        </p:nvSpPr>
        <p:spPr>
          <a:xfrm>
            <a:off x="457200" y="12058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Calibri"/>
              <a:buNone/>
            </a:pPr>
            <a:r>
              <a:rPr b="1" lang="fr-FR" sz="28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Une chirurgie thyroïdienne non préparée peut-elle aggraver une exophtalmie basedowienne</a:t>
            </a:r>
            <a:endParaRPr b="1" sz="6000">
              <a:solidFill>
                <a:srgbClr val="17365D"/>
              </a:solidFill>
            </a:endParaRPr>
          </a:p>
        </p:txBody>
      </p:sp>
      <p:sp>
        <p:nvSpPr>
          <p:cNvPr id="549" name="Google Shape;549;p71"/>
          <p:cNvSpPr txBox="1"/>
          <p:nvPr>
            <p:ph idx="1" type="body"/>
          </p:nvPr>
        </p:nvSpPr>
        <p:spPr>
          <a:xfrm>
            <a:off x="457200" y="2996952"/>
            <a:ext cx="8229600" cy="312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•"/>
            </a:pPr>
            <a:r>
              <a:rPr lang="fr-FR">
                <a:solidFill>
                  <a:srgbClr val="FF0000"/>
                </a:solidFill>
              </a:rPr>
              <a:t>Oui: </a:t>
            </a: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passage rapide en hypothyroïdie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2"/>
          <p:cNvSpPr txBox="1"/>
          <p:nvPr>
            <p:ph type="title"/>
          </p:nvPr>
        </p:nvSpPr>
        <p:spPr>
          <a:xfrm>
            <a:off x="457200" y="11338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Calibri"/>
              <a:buNone/>
            </a:pPr>
            <a:r>
              <a:rPr b="1" lang="fr-FR" sz="2400">
                <a:solidFill>
                  <a:srgbClr val="17365D"/>
                </a:solidFill>
              </a:rPr>
              <a:t>Est-ce que chaque médicament contenant l’iode est facteur aggravant de l’orbitopathie basedowienne ou c’est juste l’iode radioactif ?</a:t>
            </a:r>
            <a:endParaRPr/>
          </a:p>
        </p:txBody>
      </p:sp>
      <p:sp>
        <p:nvSpPr>
          <p:cNvPr id="555" name="Google Shape;555;p72"/>
          <p:cNvSpPr txBox="1"/>
          <p:nvPr>
            <p:ph idx="1" type="body"/>
          </p:nvPr>
        </p:nvSpPr>
        <p:spPr>
          <a:xfrm>
            <a:off x="457200" y="2852936"/>
            <a:ext cx="8229600" cy="3273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62" name="Google Shape;562;p73"/>
          <p:cNvSpPr txBox="1"/>
          <p:nvPr>
            <p:ph idx="1" type="body"/>
          </p:nvPr>
        </p:nvSpPr>
        <p:spPr>
          <a:xfrm>
            <a:off x="457200" y="1600200"/>
            <a:ext cx="8507288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Concernant l’ ophtalmopathie Basedowienne: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Est souvent symétrique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Est irréductible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Relève d’un mécanisme auto-immun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être responsable d’une paralysie complète d'un muscle oculomoteur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se manifester par une photophobie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68" name="Google Shape;568;p74"/>
          <p:cNvSpPr txBox="1"/>
          <p:nvPr>
            <p:ph idx="1" type="body"/>
          </p:nvPr>
        </p:nvSpPr>
        <p:spPr>
          <a:xfrm>
            <a:off x="457200" y="1600200"/>
            <a:ext cx="8507288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Concernant l’ ophtalmopathie Basedowienne: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Est souvent symétrique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Est irréductible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Relève d’un mécanisme auto-immun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être responsable d’une paralysie complète d'un muscle oculomoteur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Peut se manifester par une photophobie</a:t>
            </a:r>
            <a:endParaRPr/>
          </a:p>
          <a:p>
            <a:pPr indent="0" lvl="1" marL="4000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CDE</a:t>
            </a:r>
            <a:endParaRPr/>
          </a:p>
        </p:txBody>
      </p:sp>
      <p:grpSp>
        <p:nvGrpSpPr>
          <p:cNvPr id="569" name="Google Shape;569;p74"/>
          <p:cNvGrpSpPr/>
          <p:nvPr/>
        </p:nvGrpSpPr>
        <p:grpSpPr>
          <a:xfrm>
            <a:off x="3059832" y="5253694"/>
            <a:ext cx="2376488" cy="1565275"/>
            <a:chOff x="1519" y="3334"/>
            <a:chExt cx="1497" cy="986"/>
          </a:xfrm>
        </p:grpSpPr>
        <p:pic>
          <p:nvPicPr>
            <p:cNvPr descr="BASEDOW" id="570" name="Google Shape;570;p74"/>
            <p:cNvPicPr preferRelativeResize="0"/>
            <p:nvPr/>
          </p:nvPicPr>
          <p:blipFill rotWithShape="1">
            <a:blip r:embed="rId3">
              <a:alphaModFix/>
            </a:blip>
            <a:srcRect b="0" l="0" r="51163" t="65470"/>
            <a:stretch/>
          </p:blipFill>
          <p:spPr>
            <a:xfrm>
              <a:off x="1623" y="3334"/>
              <a:ext cx="1315" cy="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1" name="Google Shape;571;p74"/>
            <p:cNvSpPr/>
            <p:nvPr/>
          </p:nvSpPr>
          <p:spPr>
            <a:xfrm>
              <a:off x="1519" y="3884"/>
              <a:ext cx="1497" cy="43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7" name="Google Shape;577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i="0" lang="fr-F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 scintigraphie thyroïdienne est indiquée en cas de :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A- Exophtalmie avec TSH freinée 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B- Goitre homogène avec TSH élevée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C- Nodule thyroïdien avec TSH freinée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D- Goitre avec TSH normale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E- Traitement par </a:t>
            </a: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amiodarone avec TSH freinée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1066800" rtl="0" algn="r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None/>
            </a:pPr>
            <a:r>
              <a:rPr b="1" i="0" lang="fr-FR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83" name="Google Shape;583;p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i="0" lang="fr-FR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 scintigraphie thyroïdienne est indiquée en cas de :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A- Exophtalmie avec TSH freinée 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B- Goitre homogène avec TSH élevée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C- Nodule thyroïdien avec TSH freinée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D- Goitre avec TSH normale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rPr b="0" i="0" lang="fr-FR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E- Traitement par amiodarone avec TSH freinée</a:t>
            </a:r>
            <a:endParaRPr/>
          </a:p>
          <a:p>
            <a:pPr indent="0" lvl="1" marL="666750" rtl="0" algn="just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1066800" rtl="0" algn="r"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None/>
            </a:pPr>
            <a:r>
              <a:rPr b="1" i="0" lang="fr-FR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90" name="Google Shape;590;p77"/>
          <p:cNvSpPr txBox="1"/>
          <p:nvPr>
            <p:ph idx="1" type="body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associée a une scintigraphie blanche peut se voir en cas de </a:t>
            </a:r>
            <a:r>
              <a:rPr b="1" lang="fr-FR"/>
              <a:t>: </a:t>
            </a:r>
            <a:endParaRPr b="1">
              <a:solidFill>
                <a:srgbClr val="FF0000"/>
              </a:solidFill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Surcharge iodée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Maladie de basedow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Thyroïdite subaiguë de De-Quervain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Prise factice d’hormones thyroïdiennes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Hashitoxicose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0010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BCE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97" name="Google Shape;597;p78"/>
          <p:cNvSpPr txBox="1"/>
          <p:nvPr>
            <p:ph idx="1" type="body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Une hyperthyroïdie associée a une scintigraphie blanche peut se voir en cas de </a:t>
            </a:r>
            <a:r>
              <a:rPr b="1" lang="fr-FR"/>
              <a:t>: </a:t>
            </a:r>
            <a:endParaRPr b="1">
              <a:solidFill>
                <a:srgbClr val="FF0000"/>
              </a:solidFill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Surcharge iodée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Maladie de basedow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Thyroïdite subaiguë de De-Quervain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Prise factice d’hormones thyroïdiennes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Hashitoxicose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0010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ACD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598376"/>
            <a:ext cx="8080963" cy="5661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8" name="Google Shape;608;p80"/>
          <p:cNvGraphicFramePr/>
          <p:nvPr/>
        </p:nvGraphicFramePr>
        <p:xfrm>
          <a:off x="539552" y="2262835"/>
          <a:ext cx="3505200" cy="3186113"/>
        </p:xfrm>
        <a:graphic>
          <a:graphicData uri="http://schemas.openxmlformats.org/presentationml/2006/ole">
            <mc:AlternateContent>
              <mc:Choice Requires="v">
                <p:oleObj r:id="rId4" imgH="3186113" imgW="3505200" progId="CorelPhotoPaint.Image.8" spid="_x0000_s1">
                  <p:embed/>
                </p:oleObj>
              </mc:Choice>
              <mc:Fallback>
                <p:oleObj r:id="rId5" imgH="3186113" imgW="3505200" progId="CorelPhotoPaint.Image.8">
                  <p:embed/>
                  <p:pic>
                    <p:nvPicPr>
                      <p:cNvPr id="608" name="Google Shape;608;p8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9552" y="2262835"/>
                        <a:ext cx="3505200" cy="318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rotWithShape="0" algn="ctr" dir="18900000" dist="107763">
                          <a:schemeClr val="accent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Goitre multinodulaire basedowifié" id="609" name="Google Shape;609;p80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99250" y="1912791"/>
            <a:ext cx="32512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80"/>
          <p:cNvSpPr txBox="1"/>
          <p:nvPr/>
        </p:nvSpPr>
        <p:spPr>
          <a:xfrm>
            <a:off x="1619672" y="476672"/>
            <a:ext cx="586628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Thyroïdite de Hashimoto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Scintigraphie : souvent hétérogène, basse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16" name="Google Shape;616;p81"/>
          <p:cNvSpPr txBox="1"/>
          <p:nvPr>
            <p:ph idx="1" type="body"/>
          </p:nvPr>
        </p:nvSpPr>
        <p:spPr>
          <a:xfrm>
            <a:off x="457200" y="1600200"/>
            <a:ext cx="8229600" cy="4781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Devant une hyperthyroïdie, les éléments en faveur d’un adénome toxique :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Anticorps antithyroïdiens négatifs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Nodule thyroïdien douloureux à la palpation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Nodule extinctif à la Scintigraphie thyroïdienne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Thyroglobuline élevée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Vitesse de sédimentation augmentée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22" name="Google Shape;622;p82"/>
          <p:cNvSpPr txBox="1"/>
          <p:nvPr>
            <p:ph idx="1" type="body"/>
          </p:nvPr>
        </p:nvSpPr>
        <p:spPr>
          <a:xfrm>
            <a:off x="457200" y="1600200"/>
            <a:ext cx="8229600" cy="4781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Devant une hyperthyroïdie, les éléments en faveur d’un adénome toxique :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Anticorps antithyroïdiens négatifs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Nodule thyroïdien douloureux à la palpation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Nodule extinctif à la Scintigraphie thyroïdienne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Thyroglobuline élevée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Vitesse de sédimentation augmentée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28" name="Google Shape;628;p83"/>
          <p:cNvSpPr txBox="1"/>
          <p:nvPr>
            <p:ph idx="1" type="body"/>
          </p:nvPr>
        </p:nvSpPr>
        <p:spPr>
          <a:xfrm>
            <a:off x="457200" y="1600200"/>
            <a:ext cx="8229600" cy="4781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En cas d’ hyperthyroïdie, vous confirmez le diagnostic de goitre multi nodulaire toxique devant 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Hyperthyroïdie déclenchée par un apport massif d'iode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Absence d’exophtalmie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Plusieurs nodules chauds à la Scintigraphie thyroïdienne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multinodulaire à l'examen clinique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hyper vascularisé au doppler </a:t>
            </a:r>
            <a:endParaRPr/>
          </a:p>
          <a:p>
            <a:pPr indent="-1905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4" name="Google Shape;634;p84"/>
          <p:cNvSpPr txBox="1"/>
          <p:nvPr>
            <p:ph idx="1" type="body"/>
          </p:nvPr>
        </p:nvSpPr>
        <p:spPr>
          <a:xfrm>
            <a:off x="457200" y="1600200"/>
            <a:ext cx="8229600" cy="4781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En cas d’ hyperthyroïdie, vous confirmez le diagnostic de goitre multi nodulaire toxique devant 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Hyperthyroïdie déclenchée par un apport massif d'iode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Absence d’exophtalmie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Plusieurs nodules chauds à la Scintigraphie thyroïdienne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multinodulaire à l'examen clinique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hyper vascularisé au doppler </a:t>
            </a:r>
            <a:endParaRPr/>
          </a:p>
          <a:p>
            <a:pPr indent="-1905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	GMN toxique</a:t>
            </a:r>
            <a:endParaRPr/>
          </a:p>
        </p:txBody>
      </p:sp>
      <p:pic>
        <p:nvPicPr>
          <p:cNvPr id="640" name="Google Shape;64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825" y="1988840"/>
            <a:ext cx="6610350" cy="341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46" name="Google Shape;646;p8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Devant une hyperthyroïdie récente chez une adolescente, vous suspectez une thyrotoxicose factice devant 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TSH élevée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FT4 basse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douloureux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thyroglobuline basse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scintigraphie thyroïdienne blanche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</a:t>
            </a:r>
            <a:endParaRPr/>
          </a:p>
          <a:p>
            <a:pPr indent="-1905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52" name="Google Shape;652;p8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Devant une hyperthyroïdie récente chez une adolescente, vous suspectez une thyrotoxicose factice devant 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TSH élevée 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FT4 basse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douloureux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thyroglobuline basse</a:t>
            </a:r>
            <a:endParaRPr/>
          </a:p>
          <a:p>
            <a:pPr indent="-3429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scintigraphie thyroïdienne blanche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</a:t>
            </a:r>
            <a:endParaRPr/>
          </a:p>
          <a:p>
            <a:pPr indent="-190500" lvl="0" marL="3429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 la prise de 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A. lithium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B. Inhibiteurs de tyrosine kinase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C. Interleukine 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D. analogues de la somatostatine</a:t>
            </a:r>
            <a:endParaRPr/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E. Corticoïde </a:t>
            </a:r>
            <a:endParaRPr/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00100" rtl="0" algn="r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fr-F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 la prise de 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A. lithium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B. Inhibiteurs de tyrosine kinase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C. Interleukine 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D. analogues de la somatostatine</a:t>
            </a:r>
            <a:endParaRPr/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E. Corticoïde </a:t>
            </a:r>
            <a:endParaRPr/>
          </a:p>
          <a:p>
            <a:pPr indent="0" lvl="2" marL="800100" rtl="0" algn="just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00100" rtl="0" algn="r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0"/>
          <p:cNvSpPr txBox="1"/>
          <p:nvPr>
            <p:ph idx="1" type="body"/>
          </p:nvPr>
        </p:nvSpPr>
        <p:spPr>
          <a:xfrm>
            <a:off x="457200" y="620688"/>
            <a:ext cx="8229600" cy="55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Une hyperthyroïdie peut être secondaire à la prise de 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Amiodarone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Lithium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Interféron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Interleukine 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Inhibiteurs de tyrosine kinase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fr-FR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Nouvelles immunothérapies utilisées dans les cancers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1"/>
          <p:cNvSpPr txBox="1"/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fr-FR" sz="5400">
                <a:solidFill>
                  <a:srgbClr val="FF0000"/>
                </a:solidFill>
              </a:rPr>
              <a:t>Traitement 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8" name="Google Shape;678;p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traitement de la thyroïdite subaiguë de De Quervain, en phase d’ hyperthyroidie dans sa forme modérée repose sur 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Bétabloquants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Antithyroïdiens de synthèse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Anti-inflammatoires non stéroïdiens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Corticothérapie 1mg/kg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Iode radioactif 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fr-FR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84" name="Google Shape;684;p9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traitement de la thyroïdite subaiguë de De Quervain, en phase d’hyperthyroidie dans sa forme modérée repose sur 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Bétabloquants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Antithyroïdiens de synthèse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Anti-inflammatoires non stéroïdiens 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Corticothérapie 1mg/kg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Iode radioactif 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90" name="Google Shape;690;p9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Carbimazole est un Antithyroïdien de synthèse qui expose aux effets indésirables suivants :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Insuffisance rénale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Agranulocytose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Prurit et rash cutané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Cytolyse hépatique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Rhabdomyloyse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96" name="Google Shape;696;p9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Carbimazole est un Antithyroïdien de synthèse qui expose aux effets indésirables suivants :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Insuffisance rénale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Agranulocytose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Prurit et rash cutané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Cytolyse hépatique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Rhabdomyloyse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2" name="Google Shape;702;p9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traitement chirurgical est indiqué en cas d’hyperthyroïdie dans ces cas:</a:t>
            </a:r>
            <a:endParaRPr b="1" i="0" sz="2800" u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compressif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sujets âgés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Nodule suspect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Premier trimestre de grossesse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hyperthyroïdie résistante avec ophtalmopathie sévère 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8" name="Google Shape;708;p9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traitement chirurgical </a:t>
            </a: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est indiqué en cas d’hyperthyroïdie </a:t>
            </a: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dans ces cas: </a:t>
            </a:r>
            <a:endParaRPr b="1" i="0" sz="2800" u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compressif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sujets âgés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Nodule suspect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Premier trimestre de grossesse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hyperthyroïdie résistante avec ophtalmopathie sévère 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14" name="Google Shape;714;p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traitement des hyperthyroïdies par Il 131 est indiqué: </a:t>
            </a:r>
            <a:endParaRPr b="1" i="0" sz="2800" u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Sujet âgé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Crise aigue thyrotoxique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Thyroïdite subaiguë de De Quervain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Ophtalmopathie sévère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volumineux</a:t>
            </a:r>
            <a:endParaRPr/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20" name="Google Shape;720;p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 traitement des hyperthyroïdies par Il 131 est indiqué: </a:t>
            </a:r>
            <a:endParaRPr b="1" i="0" sz="2800" u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Sujet âgé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Crise aigue thyrotoxique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Thyroïdite subaiguë de De Quervain 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Ophtalmopathie sévère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Goitre volumineux</a:t>
            </a:r>
            <a:endParaRPr/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0"/>
          <p:cNvSpPr/>
          <p:nvPr/>
        </p:nvSpPr>
        <p:spPr>
          <a:xfrm>
            <a:off x="503854" y="1125142"/>
            <a:ext cx="8172602" cy="4711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fr-F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le traitement des hyperthyroïdies, l'administration d'iode 131 est formellement contre-indiquée </a:t>
            </a:r>
            <a:r>
              <a:rPr b="1"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fr-FR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fr-FR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- Nodule thyroïdien toxique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</a:pPr>
            <a:r>
              <a:rPr b="0" i="0" lang="fr-FR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 – Femme enceinte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</a:pPr>
            <a:r>
              <a:rPr b="0" i="0" lang="fr-FR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 - Allaitement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</a:pPr>
            <a:r>
              <a:rPr b="0" i="0" lang="fr-FR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 - Orbitopathie basedowienne maligne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</a:pPr>
            <a:r>
              <a:rPr b="0" i="0" lang="fr-FR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E-  Sujet jeune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01"/>
          <p:cNvSpPr/>
          <p:nvPr/>
        </p:nvSpPr>
        <p:spPr>
          <a:xfrm>
            <a:off x="503854" y="1125142"/>
            <a:ext cx="8172602" cy="5196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fr-F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le traitement des hyperthyroïdies, l'administration d'iode 131 est formellement contre-indiquée </a:t>
            </a:r>
            <a:r>
              <a:rPr b="1"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- Nodule thyroïdien toxique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 – Femme enceinte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 - Allaitement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 - Orbitopathie basedowienne maligne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E-  Sujet jeune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BCD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02"/>
          <p:cNvSpPr/>
          <p:nvPr/>
        </p:nvSpPr>
        <p:spPr>
          <a:xfrm>
            <a:off x="755576" y="764704"/>
            <a:ext cx="7704856" cy="54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L'examen indispensable pour surveiller la bonne tolérance d'un antithyroïdien de synthèse est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- Hémogramme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B - Glycémie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C - Calcémie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D - Uricémie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E – Créatininémie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03"/>
          <p:cNvSpPr/>
          <p:nvPr/>
        </p:nvSpPr>
        <p:spPr>
          <a:xfrm>
            <a:off x="755576" y="764704"/>
            <a:ext cx="7704856" cy="54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L'examen indispensable pour surveiller la bonne tolérance d'un antithyroïdien de synthèse est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- Hémogramme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B - Glycémie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C - Calcémie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D - Uricémie</a:t>
            </a:r>
            <a:b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E – Créatininémie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46" name="Google Shape;746;p10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Les situations nécessitant une hospitalisation au cours d’une hyperthyroïdie sont: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c</a:t>
            </a:r>
            <a:r>
              <a:rPr b="0" i="0" lang="fr-FR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rise aigue thyrotoxique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Neuropathie optique par compression du nerf optique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Insuffisance cardiaque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Age &gt; 65 ans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Maladie de Basedow évolutive chez une femme enceinte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fr-FR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ABCE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52" name="Google Shape;752;p10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0" lang="fr-FR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Les situations nécessitant une hospitalisation au cours d’une hyperthyroïdie sont: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c</a:t>
            </a:r>
            <a:r>
              <a:rPr b="0" i="0" lang="fr-FR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rise aigue thyrotoxique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Neuropathie optique par compression du nerf optique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Une Insuffisance cardiaque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Age &gt; 65 ans</a:t>
            </a:r>
            <a:endParaRPr/>
          </a:p>
          <a:p>
            <a:pPr indent="-5143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Maladie de Basedow évolutive chez une femme enceinte</a:t>
            </a:r>
            <a:endParaRPr/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00050" rtl="0" algn="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2023-06-08T11:04:51Z</dcterms:created>
  <dc:creator>versus</dc:creator>
</cp:coreProperties>
</file>
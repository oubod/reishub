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3"/>
  </p:notesMasterIdLst>
  <p:sldIdLst>
    <p:sldId id="1268" r:id="rId2"/>
    <p:sldId id="1270" r:id="rId3"/>
    <p:sldId id="1269" r:id="rId4"/>
    <p:sldId id="1271" r:id="rId5"/>
    <p:sldId id="1272" r:id="rId6"/>
    <p:sldId id="1273" r:id="rId7"/>
    <p:sldId id="1274" r:id="rId8"/>
    <p:sldId id="1275" r:id="rId9"/>
    <p:sldId id="1276" r:id="rId10"/>
    <p:sldId id="1277" r:id="rId11"/>
    <p:sldId id="1278" r:id="rId12"/>
    <p:sldId id="1279" r:id="rId13"/>
    <p:sldId id="1280" r:id="rId14"/>
    <p:sldId id="1282" r:id="rId15"/>
    <p:sldId id="1281" r:id="rId16"/>
    <p:sldId id="1283" r:id="rId17"/>
    <p:sldId id="1284" r:id="rId18"/>
    <p:sldId id="1285" r:id="rId19"/>
    <p:sldId id="1286" r:id="rId20"/>
    <p:sldId id="1287" r:id="rId21"/>
    <p:sldId id="1288" r:id="rId22"/>
    <p:sldId id="1289" r:id="rId23"/>
    <p:sldId id="1290" r:id="rId24"/>
    <p:sldId id="1291" r:id="rId25"/>
    <p:sldId id="1292" r:id="rId26"/>
    <p:sldId id="1293" r:id="rId27"/>
    <p:sldId id="1294" r:id="rId28"/>
    <p:sldId id="1295" r:id="rId29"/>
    <p:sldId id="1296" r:id="rId30"/>
    <p:sldId id="1297" r:id="rId31"/>
    <p:sldId id="1298" r:id="rId32"/>
    <p:sldId id="1299" r:id="rId33"/>
    <p:sldId id="1300" r:id="rId34"/>
    <p:sldId id="1301" r:id="rId35"/>
    <p:sldId id="1302" r:id="rId36"/>
    <p:sldId id="1303" r:id="rId37"/>
    <p:sldId id="1304" r:id="rId38"/>
    <p:sldId id="1305" r:id="rId39"/>
    <p:sldId id="1306" r:id="rId40"/>
    <p:sldId id="1307" r:id="rId41"/>
    <p:sldId id="1308" r:id="rId42"/>
    <p:sldId id="1309" r:id="rId43"/>
    <p:sldId id="1310" r:id="rId44"/>
    <p:sldId id="1311" r:id="rId45"/>
    <p:sldId id="1312" r:id="rId46"/>
    <p:sldId id="1313" r:id="rId47"/>
    <p:sldId id="1314" r:id="rId48"/>
    <p:sldId id="1315" r:id="rId49"/>
    <p:sldId id="1316" r:id="rId50"/>
    <p:sldId id="1317" r:id="rId51"/>
    <p:sldId id="1318" r:id="rId52"/>
    <p:sldId id="1319" r:id="rId53"/>
    <p:sldId id="1320" r:id="rId54"/>
    <p:sldId id="1321" r:id="rId55"/>
    <p:sldId id="1322" r:id="rId56"/>
    <p:sldId id="1324" r:id="rId57"/>
    <p:sldId id="1323" r:id="rId58"/>
    <p:sldId id="1325" r:id="rId59"/>
    <p:sldId id="1326" r:id="rId60"/>
    <p:sldId id="1327" r:id="rId61"/>
    <p:sldId id="1328" r:id="rId62"/>
    <p:sldId id="1329" r:id="rId63"/>
    <p:sldId id="1330" r:id="rId64"/>
    <p:sldId id="1331" r:id="rId65"/>
    <p:sldId id="1332" r:id="rId66"/>
    <p:sldId id="1333" r:id="rId67"/>
    <p:sldId id="1336" r:id="rId68"/>
    <p:sldId id="1334" r:id="rId69"/>
    <p:sldId id="1335" r:id="rId70"/>
    <p:sldId id="1337" r:id="rId71"/>
    <p:sldId id="1338" r:id="rId72"/>
    <p:sldId id="1339" r:id="rId73"/>
    <p:sldId id="1340" r:id="rId74"/>
    <p:sldId id="1341" r:id="rId75"/>
    <p:sldId id="1342" r:id="rId76"/>
    <p:sldId id="1343" r:id="rId77"/>
    <p:sldId id="1345" r:id="rId78"/>
    <p:sldId id="1344" r:id="rId79"/>
    <p:sldId id="1346" r:id="rId80"/>
    <p:sldId id="1347" r:id="rId81"/>
    <p:sldId id="1348" r:id="rId82"/>
  </p:sldIdLst>
  <p:sldSz cx="9144000" cy="6858000" type="screen4x3"/>
  <p:notesSz cx="6858000" cy="9144000"/>
  <p:custDataLst>
    <p:tags r:id="rId8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5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78406" autoAdjust="0"/>
  </p:normalViewPr>
  <p:slideViewPr>
    <p:cSldViewPr>
      <p:cViewPr varScale="1">
        <p:scale>
          <a:sx n="66" d="100"/>
          <a:sy n="66" d="100"/>
        </p:scale>
        <p:origin x="179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gs" Target="tags/tag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0278D-765B-4FC0-AF4E-D5E93257D790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FAEAA-4023-4108-AB9E-863648B02F1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D6549-DF59-4503-9F4A-DC4F4B727445}" type="datetimeFigureOut">
              <a:rPr lang="fr-FR" smtClean="0"/>
              <a:t>23/08/2025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7A4F4-2F0E-4356-94CC-618CEFE52B04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5C847D-5FDA-04B7-78C1-339CE0684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3417243"/>
          </a:xfrm>
        </p:spPr>
        <p:txBody>
          <a:bodyPr/>
          <a:lstStyle/>
          <a:p>
            <a:pPr marL="0" indent="0" algn="ctr">
              <a:buNone/>
            </a:pPr>
            <a:endParaRPr lang="fr-FR" sz="9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fr-FR" b="1" dirty="0"/>
              <a:t>Faculté de Médecine de Sousse                                                       Hyperthyroïdie (39) 2025</a:t>
            </a:r>
            <a:endParaRPr lang="fr-FR" dirty="0"/>
          </a:p>
          <a:p>
            <a:pPr marL="0" indent="0" algn="ctr">
              <a:buNone/>
            </a:pPr>
            <a:endParaRPr lang="fr-FR" sz="96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462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B993-D887-1769-F4C4-DE8DF7C2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53FFDD-40EE-AA6D-E950-E82934CFA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76E20-4101-D6BB-7936-C962CCC84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par mutation activatrice du récepteur de la TSH est typique de (</a:t>
            </a:r>
            <a:r>
              <a:rPr lang="fr-FR" b="1" i="1" dirty="0" err="1"/>
              <a:t>obj</a:t>
            </a:r>
            <a:r>
              <a:rPr lang="fr-FR" b="1" i="1" dirty="0"/>
              <a:t> n°1,5)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Maladie de Basedow</a:t>
            </a:r>
            <a:br>
              <a:rPr lang="fr-FR" sz="3200" dirty="0"/>
            </a:br>
            <a:r>
              <a:rPr lang="fr-FR" sz="3200" dirty="0"/>
              <a:t>B. Adénome toxique</a:t>
            </a:r>
            <a:br>
              <a:rPr lang="fr-FR" sz="3200" dirty="0"/>
            </a:br>
            <a:r>
              <a:rPr lang="fr-FR" sz="3200" dirty="0"/>
              <a:t>C. Thyroïdite de Hashimoto</a:t>
            </a:r>
            <a:br>
              <a:rPr lang="fr-FR" sz="3200" dirty="0"/>
            </a:br>
            <a:r>
              <a:rPr lang="fr-FR" sz="3200" dirty="0"/>
              <a:t>D. Thyroïdite de De Quervain</a:t>
            </a:r>
            <a:br>
              <a:rPr lang="fr-FR" sz="3200" dirty="0"/>
            </a:br>
            <a:r>
              <a:rPr lang="fr-FR" sz="3200" dirty="0"/>
              <a:t>E. Thyroïdite sporadique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7731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355A7-14DA-B44E-56C1-22C72676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25776-8746-4A8D-1BC9-7874EA9F0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par mutation activatrice du récepteur de la TSH est typique de (</a:t>
            </a:r>
            <a:r>
              <a:rPr lang="fr-FR" b="1" i="1" dirty="0" err="1"/>
              <a:t>obj</a:t>
            </a:r>
            <a:r>
              <a:rPr lang="fr-FR" b="1" i="1" dirty="0"/>
              <a:t> n°1,5)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Maladie de Basedow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Adénome toxique</a:t>
            </a:r>
            <a:br>
              <a:rPr lang="fr-FR" sz="3200" dirty="0"/>
            </a:br>
            <a:r>
              <a:rPr lang="fr-FR" sz="3200" dirty="0"/>
              <a:t>C. Thyroïdite de Hashimoto</a:t>
            </a:r>
            <a:br>
              <a:rPr lang="fr-FR" sz="3200" dirty="0"/>
            </a:br>
            <a:r>
              <a:rPr lang="fr-FR" sz="3200" dirty="0"/>
              <a:t>D. Thyroïdite de De Quervain</a:t>
            </a:r>
            <a:br>
              <a:rPr lang="fr-FR" sz="3200" dirty="0"/>
            </a:br>
            <a:r>
              <a:rPr lang="fr-FR" sz="3200" dirty="0"/>
              <a:t>E. Thyroïdite sporadique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490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B7826-BC32-86F8-3C50-C85D6438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2749F3-353D-8161-3149-E33DF1095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L'hyperthyroïdie induite par l'amiodarone de type II se caractérise par (</a:t>
            </a:r>
            <a:r>
              <a:rPr lang="fr-FR" b="1" i="1" dirty="0" err="1"/>
              <a:t>obj</a:t>
            </a:r>
            <a:r>
              <a:rPr lang="fr-FR" b="1" i="1" dirty="0"/>
              <a:t> n°1):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Goitre homogène, élastique et vasculaire</a:t>
            </a:r>
            <a:br>
              <a:rPr lang="fr-FR" sz="2800" dirty="0"/>
            </a:br>
            <a:r>
              <a:rPr lang="fr-FR" sz="2800" dirty="0"/>
              <a:t>B. Élévation de la thyroglobuline</a:t>
            </a:r>
            <a:br>
              <a:rPr lang="fr-FR" sz="2800" dirty="0"/>
            </a:br>
            <a:r>
              <a:rPr lang="fr-FR" sz="2800" dirty="0"/>
              <a:t>C. Présence d'anticorps antithyroperoxydase</a:t>
            </a:r>
            <a:br>
              <a:rPr lang="fr-FR" sz="2800" dirty="0"/>
            </a:br>
            <a:r>
              <a:rPr lang="fr-FR" sz="2800" dirty="0"/>
              <a:t>D. Thyroïde hypoéchogène à l’échographie</a:t>
            </a:r>
            <a:br>
              <a:rPr lang="fr-FR" sz="2800" dirty="0"/>
            </a:br>
            <a:r>
              <a:rPr lang="fr-FR" sz="2800" dirty="0"/>
              <a:t>E. Absence de fixation de l’iode à la scintigraphie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026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E2516-524A-362E-86EF-02031194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984BF2-0880-F01A-B54D-685908A5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89A3D2-1E43-ACD2-19A7-3FDBA3B24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L'hyperthyroïdie induite par l'amiodarone de type II se caractérise par (</a:t>
            </a:r>
            <a:r>
              <a:rPr lang="fr-FR" b="1" i="1" dirty="0" err="1"/>
              <a:t>obj</a:t>
            </a:r>
            <a:r>
              <a:rPr lang="fr-FR" b="1" i="1" dirty="0"/>
              <a:t> n°1):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Goitre homogène, élastique et vasculaire</a:t>
            </a:r>
            <a:br>
              <a:rPr lang="fr-FR" sz="2800" dirty="0"/>
            </a:br>
            <a:r>
              <a:rPr lang="fr-FR" sz="2800" dirty="0"/>
              <a:t>B. Élévation de la thyroglobuline</a:t>
            </a:r>
            <a:br>
              <a:rPr lang="fr-FR" sz="2800" dirty="0"/>
            </a:br>
            <a:r>
              <a:rPr lang="fr-FR" sz="2800" dirty="0"/>
              <a:t>C. Présence d'anticorps antithyroperoxydase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D. Thyroïde hypoéchogène à l’échographie</a:t>
            </a:r>
            <a:br>
              <a:rPr lang="fr-FR" sz="2800" u="sng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E. Absence de fixation de l’iode à la scintigraphie 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913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B80546-CA5C-8953-136D-8C8B740C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31EF81-C850-6303-6B5A-EB060A1F9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auto-immune peut être liée à une (</a:t>
            </a:r>
            <a:r>
              <a:rPr lang="fr-FR" b="1" i="1" dirty="0" err="1"/>
              <a:t>obj</a:t>
            </a:r>
            <a:r>
              <a:rPr lang="fr-FR" b="1" i="1" dirty="0"/>
              <a:t> n°1) : 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 Thyroïdite de De Quervain</a:t>
            </a:r>
          </a:p>
          <a:p>
            <a:pPr marL="914400" lvl="2" indent="0">
              <a:buNone/>
            </a:pPr>
            <a:r>
              <a:rPr lang="fr-FR" sz="3200" dirty="0"/>
              <a:t>B.  Thyroïdite subaiguë silencieuse</a:t>
            </a:r>
          </a:p>
          <a:p>
            <a:pPr marL="914400" lvl="2" indent="0">
              <a:buNone/>
            </a:pPr>
            <a:r>
              <a:rPr lang="fr-FR" sz="3200" dirty="0"/>
              <a:t>C.  Maladie de Basedow</a:t>
            </a:r>
          </a:p>
          <a:p>
            <a:pPr marL="914400" lvl="2" indent="0">
              <a:buNone/>
            </a:pPr>
            <a:r>
              <a:rPr lang="fr-FR" sz="3200" dirty="0"/>
              <a:t>D.  Thyroïdite post-radique</a:t>
            </a:r>
          </a:p>
          <a:p>
            <a:pPr marL="914400" lvl="2" indent="0">
              <a:buNone/>
            </a:pPr>
            <a:r>
              <a:rPr lang="fr-FR" sz="3200" dirty="0"/>
              <a:t>E.  Thyroïdite lymphocytaire chronique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575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3314-9486-2BF0-7611-E7B6E78E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CF27B9-F8D7-217D-7FBF-9DD670D0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FCEDC1-528C-B72C-BB5C-75B639111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auto-immune peut être liée à une (</a:t>
            </a:r>
            <a:r>
              <a:rPr lang="fr-FR" b="1" i="1" dirty="0" err="1"/>
              <a:t>obj</a:t>
            </a:r>
            <a:r>
              <a:rPr lang="fr-FR" b="1" i="1" dirty="0"/>
              <a:t> n°1) : 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 Thyroïdite de De Quervain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B.  Thyroïdite subaiguë silencieuse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C.  Maladie de Basedow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dirty="0"/>
              <a:t>D.  Thyroïdite post-radique</a:t>
            </a:r>
          </a:p>
          <a:p>
            <a:pPr marL="914400" lvl="2" indent="0">
              <a:buNone/>
            </a:pPr>
            <a:r>
              <a:rPr lang="fr-FR" sz="3200" u="sng" dirty="0"/>
              <a:t>E</a:t>
            </a:r>
            <a:r>
              <a:rPr lang="fr-FR" sz="3200" u="sng" dirty="0">
                <a:solidFill>
                  <a:srgbClr val="FF0000"/>
                </a:solidFill>
              </a:rPr>
              <a:t>.  Thyroïdite lymphocytaire chronique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611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4D838-EDB1-22C1-5AFA-DC4EE1BF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546B9F-B638-B8D2-3ACD-D1F210379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lvl="0"/>
            <a:r>
              <a:rPr lang="fr-FR" b="1" i="1" dirty="0"/>
              <a:t>L’hyperthyroïdie a comme effet métabolique (</a:t>
            </a:r>
            <a:r>
              <a:rPr lang="fr-FR" b="1" i="1" dirty="0" err="1"/>
              <a:t>obj</a:t>
            </a:r>
            <a:r>
              <a:rPr lang="fr-FR" b="1" i="1" dirty="0"/>
              <a:t> n°2)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Hyperglycémie par insulinopénie</a:t>
            </a:r>
            <a:br>
              <a:rPr lang="fr-FR" sz="3200" dirty="0"/>
            </a:br>
            <a:r>
              <a:rPr lang="fr-FR" sz="3200" dirty="0"/>
              <a:t>B. Stimulation de la protéolyse</a:t>
            </a:r>
          </a:p>
          <a:p>
            <a:pPr marL="800100" lvl="2" indent="0">
              <a:buNone/>
            </a:pPr>
            <a:r>
              <a:rPr lang="fr-FR" sz="3200" dirty="0"/>
              <a:t>C. Réduction de la consommation d'oxygène</a:t>
            </a:r>
          </a:p>
          <a:p>
            <a:pPr marL="800100" lvl="2" indent="0">
              <a:buNone/>
            </a:pPr>
            <a:r>
              <a:rPr lang="fr-FR" sz="3200" dirty="0"/>
              <a:t>D. Stimulation de la lipogenèse</a:t>
            </a:r>
            <a:br>
              <a:rPr lang="fr-FR" sz="3200" dirty="0"/>
            </a:br>
            <a:r>
              <a:rPr lang="fr-FR" sz="3200" dirty="0"/>
              <a:t>E. Diminution de la lipolyse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8492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8C34-9F19-CABA-E020-A1EBD8CA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5352F0-6F82-7515-B566-EA84FFB8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9D8893-BF34-1442-B8EF-F0C298A65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lvl="0"/>
            <a:r>
              <a:rPr lang="fr-FR" b="1" i="1" dirty="0"/>
              <a:t>L’hyperthyroïdie a comme effet métabolique (</a:t>
            </a:r>
            <a:r>
              <a:rPr lang="fr-FR" b="1" i="1" dirty="0" err="1"/>
              <a:t>obj</a:t>
            </a:r>
            <a:r>
              <a:rPr lang="fr-FR" b="1" i="1" dirty="0"/>
              <a:t> n°2)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Hyperglycémie par insulinopénie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Stimulation de la protéolyse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dirty="0"/>
              <a:t>C. Réduction de la consommation d'oxygène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Stimulation de la lipogenèse</a:t>
            </a:r>
            <a:br>
              <a:rPr lang="fr-FR" sz="3200" dirty="0"/>
            </a:br>
            <a:r>
              <a:rPr lang="fr-FR" sz="3200" dirty="0"/>
              <a:t>E. Diminution de la lipolyse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2937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39290C-E52B-CFA5-9372-172A5976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54CF9F-4411-DBEC-0BF9-162F4A183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L’excès en hormones thyroïdiennes peut entrainer (</a:t>
            </a:r>
            <a:r>
              <a:rPr lang="fr-FR" b="1" i="1" dirty="0" err="1"/>
              <a:t>obj</a:t>
            </a:r>
            <a:r>
              <a:rPr lang="fr-FR" b="1" i="1" dirty="0"/>
              <a:t> n°2) : 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 Une vasodilatation </a:t>
            </a:r>
          </a:p>
          <a:p>
            <a:pPr marL="914400" lvl="2" indent="0">
              <a:buNone/>
            </a:pPr>
            <a:r>
              <a:rPr lang="fr-FR" sz="3200" dirty="0"/>
              <a:t>B.  Une HTA diastolique </a:t>
            </a:r>
          </a:p>
          <a:p>
            <a:pPr marL="914400" lvl="2" indent="0">
              <a:buNone/>
            </a:pPr>
            <a:r>
              <a:rPr lang="fr-FR" sz="3200" dirty="0"/>
              <a:t>C.  Une diminution de la lipogenèse</a:t>
            </a:r>
          </a:p>
          <a:p>
            <a:pPr marL="914400" lvl="2" indent="0">
              <a:buNone/>
            </a:pPr>
            <a:r>
              <a:rPr lang="fr-FR" sz="3200" dirty="0"/>
              <a:t>D.  Une stimulation de la lipolyse</a:t>
            </a:r>
          </a:p>
          <a:p>
            <a:pPr marL="914400" lvl="2" indent="0">
              <a:buNone/>
            </a:pPr>
            <a:r>
              <a:rPr lang="fr-FR" sz="3200" dirty="0"/>
              <a:t>E.  Une hyperfiltration glomérulaire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228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8994-51EF-4461-26DA-FAA5052D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CEB3E5-EEAD-DF89-E46C-4F82A0914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F8DEEC-1520-4403-600C-07655BED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L’excès en hormones thyroïdiennes peut entrainer (</a:t>
            </a:r>
            <a:r>
              <a:rPr lang="fr-FR" b="1" i="1" dirty="0" err="1"/>
              <a:t>obj</a:t>
            </a:r>
            <a:r>
              <a:rPr lang="fr-FR" b="1" i="1" dirty="0"/>
              <a:t> n°2) : </a:t>
            </a:r>
            <a:endParaRPr lang="fr-FR" dirty="0"/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 Une vasodilatation 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dirty="0"/>
              <a:t>B.  Une HTA diastolique </a:t>
            </a:r>
          </a:p>
          <a:p>
            <a:pPr marL="914400" lvl="2" indent="0">
              <a:buNone/>
            </a:pPr>
            <a:r>
              <a:rPr lang="fr-FR" sz="3200" dirty="0"/>
              <a:t>C.  Une diminution de la lipogenèse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 Une stimulation de la lipolyse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E.  Une hyperfiltration glomérulaire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7330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63676-34FD-B5C8-A5DB-7CB18003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5A4D13-9003-938F-1816-8E43EE96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L'hyperthyroïdie prolongée non traitée expose au risque de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Déficit musculaire proximal</a:t>
            </a:r>
            <a:br>
              <a:rPr lang="fr-FR" sz="3200" dirty="0"/>
            </a:br>
            <a:r>
              <a:rPr lang="fr-FR" sz="3200" dirty="0"/>
              <a:t>B. Cytolyse modérée</a:t>
            </a:r>
            <a:br>
              <a:rPr lang="fr-FR" sz="3200" dirty="0"/>
            </a:br>
            <a:r>
              <a:rPr lang="fr-FR" sz="3200" dirty="0"/>
              <a:t>C. Ostéomalacie</a:t>
            </a:r>
            <a:br>
              <a:rPr lang="fr-FR" sz="3200" dirty="0"/>
            </a:br>
            <a:r>
              <a:rPr lang="fr-FR" sz="3200" dirty="0"/>
              <a:t>D. Tassement vertébral</a:t>
            </a:r>
            <a:br>
              <a:rPr lang="fr-FR" sz="3200" dirty="0"/>
            </a:br>
            <a:r>
              <a:rPr lang="fr-FR" sz="3200" dirty="0"/>
              <a:t>E. Accès maniaque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7434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1AF9-5AB4-917E-D806-3482566EA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5B073-FB7E-D0D8-FE3A-865ADA5A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07E4E2-328E-674E-543C-E553CDCF0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L'hyperthyroïdie prolongée non traitée expose au risque de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Déficit musculaire proximal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u="sng" dirty="0">
                <a:solidFill>
                  <a:srgbClr val="FF0000"/>
                </a:solidFill>
              </a:rPr>
              <a:t>B. Cytolyse modérée</a:t>
            </a:r>
            <a:br>
              <a:rPr lang="fr-FR" sz="3200" dirty="0"/>
            </a:br>
            <a:r>
              <a:rPr lang="fr-FR" sz="3200" dirty="0"/>
              <a:t>C. Ostéomalacie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D. Tassement vertébral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u="sng" dirty="0">
                <a:solidFill>
                  <a:srgbClr val="FF0000"/>
                </a:solidFill>
              </a:rPr>
              <a:t>E. Accès maniaque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930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DA4-BC6D-0531-096B-3FC9F912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31A3D-6578-8A96-A08D-202A0E80F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DD0C6-5AB6-6EEB-7335-CCECE6C5C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Le retentissement cardio-vasculaire de l’hyperthyroïdie comporte (</a:t>
            </a:r>
            <a:r>
              <a:rPr lang="fr-FR" b="1" i="1" dirty="0" err="1"/>
              <a:t>obj</a:t>
            </a:r>
            <a:r>
              <a:rPr lang="fr-FR" b="1" i="1" dirty="0"/>
              <a:t> n°2,4) : 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 Une vasodilatation </a:t>
            </a:r>
          </a:p>
          <a:p>
            <a:pPr marL="800100" lvl="2" indent="0">
              <a:buNone/>
            </a:pPr>
            <a:r>
              <a:rPr lang="fr-FR" sz="3200" dirty="0"/>
              <a:t>	B.  Une HTA diastolique </a:t>
            </a:r>
          </a:p>
          <a:p>
            <a:pPr marL="800100" lvl="2" indent="0">
              <a:buNone/>
            </a:pPr>
            <a:r>
              <a:rPr lang="fr-FR" sz="3200" dirty="0"/>
              <a:t>	C.  Une augmentation du débit cardiaque</a:t>
            </a:r>
          </a:p>
          <a:p>
            <a:pPr marL="800100" lvl="2" indent="0">
              <a:buNone/>
            </a:pPr>
            <a:r>
              <a:rPr lang="fr-FR" sz="3200" dirty="0"/>
              <a:t>D.  Une insuffisance cardiaque droite</a:t>
            </a:r>
          </a:p>
          <a:p>
            <a:pPr marL="800100" lvl="2" indent="0">
              <a:buNone/>
            </a:pPr>
            <a:r>
              <a:rPr lang="fr-FR" sz="3200" dirty="0"/>
              <a:t>E.  Un flutter auriculaire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3142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B015E8-565E-64AC-8CB5-445046F5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69B333-26B4-7340-ED81-8D619B4D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Le retentissement cardio-vasculaire de l’hyperthyroïdie comporte (</a:t>
            </a:r>
            <a:r>
              <a:rPr lang="fr-FR" b="1" i="1" dirty="0" err="1"/>
              <a:t>obj</a:t>
            </a:r>
            <a:r>
              <a:rPr lang="fr-FR" b="1" i="1" dirty="0"/>
              <a:t> n°2,4) : </a:t>
            </a:r>
            <a:endParaRPr lang="fr-FR" dirty="0"/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 Une vasodilatation 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dirty="0"/>
              <a:t>	B.  Une HTA diastolique </a:t>
            </a:r>
          </a:p>
          <a:p>
            <a:pPr marL="800100" lvl="2" indent="0">
              <a:buNone/>
            </a:pPr>
            <a:r>
              <a:rPr lang="fr-FR" sz="3200" dirty="0">
                <a:solidFill>
                  <a:srgbClr val="FF0000"/>
                </a:solidFill>
              </a:rPr>
              <a:t>	</a:t>
            </a:r>
            <a:r>
              <a:rPr lang="fr-FR" sz="3200" u="sng" dirty="0">
                <a:solidFill>
                  <a:srgbClr val="FF0000"/>
                </a:solidFill>
              </a:rPr>
              <a:t>C.  Une augmentation du débit cardiaque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 Une insuffisance cardiaque droite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E.  Un flutter auriculaire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163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65AF5-DC7A-AF80-9845-6E1D7556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A4F3E1-AE54-CA32-C4B0-4803EA861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On peut trouver dans l'hyperthyroïdie périphérique fruste une (</a:t>
            </a:r>
            <a:r>
              <a:rPr lang="fr-FR" b="1" i="1" dirty="0" err="1"/>
              <a:t>obj</a:t>
            </a:r>
            <a:r>
              <a:rPr lang="fr-FR" b="1" i="1" dirty="0"/>
              <a:t> n°3)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Anémie</a:t>
            </a:r>
            <a:br>
              <a:rPr lang="fr-FR" sz="3200" dirty="0"/>
            </a:br>
            <a:r>
              <a:rPr lang="fr-FR" sz="3200" dirty="0"/>
              <a:t>B. TSH normale</a:t>
            </a:r>
            <a:br>
              <a:rPr lang="fr-FR" sz="3200" dirty="0"/>
            </a:br>
            <a:r>
              <a:rPr lang="fr-FR" sz="3200" dirty="0"/>
              <a:t>C. Hypercholestérolémie</a:t>
            </a:r>
            <a:br>
              <a:rPr lang="fr-FR" sz="3200" dirty="0"/>
            </a:br>
            <a:r>
              <a:rPr lang="fr-FR" sz="3200" dirty="0"/>
              <a:t>D. Hyponatrémie</a:t>
            </a:r>
            <a:br>
              <a:rPr lang="fr-FR" sz="3200" dirty="0"/>
            </a:br>
            <a:r>
              <a:rPr lang="fr-FR" sz="3200" dirty="0"/>
              <a:t>E. Hypoglycémie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9578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15E6-0529-3E30-9B43-1204CA10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B01999-1B37-7B18-5203-4D25D1823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EC7208-AC6A-F639-2DF0-D6285779F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On peut trouver dans l'hyperthyroïdie périphérique fruste une (</a:t>
            </a:r>
            <a:r>
              <a:rPr lang="fr-FR" b="1" i="1" dirty="0" err="1"/>
              <a:t>obj</a:t>
            </a:r>
            <a:r>
              <a:rPr lang="fr-FR" b="1" i="1" dirty="0"/>
              <a:t> n°3) :</a:t>
            </a:r>
            <a:endParaRPr lang="fr-FR" dirty="0"/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Anémie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dirty="0"/>
              <a:t>B. TSH normale</a:t>
            </a:r>
            <a:br>
              <a:rPr lang="fr-FR" sz="3200" dirty="0"/>
            </a:br>
            <a:r>
              <a:rPr lang="fr-FR" sz="3200" dirty="0"/>
              <a:t>C. Hypercholestérolémie</a:t>
            </a:r>
            <a:br>
              <a:rPr lang="fr-FR" sz="3200" dirty="0"/>
            </a:br>
            <a:r>
              <a:rPr lang="fr-FR" sz="3200" dirty="0"/>
              <a:t>D. Hyponatrémie</a:t>
            </a:r>
            <a:br>
              <a:rPr lang="fr-FR" sz="3200" dirty="0"/>
            </a:br>
            <a:r>
              <a:rPr lang="fr-FR" sz="3200" dirty="0"/>
              <a:t>E. Hypoglycémie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3251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348C89-72D2-568E-A37D-A4DB235CF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47EB43-9F5D-F72A-9BF9-49684FBD0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 lvl="0"/>
            <a:r>
              <a:rPr lang="fr-FR" b="1" i="1" dirty="0"/>
              <a:t>L’hyperthyroïdie peut se manifester par (</a:t>
            </a:r>
            <a:r>
              <a:rPr lang="fr-FR" b="1" i="1" dirty="0" err="1"/>
              <a:t>obj</a:t>
            </a:r>
            <a:r>
              <a:rPr lang="fr-FR" b="1" i="1" dirty="0"/>
              <a:t> n°3): </a:t>
            </a:r>
            <a:endParaRPr lang="fr-FR" dirty="0"/>
          </a:p>
          <a:p>
            <a:pPr marL="914400" lvl="2" indent="0">
              <a:buNone/>
            </a:pPr>
            <a:r>
              <a:rPr lang="fr-FR" dirty="0"/>
              <a:t>A.  Une décompensation d’une coronaropathie</a:t>
            </a:r>
          </a:p>
          <a:p>
            <a:pPr marL="914400" lvl="2" indent="0">
              <a:buNone/>
            </a:pPr>
            <a:r>
              <a:rPr lang="fr-FR" dirty="0"/>
              <a:t>B.  Une rhabdomyolyse</a:t>
            </a:r>
          </a:p>
          <a:p>
            <a:pPr marL="914400" lvl="2" indent="0">
              <a:buNone/>
            </a:pPr>
            <a:r>
              <a:rPr lang="fr-FR" dirty="0"/>
              <a:t>C.  Un trouble de la marche</a:t>
            </a:r>
          </a:p>
          <a:p>
            <a:pPr marL="914400" lvl="2" indent="0">
              <a:buNone/>
            </a:pPr>
            <a:r>
              <a:rPr lang="fr-FR" dirty="0"/>
              <a:t>D.  Une rétraction de la paupière supérieure</a:t>
            </a:r>
          </a:p>
          <a:p>
            <a:pPr marL="914400" lvl="2" indent="0">
              <a:buNone/>
            </a:pPr>
            <a:r>
              <a:rPr lang="fr-FR" dirty="0"/>
              <a:t>E.  Une gynécomastie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7880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E727-B6D2-A578-7C3C-62BF1793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E3919B-F7E8-7005-915E-BAF459A8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1DD26D-4B3C-0B99-CC14-ECE3352DB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/>
          </a:bodyPr>
          <a:lstStyle/>
          <a:p>
            <a:pPr lvl="0"/>
            <a:r>
              <a:rPr lang="fr-FR" b="1" i="1" dirty="0"/>
              <a:t>L’hyperthyroïdie peut se manifester par (</a:t>
            </a:r>
            <a:r>
              <a:rPr lang="fr-FR" b="1" i="1" dirty="0" err="1"/>
              <a:t>obj</a:t>
            </a:r>
            <a:r>
              <a:rPr lang="fr-FR" b="1" i="1" dirty="0"/>
              <a:t> n°3): </a:t>
            </a:r>
            <a:endParaRPr lang="fr-FR" dirty="0"/>
          </a:p>
          <a:p>
            <a:pPr marL="914400" lvl="2" indent="0">
              <a:buNone/>
            </a:pPr>
            <a:r>
              <a:rPr lang="fr-FR" u="sng" dirty="0">
                <a:solidFill>
                  <a:srgbClr val="FF0000"/>
                </a:solidFill>
              </a:rPr>
              <a:t>A.  Une décompensation d’une coronaropathie</a:t>
            </a:r>
          </a:p>
          <a:p>
            <a:pPr marL="914400" lvl="2" indent="0">
              <a:buNone/>
            </a:pPr>
            <a:r>
              <a:rPr lang="fr-FR" dirty="0"/>
              <a:t>B.  Une rhabdomyolyse</a:t>
            </a:r>
          </a:p>
          <a:p>
            <a:pPr marL="914400" lvl="2" indent="0">
              <a:buNone/>
            </a:pPr>
            <a:r>
              <a:rPr lang="fr-FR" u="sng" dirty="0">
                <a:solidFill>
                  <a:srgbClr val="FF0000"/>
                </a:solidFill>
              </a:rPr>
              <a:t>C.  Un trouble de la marche</a:t>
            </a:r>
            <a:endParaRPr lang="fr-FR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u="sng" dirty="0">
                <a:solidFill>
                  <a:srgbClr val="FF0000"/>
                </a:solidFill>
              </a:rPr>
              <a:t>D.  Une rétraction de la paupière supérieure</a:t>
            </a:r>
            <a:endParaRPr lang="fr-FR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u="sng" dirty="0">
                <a:solidFill>
                  <a:srgbClr val="FF0000"/>
                </a:solidFill>
              </a:rPr>
              <a:t>E.  Une gynécomastie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8467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6ED6C-AF03-AE3F-F504-04D5031A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DA5118-E00E-8FD0-CDD2-525DA584D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peut être révélée par (</a:t>
            </a:r>
            <a:r>
              <a:rPr lang="fr-FR" b="1" i="1" dirty="0" err="1"/>
              <a:t>obj</a:t>
            </a:r>
            <a:r>
              <a:rPr lang="fr-FR" b="1" i="1" dirty="0"/>
              <a:t> n°3) : 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Un myxœdème généralisé</a:t>
            </a:r>
          </a:p>
          <a:p>
            <a:pPr marL="914400" lvl="2" indent="0">
              <a:buNone/>
            </a:pPr>
            <a:r>
              <a:rPr lang="fr-FR" sz="3200" dirty="0"/>
              <a:t>B. Des troubles psychiatriques</a:t>
            </a:r>
          </a:p>
          <a:p>
            <a:pPr marL="914400" lvl="2" indent="0">
              <a:buNone/>
            </a:pPr>
            <a:r>
              <a:rPr lang="fr-FR" sz="3200" dirty="0"/>
              <a:t>C. Un prurit</a:t>
            </a:r>
          </a:p>
          <a:p>
            <a:pPr marL="914400" lvl="2" indent="0">
              <a:buNone/>
            </a:pPr>
            <a:r>
              <a:rPr lang="fr-FR" sz="3200" dirty="0"/>
              <a:t>D. Un syndrome polyuro-polydipsique </a:t>
            </a:r>
          </a:p>
          <a:p>
            <a:pPr marL="914400" lvl="2" indent="0">
              <a:buNone/>
            </a:pPr>
            <a:r>
              <a:rPr lang="fr-FR" sz="3200" dirty="0"/>
              <a:t>E. Une spanioménorrhée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7462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86024-4C05-A1FE-5B62-E356115F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AF2F1-BBA6-7AB9-7DD0-24A9ECBA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C6DBA8-923F-97A5-A283-C0638E7C4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Une hyperthyroïdie peut être révélée par (</a:t>
            </a:r>
            <a:r>
              <a:rPr lang="fr-FR" b="1" i="1" dirty="0" err="1"/>
              <a:t>obj</a:t>
            </a:r>
            <a:r>
              <a:rPr lang="fr-FR" b="1" i="1" dirty="0"/>
              <a:t> n°3) : 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Un myxœdème généralisé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B. Des troubles psychiatriques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C. Un prurit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Un syndrome polyuro-polydipsique 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E. Une spanioménorrhée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0671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DA3505-1E7B-0CC5-8B03-FE7DE8B8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457E78-619A-4B50-D2A9-7EB9333BA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lvl="0"/>
            <a:r>
              <a:rPr lang="fr-FR" b="1" dirty="0"/>
              <a:t>Dans l'hyperthyroïdie, l’accroissement du remodelage osseux se manifeste par (</a:t>
            </a:r>
            <a:r>
              <a:rPr lang="fr-FR" b="1" dirty="0" err="1"/>
              <a:t>obj</a:t>
            </a:r>
            <a:r>
              <a:rPr lang="fr-FR" b="1" dirty="0"/>
              <a:t> n°3)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Elévation des phosphatases alcalines </a:t>
            </a:r>
            <a:br>
              <a:rPr lang="fr-FR" sz="3200" dirty="0"/>
            </a:br>
            <a:r>
              <a:rPr lang="fr-FR" sz="3200" dirty="0"/>
              <a:t>B. Elévation des transaminases </a:t>
            </a:r>
            <a:br>
              <a:rPr lang="fr-FR" sz="3200" dirty="0"/>
            </a:br>
            <a:r>
              <a:rPr lang="fr-FR" sz="3200" dirty="0"/>
              <a:t>C. Baisse de l’ostéocalcine sérique</a:t>
            </a:r>
            <a:br>
              <a:rPr lang="fr-FR" sz="3200" dirty="0"/>
            </a:br>
            <a:r>
              <a:rPr lang="fr-FR" sz="3200" dirty="0"/>
              <a:t>D. Hypercalcémie</a:t>
            </a:r>
            <a:br>
              <a:rPr lang="fr-FR" sz="3200" dirty="0"/>
            </a:br>
            <a:r>
              <a:rPr lang="fr-FR" sz="3200" dirty="0"/>
              <a:t>E. Elévation de la parathormone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10933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67AA-C93C-9047-B15D-F538C56C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87BA2B-A3B5-E2D3-1686-A1F957DDB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8E9747-F8BE-FA69-5C20-27E62ED8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lvl="0"/>
            <a:r>
              <a:rPr lang="fr-FR" b="1" dirty="0"/>
              <a:t>Dans l'hyperthyroïdie, l’accroissement du remodelage osseux se manifeste par (</a:t>
            </a:r>
            <a:r>
              <a:rPr lang="fr-FR" b="1" dirty="0" err="1"/>
              <a:t>obj</a:t>
            </a:r>
            <a:r>
              <a:rPr lang="fr-FR" b="1" dirty="0"/>
              <a:t> n°3) :</a:t>
            </a:r>
            <a:endParaRPr lang="fr-FR" dirty="0"/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Elévation des phosphatases alcalines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br>
              <a:rPr lang="fr-FR" sz="3200" dirty="0"/>
            </a:br>
            <a:r>
              <a:rPr lang="fr-FR" sz="3200" dirty="0"/>
              <a:t>B. Elévation des transaminases </a:t>
            </a:r>
            <a:br>
              <a:rPr lang="fr-FR" sz="3200" dirty="0"/>
            </a:br>
            <a:r>
              <a:rPr lang="fr-FR" sz="3200" dirty="0"/>
              <a:t>C. Baisse de l’ostéocalcine sérique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D. Hypercalcémie</a:t>
            </a:r>
            <a:br>
              <a:rPr lang="fr-FR" sz="3200" dirty="0"/>
            </a:br>
            <a:r>
              <a:rPr lang="fr-FR" sz="3200" dirty="0"/>
              <a:t>E. Elévation de la parathormone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5490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AEC1B-44CB-67CC-3266-974C59C4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50D7C-0F57-9E59-45E6-1AB35C05E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Une TSH basse associée à une FT4 normale peut se voir en cas de (</a:t>
            </a:r>
            <a:r>
              <a:rPr lang="fr-FR" b="1" i="1" dirty="0" err="1"/>
              <a:t>obj</a:t>
            </a:r>
            <a:r>
              <a:rPr lang="fr-FR" b="1" i="1" dirty="0"/>
              <a:t> n°3,5,8):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Hyperthyroïdie centrale </a:t>
            </a:r>
          </a:p>
          <a:p>
            <a:pPr marL="800100" lvl="2" indent="0">
              <a:buNone/>
            </a:pPr>
            <a:r>
              <a:rPr lang="fr-FR" sz="3200" dirty="0"/>
              <a:t>B. Hyperthyroïdie fruste</a:t>
            </a:r>
          </a:p>
          <a:p>
            <a:pPr marL="800100" lvl="2" indent="0">
              <a:buNone/>
            </a:pPr>
            <a:r>
              <a:rPr lang="fr-FR" sz="3200" dirty="0"/>
              <a:t>C. Altération de l’état général </a:t>
            </a:r>
          </a:p>
          <a:p>
            <a:pPr marL="800100" lvl="2" indent="0">
              <a:buNone/>
            </a:pPr>
            <a:r>
              <a:rPr lang="fr-FR" sz="3200" dirty="0"/>
              <a:t>D. Corticothérapie prolongée  </a:t>
            </a:r>
          </a:p>
          <a:p>
            <a:pPr marL="800100" lvl="2" indent="0">
              <a:buNone/>
            </a:pPr>
            <a:r>
              <a:rPr lang="fr-FR" sz="3200" dirty="0"/>
              <a:t>E. Prise d’antithyroïdien de synthèse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4374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6C899-4ECE-A359-ECCF-3898C243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C84141-E4D9-C585-B785-225488A2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9F2C1E-1A39-9C42-BC32-740B0FFB5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Une TSH basse associée à une FT4 normale peut se voir en cas de (</a:t>
            </a:r>
            <a:r>
              <a:rPr lang="fr-FR" b="1" i="1" dirty="0" err="1"/>
              <a:t>obj</a:t>
            </a:r>
            <a:r>
              <a:rPr lang="fr-FR" b="1" i="1" dirty="0"/>
              <a:t> n°3,5,8):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Hyperthyroïdie centrale 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B. Hyperthyroïdie fruste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C. Altération de l’état général 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Corticothérapie prolongée  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E. Prise d’antithyroïdien de synthèse +++++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7766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1096E7-C80B-CE04-4F36-60D2F636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A323FE-BF1D-FB8F-A36F-4ECBD0674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i="1" dirty="0"/>
              <a:t> </a:t>
            </a:r>
            <a:r>
              <a:rPr lang="fr-FR" b="1" i="1" dirty="0"/>
              <a:t>Une TSH normale ou élevée dans un contexte d'hyperthyroïdie oriente vers (</a:t>
            </a:r>
            <a:r>
              <a:rPr lang="fr-FR" b="1" i="1" dirty="0" err="1"/>
              <a:t>obj</a:t>
            </a:r>
            <a:r>
              <a:rPr lang="fr-FR" b="1" i="1" dirty="0"/>
              <a:t> n°5)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Syndrome de résistance aux hormones thyroïdiennes</a:t>
            </a:r>
            <a:br>
              <a:rPr lang="fr-FR" sz="2800" dirty="0"/>
            </a:br>
            <a:r>
              <a:rPr lang="fr-FR" sz="2800" dirty="0"/>
              <a:t>B. Adénome hypophysaire thyréotrope</a:t>
            </a:r>
            <a:br>
              <a:rPr lang="fr-FR" sz="2800" dirty="0"/>
            </a:br>
            <a:r>
              <a:rPr lang="fr-FR" sz="2800" dirty="0"/>
              <a:t>C. Thyroïdite subaiguë</a:t>
            </a:r>
            <a:br>
              <a:rPr lang="fr-FR" sz="2800" dirty="0"/>
            </a:br>
            <a:r>
              <a:rPr lang="fr-FR" sz="2800" dirty="0"/>
              <a:t>D. Goitre ovarien toxique</a:t>
            </a:r>
            <a:br>
              <a:rPr lang="fr-FR" sz="2800" dirty="0"/>
            </a:br>
            <a:r>
              <a:rPr lang="fr-FR" sz="2800" dirty="0"/>
              <a:t>E. Toxicose factice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5872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AA67-CB94-787C-50C3-3D72B5E9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980399-9480-912B-D44A-30BD0CB7B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E6ECA-2441-76AE-982F-A42913134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i="1" dirty="0"/>
              <a:t> </a:t>
            </a:r>
            <a:r>
              <a:rPr lang="fr-FR" b="1" i="1" dirty="0"/>
              <a:t>Une TSH normale ou élevée dans un contexte d'hyperthyroïdie oriente vers (</a:t>
            </a:r>
            <a:r>
              <a:rPr lang="fr-FR" b="1" i="1" dirty="0" err="1"/>
              <a:t>obj</a:t>
            </a:r>
            <a:r>
              <a:rPr lang="fr-FR" b="1" i="1" dirty="0"/>
              <a:t> n°5)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>
                <a:solidFill>
                  <a:srgbClr val="FF0000"/>
                </a:solidFill>
              </a:rPr>
              <a:t>A. </a:t>
            </a:r>
            <a:r>
              <a:rPr lang="fr-FR" sz="2800" u="sng" dirty="0">
                <a:solidFill>
                  <a:srgbClr val="FF0000"/>
                </a:solidFill>
              </a:rPr>
              <a:t>Syndrome de résistance aux hormones thyroïdiennes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dirty="0">
                <a:solidFill>
                  <a:srgbClr val="FF0000"/>
                </a:solidFill>
              </a:rPr>
              <a:t>B. </a:t>
            </a:r>
            <a:r>
              <a:rPr lang="fr-FR" sz="2800" u="sng" dirty="0">
                <a:solidFill>
                  <a:srgbClr val="FF0000"/>
                </a:solidFill>
              </a:rPr>
              <a:t>Adénome hypophysaire thyréotrope</a:t>
            </a:r>
            <a:br>
              <a:rPr lang="fr-FR" sz="2800" dirty="0"/>
            </a:br>
            <a:r>
              <a:rPr lang="fr-FR" sz="2800" dirty="0"/>
              <a:t>C. Thyroïdite subaiguë</a:t>
            </a:r>
            <a:br>
              <a:rPr lang="fr-FR" sz="2800" dirty="0"/>
            </a:br>
            <a:r>
              <a:rPr lang="fr-FR" sz="2800" dirty="0"/>
              <a:t>D. Goitre ovarien toxique</a:t>
            </a:r>
            <a:br>
              <a:rPr lang="fr-FR" sz="2800" dirty="0"/>
            </a:br>
            <a:r>
              <a:rPr lang="fr-FR" sz="2800" dirty="0"/>
              <a:t>E. Toxicose factice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7890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9EEFFB-6306-CF50-3399-F3415D20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6F480F-08E0-3C50-2C7F-D670F03C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La thyrotoxicose factice est confirmée par (</a:t>
            </a:r>
            <a:r>
              <a:rPr lang="fr-FR" b="1" i="1" dirty="0" err="1"/>
              <a:t>obj</a:t>
            </a:r>
            <a:r>
              <a:rPr lang="fr-FR" b="1" i="1" dirty="0"/>
              <a:t> n°5)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Anticorps anti-RTSH positifs</a:t>
            </a:r>
            <a:br>
              <a:rPr lang="fr-FR" sz="3200" dirty="0"/>
            </a:br>
            <a:r>
              <a:rPr lang="fr-FR" sz="3200" dirty="0"/>
              <a:t>B. Hyperfixation scintigraphique</a:t>
            </a:r>
            <a:br>
              <a:rPr lang="fr-FR" sz="3200" dirty="0"/>
            </a:br>
            <a:r>
              <a:rPr lang="fr-FR" sz="3200" dirty="0"/>
              <a:t>C. Thyroglobuline effondrée</a:t>
            </a:r>
            <a:br>
              <a:rPr lang="fr-FR" sz="3200" dirty="0"/>
            </a:br>
            <a:r>
              <a:rPr lang="fr-FR" sz="3200" dirty="0"/>
              <a:t>D. Élévation des transaminases</a:t>
            </a:r>
            <a:br>
              <a:rPr lang="fr-FR" sz="3200" dirty="0"/>
            </a:br>
            <a:r>
              <a:rPr lang="fr-FR" sz="3200" dirty="0"/>
              <a:t>E. Thyroïde de volume normal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3984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EDCE-CE02-C9B3-97F0-A4ED607DD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EC5886-16A0-70F6-5041-DC46D2E7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FE4B5A-1FE7-C114-38E1-1ABDDE9AB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La thyrotoxicose factice est confirmée par (</a:t>
            </a:r>
            <a:r>
              <a:rPr lang="fr-FR" b="1" i="1" dirty="0" err="1"/>
              <a:t>obj</a:t>
            </a:r>
            <a:r>
              <a:rPr lang="fr-FR" b="1" i="1" dirty="0"/>
              <a:t> n°5)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Anticorps anti-RTSH positifs</a:t>
            </a:r>
            <a:br>
              <a:rPr lang="fr-FR" sz="3200" dirty="0"/>
            </a:br>
            <a:r>
              <a:rPr lang="fr-FR" sz="3200" dirty="0"/>
              <a:t>B. Hyperfixation scintigraphique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C. Thyroglobuline effondrée</a:t>
            </a:r>
            <a:br>
              <a:rPr lang="fr-FR" sz="3200" dirty="0"/>
            </a:br>
            <a:r>
              <a:rPr lang="fr-FR" sz="3200" dirty="0"/>
              <a:t>D. Élévation des transaminases</a:t>
            </a:r>
            <a:br>
              <a:rPr lang="fr-FR" sz="3200" dirty="0"/>
            </a:br>
            <a:r>
              <a:rPr lang="fr-FR" sz="3200" dirty="0"/>
              <a:t>E. Thyroïde de volume normal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22596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D32257-6CB4-B412-79FE-590812FE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2E31F9-CAA9-908C-67A3-DD5A71B32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Le pronostic vital peut être mis en jeu en cas d’hyperthyroïdie devant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Ophtalmopathie Basedowienne maligne</a:t>
            </a:r>
            <a:br>
              <a:rPr lang="fr-FR" sz="2800" dirty="0"/>
            </a:br>
            <a:r>
              <a:rPr lang="fr-FR" sz="2800" dirty="0"/>
              <a:t>B. Crise aiguë thyrotoxique</a:t>
            </a:r>
            <a:br>
              <a:rPr lang="fr-FR" sz="2800" dirty="0"/>
            </a:br>
            <a:r>
              <a:rPr lang="fr-FR" sz="2800" dirty="0"/>
              <a:t>C. Hypothyroïdie induite par l’iode radioactif</a:t>
            </a:r>
            <a:br>
              <a:rPr lang="fr-FR" sz="2800" dirty="0"/>
            </a:br>
            <a:r>
              <a:rPr lang="fr-FR" sz="2800" dirty="0"/>
              <a:t>D. Paralysie périodique thyrotoxique </a:t>
            </a:r>
            <a:r>
              <a:rPr lang="fr-FR" sz="2800" dirty="0" err="1"/>
              <a:t>hypokaliémique</a:t>
            </a:r>
            <a:br>
              <a:rPr lang="fr-FR" sz="2800" dirty="0"/>
            </a:br>
            <a:r>
              <a:rPr lang="fr-FR" sz="2800" dirty="0"/>
              <a:t>E. Cardiothyréose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2668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F99D-8AC8-CFB3-07F9-F393005B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BC364F-DE10-CDBB-7226-EB96DA49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BFA344-F92B-1F9B-BB04-D99322936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Le pronostic vital peut être mis en jeu en cas d’hyperthyroïdie devant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Ophtalmopathie Basedowienne maligne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B. Crise aiguë thyrotoxique</a:t>
            </a:r>
            <a:br>
              <a:rPr lang="fr-FR" sz="2800" dirty="0"/>
            </a:br>
            <a:r>
              <a:rPr lang="fr-FR" sz="2800" dirty="0"/>
              <a:t>C. Hypothyroïdie induite par l’iode radioactif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D. Paralysie périodique thyrotoxique </a:t>
            </a:r>
            <a:r>
              <a:rPr lang="fr-FR" sz="2800" u="sng" dirty="0" err="1">
                <a:solidFill>
                  <a:srgbClr val="FF0000"/>
                </a:solidFill>
              </a:rPr>
              <a:t>hypokaliémique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E. Cardiothyréose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3324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227ADF-4D1E-02E6-DF49-03A7F70D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601889-FCD2-54AB-801F-43D1A3A7A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/>
              <a:t> L'hyperthyroïdie chez le sujet âgé se distingue par (</a:t>
            </a:r>
            <a:r>
              <a:rPr lang="fr-FR" b="1" dirty="0" err="1"/>
              <a:t>obj</a:t>
            </a:r>
            <a:r>
              <a:rPr lang="fr-FR" b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Cachexie </a:t>
            </a:r>
          </a:p>
          <a:p>
            <a:pPr marL="914400" lvl="2" indent="0">
              <a:buNone/>
            </a:pPr>
            <a:r>
              <a:rPr lang="fr-FR" sz="3200" dirty="0"/>
              <a:t>B. Exophtalmie bilatérale</a:t>
            </a:r>
            <a:br>
              <a:rPr lang="fr-FR" sz="3200" dirty="0"/>
            </a:br>
            <a:r>
              <a:rPr lang="fr-FR" sz="3200" dirty="0"/>
              <a:t>C. Tremblements fins des extrémités</a:t>
            </a:r>
            <a:br>
              <a:rPr lang="fr-FR" sz="3200" dirty="0"/>
            </a:br>
            <a:r>
              <a:rPr lang="fr-FR" sz="3200" dirty="0"/>
              <a:t>D. Humeur labile</a:t>
            </a:r>
            <a:br>
              <a:rPr lang="fr-FR" sz="3200" dirty="0"/>
            </a:br>
            <a:r>
              <a:rPr lang="fr-FR" sz="3200" dirty="0"/>
              <a:t>E. Fonte musculaire sévère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0872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F1664-FD87-9FDE-7EFE-684FDA1A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32100-846E-7730-71E3-40A47AD1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98C28-E0C2-BC7F-BEBE-B817589DA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dirty="0"/>
              <a:t> L'hyperthyroïdie chez le sujet âgé se distingue par (</a:t>
            </a:r>
            <a:r>
              <a:rPr lang="fr-FR" b="1" dirty="0" err="1"/>
              <a:t>obj</a:t>
            </a:r>
            <a:r>
              <a:rPr lang="fr-FR" b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>
                <a:solidFill>
                  <a:srgbClr val="FF0000"/>
                </a:solidFill>
              </a:rPr>
              <a:t>A. Cachexie </a:t>
            </a:r>
          </a:p>
          <a:p>
            <a:pPr marL="914400" lvl="2" indent="0">
              <a:buNone/>
            </a:pPr>
            <a:r>
              <a:rPr lang="fr-FR" sz="3200" dirty="0"/>
              <a:t>B. Exophtalmie bilatérale</a:t>
            </a:r>
            <a:br>
              <a:rPr lang="fr-FR" sz="3200" dirty="0"/>
            </a:br>
            <a:r>
              <a:rPr lang="fr-FR" sz="3200" dirty="0"/>
              <a:t>C. Tremblements fins des extrémités</a:t>
            </a:r>
            <a:br>
              <a:rPr lang="fr-FR" sz="3200" dirty="0"/>
            </a:br>
            <a:r>
              <a:rPr lang="fr-FR" sz="3200" dirty="0"/>
              <a:t>D. Humeur labile</a:t>
            </a:r>
            <a:br>
              <a:rPr lang="fr-FR" sz="3200" dirty="0"/>
            </a:br>
            <a:r>
              <a:rPr lang="fr-FR" sz="3200" dirty="0">
                <a:solidFill>
                  <a:srgbClr val="FF0000"/>
                </a:solidFill>
              </a:rPr>
              <a:t>E. Fonte musculaire sévère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308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41EB7F-2653-F087-A6C1-0C5713917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59432C-750C-44CE-FD5F-4E5390B99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crise thyrotoxique peut être déclenchée par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Infection bactérienne</a:t>
            </a:r>
            <a:br>
              <a:rPr lang="fr-FR" sz="3200" dirty="0"/>
            </a:br>
            <a:r>
              <a:rPr lang="fr-FR" sz="3200" dirty="0"/>
              <a:t>B. </a:t>
            </a:r>
            <a:r>
              <a:rPr lang="fr-FR" sz="3200" dirty="0" err="1"/>
              <a:t>Angio</a:t>
            </a:r>
            <a:r>
              <a:rPr lang="fr-FR" sz="3200" dirty="0"/>
              <a:t>-TDM thoracique</a:t>
            </a:r>
            <a:br>
              <a:rPr lang="fr-FR" sz="3200" dirty="0"/>
            </a:br>
            <a:r>
              <a:rPr lang="fr-FR" sz="3200" dirty="0"/>
              <a:t>C. Corticothérapie </a:t>
            </a:r>
            <a:br>
              <a:rPr lang="fr-FR" sz="3200" dirty="0"/>
            </a:br>
            <a:r>
              <a:rPr lang="fr-FR" sz="3200" dirty="0"/>
              <a:t>D. Régime désodé</a:t>
            </a:r>
            <a:br>
              <a:rPr lang="fr-FR" sz="3200" dirty="0"/>
            </a:br>
            <a:r>
              <a:rPr lang="fr-FR" sz="3200" dirty="0"/>
              <a:t>E. Hydratation abondante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91026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BEA2-E83F-C949-188F-7A464F56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EFA6BE-565C-6B88-CC19-D4C93C6A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8B266F-9669-DB7A-50E5-CA773DAE7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crise thyrotoxique peut être déclenchée par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>
                <a:solidFill>
                  <a:srgbClr val="FF0000"/>
                </a:solidFill>
              </a:rPr>
              <a:t>A. Infection bactérienne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dirty="0">
                <a:solidFill>
                  <a:srgbClr val="FF0000"/>
                </a:solidFill>
              </a:rPr>
              <a:t>B. </a:t>
            </a:r>
            <a:r>
              <a:rPr lang="fr-FR" sz="3200" dirty="0" err="1">
                <a:solidFill>
                  <a:srgbClr val="FF0000"/>
                </a:solidFill>
              </a:rPr>
              <a:t>Angio</a:t>
            </a:r>
            <a:r>
              <a:rPr lang="fr-FR" sz="3200" dirty="0">
                <a:solidFill>
                  <a:srgbClr val="FF0000"/>
                </a:solidFill>
              </a:rPr>
              <a:t>-TDM thoracique</a:t>
            </a:r>
            <a:br>
              <a:rPr lang="fr-FR" sz="3200" dirty="0"/>
            </a:br>
            <a:r>
              <a:rPr lang="fr-FR" sz="3200" dirty="0"/>
              <a:t>C. Corticothérapie </a:t>
            </a:r>
            <a:br>
              <a:rPr lang="fr-FR" sz="3200" dirty="0"/>
            </a:br>
            <a:r>
              <a:rPr lang="fr-FR" sz="3200" dirty="0"/>
              <a:t>D. Régime désodé</a:t>
            </a:r>
            <a:br>
              <a:rPr lang="fr-FR" sz="3200" dirty="0"/>
            </a:br>
            <a:r>
              <a:rPr lang="fr-FR" sz="3200" dirty="0"/>
              <a:t>E. Hydratation abondante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7589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4DB115-E76F-B0E9-5FEE-F2E89790A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66CED0-BB78-69ED-4882-592EDD68C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Dans la maladie de Basedow, l’ophtalmopathie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Est corrélée au taux d'anticorps anti-RTSH</a:t>
            </a:r>
            <a:br>
              <a:rPr lang="fr-FR" sz="2800" dirty="0"/>
            </a:br>
            <a:r>
              <a:rPr lang="fr-FR" sz="2800" dirty="0"/>
              <a:t>B. Est corrélée au degré de thyrotoxicose</a:t>
            </a:r>
            <a:br>
              <a:rPr lang="fr-FR" sz="2800" dirty="0"/>
            </a:br>
            <a:r>
              <a:rPr lang="fr-FR" sz="2800" dirty="0"/>
              <a:t>C. Est aggravée par le tabac</a:t>
            </a:r>
            <a:br>
              <a:rPr lang="fr-FR" sz="2800" dirty="0"/>
            </a:br>
            <a:r>
              <a:rPr lang="fr-FR" sz="2800" dirty="0"/>
              <a:t>D. Régresse en cas de passage en hypothyroïdie</a:t>
            </a:r>
            <a:br>
              <a:rPr lang="fr-FR" sz="2800" dirty="0"/>
            </a:br>
            <a:r>
              <a:rPr lang="fr-FR" sz="2800" dirty="0"/>
              <a:t>E. Contre-indique l'iode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5412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794B1-9147-EC0B-CD55-444DDF95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3B5767-B998-0223-A5B8-7882BC80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B2443D-738D-2A79-987E-8AD28B02A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Dans la maladie de Basedow, l’ophtalmopathie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Est corrélée au taux d'anticorps anti-RTSH</a:t>
            </a:r>
            <a:br>
              <a:rPr lang="fr-FR" sz="2800" dirty="0"/>
            </a:br>
            <a:r>
              <a:rPr lang="fr-FR" sz="2800" dirty="0"/>
              <a:t>B. Est corrélée au degré de thyrotoxicose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C. Est aggravée par le tabac</a:t>
            </a:r>
            <a:br>
              <a:rPr lang="fr-FR" sz="2800" dirty="0"/>
            </a:br>
            <a:r>
              <a:rPr lang="fr-FR" sz="2800" dirty="0"/>
              <a:t>D. Régresse en cas de passage en hypothyroïdie</a:t>
            </a:r>
            <a:br>
              <a:rPr lang="fr-FR" sz="2800" dirty="0"/>
            </a:br>
            <a:r>
              <a:rPr lang="fr-FR" sz="2800" dirty="0"/>
              <a:t>E. Contre-indique l'iode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5833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C78D9E-657E-9BF8-BCE6-941F7DF46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4E6DA3-1EF5-3814-38F5-83E3B3EEF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Dans la thyrotoxicose gestationnelle transitoire, on observe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Positivité des anticorps anti-RTSH </a:t>
            </a:r>
            <a:br>
              <a:rPr lang="fr-FR" sz="3200" dirty="0"/>
            </a:br>
            <a:r>
              <a:rPr lang="fr-FR" sz="3200" dirty="0"/>
              <a:t>B. Régression spontanée au deuxième trimestre</a:t>
            </a:r>
            <a:br>
              <a:rPr lang="fr-FR" sz="3200" dirty="0"/>
            </a:br>
            <a:r>
              <a:rPr lang="fr-FR" sz="3200" dirty="0"/>
              <a:t>C. Nécessité des antithyroïdiens de synthèse </a:t>
            </a:r>
          </a:p>
          <a:p>
            <a:pPr marL="914400" lvl="2" indent="0">
              <a:buNone/>
            </a:pPr>
            <a:r>
              <a:rPr lang="fr-FR" sz="3200" dirty="0"/>
              <a:t>D. Exophtalmie associée</a:t>
            </a:r>
            <a:br>
              <a:rPr lang="fr-FR" sz="3200" dirty="0"/>
            </a:br>
            <a:r>
              <a:rPr lang="fr-FR" sz="3200" dirty="0"/>
              <a:t>E. Risque élevé d'hypothyroïdie fœtale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5934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E4C2-0420-583A-405A-3903984C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DE60BF-8A7F-B891-88D8-425CDC51A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D9BE35-F6DD-BFEB-4110-DEF12B2F9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Dans la thyrotoxicose gestationnelle transitoire, on observe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Positivité des anticorps anti-RTSH 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Régression spontanée au deuxième trimestre</a:t>
            </a:r>
            <a:br>
              <a:rPr lang="fr-FR" sz="3200" dirty="0"/>
            </a:br>
            <a:r>
              <a:rPr lang="fr-FR" sz="3200" dirty="0"/>
              <a:t>C. Nécessité des antithyroïdiens de synthèse </a:t>
            </a:r>
          </a:p>
          <a:p>
            <a:pPr marL="914400" lvl="2" indent="0">
              <a:buNone/>
            </a:pPr>
            <a:r>
              <a:rPr lang="fr-FR" sz="3200" dirty="0"/>
              <a:t>D. Exophtalmie associée</a:t>
            </a:r>
            <a:br>
              <a:rPr lang="fr-FR" sz="3200" dirty="0"/>
            </a:br>
            <a:r>
              <a:rPr lang="fr-FR" sz="3200" dirty="0"/>
              <a:t>E. Risque élevé d'hypothyroïdie fœtale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8595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03F03-4AA8-9684-422A-AF329AFA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E82A87-9A57-D92D-D787-CD3352441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La thyroïdite du post-partum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Nécessite un traitement radical par iode radioactif</a:t>
            </a:r>
            <a:br>
              <a:rPr lang="fr-FR" sz="2800" dirty="0"/>
            </a:br>
            <a:r>
              <a:rPr lang="fr-FR" sz="2800" dirty="0"/>
              <a:t>B. Peut évoluer vers une hypothyroïdie transitoire</a:t>
            </a:r>
            <a:br>
              <a:rPr lang="fr-FR" sz="2800" dirty="0"/>
            </a:br>
            <a:r>
              <a:rPr lang="fr-FR" sz="2800" dirty="0"/>
              <a:t>C. Se caractérise par une scintigraphie blanche</a:t>
            </a:r>
            <a:br>
              <a:rPr lang="fr-FR" sz="2800" dirty="0"/>
            </a:br>
            <a:r>
              <a:rPr lang="fr-FR" sz="2800" dirty="0"/>
              <a:t>D. Est associée à des anticorps anti-RTSH positifs</a:t>
            </a:r>
            <a:br>
              <a:rPr lang="fr-FR" sz="2800" dirty="0"/>
            </a:br>
            <a:r>
              <a:rPr lang="fr-FR" sz="2800" dirty="0"/>
              <a:t>E. Contre-indique une nouvelle grossesse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39358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F53C7-0905-8C37-C423-C66998C1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22BBB2-5F0A-64B1-C56E-A31515FE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6582AE-DDE1-F9DC-60F4-0DAA15F8D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La thyroïdite du post-partum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Nécessite un traitement radical par iode radioactif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B. Peut évoluer vers une hypothyroïdie transitoire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C. Se caractérise par une scintigraphie blanche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dirty="0"/>
              <a:t>D. Est associée à des anticorps anti-RTSH positifs</a:t>
            </a:r>
            <a:br>
              <a:rPr lang="fr-FR" sz="2800" dirty="0"/>
            </a:br>
            <a:r>
              <a:rPr lang="fr-FR" sz="2800" dirty="0"/>
              <a:t>E. Contre-indique une nouvelle grossesse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5748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066EBE-7422-2343-533A-0D49F0C4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822262-7A0F-036A-4E02-2F7F8F14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Une thyroïdite subaiguë de De Quervain minime peut être traitée par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Antithyroïdiens de synthèse</a:t>
            </a:r>
            <a:br>
              <a:rPr lang="fr-FR" sz="3200" dirty="0"/>
            </a:br>
            <a:r>
              <a:rPr lang="fr-FR" sz="3200" dirty="0"/>
              <a:t>B. Anti-inflammatoires non stéroïdiens</a:t>
            </a:r>
            <a:br>
              <a:rPr lang="fr-FR" sz="3200" dirty="0"/>
            </a:br>
            <a:r>
              <a:rPr lang="fr-FR" sz="3200" dirty="0"/>
              <a:t>C. Propranolol</a:t>
            </a:r>
            <a:br>
              <a:rPr lang="fr-FR" sz="3200" dirty="0"/>
            </a:br>
            <a:r>
              <a:rPr lang="fr-FR" sz="3200" dirty="0"/>
              <a:t>D. Iode radioactif</a:t>
            </a:r>
            <a:br>
              <a:rPr lang="fr-FR" sz="3200" dirty="0"/>
            </a:br>
            <a:r>
              <a:rPr lang="fr-FR" sz="3200" dirty="0"/>
              <a:t>E. corticoïdes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4157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7D5F-E7DC-B013-B275-ABA63AB5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ED75E1-A9B4-30F4-1D7D-C790DB52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F2C9DF-8018-EC7A-1509-8B61BEBFE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Une thyroïdite subaiguë de De Quervain minime peut être traitée par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Antithyroïdiens de synthèse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Anti-inflammatoires non stéroïdiens</a:t>
            </a:r>
            <a:br>
              <a:rPr lang="fr-FR" sz="3200" u="sng" dirty="0">
                <a:solidFill>
                  <a:srgbClr val="FF0000"/>
                </a:solidFill>
              </a:rPr>
            </a:br>
            <a:r>
              <a:rPr lang="fr-FR" sz="3200" u="sng" dirty="0">
                <a:solidFill>
                  <a:srgbClr val="FF0000"/>
                </a:solidFill>
              </a:rPr>
              <a:t>C. Propranolol</a:t>
            </a:r>
            <a:br>
              <a:rPr lang="fr-FR" sz="3200" dirty="0"/>
            </a:br>
            <a:r>
              <a:rPr lang="fr-FR" sz="3200" dirty="0"/>
              <a:t>D. Iode radioactif</a:t>
            </a:r>
            <a:br>
              <a:rPr lang="fr-FR" sz="3200" dirty="0"/>
            </a:br>
            <a:r>
              <a:rPr lang="fr-FR" sz="3200" dirty="0"/>
              <a:t>E. corticoïdes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0844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20B80-FFF6-1B62-6478-145BCE73B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4C74C5-CEB0-68FD-B337-F2EF9F27F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Les antithyroïdiens de synthèse ont comme effets indésirables sévères (</a:t>
            </a:r>
            <a:r>
              <a:rPr lang="fr-FR" b="1" i="1" dirty="0" err="1"/>
              <a:t>obj</a:t>
            </a:r>
            <a:r>
              <a:rPr lang="fr-FR" b="1" i="1" dirty="0"/>
              <a:t> n°8)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Rash cutané</a:t>
            </a:r>
            <a:br>
              <a:rPr lang="fr-FR" sz="3200" dirty="0"/>
            </a:br>
            <a:r>
              <a:rPr lang="fr-FR" sz="3200" dirty="0"/>
              <a:t>B. Arthralgies</a:t>
            </a:r>
            <a:br>
              <a:rPr lang="fr-FR" sz="3200" dirty="0"/>
            </a:br>
            <a:r>
              <a:rPr lang="fr-FR" sz="3200" dirty="0"/>
              <a:t>C. Epigastralgies</a:t>
            </a:r>
            <a:br>
              <a:rPr lang="fr-FR" sz="3200" dirty="0"/>
            </a:br>
            <a:r>
              <a:rPr lang="fr-FR" sz="3200" dirty="0"/>
              <a:t>D. Agranulocytose</a:t>
            </a:r>
            <a:br>
              <a:rPr lang="fr-FR" sz="3200" dirty="0"/>
            </a:br>
            <a:r>
              <a:rPr lang="fr-FR" sz="3200" dirty="0"/>
              <a:t>E. Hépatite cytolytique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6173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729C-50B1-7101-9D9B-3498F204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38B138-C518-A8E7-511E-A77C474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3063BB-B65F-493F-E185-FBA3598F9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Les antithyroïdiens de synthèse ont comme effets indésirables sévères (</a:t>
            </a:r>
            <a:r>
              <a:rPr lang="fr-FR" b="1" i="1" dirty="0" err="1"/>
              <a:t>obj</a:t>
            </a:r>
            <a:r>
              <a:rPr lang="fr-FR" b="1" i="1" dirty="0"/>
              <a:t> n°8)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Rash cutané</a:t>
            </a:r>
            <a:br>
              <a:rPr lang="fr-FR" sz="3200" dirty="0"/>
            </a:br>
            <a:r>
              <a:rPr lang="fr-FR" sz="3200" dirty="0"/>
              <a:t>B. Arthralgies</a:t>
            </a:r>
            <a:br>
              <a:rPr lang="fr-FR" sz="3200" dirty="0"/>
            </a:br>
            <a:r>
              <a:rPr lang="fr-FR" sz="3200" dirty="0"/>
              <a:t>C. Epigastralgies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D. Agranulocytose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u="sng" dirty="0">
                <a:solidFill>
                  <a:srgbClr val="FF0000"/>
                </a:solidFill>
              </a:rPr>
              <a:t>E. Hépatite cytolytique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0938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6391D3-318E-AB31-C16A-CE04F9ED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D887F1-ACD2-9466-3942-62F8379A5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On peut préconiser chez la femme enceinte et selon la sévérité de l’hyperthyroïdie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Thyroïdectomie totale</a:t>
            </a:r>
          </a:p>
          <a:p>
            <a:pPr marL="914400" lvl="2" indent="0">
              <a:buNone/>
            </a:pPr>
            <a:r>
              <a:rPr lang="fr-FR" sz="2800" dirty="0"/>
              <a:t>B. </a:t>
            </a:r>
            <a:r>
              <a:rPr lang="fr-FR" sz="2800" dirty="0" err="1"/>
              <a:t>Propylthiouracile</a:t>
            </a:r>
            <a:br>
              <a:rPr lang="fr-FR" sz="2800" dirty="0"/>
            </a:br>
            <a:r>
              <a:rPr lang="fr-FR" sz="2800" dirty="0"/>
              <a:t>C. Propranolol</a:t>
            </a:r>
            <a:br>
              <a:rPr lang="fr-FR" sz="2800" dirty="0"/>
            </a:br>
            <a:r>
              <a:rPr lang="fr-FR" sz="2800" dirty="0"/>
              <a:t>D. Faible dose d’iode radioactif</a:t>
            </a:r>
            <a:br>
              <a:rPr lang="fr-FR" sz="2800" dirty="0"/>
            </a:br>
            <a:r>
              <a:rPr lang="fr-FR" sz="2800" dirty="0"/>
              <a:t>E. </a:t>
            </a:r>
            <a:r>
              <a:rPr lang="fr-FR" sz="2800" dirty="0" err="1"/>
              <a:t>Méthimazole</a:t>
            </a:r>
            <a:r>
              <a:rPr lang="fr-FR" sz="2800" dirty="0"/>
              <a:t> au premier trimestre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4799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22DDA-BDB2-AA82-A4A9-C7787C78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BAC446-20AA-77E7-BF4F-BDEA3606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7FFFF2-2D32-639F-F9C0-6712B6569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On peut préconiser chez la femme enceinte et selon la sévérité de l’hyperthyroïdie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A. Thyroïdectomie totale</a:t>
            </a:r>
            <a:endParaRPr lang="fr-FR" sz="28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B. </a:t>
            </a:r>
            <a:r>
              <a:rPr lang="fr-FR" sz="2800" u="sng" dirty="0" err="1">
                <a:solidFill>
                  <a:srgbClr val="FF0000"/>
                </a:solidFill>
              </a:rPr>
              <a:t>Propylthiouracile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C. Propranolol</a:t>
            </a:r>
            <a:br>
              <a:rPr lang="fr-FR" sz="2800" dirty="0"/>
            </a:br>
            <a:r>
              <a:rPr lang="fr-FR" sz="2800" dirty="0"/>
              <a:t>D. Faible dose d’iode radioactif</a:t>
            </a:r>
            <a:br>
              <a:rPr lang="fr-FR" sz="2800" dirty="0"/>
            </a:br>
            <a:r>
              <a:rPr lang="fr-FR" sz="2800" dirty="0"/>
              <a:t>E. </a:t>
            </a:r>
            <a:r>
              <a:rPr lang="fr-FR" sz="2800" dirty="0" err="1"/>
              <a:t>Méthimazole</a:t>
            </a:r>
            <a:r>
              <a:rPr lang="fr-FR" sz="2800" dirty="0"/>
              <a:t> au premier trimestre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49641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2DF5FD-E6F9-5696-9ADF-F6892FAD7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607BAC-5D1E-1553-0129-F06E797B6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L'iode radioactif est relativement contre-indiqué dans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dirty="0"/>
              <a:t>A. Goitre multi-nodulaire toxique chez une femme ménopausée</a:t>
            </a:r>
            <a:br>
              <a:rPr lang="fr-FR" dirty="0"/>
            </a:br>
            <a:r>
              <a:rPr lang="fr-FR" dirty="0"/>
              <a:t>B. Récurrence d’une maladie de Basedow</a:t>
            </a:r>
            <a:br>
              <a:rPr lang="fr-FR" dirty="0"/>
            </a:br>
            <a:r>
              <a:rPr lang="fr-FR" dirty="0"/>
              <a:t>C. Adénome toxique chez une femme mariée sous contraception</a:t>
            </a:r>
            <a:br>
              <a:rPr lang="fr-FR" dirty="0"/>
            </a:br>
            <a:r>
              <a:rPr lang="fr-FR" dirty="0"/>
              <a:t>D. Troisième trimestre de la grossesse</a:t>
            </a:r>
            <a:br>
              <a:rPr lang="fr-FR" dirty="0"/>
            </a:br>
            <a:r>
              <a:rPr lang="fr-FR" dirty="0"/>
              <a:t>E. </a:t>
            </a:r>
            <a:r>
              <a:rPr lang="fr-FR" dirty="0" err="1"/>
              <a:t>Orbitopathie</a:t>
            </a:r>
            <a:r>
              <a:rPr lang="fr-FR" dirty="0"/>
              <a:t> maligne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461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A2923-2884-787F-F05A-B1BD51F5F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379669-9554-48C5-23BA-FC278528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CC4D78-9204-0752-93E9-0584B4D5F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L'iode radioactif est relativement contre-indiqué dans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dirty="0"/>
              <a:t>A. Goitre multi-nodulaire toxique chez une femme ménopausée</a:t>
            </a:r>
            <a:br>
              <a:rPr lang="fr-FR" dirty="0"/>
            </a:br>
            <a:r>
              <a:rPr lang="fr-FR" dirty="0"/>
              <a:t>B. Récurrence d’une maladie de Basedow</a:t>
            </a:r>
            <a:br>
              <a:rPr lang="fr-FR" dirty="0"/>
            </a:br>
            <a:r>
              <a:rPr lang="fr-FR" dirty="0"/>
              <a:t>C. Adénome toxique chez une femme mariée sous contraception</a:t>
            </a:r>
            <a:br>
              <a:rPr lang="fr-FR" dirty="0"/>
            </a:br>
            <a:r>
              <a:rPr lang="fr-FR" u="sng" dirty="0">
                <a:solidFill>
                  <a:srgbClr val="FF0000"/>
                </a:solidFill>
              </a:rPr>
              <a:t>D. Troisième trimestre de la grossesse</a:t>
            </a:r>
            <a:br>
              <a:rPr lang="fr-FR" dirty="0">
                <a:solidFill>
                  <a:srgbClr val="FF0000"/>
                </a:solidFill>
              </a:rPr>
            </a:br>
            <a:r>
              <a:rPr lang="fr-FR" u="sng" dirty="0">
                <a:solidFill>
                  <a:srgbClr val="FF0000"/>
                </a:solidFill>
              </a:rPr>
              <a:t>E. </a:t>
            </a:r>
            <a:r>
              <a:rPr lang="fr-FR" u="sng" dirty="0" err="1">
                <a:solidFill>
                  <a:srgbClr val="FF0000"/>
                </a:solidFill>
              </a:rPr>
              <a:t>Orbitopathie</a:t>
            </a:r>
            <a:r>
              <a:rPr lang="fr-FR" u="sng" dirty="0">
                <a:solidFill>
                  <a:srgbClr val="FF0000"/>
                </a:solidFill>
              </a:rPr>
              <a:t> maligne</a:t>
            </a:r>
            <a:endParaRPr lang="fr-FR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3798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97C930-FFAC-5B5A-B828-20202AB4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120FC0-E469-F208-122A-3087D6A7D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La surveillance d'un nouveau-né de mère atteinte de maladie de Basedow inclut (</a:t>
            </a:r>
            <a:r>
              <a:rPr lang="fr-FR" b="1" i="1" dirty="0" err="1"/>
              <a:t>obj</a:t>
            </a:r>
            <a:r>
              <a:rPr lang="fr-FR" b="1" i="1" dirty="0"/>
              <a:t> n°8)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Dosage de la TSH à l’âge de 1 an</a:t>
            </a:r>
            <a:br>
              <a:rPr lang="fr-FR" sz="2800" dirty="0"/>
            </a:br>
            <a:r>
              <a:rPr lang="fr-FR" sz="2800" dirty="0"/>
              <a:t>B. Dépistage d'hyperthyroïdie néonatale</a:t>
            </a:r>
            <a:br>
              <a:rPr lang="fr-FR" sz="2800" dirty="0"/>
            </a:br>
            <a:r>
              <a:rPr lang="fr-FR" sz="2800" dirty="0"/>
              <a:t>C. Scintigraphie thyroïdienne </a:t>
            </a:r>
            <a:br>
              <a:rPr lang="fr-FR" sz="2800" dirty="0"/>
            </a:br>
            <a:r>
              <a:rPr lang="fr-FR" sz="2800" dirty="0"/>
              <a:t>D. Interdiction de l'allaitement maternel</a:t>
            </a:r>
            <a:br>
              <a:rPr lang="fr-FR" sz="2800" dirty="0"/>
            </a:br>
            <a:r>
              <a:rPr lang="fr-FR" sz="2800" dirty="0"/>
              <a:t>E. Cure préventive d'iode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2436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06CD-0F9A-7978-B729-97ED8619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FD6CD7-DB6F-BAE7-F79F-E17858E0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9AB531-2216-59DA-24B6-C5F4F87D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 </a:t>
            </a:r>
            <a:r>
              <a:rPr lang="fr-FR" b="1" i="1" dirty="0"/>
              <a:t>La surveillance d'un nouveau-né de mère atteinte de maladie de Basedow inclut (</a:t>
            </a:r>
            <a:r>
              <a:rPr lang="fr-FR" b="1" i="1" dirty="0" err="1"/>
              <a:t>obj</a:t>
            </a:r>
            <a:r>
              <a:rPr lang="fr-FR" b="1" i="1" dirty="0"/>
              <a:t> n°8)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Dosage de la TSH à l’âge de 1 an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B. Dépistage d'hyperthyroïdie néonatale</a:t>
            </a:r>
            <a:br>
              <a:rPr lang="fr-FR" sz="2800" dirty="0"/>
            </a:br>
            <a:r>
              <a:rPr lang="fr-FR" sz="2800" dirty="0"/>
              <a:t>C. Scintigraphie thyroïdienne </a:t>
            </a:r>
            <a:br>
              <a:rPr lang="fr-FR" sz="2800" dirty="0"/>
            </a:br>
            <a:r>
              <a:rPr lang="fr-FR" sz="2800" dirty="0"/>
              <a:t>D. Interdiction de l'allaitement maternel</a:t>
            </a:r>
            <a:br>
              <a:rPr lang="fr-FR" sz="2800" dirty="0"/>
            </a:br>
            <a:r>
              <a:rPr lang="fr-FR" sz="2800" dirty="0"/>
              <a:t>E. Cure préventive d'iode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03271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5AB78D-26F2-4CE5-5EFE-7C406DCE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CB550-6B29-7879-93E2-87F020F72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 </a:t>
            </a:r>
            <a:r>
              <a:rPr lang="fr-FR" b="1" i="1" dirty="0"/>
              <a:t> En faveur d’une hyperthyroïdie fœtale à l’échographie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Tachycardie fœtale </a:t>
            </a:r>
            <a:br>
              <a:rPr lang="fr-FR" sz="3200" dirty="0"/>
            </a:br>
            <a:r>
              <a:rPr lang="fr-FR" sz="3200" dirty="0"/>
              <a:t>B. Myxœdème </a:t>
            </a:r>
            <a:br>
              <a:rPr lang="fr-FR" sz="3200" dirty="0"/>
            </a:br>
            <a:r>
              <a:rPr lang="fr-FR" sz="3200" dirty="0"/>
              <a:t>C. Retard de croissance sévère</a:t>
            </a:r>
            <a:br>
              <a:rPr lang="fr-FR" sz="3200" dirty="0"/>
            </a:br>
            <a:r>
              <a:rPr lang="fr-FR" sz="3200" dirty="0"/>
              <a:t>D. Anasarque</a:t>
            </a:r>
            <a:br>
              <a:rPr lang="fr-FR" sz="3200" dirty="0"/>
            </a:br>
            <a:r>
              <a:rPr lang="fr-FR" sz="3200" dirty="0"/>
              <a:t>E. Avance de maturation osseuse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30528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B3AD-7E28-6299-AC1F-CB3C727A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4EAE6-64E0-026F-C2EB-2E9509040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73E418-21A8-201B-158D-BD7FC75D3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 </a:t>
            </a:r>
            <a:r>
              <a:rPr lang="fr-FR" b="1" i="1" dirty="0"/>
              <a:t> En faveur d’une hyperthyroïdie fœtale à l’échographie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Tachycardie fœtale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  <a:br>
              <a:rPr lang="fr-FR" sz="3200" dirty="0"/>
            </a:br>
            <a:r>
              <a:rPr lang="fr-FR" sz="3200" dirty="0"/>
              <a:t>B. Myxœdème </a:t>
            </a:r>
            <a:br>
              <a:rPr lang="fr-FR" sz="3200" dirty="0"/>
            </a:br>
            <a:r>
              <a:rPr lang="fr-FR" sz="3200" dirty="0"/>
              <a:t>C. Retard de croissance sévère</a:t>
            </a:r>
            <a:br>
              <a:rPr lang="fr-FR" sz="3200" dirty="0"/>
            </a:br>
            <a:r>
              <a:rPr lang="fr-FR" sz="3200" dirty="0"/>
              <a:t>D. Anasarque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E. Avance de maturation osseuse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10844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37CEBD-1520-8D9C-C2A2-6D5BE98D2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013B99-D588-1EE1-B9B1-820AC3FC0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propranolol dans l'hyperthyroïdie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Stimule la conversion périphérique de T4 en T3</a:t>
            </a:r>
            <a:br>
              <a:rPr lang="fr-FR" sz="2800" dirty="0"/>
            </a:br>
            <a:r>
              <a:rPr lang="fr-FR" sz="2800" dirty="0"/>
              <a:t>B. Réduit les tremblements</a:t>
            </a:r>
            <a:br>
              <a:rPr lang="fr-FR" sz="2800" dirty="0"/>
            </a:br>
            <a:r>
              <a:rPr lang="fr-FR" sz="2800" dirty="0"/>
              <a:t>C. Est contre-indiqué en cas d’asthme</a:t>
            </a:r>
            <a:br>
              <a:rPr lang="fr-FR" sz="2800" dirty="0"/>
            </a:br>
            <a:r>
              <a:rPr lang="fr-FR" sz="2800" dirty="0"/>
              <a:t>D. Réduit les palpitations </a:t>
            </a:r>
            <a:br>
              <a:rPr lang="fr-FR" sz="2800" dirty="0"/>
            </a:br>
            <a:r>
              <a:rPr lang="fr-FR" sz="2800" dirty="0"/>
              <a:t>E. Augmente la fixation de l'iode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48189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F346-2101-5A6C-9DAC-4C289A6C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1F8B9-3C07-FF41-C1E5-D2D94383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B1541A-B67C-5EBD-C3F3-9A62B41CB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propranolol dans l'hyperthyroïdie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800100" lvl="2" indent="0">
              <a:buNone/>
            </a:pPr>
            <a:r>
              <a:rPr lang="fr-FR" sz="2800" dirty="0"/>
              <a:t>A. Stimule la conversion périphérique de T4 en T3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B. Réduit les tremblements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C. Est contre-indiqué en cas d’asthme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D. Réduit les palpitations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br>
              <a:rPr lang="fr-FR" sz="2800" dirty="0"/>
            </a:br>
            <a:r>
              <a:rPr lang="fr-FR" sz="2800" dirty="0"/>
              <a:t>E. Augmente la fixation de l'iode radioactif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58813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D214-0FB3-518B-D510-8A15849B0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631ED9-A744-483F-879E-D97871CF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C15BD3-F292-6D3C-91F0-62BFF60E6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traitement par iode stable (Lugol) permet de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Inhiber le transport de l’iode</a:t>
            </a:r>
            <a:br>
              <a:rPr lang="fr-FR" sz="2800" dirty="0"/>
            </a:br>
            <a:r>
              <a:rPr lang="fr-FR" sz="2800" dirty="0"/>
              <a:t>B. Inhiber l’organification de l’iode</a:t>
            </a:r>
            <a:br>
              <a:rPr lang="fr-FR" sz="2800" dirty="0"/>
            </a:br>
            <a:r>
              <a:rPr lang="fr-FR" sz="2800" dirty="0"/>
              <a:t>C. Inhiber la sécrétion des hormones thyroïdiennes </a:t>
            </a:r>
            <a:br>
              <a:rPr lang="fr-FR" sz="2800" dirty="0"/>
            </a:br>
            <a:r>
              <a:rPr lang="fr-FR" sz="2800" dirty="0"/>
              <a:t>D. Prévenir l'</a:t>
            </a:r>
            <a:r>
              <a:rPr lang="fr-FR" sz="2800" dirty="0" err="1"/>
              <a:t>ophtalmopathie</a:t>
            </a:r>
            <a:r>
              <a:rPr lang="fr-FR" sz="2800" dirty="0"/>
              <a:t> Basedowienne</a:t>
            </a:r>
            <a:br>
              <a:rPr lang="fr-FR" sz="2800" dirty="0"/>
            </a:br>
            <a:r>
              <a:rPr lang="fr-FR" sz="2800" dirty="0"/>
              <a:t>E. Réduire la vascularisation du goitre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80773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329724-5435-4219-F768-9657C0273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CDF3D0-CA1A-235C-DC01-90127BDE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traitement par iode stable (Lugol) permet de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A. Inhiber le transport de l’iode</a:t>
            </a:r>
            <a:br>
              <a:rPr lang="fr-FR" sz="2800" u="sng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B. Inhiber l’organification de l’iode</a:t>
            </a:r>
            <a:br>
              <a:rPr lang="fr-FR" sz="2800" u="sng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C. Inhiber la sécrétion des hormones thyroïdiennes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dirty="0"/>
              <a:t>(</a:t>
            </a:r>
            <a:r>
              <a:rPr lang="fr-FR" b="1" dirty="0" err="1">
                <a:solidFill>
                  <a:srgbClr val="00B050"/>
                </a:solidFill>
              </a:rPr>
              <a:t>phenomene</a:t>
            </a:r>
            <a:r>
              <a:rPr lang="fr-FR" b="1" dirty="0">
                <a:solidFill>
                  <a:srgbClr val="00B050"/>
                </a:solidFill>
              </a:rPr>
              <a:t> </a:t>
            </a:r>
            <a:r>
              <a:rPr lang="fr-FR" b="1" dirty="0" err="1">
                <a:solidFill>
                  <a:srgbClr val="00B050"/>
                </a:solidFill>
              </a:rPr>
              <a:t>wolff-Chaikoff</a:t>
            </a:r>
            <a:r>
              <a:rPr lang="fr-FR" b="1" dirty="0">
                <a:solidFill>
                  <a:srgbClr val="00B050"/>
                </a:solidFill>
              </a:rPr>
              <a:t>)</a:t>
            </a:r>
            <a:br>
              <a:rPr lang="fr-FR" sz="2800" b="1" dirty="0">
                <a:solidFill>
                  <a:srgbClr val="00B050"/>
                </a:solidFill>
              </a:rPr>
            </a:br>
            <a:r>
              <a:rPr lang="fr-FR" sz="2800" dirty="0"/>
              <a:t>D. Prévenir l’ ophtalmopathie Basedowienne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E. Réduire la vascularisation du goitre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31793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43BEC-7BE4-0612-CC08-FE5E7DA2A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C08155-E849-8397-58A1-72824AEA1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>
            <a:normAutofit fontScale="92500"/>
          </a:bodyPr>
          <a:lstStyle/>
          <a:p>
            <a:r>
              <a:rPr lang="fr-FR" b="1" dirty="0"/>
              <a:t>Cas clinique 1 :</a:t>
            </a:r>
            <a:endParaRPr lang="fr-FR" dirty="0"/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femme de 28 ans, enceinte à 9 SA, présente des vomissements incoercibles et une perte de poids.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n’a pas de goitre ni d'exophtalmie.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bilan montre :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kaliémie à 3,2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(3,5 – 5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mmol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/l), TSH &lt; 0,05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/L, FT4 à 26 (12 – 22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pmol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/l), βHCG positive, anticorps anti-RTSH 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anti-TPO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négatifs.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53618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1CFED-C5F4-53CD-BF7E-50C9EBB6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6784A8-6B68-3DDD-56BA-59AE31CB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diagnostic évoqué chez cette patiente est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Maladie de Basedow à début gravidique</a:t>
            </a:r>
            <a:br>
              <a:rPr lang="fr-FR" sz="3200" dirty="0"/>
            </a:br>
            <a:r>
              <a:rPr lang="fr-FR" sz="3200" dirty="0"/>
              <a:t>B. Thyrotoxicose gestationnelle transitoire</a:t>
            </a:r>
            <a:br>
              <a:rPr lang="fr-FR" sz="3200" dirty="0"/>
            </a:br>
            <a:r>
              <a:rPr lang="fr-FR" sz="3200" dirty="0"/>
              <a:t>C. Thyroïdite silencieuse</a:t>
            </a:r>
            <a:br>
              <a:rPr lang="fr-FR" sz="3200" dirty="0"/>
            </a:br>
            <a:r>
              <a:rPr lang="fr-FR" sz="3200" dirty="0"/>
              <a:t>D. Thyroïdite de Hashimoto</a:t>
            </a:r>
            <a:br>
              <a:rPr lang="fr-FR" sz="3200" dirty="0"/>
            </a:br>
            <a:r>
              <a:rPr lang="fr-FR" sz="3200" dirty="0"/>
              <a:t>E. Choriocarcinome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05677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4E77-BA5F-02AD-FEA0-92A83CB84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2030B-2DCA-EEF3-3729-B7C10F059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F9A477-60D3-EF9E-0EB3-B93911827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 Le diagnostic évoqué chez cette patiente est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Maladie de Basedow à début gravidique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Thyrotoxicose gestationnelle transitoire</a:t>
            </a:r>
            <a:br>
              <a:rPr lang="fr-FR" sz="3200" dirty="0"/>
            </a:br>
            <a:r>
              <a:rPr lang="fr-FR" sz="3200" dirty="0"/>
              <a:t>C. Thyroïdite silencieuse</a:t>
            </a:r>
            <a:br>
              <a:rPr lang="fr-FR" sz="3200" dirty="0"/>
            </a:br>
            <a:r>
              <a:rPr lang="fr-FR" sz="3200" dirty="0"/>
              <a:t>D. Thyroïdite de Hashimoto</a:t>
            </a:r>
            <a:br>
              <a:rPr lang="fr-FR" sz="3200" dirty="0"/>
            </a:br>
            <a:r>
              <a:rPr lang="fr-FR" sz="3200" dirty="0"/>
              <a:t>E. Choriocarcinome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9514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25849-8AF1-FEAC-A400-70A0D589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E1C256-A36E-1F9C-3B45-520BD7776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La prise en charge immédiate repose sur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Interruption thérapeutique de grossesse</a:t>
            </a:r>
            <a:br>
              <a:rPr lang="fr-FR" sz="2800" dirty="0"/>
            </a:br>
            <a:r>
              <a:rPr lang="fr-FR" sz="2800" dirty="0"/>
              <a:t>B. Antithyroïdiens de synthèse à forte dose</a:t>
            </a:r>
            <a:br>
              <a:rPr lang="fr-FR" sz="2800" dirty="0"/>
            </a:br>
            <a:r>
              <a:rPr lang="fr-FR" sz="2800" dirty="0"/>
              <a:t>C. Correction des troubles hydroélectrolytiques</a:t>
            </a:r>
            <a:br>
              <a:rPr lang="fr-FR" sz="2800" dirty="0"/>
            </a:br>
            <a:r>
              <a:rPr lang="fr-FR" sz="2800" dirty="0"/>
              <a:t>D. Hospitalisation en gynécologie</a:t>
            </a:r>
            <a:br>
              <a:rPr lang="fr-FR" sz="2800" dirty="0"/>
            </a:br>
            <a:r>
              <a:rPr lang="fr-FR" sz="2800" dirty="0"/>
              <a:t>E. Traitement symptomatique des vomissements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07499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7CEE-6FD2-32D8-413B-405BF0752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61E5D-2211-F21D-23A5-981F40EF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083961-AB8B-F603-CACA-AF0E5DBEF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b="1" i="1" dirty="0"/>
              <a:t> La prise en charge immédiate repose sur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Interruption thérapeutique de grossesse</a:t>
            </a:r>
            <a:br>
              <a:rPr lang="fr-FR" sz="2800" dirty="0"/>
            </a:br>
            <a:r>
              <a:rPr lang="fr-FR" sz="2800" dirty="0"/>
              <a:t>B. Antithyroïdiens de synthèse à forte dose</a:t>
            </a:r>
            <a:br>
              <a:rPr lang="fr-FR" sz="2800" dirty="0"/>
            </a:br>
            <a:r>
              <a:rPr lang="fr-FR" sz="2800" u="sng" dirty="0">
                <a:solidFill>
                  <a:srgbClr val="FF0000"/>
                </a:solidFill>
              </a:rPr>
              <a:t>C. Correction des troubles hydroélectrolytiques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D. Hospitalisation en gynécologie</a:t>
            </a:r>
            <a:br>
              <a:rPr lang="fr-FR" sz="2800" dirty="0">
                <a:solidFill>
                  <a:srgbClr val="FF0000"/>
                </a:solidFill>
              </a:rPr>
            </a:br>
            <a:r>
              <a:rPr lang="fr-FR" sz="2800" u="sng" dirty="0">
                <a:solidFill>
                  <a:srgbClr val="FF0000"/>
                </a:solidFill>
              </a:rPr>
              <a:t>E. Traitement symptomatique des vomissements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31223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E5C24B-EA4E-1CF4-3D15-F7A20446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D5D8C3-2EFA-D020-7B84-1465CB236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L’évolution dans ce cas se caractérise par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dirty="0"/>
              <a:t>A. Régression spontanée à la 2ème partie de la grossesse</a:t>
            </a:r>
            <a:br>
              <a:rPr lang="fr-FR" dirty="0"/>
            </a:br>
            <a:r>
              <a:rPr lang="fr-FR" dirty="0"/>
              <a:t>B. Apparition de l’</a:t>
            </a:r>
            <a:r>
              <a:rPr lang="fr-FR" dirty="0" err="1"/>
              <a:t>ophtalmopathie</a:t>
            </a:r>
            <a:r>
              <a:rPr lang="fr-FR" dirty="0"/>
              <a:t> dans un tiers des cas</a:t>
            </a:r>
          </a:p>
          <a:p>
            <a:pPr marL="800100" lvl="2" indent="0">
              <a:buNone/>
            </a:pPr>
            <a:r>
              <a:rPr lang="fr-FR" dirty="0"/>
              <a:t>C. Anomalies du scalp associées aux antithyroïdiens de synthèse </a:t>
            </a:r>
            <a:br>
              <a:rPr lang="fr-FR" dirty="0"/>
            </a:br>
            <a:r>
              <a:rPr lang="fr-FR" dirty="0"/>
              <a:t>D. Hypothyroïdie congénitale chez le nouveau-né</a:t>
            </a:r>
            <a:br>
              <a:rPr lang="fr-FR" dirty="0"/>
            </a:br>
            <a:r>
              <a:rPr lang="fr-FR" dirty="0"/>
              <a:t>E. Malformations cardiaques chez le fœtus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39411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915D-48AA-8217-26C8-32D7D427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A9EABD-71E4-7664-F5F7-8E3CB74C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7BE951-7B5F-F1E9-0A01-53AA25A54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L’évolution dans ce cas se caractérise par (</a:t>
            </a:r>
            <a:r>
              <a:rPr lang="fr-FR" b="1" i="1" dirty="0" err="1"/>
              <a:t>obj</a:t>
            </a:r>
            <a:r>
              <a:rPr lang="fr-FR" b="1" i="1" dirty="0"/>
              <a:t> n°6) :</a:t>
            </a:r>
            <a:endParaRPr lang="fr-FR" dirty="0"/>
          </a:p>
          <a:p>
            <a:pPr marL="800100" lvl="2" indent="0">
              <a:buNone/>
            </a:pPr>
            <a:r>
              <a:rPr lang="fr-FR" u="sng" dirty="0">
                <a:solidFill>
                  <a:srgbClr val="FF0000"/>
                </a:solidFill>
              </a:rPr>
              <a:t>A. Régression spontanée à la 2ème partie de la grossesse</a:t>
            </a:r>
            <a:br>
              <a:rPr lang="fr-FR" dirty="0"/>
            </a:br>
            <a:r>
              <a:rPr lang="fr-FR" dirty="0"/>
              <a:t>B. Apparition de l’</a:t>
            </a:r>
            <a:r>
              <a:rPr lang="fr-FR" dirty="0" err="1"/>
              <a:t>ophtalmopathie</a:t>
            </a:r>
            <a:r>
              <a:rPr lang="fr-FR" dirty="0"/>
              <a:t> dans un tiers des cas</a:t>
            </a:r>
          </a:p>
          <a:p>
            <a:pPr marL="800100" lvl="2" indent="0">
              <a:buNone/>
            </a:pPr>
            <a:r>
              <a:rPr lang="fr-FR" dirty="0"/>
              <a:t>C. Anomalies du scalp associées aux antithyroïdiens de synthèse </a:t>
            </a:r>
            <a:br>
              <a:rPr lang="fr-FR" dirty="0"/>
            </a:br>
            <a:r>
              <a:rPr lang="fr-FR" dirty="0"/>
              <a:t>D. Hypothyroïdie congénitale chez le nouveau-né</a:t>
            </a:r>
            <a:br>
              <a:rPr lang="fr-FR" dirty="0"/>
            </a:br>
            <a:r>
              <a:rPr lang="fr-FR" dirty="0"/>
              <a:t>E. Malformations cardiaques chez le fœtus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1587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59DD38-46FD-ADE9-CB7A-F2365ECC6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CA2EBD-412C-8DD7-3D23-895E64E7D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Cas clinique 2 :</a:t>
            </a:r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patient de 72 ans sous amiodarone pour fibrillation auriculaire présente une altération de l'état général avec fièvre à 38,5°C, œdème des membres inférieurs et agitation.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bilan montre une TSH &lt; 0,01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 et une FT4 très élevée.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scintigraphie thyroïdienne est blanche.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3985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82D4A-3CF1-73D7-78D7-ED645D4A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651695-22D8-AF32-CFEC-EA772747F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Le mécanisme de l'hyperthyroïdie dans ce cas est (</a:t>
            </a:r>
            <a:r>
              <a:rPr lang="fr-FR" b="1" i="1" dirty="0" err="1"/>
              <a:t>obj</a:t>
            </a:r>
            <a:r>
              <a:rPr lang="fr-FR" b="1" i="1" dirty="0"/>
              <a:t> n°1)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Surcharge iodée de type I</a:t>
            </a:r>
            <a:br>
              <a:rPr lang="fr-FR" sz="3200" dirty="0"/>
            </a:br>
            <a:r>
              <a:rPr lang="fr-FR" sz="3200" dirty="0"/>
              <a:t>B. Surcharge iodée de type II</a:t>
            </a:r>
            <a:br>
              <a:rPr lang="fr-FR" sz="3200" dirty="0"/>
            </a:br>
            <a:r>
              <a:rPr lang="fr-FR" sz="3200" dirty="0"/>
              <a:t>C. Thyroïdite de Hashimoto</a:t>
            </a:r>
            <a:br>
              <a:rPr lang="fr-FR" sz="3200" dirty="0"/>
            </a:br>
            <a:r>
              <a:rPr lang="fr-FR" sz="3200" dirty="0"/>
              <a:t>D. Maladie de Basedow</a:t>
            </a:r>
            <a:br>
              <a:rPr lang="fr-FR" sz="3200" dirty="0"/>
            </a:br>
            <a:r>
              <a:rPr lang="fr-FR" sz="3200" dirty="0"/>
              <a:t>E. Thyrotoxicose factice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40676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77802-2D91-3312-0A15-5644D11FD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D5BC5-17EF-BCC8-4394-F7FF7A9F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127402-7C63-0420-90FA-9378F5322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i="1" dirty="0"/>
              <a:t> </a:t>
            </a:r>
            <a:r>
              <a:rPr lang="fr-FR" b="1" i="1" dirty="0"/>
              <a:t>Le mécanisme de l'hyperthyroïdie dans ce cas est (</a:t>
            </a:r>
            <a:r>
              <a:rPr lang="fr-FR" b="1" i="1" dirty="0" err="1"/>
              <a:t>obj</a:t>
            </a:r>
            <a:r>
              <a:rPr lang="fr-FR" b="1" i="1" dirty="0"/>
              <a:t> n°1)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Surcharge iodée de type I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Surcharge iodée de type II</a:t>
            </a:r>
            <a:br>
              <a:rPr lang="fr-FR" sz="3200" dirty="0"/>
            </a:br>
            <a:r>
              <a:rPr lang="fr-FR" sz="3200" dirty="0"/>
              <a:t>C. Thyroïdite de Hashimoto</a:t>
            </a:r>
            <a:br>
              <a:rPr lang="fr-FR" sz="3200" dirty="0"/>
            </a:br>
            <a:r>
              <a:rPr lang="fr-FR" sz="3200" dirty="0"/>
              <a:t>D. Maladie de Basedow</a:t>
            </a:r>
            <a:br>
              <a:rPr lang="fr-FR" sz="3200" dirty="0"/>
            </a:br>
            <a:r>
              <a:rPr lang="fr-FR" sz="3200" dirty="0"/>
              <a:t>E. Thyrotoxicose factice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92613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4F3D7A-37D6-E931-5BC4-F9978B8AE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B531F5A-6E8C-C285-0C32-9C64B1A38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i="1" dirty="0"/>
              <a:t>  </a:t>
            </a:r>
            <a:r>
              <a:rPr lang="fr-FR" b="1" i="1" dirty="0"/>
              <a:t>La prise en charge initiale urgente comporte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Antithyroïdiens de synthèse </a:t>
            </a:r>
            <a:br>
              <a:rPr lang="fr-FR" sz="3200" dirty="0"/>
            </a:br>
            <a:r>
              <a:rPr lang="fr-FR" sz="3200" dirty="0"/>
              <a:t>B. Corticothérapie systémique</a:t>
            </a:r>
            <a:br>
              <a:rPr lang="fr-FR" sz="3200" dirty="0"/>
            </a:br>
            <a:r>
              <a:rPr lang="fr-FR" sz="3200" dirty="0"/>
              <a:t>C. Iode radioactif </a:t>
            </a:r>
            <a:br>
              <a:rPr lang="fr-FR" sz="3200" dirty="0"/>
            </a:br>
            <a:r>
              <a:rPr lang="fr-FR" sz="3200" dirty="0"/>
              <a:t>D. Lithium </a:t>
            </a:r>
            <a:br>
              <a:rPr lang="fr-FR" sz="3200" dirty="0"/>
            </a:br>
            <a:r>
              <a:rPr lang="fr-FR" sz="3200" dirty="0"/>
              <a:t>E. Thyroïdectomie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7634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69B1-0D89-E169-AE3D-3F754447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2F399-BA42-9820-EE25-7AF17F48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244E6C-34CD-CA8D-FD3A-4EA4876F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i="1" dirty="0"/>
              <a:t>  </a:t>
            </a:r>
            <a:r>
              <a:rPr lang="fr-FR" b="1" i="1" dirty="0"/>
              <a:t>La prise en charge initiale urgente comporte (</a:t>
            </a:r>
            <a:r>
              <a:rPr lang="fr-FR" b="1" i="1" dirty="0" err="1"/>
              <a:t>obj</a:t>
            </a:r>
            <a:r>
              <a:rPr lang="fr-FR" b="1" i="1" dirty="0"/>
              <a:t> n°7)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Antithyroïdiens de synthèse 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B. Corticothérapie systémique</a:t>
            </a:r>
            <a:br>
              <a:rPr lang="fr-FR" sz="3200" dirty="0"/>
            </a:br>
            <a:r>
              <a:rPr lang="fr-FR" sz="3200" dirty="0"/>
              <a:t>C. Iode radioactif </a:t>
            </a:r>
            <a:br>
              <a:rPr lang="fr-FR" sz="3200" dirty="0"/>
            </a:br>
            <a:r>
              <a:rPr lang="fr-FR" sz="3200" dirty="0"/>
              <a:t>D. Lithium </a:t>
            </a:r>
            <a:br>
              <a:rPr lang="fr-FR" sz="3200" dirty="0"/>
            </a:br>
            <a:r>
              <a:rPr lang="fr-FR" sz="3200" dirty="0"/>
              <a:t>E. Thyroïdectomie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07031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A012FE-8D26-D5D1-1FB7-D9FBB919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E50EC9-DFF0-2D9F-C826-4E6AC5EE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Il faut redouter dans ce cas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Myxœdème</a:t>
            </a:r>
            <a:br>
              <a:rPr lang="fr-FR" sz="3200" dirty="0"/>
            </a:br>
            <a:r>
              <a:rPr lang="fr-FR" sz="3200" dirty="0"/>
              <a:t>B. Hypocalcémie</a:t>
            </a:r>
            <a:br>
              <a:rPr lang="fr-FR" sz="3200" dirty="0"/>
            </a:br>
            <a:r>
              <a:rPr lang="fr-FR" sz="3200" dirty="0"/>
              <a:t>C. Paralysie récurrentielle</a:t>
            </a:r>
            <a:br>
              <a:rPr lang="fr-FR" sz="3200" dirty="0"/>
            </a:br>
            <a:r>
              <a:rPr lang="fr-FR" sz="3200" dirty="0"/>
              <a:t>D. Insuffisance cardiaque</a:t>
            </a:r>
            <a:br>
              <a:rPr lang="fr-FR" sz="3200" dirty="0"/>
            </a:br>
            <a:r>
              <a:rPr lang="fr-FR" sz="3200" dirty="0"/>
              <a:t>E. Crise aiguë thyrotoxique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56563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7B9C-38F7-8F51-71B1-BF0AB27D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BFB4C2-EEBF-32E5-BCB6-A6DC9DBA6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AA85D5-26E4-2DE8-1E2F-7E2E7C5B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Il faut redouter dans ce cas (</a:t>
            </a:r>
            <a:r>
              <a:rPr lang="fr-FR" b="1" i="1" dirty="0" err="1"/>
              <a:t>obj</a:t>
            </a:r>
            <a:r>
              <a:rPr lang="fr-FR" b="1" i="1" dirty="0"/>
              <a:t> n°4)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Myxœdème</a:t>
            </a:r>
            <a:br>
              <a:rPr lang="fr-FR" sz="3200" dirty="0"/>
            </a:br>
            <a:r>
              <a:rPr lang="fr-FR" sz="3200" dirty="0"/>
              <a:t>B. Hypocalcémie</a:t>
            </a:r>
            <a:br>
              <a:rPr lang="fr-FR" sz="3200" dirty="0"/>
            </a:br>
            <a:r>
              <a:rPr lang="fr-FR" sz="3200" dirty="0"/>
              <a:t>C. Paralysie récurrentielle</a:t>
            </a:r>
            <a:br>
              <a:rPr lang="fr-FR" sz="3200" dirty="0"/>
            </a:br>
            <a:r>
              <a:rPr lang="fr-FR" sz="3200" u="sng" dirty="0">
                <a:solidFill>
                  <a:srgbClr val="FF0000"/>
                </a:solidFill>
              </a:rPr>
              <a:t>D. Insuffisance cardiaque</a:t>
            </a:r>
            <a:br>
              <a:rPr lang="fr-FR" sz="3200" dirty="0">
                <a:solidFill>
                  <a:srgbClr val="FF0000"/>
                </a:solidFill>
              </a:rPr>
            </a:br>
            <a:r>
              <a:rPr lang="fr-FR" sz="3200" u="sng" dirty="0">
                <a:solidFill>
                  <a:srgbClr val="FF0000"/>
                </a:solidFill>
              </a:rPr>
              <a:t>E. Crise aiguë thyrotoxique</a:t>
            </a:r>
            <a:r>
              <a:rPr lang="fr-FR" sz="3200" dirty="0">
                <a:solidFill>
                  <a:srgbClr val="FF0000"/>
                </a:solidFill>
              </a:rPr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3939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6888E-8CE1-A9E0-C995-602BE19C8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3778"/>
            <a:ext cx="8229600" cy="508918"/>
          </a:xfrm>
        </p:spPr>
        <p:txBody>
          <a:bodyPr>
            <a:noAutofit/>
          </a:bodyPr>
          <a:lstStyle/>
          <a:p>
            <a:r>
              <a:rPr lang="fr-FR" sz="3600" b="1" dirty="0"/>
              <a:t>Cas clinique 3 :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1EAF34-03EA-56BA-5A77-FFCC6FCFA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76550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fr-FR" sz="2000" dirty="0"/>
              <a:t>Une patiente âgée de 40 ans, consulte pour fièvre à 39,5°c. </a:t>
            </a:r>
          </a:p>
          <a:p>
            <a:pPr>
              <a:lnSpc>
                <a:spcPct val="170000"/>
              </a:lnSpc>
            </a:pPr>
            <a:r>
              <a:rPr lang="fr-FR" sz="2000" dirty="0"/>
              <a:t>Elle est suivie pour une hyperthyroïdie depuis 5 mois découverte devant des diarrhées chroniques à 2 fois par jour et des palpitations. Elle a reçu initialement un traitement par propranolol et </a:t>
            </a:r>
            <a:r>
              <a:rPr lang="fr-FR" sz="2000" dirty="0" err="1"/>
              <a:t>thiamazole</a:t>
            </a:r>
            <a:r>
              <a:rPr lang="fr-FR" sz="2000" dirty="0"/>
              <a:t> qu'elle les a arrêtées depuis 2 mois. </a:t>
            </a:r>
          </a:p>
          <a:p>
            <a:pPr>
              <a:lnSpc>
                <a:spcPct val="170000"/>
              </a:lnSpc>
            </a:pPr>
            <a:r>
              <a:rPr lang="fr-FR" sz="2000" dirty="0"/>
              <a:t>A la suite du décès de sa mère il y a une semaine, elle rapporte des diarrhées à raison de 5 fois par jour, des tremblements des extrémités et des palpitations. </a:t>
            </a:r>
          </a:p>
          <a:p>
            <a:pPr>
              <a:lnSpc>
                <a:spcPct val="170000"/>
              </a:lnSpc>
            </a:pPr>
            <a:r>
              <a:rPr lang="fr-FR" sz="2000" b="1" dirty="0"/>
              <a:t>A l'examen</a:t>
            </a:r>
            <a:r>
              <a:rPr lang="fr-FR" sz="2000" dirty="0"/>
              <a:t>, pas d'exophtalmie, présence d'un goitre diffus, homogène, vasculaire et non douloureux, absence de myxœdème prétibial. </a:t>
            </a:r>
          </a:p>
          <a:p>
            <a:pPr>
              <a:lnSpc>
                <a:spcPct val="170000"/>
              </a:lnSpc>
            </a:pPr>
            <a:r>
              <a:rPr lang="fr-FR" sz="2000" b="1" dirty="0"/>
              <a:t>A la biologie, </a:t>
            </a:r>
            <a:r>
              <a:rPr lang="fr-FR" sz="2000" dirty="0"/>
              <a:t>TSH freinée et FT4 &gt; 100 (12-22 </a:t>
            </a:r>
            <a:r>
              <a:rPr lang="fr-FR" sz="2000" dirty="0" err="1"/>
              <a:t>pmol</a:t>
            </a:r>
            <a:r>
              <a:rPr lang="fr-FR" sz="2000" dirty="0"/>
              <a:t>/l), glycémie à jeun 1,12 g/l, CRP négative. </a:t>
            </a:r>
            <a:r>
              <a:rPr lang="fr-FR" sz="2000" b="1" dirty="0"/>
              <a:t>A l'ECG </a:t>
            </a:r>
            <a:r>
              <a:rPr lang="fr-FR" sz="2000" dirty="0"/>
              <a:t>: tachycardie sinusale à 130bpm. </a:t>
            </a:r>
          </a:p>
          <a:p>
            <a:pPr>
              <a:lnSpc>
                <a:spcPct val="170000"/>
              </a:lnSpc>
            </a:pPr>
            <a:r>
              <a:rPr lang="fr-FR" sz="2000" dirty="0"/>
              <a:t>Vous suspectez une </a:t>
            </a:r>
            <a:r>
              <a:rPr lang="fr-FR" sz="2000" b="1" dirty="0"/>
              <a:t>crise aigue thyrotoxique. </a:t>
            </a:r>
          </a:p>
          <a:p>
            <a:pPr>
              <a:lnSpc>
                <a:spcPct val="170000"/>
              </a:lnSpc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3181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3005C7-B63E-94D2-04D5-066AC2F4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F0518F-7310-8A9A-D561-FAE4CEFB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crise aigue thyrotoxique est suspectée devant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Les diarrhées chroniques</a:t>
            </a:r>
          </a:p>
          <a:p>
            <a:pPr marL="914400" lvl="2" indent="0">
              <a:buNone/>
            </a:pPr>
            <a:r>
              <a:rPr lang="fr-FR" sz="3200" dirty="0"/>
              <a:t>B. La fièvre </a:t>
            </a:r>
          </a:p>
          <a:p>
            <a:pPr marL="914400" lvl="2" indent="0">
              <a:buNone/>
            </a:pPr>
            <a:r>
              <a:rPr lang="fr-FR" sz="3200" dirty="0"/>
              <a:t>C. La cardiothyréose</a:t>
            </a:r>
          </a:p>
          <a:p>
            <a:pPr marL="914400" lvl="2" indent="0">
              <a:buNone/>
            </a:pPr>
            <a:r>
              <a:rPr lang="fr-FR" sz="3200" dirty="0"/>
              <a:t>D. L'absence du traitement </a:t>
            </a:r>
          </a:p>
          <a:p>
            <a:pPr marL="914400" lvl="2" indent="0">
              <a:buNone/>
            </a:pPr>
            <a:r>
              <a:rPr lang="fr-FR" sz="3200" dirty="0"/>
              <a:t>E. Le stress intense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3850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FCC6-05AB-A767-27AC-0253F208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89089E-FC79-213F-D0B3-1FD9644D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D2F03-27A1-2F70-3ABB-848363F91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crise aigue thyrotoxique est suspectée devant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Les diarrhées chroniques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B. La fièvre 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dirty="0"/>
              <a:t>C. La cardiothyréose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L'absence du traitement 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E. Le stress intense </a:t>
            </a:r>
            <a:endParaRPr lang="fr-FR" sz="32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039772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5FD1B9-25D6-1787-1331-0A9F234D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CD076C-3F96-AE1A-AE6B-CAA81CEB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Maladie de Basedow est l'étiologie à évoquer dans ce cas devant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800100" lvl="2" indent="0">
              <a:buNone/>
            </a:pPr>
            <a:r>
              <a:rPr lang="fr-FR" sz="3200" dirty="0"/>
              <a:t>A. L'âge de la patiente  </a:t>
            </a:r>
          </a:p>
          <a:p>
            <a:pPr marL="800100" lvl="2" indent="0">
              <a:buNone/>
            </a:pPr>
            <a:r>
              <a:rPr lang="fr-FR" sz="3200" dirty="0"/>
              <a:t>B. Le sexe féminin</a:t>
            </a:r>
          </a:p>
          <a:p>
            <a:pPr marL="800100" lvl="2" indent="0">
              <a:buNone/>
            </a:pPr>
            <a:r>
              <a:rPr lang="fr-FR" sz="3200" dirty="0"/>
              <a:t>C. La crise aigue thyrotoxique </a:t>
            </a:r>
          </a:p>
          <a:p>
            <a:pPr marL="800100" lvl="2" indent="0">
              <a:buNone/>
            </a:pPr>
            <a:r>
              <a:rPr lang="fr-FR" sz="3200" dirty="0"/>
              <a:t>D. Les caractéristiques du goitre </a:t>
            </a:r>
          </a:p>
          <a:p>
            <a:pPr marL="800100" lvl="2" indent="0">
              <a:buNone/>
            </a:pPr>
            <a:r>
              <a:rPr lang="fr-FR" sz="3200" dirty="0"/>
              <a:t>E. L'élévation franche de la FT4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34670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E5F0-3610-9654-E8FE-DA9476A83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CC5CD-E2E9-A457-FD49-52F78A63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3C3914-955C-AA71-35A0-3D466353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Maladie de Basedow est l'étiologie à évoquer dans ce cas devant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A. L'âge de la patiente  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B. Le sexe féminin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dirty="0"/>
              <a:t>C. La crise aigue thyrotoxique </a:t>
            </a:r>
          </a:p>
          <a:p>
            <a:pPr marL="8001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Les caractéristiques du goitre </a:t>
            </a:r>
            <a:endParaRPr lang="fr-FR" sz="3200" dirty="0">
              <a:solidFill>
                <a:srgbClr val="FF0000"/>
              </a:solidFill>
            </a:endParaRPr>
          </a:p>
          <a:p>
            <a:pPr marL="800100" lvl="2" indent="0">
              <a:buNone/>
            </a:pPr>
            <a:r>
              <a:rPr lang="fr-FR" sz="3200" dirty="0"/>
              <a:t>E. L'élévation franche de la FT4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91081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6F35A-BEB5-0BB5-8087-76786D6BE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FB9C42-4558-CB08-5B18-4C5C129B9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B1854-32DB-5036-4694-5FE8CDEF4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conduite thérapeutique de la crise aigue thyrotoxique comporte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2800" dirty="0"/>
              <a:t>A. Hospitalisation en unités de soins intensifs </a:t>
            </a:r>
          </a:p>
          <a:p>
            <a:pPr marL="914400" lvl="2" indent="0">
              <a:buNone/>
            </a:pPr>
            <a:r>
              <a:rPr lang="fr-FR" sz="2800" dirty="0"/>
              <a:t>B. Thyroxine par voie intraveineuse </a:t>
            </a:r>
          </a:p>
          <a:p>
            <a:pPr marL="914400" lvl="2" indent="0">
              <a:buNone/>
            </a:pPr>
            <a:r>
              <a:rPr lang="fr-FR" sz="2800" dirty="0"/>
              <a:t>C. Beta bloquant par voie intraveineuse </a:t>
            </a:r>
          </a:p>
          <a:p>
            <a:pPr marL="914400" lvl="2" indent="0">
              <a:buNone/>
            </a:pPr>
            <a:r>
              <a:rPr lang="fr-FR" sz="2800" dirty="0"/>
              <a:t>D. Corticoïdes par voie inhalées</a:t>
            </a:r>
          </a:p>
          <a:p>
            <a:pPr marL="914400" lvl="2" indent="0">
              <a:buNone/>
            </a:pPr>
            <a:r>
              <a:rPr lang="fr-FR" sz="2800" dirty="0"/>
              <a:t>E. Lutte contre la fièvre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53350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BA5C41-6C45-5E63-0C9A-6BCAD5F3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DE13CC-F933-14F5-53C0-47D283140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La conduite thérapeutique de la crise aigue thyrotoxique comporte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A. Hospitalisation en unités de soins intensifs </a:t>
            </a:r>
            <a:endParaRPr lang="fr-FR" sz="28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2800" dirty="0"/>
              <a:t>B. Thyroxine par voie intraveineuse </a:t>
            </a:r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C. Beta bloquant par voie intraveineuse </a:t>
            </a:r>
            <a:endParaRPr lang="fr-FR" sz="28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2800" dirty="0"/>
              <a:t>D. Corticoïdes par voie inhalées</a:t>
            </a:r>
          </a:p>
          <a:p>
            <a:pPr marL="914400" lvl="2" indent="0">
              <a:buNone/>
            </a:pPr>
            <a:r>
              <a:rPr lang="fr-FR" sz="2800" u="sng" dirty="0">
                <a:solidFill>
                  <a:srgbClr val="FF0000"/>
                </a:solidFill>
              </a:rPr>
              <a:t>E. Lutte contre la fièvre 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3023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CF9CC-744A-4156-F2BA-E0A499B2D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3F2B92-BEF4-AA19-0C98-9A80CE55B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Le traitement de l'hyperthyroïdie chez cette patiente après la prise en charge de la crise aigue thyrotoxique doit inclure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Le </a:t>
            </a:r>
            <a:r>
              <a:rPr lang="fr-FR" sz="3200" dirty="0" err="1"/>
              <a:t>thiamazole</a:t>
            </a:r>
            <a:r>
              <a:rPr lang="fr-FR" sz="3200" dirty="0"/>
              <a:t> à vie</a:t>
            </a:r>
          </a:p>
          <a:p>
            <a:pPr marL="914400" lvl="2" indent="0">
              <a:buNone/>
            </a:pPr>
            <a:r>
              <a:rPr lang="fr-FR" sz="3200" dirty="0"/>
              <a:t>B. La metformine </a:t>
            </a:r>
          </a:p>
          <a:p>
            <a:pPr marL="914400" lvl="2" indent="0">
              <a:buNone/>
            </a:pPr>
            <a:r>
              <a:rPr lang="fr-FR" sz="3200" dirty="0"/>
              <a:t>C. L'iode minérale</a:t>
            </a:r>
          </a:p>
          <a:p>
            <a:pPr marL="914400" lvl="2" indent="0">
              <a:buNone/>
            </a:pPr>
            <a:r>
              <a:rPr lang="fr-FR" sz="3200" dirty="0"/>
              <a:t>D. Une cure d'iode radioactif </a:t>
            </a:r>
          </a:p>
          <a:p>
            <a:pPr marL="914400" lvl="2" indent="0">
              <a:buNone/>
            </a:pPr>
            <a:r>
              <a:rPr lang="fr-FR" sz="3200" dirty="0"/>
              <a:t>E. Une thyroïdectomie subtotale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44533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F5B28-1EB7-FE31-D35C-97CB45659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84D66-24B7-7C17-10A9-742AFD91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0EA713-20CB-2078-BD33-31884CDE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b="1" i="1" dirty="0"/>
              <a:t>Le traitement de l'hyperthyroïdie chez cette patiente après la prise en charge de la crise aigue thyrotoxique doit inclure (</a:t>
            </a:r>
            <a:r>
              <a:rPr lang="fr-FR" b="1" i="1" dirty="0" err="1"/>
              <a:t>obj</a:t>
            </a:r>
            <a:r>
              <a:rPr lang="fr-FR" b="1" i="1" dirty="0"/>
              <a:t> n°) :</a:t>
            </a:r>
            <a:endParaRPr lang="fr-FR" dirty="0"/>
          </a:p>
          <a:p>
            <a:pPr marL="914400" lvl="2" indent="0">
              <a:buNone/>
            </a:pPr>
            <a:r>
              <a:rPr lang="fr-FR" sz="3200" dirty="0"/>
              <a:t>A. Le </a:t>
            </a:r>
            <a:r>
              <a:rPr lang="fr-FR" sz="3200" dirty="0" err="1"/>
              <a:t>thiamazole</a:t>
            </a:r>
            <a:r>
              <a:rPr lang="fr-FR" sz="3200" dirty="0"/>
              <a:t> à vie</a:t>
            </a:r>
          </a:p>
          <a:p>
            <a:pPr marL="914400" lvl="2" indent="0">
              <a:buNone/>
            </a:pPr>
            <a:r>
              <a:rPr lang="fr-FR" sz="3200" dirty="0"/>
              <a:t>B. La metformine </a:t>
            </a:r>
          </a:p>
          <a:p>
            <a:pPr marL="914400" lvl="2" indent="0">
              <a:buNone/>
            </a:pPr>
            <a:r>
              <a:rPr lang="fr-FR" sz="3200" dirty="0"/>
              <a:t>C. L'iode minérale</a:t>
            </a:r>
          </a:p>
          <a:p>
            <a:pPr marL="914400" lvl="2" indent="0">
              <a:buNone/>
            </a:pPr>
            <a:r>
              <a:rPr lang="fr-FR" sz="3200" u="sng" dirty="0">
                <a:solidFill>
                  <a:srgbClr val="FF0000"/>
                </a:solidFill>
              </a:rPr>
              <a:t>D. Une cure d'iode radioactif </a:t>
            </a:r>
            <a:endParaRPr lang="fr-FR" sz="3200" dirty="0">
              <a:solidFill>
                <a:srgbClr val="FF0000"/>
              </a:solidFill>
            </a:endParaRPr>
          </a:p>
          <a:p>
            <a:pPr marL="914400" lvl="2" indent="0">
              <a:buNone/>
            </a:pPr>
            <a:r>
              <a:rPr lang="fr-FR" sz="3200" dirty="0"/>
              <a:t>E. Une thyroïdectomie subtotale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575714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onne chance hi-res stock photography and images - Alamy">
            <a:extLst>
              <a:ext uri="{FF2B5EF4-FFF2-40B4-BE49-F238E27FC236}">
                <a16:creationId xmlns:a16="http://schemas.microsoft.com/office/drawing/2014/main" id="{E6BDE9C7-FA8A-D395-EAC4-07CD2DB2A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820"/>
          <a:stretch>
            <a:fillRect/>
          </a:stretch>
        </p:blipFill>
        <p:spPr bwMode="auto">
          <a:xfrm>
            <a:off x="2330223" y="1988840"/>
            <a:ext cx="4483553" cy="228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492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3078a292-4e8d-409d-a21f-59417549508d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4785</TotalTime>
  <Words>3776</Words>
  <Application>Microsoft Office PowerPoint</Application>
  <PresentationFormat>Affichage à l'écran (4:3)</PresentationFormat>
  <Paragraphs>262</Paragraphs>
  <Slides>81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81</vt:i4>
      </vt:variant>
    </vt:vector>
  </HeadingPairs>
  <TitlesOfParts>
    <vt:vector size="85" baseType="lpstr">
      <vt:lpstr>Arial</vt:lpstr>
      <vt:lpstr>Calibri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Cas clinique 3 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versus</dc:creator>
  <cp:lastModifiedBy>zied.kammoun</cp:lastModifiedBy>
  <cp:revision>38</cp:revision>
  <dcterms:created xsi:type="dcterms:W3CDTF">2023-06-08T11:04:51Z</dcterms:created>
  <dcterms:modified xsi:type="dcterms:W3CDTF">2025-08-23T13:13:33Z</dcterms:modified>
</cp:coreProperties>
</file>
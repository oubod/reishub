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96" r:id="rId4"/>
  </p:sldMasterIdLst>
  <p:notesMasterIdLst>
    <p:notesMasterId r:id="rId44"/>
  </p:notesMasterIdLst>
  <p:sldIdLst>
    <p:sldId id="256" r:id="rId5"/>
    <p:sldId id="499" r:id="rId6"/>
    <p:sldId id="257" r:id="rId7"/>
    <p:sldId id="258" r:id="rId8"/>
    <p:sldId id="261" r:id="rId9"/>
    <p:sldId id="262" r:id="rId10"/>
    <p:sldId id="267" r:id="rId11"/>
    <p:sldId id="505" r:id="rId12"/>
    <p:sldId id="275" r:id="rId13"/>
    <p:sldId id="506" r:id="rId14"/>
    <p:sldId id="288" r:id="rId15"/>
    <p:sldId id="279" r:id="rId16"/>
    <p:sldId id="507" r:id="rId17"/>
    <p:sldId id="504" r:id="rId18"/>
    <p:sldId id="274" r:id="rId19"/>
    <p:sldId id="277" r:id="rId20"/>
    <p:sldId id="276" r:id="rId21"/>
    <p:sldId id="278" r:id="rId22"/>
    <p:sldId id="287" r:id="rId23"/>
    <p:sldId id="286" r:id="rId24"/>
    <p:sldId id="501" r:id="rId25"/>
    <p:sldId id="291" r:id="rId26"/>
    <p:sldId id="292" r:id="rId27"/>
    <p:sldId id="371" r:id="rId28"/>
    <p:sldId id="372" r:id="rId29"/>
    <p:sldId id="293" r:id="rId30"/>
    <p:sldId id="295" r:id="rId31"/>
    <p:sldId id="298" r:id="rId32"/>
    <p:sldId id="299" r:id="rId33"/>
    <p:sldId id="508" r:id="rId34"/>
    <p:sldId id="300" r:id="rId35"/>
    <p:sldId id="509" r:id="rId36"/>
    <p:sldId id="337" r:id="rId37"/>
    <p:sldId id="308" r:id="rId38"/>
    <p:sldId id="515" r:id="rId39"/>
    <p:sldId id="511" r:id="rId40"/>
    <p:sldId id="512" r:id="rId41"/>
    <p:sldId id="522" r:id="rId42"/>
    <p:sldId id="554" r:id="rId4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29880B-AF04-410E-B015-2A464C98922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EE41B0F-BEB5-46CB-A471-5DC8E30E5F1A}">
      <dgm:prSet phldrT="[Text]"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Sources du Cholesterol</a:t>
          </a:r>
        </a:p>
      </dgm:t>
    </dgm:pt>
    <dgm:pt modelId="{D0FE3225-D980-4E7F-9473-1F0513042BF7}" type="parTrans" cxnId="{18A00EEA-AA40-45ED-9ECA-332914116306}">
      <dgm:prSet/>
      <dgm:spPr/>
      <dgm:t>
        <a:bodyPr/>
        <a:lstStyle/>
        <a:p>
          <a:endParaRPr lang="en-US" b="1"/>
        </a:p>
      </dgm:t>
    </dgm:pt>
    <dgm:pt modelId="{093DE2C2-34B3-4581-8ECC-0D2A3E38D828}" type="sibTrans" cxnId="{18A00EEA-AA40-45ED-9ECA-332914116306}">
      <dgm:prSet/>
      <dgm:spPr/>
      <dgm:t>
        <a:bodyPr/>
        <a:lstStyle/>
        <a:p>
          <a:endParaRPr lang="en-US" b="1"/>
        </a:p>
      </dgm:t>
    </dgm:pt>
    <dgm:pt modelId="{8E8446E6-78C9-494B-B8C5-9A795B7D47DE}">
      <dgm:prSet phldrT="[Text]"/>
      <dgm:spPr/>
      <dgm:t>
        <a:bodyPr/>
        <a:lstStyle/>
        <a:p>
          <a:r>
            <a:rPr lang="en-US" b="1" dirty="0" err="1"/>
            <a:t>Exogènes</a:t>
          </a:r>
          <a:r>
            <a:rPr lang="en-US" b="1" dirty="0"/>
            <a:t> </a:t>
          </a:r>
        </a:p>
      </dgm:t>
    </dgm:pt>
    <dgm:pt modelId="{27EBCB57-FDE4-4FAA-B3A7-ADA44F252A41}" type="parTrans" cxnId="{C3D4AA75-B96F-497D-8908-1913940F094C}">
      <dgm:prSet/>
      <dgm:spPr/>
      <dgm:t>
        <a:bodyPr/>
        <a:lstStyle/>
        <a:p>
          <a:endParaRPr lang="en-US" b="1"/>
        </a:p>
      </dgm:t>
    </dgm:pt>
    <dgm:pt modelId="{04167F4C-D66B-4483-9111-8504A15A1807}" type="sibTrans" cxnId="{C3D4AA75-B96F-497D-8908-1913940F094C}">
      <dgm:prSet/>
      <dgm:spPr/>
      <dgm:t>
        <a:bodyPr/>
        <a:lstStyle/>
        <a:p>
          <a:endParaRPr lang="en-US" b="1"/>
        </a:p>
      </dgm:t>
    </dgm:pt>
    <dgm:pt modelId="{2C38DB75-8ED6-4033-B991-DCC6B05F95A4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/>
            <a:t>Endogènes</a:t>
          </a:r>
          <a:r>
            <a:rPr lang="en-US" b="1" dirty="0"/>
            <a:t> </a:t>
          </a:r>
        </a:p>
      </dgm:t>
    </dgm:pt>
    <dgm:pt modelId="{7FF20491-7173-4DD3-8072-51E8D21768FB}" type="parTrans" cxnId="{02AC88EF-C30A-4998-BFFA-A763443227D0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 b="1"/>
        </a:p>
      </dgm:t>
    </dgm:pt>
    <dgm:pt modelId="{192E3FAF-C026-4A7B-A560-EF89EE4A30B1}" type="sibTrans" cxnId="{02AC88EF-C30A-4998-BFFA-A763443227D0}">
      <dgm:prSet/>
      <dgm:spPr/>
      <dgm:t>
        <a:bodyPr/>
        <a:lstStyle/>
        <a:p>
          <a:endParaRPr lang="en-US" b="1"/>
        </a:p>
      </dgm:t>
    </dgm:pt>
    <dgm:pt modelId="{BA57F7DD-BFD7-4C96-822C-6D81391C0A15}" type="pres">
      <dgm:prSet presAssocID="{ED29880B-AF04-410E-B015-2A464C98922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B357B75-59DC-4093-9C09-9ADA440A7EEF}" type="pres">
      <dgm:prSet presAssocID="{3EE41B0F-BEB5-46CB-A471-5DC8E30E5F1A}" presName="root1" presStyleCnt="0"/>
      <dgm:spPr/>
    </dgm:pt>
    <dgm:pt modelId="{E14C7C6D-C4F3-47A1-A27B-F55198D394D2}" type="pres">
      <dgm:prSet presAssocID="{3EE41B0F-BEB5-46CB-A471-5DC8E30E5F1A}" presName="LevelOneTextNode" presStyleLbl="node0" presStyleIdx="0" presStyleCnt="1">
        <dgm:presLayoutVars>
          <dgm:chPref val="3"/>
        </dgm:presLayoutVars>
      </dgm:prSet>
      <dgm:spPr/>
    </dgm:pt>
    <dgm:pt modelId="{7097B2AA-E09E-43BA-90DE-151D46ABD600}" type="pres">
      <dgm:prSet presAssocID="{3EE41B0F-BEB5-46CB-A471-5DC8E30E5F1A}" presName="level2hierChild" presStyleCnt="0"/>
      <dgm:spPr/>
    </dgm:pt>
    <dgm:pt modelId="{F3ACA51A-6E37-4237-919E-378F15CCCB0B}" type="pres">
      <dgm:prSet presAssocID="{27EBCB57-FDE4-4FAA-B3A7-ADA44F252A41}" presName="conn2-1" presStyleLbl="parChTrans1D2" presStyleIdx="0" presStyleCnt="2"/>
      <dgm:spPr/>
    </dgm:pt>
    <dgm:pt modelId="{8459508E-3FBB-4F4D-B625-269C12B33304}" type="pres">
      <dgm:prSet presAssocID="{27EBCB57-FDE4-4FAA-B3A7-ADA44F252A41}" presName="connTx" presStyleLbl="parChTrans1D2" presStyleIdx="0" presStyleCnt="2"/>
      <dgm:spPr/>
    </dgm:pt>
    <dgm:pt modelId="{2C2E9F48-D26C-4400-B393-2949A4E09A1A}" type="pres">
      <dgm:prSet presAssocID="{8E8446E6-78C9-494B-B8C5-9A795B7D47DE}" presName="root2" presStyleCnt="0"/>
      <dgm:spPr/>
    </dgm:pt>
    <dgm:pt modelId="{DDAEE141-ADE8-426C-B61B-52493E984174}" type="pres">
      <dgm:prSet presAssocID="{8E8446E6-78C9-494B-B8C5-9A795B7D47DE}" presName="LevelTwoTextNode" presStyleLbl="node2" presStyleIdx="0" presStyleCnt="2" custScaleX="89815" custLinFactY="-100000" custLinFactNeighborX="-7225" custLinFactNeighborY="-113790">
        <dgm:presLayoutVars>
          <dgm:chPref val="3"/>
        </dgm:presLayoutVars>
      </dgm:prSet>
      <dgm:spPr/>
    </dgm:pt>
    <dgm:pt modelId="{36C6AE65-096D-4C9F-AC0F-9D5991DD64A3}" type="pres">
      <dgm:prSet presAssocID="{8E8446E6-78C9-494B-B8C5-9A795B7D47DE}" presName="level3hierChild" presStyleCnt="0"/>
      <dgm:spPr/>
    </dgm:pt>
    <dgm:pt modelId="{07488E7F-22E2-42CB-AA1D-14568A2E09C7}" type="pres">
      <dgm:prSet presAssocID="{7FF20491-7173-4DD3-8072-51E8D21768FB}" presName="conn2-1" presStyleLbl="parChTrans1D2" presStyleIdx="1" presStyleCnt="2"/>
      <dgm:spPr/>
    </dgm:pt>
    <dgm:pt modelId="{D285697C-8ADD-404E-BC48-40595DB71AC0}" type="pres">
      <dgm:prSet presAssocID="{7FF20491-7173-4DD3-8072-51E8D21768FB}" presName="connTx" presStyleLbl="parChTrans1D2" presStyleIdx="1" presStyleCnt="2"/>
      <dgm:spPr/>
    </dgm:pt>
    <dgm:pt modelId="{1A0F68EC-658B-40D2-A4CD-6FF57CA9B99C}" type="pres">
      <dgm:prSet presAssocID="{2C38DB75-8ED6-4033-B991-DCC6B05F95A4}" presName="root2" presStyleCnt="0"/>
      <dgm:spPr/>
    </dgm:pt>
    <dgm:pt modelId="{CD3E0522-AAC8-4686-A239-5AFCFD70E5C8}" type="pres">
      <dgm:prSet presAssocID="{2C38DB75-8ED6-4033-B991-DCC6B05F95A4}" presName="LevelTwoTextNode" presStyleLbl="node2" presStyleIdx="1" presStyleCnt="2" custScaleX="91130" custLinFactY="23952" custLinFactNeighborX="-5673" custLinFactNeighborY="100000">
        <dgm:presLayoutVars>
          <dgm:chPref val="3"/>
        </dgm:presLayoutVars>
      </dgm:prSet>
      <dgm:spPr/>
    </dgm:pt>
    <dgm:pt modelId="{F6D8A8ED-5699-489E-BFE3-D07BFF63F810}" type="pres">
      <dgm:prSet presAssocID="{2C38DB75-8ED6-4033-B991-DCC6B05F95A4}" presName="level3hierChild" presStyleCnt="0"/>
      <dgm:spPr/>
    </dgm:pt>
  </dgm:ptLst>
  <dgm:cxnLst>
    <dgm:cxn modelId="{D18AB426-A3AD-40D0-AA98-F710D88BCC1E}" type="presOf" srcId="{27EBCB57-FDE4-4FAA-B3A7-ADA44F252A41}" destId="{8459508E-3FBB-4F4D-B625-269C12B33304}" srcOrd="1" destOrd="0" presId="urn:microsoft.com/office/officeart/2008/layout/HorizontalMultiLevelHierarchy"/>
    <dgm:cxn modelId="{374AB629-800B-47CC-BC82-49AEB7F4B7E1}" type="presOf" srcId="{7FF20491-7173-4DD3-8072-51E8D21768FB}" destId="{D285697C-8ADD-404E-BC48-40595DB71AC0}" srcOrd="1" destOrd="0" presId="urn:microsoft.com/office/officeart/2008/layout/HorizontalMultiLevelHierarchy"/>
    <dgm:cxn modelId="{1664CD29-F0E1-41E9-A06D-C41A12A134A3}" type="presOf" srcId="{7FF20491-7173-4DD3-8072-51E8D21768FB}" destId="{07488E7F-22E2-42CB-AA1D-14568A2E09C7}" srcOrd="0" destOrd="0" presId="urn:microsoft.com/office/officeart/2008/layout/HorizontalMultiLevelHierarchy"/>
    <dgm:cxn modelId="{E261342D-AA96-4AB7-9C82-004452040017}" type="presOf" srcId="{8E8446E6-78C9-494B-B8C5-9A795B7D47DE}" destId="{DDAEE141-ADE8-426C-B61B-52493E984174}" srcOrd="0" destOrd="0" presId="urn:microsoft.com/office/officeart/2008/layout/HorizontalMultiLevelHierarchy"/>
    <dgm:cxn modelId="{01521F39-30BD-40DB-9D1B-9D6811FFF68B}" type="presOf" srcId="{ED29880B-AF04-410E-B015-2A464C989221}" destId="{BA57F7DD-BFD7-4C96-822C-6D81391C0A15}" srcOrd="0" destOrd="0" presId="urn:microsoft.com/office/officeart/2008/layout/HorizontalMultiLevelHierarchy"/>
    <dgm:cxn modelId="{72B00541-D295-46FC-A22B-F95773AB3C1C}" type="presOf" srcId="{2C38DB75-8ED6-4033-B991-DCC6B05F95A4}" destId="{CD3E0522-AAC8-4686-A239-5AFCFD70E5C8}" srcOrd="0" destOrd="0" presId="urn:microsoft.com/office/officeart/2008/layout/HorizontalMultiLevelHierarchy"/>
    <dgm:cxn modelId="{1E16A653-591C-49FE-AF6F-00544ACDEC7C}" type="presOf" srcId="{27EBCB57-FDE4-4FAA-B3A7-ADA44F252A41}" destId="{F3ACA51A-6E37-4237-919E-378F15CCCB0B}" srcOrd="0" destOrd="0" presId="urn:microsoft.com/office/officeart/2008/layout/HorizontalMultiLevelHierarchy"/>
    <dgm:cxn modelId="{C3D4AA75-B96F-497D-8908-1913940F094C}" srcId="{3EE41B0F-BEB5-46CB-A471-5DC8E30E5F1A}" destId="{8E8446E6-78C9-494B-B8C5-9A795B7D47DE}" srcOrd="0" destOrd="0" parTransId="{27EBCB57-FDE4-4FAA-B3A7-ADA44F252A41}" sibTransId="{04167F4C-D66B-4483-9111-8504A15A1807}"/>
    <dgm:cxn modelId="{27D793DD-384E-42CA-A3A1-1A9B5A37926B}" type="presOf" srcId="{3EE41B0F-BEB5-46CB-A471-5DC8E30E5F1A}" destId="{E14C7C6D-C4F3-47A1-A27B-F55198D394D2}" srcOrd="0" destOrd="0" presId="urn:microsoft.com/office/officeart/2008/layout/HorizontalMultiLevelHierarchy"/>
    <dgm:cxn modelId="{18A00EEA-AA40-45ED-9ECA-332914116306}" srcId="{ED29880B-AF04-410E-B015-2A464C989221}" destId="{3EE41B0F-BEB5-46CB-A471-5DC8E30E5F1A}" srcOrd="0" destOrd="0" parTransId="{D0FE3225-D980-4E7F-9473-1F0513042BF7}" sibTransId="{093DE2C2-34B3-4581-8ECC-0D2A3E38D828}"/>
    <dgm:cxn modelId="{02AC88EF-C30A-4998-BFFA-A763443227D0}" srcId="{3EE41B0F-BEB5-46CB-A471-5DC8E30E5F1A}" destId="{2C38DB75-8ED6-4033-B991-DCC6B05F95A4}" srcOrd="1" destOrd="0" parTransId="{7FF20491-7173-4DD3-8072-51E8D21768FB}" sibTransId="{192E3FAF-C026-4A7B-A560-EF89EE4A30B1}"/>
    <dgm:cxn modelId="{6A2BE589-3EB0-487D-97BE-C0290C516D70}" type="presParOf" srcId="{BA57F7DD-BFD7-4C96-822C-6D81391C0A15}" destId="{AB357B75-59DC-4093-9C09-9ADA440A7EEF}" srcOrd="0" destOrd="0" presId="urn:microsoft.com/office/officeart/2008/layout/HorizontalMultiLevelHierarchy"/>
    <dgm:cxn modelId="{2A6A3D4C-4940-4934-A5C7-C8875FC7981F}" type="presParOf" srcId="{AB357B75-59DC-4093-9C09-9ADA440A7EEF}" destId="{E14C7C6D-C4F3-47A1-A27B-F55198D394D2}" srcOrd="0" destOrd="0" presId="urn:microsoft.com/office/officeart/2008/layout/HorizontalMultiLevelHierarchy"/>
    <dgm:cxn modelId="{1A091AB9-3B03-4870-AD36-8A561C095F1E}" type="presParOf" srcId="{AB357B75-59DC-4093-9C09-9ADA440A7EEF}" destId="{7097B2AA-E09E-43BA-90DE-151D46ABD600}" srcOrd="1" destOrd="0" presId="urn:microsoft.com/office/officeart/2008/layout/HorizontalMultiLevelHierarchy"/>
    <dgm:cxn modelId="{663213AF-7572-4CC6-B3F7-ED2E083088C0}" type="presParOf" srcId="{7097B2AA-E09E-43BA-90DE-151D46ABD600}" destId="{F3ACA51A-6E37-4237-919E-378F15CCCB0B}" srcOrd="0" destOrd="0" presId="urn:microsoft.com/office/officeart/2008/layout/HorizontalMultiLevelHierarchy"/>
    <dgm:cxn modelId="{5D5F035F-2EC3-4F1E-BD55-73A742B7E9A6}" type="presParOf" srcId="{F3ACA51A-6E37-4237-919E-378F15CCCB0B}" destId="{8459508E-3FBB-4F4D-B625-269C12B33304}" srcOrd="0" destOrd="0" presId="urn:microsoft.com/office/officeart/2008/layout/HorizontalMultiLevelHierarchy"/>
    <dgm:cxn modelId="{4042A2BE-BD3F-409C-8885-C79773B2FC00}" type="presParOf" srcId="{7097B2AA-E09E-43BA-90DE-151D46ABD600}" destId="{2C2E9F48-D26C-4400-B393-2949A4E09A1A}" srcOrd="1" destOrd="0" presId="urn:microsoft.com/office/officeart/2008/layout/HorizontalMultiLevelHierarchy"/>
    <dgm:cxn modelId="{D3AE0853-37D9-482F-B44F-8243F7BB573B}" type="presParOf" srcId="{2C2E9F48-D26C-4400-B393-2949A4E09A1A}" destId="{DDAEE141-ADE8-426C-B61B-52493E984174}" srcOrd="0" destOrd="0" presId="urn:microsoft.com/office/officeart/2008/layout/HorizontalMultiLevelHierarchy"/>
    <dgm:cxn modelId="{B97CC819-81C9-4E55-89DE-2CF90CB4497F}" type="presParOf" srcId="{2C2E9F48-D26C-4400-B393-2949A4E09A1A}" destId="{36C6AE65-096D-4C9F-AC0F-9D5991DD64A3}" srcOrd="1" destOrd="0" presId="urn:microsoft.com/office/officeart/2008/layout/HorizontalMultiLevelHierarchy"/>
    <dgm:cxn modelId="{8629DC0B-EB3A-4E75-B516-FA613230EA42}" type="presParOf" srcId="{7097B2AA-E09E-43BA-90DE-151D46ABD600}" destId="{07488E7F-22E2-42CB-AA1D-14568A2E09C7}" srcOrd="2" destOrd="0" presId="urn:microsoft.com/office/officeart/2008/layout/HorizontalMultiLevelHierarchy"/>
    <dgm:cxn modelId="{1F8773FF-30A3-46D3-97F9-37599055EA30}" type="presParOf" srcId="{07488E7F-22E2-42CB-AA1D-14568A2E09C7}" destId="{D285697C-8ADD-404E-BC48-40595DB71AC0}" srcOrd="0" destOrd="0" presId="urn:microsoft.com/office/officeart/2008/layout/HorizontalMultiLevelHierarchy"/>
    <dgm:cxn modelId="{B00C4704-354B-48DA-A519-80E68A3ABCFD}" type="presParOf" srcId="{7097B2AA-E09E-43BA-90DE-151D46ABD600}" destId="{1A0F68EC-658B-40D2-A4CD-6FF57CA9B99C}" srcOrd="3" destOrd="0" presId="urn:microsoft.com/office/officeart/2008/layout/HorizontalMultiLevelHierarchy"/>
    <dgm:cxn modelId="{87D2F060-CF51-40AA-9A71-EB0D7544C0E0}" type="presParOf" srcId="{1A0F68EC-658B-40D2-A4CD-6FF57CA9B99C}" destId="{CD3E0522-AAC8-4686-A239-5AFCFD70E5C8}" srcOrd="0" destOrd="0" presId="urn:microsoft.com/office/officeart/2008/layout/HorizontalMultiLevelHierarchy"/>
    <dgm:cxn modelId="{C47E3034-42B1-4D9E-B476-9F335BB83018}" type="presParOf" srcId="{1A0F68EC-658B-40D2-A4CD-6FF57CA9B99C}" destId="{F6D8A8ED-5699-489E-BFE3-D07BFF63F81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68FAB7-D49E-4294-BCE5-9022C718E78B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5C9CC8-0596-410D-B63F-933FF89BDA4C}">
      <dgm:prSet phldrT="[Text]"/>
      <dgm:spPr/>
      <dgm:t>
        <a:bodyPr/>
        <a:lstStyle/>
        <a:p>
          <a:r>
            <a:rPr lang="en-US" dirty="0"/>
            <a:t>Intermediaires</a:t>
          </a:r>
        </a:p>
      </dgm:t>
    </dgm:pt>
    <dgm:pt modelId="{1759B289-0A29-4025-A47D-A6B19981228E}" type="parTrans" cxnId="{26471DFB-8682-4BFA-BA1F-482C26A09A29}">
      <dgm:prSet/>
      <dgm:spPr/>
      <dgm:t>
        <a:bodyPr/>
        <a:lstStyle/>
        <a:p>
          <a:endParaRPr lang="en-US"/>
        </a:p>
      </dgm:t>
    </dgm:pt>
    <dgm:pt modelId="{5478F81B-F186-4469-BA72-6D6E56863EB1}" type="sibTrans" cxnId="{26471DFB-8682-4BFA-BA1F-482C26A09A29}">
      <dgm:prSet/>
      <dgm:spPr/>
      <dgm:t>
        <a:bodyPr/>
        <a:lstStyle/>
        <a:p>
          <a:endParaRPr lang="en-US"/>
        </a:p>
      </dgm:t>
    </dgm:pt>
    <dgm:pt modelId="{BF73DDCA-B84E-4249-890C-00D8F9E444BA}">
      <dgm:prSet phldrT="[Text]"/>
      <dgm:spPr/>
      <dgm:t>
        <a:bodyPr/>
        <a:lstStyle/>
        <a:p>
          <a:r>
            <a:rPr lang="en-US" dirty="0"/>
            <a:t>Chylomicrons</a:t>
          </a:r>
        </a:p>
      </dgm:t>
    </dgm:pt>
    <dgm:pt modelId="{2B02B602-4695-47E2-8007-4C82BC526FC3}" type="parTrans" cxnId="{D69A04B9-6360-4009-A0DA-3D26145189EA}">
      <dgm:prSet/>
      <dgm:spPr/>
      <dgm:t>
        <a:bodyPr/>
        <a:lstStyle/>
        <a:p>
          <a:endParaRPr lang="en-US"/>
        </a:p>
      </dgm:t>
    </dgm:pt>
    <dgm:pt modelId="{5ECFD4AA-A373-4F14-A30A-EAE218810E6E}" type="sibTrans" cxnId="{D69A04B9-6360-4009-A0DA-3D26145189EA}">
      <dgm:prSet/>
      <dgm:spPr/>
      <dgm:t>
        <a:bodyPr/>
        <a:lstStyle/>
        <a:p>
          <a:endParaRPr lang="en-US"/>
        </a:p>
      </dgm:t>
    </dgm:pt>
    <dgm:pt modelId="{6F6B4097-FB2B-49F2-917A-7E62379EC7F3}">
      <dgm:prSet phldrT="[Text]"/>
      <dgm:spPr/>
      <dgm:t>
        <a:bodyPr/>
        <a:lstStyle/>
        <a:p>
          <a:r>
            <a:rPr lang="en-US" dirty="0"/>
            <a:t>Chylomicron remnants</a:t>
          </a:r>
        </a:p>
      </dgm:t>
    </dgm:pt>
    <dgm:pt modelId="{FE51A3FA-D83F-45EF-86A1-6B1B37CA6F30}" type="parTrans" cxnId="{697DA396-9168-4255-A854-1DB821C94DD2}">
      <dgm:prSet/>
      <dgm:spPr/>
      <dgm:t>
        <a:bodyPr/>
        <a:lstStyle/>
        <a:p>
          <a:endParaRPr lang="en-US"/>
        </a:p>
      </dgm:t>
    </dgm:pt>
    <dgm:pt modelId="{4B0C54E3-2447-4D4D-9182-47D2A2870315}" type="sibTrans" cxnId="{697DA396-9168-4255-A854-1DB821C94DD2}">
      <dgm:prSet/>
      <dgm:spPr/>
      <dgm:t>
        <a:bodyPr/>
        <a:lstStyle/>
        <a:p>
          <a:endParaRPr lang="en-US"/>
        </a:p>
      </dgm:t>
    </dgm:pt>
    <dgm:pt modelId="{95EAD0C1-51F8-473C-BE38-31BB4525169C}">
      <dgm:prSet phldrT="[Text]"/>
      <dgm:spPr/>
      <dgm:t>
        <a:bodyPr/>
        <a:lstStyle/>
        <a:p>
          <a:r>
            <a:rPr lang="en-US" dirty="0"/>
            <a:t>Intermediate Density Lipoproteins (IDL)</a:t>
          </a:r>
        </a:p>
      </dgm:t>
    </dgm:pt>
    <dgm:pt modelId="{49BADB3C-C459-48CE-8D2A-D0476FA7FB9C}" type="parTrans" cxnId="{D5A1DFCA-6D76-4B1A-BFCF-B51AB6BB0A4F}">
      <dgm:prSet/>
      <dgm:spPr/>
      <dgm:t>
        <a:bodyPr/>
        <a:lstStyle/>
        <a:p>
          <a:endParaRPr lang="en-US"/>
        </a:p>
      </dgm:t>
    </dgm:pt>
    <dgm:pt modelId="{49DB97D4-9E83-4C3D-8921-207BFDDC8129}" type="sibTrans" cxnId="{D5A1DFCA-6D76-4B1A-BFCF-B51AB6BB0A4F}">
      <dgm:prSet/>
      <dgm:spPr/>
      <dgm:t>
        <a:bodyPr/>
        <a:lstStyle/>
        <a:p>
          <a:endParaRPr lang="en-US"/>
        </a:p>
      </dgm:t>
    </dgm:pt>
    <dgm:pt modelId="{06799DF4-0E64-423D-86DA-10BF2A601F96}">
      <dgm:prSet phldrT="[Text]"/>
      <dgm:spPr/>
      <dgm:t>
        <a:bodyPr/>
        <a:lstStyle/>
        <a:p>
          <a:r>
            <a:rPr lang="fr-FR" dirty="0"/>
            <a:t>Importante dans l'athérosclérose coronarienne</a:t>
          </a:r>
          <a:endParaRPr lang="en-US" dirty="0"/>
        </a:p>
      </dgm:t>
    </dgm:pt>
    <dgm:pt modelId="{A85DB743-83DC-43F8-B886-1DC13AAB9B75}" type="parTrans" cxnId="{1A569DCA-EC19-4C50-B2BE-A4F77A124016}">
      <dgm:prSet/>
      <dgm:spPr/>
      <dgm:t>
        <a:bodyPr/>
        <a:lstStyle/>
        <a:p>
          <a:endParaRPr lang="en-US"/>
        </a:p>
      </dgm:t>
    </dgm:pt>
    <dgm:pt modelId="{E333ECC8-19B2-4D4F-971E-F930C07CEB1E}" type="sibTrans" cxnId="{1A569DCA-EC19-4C50-B2BE-A4F77A124016}">
      <dgm:prSet/>
      <dgm:spPr/>
      <dgm:t>
        <a:bodyPr/>
        <a:lstStyle/>
        <a:p>
          <a:endParaRPr lang="en-US"/>
        </a:p>
      </dgm:t>
    </dgm:pt>
    <dgm:pt modelId="{EB54FC21-C3C8-48DC-A88D-3CD1C7BA6166}">
      <dgm:prSet phldrT="[Text]"/>
      <dgm:spPr/>
      <dgm:t>
        <a:bodyPr/>
        <a:lstStyle/>
        <a:p>
          <a:r>
            <a:rPr lang="en-US" dirty="0"/>
            <a:t>Very-Low Density Lipoproteins</a:t>
          </a:r>
        </a:p>
      </dgm:t>
    </dgm:pt>
    <dgm:pt modelId="{5A2421B9-94D4-4D86-9D47-AB11767B590A}" type="parTrans" cxnId="{3AC56DA8-D574-4F9D-BFC3-5030DA30B16A}">
      <dgm:prSet/>
      <dgm:spPr/>
      <dgm:t>
        <a:bodyPr/>
        <a:lstStyle/>
        <a:p>
          <a:endParaRPr lang="en-US"/>
        </a:p>
      </dgm:t>
    </dgm:pt>
    <dgm:pt modelId="{D4A71642-90DC-4DFA-858E-B50F0F14C939}" type="sibTrans" cxnId="{3AC56DA8-D574-4F9D-BFC3-5030DA30B16A}">
      <dgm:prSet/>
      <dgm:spPr/>
      <dgm:t>
        <a:bodyPr/>
        <a:lstStyle/>
        <a:p>
          <a:endParaRPr lang="en-US"/>
        </a:p>
      </dgm:t>
    </dgm:pt>
    <dgm:pt modelId="{2F4A8781-EB04-4F1C-9011-B3A6C2EEA742}">
      <dgm:prSet phldrT="[Text]"/>
      <dgm:spPr/>
      <dgm:t>
        <a:bodyPr/>
        <a:lstStyle/>
        <a:p>
          <a:r>
            <a:rPr lang="en-US" dirty="0"/>
            <a:t>Low Density Lipoproteins</a:t>
          </a:r>
        </a:p>
      </dgm:t>
    </dgm:pt>
    <dgm:pt modelId="{8CBC6A5E-168C-4ECE-A33E-AA3D2800ACB8}" type="parTrans" cxnId="{6F20A8C0-78B2-45EA-A5E0-BEECB01B5F1D}">
      <dgm:prSet/>
      <dgm:spPr/>
      <dgm:t>
        <a:bodyPr/>
        <a:lstStyle/>
        <a:p>
          <a:endParaRPr lang="en-US"/>
        </a:p>
      </dgm:t>
    </dgm:pt>
    <dgm:pt modelId="{362CCEF5-E51A-45A8-B414-C10A669038F0}" type="sibTrans" cxnId="{6F20A8C0-78B2-45EA-A5E0-BEECB01B5F1D}">
      <dgm:prSet/>
      <dgm:spPr/>
      <dgm:t>
        <a:bodyPr/>
        <a:lstStyle/>
        <a:p>
          <a:endParaRPr lang="en-US"/>
        </a:p>
      </dgm:t>
    </dgm:pt>
    <dgm:pt modelId="{B5325BC5-2561-4E65-9B0C-E80727301D2B}">
      <dgm:prSet phldrT="[Text]"/>
      <dgm:spPr/>
      <dgm:t>
        <a:bodyPr/>
        <a:lstStyle/>
        <a:p>
          <a:r>
            <a:rPr lang="en-US" dirty="0"/>
            <a:t>High Density Lipoproteins </a:t>
          </a:r>
        </a:p>
      </dgm:t>
    </dgm:pt>
    <dgm:pt modelId="{4740145A-B370-45BD-B10E-75C18E8B9562}" type="parTrans" cxnId="{1991E017-33CB-44F8-AAC2-4D74D22E724D}">
      <dgm:prSet/>
      <dgm:spPr/>
      <dgm:t>
        <a:bodyPr/>
        <a:lstStyle/>
        <a:p>
          <a:endParaRPr lang="en-US"/>
        </a:p>
      </dgm:t>
    </dgm:pt>
    <dgm:pt modelId="{46913341-3B74-4EDA-AFDE-5AFBDB4C8071}" type="sibTrans" cxnId="{1991E017-33CB-44F8-AAC2-4D74D22E724D}">
      <dgm:prSet/>
      <dgm:spPr/>
      <dgm:t>
        <a:bodyPr/>
        <a:lstStyle/>
        <a:p>
          <a:endParaRPr lang="en-US"/>
        </a:p>
      </dgm:t>
    </dgm:pt>
    <dgm:pt modelId="{F7007D08-17CA-411A-A99E-BD64B46E347B}">
      <dgm:prSet phldrT="[Text]"/>
      <dgm:spPr/>
      <dgm:t>
        <a:bodyPr/>
        <a:lstStyle/>
        <a:p>
          <a:r>
            <a:rPr lang="en-US" dirty="0"/>
            <a:t> </a:t>
          </a:r>
          <a:r>
            <a:rPr lang="en-US" dirty="0" err="1"/>
            <a:t>Lpa</a:t>
          </a:r>
          <a:endParaRPr lang="en-US" dirty="0"/>
        </a:p>
      </dgm:t>
    </dgm:pt>
    <dgm:pt modelId="{D647B6E3-191A-4B7D-B14E-479924284F32}" type="parTrans" cxnId="{2575836A-56E8-43F3-A09B-3DFFCE0668DA}">
      <dgm:prSet/>
      <dgm:spPr/>
      <dgm:t>
        <a:bodyPr/>
        <a:lstStyle/>
        <a:p>
          <a:endParaRPr lang="fr-FR"/>
        </a:p>
      </dgm:t>
    </dgm:pt>
    <dgm:pt modelId="{ED4ACF5E-BDF4-42F8-B4F7-ACFCDFDD5C5B}" type="sibTrans" cxnId="{2575836A-56E8-43F3-A09B-3DFFCE0668DA}">
      <dgm:prSet/>
      <dgm:spPr/>
      <dgm:t>
        <a:bodyPr/>
        <a:lstStyle/>
        <a:p>
          <a:endParaRPr lang="fr-FR"/>
        </a:p>
      </dgm:t>
    </dgm:pt>
    <dgm:pt modelId="{0F3C7F77-D64D-46B9-B43A-09B2E41C4489}" type="pres">
      <dgm:prSet presAssocID="{0568FAB7-D49E-4294-BCE5-9022C718E78B}" presName="linear" presStyleCnt="0">
        <dgm:presLayoutVars>
          <dgm:dir/>
          <dgm:animLvl val="lvl"/>
          <dgm:resizeHandles val="exact"/>
        </dgm:presLayoutVars>
      </dgm:prSet>
      <dgm:spPr/>
    </dgm:pt>
    <dgm:pt modelId="{0A571FDB-3923-4953-9515-A6345C5D6D5F}" type="pres">
      <dgm:prSet presAssocID="{ED5C9CC8-0596-410D-B63F-933FF89BDA4C}" presName="parentLin" presStyleCnt="0"/>
      <dgm:spPr/>
    </dgm:pt>
    <dgm:pt modelId="{8FA74CF8-CDCA-4743-86FD-C0ACDD2F898B}" type="pres">
      <dgm:prSet presAssocID="{ED5C9CC8-0596-410D-B63F-933FF89BDA4C}" presName="parentLeftMargin" presStyleLbl="node1" presStyleIdx="0" presStyleCnt="2"/>
      <dgm:spPr/>
    </dgm:pt>
    <dgm:pt modelId="{BDC8A03B-86E5-4685-B68A-9D544367BE9F}" type="pres">
      <dgm:prSet presAssocID="{ED5C9CC8-0596-410D-B63F-933FF89BDA4C}" presName="parentText" presStyleLbl="node1" presStyleIdx="0" presStyleCnt="2" custLinFactNeighborY="7403">
        <dgm:presLayoutVars>
          <dgm:chMax val="0"/>
          <dgm:bulletEnabled val="1"/>
        </dgm:presLayoutVars>
      </dgm:prSet>
      <dgm:spPr/>
    </dgm:pt>
    <dgm:pt modelId="{AE2734A3-4E05-44B9-8C21-3B5530B6DD08}" type="pres">
      <dgm:prSet presAssocID="{ED5C9CC8-0596-410D-B63F-933FF89BDA4C}" presName="negativeSpace" presStyleCnt="0"/>
      <dgm:spPr/>
    </dgm:pt>
    <dgm:pt modelId="{8CD60503-3ED5-473A-964C-E7F5C19999A2}" type="pres">
      <dgm:prSet presAssocID="{ED5C9CC8-0596-410D-B63F-933FF89BDA4C}" presName="childText" presStyleLbl="conFgAcc1" presStyleIdx="0" presStyleCnt="2">
        <dgm:presLayoutVars>
          <dgm:bulletEnabled val="1"/>
        </dgm:presLayoutVars>
      </dgm:prSet>
      <dgm:spPr/>
    </dgm:pt>
    <dgm:pt modelId="{A712A1B6-1C62-4D89-B103-0192BAEEFBA9}" type="pres">
      <dgm:prSet presAssocID="{5478F81B-F186-4469-BA72-6D6E56863EB1}" presName="spaceBetweenRectangles" presStyleCnt="0"/>
      <dgm:spPr/>
    </dgm:pt>
    <dgm:pt modelId="{DECA328C-FC86-4409-AE47-E671DFC25AA2}" type="pres">
      <dgm:prSet presAssocID="{06799DF4-0E64-423D-86DA-10BF2A601F96}" presName="parentLin" presStyleCnt="0"/>
      <dgm:spPr/>
    </dgm:pt>
    <dgm:pt modelId="{91DBDAD6-0330-4357-AE75-FA9061AF80EF}" type="pres">
      <dgm:prSet presAssocID="{06799DF4-0E64-423D-86DA-10BF2A601F96}" presName="parentLeftMargin" presStyleLbl="node1" presStyleIdx="0" presStyleCnt="2"/>
      <dgm:spPr/>
    </dgm:pt>
    <dgm:pt modelId="{BA951417-5513-4FAA-9042-A3E2FEFEFBC1}" type="pres">
      <dgm:prSet presAssocID="{06799DF4-0E64-423D-86DA-10BF2A601F9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99BEC6C-429B-457E-9540-C420D754774A}" type="pres">
      <dgm:prSet presAssocID="{06799DF4-0E64-423D-86DA-10BF2A601F96}" presName="negativeSpace" presStyleCnt="0"/>
      <dgm:spPr/>
    </dgm:pt>
    <dgm:pt modelId="{6CA884E3-4206-4DD7-B80D-D4395D317672}" type="pres">
      <dgm:prSet presAssocID="{06799DF4-0E64-423D-86DA-10BF2A601F9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FEB005-2F83-4381-B064-5A8668472DA8}" type="presOf" srcId="{EB54FC21-C3C8-48DC-A88D-3CD1C7BA6166}" destId="{6CA884E3-4206-4DD7-B80D-D4395D317672}" srcOrd="0" destOrd="0" presId="urn:microsoft.com/office/officeart/2005/8/layout/list1"/>
    <dgm:cxn modelId="{1991E017-33CB-44F8-AAC2-4D74D22E724D}" srcId="{06799DF4-0E64-423D-86DA-10BF2A601F96}" destId="{B5325BC5-2561-4E65-9B0C-E80727301D2B}" srcOrd="2" destOrd="0" parTransId="{4740145A-B370-45BD-B10E-75C18E8B9562}" sibTransId="{46913341-3B74-4EDA-AFDE-5AFBDB4C8071}"/>
    <dgm:cxn modelId="{489BD619-E1E7-4DA4-877D-8E6A76003BE2}" type="presOf" srcId="{2F4A8781-EB04-4F1C-9011-B3A6C2EEA742}" destId="{6CA884E3-4206-4DD7-B80D-D4395D317672}" srcOrd="0" destOrd="1" presId="urn:microsoft.com/office/officeart/2005/8/layout/list1"/>
    <dgm:cxn modelId="{1ACB4021-B6A1-4EDC-9BF5-03D3743C9664}" type="presOf" srcId="{6F6B4097-FB2B-49F2-917A-7E62379EC7F3}" destId="{8CD60503-3ED5-473A-964C-E7F5C19999A2}" srcOrd="0" destOrd="1" presId="urn:microsoft.com/office/officeart/2005/8/layout/list1"/>
    <dgm:cxn modelId="{513F0523-6C07-4C69-8327-8F26230D5C33}" type="presOf" srcId="{95EAD0C1-51F8-473C-BE38-31BB4525169C}" destId="{8CD60503-3ED5-473A-964C-E7F5C19999A2}" srcOrd="0" destOrd="2" presId="urn:microsoft.com/office/officeart/2005/8/layout/list1"/>
    <dgm:cxn modelId="{4EEEB647-8300-461E-A308-41935F9E9681}" type="presOf" srcId="{BF73DDCA-B84E-4249-890C-00D8F9E444BA}" destId="{8CD60503-3ED5-473A-964C-E7F5C19999A2}" srcOrd="0" destOrd="0" presId="urn:microsoft.com/office/officeart/2005/8/layout/list1"/>
    <dgm:cxn modelId="{2575836A-56E8-43F3-A09B-3DFFCE0668DA}" srcId="{06799DF4-0E64-423D-86DA-10BF2A601F96}" destId="{F7007D08-17CA-411A-A99E-BD64B46E347B}" srcOrd="3" destOrd="0" parTransId="{D647B6E3-191A-4B7D-B14E-479924284F32}" sibTransId="{ED4ACF5E-BDF4-42F8-B4F7-ACFCDFDD5C5B}"/>
    <dgm:cxn modelId="{1108054D-5BD0-416F-B995-A6A165BDB602}" type="presOf" srcId="{0568FAB7-D49E-4294-BCE5-9022C718E78B}" destId="{0F3C7F77-D64D-46B9-B43A-09B2E41C4489}" srcOrd="0" destOrd="0" presId="urn:microsoft.com/office/officeart/2005/8/layout/list1"/>
    <dgm:cxn modelId="{CDABE478-4296-4BA0-AD03-2E18DBCE54B6}" type="presOf" srcId="{B5325BC5-2561-4E65-9B0C-E80727301D2B}" destId="{6CA884E3-4206-4DD7-B80D-D4395D317672}" srcOrd="0" destOrd="2" presId="urn:microsoft.com/office/officeart/2005/8/layout/list1"/>
    <dgm:cxn modelId="{DD07BD80-6D87-449A-9BC9-20899C386ECF}" type="presOf" srcId="{06799DF4-0E64-423D-86DA-10BF2A601F96}" destId="{91DBDAD6-0330-4357-AE75-FA9061AF80EF}" srcOrd="0" destOrd="0" presId="urn:microsoft.com/office/officeart/2005/8/layout/list1"/>
    <dgm:cxn modelId="{8D504D82-8152-4B3F-B031-349C7B909C4E}" type="presOf" srcId="{06799DF4-0E64-423D-86DA-10BF2A601F96}" destId="{BA951417-5513-4FAA-9042-A3E2FEFEFBC1}" srcOrd="1" destOrd="0" presId="urn:microsoft.com/office/officeart/2005/8/layout/list1"/>
    <dgm:cxn modelId="{697DA396-9168-4255-A854-1DB821C94DD2}" srcId="{ED5C9CC8-0596-410D-B63F-933FF89BDA4C}" destId="{6F6B4097-FB2B-49F2-917A-7E62379EC7F3}" srcOrd="1" destOrd="0" parTransId="{FE51A3FA-D83F-45EF-86A1-6B1B37CA6F30}" sibTransId="{4B0C54E3-2447-4D4D-9182-47D2A2870315}"/>
    <dgm:cxn modelId="{A45426A0-AE8F-43EE-90BF-D62EDDFD1CBA}" type="presOf" srcId="{ED5C9CC8-0596-410D-B63F-933FF89BDA4C}" destId="{8FA74CF8-CDCA-4743-86FD-C0ACDD2F898B}" srcOrd="0" destOrd="0" presId="urn:microsoft.com/office/officeart/2005/8/layout/list1"/>
    <dgm:cxn modelId="{3C661DA2-DDE6-4632-A1C9-F159AE959D2A}" type="presOf" srcId="{ED5C9CC8-0596-410D-B63F-933FF89BDA4C}" destId="{BDC8A03B-86E5-4685-B68A-9D544367BE9F}" srcOrd="1" destOrd="0" presId="urn:microsoft.com/office/officeart/2005/8/layout/list1"/>
    <dgm:cxn modelId="{3AC56DA8-D574-4F9D-BFC3-5030DA30B16A}" srcId="{06799DF4-0E64-423D-86DA-10BF2A601F96}" destId="{EB54FC21-C3C8-48DC-A88D-3CD1C7BA6166}" srcOrd="0" destOrd="0" parTransId="{5A2421B9-94D4-4D86-9D47-AB11767B590A}" sibTransId="{D4A71642-90DC-4DFA-858E-B50F0F14C939}"/>
    <dgm:cxn modelId="{D69A04B9-6360-4009-A0DA-3D26145189EA}" srcId="{ED5C9CC8-0596-410D-B63F-933FF89BDA4C}" destId="{BF73DDCA-B84E-4249-890C-00D8F9E444BA}" srcOrd="0" destOrd="0" parTransId="{2B02B602-4695-47E2-8007-4C82BC526FC3}" sibTransId="{5ECFD4AA-A373-4F14-A30A-EAE218810E6E}"/>
    <dgm:cxn modelId="{6F20A8C0-78B2-45EA-A5E0-BEECB01B5F1D}" srcId="{06799DF4-0E64-423D-86DA-10BF2A601F96}" destId="{2F4A8781-EB04-4F1C-9011-B3A6C2EEA742}" srcOrd="1" destOrd="0" parTransId="{8CBC6A5E-168C-4ECE-A33E-AA3D2800ACB8}" sibTransId="{362CCEF5-E51A-45A8-B414-C10A669038F0}"/>
    <dgm:cxn modelId="{1A569DCA-EC19-4C50-B2BE-A4F77A124016}" srcId="{0568FAB7-D49E-4294-BCE5-9022C718E78B}" destId="{06799DF4-0E64-423D-86DA-10BF2A601F96}" srcOrd="1" destOrd="0" parTransId="{A85DB743-83DC-43F8-B886-1DC13AAB9B75}" sibTransId="{E333ECC8-19B2-4D4F-971E-F930C07CEB1E}"/>
    <dgm:cxn modelId="{D5A1DFCA-6D76-4B1A-BFCF-B51AB6BB0A4F}" srcId="{ED5C9CC8-0596-410D-B63F-933FF89BDA4C}" destId="{95EAD0C1-51F8-473C-BE38-31BB4525169C}" srcOrd="2" destOrd="0" parTransId="{49BADB3C-C459-48CE-8D2A-D0476FA7FB9C}" sibTransId="{49DB97D4-9E83-4C3D-8921-207BFDDC8129}"/>
    <dgm:cxn modelId="{C297EAD5-2B01-44A1-91F8-206A2B026733}" type="presOf" srcId="{F7007D08-17CA-411A-A99E-BD64B46E347B}" destId="{6CA884E3-4206-4DD7-B80D-D4395D317672}" srcOrd="0" destOrd="3" presId="urn:microsoft.com/office/officeart/2005/8/layout/list1"/>
    <dgm:cxn modelId="{26471DFB-8682-4BFA-BA1F-482C26A09A29}" srcId="{0568FAB7-D49E-4294-BCE5-9022C718E78B}" destId="{ED5C9CC8-0596-410D-B63F-933FF89BDA4C}" srcOrd="0" destOrd="0" parTransId="{1759B289-0A29-4025-A47D-A6B19981228E}" sibTransId="{5478F81B-F186-4469-BA72-6D6E56863EB1}"/>
    <dgm:cxn modelId="{40D377AF-7EED-499E-9BF8-D10B49853A60}" type="presParOf" srcId="{0F3C7F77-D64D-46B9-B43A-09B2E41C4489}" destId="{0A571FDB-3923-4953-9515-A6345C5D6D5F}" srcOrd="0" destOrd="0" presId="urn:microsoft.com/office/officeart/2005/8/layout/list1"/>
    <dgm:cxn modelId="{23C1F9B8-8D0A-43F0-B4F8-D0AB301820B0}" type="presParOf" srcId="{0A571FDB-3923-4953-9515-A6345C5D6D5F}" destId="{8FA74CF8-CDCA-4743-86FD-C0ACDD2F898B}" srcOrd="0" destOrd="0" presId="urn:microsoft.com/office/officeart/2005/8/layout/list1"/>
    <dgm:cxn modelId="{2E2CED53-D812-4442-8A23-64F8EAD46EBC}" type="presParOf" srcId="{0A571FDB-3923-4953-9515-A6345C5D6D5F}" destId="{BDC8A03B-86E5-4685-B68A-9D544367BE9F}" srcOrd="1" destOrd="0" presId="urn:microsoft.com/office/officeart/2005/8/layout/list1"/>
    <dgm:cxn modelId="{EAEFB29C-9564-4FD8-9D78-F4B6C88F59C7}" type="presParOf" srcId="{0F3C7F77-D64D-46B9-B43A-09B2E41C4489}" destId="{AE2734A3-4E05-44B9-8C21-3B5530B6DD08}" srcOrd="1" destOrd="0" presId="urn:microsoft.com/office/officeart/2005/8/layout/list1"/>
    <dgm:cxn modelId="{5A7D8999-B5E3-47BE-8133-711137486FB8}" type="presParOf" srcId="{0F3C7F77-D64D-46B9-B43A-09B2E41C4489}" destId="{8CD60503-3ED5-473A-964C-E7F5C19999A2}" srcOrd="2" destOrd="0" presId="urn:microsoft.com/office/officeart/2005/8/layout/list1"/>
    <dgm:cxn modelId="{2EC6E628-6F6B-4D5C-A9F2-09B2470E2A61}" type="presParOf" srcId="{0F3C7F77-D64D-46B9-B43A-09B2E41C4489}" destId="{A712A1B6-1C62-4D89-B103-0192BAEEFBA9}" srcOrd="3" destOrd="0" presId="urn:microsoft.com/office/officeart/2005/8/layout/list1"/>
    <dgm:cxn modelId="{BEF28026-678C-4F1D-8778-368B2FCF3CA8}" type="presParOf" srcId="{0F3C7F77-D64D-46B9-B43A-09B2E41C4489}" destId="{DECA328C-FC86-4409-AE47-E671DFC25AA2}" srcOrd="4" destOrd="0" presId="urn:microsoft.com/office/officeart/2005/8/layout/list1"/>
    <dgm:cxn modelId="{28F07931-94A8-4DB1-991D-25A876A7967D}" type="presParOf" srcId="{DECA328C-FC86-4409-AE47-E671DFC25AA2}" destId="{91DBDAD6-0330-4357-AE75-FA9061AF80EF}" srcOrd="0" destOrd="0" presId="urn:microsoft.com/office/officeart/2005/8/layout/list1"/>
    <dgm:cxn modelId="{4940CC07-5629-4875-BE32-92F5F6124CD2}" type="presParOf" srcId="{DECA328C-FC86-4409-AE47-E671DFC25AA2}" destId="{BA951417-5513-4FAA-9042-A3E2FEFEFBC1}" srcOrd="1" destOrd="0" presId="urn:microsoft.com/office/officeart/2005/8/layout/list1"/>
    <dgm:cxn modelId="{9AA193B9-A862-447C-B51A-D13184DD3ED2}" type="presParOf" srcId="{0F3C7F77-D64D-46B9-B43A-09B2E41C4489}" destId="{799BEC6C-429B-457E-9540-C420D754774A}" srcOrd="5" destOrd="0" presId="urn:microsoft.com/office/officeart/2005/8/layout/list1"/>
    <dgm:cxn modelId="{C4308D73-C22C-4192-9052-4F4F2A6BC4E1}" type="presParOf" srcId="{0F3C7F77-D64D-46B9-B43A-09B2E41C4489}" destId="{6CA884E3-4206-4DD7-B80D-D4395D31767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DB100F-297D-42FD-BFD3-80B37FA65961}" type="doc">
      <dgm:prSet loTypeId="urn:diagrams.loki3.com/Bracket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00614E2-19EE-4607-9511-0E3A5ED82D11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Primitives </a:t>
          </a:r>
        </a:p>
      </dgm:t>
    </dgm:pt>
    <dgm:pt modelId="{81DA0A7D-C7D0-4126-B73B-C611D3FB9DFB}" type="parTrans" cxnId="{FA3F15ED-60EA-472B-B64A-3ADB6D0C6A83}">
      <dgm:prSet/>
      <dgm:spPr/>
      <dgm:t>
        <a:bodyPr/>
        <a:lstStyle/>
        <a:p>
          <a:endParaRPr lang="en-US"/>
        </a:p>
      </dgm:t>
    </dgm:pt>
    <dgm:pt modelId="{5F248446-C27A-43E6-8B43-FA3FE8D0BF56}" type="sibTrans" cxnId="{FA3F15ED-60EA-472B-B64A-3ADB6D0C6A83}">
      <dgm:prSet/>
      <dgm:spPr/>
      <dgm:t>
        <a:bodyPr/>
        <a:lstStyle/>
        <a:p>
          <a:endParaRPr lang="en-US"/>
        </a:p>
      </dgm:t>
    </dgm:pt>
    <dgm:pt modelId="{E8A50DF4-89F1-4FAD-A354-9407EFD4F38B}">
      <dgm:prSet phldrT="[Text]"/>
      <dgm:spPr/>
      <dgm:t>
        <a:bodyPr/>
        <a:lstStyle/>
        <a:p>
          <a:r>
            <a:rPr lang="en-US" b="1" u="sng" dirty="0"/>
            <a:t>Causes </a:t>
          </a:r>
          <a:r>
            <a:rPr lang="en-US" b="1" u="sng" dirty="0" err="1"/>
            <a:t>Genetiques</a:t>
          </a:r>
          <a:r>
            <a:rPr lang="en-US" b="1" u="sng" dirty="0"/>
            <a:t>  (</a:t>
          </a:r>
          <a:r>
            <a:rPr lang="en-US" b="1" u="sng" dirty="0" err="1">
              <a:solidFill>
                <a:srgbClr val="C00000"/>
              </a:solidFill>
            </a:rPr>
            <a:t>Familiales</a:t>
          </a:r>
          <a:r>
            <a:rPr lang="en-US" b="1" u="sng" dirty="0"/>
            <a:t>)</a:t>
          </a:r>
        </a:p>
      </dgm:t>
    </dgm:pt>
    <dgm:pt modelId="{0649DCB4-EDF7-4333-96D6-3F38DE20E569}" type="parTrans" cxnId="{A662E9CE-4BDB-4A6D-81E4-F03B931A54FB}">
      <dgm:prSet/>
      <dgm:spPr/>
      <dgm:t>
        <a:bodyPr/>
        <a:lstStyle/>
        <a:p>
          <a:endParaRPr lang="en-US"/>
        </a:p>
      </dgm:t>
    </dgm:pt>
    <dgm:pt modelId="{6897193F-0F04-4F3F-AED9-8DCB81AB6A77}" type="sibTrans" cxnId="{A662E9CE-4BDB-4A6D-81E4-F03B931A54FB}">
      <dgm:prSet/>
      <dgm:spPr/>
      <dgm:t>
        <a:bodyPr/>
        <a:lstStyle/>
        <a:p>
          <a:endParaRPr lang="en-US"/>
        </a:p>
      </dgm:t>
    </dgm:pt>
    <dgm:pt modelId="{CB39464B-2CFF-43AA-9048-D151CE5B1C24}">
      <dgm:prSet phldrT="[Text]"/>
      <dgm:spPr/>
      <dgm:t>
        <a:bodyPr/>
        <a:lstStyle/>
        <a:p>
          <a:pPr algn="ctr"/>
          <a:r>
            <a:rPr lang="en-US" b="0" cap="none" spc="0" dirty="0" err="1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Secondaires</a:t>
          </a:r>
          <a:r>
            <a:rPr lang="en-US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</a:p>
      </dgm:t>
    </dgm:pt>
    <dgm:pt modelId="{6B089E1E-164D-4E7D-A7AE-6EFED8FC1FC3}" type="parTrans" cxnId="{BFA54FDB-5C75-49F7-88E5-C7D430B86CCB}">
      <dgm:prSet/>
      <dgm:spPr/>
      <dgm:t>
        <a:bodyPr/>
        <a:lstStyle/>
        <a:p>
          <a:endParaRPr lang="en-US"/>
        </a:p>
      </dgm:t>
    </dgm:pt>
    <dgm:pt modelId="{C0A66DC1-C8C0-405A-B2E6-28B0B1CEF22F}" type="sibTrans" cxnId="{BFA54FDB-5C75-49F7-88E5-C7D430B86CCB}">
      <dgm:prSet/>
      <dgm:spPr/>
      <dgm:t>
        <a:bodyPr/>
        <a:lstStyle/>
        <a:p>
          <a:endParaRPr lang="en-US"/>
        </a:p>
      </dgm:t>
    </dgm:pt>
    <dgm:pt modelId="{F12CA0D8-ED34-423F-811A-4683F3407827}">
      <dgm:prSet phldrT="[Text]"/>
      <dgm:spPr/>
      <dgm:t>
        <a:bodyPr/>
        <a:lstStyle/>
        <a:p>
          <a:r>
            <a:rPr lang="fr-FR" b="0" i="0" dirty="0"/>
            <a:t>Un mode de vie sédentaire avec un apport alimentaire excessif en calories totales, en graisses saturées, en cholestérol et en graisses trans.
le diabète 
L'abus d'alcool
les médicaments
l'hypothyroïdie …</a:t>
          </a:r>
          <a:endParaRPr lang="en-US" b="1" dirty="0"/>
        </a:p>
      </dgm:t>
    </dgm:pt>
    <dgm:pt modelId="{5C43FBDB-DF8C-4C17-BB72-E1B048EF6A60}" type="parTrans" cxnId="{1AE172B3-AE3D-4949-84C7-C921FB4FFB0C}">
      <dgm:prSet/>
      <dgm:spPr/>
      <dgm:t>
        <a:bodyPr/>
        <a:lstStyle/>
        <a:p>
          <a:endParaRPr lang="en-US"/>
        </a:p>
      </dgm:t>
    </dgm:pt>
    <dgm:pt modelId="{F342671E-0276-4853-BFDC-2F0795BE043A}" type="sibTrans" cxnId="{1AE172B3-AE3D-4949-84C7-C921FB4FFB0C}">
      <dgm:prSet/>
      <dgm:spPr/>
      <dgm:t>
        <a:bodyPr/>
        <a:lstStyle/>
        <a:p>
          <a:endParaRPr lang="en-US"/>
        </a:p>
      </dgm:t>
    </dgm:pt>
    <dgm:pt modelId="{D2DB3AAD-418A-45CC-9106-BB0C32760F28}">
      <dgm:prSet phldrT="[Text]"/>
      <dgm:spPr/>
      <dgm:t>
        <a:bodyPr/>
        <a:lstStyle/>
        <a:p>
          <a:endParaRPr lang="en-US" dirty="0"/>
        </a:p>
      </dgm:t>
    </dgm:pt>
    <dgm:pt modelId="{96B59CE9-C38A-487D-BADD-CF1AC4697FFF}" type="parTrans" cxnId="{2F1449F1-F2B5-45B0-96BF-2DF9835C30C2}">
      <dgm:prSet/>
      <dgm:spPr/>
      <dgm:t>
        <a:bodyPr/>
        <a:lstStyle/>
        <a:p>
          <a:endParaRPr lang="en-US"/>
        </a:p>
      </dgm:t>
    </dgm:pt>
    <dgm:pt modelId="{E46C9B81-CE15-4961-9081-B2AC1EA7228C}" type="sibTrans" cxnId="{2F1449F1-F2B5-45B0-96BF-2DF9835C30C2}">
      <dgm:prSet/>
      <dgm:spPr/>
      <dgm:t>
        <a:bodyPr/>
        <a:lstStyle/>
        <a:p>
          <a:endParaRPr lang="en-US"/>
        </a:p>
      </dgm:t>
    </dgm:pt>
    <dgm:pt modelId="{7DA26B63-E247-4220-9A37-64109601FF80}">
      <dgm:prSet phldrT="[Text]"/>
      <dgm:spPr/>
      <dgm:t>
        <a:bodyPr/>
        <a:lstStyle/>
        <a:p>
          <a:r>
            <a:rPr lang="fr-FR" b="0" i="0" dirty="0"/>
            <a:t>Mutations génétiques multiples entraînant soit une </a:t>
          </a:r>
          <a:r>
            <a:rPr lang="fr-FR" b="1" i="0" dirty="0"/>
            <a:t>hyperproduction ou une élimination défectueuse des triglycérides et des LDL</a:t>
          </a:r>
          <a:r>
            <a:rPr lang="fr-FR" b="0" i="0" dirty="0"/>
            <a:t>, soit une </a:t>
          </a:r>
          <a:r>
            <a:rPr lang="fr-FR" b="1" i="0" dirty="0"/>
            <a:t>sous-production ou une élimination excessive des HDL</a:t>
          </a:r>
          <a:r>
            <a:rPr lang="fr-FR" b="0" i="0" dirty="0"/>
            <a:t>.</a:t>
          </a:r>
          <a:endParaRPr lang="en-US" b="1" dirty="0"/>
        </a:p>
      </dgm:t>
    </dgm:pt>
    <dgm:pt modelId="{D0741345-DD3B-480F-99CA-9E940EE2FE15}" type="parTrans" cxnId="{A3B3F4D7-14FA-477A-B74A-4A124C9A86C2}">
      <dgm:prSet/>
      <dgm:spPr/>
      <dgm:t>
        <a:bodyPr/>
        <a:lstStyle/>
        <a:p>
          <a:endParaRPr lang="en-US"/>
        </a:p>
      </dgm:t>
    </dgm:pt>
    <dgm:pt modelId="{B9D7FC9A-EEB9-43E3-9D8D-071E1A6DD50C}" type="sibTrans" cxnId="{A3B3F4D7-14FA-477A-B74A-4A124C9A86C2}">
      <dgm:prSet/>
      <dgm:spPr/>
      <dgm:t>
        <a:bodyPr/>
        <a:lstStyle/>
        <a:p>
          <a:endParaRPr lang="en-US"/>
        </a:p>
      </dgm:t>
    </dgm:pt>
    <dgm:pt modelId="{46E3A163-B7D1-4407-BCA1-F91D14BAF457}" type="pres">
      <dgm:prSet presAssocID="{7CDB100F-297D-42FD-BFD3-80B37FA65961}" presName="Name0" presStyleCnt="0">
        <dgm:presLayoutVars>
          <dgm:dir/>
          <dgm:animLvl val="lvl"/>
          <dgm:resizeHandles val="exact"/>
        </dgm:presLayoutVars>
      </dgm:prSet>
      <dgm:spPr/>
    </dgm:pt>
    <dgm:pt modelId="{2151884C-0711-46B2-A7BF-28141DD7C72E}" type="pres">
      <dgm:prSet presAssocID="{800614E2-19EE-4607-9511-0E3A5ED82D11}" presName="linNode" presStyleCnt="0"/>
      <dgm:spPr/>
    </dgm:pt>
    <dgm:pt modelId="{0F044543-6502-4D63-B98E-FB8CB04A5CA3}" type="pres">
      <dgm:prSet presAssocID="{800614E2-19EE-4607-9511-0E3A5ED82D11}" presName="parTx" presStyleLbl="revTx" presStyleIdx="0" presStyleCnt="2" custLinFactNeighborX="-977" custLinFactNeighborY="-30434">
        <dgm:presLayoutVars>
          <dgm:chMax val="1"/>
          <dgm:bulletEnabled val="1"/>
        </dgm:presLayoutVars>
      </dgm:prSet>
      <dgm:spPr/>
    </dgm:pt>
    <dgm:pt modelId="{436EF48A-F3E6-406A-A94D-559FDF616ADC}" type="pres">
      <dgm:prSet presAssocID="{800614E2-19EE-4607-9511-0E3A5ED82D11}" presName="bracket" presStyleLbl="parChTrans1D1" presStyleIdx="0" presStyleCnt="2" custLinFactNeighborX="-47563" custLinFactNeighborY="-59559"/>
      <dgm:spPr/>
    </dgm:pt>
    <dgm:pt modelId="{B823B70D-4328-44F6-9C65-E9C13BD6D98B}" type="pres">
      <dgm:prSet presAssocID="{800614E2-19EE-4607-9511-0E3A5ED82D11}" presName="spH" presStyleCnt="0"/>
      <dgm:spPr/>
    </dgm:pt>
    <dgm:pt modelId="{7FD2CF8F-9948-4BE7-9DE7-4E9305A35D20}" type="pres">
      <dgm:prSet presAssocID="{800614E2-19EE-4607-9511-0E3A5ED82D11}" presName="desTx" presStyleLbl="node1" presStyleIdx="0" presStyleCnt="2" custLinFactNeighborX="-73172" custLinFactNeighborY="-74763">
        <dgm:presLayoutVars>
          <dgm:bulletEnabled val="1"/>
        </dgm:presLayoutVars>
      </dgm:prSet>
      <dgm:spPr/>
    </dgm:pt>
    <dgm:pt modelId="{3AD54C78-35F3-4608-BBC1-753A84364369}" type="pres">
      <dgm:prSet presAssocID="{5F248446-C27A-43E6-8B43-FA3FE8D0BF56}" presName="spV" presStyleCnt="0"/>
      <dgm:spPr/>
    </dgm:pt>
    <dgm:pt modelId="{C35DCDBF-8CB7-4A0B-A8D9-7A2E5E3DC48F}" type="pres">
      <dgm:prSet presAssocID="{CB39464B-2CFF-43AA-9048-D151CE5B1C24}" presName="linNode" presStyleCnt="0"/>
      <dgm:spPr/>
    </dgm:pt>
    <dgm:pt modelId="{0D014077-188E-4B90-A9A1-176730258842}" type="pres">
      <dgm:prSet presAssocID="{CB39464B-2CFF-43AA-9048-D151CE5B1C24}" presName="parTx" presStyleLbl="revTx" presStyleIdx="1" presStyleCnt="2" custLinFactNeighborX="4279" custLinFactNeighborY="8452">
        <dgm:presLayoutVars>
          <dgm:chMax val="1"/>
          <dgm:bulletEnabled val="1"/>
        </dgm:presLayoutVars>
      </dgm:prSet>
      <dgm:spPr/>
    </dgm:pt>
    <dgm:pt modelId="{66BF811C-8B08-43FD-822D-550963655B79}" type="pres">
      <dgm:prSet presAssocID="{CB39464B-2CFF-43AA-9048-D151CE5B1C24}" presName="bracket" presStyleLbl="parChTrans1D1" presStyleIdx="1" presStyleCnt="2" custLinFactNeighborX="-1222" custLinFactNeighborY="4741"/>
      <dgm:spPr/>
    </dgm:pt>
    <dgm:pt modelId="{5C92889D-EA1A-4F2A-828E-A8EB1573FB45}" type="pres">
      <dgm:prSet presAssocID="{CB39464B-2CFF-43AA-9048-D151CE5B1C24}" presName="spH" presStyleCnt="0"/>
      <dgm:spPr/>
    </dgm:pt>
    <dgm:pt modelId="{2D25D1F2-6CFC-4EC5-8B6F-3C86278C3FB4}" type="pres">
      <dgm:prSet presAssocID="{CB39464B-2CFF-43AA-9048-D151CE5B1C24}" presName="desTx" presStyleLbl="node1" presStyleIdx="1" presStyleCnt="2" custScaleX="97231" custLinFactNeighborX="-26831" custLinFactNeighborY="11546">
        <dgm:presLayoutVars>
          <dgm:bulletEnabled val="1"/>
        </dgm:presLayoutVars>
      </dgm:prSet>
      <dgm:spPr/>
    </dgm:pt>
  </dgm:ptLst>
  <dgm:cxnLst>
    <dgm:cxn modelId="{8A07C830-BB5F-4E5C-8AE9-9BE4ACC827F5}" type="presOf" srcId="{CB39464B-2CFF-43AA-9048-D151CE5B1C24}" destId="{0D014077-188E-4B90-A9A1-176730258842}" srcOrd="0" destOrd="0" presId="urn:diagrams.loki3.com/BracketList"/>
    <dgm:cxn modelId="{C1B60D6F-7B48-4EF8-9B3E-62C1289BCE3C}" type="presOf" srcId="{F12CA0D8-ED34-423F-811A-4683F3407827}" destId="{2D25D1F2-6CFC-4EC5-8B6F-3C86278C3FB4}" srcOrd="0" destOrd="0" presId="urn:diagrams.loki3.com/BracketList"/>
    <dgm:cxn modelId="{696AB27C-C1D5-476B-8398-0398498B88C4}" type="presOf" srcId="{7DA26B63-E247-4220-9A37-64109601FF80}" destId="{7FD2CF8F-9948-4BE7-9DE7-4E9305A35D20}" srcOrd="0" destOrd="1" presId="urn:diagrams.loki3.com/BracketList"/>
    <dgm:cxn modelId="{798129A8-205F-47D8-AFF2-7A5BD6DE58E7}" type="presOf" srcId="{E8A50DF4-89F1-4FAD-A354-9407EFD4F38B}" destId="{7FD2CF8F-9948-4BE7-9DE7-4E9305A35D20}" srcOrd="0" destOrd="0" presId="urn:diagrams.loki3.com/BracketList"/>
    <dgm:cxn modelId="{13B8BCB2-9D30-400D-95CD-739C13947428}" type="presOf" srcId="{D2DB3AAD-418A-45CC-9106-BB0C32760F28}" destId="{2D25D1F2-6CFC-4EC5-8B6F-3C86278C3FB4}" srcOrd="0" destOrd="1" presId="urn:diagrams.loki3.com/BracketList"/>
    <dgm:cxn modelId="{1AE172B3-AE3D-4949-84C7-C921FB4FFB0C}" srcId="{CB39464B-2CFF-43AA-9048-D151CE5B1C24}" destId="{F12CA0D8-ED34-423F-811A-4683F3407827}" srcOrd="0" destOrd="0" parTransId="{5C43FBDB-DF8C-4C17-BB72-E1B048EF6A60}" sibTransId="{F342671E-0276-4853-BFDC-2F0795BE043A}"/>
    <dgm:cxn modelId="{A662E9CE-4BDB-4A6D-81E4-F03B931A54FB}" srcId="{800614E2-19EE-4607-9511-0E3A5ED82D11}" destId="{E8A50DF4-89F1-4FAD-A354-9407EFD4F38B}" srcOrd="0" destOrd="0" parTransId="{0649DCB4-EDF7-4333-96D6-3F38DE20E569}" sibTransId="{6897193F-0F04-4F3F-AED9-8DCB81AB6A77}"/>
    <dgm:cxn modelId="{D35652D5-2638-4E22-9460-24A3D4E0BD78}" type="presOf" srcId="{7CDB100F-297D-42FD-BFD3-80B37FA65961}" destId="{46E3A163-B7D1-4407-BCA1-F91D14BAF457}" srcOrd="0" destOrd="0" presId="urn:diagrams.loki3.com/BracketList"/>
    <dgm:cxn modelId="{A3B3F4D7-14FA-477A-B74A-4A124C9A86C2}" srcId="{800614E2-19EE-4607-9511-0E3A5ED82D11}" destId="{7DA26B63-E247-4220-9A37-64109601FF80}" srcOrd="1" destOrd="0" parTransId="{D0741345-DD3B-480F-99CA-9E940EE2FE15}" sibTransId="{B9D7FC9A-EEB9-43E3-9D8D-071E1A6DD50C}"/>
    <dgm:cxn modelId="{BFA54FDB-5C75-49F7-88E5-C7D430B86CCB}" srcId="{7CDB100F-297D-42FD-BFD3-80B37FA65961}" destId="{CB39464B-2CFF-43AA-9048-D151CE5B1C24}" srcOrd="1" destOrd="0" parTransId="{6B089E1E-164D-4E7D-A7AE-6EFED8FC1FC3}" sibTransId="{C0A66DC1-C8C0-405A-B2E6-28B0B1CEF22F}"/>
    <dgm:cxn modelId="{FA3F15ED-60EA-472B-B64A-3ADB6D0C6A83}" srcId="{7CDB100F-297D-42FD-BFD3-80B37FA65961}" destId="{800614E2-19EE-4607-9511-0E3A5ED82D11}" srcOrd="0" destOrd="0" parTransId="{81DA0A7D-C7D0-4126-B73B-C611D3FB9DFB}" sibTransId="{5F248446-C27A-43E6-8B43-FA3FE8D0BF56}"/>
    <dgm:cxn modelId="{6CBD98F0-404B-44C2-B35B-6D747575587B}" type="presOf" srcId="{800614E2-19EE-4607-9511-0E3A5ED82D11}" destId="{0F044543-6502-4D63-B98E-FB8CB04A5CA3}" srcOrd="0" destOrd="0" presId="urn:diagrams.loki3.com/BracketList"/>
    <dgm:cxn modelId="{2F1449F1-F2B5-45B0-96BF-2DF9835C30C2}" srcId="{CB39464B-2CFF-43AA-9048-D151CE5B1C24}" destId="{D2DB3AAD-418A-45CC-9106-BB0C32760F28}" srcOrd="1" destOrd="0" parTransId="{96B59CE9-C38A-487D-BADD-CF1AC4697FFF}" sibTransId="{E46C9B81-CE15-4961-9081-B2AC1EA7228C}"/>
    <dgm:cxn modelId="{1499B56E-A8BE-4E3E-91EA-6E008CA7DDF7}" type="presParOf" srcId="{46E3A163-B7D1-4407-BCA1-F91D14BAF457}" destId="{2151884C-0711-46B2-A7BF-28141DD7C72E}" srcOrd="0" destOrd="0" presId="urn:diagrams.loki3.com/BracketList"/>
    <dgm:cxn modelId="{6879B23E-FC17-4BAD-87BE-6C7C076D645C}" type="presParOf" srcId="{2151884C-0711-46B2-A7BF-28141DD7C72E}" destId="{0F044543-6502-4D63-B98E-FB8CB04A5CA3}" srcOrd="0" destOrd="0" presId="urn:diagrams.loki3.com/BracketList"/>
    <dgm:cxn modelId="{490D49B6-9CC9-411D-A76E-9466DF322390}" type="presParOf" srcId="{2151884C-0711-46B2-A7BF-28141DD7C72E}" destId="{436EF48A-F3E6-406A-A94D-559FDF616ADC}" srcOrd="1" destOrd="0" presId="urn:diagrams.loki3.com/BracketList"/>
    <dgm:cxn modelId="{77B83756-E543-4D9A-B55A-A8CA4C82BA0D}" type="presParOf" srcId="{2151884C-0711-46B2-A7BF-28141DD7C72E}" destId="{B823B70D-4328-44F6-9C65-E9C13BD6D98B}" srcOrd="2" destOrd="0" presId="urn:diagrams.loki3.com/BracketList"/>
    <dgm:cxn modelId="{E34F1F56-0C37-4607-BF42-756765EAF956}" type="presParOf" srcId="{2151884C-0711-46B2-A7BF-28141DD7C72E}" destId="{7FD2CF8F-9948-4BE7-9DE7-4E9305A35D20}" srcOrd="3" destOrd="0" presId="urn:diagrams.loki3.com/BracketList"/>
    <dgm:cxn modelId="{06C44575-244B-44F3-8720-A3D6AB862AD5}" type="presParOf" srcId="{46E3A163-B7D1-4407-BCA1-F91D14BAF457}" destId="{3AD54C78-35F3-4608-BBC1-753A84364369}" srcOrd="1" destOrd="0" presId="urn:diagrams.loki3.com/BracketList"/>
    <dgm:cxn modelId="{EB3DB8F6-B737-4FA8-AC4D-28C122EAAA45}" type="presParOf" srcId="{46E3A163-B7D1-4407-BCA1-F91D14BAF457}" destId="{C35DCDBF-8CB7-4A0B-A8D9-7A2E5E3DC48F}" srcOrd="2" destOrd="0" presId="urn:diagrams.loki3.com/BracketList"/>
    <dgm:cxn modelId="{71E70DEE-BD67-46FF-8ACA-ECF381B87E49}" type="presParOf" srcId="{C35DCDBF-8CB7-4A0B-A8D9-7A2E5E3DC48F}" destId="{0D014077-188E-4B90-A9A1-176730258842}" srcOrd="0" destOrd="0" presId="urn:diagrams.loki3.com/BracketList"/>
    <dgm:cxn modelId="{BEF9557E-3FD1-4226-AF20-9BA0EB23284C}" type="presParOf" srcId="{C35DCDBF-8CB7-4A0B-A8D9-7A2E5E3DC48F}" destId="{66BF811C-8B08-43FD-822D-550963655B79}" srcOrd="1" destOrd="0" presId="urn:diagrams.loki3.com/BracketList"/>
    <dgm:cxn modelId="{06F66570-7150-420F-8E05-8B56A43614BB}" type="presParOf" srcId="{C35DCDBF-8CB7-4A0B-A8D9-7A2E5E3DC48F}" destId="{5C92889D-EA1A-4F2A-828E-A8EB1573FB45}" srcOrd="2" destOrd="0" presId="urn:diagrams.loki3.com/BracketList"/>
    <dgm:cxn modelId="{366A920A-E156-4D39-BFB4-FE0459F43699}" type="presParOf" srcId="{C35DCDBF-8CB7-4A0B-A8D9-7A2E5E3DC48F}" destId="{2D25D1F2-6CFC-4EC5-8B6F-3C86278C3FB4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C151E-6012-484E-8CA0-8A89F89E1CE1}" type="doc">
      <dgm:prSet loTypeId="urn:microsoft.com/office/officeart/2005/8/layout/process5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E3C72E-4BD9-4D60-A7A3-FA3AF39B313B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Transport des LDL vers les cellules endothéliales</a:t>
          </a:r>
          <a:endParaRPr lang="en-US" dirty="0"/>
        </a:p>
      </dgm:t>
    </dgm:pt>
    <dgm:pt modelId="{A9650A5D-1C40-4A55-8306-FA0B14043D80}" type="parTrans" cxnId="{3D20AB41-3A13-4128-8820-00838765BE5A}">
      <dgm:prSet/>
      <dgm:spPr/>
      <dgm:t>
        <a:bodyPr/>
        <a:lstStyle/>
        <a:p>
          <a:endParaRPr lang="en-US"/>
        </a:p>
      </dgm:t>
    </dgm:pt>
    <dgm:pt modelId="{A06239C2-AD5D-4F73-A0FD-36D5925E824B}" type="sibTrans" cxnId="{3D20AB41-3A13-4128-8820-00838765BE5A}">
      <dgm:prSet/>
      <dgm:spPr/>
      <dgm:t>
        <a:bodyPr/>
        <a:lstStyle/>
        <a:p>
          <a:endParaRPr lang="en-US"/>
        </a:p>
      </dgm:t>
    </dgm:pt>
    <dgm:pt modelId="{CB0706E3-5D8F-4DB6-BB6F-AFFA622A4648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Les LDL  atteignent l'espace sous endothélial</a:t>
          </a:r>
          <a:endParaRPr lang="en-US" dirty="0"/>
        </a:p>
      </dgm:t>
    </dgm:pt>
    <dgm:pt modelId="{10B530E3-0A61-432A-A056-D3E7FFCCDFEF}" type="parTrans" cxnId="{5BB332F3-DF5D-40A4-B7F0-068743ED0879}">
      <dgm:prSet/>
      <dgm:spPr/>
      <dgm:t>
        <a:bodyPr/>
        <a:lstStyle/>
        <a:p>
          <a:endParaRPr lang="en-US"/>
        </a:p>
      </dgm:t>
    </dgm:pt>
    <dgm:pt modelId="{3B27A734-C362-4186-887F-4A1493DDAF54}" type="sibTrans" cxnId="{5BB332F3-DF5D-40A4-B7F0-068743ED0879}">
      <dgm:prSet/>
      <dgm:spPr/>
      <dgm:t>
        <a:bodyPr/>
        <a:lstStyle/>
        <a:p>
          <a:endParaRPr lang="en-US"/>
        </a:p>
      </dgm:t>
    </dgm:pt>
    <dgm:pt modelId="{51A96F9F-4F09-41DF-8A9D-E9A982BC3E2B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Les LDL subissent une oxydation</a:t>
          </a:r>
          <a:endParaRPr lang="en-US" dirty="0"/>
        </a:p>
      </dgm:t>
    </dgm:pt>
    <dgm:pt modelId="{6939DB31-5A30-4233-B389-BA905ADC503B}" type="parTrans" cxnId="{F09CE1AC-744A-4509-B411-F28EB238B08E}">
      <dgm:prSet/>
      <dgm:spPr/>
      <dgm:t>
        <a:bodyPr/>
        <a:lstStyle/>
        <a:p>
          <a:endParaRPr lang="en-US"/>
        </a:p>
      </dgm:t>
    </dgm:pt>
    <dgm:pt modelId="{4B539603-4C61-47F1-BEFD-8E5F55935BBA}" type="sibTrans" cxnId="{F09CE1AC-744A-4509-B411-F28EB238B08E}">
      <dgm:prSet/>
      <dgm:spPr/>
      <dgm:t>
        <a:bodyPr/>
        <a:lstStyle/>
        <a:p>
          <a:endParaRPr lang="en-US"/>
        </a:p>
      </dgm:t>
    </dgm:pt>
    <dgm:pt modelId="{2ECBEC7F-7611-4024-A80C-736D44BC4AF6}">
      <dgm:prSet phldrT="[Text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Les monocytes migrent vers l'espace sous endothélial</a:t>
          </a:r>
          <a:endParaRPr lang="en-US" dirty="0"/>
        </a:p>
      </dgm:t>
    </dgm:pt>
    <dgm:pt modelId="{21EC7365-01B3-46E5-B32B-97C92684C010}" type="parTrans" cxnId="{9450CAE5-6F8F-4668-BA5E-004E9908C540}">
      <dgm:prSet/>
      <dgm:spPr/>
      <dgm:t>
        <a:bodyPr/>
        <a:lstStyle/>
        <a:p>
          <a:endParaRPr lang="en-US"/>
        </a:p>
      </dgm:t>
    </dgm:pt>
    <dgm:pt modelId="{7C0447AE-5F8C-4518-822C-C569CC20559F}" type="sibTrans" cxnId="{9450CAE5-6F8F-4668-BA5E-004E9908C540}">
      <dgm:prSet/>
      <dgm:spPr/>
      <dgm:t>
        <a:bodyPr/>
        <a:lstStyle/>
        <a:p>
          <a:endParaRPr lang="en-US"/>
        </a:p>
      </dgm:t>
    </dgm:pt>
    <dgm:pt modelId="{99756CB8-7F62-4075-B67E-C455AB43ED22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Les monocytes se transforment en macrophages </a:t>
          </a:r>
          <a:endParaRPr lang="en-US" dirty="0"/>
        </a:p>
      </dgm:t>
    </dgm:pt>
    <dgm:pt modelId="{1E62C804-5064-4FAF-9497-F9E8740EAECF}" type="parTrans" cxnId="{331544D2-215A-45CB-AA6E-D9A07296D307}">
      <dgm:prSet/>
      <dgm:spPr/>
      <dgm:t>
        <a:bodyPr/>
        <a:lstStyle/>
        <a:p>
          <a:endParaRPr lang="en-US"/>
        </a:p>
      </dgm:t>
    </dgm:pt>
    <dgm:pt modelId="{B890FED8-8073-4264-BF52-48957C249DA9}" type="sibTrans" cxnId="{331544D2-215A-45CB-AA6E-D9A07296D307}">
      <dgm:prSet/>
      <dgm:spPr/>
      <dgm:t>
        <a:bodyPr/>
        <a:lstStyle/>
        <a:p>
          <a:endParaRPr lang="en-US"/>
        </a:p>
      </dgm:t>
    </dgm:pt>
    <dgm:pt modelId="{7684E658-7350-46C2-8AE0-00FADFC43863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La mobilité des macrophages est inhibée </a:t>
          </a:r>
          <a:endParaRPr lang="en-US" dirty="0"/>
        </a:p>
      </dgm:t>
    </dgm:pt>
    <dgm:pt modelId="{A3FDFD26-8ABE-4B8A-933D-D8A174392BA3}" type="parTrans" cxnId="{400DA3EA-B320-49F7-8993-8DD40A9718D3}">
      <dgm:prSet/>
      <dgm:spPr/>
      <dgm:t>
        <a:bodyPr/>
        <a:lstStyle/>
        <a:p>
          <a:endParaRPr lang="en-US"/>
        </a:p>
      </dgm:t>
    </dgm:pt>
    <dgm:pt modelId="{BCC60A07-0BEA-4FC1-B82F-DC6219D3BB4E}" type="sibTrans" cxnId="{400DA3EA-B320-49F7-8993-8DD40A9718D3}">
      <dgm:prSet/>
      <dgm:spPr/>
      <dgm:t>
        <a:bodyPr/>
        <a:lstStyle/>
        <a:p>
          <a:endParaRPr lang="en-US"/>
        </a:p>
      </dgm:t>
    </dgm:pt>
    <dgm:pt modelId="{9FA8F5B7-E6DA-40D4-A1A7-70A6E46C554C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Les LDL oxydées sont absorbées par les macrophages</a:t>
          </a:r>
          <a:endParaRPr lang="en-US" dirty="0"/>
        </a:p>
      </dgm:t>
    </dgm:pt>
    <dgm:pt modelId="{9CDDB213-A863-49DF-9E86-1FC6D8EA92BC}" type="parTrans" cxnId="{1862FC54-D196-4F14-AE28-2E3F885B5979}">
      <dgm:prSet/>
      <dgm:spPr/>
      <dgm:t>
        <a:bodyPr/>
        <a:lstStyle/>
        <a:p>
          <a:endParaRPr lang="en-US"/>
        </a:p>
      </dgm:t>
    </dgm:pt>
    <dgm:pt modelId="{D7FB2963-6F9A-4A4D-8DCB-4A17D304FD77}" type="sibTrans" cxnId="{1862FC54-D196-4F14-AE28-2E3F885B5979}">
      <dgm:prSet/>
      <dgm:spPr/>
      <dgm:t>
        <a:bodyPr/>
        <a:lstStyle/>
        <a:p>
          <a:endParaRPr lang="en-US"/>
        </a:p>
      </dgm:t>
    </dgm:pt>
    <dgm:pt modelId="{2C4C2399-E770-4300-8C86-02E8287D3C4A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sz="1100" dirty="0"/>
            <a:t>Le matériel devient cytotoxique et </a:t>
          </a:r>
          <a:r>
            <a:rPr lang="fr-FR" sz="1400" b="1" dirty="0"/>
            <a:t>endommage l'endothélium.</a:t>
          </a:r>
          <a:r>
            <a:rPr lang="fr-FR" sz="1100" dirty="0"/>
            <a:t>
</a:t>
          </a:r>
          <a:endParaRPr lang="en-US" sz="1100" b="1" dirty="0"/>
        </a:p>
      </dgm:t>
    </dgm:pt>
    <dgm:pt modelId="{28C81B40-A17E-48CE-842C-EDCF1DB7D1A3}" type="parTrans" cxnId="{EA52B531-1519-4D56-ACE5-B6033D68363A}">
      <dgm:prSet/>
      <dgm:spPr/>
      <dgm:t>
        <a:bodyPr/>
        <a:lstStyle/>
        <a:p>
          <a:endParaRPr lang="en-US"/>
        </a:p>
      </dgm:t>
    </dgm:pt>
    <dgm:pt modelId="{67A768D5-8239-478D-9F12-0EA6CAE60403}" type="sibTrans" cxnId="{EA52B531-1519-4D56-ACE5-B6033D68363A}">
      <dgm:prSet/>
      <dgm:spPr/>
      <dgm:t>
        <a:bodyPr/>
        <a:lstStyle/>
        <a:p>
          <a:endParaRPr lang="en-US"/>
        </a:p>
      </dgm:t>
    </dgm:pt>
    <dgm:pt modelId="{A961436C-0287-48AC-8A05-1AD9746CA1DA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Adhésion plaquettaire et formation de </a:t>
          </a:r>
          <a:r>
            <a:rPr lang="fr-FR" dirty="0" err="1"/>
            <a:t>microthrombi</a:t>
          </a:r>
          <a:endParaRPr lang="en-US" dirty="0"/>
        </a:p>
      </dgm:t>
    </dgm:pt>
    <dgm:pt modelId="{9DF93A27-1390-4A1E-AED0-63BA752D0460}" type="parTrans" cxnId="{9D8CBAA4-3602-418B-9052-7F0547388DFF}">
      <dgm:prSet/>
      <dgm:spPr/>
      <dgm:t>
        <a:bodyPr/>
        <a:lstStyle/>
        <a:p>
          <a:endParaRPr lang="en-US"/>
        </a:p>
      </dgm:t>
    </dgm:pt>
    <dgm:pt modelId="{E72D6734-7B52-4788-BF07-3873F309EA45}" type="sibTrans" cxnId="{9D8CBAA4-3602-418B-9052-7F0547388DFF}">
      <dgm:prSet/>
      <dgm:spPr/>
      <dgm:t>
        <a:bodyPr/>
        <a:lstStyle/>
        <a:p>
          <a:endParaRPr lang="en-US"/>
        </a:p>
      </dgm:t>
    </dgm:pt>
    <dgm:pt modelId="{78A018F0-509D-4DA8-BC14-15F3C43084C0}" type="pres">
      <dgm:prSet presAssocID="{99DC151E-6012-484E-8CA0-8A89F89E1CE1}" presName="diagram" presStyleCnt="0">
        <dgm:presLayoutVars>
          <dgm:dir/>
          <dgm:resizeHandles val="exact"/>
        </dgm:presLayoutVars>
      </dgm:prSet>
      <dgm:spPr/>
    </dgm:pt>
    <dgm:pt modelId="{3515C853-E050-47B1-8997-927739D6CC40}" type="pres">
      <dgm:prSet presAssocID="{CBE3C72E-4BD9-4D60-A7A3-FA3AF39B313B}" presName="node" presStyleLbl="node1" presStyleIdx="0" presStyleCnt="9">
        <dgm:presLayoutVars>
          <dgm:bulletEnabled val="1"/>
        </dgm:presLayoutVars>
      </dgm:prSet>
      <dgm:spPr/>
    </dgm:pt>
    <dgm:pt modelId="{57ED25CE-9B8E-40FB-9DBE-DEA1C13F8FA3}" type="pres">
      <dgm:prSet presAssocID="{A06239C2-AD5D-4F73-A0FD-36D5925E824B}" presName="sibTrans" presStyleLbl="sibTrans2D1" presStyleIdx="0" presStyleCnt="8"/>
      <dgm:spPr/>
    </dgm:pt>
    <dgm:pt modelId="{C208753B-50AD-4AE9-8325-B053570A65E1}" type="pres">
      <dgm:prSet presAssocID="{A06239C2-AD5D-4F73-A0FD-36D5925E824B}" presName="connectorText" presStyleLbl="sibTrans2D1" presStyleIdx="0" presStyleCnt="8"/>
      <dgm:spPr/>
    </dgm:pt>
    <dgm:pt modelId="{CCB49203-EF88-4FBE-A959-6B5ABD6971A2}" type="pres">
      <dgm:prSet presAssocID="{CB0706E3-5D8F-4DB6-BB6F-AFFA622A4648}" presName="node" presStyleLbl="node1" presStyleIdx="1" presStyleCnt="9">
        <dgm:presLayoutVars>
          <dgm:bulletEnabled val="1"/>
        </dgm:presLayoutVars>
      </dgm:prSet>
      <dgm:spPr/>
    </dgm:pt>
    <dgm:pt modelId="{82D1811E-D0E8-4118-B144-42EF9A892847}" type="pres">
      <dgm:prSet presAssocID="{3B27A734-C362-4186-887F-4A1493DDAF54}" presName="sibTrans" presStyleLbl="sibTrans2D1" presStyleIdx="1" presStyleCnt="8"/>
      <dgm:spPr/>
    </dgm:pt>
    <dgm:pt modelId="{410CED8A-62E4-4BF8-A152-CBFEE93156EB}" type="pres">
      <dgm:prSet presAssocID="{3B27A734-C362-4186-887F-4A1493DDAF54}" presName="connectorText" presStyleLbl="sibTrans2D1" presStyleIdx="1" presStyleCnt="8"/>
      <dgm:spPr/>
    </dgm:pt>
    <dgm:pt modelId="{2E9D463F-CC5C-47A0-8D7F-6CD63444585F}" type="pres">
      <dgm:prSet presAssocID="{51A96F9F-4F09-41DF-8A9D-E9A982BC3E2B}" presName="node" presStyleLbl="node1" presStyleIdx="2" presStyleCnt="9">
        <dgm:presLayoutVars>
          <dgm:bulletEnabled val="1"/>
        </dgm:presLayoutVars>
      </dgm:prSet>
      <dgm:spPr/>
    </dgm:pt>
    <dgm:pt modelId="{6195697B-6D85-4167-91BD-AA846AD709E7}" type="pres">
      <dgm:prSet presAssocID="{4B539603-4C61-47F1-BEFD-8E5F55935BBA}" presName="sibTrans" presStyleLbl="sibTrans2D1" presStyleIdx="2" presStyleCnt="8"/>
      <dgm:spPr/>
    </dgm:pt>
    <dgm:pt modelId="{E8F6CF2D-6B09-4D8B-877E-E88452FAE5F6}" type="pres">
      <dgm:prSet presAssocID="{4B539603-4C61-47F1-BEFD-8E5F55935BBA}" presName="connectorText" presStyleLbl="sibTrans2D1" presStyleIdx="2" presStyleCnt="8"/>
      <dgm:spPr/>
    </dgm:pt>
    <dgm:pt modelId="{BF1B7465-D343-4058-9D7D-DD84E0F54A76}" type="pres">
      <dgm:prSet presAssocID="{2ECBEC7F-7611-4024-A80C-736D44BC4AF6}" presName="node" presStyleLbl="node1" presStyleIdx="3" presStyleCnt="9">
        <dgm:presLayoutVars>
          <dgm:bulletEnabled val="1"/>
        </dgm:presLayoutVars>
      </dgm:prSet>
      <dgm:spPr/>
    </dgm:pt>
    <dgm:pt modelId="{141FAF00-67EB-4F55-8C77-59F698F5724E}" type="pres">
      <dgm:prSet presAssocID="{7C0447AE-5F8C-4518-822C-C569CC20559F}" presName="sibTrans" presStyleLbl="sibTrans2D1" presStyleIdx="3" presStyleCnt="8"/>
      <dgm:spPr/>
    </dgm:pt>
    <dgm:pt modelId="{36AEF431-4A6F-4326-B5E5-7897FC71F564}" type="pres">
      <dgm:prSet presAssocID="{7C0447AE-5F8C-4518-822C-C569CC20559F}" presName="connectorText" presStyleLbl="sibTrans2D1" presStyleIdx="3" presStyleCnt="8"/>
      <dgm:spPr/>
    </dgm:pt>
    <dgm:pt modelId="{1816BC87-FC06-4646-8EE4-46CC08EEBC0E}" type="pres">
      <dgm:prSet presAssocID="{99756CB8-7F62-4075-B67E-C455AB43ED22}" presName="node" presStyleLbl="node1" presStyleIdx="4" presStyleCnt="9">
        <dgm:presLayoutVars>
          <dgm:bulletEnabled val="1"/>
        </dgm:presLayoutVars>
      </dgm:prSet>
      <dgm:spPr/>
    </dgm:pt>
    <dgm:pt modelId="{9F053678-42B4-4204-B769-940574005DEA}" type="pres">
      <dgm:prSet presAssocID="{B890FED8-8073-4264-BF52-48957C249DA9}" presName="sibTrans" presStyleLbl="sibTrans2D1" presStyleIdx="4" presStyleCnt="8"/>
      <dgm:spPr/>
    </dgm:pt>
    <dgm:pt modelId="{327104AF-5847-41F4-B50D-1D803321E9B9}" type="pres">
      <dgm:prSet presAssocID="{B890FED8-8073-4264-BF52-48957C249DA9}" presName="connectorText" presStyleLbl="sibTrans2D1" presStyleIdx="4" presStyleCnt="8"/>
      <dgm:spPr/>
    </dgm:pt>
    <dgm:pt modelId="{17B2447B-5A20-4429-9488-7664270513EF}" type="pres">
      <dgm:prSet presAssocID="{7684E658-7350-46C2-8AE0-00FADFC43863}" presName="node" presStyleLbl="node1" presStyleIdx="5" presStyleCnt="9">
        <dgm:presLayoutVars>
          <dgm:bulletEnabled val="1"/>
        </dgm:presLayoutVars>
      </dgm:prSet>
      <dgm:spPr/>
    </dgm:pt>
    <dgm:pt modelId="{B1F1FE3D-0AF1-4884-84FC-A2385A1A3D2E}" type="pres">
      <dgm:prSet presAssocID="{BCC60A07-0BEA-4FC1-B82F-DC6219D3BB4E}" presName="sibTrans" presStyleLbl="sibTrans2D1" presStyleIdx="5" presStyleCnt="8"/>
      <dgm:spPr/>
    </dgm:pt>
    <dgm:pt modelId="{AFADBB5F-4D07-4DCD-A657-F19CF269698B}" type="pres">
      <dgm:prSet presAssocID="{BCC60A07-0BEA-4FC1-B82F-DC6219D3BB4E}" presName="connectorText" presStyleLbl="sibTrans2D1" presStyleIdx="5" presStyleCnt="8"/>
      <dgm:spPr/>
    </dgm:pt>
    <dgm:pt modelId="{6A1B7E2C-EE1C-406B-8AE9-E2C65D55E046}" type="pres">
      <dgm:prSet presAssocID="{9FA8F5B7-E6DA-40D4-A1A7-70A6E46C554C}" presName="node" presStyleLbl="node1" presStyleIdx="6" presStyleCnt="9">
        <dgm:presLayoutVars>
          <dgm:bulletEnabled val="1"/>
        </dgm:presLayoutVars>
      </dgm:prSet>
      <dgm:spPr/>
    </dgm:pt>
    <dgm:pt modelId="{83B89B13-BBAE-48E0-B7A1-97088CADB187}" type="pres">
      <dgm:prSet presAssocID="{D7FB2963-6F9A-4A4D-8DCB-4A17D304FD77}" presName="sibTrans" presStyleLbl="sibTrans2D1" presStyleIdx="6" presStyleCnt="8"/>
      <dgm:spPr/>
    </dgm:pt>
    <dgm:pt modelId="{C4217859-1530-4FC6-88F7-6FF444A05F0F}" type="pres">
      <dgm:prSet presAssocID="{D7FB2963-6F9A-4A4D-8DCB-4A17D304FD77}" presName="connectorText" presStyleLbl="sibTrans2D1" presStyleIdx="6" presStyleCnt="8"/>
      <dgm:spPr/>
    </dgm:pt>
    <dgm:pt modelId="{970B8753-737D-413F-8F76-843FE4D9545C}" type="pres">
      <dgm:prSet presAssocID="{2C4C2399-E770-4300-8C86-02E8287D3C4A}" presName="node" presStyleLbl="node1" presStyleIdx="7" presStyleCnt="9">
        <dgm:presLayoutVars>
          <dgm:bulletEnabled val="1"/>
        </dgm:presLayoutVars>
      </dgm:prSet>
      <dgm:spPr/>
    </dgm:pt>
    <dgm:pt modelId="{3BE49F35-867A-44A5-B5F2-B044EEEEBC45}" type="pres">
      <dgm:prSet presAssocID="{67A768D5-8239-478D-9F12-0EA6CAE60403}" presName="sibTrans" presStyleLbl="sibTrans2D1" presStyleIdx="7" presStyleCnt="8"/>
      <dgm:spPr/>
    </dgm:pt>
    <dgm:pt modelId="{8209C741-2F47-4317-B755-D4E0C16E8AEF}" type="pres">
      <dgm:prSet presAssocID="{67A768D5-8239-478D-9F12-0EA6CAE60403}" presName="connectorText" presStyleLbl="sibTrans2D1" presStyleIdx="7" presStyleCnt="8"/>
      <dgm:spPr/>
    </dgm:pt>
    <dgm:pt modelId="{3E35A729-07B1-4BCF-B511-3B526743D109}" type="pres">
      <dgm:prSet presAssocID="{A961436C-0287-48AC-8A05-1AD9746CA1DA}" presName="node" presStyleLbl="node1" presStyleIdx="8" presStyleCnt="9">
        <dgm:presLayoutVars>
          <dgm:bulletEnabled val="1"/>
        </dgm:presLayoutVars>
      </dgm:prSet>
      <dgm:spPr/>
    </dgm:pt>
  </dgm:ptLst>
  <dgm:cxnLst>
    <dgm:cxn modelId="{B897CF01-7FA6-4966-A6C0-CD5E93E5720D}" type="presOf" srcId="{9FA8F5B7-E6DA-40D4-A1A7-70A6E46C554C}" destId="{6A1B7E2C-EE1C-406B-8AE9-E2C65D55E046}" srcOrd="0" destOrd="0" presId="urn:microsoft.com/office/officeart/2005/8/layout/process5"/>
    <dgm:cxn modelId="{87FF6F12-65C5-4ED4-9824-914CD1194B82}" type="presOf" srcId="{B890FED8-8073-4264-BF52-48957C249DA9}" destId="{327104AF-5847-41F4-B50D-1D803321E9B9}" srcOrd="1" destOrd="0" presId="urn:microsoft.com/office/officeart/2005/8/layout/process5"/>
    <dgm:cxn modelId="{B1AF8216-01B7-49F6-9C4C-90F480BEA335}" type="presOf" srcId="{4B539603-4C61-47F1-BEFD-8E5F55935BBA}" destId="{E8F6CF2D-6B09-4D8B-877E-E88452FAE5F6}" srcOrd="1" destOrd="0" presId="urn:microsoft.com/office/officeart/2005/8/layout/process5"/>
    <dgm:cxn modelId="{648D621A-4385-468A-BCA0-BA35724138D7}" type="presOf" srcId="{D7FB2963-6F9A-4A4D-8DCB-4A17D304FD77}" destId="{83B89B13-BBAE-48E0-B7A1-97088CADB187}" srcOrd="0" destOrd="0" presId="urn:microsoft.com/office/officeart/2005/8/layout/process5"/>
    <dgm:cxn modelId="{74388622-8F9C-4A78-84B6-1B6F0B09F3D0}" type="presOf" srcId="{7C0447AE-5F8C-4518-822C-C569CC20559F}" destId="{36AEF431-4A6F-4326-B5E5-7897FC71F564}" srcOrd="1" destOrd="0" presId="urn:microsoft.com/office/officeart/2005/8/layout/process5"/>
    <dgm:cxn modelId="{22DF0326-1F2C-4D2F-9E82-3145E743E6AE}" type="presOf" srcId="{51A96F9F-4F09-41DF-8A9D-E9A982BC3E2B}" destId="{2E9D463F-CC5C-47A0-8D7F-6CD63444585F}" srcOrd="0" destOrd="0" presId="urn:microsoft.com/office/officeart/2005/8/layout/process5"/>
    <dgm:cxn modelId="{2B387D31-0CFE-462B-A670-A01500954088}" type="presOf" srcId="{67A768D5-8239-478D-9F12-0EA6CAE60403}" destId="{8209C741-2F47-4317-B755-D4E0C16E8AEF}" srcOrd="1" destOrd="0" presId="urn:microsoft.com/office/officeart/2005/8/layout/process5"/>
    <dgm:cxn modelId="{EA52B531-1519-4D56-ACE5-B6033D68363A}" srcId="{99DC151E-6012-484E-8CA0-8A89F89E1CE1}" destId="{2C4C2399-E770-4300-8C86-02E8287D3C4A}" srcOrd="7" destOrd="0" parTransId="{28C81B40-A17E-48CE-842C-EDCF1DB7D1A3}" sibTransId="{67A768D5-8239-478D-9F12-0EA6CAE60403}"/>
    <dgm:cxn modelId="{3D20AB41-3A13-4128-8820-00838765BE5A}" srcId="{99DC151E-6012-484E-8CA0-8A89F89E1CE1}" destId="{CBE3C72E-4BD9-4D60-A7A3-FA3AF39B313B}" srcOrd="0" destOrd="0" parTransId="{A9650A5D-1C40-4A55-8306-FA0B14043D80}" sibTransId="{A06239C2-AD5D-4F73-A0FD-36D5925E824B}"/>
    <dgm:cxn modelId="{419CF764-3A31-431C-89CB-A4E43906BF2F}" type="presOf" srcId="{CBE3C72E-4BD9-4D60-A7A3-FA3AF39B313B}" destId="{3515C853-E050-47B1-8997-927739D6CC40}" srcOrd="0" destOrd="0" presId="urn:microsoft.com/office/officeart/2005/8/layout/process5"/>
    <dgm:cxn modelId="{1F647A48-B917-40DD-A882-AFF6D40BBCA8}" type="presOf" srcId="{BCC60A07-0BEA-4FC1-B82F-DC6219D3BB4E}" destId="{AFADBB5F-4D07-4DCD-A657-F19CF269698B}" srcOrd="1" destOrd="0" presId="urn:microsoft.com/office/officeart/2005/8/layout/process5"/>
    <dgm:cxn modelId="{8A7BA850-3FE4-46E4-8D16-A14D82C56004}" type="presOf" srcId="{BCC60A07-0BEA-4FC1-B82F-DC6219D3BB4E}" destId="{B1F1FE3D-0AF1-4884-84FC-A2385A1A3D2E}" srcOrd="0" destOrd="0" presId="urn:microsoft.com/office/officeart/2005/8/layout/process5"/>
    <dgm:cxn modelId="{6AFCC753-DE51-44BF-ACBB-96A241AC1186}" type="presOf" srcId="{3B27A734-C362-4186-887F-4A1493DDAF54}" destId="{410CED8A-62E4-4BF8-A152-CBFEE93156EB}" srcOrd="1" destOrd="0" presId="urn:microsoft.com/office/officeart/2005/8/layout/process5"/>
    <dgm:cxn modelId="{1862FC54-D196-4F14-AE28-2E3F885B5979}" srcId="{99DC151E-6012-484E-8CA0-8A89F89E1CE1}" destId="{9FA8F5B7-E6DA-40D4-A1A7-70A6E46C554C}" srcOrd="6" destOrd="0" parTransId="{9CDDB213-A863-49DF-9E86-1FC6D8EA92BC}" sibTransId="{D7FB2963-6F9A-4A4D-8DCB-4A17D304FD77}"/>
    <dgm:cxn modelId="{D34FFC76-F062-411A-9586-485290974350}" type="presOf" srcId="{4B539603-4C61-47F1-BEFD-8E5F55935BBA}" destId="{6195697B-6D85-4167-91BD-AA846AD709E7}" srcOrd="0" destOrd="0" presId="urn:microsoft.com/office/officeart/2005/8/layout/process5"/>
    <dgm:cxn modelId="{B02A687F-3641-469E-BC28-369B1DB1100C}" type="presOf" srcId="{67A768D5-8239-478D-9F12-0EA6CAE60403}" destId="{3BE49F35-867A-44A5-B5F2-B044EEEEBC45}" srcOrd="0" destOrd="0" presId="urn:microsoft.com/office/officeart/2005/8/layout/process5"/>
    <dgm:cxn modelId="{FC63717F-382D-4EBF-97FC-A39E883897DC}" type="presOf" srcId="{B890FED8-8073-4264-BF52-48957C249DA9}" destId="{9F053678-42B4-4204-B769-940574005DEA}" srcOrd="0" destOrd="0" presId="urn:microsoft.com/office/officeart/2005/8/layout/process5"/>
    <dgm:cxn modelId="{31326C94-AF18-4409-BCF9-B3AE6340D8E5}" type="presOf" srcId="{99DC151E-6012-484E-8CA0-8A89F89E1CE1}" destId="{78A018F0-509D-4DA8-BC14-15F3C43084C0}" srcOrd="0" destOrd="0" presId="urn:microsoft.com/office/officeart/2005/8/layout/process5"/>
    <dgm:cxn modelId="{9D8CBAA4-3602-418B-9052-7F0547388DFF}" srcId="{99DC151E-6012-484E-8CA0-8A89F89E1CE1}" destId="{A961436C-0287-48AC-8A05-1AD9746CA1DA}" srcOrd="8" destOrd="0" parTransId="{9DF93A27-1390-4A1E-AED0-63BA752D0460}" sibTransId="{E72D6734-7B52-4788-BF07-3873F309EA45}"/>
    <dgm:cxn modelId="{8D9307A9-9E83-4CAE-AEF0-E18C9C3A4E4A}" type="presOf" srcId="{A06239C2-AD5D-4F73-A0FD-36D5925E824B}" destId="{C208753B-50AD-4AE9-8325-B053570A65E1}" srcOrd="1" destOrd="0" presId="urn:microsoft.com/office/officeart/2005/8/layout/process5"/>
    <dgm:cxn modelId="{F09CE1AC-744A-4509-B411-F28EB238B08E}" srcId="{99DC151E-6012-484E-8CA0-8A89F89E1CE1}" destId="{51A96F9F-4F09-41DF-8A9D-E9A982BC3E2B}" srcOrd="2" destOrd="0" parTransId="{6939DB31-5A30-4233-B389-BA905ADC503B}" sibTransId="{4B539603-4C61-47F1-BEFD-8E5F55935BBA}"/>
    <dgm:cxn modelId="{CF7679BC-DB6C-4928-A262-34C959213517}" type="presOf" srcId="{A961436C-0287-48AC-8A05-1AD9746CA1DA}" destId="{3E35A729-07B1-4BCF-B511-3B526743D109}" srcOrd="0" destOrd="0" presId="urn:microsoft.com/office/officeart/2005/8/layout/process5"/>
    <dgm:cxn modelId="{8F2879BE-5E3C-44A0-A478-A45A88BD6E31}" type="presOf" srcId="{99756CB8-7F62-4075-B67E-C455AB43ED22}" destId="{1816BC87-FC06-4646-8EE4-46CC08EEBC0E}" srcOrd="0" destOrd="0" presId="urn:microsoft.com/office/officeart/2005/8/layout/process5"/>
    <dgm:cxn modelId="{D545E2C3-0E37-47AC-99A2-FDE54D6FC505}" type="presOf" srcId="{7C0447AE-5F8C-4518-822C-C569CC20559F}" destId="{141FAF00-67EB-4F55-8C77-59F698F5724E}" srcOrd="0" destOrd="0" presId="urn:microsoft.com/office/officeart/2005/8/layout/process5"/>
    <dgm:cxn modelId="{19B9BBCB-379F-4BBA-8C5A-FFD3C3009C20}" type="presOf" srcId="{D7FB2963-6F9A-4A4D-8DCB-4A17D304FD77}" destId="{C4217859-1530-4FC6-88F7-6FF444A05F0F}" srcOrd="1" destOrd="0" presId="urn:microsoft.com/office/officeart/2005/8/layout/process5"/>
    <dgm:cxn modelId="{331544D2-215A-45CB-AA6E-D9A07296D307}" srcId="{99DC151E-6012-484E-8CA0-8A89F89E1CE1}" destId="{99756CB8-7F62-4075-B67E-C455AB43ED22}" srcOrd="4" destOrd="0" parTransId="{1E62C804-5064-4FAF-9497-F9E8740EAECF}" sibTransId="{B890FED8-8073-4264-BF52-48957C249DA9}"/>
    <dgm:cxn modelId="{1CEABBD3-7702-46E2-BB66-85F3EECF3C41}" type="presOf" srcId="{CB0706E3-5D8F-4DB6-BB6F-AFFA622A4648}" destId="{CCB49203-EF88-4FBE-A959-6B5ABD6971A2}" srcOrd="0" destOrd="0" presId="urn:microsoft.com/office/officeart/2005/8/layout/process5"/>
    <dgm:cxn modelId="{036AFDDF-9EC7-4919-AA96-D5EEE52214AD}" type="presOf" srcId="{2ECBEC7F-7611-4024-A80C-736D44BC4AF6}" destId="{BF1B7465-D343-4058-9D7D-DD84E0F54A76}" srcOrd="0" destOrd="0" presId="urn:microsoft.com/office/officeart/2005/8/layout/process5"/>
    <dgm:cxn modelId="{70A361E3-9D28-482E-AF05-A546D820C4EB}" type="presOf" srcId="{A06239C2-AD5D-4F73-A0FD-36D5925E824B}" destId="{57ED25CE-9B8E-40FB-9DBE-DEA1C13F8FA3}" srcOrd="0" destOrd="0" presId="urn:microsoft.com/office/officeart/2005/8/layout/process5"/>
    <dgm:cxn modelId="{9450CAE5-6F8F-4668-BA5E-004E9908C540}" srcId="{99DC151E-6012-484E-8CA0-8A89F89E1CE1}" destId="{2ECBEC7F-7611-4024-A80C-736D44BC4AF6}" srcOrd="3" destOrd="0" parTransId="{21EC7365-01B3-46E5-B32B-97C92684C010}" sibTransId="{7C0447AE-5F8C-4518-822C-C569CC20559F}"/>
    <dgm:cxn modelId="{400DA3EA-B320-49F7-8993-8DD40A9718D3}" srcId="{99DC151E-6012-484E-8CA0-8A89F89E1CE1}" destId="{7684E658-7350-46C2-8AE0-00FADFC43863}" srcOrd="5" destOrd="0" parTransId="{A3FDFD26-8ABE-4B8A-933D-D8A174392BA3}" sibTransId="{BCC60A07-0BEA-4FC1-B82F-DC6219D3BB4E}"/>
    <dgm:cxn modelId="{03EEA5F1-32F7-4EB0-9C66-5157EA6BBBCB}" type="presOf" srcId="{2C4C2399-E770-4300-8C86-02E8287D3C4A}" destId="{970B8753-737D-413F-8F76-843FE4D9545C}" srcOrd="0" destOrd="0" presId="urn:microsoft.com/office/officeart/2005/8/layout/process5"/>
    <dgm:cxn modelId="{5BB332F3-DF5D-40A4-B7F0-068743ED0879}" srcId="{99DC151E-6012-484E-8CA0-8A89F89E1CE1}" destId="{CB0706E3-5D8F-4DB6-BB6F-AFFA622A4648}" srcOrd="1" destOrd="0" parTransId="{10B530E3-0A61-432A-A056-D3E7FFCCDFEF}" sibTransId="{3B27A734-C362-4186-887F-4A1493DDAF54}"/>
    <dgm:cxn modelId="{92D9A8F3-10AA-4D96-BA80-2F2CEDB8028A}" type="presOf" srcId="{7684E658-7350-46C2-8AE0-00FADFC43863}" destId="{17B2447B-5A20-4429-9488-7664270513EF}" srcOrd="0" destOrd="0" presId="urn:microsoft.com/office/officeart/2005/8/layout/process5"/>
    <dgm:cxn modelId="{56B7D4F9-03D3-42C7-A141-EFF70DAA2E4D}" type="presOf" srcId="{3B27A734-C362-4186-887F-4A1493DDAF54}" destId="{82D1811E-D0E8-4118-B144-42EF9A892847}" srcOrd="0" destOrd="0" presId="urn:microsoft.com/office/officeart/2005/8/layout/process5"/>
    <dgm:cxn modelId="{488D0201-EC38-4598-A347-460D79C0B0C8}" type="presParOf" srcId="{78A018F0-509D-4DA8-BC14-15F3C43084C0}" destId="{3515C853-E050-47B1-8997-927739D6CC40}" srcOrd="0" destOrd="0" presId="urn:microsoft.com/office/officeart/2005/8/layout/process5"/>
    <dgm:cxn modelId="{30CDD490-69D8-435E-97AB-C766A3E2D906}" type="presParOf" srcId="{78A018F0-509D-4DA8-BC14-15F3C43084C0}" destId="{57ED25CE-9B8E-40FB-9DBE-DEA1C13F8FA3}" srcOrd="1" destOrd="0" presId="urn:microsoft.com/office/officeart/2005/8/layout/process5"/>
    <dgm:cxn modelId="{7255D88B-FEB9-45BA-A13D-66A2A9873F41}" type="presParOf" srcId="{57ED25CE-9B8E-40FB-9DBE-DEA1C13F8FA3}" destId="{C208753B-50AD-4AE9-8325-B053570A65E1}" srcOrd="0" destOrd="0" presId="urn:microsoft.com/office/officeart/2005/8/layout/process5"/>
    <dgm:cxn modelId="{C269C9CF-DB10-4A10-A5F9-7C4B7EC4CFBD}" type="presParOf" srcId="{78A018F0-509D-4DA8-BC14-15F3C43084C0}" destId="{CCB49203-EF88-4FBE-A959-6B5ABD6971A2}" srcOrd="2" destOrd="0" presId="urn:microsoft.com/office/officeart/2005/8/layout/process5"/>
    <dgm:cxn modelId="{E065E84C-262E-4997-B622-1299C92BC9F0}" type="presParOf" srcId="{78A018F0-509D-4DA8-BC14-15F3C43084C0}" destId="{82D1811E-D0E8-4118-B144-42EF9A892847}" srcOrd="3" destOrd="0" presId="urn:microsoft.com/office/officeart/2005/8/layout/process5"/>
    <dgm:cxn modelId="{9F11AB5D-4ECC-433B-9F30-0EC705641E8C}" type="presParOf" srcId="{82D1811E-D0E8-4118-B144-42EF9A892847}" destId="{410CED8A-62E4-4BF8-A152-CBFEE93156EB}" srcOrd="0" destOrd="0" presId="urn:microsoft.com/office/officeart/2005/8/layout/process5"/>
    <dgm:cxn modelId="{D5AB0A60-8748-495F-8696-A5F438A9CF85}" type="presParOf" srcId="{78A018F0-509D-4DA8-BC14-15F3C43084C0}" destId="{2E9D463F-CC5C-47A0-8D7F-6CD63444585F}" srcOrd="4" destOrd="0" presId="urn:microsoft.com/office/officeart/2005/8/layout/process5"/>
    <dgm:cxn modelId="{9AECEDFB-6A6C-4D4C-ABB7-DEB9C185F648}" type="presParOf" srcId="{78A018F0-509D-4DA8-BC14-15F3C43084C0}" destId="{6195697B-6D85-4167-91BD-AA846AD709E7}" srcOrd="5" destOrd="0" presId="urn:microsoft.com/office/officeart/2005/8/layout/process5"/>
    <dgm:cxn modelId="{0294E07F-1E27-4CB6-8A26-F46BD543B5AC}" type="presParOf" srcId="{6195697B-6D85-4167-91BD-AA846AD709E7}" destId="{E8F6CF2D-6B09-4D8B-877E-E88452FAE5F6}" srcOrd="0" destOrd="0" presId="urn:microsoft.com/office/officeart/2005/8/layout/process5"/>
    <dgm:cxn modelId="{EE87EE9A-294B-459B-8BE5-A791AD257425}" type="presParOf" srcId="{78A018F0-509D-4DA8-BC14-15F3C43084C0}" destId="{BF1B7465-D343-4058-9D7D-DD84E0F54A76}" srcOrd="6" destOrd="0" presId="urn:microsoft.com/office/officeart/2005/8/layout/process5"/>
    <dgm:cxn modelId="{D4978E00-A413-4574-A0DC-A91017DDF44C}" type="presParOf" srcId="{78A018F0-509D-4DA8-BC14-15F3C43084C0}" destId="{141FAF00-67EB-4F55-8C77-59F698F5724E}" srcOrd="7" destOrd="0" presId="urn:microsoft.com/office/officeart/2005/8/layout/process5"/>
    <dgm:cxn modelId="{82C3304F-2B95-4E31-B7E7-B04D183AABFD}" type="presParOf" srcId="{141FAF00-67EB-4F55-8C77-59F698F5724E}" destId="{36AEF431-4A6F-4326-B5E5-7897FC71F564}" srcOrd="0" destOrd="0" presId="urn:microsoft.com/office/officeart/2005/8/layout/process5"/>
    <dgm:cxn modelId="{6A970B45-F01D-4902-B8C0-8535F8C7B466}" type="presParOf" srcId="{78A018F0-509D-4DA8-BC14-15F3C43084C0}" destId="{1816BC87-FC06-4646-8EE4-46CC08EEBC0E}" srcOrd="8" destOrd="0" presId="urn:microsoft.com/office/officeart/2005/8/layout/process5"/>
    <dgm:cxn modelId="{8D5DD4F0-4B7E-485B-A612-D31C0C641EA4}" type="presParOf" srcId="{78A018F0-509D-4DA8-BC14-15F3C43084C0}" destId="{9F053678-42B4-4204-B769-940574005DEA}" srcOrd="9" destOrd="0" presId="urn:microsoft.com/office/officeart/2005/8/layout/process5"/>
    <dgm:cxn modelId="{9DC91426-5292-4C37-BDF5-7F30C5160271}" type="presParOf" srcId="{9F053678-42B4-4204-B769-940574005DEA}" destId="{327104AF-5847-41F4-B50D-1D803321E9B9}" srcOrd="0" destOrd="0" presId="urn:microsoft.com/office/officeart/2005/8/layout/process5"/>
    <dgm:cxn modelId="{D99A2D17-DD97-4E70-A90E-F6317AE4DC24}" type="presParOf" srcId="{78A018F0-509D-4DA8-BC14-15F3C43084C0}" destId="{17B2447B-5A20-4429-9488-7664270513EF}" srcOrd="10" destOrd="0" presId="urn:microsoft.com/office/officeart/2005/8/layout/process5"/>
    <dgm:cxn modelId="{C726D044-6603-43C7-ACE0-841135E4D2BC}" type="presParOf" srcId="{78A018F0-509D-4DA8-BC14-15F3C43084C0}" destId="{B1F1FE3D-0AF1-4884-84FC-A2385A1A3D2E}" srcOrd="11" destOrd="0" presId="urn:microsoft.com/office/officeart/2005/8/layout/process5"/>
    <dgm:cxn modelId="{6325763B-B578-4DCD-9D79-09DC831763E4}" type="presParOf" srcId="{B1F1FE3D-0AF1-4884-84FC-A2385A1A3D2E}" destId="{AFADBB5F-4D07-4DCD-A657-F19CF269698B}" srcOrd="0" destOrd="0" presId="urn:microsoft.com/office/officeart/2005/8/layout/process5"/>
    <dgm:cxn modelId="{69B946E9-9F51-4018-8D17-383760F45348}" type="presParOf" srcId="{78A018F0-509D-4DA8-BC14-15F3C43084C0}" destId="{6A1B7E2C-EE1C-406B-8AE9-E2C65D55E046}" srcOrd="12" destOrd="0" presId="urn:microsoft.com/office/officeart/2005/8/layout/process5"/>
    <dgm:cxn modelId="{0780DE93-075D-4275-AB23-315DDE4F0BA7}" type="presParOf" srcId="{78A018F0-509D-4DA8-BC14-15F3C43084C0}" destId="{83B89B13-BBAE-48E0-B7A1-97088CADB187}" srcOrd="13" destOrd="0" presId="urn:microsoft.com/office/officeart/2005/8/layout/process5"/>
    <dgm:cxn modelId="{31313F37-FDF6-47BB-AE6A-7D9A3AD3DD08}" type="presParOf" srcId="{83B89B13-BBAE-48E0-B7A1-97088CADB187}" destId="{C4217859-1530-4FC6-88F7-6FF444A05F0F}" srcOrd="0" destOrd="0" presId="urn:microsoft.com/office/officeart/2005/8/layout/process5"/>
    <dgm:cxn modelId="{C4B69D11-4648-455D-AD29-D74A8362A715}" type="presParOf" srcId="{78A018F0-509D-4DA8-BC14-15F3C43084C0}" destId="{970B8753-737D-413F-8F76-843FE4D9545C}" srcOrd="14" destOrd="0" presId="urn:microsoft.com/office/officeart/2005/8/layout/process5"/>
    <dgm:cxn modelId="{DE7556B4-28A9-4966-A128-6C728E5C7068}" type="presParOf" srcId="{78A018F0-509D-4DA8-BC14-15F3C43084C0}" destId="{3BE49F35-867A-44A5-B5F2-B044EEEEBC45}" srcOrd="15" destOrd="0" presId="urn:microsoft.com/office/officeart/2005/8/layout/process5"/>
    <dgm:cxn modelId="{701379D9-EDBB-496F-9738-93A23FE42620}" type="presParOf" srcId="{3BE49F35-867A-44A5-B5F2-B044EEEEBC45}" destId="{8209C741-2F47-4317-B755-D4E0C16E8AEF}" srcOrd="0" destOrd="0" presId="urn:microsoft.com/office/officeart/2005/8/layout/process5"/>
    <dgm:cxn modelId="{59BCC651-95F5-4673-B0D2-9C79B66F5E2E}" type="presParOf" srcId="{78A018F0-509D-4DA8-BC14-15F3C43084C0}" destId="{3E35A729-07B1-4BCF-B511-3B526743D109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88E7F-22E2-42CB-AA1D-14568A2E09C7}">
      <dsp:nvSpPr>
        <dsp:cNvPr id="0" name=""/>
        <dsp:cNvSpPr/>
      </dsp:nvSpPr>
      <dsp:spPr>
        <a:xfrm>
          <a:off x="2014028" y="2057400"/>
          <a:ext cx="367393" cy="1457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696" y="0"/>
              </a:lnTo>
              <a:lnTo>
                <a:pt x="183696" y="1457704"/>
              </a:lnTo>
              <a:lnTo>
                <a:pt x="367393" y="1457704"/>
              </a:lnTo>
            </a:path>
          </a:pathLst>
        </a:custGeom>
        <a:noFill/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>
        <a:off x="2160143" y="2748669"/>
        <a:ext cx="75164" cy="75164"/>
      </dsp:txXfrm>
    </dsp:sp>
    <dsp:sp modelId="{F3ACA51A-6E37-4237-919E-378F15CCCB0B}">
      <dsp:nvSpPr>
        <dsp:cNvPr id="0" name=""/>
        <dsp:cNvSpPr/>
      </dsp:nvSpPr>
      <dsp:spPr>
        <a:xfrm>
          <a:off x="2014028" y="390906"/>
          <a:ext cx="327594" cy="1666494"/>
        </a:xfrm>
        <a:custGeom>
          <a:avLst/>
          <a:gdLst/>
          <a:ahLst/>
          <a:cxnLst/>
          <a:rect l="0" t="0" r="0" b="0"/>
          <a:pathLst>
            <a:path>
              <a:moveTo>
                <a:pt x="0" y="1666494"/>
              </a:moveTo>
              <a:lnTo>
                <a:pt x="163797" y="1666494"/>
              </a:lnTo>
              <a:lnTo>
                <a:pt x="163797" y="0"/>
              </a:lnTo>
              <a:lnTo>
                <a:pt x="32759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b="1" kern="1200"/>
        </a:p>
      </dsp:txBody>
      <dsp:txXfrm>
        <a:off x="2135366" y="1181693"/>
        <a:ext cx="84919" cy="84919"/>
      </dsp:txXfrm>
    </dsp:sp>
    <dsp:sp modelId="{E14C7C6D-C4F3-47A1-A27B-F55198D394D2}">
      <dsp:nvSpPr>
        <dsp:cNvPr id="0" name=""/>
        <dsp:cNvSpPr/>
      </dsp:nvSpPr>
      <dsp:spPr>
        <a:xfrm rot="16200000">
          <a:off x="-434277" y="1666494"/>
          <a:ext cx="4114800" cy="7818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solidFill>
                <a:srgbClr val="C00000"/>
              </a:solidFill>
            </a:rPr>
            <a:t>Sources du Cholesterol</a:t>
          </a:r>
        </a:p>
      </dsp:txBody>
      <dsp:txXfrm>
        <a:off x="-434277" y="1666494"/>
        <a:ext cx="4114800" cy="781812"/>
      </dsp:txXfrm>
    </dsp:sp>
    <dsp:sp modelId="{DDAEE141-ADE8-426C-B61B-52493E984174}">
      <dsp:nvSpPr>
        <dsp:cNvPr id="0" name=""/>
        <dsp:cNvSpPr/>
      </dsp:nvSpPr>
      <dsp:spPr>
        <a:xfrm>
          <a:off x="2341623" y="0"/>
          <a:ext cx="2303164" cy="7818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 err="1"/>
            <a:t>Exogènes</a:t>
          </a:r>
          <a:r>
            <a:rPr lang="en-US" sz="3300" b="1" kern="1200" dirty="0"/>
            <a:t> </a:t>
          </a:r>
        </a:p>
      </dsp:txBody>
      <dsp:txXfrm>
        <a:off x="2341623" y="0"/>
        <a:ext cx="2303164" cy="781812"/>
      </dsp:txXfrm>
    </dsp:sp>
    <dsp:sp modelId="{CD3E0522-AAC8-4686-A239-5AFCFD70E5C8}">
      <dsp:nvSpPr>
        <dsp:cNvPr id="0" name=""/>
        <dsp:cNvSpPr/>
      </dsp:nvSpPr>
      <dsp:spPr>
        <a:xfrm>
          <a:off x="2381422" y="3124198"/>
          <a:ext cx="2336886" cy="781812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 err="1"/>
            <a:t>Endogènes</a:t>
          </a:r>
          <a:r>
            <a:rPr lang="en-US" sz="3300" b="1" kern="1200" dirty="0"/>
            <a:t> </a:t>
          </a:r>
        </a:p>
      </dsp:txBody>
      <dsp:txXfrm>
        <a:off x="2381422" y="3124198"/>
        <a:ext cx="2336886" cy="781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60503-3ED5-473A-964C-E7F5C19999A2}">
      <dsp:nvSpPr>
        <dsp:cNvPr id="0" name=""/>
        <dsp:cNvSpPr/>
      </dsp:nvSpPr>
      <dsp:spPr>
        <a:xfrm>
          <a:off x="0" y="453306"/>
          <a:ext cx="8229600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Chylomicrons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Chylomicron remnants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Intermediate Density Lipoproteins (IDL)</a:t>
          </a:r>
        </a:p>
      </dsp:txBody>
      <dsp:txXfrm>
        <a:off x="0" y="453306"/>
        <a:ext cx="8229600" cy="1587600"/>
      </dsp:txXfrm>
    </dsp:sp>
    <dsp:sp modelId="{BDC8A03B-86E5-4685-B68A-9D544367BE9F}">
      <dsp:nvSpPr>
        <dsp:cNvPr id="0" name=""/>
        <dsp:cNvSpPr/>
      </dsp:nvSpPr>
      <dsp:spPr>
        <a:xfrm>
          <a:off x="411480" y="189239"/>
          <a:ext cx="5760720" cy="619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Intermediaires</a:t>
          </a:r>
        </a:p>
      </dsp:txBody>
      <dsp:txXfrm>
        <a:off x="441742" y="219501"/>
        <a:ext cx="5700196" cy="559396"/>
      </dsp:txXfrm>
    </dsp:sp>
    <dsp:sp modelId="{6CA884E3-4206-4DD7-B80D-D4395D317672}">
      <dsp:nvSpPr>
        <dsp:cNvPr id="0" name=""/>
        <dsp:cNvSpPr/>
      </dsp:nvSpPr>
      <dsp:spPr>
        <a:xfrm>
          <a:off x="0" y="2464266"/>
          <a:ext cx="8229600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Very-Low Density Lipoproteins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Low Density Lipoproteins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High Density Lipoproteins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 </a:t>
          </a:r>
          <a:r>
            <a:rPr lang="en-US" sz="2100" kern="1200" dirty="0" err="1"/>
            <a:t>Lpa</a:t>
          </a:r>
          <a:endParaRPr lang="en-US" sz="2100" kern="1200" dirty="0"/>
        </a:p>
      </dsp:txBody>
      <dsp:txXfrm>
        <a:off x="0" y="2464266"/>
        <a:ext cx="8229600" cy="1918350"/>
      </dsp:txXfrm>
    </dsp:sp>
    <dsp:sp modelId="{BA951417-5513-4FAA-9042-A3E2FEFEFBC1}">
      <dsp:nvSpPr>
        <dsp:cNvPr id="0" name=""/>
        <dsp:cNvSpPr/>
      </dsp:nvSpPr>
      <dsp:spPr>
        <a:xfrm>
          <a:off x="411480" y="2154306"/>
          <a:ext cx="5760720" cy="619920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Importante dans l'athérosclérose coronarienne</a:t>
          </a:r>
          <a:endParaRPr lang="en-US" sz="2100" kern="1200" dirty="0"/>
        </a:p>
      </dsp:txBody>
      <dsp:txXfrm>
        <a:off x="441742" y="2184568"/>
        <a:ext cx="5700196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44543-6502-4D63-B98E-FB8CB04A5CA3}">
      <dsp:nvSpPr>
        <dsp:cNvPr id="0" name=""/>
        <dsp:cNvSpPr/>
      </dsp:nvSpPr>
      <dsp:spPr>
        <a:xfrm>
          <a:off x="2" y="594297"/>
          <a:ext cx="2823363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Primitives </a:t>
          </a:r>
        </a:p>
      </dsp:txBody>
      <dsp:txXfrm>
        <a:off x="2" y="594297"/>
        <a:ext cx="2823363" cy="435600"/>
      </dsp:txXfrm>
    </dsp:sp>
    <dsp:sp modelId="{436EF48A-F3E6-406A-A94D-559FDF616ADC}">
      <dsp:nvSpPr>
        <dsp:cNvPr id="0" name=""/>
        <dsp:cNvSpPr/>
      </dsp:nvSpPr>
      <dsp:spPr>
        <a:xfrm>
          <a:off x="2721453" y="0"/>
          <a:ext cx="564672" cy="179685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D2CF8F-9948-4BE7-9DE7-4E9305A35D20}">
      <dsp:nvSpPr>
        <dsp:cNvPr id="0" name=""/>
        <dsp:cNvSpPr/>
      </dsp:nvSpPr>
      <dsp:spPr>
        <a:xfrm>
          <a:off x="3454152" y="0"/>
          <a:ext cx="7679549" cy="1796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u="sng" kern="1200" dirty="0"/>
            <a:t>Causes </a:t>
          </a:r>
          <a:r>
            <a:rPr lang="en-US" sz="2200" b="1" u="sng" kern="1200" dirty="0" err="1"/>
            <a:t>Genetiques</a:t>
          </a:r>
          <a:r>
            <a:rPr lang="en-US" sz="2200" b="1" u="sng" kern="1200" dirty="0"/>
            <a:t>  (</a:t>
          </a:r>
          <a:r>
            <a:rPr lang="en-US" sz="2200" b="1" u="sng" kern="1200" dirty="0" err="1">
              <a:solidFill>
                <a:srgbClr val="C00000"/>
              </a:solidFill>
            </a:rPr>
            <a:t>Familiales</a:t>
          </a:r>
          <a:r>
            <a:rPr lang="en-US" sz="2200" b="1" u="sng" kern="1200" dirty="0"/>
            <a:t>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0" i="0" kern="1200" dirty="0"/>
            <a:t>Mutations génétiques multiples entraînant soit une </a:t>
          </a:r>
          <a:r>
            <a:rPr lang="fr-FR" sz="2200" b="1" i="0" kern="1200" dirty="0"/>
            <a:t>hyperproduction ou une élimination défectueuse des triglycérides et des LDL</a:t>
          </a:r>
          <a:r>
            <a:rPr lang="fr-FR" sz="2200" b="0" i="0" kern="1200" dirty="0"/>
            <a:t>, soit une </a:t>
          </a:r>
          <a:r>
            <a:rPr lang="fr-FR" sz="2200" b="1" i="0" kern="1200" dirty="0"/>
            <a:t>sous-production ou une élimination excessive des HDL</a:t>
          </a:r>
          <a:r>
            <a:rPr lang="fr-FR" sz="2200" b="0" i="0" kern="1200" dirty="0"/>
            <a:t>.</a:t>
          </a:r>
          <a:endParaRPr lang="en-US" sz="2200" b="1" kern="1200" dirty="0"/>
        </a:p>
      </dsp:txBody>
      <dsp:txXfrm>
        <a:off x="3454152" y="0"/>
        <a:ext cx="7679549" cy="1796850"/>
      </dsp:txXfrm>
    </dsp:sp>
    <dsp:sp modelId="{0D014077-188E-4B90-A9A1-176730258842}">
      <dsp:nvSpPr>
        <dsp:cNvPr id="0" name=""/>
        <dsp:cNvSpPr/>
      </dsp:nvSpPr>
      <dsp:spPr>
        <a:xfrm>
          <a:off x="29682" y="3184235"/>
          <a:ext cx="2823363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cap="none" spc="0" dirty="0" err="1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Secondaires</a:t>
          </a:r>
          <a:r>
            <a:rPr lang="en-US" sz="2200" b="0" kern="120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</a:p>
      </dsp:txBody>
      <dsp:txXfrm>
        <a:off x="29682" y="3184235"/>
        <a:ext cx="2823363" cy="435600"/>
      </dsp:txXfrm>
    </dsp:sp>
    <dsp:sp modelId="{66BF811C-8B08-43FD-822D-550963655B79}">
      <dsp:nvSpPr>
        <dsp:cNvPr id="0" name=""/>
        <dsp:cNvSpPr/>
      </dsp:nvSpPr>
      <dsp:spPr>
        <a:xfrm>
          <a:off x="2826123" y="1968536"/>
          <a:ext cx="564672" cy="288585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5D1F2-6CFC-4EC5-8B6F-3C86278C3FB4}">
      <dsp:nvSpPr>
        <dsp:cNvPr id="0" name=""/>
        <dsp:cNvSpPr/>
      </dsp:nvSpPr>
      <dsp:spPr>
        <a:xfrm>
          <a:off x="3558822" y="1968536"/>
          <a:ext cx="7466902" cy="2885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0" i="0" kern="1200" dirty="0"/>
            <a:t>Un mode de vie sédentaire avec un apport alimentaire excessif en calories totales, en graisses saturées, en cholestérol et en graisses trans.
le diabète 
L'abus d'alcool
les médicaments
l'hypothyroïdie …</a:t>
          </a:r>
          <a:endParaRPr lang="en-US" sz="2200" b="1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</dsp:txBody>
      <dsp:txXfrm>
        <a:off x="3558822" y="1968536"/>
        <a:ext cx="7466902" cy="28858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5C853-E050-47B1-8997-927739D6CC40}">
      <dsp:nvSpPr>
        <dsp:cNvPr id="0" name=""/>
        <dsp:cNvSpPr/>
      </dsp:nvSpPr>
      <dsp:spPr>
        <a:xfrm>
          <a:off x="1188664" y="86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Transport des LDL vers les cellules endothéliales</a:t>
          </a:r>
          <a:endParaRPr lang="en-US" sz="1600" kern="1200" dirty="0"/>
        </a:p>
      </dsp:txBody>
      <dsp:txXfrm>
        <a:off x="1222071" y="33493"/>
        <a:ext cx="1834204" cy="1073797"/>
      </dsp:txXfrm>
    </dsp:sp>
    <dsp:sp modelId="{57ED25CE-9B8E-40FB-9DBE-DEA1C13F8FA3}">
      <dsp:nvSpPr>
        <dsp:cNvPr id="0" name=""/>
        <dsp:cNvSpPr/>
      </dsp:nvSpPr>
      <dsp:spPr>
        <a:xfrm>
          <a:off x="3256972" y="334666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256972" y="428956"/>
        <a:ext cx="282111" cy="282872"/>
      </dsp:txXfrm>
    </dsp:sp>
    <dsp:sp modelId="{CCB49203-EF88-4FBE-A959-6B5ABD6971A2}">
      <dsp:nvSpPr>
        <dsp:cNvPr id="0" name=""/>
        <dsp:cNvSpPr/>
      </dsp:nvSpPr>
      <dsp:spPr>
        <a:xfrm>
          <a:off x="3850090" y="86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5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Les LDL  atteignent l'espace sous endothélial</a:t>
          </a:r>
          <a:endParaRPr lang="en-US" sz="1600" kern="1200" dirty="0"/>
        </a:p>
      </dsp:txBody>
      <dsp:txXfrm>
        <a:off x="3883497" y="33493"/>
        <a:ext cx="1834204" cy="1073797"/>
      </dsp:txXfrm>
    </dsp:sp>
    <dsp:sp modelId="{82D1811E-D0E8-4118-B144-42EF9A892847}">
      <dsp:nvSpPr>
        <dsp:cNvPr id="0" name=""/>
        <dsp:cNvSpPr/>
      </dsp:nvSpPr>
      <dsp:spPr>
        <a:xfrm>
          <a:off x="5918399" y="334666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18399" y="428956"/>
        <a:ext cx="282111" cy="282872"/>
      </dsp:txXfrm>
    </dsp:sp>
    <dsp:sp modelId="{2E9D463F-CC5C-47A0-8D7F-6CD63444585F}">
      <dsp:nvSpPr>
        <dsp:cNvPr id="0" name=""/>
        <dsp:cNvSpPr/>
      </dsp:nvSpPr>
      <dsp:spPr>
        <a:xfrm>
          <a:off x="6511516" y="86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Les LDL subissent une oxydation</a:t>
          </a:r>
          <a:endParaRPr lang="en-US" sz="1600" kern="1200" dirty="0"/>
        </a:p>
      </dsp:txBody>
      <dsp:txXfrm>
        <a:off x="6544923" y="33493"/>
        <a:ext cx="1834204" cy="1073797"/>
      </dsp:txXfrm>
    </dsp:sp>
    <dsp:sp modelId="{6195697B-6D85-4167-91BD-AA846AD709E7}">
      <dsp:nvSpPr>
        <dsp:cNvPr id="0" name=""/>
        <dsp:cNvSpPr/>
      </dsp:nvSpPr>
      <dsp:spPr>
        <a:xfrm rot="5400000">
          <a:off x="7260518" y="1273769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7320590" y="1307987"/>
        <a:ext cx="282872" cy="282111"/>
      </dsp:txXfrm>
    </dsp:sp>
    <dsp:sp modelId="{BF1B7465-D343-4058-9D7D-DD84E0F54A76}">
      <dsp:nvSpPr>
        <dsp:cNvPr id="0" name=""/>
        <dsp:cNvSpPr/>
      </dsp:nvSpPr>
      <dsp:spPr>
        <a:xfrm>
          <a:off x="6511516" y="1901105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Les monocytes migrent vers l'espace sous endothélial</a:t>
          </a:r>
          <a:endParaRPr lang="en-US" sz="1600" kern="1200" dirty="0"/>
        </a:p>
      </dsp:txBody>
      <dsp:txXfrm>
        <a:off x="6544923" y="1934512"/>
        <a:ext cx="1834204" cy="1073797"/>
      </dsp:txXfrm>
    </dsp:sp>
    <dsp:sp modelId="{141FAF00-67EB-4F55-8C77-59F698F5724E}">
      <dsp:nvSpPr>
        <dsp:cNvPr id="0" name=""/>
        <dsp:cNvSpPr/>
      </dsp:nvSpPr>
      <dsp:spPr>
        <a:xfrm rot="10800000">
          <a:off x="5941211" y="2235685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6062115" y="2329975"/>
        <a:ext cx="282111" cy="282872"/>
      </dsp:txXfrm>
    </dsp:sp>
    <dsp:sp modelId="{1816BC87-FC06-4646-8EE4-46CC08EEBC0E}">
      <dsp:nvSpPr>
        <dsp:cNvPr id="0" name=""/>
        <dsp:cNvSpPr/>
      </dsp:nvSpPr>
      <dsp:spPr>
        <a:xfrm>
          <a:off x="3850090" y="1901105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Les monocytes se transforment en macrophages </a:t>
          </a:r>
          <a:endParaRPr lang="en-US" sz="1600" kern="1200" dirty="0"/>
        </a:p>
      </dsp:txBody>
      <dsp:txXfrm>
        <a:off x="3883497" y="1934512"/>
        <a:ext cx="1834204" cy="1073797"/>
      </dsp:txXfrm>
    </dsp:sp>
    <dsp:sp modelId="{9F053678-42B4-4204-B769-940574005DEA}">
      <dsp:nvSpPr>
        <dsp:cNvPr id="0" name=""/>
        <dsp:cNvSpPr/>
      </dsp:nvSpPr>
      <dsp:spPr>
        <a:xfrm rot="10800000">
          <a:off x="3279784" y="2235685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3400688" y="2329975"/>
        <a:ext cx="282111" cy="282872"/>
      </dsp:txXfrm>
    </dsp:sp>
    <dsp:sp modelId="{17B2447B-5A20-4429-9488-7664270513EF}">
      <dsp:nvSpPr>
        <dsp:cNvPr id="0" name=""/>
        <dsp:cNvSpPr/>
      </dsp:nvSpPr>
      <dsp:spPr>
        <a:xfrm>
          <a:off x="1188664" y="1901105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La mobilité des macrophages est inhibée </a:t>
          </a:r>
          <a:endParaRPr lang="en-US" sz="1600" kern="1200" dirty="0"/>
        </a:p>
      </dsp:txBody>
      <dsp:txXfrm>
        <a:off x="1222071" y="1934512"/>
        <a:ext cx="1834204" cy="1073797"/>
      </dsp:txXfrm>
    </dsp:sp>
    <dsp:sp modelId="{B1F1FE3D-0AF1-4884-84FC-A2385A1A3D2E}">
      <dsp:nvSpPr>
        <dsp:cNvPr id="0" name=""/>
        <dsp:cNvSpPr/>
      </dsp:nvSpPr>
      <dsp:spPr>
        <a:xfrm rot="5400000">
          <a:off x="1937665" y="3174788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997737" y="3209006"/>
        <a:ext cx="282872" cy="282111"/>
      </dsp:txXfrm>
    </dsp:sp>
    <dsp:sp modelId="{6A1B7E2C-EE1C-406B-8AE9-E2C65D55E046}">
      <dsp:nvSpPr>
        <dsp:cNvPr id="0" name=""/>
        <dsp:cNvSpPr/>
      </dsp:nvSpPr>
      <dsp:spPr>
        <a:xfrm>
          <a:off x="1188664" y="3802124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Les LDL oxydées sont absorbées par les macrophages</a:t>
          </a:r>
          <a:endParaRPr lang="en-US" sz="1600" kern="1200" dirty="0"/>
        </a:p>
      </dsp:txBody>
      <dsp:txXfrm>
        <a:off x="1222071" y="3835531"/>
        <a:ext cx="1834204" cy="1073797"/>
      </dsp:txXfrm>
    </dsp:sp>
    <dsp:sp modelId="{83B89B13-BBAE-48E0-B7A1-97088CADB187}">
      <dsp:nvSpPr>
        <dsp:cNvPr id="0" name=""/>
        <dsp:cNvSpPr/>
      </dsp:nvSpPr>
      <dsp:spPr>
        <a:xfrm>
          <a:off x="3256972" y="4136704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256972" y="4230994"/>
        <a:ext cx="282111" cy="282872"/>
      </dsp:txXfrm>
    </dsp:sp>
    <dsp:sp modelId="{970B8753-737D-413F-8F76-843FE4D9545C}">
      <dsp:nvSpPr>
        <dsp:cNvPr id="0" name=""/>
        <dsp:cNvSpPr/>
      </dsp:nvSpPr>
      <dsp:spPr>
        <a:xfrm>
          <a:off x="3850090" y="3802124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Le matériel devient cytotoxique et </a:t>
          </a:r>
          <a:r>
            <a:rPr lang="fr-FR" sz="1400" b="1" kern="1200" dirty="0"/>
            <a:t>endommage l'endothélium.</a:t>
          </a:r>
          <a:r>
            <a:rPr lang="fr-FR" sz="1100" kern="1200" dirty="0"/>
            <a:t>
</a:t>
          </a:r>
          <a:endParaRPr lang="en-US" sz="1100" b="1" kern="1200" dirty="0"/>
        </a:p>
      </dsp:txBody>
      <dsp:txXfrm>
        <a:off x="3883497" y="3835531"/>
        <a:ext cx="1834204" cy="1073797"/>
      </dsp:txXfrm>
    </dsp:sp>
    <dsp:sp modelId="{3BE49F35-867A-44A5-B5F2-B044EEEEBC45}">
      <dsp:nvSpPr>
        <dsp:cNvPr id="0" name=""/>
        <dsp:cNvSpPr/>
      </dsp:nvSpPr>
      <dsp:spPr>
        <a:xfrm>
          <a:off x="5918399" y="4136704"/>
          <a:ext cx="403015" cy="471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18399" y="4230994"/>
        <a:ext cx="282111" cy="282872"/>
      </dsp:txXfrm>
    </dsp:sp>
    <dsp:sp modelId="{3E35A729-07B1-4BCF-B511-3B526743D109}">
      <dsp:nvSpPr>
        <dsp:cNvPr id="0" name=""/>
        <dsp:cNvSpPr/>
      </dsp:nvSpPr>
      <dsp:spPr>
        <a:xfrm>
          <a:off x="6511516" y="3802124"/>
          <a:ext cx="1901018" cy="114061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5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Adhésion plaquettaire et formation de </a:t>
          </a:r>
          <a:r>
            <a:rPr lang="fr-FR" sz="1600" kern="1200" dirty="0" err="1"/>
            <a:t>microthrombi</a:t>
          </a:r>
          <a:endParaRPr lang="en-US" sz="1600" kern="1200" dirty="0"/>
        </a:p>
      </dsp:txBody>
      <dsp:txXfrm>
        <a:off x="6544923" y="3835531"/>
        <a:ext cx="1834204" cy="10737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7D3D2-2212-4935-97A9-7966DA244EE1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83974-E6A3-4E4C-B09D-9CF09F1BF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1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2ED7D-C884-4AC9-9301-4249D81A77C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71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96E4EB-2689-4D0E-A750-D7D1A41FF6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546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2016 European Guidelines on cardiovascular disease prevention in clinical practice</a:t>
            </a:r>
            <a:endParaRPr lang="fr-FR" sz="1200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A625F2-F462-4F98-8126-2413CCD0FA4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66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F9835F-BF0F-473D-A451-FE18C7023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CEC28E-7EDD-421D-90C7-6059E4E52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244A45-7398-4D44-877B-4E8AC30A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5DBFC3-3907-4CE0-B2EB-E1A9FDFE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1C6CFA-A970-4CEF-8DA7-ACC49DF1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54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CDCC78-1726-4DEF-94EF-F07C11B18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AEFCB0-A06E-47A3-9878-5381D0641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7F8BC5-63B4-48EA-954D-068911DD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E2DE1D-A7F6-4714-AF15-D1D2A031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6AC3BD-F7F8-42DC-BB9A-5EB47163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55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6890EA-61E2-4A36-AA3F-8454D665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033E7E-06B7-4679-BF65-B558DB8E9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E86834-093C-46F4-A6D5-35BF5440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16C94B-B69F-4123-B676-67EEE40B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00F99F-10A6-46AB-99A3-E5A533BD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73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32329-7AAE-4583-9632-AE04145D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CD58D8-3112-4C62-92FA-5513CFDC3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FB086B-7086-49A8-8D36-8ED288D76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65203D-8D37-4FEA-98F7-D34369C6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01FEB3-5A3F-475E-908D-8DC20150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AB7473-8CEF-49D6-B31A-1739560A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7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223F0-D872-4D35-A149-00F793503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76C68D-7386-4ED0-A73E-6208D4FD1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598380-53E2-4575-A2C6-0A7443404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152148-2327-4996-9801-709C77BA4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4DE013-CF1F-412A-93F1-05E616833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E8A3E4-81E8-4970-A728-743AFF41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0FED8D8-49BE-42E7-93F1-26E80A4E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8F25759-9CC0-4B54-B385-658FBFDA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17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E7DFFE-3C6F-4FC0-8370-58638072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296C20C-8BF9-45CA-84EF-41916AC0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77144A-A959-4B0C-9974-3684BEFC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45E46F-0FA6-474F-A78C-0E4A816C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4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EA34EF1-4FF1-443F-9DE8-4535374A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37B1163-A6C6-4502-952E-827BA0EE1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712224-6657-4776-963C-3CDA8716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94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B2E070-1EA3-4405-AFE2-4FA39352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7C4B0A-C990-4B3F-977A-8A348ECD4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7290C8-9862-46A4-A5F6-08B9CE3BD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0CB224-12BB-4DFD-AE7E-3C6DAC85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A1B311-D53A-4112-9602-FC3A1C51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07CF3F-FE98-4AD9-9072-FD0C5DF2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6B1FF-3882-486E-8E41-7689BF3F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90559B0-6FA9-41D5-B271-842558879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315960-6984-48FE-AD34-60ED7432F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2E23D2-7760-4775-9705-F4A6CE86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D043A7-F324-4492-A771-E46D8115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C70211-43B1-4528-981D-5F971C4E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05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55D0BD-A725-4842-A94C-D5D1770E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71A5A8-C993-4DB9-BE3E-5D416E128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D7BC34-160C-4741-A9DA-E7FDF93E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FD4BA7-F1D8-4E07-A640-80369F3D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DC4C54-E997-4CB4-BD44-2E177CD2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5863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5532E21-33F9-4F66-9848-761CFB38B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3CE8C7-B3DB-42F0-B197-C92BDB251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FEFA37-B2F9-4C1A-9EAD-CFA13521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406C61-39E9-4B1F-AB99-18D7EBBE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5BC6A6-B69C-4185-B06D-9FFDB237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202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82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018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562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97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42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9263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740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0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5755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598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654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70E4-9B6E-4168-A9B5-938327D3E29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8850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A077-B375-4D8A-BBBD-CCEE570B447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696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BC98-F99D-4FF4-9B71-5CC716E6517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7769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CF47-987A-4125-82FB-E5E182EA98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5587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0826A-4A34-45C3-9FE6-A17D4216455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4273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654C9-F866-4974-93F7-619067DC575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1871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1D5A-228A-4108-AECD-97BF85D382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831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33EF-C194-4273-971A-42F8B32260C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349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57FD-CBC5-4DB4-9402-43351047E1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111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AF1DF-DDA3-4F83-93A3-39C4720540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3016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2F0B-C49C-4A18-BD2A-FCB3C0ED62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415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79647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7515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8841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3689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334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6360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0523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9003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0186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7949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625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re. Contenu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35200" y="457200"/>
            <a:ext cx="9347200" cy="12954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235200" y="1981200"/>
            <a:ext cx="4572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010400" y="1981200"/>
            <a:ext cx="4572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D976D-4ACF-4893-B828-70363ED74A5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9130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903B5-198C-4861-8319-951576A9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E2E9A93-81DA-45F0-8AAF-623E8EB8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10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B526FC6-4904-4E1C-8C43-135AFB0E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2869" y="2220686"/>
            <a:ext cx="7610620" cy="37621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44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882E3C9-6EA6-449F-B971-FF7C9D9A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416DBA-65B4-4EC1-AB4B-0EF953471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17DBE1-A7FE-44F5-AE9C-957B5FB83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24F18-FB83-4A04-9BCA-FD0F41384E90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56A3AF-4994-464C-81B4-D7D400C17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9FF1AD-3075-4A9D-A1D1-3C4E170E2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89380-81DE-45B4-880F-5037E352F4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775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ACA84-B82A-46FF-A724-AB97D9AD6CFE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B350E-EB9E-4355-BA60-00F55466D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42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95BC5-BAD1-4C66-B132-5AA3938D25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Jabayne Pest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47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D60F1-C69B-479C-A60B-20E38BD3B878}" type="datetimeFigureOut">
              <a:rPr lang="fr-FR" smtClean="0"/>
              <a:t>24/07/2025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A8C1A-9C23-4F4B-9229-B8998F73E5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74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jcem.endojournals.org/content/vol89/issue6/images/large/zeg0060405570002.jpeg" TargetMode="Externa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png"/><Relationship Id="rId4" Type="http://schemas.openxmlformats.org/officeDocument/2006/relationships/hyperlink" Target="http://jcem.endojournals.org/content/vol89/issue6/images/large/zeg0060405570001.jpeg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Dyslipidémies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/>
              <a:t>Concours de résidanat 2023</a:t>
            </a:r>
          </a:p>
          <a:p>
            <a:endParaRPr lang="fr-FR" b="1" dirty="0"/>
          </a:p>
          <a:p>
            <a:r>
              <a:rPr lang="fr-FR" b="1" dirty="0"/>
              <a:t>W </a:t>
            </a:r>
            <a:r>
              <a:rPr lang="fr-FR" b="1" dirty="0" err="1"/>
              <a:t>Debbabi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48495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06689" y="283238"/>
            <a:ext cx="10515600" cy="521979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Objectifs dyslipidémies 23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04717" y="876745"/>
            <a:ext cx="11709778" cy="62746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1. Indiquer la prévalence globale des dyslipidémies et leur part dans la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morbi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-mortalité cardiovasculaire.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2. Indiquer la fréquence des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hyperlipoprotéinémies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familiales.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3. Expliquer les mécanismes physiopathologiques, génétiques et environnementaux des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hyperlipoprotéinémies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4. Expliquer les conséquences physiopathologiques vasculaires et extravasculaires des dyslipidémies.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5. Identifier les sujets à risque nécessitant le dépistage d’une hyperlipidémie.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6. Planifier l’exploration d’une anomalie lipidique.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7. Interpréter les résultats d’un bilan lipidique.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8. Préciser à partir des données cliniques et paracliniques le type d’une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hyperlipoprotéinémie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selon la classification de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Fredrickson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ainsi que son risque évolutif.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9. Réunir les arguments cliniques et paracliniques en faveur d’une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hyperlipoprotéinémie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secondaire.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10. Identifier les éléments du syndrome métabolique (selon les critères actualisés de l’International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Federation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) chez un patient présentant une dyslipidémie.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11. Décrire le mode de transmission d’une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hyperlipoprotéinémie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familiale en vue d’établir un conseil génétique.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12. Evaluer le risque vasculaire chez un patient présentant une dyslipidémie.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13. Reconnaître chez un malade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dyslipidémique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les complications vasculaires et extravasculaires.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14. Prescrire les mesures hygiéno-diététiques selon le type d’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hyperlipoprotéinémie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15. Expliquer le mécanisme d’action des médicaments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hypolipémiants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(statines et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fibrates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16. Planifier la stratégie thérapeutique d’une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hyperlipoprotéinémie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primitive ou secondaire selon les recommandations de la Société Européenne de Cardiologie.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17. Planifier la surveillance au long cours d’un patient ayant une dyslipidémie.</a:t>
            </a:r>
          </a:p>
          <a:p>
            <a:pPr marL="0" indent="0">
              <a:buNone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18. Planifier une stratégie de prévention primaire des maladies cardiovasculaires (consommation de sucre, sel et lipides, tabac, activité physique…).</a:t>
            </a:r>
          </a:p>
        </p:txBody>
      </p:sp>
    </p:spTree>
    <p:extLst>
      <p:ext uri="{BB962C8B-B14F-4D97-AF65-F5344CB8AC3E}">
        <p14:creationId xmlns:p14="http://schemas.microsoft.com/office/powerpoint/2010/main" val="33797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1597D-C20A-4EE4-A3EE-2C4D5284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889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600" b="1" dirty="0">
                <a:solidFill>
                  <a:srgbClr val="0070C0"/>
                </a:solidFill>
              </a:rPr>
              <a:t>Définition et épidémiologie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C4046B-395B-4250-8A57-9EA5CA62F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024"/>
            <a:ext cx="10515600" cy="493983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dyslipidémies sont des troubles du métabolisme des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lipoprotéines: Dyslipoprotéinémies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Biologiquement, elles se traduisent par une augmentation du cholestérol LDL et des triglycérides et/ou une diminution du cholestérol HDL. 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Prévalence des dyslipidémies en Tunisie (en 2001)          hypercholestérolémie : 14,3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hypertriglycérides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13,6%.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femmes sont plus touchées que les hommes.</a:t>
            </a:r>
          </a:p>
        </p:txBody>
      </p:sp>
    </p:spTree>
    <p:extLst>
      <p:ext uri="{BB962C8B-B14F-4D97-AF65-F5344CB8AC3E}">
        <p14:creationId xmlns:p14="http://schemas.microsoft.com/office/powerpoint/2010/main" val="273573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FA4C86-317D-4A40-B6C2-0FADAB94C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61769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La prévalence dépend des caractéristiques du patient 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elle peut atteindre </a:t>
            </a:r>
            <a:r>
              <a:rPr lang="fr-FR" b="1" dirty="0"/>
              <a:t>88% des patients âgés de plus de 55 ans souffrant d'une maladie cardiovasculaire symptomatique.</a:t>
            </a:r>
            <a:r>
              <a:rPr lang="fr-FR" dirty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Sujets asymptomatiques: Etude ATERA:  48,5% ( âge : 25 à 75 ans 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                                                  THES : 40,9% ( âge ≥ 15 ans 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Facteur de risque majeur des maladies cardiovasculaires </a:t>
            </a:r>
          </a:p>
        </p:txBody>
      </p:sp>
    </p:spTree>
    <p:extLst>
      <p:ext uri="{BB962C8B-B14F-4D97-AF65-F5344CB8AC3E}">
        <p14:creationId xmlns:p14="http://schemas.microsoft.com/office/powerpoint/2010/main" val="2676392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265315176"/>
              </p:ext>
            </p:extLst>
          </p:nvPr>
        </p:nvGraphicFramePr>
        <p:xfrm>
          <a:off x="596152" y="1918872"/>
          <a:ext cx="60960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257800" y="1139976"/>
            <a:ext cx="4724400" cy="24006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FR" sz="2000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L'ingestion accrue de cholestérol inhibe sa synthèse endogène </a:t>
            </a:r>
            <a:endParaRPr lang="en-US" sz="2000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 w="1905"/>
              <a:solidFill>
                <a:prstClr val="black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L'augmentation des graisses saturées alimentaires entraîne une augmentation considérable (15 à 25 %) du cholestérol circulant.</a:t>
            </a:r>
            <a:endParaRPr kumimoji="0" lang="en-US" sz="2000" b="0" i="0" u="none" strike="noStrike" kern="1200" cap="none" spc="0" normalizeH="0" baseline="0" noProof="0" dirty="0">
              <a:ln w="1905"/>
              <a:solidFill>
                <a:prstClr val="black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57800" y="4199964"/>
            <a:ext cx="4724400" cy="233910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Parce que le foie utilise les graisses saturées pour fabriquer du cholestérol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Le cholestérol provient davantage de la synthèse endogène que de l'alimentation.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La synthèse est assurée par la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HMGCoA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 réductase.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3CAD4C-C6CC-4933-9A45-6518C55A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136525"/>
            <a:ext cx="10515600" cy="7644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Sources du cholestérol  ?</a:t>
            </a:r>
            <a:endParaRPr lang="en-US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6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Comment le cholestérol est-il transporté ?</a:t>
            </a:r>
            <a:endParaRPr lang="en-US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2375" y="1382286"/>
            <a:ext cx="538778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Les lipoprotéines servent à transporter les lipides -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cholestérol et triglycérides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 - dans le sang.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Structures minuscules et sphériques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Noyau hydrophobe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, composé de cholestérol et de triglycérides, entouré d'une enveloppe </a:t>
            </a:r>
            <a:r>
              <a:rPr lang="fr-FR" sz="2400" dirty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</a:rPr>
              <a:t>de </a:t>
            </a:r>
            <a:r>
              <a:rPr lang="fr-FR" sz="2400" dirty="0" err="1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</a:rPr>
              <a:t>phspholipides</a:t>
            </a:r>
            <a:r>
              <a:rPr lang="fr-FR" sz="2400" dirty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</a:rPr>
              <a:t>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hydrophile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+mn-cs"/>
              </a:rPr>
              <a:t>  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sz="2400" dirty="0">
                <a:solidFill>
                  <a:prstClr val="black"/>
                </a:solidFill>
                <a:latin typeface="Calibri" panose="020F0502020204030204"/>
              </a:rPr>
              <a:t>Apoprotéines à la surface : dépend du type de </a:t>
            </a:r>
            <a:r>
              <a:rPr lang="fr-FR" sz="240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B8A6D24-226D-4C83-B096-585FFE1E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165" y="1317812"/>
            <a:ext cx="6284260" cy="401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72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AB53D-0A13-4DE6-B3FD-D6386FBB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07FFF3-9534-4F48-8D0B-47F33B3E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D7D3229-0A69-4F2F-BDCA-10DF133C8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96182"/>
            <a:ext cx="11125200" cy="665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5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69F7605-6CD9-4650-9B60-BF3C4F962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612" y="161897"/>
            <a:ext cx="8552329" cy="653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Apolipoproteines</a:t>
            </a:r>
            <a:endParaRPr lang="en-US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7" y="1417638"/>
            <a:ext cx="10910047" cy="460216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fr-FR" sz="3000" dirty="0"/>
              <a:t>Elles constituent la </a:t>
            </a:r>
            <a:r>
              <a:rPr lang="fr-FR" sz="3000" b="1" dirty="0"/>
              <a:t>composante protéique </a:t>
            </a:r>
            <a:r>
              <a:rPr lang="fr-FR" sz="3000" dirty="0"/>
              <a:t>des lipoprotéines et ont trois fonctions :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fr-FR" sz="3000" dirty="0"/>
              <a:t> Elles servent de </a:t>
            </a:r>
            <a:r>
              <a:rPr lang="fr-FR" sz="3000" b="1" dirty="0"/>
              <a:t>sites de reconnaissance pour les récepteurs membranaires </a:t>
            </a:r>
            <a:r>
              <a:rPr lang="fr-FR" sz="3000" dirty="0"/>
              <a:t>et permettent ainsi aux cellules de se lier aux lipoprotéines et de les ingérer. 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fr-FR" sz="3000" dirty="0"/>
              <a:t>Elles </a:t>
            </a:r>
            <a:r>
              <a:rPr lang="fr-FR" sz="3000" b="1" dirty="0"/>
              <a:t>activent les enzymes </a:t>
            </a:r>
            <a:r>
              <a:rPr lang="fr-FR" sz="3000" dirty="0"/>
              <a:t>qui métabolisent les lipoprotéines.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fr-FR" sz="3000" dirty="0"/>
              <a:t> Elles </a:t>
            </a:r>
            <a:r>
              <a:rPr lang="fr-FR" sz="3000" b="1" dirty="0"/>
              <a:t>augmentent la stabilité </a:t>
            </a:r>
            <a:r>
              <a:rPr lang="fr-FR" sz="3000" dirty="0"/>
              <a:t>structurelle des lipoprotéines</a:t>
            </a:r>
            <a:endParaRPr lang="en-US" sz="3000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317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4B9D2D-699F-4F75-AD65-571DEE6B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3B9D12-30E4-490B-99A7-4F9E5A5D9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9C1BE21-7616-4FF3-88BE-C0329C965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47" y="339444"/>
            <a:ext cx="10869706" cy="615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4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AC01D-C50A-40C6-B983-A966192E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E5CFC5-CB04-43A9-B029-AD3708387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993B86-65AC-4B14-8EC7-2B87F3B22B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49" t="15556" r="32205" b="9930"/>
          <a:stretch/>
        </p:blipFill>
        <p:spPr>
          <a:xfrm>
            <a:off x="874060" y="265767"/>
            <a:ext cx="10062882" cy="619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27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4835" y="256880"/>
            <a:ext cx="10515600" cy="850089"/>
          </a:xfr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Métabolisme et devenir des lipoprotéines :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0831" y="1417620"/>
            <a:ext cx="5411804" cy="470992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 métabolisme des lipoprotéines peut être schématiquement divisé en trois voies :</a:t>
            </a:r>
          </a:p>
          <a:p>
            <a:pPr marL="0" lvl="0" indent="0">
              <a:buNone/>
            </a:pP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voie exogène </a:t>
            </a: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(de l'intestin vers les tissus périphériques)</a:t>
            </a: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la voie endogène </a:t>
            </a: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(du foie aux tissus périphériques)</a:t>
            </a:r>
          </a:p>
          <a:p>
            <a:pPr lv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Transport inverse </a:t>
            </a: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du cholestérol (des tissus vers le foie)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8EEC1F8-8668-4678-A5CD-BE5B594F0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635" y="1443846"/>
            <a:ext cx="5828281" cy="43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29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4EB5B98-4959-40F8-9305-26FE2270A9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18" t="30980" r="26323" b="9542"/>
          <a:stretch/>
        </p:blipFill>
        <p:spPr>
          <a:xfrm>
            <a:off x="1261464" y="330643"/>
            <a:ext cx="8716253" cy="6196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0429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22328" y="764711"/>
            <a:ext cx="2880320" cy="24482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6630642" y="764711"/>
            <a:ext cx="2880320" cy="2448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3485019" y="1548510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4340188" y="2014951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3750306" y="223188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4930070" y="2172961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4722004" y="141278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3845059" y="822558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4102448" y="1366879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3304999" y="80613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5362588" y="80613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5424500" y="221853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3176031" y="2198762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/>
          <p:cNvSpPr/>
          <p:nvPr/>
        </p:nvSpPr>
        <p:spPr>
          <a:xfrm>
            <a:off x="5324325" y="1539823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/>
          <p:cNvSpPr/>
          <p:nvPr/>
        </p:nvSpPr>
        <p:spPr>
          <a:xfrm>
            <a:off x="4817245" y="781662"/>
            <a:ext cx="360040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6697157" y="859337"/>
            <a:ext cx="1145453" cy="125655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/>
          <p:cNvSpPr/>
          <p:nvPr/>
        </p:nvSpPr>
        <p:spPr>
          <a:xfrm>
            <a:off x="8070802" y="866040"/>
            <a:ext cx="1319912" cy="106516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/>
          <p:cNvSpPr/>
          <p:nvPr/>
        </p:nvSpPr>
        <p:spPr>
          <a:xfrm>
            <a:off x="7661843" y="1944781"/>
            <a:ext cx="1260803" cy="115026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3176720" y="3430864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Syndrome métabolique 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6901379" y="3344493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Hypercholestérolémie </a:t>
            </a:r>
          </a:p>
          <a:p>
            <a:pPr algn="ctr"/>
            <a:r>
              <a:rPr lang="fr-FR" b="1" dirty="0"/>
              <a:t>Génétique </a:t>
            </a:r>
          </a:p>
        </p:txBody>
      </p:sp>
      <p:pic>
        <p:nvPicPr>
          <p:cNvPr id="23" name="Picture 4"/>
          <p:cNvPicPr>
            <a:picLocks noRot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4023084"/>
            <a:ext cx="3672408" cy="2753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ZoneTexte 23"/>
          <p:cNvSpPr txBox="1"/>
          <p:nvPr/>
        </p:nvSpPr>
        <p:spPr>
          <a:xfrm>
            <a:off x="2279577" y="5085184"/>
            <a:ext cx="4180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Anomalies qualitatives </a:t>
            </a:r>
          </a:p>
        </p:txBody>
      </p:sp>
      <p:sp>
        <p:nvSpPr>
          <p:cNvPr id="25" name="Titre 24"/>
          <p:cNvSpPr>
            <a:spLocks noGrp="1"/>
          </p:cNvSpPr>
          <p:nvPr>
            <p:ph type="title"/>
          </p:nvPr>
        </p:nvSpPr>
        <p:spPr>
          <a:xfrm>
            <a:off x="1902617" y="84848"/>
            <a:ext cx="8229600" cy="591401"/>
          </a:xfrm>
        </p:spPr>
        <p:txBody>
          <a:bodyPr>
            <a:noAutofit/>
          </a:bodyPr>
          <a:lstStyle/>
          <a:p>
            <a:r>
              <a:rPr lang="fr-FR" sz="3600" b="1" dirty="0"/>
              <a:t>Taille et densité des LDL </a:t>
            </a:r>
          </a:p>
        </p:txBody>
      </p:sp>
    </p:spTree>
    <p:extLst>
      <p:ext uri="{BB962C8B-B14F-4D97-AF65-F5344CB8AC3E}">
        <p14:creationId xmlns:p14="http://schemas.microsoft.com/office/powerpoint/2010/main" val="3763379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0">
                  <a:noFill/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Types des  </a:t>
            </a:r>
            <a:r>
              <a:rPr lang="en-US" b="1" dirty="0" err="1">
                <a:ln w="0">
                  <a:noFill/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Lipoproteines</a:t>
            </a:r>
            <a:endParaRPr lang="en-US" b="1" dirty="0">
              <a:ln w="0">
                <a:noFill/>
              </a:ln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461736"/>
              </p:ext>
            </p:extLst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942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1498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Faits </a:t>
            </a:r>
            <a:r>
              <a:rPr lang="en-US" sz="4000" b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importants</a:t>
            </a:r>
            <a:r>
              <a:rPr lang="en-US" sz="4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812" y="2058321"/>
            <a:ext cx="71119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2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>
                <a:tab pos="756920" algn="l"/>
              </a:tabLst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rightSans-Light"/>
                <a:ea typeface="+mn-ea"/>
                <a:cs typeface="+mn-cs"/>
              </a:rPr>
              <a:t>Les apolipoprotéines les plus intéressantes sur le plan clinique sont les apolipoprotéines A-I, A-II et B-100. </a:t>
            </a:r>
          </a:p>
          <a:p>
            <a:pPr marL="812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>
                <a:tab pos="756920" algn="l"/>
              </a:tabLst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rightSans-Light"/>
                <a:ea typeface="+mn-ea"/>
                <a:cs typeface="+mn-cs"/>
              </a:rPr>
              <a:t>Les lipoprotéines contenant l'apolipoprotéine B-100 apportent le cholestérol aux tissus.</a:t>
            </a:r>
          </a:p>
          <a:p>
            <a:pPr marL="812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756920" algn="l"/>
              </a:tabLst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rightSans-Light"/>
                <a:ea typeface="+mn-ea"/>
                <a:cs typeface="+mn-cs"/>
              </a:rPr>
              <a:t>Les lipoprotéines contenant l'apolipoprotéine A-I absorbent le cholestérol des tissus.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Image result for cholesterol in blood vessels graph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754" y="2644589"/>
            <a:ext cx="3267333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349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5B958F-C411-443D-8AAA-EFC75A1B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Rôle physiologique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51F74D-F156-44FD-BDC4-A8701BA2C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9212" cy="4351338"/>
          </a:xfrm>
        </p:spPr>
        <p:txBody>
          <a:bodyPr/>
          <a:lstStyle/>
          <a:p>
            <a:r>
              <a:rPr lang="fr-FR" b="1" dirty="0">
                <a:solidFill>
                  <a:srgbClr val="00B050"/>
                </a:solidFill>
              </a:rPr>
              <a:t>Les VLDL</a:t>
            </a:r>
            <a:r>
              <a:rPr lang="fr-FR" dirty="0"/>
              <a:t>:  transportent les triglycérides du foie vers le tissu adipeux et les muscles.</a:t>
            </a:r>
          </a:p>
          <a:p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Les LDL  </a:t>
            </a:r>
            <a:r>
              <a:rPr lang="fr-FR" dirty="0"/>
              <a:t>transportent le cholestérol vers les tissus non hépatiques</a:t>
            </a:r>
          </a:p>
          <a:p>
            <a:pPr marL="0" indent="0">
              <a:buNone/>
            </a:pPr>
            <a:r>
              <a:rPr lang="fr-FR" dirty="0"/>
              <a:t>     Elles contribuent le plus à </a:t>
            </a:r>
          </a:p>
          <a:p>
            <a:pPr marL="0" indent="0">
              <a:buNone/>
            </a:pPr>
            <a:r>
              <a:rPr lang="fr-FR" dirty="0"/>
              <a:t>    l'athérosclérose coronarienne.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65E9B54-6318-43C0-8ACC-9646860C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111" y="1255587"/>
            <a:ext cx="5828281" cy="43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93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89ED77-EB33-45BC-A75D-7452ED8B7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0540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b="1" dirty="0">
                <a:solidFill>
                  <a:srgbClr val="00B050"/>
                </a:solidFill>
                <a:cs typeface="Arial" pitchFamily="34" charset="0"/>
              </a:rPr>
              <a:t>Les HDL: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00B050"/>
                </a:solidFill>
                <a:cs typeface="Arial" pitchFamily="34" charset="0"/>
              </a:rPr>
              <a:t> </a:t>
            </a:r>
            <a:r>
              <a:rPr lang="fr-FR" dirty="0">
                <a:cs typeface="Arial" pitchFamily="34" charset="0"/>
              </a:rPr>
              <a:t>transportent le cholestérol des tissus périphériques vers le foie.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>
                <a:cs typeface="Arial" pitchFamily="34" charset="0"/>
              </a:rPr>
              <a:t>  favorisent donc l'élimination du cholestérol et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>
                <a:cs typeface="Arial" pitchFamily="34" charset="0"/>
              </a:rPr>
              <a:t>confèrent une </a:t>
            </a:r>
            <a:r>
              <a:rPr lang="fr-FR" dirty="0" err="1">
                <a:cs typeface="Arial" pitchFamily="34" charset="0"/>
              </a:rPr>
              <a:t>cardioprotection</a:t>
            </a:r>
            <a:r>
              <a:rPr lang="fr-FR" dirty="0">
                <a:cs typeface="Arial" pitchFamily="34" charset="0"/>
              </a:rPr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367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Causes des </a:t>
            </a:r>
            <a:r>
              <a:rPr lang="en-US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Dyslipidemies</a:t>
            </a:r>
            <a:endParaRPr lang="en-US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951609"/>
              </p:ext>
            </p:extLst>
          </p:nvPr>
        </p:nvGraphicFramePr>
        <p:xfrm>
          <a:off x="609600" y="1600201"/>
          <a:ext cx="11304494" cy="4854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285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b="1" dirty="0">
                <a:solidFill>
                  <a:srgbClr val="FF0000"/>
                </a:solidFill>
              </a:rPr>
              <a:t>Dyslipidémies secondaires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Obésité avec résistance à l'insuline, </a:t>
            </a:r>
          </a:p>
          <a:p>
            <a:pPr lvl="0"/>
            <a:r>
              <a:rPr lang="fr-FR" dirty="0"/>
              <a:t>Insulinopénie</a:t>
            </a:r>
          </a:p>
          <a:p>
            <a:pPr lvl="0"/>
            <a:r>
              <a:rPr lang="fr-FR" dirty="0"/>
              <a:t> Ethylisme</a:t>
            </a:r>
          </a:p>
          <a:p>
            <a:pPr lvl="0"/>
            <a:r>
              <a:rPr lang="fr-FR" dirty="0"/>
              <a:t> Troubles hormonaux : hypothyroïdie, hypercorticisme, </a:t>
            </a:r>
            <a:r>
              <a:rPr lang="fr-FR" dirty="0" err="1"/>
              <a:t>hyperœstrogénisme</a:t>
            </a:r>
            <a:r>
              <a:rPr lang="fr-FR" dirty="0"/>
              <a:t>. </a:t>
            </a:r>
          </a:p>
          <a:p>
            <a:pPr lvl="0"/>
            <a:r>
              <a:rPr lang="fr-FR" dirty="0"/>
              <a:t>Maladies du foie et des reins.</a:t>
            </a:r>
          </a:p>
          <a:p>
            <a:pPr lvl="0"/>
            <a:r>
              <a:rPr lang="fr-FR" dirty="0"/>
              <a:t> Prise de certains médicaments : trithérapie pour le SIDA, corticothérapie, pilule contraceptive.</a:t>
            </a:r>
          </a:p>
        </p:txBody>
      </p:sp>
    </p:spTree>
    <p:extLst>
      <p:ext uri="{BB962C8B-B14F-4D97-AF65-F5344CB8AC3E}">
        <p14:creationId xmlns:p14="http://schemas.microsoft.com/office/powerpoint/2010/main" val="1115179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7"/>
          <p:cNvSpPr>
            <a:spLocks noGrp="1" noChangeArrowheads="1"/>
          </p:cNvSpPr>
          <p:nvPr>
            <p:ph sz="quarter" idx="1"/>
          </p:nvPr>
        </p:nvSpPr>
        <p:spPr>
          <a:xfrm>
            <a:off x="3792538" y="1773239"/>
            <a:ext cx="3243262" cy="43973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fr-FR" altLang="fr-FR" sz="2400" b="1">
                <a:solidFill>
                  <a:srgbClr val="D51A15"/>
                </a:solidFill>
              </a:rPr>
              <a:t>Hyper Is</a:t>
            </a:r>
          </a:p>
        </p:txBody>
      </p:sp>
      <p:pic>
        <p:nvPicPr>
          <p:cNvPr id="180232" name="Picture 8" descr=" ">
            <a:hlinkClick r:id="rId2"/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69088" y="1828801"/>
            <a:ext cx="3810000" cy="3622675"/>
          </a:xfrm>
        </p:spPr>
      </p:pic>
      <p:pic>
        <p:nvPicPr>
          <p:cNvPr id="11267" name="Picture 3" descr=" 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732" y="1700214"/>
            <a:ext cx="3962400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3000375" y="1125539"/>
            <a:ext cx="2895600" cy="46672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/>
              <a:t>insulinorésistance</a:t>
            </a:r>
          </a:p>
        </p:txBody>
      </p:sp>
      <p:sp>
        <p:nvSpPr>
          <p:cNvPr id="180233" name="Line 9"/>
          <p:cNvSpPr>
            <a:spLocks noChangeShapeType="1"/>
          </p:cNvSpPr>
          <p:nvPr/>
        </p:nvSpPr>
        <p:spPr bwMode="auto">
          <a:xfrm flipH="1">
            <a:off x="7239000" y="5638800"/>
            <a:ext cx="1752600" cy="0"/>
          </a:xfrm>
          <a:prstGeom prst="line">
            <a:avLst/>
          </a:prstGeom>
          <a:noFill/>
          <a:ln w="57150">
            <a:solidFill>
              <a:srgbClr val="D51A1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34" name="Line 10"/>
          <p:cNvSpPr>
            <a:spLocks noChangeShapeType="1"/>
          </p:cNvSpPr>
          <p:nvPr/>
        </p:nvSpPr>
        <p:spPr bwMode="auto">
          <a:xfrm flipV="1">
            <a:off x="7239000" y="4648200"/>
            <a:ext cx="0" cy="990600"/>
          </a:xfrm>
          <a:prstGeom prst="line">
            <a:avLst/>
          </a:prstGeom>
          <a:noFill/>
          <a:ln w="76200">
            <a:solidFill>
              <a:srgbClr val="D51A1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35" name="Line 11"/>
          <p:cNvSpPr>
            <a:spLocks noChangeShapeType="1"/>
          </p:cNvSpPr>
          <p:nvPr/>
        </p:nvSpPr>
        <p:spPr bwMode="auto">
          <a:xfrm flipV="1">
            <a:off x="8991600" y="5410200"/>
            <a:ext cx="228600" cy="228600"/>
          </a:xfrm>
          <a:prstGeom prst="line">
            <a:avLst/>
          </a:prstGeom>
          <a:noFill/>
          <a:ln w="38100">
            <a:solidFill>
              <a:srgbClr val="D51A1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36" name="Text Box 12"/>
          <p:cNvSpPr txBox="1">
            <a:spLocks noChangeArrowheads="1"/>
          </p:cNvSpPr>
          <p:nvPr/>
        </p:nvSpPr>
        <p:spPr bwMode="auto">
          <a:xfrm>
            <a:off x="6248400" y="43434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>
                <a:solidFill>
                  <a:srgbClr val="D51A15"/>
                </a:solidFill>
              </a:rPr>
              <a:t>cholestérol</a:t>
            </a:r>
          </a:p>
        </p:txBody>
      </p:sp>
      <p:sp>
        <p:nvSpPr>
          <p:cNvPr id="180237" name="Text Box 13"/>
          <p:cNvSpPr txBox="1">
            <a:spLocks noChangeArrowheads="1"/>
          </p:cNvSpPr>
          <p:nvPr/>
        </p:nvSpPr>
        <p:spPr bwMode="auto">
          <a:xfrm>
            <a:off x="8915400" y="563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>
                <a:solidFill>
                  <a:srgbClr val="D51A15"/>
                </a:solidFill>
              </a:rPr>
              <a:t>TG</a:t>
            </a:r>
          </a:p>
        </p:txBody>
      </p:sp>
      <p:sp>
        <p:nvSpPr>
          <p:cNvPr id="180238" name="Text Box 14"/>
          <p:cNvSpPr txBox="1">
            <a:spLocks noChangeArrowheads="1"/>
          </p:cNvSpPr>
          <p:nvPr/>
        </p:nvSpPr>
        <p:spPr bwMode="auto">
          <a:xfrm>
            <a:off x="1600200" y="5867401"/>
            <a:ext cx="90678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fr-FR" altLang="fr-FR" sz="2400" b="1"/>
              <a:t>              LDL petits denses       	appauvrissement	     		 riches en cholestérol	       	en HDL-C</a:t>
            </a:r>
          </a:p>
        </p:txBody>
      </p:sp>
      <p:sp>
        <p:nvSpPr>
          <p:cNvPr id="11277" name="Line 15"/>
          <p:cNvSpPr>
            <a:spLocks noChangeShapeType="1"/>
          </p:cNvSpPr>
          <p:nvPr/>
        </p:nvSpPr>
        <p:spPr bwMode="auto">
          <a:xfrm>
            <a:off x="4151313" y="2276475"/>
            <a:ext cx="0" cy="381000"/>
          </a:xfrm>
          <a:prstGeom prst="line">
            <a:avLst/>
          </a:prstGeom>
          <a:noFill/>
          <a:ln w="57150">
            <a:solidFill>
              <a:srgbClr val="D51A1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1278" name="Text Box 16"/>
          <p:cNvSpPr txBox="1">
            <a:spLocks noChangeArrowheads="1"/>
          </p:cNvSpPr>
          <p:nvPr/>
        </p:nvSpPr>
        <p:spPr bwMode="auto">
          <a:xfrm>
            <a:off x="4872038" y="263683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sz="2400" b="1" dirty="0">
                <a:solidFill>
                  <a:srgbClr val="D51A15"/>
                </a:solidFill>
              </a:rPr>
              <a:t>LPL</a:t>
            </a:r>
          </a:p>
        </p:txBody>
      </p:sp>
      <p:sp>
        <p:nvSpPr>
          <p:cNvPr id="11279" name="Line 17"/>
          <p:cNvSpPr>
            <a:spLocks noChangeShapeType="1"/>
          </p:cNvSpPr>
          <p:nvPr/>
        </p:nvSpPr>
        <p:spPr bwMode="auto">
          <a:xfrm>
            <a:off x="5375275" y="1700214"/>
            <a:ext cx="0" cy="865187"/>
          </a:xfrm>
          <a:prstGeom prst="line">
            <a:avLst/>
          </a:prstGeom>
          <a:noFill/>
          <a:ln w="76200">
            <a:solidFill>
              <a:srgbClr val="FF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80242" name="Line 18"/>
          <p:cNvSpPr>
            <a:spLocks noChangeShapeType="1"/>
          </p:cNvSpPr>
          <p:nvPr/>
        </p:nvSpPr>
        <p:spPr bwMode="auto">
          <a:xfrm flipH="1">
            <a:off x="4206408" y="3500439"/>
            <a:ext cx="792162" cy="1081087"/>
          </a:xfrm>
          <a:prstGeom prst="line">
            <a:avLst/>
          </a:prstGeom>
          <a:noFill/>
          <a:ln w="762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630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3" grpId="0" animBg="1"/>
      <p:bldP spid="180234" grpId="0" animBg="1"/>
      <p:bldP spid="180235" grpId="0" animBg="1"/>
      <p:bldP spid="180236" grpId="0"/>
      <p:bldP spid="180237" grpId="0"/>
      <p:bldP spid="180238" grpId="0"/>
      <p:bldP spid="1802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Consequences </a:t>
            </a:r>
            <a:r>
              <a:rPr lang="en-US" b="1" dirty="0" err="1">
                <a:solidFill>
                  <a:srgbClr val="FF0000"/>
                </a:solidFill>
              </a:rPr>
              <a:t>physiopathologies</a:t>
            </a:r>
            <a:r>
              <a:rPr lang="en-US" b="1" dirty="0">
                <a:solidFill>
                  <a:srgbClr val="FF0000"/>
                </a:solidFill>
              </a:rPr>
              <a:t> :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L'athérosclérose :</a:t>
            </a:r>
          </a:p>
          <a:p>
            <a:pPr marL="0" indent="0">
              <a:buNone/>
            </a:pPr>
            <a:r>
              <a:rPr lang="fr-FR" dirty="0"/>
              <a:t>Le risque d'athérosclérose dépend de l'élévation du taux de cholestérol LDL et/ou de la diminution du taux de cholestérol HDL.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61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59" y="68263"/>
            <a:ext cx="10972800" cy="1143000"/>
          </a:xfrm>
        </p:spPr>
        <p:txBody>
          <a:bodyPr/>
          <a:lstStyle/>
          <a:p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Steps of Atherosclerosis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058612"/>
              </p:ext>
            </p:extLst>
          </p:nvPr>
        </p:nvGraphicFramePr>
        <p:xfrm>
          <a:off x="1111624" y="1331352"/>
          <a:ext cx="9601200" cy="494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16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46013B-DE17-494A-95F4-8AC2D6E4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F0C889-ADFE-4FA3-887A-DE2E5CB56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29" y="274638"/>
            <a:ext cx="10328742" cy="55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35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8C29A7-4304-4B6E-9F1D-81433927D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6401"/>
            <a:ext cx="10972800" cy="571976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fr-FR" b="1" dirty="0">
                <a:solidFill>
                  <a:srgbClr val="FF0000"/>
                </a:solidFill>
              </a:rPr>
              <a:t>Complication de la plaque d'</a:t>
            </a:r>
            <a:r>
              <a:rPr lang="fr-FR" b="1" dirty="0" err="1">
                <a:solidFill>
                  <a:srgbClr val="FF0000"/>
                </a:solidFill>
              </a:rPr>
              <a:t>athérme</a:t>
            </a:r>
            <a:r>
              <a:rPr lang="fr-FR" b="1" dirty="0">
                <a:solidFill>
                  <a:srgbClr val="FF0000"/>
                </a:solidFill>
              </a:rPr>
              <a:t> par :</a:t>
            </a:r>
          </a:p>
          <a:p>
            <a:pPr>
              <a:lnSpc>
                <a:spcPct val="170000"/>
              </a:lnSpc>
            </a:pPr>
            <a:r>
              <a:rPr lang="fr-FR" dirty="0"/>
              <a:t>Ulcération : </a:t>
            </a:r>
          </a:p>
          <a:p>
            <a:pPr>
              <a:lnSpc>
                <a:spcPct val="170000"/>
              </a:lnSpc>
            </a:pPr>
            <a:r>
              <a:rPr lang="fr-FR" dirty="0"/>
              <a:t>Rupture de l'endothélium, hémorragie dans la plaque, </a:t>
            </a:r>
          </a:p>
          <a:p>
            <a:pPr>
              <a:lnSpc>
                <a:spcPct val="170000"/>
              </a:lnSpc>
            </a:pPr>
            <a:r>
              <a:rPr lang="fr-FR" dirty="0"/>
              <a:t>Thrombose.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fr-FR" b="1" dirty="0">
                <a:solidFill>
                  <a:srgbClr val="FF0000"/>
                </a:solidFill>
              </a:rPr>
              <a:t>Conséquences de la plaque d'athérome et de ses complications : 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fr-FR" dirty="0"/>
              <a:t> - </a:t>
            </a:r>
            <a:r>
              <a:rPr lang="fr-FR" b="1" dirty="0"/>
              <a:t>Sténose des artères </a:t>
            </a:r>
            <a:r>
              <a:rPr lang="fr-FR" dirty="0"/>
              <a:t>(coronaires, rénales, cérébrales). Elle provoque l'ischémie progressive et donc l'hypoxie des territoires irrigués.                      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fr-FR" dirty="0"/>
              <a:t> - </a:t>
            </a:r>
            <a:r>
              <a:rPr lang="fr-FR" b="1" dirty="0"/>
              <a:t>Anévrisme  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fr-FR" b="1" dirty="0"/>
              <a:t> - Dissection artérielle   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fr-FR" b="1" dirty="0"/>
              <a:t>Thrombose</a:t>
            </a:r>
            <a:r>
              <a:rPr lang="fr-FR" dirty="0"/>
              <a:t> : entraîne un infarctus, une gangrène, des embolies cruoriques.   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fr-FR" b="1" dirty="0"/>
              <a:t>Embolies</a:t>
            </a:r>
            <a:r>
              <a:rPr lang="fr-FR" dirty="0"/>
              <a:t>: cruoriques , plaquettaires ou  athéromateuses.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F0F0A-0051-427E-924E-192F1000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859D-8A89-4005-8567-4659F8419F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0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Consequences </a:t>
            </a:r>
            <a:r>
              <a:rPr lang="en-US" b="1" dirty="0" err="1">
                <a:solidFill>
                  <a:srgbClr val="FF0000"/>
                </a:solidFill>
              </a:rPr>
              <a:t>physiopathologies</a:t>
            </a:r>
            <a:r>
              <a:rPr lang="en-US" b="1" dirty="0">
                <a:solidFill>
                  <a:srgbClr val="FF0000"/>
                </a:solidFill>
              </a:rPr>
              <a:t>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4472" y="1523199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1-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Athérosclerose</a:t>
            </a: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2- </a:t>
            </a:r>
            <a:r>
              <a:rPr lang="en-US" b="1" dirty="0" err="1"/>
              <a:t>Dépôts</a:t>
            </a:r>
            <a:r>
              <a:rPr lang="en-US" b="1" dirty="0"/>
              <a:t> </a:t>
            </a:r>
            <a:r>
              <a:rPr lang="en-US" b="1" dirty="0" err="1"/>
              <a:t>lipidiques</a:t>
            </a:r>
            <a:r>
              <a:rPr lang="en-US" b="1" dirty="0"/>
              <a:t> extra-</a:t>
            </a:r>
            <a:r>
              <a:rPr lang="en-US" b="1" dirty="0" err="1"/>
              <a:t>vasculaires</a:t>
            </a:r>
            <a:r>
              <a:rPr lang="en-US" b="1" dirty="0"/>
              <a:t> :</a:t>
            </a:r>
            <a:endParaRPr lang="fr-FR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r-FR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828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Dépôts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lipidiques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extravasculaires</a:t>
            </a:r>
            <a:r>
              <a:rPr lang="en-US" b="1" dirty="0">
                <a:solidFill>
                  <a:srgbClr val="FF0000"/>
                </a:solidFill>
              </a:rPr>
              <a:t> :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fr-FR" b="1" dirty="0"/>
              <a:t>Excès de cholestérol : </a:t>
            </a:r>
          </a:p>
          <a:p>
            <a:pPr marL="0" lvl="0" indent="0">
              <a:buNone/>
            </a:pPr>
            <a:r>
              <a:rPr lang="fr-FR" b="1" dirty="0"/>
              <a:t>        </a:t>
            </a:r>
            <a:r>
              <a:rPr lang="fr-FR" dirty="0"/>
              <a:t>Des lésions vasculaires peuvent être associées à des dépôts </a:t>
            </a:r>
          </a:p>
          <a:p>
            <a:pPr marL="0" lvl="0" indent="0">
              <a:buNone/>
            </a:pPr>
            <a:r>
              <a:rPr lang="fr-FR" dirty="0"/>
              <a:t>        à L'extérieur des vaisseaux sanguins : sous-cutanés, oculaires. </a:t>
            </a:r>
          </a:p>
          <a:p>
            <a:pPr lvl="0"/>
            <a:r>
              <a:rPr lang="fr-FR" b="1" dirty="0"/>
              <a:t>Excès de triglycérides : </a:t>
            </a:r>
          </a:p>
          <a:p>
            <a:pPr marL="0" lvl="0" indent="0">
              <a:buNone/>
            </a:pPr>
            <a:r>
              <a:rPr lang="fr-FR" b="1" dirty="0"/>
              <a:t>       </a:t>
            </a:r>
            <a:r>
              <a:rPr lang="fr-FR" dirty="0"/>
              <a:t>Les dépôts de TG en dehors du tissu adipeux sont à la base du </a:t>
            </a:r>
          </a:p>
          <a:p>
            <a:pPr marL="0" lvl="0" indent="0">
              <a:buNone/>
            </a:pPr>
            <a:r>
              <a:rPr lang="fr-FR" dirty="0"/>
              <a:t>       </a:t>
            </a:r>
            <a:r>
              <a:rPr lang="fr-FR" b="1" dirty="0">
                <a:solidFill>
                  <a:srgbClr val="00B050"/>
                </a:solidFill>
              </a:rPr>
              <a:t>concept de </a:t>
            </a:r>
            <a:r>
              <a:rPr lang="fr-FR" b="1" dirty="0" err="1">
                <a:solidFill>
                  <a:srgbClr val="00B050"/>
                </a:solidFill>
              </a:rPr>
              <a:t>lipotoxicité</a:t>
            </a:r>
            <a:r>
              <a:rPr lang="fr-FR" dirty="0"/>
              <a:t>, affectant principalement </a:t>
            </a:r>
            <a:r>
              <a:rPr lang="fr-FR" b="1" dirty="0"/>
              <a:t>le foie </a:t>
            </a:r>
            <a:r>
              <a:rPr lang="fr-FR" dirty="0"/>
              <a:t>(stéatose </a:t>
            </a:r>
          </a:p>
          <a:p>
            <a:pPr marL="0" lvl="0" indent="0">
              <a:buNone/>
            </a:pPr>
            <a:r>
              <a:rPr lang="fr-FR" dirty="0"/>
              <a:t>       et </a:t>
            </a:r>
            <a:r>
              <a:rPr lang="fr-FR" dirty="0" err="1"/>
              <a:t>stéatohépatite</a:t>
            </a:r>
            <a:r>
              <a:rPr lang="fr-FR" dirty="0"/>
              <a:t> NASH) et </a:t>
            </a:r>
            <a:r>
              <a:rPr lang="fr-FR" b="1" dirty="0"/>
              <a:t>le pancréas </a:t>
            </a:r>
            <a:r>
              <a:rPr lang="fr-FR" dirty="0"/>
              <a:t>(pancréatite aiguë TG &gt; 10 </a:t>
            </a:r>
          </a:p>
          <a:p>
            <a:pPr marL="0" lvl="0" indent="0">
              <a:buNone/>
            </a:pPr>
            <a:r>
              <a:rPr lang="fr-FR" dirty="0"/>
              <a:t>       g/l et diabète de type 2).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3596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62882"/>
            <a:ext cx="10972800" cy="114300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Quand dépister la dyslipidémie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147814"/>
            <a:ext cx="10972800" cy="5208537"/>
          </a:xfrm>
        </p:spPr>
        <p:txBody>
          <a:bodyPr>
            <a:noAutofit/>
          </a:bodyPr>
          <a:lstStyle/>
          <a:p>
            <a:r>
              <a:rPr lang="fr-FR" sz="2400" dirty="0"/>
              <a:t> Le dépistage devrait inclure:</a:t>
            </a:r>
          </a:p>
          <a:p>
            <a:r>
              <a:rPr lang="fr-FR" sz="2400" dirty="0"/>
              <a:t> les hommes de plus de 40 ans et les femmes de plus de 50 ans. </a:t>
            </a:r>
          </a:p>
          <a:p>
            <a:r>
              <a:rPr lang="fr-FR" sz="2400" dirty="0"/>
              <a:t>Selon l'ESC 2016, le dépistage est indiqué au-delà de 2 ans chez toute personne présentant : </a:t>
            </a:r>
          </a:p>
          <a:p>
            <a:pPr marL="1080000">
              <a:buFont typeface="Wingdings" panose="05000000000000000000" pitchFamily="2" charset="2"/>
              <a:buChar char="ü"/>
            </a:pPr>
            <a:r>
              <a:rPr lang="fr-FR" sz="2400" dirty="0"/>
              <a:t>des antécédents familiaux de dyslipidémie et d'accidents vasculaires prématurés</a:t>
            </a:r>
          </a:p>
          <a:p>
            <a:pPr marL="1080000">
              <a:buFont typeface="Wingdings" panose="05000000000000000000" pitchFamily="2" charset="2"/>
              <a:buChar char="ü"/>
            </a:pPr>
            <a:r>
              <a:rPr lang="fr-FR" sz="2400" dirty="0"/>
              <a:t>une maladie cardiovasculaire avérée </a:t>
            </a:r>
          </a:p>
          <a:p>
            <a:pPr marL="1080000">
              <a:buFont typeface="Wingdings" panose="05000000000000000000" pitchFamily="2" charset="2"/>
              <a:buChar char="ü"/>
            </a:pPr>
            <a:r>
              <a:rPr lang="fr-FR" sz="2400" dirty="0"/>
              <a:t>la présence d'autres facteurs de risque vasculaire : obésité, hypertension, tabagisme, diabète de type 2</a:t>
            </a:r>
          </a:p>
          <a:p>
            <a:pPr marL="1080000">
              <a:buFont typeface="Wingdings" panose="05000000000000000000" pitchFamily="2" charset="2"/>
              <a:buChar char="ü"/>
            </a:pPr>
            <a:r>
              <a:rPr lang="fr-FR" sz="2400" dirty="0"/>
              <a:t> une maladie inflammatoire chronique maladie rénale chronique </a:t>
            </a:r>
          </a:p>
          <a:p>
            <a:r>
              <a:rPr lang="fr-FR" sz="2400" dirty="0"/>
              <a:t>En présence de ces facteurs, le dépistage doit être précoce, y compris chez les enfants.</a:t>
            </a:r>
            <a:endParaRPr lang="en-US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927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8918" y="1098177"/>
            <a:ext cx="10972800" cy="4525963"/>
          </a:xfrm>
        </p:spPr>
        <p:txBody>
          <a:bodyPr>
            <a:normAutofit fontScale="92500"/>
          </a:bodyPr>
          <a:lstStyle/>
          <a:p>
            <a:endParaRPr lang="fr-FR" dirty="0"/>
          </a:p>
          <a:p>
            <a:r>
              <a:rPr lang="fr-FR" dirty="0"/>
              <a:t> La recherche d'une anomalie lipidique n'est pas justifiée chez les personnes de plus de 80 ans en prévention primaire (qui n'ont jamais eu de problèmes cardiovasculaires).</a:t>
            </a:r>
          </a:p>
          <a:p>
            <a:r>
              <a:rPr lang="fr-FR" dirty="0"/>
              <a:t> </a:t>
            </a:r>
            <a:r>
              <a:rPr lang="fr-FR" b="1" u="sng" dirty="0">
                <a:solidFill>
                  <a:srgbClr val="00B050"/>
                </a:solidFill>
              </a:rPr>
              <a:t>Surveillance : </a:t>
            </a:r>
          </a:p>
          <a:p>
            <a:pPr marL="0" indent="0">
              <a:buNone/>
            </a:pPr>
            <a:r>
              <a:rPr lang="fr-FR" dirty="0"/>
              <a:t> si le </a:t>
            </a:r>
            <a:r>
              <a:rPr lang="fr-FR" b="1" dirty="0"/>
              <a:t>bilan est normal </a:t>
            </a:r>
            <a:r>
              <a:rPr lang="fr-FR" dirty="0"/>
              <a:t>et que le sujet est en situation stable (pas de modification des habitudes alimentaires ou de prise de poids ou de prescription médicamenteuse spécifique ou d'événement cardiovasculaire...), le bilan lipidique sera </a:t>
            </a:r>
            <a:r>
              <a:rPr lang="fr-FR" b="1" dirty="0">
                <a:solidFill>
                  <a:srgbClr val="FF0000"/>
                </a:solidFill>
              </a:rPr>
              <a:t>recontrôlé tous les 5 ans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B7BE5FF-202F-4534-AA9F-D099830F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882"/>
            <a:ext cx="10972800" cy="114300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Quand dépister la dyslipidémie ?</a:t>
            </a:r>
          </a:p>
        </p:txBody>
      </p:sp>
    </p:spTree>
    <p:extLst>
      <p:ext uri="{BB962C8B-B14F-4D97-AF65-F5344CB8AC3E}">
        <p14:creationId xmlns:p14="http://schemas.microsoft.com/office/powerpoint/2010/main" val="267873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9" y="1294863"/>
            <a:ext cx="8801275" cy="466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5447928" y="595897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ESC 2016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Objectif 5</a:t>
            </a:r>
          </a:p>
        </p:txBody>
      </p:sp>
    </p:spTree>
    <p:extLst>
      <p:ext uri="{BB962C8B-B14F-4D97-AF65-F5344CB8AC3E}">
        <p14:creationId xmlns:p14="http://schemas.microsoft.com/office/powerpoint/2010/main" val="707391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Manifestations Cliniques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08212" y="1080248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00B050"/>
                </a:solidFill>
              </a:rPr>
              <a:t>1- Signes non </a:t>
            </a:r>
            <a:r>
              <a:rPr lang="fr-FR" b="1" dirty="0" err="1">
                <a:solidFill>
                  <a:srgbClr val="00B050"/>
                </a:solidFill>
              </a:rPr>
              <a:t>specifiques</a:t>
            </a:r>
            <a:r>
              <a:rPr lang="fr-FR" b="1" dirty="0">
                <a:solidFill>
                  <a:srgbClr val="00B050"/>
                </a:solidFill>
              </a:rPr>
              <a:t>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 L'hyperlipidémie est généralement asymptomatique. </a:t>
            </a:r>
          </a:p>
          <a:p>
            <a:r>
              <a:rPr lang="fr-FR" dirty="0"/>
              <a:t>Les principaux symptômes recherchés sont ceux résultant des complications de l'athérosclérose :       </a:t>
            </a:r>
          </a:p>
          <a:p>
            <a:pPr marL="0" indent="0">
              <a:buNone/>
            </a:pPr>
            <a:r>
              <a:rPr lang="fr-FR" dirty="0"/>
              <a:t>   - Interrogatoire : angine de poitrine, claudication intermittente , AIT        </a:t>
            </a:r>
          </a:p>
          <a:p>
            <a:pPr marL="0" indent="0">
              <a:buNone/>
            </a:pPr>
            <a:r>
              <a:rPr lang="fr-FR" dirty="0"/>
              <a:t>    - examen physique : souffle vasculaire carotidien ,lombaire ou fémoral,    diminution des pouls périphériques, signes d'ischémie à l'ECG, ….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032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98383"/>
            <a:ext cx="10972800" cy="65596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3400" b="1" dirty="0">
                <a:solidFill>
                  <a:srgbClr val="00B050"/>
                </a:solidFill>
              </a:rPr>
              <a:t>2- </a:t>
            </a:r>
            <a:r>
              <a:rPr lang="en-US" sz="3400" b="1" dirty="0">
                <a:solidFill>
                  <a:srgbClr val="00B050"/>
                </a:solidFill>
              </a:rPr>
              <a:t>syndromes </a:t>
            </a:r>
            <a:r>
              <a:rPr lang="en-US" sz="3400" b="1" dirty="0" err="1">
                <a:solidFill>
                  <a:srgbClr val="00B050"/>
                </a:solidFill>
              </a:rPr>
              <a:t>Spécifiques</a:t>
            </a:r>
            <a:r>
              <a:rPr lang="en-US" sz="3400" b="1">
                <a:solidFill>
                  <a:srgbClr val="00B050"/>
                </a:solidFill>
              </a:rPr>
              <a:t>:</a:t>
            </a:r>
            <a:endParaRPr lang="en-US" b="1" dirty="0"/>
          </a:p>
          <a:p>
            <a:pPr marL="0" indent="0">
              <a:buNone/>
            </a:pPr>
            <a:r>
              <a:rPr lang="en-US" b="1" i="1" u="sng" dirty="0">
                <a:solidFill>
                  <a:srgbClr val="0070C0"/>
                </a:solidFill>
              </a:rPr>
              <a:t> Syndrome </a:t>
            </a:r>
            <a:r>
              <a:rPr lang="en-US" b="1" i="1" u="sng" dirty="0" err="1">
                <a:solidFill>
                  <a:srgbClr val="0070C0"/>
                </a:solidFill>
              </a:rPr>
              <a:t>d'hypercholestérolémie</a:t>
            </a:r>
            <a:r>
              <a:rPr lang="en-US" b="1" i="1" u="sng" dirty="0">
                <a:solidFill>
                  <a:srgbClr val="0070C0"/>
                </a:solidFill>
              </a:rPr>
              <a:t>:</a:t>
            </a:r>
            <a:endParaRPr lang="fr-FR" sz="2400" b="1" i="1" u="sng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 </a:t>
            </a:r>
            <a:endParaRPr lang="fr-FR" sz="36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b="1" dirty="0"/>
              <a:t>Gérontoxon</a:t>
            </a:r>
            <a:r>
              <a:rPr lang="fr-FR" dirty="0"/>
              <a:t> (arc cornéen) et </a:t>
            </a:r>
            <a:r>
              <a:rPr lang="fr-FR" b="1" dirty="0"/>
              <a:t>xanthélasma</a:t>
            </a:r>
            <a:r>
              <a:rPr lang="fr-FR" dirty="0"/>
              <a:t> (dépôt lipidique à l'angle interne de la paupière supérieure) :         </a:t>
            </a:r>
          </a:p>
          <a:p>
            <a:pPr marL="0" lvl="0" indent="0">
              <a:buNone/>
            </a:pPr>
            <a:r>
              <a:rPr lang="fr-FR" dirty="0"/>
              <a:t>   -  dans toutes les variétés étiologiques d'hypercholestérolémie et de troubles lipidiques.          </a:t>
            </a:r>
          </a:p>
          <a:p>
            <a:pPr marL="0" lvl="0" indent="0">
              <a:buNone/>
            </a:pPr>
            <a:r>
              <a:rPr lang="fr-FR" dirty="0"/>
              <a:t>  - Bonne valeur diagnostique avant  40 ans.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600" b="1" dirty="0"/>
              <a:t>Xanthomes tendineux </a:t>
            </a:r>
            <a:r>
              <a:rPr lang="fr-FR" dirty="0"/>
              <a:t>(tendons d'Achille, tendons extenseurs des doigts) et </a:t>
            </a:r>
            <a:r>
              <a:rPr lang="fr-FR" b="1" dirty="0"/>
              <a:t>xanthomes tubéreux juxta-articulaires </a:t>
            </a:r>
            <a:r>
              <a:rPr lang="fr-FR" dirty="0"/>
              <a:t>surélevés (genoux, coudes, doigts) : apanage des hypercholestérolémies familiales.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Les xanthomes plans </a:t>
            </a:r>
            <a:r>
              <a:rPr lang="fr-FR" dirty="0"/>
              <a:t>(papules molles jaune-orange situées principalement sur les mains et les fesses) :             ne s'observent que dans les </a:t>
            </a:r>
            <a:r>
              <a:rPr lang="fr-FR" b="1" dirty="0"/>
              <a:t>formes homozygotes</a:t>
            </a:r>
            <a:r>
              <a:rPr lang="fr-FR" dirty="0"/>
              <a:t>,             </a:t>
            </a:r>
          </a:p>
          <a:p>
            <a:pPr marL="0" indent="0">
              <a:buNone/>
            </a:pPr>
            <a:r>
              <a:rPr lang="fr-FR" dirty="0"/>
              <a:t> la localisation inter-commissurale entre les espaces interdigitaux est  très évocatrice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407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77905"/>
            <a:ext cx="10972800" cy="5486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3400" b="1" dirty="0">
                <a:solidFill>
                  <a:srgbClr val="00B050"/>
                </a:solidFill>
              </a:rPr>
              <a:t>2- </a:t>
            </a:r>
            <a:r>
              <a:rPr lang="en-US" sz="3400" b="1" dirty="0">
                <a:solidFill>
                  <a:srgbClr val="00B050"/>
                </a:solidFill>
              </a:rPr>
              <a:t>Specific syndromes: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i="1" u="sng" dirty="0">
                <a:solidFill>
                  <a:srgbClr val="0070C0"/>
                </a:solidFill>
              </a:rPr>
              <a:t>Hypercholesterol levels syndrome:</a:t>
            </a:r>
            <a:endParaRPr lang="fr-FR" sz="2400" b="1" i="1" u="sng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 </a:t>
            </a:r>
            <a:endParaRPr lang="fr-FR" sz="3600" dirty="0"/>
          </a:p>
          <a:p>
            <a:pPr marL="0" indent="0">
              <a:buClr>
                <a:srgbClr val="00B050"/>
              </a:buClr>
              <a:buNone/>
            </a:pPr>
            <a:r>
              <a:rPr lang="en-US" sz="3100" b="1" i="1" u="sng" dirty="0">
                <a:solidFill>
                  <a:srgbClr val="0070C0"/>
                </a:solidFill>
              </a:rPr>
              <a:t>Hypertriglyceride levels syndrome:</a:t>
            </a:r>
            <a:endParaRPr lang="fr-FR" sz="3100" b="1" i="1" u="sng" dirty="0">
              <a:solidFill>
                <a:srgbClr val="0070C0"/>
              </a:solidFill>
            </a:endParaRPr>
          </a:p>
          <a:p>
            <a:pPr lvl="2"/>
            <a:r>
              <a:rPr lang="en-US" sz="3400" dirty="0"/>
              <a:t>Postprandial pain</a:t>
            </a:r>
            <a:endParaRPr lang="fr-FR" sz="3400" dirty="0"/>
          </a:p>
          <a:p>
            <a:pPr lvl="2"/>
            <a:r>
              <a:rPr lang="en-US" sz="3400" dirty="0"/>
              <a:t>Eruptive xanthomas: small, bright yellow, non-inflammatory, non-painful, non-itchy vesicles on the chest, flanks, anterior knees, posterior elbows and buttocks.</a:t>
            </a:r>
            <a:endParaRPr lang="fr-FR" sz="3400" dirty="0"/>
          </a:p>
          <a:p>
            <a:pPr lvl="2"/>
            <a:r>
              <a:rPr lang="en-US" sz="3400" dirty="0"/>
              <a:t>Non-alcoholic fatty liver disease (NASH).</a:t>
            </a:r>
            <a:endParaRPr lang="fr-FR" sz="3400" dirty="0"/>
          </a:p>
          <a:p>
            <a:pPr lvl="2"/>
            <a:r>
              <a:rPr lang="en-US" sz="3400" dirty="0"/>
              <a:t> Splenomegaly.</a:t>
            </a:r>
            <a:endParaRPr lang="fr-FR" sz="3400" dirty="0"/>
          </a:p>
          <a:p>
            <a:pPr marL="0" lvl="0" indent="0">
              <a:buNone/>
            </a:pP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054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"/>
            <a:ext cx="10972800" cy="191506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Classification of </a:t>
            </a:r>
            <a:r>
              <a:rPr lang="en-US" sz="3600" b="1" dirty="0" err="1">
                <a:solidFill>
                  <a:srgbClr val="FF0000"/>
                </a:solidFill>
              </a:rPr>
              <a:t>hyperlipoproteinemias</a:t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Fredrickson classification - WHO</a:t>
            </a:r>
            <a:endParaRPr lang="fr-FR" sz="3600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3859D-8A89-4005-8567-4659F8419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58" y="1831099"/>
            <a:ext cx="10072240" cy="463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84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7840DF-14AC-4F1C-B230-6BAE6DF30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557" y="2194769"/>
            <a:ext cx="7683827" cy="519586"/>
          </a:xfrm>
        </p:spPr>
        <p:txBody>
          <a:bodyPr>
            <a:noAutofit/>
          </a:bodyPr>
          <a:lstStyle/>
          <a:p>
            <a:r>
              <a:rPr lang="fr-FR" b="1" dirty="0"/>
              <a:t>Les différents scores de risque cardiovasculaire 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9E779E-4464-4D43-A971-CD6690C42B93}"/>
              </a:ext>
            </a:extLst>
          </p:cNvPr>
          <p:cNvSpPr/>
          <p:nvPr/>
        </p:nvSpPr>
        <p:spPr>
          <a:xfrm>
            <a:off x="1617305" y="2867600"/>
            <a:ext cx="2187361" cy="340519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Très haut risque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383E65-07BE-4F0F-AE92-216A6AB5B7A4}"/>
              </a:ext>
            </a:extLst>
          </p:cNvPr>
          <p:cNvSpPr/>
          <p:nvPr/>
        </p:nvSpPr>
        <p:spPr>
          <a:xfrm>
            <a:off x="1564793" y="3353871"/>
            <a:ext cx="2295244" cy="3184813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Prévention secondaire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Diabète avec atteinte d’organe ou &gt; 3 FDRCV ou diabète de type 1 (DT1) &gt; 20 ans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Insuffisance rénale sévère DFG &lt; 30mL/min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SCORE&gt;10%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Hypercholestérolémie familiale avec maladie cardiovasculaire ou un autre FDRCV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47751E-C00F-4A00-A40C-52C27896CDA1}"/>
              </a:ext>
            </a:extLst>
          </p:cNvPr>
          <p:cNvSpPr/>
          <p:nvPr/>
        </p:nvSpPr>
        <p:spPr>
          <a:xfrm>
            <a:off x="3915749" y="3353872"/>
            <a:ext cx="2295245" cy="3184813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 FDRCV majeur : PA &gt;  180/110 : TG &gt; 3,1 g/L ou </a:t>
            </a:r>
            <a:r>
              <a:rPr kumimoji="0" lang="fr-FR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LDLc</a:t>
            </a: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&gt; 1,9 g/L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Hypercholestérolémie familiale sans autre FDRCV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Diabète sans atteinte d’organe, avec durée &gt; 10 ans ou avec autres FDRCV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Diabète sans atteinte d’organe, avec durée &gt; 10 ans ou avec autres FDRCV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Insuffisance rénale modérée avec 30 &lt; DFG &lt; 10%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5% &lt; SCORE &lt; 10%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F3F6C4-E7DE-477E-862D-6D74A747B8EB}"/>
              </a:ext>
            </a:extLst>
          </p:cNvPr>
          <p:cNvSpPr/>
          <p:nvPr/>
        </p:nvSpPr>
        <p:spPr>
          <a:xfrm>
            <a:off x="6308624" y="2867600"/>
            <a:ext cx="2191460" cy="34051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Risque modéré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B4AED6E-81F6-4DB4-A42B-A8A52EB4EED7}"/>
              </a:ext>
            </a:extLst>
          </p:cNvPr>
          <p:cNvSpPr/>
          <p:nvPr/>
        </p:nvSpPr>
        <p:spPr>
          <a:xfrm>
            <a:off x="6259706" y="3356885"/>
            <a:ext cx="2295244" cy="2261214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Patients jeunes (DT1 &lt; 35 ans : DT2 &lt; 50 ans avec durée du diabète &lt; 10 ans sans autre FDRCV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1% &lt; SCORE &lt; 5%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547309-35D0-4C11-84A7-EE0FD4B5F282}"/>
              </a:ext>
            </a:extLst>
          </p:cNvPr>
          <p:cNvSpPr/>
          <p:nvPr/>
        </p:nvSpPr>
        <p:spPr>
          <a:xfrm>
            <a:off x="8656177" y="2867600"/>
            <a:ext cx="2191460" cy="34051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 risque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746D63-C67A-42B5-9622-55D8FD6D1C7C}"/>
              </a:ext>
            </a:extLst>
          </p:cNvPr>
          <p:cNvSpPr/>
          <p:nvPr/>
        </p:nvSpPr>
        <p:spPr>
          <a:xfrm>
            <a:off x="8614075" y="3353871"/>
            <a:ext cx="2295244" cy="448581"/>
          </a:xfrm>
          <a:prstGeom prst="round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SCORE &lt; 1%. 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2D88E97-F43E-439E-B401-03A15DBF0F87}"/>
              </a:ext>
            </a:extLst>
          </p:cNvPr>
          <p:cNvSpPr txBox="1">
            <a:spLocks/>
          </p:cNvSpPr>
          <p:nvPr/>
        </p:nvSpPr>
        <p:spPr>
          <a:xfrm>
            <a:off x="941558" y="689241"/>
            <a:ext cx="99950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Prévention des maladies cardiovasculaires dans la pratique clinique </a:t>
            </a: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– ESC 2019</a:t>
            </a:r>
          </a:p>
        </p:txBody>
      </p:sp>
      <p:sp>
        <p:nvSpPr>
          <p:cNvPr id="2" name="Rectangle: Rounded Corners 7">
            <a:extLst>
              <a:ext uri="{FF2B5EF4-FFF2-40B4-BE49-F238E27FC236}">
                <a16:creationId xmlns:a16="http://schemas.microsoft.com/office/drawing/2014/main" id="{18A17CC9-5A05-4BCF-B188-8C4CF91CD45F}"/>
              </a:ext>
            </a:extLst>
          </p:cNvPr>
          <p:cNvSpPr/>
          <p:nvPr/>
        </p:nvSpPr>
        <p:spPr>
          <a:xfrm>
            <a:off x="3972393" y="2863121"/>
            <a:ext cx="2178770" cy="3458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Haut risque</a:t>
            </a:r>
          </a:p>
        </p:txBody>
      </p:sp>
    </p:spTree>
    <p:extLst>
      <p:ext uri="{BB962C8B-B14F-4D97-AF65-F5344CB8AC3E}">
        <p14:creationId xmlns:p14="http://schemas.microsoft.com/office/powerpoint/2010/main" val="25685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4" grpId="0" animBg="1"/>
      <p:bldP spid="15" grpId="0" animBg="1"/>
      <p:bldP spid="10" grpId="0" animBg="1"/>
      <p:bldP spid="16" grpId="0" animBg="1"/>
      <p:bldP spid="12" grpId="0" animBg="1"/>
      <p:bldP spid="17" grpId="0" animBg="1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9" y="152426"/>
            <a:ext cx="6501780" cy="624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5996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24" y="381000"/>
            <a:ext cx="8121316" cy="636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038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Traitement </a:t>
            </a:r>
            <a:r>
              <a:rPr lang="fr-FR" b="1" dirty="0" err="1"/>
              <a:t>hyperLDL</a:t>
            </a:r>
            <a:r>
              <a:rPr lang="fr-FR" b="1" dirty="0"/>
              <a:t>-C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Mesures hygiéno-diététiques</a:t>
            </a:r>
          </a:p>
          <a:p>
            <a:endParaRPr lang="fr-FR" b="1" dirty="0"/>
          </a:p>
          <a:p>
            <a:r>
              <a:rPr lang="fr-FR" b="1" dirty="0"/>
              <a:t>Statines ++</a:t>
            </a:r>
          </a:p>
          <a:p>
            <a:pPr lvl="1"/>
            <a:r>
              <a:rPr lang="fr-FR" b="1" dirty="0"/>
              <a:t>Forte puissance si delta &gt; 50%</a:t>
            </a:r>
          </a:p>
          <a:p>
            <a:pPr lvl="1"/>
            <a:r>
              <a:rPr lang="fr-FR" b="1" dirty="0"/>
              <a:t>Faible puissance si delta &lt; 50%</a:t>
            </a:r>
          </a:p>
          <a:p>
            <a:pPr lvl="1"/>
            <a:endParaRPr lang="fr-FR" b="1" dirty="0"/>
          </a:p>
          <a:p>
            <a:r>
              <a:rPr lang="fr-FR" b="1" dirty="0"/>
              <a:t>Très haut risque : Si objectif non atteint</a:t>
            </a:r>
          </a:p>
          <a:p>
            <a:pPr lvl="1"/>
            <a:r>
              <a:rPr lang="fr-FR" b="1" dirty="0"/>
              <a:t>Ajouter </a:t>
            </a:r>
            <a:r>
              <a:rPr lang="fr-FR" b="1" dirty="0" err="1"/>
              <a:t>ézétimibe</a:t>
            </a:r>
            <a:r>
              <a:rPr lang="fr-FR" b="1" dirty="0"/>
              <a:t> ou Inhibiteurs PCSK-9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1839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fr-FR" altLang="fr-FR" b="1"/>
              <a:t>Statines 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fr-FR" altLang="fr-FR" sz="2400" b="1" dirty="0"/>
              <a:t>inhibiteurs de l’HMG Coenzyme A réductase :</a:t>
            </a:r>
          </a:p>
          <a:p>
            <a:pPr eaLnBrk="1" hangingPunct="1"/>
            <a:r>
              <a:rPr lang="fr-FR" altLang="fr-FR" sz="2400" b="1" dirty="0"/>
              <a:t>Faible puissance</a:t>
            </a:r>
            <a:endParaRPr lang="fr-FR" altLang="fr-FR" sz="2200" b="1" dirty="0"/>
          </a:p>
          <a:p>
            <a:pPr lvl="1"/>
            <a:r>
              <a:rPr lang="fr-FR" altLang="fr-FR" sz="2200" b="1" dirty="0" err="1"/>
              <a:t>Simvastatine</a:t>
            </a:r>
            <a:r>
              <a:rPr lang="fr-FR" altLang="fr-FR" sz="2200" b="1" dirty="0"/>
              <a:t>  	 	 	10 - 40 mg</a:t>
            </a:r>
          </a:p>
          <a:p>
            <a:pPr lvl="1"/>
            <a:r>
              <a:rPr lang="fr-FR" altLang="fr-FR" sz="2200" b="1" dirty="0" err="1"/>
              <a:t>Fluvastatine</a:t>
            </a:r>
            <a:r>
              <a:rPr lang="fr-FR" altLang="fr-FR" sz="2200" b="1" dirty="0"/>
              <a:t> : 			10 – 80 mg</a:t>
            </a:r>
          </a:p>
          <a:p>
            <a:pPr lvl="1"/>
            <a:r>
              <a:rPr lang="fr-FR" altLang="fr-FR" sz="2200" b="1" dirty="0"/>
              <a:t>Atorvastatine à faible dose       &lt; 40 mg</a:t>
            </a:r>
          </a:p>
          <a:p>
            <a:pPr lvl="1"/>
            <a:endParaRPr lang="fr-FR" altLang="fr-FR" b="1" dirty="0"/>
          </a:p>
          <a:p>
            <a:r>
              <a:rPr lang="fr-FR" altLang="fr-FR" b="1" dirty="0"/>
              <a:t>Forte puissance</a:t>
            </a:r>
          </a:p>
          <a:p>
            <a:pPr lvl="1"/>
            <a:r>
              <a:rPr lang="fr-FR" altLang="fr-FR" b="1" dirty="0"/>
              <a:t>Atorvastatine : 		40 – 80 mg</a:t>
            </a:r>
          </a:p>
          <a:p>
            <a:pPr lvl="1"/>
            <a:r>
              <a:rPr lang="fr-FR" altLang="fr-FR" b="1" dirty="0" err="1"/>
              <a:t>Rosuvastatine</a:t>
            </a:r>
            <a:r>
              <a:rPr lang="fr-FR" altLang="fr-FR" b="1" dirty="0"/>
              <a:t>: 	 	10 - 20 mg</a:t>
            </a:r>
          </a:p>
          <a:p>
            <a:pPr lvl="1"/>
            <a:endParaRPr lang="fr-FR" altLang="fr-FR" b="1" dirty="0"/>
          </a:p>
          <a:p>
            <a:r>
              <a:rPr lang="fr-FR" altLang="fr-FR" sz="2600" b="1" dirty="0"/>
              <a:t>CI: grossesse, allaitement, IH</a:t>
            </a:r>
          </a:p>
          <a:p>
            <a:pPr eaLnBrk="1" hangingPunct="1">
              <a:buFont typeface="Wingdings" pitchFamily="2" charset="2"/>
              <a:buNone/>
            </a:pPr>
            <a:endParaRPr lang="fr-FR" altLang="fr-FR" sz="2400" b="1" dirty="0"/>
          </a:p>
          <a:p>
            <a:pPr eaLnBrk="1" hangingPunct="1">
              <a:buFont typeface="Wingdings" pitchFamily="2" charset="2"/>
              <a:buNone/>
            </a:pPr>
            <a:endParaRPr lang="fr-FR" altLang="fr-FR" sz="2400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321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1920</Words>
  <Application>Microsoft Office PowerPoint</Application>
  <PresentationFormat>Grand écran</PresentationFormat>
  <Paragraphs>260</Paragraphs>
  <Slides>39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39</vt:i4>
      </vt:variant>
    </vt:vector>
  </HeadingPairs>
  <TitlesOfParts>
    <vt:vector size="50" baseType="lpstr">
      <vt:lpstr>AlrightSans-Light</vt:lpstr>
      <vt:lpstr>Arial</vt:lpstr>
      <vt:lpstr>Calibri</vt:lpstr>
      <vt:lpstr>Calibri Light</vt:lpstr>
      <vt:lpstr>Courier New</vt:lpstr>
      <vt:lpstr>Times New Roman</vt:lpstr>
      <vt:lpstr>Wingdings</vt:lpstr>
      <vt:lpstr>Thème Office</vt:lpstr>
      <vt:lpstr>1_Thème Office</vt:lpstr>
      <vt:lpstr>Office Theme</vt:lpstr>
      <vt:lpstr>2_Thème Office</vt:lpstr>
      <vt:lpstr>Dyslipidémies </vt:lpstr>
      <vt:lpstr>Objectifs dyslipidémies 23</vt:lpstr>
      <vt:lpstr>Définition et épidémiologie</vt:lpstr>
      <vt:lpstr>Présentation PowerPoint</vt:lpstr>
      <vt:lpstr>Sources du cholestérol  ?</vt:lpstr>
      <vt:lpstr>Comment le cholestérol est-il transporté ?</vt:lpstr>
      <vt:lpstr>Présentation PowerPoint</vt:lpstr>
      <vt:lpstr>Présentation PowerPoint</vt:lpstr>
      <vt:lpstr>Apolipoproteines</vt:lpstr>
      <vt:lpstr>Présentation PowerPoint</vt:lpstr>
      <vt:lpstr>Présentation PowerPoint</vt:lpstr>
      <vt:lpstr>Métabolisme et devenir des lipoprotéines :</vt:lpstr>
      <vt:lpstr>Présentation PowerPoint</vt:lpstr>
      <vt:lpstr>Taille et densité des LDL </vt:lpstr>
      <vt:lpstr>Types des  Lipoproteines</vt:lpstr>
      <vt:lpstr>Faits importants </vt:lpstr>
      <vt:lpstr>Rôle physiologique </vt:lpstr>
      <vt:lpstr>Présentation PowerPoint</vt:lpstr>
      <vt:lpstr>Causes des Dyslipidemies</vt:lpstr>
      <vt:lpstr>Dyslipidémies secondaires </vt:lpstr>
      <vt:lpstr>Présentation PowerPoint</vt:lpstr>
      <vt:lpstr>Consequences physiopathologies :</vt:lpstr>
      <vt:lpstr>Steps of Atherosclerosis</vt:lpstr>
      <vt:lpstr>Présentation PowerPoint</vt:lpstr>
      <vt:lpstr>Présentation PowerPoint</vt:lpstr>
      <vt:lpstr> Consequences physiopathologies :</vt:lpstr>
      <vt:lpstr>Dépôts lipidiques extravasculaires :</vt:lpstr>
      <vt:lpstr>Quand dépister la dyslipidémie ?</vt:lpstr>
      <vt:lpstr>Quand dépister la dyslipidémie ?</vt:lpstr>
      <vt:lpstr>Objectif 5</vt:lpstr>
      <vt:lpstr>Manifestations Cliniques </vt:lpstr>
      <vt:lpstr>Présentation PowerPoint</vt:lpstr>
      <vt:lpstr>Présentation PowerPoint</vt:lpstr>
      <vt:lpstr>Classification of hyperlipoproteinemias Fredrickson classification - WHO</vt:lpstr>
      <vt:lpstr>Présentation PowerPoint</vt:lpstr>
      <vt:lpstr>Présentation PowerPoint</vt:lpstr>
      <vt:lpstr>Présentation PowerPoint</vt:lpstr>
      <vt:lpstr>Traitement hyperLDL-C</vt:lpstr>
      <vt:lpstr>Statines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Dyslipidémies</dc:title>
  <dc:creator>EliteBook</dc:creator>
  <cp:lastModifiedBy>wided.debbabi</cp:lastModifiedBy>
  <cp:revision>73</cp:revision>
  <dcterms:created xsi:type="dcterms:W3CDTF">2024-10-10T21:25:26Z</dcterms:created>
  <dcterms:modified xsi:type="dcterms:W3CDTF">2025-07-24T15:03:47Z</dcterms:modified>
</cp:coreProperties>
</file>
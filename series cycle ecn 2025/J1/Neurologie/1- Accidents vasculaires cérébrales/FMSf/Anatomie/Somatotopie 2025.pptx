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89" r:id="rId3"/>
    <p:sldId id="422" r:id="rId4"/>
    <p:sldId id="346" r:id="rId5"/>
    <p:sldId id="434" r:id="rId6"/>
    <p:sldId id="347" r:id="rId7"/>
    <p:sldId id="262" r:id="rId8"/>
    <p:sldId id="428" r:id="rId9"/>
    <p:sldId id="425" r:id="rId10"/>
    <p:sldId id="263" r:id="rId11"/>
    <p:sldId id="424" r:id="rId12"/>
    <p:sldId id="354" r:id="rId13"/>
    <p:sldId id="426" r:id="rId14"/>
    <p:sldId id="427" r:id="rId15"/>
    <p:sldId id="366" r:id="rId16"/>
    <p:sldId id="369" r:id="rId17"/>
    <p:sldId id="408" r:id="rId18"/>
    <p:sldId id="358" r:id="rId19"/>
    <p:sldId id="435" r:id="rId20"/>
  </p:sldIdLst>
  <p:sldSz cx="12192000" cy="6858000"/>
  <p:notesSz cx="6858000" cy="9144000"/>
  <p:custDataLst>
    <p:tags r:id="rId21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E3487-E33B-FC8D-BDF1-B7C52B274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2046F1-8F7C-AB67-6473-D5FF72444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C31CF5-B95A-2100-29E4-1814CBF0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9F975F-D395-B57B-109E-07203875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8FAD7A-C01A-27AB-1B4C-E35DD688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05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D20C0-A7D0-3581-9363-60D263C8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A34DE7-DDFF-0824-CDBC-A7D300E1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38E071-4719-0439-1C03-11541E1AD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4268A3-463A-9479-1DAB-5CAC7CD9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507C2-ED2B-E0DD-A2E4-0357CD96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70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6F067-0DA5-72B1-5E5B-376F53F0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5004BB-5C59-5123-4BBE-36DBD1F15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49803-C96E-E2F4-F380-60229CE0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2AD8E7-5175-A698-32B5-D6898A40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925F4-170B-262C-34F9-3AF18C50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3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1B86D-F14E-3DCB-6B45-335CEAA7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BC0666-EFF5-6B84-4212-12DF0205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8280F9-2FBE-4B47-0D79-7DA4ACA52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0695C7-52C4-CEC6-C4BF-334B3730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60C03D-7F90-2F32-1E7C-E68406A4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D57798-6633-F9A0-0F80-176AA368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57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D7B25B-49AF-874E-2A92-0C7E78D7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A7AFCD-15DA-82D2-7A93-88A4ED7BE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DC8531-D1BC-B088-945E-AEBA2A9DC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1ACBD0-B411-A002-A9FA-2FA972A28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CC452E-48C4-4E12-0E37-04423F0EA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1D6AD17-8495-837D-8086-A7BBF7D6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E0128C-E4DB-F7D4-DFDB-45169F99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918A26-E2CB-CFEE-6038-55F42DD8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74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F42C51-9001-C24C-C3CD-1B8F15D1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1DE5C5-DB7B-E9B2-0A25-338B035F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81CF9F-329B-C8D9-0A41-CA5A13F4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57E830-8319-BC0E-C00F-1DBB4CB4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81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9542D0A-98AB-762C-5AFE-40FB5007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57F911-79D4-E768-4B61-4EC175A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34A564-FE39-1EC4-F747-3ECE32A6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91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D64307-2E93-CCA0-3CB1-7646A264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1908CD-9C65-AF15-8F12-74877D0D5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C5CB53-8E8C-5F6F-0BFF-1E842AD6B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A5A22A-8173-745A-D0F6-B1D88EBE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5CDD83-DD73-7CA6-4EC4-C5A5B0D0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E60A7A-5C4F-A32F-C25D-F6560C63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66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020E5-59A2-853B-82E3-641DE560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52C5ECA-13F6-9E4F-9D6A-6497361C0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946CCC-C737-2014-FF5E-43AD14AC3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BFA285-8D3A-823B-396C-C62EA6FA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4CB834-A041-EF1A-339E-5F7DB268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33CC6C-CE90-3D5D-C7CC-936ACC3A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30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1AD9BD-C435-E707-6165-F1E0D92B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D03AE2-DAB0-5326-344B-90E616712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9E3FF1-0629-89BC-0D64-73657868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45C1CA-D5FF-0667-A44A-A21A7803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49A232-EE0F-DB4E-0385-A0973E60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22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07F75FF-2D22-37CA-1202-FDA434C0B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538BEC-4FD0-444B-A471-95227DB35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B91715-C0D5-CF24-76E5-97F3766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841C52-78FC-5492-A27A-CCE1CC4D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AA800E-C534-010B-8E3D-AE60F8BA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54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E57EF3-1E10-C39F-088C-510759EB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9AC04-6DD9-F2E2-4D83-DE8211FEA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EBC221-FDF7-42A9-94F5-61CA06F69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C5F02-BCA9-4B73-88C2-1056ED804579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A05714-3466-2CBA-BC93-B615A4318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F33BA3-EFE8-6206-CBCE-E0BFF69BD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D9EBA-52B6-48B2-8D53-51558E470D2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21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0DD20ECF-9B40-35EA-4319-FD8C16FBE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963" y="3513393"/>
            <a:ext cx="9144000" cy="2132717"/>
          </a:xfrm>
        </p:spPr>
        <p:txBody>
          <a:bodyPr>
            <a:normAutofit lnSpcReduction="10000"/>
          </a:bodyPr>
          <a:lstStyle/>
          <a:p>
            <a:endParaRPr lang="fr-BE" dirty="0"/>
          </a:p>
          <a:p>
            <a:r>
              <a:rPr lang="fr-BE" dirty="0"/>
              <a:t>Dr Khalil Ayadi</a:t>
            </a:r>
          </a:p>
          <a:p>
            <a:r>
              <a:rPr lang="fr-BE" dirty="0"/>
              <a:t>Laboratoire d’anatomie humaine</a:t>
            </a:r>
          </a:p>
          <a:p>
            <a:r>
              <a:rPr lang="fr-BE" dirty="0"/>
              <a:t>Faculté de médecine de Sfax</a:t>
            </a:r>
          </a:p>
          <a:p>
            <a:r>
              <a:rPr lang="fr-BE" dirty="0"/>
              <a:t>Sfax le 30/06/2025</a:t>
            </a:r>
          </a:p>
          <a:p>
            <a:endParaRPr lang="fr-BE" dirty="0"/>
          </a:p>
          <a:p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79839A-224E-881F-3F49-52292F7F43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18" t="21988" r="16346" b="16366"/>
          <a:stretch/>
        </p:blipFill>
        <p:spPr>
          <a:xfrm>
            <a:off x="10442222" y="3958479"/>
            <a:ext cx="1749778" cy="2899521"/>
          </a:xfrm>
          <a:prstGeom prst="rect">
            <a:avLst/>
          </a:prstGeom>
        </p:spPr>
      </p:pic>
      <p:pic>
        <p:nvPicPr>
          <p:cNvPr id="2" name="Image 1" descr="Une image contenant texte, conception&#10;&#10;Description générée automatiquement">
            <a:extLst>
              <a:ext uri="{FF2B5EF4-FFF2-40B4-BE49-F238E27FC236}">
                <a16:creationId xmlns:a16="http://schemas.microsoft.com/office/drawing/2014/main" id="{B4E82D33-F13E-E565-6A6A-F13ED0055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57775"/>
            <a:ext cx="2543175" cy="1800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B1466-7E07-558E-9670-25F69EED91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508" t="24288" r="13591" b="17655"/>
          <a:stretch>
            <a:fillRect/>
          </a:stretch>
        </p:blipFill>
        <p:spPr>
          <a:xfrm>
            <a:off x="2173933" y="0"/>
            <a:ext cx="7578059" cy="36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8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D48D656-B20B-9448-2BB0-326E3191C4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22616" r="9335" b="40591"/>
          <a:stretch/>
        </p:blipFill>
        <p:spPr>
          <a:xfrm>
            <a:off x="1407287" y="2167359"/>
            <a:ext cx="9377425" cy="25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F544-1750-461F-A891-C4F53B20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Aires </a:t>
            </a:r>
            <a:r>
              <a:rPr lang="en-US" dirty="0" err="1"/>
              <a:t>corticales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3F981-8278-459D-81D8-6695B55A5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Brodmann a étudié la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cytoarchitéctonie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du cortex 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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Subdivision du cortex en aires cérébrales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La classification de Brodmann a défini </a:t>
            </a:r>
            <a:r>
              <a:rPr lang="fr-FR" b="1" dirty="0">
                <a:solidFill>
                  <a:srgbClr val="000000"/>
                </a:solidFill>
                <a:latin typeface="Arial"/>
              </a:rPr>
              <a:t>52 aires </a:t>
            </a:r>
          </a:p>
        </p:txBody>
      </p:sp>
    </p:spTree>
    <p:extLst>
      <p:ext uri="{BB962C8B-B14F-4D97-AF65-F5344CB8AC3E}">
        <p14:creationId xmlns:p14="http://schemas.microsoft.com/office/powerpoint/2010/main" val="96113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0ACF-31A2-4EEB-947B-879EC9FC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fr-FR" dirty="0">
              <a:solidFill>
                <a:srgbClr val="000000"/>
              </a:solidFill>
              <a:latin typeface="Arial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fr-F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60975-9494-4AB9-8F9E-7179CE4BF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1"/>
          <a:stretch/>
        </p:blipFill>
        <p:spPr>
          <a:xfrm>
            <a:off x="7211028" y="38933"/>
            <a:ext cx="4980972" cy="3778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BE2166-26FD-44F3-A7EE-06215822F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6" y="38348"/>
            <a:ext cx="5288269" cy="377861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96B5A66-2C81-1531-B07C-674A763D5B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28" t="21436" r="35532" b="46735"/>
          <a:stretch/>
        </p:blipFill>
        <p:spPr>
          <a:xfrm>
            <a:off x="0" y="3583554"/>
            <a:ext cx="5393625" cy="323617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DCEED5FD-2DFB-975E-6EE0-E0A0EB152D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28" t="56718" r="35532" b="11756"/>
          <a:stretch/>
        </p:blipFill>
        <p:spPr>
          <a:xfrm>
            <a:off x="6770076" y="3646261"/>
            <a:ext cx="5393625" cy="32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9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ABBB-FB45-40B3-B720-D83F0D2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sz="7200" b="1" dirty="0"/>
              <a:t>Le lobe frontal</a:t>
            </a:r>
            <a:endParaRPr lang="fr-CA" sz="7200" b="1" dirty="0"/>
          </a:p>
        </p:txBody>
      </p:sp>
    </p:spTree>
    <p:extLst>
      <p:ext uri="{BB962C8B-B14F-4D97-AF65-F5344CB8AC3E}">
        <p14:creationId xmlns:p14="http://schemas.microsoft.com/office/powerpoint/2010/main" val="104513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87C0-BE6A-4F87-847D-9187848F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Lobe frontal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0ACF-31A2-4EEB-947B-879EC9FC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Il est subdivisé en plusieurs gyri par des sillons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On distingue trois régions :</a:t>
            </a:r>
          </a:p>
          <a:p>
            <a:pPr lvl="1"/>
            <a:r>
              <a:rPr lang="fr-FR" dirty="0">
                <a:solidFill>
                  <a:srgbClr val="FF0000"/>
                </a:solidFill>
                <a:latin typeface="Arial"/>
              </a:rPr>
              <a:t>Motrice</a:t>
            </a:r>
          </a:p>
          <a:p>
            <a:pPr lvl="1"/>
            <a:r>
              <a:rPr lang="fr-FR" dirty="0">
                <a:solidFill>
                  <a:srgbClr val="0070C0"/>
                </a:solidFill>
                <a:latin typeface="Arial"/>
              </a:rPr>
              <a:t>Prémotrice</a:t>
            </a:r>
          </a:p>
          <a:p>
            <a:pPr lvl="1"/>
            <a:r>
              <a:rPr lang="fr-FR" dirty="0">
                <a:solidFill>
                  <a:schemeClr val="accent6"/>
                </a:solidFill>
                <a:latin typeface="Arial"/>
              </a:rPr>
              <a:t>Préfrontale</a:t>
            </a:r>
            <a:endParaRPr lang="fr-CA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4AF8221E-4144-E489-56C7-4DA859752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1"/>
          <a:stretch/>
        </p:blipFill>
        <p:spPr>
          <a:xfrm>
            <a:off x="7393020" y="3305944"/>
            <a:ext cx="4798979" cy="3517295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9257BD88-B13B-80FA-61D4-9F73EEF95FBE}"/>
              </a:ext>
            </a:extLst>
          </p:cNvPr>
          <p:cNvSpPr txBox="1"/>
          <p:nvPr/>
        </p:nvSpPr>
        <p:spPr>
          <a:xfrm>
            <a:off x="8260645" y="3822890"/>
            <a:ext cx="522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F1</a:t>
            </a:r>
            <a:endParaRPr lang="fr-CA" dirty="0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D9178D73-E326-8D45-E445-4A7118A63B47}"/>
              </a:ext>
            </a:extLst>
          </p:cNvPr>
          <p:cNvSpPr txBox="1"/>
          <p:nvPr/>
        </p:nvSpPr>
        <p:spPr>
          <a:xfrm>
            <a:off x="9650381" y="3638224"/>
            <a:ext cx="522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FA</a:t>
            </a:r>
            <a:endParaRPr lang="fr-CA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BC402D7-4E03-1806-8547-41FD5072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711" y="1"/>
            <a:ext cx="4471916" cy="3280100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585AAE0B-2C0B-843C-92A9-977A707A044B}"/>
              </a:ext>
            </a:extLst>
          </p:cNvPr>
          <p:cNvSpPr txBox="1"/>
          <p:nvPr/>
        </p:nvSpPr>
        <p:spPr>
          <a:xfrm>
            <a:off x="7956383" y="951492"/>
            <a:ext cx="47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F1</a:t>
            </a:r>
            <a:endParaRPr lang="fr-CA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EBCFBEF-D98F-A457-E6E2-BB0EB861D513}"/>
              </a:ext>
            </a:extLst>
          </p:cNvPr>
          <p:cNvSpPr txBox="1"/>
          <p:nvPr/>
        </p:nvSpPr>
        <p:spPr>
          <a:xfrm>
            <a:off x="8612361" y="1001736"/>
            <a:ext cx="47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F2</a:t>
            </a:r>
            <a:endParaRPr lang="fr-CA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6CCA2B1-A27C-B250-51DB-97E275512AA8}"/>
              </a:ext>
            </a:extLst>
          </p:cNvPr>
          <p:cNvSpPr txBox="1"/>
          <p:nvPr/>
        </p:nvSpPr>
        <p:spPr>
          <a:xfrm>
            <a:off x="8750818" y="1675844"/>
            <a:ext cx="47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F3</a:t>
            </a:r>
            <a:endParaRPr lang="fr-CA" dirty="0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0D72BBD-0BFD-505A-23E5-50F5C112062D}"/>
              </a:ext>
            </a:extLst>
          </p:cNvPr>
          <p:cNvSpPr txBox="1"/>
          <p:nvPr/>
        </p:nvSpPr>
        <p:spPr>
          <a:xfrm>
            <a:off x="9244760" y="867509"/>
            <a:ext cx="47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FA</a:t>
            </a:r>
            <a:endParaRPr lang="fr-CA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A6C43AB-5F40-9DDE-55F5-EAA610EE0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28" t="21436" r="35532" b="46735"/>
          <a:stretch/>
        </p:blipFill>
        <p:spPr>
          <a:xfrm>
            <a:off x="6798375" y="3429000"/>
            <a:ext cx="5393625" cy="32361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D9F4AD-E295-8745-9CFC-AF3179CCCBA9}"/>
              </a:ext>
            </a:extLst>
          </p:cNvPr>
          <p:cNvSpPr/>
          <p:nvPr/>
        </p:nvSpPr>
        <p:spPr>
          <a:xfrm rot="963463">
            <a:off x="9260517" y="3450307"/>
            <a:ext cx="469339" cy="2235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19033D-BB5C-9BE4-4886-887C348E3C2C}"/>
              </a:ext>
            </a:extLst>
          </p:cNvPr>
          <p:cNvSpPr/>
          <p:nvPr/>
        </p:nvSpPr>
        <p:spPr>
          <a:xfrm rot="963463">
            <a:off x="8567035" y="3486325"/>
            <a:ext cx="674115" cy="184061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04C494-F0AD-5EA2-5C95-0DA6C56AE6CB}"/>
              </a:ext>
            </a:extLst>
          </p:cNvPr>
          <p:cNvSpPr/>
          <p:nvPr/>
        </p:nvSpPr>
        <p:spPr>
          <a:xfrm rot="963463">
            <a:off x="6886742" y="4014830"/>
            <a:ext cx="1408696" cy="20077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799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  <p:bldP spid="12" grpId="0"/>
      <p:bldP spid="13" grpId="0"/>
      <p:bldP spid="8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7285-56BF-4497-87A6-08E17EB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region </a:t>
            </a:r>
            <a:r>
              <a:rPr lang="en-US" dirty="0" err="1"/>
              <a:t>motrice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39CE-ED6B-41D8-B434-9EC28EC6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L'aire 4 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Correspond à l'aire motrice primaire 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La frontale ascendante ++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27C38-34D6-4326-92B9-4F46BD6A50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06ABA7-1068-43CB-9E2F-0AE1F70F22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56718" r="35532" b="11756"/>
          <a:stretch/>
        </p:blipFill>
        <p:spPr>
          <a:xfrm>
            <a:off x="931109" y="3652709"/>
            <a:ext cx="5393625" cy="32052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10718C-AE64-26DB-EC0D-0C36B2D9EFB4}"/>
              </a:ext>
            </a:extLst>
          </p:cNvPr>
          <p:cNvSpPr/>
          <p:nvPr/>
        </p:nvSpPr>
        <p:spPr>
          <a:xfrm>
            <a:off x="9288709" y="4001294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7A0CA1-1452-7A44-7BF4-F19F5A99B372}"/>
              </a:ext>
            </a:extLst>
          </p:cNvPr>
          <p:cNvSpPr/>
          <p:nvPr/>
        </p:nvSpPr>
        <p:spPr>
          <a:xfrm>
            <a:off x="3163532" y="3769872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716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E2BF-F7D8-4AB9-97AA-D5F3AF65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fr-FR" sz="3000" dirty="0">
                <a:solidFill>
                  <a:srgbClr val="000000"/>
                </a:solidFill>
                <a:latin typeface="Arial"/>
              </a:rPr>
              <a:t>Les projections motrices se font selon une organisation </a:t>
            </a:r>
            <a:r>
              <a:rPr lang="en-US" sz="3000" dirty="0" err="1">
                <a:solidFill>
                  <a:srgbClr val="000000"/>
                </a:solidFill>
                <a:latin typeface="Arial"/>
              </a:rPr>
              <a:t>somatotopique</a:t>
            </a:r>
            <a:r>
              <a:rPr lang="en-US" sz="3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</a:rPr>
              <a:t>précise</a:t>
            </a:r>
            <a:r>
              <a:rPr lang="en-US" sz="30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100000"/>
              </a:lnSpc>
            </a:pPr>
            <a:endParaRPr lang="en-US" sz="3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3000" dirty="0">
                <a:solidFill>
                  <a:srgbClr val="000000"/>
                </a:solidFill>
                <a:latin typeface="Arial"/>
              </a:rPr>
              <a:t>La surface corticale correspondante à un territoire vasculaire est en rapport avec </a:t>
            </a:r>
            <a:br>
              <a:rPr lang="fr-FR" sz="3000" dirty="0">
                <a:solidFill>
                  <a:srgbClr val="000000"/>
                </a:solidFill>
                <a:latin typeface="Arial"/>
              </a:rPr>
            </a:br>
            <a:r>
              <a:rPr lang="fr-FR" sz="3000" dirty="0">
                <a:solidFill>
                  <a:srgbClr val="000000"/>
                </a:solidFill>
                <a:latin typeface="Arial"/>
              </a:rPr>
              <a:t>son importance fonctionnelle </a:t>
            </a:r>
            <a:endParaRPr lang="fr-CA" sz="3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 </a:t>
            </a:r>
            <a:r>
              <a:rPr lang="en-US" sz="3000" dirty="0" err="1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Homonculus</a:t>
            </a:r>
            <a:r>
              <a:rPr lang="en-US" sz="30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moteur</a:t>
            </a:r>
            <a:r>
              <a:rPr lang="en-US" sz="30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de </a:t>
            </a:r>
            <a:br>
              <a:rPr lang="en-US" sz="30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</a:br>
            <a:r>
              <a:rPr lang="en-US" sz="3000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Penfield</a:t>
            </a:r>
          </a:p>
          <a:p>
            <a:endParaRPr lang="en-US" dirty="0">
              <a:solidFill>
                <a:srgbClr val="000000"/>
              </a:solidFill>
              <a:latin typeface="Arial"/>
              <a:sym typeface="Wingdings" panose="05000000000000000000" pitchFamily="2" charset="2"/>
            </a:endParaRPr>
          </a:p>
        </p:txBody>
      </p:sp>
      <p:pic>
        <p:nvPicPr>
          <p:cNvPr id="4" name="Picture 2" descr="No photo description available.">
            <a:extLst>
              <a:ext uri="{FF2B5EF4-FFF2-40B4-BE49-F238E27FC236}">
                <a16:creationId xmlns:a16="http://schemas.microsoft.com/office/drawing/2014/main" id="{0C774184-BCE5-4A82-8716-45E059BCC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715" y="1960563"/>
            <a:ext cx="63872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3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7285-56BF-4497-87A6-08E17EB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region </a:t>
            </a:r>
            <a:r>
              <a:rPr lang="en-US" dirty="0" err="1"/>
              <a:t>pré-motrice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39CE-ED6B-41D8-B434-9EC28EC62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3533" cy="43513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L'aire 6 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Correspond à l'aire prémotrice et à l'aire motrice supplémentaire 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Planification des mouvements complexes et coordonnés</a:t>
            </a:r>
          </a:p>
          <a:p>
            <a:r>
              <a:rPr lang="en-US" dirty="0">
                <a:solidFill>
                  <a:srgbClr val="000000"/>
                </a:solidFill>
                <a:latin typeface="Arial"/>
              </a:rPr>
              <a:t>Imagination du movement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8BF50-0A8F-4BFC-9F1F-A2222990C4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6EA8CD-F941-4F3E-9F0F-A471CE236D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56718" r="35532" b="11756"/>
          <a:stretch/>
        </p:blipFill>
        <p:spPr>
          <a:xfrm>
            <a:off x="6798375" y="222979"/>
            <a:ext cx="5393625" cy="32052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AD7E57-C63D-4DCB-3D3A-53C32B831FEC}"/>
              </a:ext>
            </a:extLst>
          </p:cNvPr>
          <p:cNvSpPr/>
          <p:nvPr/>
        </p:nvSpPr>
        <p:spPr>
          <a:xfrm>
            <a:off x="8654528" y="4162416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B7B94-2A37-6014-E150-72EF1253FB2D}"/>
              </a:ext>
            </a:extLst>
          </p:cNvPr>
          <p:cNvSpPr/>
          <p:nvPr/>
        </p:nvSpPr>
        <p:spPr>
          <a:xfrm>
            <a:off x="8327150" y="369606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280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B187-52F2-4DD5-AC80-0CCD3E2D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B734-C590-4E22-A1A4-0105F74AB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14336"/>
            <a:ext cx="5585178" cy="5043664"/>
          </a:xfrm>
        </p:spPr>
        <p:txBody>
          <a:bodyPr>
            <a:normAutofit/>
          </a:bodyPr>
          <a:lstStyle/>
          <a:p>
            <a:r>
              <a:rPr lang="fr-FR" dirty="0"/>
              <a:t>L’aire 8</a:t>
            </a:r>
          </a:p>
          <a:p>
            <a:endParaRPr lang="fr-FR" dirty="0"/>
          </a:p>
          <a:p>
            <a:r>
              <a:rPr lang="fr-FR" dirty="0"/>
              <a:t>Les aires cortico-</a:t>
            </a:r>
            <a:r>
              <a:rPr lang="fr-FR" dirty="0" err="1"/>
              <a:t>oculo</a:t>
            </a:r>
            <a:r>
              <a:rPr lang="fr-FR" dirty="0"/>
              <a:t>-</a:t>
            </a:r>
            <a:r>
              <a:rPr lang="fr-FR" dirty="0" err="1"/>
              <a:t>céphalogyres</a:t>
            </a:r>
            <a:endParaRPr lang="fr-FR" dirty="0"/>
          </a:p>
          <a:p>
            <a:endParaRPr lang="fr-FR" sz="3000" b="1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mouvements conjugués des yeux associés aux</a:t>
            </a:r>
            <a:br>
              <a:rPr lang="fr-FR" dirty="0"/>
            </a:br>
            <a:r>
              <a:rPr lang="fr-FR" dirty="0"/>
              <a:t>mouvements de la tête</a:t>
            </a:r>
            <a:r>
              <a:rPr lang="fr-FR" sz="3200" dirty="0"/>
              <a:t> </a:t>
            </a:r>
            <a:br>
              <a:rPr lang="fr-FR" sz="3200" dirty="0"/>
            </a:br>
            <a:endParaRPr lang="fr-CA" sz="3000" b="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102BD-C709-4853-926E-C7B3AB72C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52ED15-2498-4771-9409-AAF1A9588A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56718" r="35532" b="11756"/>
          <a:stretch/>
        </p:blipFill>
        <p:spPr>
          <a:xfrm>
            <a:off x="6798374" y="149867"/>
            <a:ext cx="5393625" cy="32052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CADFD9-A1AA-C81D-7C0B-43ACD45A61C6}"/>
              </a:ext>
            </a:extLst>
          </p:cNvPr>
          <p:cNvSpPr/>
          <p:nvPr/>
        </p:nvSpPr>
        <p:spPr>
          <a:xfrm>
            <a:off x="8094089" y="3857882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100FF-237F-06C9-6BA3-B7E4744DC5E9}"/>
              </a:ext>
            </a:extLst>
          </p:cNvPr>
          <p:cNvSpPr/>
          <p:nvPr/>
        </p:nvSpPr>
        <p:spPr>
          <a:xfrm>
            <a:off x="7651638" y="565062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787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7285-56BF-4497-87A6-08E17EB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Aire de Broca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39CE-ED6B-41D8-B434-9EC28EC62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825898"/>
          </a:xfrm>
        </p:spPr>
        <p:txBody>
          <a:bodyPr>
            <a:normAutofit fontScale="85000" lnSpcReduction="20000"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Dans l’hémisphère </a:t>
            </a:r>
            <a:r>
              <a:rPr lang="fr-FR" b="1" dirty="0">
                <a:solidFill>
                  <a:srgbClr val="000000"/>
                </a:solidFill>
                <a:latin typeface="Arial"/>
              </a:rPr>
              <a:t>dominant</a:t>
            </a:r>
          </a:p>
          <a:p>
            <a:endParaRPr lang="fr-FR" b="1" dirty="0">
              <a:solidFill>
                <a:srgbClr val="000000"/>
              </a:solidFill>
              <a:latin typeface="Arial"/>
            </a:endParaRPr>
          </a:p>
          <a:p>
            <a:r>
              <a:rPr lang="fr-FR" b="1" dirty="0">
                <a:solidFill>
                  <a:srgbClr val="000000"/>
                </a:solidFill>
                <a:latin typeface="Arial"/>
              </a:rPr>
              <a:t>F3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Les aires 44 et 45 </a:t>
            </a:r>
            <a:endParaRPr lang="fr-FR" b="1" dirty="0">
              <a:solidFill>
                <a:srgbClr val="000000"/>
              </a:solidFill>
              <a:latin typeface="Arial"/>
            </a:endParaRP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Constituent l'aire de Broca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Impliquée dans l</a:t>
            </a:r>
            <a:r>
              <a:rPr lang="fr-FR" b="1" dirty="0">
                <a:solidFill>
                  <a:srgbClr val="000000"/>
                </a:solidFill>
                <a:latin typeface="Arial"/>
              </a:rPr>
              <a:t>'expression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du langage.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b="1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 Aphasie de Broca</a:t>
            </a:r>
            <a:endParaRPr lang="fr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6012A-5D41-4BB1-9842-730ADBCA4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1ECD3-36B5-4AF3-A2E5-19E46845C3BB}"/>
              </a:ext>
            </a:extLst>
          </p:cNvPr>
          <p:cNvSpPr/>
          <p:nvPr/>
        </p:nvSpPr>
        <p:spPr>
          <a:xfrm>
            <a:off x="7969956" y="5336822"/>
            <a:ext cx="812800" cy="555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8351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ABBB-FB45-40B3-B720-D83F0D2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sz="7200" b="1" dirty="0"/>
              <a:t>Le lobe </a:t>
            </a:r>
            <a:r>
              <a:rPr lang="en-US" sz="7200" b="1" dirty="0" err="1"/>
              <a:t>pariétal</a:t>
            </a:r>
            <a:endParaRPr lang="fr-CA" sz="7200" b="1" dirty="0"/>
          </a:p>
        </p:txBody>
      </p:sp>
    </p:spTree>
    <p:extLst>
      <p:ext uri="{BB962C8B-B14F-4D97-AF65-F5344CB8AC3E}">
        <p14:creationId xmlns:p14="http://schemas.microsoft.com/office/powerpoint/2010/main" val="242642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87C0-BE6A-4F87-847D-9187848F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face latérale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0ACF-31A2-4EEB-947B-879EC9FC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57153" cy="466725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Le sillon post-central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Sépare P1 + P2 du gyrus post-central (ou pariétal ascendant)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endParaRPr lang="fr-CA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6C350B-9028-41C7-B2C2-02EF18AE3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020" y="1"/>
            <a:ext cx="4798979" cy="342899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E9F9C6-2FA1-4750-B24D-C2AD60D5F39F}"/>
              </a:ext>
            </a:extLst>
          </p:cNvPr>
          <p:cNvCxnSpPr>
            <a:cxnSpLocks/>
          </p:cNvCxnSpPr>
          <p:nvPr/>
        </p:nvCxnSpPr>
        <p:spPr>
          <a:xfrm flipH="1">
            <a:off x="10425549" y="214878"/>
            <a:ext cx="762313" cy="2676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B13967-FB3D-4C98-B7BA-95CB5D02F1A9}"/>
              </a:ext>
            </a:extLst>
          </p:cNvPr>
          <p:cNvSpPr txBox="1"/>
          <p:nvPr/>
        </p:nvSpPr>
        <p:spPr>
          <a:xfrm>
            <a:off x="10197768" y="901944"/>
            <a:ext cx="51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P2</a:t>
            </a:r>
            <a:endParaRPr lang="fr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7A4BF-781D-4BE0-8BC4-DD1A8D5CF937}"/>
              </a:ext>
            </a:extLst>
          </p:cNvPr>
          <p:cNvSpPr txBox="1"/>
          <p:nvPr/>
        </p:nvSpPr>
        <p:spPr>
          <a:xfrm>
            <a:off x="10607760" y="465144"/>
            <a:ext cx="51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P1</a:t>
            </a:r>
            <a:endParaRPr lang="fr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FA3C8-0B5B-E579-DC40-234C66CBB4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1"/>
          <a:stretch/>
        </p:blipFill>
        <p:spPr>
          <a:xfrm>
            <a:off x="7393020" y="3305944"/>
            <a:ext cx="4798979" cy="3517295"/>
          </a:xfrm>
          <a:prstGeom prst="rect">
            <a:avLst/>
          </a:prstGeom>
        </p:spPr>
      </p:pic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B56819AD-D4AE-87D4-628F-9B263DEE8DE8}"/>
              </a:ext>
            </a:extLst>
          </p:cNvPr>
          <p:cNvCxnSpPr>
            <a:cxnSpLocks/>
          </p:cNvCxnSpPr>
          <p:nvPr/>
        </p:nvCxnSpPr>
        <p:spPr>
          <a:xfrm flipH="1">
            <a:off x="10591488" y="3305944"/>
            <a:ext cx="529197" cy="4465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6">
            <a:extLst>
              <a:ext uri="{FF2B5EF4-FFF2-40B4-BE49-F238E27FC236}">
                <a16:creationId xmlns:a16="http://schemas.microsoft.com/office/drawing/2014/main" id="{6EB7B512-724B-F4F7-D946-FA572BE60001}"/>
              </a:ext>
            </a:extLst>
          </p:cNvPr>
          <p:cNvSpPr txBox="1"/>
          <p:nvPr/>
        </p:nvSpPr>
        <p:spPr>
          <a:xfrm>
            <a:off x="10722381" y="3931565"/>
            <a:ext cx="51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P1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3529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E3F1-3F28-4A31-A084-C266B866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Le lobe pariétal remplit des fonctions principalement sensitives.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L'aire somesthésique primaire (aires 3, 1, 2)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C’est la pariétale ascendante ++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D066A-7E11-4DA3-8676-19B5F8B02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B35DE-78EE-4FCD-B74B-DCFDFA23DE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56718" r="35532" b="11756"/>
          <a:stretch/>
        </p:blipFill>
        <p:spPr>
          <a:xfrm>
            <a:off x="931109" y="3652709"/>
            <a:ext cx="5393625" cy="320529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ACB084-9E44-45DE-A456-928EB9EA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Lobe </a:t>
            </a:r>
            <a:r>
              <a:rPr lang="en-US" dirty="0" err="1"/>
              <a:t>pariétal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9275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E3F1-3F28-4A31-A084-C266B866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8422" cy="4351338"/>
          </a:xfrm>
        </p:spPr>
        <p:txBody>
          <a:bodyPr/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Aire 3 : l’aire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somato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-sensitive  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Aire 2 : l’aire somato-psychique d’interprétation</a:t>
            </a:r>
            <a:endParaRPr lang="fr-FR" dirty="0"/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Aire 1 : l’aire somato-psychique de perception. </a:t>
            </a: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Aire 5 : l’aire </a:t>
            </a:r>
            <a:r>
              <a:rPr lang="fr-FR" dirty="0" err="1">
                <a:solidFill>
                  <a:srgbClr val="000000"/>
                </a:solidFill>
                <a:latin typeface="Arial"/>
              </a:rPr>
              <a:t>somato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-gnosique de </a:t>
            </a:r>
            <a:br>
              <a:rPr lang="fr-FR" dirty="0">
                <a:solidFill>
                  <a:srgbClr val="000000"/>
                </a:solidFill>
                <a:latin typeface="Arial"/>
              </a:rPr>
            </a:br>
            <a:r>
              <a:rPr lang="fr-FR" dirty="0">
                <a:solidFill>
                  <a:srgbClr val="000000"/>
                </a:solidFill>
                <a:latin typeface="Arial"/>
              </a:rPr>
              <a:t>reconnaissance</a:t>
            </a:r>
            <a:br>
              <a:rPr lang="fr-FR" dirty="0"/>
            </a:br>
            <a:endParaRPr lang="fr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D066A-7E11-4DA3-8676-19B5F8B02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8FED6D5-F80F-4E9E-9C18-5AAF3D38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Lobe </a:t>
            </a:r>
            <a:r>
              <a:rPr lang="en-US" dirty="0" err="1"/>
              <a:t>pariétal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45842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65BD-F37C-4461-BD16-734E0467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C6A1-F1A6-42A1-8322-719F825DB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Les projections sensitives se font, comme pour le cortex moteur, selon une organisation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somatotopique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précise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 </a:t>
            </a:r>
            <a:r>
              <a:rPr lang="en-US" dirty="0" err="1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Homonculus</a:t>
            </a:r>
            <a:r>
              <a:rPr lang="en-US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sensitif</a:t>
            </a:r>
            <a:r>
              <a:rPr lang="en-US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 de Penfield</a:t>
            </a:r>
            <a:br>
              <a:rPr lang="en-US" dirty="0"/>
            </a:br>
            <a:br>
              <a:rPr lang="fr-FR" dirty="0"/>
            </a:br>
            <a:endParaRPr lang="fr-CA" dirty="0"/>
          </a:p>
        </p:txBody>
      </p:sp>
      <p:pic>
        <p:nvPicPr>
          <p:cNvPr id="4" name="Picture 2" descr="No photo description available.">
            <a:extLst>
              <a:ext uri="{FF2B5EF4-FFF2-40B4-BE49-F238E27FC236}">
                <a16:creationId xmlns:a16="http://schemas.microsoft.com/office/drawing/2014/main" id="{07D4E24B-D37F-4414-A6C4-BC43E8C2F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715" y="1960563"/>
            <a:ext cx="63872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765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2845-AEF1-4B55-BF9A-775E6234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sz="7200" b="1" dirty="0"/>
              <a:t>Lobe temporal</a:t>
            </a:r>
            <a:endParaRPr lang="fr-CA" sz="7200" b="1" dirty="0"/>
          </a:p>
        </p:txBody>
      </p:sp>
    </p:spTree>
    <p:extLst>
      <p:ext uri="{BB962C8B-B14F-4D97-AF65-F5344CB8AC3E}">
        <p14:creationId xmlns:p14="http://schemas.microsoft.com/office/powerpoint/2010/main" val="2349895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ECC7-FBC6-4D3A-B18B-F9C42FF03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Dans l’hémisphère dominant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La partie postérieure du gyrus temporal supérieur intervient dans la </a:t>
            </a:r>
            <a:r>
              <a:rPr lang="fr-FR" b="1" dirty="0">
                <a:solidFill>
                  <a:srgbClr val="000000"/>
                </a:solidFill>
                <a:latin typeface="Arial"/>
              </a:rPr>
              <a:t>compréhension</a:t>
            </a:r>
            <a:r>
              <a:rPr lang="fr-FR" dirty="0">
                <a:solidFill>
                  <a:srgbClr val="000000"/>
                </a:solidFill>
                <a:latin typeface="Arial"/>
              </a:rPr>
              <a:t> du langage </a:t>
            </a:r>
          </a:p>
          <a:p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</a:rPr>
              <a:t>Aire 22 ou aire de Wernicke </a:t>
            </a:r>
            <a:br>
              <a:rPr lang="fr-FR" dirty="0">
                <a:solidFill>
                  <a:srgbClr val="000000"/>
                </a:solidFill>
                <a:latin typeface="Arial"/>
              </a:rPr>
            </a:br>
            <a:endParaRPr lang="fr-FR" dirty="0">
              <a:solidFill>
                <a:srgbClr val="000000"/>
              </a:solidFill>
              <a:latin typeface="Arial"/>
            </a:endParaRPr>
          </a:p>
          <a:p>
            <a:r>
              <a:rPr lang="fr-FR" dirty="0">
                <a:solidFill>
                  <a:srgbClr val="000000"/>
                </a:solidFill>
                <a:latin typeface="Arial"/>
                <a:sym typeface="Wingdings" panose="05000000000000000000" pitchFamily="2" charset="2"/>
              </a:rPr>
              <a:t> Aphasie de Wernicke</a:t>
            </a:r>
            <a:br>
              <a:rPr lang="fr-FR" dirty="0">
                <a:solidFill>
                  <a:srgbClr val="000000"/>
                </a:solidFill>
                <a:latin typeface="Arial"/>
              </a:rPr>
            </a:br>
            <a:endParaRPr lang="fr-CA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CB7A0-6EC2-44B0-BDF7-37D83A0DD5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8" t="21436" r="35532" b="46735"/>
          <a:stretch/>
        </p:blipFill>
        <p:spPr>
          <a:xfrm>
            <a:off x="6798375" y="3621825"/>
            <a:ext cx="5393625" cy="32361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2E28F6-7530-42BC-B91A-F9F94984FDA2}"/>
              </a:ext>
            </a:extLst>
          </p:cNvPr>
          <p:cNvSpPr/>
          <p:nvPr/>
        </p:nvSpPr>
        <p:spPr>
          <a:xfrm>
            <a:off x="10250311" y="5621867"/>
            <a:ext cx="654756" cy="462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A5E0529-B41A-460A-82E5-F29A07D4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Aire de Wernicke</a:t>
            </a:r>
            <a:endParaRPr lang="fr-CA" dirty="0"/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3BA6E822-BFB7-EDDC-001A-F124CAD7A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020" y="1"/>
            <a:ext cx="4798979" cy="3428999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5344C954-3553-4CC6-6A45-C2116CF4C583}"/>
              </a:ext>
            </a:extLst>
          </p:cNvPr>
          <p:cNvSpPr txBox="1"/>
          <p:nvPr/>
        </p:nvSpPr>
        <p:spPr>
          <a:xfrm>
            <a:off x="9414934" y="2005846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T1</a:t>
            </a:r>
            <a:endParaRPr lang="fr-CA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77F75B4-040B-3C3D-8820-0172AF7939C7}"/>
              </a:ext>
            </a:extLst>
          </p:cNvPr>
          <p:cNvSpPr txBox="1"/>
          <p:nvPr/>
        </p:nvSpPr>
        <p:spPr>
          <a:xfrm>
            <a:off x="9685867" y="2375178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T2</a:t>
            </a:r>
            <a:endParaRPr lang="fr-CA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9339B04-ECB0-2A5A-D1C3-7A9EA03E15AA}"/>
              </a:ext>
            </a:extLst>
          </p:cNvPr>
          <p:cNvSpPr txBox="1"/>
          <p:nvPr/>
        </p:nvSpPr>
        <p:spPr>
          <a:xfrm>
            <a:off x="9922933" y="2686002"/>
            <a:ext cx="468489" cy="373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Arial"/>
              </a:rPr>
              <a:t>T3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9586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3D65B-EDF7-6E12-E9BE-48978688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9031938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b739fc9d-f833-4d38-9843-0e092e05f20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324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Thème Office</vt:lpstr>
      <vt:lpstr>PowerPoint Presentation</vt:lpstr>
      <vt:lpstr>PowerPoint Presentation</vt:lpstr>
      <vt:lpstr>Aires corticales</vt:lpstr>
      <vt:lpstr>PowerPoint Presentation</vt:lpstr>
      <vt:lpstr>Le lobe frontal</vt:lpstr>
      <vt:lpstr>Lobe frontal</vt:lpstr>
      <vt:lpstr>La region motrice</vt:lpstr>
      <vt:lpstr>PowerPoint Presentation</vt:lpstr>
      <vt:lpstr>La region pré-motrice</vt:lpstr>
      <vt:lpstr>PowerPoint Presentation</vt:lpstr>
      <vt:lpstr>Aire de Broca</vt:lpstr>
      <vt:lpstr>Le lobe pariétal</vt:lpstr>
      <vt:lpstr>La face latérale</vt:lpstr>
      <vt:lpstr>Lobe pariétal</vt:lpstr>
      <vt:lpstr>Lobe pariétal</vt:lpstr>
      <vt:lpstr>PowerPoint Presentation</vt:lpstr>
      <vt:lpstr>Lobe temporal</vt:lpstr>
      <vt:lpstr>Aire de Wernicke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KHALIL_AYADI</dc:creator>
  <cp:lastModifiedBy>nesrinecharfi</cp:lastModifiedBy>
  <cp:revision>12</cp:revision>
  <dcterms:created xsi:type="dcterms:W3CDTF">2024-06-07T14:15:19Z</dcterms:created>
  <dcterms:modified xsi:type="dcterms:W3CDTF">2025-06-29T22:03:05Z</dcterms:modified>
</cp:coreProperties>
</file>
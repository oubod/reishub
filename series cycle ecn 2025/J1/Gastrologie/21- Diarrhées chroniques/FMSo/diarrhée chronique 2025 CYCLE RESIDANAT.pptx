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5" r:id="rId1"/>
  </p:sldMasterIdLst>
  <p:notesMasterIdLst>
    <p:notesMasterId r:id="rId142"/>
  </p:notesMasterIdLst>
  <p:sldIdLst>
    <p:sldId id="256" r:id="rId2"/>
    <p:sldId id="387" r:id="rId3"/>
    <p:sldId id="388" r:id="rId4"/>
    <p:sldId id="571" r:id="rId5"/>
    <p:sldId id="572" r:id="rId6"/>
    <p:sldId id="573" r:id="rId7"/>
    <p:sldId id="514" r:id="rId8"/>
    <p:sldId id="390" r:id="rId9"/>
    <p:sldId id="574" r:id="rId10"/>
    <p:sldId id="391" r:id="rId11"/>
    <p:sldId id="575" r:id="rId12"/>
    <p:sldId id="515" r:id="rId13"/>
    <p:sldId id="393" r:id="rId14"/>
    <p:sldId id="532" r:id="rId15"/>
    <p:sldId id="577" r:id="rId16"/>
    <p:sldId id="576" r:id="rId17"/>
    <p:sldId id="579" r:id="rId18"/>
    <p:sldId id="578" r:id="rId19"/>
    <p:sldId id="533" r:id="rId20"/>
    <p:sldId id="394" r:id="rId21"/>
    <p:sldId id="395" r:id="rId22"/>
    <p:sldId id="396" r:id="rId23"/>
    <p:sldId id="397" r:id="rId24"/>
    <p:sldId id="398" r:id="rId25"/>
    <p:sldId id="401" r:id="rId26"/>
    <p:sldId id="402" r:id="rId27"/>
    <p:sldId id="403" r:id="rId28"/>
    <p:sldId id="517" r:id="rId29"/>
    <p:sldId id="404" r:id="rId30"/>
    <p:sldId id="405" r:id="rId31"/>
    <p:sldId id="516" r:id="rId32"/>
    <p:sldId id="534" r:id="rId33"/>
    <p:sldId id="580" r:id="rId34"/>
    <p:sldId id="408" r:id="rId35"/>
    <p:sldId id="409" r:id="rId36"/>
    <p:sldId id="581" r:id="rId37"/>
    <p:sldId id="582" r:id="rId38"/>
    <p:sldId id="583" r:id="rId39"/>
    <p:sldId id="584" r:id="rId40"/>
    <p:sldId id="585" r:id="rId41"/>
    <p:sldId id="586" r:id="rId42"/>
    <p:sldId id="518" r:id="rId43"/>
    <p:sldId id="519" r:id="rId44"/>
    <p:sldId id="520" r:id="rId45"/>
    <p:sldId id="521" r:id="rId46"/>
    <p:sldId id="538" r:id="rId47"/>
    <p:sldId id="561" r:id="rId48"/>
    <p:sldId id="410" r:id="rId49"/>
    <p:sldId id="411" r:id="rId50"/>
    <p:sldId id="412" r:id="rId51"/>
    <p:sldId id="413" r:id="rId52"/>
    <p:sldId id="414" r:id="rId53"/>
    <p:sldId id="415" r:id="rId54"/>
    <p:sldId id="587" r:id="rId55"/>
    <p:sldId id="588" r:id="rId56"/>
    <p:sldId id="562" r:id="rId57"/>
    <p:sldId id="563" r:id="rId58"/>
    <p:sldId id="523" r:id="rId59"/>
    <p:sldId id="564" r:id="rId60"/>
    <p:sldId id="422" r:id="rId61"/>
    <p:sldId id="423" r:id="rId62"/>
    <p:sldId id="426" r:id="rId63"/>
    <p:sldId id="427" r:id="rId64"/>
    <p:sldId id="428" r:id="rId65"/>
    <p:sldId id="429" r:id="rId66"/>
    <p:sldId id="430" r:id="rId67"/>
    <p:sldId id="543" r:id="rId68"/>
    <p:sldId id="589" r:id="rId69"/>
    <p:sldId id="590" r:id="rId70"/>
    <p:sldId id="505" r:id="rId71"/>
    <p:sldId id="508" r:id="rId72"/>
    <p:sldId id="438" r:id="rId73"/>
    <p:sldId id="439" r:id="rId74"/>
    <p:sldId id="441" r:id="rId75"/>
    <p:sldId id="440" r:id="rId76"/>
    <p:sldId id="524" r:id="rId77"/>
    <p:sldId id="442" r:id="rId78"/>
    <p:sldId id="591" r:id="rId79"/>
    <p:sldId id="444" r:id="rId80"/>
    <p:sldId id="545" r:id="rId81"/>
    <p:sldId id="448" r:id="rId82"/>
    <p:sldId id="449" r:id="rId83"/>
    <p:sldId id="547" r:id="rId84"/>
    <p:sldId id="548" r:id="rId85"/>
    <p:sldId id="525" r:id="rId86"/>
    <p:sldId id="549" r:id="rId87"/>
    <p:sldId id="453" r:id="rId88"/>
    <p:sldId id="554" r:id="rId89"/>
    <p:sldId id="592" r:id="rId90"/>
    <p:sldId id="456" r:id="rId91"/>
    <p:sldId id="457" r:id="rId92"/>
    <p:sldId id="458" r:id="rId93"/>
    <p:sldId id="459" r:id="rId94"/>
    <p:sldId id="460" r:id="rId95"/>
    <p:sldId id="461" r:id="rId96"/>
    <p:sldId id="566" r:id="rId97"/>
    <p:sldId id="570" r:id="rId98"/>
    <p:sldId id="567" r:id="rId99"/>
    <p:sldId id="568" r:id="rId100"/>
    <p:sldId id="569" r:id="rId101"/>
    <p:sldId id="470" r:id="rId102"/>
    <p:sldId id="466" r:id="rId103"/>
    <p:sldId id="593" r:id="rId104"/>
    <p:sldId id="594" r:id="rId105"/>
    <p:sldId id="595" r:id="rId106"/>
    <p:sldId id="596" r:id="rId107"/>
    <p:sldId id="597" r:id="rId108"/>
    <p:sldId id="528" r:id="rId109"/>
    <p:sldId id="529" r:id="rId110"/>
    <p:sldId id="530" r:id="rId111"/>
    <p:sldId id="471" r:id="rId112"/>
    <p:sldId id="472" r:id="rId113"/>
    <p:sldId id="598" r:id="rId114"/>
    <p:sldId id="473" r:id="rId115"/>
    <p:sldId id="474" r:id="rId116"/>
    <p:sldId id="475" r:id="rId117"/>
    <p:sldId id="476" r:id="rId118"/>
    <p:sldId id="477" r:id="rId119"/>
    <p:sldId id="478" r:id="rId120"/>
    <p:sldId id="481" r:id="rId121"/>
    <p:sldId id="482" r:id="rId122"/>
    <p:sldId id="483" r:id="rId123"/>
    <p:sldId id="484" r:id="rId124"/>
    <p:sldId id="485" r:id="rId125"/>
    <p:sldId id="486" r:id="rId126"/>
    <p:sldId id="487" r:id="rId127"/>
    <p:sldId id="488" r:id="rId128"/>
    <p:sldId id="489" r:id="rId129"/>
    <p:sldId id="490" r:id="rId130"/>
    <p:sldId id="491" r:id="rId131"/>
    <p:sldId id="556" r:id="rId132"/>
    <p:sldId id="492" r:id="rId133"/>
    <p:sldId id="557" r:id="rId134"/>
    <p:sldId id="499" r:id="rId135"/>
    <p:sldId id="500" r:id="rId136"/>
    <p:sldId id="558" r:id="rId137"/>
    <p:sldId id="501" r:id="rId138"/>
    <p:sldId id="599" r:id="rId139"/>
    <p:sldId id="502" r:id="rId140"/>
    <p:sldId id="600" r:id="rId1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B7848-AB61-42E7-9674-82600AF362B3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3E83A-89F0-4F13-8D63-F691FD0F047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(</a:t>
            </a:r>
            <a:r>
              <a:rPr lang="fr-FR" dirty="0" err="1"/>
              <a:t>vasoactivedes</a:t>
            </a:r>
            <a:r>
              <a:rPr lang="fr-FR" dirty="0"/>
              <a:t> médiateurs </a:t>
            </a:r>
            <a:r>
              <a:rPr lang="fr-FR" dirty="0" err="1"/>
              <a:t>proinflammatoires</a:t>
            </a:r>
            <a:endParaRPr lang="fr-FR" dirty="0"/>
          </a:p>
          <a:p>
            <a:r>
              <a:rPr lang="fr-FR" dirty="0"/>
              <a:t>comme l’ histamine et la </a:t>
            </a:r>
            <a:r>
              <a:rPr lang="fr-FR" dirty="0" err="1"/>
              <a:t>tryptase</a:t>
            </a:r>
            <a:endParaRPr lang="fr-FR" dirty="0"/>
          </a:p>
          <a:p>
            <a:endParaRPr lang="fr-FR" dirty="0"/>
          </a:p>
          <a:p>
            <a:r>
              <a:rPr lang="fr-FR" dirty="0"/>
              <a:t>intestinal peptide)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765824-9EA1-4922-A7B0-96285929F3A8}" type="slidenum">
              <a:rPr lang="fr-FR" smtClean="0"/>
              <a:pPr/>
              <a:t>96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48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929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5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56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301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968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290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19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40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50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19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041AF72-7809-4C06-B737-4F4FDDDB7FEE}" type="datetimeFigureOut">
              <a:rPr lang="fr-FR" smtClean="0"/>
              <a:pPr/>
              <a:t>26/08/2025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1EE621-ABA9-4FB9-A78D-1A62869EACBC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69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DIARRHEE CHRONIQUE </a:t>
            </a:r>
            <a:br>
              <a:rPr lang="fr-FR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 </a:t>
            </a:r>
            <a:r>
              <a:rPr lang="fr-FR" sz="4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Elhem</a:t>
            </a:r>
            <a:r>
              <a:rPr lang="fr-FR" sz="4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 </a:t>
            </a:r>
            <a:r>
              <a:rPr lang="fr-FR" sz="4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Jazia</a:t>
            </a:r>
            <a:br>
              <a:rPr lang="fr-FR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Harbi Raida</a:t>
            </a:r>
            <a:endParaRPr lang="fr-FR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e Grand-père Souffrent De La Bande Dessinée De Diarrhée Illustration de  Vecteur - Illustration du nourriture, adulte: 136666367">
            <a:extLst>
              <a:ext uri="{FF2B5EF4-FFF2-40B4-BE49-F238E27FC236}">
                <a16:creationId xmlns:a16="http://schemas.microsoft.com/office/drawing/2014/main" id="{CC22F985-C465-95AA-52B1-3B9B31042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67" b="6112"/>
          <a:stretch/>
        </p:blipFill>
        <p:spPr bwMode="auto">
          <a:xfrm>
            <a:off x="9768408" y="283073"/>
            <a:ext cx="2088232" cy="206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903819D4-3468-7EDD-1A7E-90408027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 1</a:t>
            </a:r>
            <a:endParaRPr lang="x-none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89F2317-8210-B1FB-6BFC-54EB96D15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et diagnostic positif d’une diarrhée chronique</a:t>
            </a:r>
          </a:p>
        </p:txBody>
      </p:sp>
    </p:spTree>
    <p:extLst>
      <p:ext uri="{BB962C8B-B14F-4D97-AF65-F5344CB8AC3E}">
        <p14:creationId xmlns:p14="http://schemas.microsoft.com/office/powerpoint/2010/main" val="2755126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2133600"/>
            <a:ext cx="9873108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Clr>
                <a:schemeClr val="bg2">
                  <a:lumMod val="50000"/>
                </a:schemeClr>
              </a:buClr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diarrhée chronique est définie par :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A. Une durée d’évolution supérieure à deux semaines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B. Une durée d’évolution supérieure à quatre semaines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C. Un poids des selles &gt; 300 g/24h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D. Une fréquence de selles molles ou liquides ≥ 3/24h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E. La présence de sang et de glaire dans les selles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227094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270C-5E75-66DD-522D-B74903E4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36CCB-77C5-03E7-40E6-7850BA41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301779-18B5-1A40-24D6-2BAED724E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Clr>
                <a:schemeClr val="bg2">
                  <a:lumMod val="50000"/>
                </a:schemeClr>
              </a:buClr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diarrhée chronique est définie par :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A. Une durée d’évolution supérieure à deux semaines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durée d’évolution supérieure à quatre semaines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poids des selles &gt; 300 g/24h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fréquence de selles molles ou liquides ≥ 3/24h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E. La présence de sang et de glaire dans les selles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6632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EADFF-1DD3-62B7-BDA5-52AB3295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881ED-1568-4117-6889-954EA300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A58759-29DD-A756-52D7-20C6B2C69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600"/>
            <a:ext cx="10407332" cy="4031704"/>
          </a:xfrm>
        </p:spPr>
        <p:txBody>
          <a:bodyPr>
            <a:noAutofit/>
          </a:bodyPr>
          <a:lstStyle/>
          <a:p>
            <a:pPr lvl="0"/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Concernant le diagnostic positif d'une diarrhée chronique, laquelle de ces propositions est </a:t>
            </a:r>
            <a:r>
              <a:rPr lang="fr-FR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fausse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Elle est défini par une durée d'évolution supérieure à quatre semaines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Le diagnostic positif repose sur des examens biologiques spécifiques qui sont de pratique courante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L'émission de plus de 3 selles molles à liquides par 24h est un critère clinique utilisé.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Il faut éliminer une fausse diarrhée, comme celle des constipés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L'interrogatoire recherche un suintement anal en dehors de la défécation pour évoquer une incontinence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94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F343-AF9F-2FA6-9999-D2206451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3AAD0-76C8-FE66-6EB2-DA5FA0B8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E90ACD-42ED-0061-92CB-B86DBD494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600"/>
            <a:ext cx="10407332" cy="4031704"/>
          </a:xfrm>
        </p:spPr>
        <p:txBody>
          <a:bodyPr>
            <a:noAutofit/>
          </a:bodyPr>
          <a:lstStyle/>
          <a:p>
            <a:pPr lvl="0"/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Concernant le diagnostic positif d'une diarrhée chronique, laquelle de ces propositions est </a:t>
            </a:r>
            <a:r>
              <a:rPr lang="fr-FR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fausse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Elle est défini par une durée d'évolution supérieure à quatre semaines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positif repose sur des examens biologiques spécifiques qui sont de pratique courante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L'émission de plus de 3 selles molles à liquides par 24h est un critère clinique utilisé.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Il faut éliminer une fausse diarrhée, comme celle des constipés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L'interrogatoire recherche un suintement anal en dehors de la défécation pour évoquer une incontinence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75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FA7C3-9FE2-3BC1-8AF5-3E5E5F1D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de la diarrhée</a:t>
            </a:r>
            <a:endParaRPr lang="x-none" b="1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1E3804-EE13-F5B8-6B07-ACA44F8E5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diarrhée : Poids des selles &gt; 300g/24h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Chronicité : E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volution supérieure à quatre semaines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pratique clinique : E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mission de plus de 3 selles par 24h, molles à liquides selon l’OMS</a:t>
            </a:r>
            <a:endParaRPr lang="x-none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531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600"/>
            <a:ext cx="10407332" cy="4031704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patient de 75 ans consulte pour un "suintement" liquidien anal permanent, souillant son linge, survenant en dehors de tout effort de défécation. Quel diagnostic est à évoquer en premier lieu 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Une colite microscopique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diarrhée motrice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Une incontinence anale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Une parasitose intestinale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 syndrome de 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3921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F1822-FDA4-56A1-0D7B-B502407A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EBB45E-8FA8-9C09-1A47-54E95E2FA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C92C38-3612-6FD0-B64F-3D9247F3D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600"/>
            <a:ext cx="10407332" cy="4103712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patient de 75 ans consulte pour un "suintement" liquidien anal permanent, souillant son linge, survenant en dehors de tout effort de défécation. Quel diagnostic est à évoquer en premier lieu 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Une colite microscopique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diarrhée motrice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Une incontinence anale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Une parasitose intestinale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 syndrome de 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471655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évoquer une pathomimie, laquelle de ces méthodes est la plus pertinente 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Le dosage de la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calprotectine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fécale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La mesure de l'osmolarité fécale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La réalisation d'une coloscopie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Le test respiratoire à l'hydrogène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Le dosage de la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gastrinémie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584913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593A-F514-1908-98E4-BDDB4884F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65B6A-48BF-0596-F2A9-72EAA44E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EF59F1-61AE-2EF4-4F42-3111EB7D2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évoquer une pathomimie, laquelle de ces méthodes est la plus pertinente 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Le dosage de la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calprotectine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fécale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La mesure de l'osmolarité fécale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La réalisation d'une coloscopie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Le test respiratoire à l'hydrogène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Le dosage de la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gastrinémie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393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4BDF5-0F3D-718D-3DAA-31FC1955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Fausses diarrhées</a:t>
            </a:r>
            <a:endParaRPr lang="x-none" b="1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132850-8374-C94B-68C3-6833CE344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faudrait éliminer par l’interrogatoire, l’examen physique et parfois les examens complémentaires une « fausse diarrhée »: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Fausse diarrhée des constipées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Incontinence anale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Emissions glaireuses et/ou sanglantes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afécales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syndrome rectal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Pathomimie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89197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903819D4-3468-7EDD-1A7E-90408027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 4</a:t>
            </a:r>
            <a:endParaRPr lang="x-none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89F2317-8210-B1FB-6BFC-54EB96D15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7528" y="4509120"/>
            <a:ext cx="8915399" cy="1589928"/>
          </a:xfrm>
        </p:spPr>
        <p:txBody>
          <a:bodyPr>
            <a:normAutofit fontScale="8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fr-FR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Établir une démarche diagnostique permettant d’orienter au diagnostic étiologique d’une diarrhée chronique chez l’adulte</a:t>
            </a:r>
            <a:endParaRPr lang="fr-FR" sz="3200" b="1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367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5</a:t>
            </a:r>
            <a:endParaRPr lang="fr-FR" sz="40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caractéristiques liées au terrain recherchées à l’interrogatoire comprennent :</a:t>
            </a:r>
          </a:p>
          <a:p>
            <a:pPr lvl="0">
              <a:lnSpc>
                <a:spcPct val="150000"/>
              </a:lnSpc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A. La prise d’AINS, antibiotiques ou laxatifs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B. La présence d’une affection thyroïdienne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C. La présence d’une hypertension artérielle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D. La notion de chirurgie abdominale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E.  Un séjour en pays tropical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559D5-2141-8125-7575-87883A197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A14134-6D65-46EC-1D4D-49B883F8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5</a:t>
            </a:r>
            <a:endParaRPr lang="fr-FR" sz="40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E3B41D-D7C9-2930-73E6-B3B57DF99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caractéristiques liées au terrain recherchées à l’interrogatoire comprennent :</a:t>
            </a:r>
          </a:p>
          <a:p>
            <a:pPr lvl="0">
              <a:lnSpc>
                <a:spcPct val="150000"/>
              </a:lnSpc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prise d’AINS, antibiotiques ou laxatifs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présence d’une affection thyroïdienne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C. La présence d’une hypertension artérielle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notion de chirurgie abdominale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E. 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séjour en pays tropical</a:t>
            </a:r>
          </a:p>
        </p:txBody>
      </p:sp>
    </p:spTree>
    <p:extLst>
      <p:ext uri="{BB962C8B-B14F-4D97-AF65-F5344CB8AC3E}">
        <p14:creationId xmlns:p14="http://schemas.microsoft.com/office/powerpoint/2010/main" val="1464837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2E2DC-83CE-3315-9601-1FF95FE15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1C293E-B1E5-A01F-0412-9ECA3F97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6</a:t>
            </a:r>
            <a:endParaRPr lang="fr-FR" sz="40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8530E9-FCA1-7C23-C882-AAD727A77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d'AINS peut être responsable d’une diarrhée chronique par le biais d'un mécanisme </a:t>
            </a:r>
          </a:p>
          <a:p>
            <a:pPr lvl="0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Osmotique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 malabsorption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Sécrétoire sans lésions intestinales macroscopiques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Moteur 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Volumogénique</a:t>
            </a:r>
            <a:endParaRPr lang="fr-T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517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9DBB1-CC60-A2A6-9E67-72813B7A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D3B9EF-EC40-09A9-9132-CE21DF82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6</a:t>
            </a:r>
            <a:endParaRPr lang="fr-FR" sz="40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25D7FA-7865-3222-22DC-9F8EE7D68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d'AINS peut être responsable d’une diarrhée chronique par le biais d'un mécanisme </a:t>
            </a:r>
          </a:p>
          <a:p>
            <a:pPr lvl="0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Osmotique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 malabsorption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Sécrétoire sans lésions intestinales macroscopiques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Moteur 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Volumogénique</a:t>
            </a:r>
            <a:endParaRPr lang="fr-T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668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44A5-2042-4E6E-C18F-6DBB67454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13201-20D1-11C5-82B7-17B76F2D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7</a:t>
            </a:r>
            <a:endParaRPr lang="fr-FR" sz="40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F32E99-28C2-0B5D-EC2C-2F6E0E69E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Quels éléments parmi les suivants fait évoquer un flush syndrome :</a:t>
            </a:r>
          </a:p>
          <a:p>
            <a:pPr lvl="0">
              <a:buClrTx/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Une sensation de chaleur intense s’accompagnant d’une transpiration</a:t>
            </a:r>
          </a:p>
          <a:p>
            <a:pPr lvl="0">
              <a:buClrTx/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Une syncope</a:t>
            </a:r>
          </a:p>
          <a:p>
            <a:pPr lvl="0">
              <a:buClrTx/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Une tachycardie </a:t>
            </a:r>
          </a:p>
          <a:p>
            <a:pPr lvl="0">
              <a:buClrTx/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 vomissements</a:t>
            </a:r>
          </a:p>
          <a:p>
            <a:pPr lvl="0">
              <a:buClrTx/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 érythème paroxystique de la face et du tronc</a:t>
            </a:r>
          </a:p>
        </p:txBody>
      </p:sp>
    </p:spTree>
    <p:extLst>
      <p:ext uri="{BB962C8B-B14F-4D97-AF65-F5344CB8AC3E}">
        <p14:creationId xmlns:p14="http://schemas.microsoft.com/office/powerpoint/2010/main" val="1601215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7</a:t>
            </a:r>
            <a:endParaRPr lang="fr-FR" sz="40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Quels éléments parmi les suivants fait évoquer un flush syndrome :</a:t>
            </a:r>
          </a:p>
          <a:p>
            <a:pPr lvl="0">
              <a:buClrTx/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Une sensation de chaleur intense s’accompagnant d’une transpiration</a:t>
            </a:r>
            <a:endParaRPr lang="fr-FR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ClrTx/>
              <a:buFont typeface="+mj-lt"/>
              <a:buAutoNum type="alphaUcPeriod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Une syncope</a:t>
            </a:r>
          </a:p>
          <a:p>
            <a:pPr lvl="0">
              <a:buClrTx/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Une tachycardie </a:t>
            </a:r>
          </a:p>
          <a:p>
            <a:pPr lvl="0">
              <a:buClrTx/>
              <a:buFont typeface="+mj-lt"/>
              <a:buAutoNum type="alphaUcPeriod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Des vomissements</a:t>
            </a:r>
          </a:p>
          <a:p>
            <a:pPr lvl="0">
              <a:buClrTx/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 érythème paroxystique de la face et du tronc</a:t>
            </a:r>
            <a:endParaRPr lang="fr-FR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 est l’élément parmi les suivants qui fait évoquer une diarrhée sécrétoire lésionnelle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d’une auréole huileuse sur le papier hygiénique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d’aliments non digérées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selles impérieuses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de sang dans les selles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L’odeur anormalement nauséabonde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55924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 est l’élément parmi les suivants qui fait évoquer une diarrhée sécrétoire lésionnelle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d’une auréole huileuse sur le papier hygiénique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d’aliments non digérées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selles impérieuses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de sang dans les selles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L’odeur anormalement nauséabonde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34385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2133600"/>
            <a:ext cx="10161140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Parmi les caractéristiques suivantes de la diarrhée, quels sont celles qui font évoquer une diarrhée motrice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Présence d’aliments non digérées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caractère matinal ou post prandial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d’un syndrome carentiel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Efficacité des ralentisseurs du transit et du jeune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de glaire et de sang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437133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Parmi les caractéristiques suivantes de la diarrhée, quels sont celles qui font évoquer une diarrhée motrice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Présence d’aliments non digérées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caractère matinal ou post prandial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d’un syndrome carentiel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Efficacité des ralentisseurs du transit et du jeune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de glaire et de sang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702960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diarrhée par malabsorption est évoquée devant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diarrhée associée à un amaigrissement contrastant avec un appétit conservé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débit fécal en graisse &gt; 7g/24h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selles flottantes à la surface de l’eau des toilettes et collantes sur la cuvette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d’un syndrome carentiel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diarrhée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glairo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-sanglante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522861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77762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diarrhée par malabsorption est évoquée devant :</a:t>
            </a:r>
            <a:endParaRPr lang="x-none" sz="2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diarrhée associée à un amaigrissement contrastant avec un appétit conservé</a:t>
            </a:r>
            <a:endParaRPr lang="x-none" sz="26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débit fécal en graisse &gt; 7g/24h</a:t>
            </a:r>
            <a:endParaRPr lang="x-none" sz="26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selles flottantes à la surface de l’eau des toilettes et collantes sur la cuvette</a:t>
            </a:r>
            <a:endParaRPr lang="x-none" sz="26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d’un syndrome carentiel</a:t>
            </a:r>
            <a:endParaRPr lang="x-none" sz="26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diarrhée </a:t>
            </a:r>
            <a:r>
              <a:rPr lang="fr-FR" sz="2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glairo</a:t>
            </a:r>
            <a:r>
              <a:rPr lang="fr-FR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-sanglante</a:t>
            </a:r>
            <a:endParaRPr lang="x-none" sz="2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04370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2133600"/>
            <a:ext cx="9873108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440"/>
              </a:spcAft>
              <a:buSzPts val="1200"/>
              <a:buNone/>
            </a:pPr>
            <a:r>
              <a:rPr 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en-US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diarrhée</a:t>
            </a:r>
            <a:r>
              <a:rPr 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sécrétoire</a:t>
            </a:r>
            <a:r>
              <a:rPr 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typiquement abondante (&gt; 500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/jour), hydrique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source d’une fuite importante de potassium et de bicarbonates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Régresse complètement au cours du jeûne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 être due à des médicaments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S’associe parfois à des flushes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12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440"/>
              </a:spcAft>
              <a:buSzPts val="1200"/>
              <a:buNone/>
            </a:pPr>
            <a:r>
              <a:rPr 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en-US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diarrhée</a:t>
            </a:r>
            <a:r>
              <a:rPr 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sécrétoire</a:t>
            </a:r>
            <a:r>
              <a:rPr 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typiquement abondante (&gt; 500 </a:t>
            </a:r>
            <a:r>
              <a:rPr lang="fr-FR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</a:t>
            </a: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/jour), hydrique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source d’une fuite importante de potassium et de bicarbonates</a:t>
            </a:r>
            <a:r>
              <a:rPr lang="fr-FR" sz="2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x-none" sz="24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Régresse complètement au cours du jeûne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 être due à des médicaments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S’associe parfois à des flushes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47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A456D-31E2-0C78-DC6E-845CEE6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Mécanismes physiopathologiques</a:t>
            </a:r>
            <a:endParaRPr lang="x-none" b="1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06C77A-BB6F-16BC-7785-C66D3EFE7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916832"/>
            <a:ext cx="10058400" cy="45365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Diarrhée par malabsorption :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 d’une malabsorption excédant la capacité d’absorption et de fermentation de l’intestin d’aval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fr-FR" sz="2400" b="1" i="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iarrhée hydroélectrolytique :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Diarrhée motrice :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 d’une accélération du transit telle que le temps nécessaire à l’absorption et à la fermentation n’est pas respecté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Diarrhée osmotique :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rapport avec un effet osmotique entraînant un afflux liquidien obligatoire du fait de la présence d’une substance osmotiquement active dans la lumière intestinale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Diarrhée sécrétoire: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sécrétion </a:t>
            </a:r>
            <a:r>
              <a:rPr lang="fr-FR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hydroélectrolytique dans l’intestin dépassant ses capacités d’absorption d’aval </a:t>
            </a:r>
          </a:p>
        </p:txBody>
      </p:sp>
    </p:spTree>
    <p:extLst>
      <p:ext uri="{BB962C8B-B14F-4D97-AF65-F5344CB8AC3E}">
        <p14:creationId xmlns:p14="http://schemas.microsoft.com/office/powerpoint/2010/main" val="645367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496" y="2133600"/>
            <a:ext cx="9945116" cy="3777622"/>
          </a:xfrm>
        </p:spPr>
        <p:txBody>
          <a:bodyPr>
            <a:noAutofit/>
          </a:bodyPr>
          <a:lstStyle/>
          <a:p>
            <a:pPr marL="0" lvl="0" indent="0">
              <a:lnSpc>
                <a:spcPct val="104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de </a:t>
            </a:r>
            <a:r>
              <a:rPr lang="fr-FR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peut donner une diarrhée par plusieurs mécanismes et qui sont : 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Motrice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Exsudative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Sécrétoire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Osmotique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671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777622"/>
          </a:xfrm>
        </p:spPr>
        <p:txBody>
          <a:bodyPr>
            <a:noAutofit/>
          </a:bodyPr>
          <a:lstStyle/>
          <a:p>
            <a:pPr marL="0" lvl="0" indent="0">
              <a:lnSpc>
                <a:spcPct val="104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de </a:t>
            </a:r>
            <a:r>
              <a:rPr lang="fr-FR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peut donner une diarrhée par plusieurs mécanismes et qui sont : 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Malabsorption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Motrice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Exsudative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Sécrétoire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Osmotique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907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4ACEF7-4984-DF6C-940E-616E8A996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2708920"/>
            <a:ext cx="10873208" cy="3810223"/>
          </a:xfrm>
        </p:spPr>
        <p:txBody>
          <a:bodyPr>
            <a:normAutofit lnSpcReduction="10000"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classification des diarrhées chroniques selon les mécanismes de la diarrhée : trop schématique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étiologie peut associer plusieurs mécanismes physiopathologiques qui ne sont pas strictement indépendants entre eux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maladie de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Crohn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peut donner une diarrhée par plusieurs mécanismes selon le siège et l’étendue de l’atteinte (malabsorption, motrice, exsudative et sécrétoire)</a:t>
            </a:r>
            <a:endParaRPr lang="x-none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BD2E9B-DD64-608C-C5AA-44457298F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370423"/>
            <a:ext cx="7200800" cy="358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82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13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 examen biologique de première intention est le plus utile pour évoquer une malabsorption des vitamines liposolubles 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Numération Formule Sanguine (NFS)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Dosage de la vitamine B12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Taux de Prothrombine (TP)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Ionogramme sanguin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CRP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3ED6E-0CE0-7689-E5FD-5B33AF3E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9CA46-017A-5477-D94D-1AA5CA230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13</a:t>
            </a:r>
            <a:endParaRPr lang="fr-FR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4676BC-2D96-D82D-EF11-CA5408063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 examen biologique de première intention est le plus utile pour évoquer une malabsorption des vitamines liposolubles 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Numération Formule Sanguine (NFS)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Dosage de la vitamine B12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Taux de Prothrombine (TP)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Ionogramme sanguin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CRP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9007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4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L’examen permettant de mettre en évidence une diarrhée motrice est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recherche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d'une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stéatorrhée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teste au D-xylose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test respiratoire au lactose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mesure de l'osmolarité des selles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test au rouge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carmin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591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4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L’examen permettant de mettre en évidence une diarrhée motrice est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recherche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d'une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stéatorrhée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teste au D-xylose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test respiratoire au lactose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mesure de l'osmolarité des selles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test au rouge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carmin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5146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528F3-ED9E-D71B-4B16-8E52494F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C4A27C-7E08-AFD9-7261-A1EB4123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15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B3DD17-9518-F461-090D-E12EBF403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diarrhée chronique avec flush syndrome doit faire demander en priorité :</a:t>
            </a:r>
            <a:endParaRPr lang="fr-T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Un dosage de la TSH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Un dosage de la chromogranine A 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Un dosage des anticorps anti-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transglutaminase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Un dosage de la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Gastrinémie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Un dosage du 5-HIAA urinaire</a:t>
            </a:r>
            <a:endParaRPr lang="fr-T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791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B3FD-832D-387F-7793-B34E2E3AF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F85AF-DDB1-0915-799B-C50AD1FF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15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646955-A732-5A28-841B-42931BF76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diarrhée chronique avec flush syndrome doit faire demander en priorité :</a:t>
            </a:r>
            <a:endParaRPr lang="fr-T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Un dosage de la TSH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dosage de la chromogranine A 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Un dosage des anticorps anti-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transglutaminase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Un dosage de la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Gastrinémie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dosage du 5-HIAA urinaire</a:t>
            </a:r>
            <a:endParaRPr lang="fr-T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7476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1A4E-99A4-E4CB-2C6D-BDC2CBDC9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D976BF-921C-8ADB-327A-F0EDA5DD9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16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C7F584-C60C-22DB-D77E-10342FC76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diarrhée graisseuse avec glossite, anémie macrocytaire et troubles sensitifs doit faire évoquer en premier lieu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Une maladie cœliaque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maladie de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Crohn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Une recto colite hémorragique (RCH)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Une hyperthyroïdie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 Syndrome de l’intestin irritable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08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44FD0-E8C6-6FCB-1EDA-F96120E3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38AD4-47E8-3853-B348-78E0A7E9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16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6B9CE9-2D93-EB1F-776C-4315EA177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diarrhée graisseuse avec glossite, anémie macrocytaire et troubles sensitifs doit faire évoquer en premier lieu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maladie cœliaque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maladie de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Crohn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Une recto colite hémorragique (RCH)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Une hyperthyroïdie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 Syndrome de l’intestin irritable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517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D3FD-40A9-0744-98A1-A29EF7B2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3A50D-A944-5A70-6B45-CAD29B02B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17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064D26-1481-2147-B167-F2E4921E6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 est l'examen morphologique de première intention devant une diarrhée chronique avec rectorragies et altération de l'état général 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Une échographie abdominale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 transit baryté du grêle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Une iléo-coloscopie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 entéro-scanner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pancréto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-IRM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683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B0D5D-E031-D214-4B16-725C8124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1B559-5365-8280-4533-31036FC2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17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F9E696-9236-FF0B-85B1-758E053B3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 est l'examen morphologique de première intention devant une diarrhée chronique avec rectorragies et altération de l'état général ?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Une échographie abdominale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 transit baryté du grêle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iléo-coloscopie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 entéro-scanner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pancréto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-IRM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251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CF0FA-51B1-B7E3-FDA6-40CA947A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Exploration des </a:t>
            </a:r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diarrhées chroniques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4C1536-F848-6208-B953-BDFCB018B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Quand la cause n'est pas cliniquement évidente </a:t>
            </a:r>
          </a:p>
          <a:p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Examens biologiques de première intention</a:t>
            </a:r>
          </a:p>
          <a:p>
            <a:pPr algn="ctr"/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Examens des selles (2ieme intention)</a:t>
            </a:r>
          </a:p>
          <a:p>
            <a:pPr algn="ctr"/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Examens morphologiques</a:t>
            </a:r>
            <a:endParaRPr lang="x-none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lèche : bas 3">
            <a:extLst>
              <a:ext uri="{FF2B5EF4-FFF2-40B4-BE49-F238E27FC236}">
                <a16:creationId xmlns:a16="http://schemas.microsoft.com/office/drawing/2014/main" id="{CD99DE79-F586-1ABD-C771-8DF6DAD3704C}"/>
              </a:ext>
            </a:extLst>
          </p:cNvPr>
          <p:cNvSpPr/>
          <p:nvPr/>
        </p:nvSpPr>
        <p:spPr>
          <a:xfrm>
            <a:off x="6126480" y="3281350"/>
            <a:ext cx="360040" cy="576064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2DC58B22-D8AD-F929-3493-B6D1278D30C5}"/>
              </a:ext>
            </a:extLst>
          </p:cNvPr>
          <p:cNvSpPr/>
          <p:nvPr/>
        </p:nvSpPr>
        <p:spPr>
          <a:xfrm>
            <a:off x="6126480" y="4287190"/>
            <a:ext cx="360040" cy="576064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16053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2EED0-41D4-F870-7D12-2441D4B2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Examens biologiques de première intention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EF4E42-8B94-E143-8098-9DCF83E29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04864"/>
            <a:ext cx="10058400" cy="34554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NFS, VS, CRP, TP, Ionogramme, bilan rénal, bilan phospho-calcique,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Magnésémie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Albumine, Electrophorèse des protides, Cholestérol, TSH, EPP, sérologie maladie cœliaque, examen parasitologique des selles (EPS)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Sérologie HIV: si facteurs de risque pour le HIV</a:t>
            </a:r>
          </a:p>
        </p:txBody>
      </p:sp>
      <p:pic>
        <p:nvPicPr>
          <p:cNvPr id="1028" name="Picture 4" descr="Vacutainer : à quoi sert ce corps de prélèvement ?">
            <a:extLst>
              <a:ext uri="{FF2B5EF4-FFF2-40B4-BE49-F238E27FC236}">
                <a16:creationId xmlns:a16="http://schemas.microsoft.com/office/drawing/2014/main" id="{D2B9F7BB-DAA0-03C0-1BBC-51C3BA9D7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826" y="1450119"/>
            <a:ext cx="3253211" cy="150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930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2EED0-41D4-F870-7D12-2441D4B2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910" y="500042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Examen des selles en deuxième intention</a:t>
            </a:r>
            <a:endParaRPr lang="x-non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EF4E42-8B94-E143-8098-9DCF83E29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72" y="1906050"/>
            <a:ext cx="10058400" cy="4023360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Fécalogramme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3 j pour mesure du débit fécal en graisses ou stéatorrhée, de la clairance de l’alpha-1- antitrypsine et de l’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osmolarité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fécale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Calprotectine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fécale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 fécale en élastase pancréatique</a:t>
            </a:r>
          </a:p>
        </p:txBody>
      </p:sp>
      <p:pic>
        <p:nvPicPr>
          <p:cNvPr id="2050" name="Picture 2" descr="Test des selles. Examen médical Image Vectorielle Stock - Alamy">
            <a:extLst>
              <a:ext uri="{FF2B5EF4-FFF2-40B4-BE49-F238E27FC236}">
                <a16:creationId xmlns:a16="http://schemas.microsoft.com/office/drawing/2014/main" id="{E0474EF9-E364-9048-1C1D-1CC16F4F82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3" b="12454"/>
          <a:stretch/>
        </p:blipFill>
        <p:spPr bwMode="auto">
          <a:xfrm>
            <a:off x="9912424" y="3717032"/>
            <a:ext cx="1989000" cy="152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862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532DD27-D1F4-76F0-F5D3-B7A1BB11E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1540189"/>
            <a:ext cx="7728529" cy="377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107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2EED0-41D4-F870-7D12-2441D4B2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910" y="500042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Dosages hormonaux</a:t>
            </a:r>
            <a:endParaRPr lang="x-non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EF4E42-8B94-E143-8098-9DCF83E29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Selon l’orientation diagnostique 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Dosage de la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chromogranine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du 5-HIAA : tumeur neuroendocrine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Calcitonine : cancer médullaire de la thyroïde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Gastrinémie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syndrome de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Zollinger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Ellison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Vipémie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vipome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Dosage de la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tryptase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sérique :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mastocystose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62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Examens complémentaires morphologiques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L’endoscopie digestive: </a:t>
            </a:r>
          </a:p>
          <a:p>
            <a:pPr lvl="2">
              <a:buFont typeface="Courier New" pitchFamily="49" charset="0"/>
              <a:buChar char="o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EOGD + Bx duodénales</a:t>
            </a:r>
          </a:p>
          <a:p>
            <a:pPr lvl="2">
              <a:buFont typeface="Courier New" pitchFamily="49" charset="0"/>
              <a:buChar char="o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Iléo-coloscopie +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étagées</a:t>
            </a:r>
          </a:p>
          <a:p>
            <a:pPr lvl="2">
              <a:buFont typeface="Courier New" pitchFamily="49" charset="0"/>
              <a:buChar char="o"/>
            </a:pP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Entéroscopie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Courier New" pitchFamily="49" charset="0"/>
              <a:buChar char="o"/>
            </a:pP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Echoendoscopie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duodenopancréatique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L’imagerie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Entéroscanner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Entéro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-IRM , Vidéo capsule, TDM 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 err="1">
                <a:latin typeface="Times New Roman" pitchFamily="18" charset="0"/>
                <a:cs typeface="Times New Roman" pitchFamily="18" charset="0"/>
              </a:rPr>
              <a:t>Octréoscan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si suspicion de tumeur endocrine. </a:t>
            </a:r>
          </a:p>
          <a:p>
            <a:pPr marL="0" indent="0">
              <a:buNone/>
            </a:pPr>
            <a:r>
              <a:rPr lang="fr-FR" sz="2400" dirty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 D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étecte la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radioactivité marquée qui se fixe sur les tumeurs qui expriment à leur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surface les récepteurs à la somatostatine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Parmi les étiologies suivantes de la diarrhée quels sont celles qui sont en rapport avec une anomalie de la phase entérocytaire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Giardiose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cœliaque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colonisation bactérienne chronique de l’intestin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Whipple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Waldmann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9214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Parmi les étiologies suivantes de la diarrhée quels sont celles qui sont en rapport avec une anomalie de la phase entérocytaire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fr-FR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Giardiose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cœliaque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colonisation bactérienne chronique de l’intestin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Whipple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Waldmann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3679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cœliaque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la cause la plus fréquente des diarrhées par 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est plus fréquente chez l’homme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 une entéropathie auto-immune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est assez souvent associée à la dermatite herpétiforme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une diarrhée sécrétoire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5101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cœliaque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la cause la plus fréquente des diarrhées par malabsorption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est plus fréquente chez l’homme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 une entéropathie auto-immune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est assez souvent associée à la dermatite herpétiforme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une diarrhée sécrétoire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9764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cœliaque doit être évoquée et recherchée de principe devant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anémie hypochrome microcytaire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reflux gastro-œsophagien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aphtose buccale récidivante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trouble du rythme cardiaque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cytolyse hépatique inexpliquée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3867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cœliaque doit être évoquée et recherchée de principe devant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anémie hypochrome microcytaire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reflux gastro-œsophagien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aphtose buccale récidivante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trouble du rythme cardiaque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cytolyse hépatique inexpliquée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9098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14E3A-5EEB-740B-CA91-CD5F1C20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D6D96E-D083-F46C-DE2B-F80F2275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D88B9F-B137-A817-FE63-5DE523284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410371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de certitude de la maladie cœliaque repose sur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La positivité des anticorps anti-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transglutaminase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La présence d'un terrain auto-immun associé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L'amélioration clinique sous régime sans gluten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L'examen histologique de biopsies duodénales montrant une atrophie villositaire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 test respiratoire à l'hydrogène positif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3664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74631-0343-1952-E306-78306B7F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43F76F-F9F0-DF16-970B-1FBECA06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D02C7A-009E-F07D-CF18-4AC476FBD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410371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de certitude de la maladie cœliaque repose sur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La positivité des anticorps anti-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transglutaminase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La présence d'un terrain auto-immun associé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L'amélioration clinique sous régime sans gluten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L'examen histologique de biopsies duodénales montrant une atrophie villositaire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 test respiratoire à l'hydrogène positif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0054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La maladie cœliaque</a:t>
            </a:r>
            <a:endParaRPr lang="fr-FR" sz="4000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24034" y="1785926"/>
            <a:ext cx="9344028" cy="37776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Maladie auto-immune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Prédisposition génétique: HLA DQ2 ou DQ8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Une intolérance à la gliadine, une protéine contenue dans le gluten: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400" dirty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 descr="qu-est-ce-que-glut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38" y="3284984"/>
            <a:ext cx="7683523" cy="296364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31488" y="1711499"/>
            <a:ext cx="4286280" cy="928694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La femme (*2-3) 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Terrain d’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autoimmunité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226922" y="2483792"/>
            <a:ext cx="5429288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0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La forme clinique classique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minoritaire</a:t>
            </a:r>
          </a:p>
          <a:p>
            <a:pPr algn="ctr">
              <a:buNone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diarrhée chronique et signes cliniques de malabsorption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212" y="3499455"/>
            <a:ext cx="571499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Les formes cliniques pauci-symptomatiques, formes frustes: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Tableau  de SII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Signes biologiques isolés de malabsorption, cytolyse hépatique inexpliquée</a:t>
            </a:r>
          </a:p>
          <a:p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Aphtose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buccale récidivante, arthralgies et déminéralisation diffuse, troubles neurologiques (épilepsie, neuropathie carentielle, ataxie) ou de la reproduction chez la femme</a:t>
            </a: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2381224" y="500042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La maladie cœliaque</a:t>
            </a:r>
            <a:endParaRPr kumimoji="0" lang="fr-FR" sz="4000" b="0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" name="Picture 2" descr="Maladie coeliaque : de l'enfance à l'âge adulte – FMC-HGE">
            <a:extLst>
              <a:ext uri="{FF2B5EF4-FFF2-40B4-BE49-F238E27FC236}">
                <a16:creationId xmlns:a16="http://schemas.microsoft.com/office/drawing/2014/main" id="{7C7A4E76-0D94-866D-20C9-3C8ECD852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546" y="2348880"/>
            <a:ext cx="53340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A109ACD-DE22-E82D-D66A-0EFAE02D4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582" y="3708188"/>
            <a:ext cx="5429250" cy="2752725"/>
          </a:xfrm>
          <a:prstGeom prst="rect">
            <a:avLst/>
          </a:prstGeom>
        </p:spPr>
      </p:pic>
      <p:pic>
        <p:nvPicPr>
          <p:cNvPr id="4098" name="Picture 2" descr="Maladie cœliaque | SNFGE.org - Société savante médicale française  d'hépato-gastroentérologie et d'oncologie digestive">
            <a:extLst>
              <a:ext uri="{FF2B5EF4-FFF2-40B4-BE49-F238E27FC236}">
                <a16:creationId xmlns:a16="http://schemas.microsoft.com/office/drawing/2014/main" id="{9B43FEB4-C96D-E684-9AED-2F6CCF1D0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48" y="100321"/>
            <a:ext cx="3952359" cy="337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John Libbey Eurotext - Hépato-Gastro &amp; Oncologie Digestive - Maladie  cœliaque, hypersensibilité au gluten et régime sans gluten : ce qu'il faut  savoir et rectifier">
            <a:extLst>
              <a:ext uri="{FF2B5EF4-FFF2-40B4-BE49-F238E27FC236}">
                <a16:creationId xmlns:a16="http://schemas.microsoft.com/office/drawing/2014/main" id="{F6207E35-31CA-F2B0-9BBA-52FC115BC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61" y="2655105"/>
            <a:ext cx="3518148" cy="380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8964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3836" y="5072074"/>
            <a:ext cx="7239051" cy="17144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Une atrophie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villositaire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sub-totale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ou totale</a:t>
            </a:r>
          </a:p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Une augmentation des lymphocytes intra-épithéliaux,</a:t>
            </a:r>
          </a:p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Une hypertrophie des cryptes </a:t>
            </a:r>
          </a:p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Un infiltrat inflammatoire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lympho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-plasmocytaire du chorion avec présence de polynucléaires éosinophiles, 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1356" y="1214422"/>
            <a:ext cx="4366901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En cas de suspicion de maladie cœliaque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5683" y="1692464"/>
            <a:ext cx="835824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Sérologie de la maladie cœliaque 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Les anticorps sériques anti-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endomysium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IgA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) et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anti-TG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meilleure S et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Sp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En pratique: Anti TG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IgA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+ Associé un dosage pondéral des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IgA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si déficit faire un dosage des anticorps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anti-TG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IgG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).  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 dosage des anticorps anti-gliadine : n’est plus utilisé</a:t>
            </a:r>
          </a:p>
          <a:p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fr-FR" sz="20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Le génotypage HLA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exceptionnellement nécessaire.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381224" y="4286256"/>
            <a:ext cx="7810555" cy="7078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La confirmation du diagnostic est histologique (endoscopie haute avec biopsies duodénales)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Image 6" descr="mdie coeliaq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64" y="5143512"/>
            <a:ext cx="3924300" cy="1552575"/>
          </a:xfrm>
          <a:prstGeom prst="rect">
            <a:avLst/>
          </a:prstGeom>
        </p:spPr>
      </p:pic>
      <p:sp>
        <p:nvSpPr>
          <p:cNvPr id="8" name="Titre 1"/>
          <p:cNvSpPr txBox="1">
            <a:spLocks/>
          </p:cNvSpPr>
          <p:nvPr/>
        </p:nvSpPr>
        <p:spPr>
          <a:xfrm>
            <a:off x="2024034" y="357166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La maladie cœliaque</a:t>
            </a:r>
            <a:endParaRPr kumimoji="0" lang="fr-FR" sz="4000" b="0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fr-FR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Giardiose</a:t>
            </a: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la principale parasitose responsable de diarrhée chronique par 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 habitat siège au niveau de l’iléon terminal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peut être responsable d’un syndrome de 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est due à un protozoaire flagellé le Giardia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duodénalis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se transmet par voie sanguine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2449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fr-FR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Giardiose</a:t>
            </a: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la principale parasitose responsable de diarrhée chronique par malabsorption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 habitat siège au niveau de l’iléon terminal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peut être responsable d’un syndrome de malabsorption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est due à un protozoaire flagellé le Giardia </a:t>
            </a:r>
            <a:r>
              <a:rPr lang="fr-FR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duodénalis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se transmet par voie sanguine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1679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23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Parmi les étiologies suivantes de la diarrhée chronique lesquelles sont en rapport avec une réduction anatomique de la surface absorbante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cœliaque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Résection étendue du grêle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Fistule gastro-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jéjuno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-colique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Déficit commun variable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recto colite hémorragique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7800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23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Parmi les étiologies suivantes de la diarrhée chronique lesquelles sont en rapport avec une réduction anatomique de la surface absorbante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cœliaque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Résection étendue du grêle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Fistule gastro-</a:t>
            </a:r>
            <a:r>
              <a:rPr lang="fr-FR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jéjuno</a:t>
            </a: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-colique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Déficit commun variable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recto colite hémorragique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3181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959696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de Whipple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responsable d’une diarrhée par 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diagnostic repose sur les biopsies duodénales ou jéjunales et ou la PCR des prélèvements (sang, LCR, salive, muqueuse)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en rapport avec une infection virale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peu retrouver une atrophie villositaire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en rapport avec une prolifération monoclonale de cellules lymphoïdes B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770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4103712"/>
          </a:xfrm>
        </p:spPr>
        <p:txBody>
          <a:bodyPr>
            <a:no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de Whipple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responsable d’une diarrhée par malabsorption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diagnostic repose sur les biopsies duodénales ou jéjunales et ou la PCR des prélèvements (sang, LCR, salive, muqueuse)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en rapport avec une infection virale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peu retrouver une atrophie villositaire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en rapport avec une prolifération monoclonale de cellules lymphoïdes B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0174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25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 étiologies d’une colonisation bactérienne chronique du grêle sont :</a:t>
            </a:r>
            <a:endParaRPr lang="fr-FR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L’</a:t>
            </a:r>
            <a:r>
              <a:rPr lang="fr-F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achlorhydrie</a:t>
            </a: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gastrique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Résection antérieure du rectum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Une sténose incomplète d’origine tumorale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 diverticulose du grêle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Une gastrite à HP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4918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25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 étiologies d’une colonisation bactérienne chronique du </a:t>
            </a:r>
            <a:r>
              <a:rPr lang="fr-FR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gréle</a:t>
            </a: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sont :</a:t>
            </a:r>
            <a:endParaRPr lang="fr-FR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L’</a:t>
            </a:r>
            <a:r>
              <a:rPr lang="fr-FR" sz="2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achlorhydrie</a:t>
            </a: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gastrique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Résection antérieure du rectum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Une sténose incomplète d’origine tumorale</a:t>
            </a:r>
            <a:endParaRPr lang="fr-FR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La diverticulose du grêle</a:t>
            </a:r>
            <a:endParaRPr lang="fr-FR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Une gastrite à HP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4918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8BD7-A47F-C517-DD64-F93D5B32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311BFE-8AA6-A5C3-8C0F-C8F2B437A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26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E9075C-5EBC-4782-1B26-F17B3BCD4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lvl="0"/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 examen permet de faire le diagnostic de colonisation bactérienne chronique du grêle (CBCG)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manière non invasive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Le tubage jéjunal avec culture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Le test respiratoire à l’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hydrogéne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Le dosage de l'élastase fécale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La mesure de la stéatorrhée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L'iléo-coloscopie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643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3770-0C86-1657-E2D2-1F181224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56F5B-4F19-8C36-A9BD-5E429DBD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26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C02832-FD87-E15B-8A64-29194F1DC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3600"/>
            <a:ext cx="9297044" cy="3777622"/>
          </a:xfrm>
        </p:spPr>
        <p:txBody>
          <a:bodyPr>
            <a:normAutofit/>
          </a:bodyPr>
          <a:lstStyle/>
          <a:p>
            <a:pPr lvl="0"/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 examen permet de faire le diagnostic de colonisation bactérienne chronique du grêle (CBCG)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manière non invasive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Le tubage jéjunal avec culture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test respiratoire à l’</a:t>
            </a:r>
            <a:r>
              <a:rPr lang="fr-FR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hydrogéne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Le dosage de l'élastase fécale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La mesure de la stéatorrhée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L'iléo-coloscopie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920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F6C236-3947-B817-6124-E3E95FB0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90" y="168698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fr-FR" sz="32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b="1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tiologies d’une colonisation bactérienne chronique de l’intestin</a:t>
            </a:r>
            <a:endParaRPr lang="x-none" sz="32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9EA9D21-A0C9-10C3-B5DE-32DB06DC3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1504" y="1772816"/>
            <a:ext cx="9157426" cy="508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914170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32682"/>
          </a:xfrm>
        </p:spPr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respiratoire au glucose</a:t>
            </a:r>
            <a:endParaRPr lang="fr-FR" sz="4000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1424" y="1556792"/>
            <a:ext cx="10593188" cy="3362786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fr-FR" b="1" dirty="0"/>
              <a:t>   </a:t>
            </a:r>
            <a:endParaRPr lang="fr-FR" sz="2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L’hydrogène produit par les bactéries au niveau du colon ou de l’intestin grêle traverse la paroi et via la circulation sanguine est évacué par les poumons dans l’air expiré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taux d’hydrogène dans l’air expiré est d’autant plus élevé que la malabsorption des sucres est importante ou que la quantité de bactéries est élevée à un endroit où il ne devrait pas y en avoir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89ECD0-575F-7C39-A0B9-6A9A2DFE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65" y="4293096"/>
            <a:ext cx="5328593" cy="228328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C7FF427-4968-7774-DCDA-BAB9ABAFD701}"/>
              </a:ext>
            </a:extLst>
          </p:cNvPr>
          <p:cNvSpPr txBox="1"/>
          <p:nvPr/>
        </p:nvSpPr>
        <p:spPr>
          <a:xfrm>
            <a:off x="7392144" y="5021263"/>
            <a:ext cx="4392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Indications : recherche d’une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pullulation microbienne du grêle 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27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4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L’examen permettant le diagnostic positif d’une insuffisance pancréatique exocrine est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clairance de l’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α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1-antitrypsine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dosage de l’élastase fécale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échoendoscopie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couplée à l’IRM du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pancreas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L’échographie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transpariétale</a:t>
            </a:r>
            <a:endPara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test au D xylose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0325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27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Autofit/>
          </a:bodyPr>
          <a:lstStyle/>
          <a:p>
            <a:pPr marL="0" lvl="0" indent="0">
              <a:lnSpc>
                <a:spcPct val="104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L’examen permettant le diagnostic positif d’une insuffisance pancréatique exocrine est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clairance de l’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α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1-antitrypsine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dosage de l’élastase fécale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échoendoscopie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couplée à l’IRM du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pancreas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L’échographie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transpariétale</a:t>
            </a:r>
            <a:endPara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test au D xylose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7070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diarrhée par anomalies de la phase post entérocytaire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Peut-être en rapport avec Une maladie de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Waldmann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responsable d’une entéropathie exsudative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Peut-être secondaire à une insuffisance pancréatique exocrine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Peut-être en rapport avec Péricardite constrictive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une altération de la bordure en brosse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7124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diarrhée par anomalies de la phase post entérocytaire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Peut-être en rapport avec Une maladie de </a:t>
            </a:r>
            <a:r>
              <a:rPr lang="fr-FR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Waldmann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responsable d’une entéropathie exsudative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Peut-être secondaire à une insuffisance pancréatique exocrine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Peut-être en rapport avec Péricardite constrictive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une altération de la bordure en brosse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4622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47C32-6BB9-0D85-CD36-D4C6CFB4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Diarrhée par malabsorption</a:t>
            </a:r>
            <a:endParaRPr lang="x-none" b="1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E8BDD64-4867-688E-70D8-8FD43B2020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487476"/>
              </p:ext>
            </p:extLst>
          </p:nvPr>
        </p:nvGraphicFramePr>
        <p:xfrm>
          <a:off x="1271464" y="1844824"/>
          <a:ext cx="10233150" cy="452793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116575">
                  <a:extLst>
                    <a:ext uri="{9D8B030D-6E8A-4147-A177-3AD203B41FA5}">
                      <a16:colId xmlns:a16="http://schemas.microsoft.com/office/drawing/2014/main" val="3548501288"/>
                    </a:ext>
                  </a:extLst>
                </a:gridCol>
                <a:gridCol w="5116575">
                  <a:extLst>
                    <a:ext uri="{9D8B030D-6E8A-4147-A177-3AD203B41FA5}">
                      <a16:colId xmlns:a16="http://schemas.microsoft.com/office/drawing/2014/main" val="3949165777"/>
                    </a:ext>
                  </a:extLst>
                </a:gridCol>
              </a:tblGrid>
              <a:tr h="470584">
                <a:tc>
                  <a:txBody>
                    <a:bodyPr/>
                    <a:lstStyle/>
                    <a:p>
                      <a:pPr algn="ctr"/>
                      <a:r>
                        <a:rPr lang="fr-FR" sz="2400" i="1" dirty="0">
                          <a:latin typeface="Times New Roman" pitchFamily="18" charset="0"/>
                          <a:cs typeface="Times New Roman" pitchFamily="18" charset="0"/>
                        </a:rPr>
                        <a:t>Causes </a:t>
                      </a:r>
                      <a:endParaRPr lang="x-none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i="1" dirty="0">
                          <a:latin typeface="Times New Roman" pitchFamily="18" charset="0"/>
                          <a:cs typeface="Times New Roman" pitchFamily="18" charset="0"/>
                        </a:rPr>
                        <a:t>Diagnostic</a:t>
                      </a:r>
                      <a:r>
                        <a:rPr lang="fr-FR" dirty="0"/>
                        <a:t> </a:t>
                      </a:r>
                      <a:endParaRPr lang="x-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435121"/>
                  </a:ext>
                </a:extLst>
              </a:tr>
              <a:tr h="1199022">
                <a:tc>
                  <a:txBody>
                    <a:bodyPr/>
                    <a:lstStyle/>
                    <a:p>
                      <a:r>
                        <a:rPr lang="fr-FR" sz="20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Pré-entérocytaires (luminales) :</a:t>
                      </a:r>
                      <a:r>
                        <a:rPr lang="fr-FR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Pancréatites chroniques, cancer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pancr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Cholestase …</a:t>
                      </a:r>
                      <a:endParaRPr lang="x-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Echographie TDM 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Biologie et échographie abdominale</a:t>
                      </a:r>
                      <a:endParaRPr lang="x-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538032"/>
                  </a:ext>
                </a:extLst>
              </a:tr>
              <a:tr h="470584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Pullulation bactérienne du grêle </a:t>
                      </a:r>
                      <a:endParaRPr lang="x-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</a:t>
                      </a:r>
                      <a:r>
                        <a:rPr lang="fr-FR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respiratoire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 glucose</a:t>
                      </a:r>
                      <a:endParaRPr lang="x-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494641"/>
                  </a:ext>
                </a:extLst>
              </a:tr>
              <a:tr h="1199022">
                <a:tc>
                  <a:txBody>
                    <a:bodyPr/>
                    <a:lstStyle/>
                    <a:p>
                      <a:r>
                        <a:rPr lang="en-US" sz="2000" b="1" i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Entérocytaires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Maladie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cœliaque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Déficit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immunoglobulins,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Gairdiase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Maladie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Whipple,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Maladie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Crohn,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grêle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radique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lymphome</a:t>
                      </a:r>
                      <a:endParaRPr lang="x-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Biopsies duodénales et sérologie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coeliaque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dosage des immunoglobulines, parasitologie des selles</a:t>
                      </a:r>
                      <a:endParaRPr lang="x-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34995"/>
                  </a:ext>
                </a:extLst>
              </a:tr>
              <a:tr h="1133957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Post-</a:t>
                      </a:r>
                      <a:r>
                        <a:rPr lang="en-US" sz="2000" b="1" i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entérocytaires</a:t>
                      </a:r>
                      <a:r>
                        <a:rPr lang="en-US" sz="20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Lymphangiectasies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primitives et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secondaire</a:t>
                      </a:r>
                      <a:endParaRPr lang="x-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clairance de l’α1- antitrypsine supérieure à 20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/jour</a:t>
                      </a:r>
                    </a:p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Endoscopie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biopsies scanner abdominal et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thoracique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échocardiographie</a:t>
                      </a:r>
                      <a:endParaRPr lang="x-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57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0034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clairance de l'alpha-1-antitrypsine supérieure à 20 ml/jour signe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Une insuffisance pancréatique exocrine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pullulation bactérienne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Une entéropathie exsudative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Une diarrhée osmotique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Une maladie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coeliaque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2965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F459-5823-6EDC-BA4A-1207A6A4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FE2FB-9DF4-AC4C-89EA-89CAEEA8A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29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060F02-C78A-0C4F-363C-2709C2FC5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clairance de l'alpha-1-antitrypsine supérieure à 20 ml/jour signe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Une insuffisance pancréatique exocrine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pullulation bactérienne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entéropathie exsudative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Une diarrhée osmotique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Une maladie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coeliaque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9472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Parmi les étiologies de la diarrhée motrice on peut retrouver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L’hyperthyroïdie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Déficit commun variable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 vagotomie tronculaire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Insuffisance pancréatique exocrine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Résection iléale courte &lt; 80 cm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7213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Parmi les étiologies de la diarrhée motrice on peut retrouver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L’hyperthyroïdie</a:t>
            </a:r>
            <a:endParaRPr lang="fr-FR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Déficit commun variable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La vagotomie tronculaire</a:t>
            </a:r>
            <a:endParaRPr lang="fr-FR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Insuffisance pancréatique exocrine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Résection iléale courte &lt; 80 cm</a:t>
            </a:r>
            <a:endParaRPr lang="fr-FR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7213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44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 cours du syndrome carcinoïde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diarrhée motrice est le symptôme le plus fréquent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souvent des flushes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généralement des métastases hépatiques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L'acide 5-hydroxy-indol-acétique urinaire (5-HIAA) est augmenté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diarrhée est secondaire à la sécrétion de la gastrine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339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44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 cours du syndrome carcinoïde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diarrhée motrice est le symptôme le plus fréquent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souvent des flushes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généralement des métastases hépatiques 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L'acide 5-hydroxy-indol-acétique urinaire (5-HIAA) est augmenté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44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diarrhée est secondaire à la sécrétion de la gastrine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4762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4" y="1785926"/>
            <a:ext cx="10233148" cy="437937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6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sujet âgé de 70 ans diabétique consulte pour une diarrhée chronique d’allure motrice. L’examen physique montre une hypotension orthostatique sans accélération supplémentaire du pouls ?</a:t>
            </a:r>
            <a:endParaRPr lang="x-none" sz="26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Quelle est la cause probable de cette diarrhée.</a:t>
            </a:r>
            <a:endParaRPr lang="x-none" sz="2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Dysautonomie (neuropathie végétative)</a:t>
            </a:r>
            <a:endParaRPr lang="x-none" sz="2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Tumeur du pancréas</a:t>
            </a:r>
            <a:endParaRPr lang="x-none" sz="2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cœliaque</a:t>
            </a:r>
            <a:endParaRPr lang="x-none" sz="2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Tumeur carcinoïde</a:t>
            </a:r>
            <a:endParaRPr lang="x-none" sz="2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</a:t>
            </a:r>
            <a:r>
              <a:rPr lang="fr-FR" sz="2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endParaRPr lang="x-none" sz="2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496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4" y="1844824"/>
            <a:ext cx="10233148" cy="446449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sujet âgé de 70 ans diabétique consulte pour une diarrhée chronique d’allure motrice. L’examen physique montre une hypotension orthostatique sans accélération supplémentaire du pouls ?</a:t>
            </a:r>
            <a:endParaRPr lang="x-none" sz="24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Quelle est la cause probable de cette diarrhée.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Dysautonomie (neuropathie végétative)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Tumeur du pancréas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cœliaque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Tumeur carcinoïde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496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47C32-6BB9-0D85-CD36-D4C6CFB4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Diarrhée motrice</a:t>
            </a:r>
            <a:endParaRPr lang="x-none" b="1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E8BDD64-4867-688E-70D8-8FD43B2020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77536"/>
              </p:ext>
            </p:extLst>
          </p:nvPr>
        </p:nvGraphicFramePr>
        <p:xfrm>
          <a:off x="1271464" y="1988840"/>
          <a:ext cx="10233150" cy="433199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116575">
                  <a:extLst>
                    <a:ext uri="{9D8B030D-6E8A-4147-A177-3AD203B41FA5}">
                      <a16:colId xmlns:a16="http://schemas.microsoft.com/office/drawing/2014/main" val="3548501288"/>
                    </a:ext>
                  </a:extLst>
                </a:gridCol>
                <a:gridCol w="5116575">
                  <a:extLst>
                    <a:ext uri="{9D8B030D-6E8A-4147-A177-3AD203B41FA5}">
                      <a16:colId xmlns:a16="http://schemas.microsoft.com/office/drawing/2014/main" val="3949165777"/>
                    </a:ext>
                  </a:extLst>
                </a:gridCol>
              </a:tblGrid>
              <a:tr h="445684">
                <a:tc>
                  <a:txBody>
                    <a:bodyPr/>
                    <a:lstStyle/>
                    <a:p>
                      <a:pPr algn="ctr"/>
                      <a:r>
                        <a:rPr lang="fr-F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Causes </a:t>
                      </a:r>
                      <a:endParaRPr lang="x-none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Diagnostic </a:t>
                      </a:r>
                      <a:endParaRPr lang="x-none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435121"/>
                  </a:ext>
                </a:extLst>
              </a:tr>
              <a:tr h="1133195">
                <a:tc>
                  <a:txBody>
                    <a:bodyPr/>
                    <a:lstStyle/>
                    <a:p>
                      <a:r>
                        <a:rPr lang="en-US" sz="2000" b="1" i="1" dirty="0" err="1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Endocriniennes</a:t>
                      </a:r>
                      <a:r>
                        <a:rPr lang="en-US" sz="2000" b="1" i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Hyperthyroïdie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Cancer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médullaire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la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thyroïde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Syndrome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carcinoïde</a:t>
                      </a:r>
                      <a:endParaRPr lang="x-none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TSH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Thyrocalcitonine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échographie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sérotoninémie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chromogranine</a:t>
                      </a:r>
                      <a:endParaRPr lang="x-none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538032"/>
                  </a:ext>
                </a:extLst>
              </a:tr>
              <a:tr h="1133195">
                <a:tc>
                  <a:txBody>
                    <a:bodyPr/>
                    <a:lstStyle/>
                    <a:p>
                      <a:r>
                        <a:rPr lang="fr-FR" sz="2000" b="1" i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Neurologiques :</a:t>
                      </a:r>
                      <a:r>
                        <a:rPr lang="fr-FR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Vagotomie, Neuropathie viscérales, dysautonomies (diabète, amylose)</a:t>
                      </a:r>
                      <a:endParaRPr lang="x-none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Anamnèse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hypotension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orthost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., examen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neurologique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glycémie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…</a:t>
                      </a:r>
                      <a:endParaRPr lang="x-none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34995"/>
                  </a:ext>
                </a:extLst>
              </a:tr>
              <a:tr h="804203">
                <a:tc>
                  <a:txBody>
                    <a:bodyPr/>
                    <a:lstStyle/>
                    <a:p>
                      <a:r>
                        <a:rPr lang="fr-FR" sz="2000" b="1" i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Anatomiques :</a:t>
                      </a:r>
                      <a:r>
                        <a:rPr lang="fr-FR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Résections iléales (Courtes &lt; 80 cm) et autres maladies iléales distales</a:t>
                      </a:r>
                      <a:endParaRPr lang="x-none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Anamnèse, examens morphologiques</a:t>
                      </a:r>
                      <a:endParaRPr lang="x-none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57020"/>
                  </a:ext>
                </a:extLst>
              </a:tr>
              <a:tr h="804203">
                <a:tc>
                  <a:txBody>
                    <a:bodyPr/>
                    <a:lstStyle/>
                    <a:p>
                      <a:r>
                        <a:rPr lang="fr-FR" sz="2000" b="1" i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Diarrhée motrice idiopathique: SII </a:t>
                      </a:r>
                      <a:r>
                        <a:rPr lang="fr-FR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(&gt; 80 % )</a:t>
                      </a:r>
                      <a:endParaRPr lang="x-none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Contexte de troubles fonctionnels digestifs, élimination des autres causes</a:t>
                      </a:r>
                      <a:endParaRPr lang="x-none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561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9235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33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Concernant les colites microscopiques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 sont responsables d’une diarrhée par 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 le plan biologique on peut retrouver une hypokaliémie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diagnostic se fait sur les biopsies coliques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 sont suspectées devant une diarrhée avec coloscopie normale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Peuvent donner une diarrhée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glairo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-sanglante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7246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33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Concernant les colites microscopiques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 sont responsables d’une diarrhée par 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 le plan biologique on peut retrouver une hypokaliémie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diagnostic se fait sur les biopsies coliques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 sont suspectées devant une diarrhée avec coloscopie normale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Peuvent donner une diarrhée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glairo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-sanglante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49660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4" y="1916832"/>
            <a:ext cx="10233148" cy="4392488"/>
          </a:xfrm>
        </p:spPr>
        <p:txBody>
          <a:bodyPr>
            <a:noAutofit/>
          </a:bodyPr>
          <a:lstStyle/>
          <a:p>
            <a:pPr lvl="0"/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patient âgé de 50 ans consulte pour une diarrhée liquidienne évoluant depuis 6 mois. </a:t>
            </a:r>
            <a:endParaRPr lang="fr-T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coloscopie montre une muqueuse colique et iléale normale.</a:t>
            </a:r>
            <a:endParaRPr lang="fr-T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endoscopiste</a:t>
            </a: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décide de faire des biopsies coliques étagées systématiques pour rechercher ?</a:t>
            </a:r>
            <a:endParaRPr lang="fr-T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Une colite inflammatoire</a:t>
            </a:r>
            <a:endParaRPr lang="fr-T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colite lymphocytaire</a:t>
            </a:r>
            <a:endParaRPr lang="fr-T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Une colite collagène </a:t>
            </a:r>
            <a:endParaRPr lang="fr-T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Une colite microscopique</a:t>
            </a:r>
            <a:endParaRPr lang="fr-T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 néoplasie colique</a:t>
            </a:r>
            <a:endParaRPr lang="x-none" sz="2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4842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8B5A-6082-DBEC-D6A3-202497C03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C47080-6E41-9DB3-F6AE-B535356D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99206-C01F-0106-EB33-08022A732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4" y="1916832"/>
            <a:ext cx="10233148" cy="4392488"/>
          </a:xfrm>
        </p:spPr>
        <p:txBody>
          <a:bodyPr>
            <a:noAutofit/>
          </a:bodyPr>
          <a:lstStyle/>
          <a:p>
            <a:pPr lvl="0"/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patient âgé de 50 ans consulte pour une diarrhée liquidienne évoluant depuis 6 mois. </a:t>
            </a:r>
            <a:endParaRPr lang="fr-T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coloscopie montre une muqueuse colique et iléale normale.</a:t>
            </a:r>
            <a:endParaRPr lang="fr-T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endoscopiste</a:t>
            </a: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décide de faire des biopsies coliques étagées systématiques pour rechercher ?</a:t>
            </a:r>
            <a:endParaRPr lang="fr-T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Une colite inflammatoire</a:t>
            </a:r>
            <a:endParaRPr lang="fr-T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colite lymphocytaire</a:t>
            </a:r>
            <a:endParaRPr lang="fr-TN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colite collagène </a:t>
            </a:r>
            <a:endParaRPr lang="fr-TN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colite microscopique</a:t>
            </a:r>
            <a:endParaRPr lang="fr-TN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 néoplasie colique</a:t>
            </a:r>
            <a:endParaRPr lang="x-none" sz="2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4995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35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2856"/>
            <a:ext cx="10058400" cy="4032448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Concernant la Recto colite hémorragique (RCH)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peut atteindre tous les segments du tube digestif de la bouche à l’anus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L’atteinte endoscopique est discontinue avec des intervalles de muqueuses saines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L’atteinte endoscopique est continue commençant dès la jonction anorectale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une ligne de démarcation nette entre la muqueuse saine et pathologique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est responsable d’un diarrhée sécrétoire lésionnelle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20485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35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2132856"/>
            <a:ext cx="9729092" cy="4032448"/>
          </a:xfrm>
        </p:spPr>
        <p:txBody>
          <a:bodyPr>
            <a:normAutofit fontScale="92500"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Concernant la Recto colite hémorragique (RCH)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peut atteindre tous les segments du tube digestif de la bouche à l’anus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L’atteinte endoscopique est discontinue avec des intervalles de muqueuses saines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L’atteinte endoscopique est continue commençant dès la jonction anorectale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une ligne de démarcation nette entre la muqueuse saine et pathologique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est responsable d’un diarrhée sécrétoire lésionnelle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981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36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2856"/>
            <a:ext cx="10058400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4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évoque une RCH chez un patient ayant des émissions </a:t>
            </a:r>
            <a:r>
              <a:rPr lang="fr-FR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glairosanglantes</a:t>
            </a: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chroniques devant: 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L’âge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jeune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d’une sacro-iléite associée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L’altération profonde de l’état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d’ulcérations fissuraires coliques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L’atteinte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constante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rectum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2287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36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2856"/>
            <a:ext cx="10058400" cy="3960440"/>
          </a:xfrm>
        </p:spPr>
        <p:txBody>
          <a:bodyPr>
            <a:normAutofit/>
          </a:bodyPr>
          <a:lstStyle/>
          <a:p>
            <a:pPr marL="0" lvl="0" indent="0">
              <a:lnSpc>
                <a:spcPct val="104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évoque une RCH chez un patient ayant des émissions </a:t>
            </a:r>
            <a:r>
              <a:rPr lang="fr-FR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glairosanglantes</a:t>
            </a: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chroniques devant: 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L’âge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jeune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d’une </a:t>
            </a:r>
            <a:r>
              <a:rPr lang="fr-FR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sacroiléite</a:t>
            </a: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associée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L’altération profonde de l’état général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d’ulcérations fissuraires coliques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L’atteinte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constante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rectum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4000"/>
              </a:lnSpc>
              <a:spcAft>
                <a:spcPts val="510"/>
              </a:spcAft>
              <a:buFont typeface="+mj-lt"/>
              <a:buAutoNum type="alphaUcPeriod"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52532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37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Concernant la maladie de </a:t>
            </a:r>
            <a:r>
              <a:rPr lang="fr-FR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une susceptibilité génétique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tabagisme est un facteur protecteur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 lésions endoscopiques ont un caractère discontinu et multi-segmentaire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l’histologie on peut retrouver un granulome giganto-cellulaire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L’inflammation ne touche que la muqueuse et la sous muqueuse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01377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37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Concernant la maladie de </a:t>
            </a:r>
            <a:r>
              <a:rPr lang="fr-FR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existe une susceptibilité génétique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tabagisme est un facteur protecteur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 lésions endoscopiques ont un caractère discontinu et multi-segmentaire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l’histologie on peut retrouver un granulome giganto-cellulaire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L’inflammation ne touche que la muqueuse et la sous muqueuse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9807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3809984" y="1428736"/>
            <a:ext cx="4286280" cy="4810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r>
              <a:rPr kumimoji="0" lang="fr-FR" sz="2800" b="1" i="1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Diarrhée sécrétoire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2755" y="2214554"/>
            <a:ext cx="4381531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Avec </a:t>
            </a:r>
          </a:p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lésions intestinales macroscopiques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14" y="2143116"/>
            <a:ext cx="3881464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Sans </a:t>
            </a:r>
          </a:p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lésions intestinales macroscopiques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462" y="3571876"/>
            <a:ext cx="4572031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Colites microscopiques </a:t>
            </a:r>
          </a:p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Médicaments</a:t>
            </a:r>
          </a:p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Parasitose </a:t>
            </a:r>
          </a:p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Tumeurs endocrines: les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Vipomes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et les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mastocystoses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77003" y="3643314"/>
            <a:ext cx="5048285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Cancers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rectocoliques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MICI</a:t>
            </a:r>
          </a:p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Entérocolites infectieuses,</a:t>
            </a:r>
          </a:p>
          <a:p>
            <a:pPr algn="ctr"/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radiques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ou ischémiques</a:t>
            </a:r>
          </a:p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les colites des laxatifs</a:t>
            </a:r>
          </a:p>
        </p:txBody>
      </p:sp>
      <p:cxnSp>
        <p:nvCxnSpPr>
          <p:cNvPr id="11" name="Connecteur droit avec flèche 10"/>
          <p:cNvCxnSpPr>
            <a:stCxn id="5" idx="2"/>
            <a:endCxn id="6" idx="0"/>
          </p:cNvCxnSpPr>
          <p:nvPr/>
        </p:nvCxnSpPr>
        <p:spPr>
          <a:xfrm rot="16200000" flipH="1">
            <a:off x="7300922" y="561955"/>
            <a:ext cx="304800" cy="30003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stCxn id="5" idx="2"/>
            <a:endCxn id="7" idx="0"/>
          </p:cNvCxnSpPr>
          <p:nvPr/>
        </p:nvCxnSpPr>
        <p:spPr>
          <a:xfrm rot="5400000">
            <a:off x="4258854" y="448846"/>
            <a:ext cx="233362" cy="31551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4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Colites microscopiques </a:t>
            </a:r>
            <a:br>
              <a:rPr lang="fr-FR" sz="4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fr-FR" sz="4000" b="1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09654" y="1916832"/>
            <a:ext cx="10615610" cy="4248472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fr-FR" sz="24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La colite collagène et la colite lymphocytaire </a:t>
            </a:r>
            <a:endParaRPr lang="fr-FR" dirty="0">
              <a:solidFill>
                <a:srgbClr val="7030A0"/>
              </a:solidFill>
            </a:endParaRP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Femmes &gt; 50 ans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MAI ou maladies inflammatoires:  dans 50 % des cas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Origine médicamenteuse (réversibles à l’arrêt); Idiopathique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Tableau clinique:  diarrhée chronique sécrétoire+/- amaigrissement 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Biologie:  hypokaliémie </a:t>
            </a:r>
          </a:p>
          <a:p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Coloscopie + biopsies systématiques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le diagnostic est histologique</a:t>
            </a:r>
          </a:p>
          <a:p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Colite lymphocytaire: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infiltrat inflammatoire intra-épithélial prononcé (25L/100CE). </a:t>
            </a:r>
          </a:p>
          <a:p>
            <a:pPr>
              <a:buFont typeface="Wingdings" pitchFamily="2" charset="2"/>
              <a:buChar char="v"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Colite collagène: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dépôts de collagène en bande sous la membrane basale, d’une épaisseur &gt;10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μm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RCH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0989" y="1576360"/>
            <a:ext cx="6105529" cy="2857520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fr-FR" sz="33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Endoscopie </a:t>
            </a:r>
          </a:p>
          <a:p>
            <a:r>
              <a:rPr lang="fr-FR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Atteinte constante du </a:t>
            </a:r>
            <a:r>
              <a:rPr lang="fr-FR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retum</a:t>
            </a:r>
            <a:endParaRPr lang="fr-FR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fr-FR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Atteinte continue, commençant dès la jonction </a:t>
            </a:r>
            <a:r>
              <a:rPr lang="fr-FR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ano</a:t>
            </a:r>
            <a:r>
              <a:rPr lang="fr-FR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-rectale, s’étendant plus ou moins loin vers l’amont </a:t>
            </a:r>
          </a:p>
          <a:p>
            <a:r>
              <a:rPr lang="fr-FR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Interruption de façon assez brusque (ligne de démarcation nette)  </a:t>
            </a:r>
          </a:p>
          <a:p>
            <a:r>
              <a:rPr lang="fr-FR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Respecte le grêle. </a:t>
            </a:r>
          </a:p>
          <a:p>
            <a:endParaRPr lang="fr-FR" dirty="0"/>
          </a:p>
        </p:txBody>
      </p:sp>
      <p:pic>
        <p:nvPicPr>
          <p:cNvPr id="4" name="Image 3" descr="crohns_vs_rectocolite.jpg"/>
          <p:cNvPicPr>
            <a:picLocks noChangeAspect="1"/>
          </p:cNvPicPr>
          <p:nvPr/>
        </p:nvPicPr>
        <p:blipFill>
          <a:blip r:embed="rId2"/>
          <a:srcRect l="51563"/>
          <a:stretch>
            <a:fillRect/>
          </a:stretch>
        </p:blipFill>
        <p:spPr>
          <a:xfrm>
            <a:off x="9429774" y="3643315"/>
            <a:ext cx="2571725" cy="2835203"/>
          </a:xfrm>
          <a:prstGeom prst="rect">
            <a:avLst/>
          </a:prstGeom>
        </p:spPr>
      </p:pic>
      <p:pic>
        <p:nvPicPr>
          <p:cNvPr id="7" name="Image 6" descr="col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71" y="785795"/>
            <a:ext cx="2743200" cy="2219325"/>
          </a:xfrm>
          <a:prstGeom prst="rect">
            <a:avLst/>
          </a:prstGeom>
        </p:spPr>
      </p:pic>
      <p:pic>
        <p:nvPicPr>
          <p:cNvPr id="6" name="Image 5" descr="colite_modere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554" y="4071942"/>
            <a:ext cx="4140174" cy="2376490"/>
          </a:xfrm>
          <a:prstGeom prst="rect">
            <a:avLst/>
          </a:prstGeom>
        </p:spPr>
      </p:pic>
      <p:sp>
        <p:nvSpPr>
          <p:cNvPr id="8" name="Espace réservé du contenu 2"/>
          <p:cNvSpPr txBox="1">
            <a:spLocks/>
          </p:cNvSpPr>
          <p:nvPr/>
        </p:nvSpPr>
        <p:spPr>
          <a:xfrm>
            <a:off x="428596" y="4214818"/>
            <a:ext cx="4786346" cy="228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La muqueuse:  rouge, granitée, fragile, saignant au contact.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+/- ulcérations de taille et de forme variées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Forme sévère: ulcères profonds mettant à nu la musculeuse, ulcères en puits.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Char char=""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Maladie de </a:t>
            </a:r>
            <a:r>
              <a:rPr lang="fr-FR" sz="40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Crohn</a:t>
            </a:r>
            <a:r>
              <a:rPr lang="fr-FR" sz="4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04493" y="1871189"/>
            <a:ext cx="9043974" cy="21383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MICI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Survient à tout âge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Pic de fréquence: 20-30 ans.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Etiopathogénie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inconnue;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Mulifactorielle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tabac, hérédité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 descr="gr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63" y="3429000"/>
            <a:ext cx="3110405" cy="27146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81092" y="4143380"/>
            <a:ext cx="65722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Touche tous les segments du tube digestif </a:t>
            </a:r>
          </a:p>
          <a:p>
            <a:pPr algn="ctr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(bouche </a:t>
            </a:r>
            <a:r>
              <a:rPr lang="fr-FR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anus)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Maladie de </a:t>
            </a:r>
            <a:r>
              <a:rPr lang="fr-FR" sz="40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Crohn</a:t>
            </a:r>
            <a:r>
              <a:rPr lang="fr-FR" sz="40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6712" y="1928802"/>
            <a:ext cx="8343920" cy="3286148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Atteinte iléo-caecale ou iléo colique droite: les plus fréquentes 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Atteinte segmentaire asymétriques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Localisations séparées par des zones saines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Ulcérations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aphtoïdes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les ulcérations en carte de géographique et en rails. </a:t>
            </a:r>
          </a:p>
          <a:p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Anapath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: Distorsions glandulaires, Infiltration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lympho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-plasmocytaire du chorion muqueux, Fissures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transmurales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granulome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épithélioïde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et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gigantocellulaire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mage 3" descr="crohns_vs_rectocolite.jpg"/>
          <p:cNvPicPr>
            <a:picLocks noChangeAspect="1"/>
          </p:cNvPicPr>
          <p:nvPr/>
        </p:nvPicPr>
        <p:blipFill>
          <a:blip r:embed="rId2"/>
          <a:srcRect r="51563"/>
          <a:stretch>
            <a:fillRect/>
          </a:stretch>
        </p:blipFill>
        <p:spPr>
          <a:xfrm>
            <a:off x="9382148" y="1714488"/>
            <a:ext cx="2571768" cy="2835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81092" y="1571612"/>
            <a:ext cx="17145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Endoscopie</a:t>
            </a:r>
            <a:endParaRPr lang="fr-FR" sz="2400" dirty="0"/>
          </a:p>
        </p:txBody>
      </p:sp>
      <p:pic>
        <p:nvPicPr>
          <p:cNvPr id="6" name="Image 5" descr="ileoscopie_croh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3968" y="4714884"/>
            <a:ext cx="3714776" cy="201736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48" y="5143512"/>
            <a:ext cx="4143404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Faire des biopsies en zones pathologiques + zones saines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903819D4-3468-7EDD-1A7E-90408027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 5</a:t>
            </a:r>
            <a:endParaRPr lang="x-none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89F2317-8210-B1FB-6BFC-54EB96D15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7528" y="4711299"/>
            <a:ext cx="8915399" cy="1339031"/>
          </a:xfrm>
        </p:spPr>
        <p:txBody>
          <a:bodyPr>
            <a:normAutofit/>
          </a:bodyPr>
          <a:lstStyle/>
          <a:p>
            <a:pPr algn="ctr"/>
            <a:r>
              <a:rPr lang="fr-FR" sz="32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Évaluer le retentissement d’une diarrhée chronique</a:t>
            </a:r>
            <a:endParaRPr lang="fr-FR" sz="40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42996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tétanie chez un patient ayant une diarrhée chronique est en rapport avec une carence en 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Fer et Vitamine B12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Vitamine K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Calcium et/ou Magnésium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Vitamine A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Zinc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059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56D81-5792-0FE8-7A74-07053372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529DDC-D8AA-1694-E980-4CA75B88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B1A69E-6810-8A4F-9189-6C5653F9F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tétanie chez un patient ayant une diarrhée chronique est en rapport avec une carence en 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Fer et Vitamine B12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Vitamine K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Calcium et/ou Magnésium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Vitamine A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Zinc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87859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27D35-E4A3-EDDF-9988-CF581CAD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D707B-1C2A-DAFA-35DF-00F6482A7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FFEA64-E666-E8F8-6857-3BE0EF671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syndrome hémorragique (ecchymoses, saignements) chez un patient ayant une diarrhée chronique est secondaire à une carence en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Vitamine C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Vitamine B1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Vitamine K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Vitamine D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Fer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76503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74C77-697D-B36F-0BDD-EC6E36B07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CD8961-2469-6345-CF32-4F2D3485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39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44ACDF-35D8-7332-0EEC-754D1B810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syndrome hémorragique (ecchymoses, saignements) chez un patient ayant une diarrhée chronique est secondaire à une carence en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Vitamine C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Vitamine B1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Vitamine K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Vitamine D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Fer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02537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07DE-FE90-9C7D-F93F-B68EF684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089206-026D-2523-8021-0B422BE17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879310-4E32-784B-A87F-B15D00B82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ostéomalacie avec douleurs osseuses et fractures pathologiques est une complication d'une malabsorption chronique de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Vitamine D et Calcium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Vitamine B12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Protéines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Fer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Vitamine A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51164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4456-6D77-9CF0-1997-4E09FD1D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4B125-125A-C601-AE1B-A07FB111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CF5EE9-36F2-A563-BC15-B0912A121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ostéomalacie avec douleurs osseuses et fractures pathologiques est une complication d'une malabsorption chronique de :</a:t>
            </a:r>
            <a:endParaRPr lang="fr-T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Vitamine D et Calcium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Vitamine B12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Protéines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Fer</a:t>
            </a:r>
            <a:b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Vitamine A</a:t>
            </a:r>
            <a:endParaRPr lang="fr-T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43685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195725-5B99-33D0-AE5C-6ACAABD4C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36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RETENTISSEMENT DE LA DIARRHEE CHRONIQUE</a:t>
            </a:r>
            <a:endParaRPr lang="x-non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F02FD-CF78-2DD4-F577-1BF4E6AC8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2" y="2133600"/>
            <a:ext cx="9801100" cy="3743672"/>
          </a:xfrm>
        </p:spPr>
        <p:txBody>
          <a:bodyPr>
            <a:normAutofit/>
          </a:bodyPr>
          <a:lstStyle/>
          <a:p>
            <a:r>
              <a:rPr lang="fr-FR" sz="2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Retentissement hydroélectrolytique :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signes de déshydratation, hypokaliémie </a:t>
            </a:r>
          </a:p>
          <a:p>
            <a:r>
              <a:rPr lang="fr-FR" sz="2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Retentissement lié au syndrome de malabsorption: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Dénutrition sévère : amaigrissement, amyotrophie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Œdèmes ou anasarque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Douleurs osseuses en rapport avec une ostéomalacie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Crises de tétanie ou spasmophilie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Troubles visuels à type d’héméralopie </a:t>
            </a:r>
          </a:p>
        </p:txBody>
      </p:sp>
    </p:spTree>
    <p:extLst>
      <p:ext uri="{BB962C8B-B14F-4D97-AF65-F5344CB8AC3E}">
        <p14:creationId xmlns:p14="http://schemas.microsoft.com/office/powerpoint/2010/main" val="3804901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195725-5B99-33D0-AE5C-6ACAABD4C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RETENTISSEMENT DE LA DIARRHEE CHRONIQUE</a:t>
            </a:r>
            <a:endParaRPr lang="x-none" sz="3200" b="1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F02FD-CF78-2DD4-F577-1BF4E6AC8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3600"/>
            <a:ext cx="10058400" cy="3959696"/>
          </a:xfrm>
        </p:spPr>
        <p:txBody>
          <a:bodyPr>
            <a:normAutofit/>
          </a:bodyPr>
          <a:lstStyle/>
          <a:p>
            <a:r>
              <a:rPr lang="fr-FR" sz="2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Retentissement lié au syndrome de malabsorption: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Aménorrhée, stérilité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Syndrome anémique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Glossite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Troubles neurologiques : neuropathie périphérique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Syndrome médullaire par sclérose combinée de la moelle (carence en vitamine B12)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Syndrome hémorragique</a:t>
            </a:r>
          </a:p>
        </p:txBody>
      </p:sp>
      <p:pic>
        <p:nvPicPr>
          <p:cNvPr id="5130" name="Picture 10" descr="Glossite : Définition, symptômes, traitements - Santé sur le Net">
            <a:extLst>
              <a:ext uri="{FF2B5EF4-FFF2-40B4-BE49-F238E27FC236}">
                <a16:creationId xmlns:a16="http://schemas.microsoft.com/office/drawing/2014/main" id="{84D56EA5-C4A2-B97B-DB4C-BFB7188CF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12" y="2155723"/>
            <a:ext cx="2857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64671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195725-5B99-33D0-AE5C-6ACAABD4C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RETENTISSEMENT DE LA DIARRHEE CHRONIQUE</a:t>
            </a:r>
            <a:endParaRPr lang="x-none" sz="3200" b="1" i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F02FD-CF78-2DD4-F577-1BF4E6AC8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2060848"/>
            <a:ext cx="6480720" cy="3744416"/>
          </a:xfrm>
        </p:spPr>
        <p:txBody>
          <a:bodyPr>
            <a:normAutofit/>
          </a:bodyPr>
          <a:lstStyle/>
          <a:p>
            <a:r>
              <a:rPr lang="fr-FR" sz="2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Retentissement lié au syndrome de malabsorption: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Pellagre associant dermatose diarrhée et démence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Altération de la peau et des phanères : acrodermatite </a:t>
            </a:r>
            <a:r>
              <a:rPr lang="fr-F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koilonychie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perlèche péribuccale (carence en fer);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Anomalies dentaires : fragilité dentaire liée à une parodontose, caries dentaires (carence en vitamine D)</a:t>
            </a:r>
            <a:endParaRPr lang="x-none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Global Dermatology » Pellagre">
            <a:extLst>
              <a:ext uri="{FF2B5EF4-FFF2-40B4-BE49-F238E27FC236}">
                <a16:creationId xmlns:a16="http://schemas.microsoft.com/office/drawing/2014/main" id="{C009373D-C829-05F7-8D73-343C4D811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1737360"/>
            <a:ext cx="3387194" cy="195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mage: Koïlonychie - Manuels MSD pour le grand public">
            <a:extLst>
              <a:ext uri="{FF2B5EF4-FFF2-40B4-BE49-F238E27FC236}">
                <a16:creationId xmlns:a16="http://schemas.microsoft.com/office/drawing/2014/main" id="{3B3DC339-3B54-746F-E13C-C832D59BE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620" y="4090022"/>
            <a:ext cx="3244686" cy="236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95291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903819D4-3468-7EDD-1A7E-90408027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cliniques</a:t>
            </a:r>
            <a:endParaRPr lang="x-none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25991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1905000"/>
            <a:ext cx="10058400" cy="4332312"/>
          </a:xfrm>
        </p:spPr>
        <p:txBody>
          <a:bodyPr>
            <a:normAutofit fontScale="92500"/>
          </a:bodyPr>
          <a:lstStyle/>
          <a:p>
            <a:pPr>
              <a:lnSpc>
                <a:spcPct val="107000"/>
              </a:lnSpc>
              <a:spcAft>
                <a:spcPts val="350"/>
              </a:spcAft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patiente âgée de 25ans, sans antécédents pathologiques familiaux ou personnels notables, consulte pour une diarrhée faite de 5 à 6 selles /24h diurnes et nocturnes, luisantes et collant à la cuvette, évoluant depuis 6 mois , associée à un amaigrissement de 5 kg .Il n’y a pas de notion de prise médicamenteuse </a:t>
            </a:r>
          </a:p>
          <a:p>
            <a:pPr>
              <a:lnSpc>
                <a:spcPct val="107000"/>
              </a:lnSpc>
              <a:spcAft>
                <a:spcPts val="350"/>
              </a:spcAft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l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’examen physique, la  patiente est pâle ,les ongles sont mous et cassants, l’indice de masse corporelle est de 18 kg/m2 . Le reste de l’ examen physique est sans particularités </a:t>
            </a:r>
          </a:p>
          <a:p>
            <a:pPr>
              <a:lnSpc>
                <a:spcPct val="107000"/>
              </a:lnSpc>
              <a:spcAft>
                <a:spcPts val="350"/>
              </a:spcAft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la biologie :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=9g/dl , VGM=70µ3 , TCMH=25pg, GB=8500 /mm 3, plaquette=200 000 /mm3, CRP=5mg/l, Albumine=30g/l, TP=65%,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calcémie=2mmol/l ; cholestérolémie = 3mmol/l (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entre 3,7 et6,2). </a:t>
            </a:r>
          </a:p>
          <a:p>
            <a:pPr>
              <a:lnSpc>
                <a:spcPct val="107000"/>
              </a:lnSpc>
              <a:spcAft>
                <a:spcPts val="350"/>
              </a:spcAft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stéatorrhée est à 18g/24h.</a:t>
            </a:r>
          </a:p>
        </p:txBody>
      </p:sp>
    </p:spTree>
    <p:extLst>
      <p:ext uri="{BB962C8B-B14F-4D97-AF65-F5344CB8AC3E}">
        <p14:creationId xmlns:p14="http://schemas.microsoft.com/office/powerpoint/2010/main" val="423863454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AC86-0EF9-2CB8-6A24-CAC4FACBD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A7AE64-4A0B-E433-0EC6-92DFC489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535FDE-AE0C-07BB-84D7-987BB223F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1905000"/>
            <a:ext cx="10058400" cy="321564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350"/>
              </a:spcAft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EOGD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biopsies duodénales est réalisée. </a:t>
            </a:r>
          </a:p>
          <a:p>
            <a:pPr>
              <a:lnSpc>
                <a:spcPct val="107000"/>
              </a:lnSpc>
              <a:spcAft>
                <a:spcPts val="350"/>
              </a:spcAft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l'examen histologique, une atrophie villositaire subtotale est associée à une hyperplasie des cryptes. Les lymphocytes intra-épithéliaux sont nombreux et le chorion est occupé par des lymphocytes, plasmocytes et polynucléaires éosinophiles. Une hyperplasie des glandes de Brunner est observée.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00237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15000"/>
              </a:lnSpc>
              <a:spcAft>
                <a:spcPts val="445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 éléments qui vous permettent de retenir le diagnostic d’une diarrhée chronique: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 à 6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selles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/24h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Evolution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depuis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mois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Hémoglobine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9g /dl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TP = 65%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Albumine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=30 g/l</a:t>
            </a:r>
            <a:endParaRPr lang="x-none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615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2132856"/>
            <a:ext cx="9729092" cy="3777622"/>
          </a:xfrm>
        </p:spPr>
        <p:txBody>
          <a:bodyPr>
            <a:noAutofit/>
          </a:bodyPr>
          <a:lstStyle/>
          <a:p>
            <a:pPr marL="0" lvl="0" indent="0">
              <a:lnSpc>
                <a:spcPct val="115000"/>
              </a:lnSpc>
              <a:spcAft>
                <a:spcPts val="445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 éléments qui vous permettent de retenir le diagnostic d’une diarrhée chronique: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 à 6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selles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/24h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Evolution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depuis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mois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Hémoglobine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9g /dl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TP = 65%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Albumine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=30 g/l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99858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445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 serait le mécanisme de la diarrhée chez cette patiente ?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Malabsorption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Motrice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Volumogénique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Osmotique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Sécrétoire</a:t>
            </a:r>
            <a:endParaRPr lang="x-none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47221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445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 serait le mécanisme de la diarrhée chez cette patiente ?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Malabsorption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Motrice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Volumogénique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Osmotique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Sécrétoire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49177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43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445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premier diagnostic à évoquer devant ce tableau clinique est une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Crohn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Whipple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Lymphome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grêle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Giardiase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cœliaque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5817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43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445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premier diagnostic à évoquer devant ce tableau clinique est une 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Crohn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Whipple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Lymphome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grêle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Giardiase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cœliaque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1616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410103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femme âgée de 35 ans qui consulte pour une diarrhée </a:t>
            </a:r>
            <a:r>
              <a:rPr lang="fr-FR" sz="2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glairosanglante</a:t>
            </a:r>
            <a:r>
              <a:rPr lang="fr-FR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raison de 8 selles par jour évoluant depuis deux mois, associée à des douleurs abdominales et à  des arthralgies. 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L’examen physique montre une fièvre à 37°, 8 , un pouls à 96/min, une tension artérielle à  10/5 et des œdèmes des membres inférieurs gardant le godet. 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L’examen abdominal montre une douleur à la palpation de deux flancs. 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bilan biologique montre un taux d’hémoglobine à 9g/dl, une vitesse de sédimentation  à  70 mm (première heure), une hyperleucocytose à 12.000/mm³ et une CRP à 120 mg/L (N&lt;  6 mg/L). L’ASP ne montre pas d’anomalies.</a:t>
            </a:r>
            <a:endParaRPr lang="x-none" sz="2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42718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445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 diagnostics à évoquer chez cette malade sont: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colite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infectieuse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RCH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maladie de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colique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hémorroïdaire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tumeur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68983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445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 diagnostics à évoquer chez cette malade sont: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colite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infectieuse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RCH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maladie de </a:t>
            </a:r>
            <a:r>
              <a:rPr lang="fr-FR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colique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hémorroïdaire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tumeur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colique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264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45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15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premier examen complémentaire à demander devant ce tableau pour étayer  le diagnostic est : 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scanner abdominal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coloscopie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fibroscopie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digestive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L’examen copro parasitologique des selles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L’échographie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abdominale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05704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45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15000"/>
              </a:lnSpc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premier examen complémentaire à demander devant ce tableau pour étayer  le diagnostic est : 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scanner abdominal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coloscopie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fibroscopie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digestive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L’examen copro parasitologique des selles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L’échographie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abdominale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445"/>
              </a:spcAft>
              <a:buFont typeface="+mj-lt"/>
              <a:buAutoNum type="alphaUcPeriod"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33034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46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buSzPts val="1200"/>
              <a:buNone/>
            </a:pPr>
            <a:r>
              <a:rPr lang="fr-FR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mécanisme probable des œdèmes des membres inférieurs chez cette malade est: </a:t>
            </a:r>
            <a:endParaRPr lang="x-none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malabsorption </a:t>
            </a: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fuite urinaire des </a:t>
            </a:r>
            <a:r>
              <a:rPr lang="fr-FR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proteins</a:t>
            </a: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entéropathie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exsudative</a:t>
            </a: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manque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d’apport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fistule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digestive </a:t>
            </a: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381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46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buSzPts val="1200"/>
              <a:buNone/>
            </a:pPr>
            <a:r>
              <a:rPr lang="fr-FR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mécanisme probable des œdèmes des membres inférieurs chez cette malade est: </a:t>
            </a:r>
            <a:endParaRPr lang="x-none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malabsorption </a:t>
            </a: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fuite urinaire des </a:t>
            </a:r>
            <a:r>
              <a:rPr lang="fr-FR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proteins</a:t>
            </a: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entéropathie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exsudative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manque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d’apport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fistule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digestive </a:t>
            </a: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30443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3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patient âgé de 65 ans ayant dans ses antécédents un diabète récent, consulte pour épigastralgie en barre irradiant vers dos évoluant depuis 6 mois associée à une diarrhée chronique graisseuse et à un amaigrissement de  6 kg.</a:t>
            </a:r>
            <a:endParaRPr lang="x-none" sz="2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22558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47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2132856"/>
            <a:ext cx="10058400" cy="3960440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Quels sont les examens biologiques qui confirme la malabsorption des graisses chez ce malade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stéatorrhée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L’élastase fécale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 de trou osmotique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lipasémie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amylasémie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81276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47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496" y="2132856"/>
            <a:ext cx="9945116" cy="4104456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Quels sont les examens biologiques qui confirme la malabsorption des graisses chez ce malade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stéatorrhée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L’élastase fécale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 de trou osmotique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lipasémie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amylasémie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5834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 est le mécanisme de la diarrhée chez ce malade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malabsorption par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maldigestion</a:t>
            </a: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des lipides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fuite urinaire des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proteins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entéropathie exsudative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manque d’apport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fistule digestive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02083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48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 est le mécanisme de la diarrhée chez ce malade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malabsorption par </a:t>
            </a:r>
            <a:r>
              <a:rPr lang="fr-FR" sz="24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maldigestion</a:t>
            </a: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des lipides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fuite urinaire des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proteins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entéropathie exsudative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manque d’apport 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fistule digestive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02083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 est le diagnostic le plus probable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Whipple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Lymphome du grêle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Giardiase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Adénocarcinome pancréatique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9194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49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3777622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510"/>
              </a:spcAft>
              <a:buSzPts val="1200"/>
              <a:buNone/>
            </a:pPr>
            <a:r>
              <a:rPr lang="fr-FR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 est le diagnostic le plus probable</a:t>
            </a:r>
            <a:endParaRPr lang="x-none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</a:t>
            </a: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Crohn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Whipple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Lymphome du grêle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Giardiase</a:t>
            </a:r>
            <a:endParaRPr lang="x-none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10"/>
              </a:spcAft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Adénocarcinome pancréatique</a:t>
            </a:r>
            <a:endParaRPr lang="x-none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445"/>
              </a:spcAft>
              <a:buNone/>
            </a:pPr>
            <a:endParaRPr lang="x-none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9194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</a:t>
            </a:r>
            <a:r>
              <a:rPr lang="fr-FR" sz="4000" b="1" i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clinique 4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132856"/>
            <a:ext cx="9297044" cy="4101034"/>
          </a:xfrm>
        </p:spPr>
        <p:txBody>
          <a:bodyPr>
            <a:noAutofit/>
          </a:bodyPr>
          <a:lstStyle/>
          <a:p>
            <a:r>
              <a:rPr lang="fr-F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Une femme de 55 ans sans antécédents pathologiques notable consulte pour des diarrhées aqueuses chroniques sans glaire ni sang évoluant depuis plusieurs mois à raison de 4 à 5 selles par jour, avec notion de perte de poids chiffré à 1 kg. La patiente rapporte une prise d'AINS pour des douleurs articulaires depuis 6 mois. </a:t>
            </a:r>
          </a:p>
          <a:p>
            <a:endParaRPr lang="fr-F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fr-F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À l'examen, il n'y a pas de fièvre, l'abdomen est souple et non douloureux. </a:t>
            </a:r>
          </a:p>
          <a:p>
            <a:endParaRPr lang="fr-F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fr-F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Les examens biologiques montrent une hypokaliémie à 3,1 </a:t>
            </a:r>
            <a:r>
              <a:rPr lang="fr-FR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mmol</a:t>
            </a:r>
            <a:r>
              <a:rPr lang="fr-F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/L, le reste du bilan est sans anomalies. Une coloscopie a été réalisée et qui était normale.</a:t>
            </a:r>
            <a:endParaRPr lang="x-none" sz="2000" dirty="0">
              <a:solidFill>
                <a:schemeClr val="tx1"/>
              </a:solidFill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83627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50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348" y="2000240"/>
            <a:ext cx="9297044" cy="402389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Quel est le diagnostic le plus probable 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Maladie de </a:t>
            </a:r>
            <a:r>
              <a:rPr lang="fr-F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Crohn</a:t>
            </a:r>
            <a:endParaRPr lang="fr-FR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Recto-colite hémorragique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Colite microscopique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Syndrome de l'intestin irritable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Colite ischémique</a:t>
            </a:r>
            <a:endParaRPr lang="x-none" sz="2400" dirty="0">
              <a:solidFill>
                <a:schemeClr val="tx1"/>
              </a:solidFill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75009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50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348" y="2000240"/>
            <a:ext cx="9297044" cy="402389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Quel est le diagnostic le plus probable 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Maladie de </a:t>
            </a:r>
            <a:r>
              <a:rPr lang="fr-F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Crohn</a:t>
            </a:r>
            <a:endParaRPr lang="fr-FR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Recto-colite hémorragique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Colite microscopique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Syndrome de l'intestin irritable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Colite ischémique</a:t>
            </a:r>
            <a:endParaRPr lang="x-none" sz="2400" dirty="0">
              <a:solidFill>
                <a:schemeClr val="tx1"/>
              </a:solidFill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75009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51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071678"/>
            <a:ext cx="9297044" cy="4309650"/>
          </a:xfrm>
        </p:spPr>
        <p:txBody>
          <a:bodyPr>
            <a:normAutofit fontScale="92500"/>
          </a:bodyPr>
          <a:lstStyle/>
          <a:p>
            <a:pPr lvl="0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Quel examen complémentaire est nécessaire pour confirmer le diagnostic 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Scanner abdominopelvien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Entero</a:t>
            </a: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-IRM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Manométrie </a:t>
            </a:r>
            <a:r>
              <a:rPr lang="fr-F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anorectale</a:t>
            </a:r>
            <a:endParaRPr lang="fr-FR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Biopsies coliques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Tests respiratoires au glucose</a:t>
            </a:r>
            <a:br>
              <a:rPr lang="fr-FR" dirty="0">
                <a:latin typeface="Times New Roman" pitchFamily="18" charset="0"/>
                <a:cs typeface="Times New Roman" pitchFamily="18" charset="0"/>
              </a:rPr>
            </a:br>
            <a:endParaRPr lang="fr-FR" sz="1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spcAft>
                <a:spcPts val="1825"/>
              </a:spcAft>
              <a:buSzPts val="1200"/>
              <a:buNone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43242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87830-9A04-1B93-89B4-A1DBD720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C420BF-306F-4EC5-D780-BB934E8A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51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3A0F08-4ECA-CEAE-97C9-A8D6461E0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071678"/>
            <a:ext cx="9297044" cy="4309650"/>
          </a:xfrm>
        </p:spPr>
        <p:txBody>
          <a:bodyPr>
            <a:normAutofit fontScale="92500"/>
          </a:bodyPr>
          <a:lstStyle/>
          <a:p>
            <a:pPr lvl="0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Quel examen complémentaire est nécessaire pour confirmer le diagnostic 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Scanner abdominopelvien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Entero</a:t>
            </a: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-IRM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Manométrie </a:t>
            </a:r>
            <a:r>
              <a:rPr lang="fr-FR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anorectale</a:t>
            </a:r>
            <a:endParaRPr lang="fr-FR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Biopsies coliques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Tests respiratoires au glucose</a:t>
            </a:r>
            <a:br>
              <a:rPr lang="fr-FR" dirty="0">
                <a:latin typeface="Times New Roman" pitchFamily="18" charset="0"/>
                <a:cs typeface="Times New Roman" pitchFamily="18" charset="0"/>
              </a:rPr>
            </a:br>
            <a:endParaRPr lang="fr-FR" sz="1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spcAft>
                <a:spcPts val="1825"/>
              </a:spcAft>
              <a:buSzPts val="1200"/>
              <a:buNone/>
            </a:pPr>
            <a:endParaRPr lang="x-none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65940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54A95-88E4-5678-37B0-A71D2C09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52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1AA194-AF7B-7151-6822-E70C1A9B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000240"/>
            <a:ext cx="9297044" cy="438108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Quel est le mécanisme le plus probable de cette diarrhée ?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Diarrhée osmotique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Diarrhée sécrétoire lésionnelle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Diarrhée sécrétoire non lésionnelle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Diarrhée par malabsorption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Diarrhée motrice</a:t>
            </a:r>
          </a:p>
        </p:txBody>
      </p:sp>
    </p:spTree>
    <p:extLst>
      <p:ext uri="{BB962C8B-B14F-4D97-AF65-F5344CB8AC3E}">
        <p14:creationId xmlns:p14="http://schemas.microsoft.com/office/powerpoint/2010/main" val="62821389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9FA8-68E1-92AF-CB15-F9230CFB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EE0BB0-D58B-DB1B-6806-405F4B09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52</a:t>
            </a:r>
            <a:endParaRPr lang="x-none" sz="4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A6163-E4B5-6EED-2CC3-28485678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568" y="2000240"/>
            <a:ext cx="9297044" cy="438108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Quel est le mécanisme le plus probable de cette diarrhée ?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Diarrhée osmotique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Diarrhée sécrétoire lésionnelle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Diarrhée sécrétoire non lésionnelle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Diarrhée par malabsorption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Diarrhée motrice</a:t>
            </a:r>
          </a:p>
        </p:txBody>
      </p:sp>
    </p:spTree>
    <p:extLst>
      <p:ext uri="{BB962C8B-B14F-4D97-AF65-F5344CB8AC3E}">
        <p14:creationId xmlns:p14="http://schemas.microsoft.com/office/powerpoint/2010/main" val="177930441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9974</TotalTime>
  <Words>6445</Words>
  <Application>Microsoft Office PowerPoint</Application>
  <PresentationFormat>Grand écran</PresentationFormat>
  <Paragraphs>832</Paragraphs>
  <Slides>140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140</vt:i4>
      </vt:variant>
    </vt:vector>
  </HeadingPairs>
  <TitlesOfParts>
    <vt:vector size="147" baseType="lpstr">
      <vt:lpstr>Calibri</vt:lpstr>
      <vt:lpstr>Calibri Light</vt:lpstr>
      <vt:lpstr>Courier New</vt:lpstr>
      <vt:lpstr>Times New Roman</vt:lpstr>
      <vt:lpstr>Wingdings</vt:lpstr>
      <vt:lpstr>Wingdings 3</vt:lpstr>
      <vt:lpstr>Rétrospective</vt:lpstr>
      <vt:lpstr>DIARRHEE CHRONIQUE  Pr Elhem Ben Jazia Dr Harbi Raida</vt:lpstr>
      <vt:lpstr>Objectif 1</vt:lpstr>
      <vt:lpstr>QCM 1</vt:lpstr>
      <vt:lpstr>QCM 1</vt:lpstr>
      <vt:lpstr>QCM 2</vt:lpstr>
      <vt:lpstr>QCM 2</vt:lpstr>
      <vt:lpstr>Définition de la diarrhée</vt:lpstr>
      <vt:lpstr>QCM 3</vt:lpstr>
      <vt:lpstr>QCM 3</vt:lpstr>
      <vt:lpstr>QCM 4</vt:lpstr>
      <vt:lpstr>QCM 4</vt:lpstr>
      <vt:lpstr>Les Fausses diarrhées</vt:lpstr>
      <vt:lpstr>Objectif 4</vt:lpstr>
      <vt:lpstr>QCM 5</vt:lpstr>
      <vt:lpstr>QCM 5</vt:lpstr>
      <vt:lpstr>QCM 6</vt:lpstr>
      <vt:lpstr>QCM 6</vt:lpstr>
      <vt:lpstr>QCM 7</vt:lpstr>
      <vt:lpstr>QCM 7</vt:lpstr>
      <vt:lpstr>QCM 8</vt:lpstr>
      <vt:lpstr>QCM 8</vt:lpstr>
      <vt:lpstr>QCM 9</vt:lpstr>
      <vt:lpstr>QCM 9</vt:lpstr>
      <vt:lpstr>QCM 10</vt:lpstr>
      <vt:lpstr>QCM 10</vt:lpstr>
      <vt:lpstr>QCM 11</vt:lpstr>
      <vt:lpstr>QCM 11</vt:lpstr>
      <vt:lpstr>Mécanismes physiopathologiques</vt:lpstr>
      <vt:lpstr>QCM 12</vt:lpstr>
      <vt:lpstr>QCM 12</vt:lpstr>
      <vt:lpstr>Présentation PowerPoint</vt:lpstr>
      <vt:lpstr>QCM 13</vt:lpstr>
      <vt:lpstr>QCM 13</vt:lpstr>
      <vt:lpstr>QCM 14</vt:lpstr>
      <vt:lpstr>QCM 14</vt:lpstr>
      <vt:lpstr>QCM 15</vt:lpstr>
      <vt:lpstr>QCM 15</vt:lpstr>
      <vt:lpstr>QCM 16</vt:lpstr>
      <vt:lpstr>QCM 16</vt:lpstr>
      <vt:lpstr>QCM 17</vt:lpstr>
      <vt:lpstr>QCM 17</vt:lpstr>
      <vt:lpstr>Exploration des diarrhées chroniques</vt:lpstr>
      <vt:lpstr>Examens biologiques de première intention </vt:lpstr>
      <vt:lpstr>Examen des selles en deuxième intention</vt:lpstr>
      <vt:lpstr>Présentation PowerPoint</vt:lpstr>
      <vt:lpstr>Dosages hormonaux</vt:lpstr>
      <vt:lpstr>Examens complémentaires morphologiques</vt:lpstr>
      <vt:lpstr>QCM 18</vt:lpstr>
      <vt:lpstr>QCM 18</vt:lpstr>
      <vt:lpstr>QCM 19</vt:lpstr>
      <vt:lpstr>QCM 19</vt:lpstr>
      <vt:lpstr>QCM 20</vt:lpstr>
      <vt:lpstr>QCM 20</vt:lpstr>
      <vt:lpstr>QCM 21</vt:lpstr>
      <vt:lpstr>QCM 21</vt:lpstr>
      <vt:lpstr>La maladie cœliaque</vt:lpstr>
      <vt:lpstr>Présentation PowerPoint</vt:lpstr>
      <vt:lpstr>Présentation PowerPoint</vt:lpstr>
      <vt:lpstr>Présentation PowerPoint</vt:lpstr>
      <vt:lpstr>QCM 22</vt:lpstr>
      <vt:lpstr>QCM 22</vt:lpstr>
      <vt:lpstr>QCM 23</vt:lpstr>
      <vt:lpstr>QCM 23</vt:lpstr>
      <vt:lpstr>QCM 24</vt:lpstr>
      <vt:lpstr>QCM 24</vt:lpstr>
      <vt:lpstr>QCM 25</vt:lpstr>
      <vt:lpstr>QCM 25</vt:lpstr>
      <vt:lpstr>QCM 26</vt:lpstr>
      <vt:lpstr>QCM 26</vt:lpstr>
      <vt:lpstr>Etiologies d’une colonisation bactérienne chronique de l’intestin</vt:lpstr>
      <vt:lpstr>Test respiratoire au glucose</vt:lpstr>
      <vt:lpstr>QCM 27</vt:lpstr>
      <vt:lpstr>QCM 27</vt:lpstr>
      <vt:lpstr>QCM 28</vt:lpstr>
      <vt:lpstr>QCM 28</vt:lpstr>
      <vt:lpstr>Diarrhée par malabsorption</vt:lpstr>
      <vt:lpstr>QCM 29</vt:lpstr>
      <vt:lpstr>QCM 29</vt:lpstr>
      <vt:lpstr>QCM 30</vt:lpstr>
      <vt:lpstr>QCM 30</vt:lpstr>
      <vt:lpstr>QCM 31</vt:lpstr>
      <vt:lpstr>QCM 31</vt:lpstr>
      <vt:lpstr>QCM 32</vt:lpstr>
      <vt:lpstr>QCM 32</vt:lpstr>
      <vt:lpstr>Diarrhée motrice</vt:lpstr>
      <vt:lpstr>QCM 33</vt:lpstr>
      <vt:lpstr>QCM 33</vt:lpstr>
      <vt:lpstr>QCM 34</vt:lpstr>
      <vt:lpstr>QCM 34</vt:lpstr>
      <vt:lpstr>QCM 35</vt:lpstr>
      <vt:lpstr>QCM 35</vt:lpstr>
      <vt:lpstr>QCM 36</vt:lpstr>
      <vt:lpstr>QCM 36</vt:lpstr>
      <vt:lpstr>QCM 37</vt:lpstr>
      <vt:lpstr>QCM 37</vt:lpstr>
      <vt:lpstr>Présentation PowerPoint</vt:lpstr>
      <vt:lpstr>Colites microscopiques  </vt:lpstr>
      <vt:lpstr>RCH</vt:lpstr>
      <vt:lpstr>Maladie de Crohn </vt:lpstr>
      <vt:lpstr>Maladie de Crohn </vt:lpstr>
      <vt:lpstr>Objectif 5</vt:lpstr>
      <vt:lpstr>QCM 38</vt:lpstr>
      <vt:lpstr>QCM 38</vt:lpstr>
      <vt:lpstr>QCM 39</vt:lpstr>
      <vt:lpstr>QCM 39</vt:lpstr>
      <vt:lpstr>QCM 40</vt:lpstr>
      <vt:lpstr>QCM 40</vt:lpstr>
      <vt:lpstr>RETENTISSEMENT DE LA DIARRHEE CHRONIQUE</vt:lpstr>
      <vt:lpstr>RETENTISSEMENT DE LA DIARRHEE CHRONIQUE</vt:lpstr>
      <vt:lpstr>RETENTISSEMENT DE LA DIARRHEE CHRONIQUE</vt:lpstr>
      <vt:lpstr>Cas cliniques</vt:lpstr>
      <vt:lpstr>Cas clinique 1</vt:lpstr>
      <vt:lpstr>Cas clinique 1</vt:lpstr>
      <vt:lpstr>QCM 41</vt:lpstr>
      <vt:lpstr>QCM 41</vt:lpstr>
      <vt:lpstr>QCM 42</vt:lpstr>
      <vt:lpstr>QCM 42</vt:lpstr>
      <vt:lpstr>QCM 43</vt:lpstr>
      <vt:lpstr>QCM 43</vt:lpstr>
      <vt:lpstr>Cas clinique 2</vt:lpstr>
      <vt:lpstr>QCM 44</vt:lpstr>
      <vt:lpstr>QCM 44</vt:lpstr>
      <vt:lpstr>QCM 45</vt:lpstr>
      <vt:lpstr>QCM 45</vt:lpstr>
      <vt:lpstr>QCM 46</vt:lpstr>
      <vt:lpstr>QCM 46</vt:lpstr>
      <vt:lpstr>Cas clinique 3</vt:lpstr>
      <vt:lpstr>QCM 47</vt:lpstr>
      <vt:lpstr>QCM 47</vt:lpstr>
      <vt:lpstr>QCM 48</vt:lpstr>
      <vt:lpstr>QCM 48</vt:lpstr>
      <vt:lpstr>QCM 49</vt:lpstr>
      <vt:lpstr>QCM 49</vt:lpstr>
      <vt:lpstr>Cas clinique 4</vt:lpstr>
      <vt:lpstr>QCM 50</vt:lpstr>
      <vt:lpstr>QCM 50</vt:lpstr>
      <vt:lpstr>QCM 51</vt:lpstr>
      <vt:lpstr>QCM 51</vt:lpstr>
      <vt:lpstr>QCM 52</vt:lpstr>
      <vt:lpstr>QCM 52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Ali</dc:creator>
  <cp:lastModifiedBy>raida harbi</cp:lastModifiedBy>
  <cp:revision>152</cp:revision>
  <dcterms:created xsi:type="dcterms:W3CDTF">2018-10-31T19:09:55Z</dcterms:created>
  <dcterms:modified xsi:type="dcterms:W3CDTF">2025-08-26T12:44:25Z</dcterms:modified>
</cp:coreProperties>
</file>
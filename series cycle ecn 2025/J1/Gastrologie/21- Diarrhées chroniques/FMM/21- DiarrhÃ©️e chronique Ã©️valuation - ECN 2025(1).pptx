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4"/>
  </p:notesMasterIdLst>
  <p:sldIdLst>
    <p:sldId id="256" r:id="rId2"/>
    <p:sldId id="464" r:id="rId3"/>
    <p:sldId id="466" r:id="rId4"/>
    <p:sldId id="547" r:id="rId5"/>
    <p:sldId id="467" r:id="rId6"/>
    <p:sldId id="607" r:id="rId7"/>
    <p:sldId id="548" r:id="rId8"/>
    <p:sldId id="608" r:id="rId9"/>
    <p:sldId id="550" r:id="rId10"/>
    <p:sldId id="609" r:id="rId11"/>
    <p:sldId id="549" r:id="rId12"/>
    <p:sldId id="610" r:id="rId13"/>
    <p:sldId id="553" r:id="rId14"/>
    <p:sldId id="611" r:id="rId15"/>
    <p:sldId id="552" r:id="rId16"/>
    <p:sldId id="612" r:id="rId17"/>
    <p:sldId id="551" r:id="rId18"/>
    <p:sldId id="613" r:id="rId19"/>
    <p:sldId id="555" r:id="rId20"/>
    <p:sldId id="614" r:id="rId21"/>
    <p:sldId id="556" r:id="rId22"/>
    <p:sldId id="633" r:id="rId23"/>
    <p:sldId id="557" r:id="rId24"/>
    <p:sldId id="616" r:id="rId25"/>
    <p:sldId id="558" r:id="rId26"/>
    <p:sldId id="617" r:id="rId27"/>
    <p:sldId id="560" r:id="rId28"/>
    <p:sldId id="618" r:id="rId29"/>
    <p:sldId id="561" r:id="rId30"/>
    <p:sldId id="619" r:id="rId31"/>
    <p:sldId id="559" r:id="rId32"/>
    <p:sldId id="620" r:id="rId33"/>
    <p:sldId id="554" r:id="rId34"/>
    <p:sldId id="621" r:id="rId35"/>
    <p:sldId id="634" r:id="rId36"/>
    <p:sldId id="635" r:id="rId37"/>
    <p:sldId id="636" r:id="rId38"/>
    <p:sldId id="637" r:id="rId39"/>
    <p:sldId id="687" r:id="rId40"/>
    <p:sldId id="688" r:id="rId41"/>
    <p:sldId id="689" r:id="rId42"/>
    <p:sldId id="690" r:id="rId43"/>
    <p:sldId id="691" r:id="rId44"/>
    <p:sldId id="692" r:id="rId45"/>
    <p:sldId id="693" r:id="rId46"/>
    <p:sldId id="694" r:id="rId47"/>
    <p:sldId id="695" r:id="rId48"/>
    <p:sldId id="696" r:id="rId49"/>
    <p:sldId id="697" r:id="rId50"/>
    <p:sldId id="546" r:id="rId51"/>
    <p:sldId id="562" r:id="rId52"/>
    <p:sldId id="563" r:id="rId53"/>
    <p:sldId id="566" r:id="rId54"/>
    <p:sldId id="638" r:id="rId55"/>
    <p:sldId id="565" r:id="rId56"/>
    <p:sldId id="639" r:id="rId57"/>
    <p:sldId id="564" r:id="rId58"/>
    <p:sldId id="573" r:id="rId59"/>
    <p:sldId id="572" r:id="rId60"/>
    <p:sldId id="640" r:id="rId61"/>
    <p:sldId id="571" r:id="rId62"/>
    <p:sldId id="641" r:id="rId63"/>
    <p:sldId id="570" r:id="rId64"/>
    <p:sldId id="642" r:id="rId65"/>
    <p:sldId id="569" r:id="rId66"/>
    <p:sldId id="568" r:id="rId67"/>
    <p:sldId id="577" r:id="rId68"/>
    <p:sldId id="643" r:id="rId69"/>
    <p:sldId id="576" r:id="rId70"/>
    <p:sldId id="644" r:id="rId71"/>
    <p:sldId id="575" r:id="rId72"/>
    <p:sldId id="645" r:id="rId73"/>
    <p:sldId id="567" r:id="rId74"/>
    <p:sldId id="584" r:id="rId75"/>
    <p:sldId id="583" r:id="rId76"/>
    <p:sldId id="646" r:id="rId77"/>
    <p:sldId id="582" r:id="rId78"/>
    <p:sldId id="647" r:id="rId79"/>
    <p:sldId id="648" r:id="rId80"/>
    <p:sldId id="649" r:id="rId81"/>
    <p:sldId id="650" r:id="rId82"/>
    <p:sldId id="651" r:id="rId83"/>
    <p:sldId id="652" r:id="rId84"/>
    <p:sldId id="653" r:id="rId85"/>
    <p:sldId id="654" r:id="rId86"/>
    <p:sldId id="655" r:id="rId87"/>
    <p:sldId id="656" r:id="rId88"/>
    <p:sldId id="657" r:id="rId89"/>
    <p:sldId id="658" r:id="rId90"/>
    <p:sldId id="659" r:id="rId91"/>
    <p:sldId id="660" r:id="rId92"/>
    <p:sldId id="661" r:id="rId93"/>
    <p:sldId id="662" r:id="rId94"/>
    <p:sldId id="663" r:id="rId95"/>
    <p:sldId id="664" r:id="rId96"/>
    <p:sldId id="665" r:id="rId97"/>
    <p:sldId id="666" r:id="rId98"/>
    <p:sldId id="667" r:id="rId99"/>
    <p:sldId id="668" r:id="rId100"/>
    <p:sldId id="669" r:id="rId101"/>
    <p:sldId id="670" r:id="rId102"/>
    <p:sldId id="671" r:id="rId103"/>
    <p:sldId id="672" r:id="rId104"/>
    <p:sldId id="673" r:id="rId105"/>
    <p:sldId id="674" r:id="rId106"/>
    <p:sldId id="675" r:id="rId107"/>
    <p:sldId id="676" r:id="rId108"/>
    <p:sldId id="677" r:id="rId109"/>
    <p:sldId id="678" r:id="rId110"/>
    <p:sldId id="679" r:id="rId111"/>
    <p:sldId id="680" r:id="rId112"/>
    <p:sldId id="681" r:id="rId113"/>
    <p:sldId id="604" r:id="rId114"/>
    <p:sldId id="632" r:id="rId115"/>
    <p:sldId id="605" r:id="rId116"/>
    <p:sldId id="684" r:id="rId117"/>
    <p:sldId id="682" r:id="rId118"/>
    <p:sldId id="685" r:id="rId119"/>
    <p:sldId id="683" r:id="rId120"/>
    <p:sldId id="686" r:id="rId121"/>
    <p:sldId id="623" r:id="rId122"/>
    <p:sldId id="543" r:id="rId123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008000"/>
    <a:srgbClr val="ADDB7B"/>
    <a:srgbClr val="A88000"/>
    <a:srgbClr val="FFFFCC"/>
    <a:srgbClr val="CC33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18" autoAdjust="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F93A8D8-C918-4D58-9F83-137E136C9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D2295C-603C-4AC0-8081-85931684AD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DCCC3F3-FF74-485C-B965-7B9CC4959920}" type="datetimeFigureOut">
              <a:rPr lang="fr-FR"/>
              <a:pPr>
                <a:defRPr/>
              </a:pPr>
              <a:t>04/07/2025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9F2C9972-BF0D-490B-9A5F-0F5ACF792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53FD9DF2-B770-41BE-897D-D7E082690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E7AB05-8E41-4B86-AD42-F06041FC11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892F51-2BB7-495B-8261-5AEB6A6D0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CFD374C-3E82-4511-826C-859CA383EDE3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8C950C-65F2-0117-F0EA-5C204D71E5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0B871F-9E27-C3AD-41CC-4036C5239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AB3C06-9A6B-59AC-4898-CBA2E36F8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6C56BC-A5A8-4909-A5EA-4994A37D659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9238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2E9512-91C1-994F-E789-D7E242420A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C409C0-BC4D-8B68-CF84-7B599EACF3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FA4F6A-BB35-A163-0CB0-B0D144566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C9B382-A4C6-49ED-8AC5-C337288F72B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6823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02FC49-EE57-7994-C1B6-C761D282B5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637CEE-9956-102A-7228-CE7A036F2E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4EBBF9-3B22-F1C2-2DC5-0CE328ECBB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9FE41-0D1D-436F-BF55-3F953EE7308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6765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60CA7-B796-7A55-7080-46504EE277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7C35D-4EAD-2B6D-DF18-34E969168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EE44EA-404E-8CF7-40A3-465F3FB9B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86D3ED-3C68-414A-A994-9E052385906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1864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0F7D9E-7DB9-440D-AC48-A0F79E35A8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37C3E8C-E8A7-5177-E003-ABFE548AF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2FA2AC-F8EB-CCDB-71D3-143C9B343C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715CC-031C-41BD-B900-EBBE4CF1AC5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7706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A723FC2-5EDC-5179-7F19-9253F49B73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6B3728-E16C-B594-E3AC-70916B9A5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AC80AC-9361-3E61-C539-2D3BB9189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ABC05-84B1-441C-9C8B-AE44AFDB90A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3612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F845C30-7454-F69A-4525-E06323C3CE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99870A6-94A6-A553-164F-15CAD707F1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2D4B91-C3DF-7ECD-AA92-1F4DAEAB57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D423F2-A043-4074-BE5A-70BAE1527CB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1205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F43FE-A6DB-7FA1-362E-4B273D970F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60518-DCCA-0BB6-7497-0616731D6B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5AF90-FF4C-FDA2-0349-2A7A907D8D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2C8BF9-6B5D-472C-A772-B06904BD83A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5792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445D2-825E-76DA-E02C-B45A177B4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C2F96-D04F-24E4-0E99-6BEE37AC48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DBF1B-03F5-1686-39A9-53AC0A0A55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B52F4-D2FD-4FEC-93BC-E7041DB8B7E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1017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4A7D3D-3F63-6E06-9DB9-A88B17FB41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8DAC9A-194D-B35A-D896-32BFECAA05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BD3B15-37EC-59A7-4641-EE3F1ADEE0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5592E-B448-457A-9B45-6BB26300BFD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5663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7A0661-5B57-4408-EB00-F2D3BE17BE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B16EFF-B146-DFA0-A48F-A11CB7E344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8DA0E5-5026-0977-B412-0F193D9D00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0CF5E-47EB-4F8B-88E4-1B13BC932FF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8180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53CB4A-8556-CA7F-6B38-E47C01F4C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4399CD-3C68-4E84-4AD4-72D1D42DE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5B3A210-3CDE-4F7B-BE42-B4AD1E0206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305084-4AA3-4F42-909A-2F2C505539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05DF47-A968-4C6A-9BE5-5AE76AF44C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C16ADFF-7689-4F11-8D7F-FA3C6FCA7982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>
            <a:extLst>
              <a:ext uri="{FF2B5EF4-FFF2-40B4-BE49-F238E27FC236}">
                <a16:creationId xmlns:a16="http://schemas.microsoft.com/office/drawing/2014/main" id="{37E6CD41-0543-94EA-7978-708266A7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71600"/>
            <a:ext cx="69342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600" b="1" dirty="0">
                <a:solidFill>
                  <a:srgbClr val="800000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2400" b="1" dirty="0">
                <a:solidFill>
                  <a:srgbClr val="800000"/>
                </a:solidFill>
              </a:rPr>
              <a:t>Module de Gastro-entérologie</a:t>
            </a:r>
          </a:p>
        </p:txBody>
      </p:sp>
      <p:sp>
        <p:nvSpPr>
          <p:cNvPr id="2051" name="Text Box 4">
            <a:extLst>
              <a:ext uri="{FF2B5EF4-FFF2-40B4-BE49-F238E27FC236}">
                <a16:creationId xmlns:a16="http://schemas.microsoft.com/office/drawing/2014/main" id="{EFA7AECE-587D-4E38-BF42-3C4DC43D1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78175"/>
            <a:ext cx="8153400" cy="1012825"/>
          </a:xfrm>
          <a:prstGeom prst="rect">
            <a:avLst/>
          </a:prstGeom>
          <a:ln w="60325" cmpd="tri">
            <a:solidFill>
              <a:srgbClr val="00B050"/>
            </a:solidFill>
            <a:rou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tIns="0" bIns="1800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sz="5400" b="1" dirty="0">
                <a:solidFill>
                  <a:srgbClr val="008000"/>
                </a:solidFill>
              </a:rPr>
              <a:t>S21: Diarrhée chronique</a:t>
            </a:r>
            <a:endParaRPr lang="fr-FR" sz="6600" b="1" dirty="0">
              <a:solidFill>
                <a:srgbClr val="008000"/>
              </a:solidFill>
            </a:endParaRPr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F7DDA521-7018-7A99-10B8-D9AB444CE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19600"/>
            <a:ext cx="69342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Pr. Ag. Mohamed Hichem LOGHMARI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</a:rPr>
              <a:t>Service d’Hépato-gastroentérologie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FF"/>
                </a:solidFill>
              </a:rPr>
              <a:t> CHU </a:t>
            </a:r>
            <a:r>
              <a:rPr lang="fr-FR" altLang="fr-FR" sz="1600" b="1" dirty="0" err="1">
                <a:solidFill>
                  <a:srgbClr val="0000FF"/>
                </a:solidFill>
              </a:rPr>
              <a:t>Fattouma</a:t>
            </a:r>
            <a:r>
              <a:rPr lang="fr-FR" altLang="fr-FR" sz="1600" b="1" dirty="0">
                <a:solidFill>
                  <a:srgbClr val="0000FF"/>
                </a:solidFill>
              </a:rPr>
              <a:t> Bourguiba de Monastir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/>
              <a:t>04 Juillet 2025</a:t>
            </a:r>
          </a:p>
        </p:txBody>
      </p:sp>
      <p:pic>
        <p:nvPicPr>
          <p:cNvPr id="3077" name="Picture 9" descr="Logo service bilangue 2014">
            <a:extLst>
              <a:ext uri="{FF2B5EF4-FFF2-40B4-BE49-F238E27FC236}">
                <a16:creationId xmlns:a16="http://schemas.microsoft.com/office/drawing/2014/main" id="{BCF3B8A4-ECEB-6E36-2A8F-6E39915E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33350"/>
            <a:ext cx="1638300" cy="1543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Image 1">
            <a:extLst>
              <a:ext uri="{FF2B5EF4-FFF2-40B4-BE49-F238E27FC236}">
                <a16:creationId xmlns:a16="http://schemas.microsoft.com/office/drawing/2014/main" id="{6DB78F2A-AF25-6E55-582A-39E40F661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2209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1">
            <a:extLst>
              <a:ext uri="{FF2B5EF4-FFF2-40B4-BE49-F238E27FC236}">
                <a16:creationId xmlns:a16="http://schemas.microsoft.com/office/drawing/2014/main" id="{6B968FB2-9D63-4112-7AED-4833B94C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400300"/>
            <a:ext cx="5391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008000"/>
                </a:solidFill>
              </a:rPr>
              <a:t>Questions d’évaluation </a:t>
            </a:r>
            <a:endParaRPr lang="fr-FR" altLang="fr-FR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1">
            <a:extLst>
              <a:ext uri="{FF2B5EF4-FFF2-40B4-BE49-F238E27FC236}">
                <a16:creationId xmlns:a16="http://schemas.microsoft.com/office/drawing/2014/main" id="{1617DF84-55C6-6D44-BD64-875E3DC33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86000"/>
            <a:ext cx="457200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4400" b="1" dirty="0">
                <a:solidFill>
                  <a:srgbClr val="008000"/>
                </a:solidFill>
              </a:rPr>
              <a:t>QCM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 dirty="0">
                <a:solidFill>
                  <a:srgbClr val="008000"/>
                </a:solidFill>
              </a:rPr>
              <a:t> (47 Questions)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C531A9-A1EB-6605-42B4-D33A840A62E2}"/>
              </a:ext>
            </a:extLst>
          </p:cNvPr>
          <p:cNvSpPr txBox="1"/>
          <p:nvPr/>
        </p:nvSpPr>
        <p:spPr>
          <a:xfrm>
            <a:off x="1676400" y="457200"/>
            <a:ext cx="5638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800000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800000"/>
                </a:solidFill>
              </a:rPr>
              <a:t>S21: Diarrhée chronique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BC10C35-0036-427A-6EE6-01F34851806F}"/>
              </a:ext>
            </a:extLst>
          </p:cNvPr>
          <p:cNvSpPr txBox="1"/>
          <p:nvPr/>
        </p:nvSpPr>
        <p:spPr>
          <a:xfrm>
            <a:off x="1066800" y="1371600"/>
            <a:ext cx="7010400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/>
              <a:t>1. La diarrhée est dite chronique, par définition, lorsqu’elle dépasse :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A. Deux semaines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B. Trois semaines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C. Un mois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D. Trois mois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E. Six mois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D3F22-7523-4E5F-8AA5-2A5EE235E2C8}"/>
              </a:ext>
            </a:extLst>
          </p:cNvPr>
          <p:cNvSpPr/>
          <p:nvPr/>
        </p:nvSpPr>
        <p:spPr>
          <a:xfrm>
            <a:off x="685800" y="1066800"/>
            <a:ext cx="8001000" cy="44558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2. Chez un patient rapportant la notion d’une diarrhée chronique, vous êtes orienté vers une fausse diarrhée chez le constipé devant :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A. Présence de fécalome au toucher rectal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B. Antécédents de diarrhée aiguë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C. Emission </a:t>
            </a:r>
            <a:r>
              <a:rPr lang="fr-FR" sz="2400" b="1" dirty="0" err="1">
                <a:ea typeface="Calibri" panose="020F0502020204030204" pitchFamily="34" charset="0"/>
              </a:rPr>
              <a:t>glairo</a:t>
            </a:r>
            <a:r>
              <a:rPr lang="fr-FR" sz="2400" b="1" dirty="0">
                <a:ea typeface="Calibri" panose="020F0502020204030204" pitchFamily="34" charset="0"/>
              </a:rPr>
              <a:t>-sanglantes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D. Alternance selles dures et liquides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fr-FR" sz="2400" b="1" dirty="0">
                <a:ea typeface="Calibri" panose="020F0502020204030204" pitchFamily="34" charset="0"/>
              </a:rPr>
              <a:t>E. Matières hétérogènes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FF366EF6-8236-BA33-66A3-3D78AEE9C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14400"/>
            <a:ext cx="76962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3. Devant une diarrhée chronique, les signes cliniques évocateurs d’un syndrome de malabsorption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Œdèmes des membres inférieurs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Flush syndrome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Acrodermatite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Hypotension orthostatique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Striation unguéale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FC63B0F9-8A4E-7EAF-DA05-A2B0875F2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914400"/>
            <a:ext cx="76962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4. Chez un patient présentant une diarrhée chronique, le bilan biologique à demander en première intention comporte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Numération et formule sanguine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Dosage de l’élastase fécale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Bilan phosphocalcique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TSH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601F203-CB4D-AE17-1822-5D118872F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914400"/>
            <a:ext cx="75438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5. Chez un patient rapportant la notion d’une diarrhée chronique, vous évoquer plutôt une incontinence anale devant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Hypotonie du sphincter anal au toucher 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Suintement anal en dehors de la défécation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Besoin impérieux d’aller à la selle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Incontinence urinaire associée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Diarrhée matinale abondante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A949EA5-0D64-554A-20DF-EBBA22977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914400"/>
            <a:ext cx="75438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6. Une diarrhée chronique de type sécrétoire vous fait évoquer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Vipome</a:t>
            </a:r>
            <a:endParaRPr lang="fr-FR" altLang="fr-FR" sz="2400" b="1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Choléra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Syndrome carcinoïde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Hyperthyroïdie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14C70553-93A4-1B9A-DF52-6A59ECBF4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43000"/>
            <a:ext cx="77724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7. Chez un patient présentant une diarrhée chronique, on évoque le mécanisme osmotique devant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Disparition au jeûne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Présence d’un trou osmotique &gt; 125 mOsm/kg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Diarrhée nocturne abondante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Présence d’un laxatif non absorbé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Syndrome de carence vitaminique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C49A2536-7AA4-4955-B533-C9412BE82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43000"/>
            <a:ext cx="77724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8. Devant une diarrhée chronique les éléments suivants sont en faveur d’une maladie inflammatoire chronique de l’intestin (MICI)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Présence de glaires dans les selles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Syndrome 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Rectorragies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Disparition de la diarrhée à l’épreuve de jeûne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Fistules anales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A0F12CF8-CA38-5EF0-A180-7439952D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76962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9. Devant une diarrhée chronique les éléments en faveur d’un syndrome de l’intestin irritable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Douleur améliorée par la défécation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Selles molles matinales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Absence d’anomalie biologique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Incontinence fécale nocturne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D028D9B8-5B19-DC82-E9AF-529A7C3EE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7696200" cy="500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10. Chez un patient présentant une diarrhée chronique vous évoquez une cause organique si vous constatez les éléments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Association à un météorisme abdominal chronique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Diarrhée à prédominance nocturne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Association à des rectorragies minimes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Association à une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Diarrhée liquidienne abondante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7BA70A6A-DD6E-AA96-C797-0CDA07CEF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84582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11. Devant une diarrhée chronique les éléments qui vous orientent vers une diarrhée motrice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Selles matinales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Douleurs abdominales violentes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Présence d’aliments non digérés dans les selles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Amélioration par les ralentisseurs du transit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Selles graisseuses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E6830049-6F88-D367-D3DF-8A9A0B77E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84582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12. Dans le cadre de l’enquête étiologique, les éléments à rechercher systématiquement devant une diarrhée chronique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Prise d’AINS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Séjour en zone tropicale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Chirurgie du grêle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Hypothyroïdie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Radiothérapie pelvienne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9999076B-605E-085C-1985-6EDCD90DE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5344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13. Les éléments biologiques en faveur d’un syndrome de malabsorption chez un patient présentant une diarrhée chronique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Ferritinémie augmentée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Hypocalcémie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Carence en vitamine B12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Hypokaliémie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6F975C20-17D6-7A19-2BEA-D0667F01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53440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14. Les éléments biologiques qui vous orientent vers une diarrhée chronique exsudative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Hypoglycémie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Osmolarité fécale &gt; 400 mOsm/kg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Clairance de l’α1-antitrypsine &gt; 20 </a:t>
            </a:r>
            <a:r>
              <a:rPr lang="fr-FR" altLang="fr-FR" sz="2400" b="1" dirty="0" err="1"/>
              <a:t>mL</a:t>
            </a:r>
            <a:r>
              <a:rPr lang="fr-FR" altLang="fr-FR" sz="2400" b="1" dirty="0"/>
              <a:t>/j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3ED4B782-05DB-5093-0E25-548140217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3820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15. Le(s) élément(s) qui permet(</a:t>
            </a:r>
            <a:r>
              <a:rPr lang="fr-FR" altLang="fr-FR" sz="2400" b="1" dirty="0" err="1"/>
              <a:t>tent</a:t>
            </a:r>
            <a:r>
              <a:rPr lang="fr-FR" altLang="fr-FR" sz="2400" b="1" dirty="0"/>
              <a:t>) de confirmer le diagnostic de maladie cœliaque chez l’adulte est(sont)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Atrophie villositaire sur biopsies du grêle.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Anticorps anti-</a:t>
            </a:r>
            <a:r>
              <a:rPr lang="fr-FR" altLang="fr-FR" sz="2400" b="1" dirty="0" err="1"/>
              <a:t>transglutaminase</a:t>
            </a:r>
            <a:r>
              <a:rPr lang="fr-FR" altLang="fr-FR" sz="2400" b="1" dirty="0"/>
              <a:t> </a:t>
            </a:r>
            <a:r>
              <a:rPr lang="fr-FR" altLang="fr-FR" sz="2400" b="1" dirty="0" err="1"/>
              <a:t>IgA</a:t>
            </a:r>
            <a:r>
              <a:rPr lang="fr-FR" altLang="fr-FR" sz="2400" b="1" dirty="0"/>
              <a:t> positifs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Aspect en mosaïque de la muqueuse duodénale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Association à une maladie auto-immune.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Mise en évidence de polynucléaires neutrophiles dans les selles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8BE2C0CB-7D22-DB53-9C4E-C50E1F37D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3820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16. Devant une diarrhée chronique, le bilan de retentissement clinique comporte la recherche systématique de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Signes de déshydratation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Œdèmes des membres inférieurs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Flush syndrome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Crises de tétanie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Hémiplégie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8A4C8EAB-7DED-2568-AAD5-7AF93E03C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66800"/>
            <a:ext cx="76200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17. En cas de diarrhée chronique vous évoquez une </a:t>
            </a:r>
            <a:r>
              <a:rPr lang="fr-FR" altLang="fr-FR" sz="2400" b="1" dirty="0" err="1"/>
              <a:t>giardiose</a:t>
            </a:r>
            <a:r>
              <a:rPr lang="fr-FR" altLang="fr-FR" sz="2400" b="1" dirty="0"/>
              <a:t> devant les éléments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Notion de consommation de végétaux crus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Notion d’un voyage récent en Afrique tropicale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Diarrhée </a:t>
            </a:r>
            <a:r>
              <a:rPr lang="fr-FR" altLang="fr-FR" sz="2400" b="1" dirty="0" err="1"/>
              <a:t>glairo</a:t>
            </a:r>
            <a:r>
              <a:rPr lang="fr-FR" altLang="fr-FR" sz="2400" b="1" dirty="0"/>
              <a:t>-sanglante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Atrophie villositaire aux biopsies du grêle.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Fièvre en plateau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E24B97D9-2EFF-C3DB-36A4-54CF6CEB9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66800"/>
            <a:ext cx="76200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18. Une diarrhée chronique secondaire à une colonisation bactérienne chronique du grêle se voit dans les situations suivantes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</a:t>
            </a:r>
            <a:r>
              <a:rPr lang="fr-FR" altLang="fr-FR" sz="2400" b="1" dirty="0" err="1"/>
              <a:t>Achlorhydrie</a:t>
            </a:r>
            <a:r>
              <a:rPr lang="fr-FR" altLang="fr-FR" sz="2400" b="1" dirty="0"/>
              <a:t> gastrique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Déficit immunitaire commun variable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Oesophagectomie</a:t>
            </a:r>
            <a:endParaRPr lang="fr-FR" altLang="fr-FR" sz="2400" b="1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Neuropathie diabétique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Pancréatite chronique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D0B27615-1B34-172A-D364-F915C1EBB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838200"/>
            <a:ext cx="74676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19. Devant une diarrhée chronique motrice on évoque les étiologies suivantes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Hyperthyroïdie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Vagotomie tronculaire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Syndrome de l’intestin irritable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Syndrome de Zollinger-Ellison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Cancer médullaire de la thyroïde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54F09BCA-9BAF-E8D5-71CD-0015C213D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38200"/>
            <a:ext cx="80772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20. Chez un patient présentant une diarrhée chronique les critères diagnostiques en faveur du syndrome de l’intestin irritable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Douleurs abdominales liées à la défécation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Modifications de la consistance des selles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Survenue des symptômes depuis au moins 6 mois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Aspect glaireux des selles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4E5B6F97-F0AE-B3E1-E962-10F283A16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3058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21. Devant une diarrhée chronique osmotique est évoquée devant les éléments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Diarrhée qui cède au jeûne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Aspect graisseux des selles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Absence d’amaigrissement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Trouble osmotique &gt; 125 mOsm/kg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35F6D204-3C44-4C98-7A5C-537374D2A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3058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22. Les médicaments suivants peuvent entraîner une diarrhée chronique sécrétoire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Biguanides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Laxatifs irritants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Inhibiteurs de la pompe à protons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Colchicine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Amoxicilline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35A94210-FAB6-4E02-B3D0-4801C433C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8077200" cy="44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23. Une diarrhée chronique d’allure sécrétoire sans lésions macroscopiques à l’endoscopie vous fait évoquer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Colite lymphocytaire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Colite collagène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Maladie de </a:t>
            </a:r>
            <a:r>
              <a:rPr lang="fr-FR" altLang="fr-FR" sz="2400" b="1" dirty="0" err="1"/>
              <a:t>Crohn</a:t>
            </a:r>
            <a:endParaRPr lang="fr-FR" altLang="fr-FR" sz="2400" b="1" dirty="0"/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Cryptosporidiose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</a:t>
            </a:r>
            <a:r>
              <a:rPr lang="fr-FR" altLang="fr-FR" sz="2400" b="1" dirty="0" err="1"/>
              <a:t>Vipome</a:t>
            </a:r>
            <a:endParaRPr lang="fr-FR" alt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86BD20EE-6F2C-8B7D-0A98-EC05704B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8077200" cy="334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24. Les complications de la maladie cœliaque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A. Lymphome de type 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B. Ostéopénie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C. Cholangite biliaire primitive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D. Cavitation ganglionnaire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 dirty="0"/>
              <a:t>E. Hypothyroïdie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>
            <a:extLst>
              <a:ext uri="{FF2B5EF4-FFF2-40B4-BE49-F238E27FC236}">
                <a16:creationId xmlns:a16="http://schemas.microsoft.com/office/drawing/2014/main" id="{85188ABB-18FA-5036-DA1E-CD7D51198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14400"/>
            <a:ext cx="76962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25. Chez un patient présentant une diarrhée chronique vous êtes orientés vers la maladie de Whipple si vous constatez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Fièvre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Arthralgies d’évolution capricieuse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</a:t>
            </a:r>
            <a:r>
              <a:rPr lang="fr-FR" altLang="fr-FR" sz="2400" b="1" dirty="0" err="1"/>
              <a:t>Polyadénomégalie</a:t>
            </a:r>
            <a:endParaRPr lang="fr-FR" altLang="fr-FR" sz="2400" b="1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Aphtes buccaux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Erythème noueux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8878C7AE-151F-A9F1-D794-C51AEA7E5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2000"/>
            <a:ext cx="7696200" cy="539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26. Sur des biopsies duodénales, faites chez un patient présentant une diarrhée chronique, vous retenez le diagnostic d’une maladie cœliaque devant les signes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Atrophie villositaire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Infiltrat de polynucléaires neutrophiles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Hyperplasie des cryptes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Lymphocytes intra-épithéliaux augmentés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Granulomes épithélioides et giganto-cellulaires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id="{322FAB74-8763-2BD7-C985-8C30E803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8200"/>
            <a:ext cx="8458200" cy="42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27. Les signes biologiques en faveur d’une diarrhée chronique par malabsorption sont :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Anémie ferriprive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Hyponatrémie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Hypocalcémie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Augmentation des phosphatases alcalines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Hypoalbuminémie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A93637AB-43C2-111D-6682-5A4077F74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8200"/>
            <a:ext cx="84582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28. Chez un patient qui consulte pour une diarrhée chronique, vous évoquez une carence en vitamine B12 devant :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Anémie macrocytaire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Glossite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Neuropathie périphérique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</a:t>
            </a:r>
            <a:r>
              <a:rPr lang="fr-FR" altLang="fr-FR" sz="2400" b="1" dirty="0" err="1"/>
              <a:t>Koilonychie</a:t>
            </a:r>
            <a:endParaRPr lang="fr-FR" altLang="fr-FR" sz="2400" b="1" dirty="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Syndrome médullaire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>
            <a:extLst>
              <a:ext uri="{FF2B5EF4-FFF2-40B4-BE49-F238E27FC236}">
                <a16:creationId xmlns:a16="http://schemas.microsoft.com/office/drawing/2014/main" id="{C090B7A2-524F-0675-9021-3671986B1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79248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29. Chez un enfant ayant une diarrhée chronique avec une cassure pondérale vous évoquer en premier l’étiologie suivante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Syndrome de l’intestin irritable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Intolérance au lactose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Intolérance au gluten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</a:t>
            </a:r>
            <a:r>
              <a:rPr lang="fr-FR" altLang="fr-FR" sz="2400" b="1" dirty="0" err="1"/>
              <a:t>Giardiase</a:t>
            </a:r>
            <a:endParaRPr lang="fr-FR" alt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FC3FD90A-4C12-CBD3-B668-B88A56F39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8305800" cy="539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30. Devant une diarrhée chronique, vous êtes orienté vers le diagnostic d’une rectocolite hémorragique devant les aspects endoscopiques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Atteinte rectale constante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Lésions discontinues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Atteinte du grêle fréquente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Arrêt brusque des lésions en cas d’atteinte localisée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Saignement au contact en endoscopie (fragilité muqueuse)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31C00421-3EE7-7C13-4E1F-E9BFBEA21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31. Devant une diarrhée chronique, vous êtes orienté vers le diagnostic d’une maladie de </a:t>
            </a:r>
            <a:r>
              <a:rPr lang="fr-FR" altLang="fr-FR" sz="2400" b="1" dirty="0" err="1"/>
              <a:t>Crohn</a:t>
            </a:r>
            <a:r>
              <a:rPr lang="fr-FR" altLang="fr-FR" sz="2400" b="1" dirty="0"/>
              <a:t> devant les éléments suivants :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A. Fistules </a:t>
            </a:r>
            <a:r>
              <a:rPr lang="fr-FR" altLang="fr-FR" sz="2400" b="1" dirty="0" err="1"/>
              <a:t>ano</a:t>
            </a:r>
            <a:r>
              <a:rPr lang="fr-FR" altLang="fr-FR" sz="2400" b="1" dirty="0"/>
              <a:t>-périnéales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B. Atteinte de l’intestin grêle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C. Syndrome inflammatoire biologique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D. Granulomes épithélioides et giganto-cellulaires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E. Infiltrat </a:t>
            </a:r>
            <a:r>
              <a:rPr lang="fr-FR" altLang="fr-FR" sz="2400" b="1" dirty="0" err="1"/>
              <a:t>lymphoplasmocytaire</a:t>
            </a:r>
            <a:r>
              <a:rPr lang="fr-FR" altLang="fr-FR" sz="2400" b="1" dirty="0"/>
              <a:t> transmural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5854A528-E19A-5A92-6EAD-BA473DB97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32. Le mécanisme le plus probable d’une diarrhée chronique survenant après une cholécystectomie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Infection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Hypersécrétion gastrique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Malabsorption des sels biliaires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Hypomotilité colique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Insuffisance pancréatique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393A1E08-A047-8665-FAF8-7FD2ED88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594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33. Devant une diarrhée chronique, vous évoquez le diagnostic d’un syndrome de Zollinger-Ellison devant les éléments suivants :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Diarrhée sécrétoire abondante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Signes de déshydratation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Amélioration nette de la diarrhée sous inhibiteurs de la pompe à protons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Anémie ferriprive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Ulcères duodénaux multiples à l’endoscopie digestive haute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6C75A156-B157-AD1A-D570-AC9BF74B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34. Devant une diarrhée chronique associée à une atrophie villositaire duodénale vous évoquez les étiologies suivantes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Sprue tropicale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Entéropathie radique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</a:t>
            </a:r>
            <a:r>
              <a:rPr lang="fr-FR" altLang="fr-FR" sz="2400" b="1" dirty="0" err="1">
                <a:solidFill>
                  <a:srgbClr val="000000"/>
                </a:solidFill>
              </a:rPr>
              <a:t>Giardiose</a:t>
            </a:r>
            <a:endParaRPr lang="fr-FR" altLang="fr-FR" sz="2400" b="1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Colonisation bactérienne chronique du grêle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Maladie de Whipple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>
            <a:extLst>
              <a:ext uri="{FF2B5EF4-FFF2-40B4-BE49-F238E27FC236}">
                <a16:creationId xmlns:a16="http://schemas.microsoft.com/office/drawing/2014/main" id="{1BACDC6F-BA39-DF89-802F-B122DA4EA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35. Devant une diarrhée chronique associée à un syndrome carcinoïde vous demandez les examens complémentaires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Dosage des 5-HIAA urinaires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Dosage de la chromogranine A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Scanner thoraco-abdominal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</a:t>
            </a:r>
            <a:r>
              <a:rPr lang="fr-FR" altLang="fr-FR" sz="2400" b="1" dirty="0" err="1">
                <a:solidFill>
                  <a:srgbClr val="000000"/>
                </a:solidFill>
              </a:rPr>
              <a:t>Octréoscan</a:t>
            </a:r>
            <a:endParaRPr lang="fr-FR" altLang="fr-FR" sz="2400" b="1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Dosage de la calcitonine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4A072BAA-885A-17FB-20A9-72C1B3C9D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2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36. Devant une diarrhée chronique vous évoquez une pathologie organique si vous trouvez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Des rectorragies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Un 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Un ballonnement abdominal persistant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Une fièvre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Une diarrhée à prédominance nocturne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FAB2-3488-3AA1-02FD-29D0F900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5E184411-2D00-9BAA-0FF4-4AE52650E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85800"/>
            <a:ext cx="84582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37. Concernant le test au D-xylose utilisé dans l’exploration d’une diarrhée chronique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Il explore l’absorption des glucides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Il est spécifique de l’insuffisance pancréatique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Il peut être faussement normal en cas d’atteinte iléale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Il est utile pour le diagnostic de la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Un taux de </a:t>
            </a:r>
            <a:r>
              <a:rPr lang="fr-FR" altLang="fr-FR" sz="2400" b="1" dirty="0" err="1">
                <a:solidFill>
                  <a:srgbClr val="000000"/>
                </a:solidFill>
              </a:rPr>
              <a:t>xylosémie</a:t>
            </a:r>
            <a:r>
              <a:rPr lang="fr-FR" altLang="fr-FR" sz="2400" b="1" dirty="0">
                <a:solidFill>
                  <a:srgbClr val="000000"/>
                </a:solidFill>
              </a:rPr>
              <a:t> à 1h &lt; 250 mg/L signifie une malabsorption.</a:t>
            </a:r>
          </a:p>
        </p:txBody>
      </p:sp>
    </p:spTree>
    <p:extLst>
      <p:ext uri="{BB962C8B-B14F-4D97-AF65-F5344CB8AC3E}">
        <p14:creationId xmlns:p14="http://schemas.microsoft.com/office/powerpoint/2010/main" val="328028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7A46-6722-DE65-2139-809EB362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9030F4EA-1B4D-0AED-EE92-B763D934C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38. Devant une diarrhée chronique vous évoquez une insuffisance pancréatique exocrine si vous constatez les éléments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Diarrhée de type motrice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Fièvre avec sueurs nocturnes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Anémie ferriprive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Stéatorrhée à 10 g/24 h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Calcifications pancréatiques à l’IRM.</a:t>
            </a:r>
          </a:p>
        </p:txBody>
      </p:sp>
    </p:spTree>
    <p:extLst>
      <p:ext uri="{BB962C8B-B14F-4D97-AF65-F5344CB8AC3E}">
        <p14:creationId xmlns:p14="http://schemas.microsoft.com/office/powerpoint/2010/main" val="38509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5054-DA68-E036-D013-0DA7EE15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ECFC1875-732B-4C07-5FFC-2B1E55C5B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2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39. Vous évoquez la nature sécrétoire d’une diarrhée chronique devant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Persistance de la diarrhée malgré le jeûne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Diarrhée volumineuse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Douleurs abdominales calmées par la défécation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Test au rouge carmin positif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Osmolarité fécale basse</a:t>
            </a:r>
          </a:p>
        </p:txBody>
      </p:sp>
    </p:spTree>
    <p:extLst>
      <p:ext uri="{BB962C8B-B14F-4D97-AF65-F5344CB8AC3E}">
        <p14:creationId xmlns:p14="http://schemas.microsoft.com/office/powerpoint/2010/main" val="90551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40BD-5747-187C-0974-B6A54249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C0BDEC32-B73E-EB6C-8D9A-632DD4418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40. Une diarrhée fonctionnelle en rapport avec un syndrome de l’intestin irritable est retenue devant la normalité des explorations suivantes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NFS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CRP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Elastase fécale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Test au rouge carmin</a:t>
            </a:r>
          </a:p>
        </p:txBody>
      </p:sp>
    </p:spTree>
    <p:extLst>
      <p:ext uri="{BB962C8B-B14F-4D97-AF65-F5344CB8AC3E}">
        <p14:creationId xmlns:p14="http://schemas.microsoft.com/office/powerpoint/2010/main" val="89487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5558-8F02-8EA8-5130-F69BEA36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EF948ADD-1B84-6D20-4122-869F44B53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28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41. Une diarrhée chronique associée à une anémie ferriprive vous fait évoquer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Maladie de </a:t>
            </a:r>
            <a:r>
              <a:rPr lang="fr-FR" altLang="fr-FR" sz="2400" b="1" dirty="0" err="1">
                <a:solidFill>
                  <a:srgbClr val="000000"/>
                </a:solidFill>
              </a:rPr>
              <a:t>Crohn</a:t>
            </a:r>
            <a:endParaRPr lang="fr-FR" altLang="fr-FR" sz="2400" b="1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Tumeur colique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Pancréatite chronique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</a:t>
            </a:r>
            <a:r>
              <a:rPr lang="fr-FR" altLang="fr-FR" sz="2400" b="1" dirty="0" err="1">
                <a:solidFill>
                  <a:srgbClr val="000000"/>
                </a:solidFill>
              </a:rPr>
              <a:t>Giardiase</a:t>
            </a:r>
            <a:endParaRPr lang="fr-FR" altLang="fr-FR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6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326A-B34E-8B50-F0CF-B9662BEF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F52D276F-6757-AF05-EC68-821038DDE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42. Chez un patient qui se présent avec une diarrhée chronique vous évoquez une maladie inflammatoire intestinale devant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Une osmolarité fécale élevée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Un taux élevé de la CRP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Un test respiratoire au glucose positif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Un taux élevé de la </a:t>
            </a:r>
            <a:r>
              <a:rPr lang="fr-FR" altLang="fr-FR" sz="2400" b="1" dirty="0" err="1">
                <a:solidFill>
                  <a:srgbClr val="000000"/>
                </a:solidFill>
              </a:rPr>
              <a:t>calprotectine</a:t>
            </a:r>
            <a:r>
              <a:rPr lang="fr-FR" altLang="fr-FR" sz="2400" b="1" dirty="0">
                <a:solidFill>
                  <a:srgbClr val="000000"/>
                </a:solidFill>
              </a:rPr>
              <a:t> fécale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Un test au rouge carmin positif</a:t>
            </a:r>
          </a:p>
        </p:txBody>
      </p:sp>
    </p:spTree>
    <p:extLst>
      <p:ext uri="{BB962C8B-B14F-4D97-AF65-F5344CB8AC3E}">
        <p14:creationId xmlns:p14="http://schemas.microsoft.com/office/powerpoint/2010/main" val="249470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39B1-32C7-BF6B-8025-2245FBAB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520E38F8-2707-C73E-077F-F4D8CFB7E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43. Devant une diarrhée chronique vous devez rechercher en première intention les troubles métaboliques suivants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Insuffisance rénale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Hypokaliémie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Hypoglycémie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Hypercalcémie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Hypomagnésémie</a:t>
            </a:r>
          </a:p>
        </p:txBody>
      </p:sp>
    </p:spTree>
    <p:extLst>
      <p:ext uri="{BB962C8B-B14F-4D97-AF65-F5344CB8AC3E}">
        <p14:creationId xmlns:p14="http://schemas.microsoft.com/office/powerpoint/2010/main" val="44294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8EB0-CBDF-A141-8D6E-28EC9BC5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A33AE03A-725B-5A06-EB99-559CEBC18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44. Les signes cliniques de sévérité à rechercher systématiquement chez un patient présentant une diarrhée chronique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Signes de déshydratation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Troubles neurologiques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Hypotension artérielle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Dermatose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Présence de glaire dans les selles</a:t>
            </a:r>
          </a:p>
        </p:txBody>
      </p:sp>
    </p:spTree>
    <p:extLst>
      <p:ext uri="{BB962C8B-B14F-4D97-AF65-F5344CB8AC3E}">
        <p14:creationId xmlns:p14="http://schemas.microsoft.com/office/powerpoint/2010/main" val="33271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BF67-BD6A-ED81-B5F2-9E03C2D0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4C0B93B1-4E97-E97B-8D30-6DED261BB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8153400" cy="539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45. Chez un patient qui a développé une diarrhée chronique dans les suites d’une radiothérapie pour cancer de la prostate, vous évoquez le(s) mécanisme(s) suivant(s) à l’origine de cette diarrhée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Osmotique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Motrice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Sécrétoire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Exsudative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Post-infectieuse</a:t>
            </a:r>
          </a:p>
        </p:txBody>
      </p:sp>
    </p:spTree>
    <p:extLst>
      <p:ext uri="{BB962C8B-B14F-4D97-AF65-F5344CB8AC3E}">
        <p14:creationId xmlns:p14="http://schemas.microsoft.com/office/powerpoint/2010/main" val="343067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0C196-A638-317B-1012-E8851716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277CC139-9920-D968-163D-F08D8153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46. Chez un patient qui présente une diarrhée chronique, l’absence de lésions macroscopiques aux explorations endoscopiques vous fait évoquer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Recto-colite hémorragique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Colite lymphocytaire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Colite collagène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</a:t>
            </a:r>
            <a:r>
              <a:rPr lang="fr-FR" altLang="fr-FR" sz="2400" b="1" dirty="0" err="1">
                <a:solidFill>
                  <a:srgbClr val="000000"/>
                </a:solidFill>
              </a:rPr>
              <a:t>Vipome</a:t>
            </a:r>
            <a:endParaRPr lang="fr-FR" altLang="fr-FR" sz="2400" b="1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Syndrome de l’intestin irritable</a:t>
            </a:r>
          </a:p>
        </p:txBody>
      </p:sp>
    </p:spTree>
    <p:extLst>
      <p:ext uri="{BB962C8B-B14F-4D97-AF65-F5344CB8AC3E}">
        <p14:creationId xmlns:p14="http://schemas.microsoft.com/office/powerpoint/2010/main" val="10697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0500-E7A6-C53F-B3D0-AD8FC90A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A3AF8256-D3BC-1C86-F251-4E93910F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772400" cy="4840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47. Chez un patient qui consulte pour une diarrhée chronique, vous retenez en faveur d’une diarrhée exsudative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A. La présence de selles graisseuses.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B. L’amélioration de la diarrhée par le jeune.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C. Une stéatorrhée.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D. Un test au rouge carmin positif.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E. Une hypoalbuminémie</a:t>
            </a:r>
          </a:p>
        </p:txBody>
      </p:sp>
    </p:spTree>
    <p:extLst>
      <p:ext uri="{BB962C8B-B14F-4D97-AF65-F5344CB8AC3E}">
        <p14:creationId xmlns:p14="http://schemas.microsoft.com/office/powerpoint/2010/main" val="269346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ZoneTexte 1">
            <a:extLst>
              <a:ext uri="{FF2B5EF4-FFF2-40B4-BE49-F238E27FC236}">
                <a16:creationId xmlns:a16="http://schemas.microsoft.com/office/drawing/2014/main" id="{3F279460-9202-62AF-95E3-968F8D5D0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168525"/>
            <a:ext cx="5105400" cy="214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5400" b="1" dirty="0">
                <a:solidFill>
                  <a:srgbClr val="008000"/>
                </a:solidFill>
              </a:rPr>
              <a:t>Cas cliniques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3600" b="1" dirty="0">
                <a:solidFill>
                  <a:srgbClr val="008000"/>
                </a:solidFill>
              </a:rPr>
              <a:t>(26 questions)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3B14D5F-EB2E-C379-5781-F61223B1FABB}"/>
              </a:ext>
            </a:extLst>
          </p:cNvPr>
          <p:cNvSpPr txBox="1"/>
          <p:nvPr/>
        </p:nvSpPr>
        <p:spPr>
          <a:xfrm>
            <a:off x="1676400" y="457200"/>
            <a:ext cx="5638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800000"/>
                </a:solidFill>
              </a:rPr>
              <a:t>Préparation à l’Examen Classant National 2025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800000"/>
                </a:solidFill>
              </a:rPr>
              <a:t>S21: Diarrhée chronique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>
            <a:extLst>
              <a:ext uri="{FF2B5EF4-FFF2-40B4-BE49-F238E27FC236}">
                <a16:creationId xmlns:a16="http://schemas.microsoft.com/office/drawing/2014/main" id="{3758A559-81D8-E5E2-5309-0D1AE23F6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n°1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>
            <a:extLst>
              <a:ext uri="{FF2B5EF4-FFF2-40B4-BE49-F238E27FC236}">
                <a16:creationId xmlns:a16="http://schemas.microsoft.com/office/drawing/2014/main" id="{407FC6D4-D2EC-7B0C-0D18-0F2FCE37F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685800"/>
            <a:ext cx="81534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</a:rPr>
              <a:t>Mme </a:t>
            </a:r>
            <a:r>
              <a:rPr lang="fr-FR" altLang="fr-FR" sz="1800" b="1" dirty="0" err="1">
                <a:solidFill>
                  <a:srgbClr val="000000"/>
                </a:solidFill>
              </a:rPr>
              <a:t>Zaineb</a:t>
            </a:r>
            <a:r>
              <a:rPr lang="fr-FR" altLang="fr-FR" sz="1800" b="1" dirty="0">
                <a:solidFill>
                  <a:srgbClr val="000000"/>
                </a:solidFill>
              </a:rPr>
              <a:t> L. âgée de 62 ans aux antécédents de troubles anxieux, consulte pour une diarrhée liquidienne évoluant depuis 4 mois associée à des douleurs abdominales diffuses à type de spasmes, une insomnie, des palpitations et une perte de poids de 2 kg. Cette symptomatologie survient essentiellement le matin, en post prandial et est nettement améliorée lorsque la patiente est en vacances.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</a:rPr>
              <a:t>A l’examen clinique : Bon état général, IMC = 22 Kg/m2, des conjonctives normo-colorées et l’examen abdominal est normal. L’examen parasitologique des selles est négatif.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>
            <a:extLst>
              <a:ext uri="{FF2B5EF4-FFF2-40B4-BE49-F238E27FC236}">
                <a16:creationId xmlns:a16="http://schemas.microsoft.com/office/drawing/2014/main" id="{9C3AB1C9-181A-D647-B158-63FF01B87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696200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48) Quels sont les deux diagnostics que vous évoquez en premier devant ce tableau 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B- Cancer colorectal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C- Hyperthyroïdie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E- Troubles fonctionnels intestinaux</a:t>
            </a:r>
            <a:r>
              <a:rPr lang="fr-FR" altLang="fr-FR" sz="2400" b="1"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>
            <a:extLst>
              <a:ext uri="{FF2B5EF4-FFF2-40B4-BE49-F238E27FC236}">
                <a16:creationId xmlns:a16="http://schemas.microsoft.com/office/drawing/2014/main" id="{8C6D6FAA-4887-0908-91CF-91B0BCFC9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696200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48) Quels sont les deux diagnostics que vous évoquez en premier devant ce tableau 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B- Cancer colorectal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Hyperthyroïdie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Troubles fonctionnels intestinaux.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>
            <a:extLst>
              <a:ext uri="{FF2B5EF4-FFF2-40B4-BE49-F238E27FC236}">
                <a16:creationId xmlns:a16="http://schemas.microsoft.com/office/drawing/2014/main" id="{BD9B5775-C8CB-920E-C7A5-0911BF73F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838200"/>
            <a:ext cx="7543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49) Vos proposez pour cette patiente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A- Une 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B- Un bilan thyroïdien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Une entéro-IRM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E- Aucune exploration n’est indiquée à ce stade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>
            <a:extLst>
              <a:ext uri="{FF2B5EF4-FFF2-40B4-BE49-F238E27FC236}">
                <a16:creationId xmlns:a16="http://schemas.microsoft.com/office/drawing/2014/main" id="{1E44A4FD-33E8-7F44-5274-5B7CF2738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838200"/>
            <a:ext cx="7543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49) Vos proposez pour cette patiente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Une 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Un bilan thyroïdien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Une entéro-IRM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E- Aucune exploration n’est indiquée à ce stade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>
            <a:extLst>
              <a:ext uri="{FF2B5EF4-FFF2-40B4-BE49-F238E27FC236}">
                <a16:creationId xmlns:a16="http://schemas.microsoft.com/office/drawing/2014/main" id="{832B1008-D194-DF9E-1B59-4F4D40F6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n°2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>
            <a:extLst>
              <a:ext uri="{FF2B5EF4-FFF2-40B4-BE49-F238E27FC236}">
                <a16:creationId xmlns:a16="http://schemas.microsoft.com/office/drawing/2014/main" id="{3CCD7015-63D5-64F7-D5CC-95A8D0BA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66800"/>
            <a:ext cx="8077200" cy="4267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Une femme de 25 ans consulte pour une diarrhée chronique liquidienne évoluant depuis 8 mois avec amaigrissement de 4 kg en 6 mois. Une endoscopie digestive haute lui a été réalisée avec des biopsies duodénales. L’examen microscopique montre l’absence de villosités duodénales, une augmentation des lymphocytes intra-épithéliaux et une hyperplasie des cryptes.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000" b="1" dirty="0"/>
              <a:t>A la biologie on trouve : </a:t>
            </a:r>
            <a:r>
              <a:rPr lang="fr-FR" altLang="fr-FR" sz="2000" b="1" dirty="0" err="1"/>
              <a:t>Hb</a:t>
            </a:r>
            <a:r>
              <a:rPr lang="fr-FR" altLang="fr-FR" sz="2000" b="1" dirty="0"/>
              <a:t> = 9.4 g/</a:t>
            </a:r>
            <a:r>
              <a:rPr lang="fr-FR" altLang="fr-FR" sz="2000" b="1" dirty="0" err="1"/>
              <a:t>dL</a:t>
            </a:r>
            <a:r>
              <a:rPr lang="fr-FR" altLang="fr-FR" sz="2000" b="1" dirty="0"/>
              <a:t>, VGM = 73, GR = 2 500 000/mm3, </a:t>
            </a:r>
            <a:r>
              <a:rPr lang="fr-FR" altLang="fr-FR" sz="2000" b="1" dirty="0" err="1"/>
              <a:t>Reticulocytes</a:t>
            </a:r>
            <a:r>
              <a:rPr lang="fr-FR" altLang="fr-FR" sz="2000" b="1" dirty="0"/>
              <a:t> = 1% ;    GB = 4900/mm3 ; </a:t>
            </a:r>
            <a:r>
              <a:rPr lang="fr-FR" altLang="fr-FR" sz="2000" b="1" dirty="0" err="1"/>
              <a:t>Plq</a:t>
            </a:r>
            <a:r>
              <a:rPr lang="fr-FR" altLang="fr-FR" sz="2000" b="1" dirty="0"/>
              <a:t> = 430 000/mm3, CRP = 4 mg/L.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>
            <a:extLst>
              <a:ext uri="{FF2B5EF4-FFF2-40B4-BE49-F238E27FC236}">
                <a16:creationId xmlns:a16="http://schemas.microsoft.com/office/drawing/2014/main" id="{E7319968-FB4C-0477-4F0E-E54745E03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2188"/>
            <a:ext cx="8382000" cy="373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/>
              <a:t>50) Vous retenez comme diagnostic chez cette patiente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B- Lymphome duodénal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C- Maladie de Whipple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E- Sprue tropicale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>
            <a:extLst>
              <a:ext uri="{FF2B5EF4-FFF2-40B4-BE49-F238E27FC236}">
                <a16:creationId xmlns:a16="http://schemas.microsoft.com/office/drawing/2014/main" id="{1AF707B2-6180-DA1D-A609-539451C2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2188"/>
            <a:ext cx="8382000" cy="373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/>
              <a:t>50) Vous retenez comme diagnostic chez cette patiente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B- Lymphome duodénal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C- Maladie de Whipple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Maladie cœliaque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E- Sprue tropicale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>
            <a:extLst>
              <a:ext uri="{FF2B5EF4-FFF2-40B4-BE49-F238E27FC236}">
                <a16:creationId xmlns:a16="http://schemas.microsoft.com/office/drawing/2014/main" id="{E6603161-2085-F6BE-8A89-AEE3E557F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14400"/>
            <a:ext cx="75438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51) Le mécanisme </a:t>
            </a:r>
            <a:r>
              <a:rPr lang="fr-FR" altLang="fr-FR" sz="2400" b="1" dirty="0" err="1"/>
              <a:t>étiopathogénique</a:t>
            </a:r>
            <a:r>
              <a:rPr lang="fr-FR" altLang="fr-FR" sz="2400" b="1" dirty="0"/>
              <a:t> de la diarrhée constatée chez cette patiente serait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A- Diarrhée sécrétoire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B- Diarrhée exsudative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Diarrhée motrice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E- Diarrhée fonctionnelle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>
            <a:extLst>
              <a:ext uri="{FF2B5EF4-FFF2-40B4-BE49-F238E27FC236}">
                <a16:creationId xmlns:a16="http://schemas.microsoft.com/office/drawing/2014/main" id="{B016B91D-1F74-9C77-AA78-A92F74685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914400"/>
            <a:ext cx="75438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51) Le mécanisme </a:t>
            </a:r>
            <a:r>
              <a:rPr lang="fr-FR" altLang="fr-FR" sz="2400" b="1" dirty="0" err="1"/>
              <a:t>étiopathogénique</a:t>
            </a:r>
            <a:r>
              <a:rPr lang="fr-FR" altLang="fr-FR" sz="2400" b="1" dirty="0"/>
              <a:t> de la diarrhée constatée chez cette patiente serait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A- Diarrhée sécrétoire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B- Diarrhée exsudative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D- Diarrhée motrice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fr-FR" altLang="fr-FR" sz="2400" dirty="0"/>
              <a:t>E- Diarrhée fonctionnelle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>
            <a:extLst>
              <a:ext uri="{FF2B5EF4-FFF2-40B4-BE49-F238E27FC236}">
                <a16:creationId xmlns:a16="http://schemas.microsoft.com/office/drawing/2014/main" id="{858F8895-B3D6-C8A3-5CF4-C7343D9B6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14400"/>
            <a:ext cx="7696200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52) L’origine la plus probable de l’anémie présentée par cette patiente serait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A- Carence en vitamine B12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B- Carence martiale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C- Carence en folates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D- Hémolyse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E- Inflammatoire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>
            <a:extLst>
              <a:ext uri="{FF2B5EF4-FFF2-40B4-BE49-F238E27FC236}">
                <a16:creationId xmlns:a16="http://schemas.microsoft.com/office/drawing/2014/main" id="{A09DB9A3-156F-AEC5-D921-2362F4EE8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14400"/>
            <a:ext cx="7696200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None/>
            </a:pPr>
            <a:r>
              <a:rPr lang="fr-FR" altLang="fr-FR" sz="2400" b="1" dirty="0"/>
              <a:t>52) L’origine la plus probable de l’anémie présentée par cette patiente serait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A- Carence en vitamine B12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Carence martiale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C- Carence en folates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D- Hémolyse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/>
              <a:t>E- Inflammatoire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>
            <a:extLst>
              <a:ext uri="{FF2B5EF4-FFF2-40B4-BE49-F238E27FC236}">
                <a16:creationId xmlns:a16="http://schemas.microsoft.com/office/drawing/2014/main" id="{82894B7B-7131-E66B-E5B3-7515D2F67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n°3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>
            <a:extLst>
              <a:ext uri="{FF2B5EF4-FFF2-40B4-BE49-F238E27FC236}">
                <a16:creationId xmlns:a16="http://schemas.microsoft.com/office/drawing/2014/main" id="{1B300719-D660-024C-3CF3-F56A28769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8229600" cy="5442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0000"/>
                </a:solidFill>
              </a:rPr>
              <a:t>   Patient âgé de 62 ans, sans antécédents pathologiques, consulte pour une diarrhée faite de 5 selles </a:t>
            </a:r>
            <a:r>
              <a:rPr lang="fr-FR" altLang="fr-FR" sz="1800" b="1" dirty="0" err="1">
                <a:solidFill>
                  <a:srgbClr val="000000"/>
                </a:solidFill>
              </a:rPr>
              <a:t>glairo</a:t>
            </a:r>
            <a:r>
              <a:rPr lang="fr-FR" altLang="fr-FR" sz="1800" b="1" dirty="0">
                <a:solidFill>
                  <a:srgbClr val="000000"/>
                </a:solidFill>
              </a:rPr>
              <a:t>-sanglantes par jour avec un syndrome rectal évoluant depuis 2 mois. A l’examen physique : T° : 37°, pouls : 80 bpm, abdomen souple et indolore, fissure anale latérale (à 9h en position </a:t>
            </a:r>
            <a:r>
              <a:rPr lang="fr-FR" altLang="fr-FR" sz="1800" b="1" dirty="0" err="1">
                <a:solidFill>
                  <a:srgbClr val="000000"/>
                </a:solidFill>
              </a:rPr>
              <a:t>genu-pectoral</a:t>
            </a:r>
            <a:r>
              <a:rPr lang="fr-FR" altLang="fr-FR" sz="1800" b="1" dirty="0">
                <a:solidFill>
                  <a:srgbClr val="000000"/>
                </a:solidFill>
              </a:rPr>
              <a:t>). À la biologie : CRP = 40 mg/L, GB = 7000 /mm3, </a:t>
            </a:r>
            <a:r>
              <a:rPr lang="fr-FR" altLang="fr-FR" sz="1800" b="1" dirty="0" err="1">
                <a:solidFill>
                  <a:srgbClr val="000000"/>
                </a:solidFill>
              </a:rPr>
              <a:t>Hb</a:t>
            </a:r>
            <a:r>
              <a:rPr lang="fr-FR" altLang="fr-FR" sz="1800" b="1" dirty="0">
                <a:solidFill>
                  <a:srgbClr val="000000"/>
                </a:solidFill>
              </a:rPr>
              <a:t> = 10.1 g/</a:t>
            </a:r>
            <a:r>
              <a:rPr lang="fr-FR" altLang="fr-FR" sz="1800" b="1" dirty="0" err="1">
                <a:solidFill>
                  <a:srgbClr val="000000"/>
                </a:solidFill>
              </a:rPr>
              <a:t>dL</a:t>
            </a:r>
            <a:r>
              <a:rPr lang="fr-FR" altLang="fr-FR" sz="1800" b="1" dirty="0">
                <a:solidFill>
                  <a:srgbClr val="000000"/>
                </a:solidFill>
              </a:rPr>
              <a:t>, albumine = 27 g/L. L’examen parasitologique des selles est négatif. A la coloscopie : le rectum et le colon sont diffusément atteints sans intervalle de muqueuse saine ; la muqueuse est congestive, granitée, très saignante au contact, siège de quelques ulcérations superficielles de taille variable. L’iléon est normal. Les biopsies coliques ont objectivé des ulcérations limitées à la muqueuse associées à un infiltrat inflammatoire du chorion et à des abcès cryptiques. Le diagnostic de RCH est évoqué.</a:t>
            </a:r>
            <a:endParaRPr lang="fr-FR" altLang="fr-FR" sz="1600" b="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>
            <a:extLst>
              <a:ext uri="{FF2B5EF4-FFF2-40B4-BE49-F238E27FC236}">
                <a16:creationId xmlns:a16="http://schemas.microsoft.com/office/drawing/2014/main" id="{254CCC88-B837-8F83-B802-4D85EC1C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772400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53) Le mécanisme le plus plausible de la diarrhée constatée chez ce patient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A- Diarrhée sécrétoire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B- Diarrhée exsudative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D- Diarrhée motrice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Diarrhée fonctionnelle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>
            <a:extLst>
              <a:ext uri="{FF2B5EF4-FFF2-40B4-BE49-F238E27FC236}">
                <a16:creationId xmlns:a16="http://schemas.microsoft.com/office/drawing/2014/main" id="{115ECC88-5569-901A-4DD0-F4CBBB92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772400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53) Le mécanisme le plus plausible de la diarrhée constatée chez ce patient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A- Diarrhée sécrétoire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Diarrhée exsudative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D- Diarrhée motrice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Diarrhée fonctionnelle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>
            <a:extLst>
              <a:ext uri="{FF2B5EF4-FFF2-40B4-BE49-F238E27FC236}">
                <a16:creationId xmlns:a16="http://schemas.microsoft.com/office/drawing/2014/main" id="{3C04C602-9334-B299-69EA-99C02F7C6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82296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54) Vous retenez en faveur du diagnostic de RCH chez ce patient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A- Lésions endoscopiques sans intervalle de muqueuse saine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B- Muqueuse très saignante au contact (fragilité).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C- Iléon normal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D- Ulcérations limitées à la muqueuse à l’histologie.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Diarrhée exsudative.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>
            <a:extLst>
              <a:ext uri="{FF2B5EF4-FFF2-40B4-BE49-F238E27FC236}">
                <a16:creationId xmlns:a16="http://schemas.microsoft.com/office/drawing/2014/main" id="{3FD316E6-32B4-780D-667A-46564E334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82296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54) Vous retenez en faveur du diagnostic de RCH chez ce patient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Lésions endoscopiques sans intervalle de muqueuse saine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Muqueuse très saignante au contact (fragilité).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Iléon normal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Ulcérations limitées à la muqueuse à l’histologie.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Diarrhée exsudative.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">
            <a:extLst>
              <a:ext uri="{FF2B5EF4-FFF2-40B4-BE49-F238E27FC236}">
                <a16:creationId xmlns:a16="http://schemas.microsoft.com/office/drawing/2014/main" id="{614642B4-464B-DD95-3AF0-28DA769D9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4400"/>
            <a:ext cx="76962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55) Le(s) élément(s) qui vous font évoquer l’hypothèse d’une maladie de </a:t>
            </a:r>
            <a:r>
              <a:rPr lang="fr-FR" altLang="fr-FR" sz="2400" b="1" dirty="0" err="1">
                <a:solidFill>
                  <a:srgbClr val="000000"/>
                </a:solidFill>
              </a:rPr>
              <a:t>Crohn</a:t>
            </a:r>
            <a:r>
              <a:rPr lang="fr-FR" altLang="fr-FR" sz="2400" b="1" dirty="0">
                <a:solidFill>
                  <a:srgbClr val="000000"/>
                </a:solidFill>
              </a:rPr>
              <a:t> chez ce patient est(sont)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A- Age avancé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B- Syndrome rectal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C- Abcès cryptiques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D- Fissure anale latérale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Hypoalbuminémie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>
            <a:extLst>
              <a:ext uri="{FF2B5EF4-FFF2-40B4-BE49-F238E27FC236}">
                <a16:creationId xmlns:a16="http://schemas.microsoft.com/office/drawing/2014/main" id="{27DAD2D2-6C1F-96EB-07F3-48F4EE680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4400"/>
            <a:ext cx="76962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</a:rPr>
              <a:t>55) Le(s) élément(s) qui vous font évoquer l’hypothèse d’une maladie de </a:t>
            </a:r>
            <a:r>
              <a:rPr lang="fr-FR" altLang="fr-FR" sz="2400" b="1" dirty="0" err="1">
                <a:solidFill>
                  <a:srgbClr val="000000"/>
                </a:solidFill>
              </a:rPr>
              <a:t>Crohn</a:t>
            </a:r>
            <a:r>
              <a:rPr lang="fr-FR" altLang="fr-FR" sz="2400" b="1" dirty="0">
                <a:solidFill>
                  <a:srgbClr val="000000"/>
                </a:solidFill>
              </a:rPr>
              <a:t> chez ce patient est(sont) 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A- Age avancé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B- Syndrome rectal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C- Abcès cryptiques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Fissure anale latérale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fr-FR" altLang="fr-FR" sz="2400" dirty="0">
                <a:solidFill>
                  <a:srgbClr val="000000"/>
                </a:solidFill>
              </a:rPr>
              <a:t>E- Hypoalbuminémie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>
            <a:extLst>
              <a:ext uri="{FF2B5EF4-FFF2-40B4-BE49-F238E27FC236}">
                <a16:creationId xmlns:a16="http://schemas.microsoft.com/office/drawing/2014/main" id="{EAEE3FEC-0FB6-B5E4-34BE-9D907AD31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n°4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>
            <a:extLst>
              <a:ext uri="{FF2B5EF4-FFF2-40B4-BE49-F238E27FC236}">
                <a16:creationId xmlns:a16="http://schemas.microsoft.com/office/drawing/2014/main" id="{C8C8C7F8-009F-D19C-223C-6284B7BBC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2813"/>
            <a:ext cx="754380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Patiente âgée de 28 ans, sans antécédents personnels ou familiaux notables, consulte pour une diarrhée intermittente évoluant depuis 2 ans faite de 4 à 5 selles /24h, liquidienne, non sanglante, diurne, impérieuse, post prandiale précoce et contenant des aliments non digérés. L’interrogatoire trouve la notion de douleurs abdominales modérées des deux flancs avec un ballonnement abdominal. A noter l’absence de prise médicamenteuse et l’absence d’amaigrissement. L’examen clinique est sans particularités. La NFS et la CRP étaient normales.</a:t>
            </a:r>
            <a:endParaRPr lang="fr-FR" altLang="fr-FR" sz="1800" b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>
            <a:extLst>
              <a:ext uri="{FF2B5EF4-FFF2-40B4-BE49-F238E27FC236}">
                <a16:creationId xmlns:a16="http://schemas.microsoft.com/office/drawing/2014/main" id="{45A6C702-8346-4A84-C1B2-4E841525D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093788"/>
            <a:ext cx="7696200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56) Le mécanisme le plus probable de cette diarrhée serait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Diarrhée sécrétoire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Diarrhée exsudative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Diarrhée motrice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Diarrhée fonctionnelle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>
            <a:extLst>
              <a:ext uri="{FF2B5EF4-FFF2-40B4-BE49-F238E27FC236}">
                <a16:creationId xmlns:a16="http://schemas.microsoft.com/office/drawing/2014/main" id="{B3AE8BB4-7E0A-B3F0-DE72-080C5A2B1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093788"/>
            <a:ext cx="7696200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56) Le mécanisme le plus probable de cette diarrhée serait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Diarrhée sécrétoire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Diarrhée exsudative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Diarrhée par malabsorption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Diarrhée motrice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Diarrhée fonctionnelle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>
            <a:extLst>
              <a:ext uri="{FF2B5EF4-FFF2-40B4-BE49-F238E27FC236}">
                <a16:creationId xmlns:a16="http://schemas.microsoft.com/office/drawing/2014/main" id="{53E05FF4-C29F-069E-A695-CAC8BF67D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57) Le diagnostic que vous évoquez en premier chez cette patiente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Cancer colorectal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Lymphome intestinal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Trouble fonctionnel intestinal.</a:t>
            </a:r>
            <a:r>
              <a:rPr lang="fr-FR" altLang="fr-FR" sz="2400" dirty="0">
                <a:solidFill>
                  <a:srgbClr val="3333FF"/>
                </a:solidFill>
              </a:rPr>
              <a:t>      </a:t>
            </a:r>
            <a:r>
              <a:rPr lang="fr-FR" altLang="fr-FR" sz="2400" dirty="0">
                <a:solidFill>
                  <a:srgbClr val="FF0000"/>
                </a:solidFill>
              </a:rPr>
              <a:t> </a:t>
            </a:r>
            <a:endParaRPr lang="fr-FR" altLang="fr-FR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>
            <a:extLst>
              <a:ext uri="{FF2B5EF4-FFF2-40B4-BE49-F238E27FC236}">
                <a16:creationId xmlns:a16="http://schemas.microsoft.com/office/drawing/2014/main" id="{ADF7961F-0EF4-F4C9-0132-99323D9F4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57) Le diagnostic que vous évoquez en premier chez cette patiente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Maladie de </a:t>
            </a:r>
            <a:r>
              <a:rPr lang="fr-FR" altLang="fr-FR" sz="2400" dirty="0" err="1"/>
              <a:t>Crohn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Cancer colorectal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Lymphome intestinal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Trouble fonctionnel intestinal.      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>
            <a:extLst>
              <a:ext uri="{FF2B5EF4-FFF2-40B4-BE49-F238E27FC236}">
                <a16:creationId xmlns:a16="http://schemas.microsoft.com/office/drawing/2014/main" id="{F934B360-EC16-6FD5-05C4-305D92AF2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58) Vos proposez pour cette patiente à ce stade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Une échographie abdominale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entéro-IRM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Aucune exploration n’est indiquée.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>
            <a:extLst>
              <a:ext uri="{FF2B5EF4-FFF2-40B4-BE49-F238E27FC236}">
                <a16:creationId xmlns:a16="http://schemas.microsoft.com/office/drawing/2014/main" id="{CE7BE747-28C9-A190-532D-1CE78D632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58) Vos proposez pour cette patiente à ce stade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Une échographie abdominale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entéro-IRM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Aucune exploration n’est indiquée.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>
            <a:extLst>
              <a:ext uri="{FF2B5EF4-FFF2-40B4-BE49-F238E27FC236}">
                <a16:creationId xmlns:a16="http://schemas.microsoft.com/office/drawing/2014/main" id="{BCE50218-10AF-A0C4-2030-52D66E024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n°5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>
            <a:extLst>
              <a:ext uri="{FF2B5EF4-FFF2-40B4-BE49-F238E27FC236}">
                <a16:creationId xmlns:a16="http://schemas.microsoft.com/office/drawing/2014/main" id="{D63ED1B4-41BF-EDF8-7B75-324C6BC1E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12813"/>
            <a:ext cx="7620000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Patiente âgée de 30 ans, d’origine rurale, consulte pour une diarrhée faite de 3 à 4 selles liquidiennes par jour associée à des douleurs de la fosse iliaque droite évoluant depuis 3 mois et à un amaigrissement de 3 Kg. L’examen physique trouve une température à 37°C et une sensibilité de la fosse iliaque droite. Le bilan biologique : </a:t>
            </a:r>
            <a:r>
              <a:rPr lang="fr-FR" altLang="fr-FR" sz="2000" b="1" dirty="0" err="1"/>
              <a:t>Hb</a:t>
            </a:r>
            <a:r>
              <a:rPr lang="fr-FR" altLang="fr-FR" sz="2000" b="1" dirty="0"/>
              <a:t>= 9g/</a:t>
            </a:r>
            <a:r>
              <a:rPr lang="fr-FR" altLang="fr-FR" sz="2000" b="1" dirty="0" err="1"/>
              <a:t>dL</a:t>
            </a:r>
            <a:r>
              <a:rPr lang="fr-FR" altLang="fr-FR" sz="2000" b="1" dirty="0"/>
              <a:t>, VGM = 78, TCMH = 25, réticulocytes = 50 000/mm3 ; GB = 5600/mm3, plaquettes = 520 000 / mm3 ; CRP = 55 mg/L.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L’échographie abdominale a montré un épaississement du carrefour iléo-caecal.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Le diagnostic de maladie de </a:t>
            </a:r>
            <a:r>
              <a:rPr lang="fr-FR" altLang="fr-FR" sz="2000" b="1" dirty="0" err="1"/>
              <a:t>Crohn</a:t>
            </a:r>
            <a:r>
              <a:rPr lang="fr-FR" altLang="fr-FR" sz="2000" b="1" dirty="0"/>
              <a:t> iléo-caecale est évoqué.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>
            <a:extLst>
              <a:ext uri="{FF2B5EF4-FFF2-40B4-BE49-F238E27FC236}">
                <a16:creationId xmlns:a16="http://schemas.microsoft.com/office/drawing/2014/main" id="{2E7ACA09-24FF-A840-FB4A-6D1583C77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59) Les deux principaux diagnostics différentiels à évoquer devant ce tableau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Tuberculose intestinale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Iléite infectieuse à salmonelles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Lymphome intestinal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Trouble fonctionnel intestinal.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>
            <a:extLst>
              <a:ext uri="{FF2B5EF4-FFF2-40B4-BE49-F238E27FC236}">
                <a16:creationId xmlns:a16="http://schemas.microsoft.com/office/drawing/2014/main" id="{B7E44A38-26C1-9200-58FE-B738495D7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59) Les deux principaux diagnostics différentiels à évoquer devant ce tableau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Tuberculose intestinale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Iléite infectieuse à salmonelles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Lymphome intestinal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Trouble fonctionnel intestinal.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>
            <a:extLst>
              <a:ext uri="{FF2B5EF4-FFF2-40B4-BE49-F238E27FC236}">
                <a16:creationId xmlns:a16="http://schemas.microsoft.com/office/drawing/2014/main" id="{4F1DB6A7-CF21-95F3-4DB5-3EF3F5CCA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60) Le premier examen complémentaire à demander pour étayer le diagnostic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Une recherche de BK dans les crachats.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iléo-coloscopie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Une intradermoréaction à la tuberculine (IDR)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>
            <a:extLst>
              <a:ext uri="{FF2B5EF4-FFF2-40B4-BE49-F238E27FC236}">
                <a16:creationId xmlns:a16="http://schemas.microsoft.com/office/drawing/2014/main" id="{3924DA62-1366-B7B1-5626-7E5F6E77D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60) Le premier examen complémentaire à demander pour étayer le diagnostic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Une recherche de BK dans les crachats.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Une iléo-coloscopie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Une intradermoréaction à la tuberculine (IDR)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>
            <a:extLst>
              <a:ext uri="{FF2B5EF4-FFF2-40B4-BE49-F238E27FC236}">
                <a16:creationId xmlns:a16="http://schemas.microsoft.com/office/drawing/2014/main" id="{D1837AE0-5040-138A-6337-936C9C898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61) Le(s) mécanisme(s) de l’anémie constatée chez cette patiente est(sont)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Carence en vitamine B12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Carence martiale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Carence en folates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Hémolyse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Inflammatoire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>
            <a:extLst>
              <a:ext uri="{FF2B5EF4-FFF2-40B4-BE49-F238E27FC236}">
                <a16:creationId xmlns:a16="http://schemas.microsoft.com/office/drawing/2014/main" id="{9AF852B9-89F0-B705-11B0-9AD88C37B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61) Le(s) mécanisme(s) de l’anémie constatée chez cette patiente est(sont)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Carence en vitamine B12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Carence martiale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Carence en folates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Hémolyse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Inflammatoire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>
            <a:extLst>
              <a:ext uri="{FF2B5EF4-FFF2-40B4-BE49-F238E27FC236}">
                <a16:creationId xmlns:a16="http://schemas.microsoft.com/office/drawing/2014/main" id="{F63DB8C1-07D6-FE86-59DE-163205310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n°6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>
            <a:extLst>
              <a:ext uri="{FF2B5EF4-FFF2-40B4-BE49-F238E27FC236}">
                <a16:creationId xmlns:a16="http://schemas.microsoft.com/office/drawing/2014/main" id="{B4FFBC31-0D9A-540D-1D23-6BDF9417A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2813"/>
            <a:ext cx="7543800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Mme </a:t>
            </a:r>
            <a:r>
              <a:rPr lang="fr-FR" altLang="fr-FR" sz="2000" dirty="0" err="1"/>
              <a:t>Salha</a:t>
            </a:r>
            <a:r>
              <a:rPr lang="fr-FR" altLang="fr-FR" sz="2000" dirty="0"/>
              <a:t> A., âgée de 28 ans, aux antécédents de diabète de type1 sous insuline, est hospitalisée pour une diarrhée liquidienne à raison de 5 à 7 selles/ jour évoluant depuis 4 mois associée à une asthénie et à un amaigrissement de 3 Kg. L’examen physique montre une pâleur cutanéo-muqueuse sans autres anomalies. Le bilan biologique montre : Hémoglobine = 9,5 g/dl ; VGM = 73 μ3 ; GB = 5200/ mm3 ; plaquettes = 500 000/mm3 , Na+= 142 </a:t>
            </a:r>
            <a:r>
              <a:rPr lang="fr-FR" altLang="fr-FR" sz="2000" dirty="0" err="1"/>
              <a:t>mmol</a:t>
            </a:r>
            <a:r>
              <a:rPr lang="fr-FR" altLang="fr-FR" sz="2000" dirty="0"/>
              <a:t>/L ; K+ = 3 </a:t>
            </a:r>
            <a:r>
              <a:rPr lang="fr-FR" altLang="fr-FR" sz="2000" dirty="0" err="1"/>
              <a:t>mmol</a:t>
            </a:r>
            <a:r>
              <a:rPr lang="fr-FR" altLang="fr-FR" sz="2000" dirty="0"/>
              <a:t>/L, Urée = 10 </a:t>
            </a:r>
            <a:r>
              <a:rPr lang="fr-FR" altLang="fr-FR" sz="2000" dirty="0" err="1"/>
              <a:t>mmol</a:t>
            </a:r>
            <a:r>
              <a:rPr lang="fr-FR" altLang="fr-FR" sz="2000" dirty="0"/>
              <a:t>/L ; Créatininémie = 124 µmol/L, Albuminémie = 28 g/L. Ferritinémie = 8 µg/L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Une maladie cœliaque est évoquée.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">
            <a:extLst>
              <a:ext uri="{FF2B5EF4-FFF2-40B4-BE49-F238E27FC236}">
                <a16:creationId xmlns:a16="http://schemas.microsoft.com/office/drawing/2014/main" id="{FBF04FC8-9BCC-9AF0-AF36-256D22581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62) Les éléments qui vous orientent vers une maladie cœliaque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ATCDS de diabète type 1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Anémie ferriprive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Hypokaliémie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Insuffisance rénale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Hypoalbuminémie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>
            <a:extLst>
              <a:ext uri="{FF2B5EF4-FFF2-40B4-BE49-F238E27FC236}">
                <a16:creationId xmlns:a16="http://schemas.microsoft.com/office/drawing/2014/main" id="{6188A13F-3A2A-9E0C-F6BE-1DE2B5FAD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62) Les éléments qui vous orientent vers une maladie cœliaque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ATCDS de diabète type 1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Anémie ferriprive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Hypokaliémie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Insuffisance rénale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Hypoalbuminémie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">
            <a:extLst>
              <a:ext uri="{FF2B5EF4-FFF2-40B4-BE49-F238E27FC236}">
                <a16:creationId xmlns:a16="http://schemas.microsoft.com/office/drawing/2014/main" id="{10BAEE66-074C-9E26-C5C5-67C488BA9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63) L'examen à pratiquer en première intention pour confirmer ce diagnostic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Dosage des anticorps de la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endoscopie digestive haute avec biopsies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</a:t>
            </a:r>
            <a:r>
              <a:rPr lang="fr-FR" altLang="fr-FR" sz="2400" dirty="0" err="1"/>
              <a:t>Fécalogramme</a:t>
            </a:r>
            <a:endParaRPr lang="fr-FR" altLang="fr-FR" sz="2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>
            <a:extLst>
              <a:ext uri="{FF2B5EF4-FFF2-40B4-BE49-F238E27FC236}">
                <a16:creationId xmlns:a16="http://schemas.microsoft.com/office/drawing/2014/main" id="{8A41122D-118E-0A33-180B-0037A038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78486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63) L'examen à pratiquer en première intention pour confirmer ce diagnostic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Dosage des anticorps de la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 entéro-scanner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Une endoscopie digestive haute avec biopsies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</a:t>
            </a:r>
            <a:r>
              <a:rPr lang="fr-FR" altLang="fr-FR" sz="2400" dirty="0" err="1"/>
              <a:t>Fécalogramme</a:t>
            </a:r>
            <a:endParaRPr lang="fr-FR" altLang="fr-FR" sz="2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>
            <a:extLst>
              <a:ext uri="{FF2B5EF4-FFF2-40B4-BE49-F238E27FC236}">
                <a16:creationId xmlns:a16="http://schemas.microsoft.com/office/drawing/2014/main" id="{1FADCFB7-12D7-CD51-BEC1-B039A5ED1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n°7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>
            <a:extLst>
              <a:ext uri="{FF2B5EF4-FFF2-40B4-BE49-F238E27FC236}">
                <a16:creationId xmlns:a16="http://schemas.microsoft.com/office/drawing/2014/main" id="{4C0C1DD9-5FD4-0038-A3BA-B574962EC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12813"/>
            <a:ext cx="754380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Mme Asma T., âgée de 33 ans est hospitalisée pour diarrhée liquidienne 4 à 5 selles /jour évoluant depuis 9 mois associée à un amaigrissement chiffré de 10 Kg en 1 an. A l’examen on note une pâleur cutanée, des cheveux cassants avec des œdèmes des membres inférieurs de type rénal.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Au bilan biologique : </a:t>
            </a:r>
            <a:r>
              <a:rPr lang="fr-FR" altLang="fr-FR" sz="2000" b="1" dirty="0" err="1"/>
              <a:t>Hb</a:t>
            </a:r>
            <a:r>
              <a:rPr lang="fr-FR" altLang="fr-FR" sz="2000" b="1" dirty="0"/>
              <a:t> = 9,5 g/</a:t>
            </a:r>
            <a:r>
              <a:rPr lang="fr-FR" altLang="fr-FR" sz="2000" b="1" dirty="0" err="1"/>
              <a:t>dL</a:t>
            </a:r>
            <a:r>
              <a:rPr lang="fr-FR" altLang="fr-FR" sz="2000" b="1" dirty="0"/>
              <a:t> ; VGM = 106 µ3 ; Albuminémie = 28 g/L ; TP = 62%,      facteur V = 80% ; Na+= 138 </a:t>
            </a:r>
            <a:r>
              <a:rPr lang="fr-FR" altLang="fr-FR" sz="2000" b="1" dirty="0" err="1"/>
              <a:t>mmol</a:t>
            </a:r>
            <a:r>
              <a:rPr lang="fr-FR" altLang="fr-FR" sz="2000" b="1" dirty="0"/>
              <a:t>/L, K+ = 3,1 </a:t>
            </a:r>
            <a:r>
              <a:rPr lang="fr-FR" altLang="fr-FR" sz="2000" b="1" dirty="0" err="1"/>
              <a:t>mmol</a:t>
            </a:r>
            <a:r>
              <a:rPr lang="fr-FR" altLang="fr-FR" sz="2000" b="1" dirty="0"/>
              <a:t>/L, glycémie = 3 </a:t>
            </a:r>
            <a:r>
              <a:rPr lang="fr-FR" altLang="fr-FR" sz="2000" b="1" dirty="0" err="1"/>
              <a:t>mmol</a:t>
            </a:r>
            <a:r>
              <a:rPr lang="fr-FR" altLang="fr-FR" sz="2000" b="1" dirty="0"/>
              <a:t>/L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La maladie cœliaque est évoquée. Une FOGD avec des biopsies duodénales ont été réalisées.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">
            <a:extLst>
              <a:ext uri="{FF2B5EF4-FFF2-40B4-BE49-F238E27FC236}">
                <a16:creationId xmlns:a16="http://schemas.microsoft.com/office/drawing/2014/main" id="{19F09DCA-487F-622B-A704-0D1E57E4E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64) Les éléments cliniques en faveur d'un syndrome de malabsorption intestinale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Diarrhée liquidienne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Pâleur cutanéo-muqueuse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Cheveux cassants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Œdèmes des membres inférieurs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>
            <a:extLst>
              <a:ext uri="{FF2B5EF4-FFF2-40B4-BE49-F238E27FC236}">
                <a16:creationId xmlns:a16="http://schemas.microsoft.com/office/drawing/2014/main" id="{6705C70C-3F60-B023-01C8-826E4DC82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64) Les éléments cliniques en faveur d'un syndrome de malabsorption intestinale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Diarrhée liquidienne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Amaigrissement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Pâleur cutanéo-muqueuse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Cheveux cassants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Œdèmes des membres inférieurs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>
            <a:extLst>
              <a:ext uri="{FF2B5EF4-FFF2-40B4-BE49-F238E27FC236}">
                <a16:creationId xmlns:a16="http://schemas.microsoft.com/office/drawing/2014/main" id="{0EACD6A9-618F-B174-0848-A3A74954F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153400" cy="467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65) Les éléments biologiques en faveur d'un syndrome de malabsorption intestinale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Anémie macrocytaire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Hypokaliémie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Hypoglycémie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TP bas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>
            <a:extLst>
              <a:ext uri="{FF2B5EF4-FFF2-40B4-BE49-F238E27FC236}">
                <a16:creationId xmlns:a16="http://schemas.microsoft.com/office/drawing/2014/main" id="{C29D64CC-FDDA-0A8D-DBBD-4B624DDD8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153400" cy="467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65) Les éléments biologiques en faveur d'un syndrome de malabsorption intestinale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Anémie macrocytaire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Hypokaliémie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Hypoglycémie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TP bas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">
            <a:extLst>
              <a:ext uri="{FF2B5EF4-FFF2-40B4-BE49-F238E27FC236}">
                <a16:creationId xmlns:a16="http://schemas.microsoft.com/office/drawing/2014/main" id="{81A9D671-35E0-025C-E103-092A53A4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77724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66) Les deux lésions histologiques, à rechercher sur les biopsies duodénales, susceptibles de confirmer le diagnostic de la maladie cœliaque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Granulomes épithélioides sans nécrose caséeuse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Atrophie villositaire totale ou subtotale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Infiltrat inflammatoire riche en plasmocytes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Augmentation des lymphocytes intra-épithéliaux.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Abcès cryptiques.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>
            <a:extLst>
              <a:ext uri="{FF2B5EF4-FFF2-40B4-BE49-F238E27FC236}">
                <a16:creationId xmlns:a16="http://schemas.microsoft.com/office/drawing/2014/main" id="{F4148EC0-49C8-FF33-1A0F-7BA3FA0B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77724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66) Les deux lésions histologiques, à rechercher sur les biopsies duodénales, susceptibles de confirmer le diagnostic de la maladie cœliaque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Granulomes épithélioides sans nécrose caséeuse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Atrophie villositaire totale ou subtotale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Infiltrat inflammatoire riche en plasmocytes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Augmentation des lymphocytes intra-épithéliaux.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Abcès cryptiques.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>
            <a:extLst>
              <a:ext uri="{FF2B5EF4-FFF2-40B4-BE49-F238E27FC236}">
                <a16:creationId xmlns:a16="http://schemas.microsoft.com/office/drawing/2014/main" id="{E6573D61-8A9D-2730-F26C-C0D61E033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7772400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67) Une surveillance régulière par une endoscopie digestive haute est indiquée chez cette patiente à la recherche d’une complication redoutable, laquelle 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Adénocarcinome duodénal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Cavitation ganglionnaire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Lymphome duodénal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Sprue réfractaire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Ulcérations jéjunales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>
            <a:extLst>
              <a:ext uri="{FF2B5EF4-FFF2-40B4-BE49-F238E27FC236}">
                <a16:creationId xmlns:a16="http://schemas.microsoft.com/office/drawing/2014/main" id="{66DE42B2-C5D9-A799-8607-8C4383B1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7772400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67) Une surveillance régulière par une endoscopie digestive haute est indiquée chez cette patiente à la recherche d’une complication redoutable, laquelle ?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Adénocarcinome duodénal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Cavitation ganglionnaire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Lymphome duodénal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Sprue réfractaire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Ulcérations jéjunales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>
            <a:extLst>
              <a:ext uri="{FF2B5EF4-FFF2-40B4-BE49-F238E27FC236}">
                <a16:creationId xmlns:a16="http://schemas.microsoft.com/office/drawing/2014/main" id="{F3772D32-8DCF-57AF-679C-CEB86FFF2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514600"/>
            <a:ext cx="33528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n°8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>
            <a:extLst>
              <a:ext uri="{FF2B5EF4-FFF2-40B4-BE49-F238E27FC236}">
                <a16:creationId xmlns:a16="http://schemas.microsoft.com/office/drawing/2014/main" id="{558646F0-BB32-C6EC-D4AF-32B16C2AB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"/>
            <a:ext cx="7924800" cy="603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Une patiente âgée de 30 ans, sans antécédents pathologiques notables, consulte pour une diarrhée faite de 6 selles /24h diurnes et nocturnes, luisantes et collant à la cuvette, avec douleurs de la fosse iliaque droite évoluant depuis 6 mois, associée à une anorexie et un amaigrissement de 3 kg en 3 mois. Il n’y a pas de notion de prise médicamenteuse. A l’examen physique, la patiente est pale, les ongles sont mous et cassants, signe de </a:t>
            </a:r>
            <a:r>
              <a:rPr lang="fr-FR" altLang="fr-FR" sz="2000" b="1" dirty="0" err="1"/>
              <a:t>Chvostek</a:t>
            </a:r>
            <a:r>
              <a:rPr lang="fr-FR" altLang="fr-FR" sz="2000" b="1" dirty="0"/>
              <a:t> est positif. Le reste de l’examen physique est sans particularités. A la biologie </a:t>
            </a:r>
            <a:r>
              <a:rPr lang="fr-FR" altLang="fr-FR" sz="2000" b="1" dirty="0" err="1"/>
              <a:t>Hb</a:t>
            </a:r>
            <a:r>
              <a:rPr lang="fr-FR" altLang="fr-FR" sz="2000" b="1" dirty="0"/>
              <a:t> = 9g/</a:t>
            </a:r>
            <a:r>
              <a:rPr lang="fr-FR" altLang="fr-FR" sz="2000" b="1" dirty="0" err="1"/>
              <a:t>dL</a:t>
            </a:r>
            <a:r>
              <a:rPr lang="fr-FR" altLang="fr-FR" sz="2000" b="1" dirty="0"/>
              <a:t>, VGM = 70µ3, TCMH = 25pg, réticulocytes = 30 000/m3 ; plaquette = 120 000/mm3, CRP = 5 mg/L, Albumine = 30g/L ; calcémie = 2 </a:t>
            </a:r>
            <a:r>
              <a:rPr lang="fr-FR" altLang="fr-FR" sz="2000" b="1" dirty="0" err="1"/>
              <a:t>mmol</a:t>
            </a:r>
            <a:r>
              <a:rPr lang="fr-FR" altLang="fr-FR" sz="2000" b="1" dirty="0"/>
              <a:t>/L ; cholestérolémie = 3 </a:t>
            </a:r>
            <a:r>
              <a:rPr lang="fr-FR" altLang="fr-FR" sz="2000" b="1" dirty="0" err="1"/>
              <a:t>mmol</a:t>
            </a:r>
            <a:r>
              <a:rPr lang="fr-FR" altLang="fr-FR" sz="2000" b="1" dirty="0"/>
              <a:t>/L (N = 3,8 à 5,2) ; ferritinémie = 10 µg/L.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>
            <a:extLst>
              <a:ext uri="{FF2B5EF4-FFF2-40B4-BE49-F238E27FC236}">
                <a16:creationId xmlns:a16="http://schemas.microsoft.com/office/drawing/2014/main" id="{E6AFB0E1-C514-1024-F492-1F72C379D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68) Chez cette patiente les éléments qui vous permettent de retenir le diagnostic d’une diarrhée chronique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diarrhée &gt; 2 selles /j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Une diarrhée &gt; 3 selles /j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Une durée de la diarrhée &gt; 7 jours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durée de la diarrhée &gt; 1 mois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Une durée de la diarrhée &gt; 6 mois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>
            <a:extLst>
              <a:ext uri="{FF2B5EF4-FFF2-40B4-BE49-F238E27FC236}">
                <a16:creationId xmlns:a16="http://schemas.microsoft.com/office/drawing/2014/main" id="{BF3FACC9-3B80-95E1-1EBF-28EE151F0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68) Chez cette patiente les éléments qui vous permettent de retenir le diagnostic d’une diarrhée chronique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diarrhée &gt; 2 selles /j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B- Une diarrhée &gt; 3 selles /j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Une durée de la diarrhée &gt; 7 jours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Une durée de la diarrhée &gt; 1 mois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Une durée de la diarrhée &gt; 6 mois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>
            <a:extLst>
              <a:ext uri="{FF2B5EF4-FFF2-40B4-BE49-F238E27FC236}">
                <a16:creationId xmlns:a16="http://schemas.microsoft.com/office/drawing/2014/main" id="{E24D722D-E156-5369-4EDF-DAE506FEC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69) Les éléments en faveur d’une diarrhée par malabsorption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Signe de </a:t>
            </a:r>
            <a:r>
              <a:rPr lang="fr-FR" altLang="fr-FR" sz="2400" dirty="0" err="1"/>
              <a:t>Chvostek</a:t>
            </a:r>
            <a:endParaRPr lang="fr-FR" altLang="fr-FR" sz="2400" dirty="0"/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Thrombopénie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Ongles mous et cassants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Hypocholestérolémie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>
            <a:extLst>
              <a:ext uri="{FF2B5EF4-FFF2-40B4-BE49-F238E27FC236}">
                <a16:creationId xmlns:a16="http://schemas.microsoft.com/office/drawing/2014/main" id="{993DEF87-B06D-77E7-0857-425A241DD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62000"/>
            <a:ext cx="8077200" cy="46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69) Les éléments en faveur d’une diarrhée par malabsorption chez cette patiente sont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A- Signe de </a:t>
            </a:r>
            <a:r>
              <a:rPr lang="fr-FR" altLang="fr-FR" sz="2400" b="1" dirty="0" err="1">
                <a:solidFill>
                  <a:srgbClr val="0000FF"/>
                </a:solidFill>
              </a:rPr>
              <a:t>Chvostek</a:t>
            </a:r>
            <a:endParaRPr lang="fr-FR" altLang="fr-FR" sz="2400" b="1" dirty="0">
              <a:solidFill>
                <a:srgbClr val="0000FF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Thrombopénie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Hypoalbuminémie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D- Ongles mous et cassants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E- Hypocholestérolémie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">
            <a:extLst>
              <a:ext uri="{FF2B5EF4-FFF2-40B4-BE49-F238E27FC236}">
                <a16:creationId xmlns:a16="http://schemas.microsoft.com/office/drawing/2014/main" id="{D375535E-BF29-6E56-A677-73164D2A5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62000"/>
            <a:ext cx="8763000" cy="467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70) Le premier examen complémentaire à visée étiologique que vous demanderiez chez cette patiente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 dosage des anticorps de la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C- Une iléo-coloscopie avec biopsies iléales et coliques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endoscopie digestive haute avec biopsies duodénales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 dosage de la </a:t>
            </a:r>
            <a:r>
              <a:rPr lang="fr-FR" altLang="fr-FR" sz="2400" dirty="0" err="1"/>
              <a:t>calprotectine</a:t>
            </a:r>
            <a:r>
              <a:rPr lang="fr-FR" altLang="fr-FR" sz="2400" dirty="0"/>
              <a:t> fécale 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>
            <a:extLst>
              <a:ext uri="{FF2B5EF4-FFF2-40B4-BE49-F238E27FC236}">
                <a16:creationId xmlns:a16="http://schemas.microsoft.com/office/drawing/2014/main" id="{30F4FA22-89C9-A0F6-8FE8-46FFEC46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62000"/>
            <a:ext cx="8763000" cy="467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/>
              <a:t>70) Le premier examen complémentaire à visée étiologique que vous demanderiez chez cette patiente est 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A- Une entéro-IRM.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B- Un dosage des anticorps de la maladie cœliaque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b="1" dirty="0">
                <a:solidFill>
                  <a:srgbClr val="0000FF"/>
                </a:solidFill>
              </a:rPr>
              <a:t>C- Une iléo-coloscopie avec biopsies iléales et coliques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D- Une endoscopie digestive haute avec biopsies duodénales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fr-FR" altLang="fr-FR" sz="2400" dirty="0"/>
              <a:t>E- Un dosage de la </a:t>
            </a:r>
            <a:r>
              <a:rPr lang="fr-FR" altLang="fr-FR" sz="2400" dirty="0" err="1"/>
              <a:t>calprotectine</a:t>
            </a:r>
            <a:r>
              <a:rPr lang="fr-FR" altLang="fr-FR" sz="2400" dirty="0"/>
              <a:t> fécale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">
            <a:extLst>
              <a:ext uri="{FF2B5EF4-FFF2-40B4-BE49-F238E27FC236}">
                <a16:creationId xmlns:a16="http://schemas.microsoft.com/office/drawing/2014/main" id="{A823739E-B76C-6F70-BCA6-4D2781DA0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2514600"/>
            <a:ext cx="3465512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b="1">
                <a:solidFill>
                  <a:srgbClr val="CC3399"/>
                </a:solidFill>
              </a:rPr>
              <a:t>Cas clinique n°9</a:t>
            </a:r>
            <a:endParaRPr lang="fr-FR" altLang="fr-FR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ZoneTexte 3">
            <a:extLst>
              <a:ext uri="{FF2B5EF4-FFF2-40B4-BE49-F238E27FC236}">
                <a16:creationId xmlns:a16="http://schemas.microsoft.com/office/drawing/2014/main" id="{CFAF306C-4A56-D20D-9886-5F8975C87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27150"/>
            <a:ext cx="7772400" cy="339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fr-FR" altLang="fr-FR" sz="2000" b="1" dirty="0">
                <a:cs typeface="Calibri" panose="020F0502020204030204" pitchFamily="34" charset="0"/>
              </a:rPr>
              <a:t>Une patiente âgée de 30 ans, sans antécédents pathologiques, se plaint depuis 3 ans de douleurs abdominales récurrentes, soulagées par l’émission des gaz et associées à une diarrhée liquidienne, faite de 5 selles/24 heures, diurne, postprandiale précoce, impérieuse et contenant des aliments non digérés.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fr-FR" altLang="fr-FR" sz="2000" b="1" dirty="0">
                <a:cs typeface="Calibri" panose="020F0502020204030204" pitchFamily="34" charset="0"/>
              </a:rPr>
              <a:t>Pas de notion d’amaigrissement. Pas de notion de prise médicamenteuse L’examen physique est normal.</a:t>
            </a:r>
            <a:endParaRPr lang="fr-FR" altLang="fr-FR" sz="1800" b="1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>
            <a:extLst>
              <a:ext uri="{FF2B5EF4-FFF2-40B4-BE49-F238E27FC236}">
                <a16:creationId xmlns:a16="http://schemas.microsoft.com/office/drawing/2014/main" id="{931C53EF-BA82-6A3A-5733-A0F307675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8229600" cy="3690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71) Le mécanisme principal de la diarrhée chez cette patiente est :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A- Une diarrhée exsudative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B- Une diarrhée sécrétoire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C- Une diarrhée osmotique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D- Une diarrhée motrice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E- Une diarrhée par malabsorption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>
            <a:extLst>
              <a:ext uri="{FF2B5EF4-FFF2-40B4-BE49-F238E27FC236}">
                <a16:creationId xmlns:a16="http://schemas.microsoft.com/office/drawing/2014/main" id="{9A62112B-1656-4079-C2E2-AF270ED2B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8229600" cy="3690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71) Le mécanisme principal de la diarrhée chez cette patiente est :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A- Une diarrhée exsudative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B- Une diarrhée sécrétoire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C- Une diarrhée osmotique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D- Une diarrhée motrice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E- Une diarrhée par malabsorption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">
            <a:extLst>
              <a:ext uri="{FF2B5EF4-FFF2-40B4-BE49-F238E27FC236}">
                <a16:creationId xmlns:a16="http://schemas.microsoft.com/office/drawing/2014/main" id="{CC5199B2-4F4C-BCEC-01BA-AF612A088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80772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72) Les éléments en faveur du diagnostic de troubles fonctionnels intestinaux chez cette patiente sont :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A- La chronicité des symptômes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B- L’âge jeune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C- L’absence d’amaigrissement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D- Le nombre faible de selles par jours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E- L’horaire diurne des symptômes.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">
            <a:extLst>
              <a:ext uri="{FF2B5EF4-FFF2-40B4-BE49-F238E27FC236}">
                <a16:creationId xmlns:a16="http://schemas.microsoft.com/office/drawing/2014/main" id="{7F1B5589-B5F6-9AD1-3947-E8A282B9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80772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72) Les éléments en faveur du diagnostic de troubles fonctionnels intestinaux chez cette patiente sont :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A- La chronicité des symptômes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B- L’âge jeune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C- L’absence d’amaigrissement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D- Le nombre faible de selles par jours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E- L’horaire diurne des symptômes.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">
            <a:extLst>
              <a:ext uri="{FF2B5EF4-FFF2-40B4-BE49-F238E27FC236}">
                <a16:creationId xmlns:a16="http://schemas.microsoft.com/office/drawing/2014/main" id="{47106BFC-8571-57C4-DAED-6DD6751F2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8077200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73) La patiente vous a consulté un an plus tard avec une diarrhée liquidienne associée à des épisodes de constipation évoluant depuis 3 mois. Vous proposez en premier chez cette patiente :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A- Un </a:t>
            </a:r>
            <a:r>
              <a:rPr lang="fr-FR" altLang="fr-FR" sz="2000" dirty="0" err="1"/>
              <a:t>entéroscanner</a:t>
            </a:r>
            <a:endParaRPr lang="fr-FR" altLang="fr-FR" sz="2000" dirty="0"/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B- Une coloscopie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C- Un bilan de malabsorption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D- Un bilan thyroïdien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E- Un traitement symptomatique sans aucune exploration complémentaire.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">
            <a:extLst>
              <a:ext uri="{FF2B5EF4-FFF2-40B4-BE49-F238E27FC236}">
                <a16:creationId xmlns:a16="http://schemas.microsoft.com/office/drawing/2014/main" id="{DF49237E-BDBA-9038-6067-4A7D2A8A5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8077200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/>
              <a:t>73) La patiente vous a consulté un an plus tard avec une diarrhée liquidienne associée à des épisodes de constipation évoluant depuis 2 mois. Vous proposez en premier chez cette patiente :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A- Un </a:t>
            </a:r>
            <a:r>
              <a:rPr lang="fr-FR" altLang="fr-FR" sz="2000" dirty="0" err="1"/>
              <a:t>entéroscanner</a:t>
            </a:r>
            <a:endParaRPr lang="fr-FR" altLang="fr-FR" sz="2000" dirty="0"/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00FF"/>
                </a:solidFill>
              </a:rPr>
              <a:t>B- Une coloscopie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C- Un bilan de malabsorption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D- Un bilan thyroïdien</a:t>
            </a:r>
          </a:p>
          <a:p>
            <a:pPr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fr-FR" altLang="fr-FR" sz="2000" dirty="0"/>
              <a:t>E- Un traitement symptomatique sans aucune exploration complémentaire.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">
            <a:extLst>
              <a:ext uri="{FF2B5EF4-FFF2-40B4-BE49-F238E27FC236}">
                <a16:creationId xmlns:a16="http://schemas.microsoft.com/office/drawing/2014/main" id="{12981792-930C-4421-214A-6D9CCEC71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0"/>
            <a:ext cx="721995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3333FF"/>
                </a:solidFill>
              </a:rPr>
              <a:t>Diarrhée chronique</a:t>
            </a:r>
            <a:r>
              <a:rPr lang="fr-FR" altLang="fr-FR" sz="2000">
                <a:solidFill>
                  <a:srgbClr val="3333FF"/>
                </a:solidFill>
              </a:rPr>
              <a:t>    </a:t>
            </a:r>
            <a:r>
              <a:rPr lang="fr-FR" altLang="fr-FR" sz="1800">
                <a:solidFill>
                  <a:srgbClr val="FF0000"/>
                </a:solidFill>
              </a:rPr>
              <a:t> </a:t>
            </a:r>
            <a:endParaRPr lang="fr-FR" altLang="fr-FR" sz="1800">
              <a:solidFill>
                <a:srgbClr val="C00000"/>
              </a:solidFill>
            </a:endParaRPr>
          </a:p>
        </p:txBody>
      </p:sp>
      <p:sp>
        <p:nvSpPr>
          <p:cNvPr id="5" name="Flèche : en arc 4">
            <a:extLst>
              <a:ext uri="{FF2B5EF4-FFF2-40B4-BE49-F238E27FC236}">
                <a16:creationId xmlns:a16="http://schemas.microsoft.com/office/drawing/2014/main" id="{77968926-C0CE-40DD-9F9B-990CFA1544DE}"/>
              </a:ext>
            </a:extLst>
          </p:cNvPr>
          <p:cNvSpPr/>
          <p:nvPr/>
        </p:nvSpPr>
        <p:spPr>
          <a:xfrm>
            <a:off x="2854325" y="1154113"/>
            <a:ext cx="3263900" cy="3265487"/>
          </a:xfrm>
          <a:prstGeom prst="circularArrow">
            <a:avLst>
              <a:gd name="adj1" fmla="val 5544"/>
              <a:gd name="adj2" fmla="val 330680"/>
              <a:gd name="adj3" fmla="val 14488051"/>
              <a:gd name="adj4" fmla="val 16966103"/>
              <a:gd name="adj5" fmla="val 5757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24DD18DC-A34F-4AA2-987A-EBCF6E7A06D0}"/>
              </a:ext>
            </a:extLst>
          </p:cNvPr>
          <p:cNvSpPr/>
          <p:nvPr/>
        </p:nvSpPr>
        <p:spPr>
          <a:xfrm>
            <a:off x="3967892" y="1225698"/>
            <a:ext cx="1036489" cy="418411"/>
          </a:xfrm>
          <a:custGeom>
            <a:avLst/>
            <a:gdLst>
              <a:gd name="connsiteX0" fmla="*/ 0 w 1036489"/>
              <a:gd name="connsiteY0" fmla="*/ 69737 h 418411"/>
              <a:gd name="connsiteX1" fmla="*/ 69737 w 1036489"/>
              <a:gd name="connsiteY1" fmla="*/ 0 h 418411"/>
              <a:gd name="connsiteX2" fmla="*/ 966752 w 1036489"/>
              <a:gd name="connsiteY2" fmla="*/ 0 h 418411"/>
              <a:gd name="connsiteX3" fmla="*/ 1036489 w 1036489"/>
              <a:gd name="connsiteY3" fmla="*/ 69737 h 418411"/>
              <a:gd name="connsiteX4" fmla="*/ 1036489 w 1036489"/>
              <a:gd name="connsiteY4" fmla="*/ 348674 h 418411"/>
              <a:gd name="connsiteX5" fmla="*/ 966752 w 1036489"/>
              <a:gd name="connsiteY5" fmla="*/ 418411 h 418411"/>
              <a:gd name="connsiteX6" fmla="*/ 69737 w 1036489"/>
              <a:gd name="connsiteY6" fmla="*/ 418411 h 418411"/>
              <a:gd name="connsiteX7" fmla="*/ 0 w 1036489"/>
              <a:gd name="connsiteY7" fmla="*/ 348674 h 418411"/>
              <a:gd name="connsiteX8" fmla="*/ 0 w 1036489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6489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966752" y="0"/>
                </a:lnTo>
                <a:cubicBezTo>
                  <a:pt x="1005267" y="0"/>
                  <a:pt x="1036489" y="31222"/>
                  <a:pt x="1036489" y="69737"/>
                </a:cubicBezTo>
                <a:lnTo>
                  <a:pt x="1036489" y="348674"/>
                </a:lnTo>
                <a:cubicBezTo>
                  <a:pt x="1036489" y="387189"/>
                  <a:pt x="1005267" y="418411"/>
                  <a:pt x="966752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Age &gt; 50 ans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84C7E1CE-1ACE-4E18-BA64-AC7A985135D7}"/>
              </a:ext>
            </a:extLst>
          </p:cNvPr>
          <p:cNvSpPr/>
          <p:nvPr/>
        </p:nvSpPr>
        <p:spPr>
          <a:xfrm>
            <a:off x="5068133" y="1731655"/>
            <a:ext cx="1332674" cy="418411"/>
          </a:xfrm>
          <a:custGeom>
            <a:avLst/>
            <a:gdLst>
              <a:gd name="connsiteX0" fmla="*/ 0 w 1332674"/>
              <a:gd name="connsiteY0" fmla="*/ 69737 h 418411"/>
              <a:gd name="connsiteX1" fmla="*/ 69737 w 1332674"/>
              <a:gd name="connsiteY1" fmla="*/ 0 h 418411"/>
              <a:gd name="connsiteX2" fmla="*/ 1262937 w 1332674"/>
              <a:gd name="connsiteY2" fmla="*/ 0 h 418411"/>
              <a:gd name="connsiteX3" fmla="*/ 1332674 w 1332674"/>
              <a:gd name="connsiteY3" fmla="*/ 69737 h 418411"/>
              <a:gd name="connsiteX4" fmla="*/ 1332674 w 1332674"/>
              <a:gd name="connsiteY4" fmla="*/ 348674 h 418411"/>
              <a:gd name="connsiteX5" fmla="*/ 1262937 w 1332674"/>
              <a:gd name="connsiteY5" fmla="*/ 418411 h 418411"/>
              <a:gd name="connsiteX6" fmla="*/ 69737 w 1332674"/>
              <a:gd name="connsiteY6" fmla="*/ 418411 h 418411"/>
              <a:gd name="connsiteX7" fmla="*/ 0 w 1332674"/>
              <a:gd name="connsiteY7" fmla="*/ 348674 h 418411"/>
              <a:gd name="connsiteX8" fmla="*/ 0 w 1332674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2674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262937" y="0"/>
                </a:lnTo>
                <a:cubicBezTo>
                  <a:pt x="1301452" y="0"/>
                  <a:pt x="1332674" y="31222"/>
                  <a:pt x="1332674" y="69737"/>
                </a:cubicBezTo>
                <a:lnTo>
                  <a:pt x="1332674" y="348674"/>
                </a:lnTo>
                <a:cubicBezTo>
                  <a:pt x="1332674" y="387189"/>
                  <a:pt x="1301452" y="418411"/>
                  <a:pt x="1262937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1532"/>
              <a:satOff val="1615"/>
              <a:lumOff val="1755"/>
              <a:alphaOff val="0"/>
            </a:schemeClr>
          </a:fillRef>
          <a:effectRef idx="3">
            <a:schemeClr val="accent1">
              <a:shade val="80000"/>
              <a:hueOff val="1532"/>
              <a:satOff val="1615"/>
              <a:lumOff val="1755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ATCDS familiaux de CCR ou de MICI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1E5FF98A-DECA-4C06-B3AD-87F4FDD73F7C}"/>
              </a:ext>
            </a:extLst>
          </p:cNvPr>
          <p:cNvSpPr/>
          <p:nvPr/>
        </p:nvSpPr>
        <p:spPr>
          <a:xfrm>
            <a:off x="5460449" y="2407084"/>
            <a:ext cx="1626156" cy="418411"/>
          </a:xfrm>
          <a:custGeom>
            <a:avLst/>
            <a:gdLst>
              <a:gd name="connsiteX0" fmla="*/ 0 w 1626156"/>
              <a:gd name="connsiteY0" fmla="*/ 69737 h 418411"/>
              <a:gd name="connsiteX1" fmla="*/ 69737 w 1626156"/>
              <a:gd name="connsiteY1" fmla="*/ 0 h 418411"/>
              <a:gd name="connsiteX2" fmla="*/ 1556419 w 1626156"/>
              <a:gd name="connsiteY2" fmla="*/ 0 h 418411"/>
              <a:gd name="connsiteX3" fmla="*/ 1626156 w 1626156"/>
              <a:gd name="connsiteY3" fmla="*/ 69737 h 418411"/>
              <a:gd name="connsiteX4" fmla="*/ 1626156 w 1626156"/>
              <a:gd name="connsiteY4" fmla="*/ 348674 h 418411"/>
              <a:gd name="connsiteX5" fmla="*/ 1556419 w 1626156"/>
              <a:gd name="connsiteY5" fmla="*/ 418411 h 418411"/>
              <a:gd name="connsiteX6" fmla="*/ 69737 w 1626156"/>
              <a:gd name="connsiteY6" fmla="*/ 418411 h 418411"/>
              <a:gd name="connsiteX7" fmla="*/ 0 w 1626156"/>
              <a:gd name="connsiteY7" fmla="*/ 348674 h 418411"/>
              <a:gd name="connsiteX8" fmla="*/ 0 w 1626156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156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556419" y="0"/>
                </a:lnTo>
                <a:cubicBezTo>
                  <a:pt x="1594934" y="0"/>
                  <a:pt x="1626156" y="31222"/>
                  <a:pt x="1626156" y="69737"/>
                </a:cubicBezTo>
                <a:lnTo>
                  <a:pt x="1626156" y="348674"/>
                </a:lnTo>
                <a:cubicBezTo>
                  <a:pt x="1626156" y="387189"/>
                  <a:pt x="1594934" y="418411"/>
                  <a:pt x="1556419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3065"/>
              <a:satOff val="3230"/>
              <a:lumOff val="3510"/>
              <a:alphaOff val="0"/>
            </a:schemeClr>
          </a:fillRef>
          <a:effectRef idx="3">
            <a:schemeClr val="accent1">
              <a:shade val="80000"/>
              <a:hueOff val="3065"/>
              <a:satOff val="3230"/>
              <a:lumOff val="3510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Hémorragie digestive (rectorragie</a:t>
            </a:r>
            <a:r>
              <a:rPr lang="fr-FR" sz="10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A8F19C9-AA90-45B9-AF4F-9DA07441E58F}"/>
              </a:ext>
            </a:extLst>
          </p:cNvPr>
          <p:cNvSpPr/>
          <p:nvPr/>
        </p:nvSpPr>
        <p:spPr>
          <a:xfrm>
            <a:off x="5226396" y="3225286"/>
            <a:ext cx="1211912" cy="418411"/>
          </a:xfrm>
          <a:custGeom>
            <a:avLst/>
            <a:gdLst>
              <a:gd name="connsiteX0" fmla="*/ 0 w 1211912"/>
              <a:gd name="connsiteY0" fmla="*/ 69737 h 418411"/>
              <a:gd name="connsiteX1" fmla="*/ 69737 w 1211912"/>
              <a:gd name="connsiteY1" fmla="*/ 0 h 418411"/>
              <a:gd name="connsiteX2" fmla="*/ 1142175 w 1211912"/>
              <a:gd name="connsiteY2" fmla="*/ 0 h 418411"/>
              <a:gd name="connsiteX3" fmla="*/ 1211912 w 1211912"/>
              <a:gd name="connsiteY3" fmla="*/ 69737 h 418411"/>
              <a:gd name="connsiteX4" fmla="*/ 1211912 w 1211912"/>
              <a:gd name="connsiteY4" fmla="*/ 348674 h 418411"/>
              <a:gd name="connsiteX5" fmla="*/ 1142175 w 1211912"/>
              <a:gd name="connsiteY5" fmla="*/ 418411 h 418411"/>
              <a:gd name="connsiteX6" fmla="*/ 69737 w 1211912"/>
              <a:gd name="connsiteY6" fmla="*/ 418411 h 418411"/>
              <a:gd name="connsiteX7" fmla="*/ 0 w 1211912"/>
              <a:gd name="connsiteY7" fmla="*/ 348674 h 418411"/>
              <a:gd name="connsiteX8" fmla="*/ 0 w 1211912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1912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142175" y="0"/>
                </a:lnTo>
                <a:cubicBezTo>
                  <a:pt x="1180690" y="0"/>
                  <a:pt x="1211912" y="31222"/>
                  <a:pt x="1211912" y="69737"/>
                </a:cubicBezTo>
                <a:lnTo>
                  <a:pt x="1211912" y="348674"/>
                </a:lnTo>
                <a:cubicBezTo>
                  <a:pt x="1211912" y="387189"/>
                  <a:pt x="1180690" y="418411"/>
                  <a:pt x="1142175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4597"/>
              <a:satOff val="4845"/>
              <a:lumOff val="5265"/>
              <a:alphaOff val="0"/>
            </a:schemeClr>
          </a:fillRef>
          <a:effectRef idx="3">
            <a:schemeClr val="accent1">
              <a:shade val="80000"/>
              <a:hueOff val="4597"/>
              <a:satOff val="4845"/>
              <a:lumOff val="5265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Amaigrissement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0241DC4B-F8EB-47ED-AB68-D42FC755ECE9}"/>
              </a:ext>
            </a:extLst>
          </p:cNvPr>
          <p:cNvSpPr/>
          <p:nvPr/>
        </p:nvSpPr>
        <p:spPr>
          <a:xfrm>
            <a:off x="4635753" y="3926452"/>
            <a:ext cx="1116749" cy="418411"/>
          </a:xfrm>
          <a:custGeom>
            <a:avLst/>
            <a:gdLst>
              <a:gd name="connsiteX0" fmla="*/ 0 w 1116749"/>
              <a:gd name="connsiteY0" fmla="*/ 69737 h 418411"/>
              <a:gd name="connsiteX1" fmla="*/ 69737 w 1116749"/>
              <a:gd name="connsiteY1" fmla="*/ 0 h 418411"/>
              <a:gd name="connsiteX2" fmla="*/ 1047012 w 1116749"/>
              <a:gd name="connsiteY2" fmla="*/ 0 h 418411"/>
              <a:gd name="connsiteX3" fmla="*/ 1116749 w 1116749"/>
              <a:gd name="connsiteY3" fmla="*/ 69737 h 418411"/>
              <a:gd name="connsiteX4" fmla="*/ 1116749 w 1116749"/>
              <a:gd name="connsiteY4" fmla="*/ 348674 h 418411"/>
              <a:gd name="connsiteX5" fmla="*/ 1047012 w 1116749"/>
              <a:gd name="connsiteY5" fmla="*/ 418411 h 418411"/>
              <a:gd name="connsiteX6" fmla="*/ 69737 w 1116749"/>
              <a:gd name="connsiteY6" fmla="*/ 418411 h 418411"/>
              <a:gd name="connsiteX7" fmla="*/ 0 w 1116749"/>
              <a:gd name="connsiteY7" fmla="*/ 348674 h 418411"/>
              <a:gd name="connsiteX8" fmla="*/ 0 w 1116749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749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047012" y="0"/>
                </a:lnTo>
                <a:cubicBezTo>
                  <a:pt x="1085527" y="0"/>
                  <a:pt x="1116749" y="31222"/>
                  <a:pt x="1116749" y="69737"/>
                </a:cubicBezTo>
                <a:lnTo>
                  <a:pt x="1116749" y="348674"/>
                </a:lnTo>
                <a:cubicBezTo>
                  <a:pt x="1116749" y="387189"/>
                  <a:pt x="1085527" y="418411"/>
                  <a:pt x="1047012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6129"/>
              <a:satOff val="6459"/>
              <a:lumOff val="7019"/>
              <a:alphaOff val="0"/>
            </a:schemeClr>
          </a:fillRef>
          <a:effectRef idx="3">
            <a:schemeClr val="accent1">
              <a:shade val="80000"/>
              <a:hueOff val="6129"/>
              <a:satOff val="6459"/>
              <a:lumOff val="7019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Syndrome anémique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3D7B91B-9F6E-4236-937C-0660224F2D6B}"/>
              </a:ext>
            </a:extLst>
          </p:cNvPr>
          <p:cNvSpPr/>
          <p:nvPr/>
        </p:nvSpPr>
        <p:spPr>
          <a:xfrm>
            <a:off x="3390306" y="3926458"/>
            <a:ext cx="1036489" cy="418411"/>
          </a:xfrm>
          <a:custGeom>
            <a:avLst/>
            <a:gdLst>
              <a:gd name="connsiteX0" fmla="*/ 0 w 1036489"/>
              <a:gd name="connsiteY0" fmla="*/ 69737 h 418411"/>
              <a:gd name="connsiteX1" fmla="*/ 69737 w 1036489"/>
              <a:gd name="connsiteY1" fmla="*/ 0 h 418411"/>
              <a:gd name="connsiteX2" fmla="*/ 966752 w 1036489"/>
              <a:gd name="connsiteY2" fmla="*/ 0 h 418411"/>
              <a:gd name="connsiteX3" fmla="*/ 1036489 w 1036489"/>
              <a:gd name="connsiteY3" fmla="*/ 69737 h 418411"/>
              <a:gd name="connsiteX4" fmla="*/ 1036489 w 1036489"/>
              <a:gd name="connsiteY4" fmla="*/ 348674 h 418411"/>
              <a:gd name="connsiteX5" fmla="*/ 966752 w 1036489"/>
              <a:gd name="connsiteY5" fmla="*/ 418411 h 418411"/>
              <a:gd name="connsiteX6" fmla="*/ 69737 w 1036489"/>
              <a:gd name="connsiteY6" fmla="*/ 418411 h 418411"/>
              <a:gd name="connsiteX7" fmla="*/ 0 w 1036489"/>
              <a:gd name="connsiteY7" fmla="*/ 348674 h 418411"/>
              <a:gd name="connsiteX8" fmla="*/ 0 w 1036489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6489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966752" y="0"/>
                </a:lnTo>
                <a:cubicBezTo>
                  <a:pt x="1005267" y="0"/>
                  <a:pt x="1036489" y="31222"/>
                  <a:pt x="1036489" y="69737"/>
                </a:cubicBezTo>
                <a:lnTo>
                  <a:pt x="1036489" y="348674"/>
                </a:lnTo>
                <a:cubicBezTo>
                  <a:pt x="1036489" y="387189"/>
                  <a:pt x="1005267" y="418411"/>
                  <a:pt x="966752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7662"/>
              <a:satOff val="8074"/>
              <a:lumOff val="8774"/>
              <a:alphaOff val="0"/>
            </a:schemeClr>
          </a:fillRef>
          <a:effectRef idx="3">
            <a:schemeClr val="accent1">
              <a:shade val="80000"/>
              <a:hueOff val="7662"/>
              <a:satOff val="8074"/>
              <a:lumOff val="8774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Fièvre &gt; 38,5°</a:t>
            </a: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385F632B-6C87-49B7-AA72-89C4A4580F2F}"/>
              </a:ext>
            </a:extLst>
          </p:cNvPr>
          <p:cNvSpPr/>
          <p:nvPr/>
        </p:nvSpPr>
        <p:spPr>
          <a:xfrm>
            <a:off x="2552110" y="3225293"/>
            <a:ext cx="1165853" cy="418411"/>
          </a:xfrm>
          <a:custGeom>
            <a:avLst/>
            <a:gdLst>
              <a:gd name="connsiteX0" fmla="*/ 0 w 1165853"/>
              <a:gd name="connsiteY0" fmla="*/ 69737 h 418411"/>
              <a:gd name="connsiteX1" fmla="*/ 69737 w 1165853"/>
              <a:gd name="connsiteY1" fmla="*/ 0 h 418411"/>
              <a:gd name="connsiteX2" fmla="*/ 1096116 w 1165853"/>
              <a:gd name="connsiteY2" fmla="*/ 0 h 418411"/>
              <a:gd name="connsiteX3" fmla="*/ 1165853 w 1165853"/>
              <a:gd name="connsiteY3" fmla="*/ 69737 h 418411"/>
              <a:gd name="connsiteX4" fmla="*/ 1165853 w 1165853"/>
              <a:gd name="connsiteY4" fmla="*/ 348674 h 418411"/>
              <a:gd name="connsiteX5" fmla="*/ 1096116 w 1165853"/>
              <a:gd name="connsiteY5" fmla="*/ 418411 h 418411"/>
              <a:gd name="connsiteX6" fmla="*/ 69737 w 1165853"/>
              <a:gd name="connsiteY6" fmla="*/ 418411 h 418411"/>
              <a:gd name="connsiteX7" fmla="*/ 0 w 1165853"/>
              <a:gd name="connsiteY7" fmla="*/ 348674 h 418411"/>
              <a:gd name="connsiteX8" fmla="*/ 0 w 1165853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53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096116" y="0"/>
                </a:lnTo>
                <a:cubicBezTo>
                  <a:pt x="1134631" y="0"/>
                  <a:pt x="1165853" y="31222"/>
                  <a:pt x="1165853" y="69737"/>
                </a:cubicBezTo>
                <a:lnTo>
                  <a:pt x="1165853" y="348674"/>
                </a:lnTo>
                <a:cubicBezTo>
                  <a:pt x="1165853" y="387189"/>
                  <a:pt x="1134631" y="418411"/>
                  <a:pt x="1096116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9194"/>
              <a:satOff val="9689"/>
              <a:lumOff val="10529"/>
              <a:alphaOff val="0"/>
            </a:schemeClr>
          </a:fillRef>
          <a:effectRef idx="3">
            <a:schemeClr val="accent1">
              <a:shade val="80000"/>
              <a:hueOff val="9194"/>
              <a:satOff val="9689"/>
              <a:lumOff val="10529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Symptômes nocturnes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AF208AC9-8FE2-42DD-A11D-4FC0DEC14640}"/>
              </a:ext>
            </a:extLst>
          </p:cNvPr>
          <p:cNvSpPr/>
          <p:nvPr/>
        </p:nvSpPr>
        <p:spPr>
          <a:xfrm>
            <a:off x="1904994" y="2407073"/>
            <a:ext cx="1587504" cy="418411"/>
          </a:xfrm>
          <a:custGeom>
            <a:avLst/>
            <a:gdLst>
              <a:gd name="connsiteX0" fmla="*/ 0 w 1587504"/>
              <a:gd name="connsiteY0" fmla="*/ 69737 h 418411"/>
              <a:gd name="connsiteX1" fmla="*/ 69737 w 1587504"/>
              <a:gd name="connsiteY1" fmla="*/ 0 h 418411"/>
              <a:gd name="connsiteX2" fmla="*/ 1517767 w 1587504"/>
              <a:gd name="connsiteY2" fmla="*/ 0 h 418411"/>
              <a:gd name="connsiteX3" fmla="*/ 1587504 w 1587504"/>
              <a:gd name="connsiteY3" fmla="*/ 69737 h 418411"/>
              <a:gd name="connsiteX4" fmla="*/ 1587504 w 1587504"/>
              <a:gd name="connsiteY4" fmla="*/ 348674 h 418411"/>
              <a:gd name="connsiteX5" fmla="*/ 1517767 w 1587504"/>
              <a:gd name="connsiteY5" fmla="*/ 418411 h 418411"/>
              <a:gd name="connsiteX6" fmla="*/ 69737 w 1587504"/>
              <a:gd name="connsiteY6" fmla="*/ 418411 h 418411"/>
              <a:gd name="connsiteX7" fmla="*/ 0 w 1587504"/>
              <a:gd name="connsiteY7" fmla="*/ 348674 h 418411"/>
              <a:gd name="connsiteX8" fmla="*/ 0 w 1587504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7504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517767" y="0"/>
                </a:lnTo>
                <a:cubicBezTo>
                  <a:pt x="1556282" y="0"/>
                  <a:pt x="1587504" y="31222"/>
                  <a:pt x="1587504" y="69737"/>
                </a:cubicBezTo>
                <a:lnTo>
                  <a:pt x="1587504" y="348674"/>
                </a:lnTo>
                <a:cubicBezTo>
                  <a:pt x="1587504" y="387189"/>
                  <a:pt x="1556282" y="418411"/>
                  <a:pt x="1517767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10727"/>
              <a:satOff val="11304"/>
              <a:lumOff val="12284"/>
              <a:alphaOff val="0"/>
            </a:schemeClr>
          </a:fillRef>
          <a:effectRef idx="3">
            <a:schemeClr val="accent1">
              <a:shade val="80000"/>
              <a:hueOff val="10727"/>
              <a:satOff val="11304"/>
              <a:lumOff val="12284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Modification récente </a:t>
            </a:r>
          </a:p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du transit</a:t>
            </a: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1727106-81BE-4651-A38C-57E3E1AAA984}"/>
              </a:ext>
            </a:extLst>
          </p:cNvPr>
          <p:cNvSpPr/>
          <p:nvPr/>
        </p:nvSpPr>
        <p:spPr>
          <a:xfrm>
            <a:off x="2514596" y="1731641"/>
            <a:ext cx="1341277" cy="418411"/>
          </a:xfrm>
          <a:custGeom>
            <a:avLst/>
            <a:gdLst>
              <a:gd name="connsiteX0" fmla="*/ 0 w 1341277"/>
              <a:gd name="connsiteY0" fmla="*/ 69737 h 418411"/>
              <a:gd name="connsiteX1" fmla="*/ 69737 w 1341277"/>
              <a:gd name="connsiteY1" fmla="*/ 0 h 418411"/>
              <a:gd name="connsiteX2" fmla="*/ 1271540 w 1341277"/>
              <a:gd name="connsiteY2" fmla="*/ 0 h 418411"/>
              <a:gd name="connsiteX3" fmla="*/ 1341277 w 1341277"/>
              <a:gd name="connsiteY3" fmla="*/ 69737 h 418411"/>
              <a:gd name="connsiteX4" fmla="*/ 1341277 w 1341277"/>
              <a:gd name="connsiteY4" fmla="*/ 348674 h 418411"/>
              <a:gd name="connsiteX5" fmla="*/ 1271540 w 1341277"/>
              <a:gd name="connsiteY5" fmla="*/ 418411 h 418411"/>
              <a:gd name="connsiteX6" fmla="*/ 69737 w 1341277"/>
              <a:gd name="connsiteY6" fmla="*/ 418411 h 418411"/>
              <a:gd name="connsiteX7" fmla="*/ 0 w 1341277"/>
              <a:gd name="connsiteY7" fmla="*/ 348674 h 418411"/>
              <a:gd name="connsiteX8" fmla="*/ 0 w 1341277"/>
              <a:gd name="connsiteY8" fmla="*/ 69737 h 41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41277" h="418411">
                <a:moveTo>
                  <a:pt x="0" y="69737"/>
                </a:moveTo>
                <a:cubicBezTo>
                  <a:pt x="0" y="31222"/>
                  <a:pt x="31222" y="0"/>
                  <a:pt x="69737" y="0"/>
                </a:cubicBezTo>
                <a:lnTo>
                  <a:pt x="1271540" y="0"/>
                </a:lnTo>
                <a:cubicBezTo>
                  <a:pt x="1310055" y="0"/>
                  <a:pt x="1341277" y="31222"/>
                  <a:pt x="1341277" y="69737"/>
                </a:cubicBezTo>
                <a:lnTo>
                  <a:pt x="1341277" y="348674"/>
                </a:lnTo>
                <a:cubicBezTo>
                  <a:pt x="1341277" y="387189"/>
                  <a:pt x="1310055" y="418411"/>
                  <a:pt x="1271540" y="418411"/>
                </a:cubicBezTo>
                <a:lnTo>
                  <a:pt x="69737" y="418411"/>
                </a:lnTo>
                <a:cubicBezTo>
                  <a:pt x="31222" y="418411"/>
                  <a:pt x="0" y="387189"/>
                  <a:pt x="0" y="348674"/>
                </a:cubicBezTo>
                <a:lnTo>
                  <a:pt x="0" y="69737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shade val="80000"/>
              <a:hueOff val="12259"/>
              <a:satOff val="12919"/>
              <a:lumOff val="14039"/>
              <a:alphaOff val="0"/>
            </a:schemeClr>
          </a:fillRef>
          <a:effectRef idx="3">
            <a:schemeClr val="accent1">
              <a:shade val="80000"/>
              <a:hueOff val="12259"/>
              <a:satOff val="12919"/>
              <a:lumOff val="14039"/>
              <a:alphaOff val="0"/>
            </a:schemeClr>
          </a:effectRef>
          <a:fontRef idx="minor">
            <a:schemeClr val="lt1"/>
          </a:fontRef>
        </p:style>
        <p:txBody>
          <a:bodyPr lIns="58525" tIns="58525" rIns="58525" bIns="58525" spcCol="1270" anchor="ctr"/>
          <a:lstStyle/>
          <a:p>
            <a:pPr algn="ctr" defTabSz="444500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1000" b="1" dirty="0">
                <a:solidFill>
                  <a:srgbClr val="0000FF"/>
                </a:solidFill>
              </a:rPr>
              <a:t>Prise récente d’antibiotiques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CF519C47-E2F2-466D-B162-660E442A907A}"/>
              </a:ext>
            </a:extLst>
          </p:cNvPr>
          <p:cNvSpPr/>
          <p:nvPr/>
        </p:nvSpPr>
        <p:spPr>
          <a:xfrm>
            <a:off x="4343400" y="5105400"/>
            <a:ext cx="457200" cy="49053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444FA53-BBC0-4E53-A493-134EFF92C457}"/>
              </a:ext>
            </a:extLst>
          </p:cNvPr>
          <p:cNvGrpSpPr/>
          <p:nvPr/>
        </p:nvGrpSpPr>
        <p:grpSpPr>
          <a:xfrm>
            <a:off x="3060700" y="5672138"/>
            <a:ext cx="2971800" cy="424024"/>
            <a:chOff x="2279903" y="1436029"/>
            <a:chExt cx="2564892" cy="27335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D99BEDEB-B4FE-4F87-865F-6675ADFEF576}"/>
                </a:ext>
              </a:extLst>
            </p:cNvPr>
            <p:cNvSpPr/>
            <p:nvPr/>
          </p:nvSpPr>
          <p:spPr>
            <a:xfrm>
              <a:off x="2279903" y="1436029"/>
              <a:ext cx="2564892" cy="273350"/>
            </a:xfrm>
            <a:prstGeom prst="roundRect">
              <a:avLst/>
            </a:prstGeom>
            <a:solidFill>
              <a:srgbClr val="006600"/>
            </a:solidFill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5">
                <a:hueOff val="3257026"/>
                <a:satOff val="11196"/>
                <a:lumOff val="-5372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ectangle : coins arrondis 4">
              <a:extLst>
                <a:ext uri="{FF2B5EF4-FFF2-40B4-BE49-F238E27FC236}">
                  <a16:creationId xmlns:a16="http://schemas.microsoft.com/office/drawing/2014/main" id="{BF9873E6-3F3B-4B2A-8626-CCE7662DD30A}"/>
                </a:ext>
              </a:extLst>
            </p:cNvPr>
            <p:cNvSpPr txBox="1"/>
            <p:nvPr/>
          </p:nvSpPr>
          <p:spPr>
            <a:xfrm>
              <a:off x="2293247" y="1449373"/>
              <a:ext cx="2538204" cy="2466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24765" rIns="49530" bIns="24765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1400" b="1" dirty="0">
                  <a:solidFill>
                    <a:srgbClr val="FFFF00"/>
                  </a:solidFill>
                </a:rPr>
                <a:t>Exploration</a:t>
              </a:r>
              <a:endParaRPr lang="fr-FR" sz="1400" b="1" dirty="0"/>
            </a:p>
          </p:txBody>
        </p:sp>
      </p:grpSp>
      <p:grpSp>
        <p:nvGrpSpPr>
          <p:cNvPr id="106504" name="Groupe 16">
            <a:extLst>
              <a:ext uri="{FF2B5EF4-FFF2-40B4-BE49-F238E27FC236}">
                <a16:creationId xmlns:a16="http://schemas.microsoft.com/office/drawing/2014/main" id="{C578967D-17C7-6DAA-374E-15D96FD4A878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441575"/>
            <a:ext cx="1625600" cy="419100"/>
            <a:chOff x="4698449" y="1183047"/>
            <a:chExt cx="1626156" cy="418411"/>
          </a:xfrm>
        </p:grpSpPr>
        <p:sp>
          <p:nvSpPr>
            <p:cNvPr id="18" name="Rectangle à coins arrondis 17">
              <a:extLst>
                <a:ext uri="{FF2B5EF4-FFF2-40B4-BE49-F238E27FC236}">
                  <a16:creationId xmlns:a16="http://schemas.microsoft.com/office/drawing/2014/main" id="{7F7D1C81-2CED-47EF-9714-29264CDAEC9D}"/>
                </a:ext>
              </a:extLst>
            </p:cNvPr>
            <p:cNvSpPr/>
            <p:nvPr/>
          </p:nvSpPr>
          <p:spPr>
            <a:xfrm>
              <a:off x="4698449" y="1183047"/>
              <a:ext cx="1626156" cy="418411"/>
            </a:xfrm>
            <a:prstGeom prst="roundRect">
              <a:avLst/>
            </a:prstGeom>
            <a:solidFill>
              <a:srgbClr val="FFC00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shade val="80000"/>
                <a:hueOff val="3065"/>
                <a:satOff val="3230"/>
                <a:lumOff val="3510"/>
                <a:alphaOff val="0"/>
              </a:schemeClr>
            </a:fillRef>
            <a:effectRef idx="3">
              <a:schemeClr val="accent1">
                <a:shade val="80000"/>
                <a:hueOff val="3065"/>
                <a:satOff val="3230"/>
                <a:lumOff val="351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69DE67-80BA-4526-8FC6-770A12B401AC}"/>
                </a:ext>
              </a:extLst>
            </p:cNvPr>
            <p:cNvSpPr/>
            <p:nvPr/>
          </p:nvSpPr>
          <p:spPr>
            <a:xfrm>
              <a:off x="4719094" y="1203651"/>
              <a:ext cx="1584867" cy="3772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8100" tIns="38100" rIns="38100" bIns="38100" spcCol="1270" anchor="ctr"/>
            <a:lstStyle/>
            <a:p>
              <a:pPr algn="ctr" defTabSz="444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1400" b="1" dirty="0">
                  <a:solidFill>
                    <a:srgbClr val="C00000"/>
                  </a:solidFill>
                </a:rPr>
                <a:t>Signes d’alarme</a:t>
              </a:r>
              <a:endParaRPr lang="fr-FR" sz="14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4" name="Groupe 16">
            <a:extLst>
              <a:ext uri="{FF2B5EF4-FFF2-40B4-BE49-F238E27FC236}">
                <a16:creationId xmlns:a16="http://schemas.microsoft.com/office/drawing/2014/main" id="{389E94BF-98B8-6296-9D88-B9564A96D328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610100"/>
            <a:ext cx="1625600" cy="419100"/>
            <a:chOff x="4698449" y="1183047"/>
            <a:chExt cx="1626156" cy="418411"/>
          </a:xfrm>
        </p:grpSpPr>
        <p:sp>
          <p:nvSpPr>
            <p:cNvPr id="25" name="Rectangle à coins arrondis 17">
              <a:extLst>
                <a:ext uri="{FF2B5EF4-FFF2-40B4-BE49-F238E27FC236}">
                  <a16:creationId xmlns:a16="http://schemas.microsoft.com/office/drawing/2014/main" id="{F929391E-9400-4E80-AEAD-1E6DC1790BD9}"/>
                </a:ext>
              </a:extLst>
            </p:cNvPr>
            <p:cNvSpPr/>
            <p:nvPr/>
          </p:nvSpPr>
          <p:spPr>
            <a:xfrm>
              <a:off x="4698449" y="1183047"/>
              <a:ext cx="1626156" cy="418411"/>
            </a:xfrm>
            <a:prstGeom prst="roundRect">
              <a:avLst/>
            </a:prstGeom>
            <a:solidFill>
              <a:srgbClr val="FFC000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shade val="80000"/>
                <a:hueOff val="3065"/>
                <a:satOff val="3230"/>
                <a:lumOff val="3510"/>
                <a:alphaOff val="0"/>
              </a:schemeClr>
            </a:fillRef>
            <a:effectRef idx="3">
              <a:schemeClr val="accent1">
                <a:shade val="80000"/>
                <a:hueOff val="3065"/>
                <a:satOff val="3230"/>
                <a:lumOff val="351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0A03F0-BDCE-42FA-9EC2-B05179F0882F}"/>
                </a:ext>
              </a:extLst>
            </p:cNvPr>
            <p:cNvSpPr/>
            <p:nvPr/>
          </p:nvSpPr>
          <p:spPr>
            <a:xfrm>
              <a:off x="4719094" y="1203651"/>
              <a:ext cx="1584867" cy="3772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8100" tIns="38100" rIns="38100" bIns="38100" spcCol="1270" anchor="ctr"/>
            <a:lstStyle/>
            <a:p>
              <a:pPr algn="ctr" defTabSz="4445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1400" b="1" dirty="0">
                  <a:solidFill>
                    <a:srgbClr val="C00000"/>
                  </a:solidFill>
                </a:rPr>
                <a:t>Si un signe (+)</a:t>
              </a:r>
              <a:endParaRPr lang="fr-FR" sz="14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">
            <a:extLst>
              <a:ext uri="{FF2B5EF4-FFF2-40B4-BE49-F238E27FC236}">
                <a16:creationId xmlns:a16="http://schemas.microsoft.com/office/drawing/2014/main" id="{BE676565-83B6-A4F2-7B7E-2FFE11189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720975"/>
            <a:ext cx="3687763" cy="70802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4000" b="1">
                <a:solidFill>
                  <a:srgbClr val="0000FF"/>
                </a:solidFill>
              </a:rPr>
              <a:t>Bonne chance</a:t>
            </a:r>
          </a:p>
        </p:txBody>
      </p:sp>
      <p:pic>
        <p:nvPicPr>
          <p:cNvPr id="115715" name="Picture 4" descr="Résultat de recherche d'images pour &quot;fleur brillant&quot;">
            <a:extLst>
              <a:ext uri="{FF2B5EF4-FFF2-40B4-BE49-F238E27FC236}">
                <a16:creationId xmlns:a16="http://schemas.microsoft.com/office/drawing/2014/main" id="{4D621848-CFBD-F80F-4EC4-45771F3A7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49500"/>
            <a:ext cx="22764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16" name="Picture 4" descr="Résultat de recherche d'images pour &quot;fleur brillant&quot;">
            <a:extLst>
              <a:ext uri="{FF2B5EF4-FFF2-40B4-BE49-F238E27FC236}">
                <a16:creationId xmlns:a16="http://schemas.microsoft.com/office/drawing/2014/main" id="{B2B052DB-F2AC-6E06-A16F-50986D8F6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5" y="2325688"/>
            <a:ext cx="22764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AutoShape 6" descr="Résultat de recherche d'images pour &quot;fleur brillant&quot;">
            <a:extLst>
              <a:ext uri="{FF2B5EF4-FFF2-40B4-BE49-F238E27FC236}">
                <a16:creationId xmlns:a16="http://schemas.microsoft.com/office/drawing/2014/main" id="{134901A8-ABC5-6BF3-5D82-C37663D99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3589</TotalTime>
  <Words>5332</Words>
  <Application>Microsoft Office PowerPoint</Application>
  <PresentationFormat>Affichage à l'écran (4:3)</PresentationFormat>
  <Paragraphs>651</Paragraphs>
  <Slides>122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122</vt:i4>
      </vt:variant>
    </vt:vector>
  </HeadingPairs>
  <TitlesOfParts>
    <vt:vector size="125" baseType="lpstr">
      <vt:lpstr>Arial</vt:lpstr>
      <vt:lpstr>Calibri</vt:lpstr>
      <vt:lpstr>Modèle par défaut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Mohamed Hichem LOGHMARI</cp:lastModifiedBy>
  <cp:revision>615</cp:revision>
  <cp:lastPrinted>1601-01-01T00:00:00Z</cp:lastPrinted>
  <dcterms:created xsi:type="dcterms:W3CDTF">1601-01-01T00:00:00Z</dcterms:created>
  <dcterms:modified xsi:type="dcterms:W3CDTF">2025-07-04T07:26:29Z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
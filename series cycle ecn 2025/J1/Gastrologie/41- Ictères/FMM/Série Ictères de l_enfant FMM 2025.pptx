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7" r:id="rId5"/>
    <p:sldId id="322" r:id="rId6"/>
    <p:sldId id="268" r:id="rId7"/>
    <p:sldId id="270" r:id="rId8"/>
    <p:sldId id="258" r:id="rId9"/>
    <p:sldId id="274" r:id="rId10"/>
    <p:sldId id="278" r:id="rId11"/>
    <p:sldId id="320" r:id="rId12"/>
    <p:sldId id="275" r:id="rId13"/>
    <p:sldId id="276" r:id="rId14"/>
    <p:sldId id="259" r:id="rId15"/>
    <p:sldId id="280" r:id="rId16"/>
    <p:sldId id="281" r:id="rId17"/>
    <p:sldId id="282" r:id="rId18"/>
    <p:sldId id="283" r:id="rId19"/>
    <p:sldId id="294" r:id="rId20"/>
    <p:sldId id="260" r:id="rId21"/>
    <p:sldId id="284" r:id="rId22"/>
    <p:sldId id="285" r:id="rId23"/>
    <p:sldId id="286" r:id="rId24"/>
    <p:sldId id="261" r:id="rId25"/>
    <p:sldId id="288" r:id="rId26"/>
    <p:sldId id="289" r:id="rId27"/>
    <p:sldId id="290" r:id="rId28"/>
    <p:sldId id="302" r:id="rId29"/>
    <p:sldId id="262" r:id="rId30"/>
    <p:sldId id="304" r:id="rId31"/>
    <p:sldId id="306" r:id="rId32"/>
    <p:sldId id="307" r:id="rId33"/>
    <p:sldId id="310" r:id="rId34"/>
    <p:sldId id="312" r:id="rId35"/>
    <p:sldId id="314" r:id="rId36"/>
    <p:sldId id="315" r:id="rId37"/>
    <p:sldId id="317" r:id="rId38"/>
    <p:sldId id="321" r:id="rId39"/>
    <p:sldId id="325" r:id="rId40"/>
    <p:sldId id="326" r:id="rId41"/>
    <p:sldId id="327" r:id="rId42"/>
    <p:sldId id="331" r:id="rId43"/>
    <p:sldId id="291" r:id="rId44"/>
    <p:sldId id="292" r:id="rId45"/>
    <p:sldId id="293" r:id="rId4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60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86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88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55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04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09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76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28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75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29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6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4F3D1-15FC-428A-B33B-FB86F11F8674}" type="datetimeFigureOut">
              <a:rPr lang="fr-FR" smtClean="0"/>
              <a:t>02/08/2025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60B90-E13D-4A97-8856-A0E02BAF9F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46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018902"/>
            <a:ext cx="9144000" cy="3553097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Cours de résidanat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Sujet : 41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Les ictères De l’Enfant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Physiopathologie, Diagnostic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751569"/>
            <a:ext cx="9144000" cy="1655762"/>
          </a:xfrm>
        </p:spPr>
        <p:txBody>
          <a:bodyPr>
            <a:normAutofit/>
          </a:bodyPr>
          <a:lstStyle/>
          <a:p>
            <a:r>
              <a:rPr lang="fr-FR" b="1" dirty="0" smtClean="0"/>
              <a:t>Dr HADJ SALEM </a:t>
            </a:r>
            <a:r>
              <a:rPr lang="fr-FR" b="1" dirty="0" err="1" smtClean="0"/>
              <a:t>Radhia</a:t>
            </a:r>
            <a:endParaRPr lang="fr-FR" b="1" dirty="0" smtClean="0"/>
          </a:p>
          <a:p>
            <a:endParaRPr lang="fr-FR" b="1" dirty="0"/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56286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b="1" dirty="0" smtClean="0"/>
              <a:t>                            </a:t>
            </a:r>
            <a:r>
              <a:rPr lang="fr-FR" sz="6000" b="1" dirty="0" smtClean="0"/>
              <a:t>Objectif n°1</a:t>
            </a:r>
            <a:endParaRPr lang="fr-FR" sz="6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 algn="just">
              <a:buNone/>
            </a:pPr>
            <a:r>
              <a:rPr lang="fr-FR" sz="4800" dirty="0" smtClean="0"/>
              <a:t>                        Définir un ictère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377706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dirty="0" smtClean="0"/>
              <a:t>Parmi les propositions suivantes concernant l’ictère, lesquelles sont vraies? </a:t>
            </a:r>
          </a:p>
          <a:p>
            <a:pPr marL="0" indent="0" algn="just">
              <a:buNone/>
            </a:pPr>
            <a:r>
              <a:rPr lang="fr-FR" dirty="0" smtClean="0"/>
              <a:t>A- L’ictère est liée à une diminution du taux sérique de la bilirubine</a:t>
            </a:r>
          </a:p>
          <a:p>
            <a:pPr marL="0" indent="0" algn="just">
              <a:buNone/>
            </a:pPr>
            <a:r>
              <a:rPr lang="fr-FR" dirty="0" smtClean="0"/>
              <a:t>B- Les ictères à Bilirubine non conjuguée (BNC) sont plus fréquents que les ictères à bilirubine conjuguée (BC)</a:t>
            </a:r>
          </a:p>
          <a:p>
            <a:pPr marL="0" indent="0" algn="just">
              <a:buNone/>
            </a:pPr>
            <a:r>
              <a:rPr lang="fr-FR" dirty="0" smtClean="0"/>
              <a:t>C- L’hémolyse domine les étiologies de l’ictère à BNC</a:t>
            </a:r>
          </a:p>
          <a:p>
            <a:pPr marL="0" indent="0" algn="just">
              <a:buNone/>
            </a:pPr>
            <a:r>
              <a:rPr lang="fr-FR" dirty="0" smtClean="0"/>
              <a:t>D- L’ictère à BC est toujours d’origine cholestatique</a:t>
            </a:r>
          </a:p>
          <a:p>
            <a:pPr marL="0" indent="0" algn="just">
              <a:buNone/>
            </a:pPr>
            <a:r>
              <a:rPr lang="fr-FR" dirty="0" smtClean="0"/>
              <a:t>E- L’ictère rétentionnel résulte d’un obstacle sur les voies biliaires extra-hépatiques (VBEH)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01606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Concernant l’ictère du nouveau-né : </a:t>
            </a:r>
          </a:p>
          <a:p>
            <a:pPr marL="0" indent="0" algn="just">
              <a:buNone/>
            </a:pPr>
            <a:r>
              <a:rPr lang="fr-FR" dirty="0" smtClean="0"/>
              <a:t>A- L’ apparition d’un ictère avant 24 heures de vie est pathologique</a:t>
            </a:r>
          </a:p>
          <a:p>
            <a:pPr marL="0" indent="0" algn="just">
              <a:buNone/>
            </a:pPr>
            <a:r>
              <a:rPr lang="fr-FR" dirty="0" smtClean="0"/>
              <a:t>B- La persistance au-delà de 3 semaines pour le nouveau-né prématuré ou de petit poids est physiologique</a:t>
            </a:r>
          </a:p>
          <a:p>
            <a:pPr marL="0" indent="0" algn="just">
              <a:buNone/>
            </a:pPr>
            <a:r>
              <a:rPr lang="fr-FR" dirty="0" smtClean="0"/>
              <a:t>C- Le risque majeur des ictères à BNC non traités est l’ictère nucléaire</a:t>
            </a:r>
          </a:p>
          <a:p>
            <a:pPr marL="0" indent="0" algn="just">
              <a:buNone/>
            </a:pPr>
            <a:r>
              <a:rPr lang="fr-FR" dirty="0" smtClean="0"/>
              <a:t>D- Devant un ictère cholestatique néonatal, l’atrésie des voies biliaires est une urgence diagnostique et thérapeutique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248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Chez le nouveau-né et le nourrisson, l’</a:t>
            </a:r>
            <a:r>
              <a:rPr lang="fr-FR" dirty="0" err="1" smtClean="0"/>
              <a:t>hyperbilirubinémie</a:t>
            </a:r>
            <a:r>
              <a:rPr lang="fr-FR" dirty="0" smtClean="0"/>
              <a:t> </a:t>
            </a:r>
            <a:r>
              <a:rPr lang="fr-FR" dirty="0"/>
              <a:t>conjuguée est définie par une valeur de bilirubine conjuguée supérieure à </a:t>
            </a:r>
            <a:r>
              <a:rPr lang="fr-FR" dirty="0" smtClean="0"/>
              <a:t>:</a:t>
            </a:r>
          </a:p>
          <a:p>
            <a:pPr marL="0" indent="0" algn="just">
              <a:buNone/>
            </a:pPr>
            <a:r>
              <a:rPr lang="fr-FR" dirty="0" smtClean="0"/>
              <a:t>A- 7 </a:t>
            </a:r>
            <a:r>
              <a:rPr lang="fr-FR" dirty="0"/>
              <a:t>µmol/l 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B- 17 </a:t>
            </a:r>
            <a:r>
              <a:rPr lang="fr-FR" dirty="0"/>
              <a:t>µmol/l 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C- 27 </a:t>
            </a:r>
            <a:r>
              <a:rPr lang="fr-FR" dirty="0"/>
              <a:t>µmol/l 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D- 37 </a:t>
            </a:r>
            <a:r>
              <a:rPr lang="fr-FR" dirty="0"/>
              <a:t>µmol/l 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E- 47</a:t>
            </a:r>
            <a:r>
              <a:rPr lang="fr-FR" dirty="0"/>
              <a:t> </a:t>
            </a:r>
            <a:r>
              <a:rPr lang="fr-FR" dirty="0" smtClean="0"/>
              <a:t>µmol/l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63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marqueurs suivants augmentent en cas de cholestase: </a:t>
            </a:r>
          </a:p>
          <a:p>
            <a:pPr marL="0" indent="0" algn="just">
              <a:buNone/>
            </a:pPr>
            <a:r>
              <a:rPr lang="fr-FR" dirty="0" smtClean="0"/>
              <a:t>A- Taux sérique des acides biliaires </a:t>
            </a:r>
          </a:p>
          <a:p>
            <a:pPr marL="0" indent="0" algn="just">
              <a:buNone/>
            </a:pPr>
            <a:r>
              <a:rPr lang="fr-FR" dirty="0" smtClean="0"/>
              <a:t>B- </a:t>
            </a:r>
            <a:r>
              <a:rPr lang="fr-FR" dirty="0"/>
              <a:t>P</a:t>
            </a:r>
            <a:r>
              <a:rPr lang="fr-FR" dirty="0" smtClean="0"/>
              <a:t>hosphatases alcalines</a:t>
            </a:r>
          </a:p>
          <a:p>
            <a:pPr marL="0" indent="0" algn="just">
              <a:buNone/>
            </a:pPr>
            <a:r>
              <a:rPr lang="fr-FR" dirty="0" smtClean="0"/>
              <a:t>C- γ-GT </a:t>
            </a:r>
          </a:p>
          <a:p>
            <a:pPr marL="0" indent="0" algn="just">
              <a:buNone/>
            </a:pPr>
            <a:r>
              <a:rPr lang="fr-FR" dirty="0" smtClean="0"/>
              <a:t>D- 5’nucléotidase</a:t>
            </a:r>
          </a:p>
          <a:p>
            <a:pPr marL="0" indent="0" algn="just">
              <a:buNone/>
            </a:pPr>
            <a:r>
              <a:rPr lang="fr-FR" dirty="0" smtClean="0"/>
              <a:t>E- Alpha-</a:t>
            </a:r>
            <a:r>
              <a:rPr lang="fr-FR" dirty="0" err="1" smtClean="0"/>
              <a:t>foetoprotéine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18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/>
              <a:t>L</a:t>
            </a:r>
            <a:r>
              <a:rPr lang="fr-FR" dirty="0" smtClean="0"/>
              <a:t>e marqueur biologique le plus spécifique de cholestase est:</a:t>
            </a:r>
          </a:p>
          <a:p>
            <a:pPr marL="0" indent="0" algn="just">
              <a:buNone/>
            </a:pPr>
            <a:r>
              <a:rPr lang="fr-FR" dirty="0"/>
              <a:t>A</a:t>
            </a:r>
            <a:r>
              <a:rPr lang="fr-FR" dirty="0" smtClean="0"/>
              <a:t>- Phosphatases alcalines</a:t>
            </a:r>
          </a:p>
          <a:p>
            <a:pPr marL="0" indent="0" algn="just">
              <a:buNone/>
            </a:pPr>
            <a:r>
              <a:rPr lang="fr-FR" dirty="0"/>
              <a:t>B</a:t>
            </a:r>
            <a:r>
              <a:rPr lang="fr-FR" dirty="0" smtClean="0"/>
              <a:t>- γ-GT </a:t>
            </a:r>
          </a:p>
          <a:p>
            <a:pPr marL="0" indent="0" algn="just">
              <a:buNone/>
            </a:pPr>
            <a:r>
              <a:rPr lang="fr-FR" dirty="0"/>
              <a:t>C</a:t>
            </a:r>
            <a:r>
              <a:rPr lang="fr-FR" dirty="0" smtClean="0"/>
              <a:t>- 5’nucléotidase</a:t>
            </a:r>
          </a:p>
          <a:p>
            <a:pPr marL="0" indent="0" algn="just">
              <a:buNone/>
            </a:pPr>
            <a:r>
              <a:rPr lang="fr-FR" dirty="0"/>
              <a:t>D</a:t>
            </a:r>
            <a:r>
              <a:rPr lang="fr-FR" dirty="0" smtClean="0"/>
              <a:t>- Alphafoetoprotéine</a:t>
            </a:r>
          </a:p>
          <a:p>
            <a:pPr marL="0" indent="0" algn="just">
              <a:buNone/>
            </a:pPr>
            <a:r>
              <a:rPr lang="fr-FR" dirty="0" smtClean="0"/>
              <a:t>E- Taux sérique des acides biliaires </a:t>
            </a:r>
          </a:p>
          <a:p>
            <a:pPr marL="0" indent="0" algn="just">
              <a:buNone/>
            </a:pPr>
            <a:endParaRPr lang="fr-FR" dirty="0" smtClean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92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b="1" dirty="0" smtClean="0"/>
              <a:t>                         </a:t>
            </a:r>
            <a:r>
              <a:rPr lang="fr-FR" sz="6000" b="1" dirty="0" smtClean="0"/>
              <a:t>Objectif n°2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    </a:t>
            </a:r>
            <a:r>
              <a:rPr lang="fr-FR" sz="4800" dirty="0" smtClean="0"/>
              <a:t>Décrire l’anatomie des voies biliaires </a:t>
            </a:r>
          </a:p>
          <a:p>
            <a:pPr marL="0" indent="0" algn="just">
              <a:buNone/>
            </a:pPr>
            <a:r>
              <a:rPr lang="fr-FR" sz="4800" dirty="0" smtClean="0"/>
              <a:t>intra et extra-hépatiques et du carrefour      </a:t>
            </a:r>
          </a:p>
          <a:p>
            <a:pPr marL="0" indent="0" algn="just">
              <a:buNone/>
            </a:pPr>
            <a:r>
              <a:rPr lang="fr-FR" sz="4800" dirty="0"/>
              <a:t> </a:t>
            </a:r>
            <a:r>
              <a:rPr lang="fr-FR" sz="4800" dirty="0" smtClean="0"/>
              <a:t>                </a:t>
            </a:r>
            <a:r>
              <a:rPr lang="fr-FR" sz="4800" dirty="0" err="1" smtClean="0"/>
              <a:t>bilio</a:t>
            </a:r>
            <a:r>
              <a:rPr lang="fr-FR" sz="4800" dirty="0" smtClean="0"/>
              <a:t>-pancréatique 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85587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0" y="182879"/>
            <a:ext cx="10763795" cy="6544491"/>
          </a:xfrm>
        </p:spPr>
      </p:pic>
    </p:spTree>
    <p:extLst>
      <p:ext uri="{BB962C8B-B14F-4D97-AF65-F5344CB8AC3E}">
        <p14:creationId xmlns:p14="http://schemas.microsoft.com/office/powerpoint/2010/main" val="2074774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15599" cy="4833891"/>
          </a:xfrm>
        </p:spPr>
      </p:pic>
      <p:sp>
        <p:nvSpPr>
          <p:cNvPr id="5" name="ZoneTexte 4"/>
          <p:cNvSpPr txBox="1"/>
          <p:nvPr/>
        </p:nvSpPr>
        <p:spPr>
          <a:xfrm>
            <a:off x="2259875" y="5669280"/>
            <a:ext cx="7952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fr-FR" sz="2800" b="1" dirty="0" smtClean="0"/>
              <a:t>Figure2: Les différentes parties de la vésicule biliaire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73903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" y="809897"/>
            <a:ext cx="10398035" cy="4885509"/>
          </a:xfrm>
        </p:spPr>
      </p:pic>
      <p:sp>
        <p:nvSpPr>
          <p:cNvPr id="5" name="ZoneTexte 4"/>
          <p:cNvSpPr txBox="1"/>
          <p:nvPr/>
        </p:nvSpPr>
        <p:spPr>
          <a:xfrm>
            <a:off x="2468880" y="5865223"/>
            <a:ext cx="761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Figure 3: Abouchement des voies biliaires et pancréatiques dans le duodénum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07971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La voie biliaire principale comprend: </a:t>
            </a:r>
          </a:p>
          <a:p>
            <a:pPr marL="0" indent="0" algn="just">
              <a:buNone/>
            </a:pPr>
            <a:r>
              <a:rPr lang="fr-FR" dirty="0" smtClean="0"/>
              <a:t>A- Conduit hépatique commun</a:t>
            </a:r>
          </a:p>
          <a:p>
            <a:pPr marL="0" indent="0" algn="just">
              <a:buNone/>
            </a:pPr>
            <a:r>
              <a:rPr lang="fr-FR" dirty="0" smtClean="0"/>
              <a:t>B- Conduit cystique </a:t>
            </a:r>
          </a:p>
          <a:p>
            <a:pPr marL="0" indent="0" algn="just">
              <a:buNone/>
            </a:pPr>
            <a:r>
              <a:rPr lang="fr-FR" dirty="0"/>
              <a:t>C</a:t>
            </a:r>
            <a:r>
              <a:rPr lang="fr-FR" dirty="0" smtClean="0"/>
              <a:t>- Conduit cholédoque</a:t>
            </a:r>
          </a:p>
          <a:p>
            <a:pPr marL="0" indent="0" algn="just">
              <a:buNone/>
            </a:pPr>
            <a:r>
              <a:rPr lang="fr-FR" dirty="0" smtClean="0"/>
              <a:t>D- Vésicule biliaire</a:t>
            </a:r>
          </a:p>
          <a:p>
            <a:pPr marL="0" indent="0" algn="just">
              <a:buNone/>
            </a:pPr>
            <a:r>
              <a:rPr lang="fr-FR" dirty="0" smtClean="0"/>
              <a:t>E- Conduit pancréatique principal</a:t>
            </a:r>
          </a:p>
          <a:p>
            <a:pPr marL="0" indent="0" algn="just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8018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Concernant la voie biliaire accessoire: </a:t>
            </a:r>
          </a:p>
          <a:p>
            <a:pPr marL="0" indent="0" algn="just">
              <a:buNone/>
            </a:pPr>
            <a:r>
              <a:rPr lang="fr-FR" dirty="0" smtClean="0"/>
              <a:t>A- Le conduit de Wirsung et le conduit cholédoque sont les principaux constituants</a:t>
            </a:r>
          </a:p>
          <a:p>
            <a:pPr marL="0" indent="0" algn="just">
              <a:buNone/>
            </a:pPr>
            <a:r>
              <a:rPr lang="fr-FR" dirty="0" smtClean="0"/>
              <a:t>B- C’est un système en dérivation sur la voie biliaire principale</a:t>
            </a:r>
          </a:p>
          <a:p>
            <a:pPr marL="0" indent="0" algn="just">
              <a:buNone/>
            </a:pPr>
            <a:r>
              <a:rPr lang="fr-FR" dirty="0" smtClean="0"/>
              <a:t>C- Sa fonction principale est le stockage et la concentration de la bile</a:t>
            </a:r>
          </a:p>
          <a:p>
            <a:pPr marL="0" indent="0" algn="just">
              <a:buNone/>
            </a:pPr>
            <a:r>
              <a:rPr lang="fr-FR" dirty="0" smtClean="0"/>
              <a:t>D- Le fond de la vésicule biliaire se projette sur la paroi abdominale antérieure</a:t>
            </a:r>
          </a:p>
          <a:p>
            <a:pPr marL="0" indent="0" algn="just">
              <a:buNone/>
            </a:pPr>
            <a:r>
              <a:rPr lang="fr-FR" dirty="0" smtClean="0"/>
              <a:t>E- Le ganglion de Mascagni se projette au niveau du confluent biliaire inférieur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72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b="1" dirty="0" smtClean="0"/>
              <a:t>                        </a:t>
            </a:r>
            <a:r>
              <a:rPr lang="fr-FR" sz="6000" b="1" dirty="0" smtClean="0"/>
              <a:t>Objectif n°3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4800" dirty="0" smtClean="0"/>
          </a:p>
          <a:p>
            <a:pPr marL="0" indent="0">
              <a:buNone/>
            </a:pPr>
            <a:endParaRPr lang="fr-FR" sz="4800" dirty="0"/>
          </a:p>
          <a:p>
            <a:pPr marL="0" indent="0" algn="just">
              <a:buNone/>
            </a:pPr>
            <a:r>
              <a:rPr lang="fr-FR" sz="4800" dirty="0" smtClean="0"/>
              <a:t>   Décrire le métabolisme de la bilirubine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40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b="1" dirty="0" smtClean="0">
                <a:solidFill>
                  <a:srgbClr val="FF0000"/>
                </a:solidFill>
              </a:rPr>
              <a:t> Etape sérique du métabolisme de la bilirubine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995" y="1410789"/>
            <a:ext cx="7602582" cy="5290457"/>
          </a:xfrm>
        </p:spPr>
      </p:pic>
    </p:spTree>
    <p:extLst>
      <p:ext uri="{BB962C8B-B14F-4D97-AF65-F5344CB8AC3E}">
        <p14:creationId xmlns:p14="http://schemas.microsoft.com/office/powerpoint/2010/main" val="399520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600" b="1" dirty="0" smtClean="0">
                <a:solidFill>
                  <a:srgbClr val="FF0000"/>
                </a:solidFill>
              </a:rPr>
              <a:t>     Etape </a:t>
            </a:r>
            <a:r>
              <a:rPr lang="fr-FR" sz="3600" b="1" dirty="0" err="1" smtClean="0">
                <a:solidFill>
                  <a:srgbClr val="FF0000"/>
                </a:solidFill>
              </a:rPr>
              <a:t>hépatocytaire</a:t>
            </a:r>
            <a:r>
              <a:rPr lang="fr-FR" sz="3600" b="1" dirty="0" smtClean="0">
                <a:solidFill>
                  <a:srgbClr val="FF0000"/>
                </a:solidFill>
              </a:rPr>
              <a:t> du métabolisme de la bilirubine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74" y="1690688"/>
            <a:ext cx="9496697" cy="5036683"/>
          </a:xfrm>
        </p:spPr>
      </p:pic>
    </p:spTree>
    <p:extLst>
      <p:ext uri="{BB962C8B-B14F-4D97-AF65-F5344CB8AC3E}">
        <p14:creationId xmlns:p14="http://schemas.microsoft.com/office/powerpoint/2010/main" val="3388035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5400" dirty="0" smtClean="0"/>
              <a:t>         </a:t>
            </a:r>
            <a:r>
              <a:rPr lang="fr-FR" sz="5400" b="1" dirty="0" smtClean="0">
                <a:solidFill>
                  <a:srgbClr val="FF0000"/>
                </a:solidFill>
              </a:rPr>
              <a:t>Etape de la sécrétion biliaire</a:t>
            </a:r>
            <a:endParaRPr lang="fr-FR" sz="5400" b="1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30" y="1436913"/>
            <a:ext cx="8765176" cy="5003075"/>
          </a:xfrm>
        </p:spPr>
      </p:pic>
    </p:spTree>
    <p:extLst>
      <p:ext uri="{BB962C8B-B14F-4D97-AF65-F5344CB8AC3E}">
        <p14:creationId xmlns:p14="http://schemas.microsoft.com/office/powerpoint/2010/main" val="66198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-71529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fr-FR" sz="4800" b="1" dirty="0" smtClean="0"/>
              <a:t>                      </a:t>
            </a:r>
            <a:r>
              <a:rPr lang="fr-FR" sz="4800" b="1" dirty="0" smtClean="0">
                <a:solidFill>
                  <a:srgbClr val="FF0000"/>
                </a:solidFill>
              </a:rPr>
              <a:t>Etape intestinale</a:t>
            </a:r>
            <a:endParaRPr lang="fr-FR" sz="4800" b="1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27463"/>
            <a:ext cx="11887200" cy="5930537"/>
          </a:xfrm>
        </p:spPr>
      </p:pic>
    </p:spTree>
    <p:extLst>
      <p:ext uri="{BB962C8B-B14F-4D97-AF65-F5344CB8AC3E}">
        <p14:creationId xmlns:p14="http://schemas.microsoft.com/office/powerpoint/2010/main" val="413070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2400" dirty="0" smtClean="0"/>
              <a:t>Parmi les propositions suivantes concernant le métabolisme de la bilirubine, vous retenez: </a:t>
            </a:r>
          </a:p>
          <a:p>
            <a:pPr marL="0" indent="0" algn="just">
              <a:buNone/>
            </a:pPr>
            <a:r>
              <a:rPr lang="fr-FR" sz="2400" dirty="0" smtClean="0"/>
              <a:t> A- La bilirubine provient de la dégradation de la globine des hématies </a:t>
            </a:r>
          </a:p>
          <a:p>
            <a:pPr marL="0" indent="0" algn="just">
              <a:buNone/>
            </a:pPr>
            <a:r>
              <a:rPr lang="fr-FR" sz="2400" dirty="0"/>
              <a:t> </a:t>
            </a:r>
            <a:r>
              <a:rPr lang="fr-FR" sz="2400" dirty="0" smtClean="0"/>
              <a:t>     sénescentes</a:t>
            </a:r>
          </a:p>
          <a:p>
            <a:pPr marL="0" indent="0" algn="just">
              <a:buNone/>
            </a:pPr>
            <a:r>
              <a:rPr lang="fr-FR" sz="2400" dirty="0" smtClean="0"/>
              <a:t> B- La bilirubine liée à l’albumine traverse la barrière glomérulaire</a:t>
            </a:r>
          </a:p>
          <a:p>
            <a:pPr marL="0" indent="0" algn="just">
              <a:buNone/>
            </a:pPr>
            <a:r>
              <a:rPr lang="fr-FR" sz="2400" dirty="0"/>
              <a:t> </a:t>
            </a:r>
            <a:r>
              <a:rPr lang="fr-FR" sz="2400" dirty="0" smtClean="0"/>
              <a:t>C- L’UDP-</a:t>
            </a:r>
            <a:r>
              <a:rPr lang="fr-FR" sz="2400" dirty="0" err="1" smtClean="0"/>
              <a:t>glucuronyl</a:t>
            </a:r>
            <a:r>
              <a:rPr lang="fr-FR" sz="2400" dirty="0"/>
              <a:t> </a:t>
            </a:r>
            <a:r>
              <a:rPr lang="fr-FR" sz="2400" dirty="0" smtClean="0"/>
              <a:t>transférase conjugue la bilirubine avec l’acide </a:t>
            </a:r>
            <a:r>
              <a:rPr lang="fr-FR" sz="2400" dirty="0" err="1" smtClean="0"/>
              <a:t>glucuronique</a:t>
            </a:r>
            <a:endParaRPr lang="fr-FR" sz="2400" dirty="0" smtClean="0"/>
          </a:p>
          <a:p>
            <a:pPr marL="0" indent="0" algn="just">
              <a:buNone/>
            </a:pPr>
            <a:r>
              <a:rPr lang="fr-FR" sz="2400" dirty="0"/>
              <a:t> </a:t>
            </a:r>
            <a:r>
              <a:rPr lang="fr-FR" sz="2400" dirty="0" smtClean="0"/>
              <a:t>D- Les acides biliaires et la bilirubine conjuguée impliquent les </a:t>
            </a:r>
            <a:r>
              <a:rPr lang="fr-FR" sz="2400" dirty="0" err="1" smtClean="0"/>
              <a:t>memes</a:t>
            </a:r>
            <a:r>
              <a:rPr lang="fr-FR" sz="2400" dirty="0" smtClean="0"/>
              <a:t> transporteurs </a:t>
            </a:r>
          </a:p>
          <a:p>
            <a:pPr marL="0" indent="0" algn="just">
              <a:buNone/>
            </a:pPr>
            <a:r>
              <a:rPr lang="fr-FR" sz="2400" dirty="0" smtClean="0"/>
              <a:t>E- Les bactéries intestinales transforment la bilirubine conjuguée en </a:t>
            </a:r>
            <a:r>
              <a:rPr lang="fr-FR" sz="2400" dirty="0" err="1" smtClean="0"/>
              <a:t>stercobilinogène</a:t>
            </a: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1417472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6000" b="1" smtClean="0"/>
              <a:t>                    Objectif </a:t>
            </a:r>
            <a:r>
              <a:rPr lang="fr-FR" sz="6000" b="1" dirty="0" smtClean="0"/>
              <a:t>n°4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4800" dirty="0" smtClean="0"/>
              <a:t>Expliquer, en fonction de l’âge, les mécanismes physiopathologiques des ictères à bilirubine conjuguée et des ictères à bilirubine non conjuguée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1845308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b="1" dirty="0" smtClean="0">
                <a:solidFill>
                  <a:srgbClr val="FF0000"/>
                </a:solidFill>
              </a:rPr>
              <a:t>Mécanismes physiopathologiques des ictères 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</a:rPr>
              <a:t>             chez le nouveau-né et l’enfant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</a:t>
            </a:r>
            <a:r>
              <a:rPr lang="fr-FR" dirty="0" smtClean="0"/>
              <a:t>n ictère hémolytique: </a:t>
            </a:r>
          </a:p>
          <a:p>
            <a:pPr marL="0" indent="0">
              <a:buNone/>
            </a:pPr>
            <a:r>
              <a:rPr lang="fr-FR" dirty="0" smtClean="0"/>
              <a:t>A- est un ictère à bilirubine directe</a:t>
            </a:r>
          </a:p>
          <a:p>
            <a:pPr marL="0" indent="0">
              <a:buNone/>
            </a:pPr>
            <a:r>
              <a:rPr lang="fr-FR" dirty="0" smtClean="0"/>
              <a:t>B- est secondaire à un excès de destruction des GR</a:t>
            </a:r>
          </a:p>
          <a:p>
            <a:pPr marL="0" indent="0">
              <a:buNone/>
            </a:pPr>
            <a:r>
              <a:rPr lang="fr-FR" dirty="0" smtClean="0"/>
              <a:t>C- La prématurité diminue la liaison bilirubine-albumine</a:t>
            </a:r>
          </a:p>
          <a:p>
            <a:pPr marL="0" indent="0">
              <a:buNone/>
            </a:pPr>
            <a:r>
              <a:rPr lang="fr-FR" dirty="0" smtClean="0"/>
              <a:t>D- Son risque majeur est la cirrhose biliaire</a:t>
            </a:r>
          </a:p>
          <a:p>
            <a:pPr marL="0" indent="0">
              <a:buNone/>
            </a:pPr>
            <a:r>
              <a:rPr lang="fr-FR" dirty="0" smtClean="0"/>
              <a:t>E- En période néonatale, les causes de l’hémolyse sont dominées par les anémies hémolytiques constitutionnelles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424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L’ictère cholestatique: </a:t>
            </a:r>
          </a:p>
          <a:p>
            <a:pPr marL="0" indent="0" algn="just">
              <a:buNone/>
            </a:pPr>
            <a:r>
              <a:rPr lang="fr-FR" dirty="0" smtClean="0"/>
              <a:t> A- est un ictère à bilirubine conjuguée</a:t>
            </a:r>
          </a:p>
          <a:p>
            <a:pPr marL="0" indent="0" algn="just">
              <a:buNone/>
            </a:pPr>
            <a:r>
              <a:rPr lang="fr-FR" dirty="0" smtClean="0"/>
              <a:t> B- </a:t>
            </a:r>
            <a:r>
              <a:rPr lang="fr-FR" dirty="0"/>
              <a:t>e</a:t>
            </a:r>
            <a:r>
              <a:rPr lang="fr-FR" dirty="0" smtClean="0"/>
              <a:t>st caractérisé par une rétention des composants de la bile</a:t>
            </a:r>
          </a:p>
          <a:p>
            <a:pPr marL="0" indent="0" algn="just">
              <a:buNone/>
            </a:pPr>
            <a:r>
              <a:rPr lang="fr-FR" dirty="0" smtClean="0"/>
              <a:t> C- Chez le nouveau-né, il nécessite une exploration urgente</a:t>
            </a:r>
          </a:p>
          <a:p>
            <a:pPr marL="0" indent="0" algn="just">
              <a:buNone/>
            </a:pPr>
            <a:r>
              <a:rPr lang="fr-FR" dirty="0" smtClean="0"/>
              <a:t> D- Son risque majeur est l’ictère nucléaire</a:t>
            </a:r>
          </a:p>
          <a:p>
            <a:pPr marL="0" indent="0" algn="just">
              <a:buNone/>
            </a:pPr>
            <a:r>
              <a:rPr lang="fr-FR" dirty="0" smtClean="0"/>
              <a:t> E- est de bon pronostic en cas d’atrésie des voies biliaires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0327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Concernant la cholestase extra-hépatique : </a:t>
            </a:r>
            <a:endParaRPr lang="fr-FR" dirty="0"/>
          </a:p>
          <a:p>
            <a:pPr marL="0" indent="0" algn="just">
              <a:buNone/>
            </a:pPr>
            <a:r>
              <a:rPr lang="fr-FR" dirty="0" smtClean="0"/>
              <a:t> A- Elle est due à une anomalie du flux biliaire au niveau des voies biliaires extra-hépatiques </a:t>
            </a:r>
          </a:p>
          <a:p>
            <a:pPr marL="0" indent="0" algn="just">
              <a:buNone/>
            </a:pPr>
            <a:r>
              <a:rPr lang="fr-FR" dirty="0" smtClean="0"/>
              <a:t> B- L’échographie hépatique peut montre une dilatation des voies biliaires extra-hépatiques (VBEH) et intra-hépatiques (VBIH)</a:t>
            </a:r>
          </a:p>
          <a:p>
            <a:pPr marL="0" indent="0" algn="just">
              <a:buNone/>
            </a:pPr>
            <a:r>
              <a:rPr lang="fr-FR" dirty="0" smtClean="0"/>
              <a:t>C- Le reflux des constituants de la bile dans le sang est secondaire à une inversion de la polarité de l’hépatocyte</a:t>
            </a:r>
          </a:p>
          <a:p>
            <a:pPr marL="0" indent="0" algn="just">
              <a:buNone/>
            </a:pPr>
            <a:r>
              <a:rPr lang="fr-FR" dirty="0" smtClean="0"/>
              <a:t>D- Il existe une altération des systèmes de transport au niveau de l’hépatocyte</a:t>
            </a:r>
          </a:p>
          <a:p>
            <a:pPr marL="0" indent="0" algn="just">
              <a:buNone/>
            </a:pPr>
            <a:r>
              <a:rPr lang="fr-FR" dirty="0" smtClean="0"/>
              <a:t>E- Le déficit en acides biliaires dans l’intestin est responsable d’une malabsorption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7516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b="1" dirty="0" smtClean="0"/>
              <a:t>                           </a:t>
            </a:r>
            <a:r>
              <a:rPr lang="fr-FR" sz="6000" b="1" dirty="0" smtClean="0"/>
              <a:t>Objectif n°5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4000" dirty="0" smtClean="0"/>
          </a:p>
          <a:p>
            <a:pPr marL="0" indent="0" algn="just">
              <a:buNone/>
            </a:pPr>
            <a:r>
              <a:rPr lang="fr-FR" sz="4000" dirty="0" smtClean="0"/>
              <a:t>Distinguer à partir des données de l’anamnèse, de l’examen physique et de la biologie un ictère à bilirubine conjuguée d’un ictère à bilirubine non conjuguée</a:t>
            </a:r>
            <a:endParaRPr lang="fr-FR" dirty="0" smtClean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5542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signes cliniques suivants font évoquer un ictère à bilirubine conjuguée: </a:t>
            </a:r>
          </a:p>
          <a:p>
            <a:pPr marL="0" indent="0" algn="just">
              <a:buNone/>
            </a:pPr>
            <a:r>
              <a:rPr lang="fr-FR" dirty="0" smtClean="0"/>
              <a:t>A- Xanthomes</a:t>
            </a:r>
          </a:p>
          <a:p>
            <a:pPr marL="0" indent="0" algn="just">
              <a:buNone/>
            </a:pPr>
            <a:r>
              <a:rPr lang="fr-FR" dirty="0" smtClean="0"/>
              <a:t>B- Erythrose palmaire</a:t>
            </a:r>
          </a:p>
          <a:p>
            <a:pPr marL="0" indent="0" algn="just">
              <a:buNone/>
            </a:pPr>
            <a:r>
              <a:rPr lang="fr-FR" dirty="0" smtClean="0"/>
              <a:t>C- Selles décolorées</a:t>
            </a:r>
          </a:p>
          <a:p>
            <a:pPr marL="0" indent="0" algn="just">
              <a:buNone/>
            </a:pPr>
            <a:r>
              <a:rPr lang="fr-FR" dirty="0" smtClean="0"/>
              <a:t>D- Prurit</a:t>
            </a:r>
          </a:p>
          <a:p>
            <a:pPr marL="0" indent="0" algn="just">
              <a:buNone/>
            </a:pPr>
            <a:r>
              <a:rPr lang="fr-FR" dirty="0" smtClean="0"/>
              <a:t>E- </a:t>
            </a:r>
            <a:r>
              <a:rPr lang="fr-FR" dirty="0"/>
              <a:t>H</a:t>
            </a:r>
            <a:r>
              <a:rPr lang="fr-FR" dirty="0" smtClean="0"/>
              <a:t>ippocratisme digital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22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signes biologiques suivants font évoquer un ictère cholestatique:</a:t>
            </a:r>
          </a:p>
          <a:p>
            <a:pPr marL="0" indent="0" algn="just">
              <a:buNone/>
            </a:pPr>
            <a:r>
              <a:rPr lang="fr-FR" dirty="0" smtClean="0"/>
              <a:t>A- Bilirubine conjuguée &gt; 70 %</a:t>
            </a:r>
          </a:p>
          <a:p>
            <a:pPr marL="0" indent="0" algn="just">
              <a:buNone/>
            </a:pPr>
            <a:r>
              <a:rPr lang="fr-FR" dirty="0" smtClean="0"/>
              <a:t>B- Augmentation du cholestérol</a:t>
            </a:r>
          </a:p>
          <a:p>
            <a:pPr marL="0" indent="0" algn="just">
              <a:buNone/>
            </a:pPr>
            <a:r>
              <a:rPr lang="fr-FR" dirty="0" smtClean="0"/>
              <a:t>C- Diminution des phosphatases alcalines</a:t>
            </a:r>
          </a:p>
          <a:p>
            <a:pPr marL="0" indent="0" algn="just">
              <a:buNone/>
            </a:pPr>
            <a:r>
              <a:rPr lang="fr-FR" dirty="0" smtClean="0"/>
              <a:t>D- Augmentation des GGT</a:t>
            </a:r>
          </a:p>
          <a:p>
            <a:pPr marL="0" indent="0" algn="just">
              <a:buNone/>
            </a:pPr>
            <a:r>
              <a:rPr lang="fr-FR" dirty="0" smtClean="0"/>
              <a:t>E-  TP bas corrigible par l’administration parentérale de vitamine K</a:t>
            </a:r>
          </a:p>
          <a:p>
            <a:pPr marL="0" indent="0" algn="just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758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Les signes cliniques en faveur d’un ictère à bilirubine non conjuguée sont les suivants : </a:t>
            </a:r>
          </a:p>
          <a:p>
            <a:pPr marL="0" indent="0">
              <a:buNone/>
            </a:pPr>
            <a:r>
              <a:rPr lang="fr-FR" dirty="0" smtClean="0"/>
              <a:t>A- Un ictère de coloration jaune-orange </a:t>
            </a:r>
          </a:p>
          <a:p>
            <a:pPr marL="0" indent="0">
              <a:buNone/>
            </a:pPr>
            <a:r>
              <a:rPr lang="fr-FR" dirty="0" smtClean="0"/>
              <a:t>B- Des urines foncées </a:t>
            </a:r>
          </a:p>
          <a:p>
            <a:pPr marL="0" indent="0">
              <a:buNone/>
            </a:pPr>
            <a:r>
              <a:rPr lang="fr-FR" dirty="0" smtClean="0"/>
              <a:t>C- Des selles normocolorées </a:t>
            </a:r>
          </a:p>
          <a:p>
            <a:pPr marL="0" indent="0">
              <a:buNone/>
            </a:pPr>
            <a:r>
              <a:rPr lang="fr-FR" dirty="0" smtClean="0"/>
              <a:t>D- Prurit</a:t>
            </a:r>
          </a:p>
          <a:p>
            <a:pPr marL="0" indent="0">
              <a:buNone/>
            </a:pPr>
            <a:r>
              <a:rPr lang="fr-FR" dirty="0" smtClean="0"/>
              <a:t>E- Hépatomégalie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985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signes biologiques suivants font évoquer un ictère à BNC:</a:t>
            </a:r>
          </a:p>
          <a:p>
            <a:pPr marL="0" indent="0" algn="just">
              <a:buNone/>
            </a:pPr>
            <a:r>
              <a:rPr lang="fr-FR" dirty="0" smtClean="0"/>
              <a:t>A- L’augmentation du taux sérique de bilirubine en majorité non conjuguée </a:t>
            </a:r>
          </a:p>
          <a:p>
            <a:pPr marL="0" indent="0" algn="just">
              <a:buNone/>
            </a:pPr>
            <a:r>
              <a:rPr lang="fr-FR" dirty="0" smtClean="0"/>
              <a:t>B- Une anémie normo ou macrocytaire avec réticulocytose </a:t>
            </a:r>
          </a:p>
          <a:p>
            <a:pPr marL="0" indent="0" algn="just">
              <a:buNone/>
            </a:pPr>
            <a:r>
              <a:rPr lang="fr-FR" dirty="0" smtClean="0"/>
              <a:t>C- Une augmentation du taux du lactate déshydrogénase (LDH) </a:t>
            </a:r>
          </a:p>
          <a:p>
            <a:pPr marL="0" indent="0" algn="just">
              <a:buNone/>
            </a:pPr>
            <a:r>
              <a:rPr lang="fr-FR" dirty="0" smtClean="0"/>
              <a:t>D- Une élévation des GGT</a:t>
            </a:r>
          </a:p>
          <a:p>
            <a:pPr marL="0" indent="0" algn="just">
              <a:buNone/>
            </a:pPr>
            <a:r>
              <a:rPr lang="fr-FR" dirty="0"/>
              <a:t>E</a:t>
            </a:r>
            <a:r>
              <a:rPr lang="fr-FR" dirty="0" smtClean="0"/>
              <a:t>- Une baisse du taux de l’haptoglobine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4968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6000" b="1" dirty="0" smtClean="0"/>
              <a:t>                   Objectif n°6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4800" dirty="0" smtClean="0"/>
          </a:p>
          <a:p>
            <a:pPr marL="0" indent="0" algn="just">
              <a:buNone/>
            </a:pPr>
            <a:r>
              <a:rPr lang="fr-FR" sz="4800" dirty="0" smtClean="0"/>
              <a:t>Planifier, en fonction de l’âge, une démarche diagnostique devant un ictère à bilirubine conjuguée et un ictère à bilirubine non conjuguée</a:t>
            </a:r>
          </a:p>
          <a:p>
            <a:pPr marL="0" indent="0">
              <a:buNone/>
            </a:pP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1866171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L’ictère est dit grave s’il est associé à :</a:t>
            </a:r>
          </a:p>
          <a:p>
            <a:pPr marL="0" indent="0" algn="just">
              <a:buNone/>
            </a:pPr>
            <a:r>
              <a:rPr lang="fr-FR" dirty="0" smtClean="0"/>
              <a:t>A- Température à 40 °C</a:t>
            </a:r>
          </a:p>
          <a:p>
            <a:pPr marL="0" indent="0" algn="just">
              <a:buNone/>
            </a:pPr>
            <a:r>
              <a:rPr lang="fr-FR" dirty="0" smtClean="0"/>
              <a:t>B- TP à 30% non corrigible par l’administration parentérale de la vitamine K</a:t>
            </a:r>
          </a:p>
          <a:p>
            <a:pPr marL="0" indent="0" algn="just">
              <a:buNone/>
            </a:pPr>
            <a:r>
              <a:rPr lang="fr-FR" dirty="0" smtClean="0"/>
              <a:t>C- Hématémèse</a:t>
            </a:r>
          </a:p>
          <a:p>
            <a:pPr marL="0" indent="0" algn="just">
              <a:buNone/>
            </a:pPr>
            <a:r>
              <a:rPr lang="fr-FR" dirty="0" smtClean="0"/>
              <a:t>D- Troubles de la conscience</a:t>
            </a:r>
          </a:p>
          <a:p>
            <a:pPr marL="0" indent="0" algn="just">
              <a:buNone/>
            </a:pPr>
            <a:r>
              <a:rPr lang="fr-FR" dirty="0" smtClean="0"/>
              <a:t>E- Xanthome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1228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dirty="0" smtClean="0"/>
              <a:t>L’échographie abdominale conventionnelle: </a:t>
            </a:r>
          </a:p>
          <a:p>
            <a:pPr marL="0" indent="0" algn="just">
              <a:buNone/>
            </a:pPr>
            <a:r>
              <a:rPr lang="fr-FR" dirty="0"/>
              <a:t>A- </a:t>
            </a:r>
            <a:r>
              <a:rPr lang="fr-FR" dirty="0" smtClean="0"/>
              <a:t>est un examen </a:t>
            </a:r>
            <a:r>
              <a:rPr lang="fr-FR" dirty="0"/>
              <a:t>de première intention devant tout ictère </a:t>
            </a:r>
            <a:r>
              <a:rPr lang="fr-FR" dirty="0" smtClean="0"/>
              <a:t>cholestatique</a:t>
            </a:r>
          </a:p>
          <a:p>
            <a:pPr marL="0" indent="0" algn="just">
              <a:buNone/>
            </a:pPr>
            <a:r>
              <a:rPr lang="fr-FR" dirty="0" smtClean="0"/>
              <a:t>B- montre des voies biliaires intra-hépatiques dilatées en cas de cholestase intrahépatique</a:t>
            </a:r>
          </a:p>
          <a:p>
            <a:pPr marL="0" indent="0" algn="just">
              <a:buNone/>
            </a:pPr>
            <a:r>
              <a:rPr lang="fr-FR" dirty="0" smtClean="0"/>
              <a:t>C- est indiquée en deuxième intention lorsque l’</a:t>
            </a:r>
            <a:r>
              <a:rPr lang="fr-FR" dirty="0" err="1" smtClean="0"/>
              <a:t>échoendoscopie</a:t>
            </a:r>
            <a:r>
              <a:rPr lang="fr-FR" dirty="0" smtClean="0"/>
              <a:t> n’est pas contributive</a:t>
            </a:r>
          </a:p>
          <a:p>
            <a:pPr marL="0" indent="0" algn="just">
              <a:buNone/>
            </a:pPr>
            <a:r>
              <a:rPr lang="fr-FR" dirty="0" smtClean="0"/>
              <a:t>D-précise toujours la nature de l’obstacle</a:t>
            </a:r>
          </a:p>
          <a:p>
            <a:pPr marL="0" indent="0" algn="just">
              <a:buNone/>
            </a:pPr>
            <a:r>
              <a:rPr lang="fr-FR" dirty="0" smtClean="0"/>
              <a:t>E- détermine le siège de l’obstacle dans 80% des cas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0079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contre-indications à la PBF:</a:t>
            </a:r>
          </a:p>
          <a:p>
            <a:pPr marL="0" indent="0" algn="just">
              <a:buNone/>
            </a:pPr>
            <a:r>
              <a:rPr lang="fr-FR" dirty="0" smtClean="0"/>
              <a:t>A- Plaquettes &gt; </a:t>
            </a:r>
            <a:r>
              <a:rPr lang="fr-FR" dirty="0"/>
              <a:t>60 </a:t>
            </a:r>
            <a:r>
              <a:rPr lang="fr-FR" dirty="0" smtClean="0"/>
              <a:t>000 e/mm3, </a:t>
            </a:r>
          </a:p>
          <a:p>
            <a:pPr marL="0" indent="0" algn="just">
              <a:buNone/>
            </a:pPr>
            <a:r>
              <a:rPr lang="fr-FR" dirty="0"/>
              <a:t>B</a:t>
            </a:r>
            <a:r>
              <a:rPr lang="fr-FR" dirty="0" smtClean="0"/>
              <a:t>- Temps </a:t>
            </a:r>
            <a:r>
              <a:rPr lang="fr-FR" dirty="0"/>
              <a:t>de céphaline kaolin (TCK) &gt; </a:t>
            </a:r>
            <a:r>
              <a:rPr lang="fr-FR" dirty="0" smtClean="0"/>
              <a:t>1,5 </a:t>
            </a:r>
            <a:r>
              <a:rPr lang="fr-FR" dirty="0"/>
              <a:t>x le </a:t>
            </a:r>
            <a:r>
              <a:rPr lang="fr-FR" dirty="0" smtClean="0"/>
              <a:t>témoin</a:t>
            </a:r>
          </a:p>
          <a:p>
            <a:pPr marL="0" indent="0" algn="just">
              <a:buNone/>
            </a:pPr>
            <a:r>
              <a:rPr lang="fr-FR" dirty="0" smtClean="0"/>
              <a:t>C- Kyste </a:t>
            </a:r>
            <a:r>
              <a:rPr lang="fr-FR" dirty="0"/>
              <a:t>hydatique du </a:t>
            </a:r>
            <a:r>
              <a:rPr lang="fr-FR" dirty="0" smtClean="0"/>
              <a:t>foie</a:t>
            </a:r>
          </a:p>
          <a:p>
            <a:pPr marL="0" indent="0" algn="just">
              <a:buNone/>
            </a:pPr>
            <a:r>
              <a:rPr lang="fr-FR" dirty="0" smtClean="0"/>
              <a:t>D- Angiome </a:t>
            </a:r>
            <a:r>
              <a:rPr lang="fr-FR" dirty="0"/>
              <a:t>hépatique </a:t>
            </a:r>
          </a:p>
          <a:p>
            <a:pPr marL="0" indent="0" algn="just">
              <a:buNone/>
            </a:pPr>
            <a:r>
              <a:rPr lang="fr-FR" dirty="0" smtClean="0"/>
              <a:t>E- Dilatation </a:t>
            </a:r>
            <a:r>
              <a:rPr lang="fr-FR" dirty="0"/>
              <a:t>des voies biliaires intra-hépatiques</a:t>
            </a:r>
          </a:p>
        </p:txBody>
      </p:sp>
    </p:spTree>
    <p:extLst>
      <p:ext uri="{BB962C8B-B14F-4D97-AF65-F5344CB8AC3E}">
        <p14:creationId xmlns:p14="http://schemas.microsoft.com/office/powerpoint/2010/main" val="3607282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                            Cas clinique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Enfant âgé de 7 ans consulte pour ictère avec des urines foncées et des selles décolorées</a:t>
            </a:r>
          </a:p>
          <a:p>
            <a:r>
              <a:rPr lang="fr-FR" dirty="0" smtClean="0"/>
              <a:t>Biologie : BT : 180 </a:t>
            </a:r>
            <a:r>
              <a:rPr lang="fr-FR" dirty="0" err="1" smtClean="0"/>
              <a:t>micromol</a:t>
            </a:r>
            <a:r>
              <a:rPr lang="fr-FR" dirty="0" smtClean="0"/>
              <a:t>/l, BD 170 </a:t>
            </a:r>
            <a:r>
              <a:rPr lang="fr-FR" dirty="0" err="1" smtClean="0"/>
              <a:t>micromol</a:t>
            </a:r>
            <a:r>
              <a:rPr lang="fr-FR" dirty="0" smtClean="0"/>
              <a:t>/l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GGT 35 UI/l, ASAT 40 UI/l, ALAT 37 UI/l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Acides biliaires totaux 10 </a:t>
            </a:r>
            <a:r>
              <a:rPr lang="fr-FR" dirty="0" err="1" smtClean="0"/>
              <a:t>micromol</a:t>
            </a:r>
            <a:r>
              <a:rPr lang="fr-FR" dirty="0" smtClean="0"/>
              <a:t>/l, TP 95%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Diagnostic ?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Explorations?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Pronostic?</a:t>
            </a:r>
            <a:endParaRPr lang="fr-FR" dirty="0"/>
          </a:p>
        </p:txBody>
      </p:sp>
      <p:sp>
        <p:nvSpPr>
          <p:cNvPr id="4" name="Flèche droite 3"/>
          <p:cNvSpPr/>
          <p:nvPr/>
        </p:nvSpPr>
        <p:spPr>
          <a:xfrm>
            <a:off x="1423851" y="49508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964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Concernant l’ictère physiologique du nouveau né: </a:t>
            </a:r>
          </a:p>
          <a:p>
            <a:pPr marL="0" indent="0" algn="just">
              <a:buNone/>
            </a:pPr>
            <a:r>
              <a:rPr lang="fr-FR" dirty="0" smtClean="0"/>
              <a:t>A- Il apparait avant H24 de vie</a:t>
            </a:r>
          </a:p>
          <a:p>
            <a:pPr marL="0" indent="0" algn="just">
              <a:buNone/>
            </a:pPr>
            <a:r>
              <a:rPr lang="fr-FR" dirty="0" smtClean="0"/>
              <a:t>B- Il s’associe à une hépatomégalie</a:t>
            </a:r>
          </a:p>
          <a:p>
            <a:pPr marL="0" indent="0" algn="just">
              <a:buNone/>
            </a:pPr>
            <a:r>
              <a:rPr lang="fr-FR" dirty="0" smtClean="0"/>
              <a:t>C- Il </a:t>
            </a:r>
            <a:r>
              <a:rPr lang="fr-FR" dirty="0"/>
              <a:t>disparait spontanément chez le nouveau-né à terme au bout de 8 à 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/>
              <a:t> </a:t>
            </a:r>
            <a:r>
              <a:rPr lang="fr-FR" dirty="0" smtClean="0"/>
              <a:t>  10 </a:t>
            </a:r>
            <a:r>
              <a:rPr lang="fr-FR" dirty="0"/>
              <a:t>jours</a:t>
            </a:r>
            <a:r>
              <a:rPr lang="fr-FR" dirty="0" smtClean="0"/>
              <a:t>.</a:t>
            </a:r>
          </a:p>
          <a:p>
            <a:pPr marL="0" indent="0" algn="just">
              <a:buNone/>
            </a:pPr>
            <a:r>
              <a:rPr lang="fr-FR" dirty="0" smtClean="0"/>
              <a:t>D- Il risque d’évoluer vers l’ictère nucléaire chez le prématuré si non </a:t>
            </a:r>
          </a:p>
          <a:p>
            <a:pPr marL="0" indent="0" algn="just">
              <a:buNone/>
            </a:pPr>
            <a:r>
              <a:rPr lang="fr-FR" dirty="0"/>
              <a:t> </a:t>
            </a:r>
            <a:r>
              <a:rPr lang="fr-FR" dirty="0" smtClean="0"/>
              <a:t>   traité</a:t>
            </a:r>
          </a:p>
          <a:p>
            <a:pPr marL="0" indent="0" algn="just">
              <a:buNone/>
            </a:pPr>
            <a:r>
              <a:rPr lang="fr-FR" dirty="0" smtClean="0"/>
              <a:t>E- Il est secondaire à un déficit partiel en </a:t>
            </a:r>
            <a:r>
              <a:rPr lang="fr-FR" dirty="0" err="1" smtClean="0"/>
              <a:t>glucuronyl</a:t>
            </a:r>
            <a:r>
              <a:rPr lang="fr-FR" dirty="0" smtClean="0"/>
              <a:t> transférase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2514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Concernant l’ictère au lait de mère: </a:t>
            </a:r>
          </a:p>
          <a:p>
            <a:pPr marL="0" indent="0" algn="just">
              <a:buNone/>
            </a:pPr>
            <a:r>
              <a:rPr lang="fr-FR" dirty="0" smtClean="0"/>
              <a:t>A- C’est un ictère à BC</a:t>
            </a:r>
          </a:p>
          <a:p>
            <a:pPr marL="0" indent="0" algn="just">
              <a:buNone/>
            </a:pPr>
            <a:r>
              <a:rPr lang="fr-FR" dirty="0" smtClean="0"/>
              <a:t>B- Il apparait vers le 5</a:t>
            </a:r>
            <a:r>
              <a:rPr lang="fr-FR" baseline="30000" dirty="0" smtClean="0"/>
              <a:t>ème </a:t>
            </a:r>
            <a:r>
              <a:rPr lang="fr-FR" dirty="0" smtClean="0"/>
              <a:t>- 6</a:t>
            </a:r>
            <a:r>
              <a:rPr lang="fr-FR" baseline="30000" dirty="0" smtClean="0"/>
              <a:t>ème</a:t>
            </a:r>
            <a:r>
              <a:rPr lang="fr-FR" dirty="0" smtClean="0"/>
              <a:t> jour de vie</a:t>
            </a:r>
          </a:p>
          <a:p>
            <a:pPr marL="0" indent="0" algn="just">
              <a:buNone/>
            </a:pPr>
            <a:r>
              <a:rPr lang="fr-FR" dirty="0" smtClean="0"/>
              <a:t>C- Il se prolonge jusqu’à 4 à 6 semaines</a:t>
            </a:r>
          </a:p>
          <a:p>
            <a:pPr marL="0" indent="0" algn="just">
              <a:buNone/>
            </a:pPr>
            <a:r>
              <a:rPr lang="fr-FR" dirty="0" smtClean="0"/>
              <a:t>D- Il constitue une contre indication à l’allaitement maternel</a:t>
            </a:r>
          </a:p>
          <a:p>
            <a:pPr marL="0" indent="0" algn="just">
              <a:buNone/>
            </a:pPr>
            <a:r>
              <a:rPr lang="fr-FR" dirty="0" smtClean="0"/>
              <a:t>E- Il constitue un diagnostic d’élimination après avoir éliminé </a:t>
            </a:r>
          </a:p>
          <a:p>
            <a:pPr marL="0" indent="0" algn="just">
              <a:buNone/>
            </a:pPr>
            <a:r>
              <a:rPr lang="fr-FR" dirty="0" smtClean="0"/>
              <a:t>l’</a:t>
            </a:r>
            <a:r>
              <a:rPr lang="fr-FR" dirty="0" err="1" smtClean="0"/>
              <a:t>hypothyroidie</a:t>
            </a:r>
            <a:r>
              <a:rPr lang="fr-FR" dirty="0" smtClean="0"/>
              <a:t> et l’infection urinaire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5797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L’immunisation fœto-maternelle: </a:t>
            </a:r>
          </a:p>
          <a:p>
            <a:pPr marL="0" indent="0" algn="just">
              <a:buNone/>
            </a:pPr>
            <a:r>
              <a:rPr lang="fr-FR" dirty="0" smtClean="0"/>
              <a:t>A-  apparait lorsque la mère est Rhésus + et le nouveau né Rhésus –</a:t>
            </a:r>
          </a:p>
          <a:p>
            <a:pPr marL="0" indent="0" algn="just">
              <a:buNone/>
            </a:pPr>
            <a:r>
              <a:rPr lang="fr-FR" dirty="0" smtClean="0"/>
              <a:t>B- apparait lorsque la mère est de groupe sanguin O et le nouveau né A </a:t>
            </a:r>
          </a:p>
          <a:p>
            <a:pPr marL="0" indent="0" algn="just">
              <a:buNone/>
            </a:pPr>
            <a:r>
              <a:rPr lang="fr-FR" dirty="0"/>
              <a:t> </a:t>
            </a:r>
            <a:r>
              <a:rPr lang="fr-FR" dirty="0" smtClean="0"/>
              <a:t>   ou B</a:t>
            </a:r>
          </a:p>
          <a:p>
            <a:pPr marL="0" indent="0" algn="just">
              <a:buNone/>
            </a:pPr>
            <a:r>
              <a:rPr lang="fr-FR" dirty="0" smtClean="0"/>
              <a:t>C-  s’associe à une pâleur cutanéomuqueuse</a:t>
            </a:r>
          </a:p>
          <a:p>
            <a:pPr marL="0" indent="0" algn="just">
              <a:buNone/>
            </a:pPr>
            <a:r>
              <a:rPr lang="fr-FR" dirty="0" smtClean="0"/>
              <a:t>D- peut nécessiter le recours à une exsanguino-transfusion dans les cas </a:t>
            </a:r>
          </a:p>
          <a:p>
            <a:pPr marL="0" indent="0" algn="just">
              <a:buNone/>
            </a:pPr>
            <a:r>
              <a:rPr lang="fr-FR" dirty="0"/>
              <a:t> </a:t>
            </a:r>
            <a:r>
              <a:rPr lang="fr-FR" dirty="0" smtClean="0"/>
              <a:t>   sévère</a:t>
            </a:r>
          </a:p>
          <a:p>
            <a:pPr marL="0" indent="0" algn="just">
              <a:buNone/>
            </a:pPr>
            <a:r>
              <a:rPr lang="fr-FR" dirty="0" smtClean="0"/>
              <a:t>E- Le test de COOMBS direct est toujours positif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2398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Parmi les étiologies des hémolyses constitutionnelles néonatales, vous retenez: </a:t>
            </a:r>
          </a:p>
          <a:p>
            <a:pPr marL="0" indent="0" algn="just">
              <a:buNone/>
            </a:pPr>
            <a:r>
              <a:rPr lang="fr-FR" dirty="0" smtClean="0"/>
              <a:t>A- Béta-thalassémie</a:t>
            </a:r>
          </a:p>
          <a:p>
            <a:pPr marL="0" indent="0" algn="just">
              <a:buNone/>
            </a:pPr>
            <a:r>
              <a:rPr lang="fr-FR" dirty="0" smtClean="0"/>
              <a:t>B- Alpha-thalassémie</a:t>
            </a:r>
          </a:p>
          <a:p>
            <a:pPr marL="0" indent="0" algn="just">
              <a:buNone/>
            </a:pPr>
            <a:r>
              <a:rPr lang="fr-FR" dirty="0" smtClean="0"/>
              <a:t>C- Drépanocytose</a:t>
            </a:r>
          </a:p>
          <a:p>
            <a:pPr marL="0" indent="0" algn="just">
              <a:buNone/>
            </a:pPr>
            <a:r>
              <a:rPr lang="fr-FR" dirty="0" smtClean="0"/>
              <a:t>D- Maladie de Minkowski Chauffard</a:t>
            </a:r>
          </a:p>
          <a:p>
            <a:pPr marL="0" indent="0" algn="just">
              <a:buNone/>
            </a:pPr>
            <a:r>
              <a:rPr lang="fr-FR" dirty="0" smtClean="0"/>
              <a:t>E- Syndrome de Gilbert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7315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Dans l’atrésie des voies biliaires: </a:t>
            </a:r>
          </a:p>
          <a:p>
            <a:pPr marL="0" indent="0" algn="just">
              <a:buNone/>
            </a:pPr>
            <a:r>
              <a:rPr lang="fr-FR" dirty="0" smtClean="0"/>
              <a:t>A- L’ échographie abdominale doit être faite après 10 heures de jeune</a:t>
            </a:r>
          </a:p>
          <a:p>
            <a:pPr marL="0" indent="0" algn="just">
              <a:buNone/>
            </a:pPr>
            <a:r>
              <a:rPr lang="fr-FR" dirty="0" smtClean="0"/>
              <a:t>B- La cholangiographie à ciel ouvert est le gold standard pour le </a:t>
            </a:r>
          </a:p>
          <a:p>
            <a:pPr marL="0" indent="0" algn="just">
              <a:buNone/>
            </a:pPr>
            <a:r>
              <a:rPr lang="fr-FR" dirty="0"/>
              <a:t> </a:t>
            </a:r>
            <a:r>
              <a:rPr lang="fr-FR" dirty="0" smtClean="0"/>
              <a:t>   diagnostic</a:t>
            </a:r>
          </a:p>
          <a:p>
            <a:pPr marL="0" indent="0" algn="just">
              <a:buNone/>
            </a:pPr>
            <a:r>
              <a:rPr lang="fr-FR" dirty="0" smtClean="0"/>
              <a:t>C- L’intervention chirurgicale est une </a:t>
            </a:r>
            <a:r>
              <a:rPr lang="fr-FR" dirty="0" err="1" smtClean="0"/>
              <a:t>hépatoportoentérostomie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D- Elle doit être opérée le plus précocement possible</a:t>
            </a:r>
          </a:p>
          <a:p>
            <a:pPr marL="0" indent="0" algn="just">
              <a:buNone/>
            </a:pPr>
            <a:r>
              <a:rPr lang="fr-FR" dirty="0" smtClean="0"/>
              <a:t>E- Non opérée, , elle est de bon pronostic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18218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 syndrome d’</a:t>
            </a:r>
            <a:r>
              <a:rPr lang="fr-FR" dirty="0" err="1" smtClean="0"/>
              <a:t>Alagille</a:t>
            </a:r>
            <a:r>
              <a:rPr lang="fr-FR" dirty="0"/>
              <a:t> </a:t>
            </a:r>
            <a:r>
              <a:rPr lang="fr-FR" dirty="0" smtClean="0"/>
              <a:t>peut associer:  </a:t>
            </a:r>
          </a:p>
          <a:p>
            <a:pPr marL="0" indent="0" algn="just">
              <a:buNone/>
            </a:pPr>
            <a:r>
              <a:rPr lang="fr-FR" dirty="0" smtClean="0"/>
              <a:t>A- une dysmorphie faciale</a:t>
            </a:r>
          </a:p>
          <a:p>
            <a:pPr marL="0" indent="0" algn="just">
              <a:buNone/>
            </a:pPr>
            <a:r>
              <a:rPr lang="fr-FR" dirty="0" smtClean="0"/>
              <a:t>B- Sténose de l’artère pulmonaire</a:t>
            </a:r>
          </a:p>
          <a:p>
            <a:pPr marL="0" indent="0" algn="just">
              <a:buNone/>
            </a:pPr>
            <a:r>
              <a:rPr lang="fr-FR" dirty="0" smtClean="0"/>
              <a:t>C- vertèbres en ailes de papillon</a:t>
            </a:r>
          </a:p>
          <a:p>
            <a:pPr marL="0" indent="0" algn="just">
              <a:buNone/>
            </a:pPr>
            <a:r>
              <a:rPr lang="fr-FR" dirty="0" smtClean="0"/>
              <a:t>D- Anneau de </a:t>
            </a:r>
            <a:r>
              <a:rPr lang="fr-FR" dirty="0" err="1" smtClean="0"/>
              <a:t>Kayser</a:t>
            </a:r>
            <a:r>
              <a:rPr lang="fr-FR" dirty="0" err="1"/>
              <a:t>-</a:t>
            </a:r>
            <a:r>
              <a:rPr lang="fr-FR" dirty="0" err="1" smtClean="0"/>
              <a:t>Fleisher</a:t>
            </a:r>
            <a:endParaRPr lang="fr-FR" dirty="0" smtClean="0"/>
          </a:p>
          <a:p>
            <a:pPr marL="0" indent="0" algn="just">
              <a:buNone/>
            </a:pPr>
            <a:r>
              <a:rPr lang="fr-FR" dirty="0" smtClean="0"/>
              <a:t>E- Ictère à BNC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9902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 déficit en alpha1 antitrypsine : </a:t>
            </a:r>
          </a:p>
          <a:p>
            <a:pPr marL="0" indent="0" algn="just">
              <a:buNone/>
            </a:pPr>
            <a:r>
              <a:rPr lang="fr-FR" dirty="0" smtClean="0"/>
              <a:t>A- est à TAD</a:t>
            </a:r>
          </a:p>
          <a:p>
            <a:pPr marL="0" indent="0" algn="just">
              <a:buNone/>
            </a:pPr>
            <a:r>
              <a:rPr lang="fr-FR" dirty="0"/>
              <a:t>B- </a:t>
            </a:r>
            <a:r>
              <a:rPr lang="fr-FR" dirty="0" smtClean="0"/>
              <a:t>est suspecté </a:t>
            </a:r>
            <a:r>
              <a:rPr lang="fr-FR" dirty="0"/>
              <a:t>sur l'absence de pic d'α 1 globulines sur </a:t>
            </a:r>
            <a:r>
              <a:rPr lang="fr-FR" dirty="0" smtClean="0"/>
              <a:t>EPP</a:t>
            </a:r>
          </a:p>
          <a:p>
            <a:pPr marL="0" indent="0" algn="just">
              <a:buNone/>
            </a:pPr>
            <a:r>
              <a:rPr lang="fr-FR" dirty="0" smtClean="0"/>
              <a:t>C- est </a:t>
            </a:r>
            <a:r>
              <a:rPr lang="fr-FR" dirty="0"/>
              <a:t>confirmé par le dosage d'α 1 antitrypsine </a:t>
            </a:r>
            <a:r>
              <a:rPr lang="fr-FR" dirty="0" smtClean="0"/>
              <a:t>sérique</a:t>
            </a:r>
          </a:p>
          <a:p>
            <a:pPr marL="0" indent="0" algn="just">
              <a:buNone/>
            </a:pPr>
            <a:r>
              <a:rPr lang="fr-FR" dirty="0" smtClean="0"/>
              <a:t>D- peut se manifester par une cholestase néonatale</a:t>
            </a:r>
          </a:p>
          <a:p>
            <a:pPr marL="0" indent="0" algn="just">
              <a:buNone/>
            </a:pPr>
            <a:r>
              <a:rPr lang="fr-FR" dirty="0" smtClean="0"/>
              <a:t>E- peut être associée à une atteinte extra-hépatique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893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Les maladies suivantes sont à GGT normale: </a:t>
            </a:r>
          </a:p>
          <a:p>
            <a:pPr marL="0" indent="0" algn="just">
              <a:buNone/>
            </a:pPr>
            <a:r>
              <a:rPr lang="fr-FR" dirty="0" smtClean="0"/>
              <a:t>A- PFIC 1 </a:t>
            </a:r>
          </a:p>
          <a:p>
            <a:pPr marL="0" indent="0" algn="just">
              <a:buNone/>
            </a:pPr>
            <a:r>
              <a:rPr lang="fr-FR" dirty="0" smtClean="0"/>
              <a:t>B- PFIC 3</a:t>
            </a:r>
          </a:p>
          <a:p>
            <a:pPr marL="0" indent="0" algn="just">
              <a:buNone/>
            </a:pPr>
            <a:r>
              <a:rPr lang="fr-FR" dirty="0" smtClean="0"/>
              <a:t>C- Syndrome de Gilbert</a:t>
            </a:r>
          </a:p>
          <a:p>
            <a:pPr marL="0" indent="0" algn="just">
              <a:buNone/>
            </a:pPr>
            <a:r>
              <a:rPr lang="fr-FR" dirty="0" smtClean="0"/>
              <a:t>D- Maladie de </a:t>
            </a:r>
            <a:r>
              <a:rPr lang="fr-FR" dirty="0" err="1" smtClean="0"/>
              <a:t>Dubin</a:t>
            </a:r>
            <a:r>
              <a:rPr lang="fr-FR" dirty="0" smtClean="0"/>
              <a:t> Johnson</a:t>
            </a:r>
          </a:p>
          <a:p>
            <a:pPr marL="0" indent="0" algn="just">
              <a:buNone/>
            </a:pPr>
            <a:r>
              <a:rPr lang="fr-FR" dirty="0" smtClean="0"/>
              <a:t>E- Atrésie des voies biliaires</a:t>
            </a:r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6971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Concernant la maladie de Wilson:</a:t>
            </a:r>
          </a:p>
          <a:p>
            <a:pPr marL="0" indent="0" algn="just">
              <a:buNone/>
            </a:pPr>
            <a:r>
              <a:rPr lang="fr-FR" dirty="0" smtClean="0"/>
              <a:t>A-  Elle est à TAD</a:t>
            </a:r>
          </a:p>
          <a:p>
            <a:pPr marL="0" indent="0" algn="just">
              <a:buNone/>
            </a:pPr>
            <a:r>
              <a:rPr lang="fr-FR" dirty="0" smtClean="0"/>
              <a:t>B- Elle est secondaire à une accumulation du cuivre dans le foie exclusivement</a:t>
            </a:r>
          </a:p>
          <a:p>
            <a:pPr marL="0" indent="0" algn="just">
              <a:buNone/>
            </a:pPr>
            <a:r>
              <a:rPr lang="fr-FR" dirty="0" smtClean="0"/>
              <a:t>C- L'âge d’apparition des symptômes est souvent tardif (&gt; 6 ans)</a:t>
            </a:r>
          </a:p>
          <a:p>
            <a:pPr marL="0" indent="0" algn="just">
              <a:buNone/>
            </a:pPr>
            <a:r>
              <a:rPr lang="fr-FR" dirty="0" smtClean="0"/>
              <a:t>D- L’examen ophtalmo montre un </a:t>
            </a:r>
            <a:r>
              <a:rPr lang="fr-FR" dirty="0" err="1" smtClean="0"/>
              <a:t>embrytoxon</a:t>
            </a:r>
            <a:r>
              <a:rPr lang="fr-FR" dirty="0" smtClean="0"/>
              <a:t> postérieur</a:t>
            </a:r>
          </a:p>
          <a:p>
            <a:pPr marL="0" indent="0" algn="just">
              <a:buNone/>
            </a:pPr>
            <a:r>
              <a:rPr lang="fr-FR" dirty="0" smtClean="0"/>
              <a:t>E- Le traitement repose sur la D-</a:t>
            </a:r>
            <a:r>
              <a:rPr lang="fr-FR" dirty="0" err="1" smtClean="0"/>
              <a:t>pénicillamine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3565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fr-FR" dirty="0" smtClean="0"/>
              <a:t>                   </a:t>
            </a:r>
            <a:r>
              <a:rPr lang="fr-FR" b="1" dirty="0" smtClean="0">
                <a:solidFill>
                  <a:srgbClr val="FF0000"/>
                </a:solidFill>
              </a:rPr>
              <a:t>Démarche diagnostique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246" y="1384662"/>
            <a:ext cx="7445828" cy="5473337"/>
          </a:xfrm>
        </p:spPr>
      </p:pic>
    </p:spTree>
    <p:extLst>
      <p:ext uri="{BB962C8B-B14F-4D97-AF65-F5344CB8AC3E}">
        <p14:creationId xmlns:p14="http://schemas.microsoft.com/office/powerpoint/2010/main" val="5502185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7566"/>
            <a:ext cx="10515600" cy="6740434"/>
          </a:xfrm>
        </p:spPr>
      </p:pic>
    </p:spTree>
    <p:extLst>
      <p:ext uri="{BB962C8B-B14F-4D97-AF65-F5344CB8AC3E}">
        <p14:creationId xmlns:p14="http://schemas.microsoft.com/office/powerpoint/2010/main" val="3352467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</a:t>
            </a:r>
            <a:r>
              <a:rPr lang="fr-FR" sz="4800" b="1" dirty="0" smtClean="0">
                <a:solidFill>
                  <a:srgbClr val="FF0000"/>
                </a:solidFill>
              </a:rPr>
              <a:t>Merci pour votre attention</a:t>
            </a:r>
            <a:endParaRPr lang="fr-FR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1405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1528</Words>
  <Application>Microsoft Office PowerPoint</Application>
  <PresentationFormat>Grand écran</PresentationFormat>
  <Paragraphs>214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Thème Office</vt:lpstr>
      <vt:lpstr>Cours de résidanat  Sujet : 41  Les ictères De l’Enfant Physiopathologie, Diagnostic</vt:lpstr>
      <vt:lpstr>                            Objectif n°1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                      Objectif n°2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                     Objectif n°3</vt:lpstr>
      <vt:lpstr> Etape sérique du métabolisme de la bilirubine</vt:lpstr>
      <vt:lpstr>     Etape hépatocytaire du métabolisme de la bilirubine</vt:lpstr>
      <vt:lpstr>         Etape de la sécrétion biliaire</vt:lpstr>
      <vt:lpstr>                      Etape intestinale</vt:lpstr>
      <vt:lpstr>Présentation PowerPoint</vt:lpstr>
      <vt:lpstr>                    Objectif n°4</vt:lpstr>
      <vt:lpstr>Mécanismes physiopathologiques des ictères                 chez le nouveau-né et l’enfant</vt:lpstr>
      <vt:lpstr>Présentation PowerPoint</vt:lpstr>
      <vt:lpstr>Présentation PowerPoint</vt:lpstr>
      <vt:lpstr>                           Objectif n°5</vt:lpstr>
      <vt:lpstr>Présentation PowerPoint</vt:lpstr>
      <vt:lpstr>Présentation PowerPoint</vt:lpstr>
      <vt:lpstr>Présentation PowerPoint</vt:lpstr>
      <vt:lpstr>Présentation PowerPoint</vt:lpstr>
      <vt:lpstr>                   Objectif n°6</vt:lpstr>
      <vt:lpstr>Présentation PowerPoint</vt:lpstr>
      <vt:lpstr>Présentation PowerPoint</vt:lpstr>
      <vt:lpstr>Présentation PowerPoint</vt:lpstr>
      <vt:lpstr>                            Cas clinique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                Démarche diagnostique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résidanat  Sujet : 41  Les ictères  Physiopathologie, Diagnostic</dc:title>
  <dc:creator>hp</dc:creator>
  <cp:lastModifiedBy>HP</cp:lastModifiedBy>
  <cp:revision>94</cp:revision>
  <dcterms:created xsi:type="dcterms:W3CDTF">2021-08-19T17:36:49Z</dcterms:created>
  <dcterms:modified xsi:type="dcterms:W3CDTF">2025-08-02T12:30:48Z</dcterms:modified>
</cp:coreProperties>
</file>
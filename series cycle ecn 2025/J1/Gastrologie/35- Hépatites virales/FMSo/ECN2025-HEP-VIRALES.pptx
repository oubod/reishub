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11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slides/slide11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117.xml" ContentType="application/vnd.openxmlformats-officedocument.presentationml.slide+xml"/>
  <Override PartName="/ppt/slides/slide126.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ppt/slides/slide115.xml" ContentType="application/vnd.openxmlformats-officedocument.presentationml.slide+xml"/>
  <Override PartName="/ppt/slides/slide124.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0"/>
  </p:notesMasterIdLst>
  <p:sldIdLst>
    <p:sldId id="714" r:id="rId2"/>
    <p:sldId id="257" r:id="rId3"/>
    <p:sldId id="386" r:id="rId4"/>
    <p:sldId id="385" r:id="rId5"/>
    <p:sldId id="387" r:id="rId6"/>
    <p:sldId id="262" r:id="rId7"/>
    <p:sldId id="389" r:id="rId8"/>
    <p:sldId id="264" r:id="rId9"/>
    <p:sldId id="390" r:id="rId10"/>
    <p:sldId id="267" r:id="rId11"/>
    <p:sldId id="391" r:id="rId12"/>
    <p:sldId id="269" r:id="rId13"/>
    <p:sldId id="392" r:id="rId14"/>
    <p:sldId id="272" r:id="rId15"/>
    <p:sldId id="393" r:id="rId16"/>
    <p:sldId id="274" r:id="rId17"/>
    <p:sldId id="394" r:id="rId18"/>
    <p:sldId id="277" r:id="rId19"/>
    <p:sldId id="395" r:id="rId20"/>
    <p:sldId id="715" r:id="rId21"/>
    <p:sldId id="279" r:id="rId22"/>
    <p:sldId id="396" r:id="rId23"/>
    <p:sldId id="282" r:id="rId24"/>
    <p:sldId id="397" r:id="rId25"/>
    <p:sldId id="284" r:id="rId26"/>
    <p:sldId id="398" r:id="rId27"/>
    <p:sldId id="716" r:id="rId28"/>
    <p:sldId id="286" r:id="rId29"/>
    <p:sldId id="399" r:id="rId30"/>
    <p:sldId id="701" r:id="rId31"/>
    <p:sldId id="400" r:id="rId32"/>
    <p:sldId id="401" r:id="rId33"/>
    <p:sldId id="702" r:id="rId34"/>
    <p:sldId id="297" r:id="rId35"/>
    <p:sldId id="402" r:id="rId36"/>
    <p:sldId id="700" r:id="rId37"/>
    <p:sldId id="699" r:id="rId38"/>
    <p:sldId id="299" r:id="rId39"/>
    <p:sldId id="403" r:id="rId40"/>
    <p:sldId id="301" r:id="rId41"/>
    <p:sldId id="404" r:id="rId42"/>
    <p:sldId id="304" r:id="rId43"/>
    <p:sldId id="405" r:id="rId44"/>
    <p:sldId id="306" r:id="rId45"/>
    <p:sldId id="407" r:id="rId46"/>
    <p:sldId id="309" r:id="rId47"/>
    <p:sldId id="408" r:id="rId48"/>
    <p:sldId id="703" r:id="rId49"/>
    <p:sldId id="316" r:id="rId50"/>
    <p:sldId id="409" r:id="rId51"/>
    <p:sldId id="318" r:id="rId52"/>
    <p:sldId id="720" r:id="rId53"/>
    <p:sldId id="321" r:id="rId54"/>
    <p:sldId id="410" r:id="rId55"/>
    <p:sldId id="322" r:id="rId56"/>
    <p:sldId id="411" r:id="rId57"/>
    <p:sldId id="324" r:id="rId58"/>
    <p:sldId id="412" r:id="rId59"/>
    <p:sldId id="327" r:id="rId60"/>
    <p:sldId id="413" r:id="rId61"/>
    <p:sldId id="333" r:id="rId62"/>
    <p:sldId id="414" r:id="rId63"/>
    <p:sldId id="335" r:id="rId64"/>
    <p:sldId id="415" r:id="rId65"/>
    <p:sldId id="341" r:id="rId66"/>
    <p:sldId id="416" r:id="rId67"/>
    <p:sldId id="344" r:id="rId68"/>
    <p:sldId id="417" r:id="rId69"/>
    <p:sldId id="717" r:id="rId70"/>
    <p:sldId id="718" r:id="rId71"/>
    <p:sldId id="350" r:id="rId72"/>
    <p:sldId id="418" r:id="rId73"/>
    <p:sldId id="719" r:id="rId74"/>
    <p:sldId id="425" r:id="rId75"/>
    <p:sldId id="426" r:id="rId76"/>
    <p:sldId id="352" r:id="rId77"/>
    <p:sldId id="419" r:id="rId78"/>
    <p:sldId id="355" r:id="rId79"/>
    <p:sldId id="420" r:id="rId80"/>
    <p:sldId id="369" r:id="rId81"/>
    <p:sldId id="421" r:id="rId82"/>
    <p:sldId id="709" r:id="rId83"/>
    <p:sldId id="710" r:id="rId84"/>
    <p:sldId id="711" r:id="rId85"/>
    <p:sldId id="376" r:id="rId86"/>
    <p:sldId id="422" r:id="rId87"/>
    <p:sldId id="382" r:id="rId88"/>
    <p:sldId id="424" r:id="rId89"/>
    <p:sldId id="384" r:id="rId90"/>
    <p:sldId id="423" r:id="rId91"/>
    <p:sldId id="713" r:id="rId92"/>
    <p:sldId id="712" r:id="rId93"/>
    <p:sldId id="609" r:id="rId94"/>
    <p:sldId id="610" r:id="rId95"/>
    <p:sldId id="611" r:id="rId96"/>
    <p:sldId id="612" r:id="rId97"/>
    <p:sldId id="613" r:id="rId98"/>
    <p:sldId id="680" r:id="rId99"/>
    <p:sldId id="614" r:id="rId100"/>
    <p:sldId id="615" r:id="rId101"/>
    <p:sldId id="616" r:id="rId102"/>
    <p:sldId id="617" r:id="rId103"/>
    <p:sldId id="618" r:id="rId104"/>
    <p:sldId id="619" r:id="rId105"/>
    <p:sldId id="621" r:id="rId106"/>
    <p:sldId id="625" r:id="rId107"/>
    <p:sldId id="684" r:id="rId108"/>
    <p:sldId id="627" r:id="rId109"/>
    <p:sldId id="685" r:id="rId110"/>
    <p:sldId id="686" r:id="rId111"/>
    <p:sldId id="687" r:id="rId112"/>
    <p:sldId id="629" r:id="rId113"/>
    <p:sldId id="708" r:id="rId114"/>
    <p:sldId id="631" r:id="rId115"/>
    <p:sldId id="632" r:id="rId116"/>
    <p:sldId id="689" r:id="rId117"/>
    <p:sldId id="706" r:id="rId118"/>
    <p:sldId id="707" r:id="rId119"/>
    <p:sldId id="633" r:id="rId120"/>
    <p:sldId id="690" r:id="rId121"/>
    <p:sldId id="636" r:id="rId122"/>
    <p:sldId id="637" r:id="rId123"/>
    <p:sldId id="691" r:id="rId124"/>
    <p:sldId id="692" r:id="rId125"/>
    <p:sldId id="693" r:id="rId126"/>
    <p:sldId id="694" r:id="rId127"/>
    <p:sldId id="695" r:id="rId128"/>
    <p:sldId id="697" r:id="rId129"/>
  </p:sldIdLst>
  <p:sldSz cx="12192000" cy="6858000"/>
  <p:notesSz cx="6858000" cy="9144000"/>
  <p:defaultTextStyle>
    <a:defPPr>
      <a:defRPr lang="fr-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Style à thème 1 - Accentuation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autoAdjust="0"/>
    <p:restoredTop sz="85434" autoAdjust="0"/>
  </p:normalViewPr>
  <p:slideViewPr>
    <p:cSldViewPr snapToGrid="0">
      <p:cViewPr varScale="1">
        <p:scale>
          <a:sx n="58" d="100"/>
          <a:sy n="58" d="100"/>
        </p:scale>
        <p:origin x="-400" y="-6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T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F3E85-4407-4E6B-AA1D-5B860FA65F95}" type="datetimeFigureOut">
              <a:rPr lang="fr-TN" smtClean="0"/>
              <a:pPr/>
              <a:t>20/08/2025</a:t>
            </a:fld>
            <a:endParaRPr lang="fr-T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T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TN"/>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C02993-24AE-4D4C-80C6-6B1FDD266CE5}" type="slidenum">
              <a:rPr lang="fr-TN" smtClean="0"/>
              <a:pPr/>
              <a:t>‹N°›</a:t>
            </a:fld>
            <a:endParaRPr lang="fr-TN"/>
          </a:p>
        </p:txBody>
      </p:sp>
    </p:spTree>
    <p:extLst>
      <p:ext uri="{BB962C8B-B14F-4D97-AF65-F5344CB8AC3E}">
        <p14:creationId xmlns="" xmlns:p14="http://schemas.microsoft.com/office/powerpoint/2010/main" val="139478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sz="1200" b="0" i="0" kern="1200" dirty="0" smtClean="0">
                <a:solidFill>
                  <a:schemeClr val="tx1"/>
                </a:solidFill>
                <a:latin typeface="+mn-lt"/>
                <a:ea typeface="+mn-ea"/>
                <a:cs typeface="+mn-cs"/>
              </a:rPr>
              <a:t>En résumé, l'infection. Sa présence rend difficile l'éradication du virus</a:t>
            </a:r>
            <a:endParaRPr lang="fr-FR" dirty="0"/>
          </a:p>
        </p:txBody>
      </p:sp>
      <p:sp>
        <p:nvSpPr>
          <p:cNvPr id="4" name="Espace réservé du numéro de diapositive 3"/>
          <p:cNvSpPr>
            <a:spLocks noGrp="1"/>
          </p:cNvSpPr>
          <p:nvPr>
            <p:ph type="sldNum" sz="quarter" idx="10"/>
          </p:nvPr>
        </p:nvSpPr>
        <p:spPr/>
        <p:txBody>
          <a:bodyPr/>
          <a:lstStyle/>
          <a:p>
            <a:fld id="{A2C02993-24AE-4D4C-80C6-6B1FDD266CE5}" type="slidenum">
              <a:rPr lang="fr-TN" smtClean="0"/>
              <a:pPr/>
              <a:t>11</a:t>
            </a:fld>
            <a:endParaRPr lang="fr-T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Virus sauvage = profil sérologique habituel : </a:t>
            </a:r>
            <a:r>
              <a:rPr lang="fr-FR" b="1" dirty="0" err="1"/>
              <a:t>AgHBe</a:t>
            </a:r>
            <a:r>
              <a:rPr lang="fr-FR" b="1" dirty="0"/>
              <a:t> positif</a:t>
            </a:r>
            <a:r>
              <a:rPr lang="fr-FR" dirty="0"/>
              <a:t> et </a:t>
            </a:r>
            <a:r>
              <a:rPr lang="fr-FR" b="1" dirty="0" err="1"/>
              <a:t>Ac</a:t>
            </a:r>
            <a:r>
              <a:rPr lang="fr-FR" b="1" dirty="0"/>
              <a:t> anti-</a:t>
            </a:r>
            <a:r>
              <a:rPr lang="fr-FR" b="1" dirty="0" err="1"/>
              <a:t>HBe</a:t>
            </a:r>
            <a:r>
              <a:rPr lang="fr-FR" b="1" dirty="0"/>
              <a:t> négatifs</a:t>
            </a:r>
            <a:r>
              <a:rPr lang="fr-FR" dirty="0"/>
              <a:t>.</a:t>
            </a:r>
          </a:p>
          <a:p>
            <a:r>
              <a:rPr lang="fr-FR" dirty="0"/>
              <a:t>Le profil </a:t>
            </a:r>
            <a:r>
              <a:rPr lang="fr-FR" dirty="0" err="1"/>
              <a:t>AgHBe</a:t>
            </a:r>
            <a:r>
              <a:rPr lang="fr-FR" dirty="0"/>
              <a:t> négatif + </a:t>
            </a:r>
            <a:r>
              <a:rPr lang="fr-FR" dirty="0" err="1"/>
              <a:t>Ac</a:t>
            </a:r>
            <a:r>
              <a:rPr lang="fr-FR" dirty="0"/>
              <a:t> anti-</a:t>
            </a:r>
            <a:r>
              <a:rPr lang="fr-FR" dirty="0" err="1"/>
              <a:t>HBe</a:t>
            </a:r>
            <a:r>
              <a:rPr lang="fr-FR" dirty="0"/>
              <a:t> positifs correspond plutôt aux </a:t>
            </a:r>
            <a:r>
              <a:rPr lang="fr-FR" b="1" dirty="0"/>
              <a:t>mutants pré-C/C</a:t>
            </a:r>
            <a:r>
              <a:rPr lang="fr-FR" dirty="0"/>
              <a:t>.</a:t>
            </a:r>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13</a:t>
            </a:fld>
            <a:endParaRPr lang="fr-TN"/>
          </a:p>
        </p:txBody>
      </p:sp>
    </p:spTree>
    <p:extLst>
      <p:ext uri="{BB962C8B-B14F-4D97-AF65-F5344CB8AC3E}">
        <p14:creationId xmlns="" xmlns:p14="http://schemas.microsoft.com/office/powerpoint/2010/main" val="3278328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avec les antiviraux à action directe (AAD), l’influence reste moindre mais persiste pour certaines molécules ou durées de traitement</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15</a:t>
            </a:fld>
            <a:endParaRPr lang="fr-TN"/>
          </a:p>
        </p:txBody>
      </p:sp>
    </p:spTree>
    <p:extLst>
      <p:ext uri="{BB962C8B-B14F-4D97-AF65-F5344CB8AC3E}">
        <p14:creationId xmlns="" xmlns:p14="http://schemas.microsoft.com/office/powerpoint/2010/main" val="3687852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Les risques d’évolution vers la chronicité sont d’autant plus</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importants que l’infection est acquise tôt dans la vie</a:t>
            </a:r>
            <a:r>
              <a:rPr lang="fr-FR" dirty="0"/>
              <a:t> </a:t>
            </a:r>
            <a:br>
              <a:rPr lang="fr-FR" dirty="0"/>
            </a:b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22</a:t>
            </a:fld>
            <a:endParaRPr lang="fr-TN"/>
          </a:p>
        </p:txBody>
      </p:sp>
    </p:spTree>
    <p:extLst>
      <p:ext uri="{BB962C8B-B14F-4D97-AF65-F5344CB8AC3E}">
        <p14:creationId xmlns="" xmlns:p14="http://schemas.microsoft.com/office/powerpoint/2010/main" val="4268650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mn-lt"/>
                <a:ea typeface="+mn-ea"/>
                <a:cs typeface="+mn-cs"/>
              </a:rPr>
              <a:t>charge virale B à 6 mois élevée (ADN du VHB &gt; 200000</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UI/</a:t>
            </a:r>
            <a:r>
              <a:rPr lang="fr-FR" sz="1200" b="0" i="0" kern="1200" dirty="0" err="1">
                <a:solidFill>
                  <a:schemeClr val="tx1"/>
                </a:solidFill>
                <a:effectLst/>
                <a:latin typeface="+mn-lt"/>
                <a:ea typeface="+mn-ea"/>
                <a:cs typeface="+mn-cs"/>
              </a:rPr>
              <a:t>mL</a:t>
            </a:r>
            <a:r>
              <a:rPr lang="fr-FR" sz="1200" b="0" i="0" kern="1200" dirty="0">
                <a:solidFill>
                  <a:schemeClr val="tx1"/>
                </a:solidFill>
                <a:effectLst/>
                <a:latin typeface="+mn-lt"/>
                <a:ea typeface="+mn-ea"/>
                <a:cs typeface="+mn-cs"/>
              </a:rPr>
              <a:t>), la prophylaxie par </a:t>
            </a:r>
            <a:r>
              <a:rPr lang="fr-FR" sz="1200" b="0" i="0" kern="1200" dirty="0" err="1">
                <a:solidFill>
                  <a:schemeClr val="tx1"/>
                </a:solidFill>
                <a:effectLst/>
                <a:latin typeface="+mn-lt"/>
                <a:ea typeface="+mn-ea"/>
                <a:cs typeface="+mn-cs"/>
              </a:rPr>
              <a:t>Ténofovir</a:t>
            </a:r>
            <a:r>
              <a:rPr lang="fr-FR" sz="1200" b="0" i="0" kern="1200" dirty="0">
                <a:solidFill>
                  <a:schemeClr val="tx1"/>
                </a:solidFill>
                <a:effectLst/>
                <a:latin typeface="+mn-lt"/>
                <a:ea typeface="+mn-ea"/>
                <a:cs typeface="+mn-cs"/>
              </a:rPr>
              <a:t> 1 </a:t>
            </a:r>
            <a:r>
              <a:rPr lang="fr-FR" sz="1200" b="0" i="0" kern="1200" dirty="0" err="1">
                <a:solidFill>
                  <a:schemeClr val="tx1"/>
                </a:solidFill>
                <a:effectLst/>
                <a:latin typeface="+mn-lt"/>
                <a:ea typeface="+mn-ea"/>
                <a:cs typeface="+mn-cs"/>
              </a:rPr>
              <a:t>cp</a:t>
            </a:r>
            <a:r>
              <a:rPr lang="fr-FR" sz="1200" b="0" i="0" kern="1200" dirty="0">
                <a:solidFill>
                  <a:schemeClr val="tx1"/>
                </a:solidFill>
                <a:effectLst/>
                <a:latin typeface="+mn-lt"/>
                <a:ea typeface="+mn-ea"/>
                <a:cs typeface="+mn-cs"/>
              </a:rPr>
              <a:t>/j à partir de la 24ème semaine et jusqu’à au moins 12</a:t>
            </a:r>
            <a:br>
              <a:rPr lang="fr-FR" sz="1200" b="0" i="0" kern="1200" dirty="0">
                <a:solidFill>
                  <a:schemeClr val="tx1"/>
                </a:solidFill>
                <a:effectLst/>
                <a:latin typeface="+mn-lt"/>
                <a:ea typeface="+mn-ea"/>
                <a:cs typeface="+mn-cs"/>
              </a:rPr>
            </a:br>
            <a:r>
              <a:rPr lang="fr-FR" sz="1200" b="0" i="0" kern="1200" dirty="0">
                <a:solidFill>
                  <a:schemeClr val="tx1"/>
                </a:solidFill>
                <a:effectLst/>
                <a:latin typeface="+mn-lt"/>
                <a:ea typeface="+mn-ea"/>
                <a:cs typeface="+mn-cs"/>
              </a:rPr>
              <a:t>semaines après l’accouchement</a:t>
            </a:r>
            <a:r>
              <a:rPr lang="fr-FR" dirty="0"/>
              <a:t> </a:t>
            </a:r>
            <a:br>
              <a:rPr lang="fr-FR" dirty="0"/>
            </a:b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24</a:t>
            </a:fld>
            <a:endParaRPr lang="fr-TN"/>
          </a:p>
        </p:txBody>
      </p:sp>
    </p:spTree>
    <p:extLst>
      <p:ext uri="{BB962C8B-B14F-4D97-AF65-F5344CB8AC3E}">
        <p14:creationId xmlns="" xmlns:p14="http://schemas.microsoft.com/office/powerpoint/2010/main" val="2386172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présence d’une fibrose, quel que soit son stade, </a:t>
            </a:r>
            <a:r>
              <a:rPr lang="fr-FR" b="1" dirty="0"/>
              <a:t>témoigne d’une atteinte évolutive</a:t>
            </a:r>
            <a:r>
              <a:rPr lang="fr-FR" dirty="0"/>
              <a:t> mais ne suffit pas à prouver la chronicité</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41</a:t>
            </a:fld>
            <a:endParaRPr lang="fr-TN"/>
          </a:p>
        </p:txBody>
      </p:sp>
    </p:spTree>
    <p:extLst>
      <p:ext uri="{BB962C8B-B14F-4D97-AF65-F5344CB8AC3E}">
        <p14:creationId xmlns="" xmlns:p14="http://schemas.microsoft.com/office/powerpoint/2010/main" val="3397507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Chez l’adulte immunocompétent, le risque de chronicité est faible : </a:t>
            </a:r>
            <a:r>
              <a:rPr lang="fr-FR" b="1" dirty="0" smtClean="0"/>
              <a:t>&lt;10 </a:t>
            </a:r>
            <a:r>
              <a:rPr lang="fr-FR" b="1" dirty="0"/>
              <a:t>%</a:t>
            </a:r>
            <a:r>
              <a:rPr lang="fr-FR" dirty="0"/>
              <a:t>.</a:t>
            </a:r>
          </a:p>
          <a:p>
            <a:r>
              <a:rPr lang="fr-FR" dirty="0"/>
              <a:t>Pas d’augmentation du risque avec l’âge avancé</a:t>
            </a:r>
          </a:p>
          <a:p>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43</a:t>
            </a:fld>
            <a:endParaRPr lang="fr-TN"/>
          </a:p>
        </p:txBody>
      </p:sp>
    </p:spTree>
    <p:extLst>
      <p:ext uri="{BB962C8B-B14F-4D97-AF65-F5344CB8AC3E}">
        <p14:creationId xmlns="" xmlns:p14="http://schemas.microsoft.com/office/powerpoint/2010/main" val="312844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anti-</a:t>
            </a:r>
            <a:r>
              <a:rPr lang="fr-FR" dirty="0" err="1"/>
              <a:t>HBs</a:t>
            </a:r>
            <a:r>
              <a:rPr lang="fr-FR" dirty="0"/>
              <a:t> apparaissent </a:t>
            </a:r>
            <a:r>
              <a:rPr lang="fr-FR" b="1" dirty="0"/>
              <a:t>après disparition de l’</a:t>
            </a:r>
            <a:r>
              <a:rPr lang="fr-FR" b="1" dirty="0" err="1"/>
              <a:t>AgHBs</a:t>
            </a:r>
            <a:r>
              <a:rPr lang="fr-FR" dirty="0"/>
              <a:t> (guérison ou vaccination).</a:t>
            </a:r>
          </a:p>
          <a:p>
            <a:r>
              <a:rPr lang="fr-FR" dirty="0" err="1"/>
              <a:t>AgHBs</a:t>
            </a:r>
            <a:r>
              <a:rPr lang="fr-FR" dirty="0"/>
              <a:t> et anti-</a:t>
            </a:r>
            <a:r>
              <a:rPr lang="fr-FR" dirty="0" err="1"/>
              <a:t>HBs</a:t>
            </a:r>
            <a:r>
              <a:rPr lang="fr-FR" dirty="0"/>
              <a:t> ne coexistent pas (sauf rares cas particuliers).</a:t>
            </a:r>
          </a:p>
          <a:p>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47</a:t>
            </a:fld>
            <a:endParaRPr lang="fr-TN"/>
          </a:p>
        </p:txBody>
      </p:sp>
    </p:spTree>
    <p:extLst>
      <p:ext uri="{BB962C8B-B14F-4D97-AF65-F5344CB8AC3E}">
        <p14:creationId xmlns="" xmlns:p14="http://schemas.microsoft.com/office/powerpoint/2010/main" val="2303165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Anti-</a:t>
            </a:r>
            <a:r>
              <a:rPr lang="fr-FR" dirty="0" err="1"/>
              <a:t>HBs</a:t>
            </a:r>
            <a:r>
              <a:rPr lang="fr-FR" dirty="0"/>
              <a:t> = immunité acquise : soit </a:t>
            </a:r>
            <a:r>
              <a:rPr lang="fr-FR" b="1" dirty="0"/>
              <a:t>post-guérison</a:t>
            </a:r>
            <a:r>
              <a:rPr lang="fr-FR" dirty="0"/>
              <a:t>, soit </a:t>
            </a:r>
            <a:r>
              <a:rPr lang="fr-FR" b="1" dirty="0"/>
              <a:t>post-vaccination</a:t>
            </a:r>
            <a:r>
              <a:rPr lang="fr-FR" dirty="0"/>
              <a:t>.</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51</a:t>
            </a:fld>
            <a:endParaRPr lang="fr-TN"/>
          </a:p>
        </p:txBody>
      </p:sp>
    </p:spTree>
    <p:extLst>
      <p:ext uri="{BB962C8B-B14F-4D97-AF65-F5344CB8AC3E}">
        <p14:creationId xmlns="" xmlns:p14="http://schemas.microsoft.com/office/powerpoint/2010/main" val="2587614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Anti-</a:t>
            </a:r>
            <a:r>
              <a:rPr lang="fr-FR" dirty="0" err="1"/>
              <a:t>HBs</a:t>
            </a:r>
            <a:r>
              <a:rPr lang="fr-FR" dirty="0"/>
              <a:t> = immunité acquise : soit </a:t>
            </a:r>
            <a:r>
              <a:rPr lang="fr-FR" b="1" dirty="0"/>
              <a:t>post-guérison</a:t>
            </a:r>
            <a:r>
              <a:rPr lang="fr-FR" dirty="0"/>
              <a:t>, soit </a:t>
            </a:r>
            <a:r>
              <a:rPr lang="fr-FR" b="1" dirty="0"/>
              <a:t>post-vaccination</a:t>
            </a:r>
            <a:r>
              <a:rPr lang="fr-FR" dirty="0"/>
              <a:t>.</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52</a:t>
            </a:fld>
            <a:endParaRPr lang="fr-TN"/>
          </a:p>
        </p:txBody>
      </p:sp>
    </p:spTree>
    <p:extLst>
      <p:ext uri="{BB962C8B-B14F-4D97-AF65-F5344CB8AC3E}">
        <p14:creationId xmlns="" xmlns:p14="http://schemas.microsoft.com/office/powerpoint/2010/main" val="2587614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t>
            </a:r>
            <a:r>
              <a:rPr lang="fr-FR" b="1" dirty="0" err="1"/>
              <a:t>AgHBc</a:t>
            </a:r>
            <a:r>
              <a:rPr lang="fr-FR" dirty="0"/>
              <a:t> reste </a:t>
            </a:r>
            <a:r>
              <a:rPr lang="fr-FR" b="1" dirty="0"/>
              <a:t>intra-hépatocytaire</a:t>
            </a:r>
            <a:r>
              <a:rPr lang="fr-FR" dirty="0"/>
              <a:t>, non détectable dans le sang.</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58</a:t>
            </a:fld>
            <a:endParaRPr lang="fr-TN"/>
          </a:p>
        </p:txBody>
      </p:sp>
    </p:spTree>
    <p:extLst>
      <p:ext uri="{BB962C8B-B14F-4D97-AF65-F5344CB8AC3E}">
        <p14:creationId xmlns="" xmlns:p14="http://schemas.microsoft.com/office/powerpoint/2010/main" val="407466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 cas d’immunosuppression ou de chimiothérapie → réactivation possible avec réapparition de l’</a:t>
            </a:r>
            <a:r>
              <a:rPr lang="fr-FR" dirty="0" err="1"/>
              <a:t>AgHBs</a:t>
            </a:r>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60</a:t>
            </a:fld>
            <a:endParaRPr lang="fr-TN"/>
          </a:p>
        </p:txBody>
      </p:sp>
    </p:spTree>
    <p:extLst>
      <p:ext uri="{BB962C8B-B14F-4D97-AF65-F5344CB8AC3E}">
        <p14:creationId xmlns="" xmlns:p14="http://schemas.microsoft.com/office/powerpoint/2010/main" val="1663673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TN" dirty="0"/>
          </a:p>
        </p:txBody>
      </p:sp>
      <p:sp>
        <p:nvSpPr>
          <p:cNvPr id="4" name="Espace réservé du numéro de diapositive 3"/>
          <p:cNvSpPr>
            <a:spLocks noGrp="1"/>
          </p:cNvSpPr>
          <p:nvPr>
            <p:ph type="sldNum" sz="quarter" idx="5"/>
          </p:nvPr>
        </p:nvSpPr>
        <p:spPr/>
        <p:txBody>
          <a:bodyPr/>
          <a:lstStyle/>
          <a:p>
            <a:fld id="{A2C02993-24AE-4D4C-80C6-6B1FDD266CE5}" type="slidenum">
              <a:rPr lang="fr-TN" smtClean="0"/>
              <a:pPr/>
              <a:t>89</a:t>
            </a:fld>
            <a:endParaRPr lang="fr-TN"/>
          </a:p>
        </p:txBody>
      </p:sp>
    </p:spTree>
    <p:extLst>
      <p:ext uri="{BB962C8B-B14F-4D97-AF65-F5344CB8AC3E}">
        <p14:creationId xmlns="" xmlns:p14="http://schemas.microsoft.com/office/powerpoint/2010/main" val="3967509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F814EF4-6465-CB55-E9D3-61B30A0890A6}"/>
            </a:ext>
          </a:extLst>
        </p:cNvPr>
        <p:cNvGrpSpPr/>
        <p:nvPr/>
      </p:nvGrpSpPr>
      <p:grpSpPr>
        <a:xfrm>
          <a:off x="0" y="0"/>
          <a:ext cx="0" cy="0"/>
          <a:chOff x="0" y="0"/>
          <a:chExt cx="0" cy="0"/>
        </a:xfrm>
      </p:grpSpPr>
      <p:sp>
        <p:nvSpPr>
          <p:cNvPr id="2" name="Espace réservé de l'image des diapositives 1">
            <a:extLst>
              <a:ext uri="{FF2B5EF4-FFF2-40B4-BE49-F238E27FC236}">
                <a16:creationId xmlns="" xmlns:a16="http://schemas.microsoft.com/office/drawing/2014/main" id="{4490292C-16F7-AD6E-204B-71D4C39A1718}"/>
              </a:ext>
            </a:extLst>
          </p:cNvPr>
          <p:cNvSpPr>
            <a:spLocks noGrp="1" noRot="1" noChangeAspect="1"/>
          </p:cNvSpPr>
          <p:nvPr>
            <p:ph type="sldImg"/>
          </p:nvPr>
        </p:nvSpPr>
        <p:spPr/>
      </p:sp>
      <p:sp>
        <p:nvSpPr>
          <p:cNvPr id="3" name="Espace réservé des notes 2">
            <a:extLst>
              <a:ext uri="{FF2B5EF4-FFF2-40B4-BE49-F238E27FC236}">
                <a16:creationId xmlns="" xmlns:a16="http://schemas.microsoft.com/office/drawing/2014/main" id="{CA6B9DA4-8AF7-8DBD-BF55-59C8C67DF43F}"/>
              </a:ext>
            </a:extLst>
          </p:cNvPr>
          <p:cNvSpPr>
            <a:spLocks noGrp="1"/>
          </p:cNvSpPr>
          <p:nvPr>
            <p:ph type="body" idx="1"/>
          </p:nvPr>
        </p:nvSpPr>
        <p:spPr/>
        <p:txBody>
          <a:bodyPr/>
          <a:lstStyle/>
          <a:p>
            <a:endParaRPr lang="fr-TN" dirty="0"/>
          </a:p>
        </p:txBody>
      </p:sp>
      <p:sp>
        <p:nvSpPr>
          <p:cNvPr id="4" name="Espace réservé du numéro de diapositive 3">
            <a:extLst>
              <a:ext uri="{FF2B5EF4-FFF2-40B4-BE49-F238E27FC236}">
                <a16:creationId xmlns="" xmlns:a16="http://schemas.microsoft.com/office/drawing/2014/main" id="{EECD4DF2-4B66-C1A3-16DA-ECEABE869B24}"/>
              </a:ext>
            </a:extLst>
          </p:cNvPr>
          <p:cNvSpPr>
            <a:spLocks noGrp="1"/>
          </p:cNvSpPr>
          <p:nvPr>
            <p:ph type="sldNum" sz="quarter" idx="5"/>
          </p:nvPr>
        </p:nvSpPr>
        <p:spPr/>
        <p:txBody>
          <a:bodyPr/>
          <a:lstStyle/>
          <a:p>
            <a:fld id="{A2C02993-24AE-4D4C-80C6-6B1FDD266CE5}" type="slidenum">
              <a:rPr lang="fr-TN" smtClean="0"/>
              <a:pPr/>
              <a:t>90</a:t>
            </a:fld>
            <a:endParaRPr lang="fr-TN"/>
          </a:p>
        </p:txBody>
      </p:sp>
    </p:spTree>
    <p:extLst>
      <p:ext uri="{BB962C8B-B14F-4D97-AF65-F5344CB8AC3E}">
        <p14:creationId xmlns="" xmlns:p14="http://schemas.microsoft.com/office/powerpoint/2010/main" val="3336542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D55FDD0-331D-5307-645E-CE30FCA1AF2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TN"/>
          </a:p>
        </p:txBody>
      </p:sp>
      <p:sp>
        <p:nvSpPr>
          <p:cNvPr id="3" name="Sous-titre 2">
            <a:extLst>
              <a:ext uri="{FF2B5EF4-FFF2-40B4-BE49-F238E27FC236}">
                <a16:creationId xmlns="" xmlns:a16="http://schemas.microsoft.com/office/drawing/2014/main" id="{A524EA93-9E15-4A5C-8782-5AE13348A1E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TN"/>
          </a:p>
        </p:txBody>
      </p:sp>
      <p:sp>
        <p:nvSpPr>
          <p:cNvPr id="4" name="Espace réservé de la date 3">
            <a:extLst>
              <a:ext uri="{FF2B5EF4-FFF2-40B4-BE49-F238E27FC236}">
                <a16:creationId xmlns="" xmlns:a16="http://schemas.microsoft.com/office/drawing/2014/main" id="{94956696-E55D-B9F5-A46D-249014B972AB}"/>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A679979D-9717-FA6F-E3BC-AA80E9BD9151}"/>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DF9A275E-BAC7-DC16-DAB0-A03C3A9A5DC7}"/>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2005011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71CF8722-80EB-36EC-F219-2AD11DD09C11}"/>
              </a:ext>
            </a:extLst>
          </p:cNvPr>
          <p:cNvSpPr>
            <a:spLocks noGrp="1"/>
          </p:cNvSpPr>
          <p:nvPr>
            <p:ph type="title"/>
          </p:nvPr>
        </p:nvSpPr>
        <p:spPr/>
        <p:txBody>
          <a:bodyPr/>
          <a:lstStyle/>
          <a:p>
            <a:r>
              <a:rPr lang="fr-FR"/>
              <a:t>Modifiez le style du titre</a:t>
            </a:r>
            <a:endParaRPr lang="fr-TN"/>
          </a:p>
        </p:txBody>
      </p:sp>
      <p:sp>
        <p:nvSpPr>
          <p:cNvPr id="3" name="Espace réservé du contenu 2">
            <a:extLst>
              <a:ext uri="{FF2B5EF4-FFF2-40B4-BE49-F238E27FC236}">
                <a16:creationId xmlns="" xmlns:a16="http://schemas.microsoft.com/office/drawing/2014/main" id="{7B22399C-8FBE-7BF3-E06D-292FF0CDC382}"/>
              </a:ext>
            </a:extLst>
          </p:cNvPr>
          <p:cNvSpPr>
            <a:spLocks noGrp="1"/>
          </p:cNvSpPr>
          <p:nvPr>
            <p:ph idx="1"/>
          </p:nvPr>
        </p:nvSpPr>
        <p:spPr>
          <a:xfrm>
            <a:off x="838200" y="1825625"/>
            <a:ext cx="10515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4" name="Espace réservé de la date 3">
            <a:extLst>
              <a:ext uri="{FF2B5EF4-FFF2-40B4-BE49-F238E27FC236}">
                <a16:creationId xmlns="" xmlns:a16="http://schemas.microsoft.com/office/drawing/2014/main" id="{1C17F695-A090-66C7-7D8B-50FCCB38835C}"/>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85E37E49-BE8E-4BDD-DE68-C6B18FCBD8A6}"/>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E45DB6BF-ACCA-B2F8-97DC-E163F2DA9BE9}"/>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3264141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CE2FD24-AB4E-BC19-D56A-492A0A6ECEC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TN"/>
          </a:p>
        </p:txBody>
      </p:sp>
      <p:sp>
        <p:nvSpPr>
          <p:cNvPr id="3" name="Espace réservé du texte 2">
            <a:extLst>
              <a:ext uri="{FF2B5EF4-FFF2-40B4-BE49-F238E27FC236}">
                <a16:creationId xmlns="" xmlns:a16="http://schemas.microsoft.com/office/drawing/2014/main" id="{C009132F-AFA4-F883-76BC-FDE38B79410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 xmlns:a16="http://schemas.microsoft.com/office/drawing/2014/main" id="{A86DFA8A-E141-2227-B632-481F4326B288}"/>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99925041-F2AC-891B-38CF-E34663F6E02A}"/>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2B784A93-FBE9-9A5B-BAED-B37F8929D241}"/>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1324541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9B81EEB-0595-1473-A04C-033FBD1528BB}"/>
              </a:ext>
            </a:extLst>
          </p:cNvPr>
          <p:cNvSpPr>
            <a:spLocks noGrp="1"/>
          </p:cNvSpPr>
          <p:nvPr>
            <p:ph type="title"/>
          </p:nvPr>
        </p:nvSpPr>
        <p:spPr/>
        <p:txBody>
          <a:bodyPr/>
          <a:lstStyle/>
          <a:p>
            <a:r>
              <a:rPr lang="fr-FR"/>
              <a:t>Modifiez le style du titre</a:t>
            </a:r>
            <a:endParaRPr lang="fr-TN"/>
          </a:p>
        </p:txBody>
      </p:sp>
      <p:sp>
        <p:nvSpPr>
          <p:cNvPr id="3" name="Espace réservé du contenu 2">
            <a:extLst>
              <a:ext uri="{FF2B5EF4-FFF2-40B4-BE49-F238E27FC236}">
                <a16:creationId xmlns="" xmlns:a16="http://schemas.microsoft.com/office/drawing/2014/main" id="{FE65132A-D490-F8F2-3280-D05714A8818B}"/>
              </a:ext>
            </a:extLst>
          </p:cNvPr>
          <p:cNvSpPr>
            <a:spLocks noGrp="1"/>
          </p:cNvSpPr>
          <p:nvPr>
            <p:ph sz="half" idx="1"/>
          </p:nvPr>
        </p:nvSpPr>
        <p:spPr>
          <a:xfrm>
            <a:off x="838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4" name="Espace réservé du contenu 3">
            <a:extLst>
              <a:ext uri="{FF2B5EF4-FFF2-40B4-BE49-F238E27FC236}">
                <a16:creationId xmlns="" xmlns:a16="http://schemas.microsoft.com/office/drawing/2014/main" id="{C7B89037-37A3-E6C4-9F68-5E91D5CC67CA}"/>
              </a:ext>
            </a:extLst>
          </p:cNvPr>
          <p:cNvSpPr>
            <a:spLocks noGrp="1"/>
          </p:cNvSpPr>
          <p:nvPr>
            <p:ph sz="half" idx="2"/>
          </p:nvPr>
        </p:nvSpPr>
        <p:spPr>
          <a:xfrm>
            <a:off x="6172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5" name="Espace réservé de la date 4">
            <a:extLst>
              <a:ext uri="{FF2B5EF4-FFF2-40B4-BE49-F238E27FC236}">
                <a16:creationId xmlns="" xmlns:a16="http://schemas.microsoft.com/office/drawing/2014/main" id="{30957852-F2B5-F9C3-B589-796B3DF5ECE3}"/>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6" name="Espace réservé du pied de page 5">
            <a:extLst>
              <a:ext uri="{FF2B5EF4-FFF2-40B4-BE49-F238E27FC236}">
                <a16:creationId xmlns="" xmlns:a16="http://schemas.microsoft.com/office/drawing/2014/main" id="{D44516B2-A6B4-6B6B-37BC-3A236E5F6E76}"/>
              </a:ext>
            </a:extLst>
          </p:cNvPr>
          <p:cNvSpPr>
            <a:spLocks noGrp="1"/>
          </p:cNvSpPr>
          <p:nvPr>
            <p:ph type="ftr" sz="quarter" idx="11"/>
          </p:nvPr>
        </p:nvSpPr>
        <p:spPr/>
        <p:txBody>
          <a:bodyPr/>
          <a:lstStyle/>
          <a:p>
            <a:endParaRPr lang="fr-TN"/>
          </a:p>
        </p:txBody>
      </p:sp>
      <p:sp>
        <p:nvSpPr>
          <p:cNvPr id="7" name="Espace réservé du numéro de diapositive 6">
            <a:extLst>
              <a:ext uri="{FF2B5EF4-FFF2-40B4-BE49-F238E27FC236}">
                <a16:creationId xmlns="" xmlns:a16="http://schemas.microsoft.com/office/drawing/2014/main" id="{F8B9FADA-1918-536A-6D3B-6748E68AF3F7}"/>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401837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BEE8EC3-9D3D-4411-0A99-0453B50CB0C8}"/>
              </a:ext>
            </a:extLst>
          </p:cNvPr>
          <p:cNvSpPr>
            <a:spLocks noGrp="1"/>
          </p:cNvSpPr>
          <p:nvPr>
            <p:ph type="title"/>
          </p:nvPr>
        </p:nvSpPr>
        <p:spPr>
          <a:xfrm>
            <a:off x="839788" y="365125"/>
            <a:ext cx="10515600" cy="1325563"/>
          </a:xfrm>
        </p:spPr>
        <p:txBody>
          <a:bodyPr/>
          <a:lstStyle/>
          <a:p>
            <a:r>
              <a:rPr lang="fr-FR"/>
              <a:t>Modifiez le style du titre</a:t>
            </a:r>
            <a:endParaRPr lang="fr-TN"/>
          </a:p>
        </p:txBody>
      </p:sp>
      <p:sp>
        <p:nvSpPr>
          <p:cNvPr id="3" name="Espace réservé du texte 2">
            <a:extLst>
              <a:ext uri="{FF2B5EF4-FFF2-40B4-BE49-F238E27FC236}">
                <a16:creationId xmlns="" xmlns:a16="http://schemas.microsoft.com/office/drawing/2014/main" id="{C8524429-FF72-A969-0C55-169B8E1B3CF4}"/>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 xmlns:a16="http://schemas.microsoft.com/office/drawing/2014/main" id="{22111284-293E-D113-6871-2C8C49ACE56C}"/>
              </a:ext>
            </a:extLst>
          </p:cNvPr>
          <p:cNvSpPr>
            <a:spLocks noGrp="1"/>
          </p:cNvSpPr>
          <p:nvPr>
            <p:ph sz="half" idx="2"/>
          </p:nvPr>
        </p:nvSpPr>
        <p:spPr>
          <a:xfrm>
            <a:off x="839788" y="2505075"/>
            <a:ext cx="5157787"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5" name="Espace réservé du texte 4">
            <a:extLst>
              <a:ext uri="{FF2B5EF4-FFF2-40B4-BE49-F238E27FC236}">
                <a16:creationId xmlns="" xmlns:a16="http://schemas.microsoft.com/office/drawing/2014/main" id="{A04EAA1C-F60D-4826-76A2-E53CAC3E62F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 xmlns:a16="http://schemas.microsoft.com/office/drawing/2014/main" id="{92EFEF28-B186-6082-F99F-0EF77EFA2B25}"/>
              </a:ext>
            </a:extLst>
          </p:cNvPr>
          <p:cNvSpPr>
            <a:spLocks noGrp="1"/>
          </p:cNvSpPr>
          <p:nvPr>
            <p:ph sz="quarter" idx="4"/>
          </p:nvPr>
        </p:nvSpPr>
        <p:spPr>
          <a:xfrm>
            <a:off x="6172200" y="2505075"/>
            <a:ext cx="5183188"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7" name="Espace réservé de la date 6">
            <a:extLst>
              <a:ext uri="{FF2B5EF4-FFF2-40B4-BE49-F238E27FC236}">
                <a16:creationId xmlns="" xmlns:a16="http://schemas.microsoft.com/office/drawing/2014/main" id="{84138B00-A313-36B3-6387-7E8E5576102E}"/>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8" name="Espace réservé du pied de page 7">
            <a:extLst>
              <a:ext uri="{FF2B5EF4-FFF2-40B4-BE49-F238E27FC236}">
                <a16:creationId xmlns="" xmlns:a16="http://schemas.microsoft.com/office/drawing/2014/main" id="{7D3475A3-E0A0-455C-2CCF-70E39A878D70}"/>
              </a:ext>
            </a:extLst>
          </p:cNvPr>
          <p:cNvSpPr>
            <a:spLocks noGrp="1"/>
          </p:cNvSpPr>
          <p:nvPr>
            <p:ph type="ftr" sz="quarter" idx="11"/>
          </p:nvPr>
        </p:nvSpPr>
        <p:spPr/>
        <p:txBody>
          <a:bodyPr/>
          <a:lstStyle/>
          <a:p>
            <a:endParaRPr lang="fr-TN"/>
          </a:p>
        </p:txBody>
      </p:sp>
      <p:sp>
        <p:nvSpPr>
          <p:cNvPr id="9" name="Espace réservé du numéro de diapositive 8">
            <a:extLst>
              <a:ext uri="{FF2B5EF4-FFF2-40B4-BE49-F238E27FC236}">
                <a16:creationId xmlns="" xmlns:a16="http://schemas.microsoft.com/office/drawing/2014/main" id="{BBC81E40-224C-EC10-3EBC-F5F242D6C37F}"/>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3179787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F65F06D-BFEA-079C-079C-89A0E870EFD5}"/>
              </a:ext>
            </a:extLst>
          </p:cNvPr>
          <p:cNvSpPr>
            <a:spLocks noGrp="1"/>
          </p:cNvSpPr>
          <p:nvPr>
            <p:ph type="title"/>
          </p:nvPr>
        </p:nvSpPr>
        <p:spPr/>
        <p:txBody>
          <a:bodyPr/>
          <a:lstStyle/>
          <a:p>
            <a:r>
              <a:rPr lang="fr-FR"/>
              <a:t>Modifiez le style du titre</a:t>
            </a:r>
            <a:endParaRPr lang="fr-TN"/>
          </a:p>
        </p:txBody>
      </p:sp>
      <p:sp>
        <p:nvSpPr>
          <p:cNvPr id="3" name="Espace réservé de la date 2">
            <a:extLst>
              <a:ext uri="{FF2B5EF4-FFF2-40B4-BE49-F238E27FC236}">
                <a16:creationId xmlns="" xmlns:a16="http://schemas.microsoft.com/office/drawing/2014/main" id="{E4CB3459-23AD-966B-6A96-68BB4CFCD266}"/>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4" name="Espace réservé du pied de page 3">
            <a:extLst>
              <a:ext uri="{FF2B5EF4-FFF2-40B4-BE49-F238E27FC236}">
                <a16:creationId xmlns="" xmlns:a16="http://schemas.microsoft.com/office/drawing/2014/main" id="{9708F8E0-326D-26CA-3EAF-9721E463F8AB}"/>
              </a:ext>
            </a:extLst>
          </p:cNvPr>
          <p:cNvSpPr>
            <a:spLocks noGrp="1"/>
          </p:cNvSpPr>
          <p:nvPr>
            <p:ph type="ftr" sz="quarter" idx="11"/>
          </p:nvPr>
        </p:nvSpPr>
        <p:spPr/>
        <p:txBody>
          <a:bodyPr/>
          <a:lstStyle/>
          <a:p>
            <a:endParaRPr lang="fr-TN"/>
          </a:p>
        </p:txBody>
      </p:sp>
      <p:sp>
        <p:nvSpPr>
          <p:cNvPr id="5" name="Espace réservé du numéro de diapositive 4">
            <a:extLst>
              <a:ext uri="{FF2B5EF4-FFF2-40B4-BE49-F238E27FC236}">
                <a16:creationId xmlns="" xmlns:a16="http://schemas.microsoft.com/office/drawing/2014/main" id="{7406DC28-9597-C480-0419-769ACCB5EC76}"/>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393412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 xmlns:a16="http://schemas.microsoft.com/office/drawing/2014/main" id="{C2502E74-DD33-DB62-D4F1-6129A5173FDC}"/>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3" name="Espace réservé du pied de page 2">
            <a:extLst>
              <a:ext uri="{FF2B5EF4-FFF2-40B4-BE49-F238E27FC236}">
                <a16:creationId xmlns="" xmlns:a16="http://schemas.microsoft.com/office/drawing/2014/main" id="{7D479888-EC1D-07FB-9149-6AAC309C4783}"/>
              </a:ext>
            </a:extLst>
          </p:cNvPr>
          <p:cNvSpPr>
            <a:spLocks noGrp="1"/>
          </p:cNvSpPr>
          <p:nvPr>
            <p:ph type="ftr" sz="quarter" idx="11"/>
          </p:nvPr>
        </p:nvSpPr>
        <p:spPr/>
        <p:txBody>
          <a:bodyPr/>
          <a:lstStyle/>
          <a:p>
            <a:endParaRPr lang="fr-TN"/>
          </a:p>
        </p:txBody>
      </p:sp>
      <p:sp>
        <p:nvSpPr>
          <p:cNvPr id="4" name="Espace réservé du numéro de diapositive 3">
            <a:extLst>
              <a:ext uri="{FF2B5EF4-FFF2-40B4-BE49-F238E27FC236}">
                <a16:creationId xmlns="" xmlns:a16="http://schemas.microsoft.com/office/drawing/2014/main" id="{398E5A9E-2954-E64E-9FD9-D822E0E7341E}"/>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982360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81DEBC8-7757-A621-EE90-4C43449656C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N"/>
          </a:p>
        </p:txBody>
      </p:sp>
      <p:sp>
        <p:nvSpPr>
          <p:cNvPr id="3" name="Espace réservé du contenu 2">
            <a:extLst>
              <a:ext uri="{FF2B5EF4-FFF2-40B4-BE49-F238E27FC236}">
                <a16:creationId xmlns="" xmlns:a16="http://schemas.microsoft.com/office/drawing/2014/main" id="{4572B485-C874-4457-D77C-48C2C09B8AF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4" name="Espace réservé du texte 3">
            <a:extLst>
              <a:ext uri="{FF2B5EF4-FFF2-40B4-BE49-F238E27FC236}">
                <a16:creationId xmlns="" xmlns:a16="http://schemas.microsoft.com/office/drawing/2014/main" id="{A9831546-E888-0BFA-8A0E-8DAB1C188A9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06A6B205-1B76-3EBC-1472-F767D2D5767A}"/>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6" name="Espace réservé du pied de page 5">
            <a:extLst>
              <a:ext uri="{FF2B5EF4-FFF2-40B4-BE49-F238E27FC236}">
                <a16:creationId xmlns="" xmlns:a16="http://schemas.microsoft.com/office/drawing/2014/main" id="{11958902-0E02-3E47-2B3B-918E4801EE35}"/>
              </a:ext>
            </a:extLst>
          </p:cNvPr>
          <p:cNvSpPr>
            <a:spLocks noGrp="1"/>
          </p:cNvSpPr>
          <p:nvPr>
            <p:ph type="ftr" sz="quarter" idx="11"/>
          </p:nvPr>
        </p:nvSpPr>
        <p:spPr/>
        <p:txBody>
          <a:bodyPr/>
          <a:lstStyle/>
          <a:p>
            <a:endParaRPr lang="fr-TN"/>
          </a:p>
        </p:txBody>
      </p:sp>
      <p:sp>
        <p:nvSpPr>
          <p:cNvPr id="7" name="Espace réservé du numéro de diapositive 6">
            <a:extLst>
              <a:ext uri="{FF2B5EF4-FFF2-40B4-BE49-F238E27FC236}">
                <a16:creationId xmlns="" xmlns:a16="http://schemas.microsoft.com/office/drawing/2014/main" id="{CABE556F-D227-E94E-9021-39AEB37B0956}"/>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50466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1DC62E5-9A2F-338D-8121-B510283A114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N"/>
          </a:p>
        </p:txBody>
      </p:sp>
      <p:sp>
        <p:nvSpPr>
          <p:cNvPr id="3" name="Espace réservé pour une image  2">
            <a:extLst>
              <a:ext uri="{FF2B5EF4-FFF2-40B4-BE49-F238E27FC236}">
                <a16:creationId xmlns="" xmlns:a16="http://schemas.microsoft.com/office/drawing/2014/main" id="{0B9CA002-B55D-50AC-98D3-0F00DDF0EF0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TN"/>
          </a:p>
        </p:txBody>
      </p:sp>
      <p:sp>
        <p:nvSpPr>
          <p:cNvPr id="4" name="Espace réservé du texte 3">
            <a:extLst>
              <a:ext uri="{FF2B5EF4-FFF2-40B4-BE49-F238E27FC236}">
                <a16:creationId xmlns="" xmlns:a16="http://schemas.microsoft.com/office/drawing/2014/main" id="{D97B54FC-049A-1BE1-E038-954E8482B66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 xmlns:a16="http://schemas.microsoft.com/office/drawing/2014/main" id="{C402A10B-036D-A8EB-F825-C144742A1929}"/>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6" name="Espace réservé du pied de page 5">
            <a:extLst>
              <a:ext uri="{FF2B5EF4-FFF2-40B4-BE49-F238E27FC236}">
                <a16:creationId xmlns="" xmlns:a16="http://schemas.microsoft.com/office/drawing/2014/main" id="{C9FBC5FA-3656-C8B9-A3C0-C0ABCC40E763}"/>
              </a:ext>
            </a:extLst>
          </p:cNvPr>
          <p:cNvSpPr>
            <a:spLocks noGrp="1"/>
          </p:cNvSpPr>
          <p:nvPr>
            <p:ph type="ftr" sz="quarter" idx="11"/>
          </p:nvPr>
        </p:nvSpPr>
        <p:spPr/>
        <p:txBody>
          <a:bodyPr/>
          <a:lstStyle/>
          <a:p>
            <a:endParaRPr lang="fr-TN"/>
          </a:p>
        </p:txBody>
      </p:sp>
      <p:sp>
        <p:nvSpPr>
          <p:cNvPr id="7" name="Espace réservé du numéro de diapositive 6">
            <a:extLst>
              <a:ext uri="{FF2B5EF4-FFF2-40B4-BE49-F238E27FC236}">
                <a16:creationId xmlns="" xmlns:a16="http://schemas.microsoft.com/office/drawing/2014/main" id="{119AFE5D-03D7-71C7-8DA5-72FC66A1D31D}"/>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129803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23DBA6B-3DA8-EB7E-2603-FBC683481A20}"/>
              </a:ext>
            </a:extLst>
          </p:cNvPr>
          <p:cNvSpPr>
            <a:spLocks noGrp="1"/>
          </p:cNvSpPr>
          <p:nvPr>
            <p:ph type="title"/>
          </p:nvPr>
        </p:nvSpPr>
        <p:spPr/>
        <p:txBody>
          <a:bodyPr/>
          <a:lstStyle/>
          <a:p>
            <a:r>
              <a:rPr lang="fr-FR"/>
              <a:t>Modifiez le style du titre</a:t>
            </a:r>
            <a:endParaRPr lang="fr-TN"/>
          </a:p>
        </p:txBody>
      </p:sp>
      <p:sp>
        <p:nvSpPr>
          <p:cNvPr id="3" name="Espace réservé du texte vertical 2">
            <a:extLst>
              <a:ext uri="{FF2B5EF4-FFF2-40B4-BE49-F238E27FC236}">
                <a16:creationId xmlns="" xmlns:a16="http://schemas.microsoft.com/office/drawing/2014/main" id="{16CD3DCD-EB61-4C12-E36A-F8046A650320}"/>
              </a:ext>
            </a:extLst>
          </p:cNvPr>
          <p:cNvSpPr>
            <a:spLocks noGrp="1"/>
          </p:cNvSpPr>
          <p:nvPr>
            <p:ph type="body" orient="vert" idx="1"/>
          </p:nvPr>
        </p:nvSpPr>
        <p:spPr>
          <a:xfrm>
            <a:off x="838200" y="1825625"/>
            <a:ext cx="105156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4" name="Espace réservé de la date 3">
            <a:extLst>
              <a:ext uri="{FF2B5EF4-FFF2-40B4-BE49-F238E27FC236}">
                <a16:creationId xmlns="" xmlns:a16="http://schemas.microsoft.com/office/drawing/2014/main" id="{349A5BA0-105C-8EF0-8B29-9D142A0331E1}"/>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C93CD162-31E8-45CC-0C4A-1EE7D5C49E1F}"/>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4A03032A-7779-4A8E-A41C-8139EF6B1DC8}"/>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3588847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 xmlns:a16="http://schemas.microsoft.com/office/drawing/2014/main" id="{1236BCFB-B1F0-737D-7D83-885F5BDBD6FC}"/>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TN"/>
          </a:p>
        </p:txBody>
      </p:sp>
      <p:sp>
        <p:nvSpPr>
          <p:cNvPr id="3" name="Espace réservé du texte vertical 2">
            <a:extLst>
              <a:ext uri="{FF2B5EF4-FFF2-40B4-BE49-F238E27FC236}">
                <a16:creationId xmlns="" xmlns:a16="http://schemas.microsoft.com/office/drawing/2014/main" id="{1E8BBC72-AE55-4865-4026-064C1E6A2BBA}"/>
              </a:ext>
            </a:extLst>
          </p:cNvPr>
          <p:cNvSpPr>
            <a:spLocks noGrp="1"/>
          </p:cNvSpPr>
          <p:nvPr>
            <p:ph type="body" orient="vert" idx="1"/>
          </p:nvPr>
        </p:nvSpPr>
        <p:spPr>
          <a:xfrm>
            <a:off x="838200" y="365125"/>
            <a:ext cx="7734300"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4" name="Espace réservé de la date 3">
            <a:extLst>
              <a:ext uri="{FF2B5EF4-FFF2-40B4-BE49-F238E27FC236}">
                <a16:creationId xmlns="" xmlns:a16="http://schemas.microsoft.com/office/drawing/2014/main" id="{2577573A-84C2-64CC-3C3A-2B2360105A30}"/>
              </a:ext>
            </a:extLst>
          </p:cNvPr>
          <p:cNvSpPr>
            <a:spLocks noGrp="1"/>
          </p:cNvSpPr>
          <p:nvPr>
            <p:ph type="dt" sz="half" idx="10"/>
          </p:nvPr>
        </p:nvSpPr>
        <p:spPr/>
        <p:txBody>
          <a:bodyPr/>
          <a:lstStyle/>
          <a:p>
            <a:fld id="{D12915CE-DDD4-4812-9303-B434DE876B11}"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DE6199FF-5F81-DDE0-EB9C-574198171A7F}"/>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51EA5765-AAD2-E3B2-131F-E71E88A91B60}"/>
              </a:ext>
            </a:extLst>
          </p:cNvPr>
          <p:cNvSpPr>
            <a:spLocks noGrp="1"/>
          </p:cNvSpPr>
          <p:nvPr>
            <p:ph type="sldNum" sz="quarter" idx="12"/>
          </p:nvPr>
        </p:nvSpPr>
        <p:spPr/>
        <p:txBody>
          <a:bodyPr/>
          <a:lstStyle/>
          <a:p>
            <a:fld id="{80827D71-9512-40EF-99EF-E52DAFC96663}" type="slidenum">
              <a:rPr lang="fr-TN" smtClean="0"/>
              <a:pPr/>
              <a:t>‹N°›</a:t>
            </a:fld>
            <a:endParaRPr lang="fr-TN"/>
          </a:p>
        </p:txBody>
      </p:sp>
    </p:spTree>
    <p:extLst>
      <p:ext uri="{BB962C8B-B14F-4D97-AF65-F5344CB8AC3E}">
        <p14:creationId xmlns="" xmlns:p14="http://schemas.microsoft.com/office/powerpoint/2010/main" val="242675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re et texte">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B70DF20-7B01-5CC3-0444-8ADB40A7E51D}"/>
              </a:ext>
            </a:extLst>
          </p:cNvPr>
          <p:cNvSpPr>
            <a:spLocks noGrp="1"/>
          </p:cNvSpPr>
          <p:nvPr>
            <p:ph type="title"/>
          </p:nvPr>
        </p:nvSpPr>
        <p:spPr>
          <a:xfrm>
            <a:off x="838200" y="1731809"/>
            <a:ext cx="10515600" cy="1325563"/>
          </a:xfrm>
        </p:spPr>
        <p:txBody>
          <a:bodyPr>
            <a:normAutofit/>
          </a:bodyPr>
          <a:lstStyle>
            <a:lvl1pPr>
              <a:lnSpc>
                <a:spcPct val="150000"/>
              </a:lnSpc>
              <a:defRPr sz="2800" b="0">
                <a:solidFill>
                  <a:schemeClr val="tx1"/>
                </a:solidFill>
              </a:defRPr>
            </a:lvl1pPr>
          </a:lstStyle>
          <a:p>
            <a:r>
              <a:rPr lang="fr-FR" dirty="0"/>
              <a:t>Modifiez le style du titre</a:t>
            </a:r>
            <a:endParaRPr lang="fr-TN" dirty="0"/>
          </a:p>
        </p:txBody>
      </p:sp>
      <p:sp>
        <p:nvSpPr>
          <p:cNvPr id="4" name="Espace réservé de la date 3">
            <a:extLst>
              <a:ext uri="{FF2B5EF4-FFF2-40B4-BE49-F238E27FC236}">
                <a16:creationId xmlns="" xmlns:a16="http://schemas.microsoft.com/office/drawing/2014/main" id="{E64E751B-FC32-19DF-0088-9552973D34AC}"/>
              </a:ext>
            </a:extLst>
          </p:cNvPr>
          <p:cNvSpPr>
            <a:spLocks noGrp="1"/>
          </p:cNvSpPr>
          <p:nvPr>
            <p:ph type="dt" sz="half" idx="10"/>
          </p:nvPr>
        </p:nvSpPr>
        <p:spPr/>
        <p:txBody>
          <a:bodyPr/>
          <a:lstStyle/>
          <a:p>
            <a:fld id="{7F30DA97-F8FB-4432-A405-62C6B25AE0F9}" type="datetimeFigureOut">
              <a:rPr lang="fr-TN" smtClean="0"/>
              <a:pPr/>
              <a:t>20/08/2025</a:t>
            </a:fld>
            <a:endParaRPr lang="fr-TN"/>
          </a:p>
        </p:txBody>
      </p:sp>
      <p:sp>
        <p:nvSpPr>
          <p:cNvPr id="5" name="Espace réservé du pied de page 4">
            <a:extLst>
              <a:ext uri="{FF2B5EF4-FFF2-40B4-BE49-F238E27FC236}">
                <a16:creationId xmlns="" xmlns:a16="http://schemas.microsoft.com/office/drawing/2014/main" id="{739BB283-EE52-595F-9379-C3D389F8FE45}"/>
              </a:ext>
            </a:extLst>
          </p:cNvPr>
          <p:cNvSpPr>
            <a:spLocks noGrp="1"/>
          </p:cNvSpPr>
          <p:nvPr>
            <p:ph type="ftr" sz="quarter" idx="11"/>
          </p:nvPr>
        </p:nvSpPr>
        <p:spPr/>
        <p:txBody>
          <a:bodyPr/>
          <a:lstStyle/>
          <a:p>
            <a:endParaRPr lang="fr-TN"/>
          </a:p>
        </p:txBody>
      </p:sp>
      <p:sp>
        <p:nvSpPr>
          <p:cNvPr id="6" name="Espace réservé du numéro de diapositive 5">
            <a:extLst>
              <a:ext uri="{FF2B5EF4-FFF2-40B4-BE49-F238E27FC236}">
                <a16:creationId xmlns="" xmlns:a16="http://schemas.microsoft.com/office/drawing/2014/main" id="{DFE7E25E-D80A-01A2-04FA-2D75EA389460}"/>
              </a:ext>
            </a:extLst>
          </p:cNvPr>
          <p:cNvSpPr>
            <a:spLocks noGrp="1"/>
          </p:cNvSpPr>
          <p:nvPr>
            <p:ph type="sldNum" sz="quarter" idx="12"/>
          </p:nvPr>
        </p:nvSpPr>
        <p:spPr/>
        <p:txBody>
          <a:bodyPr/>
          <a:lstStyle/>
          <a:p>
            <a:fld id="{1F7EB767-7B16-4784-A593-C45349C54D98}" type="slidenum">
              <a:rPr lang="fr-TN" smtClean="0"/>
              <a:pPr/>
              <a:t>‹N°›</a:t>
            </a:fld>
            <a:endParaRPr lang="fr-TN"/>
          </a:p>
        </p:txBody>
      </p:sp>
    </p:spTree>
    <p:extLst>
      <p:ext uri="{BB962C8B-B14F-4D97-AF65-F5344CB8AC3E}">
        <p14:creationId xmlns="" xmlns:p14="http://schemas.microsoft.com/office/powerpoint/2010/main" val="1746673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 xmlns:a16="http://schemas.microsoft.com/office/drawing/2014/main" id="{CE082B48-8573-C900-7A6A-DCE04FD82BD0}"/>
              </a:ext>
            </a:extLst>
          </p:cNvPr>
          <p:cNvSpPr>
            <a:spLocks noGrp="1"/>
          </p:cNvSpPr>
          <p:nvPr>
            <p:ph type="title"/>
          </p:nvPr>
        </p:nvSpPr>
        <p:spPr>
          <a:xfrm>
            <a:off x="838200" y="2103437"/>
            <a:ext cx="10515600" cy="1325563"/>
          </a:xfrm>
          <a:prstGeom prst="rect">
            <a:avLst/>
          </a:prstGeom>
        </p:spPr>
        <p:txBody>
          <a:bodyPr vert="horz" lIns="91440" tIns="45720" rIns="91440" bIns="45720" rtlCol="0" anchor="ctr">
            <a:normAutofit/>
          </a:bodyPr>
          <a:lstStyle/>
          <a:p>
            <a:r>
              <a:rPr lang="fr-FR" dirty="0"/>
              <a:t>Modifiez le style du titre</a:t>
            </a:r>
            <a:endParaRPr lang="fr-TN" dirty="0"/>
          </a:p>
        </p:txBody>
      </p:sp>
      <p:sp>
        <p:nvSpPr>
          <p:cNvPr id="4" name="Espace réservé de la date 3">
            <a:extLst>
              <a:ext uri="{FF2B5EF4-FFF2-40B4-BE49-F238E27FC236}">
                <a16:creationId xmlns="" xmlns:a16="http://schemas.microsoft.com/office/drawing/2014/main" id="{F82675B6-C15F-BC4C-D3B1-B397F12726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defRPr>
            </a:lvl1pPr>
          </a:lstStyle>
          <a:p>
            <a:fld id="{D12915CE-DDD4-4812-9303-B434DE876B11}" type="datetimeFigureOut">
              <a:rPr lang="fr-TN" smtClean="0"/>
              <a:pPr/>
              <a:t>20/08/2025</a:t>
            </a:fld>
            <a:endParaRPr lang="fr-TN" dirty="0"/>
          </a:p>
        </p:txBody>
      </p:sp>
      <p:sp>
        <p:nvSpPr>
          <p:cNvPr id="5" name="Espace réservé du pied de page 4">
            <a:extLst>
              <a:ext uri="{FF2B5EF4-FFF2-40B4-BE49-F238E27FC236}">
                <a16:creationId xmlns="" xmlns:a16="http://schemas.microsoft.com/office/drawing/2014/main" id="{47A651E9-D82D-B30C-44E1-59B5F41ECD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defRPr>
            </a:lvl1pPr>
          </a:lstStyle>
          <a:p>
            <a:endParaRPr lang="fr-TN" dirty="0"/>
          </a:p>
        </p:txBody>
      </p:sp>
      <p:sp>
        <p:nvSpPr>
          <p:cNvPr id="6" name="Espace réservé du numéro de diapositive 5">
            <a:extLst>
              <a:ext uri="{FF2B5EF4-FFF2-40B4-BE49-F238E27FC236}">
                <a16:creationId xmlns="" xmlns:a16="http://schemas.microsoft.com/office/drawing/2014/main" id="{DE869C35-BA1B-D673-31E3-B8C908E227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Calibri" panose="020F0502020204030204" pitchFamily="34" charset="0"/>
              </a:defRPr>
            </a:lvl1pPr>
          </a:lstStyle>
          <a:p>
            <a:fld id="{80827D71-9512-40EF-99EF-E52DAFC96663}" type="slidenum">
              <a:rPr lang="fr-TN" smtClean="0"/>
              <a:pPr/>
              <a:t>‹N°›</a:t>
            </a:fld>
            <a:endParaRPr lang="fr-TN" dirty="0"/>
          </a:p>
        </p:txBody>
      </p:sp>
    </p:spTree>
    <p:extLst>
      <p:ext uri="{BB962C8B-B14F-4D97-AF65-F5344CB8AC3E}">
        <p14:creationId xmlns="" xmlns:p14="http://schemas.microsoft.com/office/powerpoint/2010/main" val="4100017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28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4522B21E-B2B9-4C72-9A71-C87EFD13748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5EB7D2A2-F448-44D4-938C-DC84CBCB3B1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871AEA07-1E14-44B4-8E55-64EF049CD66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 xmlns:a16="http://schemas.microsoft.com/office/drawing/2014/main" id="{CF764B73-4606-77B9-9EE8-0ACE014591D7}"/>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lnSpc>
                <a:spcPct val="90000"/>
              </a:lnSpc>
            </a:pPr>
            <a:r>
              <a:rPr lang="en-US" sz="7200" kern="1200" dirty="0" err="1">
                <a:solidFill>
                  <a:schemeClr val="tx1"/>
                </a:solidFill>
                <a:latin typeface="+mj-lt"/>
                <a:ea typeface="+mj-ea"/>
                <a:cs typeface="+mj-cs"/>
              </a:rPr>
              <a:t>Sujet</a:t>
            </a:r>
            <a:r>
              <a:rPr lang="en-US" sz="7200" kern="1200" dirty="0">
                <a:solidFill>
                  <a:schemeClr val="tx1"/>
                </a:solidFill>
                <a:latin typeface="+mj-lt"/>
                <a:ea typeface="+mj-ea"/>
                <a:cs typeface="+mj-cs"/>
              </a:rPr>
              <a:t> 35: Les </a:t>
            </a:r>
            <a:r>
              <a:rPr lang="en-US" sz="7200" kern="1200" dirty="0" err="1">
                <a:solidFill>
                  <a:schemeClr val="tx1"/>
                </a:solidFill>
                <a:latin typeface="+mj-lt"/>
                <a:ea typeface="+mj-ea"/>
                <a:cs typeface="+mj-cs"/>
              </a:rPr>
              <a:t>hépatites</a:t>
            </a:r>
            <a:r>
              <a:rPr lang="en-US" sz="7200" kern="1200" dirty="0">
                <a:solidFill>
                  <a:schemeClr val="tx1"/>
                </a:solidFill>
                <a:latin typeface="+mj-lt"/>
                <a:ea typeface="+mj-ea"/>
                <a:cs typeface="+mj-cs"/>
              </a:rPr>
              <a:t> </a:t>
            </a:r>
            <a:r>
              <a:rPr lang="en-US" sz="7200" kern="1200" dirty="0" err="1">
                <a:solidFill>
                  <a:schemeClr val="tx1"/>
                </a:solidFill>
                <a:latin typeface="+mj-lt"/>
                <a:ea typeface="+mj-ea"/>
                <a:cs typeface="+mj-cs"/>
              </a:rPr>
              <a:t>virales</a:t>
            </a:r>
            <a:endParaRPr lang="en-US" sz="7200" kern="1200" dirty="0">
              <a:solidFill>
                <a:schemeClr val="tx1"/>
              </a:solidFill>
              <a:latin typeface="+mj-lt"/>
              <a:ea typeface="+mj-ea"/>
              <a:cs typeface="+mj-cs"/>
            </a:endParaRPr>
          </a:p>
        </p:txBody>
      </p:sp>
      <p:cxnSp>
        <p:nvCxnSpPr>
          <p:cNvPr id="14" name="Straight Connector 13">
            <a:extLst>
              <a:ext uri="{FF2B5EF4-FFF2-40B4-BE49-F238E27FC236}">
                <a16:creationId xmlns="" xmlns:a16="http://schemas.microsoft.com/office/drawing/2014/main" id="{F7C8EA93-3210-4C62-99E9-153C275E3A87}"/>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Sous-titre 2">
            <a:extLst>
              <a:ext uri="{FF2B5EF4-FFF2-40B4-BE49-F238E27FC236}">
                <a16:creationId xmlns="" xmlns:a16="http://schemas.microsoft.com/office/drawing/2014/main" id="{DEEEFBFF-6294-6BFB-DD1C-DF86D5CEE0D7}"/>
              </a:ext>
            </a:extLst>
          </p:cNvPr>
          <p:cNvSpPr>
            <a:spLocks noGrp="1"/>
          </p:cNvSpPr>
          <p:nvPr/>
        </p:nvSpPr>
        <p:spPr>
          <a:xfrm>
            <a:off x="6722532" y="5166147"/>
            <a:ext cx="4904668" cy="122502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6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600" kern="1200">
                <a:solidFill>
                  <a:schemeClr val="tx1"/>
                </a:solidFill>
                <a:latin typeface="+mn-lt"/>
                <a:ea typeface="+mn-ea"/>
                <a:cs typeface="+mn-cs"/>
              </a:defRPr>
            </a:lvl9pPr>
          </a:lstStyle>
          <a:p>
            <a:pPr algn="r"/>
            <a:r>
              <a:rPr lang="fr-FR" sz="1700" b="1" dirty="0"/>
              <a:t>RESIDANAT 2025</a:t>
            </a:r>
          </a:p>
          <a:p>
            <a:pPr algn="r"/>
            <a:r>
              <a:rPr lang="fr-FR" sz="1700" b="1" dirty="0"/>
              <a:t>Pr  KSIAA MEHDI</a:t>
            </a:r>
          </a:p>
          <a:p>
            <a:pPr algn="r"/>
            <a:r>
              <a:rPr lang="fr-FR" sz="1700" b="1" dirty="0"/>
              <a:t>Dr DAHMANI WAFA</a:t>
            </a:r>
            <a:r>
              <a:rPr lang="fr-FR" sz="1700" dirty="0"/>
              <a:t/>
            </a:r>
            <a:br>
              <a:rPr lang="fr-FR" sz="1700" dirty="0"/>
            </a:br>
            <a:r>
              <a:rPr lang="fr-FR" sz="1700" b="1" dirty="0"/>
              <a:t> </a:t>
            </a:r>
            <a:endParaRPr lang="fr-FR" sz="1700" dirty="0"/>
          </a:p>
        </p:txBody>
      </p:sp>
    </p:spTree>
    <p:extLst>
      <p:ext uri="{BB962C8B-B14F-4D97-AF65-F5344CB8AC3E}">
        <p14:creationId xmlns="" xmlns:p14="http://schemas.microsoft.com/office/powerpoint/2010/main" val="35466353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F8B88FA-1FB0-DA48-2569-E961DCCDD5FD}"/>
              </a:ext>
            </a:extLst>
          </p:cNvPr>
          <p:cNvSpPr>
            <a:spLocks noGrp="1"/>
          </p:cNvSpPr>
          <p:nvPr>
            <p:ph type="title"/>
          </p:nvPr>
        </p:nvSpPr>
        <p:spPr>
          <a:xfrm>
            <a:off x="838200" y="2103437"/>
            <a:ext cx="10515600" cy="1325563"/>
          </a:xfrm>
        </p:spPr>
        <p:txBody>
          <a:bodyPr>
            <a:noAutofit/>
          </a:bodyPr>
          <a:lstStyle/>
          <a:p>
            <a:pPr marR="0" rtl="0">
              <a:lnSpc>
                <a:spcPct val="150000"/>
              </a:lnSpc>
            </a:pPr>
            <a:r>
              <a:rPr lang="fr-FR" b="1" i="0" u="none" strike="noStrike" kern="100" baseline="0" dirty="0">
                <a:solidFill>
                  <a:schemeClr val="tx2">
                    <a:lumMod val="50000"/>
                    <a:lumOff val="50000"/>
                  </a:schemeClr>
                </a:solidFill>
                <a:latin typeface="Calibri" panose="020F0502020204030204" pitchFamily="34" charset="0"/>
              </a:rPr>
              <a:t>Question 1 : Le virus de l’hépatite A (VHA) est un virus:</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Nu, sans enveloppe lipidique.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À ARN simple brin. </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C. Résistant aux conditions acides du tube digestif.</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D. Capable de persister longtemps dans les selles.</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E. Qui s'intègre au génome de l’hôte.</a:t>
            </a:r>
          </a:p>
        </p:txBody>
      </p:sp>
    </p:spTree>
    <p:extLst>
      <p:ext uri="{BB962C8B-B14F-4D97-AF65-F5344CB8AC3E}">
        <p14:creationId xmlns="" xmlns:p14="http://schemas.microsoft.com/office/powerpoint/2010/main" val="2406298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FB42D40-3628-A73D-4556-031257C6395A}"/>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4463AF49-A501-CFD4-3D50-04DFB2CBCF06}"/>
              </a:ext>
            </a:extLst>
          </p:cNvPr>
          <p:cNvSpPr>
            <a:spLocks noGrp="1"/>
          </p:cNvSpPr>
          <p:nvPr>
            <p:ph type="title"/>
          </p:nvPr>
        </p:nvSpPr>
        <p:spPr>
          <a:xfrm>
            <a:off x="838200" y="2103437"/>
            <a:ext cx="10515600" cy="1325563"/>
          </a:xfrm>
        </p:spPr>
        <p:txBody>
          <a:bodyPr>
            <a:noAutofit/>
          </a:bodyPr>
          <a:lstStyle/>
          <a:p>
            <a:pPr marR="0" rtl="0">
              <a:lnSpc>
                <a:spcPct val="150000"/>
              </a:lnSpc>
            </a:pPr>
            <a:r>
              <a:rPr lang="fr-FR" b="1" i="0" u="none" strike="noStrike" kern="100" baseline="0" dirty="0">
                <a:solidFill>
                  <a:schemeClr val="tx2">
                    <a:lumMod val="50000"/>
                    <a:lumOff val="50000"/>
                  </a:schemeClr>
                </a:solidFill>
                <a:latin typeface="Calibri" panose="020F0502020204030204" pitchFamily="34" charset="0"/>
              </a:rPr>
              <a:t>Question 1 : Le virus de l’hépatite A (VHA) est un virus:</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Nu, sans enveloppe lipidique.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À ARN simple brin. </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solidFill>
                  <a:schemeClr val="accent2"/>
                </a:solidFill>
                <a:latin typeface="Calibri" panose="020F0502020204030204" pitchFamily="34" charset="0"/>
              </a:rPr>
              <a:t>C. Résistant aux conditions acides du tube digestif.</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solidFill>
                  <a:schemeClr val="accent2"/>
                </a:solidFill>
                <a:latin typeface="Calibri" panose="020F0502020204030204" pitchFamily="34" charset="0"/>
              </a:rPr>
              <a:t>D. Capable de persister longtemps dans les selles.</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latin typeface="Calibri" panose="020F0502020204030204" pitchFamily="34" charset="0"/>
              </a:rPr>
              <a:t>E. Qui s'intègre au génome de l’hôte.</a:t>
            </a:r>
          </a:p>
        </p:txBody>
      </p:sp>
      <p:pic>
        <p:nvPicPr>
          <p:cNvPr id="4" name="Image 3">
            <a:extLst>
              <a:ext uri="{FF2B5EF4-FFF2-40B4-BE49-F238E27FC236}">
                <a16:creationId xmlns="" xmlns:a16="http://schemas.microsoft.com/office/drawing/2014/main" id="{3BA0D0D6-B462-2E36-1891-2FA2F70AE1E3}"/>
              </a:ext>
            </a:extLst>
          </p:cNvPr>
          <p:cNvPicPr>
            <a:picLocks noChangeAspect="1"/>
          </p:cNvPicPr>
          <p:nvPr/>
        </p:nvPicPr>
        <p:blipFill>
          <a:blip r:embed="rId2"/>
          <a:stretch>
            <a:fillRect/>
          </a:stretch>
        </p:blipFill>
        <p:spPr>
          <a:xfrm>
            <a:off x="10107042" y="1504305"/>
            <a:ext cx="1646595" cy="1729200"/>
          </a:xfrm>
          <a:prstGeom prst="rect">
            <a:avLst/>
          </a:prstGeom>
        </p:spPr>
      </p:pic>
      <p:sp>
        <p:nvSpPr>
          <p:cNvPr id="6" name="ZoneTexte 5">
            <a:extLst>
              <a:ext uri="{FF2B5EF4-FFF2-40B4-BE49-F238E27FC236}">
                <a16:creationId xmlns="" xmlns:a16="http://schemas.microsoft.com/office/drawing/2014/main" id="{71876588-5BEB-A210-E1A3-C63AA2142C19}"/>
              </a:ext>
            </a:extLst>
          </p:cNvPr>
          <p:cNvSpPr txBox="1"/>
          <p:nvPr/>
        </p:nvSpPr>
        <p:spPr>
          <a:xfrm>
            <a:off x="6406365" y="4238340"/>
            <a:ext cx="4797176"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VHA ne s’intègre pas dans le génome</a:t>
            </a:r>
            <a:endParaRPr lang="fr-TN" sz="2000" dirty="0"/>
          </a:p>
        </p:txBody>
      </p:sp>
      <p:sp>
        <p:nvSpPr>
          <p:cNvPr id="8" name="ZoneTexte 7">
            <a:extLst>
              <a:ext uri="{FF2B5EF4-FFF2-40B4-BE49-F238E27FC236}">
                <a16:creationId xmlns="" xmlns:a16="http://schemas.microsoft.com/office/drawing/2014/main" id="{FC2EFED6-5A76-81F4-B8A0-7042BB365319}"/>
              </a:ext>
            </a:extLst>
          </p:cNvPr>
          <p:cNvSpPr txBox="1"/>
          <p:nvPr/>
        </p:nvSpPr>
        <p:spPr>
          <a:xfrm>
            <a:off x="5639655" y="1703327"/>
            <a:ext cx="4305729"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Virus nu, résistant aux détergents</a:t>
            </a:r>
          </a:p>
        </p:txBody>
      </p:sp>
      <p:sp>
        <p:nvSpPr>
          <p:cNvPr id="9" name="ZoneTexte 8">
            <a:extLst>
              <a:ext uri="{FF2B5EF4-FFF2-40B4-BE49-F238E27FC236}">
                <a16:creationId xmlns="" xmlns:a16="http://schemas.microsoft.com/office/drawing/2014/main" id="{9847A6EE-19CF-2057-13D6-84CE91E1F989}"/>
              </a:ext>
            </a:extLst>
          </p:cNvPr>
          <p:cNvSpPr txBox="1"/>
          <p:nvPr/>
        </p:nvSpPr>
        <p:spPr>
          <a:xfrm>
            <a:off x="4149903" y="2368905"/>
            <a:ext cx="4655050" cy="40867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À ARN simple brin positif (+)</a:t>
            </a:r>
          </a:p>
        </p:txBody>
      </p:sp>
      <p:sp>
        <p:nvSpPr>
          <p:cNvPr id="10" name="ZoneTexte 9">
            <a:extLst>
              <a:ext uri="{FF2B5EF4-FFF2-40B4-BE49-F238E27FC236}">
                <a16:creationId xmlns="" xmlns:a16="http://schemas.microsoft.com/office/drawing/2014/main" id="{A822D5D1-2A35-F58B-D4CB-B74E4BA9A58C}"/>
              </a:ext>
            </a:extLst>
          </p:cNvPr>
          <p:cNvSpPr txBox="1"/>
          <p:nvPr/>
        </p:nvSpPr>
        <p:spPr>
          <a:xfrm>
            <a:off x="5102670" y="3028890"/>
            <a:ext cx="5004372"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TN" sz="2000" dirty="0"/>
              <a:t>→ </a:t>
            </a:r>
            <a:r>
              <a:rPr lang="fr-FR" sz="2000" dirty="0"/>
              <a:t>explique la transmission </a:t>
            </a:r>
            <a:r>
              <a:rPr lang="fr-FR" sz="2000" dirty="0" err="1"/>
              <a:t>oro</a:t>
            </a:r>
            <a:r>
              <a:rPr lang="fr-FR" sz="2000" dirty="0"/>
              <a:t>-fécale</a:t>
            </a:r>
          </a:p>
        </p:txBody>
      </p:sp>
      <p:sp>
        <p:nvSpPr>
          <p:cNvPr id="11" name="ZoneTexte 10">
            <a:extLst>
              <a:ext uri="{FF2B5EF4-FFF2-40B4-BE49-F238E27FC236}">
                <a16:creationId xmlns="" xmlns:a16="http://schemas.microsoft.com/office/drawing/2014/main" id="{31ADAD91-CBBD-9128-299E-C698AE3A8196}"/>
              </a:ext>
            </a:extLst>
          </p:cNvPr>
          <p:cNvSpPr txBox="1"/>
          <p:nvPr/>
        </p:nvSpPr>
        <p:spPr>
          <a:xfrm>
            <a:off x="5238964" y="3633615"/>
            <a:ext cx="6699608"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Stable dans l’environnement</a:t>
            </a:r>
            <a:r>
              <a:rPr lang="fr-TN" sz="2000" dirty="0"/>
              <a:t>→ </a:t>
            </a:r>
            <a:r>
              <a:rPr lang="fr-FR" sz="2000" dirty="0"/>
              <a:t>favorise la contagiosité</a:t>
            </a:r>
          </a:p>
        </p:txBody>
      </p:sp>
    </p:spTree>
    <p:extLst>
      <p:ext uri="{BB962C8B-B14F-4D97-AF65-F5344CB8AC3E}">
        <p14:creationId xmlns="" xmlns:p14="http://schemas.microsoft.com/office/powerpoint/2010/main" val="1402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2581F98-3165-FC1F-F131-2B6D91B7735B}"/>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2F5A789D-1A9E-B011-7486-4A0F76783890}"/>
              </a:ext>
            </a:extLst>
          </p:cNvPr>
          <p:cNvSpPr>
            <a:spLocks noGrp="1"/>
          </p:cNvSpPr>
          <p:nvPr>
            <p:ph type="title"/>
          </p:nvPr>
        </p:nvSpPr>
        <p:spPr>
          <a:xfrm>
            <a:off x="912628" y="2766218"/>
            <a:ext cx="10515600" cy="1325563"/>
          </a:xfrm>
        </p:spPr>
        <p:txBody>
          <a:bodyPr>
            <a:noAutofit/>
          </a:bodyPr>
          <a:lstStyle/>
          <a:p>
            <a:r>
              <a:rPr lang="fr-FR" b="1" kern="100" dirty="0">
                <a:solidFill>
                  <a:schemeClr val="accent4"/>
                </a:solidFill>
              </a:rPr>
              <a:t>Question 2 : A propos du VHA :</a:t>
            </a:r>
            <a:r>
              <a:rPr lang="fr-FR" b="1" kern="100" dirty="0"/>
              <a:t/>
            </a:r>
            <a:br>
              <a:rPr lang="fr-FR" b="1" kern="100" dirty="0"/>
            </a:br>
            <a:r>
              <a:rPr lang="fr-FR" kern="100" dirty="0"/>
              <a:t>A. Il se transmet principalement par ingestion d’eau ou d’aliments contaminés</a:t>
            </a:r>
            <a:r>
              <a:rPr lang="fr-FR" kern="100" dirty="0">
                <a:latin typeface="Arial" panose="020B0604020202020204" pitchFamily="34" charset="0"/>
              </a:rPr>
              <a:t/>
            </a:r>
            <a:br>
              <a:rPr lang="fr-FR" kern="100" dirty="0">
                <a:latin typeface="Arial" panose="020B0604020202020204" pitchFamily="34" charset="0"/>
              </a:rPr>
            </a:br>
            <a:r>
              <a:rPr lang="fr-FR" kern="100" dirty="0"/>
              <a:t>B. L’âge de </a:t>
            </a:r>
            <a:r>
              <a:rPr lang="fr-FR" kern="100" dirty="0" err="1"/>
              <a:t>primoinfection</a:t>
            </a:r>
            <a:r>
              <a:rPr lang="fr-FR" kern="100" dirty="0"/>
              <a:t> est tardif dans les pays fortement endémiques</a:t>
            </a:r>
            <a:r>
              <a:rPr lang="fr-FR" kern="100" dirty="0">
                <a:latin typeface="Arial" panose="020B0604020202020204" pitchFamily="34" charset="0"/>
              </a:rPr>
              <a:t/>
            </a:r>
            <a:br>
              <a:rPr lang="fr-FR" kern="100" dirty="0">
                <a:latin typeface="Arial" panose="020B0604020202020204" pitchFamily="34" charset="0"/>
              </a:rPr>
            </a:br>
            <a:r>
              <a:rPr lang="fr-FR" kern="100" dirty="0"/>
              <a:t>C. L’infection n’évolue pas vers une hépatite chronique</a:t>
            </a:r>
            <a:br>
              <a:rPr lang="fr-FR" kern="100" dirty="0"/>
            </a:br>
            <a:r>
              <a:rPr lang="fr-FR" kern="100" dirty="0"/>
              <a:t>D. Il provoque rarement une atteinte sévère chez l’enfant </a:t>
            </a:r>
            <a:br>
              <a:rPr lang="fr-FR" kern="100" dirty="0"/>
            </a:br>
            <a:r>
              <a:rPr lang="fr-FR" kern="100" dirty="0"/>
              <a:t>E. Un vaccin efficace est disponible pour la prévention</a:t>
            </a:r>
          </a:p>
        </p:txBody>
      </p:sp>
    </p:spTree>
    <p:extLst>
      <p:ext uri="{BB962C8B-B14F-4D97-AF65-F5344CB8AC3E}">
        <p14:creationId xmlns="" xmlns:p14="http://schemas.microsoft.com/office/powerpoint/2010/main" val="8342981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0FADA0B-BD86-DB22-8380-E56630E5237A}"/>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23AA64BB-86EF-1AC4-0A50-2305255D86E7}"/>
              </a:ext>
            </a:extLst>
          </p:cNvPr>
          <p:cNvSpPr>
            <a:spLocks noGrp="1"/>
          </p:cNvSpPr>
          <p:nvPr>
            <p:ph type="title"/>
          </p:nvPr>
        </p:nvSpPr>
        <p:spPr>
          <a:xfrm>
            <a:off x="912628" y="2766218"/>
            <a:ext cx="10515600" cy="1325563"/>
          </a:xfrm>
        </p:spPr>
        <p:txBody>
          <a:bodyPr>
            <a:noAutofit/>
          </a:bodyPr>
          <a:lstStyle/>
          <a:p>
            <a:r>
              <a:rPr lang="fr-FR" b="1" kern="100" dirty="0">
                <a:solidFill>
                  <a:schemeClr val="accent4"/>
                </a:solidFill>
              </a:rPr>
              <a:t>Question 2 : A propos du VHA :</a:t>
            </a:r>
            <a:r>
              <a:rPr lang="fr-FR" b="1" kern="100" dirty="0"/>
              <a:t/>
            </a:r>
            <a:br>
              <a:rPr lang="fr-FR" b="1" kern="100" dirty="0"/>
            </a:br>
            <a:r>
              <a:rPr lang="fr-FR" kern="100" dirty="0">
                <a:solidFill>
                  <a:schemeClr val="accent2"/>
                </a:solidFill>
              </a:rPr>
              <a:t>A. Il se transmet principalement par ingestion d’eau ou d’aliments contaminés</a:t>
            </a:r>
            <a:r>
              <a:rPr lang="fr-FR" kern="100" dirty="0">
                <a:solidFill>
                  <a:schemeClr val="accent2"/>
                </a:solidFill>
                <a:latin typeface="Arial" panose="020B0604020202020204" pitchFamily="34" charset="0"/>
              </a:rPr>
              <a:t/>
            </a:r>
            <a:br>
              <a:rPr lang="fr-FR" kern="100" dirty="0">
                <a:solidFill>
                  <a:schemeClr val="accent2"/>
                </a:solidFill>
                <a:latin typeface="Arial" panose="020B0604020202020204" pitchFamily="34" charset="0"/>
              </a:rPr>
            </a:br>
            <a:r>
              <a:rPr lang="fr-FR" kern="100" dirty="0"/>
              <a:t>B. L’âge de </a:t>
            </a:r>
            <a:r>
              <a:rPr lang="fr-FR" kern="100" dirty="0" err="1"/>
              <a:t>primoinfection</a:t>
            </a:r>
            <a:r>
              <a:rPr lang="fr-FR" kern="100" dirty="0"/>
              <a:t> est tardif dans les pays fortement endémiques</a:t>
            </a:r>
            <a:r>
              <a:rPr lang="fr-FR" kern="100" dirty="0">
                <a:latin typeface="Arial" panose="020B0604020202020204" pitchFamily="34" charset="0"/>
              </a:rPr>
              <a:t/>
            </a:r>
            <a:br>
              <a:rPr lang="fr-FR" kern="100" dirty="0">
                <a:latin typeface="Arial" panose="020B0604020202020204" pitchFamily="34" charset="0"/>
              </a:rPr>
            </a:br>
            <a:r>
              <a:rPr lang="fr-FR" kern="100" dirty="0">
                <a:solidFill>
                  <a:schemeClr val="accent2"/>
                </a:solidFill>
              </a:rPr>
              <a:t>C. L’infection n’évolue pas vers une hépatite chronique</a:t>
            </a:r>
            <a:br>
              <a:rPr lang="fr-FR" kern="100" dirty="0">
                <a:solidFill>
                  <a:schemeClr val="accent2"/>
                </a:solidFill>
              </a:rPr>
            </a:br>
            <a:r>
              <a:rPr lang="fr-FR" kern="100" dirty="0">
                <a:solidFill>
                  <a:schemeClr val="accent2"/>
                </a:solidFill>
              </a:rPr>
              <a:t>D. Il provoque rarement une atteinte sévère chez l’enfant </a:t>
            </a:r>
            <a:br>
              <a:rPr lang="fr-FR" kern="100" dirty="0">
                <a:solidFill>
                  <a:schemeClr val="accent2"/>
                </a:solidFill>
              </a:rPr>
            </a:br>
            <a:r>
              <a:rPr lang="fr-FR" kern="100" dirty="0">
                <a:solidFill>
                  <a:schemeClr val="accent2"/>
                </a:solidFill>
              </a:rPr>
              <a:t>E. Un vaccin efficace est disponible pour la prévention</a:t>
            </a:r>
          </a:p>
        </p:txBody>
      </p:sp>
      <p:sp>
        <p:nvSpPr>
          <p:cNvPr id="3" name="ZoneTexte 2">
            <a:extLst>
              <a:ext uri="{FF2B5EF4-FFF2-40B4-BE49-F238E27FC236}">
                <a16:creationId xmlns="" xmlns:a16="http://schemas.microsoft.com/office/drawing/2014/main" id="{AB7EF3DB-CB3D-1609-C2A6-12C215138275}"/>
              </a:ext>
            </a:extLst>
          </p:cNvPr>
          <p:cNvSpPr txBox="1"/>
          <p:nvPr/>
        </p:nvSpPr>
        <p:spPr>
          <a:xfrm>
            <a:off x="2896455" y="2343377"/>
            <a:ext cx="7203042"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Transmission </a:t>
            </a:r>
            <a:r>
              <a:rPr lang="fr-FR" sz="2000" dirty="0" err="1"/>
              <a:t>oro</a:t>
            </a:r>
            <a:r>
              <a:rPr lang="fr-FR" sz="2000" dirty="0"/>
              <a:t>-fécale indirecte (voie la plus fréquente)</a:t>
            </a:r>
          </a:p>
        </p:txBody>
      </p:sp>
      <p:sp>
        <p:nvSpPr>
          <p:cNvPr id="4" name="ZoneTexte 3">
            <a:extLst>
              <a:ext uri="{FF2B5EF4-FFF2-40B4-BE49-F238E27FC236}">
                <a16:creationId xmlns="" xmlns:a16="http://schemas.microsoft.com/office/drawing/2014/main" id="{B6E6CD63-F927-2E31-6368-80872421672E}"/>
              </a:ext>
            </a:extLst>
          </p:cNvPr>
          <p:cNvSpPr txBox="1"/>
          <p:nvPr/>
        </p:nvSpPr>
        <p:spPr>
          <a:xfrm>
            <a:off x="3101938" y="3552675"/>
            <a:ext cx="8579779" cy="707886"/>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Forte endémie </a:t>
            </a:r>
            <a:r>
              <a:rPr lang="fr-FR" sz="2000" dirty="0">
                <a:sym typeface="Wingdings" panose="05000000000000000000" pitchFamily="2" charset="2"/>
              </a:rPr>
              <a:t> contamination p</a:t>
            </a:r>
            <a:r>
              <a:rPr lang="fr-FR" sz="2000" dirty="0"/>
              <a:t>récoce (enfants++ / Faible endémie, pays non endémiques </a:t>
            </a:r>
            <a:r>
              <a:rPr lang="fr-FR" sz="2000" dirty="0">
                <a:sym typeface="Wingdings" panose="05000000000000000000" pitchFamily="2" charset="2"/>
              </a:rPr>
              <a:t> contamination tardive (Adultes++)</a:t>
            </a:r>
            <a:endParaRPr lang="fr-FR" sz="2000" dirty="0"/>
          </a:p>
        </p:txBody>
      </p:sp>
      <p:sp>
        <p:nvSpPr>
          <p:cNvPr id="5" name="ZoneTexte 4">
            <a:extLst>
              <a:ext uri="{FF2B5EF4-FFF2-40B4-BE49-F238E27FC236}">
                <a16:creationId xmlns="" xmlns:a16="http://schemas.microsoft.com/office/drawing/2014/main" id="{C9DE2DF7-F8C1-6802-9F70-EEAB354B1BF2}"/>
              </a:ext>
            </a:extLst>
          </p:cNvPr>
          <p:cNvSpPr txBox="1"/>
          <p:nvPr/>
        </p:nvSpPr>
        <p:spPr>
          <a:xfrm>
            <a:off x="6954747" y="4374608"/>
            <a:ext cx="4305729"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JAMAIS de forme chronique</a:t>
            </a:r>
          </a:p>
        </p:txBody>
      </p:sp>
      <p:sp>
        <p:nvSpPr>
          <p:cNvPr id="6" name="ZoneTexte 5">
            <a:extLst>
              <a:ext uri="{FF2B5EF4-FFF2-40B4-BE49-F238E27FC236}">
                <a16:creationId xmlns="" xmlns:a16="http://schemas.microsoft.com/office/drawing/2014/main" id="{26DA9D5E-75A8-ADD5-BAA8-E328BBE759E3}"/>
              </a:ext>
            </a:extLst>
          </p:cNvPr>
          <p:cNvSpPr txBox="1"/>
          <p:nvPr/>
        </p:nvSpPr>
        <p:spPr>
          <a:xfrm>
            <a:off x="4292028" y="4878238"/>
            <a:ext cx="7471882"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Chez l’enfant: formes bénignes/ Formes sévères plus fréquentes chez l’adulte</a:t>
            </a:r>
          </a:p>
        </p:txBody>
      </p:sp>
    </p:spTree>
    <p:extLst>
      <p:ext uri="{BB962C8B-B14F-4D97-AF65-F5344CB8AC3E}">
        <p14:creationId xmlns="" xmlns:p14="http://schemas.microsoft.com/office/powerpoint/2010/main" val="32818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A2B9EBC-47F9-79D7-A9B1-D7087523C30F}"/>
              </a:ext>
            </a:extLst>
          </p:cNvPr>
          <p:cNvSpPr>
            <a:spLocks noGrp="1"/>
          </p:cNvSpPr>
          <p:nvPr>
            <p:ph type="title"/>
          </p:nvPr>
        </p:nvSpPr>
        <p:spPr>
          <a:xfrm>
            <a:off x="838200" y="2444190"/>
            <a:ext cx="10515600" cy="1325563"/>
          </a:xfrm>
        </p:spPr>
        <p:txBody>
          <a:bodyPr>
            <a:noAutofit/>
          </a:bodyPr>
          <a:lstStyle/>
          <a:p>
            <a:r>
              <a:rPr lang="fr-FR" b="1" i="0" u="none" strike="noStrike" kern="100" baseline="0" dirty="0">
                <a:solidFill>
                  <a:schemeClr val="accent4"/>
                </a:solidFill>
                <a:latin typeface="Calibri" panose="020F0502020204030204" pitchFamily="34" charset="0"/>
              </a:rPr>
              <a:t>Question 3 : L’hépatite A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Provoque des lésions hépatiques par effet cytopathique direct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Est associée à une réponse immune essentiellement cellulaire</a:t>
            </a:r>
            <a:br>
              <a:rPr lang="fr-FR" i="0" u="none" strike="noStrike" kern="100" baseline="0" dirty="0">
                <a:latin typeface="Calibri" panose="020F0502020204030204" pitchFamily="34" charset="0"/>
              </a:rPr>
            </a:br>
            <a:r>
              <a:rPr lang="fr-FR" kern="100" dirty="0"/>
              <a:t>C. Peut donner lieu à une infection chronique chez les transplantés d’organes</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kern="100" dirty="0"/>
              <a:t>D. Peut être transmise par voie transplacentaire</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kern="100" dirty="0"/>
              <a:t>E. L’immunité post-infectieuse est durable</a:t>
            </a:r>
            <a:r>
              <a:rPr lang="fr-FR" b="1" kern="100" dirty="0"/>
              <a:t/>
            </a:r>
            <a:br>
              <a:rPr lang="fr-FR" b="1" kern="100" dirty="0"/>
            </a:br>
            <a:endParaRPr lang="fr-FR" b="1" i="0" u="none" strike="noStrike" kern="100" baseline="0" dirty="0">
              <a:latin typeface="Arial" panose="020B0604020202020204" pitchFamily="34" charset="0"/>
            </a:endParaRPr>
          </a:p>
        </p:txBody>
      </p:sp>
    </p:spTree>
    <p:extLst>
      <p:ext uri="{BB962C8B-B14F-4D97-AF65-F5344CB8AC3E}">
        <p14:creationId xmlns="" xmlns:p14="http://schemas.microsoft.com/office/powerpoint/2010/main" val="6199753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2A791B1-CA24-A15A-5B47-CBCCD7064E5A}"/>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EFC306C-8254-00A3-A350-B0801F666BE5}"/>
              </a:ext>
            </a:extLst>
          </p:cNvPr>
          <p:cNvSpPr>
            <a:spLocks noGrp="1"/>
          </p:cNvSpPr>
          <p:nvPr>
            <p:ph type="title"/>
          </p:nvPr>
        </p:nvSpPr>
        <p:spPr>
          <a:xfrm>
            <a:off x="838200" y="2444190"/>
            <a:ext cx="10515600" cy="1325563"/>
          </a:xfrm>
        </p:spPr>
        <p:txBody>
          <a:bodyPr>
            <a:noAutofit/>
          </a:bodyPr>
          <a:lstStyle/>
          <a:p>
            <a:r>
              <a:rPr lang="fr-FR" b="1" i="0" u="none" strike="noStrike" kern="100" baseline="0" dirty="0">
                <a:solidFill>
                  <a:schemeClr val="accent4"/>
                </a:solidFill>
                <a:latin typeface="Calibri" panose="020F0502020204030204" pitchFamily="34" charset="0"/>
              </a:rPr>
              <a:t>Question 3 : L’hépatite A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Provoque des lésions hépatiques par effet cytopathique direct</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Est associée à une réponse immune essentiellement cellulaire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kern="100" dirty="0"/>
              <a:t>C. Peut donner lieu à une infection chronique chez les transplantés d’organes</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kern="100" dirty="0"/>
              <a:t>D. Peut être transmise par voie transplacentaire</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kern="100" dirty="0">
                <a:solidFill>
                  <a:schemeClr val="accent2"/>
                </a:solidFill>
              </a:rPr>
              <a:t>E. L’immunité post-infectieuse est durable</a:t>
            </a:r>
            <a:r>
              <a:rPr lang="fr-FR" b="1" kern="100" dirty="0"/>
              <a:t/>
            </a:r>
            <a:br>
              <a:rPr lang="fr-FR" b="1" kern="100" dirty="0"/>
            </a:br>
            <a:endParaRPr lang="fr-FR" b="1" i="0" u="none" strike="noStrike" kern="100" baseline="0" dirty="0">
              <a:latin typeface="Arial" panose="020B0604020202020204" pitchFamily="34" charset="0"/>
            </a:endParaRPr>
          </a:p>
        </p:txBody>
      </p:sp>
      <p:sp>
        <p:nvSpPr>
          <p:cNvPr id="4" name="ZoneTexte 3">
            <a:extLst>
              <a:ext uri="{FF2B5EF4-FFF2-40B4-BE49-F238E27FC236}">
                <a16:creationId xmlns="" xmlns:a16="http://schemas.microsoft.com/office/drawing/2014/main" id="{55A8D4B7-7EF0-D556-D56A-1E2D500F8561}"/>
              </a:ext>
            </a:extLst>
          </p:cNvPr>
          <p:cNvSpPr txBox="1"/>
          <p:nvPr/>
        </p:nvSpPr>
        <p:spPr>
          <a:xfrm>
            <a:off x="7088311" y="1356189"/>
            <a:ext cx="3802296"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Atteinte </a:t>
            </a:r>
            <a:r>
              <a:rPr lang="fr-FR" sz="2000" dirty="0" err="1"/>
              <a:t>immuno</a:t>
            </a:r>
            <a:r>
              <a:rPr lang="fr-FR" sz="2000" dirty="0"/>
              <a:t>-médiée++</a:t>
            </a:r>
          </a:p>
        </p:txBody>
      </p:sp>
      <p:sp>
        <p:nvSpPr>
          <p:cNvPr id="3" name="ZoneTexte 2">
            <a:extLst>
              <a:ext uri="{FF2B5EF4-FFF2-40B4-BE49-F238E27FC236}">
                <a16:creationId xmlns="" xmlns:a16="http://schemas.microsoft.com/office/drawing/2014/main" id="{681545E4-9C99-26B4-A348-642874501C8B}"/>
              </a:ext>
            </a:extLst>
          </p:cNvPr>
          <p:cNvSpPr txBox="1"/>
          <p:nvPr/>
        </p:nvSpPr>
        <p:spPr>
          <a:xfrm>
            <a:off x="8011273" y="3902468"/>
            <a:ext cx="3802296"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Pas de transmission verticale</a:t>
            </a:r>
          </a:p>
        </p:txBody>
      </p:sp>
      <p:sp>
        <p:nvSpPr>
          <p:cNvPr id="5" name="ZoneTexte 4">
            <a:extLst>
              <a:ext uri="{FF2B5EF4-FFF2-40B4-BE49-F238E27FC236}">
                <a16:creationId xmlns="" xmlns:a16="http://schemas.microsoft.com/office/drawing/2014/main" id="{9485D79C-F066-22B6-076E-73FE174C3EBB}"/>
              </a:ext>
            </a:extLst>
          </p:cNvPr>
          <p:cNvSpPr txBox="1"/>
          <p:nvPr/>
        </p:nvSpPr>
        <p:spPr>
          <a:xfrm>
            <a:off x="2512887" y="3259629"/>
            <a:ext cx="3802296"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Pas de chronicité</a:t>
            </a:r>
          </a:p>
        </p:txBody>
      </p:sp>
      <p:sp>
        <p:nvSpPr>
          <p:cNvPr id="6" name="ZoneTexte 5">
            <a:extLst>
              <a:ext uri="{FF2B5EF4-FFF2-40B4-BE49-F238E27FC236}">
                <a16:creationId xmlns="" xmlns:a16="http://schemas.microsoft.com/office/drawing/2014/main" id="{F1A07068-527F-82F9-EF79-BD7AE02899A1}"/>
              </a:ext>
            </a:extLst>
          </p:cNvPr>
          <p:cNvSpPr txBox="1"/>
          <p:nvPr/>
        </p:nvSpPr>
        <p:spPr>
          <a:xfrm>
            <a:off x="7150812" y="4643918"/>
            <a:ext cx="4202988"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Confère une immunité à vie</a:t>
            </a:r>
          </a:p>
        </p:txBody>
      </p:sp>
    </p:spTree>
    <p:extLst>
      <p:ext uri="{BB962C8B-B14F-4D97-AF65-F5344CB8AC3E}">
        <p14:creationId xmlns="" xmlns:p14="http://schemas.microsoft.com/office/powerpoint/2010/main" val="114866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animBg="1"/>
      <p:bldP spid="5"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4176ACE-7511-89DE-13A8-4484DC979CB1}"/>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4 : À propos du virus de l’hépatite B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particule complète de Dane est infectieuse.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Les particules vides ne transmettent pas le virus.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Le virus mesure environ 42 nm de diamètre.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L’enveloppe contient une bicouche lipidique associée à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La capside est composée de protéines codées par le gène C</a:t>
            </a:r>
          </a:p>
        </p:txBody>
      </p:sp>
    </p:spTree>
    <p:extLst>
      <p:ext uri="{BB962C8B-B14F-4D97-AF65-F5344CB8AC3E}">
        <p14:creationId xmlns="" xmlns:p14="http://schemas.microsoft.com/office/powerpoint/2010/main" val="30530799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26E41A6-1E27-466E-661F-F46858E5BEC2}"/>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CC87F275-7690-B728-607D-000951A7C06D}"/>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4 : À propos du virus de l’hépatite B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La particule complète de Dane est infectieuse.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Les particules vides ne transmettent pas le virus.</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Le virus mesure environ 42 nm de diamètre.</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D. L’enveloppe contient une bicouche lipidique associée à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La capside est composée de protéines codées par le gène C</a:t>
            </a:r>
          </a:p>
        </p:txBody>
      </p:sp>
      <p:pic>
        <p:nvPicPr>
          <p:cNvPr id="4" name="Image 3">
            <a:extLst>
              <a:ext uri="{FF2B5EF4-FFF2-40B4-BE49-F238E27FC236}">
                <a16:creationId xmlns="" xmlns:a16="http://schemas.microsoft.com/office/drawing/2014/main" id="{03D5D288-AB11-294C-4A3E-CA88C768D9DA}"/>
              </a:ext>
            </a:extLst>
          </p:cNvPr>
          <p:cNvPicPr>
            <a:picLocks noChangeAspect="1"/>
          </p:cNvPicPr>
          <p:nvPr/>
        </p:nvPicPr>
        <p:blipFill>
          <a:blip r:embed="rId2"/>
          <a:stretch>
            <a:fillRect/>
          </a:stretch>
        </p:blipFill>
        <p:spPr>
          <a:xfrm>
            <a:off x="8400568" y="1873686"/>
            <a:ext cx="2674974" cy="1798790"/>
          </a:xfrm>
          <a:prstGeom prst="rect">
            <a:avLst/>
          </a:prstGeom>
        </p:spPr>
      </p:pic>
      <p:sp>
        <p:nvSpPr>
          <p:cNvPr id="5" name="ZoneTexte 4">
            <a:extLst>
              <a:ext uri="{FF2B5EF4-FFF2-40B4-BE49-F238E27FC236}">
                <a16:creationId xmlns="" xmlns:a16="http://schemas.microsoft.com/office/drawing/2014/main" id="{17400BC7-36C8-915E-A0BB-48F68A0D3183}"/>
              </a:ext>
            </a:extLst>
          </p:cNvPr>
          <p:cNvSpPr txBox="1"/>
          <p:nvPr/>
        </p:nvSpPr>
        <p:spPr>
          <a:xfrm>
            <a:off x="3656498" y="2029572"/>
            <a:ext cx="4900775"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Particule complète (de Dane): contagieuse</a:t>
            </a:r>
          </a:p>
          <a:p>
            <a:pPr marL="285750" indent="-285750">
              <a:buFont typeface="Wingdings" panose="05000000000000000000" pitchFamily="2" charset="2"/>
              <a:buChar char="ü"/>
            </a:pPr>
            <a:r>
              <a:rPr lang="fr-FR" sz="2000" dirty="0"/>
              <a:t>Particules vides: </a:t>
            </a:r>
            <a:r>
              <a:rPr lang="fr-FR" sz="2000" dirty="0" smtClean="0"/>
              <a:t>enveloppe avec </a:t>
            </a:r>
            <a:r>
              <a:rPr lang="fr-FR" sz="2000" dirty="0" err="1" smtClean="0"/>
              <a:t>AgHBs</a:t>
            </a:r>
            <a:r>
              <a:rPr lang="fr-FR" sz="2000" dirty="0" smtClean="0"/>
              <a:t> sans ADN, non </a:t>
            </a:r>
            <a:r>
              <a:rPr lang="fr-FR" sz="2000" dirty="0"/>
              <a:t>contagieuses</a:t>
            </a:r>
          </a:p>
        </p:txBody>
      </p:sp>
      <p:sp>
        <p:nvSpPr>
          <p:cNvPr id="6" name="ZoneTexte 5">
            <a:extLst>
              <a:ext uri="{FF2B5EF4-FFF2-40B4-BE49-F238E27FC236}">
                <a16:creationId xmlns="" xmlns:a16="http://schemas.microsoft.com/office/drawing/2014/main" id="{7309CE46-3EBA-EE23-6ACA-20D7F49C3746}"/>
              </a:ext>
            </a:extLst>
          </p:cNvPr>
          <p:cNvSpPr txBox="1"/>
          <p:nvPr/>
        </p:nvSpPr>
        <p:spPr>
          <a:xfrm>
            <a:off x="7670514" y="3733370"/>
            <a:ext cx="2994061"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Associée à l’</a:t>
            </a:r>
            <a:r>
              <a:rPr lang="fr-FR" sz="2000" dirty="0" err="1"/>
              <a:t>AgHBs</a:t>
            </a:r>
            <a:endParaRPr lang="fr-FR" sz="2000" dirty="0"/>
          </a:p>
        </p:txBody>
      </p:sp>
      <p:sp>
        <p:nvSpPr>
          <p:cNvPr id="7" name="ZoneTexte 6">
            <a:extLst>
              <a:ext uri="{FF2B5EF4-FFF2-40B4-BE49-F238E27FC236}">
                <a16:creationId xmlns="" xmlns:a16="http://schemas.microsoft.com/office/drawing/2014/main" id="{CFC870A1-C1A5-8052-979D-D4B30783C69E}"/>
              </a:ext>
            </a:extLst>
          </p:cNvPr>
          <p:cNvSpPr txBox="1"/>
          <p:nvPr/>
        </p:nvSpPr>
        <p:spPr>
          <a:xfrm>
            <a:off x="5950180" y="4699996"/>
            <a:ext cx="4900775"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Gène C</a:t>
            </a:r>
            <a:r>
              <a:rPr lang="fr-FR" sz="2000" dirty="0">
                <a:sym typeface="Wingdings" panose="05000000000000000000" pitchFamily="2" charset="2"/>
              </a:rPr>
              <a:t> </a:t>
            </a:r>
            <a:r>
              <a:rPr lang="fr-FR" sz="2000" dirty="0"/>
              <a:t>codes pour les protéines du </a:t>
            </a:r>
            <a:r>
              <a:rPr lang="fr-FR" sz="2000" dirty="0" err="1"/>
              <a:t>core</a:t>
            </a:r>
            <a:r>
              <a:rPr lang="fr-FR" sz="2000" dirty="0"/>
              <a:t> : </a:t>
            </a:r>
            <a:r>
              <a:rPr lang="fr-FR" sz="2000" dirty="0" err="1"/>
              <a:t>AgHBc</a:t>
            </a:r>
            <a:r>
              <a:rPr lang="fr-FR" sz="2000" dirty="0"/>
              <a:t> et </a:t>
            </a:r>
            <a:r>
              <a:rPr lang="fr-FR" sz="2000" dirty="0" err="1"/>
              <a:t>AgHBe</a:t>
            </a:r>
            <a:endParaRPr lang="fr-FR" sz="2000" dirty="0"/>
          </a:p>
        </p:txBody>
      </p:sp>
    </p:spTree>
    <p:extLst>
      <p:ext uri="{BB962C8B-B14F-4D97-AF65-F5344CB8AC3E}">
        <p14:creationId xmlns="" xmlns:p14="http://schemas.microsoft.com/office/powerpoint/2010/main" val="376522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631CEE8-B2B4-F29E-BCC3-9412D6B5DEFC}"/>
              </a:ext>
            </a:extLst>
          </p:cNvPr>
          <p:cNvSpPr>
            <a:spLocks noGrp="1"/>
          </p:cNvSpPr>
          <p:nvPr>
            <p:ph type="title"/>
          </p:nvPr>
        </p:nvSpPr>
        <p:spPr>
          <a:xfrm>
            <a:off x="967562" y="489098"/>
            <a:ext cx="10939131" cy="5667154"/>
          </a:xfrm>
        </p:spPr>
        <p:txBody>
          <a:bodyPr>
            <a:normAutofit/>
          </a:bodyPr>
          <a:lstStyle/>
          <a:p>
            <a:r>
              <a:rPr lang="fr-FR" b="1" kern="100" dirty="0">
                <a:solidFill>
                  <a:schemeClr val="accent4"/>
                </a:solidFill>
              </a:rPr>
              <a:t>Question 5 : Le virus de l’hépatite B:</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Comporte un génome constitué d’ADN partiellement double brin.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Se réplique via une enzyme appelée transcriptase inverse.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Est entouré d’une enveloppe protéique externe. </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D. </a:t>
            </a:r>
            <a:r>
              <a:rPr lang="fr-FR" kern="100" dirty="0"/>
              <a:t>Maintient une forme stable appelée </a:t>
            </a:r>
            <a:r>
              <a:rPr lang="fr-FR" kern="100" dirty="0" err="1"/>
              <a:t>cccDNA</a:t>
            </a:r>
            <a:r>
              <a:rPr lang="fr-FR" kern="100" dirty="0"/>
              <a:t> dans le noyau des hépatocytes.</a:t>
            </a:r>
            <a:r>
              <a:rPr lang="fr-FR" i="0" u="none" strike="noStrike" kern="100" baseline="0" dirty="0">
                <a:latin typeface="Calibri" panose="020F0502020204030204" pitchFamily="34" charset="0"/>
              </a:rPr>
              <a:t>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t>
            </a:r>
            <a:r>
              <a:rPr lang="fr-FR" kern="100" dirty="0"/>
              <a:t>Est capable de persister dans l’organisme malgré un traitement antiviral prolongé.</a:t>
            </a:r>
            <a:endParaRPr lang="fr-FR" i="0" u="none" strike="noStrike" kern="100" baseline="0" dirty="0">
              <a:latin typeface="Arial" panose="020B0604020202020204" pitchFamily="34" charset="0"/>
            </a:endParaRPr>
          </a:p>
        </p:txBody>
      </p:sp>
    </p:spTree>
    <p:extLst>
      <p:ext uri="{BB962C8B-B14F-4D97-AF65-F5344CB8AC3E}">
        <p14:creationId xmlns="" xmlns:p14="http://schemas.microsoft.com/office/powerpoint/2010/main" val="40185496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562C13-41CE-CE1E-9808-4EB49B54EE8B}"/>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DEFE5481-5712-4A98-6C8E-5D5B99397D4D}"/>
              </a:ext>
            </a:extLst>
          </p:cNvPr>
          <p:cNvSpPr>
            <a:spLocks noGrp="1"/>
          </p:cNvSpPr>
          <p:nvPr>
            <p:ph type="title"/>
          </p:nvPr>
        </p:nvSpPr>
        <p:spPr>
          <a:xfrm>
            <a:off x="967562" y="489098"/>
            <a:ext cx="10939131" cy="5667154"/>
          </a:xfrm>
        </p:spPr>
        <p:txBody>
          <a:bodyPr>
            <a:normAutofit/>
          </a:bodyPr>
          <a:lstStyle/>
          <a:p>
            <a:r>
              <a:rPr lang="fr-FR" b="1" kern="100" dirty="0">
                <a:solidFill>
                  <a:schemeClr val="accent4"/>
                </a:solidFill>
              </a:rPr>
              <a:t>Question 5 : Le virus de l’hépatite B:</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Comporte un génome constitué d’ADN partiellement double brin.</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Se réplique via une enzyme appelée transcriptase inverse.</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C. Est entouré d’une enveloppe protéique externe. </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solidFill>
                  <a:schemeClr val="accent2"/>
                </a:solidFill>
                <a:latin typeface="Calibri" panose="020F0502020204030204" pitchFamily="34" charset="0"/>
              </a:rPr>
              <a:t>D. </a:t>
            </a:r>
            <a:r>
              <a:rPr lang="fr-FR" kern="100" dirty="0">
                <a:solidFill>
                  <a:schemeClr val="accent2"/>
                </a:solidFill>
              </a:rPr>
              <a:t>Maintient une forme stable appelée </a:t>
            </a:r>
            <a:r>
              <a:rPr lang="fr-FR" kern="100" dirty="0" err="1">
                <a:solidFill>
                  <a:schemeClr val="accent2"/>
                </a:solidFill>
              </a:rPr>
              <a:t>cccDNA</a:t>
            </a:r>
            <a:r>
              <a:rPr lang="fr-FR" kern="100" dirty="0">
                <a:solidFill>
                  <a:schemeClr val="accent2"/>
                </a:solidFill>
              </a:rPr>
              <a:t> dans le noyau des hépatocytes.</a:t>
            </a:r>
            <a:r>
              <a:rPr lang="fr-FR" i="0" u="none" strike="noStrike" kern="100" baseline="0" dirty="0">
                <a:solidFill>
                  <a:schemeClr val="accent2"/>
                </a:solidFill>
                <a:latin typeface="Calibri" panose="020F0502020204030204" pitchFamily="34" charset="0"/>
              </a:rPr>
              <a:t> </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E. </a:t>
            </a:r>
            <a:r>
              <a:rPr lang="fr-FR" kern="100" dirty="0">
                <a:solidFill>
                  <a:schemeClr val="accent2"/>
                </a:solidFill>
              </a:rPr>
              <a:t>Est capable de persister dans l’organisme malgré un traitement antiviral prolongé.</a:t>
            </a:r>
            <a:endParaRPr lang="fr-FR" i="0" u="none" strike="noStrike" kern="100" baseline="0" dirty="0">
              <a:solidFill>
                <a:schemeClr val="accent2"/>
              </a:solidFill>
              <a:latin typeface="Arial" panose="020B0604020202020204" pitchFamily="34" charset="0"/>
            </a:endParaRPr>
          </a:p>
        </p:txBody>
      </p:sp>
      <p:sp>
        <p:nvSpPr>
          <p:cNvPr id="3" name="ZoneTexte 2">
            <a:extLst>
              <a:ext uri="{FF2B5EF4-FFF2-40B4-BE49-F238E27FC236}">
                <a16:creationId xmlns="" xmlns:a16="http://schemas.microsoft.com/office/drawing/2014/main" id="{63278C15-65C1-5EAF-75D0-A14F038A4A2E}"/>
              </a:ext>
            </a:extLst>
          </p:cNvPr>
          <p:cNvSpPr txBox="1"/>
          <p:nvPr/>
        </p:nvSpPr>
        <p:spPr>
          <a:xfrm>
            <a:off x="3506832" y="2063568"/>
            <a:ext cx="8188503"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Ou Reverse Transcriptase (RT): polymérase codée par le gène P utilisée pour convertir l’ARN pré-génomique en ADN</a:t>
            </a:r>
          </a:p>
        </p:txBody>
      </p:sp>
      <p:sp>
        <p:nvSpPr>
          <p:cNvPr id="4" name="ZoneTexte 3">
            <a:extLst>
              <a:ext uri="{FF2B5EF4-FFF2-40B4-BE49-F238E27FC236}">
                <a16:creationId xmlns="" xmlns:a16="http://schemas.microsoft.com/office/drawing/2014/main" id="{D63B0A83-79C3-D046-0E39-69FCCEEB51A6}"/>
              </a:ext>
            </a:extLst>
          </p:cNvPr>
          <p:cNvSpPr txBox="1"/>
          <p:nvPr/>
        </p:nvSpPr>
        <p:spPr>
          <a:xfrm>
            <a:off x="8399979" y="2922565"/>
            <a:ext cx="2994061"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Enveloppe lipidique</a:t>
            </a:r>
          </a:p>
        </p:txBody>
      </p:sp>
      <p:sp>
        <p:nvSpPr>
          <p:cNvPr id="8" name="ZoneTexte 7">
            <a:extLst>
              <a:ext uri="{FF2B5EF4-FFF2-40B4-BE49-F238E27FC236}">
                <a16:creationId xmlns="" xmlns:a16="http://schemas.microsoft.com/office/drawing/2014/main" id="{B6EA05FE-58A0-FF8E-1E63-07DF9D8F2EE2}"/>
              </a:ext>
            </a:extLst>
          </p:cNvPr>
          <p:cNvSpPr txBox="1"/>
          <p:nvPr/>
        </p:nvSpPr>
        <p:spPr>
          <a:xfrm>
            <a:off x="2859560" y="5523922"/>
            <a:ext cx="6755996" cy="707886"/>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Le traitement antiviral supprime la réplication mais </a:t>
            </a:r>
            <a:r>
              <a:rPr lang="fr-FR" sz="2000" b="1" dirty="0"/>
              <a:t>ne détruit pas l’</a:t>
            </a:r>
            <a:r>
              <a:rPr lang="fr-FR" sz="2000" b="1" dirty="0" err="1"/>
              <a:t>ADNccc</a:t>
            </a:r>
            <a:r>
              <a:rPr lang="fr-FR" sz="2000" dirty="0"/>
              <a:t> qui peut servir de réservoir viral.</a:t>
            </a:r>
          </a:p>
        </p:txBody>
      </p:sp>
      <p:sp>
        <p:nvSpPr>
          <p:cNvPr id="9" name="ZoneTexte 8">
            <a:extLst>
              <a:ext uri="{FF2B5EF4-FFF2-40B4-BE49-F238E27FC236}">
                <a16:creationId xmlns="" xmlns:a16="http://schemas.microsoft.com/office/drawing/2014/main" id="{60C01830-CE4A-8C11-A65B-AFA49A84AE2E}"/>
              </a:ext>
            </a:extLst>
          </p:cNvPr>
          <p:cNvSpPr txBox="1"/>
          <p:nvPr/>
        </p:nvSpPr>
        <p:spPr>
          <a:xfrm>
            <a:off x="2624886" y="3834299"/>
            <a:ext cx="9070449" cy="1015663"/>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err="1" smtClean="0"/>
              <a:t>ADNccc</a:t>
            </a:r>
            <a:r>
              <a:rPr lang="fr-FR" sz="2000" dirty="0" smtClean="0"/>
              <a:t> (</a:t>
            </a:r>
            <a:r>
              <a:rPr lang="fr-FR" sz="2000" dirty="0" err="1" smtClean="0"/>
              <a:t>covalently</a:t>
            </a:r>
            <a:r>
              <a:rPr lang="fr-FR" sz="2000" dirty="0" smtClean="0"/>
              <a:t> </a:t>
            </a:r>
            <a:r>
              <a:rPr lang="fr-FR" sz="2000" dirty="0" err="1" smtClean="0"/>
              <a:t>closed</a:t>
            </a:r>
            <a:r>
              <a:rPr lang="fr-FR" sz="2000" dirty="0" smtClean="0"/>
              <a:t> </a:t>
            </a:r>
            <a:r>
              <a:rPr lang="fr-FR" sz="2000" dirty="0" err="1" smtClean="0"/>
              <a:t>circular</a:t>
            </a:r>
            <a:r>
              <a:rPr lang="fr-FR" sz="2000" dirty="0" smtClean="0"/>
              <a:t>)</a:t>
            </a:r>
            <a:r>
              <a:rPr lang="fr-FR" sz="2000" dirty="0" smtClean="0"/>
              <a:t>: </a:t>
            </a:r>
            <a:r>
              <a:rPr lang="fr-FR" sz="2000" dirty="0"/>
              <a:t>ADN super enroulé, </a:t>
            </a:r>
            <a:r>
              <a:rPr lang="fr-FR" sz="2000" b="1" dirty="0"/>
              <a:t>réservoir viral persistant</a:t>
            </a:r>
            <a:r>
              <a:rPr lang="fr-FR" sz="2000" dirty="0"/>
              <a:t>, responsable de la chronicité et de la réactivation possible après arrêt du traitement</a:t>
            </a:r>
          </a:p>
        </p:txBody>
      </p:sp>
    </p:spTree>
    <p:extLst>
      <p:ext uri="{BB962C8B-B14F-4D97-AF65-F5344CB8AC3E}">
        <p14:creationId xmlns="" xmlns:p14="http://schemas.microsoft.com/office/powerpoint/2010/main" val="110167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3C5323D-BE44-DBEF-1D93-94010644A7F1}"/>
              </a:ext>
            </a:extLst>
          </p:cNvPr>
          <p:cNvSpPr>
            <a:spLocks noGrp="1"/>
          </p:cNvSpPr>
          <p:nvPr>
            <p:ph type="title"/>
          </p:nvPr>
        </p:nvSpPr>
        <p:spPr>
          <a:xfrm>
            <a:off x="893135" y="127592"/>
            <a:ext cx="11196084" cy="6879265"/>
          </a:xfrm>
        </p:spPr>
        <p:txBody>
          <a:bodyPr>
            <a:normAutofit/>
          </a:bodyPr>
          <a:lstStyle/>
          <a:p>
            <a:r>
              <a:rPr lang="fr-FR" b="1" i="0" u="none" strike="noStrike" kern="100" baseline="0" dirty="0">
                <a:solidFill>
                  <a:schemeClr val="accent4"/>
                </a:solidFill>
                <a:latin typeface="Calibri" panose="020F0502020204030204" pitchFamily="34" charset="0"/>
              </a:rPr>
              <a:t>Question 6 : Concernant la variabilité génétique du VHB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La reverse transcriptase favorise l’apparition de mutants.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Les mutants pré-C/C empêchent la synthèse de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 tout en maintenant la réplication.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Les mutants du gène S peuvent échapper à la détection vaccinale et sérologique.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 virus sauvage présente  un </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 négatif et des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positifs.</a:t>
            </a:r>
            <a:br>
              <a:rPr lang="fr-FR" i="0" u="none" strike="noStrike" kern="100" baseline="0" dirty="0">
                <a:latin typeface="Calibri" panose="020F0502020204030204" pitchFamily="34" charset="0"/>
              </a:rPr>
            </a:br>
            <a:r>
              <a:rPr lang="fr-FR" kern="100" dirty="0"/>
              <a:t>E. </a:t>
            </a:r>
            <a:r>
              <a:rPr lang="fr-FR" dirty="0"/>
              <a:t>Certains mutants du VHB sont associés à un risque accru de survenue de carcinome hépatocellulaire</a:t>
            </a:r>
            <a:r>
              <a:rPr lang="fr-FR" dirty="0">
                <a:solidFill>
                  <a:schemeClr val="accent2"/>
                </a:solidFill>
              </a:rPr>
              <a:t>.</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7487091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17FB7D8-9D36-51E9-5777-FC07DC62B537}"/>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8B0AA43D-0498-B80F-7833-59E4E99CA133}"/>
              </a:ext>
            </a:extLst>
          </p:cNvPr>
          <p:cNvSpPr>
            <a:spLocks noGrp="1"/>
          </p:cNvSpPr>
          <p:nvPr>
            <p:ph type="title"/>
          </p:nvPr>
        </p:nvSpPr>
        <p:spPr>
          <a:xfrm>
            <a:off x="893135" y="127592"/>
            <a:ext cx="11196084" cy="6879265"/>
          </a:xfrm>
        </p:spPr>
        <p:txBody>
          <a:bodyPr>
            <a:normAutofit/>
          </a:bodyPr>
          <a:lstStyle/>
          <a:p>
            <a:r>
              <a:rPr lang="fr-FR" b="1" i="0" u="none" strike="noStrike" kern="100" baseline="0" dirty="0">
                <a:solidFill>
                  <a:schemeClr val="accent4"/>
                </a:solidFill>
                <a:latin typeface="Calibri" panose="020F0502020204030204" pitchFamily="34" charset="0"/>
              </a:rPr>
              <a:t>Question 6 : Concernant la variabilité génétique du VHB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La reverse transcriptase favorise l’apparition de mutants.</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Les mutants pré-C/C empêchent la synthèse de l’</a:t>
            </a:r>
            <a:r>
              <a:rPr lang="fr-FR" i="0" u="none" strike="noStrike" kern="100" baseline="0" dirty="0" err="1">
                <a:solidFill>
                  <a:schemeClr val="accent2"/>
                </a:solidFill>
                <a:latin typeface="Calibri" panose="020F0502020204030204" pitchFamily="34" charset="0"/>
              </a:rPr>
              <a:t>AgHBe</a:t>
            </a:r>
            <a:r>
              <a:rPr lang="fr-FR" i="0" u="none" strike="noStrike" kern="100" baseline="0" dirty="0">
                <a:solidFill>
                  <a:schemeClr val="accent2"/>
                </a:solidFill>
                <a:latin typeface="Calibri" panose="020F0502020204030204" pitchFamily="34" charset="0"/>
              </a:rPr>
              <a:t> tout en maintenant la réplication.</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Les mutants du gène S peuvent échapper à la détection vaccinale et sérologique.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 virus sauvage présente  un </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 négatif et des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positifs.</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a:t>
            </a:r>
            <a:r>
              <a:rPr lang="fr-FR" dirty="0">
                <a:solidFill>
                  <a:schemeClr val="accent2"/>
                </a:solidFill>
              </a:rPr>
              <a:t>Certains mutants du VHB sont associés à un risque accru de survenue de carcinome hépatocellulaire.</a:t>
            </a:r>
            <a:endParaRPr lang="fr-FR" i="0" u="none" strike="noStrike" kern="100" baseline="0" dirty="0">
              <a:solidFill>
                <a:schemeClr val="accent2"/>
              </a:solidFill>
              <a:latin typeface="Calibri" panose="020F0502020204030204" pitchFamily="34" charset="0"/>
            </a:endParaRPr>
          </a:p>
        </p:txBody>
      </p:sp>
      <p:sp>
        <p:nvSpPr>
          <p:cNvPr id="3" name="ZoneTexte 2">
            <a:extLst>
              <a:ext uri="{FF2B5EF4-FFF2-40B4-BE49-F238E27FC236}">
                <a16:creationId xmlns="" xmlns:a16="http://schemas.microsoft.com/office/drawing/2014/main" id="{C3B75F28-E3EE-987F-B97A-A2A1AA96795A}"/>
              </a:ext>
            </a:extLst>
          </p:cNvPr>
          <p:cNvSpPr txBox="1"/>
          <p:nvPr/>
        </p:nvSpPr>
        <p:spPr>
          <a:xfrm>
            <a:off x="3332172" y="1436844"/>
            <a:ext cx="8188503"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L’absence d’activité de correction d’erreurs (</a:t>
            </a:r>
            <a:r>
              <a:rPr lang="fr-FR" sz="2000" dirty="0" err="1"/>
              <a:t>proofreading</a:t>
            </a:r>
            <a:r>
              <a:rPr lang="fr-FR" sz="2000" dirty="0"/>
              <a:t>) de la RT explique la forte variabilité génétique du VHB</a:t>
            </a:r>
          </a:p>
        </p:txBody>
      </p:sp>
      <p:sp>
        <p:nvSpPr>
          <p:cNvPr id="4" name="ZoneTexte 3">
            <a:extLst>
              <a:ext uri="{FF2B5EF4-FFF2-40B4-BE49-F238E27FC236}">
                <a16:creationId xmlns="" xmlns:a16="http://schemas.microsoft.com/office/drawing/2014/main" id="{D1DF350B-0756-ED8F-4264-5F3A99C5ED7B}"/>
              </a:ext>
            </a:extLst>
          </p:cNvPr>
          <p:cNvSpPr txBox="1"/>
          <p:nvPr/>
        </p:nvSpPr>
        <p:spPr>
          <a:xfrm>
            <a:off x="3782523" y="2390628"/>
            <a:ext cx="8188503"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La mutation pré-C stoppe la production d’</a:t>
            </a:r>
            <a:r>
              <a:rPr lang="fr-FR" sz="2000" dirty="0" err="1"/>
              <a:t>AgHBe</a:t>
            </a:r>
            <a:r>
              <a:rPr lang="fr-FR" sz="2000" dirty="0"/>
              <a:t>, mais le virus garde une capacité réplicative intacte</a:t>
            </a:r>
            <a:endParaRPr lang="fr-TN" sz="2000" dirty="0"/>
          </a:p>
        </p:txBody>
      </p:sp>
      <p:sp>
        <p:nvSpPr>
          <p:cNvPr id="5" name="ZoneTexte 4">
            <a:extLst>
              <a:ext uri="{FF2B5EF4-FFF2-40B4-BE49-F238E27FC236}">
                <a16:creationId xmlns="" xmlns:a16="http://schemas.microsoft.com/office/drawing/2014/main" id="{B6058784-9656-8A08-17EA-BE5D29DB9BE1}"/>
              </a:ext>
            </a:extLst>
          </p:cNvPr>
          <p:cNvSpPr txBox="1"/>
          <p:nvPr/>
        </p:nvSpPr>
        <p:spPr>
          <a:xfrm>
            <a:off x="3842657" y="3759487"/>
            <a:ext cx="7921173"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Ils entraînent  une « hépatite B occulte » : infection active (ADN détectable) mais </a:t>
            </a:r>
            <a:r>
              <a:rPr lang="fr-FR" sz="2000" dirty="0" err="1"/>
              <a:t>AgHBs</a:t>
            </a:r>
            <a:r>
              <a:rPr lang="fr-FR" sz="2000" dirty="0"/>
              <a:t> </a:t>
            </a:r>
            <a:r>
              <a:rPr lang="fr-FR" sz="2000" dirty="0" smtClean="0"/>
              <a:t>indétectable</a:t>
            </a:r>
            <a:endParaRPr lang="fr-TN" sz="2000" dirty="0"/>
          </a:p>
        </p:txBody>
      </p:sp>
      <p:sp>
        <p:nvSpPr>
          <p:cNvPr id="6" name="ZoneTexte 5">
            <a:extLst>
              <a:ext uri="{FF2B5EF4-FFF2-40B4-BE49-F238E27FC236}">
                <a16:creationId xmlns="" xmlns:a16="http://schemas.microsoft.com/office/drawing/2014/main" id="{55DD0522-9E97-6AA2-236C-A8ABF35D0699}"/>
              </a:ext>
            </a:extLst>
          </p:cNvPr>
          <p:cNvSpPr txBox="1"/>
          <p:nvPr/>
        </p:nvSpPr>
        <p:spPr>
          <a:xfrm>
            <a:off x="4331333" y="4653664"/>
            <a:ext cx="7686496" cy="707886"/>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Virus sauvage : </a:t>
            </a:r>
            <a:r>
              <a:rPr lang="fr-FR" sz="2000" b="1" dirty="0" err="1"/>
              <a:t>AgHBe</a:t>
            </a:r>
            <a:r>
              <a:rPr lang="fr-FR" sz="2000" b="1" dirty="0"/>
              <a:t> positif</a:t>
            </a:r>
            <a:r>
              <a:rPr lang="fr-FR" sz="2000" dirty="0"/>
              <a:t> et </a:t>
            </a:r>
            <a:r>
              <a:rPr lang="fr-FR" sz="2000" b="1" dirty="0" err="1"/>
              <a:t>Ac</a:t>
            </a:r>
            <a:r>
              <a:rPr lang="fr-FR" sz="2000" b="1" dirty="0"/>
              <a:t> anti-</a:t>
            </a:r>
            <a:r>
              <a:rPr lang="fr-FR" sz="2000" b="1" dirty="0" err="1"/>
              <a:t>HBe</a:t>
            </a:r>
            <a:r>
              <a:rPr lang="fr-FR" sz="2000" b="1" dirty="0"/>
              <a:t> négatifs</a:t>
            </a:r>
            <a:r>
              <a:rPr lang="fr-FR" sz="2000" dirty="0"/>
              <a:t>.</a:t>
            </a:r>
          </a:p>
          <a:p>
            <a:r>
              <a:rPr lang="fr-FR" sz="2000" dirty="0"/>
              <a:t>Le profil </a:t>
            </a:r>
            <a:r>
              <a:rPr lang="fr-FR" sz="2000" dirty="0" err="1"/>
              <a:t>AgHBe</a:t>
            </a:r>
            <a:r>
              <a:rPr lang="fr-FR" sz="2000" dirty="0"/>
              <a:t> négatif + </a:t>
            </a:r>
            <a:r>
              <a:rPr lang="fr-FR" sz="2000" dirty="0" err="1"/>
              <a:t>Ac</a:t>
            </a:r>
            <a:r>
              <a:rPr lang="fr-FR" sz="2000" dirty="0"/>
              <a:t> anti-</a:t>
            </a:r>
            <a:r>
              <a:rPr lang="fr-FR" sz="2000" dirty="0" err="1"/>
              <a:t>HBe</a:t>
            </a:r>
            <a:r>
              <a:rPr lang="fr-FR" sz="2000" dirty="0"/>
              <a:t> positifs: </a:t>
            </a:r>
            <a:r>
              <a:rPr lang="fr-FR" sz="2000" b="1" dirty="0"/>
              <a:t>mutants pré-C/C</a:t>
            </a:r>
            <a:r>
              <a:rPr lang="fr-FR" sz="2000" dirty="0"/>
              <a:t>.</a:t>
            </a:r>
          </a:p>
        </p:txBody>
      </p:sp>
      <p:sp>
        <p:nvSpPr>
          <p:cNvPr id="7" name="ZoneTexte 6">
            <a:extLst>
              <a:ext uri="{FF2B5EF4-FFF2-40B4-BE49-F238E27FC236}">
                <a16:creationId xmlns="" xmlns:a16="http://schemas.microsoft.com/office/drawing/2014/main" id="{5797219B-48F0-83A2-B489-C3034CE99C90}"/>
              </a:ext>
            </a:extLst>
          </p:cNvPr>
          <p:cNvSpPr txBox="1"/>
          <p:nvPr/>
        </p:nvSpPr>
        <p:spPr>
          <a:xfrm>
            <a:off x="3051424" y="5728187"/>
            <a:ext cx="8712405"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le VHB est un virus oncogène et sa variabilité augmente le risque de sélection de clones favorisant le carcinome hépatocellulaire.</a:t>
            </a:r>
            <a:endParaRPr lang="fr-TN" sz="2000" dirty="0"/>
          </a:p>
        </p:txBody>
      </p:sp>
    </p:spTree>
    <p:extLst>
      <p:ext uri="{BB962C8B-B14F-4D97-AF65-F5344CB8AC3E}">
        <p14:creationId xmlns="" xmlns:p14="http://schemas.microsoft.com/office/powerpoint/2010/main" val="385433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70C3240-BF5A-0EFE-117E-5E7757EE8649}"/>
              </a:ext>
            </a:extLst>
          </p:cNvPr>
          <p:cNvSpPr>
            <a:spLocks noGrp="1"/>
          </p:cNvSpPr>
          <p:nvPr>
            <p:ph type="title"/>
          </p:nvPr>
        </p:nvSpPr>
        <p:spPr>
          <a:xfrm>
            <a:off x="627321" y="-159488"/>
            <a:ext cx="10747744" cy="6655981"/>
          </a:xfrm>
        </p:spPr>
        <p:txBody>
          <a:bodyPr>
            <a:normAutofit/>
          </a:bodyPr>
          <a:lstStyle/>
          <a:p>
            <a:r>
              <a:rPr lang="fr-FR" b="1" kern="100" dirty="0">
                <a:solidFill>
                  <a:schemeClr val="accent4"/>
                </a:solidFill>
              </a:rPr>
              <a:t>Question 7 : Concernant le virus de l’hépatite C:</a:t>
            </a:r>
            <a:r>
              <a:rPr lang="fr-FR" b="1" kern="100" dirty="0"/>
              <a:t/>
            </a:r>
            <a:br>
              <a:rPr lang="fr-FR" b="1" kern="100" dirty="0"/>
            </a:br>
            <a:r>
              <a:rPr lang="fr-FR" kern="100" dirty="0"/>
              <a:t>A. Son réservoir est strictement humain. </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Sa forte variabilité génétique rend difficile le développement d’un vaccin efficace.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Il existe sous forme de quasi-espèces.</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D. Ses différents génotypes influencent la réponse au traitement.</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E. Le génotype 1 est rare en Tunisie.</a:t>
            </a:r>
          </a:p>
        </p:txBody>
      </p:sp>
    </p:spTree>
    <p:extLst>
      <p:ext uri="{BB962C8B-B14F-4D97-AF65-F5344CB8AC3E}">
        <p14:creationId xmlns="" xmlns:p14="http://schemas.microsoft.com/office/powerpoint/2010/main" val="2930711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30C840D-0BDE-D599-B600-424392781823}"/>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3349ABB-9311-CE01-62B9-A52A8ADB7EB0}"/>
              </a:ext>
            </a:extLst>
          </p:cNvPr>
          <p:cNvSpPr>
            <a:spLocks noGrp="1"/>
          </p:cNvSpPr>
          <p:nvPr>
            <p:ph type="title"/>
          </p:nvPr>
        </p:nvSpPr>
        <p:spPr>
          <a:xfrm>
            <a:off x="627321" y="-159488"/>
            <a:ext cx="10747744" cy="6655981"/>
          </a:xfrm>
        </p:spPr>
        <p:txBody>
          <a:bodyPr>
            <a:normAutofit/>
          </a:bodyPr>
          <a:lstStyle/>
          <a:p>
            <a:r>
              <a:rPr lang="fr-FR" b="1" kern="100" dirty="0">
                <a:solidFill>
                  <a:schemeClr val="accent4"/>
                </a:solidFill>
              </a:rPr>
              <a:t>Question 7 : Concernant le virus de l’hépatite C:</a:t>
            </a:r>
            <a:r>
              <a:rPr lang="fr-FR" b="1" kern="100" dirty="0"/>
              <a:t/>
            </a:r>
            <a:br>
              <a:rPr lang="fr-FR" b="1" kern="100" dirty="0"/>
            </a:br>
            <a:r>
              <a:rPr lang="fr-FR" kern="100" dirty="0"/>
              <a:t>A. Il appartient à la famille des </a:t>
            </a:r>
            <a:r>
              <a:rPr lang="fr-FR" kern="100" dirty="0" err="1"/>
              <a:t>Hepadnaviridae</a:t>
            </a:r>
            <a:r>
              <a:rPr lang="fr-FR" kern="100" dirty="0"/>
              <a:t>. </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Sa forte variabilité génétique rend difficile le développement d’un vaccin efficace.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Il existe sous forme de quasi-espèces.</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solidFill>
                  <a:schemeClr val="accent2"/>
                </a:solidFill>
                <a:latin typeface="Calibri" panose="020F0502020204030204" pitchFamily="34" charset="0"/>
              </a:rPr>
              <a:t>D. Ses différents </a:t>
            </a:r>
            <a:r>
              <a:rPr lang="fr-FR" i="0" u="none" strike="noStrike" kern="100" baseline="0" dirty="0" smtClean="0">
                <a:solidFill>
                  <a:schemeClr val="accent2"/>
                </a:solidFill>
                <a:latin typeface="Calibri" panose="020F0502020204030204" pitchFamily="34" charset="0"/>
              </a:rPr>
              <a:t>génotypes peuvent </a:t>
            </a:r>
            <a:r>
              <a:rPr lang="fr-FR" i="0" u="none" strike="noStrike" kern="100" baseline="0" dirty="0">
                <a:solidFill>
                  <a:schemeClr val="accent2"/>
                </a:solidFill>
                <a:latin typeface="Calibri" panose="020F0502020204030204" pitchFamily="34" charset="0"/>
              </a:rPr>
              <a:t>influencer la réponse au traitement.</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latin typeface="Calibri" panose="020F0502020204030204" pitchFamily="34" charset="0"/>
              </a:rPr>
              <a:t>E. Le génotype 1 est rare en Tunisie.</a:t>
            </a:r>
          </a:p>
        </p:txBody>
      </p:sp>
      <p:sp>
        <p:nvSpPr>
          <p:cNvPr id="3" name="ZoneTexte 2">
            <a:extLst>
              <a:ext uri="{FF2B5EF4-FFF2-40B4-BE49-F238E27FC236}">
                <a16:creationId xmlns="" xmlns:a16="http://schemas.microsoft.com/office/drawing/2014/main" id="{C94B80EA-6558-1B98-4A61-7265255CAABD}"/>
              </a:ext>
            </a:extLst>
          </p:cNvPr>
          <p:cNvSpPr txBox="1"/>
          <p:nvPr/>
        </p:nvSpPr>
        <p:spPr>
          <a:xfrm>
            <a:off x="5945949" y="5065160"/>
            <a:ext cx="5429116"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Génotype 1 (1b++): le plus fréquent en Tunisie</a:t>
            </a:r>
          </a:p>
        </p:txBody>
      </p:sp>
      <p:sp>
        <p:nvSpPr>
          <p:cNvPr id="5" name="ZoneTexte 4">
            <a:extLst>
              <a:ext uri="{FF2B5EF4-FFF2-40B4-BE49-F238E27FC236}">
                <a16:creationId xmlns="" xmlns:a16="http://schemas.microsoft.com/office/drawing/2014/main" id="{1E438E55-499F-67D2-2AB3-8FB11205CC4B}"/>
              </a:ext>
            </a:extLst>
          </p:cNvPr>
          <p:cNvSpPr txBox="1"/>
          <p:nvPr/>
        </p:nvSpPr>
        <p:spPr>
          <a:xfrm>
            <a:off x="4572394" y="1647050"/>
            <a:ext cx="6922920" cy="707886"/>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Le VHC: famille des </a:t>
            </a:r>
            <a:r>
              <a:rPr lang="fr-FR" sz="2000" dirty="0" err="1" smtClean="0"/>
              <a:t>Flaviviridae</a:t>
            </a:r>
            <a:endParaRPr lang="fr-FR" sz="2000" dirty="0"/>
          </a:p>
          <a:p>
            <a:pPr marL="285750" indent="-285750">
              <a:buFont typeface="Wingdings" panose="05000000000000000000" pitchFamily="2" charset="2"/>
              <a:buChar char="ü"/>
            </a:pPr>
            <a:r>
              <a:rPr lang="fr-FR" sz="2000" dirty="0"/>
              <a:t>La famille </a:t>
            </a:r>
            <a:r>
              <a:rPr lang="fr-FR" sz="2000" dirty="0" err="1"/>
              <a:t>Hepadnaviridae</a:t>
            </a:r>
            <a:r>
              <a:rPr lang="fr-FR" sz="2000" dirty="0"/>
              <a:t> correspond au VHB</a:t>
            </a:r>
          </a:p>
        </p:txBody>
      </p:sp>
      <p:sp>
        <p:nvSpPr>
          <p:cNvPr id="7" name="ZoneTexte 6">
            <a:extLst>
              <a:ext uri="{FF2B5EF4-FFF2-40B4-BE49-F238E27FC236}">
                <a16:creationId xmlns="" xmlns:a16="http://schemas.microsoft.com/office/drawing/2014/main" id="{CD22ADA9-E642-9095-5C13-2B5E53033D95}"/>
              </a:ext>
            </a:extLst>
          </p:cNvPr>
          <p:cNvSpPr txBox="1"/>
          <p:nvPr/>
        </p:nvSpPr>
        <p:spPr>
          <a:xfrm>
            <a:off x="3186562" y="2810776"/>
            <a:ext cx="8188503" cy="1015663"/>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Le VHC circule comme un ensemble hétérogène de variants génétiques appelés </a:t>
            </a:r>
            <a:r>
              <a:rPr lang="fr-FR" sz="2000" b="1" dirty="0"/>
              <a:t>quasi-espèces</a:t>
            </a:r>
            <a:r>
              <a:rPr lang="fr-FR" sz="2000" dirty="0"/>
              <a:t>, en raison de l’absence de mécanisme de correction de sa polymérase ARN-dépendante</a:t>
            </a:r>
            <a:endParaRPr lang="fr-TN" sz="2000" dirty="0"/>
          </a:p>
        </p:txBody>
      </p:sp>
      <p:sp>
        <p:nvSpPr>
          <p:cNvPr id="8" name="ZoneTexte 7">
            <a:extLst>
              <a:ext uri="{FF2B5EF4-FFF2-40B4-BE49-F238E27FC236}">
                <a16:creationId xmlns="" xmlns:a16="http://schemas.microsoft.com/office/drawing/2014/main" id="{D31A11A5-2EF1-E4B6-0032-D182661D1110}"/>
              </a:ext>
            </a:extLst>
          </p:cNvPr>
          <p:cNvSpPr txBox="1"/>
          <p:nvPr/>
        </p:nvSpPr>
        <p:spPr>
          <a:xfrm>
            <a:off x="3231876" y="4195193"/>
            <a:ext cx="8188503"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Avec les antiviraux à action directe (AAD), l’influence reste moindre mais persiste pour certaines molécules ou durées de traitement</a:t>
            </a:r>
            <a:endParaRPr lang="fr-TN" sz="2000" dirty="0"/>
          </a:p>
        </p:txBody>
      </p:sp>
    </p:spTree>
    <p:extLst>
      <p:ext uri="{BB962C8B-B14F-4D97-AF65-F5344CB8AC3E}">
        <p14:creationId xmlns="" xmlns:p14="http://schemas.microsoft.com/office/powerpoint/2010/main" val="328642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21CA632-AB1D-DA6B-8431-845169BD3E56}"/>
              </a:ext>
            </a:extLst>
          </p:cNvPr>
          <p:cNvSpPr>
            <a:spLocks noGrp="1"/>
          </p:cNvSpPr>
          <p:nvPr>
            <p:ph type="title"/>
          </p:nvPr>
        </p:nvSpPr>
        <p:spPr>
          <a:xfrm>
            <a:off x="838200" y="998163"/>
            <a:ext cx="10515600" cy="3829019"/>
          </a:xfrm>
        </p:spPr>
        <p:txBody>
          <a:bodyPr>
            <a:noAutofit/>
          </a:bodyPr>
          <a:lstStyle/>
          <a:p>
            <a:pPr marR="0" rtl="0"/>
            <a:r>
              <a:rPr lang="fr-FR" b="1" i="0" u="none" strike="noStrike" kern="100" baseline="0" dirty="0">
                <a:solidFill>
                  <a:schemeClr val="accent4"/>
                </a:solidFill>
                <a:latin typeface="Calibri" panose="020F0502020204030204" pitchFamily="34" charset="0"/>
              </a:rPr>
              <a:t>Question 8 : La prévalence la plus élevée du portage chronique du VHB concerne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Europe de l’Ouest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Afrique subsaharienne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Amérique du Nord</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Europe de l’Est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Asie du Sud-Est</a:t>
            </a:r>
          </a:p>
        </p:txBody>
      </p:sp>
    </p:spTree>
    <p:extLst>
      <p:ext uri="{BB962C8B-B14F-4D97-AF65-F5344CB8AC3E}">
        <p14:creationId xmlns="" xmlns:p14="http://schemas.microsoft.com/office/powerpoint/2010/main" val="20540662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F4A3006-82F3-0EEA-8B2F-FDDD219D23C4}"/>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FEC7022F-2A8B-72E6-04E8-60D75808C384}"/>
              </a:ext>
            </a:extLst>
          </p:cNvPr>
          <p:cNvSpPr>
            <a:spLocks noGrp="1"/>
          </p:cNvSpPr>
          <p:nvPr>
            <p:ph type="title"/>
          </p:nvPr>
        </p:nvSpPr>
        <p:spPr>
          <a:xfrm>
            <a:off x="838200" y="998163"/>
            <a:ext cx="10515600" cy="3829019"/>
          </a:xfrm>
        </p:spPr>
        <p:txBody>
          <a:bodyPr>
            <a:noAutofit/>
          </a:bodyPr>
          <a:lstStyle/>
          <a:p>
            <a:pPr marR="0" rtl="0"/>
            <a:r>
              <a:rPr lang="fr-FR" b="1" i="0" u="none" strike="noStrike" kern="100" baseline="0" dirty="0">
                <a:solidFill>
                  <a:schemeClr val="accent4"/>
                </a:solidFill>
                <a:latin typeface="Calibri" panose="020F0502020204030204" pitchFamily="34" charset="0"/>
              </a:rPr>
              <a:t>Question 8 : La prévalence la plus élevée du portage chronique du VHB concerne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Europe de l’Ouest</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Afrique subsaharienne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Amérique du Nord</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Europe de l’Est</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Asie du Sud-Est</a:t>
            </a:r>
          </a:p>
        </p:txBody>
      </p:sp>
      <p:pic>
        <p:nvPicPr>
          <p:cNvPr id="10242" name="Picture 2" descr="Global distribution of hepatitis B. | Download Scientific Diagram">
            <a:extLst>
              <a:ext uri="{FF2B5EF4-FFF2-40B4-BE49-F238E27FC236}">
                <a16:creationId xmlns="" xmlns:a16="http://schemas.microsoft.com/office/drawing/2014/main" id="{3DF34D29-3932-9585-BA30-4F23C633410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918667" y="1915315"/>
            <a:ext cx="6266785" cy="332508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2974206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E0CA00B-43F3-567A-B774-6CB69F1F95FD}"/>
              </a:ext>
            </a:extLst>
          </p:cNvPr>
          <p:cNvSpPr>
            <a:spLocks noGrp="1"/>
          </p:cNvSpPr>
          <p:nvPr>
            <p:ph type="title"/>
          </p:nvPr>
        </p:nvSpPr>
        <p:spPr>
          <a:xfrm>
            <a:off x="838200" y="2391028"/>
            <a:ext cx="10515600" cy="1325563"/>
          </a:xfrm>
        </p:spPr>
        <p:txBody>
          <a:bodyPr>
            <a:noAutofit/>
          </a:bodyPr>
          <a:lstStyle/>
          <a:p>
            <a:r>
              <a:rPr lang="fr-FR" b="1" kern="100" dirty="0">
                <a:solidFill>
                  <a:schemeClr val="accent4"/>
                </a:solidFill>
              </a:rPr>
              <a:t>Question 9 : Dans les pays à forte endémicité pour le VHB, les modes de transmission les plus fréquents sont :</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Transmission mère-enfant à la naissance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Transmission sexuelle</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C. Transmission horizontale au jeune âge</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D. Toxicomanie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Accidents transfusionnels</a:t>
            </a:r>
          </a:p>
        </p:txBody>
      </p:sp>
    </p:spTree>
    <p:extLst>
      <p:ext uri="{BB962C8B-B14F-4D97-AF65-F5344CB8AC3E}">
        <p14:creationId xmlns="" xmlns:p14="http://schemas.microsoft.com/office/powerpoint/2010/main" val="6820539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B1A14BE-8084-9B51-1438-34E9786788E6}"/>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0C3FB0F-D159-EA3F-AD77-DB52A3A8E603}"/>
              </a:ext>
            </a:extLst>
          </p:cNvPr>
          <p:cNvSpPr>
            <a:spLocks noGrp="1"/>
          </p:cNvSpPr>
          <p:nvPr>
            <p:ph type="title"/>
          </p:nvPr>
        </p:nvSpPr>
        <p:spPr>
          <a:xfrm>
            <a:off x="838200" y="2391028"/>
            <a:ext cx="10515600" cy="1325563"/>
          </a:xfrm>
        </p:spPr>
        <p:txBody>
          <a:bodyPr>
            <a:noAutofit/>
          </a:bodyPr>
          <a:lstStyle/>
          <a:p>
            <a:r>
              <a:rPr lang="fr-FR" b="1" kern="100">
                <a:solidFill>
                  <a:schemeClr val="accent4"/>
                </a:solidFill>
              </a:rPr>
              <a:t>Question 9 : Dans les pays à forte endémicité pour le VHB, les modes de transmission les plus fréquents sont :</a:t>
            </a:r>
            <a:r>
              <a:rPr lang="fr-FR" b="1" i="0" u="none" strike="noStrike" kern="100" baseline="0">
                <a:solidFill>
                  <a:schemeClr val="accent4"/>
                </a:solidFill>
                <a:latin typeface="Calibri" panose="020F0502020204030204" pitchFamily="34" charset="0"/>
              </a:rPr>
              <a:t/>
            </a:r>
            <a:br>
              <a:rPr lang="fr-FR" b="1" i="0" u="none" strike="noStrike" kern="100" baseline="0">
                <a:solidFill>
                  <a:schemeClr val="accent4"/>
                </a:solidFill>
                <a:latin typeface="Calibri" panose="020F0502020204030204" pitchFamily="34" charset="0"/>
              </a:rPr>
            </a:br>
            <a:r>
              <a:rPr lang="fr-FR" i="0" u="none" strike="noStrike" kern="100" baseline="0">
                <a:solidFill>
                  <a:schemeClr val="accent2"/>
                </a:solidFill>
                <a:latin typeface="Calibri" panose="020F0502020204030204" pitchFamily="34" charset="0"/>
              </a:rPr>
              <a:t>A. Transmission mère-enfant à la naissance</a:t>
            </a:r>
            <a:r>
              <a:rPr lang="fr-FR" i="0" u="none" strike="noStrike" kern="100" baseline="0">
                <a:latin typeface="Calibri" panose="020F0502020204030204" pitchFamily="34" charset="0"/>
              </a:rPr>
              <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B. Transmission sexuelle</a:t>
            </a:r>
            <a:r>
              <a:rPr lang="fr-FR" i="0" u="none" strike="noStrike" kern="100" baseline="0">
                <a:latin typeface="Arial" panose="020B0604020202020204" pitchFamily="34" charset="0"/>
              </a:rPr>
              <a:t/>
            </a:r>
            <a:br>
              <a:rPr lang="fr-FR" i="0" u="none" strike="noStrike" kern="100" baseline="0">
                <a:latin typeface="Arial" panose="020B0604020202020204" pitchFamily="34" charset="0"/>
              </a:rPr>
            </a:br>
            <a:r>
              <a:rPr lang="fr-FR" i="0" u="none" strike="noStrike" kern="100" baseline="0">
                <a:solidFill>
                  <a:schemeClr val="accent2"/>
                </a:solidFill>
                <a:latin typeface="Calibri" panose="020F0502020204030204" pitchFamily="34" charset="0"/>
              </a:rPr>
              <a:t>C. Transmission horizontale au jeune âge</a:t>
            </a:r>
            <a:r>
              <a:rPr lang="fr-FR" i="0" u="none" strike="noStrike" kern="100" baseline="0">
                <a:latin typeface="Arial" panose="020B0604020202020204" pitchFamily="34" charset="0"/>
              </a:rPr>
              <a:t/>
            </a:r>
            <a:br>
              <a:rPr lang="fr-FR" i="0" u="none" strike="noStrike" kern="100" baseline="0">
                <a:latin typeface="Arial" panose="020B0604020202020204" pitchFamily="34" charset="0"/>
              </a:rPr>
            </a:br>
            <a:r>
              <a:rPr lang="fr-FR" i="0" u="none" strike="noStrike" kern="100" baseline="0">
                <a:latin typeface="Calibri" panose="020F0502020204030204" pitchFamily="34" charset="0"/>
              </a:rPr>
              <a:t>D. Toxicomanie</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E. Accidents transfusionnels</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15182307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graphicFrame>
        <p:nvGraphicFramePr>
          <p:cNvPr id="3" name="Tableau 2">
            <a:extLst>
              <a:ext uri="{FF2B5EF4-FFF2-40B4-BE49-F238E27FC236}">
                <a16:creationId xmlns="" xmlns:a16="http://schemas.microsoft.com/office/drawing/2014/main" id="{A5F3EDFA-0066-2572-890C-AE93A7FE7C1D}"/>
              </a:ext>
            </a:extLst>
          </p:cNvPr>
          <p:cNvGraphicFramePr>
            <a:graphicFrameLocks noGrp="1"/>
          </p:cNvGraphicFramePr>
          <p:nvPr>
            <p:extLst>
              <p:ext uri="{D42A27DB-BD31-4B8C-83A1-F6EECF244321}">
                <p14:modId xmlns="" xmlns:p14="http://schemas.microsoft.com/office/powerpoint/2010/main" val="1438135991"/>
              </p:ext>
            </p:extLst>
          </p:nvPr>
        </p:nvGraphicFramePr>
        <p:xfrm>
          <a:off x="511628" y="402769"/>
          <a:ext cx="11179628" cy="6128662"/>
        </p:xfrm>
        <a:graphic>
          <a:graphicData uri="http://schemas.openxmlformats.org/drawingml/2006/table">
            <a:tbl>
              <a:tblPr>
                <a:tableStyleId>{C4B1156A-380E-4F78-BDF5-A606A8083BF9}</a:tableStyleId>
              </a:tblPr>
              <a:tblGrid>
                <a:gridCol w="2794907">
                  <a:extLst>
                    <a:ext uri="{9D8B030D-6E8A-4147-A177-3AD203B41FA5}">
                      <a16:colId xmlns="" xmlns:a16="http://schemas.microsoft.com/office/drawing/2014/main" val="4076938717"/>
                    </a:ext>
                  </a:extLst>
                </a:gridCol>
                <a:gridCol w="2794907">
                  <a:extLst>
                    <a:ext uri="{9D8B030D-6E8A-4147-A177-3AD203B41FA5}">
                      <a16:colId xmlns="" xmlns:a16="http://schemas.microsoft.com/office/drawing/2014/main" val="2416643565"/>
                    </a:ext>
                  </a:extLst>
                </a:gridCol>
                <a:gridCol w="2794907">
                  <a:extLst>
                    <a:ext uri="{9D8B030D-6E8A-4147-A177-3AD203B41FA5}">
                      <a16:colId xmlns="" xmlns:a16="http://schemas.microsoft.com/office/drawing/2014/main" val="2119101085"/>
                    </a:ext>
                  </a:extLst>
                </a:gridCol>
                <a:gridCol w="2794907">
                  <a:extLst>
                    <a:ext uri="{9D8B030D-6E8A-4147-A177-3AD203B41FA5}">
                      <a16:colId xmlns="" xmlns:a16="http://schemas.microsoft.com/office/drawing/2014/main" val="2699126597"/>
                    </a:ext>
                  </a:extLst>
                </a:gridCol>
              </a:tblGrid>
              <a:tr h="1057004">
                <a:tc>
                  <a:txBody>
                    <a:bodyPr/>
                    <a:lstStyle/>
                    <a:p>
                      <a:pPr>
                        <a:buNone/>
                      </a:pPr>
                      <a:r>
                        <a:rPr lang="fr-FR" sz="2000" b="1" dirty="0"/>
                        <a:t>Mode de transmission</a:t>
                      </a:r>
                      <a:endParaRPr lang="fr-FR" sz="2000" dirty="0"/>
                    </a:p>
                  </a:txBody>
                  <a:tcPr marL="75023" marR="75023" marT="37512" marB="37512" anchor="ctr"/>
                </a:tc>
                <a:tc>
                  <a:txBody>
                    <a:bodyPr/>
                    <a:lstStyle/>
                    <a:p>
                      <a:pPr>
                        <a:buNone/>
                      </a:pPr>
                      <a:r>
                        <a:rPr lang="fr-FR" sz="2000" b="1" dirty="0"/>
                        <a:t>Pays à forte endémicité</a:t>
                      </a:r>
                      <a:r>
                        <a:rPr lang="fr-FR" sz="2000" dirty="0"/>
                        <a:t> (</a:t>
                      </a:r>
                      <a:r>
                        <a:rPr lang="fr-FR" sz="2000" b="1" dirty="0">
                          <a:solidFill>
                            <a:srgbClr val="FF0000"/>
                          </a:solidFill>
                        </a:rPr>
                        <a:t>≥ 8%</a:t>
                      </a:r>
                      <a:r>
                        <a:rPr lang="fr-FR" sz="2000" dirty="0"/>
                        <a:t> de prévalence </a:t>
                      </a:r>
                      <a:r>
                        <a:rPr lang="fr-FR" sz="2000" dirty="0" err="1"/>
                        <a:t>HBsAg</a:t>
                      </a:r>
                      <a:r>
                        <a:rPr lang="fr-FR" sz="2000" dirty="0"/>
                        <a:t>)</a:t>
                      </a:r>
                    </a:p>
                  </a:txBody>
                  <a:tcPr marL="75023" marR="75023" marT="37512" marB="37512" anchor="ctr"/>
                </a:tc>
                <a:tc>
                  <a:txBody>
                    <a:bodyPr/>
                    <a:lstStyle/>
                    <a:p>
                      <a:pPr>
                        <a:buNone/>
                      </a:pPr>
                      <a:r>
                        <a:rPr lang="fr-FR" sz="2000" b="1" dirty="0"/>
                        <a:t>Pays à endémicité intermédiaire</a:t>
                      </a:r>
                      <a:r>
                        <a:rPr lang="fr-FR" sz="2000" dirty="0"/>
                        <a:t> (</a:t>
                      </a:r>
                      <a:r>
                        <a:rPr lang="fr-FR" sz="2000" b="1" dirty="0">
                          <a:solidFill>
                            <a:schemeClr val="accent4"/>
                          </a:solidFill>
                        </a:rPr>
                        <a:t>2–7%</a:t>
                      </a:r>
                      <a:r>
                        <a:rPr lang="fr-FR" sz="2000" dirty="0"/>
                        <a:t>)</a:t>
                      </a:r>
                    </a:p>
                  </a:txBody>
                  <a:tcPr marL="75023" marR="75023" marT="37512" marB="37512" anchor="ctr"/>
                </a:tc>
                <a:tc>
                  <a:txBody>
                    <a:bodyPr/>
                    <a:lstStyle/>
                    <a:p>
                      <a:pPr>
                        <a:buNone/>
                      </a:pPr>
                      <a:r>
                        <a:rPr lang="fr-FR" sz="2000" b="1" dirty="0"/>
                        <a:t>Pays à faible endémicité</a:t>
                      </a:r>
                      <a:r>
                        <a:rPr lang="fr-FR" sz="2000" dirty="0"/>
                        <a:t> (</a:t>
                      </a:r>
                      <a:r>
                        <a:rPr lang="fr-FR" sz="2000" b="1" dirty="0">
                          <a:solidFill>
                            <a:schemeClr val="accent6"/>
                          </a:solidFill>
                        </a:rPr>
                        <a:t>&lt; 2%</a:t>
                      </a:r>
                      <a:r>
                        <a:rPr lang="fr-FR" sz="2000" dirty="0"/>
                        <a:t>)</a:t>
                      </a:r>
                    </a:p>
                  </a:txBody>
                  <a:tcPr marL="75023" marR="75023" marT="37512" marB="37512" anchor="ctr"/>
                </a:tc>
                <a:extLst>
                  <a:ext uri="{0D108BD9-81ED-4DB2-BD59-A6C34878D82A}">
                    <a16:rowId xmlns="" xmlns:a16="http://schemas.microsoft.com/office/drawing/2014/main" val="3816397461"/>
                  </a:ext>
                </a:extLst>
              </a:tr>
              <a:tr h="1057004">
                <a:tc>
                  <a:txBody>
                    <a:bodyPr/>
                    <a:lstStyle/>
                    <a:p>
                      <a:pPr>
                        <a:buNone/>
                      </a:pPr>
                      <a:r>
                        <a:rPr lang="fr-FR" sz="2000" b="1"/>
                        <a:t>Mère-enfant (périnatale)</a:t>
                      </a:r>
                      <a:endParaRPr lang="fr-FR" sz="2000"/>
                    </a:p>
                  </a:txBody>
                  <a:tcPr marL="75023" marR="75023" marT="37512" marB="37512" anchor="ctr"/>
                </a:tc>
                <a:tc>
                  <a:txBody>
                    <a:bodyPr/>
                    <a:lstStyle/>
                    <a:p>
                      <a:pPr>
                        <a:buNone/>
                      </a:pPr>
                      <a:r>
                        <a:rPr lang="fr-FR" sz="2000" b="1" dirty="0"/>
                        <a:t>Très fréquente</a:t>
                      </a:r>
                      <a:r>
                        <a:rPr lang="fr-FR" sz="2000" dirty="0"/>
                        <a:t> → principale voie (surtout en Asie, Afrique)</a:t>
                      </a:r>
                    </a:p>
                  </a:txBody>
                  <a:tcPr marL="75023" marR="75023" marT="37512" marB="37512" anchor="ctr"/>
                </a:tc>
                <a:tc>
                  <a:txBody>
                    <a:bodyPr/>
                    <a:lstStyle/>
                    <a:p>
                      <a:pPr>
                        <a:buNone/>
                      </a:pPr>
                      <a:r>
                        <a:rPr lang="fr-FR" sz="2000"/>
                        <a:t>Fréquente mais non exclusive</a:t>
                      </a:r>
                    </a:p>
                  </a:txBody>
                  <a:tcPr marL="75023" marR="75023" marT="37512" marB="37512" anchor="ctr"/>
                </a:tc>
                <a:tc>
                  <a:txBody>
                    <a:bodyPr/>
                    <a:lstStyle/>
                    <a:p>
                      <a:pPr>
                        <a:buNone/>
                      </a:pPr>
                      <a:r>
                        <a:rPr lang="fr-FR" sz="2000"/>
                        <a:t>Rare</a:t>
                      </a:r>
                    </a:p>
                  </a:txBody>
                  <a:tcPr marL="75023" marR="75023" marT="37512" marB="37512" anchor="ctr"/>
                </a:tc>
                <a:extLst>
                  <a:ext uri="{0D108BD9-81ED-4DB2-BD59-A6C34878D82A}">
                    <a16:rowId xmlns="" xmlns:a16="http://schemas.microsoft.com/office/drawing/2014/main" val="2157364174"/>
                  </a:ext>
                </a:extLst>
              </a:tr>
              <a:tr h="1374594">
                <a:tc>
                  <a:txBody>
                    <a:bodyPr/>
                    <a:lstStyle/>
                    <a:p>
                      <a:pPr>
                        <a:buNone/>
                      </a:pPr>
                      <a:r>
                        <a:rPr lang="fr-FR" sz="2000" b="1"/>
                        <a:t>Transmission horizontale dans l’enfance</a:t>
                      </a:r>
                      <a:endParaRPr lang="fr-FR" sz="2000"/>
                    </a:p>
                  </a:txBody>
                  <a:tcPr marL="75023" marR="75023" marT="37512" marB="37512" anchor="ctr"/>
                </a:tc>
                <a:tc>
                  <a:txBody>
                    <a:bodyPr/>
                    <a:lstStyle/>
                    <a:p>
                      <a:pPr>
                        <a:buNone/>
                      </a:pPr>
                      <a:r>
                        <a:rPr lang="fr-FR" sz="2000" b="1"/>
                        <a:t>Très fréquente</a:t>
                      </a:r>
                      <a:r>
                        <a:rPr lang="fr-FR" sz="2000"/>
                        <a:t> (contacts intrafamiliaux, plaies, salive, objets souillés)</a:t>
                      </a:r>
                    </a:p>
                  </a:txBody>
                  <a:tcPr marL="75023" marR="75023" marT="37512" marB="37512" anchor="ctr"/>
                </a:tc>
                <a:tc>
                  <a:txBody>
                    <a:bodyPr/>
                    <a:lstStyle/>
                    <a:p>
                      <a:pPr>
                        <a:buNone/>
                      </a:pPr>
                      <a:r>
                        <a:rPr lang="fr-FR" sz="2000"/>
                        <a:t>Fréquente</a:t>
                      </a:r>
                    </a:p>
                  </a:txBody>
                  <a:tcPr marL="75023" marR="75023" marT="37512" marB="37512" anchor="ctr"/>
                </a:tc>
                <a:tc>
                  <a:txBody>
                    <a:bodyPr/>
                    <a:lstStyle/>
                    <a:p>
                      <a:pPr>
                        <a:buNone/>
                      </a:pPr>
                      <a:r>
                        <a:rPr lang="fr-FR" sz="2000"/>
                        <a:t>Rare</a:t>
                      </a:r>
                    </a:p>
                  </a:txBody>
                  <a:tcPr marL="75023" marR="75023" marT="37512" marB="37512" anchor="ctr"/>
                </a:tc>
                <a:extLst>
                  <a:ext uri="{0D108BD9-81ED-4DB2-BD59-A6C34878D82A}">
                    <a16:rowId xmlns="" xmlns:a16="http://schemas.microsoft.com/office/drawing/2014/main" val="1857207588"/>
                  </a:ext>
                </a:extLst>
              </a:tr>
              <a:tr h="739413">
                <a:tc>
                  <a:txBody>
                    <a:bodyPr/>
                    <a:lstStyle/>
                    <a:p>
                      <a:pPr>
                        <a:buNone/>
                      </a:pPr>
                      <a:r>
                        <a:rPr lang="fr-FR" sz="2000" b="1"/>
                        <a:t>Transmission sexuelle</a:t>
                      </a:r>
                      <a:endParaRPr lang="fr-FR" sz="2000"/>
                    </a:p>
                  </a:txBody>
                  <a:tcPr marL="75023" marR="75023" marT="37512" marB="37512" anchor="ctr"/>
                </a:tc>
                <a:tc>
                  <a:txBody>
                    <a:bodyPr/>
                    <a:lstStyle/>
                    <a:p>
                      <a:pPr>
                        <a:buNone/>
                      </a:pPr>
                      <a:r>
                        <a:rPr lang="fr-FR" sz="2000"/>
                        <a:t>Moins fréquente (secondaire)</a:t>
                      </a:r>
                    </a:p>
                  </a:txBody>
                  <a:tcPr marL="75023" marR="75023" marT="37512" marB="37512" anchor="ctr"/>
                </a:tc>
                <a:tc>
                  <a:txBody>
                    <a:bodyPr/>
                    <a:lstStyle/>
                    <a:p>
                      <a:pPr>
                        <a:buNone/>
                      </a:pPr>
                      <a:r>
                        <a:rPr lang="fr-FR" sz="2000"/>
                        <a:t>Importante</a:t>
                      </a:r>
                    </a:p>
                  </a:txBody>
                  <a:tcPr marL="75023" marR="75023" marT="37512" marB="37512" anchor="ctr"/>
                </a:tc>
                <a:tc>
                  <a:txBody>
                    <a:bodyPr/>
                    <a:lstStyle/>
                    <a:p>
                      <a:pPr>
                        <a:buNone/>
                      </a:pPr>
                      <a:r>
                        <a:rPr lang="fr-FR" sz="2000" b="1"/>
                        <a:t>Principale voie</a:t>
                      </a:r>
                      <a:endParaRPr lang="fr-FR" sz="2000"/>
                    </a:p>
                  </a:txBody>
                  <a:tcPr marL="75023" marR="75023" marT="37512" marB="37512" anchor="ctr"/>
                </a:tc>
                <a:extLst>
                  <a:ext uri="{0D108BD9-81ED-4DB2-BD59-A6C34878D82A}">
                    <a16:rowId xmlns="" xmlns:a16="http://schemas.microsoft.com/office/drawing/2014/main" val="653739323"/>
                  </a:ext>
                </a:extLst>
              </a:tr>
              <a:tr h="421821">
                <a:tc>
                  <a:txBody>
                    <a:bodyPr/>
                    <a:lstStyle/>
                    <a:p>
                      <a:pPr>
                        <a:buNone/>
                      </a:pPr>
                      <a:r>
                        <a:rPr lang="fr-FR" sz="2000" b="1"/>
                        <a:t>Usage de drogues IV</a:t>
                      </a:r>
                      <a:endParaRPr lang="fr-FR" sz="2000"/>
                    </a:p>
                  </a:txBody>
                  <a:tcPr marL="75023" marR="75023" marT="37512" marB="37512" anchor="ctr"/>
                </a:tc>
                <a:tc>
                  <a:txBody>
                    <a:bodyPr/>
                    <a:lstStyle/>
                    <a:p>
                      <a:pPr>
                        <a:buNone/>
                      </a:pPr>
                      <a:r>
                        <a:rPr lang="fr-FR" sz="2000"/>
                        <a:t>Rare</a:t>
                      </a:r>
                    </a:p>
                  </a:txBody>
                  <a:tcPr marL="75023" marR="75023" marT="37512" marB="37512" anchor="ctr"/>
                </a:tc>
                <a:tc>
                  <a:txBody>
                    <a:bodyPr/>
                    <a:lstStyle/>
                    <a:p>
                      <a:pPr>
                        <a:buNone/>
                      </a:pPr>
                      <a:r>
                        <a:rPr lang="fr-FR" sz="2000"/>
                        <a:t>Possible</a:t>
                      </a:r>
                    </a:p>
                  </a:txBody>
                  <a:tcPr marL="75023" marR="75023" marT="37512" marB="37512" anchor="ctr"/>
                </a:tc>
                <a:tc>
                  <a:txBody>
                    <a:bodyPr/>
                    <a:lstStyle/>
                    <a:p>
                      <a:pPr>
                        <a:buNone/>
                      </a:pPr>
                      <a:r>
                        <a:rPr lang="fr-FR" sz="2000" b="1"/>
                        <a:t>Importante</a:t>
                      </a:r>
                      <a:endParaRPr lang="fr-FR" sz="2000"/>
                    </a:p>
                  </a:txBody>
                  <a:tcPr marL="75023" marR="75023" marT="37512" marB="37512" anchor="ctr"/>
                </a:tc>
                <a:extLst>
                  <a:ext uri="{0D108BD9-81ED-4DB2-BD59-A6C34878D82A}">
                    <a16:rowId xmlns="" xmlns:a16="http://schemas.microsoft.com/office/drawing/2014/main" val="285334070"/>
                  </a:ext>
                </a:extLst>
              </a:tr>
              <a:tr h="739413">
                <a:tc>
                  <a:txBody>
                    <a:bodyPr/>
                    <a:lstStyle/>
                    <a:p>
                      <a:pPr>
                        <a:buNone/>
                      </a:pPr>
                      <a:r>
                        <a:rPr lang="fr-FR" sz="2000" b="1"/>
                        <a:t>Accidents transfusionnels</a:t>
                      </a:r>
                      <a:endParaRPr lang="fr-FR" sz="2000"/>
                    </a:p>
                  </a:txBody>
                  <a:tcPr marL="75023" marR="75023" marT="37512" marB="37512" anchor="ctr"/>
                </a:tc>
                <a:tc>
                  <a:txBody>
                    <a:bodyPr/>
                    <a:lstStyle/>
                    <a:p>
                      <a:pPr>
                        <a:buNone/>
                      </a:pPr>
                      <a:r>
                        <a:rPr lang="fr-FR" sz="2000"/>
                        <a:t>Actuellement </a:t>
                      </a:r>
                      <a:r>
                        <a:rPr lang="fr-FR" sz="2000" b="1"/>
                        <a:t>rare</a:t>
                      </a:r>
                      <a:r>
                        <a:rPr lang="fr-FR" sz="2000"/>
                        <a:t> (dépistage des dons)</a:t>
                      </a:r>
                    </a:p>
                  </a:txBody>
                  <a:tcPr marL="75023" marR="75023" marT="37512" marB="37512" anchor="ctr"/>
                </a:tc>
                <a:tc>
                  <a:txBody>
                    <a:bodyPr/>
                    <a:lstStyle/>
                    <a:p>
                      <a:pPr>
                        <a:buNone/>
                      </a:pPr>
                      <a:r>
                        <a:rPr lang="fr-FR" sz="2000"/>
                        <a:t>Rare</a:t>
                      </a:r>
                    </a:p>
                  </a:txBody>
                  <a:tcPr marL="75023" marR="75023" marT="37512" marB="37512" anchor="ctr"/>
                </a:tc>
                <a:tc>
                  <a:txBody>
                    <a:bodyPr/>
                    <a:lstStyle/>
                    <a:p>
                      <a:pPr>
                        <a:buNone/>
                      </a:pPr>
                      <a:r>
                        <a:rPr lang="fr-FR" sz="2000"/>
                        <a:t>Rare</a:t>
                      </a:r>
                    </a:p>
                  </a:txBody>
                  <a:tcPr marL="75023" marR="75023" marT="37512" marB="37512" anchor="ctr"/>
                </a:tc>
                <a:extLst>
                  <a:ext uri="{0D108BD9-81ED-4DB2-BD59-A6C34878D82A}">
                    <a16:rowId xmlns="" xmlns:a16="http://schemas.microsoft.com/office/drawing/2014/main" val="2853103416"/>
                  </a:ext>
                </a:extLst>
              </a:tr>
              <a:tr h="739413">
                <a:tc>
                  <a:txBody>
                    <a:bodyPr/>
                    <a:lstStyle/>
                    <a:p>
                      <a:pPr>
                        <a:buNone/>
                      </a:pPr>
                      <a:r>
                        <a:rPr lang="fr-FR" sz="2000" b="1"/>
                        <a:t>Accidents professionnels (AES)</a:t>
                      </a:r>
                      <a:endParaRPr lang="fr-FR" sz="2000"/>
                    </a:p>
                  </a:txBody>
                  <a:tcPr marL="75023" marR="75023" marT="37512" marB="37512" anchor="ctr"/>
                </a:tc>
                <a:tc>
                  <a:txBody>
                    <a:bodyPr/>
                    <a:lstStyle/>
                    <a:p>
                      <a:pPr>
                        <a:buNone/>
                      </a:pPr>
                      <a:r>
                        <a:rPr lang="fr-FR" sz="2000"/>
                        <a:t>Possible mais non majoritaire</a:t>
                      </a:r>
                    </a:p>
                  </a:txBody>
                  <a:tcPr marL="75023" marR="75023" marT="37512" marB="37512" anchor="ctr"/>
                </a:tc>
                <a:tc>
                  <a:txBody>
                    <a:bodyPr/>
                    <a:lstStyle/>
                    <a:p>
                      <a:pPr>
                        <a:buNone/>
                      </a:pPr>
                      <a:r>
                        <a:rPr lang="fr-FR" sz="2000"/>
                        <a:t>Possible</a:t>
                      </a:r>
                    </a:p>
                  </a:txBody>
                  <a:tcPr marL="75023" marR="75023" marT="37512" marB="37512" anchor="ctr"/>
                </a:tc>
                <a:tc>
                  <a:txBody>
                    <a:bodyPr/>
                    <a:lstStyle/>
                    <a:p>
                      <a:pPr>
                        <a:buNone/>
                      </a:pPr>
                      <a:r>
                        <a:rPr lang="fr-FR" sz="2000" dirty="0"/>
                        <a:t>Possible</a:t>
                      </a:r>
                    </a:p>
                  </a:txBody>
                  <a:tcPr marL="75023" marR="75023" marT="37512" marB="37512" anchor="ctr"/>
                </a:tc>
                <a:extLst>
                  <a:ext uri="{0D108BD9-81ED-4DB2-BD59-A6C34878D82A}">
                    <a16:rowId xmlns="" xmlns:a16="http://schemas.microsoft.com/office/drawing/2014/main" val="2110497836"/>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8CCB47-5A76-EDFD-A6C1-0CB9DFA49902}"/>
              </a:ext>
            </a:extLst>
          </p:cNvPr>
          <p:cNvSpPr>
            <a:spLocks noGrp="1"/>
          </p:cNvSpPr>
          <p:nvPr>
            <p:ph type="title"/>
          </p:nvPr>
        </p:nvSpPr>
        <p:spPr>
          <a:xfrm>
            <a:off x="678712" y="2614312"/>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10 : Concernant l’hépatite virale B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Tunisie est classée en zone d’endémicité </a:t>
            </a:r>
            <a:r>
              <a:rPr lang="fr-FR" i="0" u="none" strike="noStrike" kern="100" baseline="0" dirty="0" smtClean="0">
                <a:latin typeface="Calibri" panose="020F0502020204030204" pitchFamily="34" charset="0"/>
              </a:rPr>
              <a:t>intermédiaire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 risque de chronicité est maximal lors d’une infection néonatale</a:t>
            </a:r>
            <a:r>
              <a:rPr lang="fr-FR" i="0" u="none" strike="noStrike" kern="100" baseline="0" dirty="0">
                <a:latin typeface="Arial" panose="020B0604020202020204" pitchFamily="34" charset="0"/>
              </a:rPr>
              <a:t>.</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C. La transmission par le lait maternel est rare même en zone de forte endémie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En zone de faible endémie, la transmission se fait surtout par toxicomanie IV et voie sexuelle.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Après un AES avec un patient </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 et </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 le risque de transmission est de 40%.</a:t>
            </a:r>
          </a:p>
        </p:txBody>
      </p:sp>
    </p:spTree>
    <p:extLst>
      <p:ext uri="{BB962C8B-B14F-4D97-AF65-F5344CB8AC3E}">
        <p14:creationId xmlns="" xmlns:p14="http://schemas.microsoft.com/office/powerpoint/2010/main" val="10148585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D301B7D-4603-E762-1598-7B40EF7416A2}"/>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F05B2CA5-9824-8E3C-7069-D77898DA1E6D}"/>
              </a:ext>
            </a:extLst>
          </p:cNvPr>
          <p:cNvSpPr>
            <a:spLocks noGrp="1"/>
          </p:cNvSpPr>
          <p:nvPr>
            <p:ph type="title"/>
          </p:nvPr>
        </p:nvSpPr>
        <p:spPr>
          <a:xfrm>
            <a:off x="678712" y="2614312"/>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10 : Concernant l’hépatite virale B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Tunisie est classée en zone d’endémicité intermédiaire.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Le risque de chronicité est maximal lors d’une infection néonatale</a:t>
            </a:r>
            <a:r>
              <a:rPr lang="fr-FR" i="0" u="none" strike="noStrike" kern="100" baseline="0" dirty="0">
                <a:solidFill>
                  <a:schemeClr val="accent2"/>
                </a:solidFill>
                <a:latin typeface="Arial" panose="020B0604020202020204" pitchFamily="34" charset="0"/>
              </a:rPr>
              <a:t>.</a:t>
            </a:r>
            <a:br>
              <a:rPr lang="fr-FR" i="0" u="none" strike="noStrike" kern="100" baseline="0" dirty="0">
                <a:solidFill>
                  <a:schemeClr val="accent2"/>
                </a:solidFill>
                <a:latin typeface="Arial" panose="020B0604020202020204" pitchFamily="34" charset="0"/>
              </a:rPr>
            </a:br>
            <a:r>
              <a:rPr lang="fr-FR" i="0" u="none" strike="noStrike" kern="100" baseline="0" dirty="0">
                <a:solidFill>
                  <a:schemeClr val="accent2"/>
                </a:solidFill>
                <a:latin typeface="Calibri" panose="020F0502020204030204" pitchFamily="34" charset="0"/>
              </a:rPr>
              <a:t>C. La transmission par le lait maternel est rare même en zone de forte endémie </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D. En zone de faible endémie, la transmission se fait surtout par toxicomanie IV et voie sexuelle.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Après un AES avec un patient </a:t>
            </a:r>
            <a:r>
              <a:rPr lang="fr-FR" i="0" u="none" strike="noStrike" kern="100" baseline="0" dirty="0" err="1">
                <a:solidFill>
                  <a:schemeClr val="accent2"/>
                </a:solidFill>
                <a:latin typeface="Calibri" panose="020F0502020204030204" pitchFamily="34" charset="0"/>
              </a:rPr>
              <a:t>AgHBs</a:t>
            </a:r>
            <a:r>
              <a:rPr lang="fr-FR" i="0" u="none" strike="noStrike" kern="100" baseline="0" dirty="0">
                <a:solidFill>
                  <a:schemeClr val="accent2"/>
                </a:solidFill>
                <a:latin typeface="Calibri" panose="020F0502020204030204" pitchFamily="34" charset="0"/>
              </a:rPr>
              <a:t>+ et </a:t>
            </a:r>
            <a:r>
              <a:rPr lang="fr-FR" i="0" u="none" strike="noStrike" kern="100" baseline="0" dirty="0" err="1">
                <a:solidFill>
                  <a:schemeClr val="accent2"/>
                </a:solidFill>
                <a:latin typeface="Calibri" panose="020F0502020204030204" pitchFamily="34" charset="0"/>
              </a:rPr>
              <a:t>AgHBe</a:t>
            </a:r>
            <a:r>
              <a:rPr lang="fr-FR" i="0" u="none" strike="noStrike" kern="100" baseline="0" dirty="0">
                <a:solidFill>
                  <a:schemeClr val="accent2"/>
                </a:solidFill>
                <a:latin typeface="Calibri" panose="020F0502020204030204" pitchFamily="34" charset="0"/>
              </a:rPr>
              <a:t>+, le risque de transmission est de 40%.</a:t>
            </a:r>
          </a:p>
        </p:txBody>
      </p:sp>
      <p:sp>
        <p:nvSpPr>
          <p:cNvPr id="3" name="ZoneTexte 2">
            <a:extLst>
              <a:ext uri="{FF2B5EF4-FFF2-40B4-BE49-F238E27FC236}">
                <a16:creationId xmlns="" xmlns:a16="http://schemas.microsoft.com/office/drawing/2014/main" id="{68E74A74-CDB8-6FE7-2A0E-FDD9E71061E8}"/>
              </a:ext>
            </a:extLst>
          </p:cNvPr>
          <p:cNvSpPr txBox="1"/>
          <p:nvPr/>
        </p:nvSpPr>
        <p:spPr>
          <a:xfrm>
            <a:off x="6424203" y="1085524"/>
            <a:ext cx="4422750" cy="400110"/>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Tunisie: 1,7% </a:t>
            </a:r>
            <a:r>
              <a:rPr lang="fr-FR" sz="2000" dirty="0">
                <a:sym typeface="Wingdings" panose="05000000000000000000" pitchFamily="2" charset="2"/>
              </a:rPr>
              <a:t> faible endémicité</a:t>
            </a:r>
            <a:endParaRPr lang="fr-FR" sz="2000" dirty="0"/>
          </a:p>
        </p:txBody>
      </p:sp>
      <p:sp>
        <p:nvSpPr>
          <p:cNvPr id="4" name="ZoneTexte 3">
            <a:extLst>
              <a:ext uri="{FF2B5EF4-FFF2-40B4-BE49-F238E27FC236}">
                <a16:creationId xmlns="" xmlns:a16="http://schemas.microsoft.com/office/drawing/2014/main" id="{D9B229A4-E9E9-90ED-E309-A5D075E7CA7A}"/>
              </a:ext>
            </a:extLst>
          </p:cNvPr>
          <p:cNvSpPr txBox="1"/>
          <p:nvPr/>
        </p:nvSpPr>
        <p:spPr>
          <a:xfrm>
            <a:off x="5757869" y="1598649"/>
            <a:ext cx="5755419"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Nouveau-né infecté : &gt;90% de risque de chronicité.</a:t>
            </a:r>
          </a:p>
          <a:p>
            <a:r>
              <a:rPr lang="fr-FR" sz="2000" dirty="0"/>
              <a:t>Enfant 1–5 ans : 20–30%.</a:t>
            </a:r>
          </a:p>
          <a:p>
            <a:r>
              <a:rPr lang="fr-FR" sz="2000" dirty="0"/>
              <a:t>Adulte immunocompétent : &lt; 10%</a:t>
            </a:r>
          </a:p>
        </p:txBody>
      </p:sp>
      <p:sp>
        <p:nvSpPr>
          <p:cNvPr id="5" name="ZoneTexte 4">
            <a:extLst>
              <a:ext uri="{FF2B5EF4-FFF2-40B4-BE49-F238E27FC236}">
                <a16:creationId xmlns="" xmlns:a16="http://schemas.microsoft.com/office/drawing/2014/main" id="{65D0AEF2-1EB4-20BF-1DE1-6B479D646DB8}"/>
              </a:ext>
            </a:extLst>
          </p:cNvPr>
          <p:cNvSpPr txBox="1"/>
          <p:nvPr/>
        </p:nvSpPr>
        <p:spPr>
          <a:xfrm>
            <a:off x="2432128" y="3052717"/>
            <a:ext cx="7731331"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Le virus est présent mais le risque de transmission est négligeable surtout après sérovaccination du </a:t>
            </a:r>
            <a:r>
              <a:rPr lang="fr-FR" sz="2000" dirty="0" err="1"/>
              <a:t>NNé</a:t>
            </a:r>
            <a:r>
              <a:rPr lang="fr-FR" sz="2000" dirty="0"/>
              <a:t> </a:t>
            </a:r>
          </a:p>
        </p:txBody>
      </p:sp>
      <p:sp>
        <p:nvSpPr>
          <p:cNvPr id="6" name="ZoneTexte 5">
            <a:extLst>
              <a:ext uri="{FF2B5EF4-FFF2-40B4-BE49-F238E27FC236}">
                <a16:creationId xmlns="" xmlns:a16="http://schemas.microsoft.com/office/drawing/2014/main" id="{4F0E3AF8-4902-FA4C-7408-CB59F785F8E5}"/>
              </a:ext>
            </a:extLst>
          </p:cNvPr>
          <p:cNvSpPr txBox="1"/>
          <p:nvPr/>
        </p:nvSpPr>
        <p:spPr>
          <a:xfrm>
            <a:off x="4494340" y="5593646"/>
            <a:ext cx="6805031"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40% si source </a:t>
            </a:r>
            <a:r>
              <a:rPr lang="fr-FR" sz="2000" dirty="0" err="1"/>
              <a:t>AgHBe</a:t>
            </a:r>
            <a:r>
              <a:rPr lang="fr-FR" sz="2000" dirty="0"/>
              <a:t>+ (fortement contagieux)</a:t>
            </a:r>
          </a:p>
          <a:p>
            <a:r>
              <a:rPr lang="fr-FR" sz="2000" dirty="0"/>
              <a:t>10% si source </a:t>
            </a:r>
            <a:r>
              <a:rPr lang="fr-FR" sz="2000" dirty="0" err="1"/>
              <a:t>AgHBe</a:t>
            </a:r>
            <a:r>
              <a:rPr lang="fr-FR" sz="2000" dirty="0"/>
              <a:t>–.</a:t>
            </a:r>
          </a:p>
        </p:txBody>
      </p:sp>
    </p:spTree>
    <p:extLst>
      <p:ext uri="{BB962C8B-B14F-4D97-AF65-F5344CB8AC3E}">
        <p14:creationId xmlns="" xmlns:p14="http://schemas.microsoft.com/office/powerpoint/2010/main" val="3377830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AE747BC-F6C5-F2FD-02BD-08BBB8C4BBA9}"/>
              </a:ext>
            </a:extLst>
          </p:cNvPr>
          <p:cNvSpPr>
            <a:spLocks noGrp="1"/>
          </p:cNvSpPr>
          <p:nvPr>
            <p:ph type="title"/>
          </p:nvPr>
        </p:nvSpPr>
        <p:spPr>
          <a:xfrm>
            <a:off x="838200" y="2305967"/>
            <a:ext cx="10515600" cy="1325563"/>
          </a:xfrm>
        </p:spPr>
        <p:txBody>
          <a:bodyPr>
            <a:noAutofit/>
          </a:bodyPr>
          <a:lstStyle/>
          <a:p>
            <a:r>
              <a:rPr lang="fr-FR" b="1" kern="100" dirty="0">
                <a:solidFill>
                  <a:schemeClr val="accent4"/>
                </a:solidFill>
              </a:rPr>
              <a:t>Question 11 : La transmission du VHB de la mère à l’enfant :</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Se fait principalement lors de l’accouchement.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Est fréquente in utero, même sans forte charge virale chez la mère.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Peut se produire via le lait maternel, mais le risque est faible.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Conduit rarement à un portage chronique chez le nouveau-né.</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Peut être réduite par la vaccination et l’injection d’immunoglobulines.</a:t>
            </a:r>
          </a:p>
        </p:txBody>
      </p:sp>
    </p:spTree>
    <p:extLst>
      <p:ext uri="{BB962C8B-B14F-4D97-AF65-F5344CB8AC3E}">
        <p14:creationId xmlns="" xmlns:p14="http://schemas.microsoft.com/office/powerpoint/2010/main" val="26418857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5196C15-78CC-6A73-56D1-27F3B187BAF5}"/>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E4C9A3A-73BD-6416-9FB8-DE31623F7D6A}"/>
              </a:ext>
            </a:extLst>
          </p:cNvPr>
          <p:cNvSpPr>
            <a:spLocks noGrp="1"/>
          </p:cNvSpPr>
          <p:nvPr>
            <p:ph type="title"/>
          </p:nvPr>
        </p:nvSpPr>
        <p:spPr>
          <a:xfrm>
            <a:off x="838200" y="2305967"/>
            <a:ext cx="10974572" cy="1325563"/>
          </a:xfrm>
        </p:spPr>
        <p:txBody>
          <a:bodyPr>
            <a:noAutofit/>
          </a:bodyPr>
          <a:lstStyle/>
          <a:p>
            <a:r>
              <a:rPr lang="fr-FR" b="1" kern="100" dirty="0">
                <a:solidFill>
                  <a:schemeClr val="accent4"/>
                </a:solidFill>
              </a:rPr>
              <a:t>Question 11 : La transmission du VHB de la mère à l’enfant :</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Se fait principalement lors de l’accouchement.</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Est fréquente in utero, même sans forte charge virale chez la mère.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a:t>
            </a:r>
            <a:r>
              <a:rPr lang="fr-FR" kern="100" dirty="0"/>
              <a:t> Conduit rarement à un portage chronique chez le nouveau-né.</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Peut être prévenue  par un traitement antiviral systématique chez la mère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Peut être réduite par la vaccination et l’injection d’immunoglobulines.</a:t>
            </a:r>
          </a:p>
        </p:txBody>
      </p:sp>
      <p:sp>
        <p:nvSpPr>
          <p:cNvPr id="3" name="ZoneTexte 2">
            <a:extLst>
              <a:ext uri="{FF2B5EF4-FFF2-40B4-BE49-F238E27FC236}">
                <a16:creationId xmlns="" xmlns:a16="http://schemas.microsoft.com/office/drawing/2014/main" id="{AF3A9C77-1546-A1E5-8422-711D76186991}"/>
              </a:ext>
            </a:extLst>
          </p:cNvPr>
          <p:cNvSpPr txBox="1"/>
          <p:nvPr/>
        </p:nvSpPr>
        <p:spPr>
          <a:xfrm>
            <a:off x="4113055" y="2260862"/>
            <a:ext cx="7699717" cy="1015663"/>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La transmission </a:t>
            </a:r>
            <a:r>
              <a:rPr lang="fr-FR" sz="2000" b="1" dirty="0"/>
              <a:t>in utero</a:t>
            </a:r>
            <a:r>
              <a:rPr lang="fr-FR" sz="2000" dirty="0"/>
              <a:t> est </a:t>
            </a:r>
            <a:r>
              <a:rPr lang="fr-FR" sz="2000" b="1" dirty="0"/>
              <a:t>rare</a:t>
            </a:r>
            <a:r>
              <a:rPr lang="fr-FR" sz="2000" dirty="0"/>
              <a:t> et survient surtout quand la charge virale maternelle est élevée </a:t>
            </a:r>
            <a:r>
              <a:rPr lang="fr-FR" sz="2000" dirty="0" smtClean="0"/>
              <a:t>et/ou </a:t>
            </a:r>
            <a:r>
              <a:rPr lang="fr-FR" sz="2000" dirty="0"/>
              <a:t>en cas d’</a:t>
            </a:r>
            <a:r>
              <a:rPr lang="fr-FR" sz="2000" dirty="0" err="1"/>
              <a:t>AgHBe</a:t>
            </a:r>
            <a:r>
              <a:rPr lang="fr-FR" sz="2000" dirty="0"/>
              <a:t> positif.</a:t>
            </a:r>
          </a:p>
        </p:txBody>
      </p:sp>
      <p:sp>
        <p:nvSpPr>
          <p:cNvPr id="4" name="ZoneTexte 3">
            <a:extLst>
              <a:ext uri="{FF2B5EF4-FFF2-40B4-BE49-F238E27FC236}">
                <a16:creationId xmlns="" xmlns:a16="http://schemas.microsoft.com/office/drawing/2014/main" id="{4AC1211E-EB55-177F-9290-8BA3675C1412}"/>
              </a:ext>
            </a:extLst>
          </p:cNvPr>
          <p:cNvSpPr txBox="1"/>
          <p:nvPr/>
        </p:nvSpPr>
        <p:spPr>
          <a:xfrm>
            <a:off x="4726510" y="1485634"/>
            <a:ext cx="6714122" cy="70788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La transmission est surtout </a:t>
            </a:r>
            <a:r>
              <a:rPr lang="fr-FR" sz="2000" b="1" dirty="0"/>
              <a:t>périnatale</a:t>
            </a:r>
            <a:r>
              <a:rPr lang="fr-FR" sz="2000" dirty="0"/>
              <a:t> (exposition aux sécrétions maternelles lors de l’accouchement</a:t>
            </a:r>
            <a:endParaRPr lang="fr-TN" sz="2000" dirty="0"/>
          </a:p>
        </p:txBody>
      </p:sp>
      <p:sp>
        <p:nvSpPr>
          <p:cNvPr id="5" name="ZoneTexte 4">
            <a:extLst>
              <a:ext uri="{FF2B5EF4-FFF2-40B4-BE49-F238E27FC236}">
                <a16:creationId xmlns="" xmlns:a16="http://schemas.microsoft.com/office/drawing/2014/main" id="{71C74953-1BC7-FC0C-C93A-60587E9E0A02}"/>
              </a:ext>
            </a:extLst>
          </p:cNvPr>
          <p:cNvSpPr txBox="1"/>
          <p:nvPr/>
        </p:nvSpPr>
        <p:spPr>
          <a:xfrm>
            <a:off x="3421938" y="3631530"/>
            <a:ext cx="7699717" cy="1323439"/>
          </a:xfrm>
          <a:prstGeom prst="rect">
            <a:avLst/>
          </a:prstGeom>
          <a:solidFill>
            <a:schemeClr val="bg2">
              <a:lumMod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solidFill>
                  <a:schemeClr val="tx1"/>
                </a:solidFill>
              </a:rPr>
              <a:t>N’est pas systématique, indiqué si ADN du VHB &gt; 200000UI/</a:t>
            </a:r>
            <a:r>
              <a:rPr lang="fr-FR" sz="2000" dirty="0" err="1">
                <a:solidFill>
                  <a:schemeClr val="tx1"/>
                </a:solidFill>
              </a:rPr>
              <a:t>mL</a:t>
            </a:r>
            <a:r>
              <a:rPr lang="fr-FR" sz="2000" dirty="0">
                <a:solidFill>
                  <a:schemeClr val="tx1"/>
                </a:solidFill>
              </a:rPr>
              <a:t> </a:t>
            </a:r>
            <a:r>
              <a:rPr lang="fr-FR" sz="2000" dirty="0" smtClean="0">
                <a:solidFill>
                  <a:schemeClr val="tx1"/>
                </a:solidFill>
              </a:rPr>
              <a:t>au 6e </a:t>
            </a:r>
            <a:r>
              <a:rPr lang="fr-FR" sz="2000" dirty="0">
                <a:solidFill>
                  <a:schemeClr val="tx1"/>
                </a:solidFill>
              </a:rPr>
              <a:t>mois </a:t>
            </a:r>
            <a:r>
              <a:rPr lang="fr-FR" sz="2000" dirty="0" smtClean="0">
                <a:solidFill>
                  <a:schemeClr val="tx1"/>
                </a:solidFill>
              </a:rPr>
              <a:t>de grossesse</a:t>
            </a:r>
            <a:r>
              <a:rPr lang="fr-FR" sz="2000" dirty="0" smtClean="0">
                <a:solidFill>
                  <a:schemeClr val="tx1"/>
                </a:solidFill>
              </a:rPr>
              <a:t> </a:t>
            </a:r>
            <a:r>
              <a:rPr lang="fr-FR" sz="2000" dirty="0">
                <a:solidFill>
                  <a:schemeClr val="tx1"/>
                </a:solidFill>
                <a:sym typeface="Wingdings" panose="05000000000000000000" pitchFamily="2" charset="2"/>
              </a:rPr>
              <a:t> </a:t>
            </a:r>
            <a:r>
              <a:rPr lang="fr-FR" sz="2000" dirty="0" err="1">
                <a:solidFill>
                  <a:schemeClr val="tx1"/>
                </a:solidFill>
              </a:rPr>
              <a:t>Ténofovir</a:t>
            </a:r>
            <a:r>
              <a:rPr lang="fr-FR" sz="2000" dirty="0">
                <a:solidFill>
                  <a:schemeClr val="tx1"/>
                </a:solidFill>
              </a:rPr>
              <a:t> 1 </a:t>
            </a:r>
            <a:r>
              <a:rPr lang="fr-FR" sz="2000" dirty="0" err="1">
                <a:solidFill>
                  <a:schemeClr val="tx1"/>
                </a:solidFill>
              </a:rPr>
              <a:t>cp</a:t>
            </a:r>
            <a:r>
              <a:rPr lang="fr-FR" sz="2000" dirty="0">
                <a:solidFill>
                  <a:schemeClr val="tx1"/>
                </a:solidFill>
              </a:rPr>
              <a:t>/j </a:t>
            </a:r>
            <a:r>
              <a:rPr lang="fr-FR" sz="2000" dirty="0" smtClean="0">
                <a:solidFill>
                  <a:srgbClr val="FF0000"/>
                </a:solidFill>
              </a:rPr>
              <a:t>(</a:t>
            </a:r>
            <a:r>
              <a:rPr lang="fr-FR" sz="2000" dirty="0" err="1" smtClean="0">
                <a:solidFill>
                  <a:srgbClr val="FF0000"/>
                </a:solidFill>
              </a:rPr>
              <a:t>entecavir</a:t>
            </a:r>
            <a:r>
              <a:rPr lang="fr-FR" sz="2000" dirty="0" smtClean="0">
                <a:solidFill>
                  <a:srgbClr val="FF0000"/>
                </a:solidFill>
              </a:rPr>
              <a:t> est CI) </a:t>
            </a:r>
            <a:r>
              <a:rPr lang="fr-FR" sz="2000" dirty="0" smtClean="0">
                <a:solidFill>
                  <a:schemeClr val="tx1"/>
                </a:solidFill>
              </a:rPr>
              <a:t>à </a:t>
            </a:r>
            <a:r>
              <a:rPr lang="fr-FR" sz="2000" dirty="0">
                <a:solidFill>
                  <a:schemeClr val="tx1"/>
                </a:solidFill>
              </a:rPr>
              <a:t>partir de  24ème SA et jusqu’à au moins 12 semaines après l’accouchement</a:t>
            </a:r>
            <a:r>
              <a:rPr lang="fr-FR" sz="2000" dirty="0"/>
              <a:t> </a:t>
            </a:r>
          </a:p>
        </p:txBody>
      </p:sp>
      <p:sp>
        <p:nvSpPr>
          <p:cNvPr id="6" name="ZoneTexte 5">
            <a:extLst>
              <a:ext uri="{FF2B5EF4-FFF2-40B4-BE49-F238E27FC236}">
                <a16:creationId xmlns="" xmlns:a16="http://schemas.microsoft.com/office/drawing/2014/main" id="{34007E60-A93B-70B3-C185-29165E6915F5}"/>
              </a:ext>
            </a:extLst>
          </p:cNvPr>
          <p:cNvSpPr txBox="1"/>
          <p:nvPr/>
        </p:nvSpPr>
        <p:spPr>
          <a:xfrm>
            <a:off x="3975395" y="5288204"/>
            <a:ext cx="7465490" cy="40011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Sérovaccination dans les 12-24 heures post accouchement</a:t>
            </a:r>
            <a:endParaRPr lang="fr-TN" sz="2000" dirty="0"/>
          </a:p>
        </p:txBody>
      </p:sp>
    </p:spTree>
    <p:extLst>
      <p:ext uri="{BB962C8B-B14F-4D97-AF65-F5344CB8AC3E}">
        <p14:creationId xmlns="" xmlns:p14="http://schemas.microsoft.com/office/powerpoint/2010/main" val="331874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2E97791-A2E7-8E88-1508-0A9875E242F1}"/>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12 : La transmission verticale du VHB est favorisée par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positivité de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 chez la mère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Une charge virale maternelle élevée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La présence d’anticorps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chez la mère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L’absence de prophylaxie néonatale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Une cytolyse chez la mère</a:t>
            </a:r>
          </a:p>
        </p:txBody>
      </p:sp>
    </p:spTree>
    <p:extLst>
      <p:ext uri="{BB962C8B-B14F-4D97-AF65-F5344CB8AC3E}">
        <p14:creationId xmlns="" xmlns:p14="http://schemas.microsoft.com/office/powerpoint/2010/main" val="41959026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19989CE-5C4F-4405-6E93-9366BA87B95C}"/>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932F4BD-E0A5-E1AA-C761-0E98A6930909}"/>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12 : La transmission verticale du VHB est favorisée par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La positivité de l’</a:t>
            </a:r>
            <a:r>
              <a:rPr lang="fr-FR" i="0" u="none" strike="noStrike" kern="100" baseline="0" dirty="0" err="1">
                <a:solidFill>
                  <a:schemeClr val="accent2"/>
                </a:solidFill>
                <a:latin typeface="Calibri" panose="020F0502020204030204" pitchFamily="34" charset="0"/>
              </a:rPr>
              <a:t>AgHBe</a:t>
            </a:r>
            <a:r>
              <a:rPr lang="fr-FR" i="0" u="none" strike="noStrike" kern="100" baseline="0" dirty="0">
                <a:solidFill>
                  <a:schemeClr val="accent2"/>
                </a:solidFill>
                <a:latin typeface="Calibri" panose="020F0502020204030204" pitchFamily="34" charset="0"/>
              </a:rPr>
              <a:t> chez la mère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Une charge virale maternelle élevée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La présence d’anticorps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chez la mère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D. L’absence de prophylaxie néonatale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Une cytolyse chez la mère</a:t>
            </a:r>
          </a:p>
        </p:txBody>
      </p:sp>
    </p:spTree>
    <p:extLst>
      <p:ext uri="{BB962C8B-B14F-4D97-AF65-F5344CB8AC3E}">
        <p14:creationId xmlns="" xmlns:p14="http://schemas.microsoft.com/office/powerpoint/2010/main" val="19605523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 name="Image 2">
            <a:extLst>
              <a:ext uri="{FF2B5EF4-FFF2-40B4-BE49-F238E27FC236}">
                <a16:creationId xmlns="" xmlns:a16="http://schemas.microsoft.com/office/drawing/2014/main" id="{ADF9B27C-5743-A12F-36AF-F8C003BB7B8B}"/>
              </a:ext>
            </a:extLst>
          </p:cNvPr>
          <p:cNvPicPr>
            <a:picLocks noChangeAspect="1"/>
          </p:cNvPicPr>
          <p:nvPr/>
        </p:nvPicPr>
        <p:blipFill>
          <a:blip r:embed="rId2"/>
          <a:stretch>
            <a:fillRect/>
          </a:stretch>
        </p:blipFill>
        <p:spPr>
          <a:xfrm>
            <a:off x="1349829" y="1524001"/>
            <a:ext cx="10067105" cy="35267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ZoneTexte 3"/>
          <p:cNvSpPr txBox="1"/>
          <p:nvPr/>
        </p:nvSpPr>
        <p:spPr>
          <a:xfrm>
            <a:off x="2579914" y="5225143"/>
            <a:ext cx="7282543"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dirty="0" smtClean="0"/>
              <a:t>Traitement </a:t>
            </a:r>
            <a:r>
              <a:rPr lang="fr-FR" dirty="0" err="1" smtClean="0"/>
              <a:t>anti-viral</a:t>
            </a:r>
            <a:r>
              <a:rPr lang="fr-FR" dirty="0" smtClean="0"/>
              <a:t> (</a:t>
            </a:r>
            <a:r>
              <a:rPr lang="fr-FR" dirty="0" err="1" smtClean="0"/>
              <a:t>tenofovir</a:t>
            </a:r>
            <a:r>
              <a:rPr lang="fr-FR" dirty="0" smtClean="0"/>
              <a:t>) si CV&gt;200000 UI/L au 6</a:t>
            </a:r>
            <a:r>
              <a:rPr lang="fr-FR" baseline="30000" dirty="0" smtClean="0"/>
              <a:t>e</a:t>
            </a:r>
            <a:r>
              <a:rPr lang="fr-FR" dirty="0" smtClean="0"/>
              <a:t> mois de grossesse</a:t>
            </a:r>
            <a:endParaRPr lang="fr-FR"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454402F-80E7-AC63-9B87-AB25BC2B3699}"/>
              </a:ext>
            </a:extLst>
          </p:cNvPr>
          <p:cNvSpPr>
            <a:spLocks noGrp="1"/>
          </p:cNvSpPr>
          <p:nvPr>
            <p:ph type="title"/>
          </p:nvPr>
        </p:nvSpPr>
        <p:spPr>
          <a:xfrm>
            <a:off x="838200" y="2561149"/>
            <a:ext cx="10515600" cy="1325563"/>
          </a:xfrm>
        </p:spPr>
        <p:txBody>
          <a:bodyPr>
            <a:noAutofit/>
          </a:bodyPr>
          <a:lstStyle/>
          <a:p>
            <a:r>
              <a:rPr lang="fr-FR" b="1" i="0" u="none" strike="noStrike" kern="100" baseline="0" dirty="0">
                <a:solidFill>
                  <a:schemeClr val="accent4"/>
                </a:solidFill>
                <a:latin typeface="Calibri" panose="020F0502020204030204" pitchFamily="34" charset="0"/>
              </a:rPr>
              <a:t>Question 13 : Concernant l’hépatite C, les modes de transmission les plus fréquents sont:</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Rapports sexuels non protégés</a:t>
            </a:r>
            <a:br>
              <a:rPr lang="fr-FR" i="0" u="none" strike="noStrike" kern="100" baseline="0" dirty="0">
                <a:latin typeface="Calibri" panose="020F0502020204030204" pitchFamily="34" charset="0"/>
              </a:rPr>
            </a:br>
            <a:r>
              <a:rPr lang="fr-FR" kern="100" dirty="0"/>
              <a:t>B. Transfusion avant l’instauration du dépistage systématique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Partage de matériel d’injection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Transmission périnatale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t>
            </a:r>
            <a:r>
              <a:rPr lang="fr-FR" kern="100" dirty="0"/>
              <a:t>Transmission  horizontale (intra-familiale)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8958505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05F7817-A14C-8981-77CA-C2B3C250518C}"/>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F2355DC2-176A-72E1-73C0-0B496BFD32EF}"/>
              </a:ext>
            </a:extLst>
          </p:cNvPr>
          <p:cNvSpPr>
            <a:spLocks noGrp="1"/>
          </p:cNvSpPr>
          <p:nvPr>
            <p:ph type="title"/>
          </p:nvPr>
        </p:nvSpPr>
        <p:spPr>
          <a:xfrm>
            <a:off x="838200" y="2561149"/>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13 : Concernant l’hépatite C, les modes de transmission les plus fréquents sont:</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Rapports sexuels non protégés</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Transfusion avant l’instauration du dépistage systématique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Partage de matériel d’injection</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Transmission périnatale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Transmission  horizontale (intra-familiale)</a:t>
            </a:r>
          </a:p>
        </p:txBody>
      </p:sp>
    </p:spTree>
    <p:extLst>
      <p:ext uri="{BB962C8B-B14F-4D97-AF65-F5344CB8AC3E}">
        <p14:creationId xmlns="" xmlns:p14="http://schemas.microsoft.com/office/powerpoint/2010/main" val="3854125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 xmlns:a16="http://schemas.microsoft.com/office/drawing/2014/main" id="{BE5A1848-77F4-5209-7B70-A5E0114E6C8E}"/>
              </a:ext>
            </a:extLst>
          </p:cNvPr>
          <p:cNvGraphicFramePr>
            <a:graphicFrameLocks noGrp="1"/>
          </p:cNvGraphicFramePr>
          <p:nvPr>
            <p:extLst>
              <p:ext uri="{D42A27DB-BD31-4B8C-83A1-F6EECF244321}">
                <p14:modId xmlns="" xmlns:p14="http://schemas.microsoft.com/office/powerpoint/2010/main" val="3238256497"/>
              </p:ext>
            </p:extLst>
          </p:nvPr>
        </p:nvGraphicFramePr>
        <p:xfrm>
          <a:off x="268147" y="57550"/>
          <a:ext cx="11655706" cy="6733361"/>
        </p:xfrm>
        <a:graphic>
          <a:graphicData uri="http://schemas.openxmlformats.org/drawingml/2006/table">
            <a:tbl>
              <a:tblPr>
                <a:tableStyleId>{775DCB02-9BB8-47FD-8907-85C794F793BA}</a:tableStyleId>
              </a:tblPr>
              <a:tblGrid>
                <a:gridCol w="3349482">
                  <a:extLst>
                    <a:ext uri="{9D8B030D-6E8A-4147-A177-3AD203B41FA5}">
                      <a16:colId xmlns="" xmlns:a16="http://schemas.microsoft.com/office/drawing/2014/main" val="3860570463"/>
                    </a:ext>
                  </a:extLst>
                </a:gridCol>
                <a:gridCol w="3742094">
                  <a:extLst>
                    <a:ext uri="{9D8B030D-6E8A-4147-A177-3AD203B41FA5}">
                      <a16:colId xmlns="" xmlns:a16="http://schemas.microsoft.com/office/drawing/2014/main" val="593806792"/>
                    </a:ext>
                  </a:extLst>
                </a:gridCol>
                <a:gridCol w="4564130">
                  <a:extLst>
                    <a:ext uri="{9D8B030D-6E8A-4147-A177-3AD203B41FA5}">
                      <a16:colId xmlns="" xmlns:a16="http://schemas.microsoft.com/office/drawing/2014/main" val="1233527016"/>
                    </a:ext>
                  </a:extLst>
                </a:gridCol>
              </a:tblGrid>
              <a:tr h="320043">
                <a:tc>
                  <a:txBody>
                    <a:bodyPr/>
                    <a:lstStyle/>
                    <a:p>
                      <a:pPr algn="ctr">
                        <a:buNone/>
                      </a:pPr>
                      <a:r>
                        <a:rPr lang="fr-FR" sz="1800" b="1" dirty="0"/>
                        <a:t>Mode de transmission</a:t>
                      </a:r>
                    </a:p>
                  </a:txBody>
                  <a:tcPr marL="57254" marR="57254" marT="28627" marB="28627" anchor="ctr"/>
                </a:tc>
                <a:tc>
                  <a:txBody>
                    <a:bodyPr/>
                    <a:lstStyle/>
                    <a:p>
                      <a:pPr algn="ctr">
                        <a:buNone/>
                      </a:pPr>
                      <a:r>
                        <a:rPr lang="fr-FR" sz="1800" b="1"/>
                        <a:t>Importance / fréquence</a:t>
                      </a:r>
                    </a:p>
                  </a:txBody>
                  <a:tcPr marL="57254" marR="57254" marT="28627" marB="28627" anchor="ctr"/>
                </a:tc>
                <a:tc>
                  <a:txBody>
                    <a:bodyPr/>
                    <a:lstStyle/>
                    <a:p>
                      <a:pPr algn="ctr">
                        <a:buNone/>
                      </a:pPr>
                      <a:r>
                        <a:rPr lang="fr-FR" sz="1800" b="1" dirty="0"/>
                        <a:t>Remarques</a:t>
                      </a:r>
                    </a:p>
                  </a:txBody>
                  <a:tcPr marL="57254" marR="57254" marT="28627" marB="28627" anchor="ctr"/>
                </a:tc>
                <a:extLst>
                  <a:ext uri="{0D108BD9-81ED-4DB2-BD59-A6C34878D82A}">
                    <a16:rowId xmlns="" xmlns:a16="http://schemas.microsoft.com/office/drawing/2014/main" val="2688049161"/>
                  </a:ext>
                </a:extLst>
              </a:tr>
              <a:tr h="1114385">
                <a:tc>
                  <a:txBody>
                    <a:bodyPr/>
                    <a:lstStyle/>
                    <a:p>
                      <a:pPr>
                        <a:buNone/>
                      </a:pPr>
                      <a:r>
                        <a:rPr lang="fr-FR" sz="1800" b="1" dirty="0"/>
                        <a:t>Transfusion sanguine </a:t>
                      </a:r>
                      <a:endParaRPr lang="fr-FR" sz="1800" dirty="0"/>
                    </a:p>
                  </a:txBody>
                  <a:tcPr marL="57254" marR="57254" marT="28627" marB="28627" anchor="ctr">
                    <a:solidFill>
                      <a:schemeClr val="tx2">
                        <a:lumMod val="10000"/>
                        <a:lumOff val="90000"/>
                      </a:schemeClr>
                    </a:solidFill>
                  </a:tcPr>
                </a:tc>
                <a:tc>
                  <a:txBody>
                    <a:bodyPr/>
                    <a:lstStyle/>
                    <a:p>
                      <a:pPr>
                        <a:buNone/>
                      </a:pPr>
                      <a:r>
                        <a:rPr lang="fr-FR" sz="1800" b="1"/>
                        <a:t>Fréquente avant 1992</a:t>
                      </a:r>
                      <a:r>
                        <a:rPr lang="fr-FR" sz="1800"/>
                        <a:t> (cause majeure historique)</a:t>
                      </a:r>
                    </a:p>
                  </a:txBody>
                  <a:tcPr marL="57254" marR="57254" marT="28627" marB="28627" anchor="ctr">
                    <a:solidFill>
                      <a:schemeClr val="tx2">
                        <a:lumMod val="10000"/>
                        <a:lumOff val="90000"/>
                      </a:schemeClr>
                    </a:solidFill>
                  </a:tcPr>
                </a:tc>
                <a:tc>
                  <a:txBody>
                    <a:bodyPr/>
                    <a:lstStyle/>
                    <a:p>
                      <a:pPr>
                        <a:buNone/>
                      </a:pPr>
                      <a:r>
                        <a:rPr lang="fr-FR" sz="1800" dirty="0"/>
                        <a:t>Aujourd’hui rare grâce au dépistage des dons de sang (reste un </a:t>
                      </a:r>
                      <a:r>
                        <a:rPr lang="fr-FR" sz="1800" b="1" dirty="0"/>
                        <a:t>risque résiduel</a:t>
                      </a:r>
                      <a:r>
                        <a:rPr lang="fr-FR" sz="1800" dirty="0"/>
                        <a:t> lié à la fenêtre sérologique).</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1317174944"/>
                  </a:ext>
                </a:extLst>
              </a:tr>
              <a:tr h="849604">
                <a:tc>
                  <a:txBody>
                    <a:bodyPr/>
                    <a:lstStyle/>
                    <a:p>
                      <a:pPr>
                        <a:buNone/>
                      </a:pPr>
                      <a:r>
                        <a:rPr lang="fr-FR" sz="1800" b="1"/>
                        <a:t>Partage de matériel d’injection (toxicomanie IV)</a:t>
                      </a:r>
                      <a:endParaRPr lang="fr-FR" sz="1800"/>
                    </a:p>
                  </a:txBody>
                  <a:tcPr marL="57254" marR="57254" marT="28627" marB="28627" anchor="ctr">
                    <a:solidFill>
                      <a:schemeClr val="tx2">
                        <a:lumMod val="10000"/>
                        <a:lumOff val="90000"/>
                      </a:schemeClr>
                    </a:solidFill>
                  </a:tcPr>
                </a:tc>
                <a:tc>
                  <a:txBody>
                    <a:bodyPr/>
                    <a:lstStyle/>
                    <a:p>
                      <a:pPr>
                        <a:buNone/>
                      </a:pPr>
                      <a:r>
                        <a:rPr lang="fr-FR" sz="1800" b="1" dirty="0">
                          <a:solidFill>
                            <a:srgbClr val="FF0000"/>
                          </a:solidFill>
                        </a:rPr>
                        <a:t>Mode principal </a:t>
                      </a:r>
                      <a:r>
                        <a:rPr lang="fr-FR" sz="1800" b="1" dirty="0"/>
                        <a:t>actuellement</a:t>
                      </a:r>
                      <a:endParaRPr lang="fr-FR" sz="1800" dirty="0"/>
                    </a:p>
                  </a:txBody>
                  <a:tcPr marL="57254" marR="57254" marT="28627" marB="28627" anchor="ctr">
                    <a:solidFill>
                      <a:schemeClr val="tx2">
                        <a:lumMod val="10000"/>
                        <a:lumOff val="90000"/>
                      </a:schemeClr>
                    </a:solidFill>
                  </a:tcPr>
                </a:tc>
                <a:tc>
                  <a:txBody>
                    <a:bodyPr/>
                    <a:lstStyle/>
                    <a:p>
                      <a:pPr>
                        <a:buNone/>
                      </a:pPr>
                      <a:r>
                        <a:rPr lang="fr-FR" sz="1800" dirty="0"/>
                        <a:t>Transmission très efficace par le sang ; concerne aussi le matériel de sniff si souillé.</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2536776733"/>
                  </a:ext>
                </a:extLst>
              </a:tr>
              <a:tr h="1114385">
                <a:tc>
                  <a:txBody>
                    <a:bodyPr/>
                    <a:lstStyle/>
                    <a:p>
                      <a:pPr>
                        <a:buNone/>
                      </a:pPr>
                      <a:r>
                        <a:rPr lang="fr-FR" sz="1800" b="1" dirty="0"/>
                        <a:t>Expositions nosocomiales / médicales</a:t>
                      </a:r>
                      <a:r>
                        <a:rPr lang="fr-FR" sz="1800" dirty="0"/>
                        <a:t> (hémodialyse, endoscopie, chirurgie..)</a:t>
                      </a:r>
                    </a:p>
                  </a:txBody>
                  <a:tcPr marL="57254" marR="57254" marT="28627" marB="28627" anchor="ctr">
                    <a:solidFill>
                      <a:schemeClr val="tx2">
                        <a:lumMod val="10000"/>
                        <a:lumOff val="90000"/>
                      </a:schemeClr>
                    </a:solidFill>
                  </a:tcPr>
                </a:tc>
                <a:tc>
                  <a:txBody>
                    <a:bodyPr/>
                    <a:lstStyle/>
                    <a:p>
                      <a:pPr>
                        <a:buNone/>
                      </a:pPr>
                      <a:r>
                        <a:rPr lang="fr-FR" sz="1800" b="1" dirty="0" smtClean="0">
                          <a:solidFill>
                            <a:srgbClr val="FF0000"/>
                          </a:solidFill>
                        </a:rPr>
                        <a:t>Importante </a:t>
                      </a:r>
                      <a:r>
                        <a:rPr lang="fr-FR" sz="1800" b="1" dirty="0">
                          <a:solidFill>
                            <a:srgbClr val="FF0000"/>
                          </a:solidFill>
                        </a:rPr>
                        <a:t>dans les pays en développement</a:t>
                      </a:r>
                      <a:endParaRPr lang="fr-FR" sz="1800" dirty="0">
                        <a:solidFill>
                          <a:srgbClr val="FF0000"/>
                        </a:solidFill>
                      </a:endParaRPr>
                    </a:p>
                  </a:txBody>
                  <a:tcPr marL="57254" marR="57254" marT="28627" marB="28627" anchor="ctr">
                    <a:solidFill>
                      <a:schemeClr val="tx2">
                        <a:lumMod val="10000"/>
                        <a:lumOff val="90000"/>
                      </a:schemeClr>
                    </a:solidFill>
                  </a:tcPr>
                </a:tc>
                <a:tc>
                  <a:txBody>
                    <a:bodyPr/>
                    <a:lstStyle/>
                    <a:p>
                      <a:pPr>
                        <a:buNone/>
                      </a:pPr>
                      <a:r>
                        <a:rPr lang="fr-FR" sz="1800"/>
                        <a:t>Dépend de la rigueur des mesures d’hygiène et de stérilisation.</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671235660"/>
                  </a:ext>
                </a:extLst>
              </a:tr>
              <a:tr h="1114385">
                <a:tc>
                  <a:txBody>
                    <a:bodyPr/>
                    <a:lstStyle/>
                    <a:p>
                      <a:pPr>
                        <a:buNone/>
                      </a:pPr>
                      <a:r>
                        <a:rPr lang="fr-FR" sz="1800" b="1"/>
                        <a:t>Transmission sexuelle</a:t>
                      </a:r>
                      <a:endParaRPr lang="fr-FR" sz="1800"/>
                    </a:p>
                  </a:txBody>
                  <a:tcPr marL="57254" marR="57254" marT="28627" marB="28627" anchor="ctr">
                    <a:solidFill>
                      <a:schemeClr val="tx2">
                        <a:lumMod val="10000"/>
                        <a:lumOff val="90000"/>
                      </a:schemeClr>
                    </a:solidFill>
                  </a:tcPr>
                </a:tc>
                <a:tc>
                  <a:txBody>
                    <a:bodyPr/>
                    <a:lstStyle/>
                    <a:p>
                      <a:pPr>
                        <a:buNone/>
                      </a:pPr>
                      <a:r>
                        <a:rPr lang="fr-FR" sz="1800" b="1"/>
                        <a:t>Faible</a:t>
                      </a:r>
                      <a:r>
                        <a:rPr lang="fr-FR" sz="1800"/>
                        <a:t> (≈ 5% des cas)</a:t>
                      </a:r>
                    </a:p>
                  </a:txBody>
                  <a:tcPr marL="57254" marR="57254" marT="28627" marB="28627" anchor="ctr">
                    <a:solidFill>
                      <a:schemeClr val="tx2">
                        <a:lumMod val="10000"/>
                        <a:lumOff val="90000"/>
                      </a:schemeClr>
                    </a:solidFill>
                  </a:tcPr>
                </a:tc>
                <a:tc>
                  <a:txBody>
                    <a:bodyPr/>
                    <a:lstStyle/>
                    <a:p>
                      <a:pPr>
                        <a:buNone/>
                      </a:pPr>
                      <a:r>
                        <a:rPr lang="fr-FR" sz="1800" dirty="0"/>
                        <a:t>Risque plus élevé si co-infection VIH, IST, pratiques sexuelles traumatiques ou multiplicité des partenaires.</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2657345420"/>
                  </a:ext>
                </a:extLst>
              </a:tr>
              <a:tr h="1298204">
                <a:tc>
                  <a:txBody>
                    <a:bodyPr/>
                    <a:lstStyle/>
                    <a:p>
                      <a:pPr>
                        <a:buNone/>
                      </a:pPr>
                      <a:r>
                        <a:rPr lang="fr-FR" sz="1800" b="1"/>
                        <a:t>Transmission verticale (mère-enfant)</a:t>
                      </a:r>
                      <a:endParaRPr lang="fr-FR" sz="1800"/>
                    </a:p>
                  </a:txBody>
                  <a:tcPr marL="57254" marR="57254" marT="28627" marB="28627" anchor="ctr">
                    <a:solidFill>
                      <a:schemeClr val="tx2">
                        <a:lumMod val="10000"/>
                        <a:lumOff val="90000"/>
                      </a:schemeClr>
                    </a:solidFill>
                  </a:tcPr>
                </a:tc>
                <a:tc>
                  <a:txBody>
                    <a:bodyPr/>
                    <a:lstStyle/>
                    <a:p>
                      <a:pPr>
                        <a:buNone/>
                      </a:pPr>
                      <a:r>
                        <a:rPr lang="fr-FR" sz="1800" b="1"/>
                        <a:t>Faible</a:t>
                      </a:r>
                      <a:r>
                        <a:rPr lang="fr-FR" sz="1800"/>
                        <a:t> (≈ 5% si mère VHC+, jusqu’à 15% si co-infection VIH)</a:t>
                      </a:r>
                    </a:p>
                  </a:txBody>
                  <a:tcPr marL="57254" marR="57254" marT="28627" marB="28627" anchor="ctr">
                    <a:solidFill>
                      <a:schemeClr val="tx2">
                        <a:lumMod val="10000"/>
                        <a:lumOff val="90000"/>
                      </a:schemeClr>
                    </a:solidFill>
                  </a:tcPr>
                </a:tc>
                <a:tc>
                  <a:txBody>
                    <a:bodyPr/>
                    <a:lstStyle/>
                    <a:p>
                      <a:pPr>
                        <a:buNone/>
                      </a:pPr>
                      <a:r>
                        <a:rPr lang="fr-FR" sz="1800" dirty="0"/>
                        <a:t>Se fait surtout </a:t>
                      </a:r>
                      <a:r>
                        <a:rPr lang="fr-FR" sz="1800" b="1" dirty="0"/>
                        <a:t>au moment de l’accouchement</a:t>
                      </a:r>
                      <a:r>
                        <a:rPr lang="fr-FR" sz="1800" dirty="0"/>
                        <a:t>. Pas de contre-indication à l’allaitement sauf mamelons fissurés/sanglants.</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200762208"/>
                  </a:ext>
                </a:extLst>
              </a:tr>
              <a:tr h="849604">
                <a:tc>
                  <a:txBody>
                    <a:bodyPr/>
                    <a:lstStyle/>
                    <a:p>
                      <a:pPr>
                        <a:buNone/>
                      </a:pPr>
                      <a:r>
                        <a:rPr lang="fr-FR" sz="1800" b="1"/>
                        <a:t>Accidents d’exposition au sang (AES)</a:t>
                      </a:r>
                      <a:r>
                        <a:rPr lang="fr-FR" sz="1800"/>
                        <a:t> (piqûres, coupures, projections)</a:t>
                      </a:r>
                    </a:p>
                  </a:txBody>
                  <a:tcPr marL="57254" marR="57254" marT="28627" marB="28627" anchor="ctr">
                    <a:solidFill>
                      <a:schemeClr val="tx2">
                        <a:lumMod val="10000"/>
                        <a:lumOff val="90000"/>
                      </a:schemeClr>
                    </a:solidFill>
                  </a:tcPr>
                </a:tc>
                <a:tc>
                  <a:txBody>
                    <a:bodyPr/>
                    <a:lstStyle/>
                    <a:p>
                      <a:pPr>
                        <a:buNone/>
                      </a:pPr>
                      <a:r>
                        <a:rPr lang="fr-FR" sz="1800" b="1"/>
                        <a:t>Risque faible mais réel</a:t>
                      </a:r>
                      <a:endParaRPr lang="fr-FR" sz="1800"/>
                    </a:p>
                  </a:txBody>
                  <a:tcPr marL="57254" marR="57254" marT="28627" marB="28627" anchor="ctr">
                    <a:solidFill>
                      <a:schemeClr val="tx2">
                        <a:lumMod val="10000"/>
                        <a:lumOff val="90000"/>
                      </a:schemeClr>
                    </a:solidFill>
                  </a:tcPr>
                </a:tc>
                <a:tc>
                  <a:txBody>
                    <a:bodyPr/>
                    <a:lstStyle/>
                    <a:p>
                      <a:pPr>
                        <a:buNone/>
                      </a:pPr>
                      <a:r>
                        <a:rPr lang="fr-FR" sz="1800" dirty="0"/>
                        <a:t>Risque estimé ≈ 1,8% après AES avec source VHC+.</a:t>
                      </a:r>
                    </a:p>
                  </a:txBody>
                  <a:tcPr marL="57254" marR="57254" marT="28627" marB="28627" anchor="ctr">
                    <a:solidFill>
                      <a:schemeClr val="tx2">
                        <a:lumMod val="10000"/>
                        <a:lumOff val="90000"/>
                      </a:schemeClr>
                    </a:solidFill>
                  </a:tcPr>
                </a:tc>
                <a:extLst>
                  <a:ext uri="{0D108BD9-81ED-4DB2-BD59-A6C34878D82A}">
                    <a16:rowId xmlns="" xmlns:a16="http://schemas.microsoft.com/office/drawing/2014/main" val="298321032"/>
                  </a:ext>
                </a:extLst>
              </a:tr>
            </a:tbl>
          </a:graphicData>
        </a:graphic>
      </p:graphicFrame>
    </p:spTree>
    <p:extLst>
      <p:ext uri="{BB962C8B-B14F-4D97-AF65-F5344CB8AC3E}">
        <p14:creationId xmlns="" xmlns:p14="http://schemas.microsoft.com/office/powerpoint/2010/main" val="40235922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505258F-3CC2-276A-F16C-318A57222B97}"/>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AB0D6B4-E91A-5A1A-688D-760107853B4F}"/>
              </a:ext>
            </a:extLst>
          </p:cNvPr>
          <p:cNvSpPr>
            <a:spLocks noGrp="1"/>
          </p:cNvSpPr>
          <p:nvPr>
            <p:ph type="title"/>
          </p:nvPr>
        </p:nvSpPr>
        <p:spPr>
          <a:xfrm>
            <a:off x="838200" y="2369762"/>
            <a:ext cx="10515600" cy="1325563"/>
          </a:xfrm>
        </p:spPr>
        <p:txBody>
          <a:bodyPr>
            <a:noAutofit/>
          </a:bodyPr>
          <a:lstStyle/>
          <a:p>
            <a:r>
              <a:rPr lang="fr-FR" b="1" kern="100" dirty="0">
                <a:solidFill>
                  <a:schemeClr val="accent4"/>
                </a:solidFill>
              </a:rPr>
              <a:t>Question 14 : En zones faiblement endémiques, le virus de l’hépatite E est principalement transmis par:</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a:t>
            </a:r>
            <a:r>
              <a:rPr lang="fr-FR" kern="100" dirty="0"/>
              <a:t>L</a:t>
            </a:r>
            <a:r>
              <a:rPr lang="fr-FR" i="0" u="none" strike="noStrike" kern="100" baseline="0" dirty="0">
                <a:latin typeface="Calibri" panose="020F0502020204030204" pitchFamily="34" charset="0"/>
              </a:rPr>
              <a:t>a consommation de viandes insuffisamment cuites</a:t>
            </a:r>
            <a:br>
              <a:rPr lang="fr-FR" i="0" u="none" strike="noStrike" kern="100" baseline="0" dirty="0">
                <a:latin typeface="Calibri" panose="020F0502020204030204" pitchFamily="34" charset="0"/>
              </a:rPr>
            </a:br>
            <a:r>
              <a:rPr lang="fr-FR" kern="100" dirty="0"/>
              <a:t>B. Transfusion sanguine.</a:t>
            </a:r>
            <a:br>
              <a:rPr lang="fr-FR" kern="100" dirty="0"/>
            </a:br>
            <a:r>
              <a:rPr lang="fr-FR" kern="100" dirty="0"/>
              <a:t>C. De  l’eau contaminée.</a:t>
            </a:r>
            <a:br>
              <a:rPr lang="fr-FR" kern="100" dirty="0"/>
            </a:br>
            <a:r>
              <a:rPr lang="fr-FR" kern="100" dirty="0"/>
              <a:t>D. Contact avec un animal infecté.</a:t>
            </a:r>
            <a:br>
              <a:rPr lang="fr-FR" kern="100" dirty="0"/>
            </a:br>
            <a:r>
              <a:rPr lang="fr-FR" kern="100" dirty="0"/>
              <a:t>E. Voie transplacentaire.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8347768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AEBA60-F204-19D3-4DBC-7DA4495FBFBC}"/>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0513F9A6-0383-57CD-6B4F-8965B75DE7C1}"/>
              </a:ext>
            </a:extLst>
          </p:cNvPr>
          <p:cNvSpPr>
            <a:spLocks noGrp="1"/>
          </p:cNvSpPr>
          <p:nvPr>
            <p:ph type="title"/>
          </p:nvPr>
        </p:nvSpPr>
        <p:spPr>
          <a:xfrm>
            <a:off x="838200" y="2369762"/>
            <a:ext cx="10515600" cy="1325563"/>
          </a:xfrm>
        </p:spPr>
        <p:txBody>
          <a:bodyPr>
            <a:noAutofit/>
          </a:bodyPr>
          <a:lstStyle/>
          <a:p>
            <a:r>
              <a:rPr lang="fr-FR" b="1" kern="100" dirty="0">
                <a:solidFill>
                  <a:schemeClr val="accent4"/>
                </a:solidFill>
              </a:rPr>
              <a:t>Question 14 : En zones faiblement endémiques, le virus de l’hépatite E est principalement transmis par:</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a:t>
            </a:r>
            <a:r>
              <a:rPr lang="fr-FR" kern="100" dirty="0">
                <a:solidFill>
                  <a:schemeClr val="accent2"/>
                </a:solidFill>
              </a:rPr>
              <a:t>L</a:t>
            </a:r>
            <a:r>
              <a:rPr lang="fr-FR" i="0" u="none" strike="noStrike" kern="100" baseline="0" dirty="0">
                <a:solidFill>
                  <a:schemeClr val="accent2"/>
                </a:solidFill>
                <a:latin typeface="Calibri" panose="020F0502020204030204" pitchFamily="34" charset="0"/>
              </a:rPr>
              <a:t>a consommation de viandes insuffisamment cuites</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kern="100" dirty="0"/>
              <a:t>B. Transfusion sanguine.</a:t>
            </a:r>
            <a:br>
              <a:rPr lang="fr-FR" kern="100" dirty="0"/>
            </a:br>
            <a:r>
              <a:rPr lang="fr-FR" kern="100" dirty="0"/>
              <a:t>C. De  l’eau contaminée.</a:t>
            </a:r>
            <a:br>
              <a:rPr lang="fr-FR" kern="100" dirty="0"/>
            </a:br>
            <a:r>
              <a:rPr lang="fr-FR" kern="100" dirty="0">
                <a:solidFill>
                  <a:schemeClr val="accent2"/>
                </a:solidFill>
              </a:rPr>
              <a:t>D. Contact avec un animal infecté.</a:t>
            </a:r>
            <a:br>
              <a:rPr lang="fr-FR" kern="100" dirty="0">
                <a:solidFill>
                  <a:schemeClr val="accent2"/>
                </a:solidFill>
              </a:rPr>
            </a:br>
            <a:r>
              <a:rPr lang="fr-FR" kern="100" dirty="0"/>
              <a:t>E. Voie transplacentaire.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10777395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 xmlns:a16="http://schemas.microsoft.com/office/drawing/2014/main" id="{67E573D6-1EA5-A72E-E998-F0C63F126AE6}"/>
              </a:ext>
            </a:extLst>
          </p:cNvPr>
          <p:cNvGraphicFramePr>
            <a:graphicFrameLocks noGrp="1"/>
          </p:cNvGraphicFramePr>
          <p:nvPr>
            <p:extLst>
              <p:ext uri="{D42A27DB-BD31-4B8C-83A1-F6EECF244321}">
                <p14:modId xmlns="" xmlns:p14="http://schemas.microsoft.com/office/powerpoint/2010/main" val="2155154988"/>
              </p:ext>
            </p:extLst>
          </p:nvPr>
        </p:nvGraphicFramePr>
        <p:xfrm>
          <a:off x="544009" y="162046"/>
          <a:ext cx="11424212" cy="6371362"/>
        </p:xfrm>
        <a:graphic>
          <a:graphicData uri="http://schemas.openxmlformats.org/drawingml/2006/table">
            <a:tbl>
              <a:tblPr>
                <a:tableStyleId>{775DCB02-9BB8-47FD-8907-85C794F793BA}</a:tableStyleId>
              </a:tblPr>
              <a:tblGrid>
                <a:gridCol w="2856053">
                  <a:extLst>
                    <a:ext uri="{9D8B030D-6E8A-4147-A177-3AD203B41FA5}">
                      <a16:colId xmlns="" xmlns:a16="http://schemas.microsoft.com/office/drawing/2014/main" val="1463457623"/>
                    </a:ext>
                  </a:extLst>
                </a:gridCol>
                <a:gridCol w="2856053">
                  <a:extLst>
                    <a:ext uri="{9D8B030D-6E8A-4147-A177-3AD203B41FA5}">
                      <a16:colId xmlns="" xmlns:a16="http://schemas.microsoft.com/office/drawing/2014/main" val="4022612898"/>
                    </a:ext>
                  </a:extLst>
                </a:gridCol>
                <a:gridCol w="2856053">
                  <a:extLst>
                    <a:ext uri="{9D8B030D-6E8A-4147-A177-3AD203B41FA5}">
                      <a16:colId xmlns="" xmlns:a16="http://schemas.microsoft.com/office/drawing/2014/main" val="306884813"/>
                    </a:ext>
                  </a:extLst>
                </a:gridCol>
                <a:gridCol w="2856053">
                  <a:extLst>
                    <a:ext uri="{9D8B030D-6E8A-4147-A177-3AD203B41FA5}">
                      <a16:colId xmlns="" xmlns:a16="http://schemas.microsoft.com/office/drawing/2014/main" val="988058232"/>
                    </a:ext>
                  </a:extLst>
                </a:gridCol>
              </a:tblGrid>
              <a:tr h="263532">
                <a:tc>
                  <a:txBody>
                    <a:bodyPr/>
                    <a:lstStyle/>
                    <a:p>
                      <a:pPr algn="ctr">
                        <a:buNone/>
                      </a:pPr>
                      <a:r>
                        <a:rPr lang="fr-FR" sz="1600" b="1" dirty="0"/>
                        <a:t>Mode de transmission</a:t>
                      </a:r>
                    </a:p>
                  </a:txBody>
                  <a:tcPr marL="49447" marR="49447" marT="24724" marB="24724" anchor="ctr"/>
                </a:tc>
                <a:tc>
                  <a:txBody>
                    <a:bodyPr/>
                    <a:lstStyle/>
                    <a:p>
                      <a:pPr algn="ctr">
                        <a:buNone/>
                      </a:pPr>
                      <a:r>
                        <a:rPr lang="fr-FR" sz="1600" b="1" dirty="0"/>
                        <a:t>Génotypes concernés</a:t>
                      </a:r>
                    </a:p>
                  </a:txBody>
                  <a:tcPr marL="49447" marR="49447" marT="24724" marB="24724" anchor="ctr"/>
                </a:tc>
                <a:tc>
                  <a:txBody>
                    <a:bodyPr/>
                    <a:lstStyle/>
                    <a:p>
                      <a:pPr algn="ctr">
                        <a:buNone/>
                      </a:pPr>
                      <a:r>
                        <a:rPr lang="fr-FR" sz="1600" b="1" dirty="0"/>
                        <a:t>Importance / fréquence</a:t>
                      </a:r>
                    </a:p>
                  </a:txBody>
                  <a:tcPr marL="49447" marR="49447" marT="24724" marB="24724" anchor="ctr"/>
                </a:tc>
                <a:tc>
                  <a:txBody>
                    <a:bodyPr/>
                    <a:lstStyle/>
                    <a:p>
                      <a:pPr algn="ctr">
                        <a:buNone/>
                      </a:pPr>
                      <a:r>
                        <a:rPr lang="fr-FR" sz="1600" b="1" dirty="0"/>
                        <a:t>Remarques</a:t>
                      </a:r>
                    </a:p>
                  </a:txBody>
                  <a:tcPr marL="49447" marR="49447" marT="24724" marB="24724" anchor="ctr"/>
                </a:tc>
                <a:extLst>
                  <a:ext uri="{0D108BD9-81ED-4DB2-BD59-A6C34878D82A}">
                    <a16:rowId xmlns="" xmlns:a16="http://schemas.microsoft.com/office/drawing/2014/main" val="1156711902"/>
                  </a:ext>
                </a:extLst>
              </a:tr>
              <a:tr h="1258394">
                <a:tc>
                  <a:txBody>
                    <a:bodyPr/>
                    <a:lstStyle/>
                    <a:p>
                      <a:pPr>
                        <a:buNone/>
                      </a:pPr>
                      <a:r>
                        <a:rPr lang="fr-FR" sz="1600" b="1" dirty="0"/>
                        <a:t>Voie entérale (</a:t>
                      </a:r>
                      <a:r>
                        <a:rPr lang="fr-FR" sz="1600" b="1" dirty="0" err="1"/>
                        <a:t>féco</a:t>
                      </a:r>
                      <a:r>
                        <a:rPr lang="fr-FR" sz="1600" b="1" dirty="0"/>
                        <a:t>-orale, eau/aliments souillés)</a:t>
                      </a:r>
                      <a:endParaRPr lang="fr-FR" sz="1600" dirty="0"/>
                    </a:p>
                  </a:txBody>
                  <a:tcPr marL="49447" marR="49447" marT="24724" marB="24724" anchor="ctr">
                    <a:solidFill>
                      <a:schemeClr val="tx2">
                        <a:lumMod val="10000"/>
                        <a:lumOff val="90000"/>
                      </a:schemeClr>
                    </a:solidFill>
                  </a:tcPr>
                </a:tc>
                <a:tc>
                  <a:txBody>
                    <a:bodyPr/>
                    <a:lstStyle/>
                    <a:p>
                      <a:pPr>
                        <a:buNone/>
                      </a:pPr>
                      <a:r>
                        <a:rPr lang="fr-FR" sz="1600" dirty="0"/>
                        <a:t>Génotypes 1–2 (</a:t>
                      </a:r>
                      <a:r>
                        <a:rPr lang="fr-FR" sz="1600" b="1" dirty="0"/>
                        <a:t>humains</a:t>
                      </a:r>
                      <a:r>
                        <a:rPr lang="fr-FR" sz="1600" dirty="0"/>
                        <a:t>)</a:t>
                      </a:r>
                    </a:p>
                  </a:txBody>
                  <a:tcPr marL="49447" marR="49447" marT="24724" marB="24724" anchor="ctr">
                    <a:solidFill>
                      <a:schemeClr val="tx2">
                        <a:lumMod val="10000"/>
                        <a:lumOff val="90000"/>
                      </a:schemeClr>
                    </a:solidFill>
                  </a:tcPr>
                </a:tc>
                <a:tc>
                  <a:txBody>
                    <a:bodyPr/>
                    <a:lstStyle/>
                    <a:p>
                      <a:pPr>
                        <a:buNone/>
                      </a:pPr>
                      <a:r>
                        <a:rPr lang="fr-FR" sz="1600" b="1"/>
                        <a:t>Mode principal en zones d’endémie (Asie, Afrique)</a:t>
                      </a:r>
                      <a:endParaRPr lang="fr-FR" sz="1600"/>
                    </a:p>
                  </a:txBody>
                  <a:tcPr marL="49447" marR="49447" marT="24724" marB="24724" anchor="ctr">
                    <a:solidFill>
                      <a:schemeClr val="tx2">
                        <a:lumMod val="10000"/>
                        <a:lumOff val="90000"/>
                      </a:schemeClr>
                    </a:solidFill>
                  </a:tcPr>
                </a:tc>
                <a:tc>
                  <a:txBody>
                    <a:bodyPr/>
                    <a:lstStyle/>
                    <a:p>
                      <a:pPr>
                        <a:buNone/>
                      </a:pPr>
                      <a:r>
                        <a:rPr lang="fr-FR" sz="1600"/>
                        <a:t>Contamination surtout par ingestion d’</a:t>
                      </a:r>
                      <a:r>
                        <a:rPr lang="fr-FR" sz="1600" b="1"/>
                        <a:t>eau contaminée</a:t>
                      </a:r>
                      <a:r>
                        <a:rPr lang="fr-FR" sz="1600"/>
                        <a:t>. Plus rarement par aliments souillés (fruits, légumes).</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1045181777"/>
                  </a:ext>
                </a:extLst>
              </a:tr>
              <a:tr h="860449">
                <a:tc>
                  <a:txBody>
                    <a:bodyPr/>
                    <a:lstStyle/>
                    <a:p>
                      <a:pPr>
                        <a:buNone/>
                      </a:pPr>
                      <a:r>
                        <a:rPr lang="fr-FR" sz="1600" b="1"/>
                        <a:t>Manuportage (contact interhumain direct)</a:t>
                      </a:r>
                      <a:endParaRPr lang="fr-FR" sz="1600"/>
                    </a:p>
                  </a:txBody>
                  <a:tcPr marL="49447" marR="49447" marT="24724" marB="24724" anchor="ctr">
                    <a:solidFill>
                      <a:schemeClr val="tx2">
                        <a:lumMod val="10000"/>
                        <a:lumOff val="90000"/>
                      </a:schemeClr>
                    </a:solidFill>
                  </a:tcPr>
                </a:tc>
                <a:tc>
                  <a:txBody>
                    <a:bodyPr/>
                    <a:lstStyle/>
                    <a:p>
                      <a:pPr>
                        <a:buNone/>
                      </a:pPr>
                      <a:r>
                        <a:rPr lang="fr-FR" sz="1600" dirty="0"/>
                        <a:t>G1–2</a:t>
                      </a:r>
                    </a:p>
                  </a:txBody>
                  <a:tcPr marL="49447" marR="49447" marT="24724" marB="24724" anchor="ctr">
                    <a:solidFill>
                      <a:schemeClr val="tx2">
                        <a:lumMod val="10000"/>
                        <a:lumOff val="90000"/>
                      </a:schemeClr>
                    </a:solidFill>
                  </a:tcPr>
                </a:tc>
                <a:tc>
                  <a:txBody>
                    <a:bodyPr/>
                    <a:lstStyle/>
                    <a:p>
                      <a:pPr>
                        <a:buNone/>
                      </a:pPr>
                      <a:r>
                        <a:rPr lang="fr-FR" sz="1600" b="1"/>
                        <a:t>Rare</a:t>
                      </a:r>
                      <a:endParaRPr lang="fr-FR" sz="1600"/>
                    </a:p>
                  </a:txBody>
                  <a:tcPr marL="49447" marR="49447" marT="24724" marB="24724" anchor="ctr">
                    <a:solidFill>
                      <a:schemeClr val="tx2">
                        <a:lumMod val="10000"/>
                        <a:lumOff val="90000"/>
                      </a:schemeClr>
                    </a:solidFill>
                  </a:tcPr>
                </a:tc>
                <a:tc>
                  <a:txBody>
                    <a:bodyPr/>
                    <a:lstStyle/>
                    <a:p>
                      <a:pPr>
                        <a:buNone/>
                      </a:pPr>
                      <a:r>
                        <a:rPr lang="fr-FR" sz="1600"/>
                        <a:t>Possible mais beaucoup moins fréquent que pour le VHA.</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3443074045"/>
                  </a:ext>
                </a:extLst>
              </a:tr>
              <a:tr h="661477">
                <a:tc>
                  <a:txBody>
                    <a:bodyPr/>
                    <a:lstStyle/>
                    <a:p>
                      <a:pPr>
                        <a:buNone/>
                      </a:pPr>
                      <a:r>
                        <a:rPr lang="fr-FR" sz="1600" b="1"/>
                        <a:t>Transfusion sanguine</a:t>
                      </a:r>
                      <a:endParaRPr lang="fr-FR" sz="1600"/>
                    </a:p>
                  </a:txBody>
                  <a:tcPr marL="49447" marR="49447" marT="24724" marB="24724" anchor="ctr">
                    <a:solidFill>
                      <a:schemeClr val="tx2">
                        <a:lumMod val="10000"/>
                        <a:lumOff val="90000"/>
                      </a:schemeClr>
                    </a:solidFill>
                  </a:tcPr>
                </a:tc>
                <a:tc>
                  <a:txBody>
                    <a:bodyPr/>
                    <a:lstStyle/>
                    <a:p>
                      <a:pPr>
                        <a:buNone/>
                      </a:pPr>
                      <a:r>
                        <a:rPr lang="fr-FR" sz="1600" dirty="0"/>
                        <a:t>G1–2 </a:t>
                      </a:r>
                    </a:p>
                  </a:txBody>
                  <a:tcPr marL="49447" marR="49447" marT="24724" marB="24724" anchor="ctr">
                    <a:solidFill>
                      <a:schemeClr val="tx2">
                        <a:lumMod val="10000"/>
                        <a:lumOff val="90000"/>
                      </a:schemeClr>
                    </a:solidFill>
                  </a:tcPr>
                </a:tc>
                <a:tc>
                  <a:txBody>
                    <a:bodyPr/>
                    <a:lstStyle/>
                    <a:p>
                      <a:pPr>
                        <a:buNone/>
                      </a:pPr>
                      <a:r>
                        <a:rPr lang="fr-FR" sz="1600" b="1" dirty="0"/>
                        <a:t>Rare mais décrit</a:t>
                      </a:r>
                      <a:endParaRPr lang="fr-FR" sz="1600" dirty="0"/>
                    </a:p>
                  </a:txBody>
                  <a:tcPr marL="49447" marR="49447" marT="24724" marB="24724" anchor="ctr">
                    <a:solidFill>
                      <a:schemeClr val="tx2">
                        <a:lumMod val="10000"/>
                        <a:lumOff val="90000"/>
                      </a:schemeClr>
                    </a:solidFill>
                  </a:tcPr>
                </a:tc>
                <a:tc>
                  <a:txBody>
                    <a:bodyPr/>
                    <a:lstStyle/>
                    <a:p>
                      <a:pPr>
                        <a:buNone/>
                      </a:pPr>
                      <a:r>
                        <a:rPr lang="fr-FR" sz="1600"/>
                        <a:t>Risque surtout dans la période de virémie, en cas de dons non testés.</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464428237"/>
                  </a:ext>
                </a:extLst>
              </a:tr>
              <a:tr h="1059421">
                <a:tc>
                  <a:txBody>
                    <a:bodyPr/>
                    <a:lstStyle/>
                    <a:p>
                      <a:pPr>
                        <a:buNone/>
                      </a:pPr>
                      <a:r>
                        <a:rPr lang="fr-FR" sz="1600" b="1"/>
                        <a:t>Transmission verticale (mère → enfant)</a:t>
                      </a:r>
                      <a:endParaRPr lang="fr-FR" sz="1600"/>
                    </a:p>
                  </a:txBody>
                  <a:tcPr marL="49447" marR="49447" marT="24724" marB="24724" anchor="ctr">
                    <a:solidFill>
                      <a:schemeClr val="tx2">
                        <a:lumMod val="10000"/>
                        <a:lumOff val="90000"/>
                      </a:schemeClr>
                    </a:solidFill>
                  </a:tcPr>
                </a:tc>
                <a:tc>
                  <a:txBody>
                    <a:bodyPr/>
                    <a:lstStyle/>
                    <a:p>
                      <a:pPr>
                        <a:buNone/>
                      </a:pPr>
                      <a:r>
                        <a:rPr lang="fr-FR" sz="1600"/>
                        <a:t>G1–2</a:t>
                      </a:r>
                    </a:p>
                  </a:txBody>
                  <a:tcPr marL="49447" marR="49447" marT="24724" marB="24724" anchor="ctr">
                    <a:solidFill>
                      <a:schemeClr val="tx2">
                        <a:lumMod val="10000"/>
                        <a:lumOff val="90000"/>
                      </a:schemeClr>
                    </a:solidFill>
                  </a:tcPr>
                </a:tc>
                <a:tc>
                  <a:txBody>
                    <a:bodyPr/>
                    <a:lstStyle/>
                    <a:p>
                      <a:pPr>
                        <a:buNone/>
                      </a:pPr>
                      <a:r>
                        <a:rPr lang="fr-FR" sz="1600" b="1"/>
                        <a:t>Possible mais rare</a:t>
                      </a:r>
                      <a:endParaRPr lang="fr-FR" sz="1600"/>
                    </a:p>
                  </a:txBody>
                  <a:tcPr marL="49447" marR="49447" marT="24724" marB="24724" anchor="ctr">
                    <a:solidFill>
                      <a:schemeClr val="tx2">
                        <a:lumMod val="10000"/>
                        <a:lumOff val="90000"/>
                      </a:schemeClr>
                    </a:solidFill>
                  </a:tcPr>
                </a:tc>
                <a:tc>
                  <a:txBody>
                    <a:bodyPr/>
                    <a:lstStyle/>
                    <a:p>
                      <a:pPr>
                        <a:buNone/>
                      </a:pPr>
                      <a:r>
                        <a:rPr lang="fr-FR" sz="1600" dirty="0"/>
                        <a:t>Survient surtout au </a:t>
                      </a:r>
                      <a:r>
                        <a:rPr lang="fr-FR" sz="1600" b="1" dirty="0"/>
                        <a:t>3ᵉ trimestre</a:t>
                      </a:r>
                      <a:r>
                        <a:rPr lang="fr-FR" sz="1600" dirty="0"/>
                        <a:t>, par passage transplacentaire. Peut être grave chez la mère enceinte.</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3678018625"/>
                  </a:ext>
                </a:extLst>
              </a:tr>
              <a:tr h="1059421">
                <a:tc>
                  <a:txBody>
                    <a:bodyPr/>
                    <a:lstStyle/>
                    <a:p>
                      <a:pPr>
                        <a:buNone/>
                      </a:pPr>
                      <a:r>
                        <a:rPr lang="fr-FR" sz="1600" b="1"/>
                        <a:t>Consommation de viande crue ou insuffisamment cuite</a:t>
                      </a:r>
                      <a:r>
                        <a:rPr lang="fr-FR" sz="1600"/>
                        <a:t> (porc, sanglier, gibier, etc.)</a:t>
                      </a:r>
                    </a:p>
                  </a:txBody>
                  <a:tcPr marL="49447" marR="49447" marT="24724" marB="24724" anchor="ctr">
                    <a:solidFill>
                      <a:schemeClr val="tx2">
                        <a:lumMod val="10000"/>
                        <a:lumOff val="90000"/>
                      </a:schemeClr>
                    </a:solidFill>
                  </a:tcPr>
                </a:tc>
                <a:tc>
                  <a:txBody>
                    <a:bodyPr/>
                    <a:lstStyle/>
                    <a:p>
                      <a:pPr>
                        <a:buNone/>
                      </a:pPr>
                      <a:r>
                        <a:rPr lang="fr-FR" sz="1600"/>
                        <a:t>Génotypes 3–4 (</a:t>
                      </a:r>
                      <a:r>
                        <a:rPr lang="fr-FR" sz="1600" b="1"/>
                        <a:t>zoonotiques</a:t>
                      </a:r>
                      <a:r>
                        <a:rPr lang="fr-FR" sz="1600"/>
                        <a:t>)</a:t>
                      </a:r>
                    </a:p>
                  </a:txBody>
                  <a:tcPr marL="49447" marR="49447" marT="24724" marB="24724" anchor="ctr">
                    <a:solidFill>
                      <a:schemeClr val="tx2">
                        <a:lumMod val="10000"/>
                        <a:lumOff val="90000"/>
                      </a:schemeClr>
                    </a:solidFill>
                  </a:tcPr>
                </a:tc>
                <a:tc>
                  <a:txBody>
                    <a:bodyPr/>
                    <a:lstStyle/>
                    <a:p>
                      <a:pPr>
                        <a:buNone/>
                      </a:pPr>
                      <a:r>
                        <a:rPr lang="fr-FR" sz="1600" b="1"/>
                        <a:t>Mode principal en zones faiblement endémiques (Europe, Amérique du Nord)</a:t>
                      </a:r>
                      <a:endParaRPr lang="fr-FR" sz="1600"/>
                    </a:p>
                  </a:txBody>
                  <a:tcPr marL="49447" marR="49447" marT="24724" marB="24724" anchor="ctr">
                    <a:solidFill>
                      <a:schemeClr val="tx2">
                        <a:lumMod val="10000"/>
                        <a:lumOff val="90000"/>
                      </a:schemeClr>
                    </a:solidFill>
                  </a:tcPr>
                </a:tc>
                <a:tc>
                  <a:txBody>
                    <a:bodyPr/>
                    <a:lstStyle/>
                    <a:p>
                      <a:pPr>
                        <a:buNone/>
                      </a:pPr>
                      <a:r>
                        <a:rPr lang="fr-FR" sz="1600" dirty="0"/>
                        <a:t>Transmission zoonotique alimentaire, souvent par charcuteries crues (foie de porc, saucisses).</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2209965927"/>
                  </a:ext>
                </a:extLst>
              </a:tr>
              <a:tr h="1059421">
                <a:tc>
                  <a:txBody>
                    <a:bodyPr/>
                    <a:lstStyle/>
                    <a:p>
                      <a:pPr>
                        <a:buNone/>
                      </a:pPr>
                      <a:r>
                        <a:rPr lang="fr-FR" sz="1600" b="1"/>
                        <a:t>Contact direct avec animaux infectés</a:t>
                      </a:r>
                      <a:r>
                        <a:rPr lang="fr-FR" sz="1600"/>
                        <a:t> (porc, sanglier, cervidés, bovins, chameaux, etc.)</a:t>
                      </a:r>
                    </a:p>
                  </a:txBody>
                  <a:tcPr marL="49447" marR="49447" marT="24724" marB="24724" anchor="ctr">
                    <a:solidFill>
                      <a:schemeClr val="tx2">
                        <a:lumMod val="10000"/>
                        <a:lumOff val="90000"/>
                      </a:schemeClr>
                    </a:solidFill>
                  </a:tcPr>
                </a:tc>
                <a:tc>
                  <a:txBody>
                    <a:bodyPr/>
                    <a:lstStyle/>
                    <a:p>
                      <a:pPr>
                        <a:buNone/>
                      </a:pPr>
                      <a:r>
                        <a:rPr lang="fr-FR" sz="1600"/>
                        <a:t>G3–4</a:t>
                      </a:r>
                    </a:p>
                  </a:txBody>
                  <a:tcPr marL="49447" marR="49447" marT="24724" marB="24724" anchor="ctr">
                    <a:solidFill>
                      <a:schemeClr val="tx2">
                        <a:lumMod val="10000"/>
                        <a:lumOff val="90000"/>
                      </a:schemeClr>
                    </a:solidFill>
                  </a:tcPr>
                </a:tc>
                <a:tc>
                  <a:txBody>
                    <a:bodyPr/>
                    <a:lstStyle/>
                    <a:p>
                      <a:pPr>
                        <a:buNone/>
                      </a:pPr>
                      <a:r>
                        <a:rPr lang="fr-FR" sz="1600" b="1"/>
                        <a:t>Possible mais moins fréquent</a:t>
                      </a:r>
                      <a:endParaRPr lang="fr-FR" sz="1600"/>
                    </a:p>
                  </a:txBody>
                  <a:tcPr marL="49447" marR="49447" marT="24724" marB="24724" anchor="ctr">
                    <a:solidFill>
                      <a:schemeClr val="tx2">
                        <a:lumMod val="10000"/>
                        <a:lumOff val="90000"/>
                      </a:schemeClr>
                    </a:solidFill>
                  </a:tcPr>
                </a:tc>
                <a:tc>
                  <a:txBody>
                    <a:bodyPr/>
                    <a:lstStyle/>
                    <a:p>
                      <a:pPr>
                        <a:buNone/>
                      </a:pPr>
                      <a:r>
                        <a:rPr lang="fr-FR" sz="1600" dirty="0"/>
                        <a:t>Risque accru chez les vétérinaires, éleveurs, bouchers, chasseurs.</a:t>
                      </a:r>
                    </a:p>
                  </a:txBody>
                  <a:tcPr marL="49447" marR="49447" marT="24724" marB="24724" anchor="ctr">
                    <a:solidFill>
                      <a:schemeClr val="tx2">
                        <a:lumMod val="10000"/>
                        <a:lumOff val="90000"/>
                      </a:schemeClr>
                    </a:solidFill>
                  </a:tcPr>
                </a:tc>
                <a:extLst>
                  <a:ext uri="{0D108BD9-81ED-4DB2-BD59-A6C34878D82A}">
                    <a16:rowId xmlns="" xmlns:a16="http://schemas.microsoft.com/office/drawing/2014/main" val="2603787740"/>
                  </a:ext>
                </a:extLst>
              </a:tr>
            </a:tbl>
          </a:graphicData>
        </a:graphic>
      </p:graphicFrame>
    </p:spTree>
    <p:extLst>
      <p:ext uri="{BB962C8B-B14F-4D97-AF65-F5344CB8AC3E}">
        <p14:creationId xmlns="" xmlns:p14="http://schemas.microsoft.com/office/powerpoint/2010/main" val="2551502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450B2E3-8394-C9DB-09F0-028D08119CC1}"/>
              </a:ext>
            </a:extLst>
          </p:cNvPr>
          <p:cNvSpPr>
            <a:spLocks noGrp="1"/>
          </p:cNvSpPr>
          <p:nvPr>
            <p:ph type="title"/>
          </p:nvPr>
        </p:nvSpPr>
        <p:spPr>
          <a:xfrm>
            <a:off x="838200" y="2284702"/>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15 : Le virus de l’hépatite Delta (VHD)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Possède un génome à ADN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Nécessite la présence du VHB pour se répliquer</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Peut infecter simultanément avec le VHB ou survenir sur un portage chronique </a:t>
            </a:r>
            <a:r>
              <a:rPr lang="fr-FR" i="0" u="none" strike="noStrike" kern="100" baseline="0" dirty="0">
                <a:latin typeface="Arial" panose="020B0604020202020204" pitchFamily="34" charset="0"/>
              </a:rPr>
              <a:t/>
            </a:r>
            <a:br>
              <a:rPr lang="fr-FR" i="0" u="none" strike="noStrike" kern="100" baseline="0" dirty="0">
                <a:latin typeface="Arial" panose="020B0604020202020204" pitchFamily="34" charset="0"/>
              </a:rPr>
            </a:br>
            <a:r>
              <a:rPr lang="fr-FR" i="0" u="none" strike="noStrike" kern="100" baseline="0" dirty="0">
                <a:latin typeface="Calibri" panose="020F0502020204030204" pitchFamily="34" charset="0"/>
              </a:rPr>
              <a:t>D. Est responsable de formes plus sévères que le VHB seul</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La vaccination </a:t>
            </a:r>
            <a:r>
              <a:rPr lang="fr-FR" i="0" u="none" strike="noStrike" kern="100" baseline="0" dirty="0" err="1">
                <a:latin typeface="Calibri" panose="020F0502020204030204" pitchFamily="34" charset="0"/>
              </a:rPr>
              <a:t>anti-VHB</a:t>
            </a:r>
            <a:r>
              <a:rPr lang="fr-FR" i="0" u="none" strike="noStrike" kern="100" baseline="0" dirty="0">
                <a:latin typeface="Calibri" panose="020F0502020204030204" pitchFamily="34" charset="0"/>
              </a:rPr>
              <a:t> protège contre le VHD</a:t>
            </a:r>
          </a:p>
        </p:txBody>
      </p:sp>
    </p:spTree>
    <p:extLst>
      <p:ext uri="{BB962C8B-B14F-4D97-AF65-F5344CB8AC3E}">
        <p14:creationId xmlns="" xmlns:p14="http://schemas.microsoft.com/office/powerpoint/2010/main" val="15870440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3D79D46-A02F-5962-A056-C6360128BD85}"/>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80CEB557-1E47-0261-9FD7-D42A830849AF}"/>
              </a:ext>
            </a:extLst>
          </p:cNvPr>
          <p:cNvSpPr>
            <a:spLocks noGrp="1"/>
          </p:cNvSpPr>
          <p:nvPr>
            <p:ph type="title"/>
          </p:nvPr>
        </p:nvSpPr>
        <p:spPr>
          <a:xfrm>
            <a:off x="838200" y="2284702"/>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15 : Le virus de l’hépatite Delta (VHD)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Possède un génome à ADN</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Nécessite la présence du VHB pour se répliquer</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Peut infecter simultanément avec le VHB ou survenir sur un portage chronique </a:t>
            </a:r>
            <a:r>
              <a:rPr lang="fr-FR" i="0" u="none" strike="noStrike" kern="100" baseline="0" dirty="0">
                <a:solidFill>
                  <a:schemeClr val="accent2"/>
                </a:solidFill>
                <a:latin typeface="Arial" panose="020B0604020202020204" pitchFamily="34" charset="0"/>
              </a:rPr>
              <a:t/>
            </a:r>
            <a:br>
              <a:rPr lang="fr-FR" i="0" u="none" strike="noStrike" kern="100" baseline="0" dirty="0">
                <a:solidFill>
                  <a:schemeClr val="accent2"/>
                </a:solidFill>
                <a:latin typeface="Arial" panose="020B0604020202020204" pitchFamily="34" charset="0"/>
              </a:rPr>
            </a:br>
            <a:r>
              <a:rPr lang="fr-FR" i="0" u="none" strike="noStrike" kern="100" baseline="0" dirty="0">
                <a:solidFill>
                  <a:schemeClr val="accent2"/>
                </a:solidFill>
                <a:latin typeface="Calibri" panose="020F0502020204030204" pitchFamily="34" charset="0"/>
              </a:rPr>
              <a:t>D. Est responsable de formes plus sévères que le VHB seul</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E. Peut être prévenu par </a:t>
            </a:r>
            <a:r>
              <a:rPr lang="fr-FR" kern="100" dirty="0"/>
              <a:t>l</a:t>
            </a:r>
            <a:r>
              <a:rPr lang="fr-FR" i="0" u="none" strike="noStrike" kern="100" baseline="0" dirty="0">
                <a:latin typeface="Calibri" panose="020F0502020204030204" pitchFamily="34" charset="0"/>
              </a:rPr>
              <a:t>a vaccination </a:t>
            </a:r>
            <a:r>
              <a:rPr lang="fr-FR" i="0" u="none" strike="noStrike" kern="100" baseline="0" dirty="0" err="1">
                <a:latin typeface="Calibri" panose="020F0502020204030204" pitchFamily="34" charset="0"/>
              </a:rPr>
              <a:t>anti-VHD</a:t>
            </a:r>
            <a:endParaRPr lang="fr-FR" i="0" u="none" strike="noStrike" kern="100" baseline="0" dirty="0">
              <a:latin typeface="Calibri" panose="020F0502020204030204" pitchFamily="34" charset="0"/>
            </a:endParaRPr>
          </a:p>
        </p:txBody>
      </p:sp>
      <p:sp>
        <p:nvSpPr>
          <p:cNvPr id="3" name="ZoneTexte 2">
            <a:extLst>
              <a:ext uri="{FF2B5EF4-FFF2-40B4-BE49-F238E27FC236}">
                <a16:creationId xmlns="" xmlns:a16="http://schemas.microsoft.com/office/drawing/2014/main" id="{E65DA93B-A134-C21A-CDBE-038909D55407}"/>
              </a:ext>
            </a:extLst>
          </p:cNvPr>
          <p:cNvSpPr txBox="1"/>
          <p:nvPr/>
        </p:nvSpPr>
        <p:spPr>
          <a:xfrm>
            <a:off x="2659061" y="3510318"/>
            <a:ext cx="3436939" cy="400110"/>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err="1"/>
              <a:t>Coinfection</a:t>
            </a:r>
            <a:r>
              <a:rPr lang="fr-FR" sz="2000" dirty="0"/>
              <a:t>/Surinfection</a:t>
            </a:r>
          </a:p>
        </p:txBody>
      </p:sp>
      <p:sp>
        <p:nvSpPr>
          <p:cNvPr id="4" name="ZoneTexte 3">
            <a:extLst>
              <a:ext uri="{FF2B5EF4-FFF2-40B4-BE49-F238E27FC236}">
                <a16:creationId xmlns="" xmlns:a16="http://schemas.microsoft.com/office/drawing/2014/main" id="{0276CC65-F79F-83B3-29AE-1A9202F33AF9}"/>
              </a:ext>
            </a:extLst>
          </p:cNvPr>
          <p:cNvSpPr txBox="1"/>
          <p:nvPr/>
        </p:nvSpPr>
        <p:spPr>
          <a:xfrm>
            <a:off x="5363117" y="1584429"/>
            <a:ext cx="4544812" cy="400110"/>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Tous les virus sont à ARN sauf le VHB</a:t>
            </a:r>
            <a:endParaRPr lang="fr-TN" sz="2000" dirty="0"/>
          </a:p>
        </p:txBody>
      </p:sp>
      <p:sp>
        <p:nvSpPr>
          <p:cNvPr id="5" name="ZoneTexte 4">
            <a:extLst>
              <a:ext uri="{FF2B5EF4-FFF2-40B4-BE49-F238E27FC236}">
                <a16:creationId xmlns="" xmlns:a16="http://schemas.microsoft.com/office/drawing/2014/main" id="{783994E1-9768-AA70-F913-CDD174273A3A}"/>
              </a:ext>
            </a:extLst>
          </p:cNvPr>
          <p:cNvSpPr txBox="1"/>
          <p:nvPr/>
        </p:nvSpPr>
        <p:spPr>
          <a:xfrm>
            <a:off x="8313296" y="2284701"/>
            <a:ext cx="2277540" cy="400110"/>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Virus défectif</a:t>
            </a:r>
          </a:p>
        </p:txBody>
      </p:sp>
      <p:sp>
        <p:nvSpPr>
          <p:cNvPr id="6" name="ZoneTexte 5">
            <a:extLst>
              <a:ext uri="{FF2B5EF4-FFF2-40B4-BE49-F238E27FC236}">
                <a16:creationId xmlns="" xmlns:a16="http://schemas.microsoft.com/office/drawing/2014/main" id="{41856CA2-3669-F0D9-75C3-2CE8E2AAA280}"/>
              </a:ext>
            </a:extLst>
          </p:cNvPr>
          <p:cNvSpPr txBox="1"/>
          <p:nvPr/>
        </p:nvSpPr>
        <p:spPr>
          <a:xfrm>
            <a:off x="5278057" y="4009958"/>
            <a:ext cx="6341962" cy="707886"/>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Plus de risque de forme fulminante, de passage à la chronicité, de cirrhose, de CHC</a:t>
            </a:r>
          </a:p>
        </p:txBody>
      </p:sp>
      <p:sp>
        <p:nvSpPr>
          <p:cNvPr id="7" name="ZoneTexte 6">
            <a:extLst>
              <a:ext uri="{FF2B5EF4-FFF2-40B4-BE49-F238E27FC236}">
                <a16:creationId xmlns="" xmlns:a16="http://schemas.microsoft.com/office/drawing/2014/main" id="{DF67C73F-28AD-B575-CCAB-2181A82AFA32}"/>
              </a:ext>
            </a:extLst>
          </p:cNvPr>
          <p:cNvSpPr txBox="1"/>
          <p:nvPr/>
        </p:nvSpPr>
        <p:spPr>
          <a:xfrm>
            <a:off x="5798916" y="5273571"/>
            <a:ext cx="5731398" cy="707886"/>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Prévention par la vaccination </a:t>
            </a:r>
            <a:r>
              <a:rPr lang="fr-FR" sz="2000" dirty="0" err="1"/>
              <a:t>anti-VHB</a:t>
            </a:r>
            <a:r>
              <a:rPr lang="fr-FR" sz="2000" dirty="0"/>
              <a:t>, pas de vaccin spécifique</a:t>
            </a:r>
            <a:endParaRPr lang="fr-TN" sz="2000" dirty="0"/>
          </a:p>
        </p:txBody>
      </p:sp>
    </p:spTree>
    <p:extLst>
      <p:ext uri="{BB962C8B-B14F-4D97-AF65-F5344CB8AC3E}">
        <p14:creationId xmlns="" xmlns:p14="http://schemas.microsoft.com/office/powerpoint/2010/main" val="370131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a:extLst>
              <a:ext uri="{FF2B5EF4-FFF2-40B4-BE49-F238E27FC236}">
                <a16:creationId xmlns="" xmlns:a16="http://schemas.microsoft.com/office/drawing/2014/main" id="{0446B930-B747-BCB0-BE59-E322141FAD70}"/>
              </a:ext>
            </a:extLst>
          </p:cNvPr>
          <p:cNvGraphicFramePr>
            <a:graphicFrameLocks noGrp="1"/>
          </p:cNvGraphicFramePr>
          <p:nvPr>
            <p:extLst>
              <p:ext uri="{D42A27DB-BD31-4B8C-83A1-F6EECF244321}">
                <p14:modId xmlns="" xmlns:p14="http://schemas.microsoft.com/office/powerpoint/2010/main" val="330559375"/>
              </p:ext>
            </p:extLst>
          </p:nvPr>
        </p:nvGraphicFramePr>
        <p:xfrm>
          <a:off x="555584" y="243070"/>
          <a:ext cx="10822330" cy="6019476"/>
        </p:xfrm>
        <a:graphic>
          <a:graphicData uri="http://schemas.openxmlformats.org/drawingml/2006/table">
            <a:tbl>
              <a:tblPr>
                <a:tableStyleId>{775DCB02-9BB8-47FD-8907-85C794F793BA}</a:tableStyleId>
              </a:tblPr>
              <a:tblGrid>
                <a:gridCol w="2164466">
                  <a:extLst>
                    <a:ext uri="{9D8B030D-6E8A-4147-A177-3AD203B41FA5}">
                      <a16:colId xmlns="" xmlns:a16="http://schemas.microsoft.com/office/drawing/2014/main" val="896936119"/>
                    </a:ext>
                  </a:extLst>
                </a:gridCol>
                <a:gridCol w="2164466">
                  <a:extLst>
                    <a:ext uri="{9D8B030D-6E8A-4147-A177-3AD203B41FA5}">
                      <a16:colId xmlns="" xmlns:a16="http://schemas.microsoft.com/office/drawing/2014/main" val="3436729858"/>
                    </a:ext>
                  </a:extLst>
                </a:gridCol>
                <a:gridCol w="2164466">
                  <a:extLst>
                    <a:ext uri="{9D8B030D-6E8A-4147-A177-3AD203B41FA5}">
                      <a16:colId xmlns="" xmlns:a16="http://schemas.microsoft.com/office/drawing/2014/main" val="524430960"/>
                    </a:ext>
                  </a:extLst>
                </a:gridCol>
                <a:gridCol w="2164466">
                  <a:extLst>
                    <a:ext uri="{9D8B030D-6E8A-4147-A177-3AD203B41FA5}">
                      <a16:colId xmlns="" xmlns:a16="http://schemas.microsoft.com/office/drawing/2014/main" val="857622372"/>
                    </a:ext>
                  </a:extLst>
                </a:gridCol>
                <a:gridCol w="2164466">
                  <a:extLst>
                    <a:ext uri="{9D8B030D-6E8A-4147-A177-3AD203B41FA5}">
                      <a16:colId xmlns="" xmlns:a16="http://schemas.microsoft.com/office/drawing/2014/main" val="1267027976"/>
                    </a:ext>
                  </a:extLst>
                </a:gridCol>
              </a:tblGrid>
              <a:tr h="592596">
                <a:tc>
                  <a:txBody>
                    <a:bodyPr/>
                    <a:lstStyle/>
                    <a:p>
                      <a:pPr algn="ctr">
                        <a:buNone/>
                      </a:pPr>
                      <a:r>
                        <a:rPr lang="fr-FR" sz="1800" b="1" dirty="0"/>
                        <a:t>Virus</a:t>
                      </a:r>
                    </a:p>
                  </a:txBody>
                  <a:tcPr marL="63063" marR="63063" marT="31531" marB="31531" anchor="ctr"/>
                </a:tc>
                <a:tc>
                  <a:txBody>
                    <a:bodyPr/>
                    <a:lstStyle/>
                    <a:p>
                      <a:pPr algn="ctr">
                        <a:buNone/>
                      </a:pPr>
                      <a:r>
                        <a:rPr lang="fr-FR" sz="1800" b="1" dirty="0"/>
                        <a:t>Famille</a:t>
                      </a:r>
                    </a:p>
                  </a:txBody>
                  <a:tcPr marL="63063" marR="63063" marT="31531" marB="31531" anchor="ctr"/>
                </a:tc>
                <a:tc>
                  <a:txBody>
                    <a:bodyPr/>
                    <a:lstStyle/>
                    <a:p>
                      <a:pPr algn="ctr">
                        <a:buNone/>
                      </a:pPr>
                      <a:r>
                        <a:rPr lang="fr-FR" sz="1800" b="1" dirty="0"/>
                        <a:t>Génome</a:t>
                      </a:r>
                    </a:p>
                  </a:txBody>
                  <a:tcPr marL="63063" marR="63063" marT="31531" marB="31531" anchor="ctr"/>
                </a:tc>
                <a:tc>
                  <a:txBody>
                    <a:bodyPr/>
                    <a:lstStyle/>
                    <a:p>
                      <a:pPr algn="ctr">
                        <a:buNone/>
                      </a:pPr>
                      <a:r>
                        <a:rPr lang="fr-FR" sz="1800" b="1" dirty="0"/>
                        <a:t>Particularités structurales</a:t>
                      </a:r>
                    </a:p>
                  </a:txBody>
                  <a:tcPr marL="63063" marR="63063" marT="31531" marB="31531" anchor="ctr"/>
                </a:tc>
                <a:tc>
                  <a:txBody>
                    <a:bodyPr/>
                    <a:lstStyle/>
                    <a:p>
                      <a:pPr algn="ctr">
                        <a:buNone/>
                      </a:pPr>
                      <a:r>
                        <a:rPr lang="fr-FR" sz="1800" b="1" dirty="0"/>
                        <a:t>Réplication</a:t>
                      </a:r>
                    </a:p>
                  </a:txBody>
                  <a:tcPr marL="63063" marR="63063" marT="31531" marB="31531" anchor="ctr"/>
                </a:tc>
                <a:extLst>
                  <a:ext uri="{0D108BD9-81ED-4DB2-BD59-A6C34878D82A}">
                    <a16:rowId xmlns="" xmlns:a16="http://schemas.microsoft.com/office/drawing/2014/main" val="525449490"/>
                  </a:ext>
                </a:extLst>
              </a:tr>
              <a:tr h="846565">
                <a:tc>
                  <a:txBody>
                    <a:bodyPr/>
                    <a:lstStyle/>
                    <a:p>
                      <a:pPr>
                        <a:buNone/>
                      </a:pPr>
                      <a:r>
                        <a:rPr lang="fr-FR" sz="1800" b="1" dirty="0"/>
                        <a:t>VHA</a:t>
                      </a:r>
                      <a:endParaRPr lang="fr-FR" sz="1800" dirty="0"/>
                    </a:p>
                  </a:txBody>
                  <a:tcPr marL="63063" marR="63063" marT="31531" marB="31531" anchor="ctr">
                    <a:solidFill>
                      <a:schemeClr val="tx2">
                        <a:lumMod val="10000"/>
                        <a:lumOff val="90000"/>
                      </a:schemeClr>
                    </a:solidFill>
                  </a:tcPr>
                </a:tc>
                <a:tc>
                  <a:txBody>
                    <a:bodyPr/>
                    <a:lstStyle/>
                    <a:p>
                      <a:pPr>
                        <a:buNone/>
                      </a:pPr>
                      <a:r>
                        <a:rPr lang="fr-FR" sz="1800"/>
                        <a:t>Picornaviridae (Hepatovirus)</a:t>
                      </a:r>
                    </a:p>
                  </a:txBody>
                  <a:tcPr marL="63063" marR="63063" marT="31531" marB="31531" anchor="ctr">
                    <a:solidFill>
                      <a:schemeClr val="tx2">
                        <a:lumMod val="10000"/>
                        <a:lumOff val="90000"/>
                      </a:schemeClr>
                    </a:solidFill>
                  </a:tcPr>
                </a:tc>
                <a:tc>
                  <a:txBody>
                    <a:bodyPr/>
                    <a:lstStyle/>
                    <a:p>
                      <a:pPr>
                        <a:buNone/>
                      </a:pPr>
                      <a:r>
                        <a:rPr lang="fr-FR" sz="1800"/>
                        <a:t>ARN simple brin +</a:t>
                      </a:r>
                    </a:p>
                  </a:txBody>
                  <a:tcPr marL="63063" marR="63063" marT="31531" marB="31531" anchor="ctr">
                    <a:solidFill>
                      <a:schemeClr val="tx2">
                        <a:lumMod val="10000"/>
                        <a:lumOff val="90000"/>
                      </a:schemeClr>
                    </a:solidFill>
                  </a:tcPr>
                </a:tc>
                <a:tc>
                  <a:txBody>
                    <a:bodyPr/>
                    <a:lstStyle/>
                    <a:p>
                      <a:pPr>
                        <a:buNone/>
                      </a:pPr>
                      <a:r>
                        <a:rPr lang="fr-FR" sz="1800"/>
                        <a:t>Non enveloppé → résistance environnement</a:t>
                      </a:r>
                    </a:p>
                  </a:txBody>
                  <a:tcPr marL="63063" marR="63063" marT="31531" marB="31531" anchor="ctr">
                    <a:solidFill>
                      <a:schemeClr val="tx2">
                        <a:lumMod val="10000"/>
                        <a:lumOff val="90000"/>
                      </a:schemeClr>
                    </a:solidFill>
                  </a:tcPr>
                </a:tc>
                <a:tc>
                  <a:txBody>
                    <a:bodyPr/>
                    <a:lstStyle/>
                    <a:p>
                      <a:pPr>
                        <a:buNone/>
                      </a:pPr>
                      <a:r>
                        <a:rPr lang="fr-FR" sz="1800"/>
                        <a:t>Cytoplasmique</a:t>
                      </a:r>
                    </a:p>
                  </a:txBody>
                  <a:tcPr marL="63063" marR="63063" marT="31531" marB="31531" anchor="ctr">
                    <a:solidFill>
                      <a:schemeClr val="tx2">
                        <a:lumMod val="10000"/>
                        <a:lumOff val="90000"/>
                      </a:schemeClr>
                    </a:solidFill>
                  </a:tcPr>
                </a:tc>
                <a:extLst>
                  <a:ext uri="{0D108BD9-81ED-4DB2-BD59-A6C34878D82A}">
                    <a16:rowId xmlns="" xmlns:a16="http://schemas.microsoft.com/office/drawing/2014/main" val="2340156134"/>
                  </a:ext>
                </a:extLst>
              </a:tr>
              <a:tr h="1354504">
                <a:tc>
                  <a:txBody>
                    <a:bodyPr/>
                    <a:lstStyle/>
                    <a:p>
                      <a:pPr>
                        <a:buNone/>
                      </a:pPr>
                      <a:r>
                        <a:rPr lang="fr-FR" sz="1800" b="1"/>
                        <a:t>VHB</a:t>
                      </a:r>
                      <a:endParaRPr lang="fr-FR" sz="1800"/>
                    </a:p>
                  </a:txBody>
                  <a:tcPr marL="63063" marR="63063" marT="31531" marB="31531" anchor="ctr">
                    <a:solidFill>
                      <a:schemeClr val="tx2">
                        <a:lumMod val="10000"/>
                        <a:lumOff val="90000"/>
                      </a:schemeClr>
                    </a:solidFill>
                  </a:tcPr>
                </a:tc>
                <a:tc>
                  <a:txBody>
                    <a:bodyPr/>
                    <a:lstStyle/>
                    <a:p>
                      <a:pPr>
                        <a:buNone/>
                      </a:pPr>
                      <a:r>
                        <a:rPr lang="fr-FR" sz="1800" dirty="0" err="1"/>
                        <a:t>Hepadnaviridae</a:t>
                      </a:r>
                      <a:endParaRPr lang="fr-FR" sz="1800" dirty="0"/>
                    </a:p>
                  </a:txBody>
                  <a:tcPr marL="63063" marR="63063" marT="31531" marB="31531" anchor="ctr">
                    <a:solidFill>
                      <a:schemeClr val="tx2">
                        <a:lumMod val="10000"/>
                        <a:lumOff val="90000"/>
                      </a:schemeClr>
                    </a:solidFill>
                  </a:tcPr>
                </a:tc>
                <a:tc>
                  <a:txBody>
                    <a:bodyPr/>
                    <a:lstStyle/>
                    <a:p>
                      <a:pPr>
                        <a:buNone/>
                      </a:pPr>
                      <a:r>
                        <a:rPr lang="fr-FR" sz="1800"/>
                        <a:t>ADN partiellement double brin</a:t>
                      </a:r>
                    </a:p>
                  </a:txBody>
                  <a:tcPr marL="63063" marR="63063" marT="31531" marB="31531" anchor="ctr">
                    <a:solidFill>
                      <a:schemeClr val="tx2">
                        <a:lumMod val="10000"/>
                        <a:lumOff val="90000"/>
                      </a:schemeClr>
                    </a:solidFill>
                  </a:tcPr>
                </a:tc>
                <a:tc>
                  <a:txBody>
                    <a:bodyPr/>
                    <a:lstStyle/>
                    <a:p>
                      <a:pPr>
                        <a:buNone/>
                      </a:pPr>
                      <a:r>
                        <a:rPr lang="fr-FR" sz="1800"/>
                        <a:t>Enveloppé, nucléocapside + protéines de surface (AgHBs), cccDNA nucléaire</a:t>
                      </a:r>
                    </a:p>
                  </a:txBody>
                  <a:tcPr marL="63063" marR="63063" marT="31531" marB="31531" anchor="ctr">
                    <a:solidFill>
                      <a:schemeClr val="tx2">
                        <a:lumMod val="10000"/>
                        <a:lumOff val="90000"/>
                      </a:schemeClr>
                    </a:solidFill>
                  </a:tcPr>
                </a:tc>
                <a:tc>
                  <a:txBody>
                    <a:bodyPr/>
                    <a:lstStyle/>
                    <a:p>
                      <a:pPr>
                        <a:buNone/>
                      </a:pPr>
                      <a:r>
                        <a:rPr lang="fr-FR" sz="1800"/>
                        <a:t>ADN → ARN pré-génomique → ADN (via transcriptase inverse)</a:t>
                      </a:r>
                    </a:p>
                  </a:txBody>
                  <a:tcPr marL="63063" marR="63063" marT="31531" marB="31531" anchor="ctr">
                    <a:solidFill>
                      <a:schemeClr val="tx2">
                        <a:lumMod val="10000"/>
                        <a:lumOff val="90000"/>
                      </a:schemeClr>
                    </a:solidFill>
                  </a:tcPr>
                </a:tc>
                <a:extLst>
                  <a:ext uri="{0D108BD9-81ED-4DB2-BD59-A6C34878D82A}">
                    <a16:rowId xmlns="" xmlns:a16="http://schemas.microsoft.com/office/drawing/2014/main" val="2438269843"/>
                  </a:ext>
                </a:extLst>
              </a:tr>
              <a:tr h="1100534">
                <a:tc>
                  <a:txBody>
                    <a:bodyPr/>
                    <a:lstStyle/>
                    <a:p>
                      <a:pPr>
                        <a:buNone/>
                      </a:pPr>
                      <a:r>
                        <a:rPr lang="fr-FR" sz="1800" b="1"/>
                        <a:t>VHC</a:t>
                      </a:r>
                      <a:endParaRPr lang="fr-FR" sz="1800"/>
                    </a:p>
                  </a:txBody>
                  <a:tcPr marL="63063" marR="63063" marT="31531" marB="31531" anchor="ctr">
                    <a:solidFill>
                      <a:schemeClr val="tx2">
                        <a:lumMod val="10000"/>
                        <a:lumOff val="90000"/>
                      </a:schemeClr>
                    </a:solidFill>
                  </a:tcPr>
                </a:tc>
                <a:tc>
                  <a:txBody>
                    <a:bodyPr/>
                    <a:lstStyle/>
                    <a:p>
                      <a:pPr>
                        <a:buNone/>
                      </a:pPr>
                      <a:r>
                        <a:rPr lang="fr-FR" sz="1800"/>
                        <a:t>Flaviviridae (Hepacivirus)</a:t>
                      </a:r>
                    </a:p>
                  </a:txBody>
                  <a:tcPr marL="63063" marR="63063" marT="31531" marB="31531" anchor="ctr">
                    <a:solidFill>
                      <a:schemeClr val="tx2">
                        <a:lumMod val="10000"/>
                        <a:lumOff val="90000"/>
                      </a:schemeClr>
                    </a:solidFill>
                  </a:tcPr>
                </a:tc>
                <a:tc>
                  <a:txBody>
                    <a:bodyPr/>
                    <a:lstStyle/>
                    <a:p>
                      <a:pPr>
                        <a:buNone/>
                      </a:pPr>
                      <a:r>
                        <a:rPr lang="fr-FR" sz="1800" dirty="0"/>
                        <a:t>ARN simple brin +</a:t>
                      </a:r>
                    </a:p>
                  </a:txBody>
                  <a:tcPr marL="63063" marR="63063" marT="31531" marB="31531" anchor="ctr">
                    <a:solidFill>
                      <a:schemeClr val="tx2">
                        <a:lumMod val="10000"/>
                        <a:lumOff val="90000"/>
                      </a:schemeClr>
                    </a:solidFill>
                  </a:tcPr>
                </a:tc>
                <a:tc>
                  <a:txBody>
                    <a:bodyPr/>
                    <a:lstStyle/>
                    <a:p>
                      <a:pPr>
                        <a:buNone/>
                      </a:pPr>
                      <a:r>
                        <a:rPr lang="fr-FR" sz="1800"/>
                        <a:t>Enveloppé, grande variabilité génétique (quasi-espèces)</a:t>
                      </a:r>
                    </a:p>
                  </a:txBody>
                  <a:tcPr marL="63063" marR="63063" marT="31531" marB="31531" anchor="ctr">
                    <a:solidFill>
                      <a:schemeClr val="tx2">
                        <a:lumMod val="10000"/>
                        <a:lumOff val="90000"/>
                      </a:schemeClr>
                    </a:solidFill>
                  </a:tcPr>
                </a:tc>
                <a:tc>
                  <a:txBody>
                    <a:bodyPr/>
                    <a:lstStyle/>
                    <a:p>
                      <a:pPr>
                        <a:buNone/>
                      </a:pPr>
                      <a:r>
                        <a:rPr lang="fr-FR" sz="1800"/>
                        <a:t>Cytoplasmique, par réplication d’ARN</a:t>
                      </a:r>
                    </a:p>
                  </a:txBody>
                  <a:tcPr marL="63063" marR="63063" marT="31531" marB="31531" anchor="ctr">
                    <a:solidFill>
                      <a:schemeClr val="tx2">
                        <a:lumMod val="10000"/>
                        <a:lumOff val="90000"/>
                      </a:schemeClr>
                    </a:solidFill>
                  </a:tcPr>
                </a:tc>
                <a:extLst>
                  <a:ext uri="{0D108BD9-81ED-4DB2-BD59-A6C34878D82A}">
                    <a16:rowId xmlns="" xmlns:a16="http://schemas.microsoft.com/office/drawing/2014/main" val="4196530293"/>
                  </a:ext>
                </a:extLst>
              </a:tr>
              <a:tr h="846565">
                <a:tc>
                  <a:txBody>
                    <a:bodyPr/>
                    <a:lstStyle/>
                    <a:p>
                      <a:pPr>
                        <a:buNone/>
                      </a:pPr>
                      <a:r>
                        <a:rPr lang="fr-FR" sz="1800" b="1"/>
                        <a:t>VHD</a:t>
                      </a:r>
                      <a:endParaRPr lang="fr-FR" sz="1800"/>
                    </a:p>
                  </a:txBody>
                  <a:tcPr marL="63063" marR="63063" marT="31531" marB="31531" anchor="ctr">
                    <a:solidFill>
                      <a:schemeClr val="tx2">
                        <a:lumMod val="10000"/>
                        <a:lumOff val="90000"/>
                      </a:schemeClr>
                    </a:solidFill>
                  </a:tcPr>
                </a:tc>
                <a:tc>
                  <a:txBody>
                    <a:bodyPr/>
                    <a:lstStyle/>
                    <a:p>
                      <a:pPr>
                        <a:buNone/>
                      </a:pPr>
                      <a:r>
                        <a:rPr lang="fr-FR" sz="1800" dirty="0"/>
                        <a:t>Virus satellite </a:t>
                      </a:r>
                    </a:p>
                  </a:txBody>
                  <a:tcPr marL="63063" marR="63063" marT="31531" marB="31531" anchor="ctr">
                    <a:solidFill>
                      <a:schemeClr val="tx2">
                        <a:lumMod val="10000"/>
                        <a:lumOff val="90000"/>
                      </a:schemeClr>
                    </a:solidFill>
                  </a:tcPr>
                </a:tc>
                <a:tc>
                  <a:txBody>
                    <a:bodyPr/>
                    <a:lstStyle/>
                    <a:p>
                      <a:pPr>
                        <a:buNone/>
                      </a:pPr>
                      <a:r>
                        <a:rPr lang="fr-FR" sz="1800"/>
                        <a:t>ARN simple brin circulaire</a:t>
                      </a:r>
                    </a:p>
                  </a:txBody>
                  <a:tcPr marL="63063" marR="63063" marT="31531" marB="31531" anchor="ctr">
                    <a:solidFill>
                      <a:schemeClr val="tx2">
                        <a:lumMod val="10000"/>
                        <a:lumOff val="90000"/>
                      </a:schemeClr>
                    </a:solidFill>
                  </a:tcPr>
                </a:tc>
                <a:tc>
                  <a:txBody>
                    <a:bodyPr/>
                    <a:lstStyle/>
                    <a:p>
                      <a:pPr>
                        <a:buNone/>
                      </a:pPr>
                      <a:r>
                        <a:rPr lang="fr-FR" sz="1800" dirty="0"/>
                        <a:t>Enveloppé mais utilise </a:t>
                      </a:r>
                      <a:r>
                        <a:rPr lang="fr-FR" sz="1800" dirty="0" err="1"/>
                        <a:t>AgHBs</a:t>
                      </a:r>
                      <a:r>
                        <a:rPr lang="fr-FR" sz="1800" dirty="0"/>
                        <a:t> comme enveloppe</a:t>
                      </a:r>
                    </a:p>
                  </a:txBody>
                  <a:tcPr marL="63063" marR="63063" marT="31531" marB="31531" anchor="ctr">
                    <a:solidFill>
                      <a:schemeClr val="tx2">
                        <a:lumMod val="10000"/>
                        <a:lumOff val="90000"/>
                      </a:schemeClr>
                    </a:solidFill>
                  </a:tcPr>
                </a:tc>
                <a:tc>
                  <a:txBody>
                    <a:bodyPr/>
                    <a:lstStyle/>
                    <a:p>
                      <a:pPr>
                        <a:buNone/>
                      </a:pPr>
                      <a:r>
                        <a:rPr lang="fr-FR" sz="1800"/>
                        <a:t>Dépend totalement du VHB</a:t>
                      </a:r>
                    </a:p>
                  </a:txBody>
                  <a:tcPr marL="63063" marR="63063" marT="31531" marB="31531" anchor="ctr">
                    <a:solidFill>
                      <a:schemeClr val="tx2">
                        <a:lumMod val="10000"/>
                        <a:lumOff val="90000"/>
                      </a:schemeClr>
                    </a:solidFill>
                  </a:tcPr>
                </a:tc>
                <a:extLst>
                  <a:ext uri="{0D108BD9-81ED-4DB2-BD59-A6C34878D82A}">
                    <a16:rowId xmlns="" xmlns:a16="http://schemas.microsoft.com/office/drawing/2014/main" val="3387412978"/>
                  </a:ext>
                </a:extLst>
              </a:tr>
              <a:tr h="1100534">
                <a:tc>
                  <a:txBody>
                    <a:bodyPr/>
                    <a:lstStyle/>
                    <a:p>
                      <a:pPr>
                        <a:buNone/>
                      </a:pPr>
                      <a:r>
                        <a:rPr lang="fr-FR" sz="1800" b="1"/>
                        <a:t>VHE</a:t>
                      </a:r>
                      <a:endParaRPr lang="fr-FR" sz="1800"/>
                    </a:p>
                  </a:txBody>
                  <a:tcPr marL="63063" marR="63063" marT="31531" marB="31531" anchor="ctr">
                    <a:solidFill>
                      <a:schemeClr val="tx2">
                        <a:lumMod val="10000"/>
                        <a:lumOff val="90000"/>
                      </a:schemeClr>
                    </a:solidFill>
                  </a:tcPr>
                </a:tc>
                <a:tc>
                  <a:txBody>
                    <a:bodyPr/>
                    <a:lstStyle/>
                    <a:p>
                      <a:pPr>
                        <a:buNone/>
                      </a:pPr>
                      <a:r>
                        <a:rPr lang="fr-FR" sz="1800"/>
                        <a:t>Hepeviridae</a:t>
                      </a:r>
                    </a:p>
                  </a:txBody>
                  <a:tcPr marL="63063" marR="63063" marT="31531" marB="31531" anchor="ctr">
                    <a:solidFill>
                      <a:schemeClr val="tx2">
                        <a:lumMod val="10000"/>
                        <a:lumOff val="90000"/>
                      </a:schemeClr>
                    </a:solidFill>
                  </a:tcPr>
                </a:tc>
                <a:tc>
                  <a:txBody>
                    <a:bodyPr/>
                    <a:lstStyle/>
                    <a:p>
                      <a:pPr>
                        <a:buNone/>
                      </a:pPr>
                      <a:r>
                        <a:rPr lang="fr-FR" sz="1800"/>
                        <a:t>ARN simple brin +</a:t>
                      </a:r>
                    </a:p>
                  </a:txBody>
                  <a:tcPr marL="63063" marR="63063" marT="31531" marB="31531" anchor="ctr">
                    <a:solidFill>
                      <a:schemeClr val="tx2">
                        <a:lumMod val="10000"/>
                        <a:lumOff val="90000"/>
                      </a:schemeClr>
                    </a:solidFill>
                  </a:tcPr>
                </a:tc>
                <a:tc>
                  <a:txBody>
                    <a:bodyPr/>
                    <a:lstStyle/>
                    <a:p>
                      <a:pPr>
                        <a:buNone/>
                      </a:pPr>
                      <a:r>
                        <a:rPr lang="fr-FR" sz="1800" dirty="0"/>
                        <a:t>Non enveloppé</a:t>
                      </a:r>
                    </a:p>
                  </a:txBody>
                  <a:tcPr marL="63063" marR="63063" marT="31531" marB="31531" anchor="ctr">
                    <a:solidFill>
                      <a:schemeClr val="tx2">
                        <a:lumMod val="10000"/>
                        <a:lumOff val="90000"/>
                      </a:schemeClr>
                    </a:solidFill>
                  </a:tcPr>
                </a:tc>
                <a:tc>
                  <a:txBody>
                    <a:bodyPr/>
                    <a:lstStyle/>
                    <a:p>
                      <a:pPr>
                        <a:buNone/>
                      </a:pPr>
                      <a:r>
                        <a:rPr lang="fr-FR" sz="1800" dirty="0"/>
                        <a:t>Cytoplasmique</a:t>
                      </a:r>
                    </a:p>
                  </a:txBody>
                  <a:tcPr marL="63063" marR="63063" marT="31531" marB="31531" anchor="ctr">
                    <a:solidFill>
                      <a:schemeClr val="tx2">
                        <a:lumMod val="10000"/>
                        <a:lumOff val="90000"/>
                      </a:schemeClr>
                    </a:solidFill>
                  </a:tcPr>
                </a:tc>
                <a:extLst>
                  <a:ext uri="{0D108BD9-81ED-4DB2-BD59-A6C34878D82A}">
                    <a16:rowId xmlns="" xmlns:a16="http://schemas.microsoft.com/office/drawing/2014/main" val="3778656093"/>
                  </a:ext>
                </a:extLst>
              </a:tr>
            </a:tbl>
          </a:graphicData>
        </a:graphic>
      </p:graphicFrame>
    </p:spTree>
    <p:extLst>
      <p:ext uri="{BB962C8B-B14F-4D97-AF65-F5344CB8AC3E}">
        <p14:creationId xmlns="" xmlns:p14="http://schemas.microsoft.com/office/powerpoint/2010/main" val="23754223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a:extLst>
              <a:ext uri="{FF2B5EF4-FFF2-40B4-BE49-F238E27FC236}">
                <a16:creationId xmlns="" xmlns:a16="http://schemas.microsoft.com/office/drawing/2014/main" id="{594D3F28-A093-EF32-087E-CC82D27D6D2A}"/>
              </a:ext>
            </a:extLst>
          </p:cNvPr>
          <p:cNvGraphicFramePr>
            <a:graphicFrameLocks noGrp="1"/>
          </p:cNvGraphicFramePr>
          <p:nvPr>
            <p:extLst>
              <p:ext uri="{D42A27DB-BD31-4B8C-83A1-F6EECF244321}">
                <p14:modId xmlns="" xmlns:p14="http://schemas.microsoft.com/office/powerpoint/2010/main" val="1592251742"/>
              </p:ext>
            </p:extLst>
          </p:nvPr>
        </p:nvGraphicFramePr>
        <p:xfrm>
          <a:off x="347241" y="-40583"/>
          <a:ext cx="11169846" cy="6855041"/>
        </p:xfrm>
        <a:graphic>
          <a:graphicData uri="http://schemas.openxmlformats.org/drawingml/2006/table">
            <a:tbl>
              <a:tblPr>
                <a:tableStyleId>{775DCB02-9BB8-47FD-8907-85C794F793BA}</a:tableStyleId>
              </a:tblPr>
              <a:tblGrid>
                <a:gridCol w="1861641">
                  <a:extLst>
                    <a:ext uri="{9D8B030D-6E8A-4147-A177-3AD203B41FA5}">
                      <a16:colId xmlns="" xmlns:a16="http://schemas.microsoft.com/office/drawing/2014/main" val="3368517285"/>
                    </a:ext>
                  </a:extLst>
                </a:gridCol>
                <a:gridCol w="1861641">
                  <a:extLst>
                    <a:ext uri="{9D8B030D-6E8A-4147-A177-3AD203B41FA5}">
                      <a16:colId xmlns="" xmlns:a16="http://schemas.microsoft.com/office/drawing/2014/main" val="3917500625"/>
                    </a:ext>
                  </a:extLst>
                </a:gridCol>
                <a:gridCol w="1861641">
                  <a:extLst>
                    <a:ext uri="{9D8B030D-6E8A-4147-A177-3AD203B41FA5}">
                      <a16:colId xmlns="" xmlns:a16="http://schemas.microsoft.com/office/drawing/2014/main" val="4113605188"/>
                    </a:ext>
                  </a:extLst>
                </a:gridCol>
                <a:gridCol w="1861641">
                  <a:extLst>
                    <a:ext uri="{9D8B030D-6E8A-4147-A177-3AD203B41FA5}">
                      <a16:colId xmlns="" xmlns:a16="http://schemas.microsoft.com/office/drawing/2014/main" val="3367005909"/>
                    </a:ext>
                  </a:extLst>
                </a:gridCol>
                <a:gridCol w="1861641">
                  <a:extLst>
                    <a:ext uri="{9D8B030D-6E8A-4147-A177-3AD203B41FA5}">
                      <a16:colId xmlns="" xmlns:a16="http://schemas.microsoft.com/office/drawing/2014/main" val="2135269116"/>
                    </a:ext>
                  </a:extLst>
                </a:gridCol>
                <a:gridCol w="1861641">
                  <a:extLst>
                    <a:ext uri="{9D8B030D-6E8A-4147-A177-3AD203B41FA5}">
                      <a16:colId xmlns="" xmlns:a16="http://schemas.microsoft.com/office/drawing/2014/main" val="329600654"/>
                    </a:ext>
                  </a:extLst>
                </a:gridCol>
              </a:tblGrid>
              <a:tr h="551831">
                <a:tc>
                  <a:txBody>
                    <a:bodyPr/>
                    <a:lstStyle/>
                    <a:p>
                      <a:pPr>
                        <a:buNone/>
                      </a:pPr>
                      <a:r>
                        <a:rPr lang="fr-FR" sz="1600" b="1" dirty="0"/>
                        <a:t>Virus</a:t>
                      </a:r>
                      <a:endParaRPr lang="fr-FR" sz="1600" b="1" dirty="0">
                        <a:latin typeface="Calibri" panose="020F0502020204030204" pitchFamily="34" charset="0"/>
                        <a:cs typeface="Calibri" panose="020F0502020204030204" pitchFamily="34" charset="0"/>
                      </a:endParaRPr>
                    </a:p>
                  </a:txBody>
                  <a:tcPr marL="41441" marR="41441" marT="20721" marB="20721" anchor="ctr"/>
                </a:tc>
                <a:tc>
                  <a:txBody>
                    <a:bodyPr/>
                    <a:lstStyle/>
                    <a:p>
                      <a:pPr>
                        <a:buNone/>
                      </a:pPr>
                      <a:r>
                        <a:rPr lang="fr-FR" sz="1600" b="1"/>
                        <a:t>Réservoir</a:t>
                      </a:r>
                      <a:endParaRPr lang="fr-FR" sz="1600" b="1">
                        <a:latin typeface="Calibri" panose="020F0502020204030204" pitchFamily="34" charset="0"/>
                        <a:cs typeface="Calibri" panose="020F0502020204030204" pitchFamily="34" charset="0"/>
                      </a:endParaRPr>
                    </a:p>
                  </a:txBody>
                  <a:tcPr marL="41441" marR="41441" marT="20721" marB="20721" anchor="ctr"/>
                </a:tc>
                <a:tc>
                  <a:txBody>
                    <a:bodyPr/>
                    <a:lstStyle/>
                    <a:p>
                      <a:pPr>
                        <a:buNone/>
                      </a:pPr>
                      <a:r>
                        <a:rPr lang="fr-FR" sz="1600" b="1"/>
                        <a:t>Transmission principale</a:t>
                      </a:r>
                      <a:endParaRPr lang="fr-FR" sz="1600" b="1">
                        <a:latin typeface="Calibri" panose="020F0502020204030204" pitchFamily="34" charset="0"/>
                        <a:cs typeface="Calibri" panose="020F0502020204030204" pitchFamily="34" charset="0"/>
                      </a:endParaRPr>
                    </a:p>
                  </a:txBody>
                  <a:tcPr marL="41441" marR="41441" marT="20721" marB="20721" anchor="ctr"/>
                </a:tc>
                <a:tc>
                  <a:txBody>
                    <a:bodyPr/>
                    <a:lstStyle/>
                    <a:p>
                      <a:pPr>
                        <a:buNone/>
                      </a:pPr>
                      <a:r>
                        <a:rPr lang="fr-FR" sz="1600" b="1"/>
                        <a:t>Zones d’endémie</a:t>
                      </a:r>
                      <a:endParaRPr lang="fr-FR" sz="1600" b="1">
                        <a:latin typeface="Calibri" panose="020F0502020204030204" pitchFamily="34" charset="0"/>
                        <a:cs typeface="Calibri" panose="020F0502020204030204" pitchFamily="34" charset="0"/>
                      </a:endParaRPr>
                    </a:p>
                  </a:txBody>
                  <a:tcPr marL="41441" marR="41441" marT="20721" marB="20721" anchor="ctr"/>
                </a:tc>
                <a:tc>
                  <a:txBody>
                    <a:bodyPr/>
                    <a:lstStyle/>
                    <a:p>
                      <a:pPr>
                        <a:buNone/>
                      </a:pPr>
                      <a:r>
                        <a:rPr lang="fr-FR" sz="1600" b="1"/>
                        <a:t>Forme chronique</a:t>
                      </a:r>
                      <a:endParaRPr lang="fr-FR" sz="1600" b="1">
                        <a:latin typeface="Calibri" panose="020F0502020204030204" pitchFamily="34" charset="0"/>
                        <a:cs typeface="Calibri" panose="020F0502020204030204" pitchFamily="34" charset="0"/>
                      </a:endParaRPr>
                    </a:p>
                  </a:txBody>
                  <a:tcPr marL="41441" marR="41441" marT="20721" marB="20721" anchor="ctr"/>
                </a:tc>
                <a:tc>
                  <a:txBody>
                    <a:bodyPr/>
                    <a:lstStyle/>
                    <a:p>
                      <a:pPr>
                        <a:buNone/>
                      </a:pPr>
                      <a:r>
                        <a:rPr lang="fr-FR" sz="1600" b="1" dirty="0"/>
                        <a:t>Particularités</a:t>
                      </a:r>
                      <a:endParaRPr lang="fr-FR" sz="1600" b="1" dirty="0">
                        <a:latin typeface="Calibri" panose="020F0502020204030204" pitchFamily="34" charset="0"/>
                        <a:cs typeface="Calibri" panose="020F0502020204030204" pitchFamily="34" charset="0"/>
                      </a:endParaRPr>
                    </a:p>
                  </a:txBody>
                  <a:tcPr marL="41441" marR="41441" marT="20721" marB="20721" anchor="ctr"/>
                </a:tc>
                <a:extLst>
                  <a:ext uri="{0D108BD9-81ED-4DB2-BD59-A6C34878D82A}">
                    <a16:rowId xmlns="" xmlns:a16="http://schemas.microsoft.com/office/drawing/2014/main" val="1172275015"/>
                  </a:ext>
                </a:extLst>
              </a:tr>
              <a:tr h="982159">
                <a:tc>
                  <a:txBody>
                    <a:bodyPr/>
                    <a:lstStyle/>
                    <a:p>
                      <a:pPr>
                        <a:buNone/>
                      </a:pPr>
                      <a:r>
                        <a:rPr lang="fr-FR" sz="1600" b="1" dirty="0"/>
                        <a:t>VHA</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Humain</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err="1"/>
                        <a:t>Oro</a:t>
                      </a:r>
                      <a:r>
                        <a:rPr lang="fr-FR" sz="1600" dirty="0"/>
                        <a:t>-fécale (eau, aliments, contact interhumain)</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Pays à faible hygiène (Afrique, Asie, Amérique latine)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TN" sz="1600"/>
                        <a:t>❌ </a:t>
                      </a:r>
                      <a:r>
                        <a:rPr lang="fr-FR" sz="1600"/>
                        <a:t>Jamais</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Pas de portage chronique, formes fulminantes rares, vaccin efficace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extLst>
                  <a:ext uri="{0D108BD9-81ED-4DB2-BD59-A6C34878D82A}">
                    <a16:rowId xmlns="" xmlns:a16="http://schemas.microsoft.com/office/drawing/2014/main" val="2626426022"/>
                  </a:ext>
                </a:extLst>
              </a:tr>
              <a:tr h="1217691">
                <a:tc>
                  <a:txBody>
                    <a:bodyPr/>
                    <a:lstStyle/>
                    <a:p>
                      <a:pPr>
                        <a:buNone/>
                      </a:pPr>
                      <a:r>
                        <a:rPr lang="fr-FR" sz="1600" b="1"/>
                        <a:t>VHB</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Humain</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Sang, sexuelle, mère-enfant (à la naissance), horizontale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Forte endémie : Asie, Afrique ; intermédiaire : Maghreb ; faible : Europe, USA</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Oui (surtout si contamination néonatale)</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Oncogène (carcinome hépatocellulaire), vaccin efficace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extLst>
                  <a:ext uri="{0D108BD9-81ED-4DB2-BD59-A6C34878D82A}">
                    <a16:rowId xmlns="" xmlns:a16="http://schemas.microsoft.com/office/drawing/2014/main" val="2259536994"/>
                  </a:ext>
                </a:extLst>
              </a:tr>
              <a:tr h="1217691">
                <a:tc>
                  <a:txBody>
                    <a:bodyPr/>
                    <a:lstStyle/>
                    <a:p>
                      <a:pPr>
                        <a:buNone/>
                      </a:pPr>
                      <a:r>
                        <a:rPr lang="fr-FR" sz="1600" b="1"/>
                        <a:t>VHC</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Humain</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Sanguine (toxicomanie IV, transfusion avant dépistage, AES)</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Prévalence élevée Égypte, Afrique du Nord ; faible en Europe/USA</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Oui (80%)</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Pas de vaccin, évolution fréquente vers cirrhose et CHC, très bonne réponse aux AAD</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extLst>
                  <a:ext uri="{0D108BD9-81ED-4DB2-BD59-A6C34878D82A}">
                    <a16:rowId xmlns="" xmlns:a16="http://schemas.microsoft.com/office/drawing/2014/main" val="4128623358"/>
                  </a:ext>
                </a:extLst>
              </a:tr>
              <a:tr h="1217691">
                <a:tc>
                  <a:txBody>
                    <a:bodyPr/>
                    <a:lstStyle/>
                    <a:p>
                      <a:pPr>
                        <a:buNone/>
                      </a:pPr>
                      <a:r>
                        <a:rPr lang="fr-FR" sz="1600" b="1"/>
                        <a:t>VHD</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Humain (nécessite VHB)</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Sang, sexuelle, mère-enfant</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Zones d’endémie VHB : Afrique, bassin méditerranéen, Amazonie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Oui (plus sévère que VHB seul)</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Dépendance au VHB, aggravation de la fibrose et du risque de CHC</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extLst>
                  <a:ext uri="{0D108BD9-81ED-4DB2-BD59-A6C34878D82A}">
                    <a16:rowId xmlns="" xmlns:a16="http://schemas.microsoft.com/office/drawing/2014/main" val="267322141"/>
                  </a:ext>
                </a:extLst>
              </a:tr>
              <a:tr h="1453224">
                <a:tc>
                  <a:txBody>
                    <a:bodyPr/>
                    <a:lstStyle/>
                    <a:p>
                      <a:pPr>
                        <a:buNone/>
                      </a:pPr>
                      <a:r>
                        <a:rPr lang="fr-FR" sz="1600" b="1"/>
                        <a:t>VHE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Humain et animal (zoonose, porcs, cervidés)</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Fécale-orale (eau contaminée), zoonose, transfusion</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a:t>Endémique : Asie, Afrique, Amérique du Sud ; cas sporadiques en Europe</a:t>
                      </a:r>
                      <a:endParaRPr lang="fr-FR" sz="160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Rare (sauf immunodéprimés, greffés, génotype 3)</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tc>
                  <a:txBody>
                    <a:bodyPr/>
                    <a:lstStyle/>
                    <a:p>
                      <a:pPr>
                        <a:buNone/>
                      </a:pPr>
                      <a:r>
                        <a:rPr lang="fr-FR" sz="1600" dirty="0"/>
                        <a:t>Formes graves chez la femme enceinte (3ᵉ trimestre), pas de vaccin largement disponible</a:t>
                      </a:r>
                      <a:endParaRPr lang="fr-FR" sz="1600" dirty="0">
                        <a:latin typeface="Calibri" panose="020F0502020204030204" pitchFamily="34" charset="0"/>
                        <a:cs typeface="Calibri" panose="020F0502020204030204" pitchFamily="34" charset="0"/>
                      </a:endParaRPr>
                    </a:p>
                  </a:txBody>
                  <a:tcPr marL="41441" marR="41441" marT="20721" marB="20721" anchor="ctr">
                    <a:solidFill>
                      <a:schemeClr val="tx2">
                        <a:lumMod val="10000"/>
                        <a:lumOff val="90000"/>
                      </a:schemeClr>
                    </a:solidFill>
                  </a:tcPr>
                </a:tc>
                <a:extLst>
                  <a:ext uri="{0D108BD9-81ED-4DB2-BD59-A6C34878D82A}">
                    <a16:rowId xmlns="" xmlns:a16="http://schemas.microsoft.com/office/drawing/2014/main" val="2802930845"/>
                  </a:ext>
                </a:extLst>
              </a:tr>
            </a:tbl>
          </a:graphicData>
        </a:graphic>
      </p:graphicFrame>
    </p:spTree>
    <p:extLst>
      <p:ext uri="{BB962C8B-B14F-4D97-AF65-F5344CB8AC3E}">
        <p14:creationId xmlns="" xmlns:p14="http://schemas.microsoft.com/office/powerpoint/2010/main" val="15211164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2E36854-88B0-4E3E-53FD-F2EA8F581553}"/>
              </a:ext>
            </a:extLst>
          </p:cNvPr>
          <p:cNvSpPr>
            <a:spLocks noGrp="1"/>
          </p:cNvSpPr>
          <p:nvPr>
            <p:ph type="title"/>
          </p:nvPr>
        </p:nvSpPr>
        <p:spPr>
          <a:xfrm>
            <a:off x="838200" y="226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16 : Dans l’hépatite A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L’incubation est de l’ordre de 1 à 2 semaines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L’ictère précède généralement la phase prodromique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Une forme fulminante peut survenir dans 1% des cas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 traitement repose sur un antiviral spécifique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L’immunité acquise après infection est durable</a:t>
            </a:r>
          </a:p>
        </p:txBody>
      </p:sp>
    </p:spTree>
    <p:extLst>
      <p:ext uri="{BB962C8B-B14F-4D97-AF65-F5344CB8AC3E}">
        <p14:creationId xmlns="" xmlns:p14="http://schemas.microsoft.com/office/powerpoint/2010/main" val="40680168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8638290-8663-FCCE-AE9E-0837F1FE6FD1}"/>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D96F72E7-50EE-52AC-2A72-42E0C753DFBE}"/>
              </a:ext>
            </a:extLst>
          </p:cNvPr>
          <p:cNvSpPr>
            <a:spLocks noGrp="1"/>
          </p:cNvSpPr>
          <p:nvPr>
            <p:ph type="title"/>
          </p:nvPr>
        </p:nvSpPr>
        <p:spPr>
          <a:xfrm>
            <a:off x="838200" y="226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16 : Dans l’hépatite A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L’incubation est de l’ordre de 1 à 2 semaines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L’ictère précède généralement la phase prodromique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Une forme fulminante peut survenir dans 1% des cas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 traitement repose sur un antiviral spécifique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L’immunité acquise après infection est durable</a:t>
            </a:r>
          </a:p>
        </p:txBody>
      </p:sp>
      <p:sp>
        <p:nvSpPr>
          <p:cNvPr id="3" name="ZoneTexte 2">
            <a:extLst>
              <a:ext uri="{FF2B5EF4-FFF2-40B4-BE49-F238E27FC236}">
                <a16:creationId xmlns="" xmlns:a16="http://schemas.microsoft.com/office/drawing/2014/main" id="{77CB75D0-AE8A-EFB5-FF81-810720CF2F7E}"/>
              </a:ext>
            </a:extLst>
          </p:cNvPr>
          <p:cNvSpPr txBox="1"/>
          <p:nvPr/>
        </p:nvSpPr>
        <p:spPr>
          <a:xfrm>
            <a:off x="5725128" y="4803494"/>
            <a:ext cx="6046325" cy="1015663"/>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dirty="0"/>
              <a:t>Immunité protectrice à vie</a:t>
            </a:r>
          </a:p>
          <a:p>
            <a:pPr marL="285750" indent="-285750">
              <a:buFont typeface="Wingdings" panose="05000000000000000000" pitchFamily="2" charset="2"/>
              <a:buChar char="ü"/>
            </a:pPr>
            <a:r>
              <a:rPr lang="fr-FR" sz="2000" dirty="0"/>
              <a:t>C’est d’ailleurs l’intérêt du vaccin (immunité durable également)</a:t>
            </a:r>
          </a:p>
        </p:txBody>
      </p:sp>
      <p:sp>
        <p:nvSpPr>
          <p:cNvPr id="4" name="ZoneTexte 3">
            <a:extLst>
              <a:ext uri="{FF2B5EF4-FFF2-40B4-BE49-F238E27FC236}">
                <a16:creationId xmlns="" xmlns:a16="http://schemas.microsoft.com/office/drawing/2014/main" id="{9D291A75-EDBF-6448-7EEF-1CE4DBED78DE}"/>
              </a:ext>
            </a:extLst>
          </p:cNvPr>
          <p:cNvSpPr txBox="1"/>
          <p:nvPr/>
        </p:nvSpPr>
        <p:spPr>
          <a:xfrm>
            <a:off x="7843777" y="1855561"/>
            <a:ext cx="1942480" cy="407876"/>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sz="2000" dirty="0"/>
              <a:t>15-45 jours</a:t>
            </a:r>
            <a:endParaRPr lang="fr-TN" sz="2000" dirty="0"/>
          </a:p>
        </p:txBody>
      </p:sp>
      <p:sp>
        <p:nvSpPr>
          <p:cNvPr id="5" name="ZoneTexte 4">
            <a:extLst>
              <a:ext uri="{FF2B5EF4-FFF2-40B4-BE49-F238E27FC236}">
                <a16:creationId xmlns="" xmlns:a16="http://schemas.microsoft.com/office/drawing/2014/main" id="{9847B60A-E449-B217-6FE0-39E29642659C}"/>
              </a:ext>
            </a:extLst>
          </p:cNvPr>
          <p:cNvSpPr txBox="1"/>
          <p:nvPr/>
        </p:nvSpPr>
        <p:spPr>
          <a:xfrm>
            <a:off x="5156521" y="2444225"/>
            <a:ext cx="6825205" cy="677108"/>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Les manifestations de la période prodromique s’atténuent, puis disparaissent lorsque l’ictère se développe</a:t>
            </a:r>
            <a:r>
              <a:rPr lang="fr-FR" sz="2000" dirty="0"/>
              <a:t> </a:t>
            </a:r>
            <a:endParaRPr lang="fr-TN" sz="2000" dirty="0"/>
          </a:p>
        </p:txBody>
      </p:sp>
      <p:sp>
        <p:nvSpPr>
          <p:cNvPr id="6" name="ZoneTexte 5">
            <a:extLst>
              <a:ext uri="{FF2B5EF4-FFF2-40B4-BE49-F238E27FC236}">
                <a16:creationId xmlns="" xmlns:a16="http://schemas.microsoft.com/office/drawing/2014/main" id="{35A616E6-56C3-931E-95EC-E91C0FD4008F}"/>
              </a:ext>
            </a:extLst>
          </p:cNvPr>
          <p:cNvSpPr txBox="1"/>
          <p:nvPr/>
        </p:nvSpPr>
        <p:spPr>
          <a:xfrm>
            <a:off x="7881257" y="3228945"/>
            <a:ext cx="4100469" cy="400110"/>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0,1 % surtout chez le sujet &gt; 40 ans</a:t>
            </a:r>
            <a:r>
              <a:rPr lang="fr-FR" sz="2000" dirty="0"/>
              <a:t> </a:t>
            </a:r>
            <a:endParaRPr lang="fr-TN" sz="2000" dirty="0"/>
          </a:p>
        </p:txBody>
      </p:sp>
      <p:sp>
        <p:nvSpPr>
          <p:cNvPr id="7" name="ZoneTexte 6">
            <a:extLst>
              <a:ext uri="{FF2B5EF4-FFF2-40B4-BE49-F238E27FC236}">
                <a16:creationId xmlns="" xmlns:a16="http://schemas.microsoft.com/office/drawing/2014/main" id="{FBBFA586-5A02-831B-625A-0D03281B3131}"/>
              </a:ext>
            </a:extLst>
          </p:cNvPr>
          <p:cNvSpPr txBox="1"/>
          <p:nvPr/>
        </p:nvSpPr>
        <p:spPr>
          <a:xfrm>
            <a:off x="8246960" y="3769788"/>
            <a:ext cx="3734766" cy="646331"/>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Mesures non spécifiques, pas de traitement viral disponible</a:t>
            </a:r>
            <a:endParaRPr lang="fr-TN" sz="2000" dirty="0"/>
          </a:p>
        </p:txBody>
      </p:sp>
    </p:spTree>
    <p:extLst>
      <p:ext uri="{BB962C8B-B14F-4D97-AF65-F5344CB8AC3E}">
        <p14:creationId xmlns="" xmlns:p14="http://schemas.microsoft.com/office/powerpoint/2010/main" val="43245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11734A8-7600-3C21-F508-0E82DDC0354D}"/>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17 : La chronicité du VHC est confirmée par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ARN VHC détectable après 6 mois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ALAT élevées pendant 2 semaines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Absence d’ictère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Présence d’anticorps anti-VHC</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Fibrose hépatique F1</a:t>
            </a:r>
          </a:p>
        </p:txBody>
      </p:sp>
    </p:spTree>
    <p:extLst>
      <p:ext uri="{BB962C8B-B14F-4D97-AF65-F5344CB8AC3E}">
        <p14:creationId xmlns="" xmlns:p14="http://schemas.microsoft.com/office/powerpoint/2010/main" val="21941622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4437306-602D-F221-8DD3-B88F9F619E76}"/>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2D06268F-9DEB-9EAB-226B-E2B88E62B4C8}"/>
              </a:ext>
            </a:extLst>
          </p:cNvPr>
          <p:cNvSpPr>
            <a:spLocks noGrp="1"/>
          </p:cNvSpPr>
          <p:nvPr>
            <p:ph type="title"/>
          </p:nvPr>
        </p:nvSpPr>
        <p:spPr>
          <a:xfrm>
            <a:off x="838200" y="210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17 : La chronicité du VHC est confirmée par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ARN VHC détectable après 6 mois</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ALAT élevées pendant 2 semaines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Absence d’ictère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Présence d’anticorps anti-VHC</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Fibrose hépatique F1</a:t>
            </a:r>
          </a:p>
        </p:txBody>
      </p:sp>
      <p:sp>
        <p:nvSpPr>
          <p:cNvPr id="3" name="ZoneTexte 2">
            <a:extLst>
              <a:ext uri="{FF2B5EF4-FFF2-40B4-BE49-F238E27FC236}">
                <a16:creationId xmlns="" xmlns:a16="http://schemas.microsoft.com/office/drawing/2014/main" id="{0799C25E-8209-D0A2-FBD7-DAE99A019B1D}"/>
              </a:ext>
            </a:extLst>
          </p:cNvPr>
          <p:cNvSpPr txBox="1"/>
          <p:nvPr/>
        </p:nvSpPr>
        <p:spPr>
          <a:xfrm>
            <a:off x="5682343" y="1493134"/>
            <a:ext cx="6405485" cy="707886"/>
          </a:xfrm>
          <a:prstGeom prst="rect">
            <a:avLst/>
          </a:prstGeom>
          <a:solidFill>
            <a:schemeClr val="tx2">
              <a:lumMod val="25000"/>
              <a:lumOff val="75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Wingdings" panose="05000000000000000000" pitchFamily="2" charset="2"/>
              <a:buChar char="ü"/>
            </a:pPr>
            <a:r>
              <a:rPr lang="fr-FR" sz="2000" b="1" dirty="0"/>
              <a:t>chronicité</a:t>
            </a:r>
            <a:r>
              <a:rPr lang="fr-FR" sz="2000" dirty="0"/>
              <a:t> = présence d’ARN viral du VHC persistant </a:t>
            </a:r>
            <a:r>
              <a:rPr lang="fr-FR" sz="2000" b="1" dirty="0"/>
              <a:t>≥ 6 mois</a:t>
            </a:r>
            <a:r>
              <a:rPr lang="fr-FR" sz="2000" dirty="0"/>
              <a:t> après le début de l’infection.</a:t>
            </a:r>
          </a:p>
        </p:txBody>
      </p:sp>
      <p:sp>
        <p:nvSpPr>
          <p:cNvPr id="4" name="ZoneTexte 3">
            <a:extLst>
              <a:ext uri="{FF2B5EF4-FFF2-40B4-BE49-F238E27FC236}">
                <a16:creationId xmlns="" xmlns:a16="http://schemas.microsoft.com/office/drawing/2014/main" id="{81789F27-76F5-568B-8DEB-D30A85029506}"/>
              </a:ext>
            </a:extLst>
          </p:cNvPr>
          <p:cNvSpPr txBox="1"/>
          <p:nvPr/>
        </p:nvSpPr>
        <p:spPr>
          <a:xfrm>
            <a:off x="4770699" y="3244334"/>
            <a:ext cx="7317129" cy="923330"/>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smtClean="0"/>
              <a:t>Le</a:t>
            </a:r>
            <a:r>
              <a:rPr lang="fr-FR" b="1" dirty="0" smtClean="0"/>
              <a:t>s </a:t>
            </a:r>
            <a:r>
              <a:rPr lang="fr-FR" b="1" dirty="0" err="1" smtClean="0"/>
              <a:t>Ac</a:t>
            </a:r>
            <a:r>
              <a:rPr lang="fr-FR" b="1" dirty="0" smtClean="0"/>
              <a:t> anti-VHC</a:t>
            </a:r>
            <a:r>
              <a:rPr lang="fr-FR" dirty="0" smtClean="0"/>
              <a:t> </a:t>
            </a:r>
            <a:r>
              <a:rPr lang="fr-FR" dirty="0"/>
              <a:t>apparaissent après la primo-infection, mais ils persistent même si le virus est éliminé → </a:t>
            </a:r>
            <a:r>
              <a:rPr lang="fr-FR" b="1" dirty="0"/>
              <a:t>ils ne distinguent pas infection aiguë, ancienne guérie, ou chronique</a:t>
            </a:r>
            <a:endParaRPr lang="fr-FR" dirty="0"/>
          </a:p>
        </p:txBody>
      </p:sp>
      <p:sp>
        <p:nvSpPr>
          <p:cNvPr id="5" name="ZoneTexte 4">
            <a:extLst>
              <a:ext uri="{FF2B5EF4-FFF2-40B4-BE49-F238E27FC236}">
                <a16:creationId xmlns="" xmlns:a16="http://schemas.microsoft.com/office/drawing/2014/main" id="{3FEF380B-7CF9-E668-3A78-C1CC84E49111}"/>
              </a:ext>
            </a:extLst>
          </p:cNvPr>
          <p:cNvSpPr txBox="1"/>
          <p:nvPr/>
        </p:nvSpPr>
        <p:spPr>
          <a:xfrm>
            <a:off x="6245989" y="2384385"/>
            <a:ext cx="5841839" cy="646331"/>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smtClean="0"/>
              <a:t>Les </a:t>
            </a:r>
            <a:r>
              <a:rPr lang="fr-FR" dirty="0"/>
              <a:t>ALAT peuvent fluctuer et même se normaliser dans la chronicité</a:t>
            </a:r>
            <a:endParaRPr lang="fr-TN" dirty="0"/>
          </a:p>
        </p:txBody>
      </p:sp>
      <p:sp>
        <p:nvSpPr>
          <p:cNvPr id="6" name="ZoneTexte 5">
            <a:extLst>
              <a:ext uri="{FF2B5EF4-FFF2-40B4-BE49-F238E27FC236}">
                <a16:creationId xmlns="" xmlns:a16="http://schemas.microsoft.com/office/drawing/2014/main" id="{C19A8BAF-11BC-D2E2-0B2E-E75D1D51CC4B}"/>
              </a:ext>
            </a:extLst>
          </p:cNvPr>
          <p:cNvSpPr txBox="1"/>
          <p:nvPr/>
        </p:nvSpPr>
        <p:spPr>
          <a:xfrm>
            <a:off x="4770698" y="4287648"/>
            <a:ext cx="7317129" cy="646331"/>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La présence d’une fibrose, quel que soit son stade, </a:t>
            </a:r>
            <a:r>
              <a:rPr lang="fr-FR" b="1" dirty="0"/>
              <a:t>témoigne d’une atteinte évolutive</a:t>
            </a:r>
            <a:r>
              <a:rPr lang="fr-FR" dirty="0"/>
              <a:t> mais ne suffit pas à prouver la chronicité</a:t>
            </a:r>
            <a:endParaRPr lang="fr-TN" dirty="0"/>
          </a:p>
        </p:txBody>
      </p:sp>
    </p:spTree>
    <p:extLst>
      <p:ext uri="{BB962C8B-B14F-4D97-AF65-F5344CB8AC3E}">
        <p14:creationId xmlns="" xmlns:p14="http://schemas.microsoft.com/office/powerpoint/2010/main" val="72507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84F4EA4-8244-7CF6-12DB-D599D8756815}"/>
              </a:ext>
            </a:extLst>
          </p:cNvPr>
          <p:cNvSpPr>
            <a:spLocks noGrp="1"/>
          </p:cNvSpPr>
          <p:nvPr>
            <p:ph type="title"/>
          </p:nvPr>
        </p:nvSpPr>
        <p:spPr>
          <a:xfrm>
            <a:off x="838200" y="2507986"/>
            <a:ext cx="10515600" cy="1325563"/>
          </a:xfrm>
        </p:spPr>
        <p:txBody>
          <a:bodyPr>
            <a:noAutofit/>
          </a:bodyPr>
          <a:lstStyle/>
          <a:p>
            <a:r>
              <a:rPr lang="fr-FR" b="1" kern="100" dirty="0">
                <a:solidFill>
                  <a:schemeClr val="accent4"/>
                </a:solidFill>
              </a:rPr>
              <a:t>Question 18 : Le risque de passage à la chronicité au cours de l’hépatite virale B est augmenté dans les situations suivantes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Infection chez le nouveau-né</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Infection chez une personne âgée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t>
            </a:r>
            <a:r>
              <a:rPr lang="fr-FR" i="0" u="none" strike="noStrike" kern="100" baseline="0" dirty="0" err="1">
                <a:latin typeface="Calibri" panose="020F0502020204030204" pitchFamily="34" charset="0"/>
              </a:rPr>
              <a:t>Coinfection</a:t>
            </a:r>
            <a:r>
              <a:rPr lang="fr-FR" i="0" u="none" strike="noStrike" kern="100" baseline="0" dirty="0">
                <a:latin typeface="Calibri" panose="020F0502020204030204" pitchFamily="34" charset="0"/>
              </a:rPr>
              <a:t> avec le virus de l’hépatite D </a:t>
            </a:r>
            <a:br>
              <a:rPr lang="fr-FR" i="0" u="none" strike="noStrike" kern="100" baseline="0" dirty="0">
                <a:latin typeface="Calibri" panose="020F0502020204030204" pitchFamily="34" charset="0"/>
              </a:rPr>
            </a:br>
            <a:r>
              <a:rPr lang="fr-FR" i="0" u="none" strike="noStrike" kern="100" baseline="0" dirty="0" err="1">
                <a:latin typeface="Calibri" panose="020F0502020204030204" pitchFamily="34" charset="0"/>
              </a:rPr>
              <a:t>D</a:t>
            </a:r>
            <a:r>
              <a:rPr lang="fr-FR" i="0" u="none" strike="noStrike" kern="100" baseline="0" dirty="0">
                <a:latin typeface="Calibri" panose="020F0502020204030204" pitchFamily="34" charset="0"/>
              </a:rPr>
              <a:t>. </a:t>
            </a:r>
            <a:r>
              <a:rPr lang="fr-FR" i="0" u="none" strike="noStrike" kern="100" baseline="0" dirty="0" err="1">
                <a:latin typeface="Calibri" panose="020F0502020204030204" pitchFamily="34" charset="0"/>
              </a:rPr>
              <a:t>Coinfection</a:t>
            </a:r>
            <a:r>
              <a:rPr lang="fr-FR" i="0" u="none" strike="noStrike" kern="100" baseline="0" dirty="0">
                <a:latin typeface="Calibri" panose="020F0502020204030204" pitchFamily="34" charset="0"/>
              </a:rPr>
              <a:t> avec le virus de l’hépatite C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Immunodépression</a:t>
            </a:r>
          </a:p>
        </p:txBody>
      </p:sp>
    </p:spTree>
    <p:extLst>
      <p:ext uri="{BB962C8B-B14F-4D97-AF65-F5344CB8AC3E}">
        <p14:creationId xmlns="" xmlns:p14="http://schemas.microsoft.com/office/powerpoint/2010/main" val="20739896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18D9A44-09E8-27FB-699E-1EEEEB97927A}"/>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2360D646-62E0-9596-43E8-D85D11F3481E}"/>
              </a:ext>
            </a:extLst>
          </p:cNvPr>
          <p:cNvSpPr>
            <a:spLocks noGrp="1"/>
          </p:cNvSpPr>
          <p:nvPr>
            <p:ph type="title"/>
          </p:nvPr>
        </p:nvSpPr>
        <p:spPr>
          <a:xfrm>
            <a:off x="838200" y="2507986"/>
            <a:ext cx="10515600" cy="1325563"/>
          </a:xfrm>
        </p:spPr>
        <p:txBody>
          <a:bodyPr>
            <a:noAutofit/>
          </a:bodyPr>
          <a:lstStyle/>
          <a:p>
            <a:r>
              <a:rPr lang="fr-FR" b="1" kern="100" dirty="0">
                <a:solidFill>
                  <a:schemeClr val="accent4"/>
                </a:solidFill>
              </a:rPr>
              <a:t>Question 18 : Le risque de passage à la chronicité au cours de l’hépatite virale B est augmenté dans les situations suivantes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Infection chez le nouveau-né</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Infection chez une personne âgée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C. </a:t>
            </a:r>
            <a:r>
              <a:rPr lang="fr-FR" i="0" u="none" strike="noStrike" kern="100" baseline="0" dirty="0" err="1">
                <a:solidFill>
                  <a:schemeClr val="accent2"/>
                </a:solidFill>
                <a:latin typeface="Calibri" panose="020F0502020204030204" pitchFamily="34" charset="0"/>
              </a:rPr>
              <a:t>Coinfection</a:t>
            </a:r>
            <a:r>
              <a:rPr lang="fr-FR" i="0" u="none" strike="noStrike" kern="100" baseline="0" dirty="0">
                <a:solidFill>
                  <a:schemeClr val="accent2"/>
                </a:solidFill>
                <a:latin typeface="Calibri" panose="020F0502020204030204" pitchFamily="34" charset="0"/>
              </a:rPr>
              <a:t> avec le virus de l’hépatite D </a:t>
            </a:r>
            <a:br>
              <a:rPr lang="fr-FR" i="0" u="none" strike="noStrike" kern="100" baseline="0" dirty="0">
                <a:solidFill>
                  <a:schemeClr val="accent2"/>
                </a:solidFill>
                <a:latin typeface="Calibri" panose="020F0502020204030204" pitchFamily="34" charset="0"/>
              </a:rPr>
            </a:br>
            <a:r>
              <a:rPr lang="fr-FR" i="0" u="none" strike="noStrike" kern="100" baseline="0" dirty="0" err="1">
                <a:solidFill>
                  <a:schemeClr val="accent2"/>
                </a:solidFill>
                <a:latin typeface="Calibri" panose="020F0502020204030204" pitchFamily="34" charset="0"/>
              </a:rPr>
              <a:t>D</a:t>
            </a:r>
            <a:r>
              <a:rPr lang="fr-FR" i="0" u="none" strike="noStrike" kern="100" baseline="0" dirty="0">
                <a:solidFill>
                  <a:schemeClr val="accent2"/>
                </a:solidFill>
                <a:latin typeface="Calibri" panose="020F0502020204030204" pitchFamily="34" charset="0"/>
              </a:rPr>
              <a:t>. </a:t>
            </a:r>
            <a:r>
              <a:rPr lang="fr-FR" i="0" u="none" strike="noStrike" kern="100" baseline="0" dirty="0" err="1">
                <a:solidFill>
                  <a:schemeClr val="accent2"/>
                </a:solidFill>
                <a:latin typeface="Calibri" panose="020F0502020204030204" pitchFamily="34" charset="0"/>
              </a:rPr>
              <a:t>Coinfection</a:t>
            </a:r>
            <a:r>
              <a:rPr lang="fr-FR" i="0" u="none" strike="noStrike" kern="100" baseline="0" dirty="0">
                <a:solidFill>
                  <a:schemeClr val="accent2"/>
                </a:solidFill>
                <a:latin typeface="Calibri" panose="020F0502020204030204" pitchFamily="34" charset="0"/>
              </a:rPr>
              <a:t> avec le virus de l’hépatite C </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E. Immunodépression</a:t>
            </a:r>
          </a:p>
        </p:txBody>
      </p:sp>
      <p:sp>
        <p:nvSpPr>
          <p:cNvPr id="3" name="ZoneTexte 2">
            <a:extLst>
              <a:ext uri="{FF2B5EF4-FFF2-40B4-BE49-F238E27FC236}">
                <a16:creationId xmlns="" xmlns:a16="http://schemas.microsoft.com/office/drawing/2014/main" id="{E768568B-F9BB-E066-AA2F-94FD70D2257E}"/>
              </a:ext>
            </a:extLst>
          </p:cNvPr>
          <p:cNvSpPr txBox="1"/>
          <p:nvPr/>
        </p:nvSpPr>
        <p:spPr>
          <a:xfrm>
            <a:off x="4178461" y="2956560"/>
            <a:ext cx="7689447" cy="646331"/>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Chez l’adulte immunocompétent, le risque de chronicité est faible : </a:t>
            </a:r>
            <a:r>
              <a:rPr lang="fr-FR" b="1" dirty="0" smtClean="0"/>
              <a:t>&lt;10 </a:t>
            </a:r>
            <a:r>
              <a:rPr lang="fr-FR" b="1" dirty="0"/>
              <a:t>%</a:t>
            </a:r>
            <a:r>
              <a:rPr lang="fr-FR" dirty="0"/>
              <a:t>.</a:t>
            </a:r>
          </a:p>
          <a:p>
            <a:r>
              <a:rPr lang="fr-FR" dirty="0"/>
              <a:t>Pas d’augmentation du risque avec l’âge avancé</a:t>
            </a:r>
          </a:p>
        </p:txBody>
      </p:sp>
    </p:spTree>
    <p:extLst>
      <p:ext uri="{BB962C8B-B14F-4D97-AF65-F5344CB8AC3E}">
        <p14:creationId xmlns="" xmlns:p14="http://schemas.microsoft.com/office/powerpoint/2010/main" val="2983379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FFEF623-82F8-A25D-F2FB-2B8EF6E01754}"/>
              </a:ext>
            </a:extLst>
          </p:cNvPr>
          <p:cNvSpPr>
            <a:spLocks noGrp="1"/>
          </p:cNvSpPr>
          <p:nvPr>
            <p:ph type="title"/>
          </p:nvPr>
        </p:nvSpPr>
        <p:spPr>
          <a:xfrm>
            <a:off x="838200" y="2561149"/>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19 : L’hépatite E chez la femme enceinte peut se compliquer par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Forme fulminante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t>
            </a:r>
            <a:r>
              <a:rPr lang="fr-FR" i="0" u="none" strike="noStrike" kern="100" baseline="0" dirty="0" smtClean="0">
                <a:latin typeface="Calibri" panose="020F0502020204030204" pitchFamily="34" charset="0"/>
              </a:rPr>
              <a:t>Passage  </a:t>
            </a:r>
            <a:r>
              <a:rPr lang="fr-FR" i="0" u="none" strike="noStrike" kern="100" baseline="0" dirty="0">
                <a:latin typeface="Calibri" panose="020F0502020204030204" pitchFamily="34" charset="0"/>
              </a:rPr>
              <a:t>à la chronicité</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Hypertension portale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Ascite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Hépatocarcinome</a:t>
            </a:r>
          </a:p>
        </p:txBody>
      </p:sp>
    </p:spTree>
    <p:extLst>
      <p:ext uri="{BB962C8B-B14F-4D97-AF65-F5344CB8AC3E}">
        <p14:creationId xmlns="" xmlns:p14="http://schemas.microsoft.com/office/powerpoint/2010/main" val="1760268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00858F7-9B5B-834F-0364-9FAD7D1587E0}"/>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E6174A63-1966-CCF4-7F1C-7CD1C280A2A6}"/>
              </a:ext>
            </a:extLst>
          </p:cNvPr>
          <p:cNvSpPr>
            <a:spLocks noGrp="1"/>
          </p:cNvSpPr>
          <p:nvPr>
            <p:ph type="title"/>
          </p:nvPr>
        </p:nvSpPr>
        <p:spPr>
          <a:xfrm>
            <a:off x="838200" y="2561149"/>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19 : L’hépatite E chez la femme enceinte peut se compliquer par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Forme fulminante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t>
            </a:r>
            <a:r>
              <a:rPr lang="fr-FR" i="0" u="none" strike="noStrike" kern="100" baseline="0" dirty="0" smtClean="0">
                <a:latin typeface="Calibri" panose="020F0502020204030204" pitchFamily="34" charset="0"/>
              </a:rPr>
              <a:t>Passage  </a:t>
            </a:r>
            <a:r>
              <a:rPr lang="fr-FR" i="0" u="none" strike="noStrike" kern="100" baseline="0" dirty="0">
                <a:latin typeface="Calibri" panose="020F0502020204030204" pitchFamily="34" charset="0"/>
              </a:rPr>
              <a:t>à la chronicité</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Hypertension portale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Ascite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Hépatocarcinome</a:t>
            </a:r>
          </a:p>
        </p:txBody>
      </p:sp>
      <p:sp>
        <p:nvSpPr>
          <p:cNvPr id="3" name="ZoneTexte 2">
            <a:extLst>
              <a:ext uri="{FF2B5EF4-FFF2-40B4-BE49-F238E27FC236}">
                <a16:creationId xmlns="" xmlns:a16="http://schemas.microsoft.com/office/drawing/2014/main" id="{50CD08B9-7532-8452-66FE-2EB865482D2A}"/>
              </a:ext>
            </a:extLst>
          </p:cNvPr>
          <p:cNvSpPr txBox="1"/>
          <p:nvPr/>
        </p:nvSpPr>
        <p:spPr>
          <a:xfrm>
            <a:off x="4051139" y="2453832"/>
            <a:ext cx="2872175" cy="369332"/>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Risque: 20</a:t>
            </a:r>
            <a:r>
              <a:rPr lang="fr-FR" dirty="0" smtClean="0"/>
              <a:t>%, T3++</a:t>
            </a:r>
            <a:endParaRPr lang="fr-FR" dirty="0"/>
          </a:p>
        </p:txBody>
      </p:sp>
    </p:spTree>
    <p:extLst>
      <p:ext uri="{BB962C8B-B14F-4D97-AF65-F5344CB8AC3E}">
        <p14:creationId xmlns="" xmlns:p14="http://schemas.microsoft.com/office/powerpoint/2010/main" val="47580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7B1CAB8-7BC0-93BE-B9B8-3DD15E4AB3E5}"/>
              </a:ext>
            </a:extLst>
          </p:cNvPr>
          <p:cNvSpPr>
            <a:spLocks noGrp="1"/>
          </p:cNvSpPr>
          <p:nvPr>
            <p:ph type="title"/>
          </p:nvPr>
        </p:nvSpPr>
        <p:spPr>
          <a:xfrm>
            <a:off x="838200" y="2486720"/>
            <a:ext cx="10515600" cy="1325563"/>
          </a:xfrm>
        </p:spPr>
        <p:txBody>
          <a:bodyPr>
            <a:noAutofit/>
          </a:bodyPr>
          <a:lstStyle/>
          <a:p>
            <a:r>
              <a:rPr lang="fr-FR" b="1" kern="100" dirty="0">
                <a:solidFill>
                  <a:schemeClr val="accent4"/>
                </a:solidFill>
              </a:rPr>
              <a:t>Question 20 : Concernant les marqueurs sérologiques des hépatites virales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Les anticorps Anti-</a:t>
            </a:r>
            <a:r>
              <a:rPr lang="fr-FR" i="0" u="none" strike="noStrike" kern="100" baseline="0" dirty="0" err="1">
                <a:latin typeface="Calibri" panose="020F0502020204030204" pitchFamily="34" charset="0"/>
              </a:rPr>
              <a:t>HBc</a:t>
            </a:r>
            <a:r>
              <a:rPr lang="fr-FR" i="0" u="none" strike="noStrike" kern="100" baseline="0" dirty="0">
                <a:latin typeface="Calibri" panose="020F0502020204030204" pitchFamily="34" charset="0"/>
              </a:rPr>
              <a:t> IgG apparaissent après l’</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a:t>
            </a:r>
            <a:br>
              <a:rPr lang="fr-FR" i="0" u="none" strike="noStrike" kern="100" baseline="0" dirty="0">
                <a:latin typeface="Calibri" panose="020F0502020204030204" pitchFamily="34" charset="0"/>
              </a:rPr>
            </a:br>
            <a:r>
              <a:rPr lang="fr-FR" kern="100" dirty="0"/>
              <a:t>B. Les anticorps Anti-</a:t>
            </a:r>
            <a:r>
              <a:rPr lang="fr-FR" kern="100" dirty="0" err="1"/>
              <a:t>HBs</a:t>
            </a:r>
            <a:r>
              <a:rPr lang="fr-FR" kern="100" dirty="0"/>
              <a:t> apparaissent en même temps que l’</a:t>
            </a:r>
            <a:r>
              <a:rPr lang="fr-FR" kern="100" dirty="0" err="1"/>
              <a:t>AgHBs</a:t>
            </a:r>
            <a:r>
              <a:rPr lang="fr-FR" kern="100" dirty="0"/>
              <a:t>.</a:t>
            </a:r>
            <a:br>
              <a:rPr lang="fr-FR" kern="100" dirty="0"/>
            </a:br>
            <a:r>
              <a:rPr lang="fr-FR" kern="100" dirty="0"/>
              <a:t>C. L’ADN du VHB peut être présent sans détection d’</a:t>
            </a:r>
            <a:r>
              <a:rPr lang="fr-FR" kern="100" dirty="0" err="1"/>
              <a:t>AgHBs</a:t>
            </a:r>
            <a:r>
              <a:rPr lang="fr-FR" kern="100" dirty="0"/>
              <a:t>.</a:t>
            </a:r>
            <a:br>
              <a:rPr lang="fr-FR" kern="100" dirty="0"/>
            </a:br>
            <a:r>
              <a:rPr lang="fr-FR" kern="100" dirty="0"/>
              <a:t>D. Les IgM </a:t>
            </a:r>
            <a:r>
              <a:rPr lang="fr-FR" kern="100" dirty="0" err="1"/>
              <a:t>anti-HAV</a:t>
            </a:r>
            <a:r>
              <a:rPr lang="fr-FR" kern="100" dirty="0"/>
              <a:t> persistent toute la vie.</a:t>
            </a:r>
            <a:br>
              <a:rPr lang="fr-FR" kern="100" dirty="0"/>
            </a:br>
            <a:r>
              <a:rPr lang="fr-FR" kern="100" dirty="0"/>
              <a:t>E. Les anticorps </a:t>
            </a:r>
            <a:r>
              <a:rPr lang="fr-FR" kern="100" dirty="0" err="1"/>
              <a:t>Anti-HCV</a:t>
            </a:r>
            <a:r>
              <a:rPr lang="fr-FR" kern="100" dirty="0"/>
              <a:t> persistent après guérison.</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111575175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C2E1F0C-1758-E3B3-479F-7D3DB9475DB7}"/>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5C278C1-AF73-30A3-CDC4-940DEA0F3953}"/>
              </a:ext>
            </a:extLst>
          </p:cNvPr>
          <p:cNvSpPr>
            <a:spLocks noGrp="1"/>
          </p:cNvSpPr>
          <p:nvPr>
            <p:ph type="title"/>
          </p:nvPr>
        </p:nvSpPr>
        <p:spPr>
          <a:xfrm>
            <a:off x="838200" y="2486720"/>
            <a:ext cx="10515600" cy="1325563"/>
          </a:xfrm>
        </p:spPr>
        <p:txBody>
          <a:bodyPr>
            <a:noAutofit/>
          </a:bodyPr>
          <a:lstStyle/>
          <a:p>
            <a:r>
              <a:rPr lang="fr-FR" b="1" kern="100" dirty="0">
                <a:solidFill>
                  <a:schemeClr val="accent4"/>
                </a:solidFill>
              </a:rPr>
              <a:t>Question 20 : Concernant les marqueurs sérologiques des hépatites virales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Les anticorps Anti-</a:t>
            </a:r>
            <a:r>
              <a:rPr lang="fr-FR" i="0" u="none" strike="noStrike" kern="100" baseline="0" dirty="0" err="1">
                <a:solidFill>
                  <a:schemeClr val="accent2"/>
                </a:solidFill>
                <a:latin typeface="Calibri" panose="020F0502020204030204" pitchFamily="34" charset="0"/>
              </a:rPr>
              <a:t>HBc</a:t>
            </a:r>
            <a:r>
              <a:rPr lang="fr-FR" i="0" u="none" strike="noStrike" kern="100" baseline="0" dirty="0">
                <a:solidFill>
                  <a:schemeClr val="accent2"/>
                </a:solidFill>
                <a:latin typeface="Calibri" panose="020F0502020204030204" pitchFamily="34" charset="0"/>
              </a:rPr>
              <a:t> IgG apparaissent après l’</a:t>
            </a:r>
            <a:r>
              <a:rPr lang="fr-FR" i="0" u="none" strike="noStrike" kern="100" baseline="0" dirty="0" err="1">
                <a:solidFill>
                  <a:schemeClr val="accent2"/>
                </a:solidFill>
                <a:latin typeface="Calibri" panose="020F0502020204030204" pitchFamily="34" charset="0"/>
              </a:rPr>
              <a:t>AgHBs</a:t>
            </a:r>
            <a:r>
              <a:rPr lang="fr-FR" i="0" u="none" strike="noStrike" kern="100" baseline="0" dirty="0">
                <a:solidFill>
                  <a:schemeClr val="accent2"/>
                </a:solidFill>
                <a:latin typeface="Calibri" panose="020F0502020204030204" pitchFamily="34" charset="0"/>
              </a:rPr>
              <a:t>.</a:t>
            </a:r>
            <a:br>
              <a:rPr lang="fr-FR" i="0" u="none" strike="noStrike" kern="100" baseline="0" dirty="0">
                <a:solidFill>
                  <a:schemeClr val="accent2"/>
                </a:solidFill>
                <a:latin typeface="Calibri" panose="020F0502020204030204" pitchFamily="34" charset="0"/>
              </a:rPr>
            </a:br>
            <a:r>
              <a:rPr lang="fr-FR" kern="100" dirty="0"/>
              <a:t>B. Les anticorps Anti-</a:t>
            </a:r>
            <a:r>
              <a:rPr lang="fr-FR" kern="100" dirty="0" err="1"/>
              <a:t>HBs</a:t>
            </a:r>
            <a:r>
              <a:rPr lang="fr-FR" kern="100" dirty="0"/>
              <a:t> apparaissent en même temps que l’</a:t>
            </a:r>
            <a:r>
              <a:rPr lang="fr-FR" kern="100" dirty="0" err="1"/>
              <a:t>AgHBs</a:t>
            </a:r>
            <a:r>
              <a:rPr lang="fr-FR" kern="100" dirty="0"/>
              <a:t>.</a:t>
            </a:r>
            <a:br>
              <a:rPr lang="fr-FR" kern="100" dirty="0"/>
            </a:br>
            <a:r>
              <a:rPr lang="fr-FR" kern="100" dirty="0">
                <a:solidFill>
                  <a:schemeClr val="accent2"/>
                </a:solidFill>
              </a:rPr>
              <a:t>C. L’ADN du VHB peut être présent sans détection d’</a:t>
            </a:r>
            <a:r>
              <a:rPr lang="fr-FR" kern="100" dirty="0" err="1">
                <a:solidFill>
                  <a:schemeClr val="accent2"/>
                </a:solidFill>
              </a:rPr>
              <a:t>AgHBs</a:t>
            </a:r>
            <a:r>
              <a:rPr lang="fr-FR" kern="100" dirty="0">
                <a:solidFill>
                  <a:schemeClr val="accent2"/>
                </a:solidFill>
              </a:rPr>
              <a:t>.</a:t>
            </a:r>
            <a:br>
              <a:rPr lang="fr-FR" kern="100" dirty="0">
                <a:solidFill>
                  <a:schemeClr val="accent2"/>
                </a:solidFill>
              </a:rPr>
            </a:br>
            <a:r>
              <a:rPr lang="fr-FR" kern="100" dirty="0"/>
              <a:t>D. Les IgM </a:t>
            </a:r>
            <a:r>
              <a:rPr lang="fr-FR" kern="100" dirty="0" err="1"/>
              <a:t>anti-HAV</a:t>
            </a:r>
            <a:r>
              <a:rPr lang="fr-FR" kern="100" dirty="0"/>
              <a:t> persistent toute la vie.</a:t>
            </a:r>
            <a:br>
              <a:rPr lang="fr-FR" kern="100" dirty="0"/>
            </a:br>
            <a:r>
              <a:rPr lang="fr-FR" kern="100" dirty="0">
                <a:solidFill>
                  <a:schemeClr val="accent2"/>
                </a:solidFill>
              </a:rPr>
              <a:t>E. Les anticorps </a:t>
            </a:r>
            <a:r>
              <a:rPr lang="fr-FR" kern="100" dirty="0" err="1">
                <a:solidFill>
                  <a:schemeClr val="accent2"/>
                </a:solidFill>
              </a:rPr>
              <a:t>Anti-HCV</a:t>
            </a:r>
            <a:r>
              <a:rPr lang="fr-FR" kern="100" dirty="0">
                <a:solidFill>
                  <a:schemeClr val="accent2"/>
                </a:solidFill>
              </a:rPr>
              <a:t> persistent après guérison.</a:t>
            </a:r>
            <a:endParaRPr lang="fr-FR" i="0" u="none" strike="noStrike" kern="100" baseline="0" dirty="0">
              <a:solidFill>
                <a:schemeClr val="accent2"/>
              </a:solidFill>
              <a:latin typeface="Calibri" panose="020F0502020204030204" pitchFamily="34" charset="0"/>
            </a:endParaRPr>
          </a:p>
        </p:txBody>
      </p:sp>
      <p:sp>
        <p:nvSpPr>
          <p:cNvPr id="3" name="ZoneTexte 2">
            <a:extLst>
              <a:ext uri="{FF2B5EF4-FFF2-40B4-BE49-F238E27FC236}">
                <a16:creationId xmlns="" xmlns:a16="http://schemas.microsoft.com/office/drawing/2014/main" id="{52EA0E8F-813F-5715-49AF-C7F209950005}"/>
              </a:ext>
            </a:extLst>
          </p:cNvPr>
          <p:cNvSpPr txBox="1"/>
          <p:nvPr/>
        </p:nvSpPr>
        <p:spPr>
          <a:xfrm>
            <a:off x="4132163" y="2801072"/>
            <a:ext cx="7396222" cy="923330"/>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Les anti-</a:t>
            </a:r>
            <a:r>
              <a:rPr lang="fr-FR" dirty="0" err="1"/>
              <a:t>HBs</a:t>
            </a:r>
            <a:r>
              <a:rPr lang="fr-FR" dirty="0"/>
              <a:t> apparaissent </a:t>
            </a:r>
            <a:r>
              <a:rPr lang="fr-FR" b="1" dirty="0"/>
              <a:t>après disparition de l’</a:t>
            </a:r>
            <a:r>
              <a:rPr lang="fr-FR" b="1" dirty="0" err="1"/>
              <a:t>AgHBs</a:t>
            </a:r>
            <a:r>
              <a:rPr lang="fr-FR" dirty="0"/>
              <a:t> (guérison ou vaccination).</a:t>
            </a:r>
          </a:p>
          <a:p>
            <a:r>
              <a:rPr lang="fr-FR" dirty="0" err="1"/>
              <a:t>AgHBs</a:t>
            </a:r>
            <a:r>
              <a:rPr lang="fr-FR" dirty="0"/>
              <a:t> et anti-</a:t>
            </a:r>
            <a:r>
              <a:rPr lang="fr-FR" dirty="0" err="1"/>
              <a:t>HBs</a:t>
            </a:r>
            <a:r>
              <a:rPr lang="fr-FR" dirty="0"/>
              <a:t> ne coexistent pas (sauf rares cas particuliers).</a:t>
            </a:r>
          </a:p>
        </p:txBody>
      </p:sp>
      <p:sp>
        <p:nvSpPr>
          <p:cNvPr id="4" name="ZoneTexte 3">
            <a:extLst>
              <a:ext uri="{FF2B5EF4-FFF2-40B4-BE49-F238E27FC236}">
                <a16:creationId xmlns="" xmlns:a16="http://schemas.microsoft.com/office/drawing/2014/main" id="{CAB1267A-10D2-C53E-5F00-60B6027FA65C}"/>
              </a:ext>
            </a:extLst>
          </p:cNvPr>
          <p:cNvSpPr txBox="1"/>
          <p:nvPr/>
        </p:nvSpPr>
        <p:spPr>
          <a:xfrm>
            <a:off x="7919013" y="3854088"/>
            <a:ext cx="3123235" cy="369332"/>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On parle d’hépatite B occulte</a:t>
            </a:r>
          </a:p>
        </p:txBody>
      </p:sp>
      <p:sp>
        <p:nvSpPr>
          <p:cNvPr id="5" name="ZoneTexte 4">
            <a:extLst>
              <a:ext uri="{FF2B5EF4-FFF2-40B4-BE49-F238E27FC236}">
                <a16:creationId xmlns="" xmlns:a16="http://schemas.microsoft.com/office/drawing/2014/main" id="{874A5315-472D-3A31-0F13-8C0058258CEF}"/>
              </a:ext>
            </a:extLst>
          </p:cNvPr>
          <p:cNvSpPr txBox="1"/>
          <p:nvPr/>
        </p:nvSpPr>
        <p:spPr>
          <a:xfrm>
            <a:off x="7145438" y="4365303"/>
            <a:ext cx="4741762" cy="369332"/>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Ce sont les IgG </a:t>
            </a:r>
            <a:r>
              <a:rPr lang="fr-FR" dirty="0" err="1"/>
              <a:t>anti-HAV</a:t>
            </a:r>
            <a:r>
              <a:rPr lang="fr-FR" dirty="0"/>
              <a:t> qui persistent </a:t>
            </a:r>
          </a:p>
        </p:txBody>
      </p:sp>
    </p:spTree>
    <p:extLst>
      <p:ext uri="{BB962C8B-B14F-4D97-AF65-F5344CB8AC3E}">
        <p14:creationId xmlns="" xmlns:p14="http://schemas.microsoft.com/office/powerpoint/2010/main" val="351394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 xmlns:a16="http://schemas.microsoft.com/office/drawing/2014/main" id="{679DFC01-8530-80B5-2177-3338C434B6EE}"/>
              </a:ext>
            </a:extLst>
          </p:cNvPr>
          <p:cNvGrpSpPr/>
          <p:nvPr/>
        </p:nvGrpSpPr>
        <p:grpSpPr>
          <a:xfrm>
            <a:off x="140558" y="439839"/>
            <a:ext cx="9940992" cy="3067050"/>
            <a:chOff x="140557" y="439838"/>
            <a:chExt cx="10566677" cy="3841737"/>
          </a:xfrm>
        </p:grpSpPr>
        <p:pic>
          <p:nvPicPr>
            <p:cNvPr id="6146" name="Picture 2" descr="Point sur l'HEPATITE B.">
              <a:extLst>
                <a:ext uri="{FF2B5EF4-FFF2-40B4-BE49-F238E27FC236}">
                  <a16:creationId xmlns="" xmlns:a16="http://schemas.microsoft.com/office/drawing/2014/main" id="{3150F5B1-3A04-0E99-BE3A-E434CF2E4CC8}"/>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b="19290"/>
            <a:stretch>
              <a:fillRect/>
            </a:stretch>
          </p:blipFill>
          <p:spPr bwMode="auto">
            <a:xfrm>
              <a:off x="140557" y="439838"/>
              <a:ext cx="10566677" cy="3796496"/>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 xmlns:a16="http://schemas.microsoft.com/office/drawing/2014/main" id="{3D814361-CE2F-E19B-1E3F-DEF742D4153E}"/>
                </a:ext>
              </a:extLst>
            </p:cNvPr>
            <p:cNvSpPr/>
            <p:nvPr/>
          </p:nvSpPr>
          <p:spPr>
            <a:xfrm>
              <a:off x="4664597" y="3912243"/>
              <a:ext cx="2280213" cy="36933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fr-TN"/>
            </a:p>
          </p:txBody>
        </p:sp>
        <p:sp>
          <p:nvSpPr>
            <p:cNvPr id="3" name="ZoneTexte 2">
              <a:extLst>
                <a:ext uri="{FF2B5EF4-FFF2-40B4-BE49-F238E27FC236}">
                  <a16:creationId xmlns="" xmlns:a16="http://schemas.microsoft.com/office/drawing/2014/main" id="{641FC2F8-03C2-1F05-E070-BBEF4F5D6CA3}"/>
                </a:ext>
              </a:extLst>
            </p:cNvPr>
            <p:cNvSpPr txBox="1"/>
            <p:nvPr/>
          </p:nvSpPr>
          <p:spPr>
            <a:xfrm>
              <a:off x="4776486" y="3912243"/>
              <a:ext cx="2639028" cy="369332"/>
            </a:xfrm>
            <a:prstGeom prst="rect">
              <a:avLst/>
            </a:prstGeom>
            <a:noFill/>
          </p:spPr>
          <p:txBody>
            <a:bodyPr wrap="square" rtlCol="0">
              <a:spAutoFit/>
            </a:bodyPr>
            <a:lstStyle/>
            <a:p>
              <a:r>
                <a:rPr lang="fr-FR" dirty="0">
                  <a:solidFill>
                    <a:srgbClr val="FF0000"/>
                  </a:solidFill>
                </a:rPr>
                <a:t>Fenêtre sérologique</a:t>
              </a:r>
              <a:endParaRPr lang="fr-TN" dirty="0">
                <a:solidFill>
                  <a:srgbClr val="FF0000"/>
                </a:solidFill>
              </a:endParaRPr>
            </a:p>
          </p:txBody>
        </p:sp>
      </p:grpSp>
      <p:pic>
        <p:nvPicPr>
          <p:cNvPr id="6" name="Image 5">
            <a:extLst>
              <a:ext uri="{FF2B5EF4-FFF2-40B4-BE49-F238E27FC236}">
                <a16:creationId xmlns="" xmlns:a16="http://schemas.microsoft.com/office/drawing/2014/main" id="{9735A943-425D-0035-BCBE-1E41FEC03CF0}"/>
              </a:ext>
            </a:extLst>
          </p:cNvPr>
          <p:cNvPicPr>
            <a:picLocks noChangeAspect="1"/>
          </p:cNvPicPr>
          <p:nvPr/>
        </p:nvPicPr>
        <p:blipFill>
          <a:blip r:embed="rId3"/>
          <a:stretch>
            <a:fillRect/>
          </a:stretch>
        </p:blipFill>
        <p:spPr>
          <a:xfrm>
            <a:off x="1736203" y="3506889"/>
            <a:ext cx="8055979" cy="3351111"/>
          </a:xfrm>
          <a:prstGeom prst="rect">
            <a:avLst/>
          </a:prstGeom>
        </p:spPr>
      </p:pic>
    </p:spTree>
    <p:extLst>
      <p:ext uri="{BB962C8B-B14F-4D97-AF65-F5344CB8AC3E}">
        <p14:creationId xmlns="" xmlns:p14="http://schemas.microsoft.com/office/powerpoint/2010/main" val="150859033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71D8A1A8-404B-725A-2AE6-CB0A3593F315}"/>
              </a:ext>
            </a:extLst>
          </p:cNvPr>
          <p:cNvSpPr>
            <a:spLocks noGrp="1"/>
          </p:cNvSpPr>
          <p:nvPr>
            <p:ph type="title"/>
          </p:nvPr>
        </p:nvSpPr>
        <p:spPr>
          <a:xfrm>
            <a:off x="838200" y="2582413"/>
            <a:ext cx="10515600" cy="1325563"/>
          </a:xfrm>
        </p:spPr>
        <p:txBody>
          <a:bodyPr>
            <a:noAutofit/>
          </a:bodyPr>
          <a:lstStyle/>
          <a:p>
            <a:r>
              <a:rPr lang="fr-FR" b="1" kern="100" dirty="0">
                <a:solidFill>
                  <a:schemeClr val="accent4"/>
                </a:solidFill>
              </a:rPr>
              <a:t>Question 21 : Parmi les marqueurs suivants, lesquels indiquent une réplication active du virus de l’hépatite 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Antigène </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Anticorps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Charge virale élevée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Anticorps anti-</a:t>
            </a:r>
            <a:r>
              <a:rPr lang="fr-FR" i="0" u="none" strike="noStrike" kern="100" baseline="0" dirty="0" err="1">
                <a:latin typeface="Calibri" panose="020F0502020204030204" pitchFamily="34" charset="0"/>
              </a:rPr>
              <a:t>HBc</a:t>
            </a:r>
            <a:r>
              <a:rPr lang="fr-FR" i="0" u="none" strike="noStrike" kern="100" baseline="0" dirty="0">
                <a:latin typeface="Calibri" panose="020F0502020204030204" pitchFamily="34" charset="0"/>
              </a:rPr>
              <a:t> IgM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Transaminases normales</a:t>
            </a:r>
          </a:p>
        </p:txBody>
      </p:sp>
    </p:spTree>
    <p:extLst>
      <p:ext uri="{BB962C8B-B14F-4D97-AF65-F5344CB8AC3E}">
        <p14:creationId xmlns="" xmlns:p14="http://schemas.microsoft.com/office/powerpoint/2010/main" val="22816687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A4866AF-BF50-BCFE-FCEC-2165862FB1E3}"/>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9113E406-48C3-BAE2-492C-AC3DFF618745}"/>
              </a:ext>
            </a:extLst>
          </p:cNvPr>
          <p:cNvSpPr>
            <a:spLocks noGrp="1"/>
          </p:cNvSpPr>
          <p:nvPr>
            <p:ph type="title"/>
          </p:nvPr>
        </p:nvSpPr>
        <p:spPr>
          <a:xfrm>
            <a:off x="838200" y="2582413"/>
            <a:ext cx="10515600" cy="1325563"/>
          </a:xfrm>
        </p:spPr>
        <p:txBody>
          <a:bodyPr>
            <a:noAutofit/>
          </a:bodyPr>
          <a:lstStyle/>
          <a:p>
            <a:r>
              <a:rPr lang="fr-FR" b="1" kern="100" dirty="0">
                <a:solidFill>
                  <a:schemeClr val="accent4"/>
                </a:solidFill>
              </a:rPr>
              <a:t>Question 21 : Parmi les marqueurs suivants, lesquels indiquent une réplication active du virus de l’hépatite 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Antigène </a:t>
            </a:r>
            <a:r>
              <a:rPr lang="fr-FR" i="0" u="none" strike="noStrike" kern="100" baseline="0" dirty="0" err="1">
                <a:solidFill>
                  <a:schemeClr val="accent2"/>
                </a:solidFill>
                <a:latin typeface="Calibri" panose="020F0502020204030204" pitchFamily="34" charset="0"/>
              </a:rPr>
              <a:t>HBe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Anticorps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C. Charge virale élevée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Anticorps anti-</a:t>
            </a:r>
            <a:r>
              <a:rPr lang="fr-FR" i="0" u="none" strike="noStrike" kern="100" baseline="0" dirty="0" err="1">
                <a:latin typeface="Calibri" panose="020F0502020204030204" pitchFamily="34" charset="0"/>
              </a:rPr>
              <a:t>HBc</a:t>
            </a:r>
            <a:r>
              <a:rPr lang="fr-FR" i="0" u="none" strike="noStrike" kern="100" baseline="0" dirty="0">
                <a:latin typeface="Calibri" panose="020F0502020204030204" pitchFamily="34" charset="0"/>
              </a:rPr>
              <a:t> IgM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Transaminases normales</a:t>
            </a:r>
          </a:p>
        </p:txBody>
      </p:sp>
      <p:pic>
        <p:nvPicPr>
          <p:cNvPr id="4" name="Image 3">
            <a:extLst>
              <a:ext uri="{FF2B5EF4-FFF2-40B4-BE49-F238E27FC236}">
                <a16:creationId xmlns="" xmlns:a16="http://schemas.microsoft.com/office/drawing/2014/main" id="{2928FAA5-15EA-5DD3-B2EC-27FEEF4EF7D2}"/>
              </a:ext>
            </a:extLst>
          </p:cNvPr>
          <p:cNvPicPr>
            <a:picLocks noChangeAspect="1"/>
          </p:cNvPicPr>
          <p:nvPr/>
        </p:nvPicPr>
        <p:blipFill>
          <a:blip r:embed="rId2"/>
          <a:stretch>
            <a:fillRect/>
          </a:stretch>
        </p:blipFill>
        <p:spPr>
          <a:xfrm>
            <a:off x="4665743" y="2374069"/>
            <a:ext cx="7425911" cy="2480124"/>
          </a:xfrm>
          <a:prstGeom prst="rect">
            <a:avLst/>
          </a:prstGeom>
        </p:spPr>
      </p:pic>
    </p:spTree>
    <p:extLst>
      <p:ext uri="{BB962C8B-B14F-4D97-AF65-F5344CB8AC3E}">
        <p14:creationId xmlns="" xmlns:p14="http://schemas.microsoft.com/office/powerpoint/2010/main" val="92152375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1AA889F-2C53-986C-CF07-02B994D0A027}"/>
              </a:ext>
            </a:extLst>
          </p:cNvPr>
          <p:cNvSpPr>
            <a:spLocks noGrp="1"/>
          </p:cNvSpPr>
          <p:nvPr>
            <p:ph type="title"/>
          </p:nvPr>
        </p:nvSpPr>
        <p:spPr>
          <a:xfrm>
            <a:off x="838200" y="2624944"/>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22 : A propos des marqueurs sérologiques de l’hépatite B:</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présence d’</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 signe une infection en cours ou passée.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HBs</a:t>
            </a:r>
            <a:r>
              <a:rPr lang="fr-FR" i="0" u="none" strike="noStrike" kern="100" baseline="0" dirty="0">
                <a:latin typeface="Calibri" panose="020F0502020204030204" pitchFamily="34" charset="0"/>
              </a:rPr>
              <a:t> indiquent la résolution de l’infection.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HBc</a:t>
            </a:r>
            <a:r>
              <a:rPr lang="fr-FR" i="0" u="none" strike="noStrike" kern="100" baseline="0" dirty="0">
                <a:latin typeface="Calibri" panose="020F0502020204030204" pitchFamily="34" charset="0"/>
              </a:rPr>
              <a:t> IgM signalent une infection récente ou une réactivation.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indiquent l’absence de réplication pour un virus mutant.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a:t>
            </a:r>
            <a:r>
              <a:rPr lang="fr-FR" i="0" u="none" strike="noStrike" kern="100" baseline="0" dirty="0" err="1">
                <a:latin typeface="Calibri" panose="020F0502020204030204" pitchFamily="34" charset="0"/>
              </a:rPr>
              <a:t>AgHBc</a:t>
            </a:r>
            <a:r>
              <a:rPr lang="fr-FR" i="0" u="none" strike="noStrike" kern="100" baseline="0" dirty="0">
                <a:latin typeface="Calibri" panose="020F0502020204030204" pitchFamily="34" charset="0"/>
              </a:rPr>
              <a:t> n’est pas détecté dans le sérum en conditions habituelles.</a:t>
            </a:r>
          </a:p>
        </p:txBody>
      </p:sp>
    </p:spTree>
    <p:extLst>
      <p:ext uri="{BB962C8B-B14F-4D97-AF65-F5344CB8AC3E}">
        <p14:creationId xmlns="" xmlns:p14="http://schemas.microsoft.com/office/powerpoint/2010/main" val="383693811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1AA889F-2C53-986C-CF07-02B994D0A027}"/>
              </a:ext>
            </a:extLst>
          </p:cNvPr>
          <p:cNvSpPr>
            <a:spLocks noGrp="1"/>
          </p:cNvSpPr>
          <p:nvPr>
            <p:ph type="title"/>
          </p:nvPr>
        </p:nvSpPr>
        <p:spPr>
          <a:xfrm>
            <a:off x="838200" y="2624944"/>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22 : A propos des marqueurs sérologiques de l’hépatite B:</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présence d’</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 signe une infection en cours ou passée.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Les </a:t>
            </a:r>
            <a:r>
              <a:rPr lang="fr-FR" i="0" u="none" strike="noStrike" kern="100" baseline="0" dirty="0" err="1">
                <a:solidFill>
                  <a:schemeClr val="accent2"/>
                </a:solidFill>
                <a:latin typeface="Calibri" panose="020F0502020204030204" pitchFamily="34" charset="0"/>
              </a:rPr>
              <a:t>Ac</a:t>
            </a:r>
            <a:r>
              <a:rPr lang="fr-FR" i="0" u="none" strike="noStrike" kern="100" baseline="0" dirty="0">
                <a:solidFill>
                  <a:schemeClr val="accent2"/>
                </a:solidFill>
                <a:latin typeface="Calibri" panose="020F0502020204030204" pitchFamily="34" charset="0"/>
              </a:rPr>
              <a:t> anti-</a:t>
            </a:r>
            <a:r>
              <a:rPr lang="fr-FR" i="0" u="none" strike="noStrike" kern="100" baseline="0" dirty="0" err="1">
                <a:solidFill>
                  <a:schemeClr val="accent2"/>
                </a:solidFill>
                <a:latin typeface="Calibri" panose="020F0502020204030204" pitchFamily="34" charset="0"/>
              </a:rPr>
              <a:t>HBs</a:t>
            </a:r>
            <a:r>
              <a:rPr lang="fr-FR" i="0" u="none" strike="noStrike" kern="100" baseline="0" dirty="0">
                <a:solidFill>
                  <a:schemeClr val="accent2"/>
                </a:solidFill>
                <a:latin typeface="Calibri" panose="020F0502020204030204" pitchFamily="34" charset="0"/>
              </a:rPr>
              <a:t> indiquent la résolution de l’infection.</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Les </a:t>
            </a:r>
            <a:r>
              <a:rPr lang="fr-FR" i="0" u="none" strike="noStrike" kern="100" baseline="0" dirty="0" err="1">
                <a:solidFill>
                  <a:schemeClr val="accent2"/>
                </a:solidFill>
                <a:latin typeface="Calibri" panose="020F0502020204030204" pitchFamily="34" charset="0"/>
              </a:rPr>
              <a:t>Ac</a:t>
            </a:r>
            <a:r>
              <a:rPr lang="fr-FR" i="0" u="none" strike="noStrike" kern="100" baseline="0" dirty="0">
                <a:solidFill>
                  <a:schemeClr val="accent2"/>
                </a:solidFill>
                <a:latin typeface="Calibri" panose="020F0502020204030204" pitchFamily="34" charset="0"/>
              </a:rPr>
              <a:t> anti-</a:t>
            </a:r>
            <a:r>
              <a:rPr lang="fr-FR" i="0" u="none" strike="noStrike" kern="100" baseline="0" dirty="0" err="1">
                <a:solidFill>
                  <a:schemeClr val="accent2"/>
                </a:solidFill>
                <a:latin typeface="Calibri" panose="020F0502020204030204" pitchFamily="34" charset="0"/>
              </a:rPr>
              <a:t>HBc</a:t>
            </a:r>
            <a:r>
              <a:rPr lang="fr-FR" i="0" u="none" strike="noStrike" kern="100" baseline="0" dirty="0">
                <a:solidFill>
                  <a:schemeClr val="accent2"/>
                </a:solidFill>
                <a:latin typeface="Calibri" panose="020F0502020204030204" pitchFamily="34" charset="0"/>
              </a:rPr>
              <a:t> IgM signalent une infection récente ou une réactivation.</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Les </a:t>
            </a:r>
            <a:r>
              <a:rPr lang="fr-FR" i="0" u="none" strike="noStrike" kern="100" baseline="0" dirty="0" err="1">
                <a:latin typeface="Calibri" panose="020F0502020204030204" pitchFamily="34" charset="0"/>
              </a:rPr>
              <a:t>Ac</a:t>
            </a:r>
            <a:r>
              <a:rPr lang="fr-FR" i="0" u="none" strike="noStrike" kern="100" baseline="0" dirty="0">
                <a:latin typeface="Calibri" panose="020F0502020204030204" pitchFamily="34" charset="0"/>
              </a:rPr>
              <a:t> anti-</a:t>
            </a:r>
            <a:r>
              <a:rPr lang="fr-FR" i="0" u="none" strike="noStrike" kern="100" baseline="0" dirty="0" err="1">
                <a:latin typeface="Calibri" panose="020F0502020204030204" pitchFamily="34" charset="0"/>
              </a:rPr>
              <a:t>HBe</a:t>
            </a:r>
            <a:r>
              <a:rPr lang="fr-FR" i="0" u="none" strike="noStrike" kern="100" baseline="0" dirty="0">
                <a:latin typeface="Calibri" panose="020F0502020204030204" pitchFamily="34" charset="0"/>
              </a:rPr>
              <a:t>  indiquent l’absence de réplication pour un virus mutant.</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L’</a:t>
            </a:r>
            <a:r>
              <a:rPr lang="fr-FR" i="0" u="none" strike="noStrike" kern="100" baseline="0" dirty="0" err="1">
                <a:solidFill>
                  <a:schemeClr val="accent2"/>
                </a:solidFill>
                <a:latin typeface="Calibri" panose="020F0502020204030204" pitchFamily="34" charset="0"/>
              </a:rPr>
              <a:t>AgHBc</a:t>
            </a:r>
            <a:r>
              <a:rPr lang="fr-FR" i="0" u="none" strike="noStrike" kern="100" baseline="0" dirty="0">
                <a:solidFill>
                  <a:schemeClr val="accent2"/>
                </a:solidFill>
                <a:latin typeface="Calibri" panose="020F0502020204030204" pitchFamily="34" charset="0"/>
              </a:rPr>
              <a:t> n’est pas détecté dans le sérum en conditions habituelles.</a:t>
            </a:r>
          </a:p>
        </p:txBody>
      </p:sp>
      <p:sp>
        <p:nvSpPr>
          <p:cNvPr id="3" name="ZoneTexte 2">
            <a:extLst>
              <a:ext uri="{FF2B5EF4-FFF2-40B4-BE49-F238E27FC236}">
                <a16:creationId xmlns="" xmlns:a16="http://schemas.microsoft.com/office/drawing/2014/main" id="{4296F4C5-4FA2-77A9-2F45-9FD91C48A216}"/>
              </a:ext>
            </a:extLst>
          </p:cNvPr>
          <p:cNvSpPr txBox="1"/>
          <p:nvPr/>
        </p:nvSpPr>
        <p:spPr>
          <a:xfrm>
            <a:off x="5421086" y="1551007"/>
            <a:ext cx="6419815" cy="369332"/>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L’</a:t>
            </a:r>
            <a:r>
              <a:rPr lang="fr-FR" dirty="0" err="1"/>
              <a:t>AgHBs</a:t>
            </a:r>
            <a:r>
              <a:rPr lang="fr-FR" dirty="0"/>
              <a:t> signe </a:t>
            </a:r>
            <a:r>
              <a:rPr lang="fr-FR" b="1" dirty="0"/>
              <a:t>une infection en cours</a:t>
            </a:r>
            <a:r>
              <a:rPr lang="fr-FR" dirty="0"/>
              <a:t> (aiguë ou chronique)</a:t>
            </a:r>
            <a:endParaRPr lang="fr-TN" dirty="0"/>
          </a:p>
        </p:txBody>
      </p:sp>
      <p:sp>
        <p:nvSpPr>
          <p:cNvPr id="4" name="ZoneTexte 3">
            <a:extLst>
              <a:ext uri="{FF2B5EF4-FFF2-40B4-BE49-F238E27FC236}">
                <a16:creationId xmlns="" xmlns:a16="http://schemas.microsoft.com/office/drawing/2014/main" id="{14AFBDC2-3C6B-FD92-240E-9617BD95A744}"/>
              </a:ext>
            </a:extLst>
          </p:cNvPr>
          <p:cNvSpPr txBox="1"/>
          <p:nvPr/>
        </p:nvSpPr>
        <p:spPr>
          <a:xfrm>
            <a:off x="4479402" y="4193447"/>
            <a:ext cx="7361499" cy="923330"/>
          </a:xfrm>
          <a:prstGeom prst="rect">
            <a:avLst/>
          </a:prstGeom>
          <a:solidFill>
            <a:schemeClr val="bg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En cas de virus sauvage : anti-</a:t>
            </a:r>
            <a:r>
              <a:rPr lang="fr-FR" dirty="0" err="1"/>
              <a:t>HBe</a:t>
            </a:r>
            <a:r>
              <a:rPr lang="fr-FR" dirty="0"/>
              <a:t> ↔ arrêt de réplication</a:t>
            </a:r>
          </a:p>
          <a:p>
            <a:r>
              <a:rPr lang="fr-FR" dirty="0"/>
              <a:t>Mais pour les mutants pré-C /C ne produisent pas d’</a:t>
            </a:r>
            <a:r>
              <a:rPr lang="fr-FR" dirty="0" err="1"/>
              <a:t>AgHBe</a:t>
            </a:r>
            <a:r>
              <a:rPr lang="fr-FR" dirty="0"/>
              <a:t> → donc anti-</a:t>
            </a:r>
            <a:r>
              <a:rPr lang="fr-FR" dirty="0" err="1"/>
              <a:t>HBe</a:t>
            </a:r>
            <a:r>
              <a:rPr lang="fr-FR" dirty="0"/>
              <a:t> présent malgré réplication active</a:t>
            </a:r>
          </a:p>
        </p:txBody>
      </p:sp>
      <p:sp>
        <p:nvSpPr>
          <p:cNvPr id="6" name="ZoneTexte 5">
            <a:extLst>
              <a:ext uri="{FF2B5EF4-FFF2-40B4-BE49-F238E27FC236}">
                <a16:creationId xmlns="" xmlns:a16="http://schemas.microsoft.com/office/drawing/2014/main" id="{563B2527-EAD6-6D8C-78CF-0BB16156E864}"/>
              </a:ext>
            </a:extLst>
          </p:cNvPr>
          <p:cNvSpPr txBox="1"/>
          <p:nvPr/>
        </p:nvSpPr>
        <p:spPr>
          <a:xfrm>
            <a:off x="5727538" y="2255612"/>
            <a:ext cx="6219464" cy="646331"/>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fr-FR" dirty="0"/>
              <a:t>Anti-</a:t>
            </a:r>
            <a:r>
              <a:rPr lang="fr-FR" dirty="0" err="1"/>
              <a:t>HBs</a:t>
            </a:r>
            <a:r>
              <a:rPr lang="fr-FR" dirty="0"/>
              <a:t> = immunité acquise : soit </a:t>
            </a:r>
            <a:r>
              <a:rPr lang="fr-FR" b="1" dirty="0"/>
              <a:t>post-guérison</a:t>
            </a:r>
            <a:r>
              <a:rPr lang="fr-FR" dirty="0"/>
              <a:t>, soit </a:t>
            </a:r>
            <a:r>
              <a:rPr lang="fr-FR" b="1" dirty="0"/>
              <a:t>post-vaccination</a:t>
            </a:r>
            <a:r>
              <a:rPr lang="fr-FR" dirty="0"/>
              <a:t>.</a:t>
            </a:r>
            <a:endParaRPr lang="fr-TN" dirty="0"/>
          </a:p>
        </p:txBody>
      </p:sp>
      <p:sp>
        <p:nvSpPr>
          <p:cNvPr id="7" name="ZoneTexte 6">
            <a:extLst>
              <a:ext uri="{FF2B5EF4-FFF2-40B4-BE49-F238E27FC236}">
                <a16:creationId xmlns="" xmlns:a16="http://schemas.microsoft.com/office/drawing/2014/main" id="{10514F08-28AF-CCAE-8001-9F0EFDCC096B}"/>
              </a:ext>
            </a:extLst>
          </p:cNvPr>
          <p:cNvSpPr txBox="1"/>
          <p:nvPr/>
        </p:nvSpPr>
        <p:spPr>
          <a:xfrm>
            <a:off x="4593772" y="5802082"/>
            <a:ext cx="7081777" cy="369332"/>
          </a:xfrm>
          <a:prstGeom prst="rect">
            <a:avLst/>
          </a:prstGeom>
          <a:solidFill>
            <a:schemeClr val="tx2">
              <a:lumMod val="25000"/>
              <a:lumOff val="75000"/>
            </a:schemeClr>
          </a:solidFill>
        </p:spPr>
        <p:txBody>
          <a:bodyPr wrap="square">
            <a:spAutoFit/>
          </a:bodyPr>
          <a:lstStyle/>
          <a:p>
            <a:r>
              <a:rPr lang="fr-FR" dirty="0"/>
              <a:t>L’</a:t>
            </a:r>
            <a:r>
              <a:rPr lang="fr-FR" b="1" dirty="0" err="1"/>
              <a:t>AgHBc</a:t>
            </a:r>
            <a:r>
              <a:rPr lang="fr-FR" dirty="0"/>
              <a:t> reste </a:t>
            </a:r>
            <a:r>
              <a:rPr lang="fr-FR" b="1" dirty="0"/>
              <a:t>intra-hépatocytaire</a:t>
            </a:r>
            <a:r>
              <a:rPr lang="fr-FR" dirty="0"/>
              <a:t>, non détectable dans le sang.</a:t>
            </a:r>
            <a:endParaRPr lang="fr-TN" dirty="0"/>
          </a:p>
        </p:txBody>
      </p:sp>
    </p:spTree>
    <p:extLst>
      <p:ext uri="{BB962C8B-B14F-4D97-AF65-F5344CB8AC3E}">
        <p14:creationId xmlns="" xmlns:p14="http://schemas.microsoft.com/office/powerpoint/2010/main" val="383693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6915E8E-6AAA-1B45-434B-BFCABAF62D4F}"/>
              </a:ext>
            </a:extLst>
          </p:cNvPr>
          <p:cNvSpPr>
            <a:spLocks noGrp="1"/>
          </p:cNvSpPr>
          <p:nvPr>
            <p:ph type="title"/>
          </p:nvPr>
        </p:nvSpPr>
        <p:spPr>
          <a:xfrm>
            <a:off x="838200" y="2529251"/>
            <a:ext cx="10515600" cy="1325563"/>
          </a:xfrm>
        </p:spPr>
        <p:txBody>
          <a:bodyPr>
            <a:noAutofit/>
          </a:bodyPr>
          <a:lstStyle/>
          <a:p>
            <a:r>
              <a:rPr lang="fr-FR" b="1" kern="100">
                <a:solidFill>
                  <a:schemeClr val="accent4"/>
                </a:solidFill>
              </a:rPr>
              <a:t>Question 23 : La présence d’anticorps IgM anti-HBc peut être en rapport avec:</a:t>
            </a:r>
            <a:r>
              <a:rPr lang="fr-FR" b="1" i="0" u="none" strike="noStrike" kern="100" baseline="0">
                <a:latin typeface="Calibri" panose="020F0502020204030204" pitchFamily="34" charset="0"/>
              </a:rPr>
              <a:t/>
            </a:r>
            <a:br>
              <a:rPr lang="fr-FR" b="1" i="0" u="none" strike="noStrike" kern="100" baseline="0">
                <a:latin typeface="Calibri" panose="020F0502020204030204" pitchFamily="34" charset="0"/>
              </a:rPr>
            </a:br>
            <a:r>
              <a:rPr lang="fr-FR" i="0" u="none" strike="noStrike" kern="100" baseline="0">
                <a:latin typeface="Calibri" panose="020F0502020204030204" pitchFamily="34" charset="0"/>
              </a:rPr>
              <a:t>A. Une infection récente par le VHB</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B. Une infection ancienne guérie</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C. Une vaccination antérieure contre le VHB</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D. Une infection chronique inactive</a:t>
            </a:r>
            <a:br>
              <a:rPr lang="fr-FR" i="0" u="none" strike="noStrike" kern="100" baseline="0">
                <a:latin typeface="Calibri" panose="020F0502020204030204" pitchFamily="34" charset="0"/>
              </a:rPr>
            </a:br>
            <a:r>
              <a:rPr lang="fr-FR" i="0" u="none" strike="noStrike" kern="100" baseline="0">
                <a:latin typeface="Calibri" panose="020F0502020204030204" pitchFamily="34" charset="0"/>
              </a:rPr>
              <a:t>E. Une réactivation possible du virus</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66828665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C1AA31E-033F-D614-EBC2-ED4893B1085D}"/>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1B0013B-AE79-4D2D-3CE7-3E591CEC30BB}"/>
              </a:ext>
            </a:extLst>
          </p:cNvPr>
          <p:cNvSpPr>
            <a:spLocks noGrp="1"/>
          </p:cNvSpPr>
          <p:nvPr>
            <p:ph type="title"/>
          </p:nvPr>
        </p:nvSpPr>
        <p:spPr>
          <a:xfrm>
            <a:off x="838200" y="2529251"/>
            <a:ext cx="10515600" cy="1325563"/>
          </a:xfrm>
        </p:spPr>
        <p:txBody>
          <a:bodyPr>
            <a:noAutofit/>
          </a:bodyPr>
          <a:lstStyle/>
          <a:p>
            <a:r>
              <a:rPr lang="fr-FR" b="1" kern="100" dirty="0">
                <a:solidFill>
                  <a:schemeClr val="accent4"/>
                </a:solidFill>
              </a:rPr>
              <a:t>Question 23 : La présence d’anticorps IgM anti-</a:t>
            </a:r>
            <a:r>
              <a:rPr lang="fr-FR" b="1" kern="100" dirty="0" err="1">
                <a:solidFill>
                  <a:schemeClr val="accent4"/>
                </a:solidFill>
              </a:rPr>
              <a:t>HBc</a:t>
            </a:r>
            <a:r>
              <a:rPr lang="fr-FR" b="1" kern="100" dirty="0">
                <a:solidFill>
                  <a:schemeClr val="accent4"/>
                </a:solidFill>
              </a:rPr>
              <a:t> peut être en rapport avec:</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Une infection récente par le VHB</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Une infection ancienne guérie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Une vaccination antérieure contre le VHB</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Une infection chronique inactive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Une réactivation possible du virus</a:t>
            </a:r>
          </a:p>
        </p:txBody>
      </p:sp>
    </p:spTree>
    <p:extLst>
      <p:ext uri="{BB962C8B-B14F-4D97-AF65-F5344CB8AC3E}">
        <p14:creationId xmlns="" xmlns:p14="http://schemas.microsoft.com/office/powerpoint/2010/main" val="18692384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70A5573-0EBA-2722-FB31-8994BFE8BB39}"/>
              </a:ext>
            </a:extLst>
          </p:cNvPr>
          <p:cNvSpPr>
            <a:spLocks noGrp="1"/>
          </p:cNvSpPr>
          <p:nvPr>
            <p:ph type="title"/>
          </p:nvPr>
        </p:nvSpPr>
        <p:spPr>
          <a:xfrm>
            <a:off x="838200" y="2220907"/>
            <a:ext cx="10515600" cy="1325563"/>
          </a:xfrm>
        </p:spPr>
        <p:txBody>
          <a:bodyPr>
            <a:noAutofit/>
          </a:bodyPr>
          <a:lstStyle/>
          <a:p>
            <a:pPr marR="0" rtl="0"/>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b="1" i="0" u="none" strike="noStrike" kern="100" baseline="0" dirty="0">
                <a:solidFill>
                  <a:schemeClr val="accent4"/>
                </a:solidFill>
                <a:latin typeface="Calibri" panose="020F0502020204030204" pitchFamily="34" charset="0"/>
              </a:rPr>
              <a:t>Question 24 : Le profil sérologique suivant : </a:t>
            </a:r>
            <a:r>
              <a:rPr lang="fr-FR" b="1" i="0" u="none" strike="noStrike" kern="100" baseline="0" dirty="0" err="1">
                <a:solidFill>
                  <a:schemeClr val="accent4"/>
                </a:solidFill>
                <a:latin typeface="Calibri" panose="020F0502020204030204" pitchFamily="34" charset="0"/>
              </a:rPr>
              <a:t>AgHBs</a:t>
            </a:r>
            <a:r>
              <a:rPr lang="fr-FR" b="1" i="0" u="none" strike="noStrike" kern="100" baseline="0" dirty="0">
                <a:solidFill>
                  <a:schemeClr val="accent4"/>
                </a:solidFill>
                <a:latin typeface="Calibri" panose="020F0502020204030204" pitchFamily="34" charset="0"/>
              </a:rPr>
              <a:t> positif, </a:t>
            </a:r>
            <a:r>
              <a:rPr lang="fr-FR" b="1" i="0" u="none" strike="noStrike" kern="100" baseline="0" dirty="0" err="1">
                <a:solidFill>
                  <a:schemeClr val="accent4"/>
                </a:solidFill>
                <a:latin typeface="Calibri" panose="020F0502020204030204" pitchFamily="34" charset="0"/>
              </a:rPr>
              <a:t>Ac</a:t>
            </a:r>
            <a:r>
              <a:rPr lang="fr-FR" b="1" i="0" u="none" strike="noStrike" kern="100" baseline="0" dirty="0">
                <a:solidFill>
                  <a:schemeClr val="accent4"/>
                </a:solidFill>
                <a:latin typeface="Calibri" panose="020F0502020204030204" pitchFamily="34" charset="0"/>
              </a:rPr>
              <a:t> anti-</a:t>
            </a:r>
            <a:r>
              <a:rPr lang="fr-FR" b="1" i="0" u="none" strike="noStrike" kern="100" baseline="0" dirty="0" err="1">
                <a:solidFill>
                  <a:schemeClr val="accent4"/>
                </a:solidFill>
                <a:latin typeface="Calibri" panose="020F0502020204030204" pitchFamily="34" charset="0"/>
              </a:rPr>
              <a:t>HBc</a:t>
            </a:r>
            <a:r>
              <a:rPr lang="fr-FR" b="1" i="0" u="none" strike="noStrike" kern="100" baseline="0" dirty="0">
                <a:solidFill>
                  <a:schemeClr val="accent4"/>
                </a:solidFill>
                <a:latin typeface="Calibri" panose="020F0502020204030204" pitchFamily="34" charset="0"/>
              </a:rPr>
              <a:t> positif IgM, ADN VHB élevé, évoque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Portage inactif du VHB</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Hépatite B aigue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Hépatite chronique B active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Immunité post-infection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Infection résolue</a:t>
            </a:r>
          </a:p>
        </p:txBody>
      </p:sp>
    </p:spTree>
    <p:extLst>
      <p:ext uri="{BB962C8B-B14F-4D97-AF65-F5344CB8AC3E}">
        <p14:creationId xmlns="" xmlns:p14="http://schemas.microsoft.com/office/powerpoint/2010/main" val="35834230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A85D3F9-0F28-8C95-1F70-E263E9E50B55}"/>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C30C104-AEF7-2F06-FF23-CB78A1006B1F}"/>
              </a:ext>
            </a:extLst>
          </p:cNvPr>
          <p:cNvSpPr>
            <a:spLocks noGrp="1"/>
          </p:cNvSpPr>
          <p:nvPr>
            <p:ph type="title"/>
          </p:nvPr>
        </p:nvSpPr>
        <p:spPr>
          <a:xfrm>
            <a:off x="838200" y="2220907"/>
            <a:ext cx="10515600" cy="1325563"/>
          </a:xfrm>
        </p:spPr>
        <p:txBody>
          <a:bodyPr>
            <a:noAutofit/>
          </a:bodyPr>
          <a:lstStyle/>
          <a:p>
            <a:pPr marR="0" rtl="0"/>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b="1" i="0" u="none" strike="noStrike" kern="100" baseline="0" dirty="0">
                <a:solidFill>
                  <a:schemeClr val="accent4"/>
                </a:solidFill>
                <a:latin typeface="Calibri" panose="020F0502020204030204" pitchFamily="34" charset="0"/>
              </a:rPr>
              <a:t>Question 24 : Le profil sérologique suivant : </a:t>
            </a:r>
            <a:r>
              <a:rPr lang="fr-FR" b="1" i="0" u="none" strike="noStrike" kern="100" baseline="0" dirty="0" err="1">
                <a:solidFill>
                  <a:schemeClr val="accent4"/>
                </a:solidFill>
                <a:latin typeface="Calibri" panose="020F0502020204030204" pitchFamily="34" charset="0"/>
              </a:rPr>
              <a:t>AgHBs</a:t>
            </a:r>
            <a:r>
              <a:rPr lang="fr-FR" b="1" i="0" u="none" strike="noStrike" kern="100" baseline="0" dirty="0">
                <a:solidFill>
                  <a:schemeClr val="accent4"/>
                </a:solidFill>
                <a:latin typeface="Calibri" panose="020F0502020204030204" pitchFamily="34" charset="0"/>
              </a:rPr>
              <a:t> positif, </a:t>
            </a:r>
            <a:r>
              <a:rPr lang="fr-FR" b="1" i="0" u="none" strike="noStrike" kern="100" baseline="0" dirty="0" err="1">
                <a:solidFill>
                  <a:schemeClr val="accent4"/>
                </a:solidFill>
                <a:latin typeface="Calibri" panose="020F0502020204030204" pitchFamily="34" charset="0"/>
              </a:rPr>
              <a:t>Ac</a:t>
            </a:r>
            <a:r>
              <a:rPr lang="fr-FR" b="1" i="0" u="none" strike="noStrike" kern="100" baseline="0" dirty="0">
                <a:solidFill>
                  <a:schemeClr val="accent4"/>
                </a:solidFill>
                <a:latin typeface="Calibri" panose="020F0502020204030204" pitchFamily="34" charset="0"/>
              </a:rPr>
              <a:t> anti-</a:t>
            </a:r>
            <a:r>
              <a:rPr lang="fr-FR" b="1" i="0" u="none" strike="noStrike" kern="100" baseline="0" dirty="0" err="1">
                <a:solidFill>
                  <a:schemeClr val="accent4"/>
                </a:solidFill>
                <a:latin typeface="Calibri" panose="020F0502020204030204" pitchFamily="34" charset="0"/>
              </a:rPr>
              <a:t>HBc</a:t>
            </a:r>
            <a:r>
              <a:rPr lang="fr-FR" b="1" i="0" u="none" strike="noStrike" kern="100" baseline="0" dirty="0">
                <a:solidFill>
                  <a:schemeClr val="accent4"/>
                </a:solidFill>
                <a:latin typeface="Calibri" panose="020F0502020204030204" pitchFamily="34" charset="0"/>
              </a:rPr>
              <a:t> positif IgM, ADN VHB élevé, évoque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Portage inactif du VHB</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Hépatite B aigue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Hépatite chronique B active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Immunité post-infection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Infection résolue</a:t>
            </a:r>
          </a:p>
        </p:txBody>
      </p:sp>
    </p:spTree>
    <p:extLst>
      <p:ext uri="{BB962C8B-B14F-4D97-AF65-F5344CB8AC3E}">
        <p14:creationId xmlns="" xmlns:p14="http://schemas.microsoft.com/office/powerpoint/2010/main" val="277107055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A9C2CA1-8793-81DC-0B4D-9DAFF4EB4CC6}"/>
              </a:ext>
            </a:extLst>
          </p:cNvPr>
          <p:cNvSpPr>
            <a:spLocks noGrp="1"/>
          </p:cNvSpPr>
          <p:nvPr>
            <p:ph type="title"/>
          </p:nvPr>
        </p:nvSpPr>
        <p:spPr>
          <a:xfrm>
            <a:off x="838200" y="2359130"/>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25 : La réactivation d’une hépatite B se manifeste par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réapparition de l’</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 dans le sang.</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Une élévation isolée des transaminases (ALAT).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Une augmentation de l’ADN VHB circulant.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présence d’IgM anti-</a:t>
            </a:r>
            <a:r>
              <a:rPr lang="fr-FR" i="0" u="none" strike="noStrike" kern="100" baseline="0" dirty="0" err="1">
                <a:latin typeface="Calibri" panose="020F0502020204030204" pitchFamily="34" charset="0"/>
              </a:rPr>
              <a:t>HBc</a:t>
            </a:r>
            <a:r>
              <a:rPr lang="fr-FR" i="0" u="none" strike="noStrike" kern="100" baseline="0" dirty="0">
                <a:latin typeface="Calibri" panose="020F0502020204030204" pitchFamily="34" charset="0"/>
              </a:rPr>
              <a: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Une positivité persistante de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a:t>
            </a:r>
          </a:p>
        </p:txBody>
      </p:sp>
    </p:spTree>
    <p:extLst>
      <p:ext uri="{BB962C8B-B14F-4D97-AF65-F5344CB8AC3E}">
        <p14:creationId xmlns="" xmlns:p14="http://schemas.microsoft.com/office/powerpoint/2010/main" val="413419720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F01B62F-7832-A284-14C7-A96434A25CB5}"/>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95B0E3FF-6D01-DB83-DA0F-E8CD81160C7C}"/>
              </a:ext>
            </a:extLst>
          </p:cNvPr>
          <p:cNvSpPr>
            <a:spLocks noGrp="1"/>
          </p:cNvSpPr>
          <p:nvPr>
            <p:ph type="title"/>
          </p:nvPr>
        </p:nvSpPr>
        <p:spPr>
          <a:xfrm>
            <a:off x="838200" y="2359130"/>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25 : La réactivation d’une hépatite B se manifeste par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La réapparition de l’</a:t>
            </a:r>
            <a:r>
              <a:rPr lang="fr-FR" i="0" u="none" strike="noStrike" kern="100" baseline="0" dirty="0" err="1">
                <a:solidFill>
                  <a:schemeClr val="accent2"/>
                </a:solidFill>
                <a:latin typeface="Calibri" panose="020F0502020204030204" pitchFamily="34" charset="0"/>
              </a:rPr>
              <a:t>AgHBs</a:t>
            </a:r>
            <a:r>
              <a:rPr lang="fr-FR" i="0" u="none" strike="noStrike" kern="100" baseline="0" dirty="0">
                <a:solidFill>
                  <a:schemeClr val="accent2"/>
                </a:solidFill>
                <a:latin typeface="Calibri" panose="020F0502020204030204" pitchFamily="34" charset="0"/>
              </a:rPr>
              <a:t> dans le sang.</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Une élévation isolée des transaminases.</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C. Une augmentation de l’ADN VHB circulant.</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D. La présence d’IgM anti-</a:t>
            </a:r>
            <a:r>
              <a:rPr lang="fr-FR" i="0" u="none" strike="noStrike" kern="100" baseline="0" dirty="0" err="1">
                <a:solidFill>
                  <a:schemeClr val="accent2"/>
                </a:solidFill>
                <a:latin typeface="Calibri" panose="020F0502020204030204" pitchFamily="34" charset="0"/>
              </a:rPr>
              <a:t>HBc</a:t>
            </a:r>
            <a:r>
              <a:rPr lang="fr-FR" i="0" u="none" strike="noStrike" kern="100" baseline="0" dirty="0">
                <a:solidFill>
                  <a:schemeClr val="accent2"/>
                </a:solidFill>
                <a:latin typeface="Calibri" panose="020F0502020204030204" pitchFamily="34" charset="0"/>
              </a:rPr>
              <a:t>.</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Une positivité persistante de l’</a:t>
            </a:r>
            <a:r>
              <a:rPr lang="fr-FR" i="0" u="none" strike="noStrike" kern="100" baseline="0" dirty="0" err="1">
                <a:latin typeface="Calibri" panose="020F0502020204030204" pitchFamily="34" charset="0"/>
              </a:rPr>
              <a:t>AgHBe</a:t>
            </a:r>
            <a:r>
              <a:rPr lang="fr-FR" i="0" u="none" strike="noStrike" kern="100" baseline="0" dirty="0">
                <a:latin typeface="Calibri" panose="020F0502020204030204" pitchFamily="34" charset="0"/>
              </a:rPr>
              <a:t>.</a:t>
            </a:r>
          </a:p>
        </p:txBody>
      </p:sp>
      <p:sp>
        <p:nvSpPr>
          <p:cNvPr id="4" name="ZoneTexte 3">
            <a:extLst>
              <a:ext uri="{FF2B5EF4-FFF2-40B4-BE49-F238E27FC236}">
                <a16:creationId xmlns="" xmlns:a16="http://schemas.microsoft.com/office/drawing/2014/main" id="{0D5868DB-8CBE-3A15-3C57-9601D06F4044}"/>
              </a:ext>
            </a:extLst>
          </p:cNvPr>
          <p:cNvSpPr txBox="1"/>
          <p:nvPr/>
        </p:nvSpPr>
        <p:spPr>
          <a:xfrm>
            <a:off x="7167623" y="1886673"/>
            <a:ext cx="3122270" cy="369332"/>
          </a:xfrm>
          <a:prstGeom prst="rect">
            <a:avLst/>
          </a:prstGeom>
          <a:solidFill>
            <a:schemeClr val="tx2">
              <a:lumMod val="25000"/>
              <a:lumOff val="75000"/>
            </a:schemeClr>
          </a:solidFill>
        </p:spPr>
        <p:txBody>
          <a:bodyPr wrap="square">
            <a:spAutoFit/>
          </a:bodyPr>
          <a:lstStyle/>
          <a:p>
            <a:r>
              <a:rPr lang="fr-FR" dirty="0"/>
              <a:t>En cas d’hépatite B occulte</a:t>
            </a:r>
            <a:endParaRPr lang="fr-TN" dirty="0"/>
          </a:p>
        </p:txBody>
      </p:sp>
      <p:sp>
        <p:nvSpPr>
          <p:cNvPr id="5" name="ZoneTexte 4">
            <a:extLst>
              <a:ext uri="{FF2B5EF4-FFF2-40B4-BE49-F238E27FC236}">
                <a16:creationId xmlns="" xmlns:a16="http://schemas.microsoft.com/office/drawing/2014/main" id="{87CD7544-9D3C-AB9D-E2FD-247E4CEB6D81}"/>
              </a:ext>
            </a:extLst>
          </p:cNvPr>
          <p:cNvSpPr txBox="1"/>
          <p:nvPr/>
        </p:nvSpPr>
        <p:spPr>
          <a:xfrm>
            <a:off x="6579241" y="2488429"/>
            <a:ext cx="5435279" cy="646331"/>
          </a:xfrm>
          <a:prstGeom prst="rect">
            <a:avLst/>
          </a:prstGeom>
          <a:solidFill>
            <a:schemeClr val="bg2"/>
          </a:solidFill>
        </p:spPr>
        <p:txBody>
          <a:bodyPr wrap="square">
            <a:spAutoFit/>
          </a:bodyPr>
          <a:lstStyle/>
          <a:p>
            <a:r>
              <a:rPr lang="fr-FR" dirty="0"/>
              <a:t>La cytolyse est un signe de réactivation, mais pas de façon isolée</a:t>
            </a:r>
            <a:endParaRPr lang="fr-TN" dirty="0"/>
          </a:p>
        </p:txBody>
      </p:sp>
    </p:spTree>
    <p:extLst>
      <p:ext uri="{BB962C8B-B14F-4D97-AF65-F5344CB8AC3E}">
        <p14:creationId xmlns="" xmlns:p14="http://schemas.microsoft.com/office/powerpoint/2010/main" val="213519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12DE52E-760D-6EA9-3317-8EB77E50AEC5}"/>
              </a:ext>
            </a:extLst>
          </p:cNvPr>
          <p:cNvSpPr>
            <a:spLocks noGrp="1"/>
          </p:cNvSpPr>
          <p:nvPr>
            <p:ph type="title"/>
          </p:nvPr>
        </p:nvSpPr>
        <p:spPr>
          <a:xfrm>
            <a:off x="965791" y="2454823"/>
            <a:ext cx="10515600" cy="1325563"/>
          </a:xfrm>
        </p:spPr>
        <p:txBody>
          <a:bodyPr>
            <a:noAutofit/>
          </a:bodyPr>
          <a:lstStyle/>
          <a:p>
            <a:r>
              <a:rPr lang="fr-FR" b="1" kern="100" dirty="0">
                <a:solidFill>
                  <a:schemeClr val="accent4"/>
                </a:solidFill>
              </a:rPr>
              <a:t>Question 26 :À propos de l’hépatite B occulte, quelles affirmations sont exactes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L’ADN du VHB est présent alors que l’</a:t>
            </a:r>
            <a:r>
              <a:rPr lang="fr-FR" i="0" u="none" strike="noStrike" kern="100" baseline="0" dirty="0" err="1">
                <a:latin typeface="Calibri" panose="020F0502020204030204" pitchFamily="34" charset="0"/>
              </a:rPr>
              <a:t>AgHBs</a:t>
            </a:r>
            <a:r>
              <a:rPr lang="fr-FR" i="0" u="none" strike="noStrike" kern="100" baseline="0" dirty="0">
                <a:latin typeface="Calibri" panose="020F0502020204030204" pitchFamily="34" charset="0"/>
              </a:rPr>
              <a:t> est négatif.</a:t>
            </a:r>
            <a:br>
              <a:rPr lang="fr-FR" i="0" u="none" strike="noStrike" kern="100" baseline="0" dirty="0">
                <a:latin typeface="Calibri" panose="020F0502020204030204" pitchFamily="34" charset="0"/>
              </a:rPr>
            </a:br>
            <a:r>
              <a:rPr lang="fr-FR" kern="100" dirty="0"/>
              <a:t>B. Les anticorps Anti-</a:t>
            </a:r>
            <a:r>
              <a:rPr lang="fr-FR" kern="100" dirty="0" err="1"/>
              <a:t>HBc</a:t>
            </a:r>
            <a:r>
              <a:rPr lang="fr-FR" kern="100" dirty="0"/>
              <a:t> sont souvent positifs.</a:t>
            </a:r>
            <a:br>
              <a:rPr lang="fr-FR" kern="100" dirty="0"/>
            </a:br>
            <a:r>
              <a:rPr lang="fr-FR" kern="100" dirty="0"/>
              <a:t>C. Il n’y a pas de risque de transmission.</a:t>
            </a:r>
            <a:br>
              <a:rPr lang="fr-FR" kern="100" dirty="0"/>
            </a:br>
            <a:r>
              <a:rPr lang="fr-FR" kern="100" dirty="0"/>
              <a:t>D. Elle peut se réactiver.</a:t>
            </a:r>
            <a:br>
              <a:rPr lang="fr-FR" kern="100" dirty="0"/>
            </a:br>
            <a:r>
              <a:rPr lang="fr-FR" kern="100" dirty="0"/>
              <a:t>E. Elle est secondaire à une mutation </a:t>
            </a:r>
            <a:r>
              <a:rPr lang="fr-FR" kern="100" dirty="0" err="1"/>
              <a:t>préC</a:t>
            </a:r>
            <a:r>
              <a:rPr lang="fr-FR" kern="100" dirty="0"/>
              <a:t>/C.</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22843249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6B19B32-C3BD-1470-E19A-4960B7AFCAAE}"/>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4BBC9ECE-7EF6-334B-7BA3-E94A94CAFA3E}"/>
              </a:ext>
            </a:extLst>
          </p:cNvPr>
          <p:cNvSpPr>
            <a:spLocks noGrp="1"/>
          </p:cNvSpPr>
          <p:nvPr>
            <p:ph type="title"/>
          </p:nvPr>
        </p:nvSpPr>
        <p:spPr>
          <a:xfrm>
            <a:off x="965791" y="2454823"/>
            <a:ext cx="10515600" cy="1325563"/>
          </a:xfrm>
        </p:spPr>
        <p:txBody>
          <a:bodyPr>
            <a:noAutofit/>
          </a:bodyPr>
          <a:lstStyle/>
          <a:p>
            <a:r>
              <a:rPr lang="fr-FR" b="1" kern="100" dirty="0">
                <a:solidFill>
                  <a:schemeClr val="accent4"/>
                </a:solidFill>
              </a:rPr>
              <a:t>Question 26 :À propos de l’hépatite B occulte, quelles affirmations sont exactes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L’ADN du VHB est présent alors que l’</a:t>
            </a:r>
            <a:r>
              <a:rPr lang="fr-FR" i="0" u="none" strike="noStrike" kern="100" baseline="0" dirty="0" err="1">
                <a:solidFill>
                  <a:schemeClr val="accent2"/>
                </a:solidFill>
                <a:latin typeface="Calibri" panose="020F0502020204030204" pitchFamily="34" charset="0"/>
              </a:rPr>
              <a:t>AgHBs</a:t>
            </a:r>
            <a:r>
              <a:rPr lang="fr-FR" i="0" u="none" strike="noStrike" kern="100" baseline="0" dirty="0">
                <a:solidFill>
                  <a:schemeClr val="accent2"/>
                </a:solidFill>
                <a:latin typeface="Calibri" panose="020F0502020204030204" pitchFamily="34" charset="0"/>
              </a:rPr>
              <a:t> est négatif.</a:t>
            </a:r>
            <a:br>
              <a:rPr lang="fr-FR" i="0" u="none" strike="noStrike" kern="100" baseline="0" dirty="0">
                <a:solidFill>
                  <a:schemeClr val="accent2"/>
                </a:solidFill>
                <a:latin typeface="Calibri" panose="020F0502020204030204" pitchFamily="34" charset="0"/>
              </a:rPr>
            </a:br>
            <a:r>
              <a:rPr lang="fr-FR" kern="100" dirty="0">
                <a:solidFill>
                  <a:schemeClr val="accent2"/>
                </a:solidFill>
              </a:rPr>
              <a:t>B. Les anticorps Anti-</a:t>
            </a:r>
            <a:r>
              <a:rPr lang="fr-FR" kern="100" dirty="0" err="1">
                <a:solidFill>
                  <a:schemeClr val="accent2"/>
                </a:solidFill>
              </a:rPr>
              <a:t>HBc</a:t>
            </a:r>
            <a:r>
              <a:rPr lang="fr-FR" kern="100" dirty="0">
                <a:solidFill>
                  <a:schemeClr val="accent2"/>
                </a:solidFill>
              </a:rPr>
              <a:t> sont souvent positifs.</a:t>
            </a:r>
            <a:r>
              <a:rPr lang="fr-FR" kern="100" dirty="0"/>
              <a:t/>
            </a:r>
            <a:br>
              <a:rPr lang="fr-FR" kern="100" dirty="0"/>
            </a:br>
            <a:r>
              <a:rPr lang="fr-FR" kern="100" dirty="0"/>
              <a:t>C. Il n’y a pas de risque de transmission.</a:t>
            </a:r>
            <a:br>
              <a:rPr lang="fr-FR" kern="100" dirty="0"/>
            </a:br>
            <a:r>
              <a:rPr lang="fr-FR" kern="100" dirty="0">
                <a:solidFill>
                  <a:schemeClr val="accent2"/>
                </a:solidFill>
              </a:rPr>
              <a:t>D. Elle peut se réactiver.</a:t>
            </a:r>
            <a:r>
              <a:rPr lang="fr-FR" kern="100" dirty="0"/>
              <a:t/>
            </a:r>
            <a:br>
              <a:rPr lang="fr-FR" kern="100" dirty="0"/>
            </a:br>
            <a:r>
              <a:rPr lang="fr-FR" kern="100" dirty="0"/>
              <a:t>E. Elle est secondaire à une mutation </a:t>
            </a:r>
            <a:r>
              <a:rPr lang="fr-FR" kern="100" dirty="0" err="1"/>
              <a:t>préC</a:t>
            </a:r>
            <a:r>
              <a:rPr lang="fr-FR" kern="100" dirty="0"/>
              <a:t>/C.</a:t>
            </a:r>
            <a:endParaRPr lang="fr-FR" i="0" u="none" strike="noStrike" kern="100" baseline="0" dirty="0">
              <a:latin typeface="Calibri" panose="020F0502020204030204" pitchFamily="34" charset="0"/>
            </a:endParaRPr>
          </a:p>
        </p:txBody>
      </p:sp>
      <p:sp>
        <p:nvSpPr>
          <p:cNvPr id="5" name="ZoneTexte 4">
            <a:extLst>
              <a:ext uri="{FF2B5EF4-FFF2-40B4-BE49-F238E27FC236}">
                <a16:creationId xmlns="" xmlns:a16="http://schemas.microsoft.com/office/drawing/2014/main" id="{AA2273CA-8BFC-5A7A-A873-4810CDB98F75}"/>
              </a:ext>
            </a:extLst>
          </p:cNvPr>
          <p:cNvSpPr txBox="1"/>
          <p:nvPr/>
        </p:nvSpPr>
        <p:spPr>
          <a:xfrm>
            <a:off x="4039566" y="2569030"/>
            <a:ext cx="7758894" cy="934358"/>
          </a:xfrm>
          <a:prstGeom prst="rect">
            <a:avLst/>
          </a:prstGeom>
          <a:solidFill>
            <a:schemeClr val="tx2">
              <a:lumMod val="25000"/>
              <a:lumOff val="75000"/>
            </a:schemeClr>
          </a:solidFill>
        </p:spPr>
        <p:txBody>
          <a:bodyPr wrap="square">
            <a:spAutoFit/>
          </a:bodyPr>
          <a:lstStyle/>
          <a:p>
            <a:r>
              <a:rPr lang="fr-FR" dirty="0"/>
              <a:t>La majorité des cas d’hépatite B occulte ont des </a:t>
            </a:r>
            <a:r>
              <a:rPr lang="fr-FR" b="1" dirty="0"/>
              <a:t>anti-</a:t>
            </a:r>
            <a:r>
              <a:rPr lang="fr-FR" b="1" dirty="0" err="1"/>
              <a:t>HBc</a:t>
            </a:r>
            <a:r>
              <a:rPr lang="fr-FR" b="1" dirty="0"/>
              <a:t> isolés</a:t>
            </a:r>
            <a:r>
              <a:rPr lang="fr-FR" dirty="0"/>
              <a:t> (± anti-</a:t>
            </a:r>
            <a:r>
              <a:rPr lang="fr-FR" dirty="0" err="1"/>
              <a:t>HBs</a:t>
            </a:r>
            <a:r>
              <a:rPr lang="fr-FR" dirty="0"/>
              <a:t>)</a:t>
            </a:r>
          </a:p>
          <a:p>
            <a:r>
              <a:rPr lang="fr-FR" dirty="0"/>
              <a:t>Rarement, la sérologie est complètement négative (formes </a:t>
            </a:r>
            <a:r>
              <a:rPr lang="fr-FR" dirty="0" err="1"/>
              <a:t>séro-négatives</a:t>
            </a:r>
            <a:r>
              <a:rPr lang="fr-FR" dirty="0"/>
              <a:t>)</a:t>
            </a:r>
          </a:p>
        </p:txBody>
      </p:sp>
      <p:sp>
        <p:nvSpPr>
          <p:cNvPr id="6" name="ZoneTexte 5">
            <a:extLst>
              <a:ext uri="{FF2B5EF4-FFF2-40B4-BE49-F238E27FC236}">
                <a16:creationId xmlns="" xmlns:a16="http://schemas.microsoft.com/office/drawing/2014/main" id="{1E5BACAF-DBB6-3C2A-636E-EB21C43ECC05}"/>
              </a:ext>
            </a:extLst>
          </p:cNvPr>
          <p:cNvSpPr txBox="1"/>
          <p:nvPr/>
        </p:nvSpPr>
        <p:spPr>
          <a:xfrm>
            <a:off x="6363181" y="3599598"/>
            <a:ext cx="5435279" cy="923330"/>
          </a:xfrm>
          <a:prstGeom prst="rect">
            <a:avLst/>
          </a:prstGeom>
          <a:solidFill>
            <a:schemeClr val="bg2"/>
          </a:solidFill>
        </p:spPr>
        <p:txBody>
          <a:bodyPr wrap="square">
            <a:spAutoFit/>
          </a:bodyPr>
          <a:lstStyle/>
          <a:p>
            <a:r>
              <a:rPr lang="fr-FR" dirty="0"/>
              <a:t>Au contraire, risque réel (transfusion, transplantation, immunodépression).C’est un enjeu majeur de sécurité transfusionnelle.</a:t>
            </a:r>
            <a:endParaRPr lang="fr-TN" dirty="0"/>
          </a:p>
        </p:txBody>
      </p:sp>
      <p:sp>
        <p:nvSpPr>
          <p:cNvPr id="8" name="ZoneTexte 7">
            <a:extLst>
              <a:ext uri="{FF2B5EF4-FFF2-40B4-BE49-F238E27FC236}">
                <a16:creationId xmlns="" xmlns:a16="http://schemas.microsoft.com/office/drawing/2014/main" id="{0C122368-6E15-AAD1-EEB4-20106B8CB980}"/>
              </a:ext>
            </a:extLst>
          </p:cNvPr>
          <p:cNvSpPr txBox="1"/>
          <p:nvPr/>
        </p:nvSpPr>
        <p:spPr>
          <a:xfrm>
            <a:off x="2818023" y="4554079"/>
            <a:ext cx="7758894" cy="646331"/>
          </a:xfrm>
          <a:prstGeom prst="rect">
            <a:avLst/>
          </a:prstGeom>
          <a:solidFill>
            <a:schemeClr val="tx2">
              <a:lumMod val="25000"/>
              <a:lumOff val="75000"/>
            </a:schemeClr>
          </a:solidFill>
        </p:spPr>
        <p:txBody>
          <a:bodyPr wrap="square">
            <a:spAutoFit/>
          </a:bodyPr>
          <a:lstStyle/>
          <a:p>
            <a:r>
              <a:rPr lang="fr-FR" dirty="0"/>
              <a:t>En cas d’immunosuppression ou de chimiothérapie → réactivation possible avec réapparition de l’</a:t>
            </a:r>
            <a:r>
              <a:rPr lang="fr-FR" dirty="0" err="1"/>
              <a:t>AgHBs</a:t>
            </a:r>
            <a:endParaRPr lang="fr-TN" dirty="0"/>
          </a:p>
        </p:txBody>
      </p:sp>
      <p:sp>
        <p:nvSpPr>
          <p:cNvPr id="9" name="ZoneTexte 8">
            <a:extLst>
              <a:ext uri="{FF2B5EF4-FFF2-40B4-BE49-F238E27FC236}">
                <a16:creationId xmlns="" xmlns:a16="http://schemas.microsoft.com/office/drawing/2014/main" id="{E096BC32-0A54-D33D-188D-45676357391C}"/>
              </a:ext>
            </a:extLst>
          </p:cNvPr>
          <p:cNvSpPr txBox="1"/>
          <p:nvPr/>
        </p:nvSpPr>
        <p:spPr>
          <a:xfrm>
            <a:off x="7255121" y="5383706"/>
            <a:ext cx="2661765" cy="369332"/>
          </a:xfrm>
          <a:prstGeom prst="rect">
            <a:avLst/>
          </a:prstGeom>
          <a:solidFill>
            <a:schemeClr val="bg2"/>
          </a:solidFill>
        </p:spPr>
        <p:txBody>
          <a:bodyPr wrap="square">
            <a:spAutoFit/>
          </a:bodyPr>
          <a:lstStyle/>
          <a:p>
            <a:r>
              <a:rPr lang="fr-FR" dirty="0"/>
              <a:t>Mutation du gène S</a:t>
            </a:r>
            <a:endParaRPr lang="fr-TN" dirty="0"/>
          </a:p>
        </p:txBody>
      </p:sp>
    </p:spTree>
    <p:extLst>
      <p:ext uri="{BB962C8B-B14F-4D97-AF65-F5344CB8AC3E}">
        <p14:creationId xmlns="" xmlns:p14="http://schemas.microsoft.com/office/powerpoint/2010/main" val="254379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7153161C-466C-C194-D682-24C60BB15F70}"/>
              </a:ext>
            </a:extLst>
          </p:cNvPr>
          <p:cNvSpPr>
            <a:spLocks noGrp="1"/>
          </p:cNvSpPr>
          <p:nvPr>
            <p:ph type="title"/>
          </p:nvPr>
        </p:nvSpPr>
        <p:spPr>
          <a:xfrm>
            <a:off x="838200" y="2454823"/>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27 : Concernant l’hépatite C, quel test est le plus approprié pour confirmer une infection active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Détection des anticorps anti-VHC par ELISA</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PCR qualitative pour ARN VHC</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Dosage des transaminases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Échographie hépatique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Fibroscan</a:t>
            </a:r>
          </a:p>
        </p:txBody>
      </p:sp>
    </p:spTree>
    <p:extLst>
      <p:ext uri="{BB962C8B-B14F-4D97-AF65-F5344CB8AC3E}">
        <p14:creationId xmlns="" xmlns:p14="http://schemas.microsoft.com/office/powerpoint/2010/main" val="4147063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BE7E1CC-DC6A-DCD3-6D9C-9670C8CDD1A6}"/>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9D5EA0F1-07A5-B988-949B-AAC2B4C92401}"/>
              </a:ext>
            </a:extLst>
          </p:cNvPr>
          <p:cNvSpPr>
            <a:spLocks noGrp="1"/>
          </p:cNvSpPr>
          <p:nvPr>
            <p:ph type="title"/>
          </p:nvPr>
        </p:nvSpPr>
        <p:spPr>
          <a:xfrm>
            <a:off x="838200" y="2454823"/>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27 : Concernant l’hépatite C, quel test est le plus approprié pour confirmer une infection active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Détection des anticorps anti-VHC par ELISA</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PCR qualitative pour ARN VHC</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C. Dosage des transaminases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Échographie hépatique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Fibroscan</a:t>
            </a:r>
          </a:p>
        </p:txBody>
      </p:sp>
    </p:spTree>
    <p:extLst>
      <p:ext uri="{BB962C8B-B14F-4D97-AF65-F5344CB8AC3E}">
        <p14:creationId xmlns="" xmlns:p14="http://schemas.microsoft.com/office/powerpoint/2010/main" val="45248766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461B59C-6DD0-ED1D-9E20-C44E4AB6F1C6}"/>
              </a:ext>
            </a:extLst>
          </p:cNvPr>
          <p:cNvSpPr>
            <a:spLocks noGrp="1"/>
          </p:cNvSpPr>
          <p:nvPr>
            <p:ph type="title"/>
          </p:nvPr>
        </p:nvSpPr>
        <p:spPr>
          <a:xfrm>
            <a:off x="955159" y="226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28 : Le diagnostic d’hépatite E aiguë repose  sur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ARN VHE par PCR</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Sérologie IgM anti-VHE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Élévation isolée des ALAT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Biopsie hépatique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Recherche de l’</a:t>
            </a:r>
            <a:r>
              <a:rPr lang="fr-FR" i="0" u="none" strike="noStrike" kern="100" baseline="0" dirty="0" err="1">
                <a:latin typeface="Calibri" panose="020F0502020204030204" pitchFamily="34" charset="0"/>
              </a:rPr>
              <a:t>AgHE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292630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ACFB1BD-D7BA-EC9E-88A0-94C6E55C3C82}"/>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D30568EA-45C2-2940-4773-E268911CB7DD}"/>
              </a:ext>
            </a:extLst>
          </p:cNvPr>
          <p:cNvSpPr>
            <a:spLocks noGrp="1"/>
          </p:cNvSpPr>
          <p:nvPr>
            <p:ph type="title"/>
          </p:nvPr>
        </p:nvSpPr>
        <p:spPr>
          <a:xfrm>
            <a:off x="955159" y="226343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28 : Le diagnostic d’hépatite E aiguë repose  sur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ARN VHE par PCR</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Sérologie IgM anti-VHE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Élévation isolée des ALAT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Biopsie hépatique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Recherche de l’</a:t>
            </a:r>
            <a:r>
              <a:rPr lang="fr-FR" i="0" u="none" strike="noStrike" kern="100" baseline="0" dirty="0" err="1">
                <a:latin typeface="Calibri" panose="020F0502020204030204" pitchFamily="34" charset="0"/>
              </a:rPr>
              <a:t>AgHE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28992358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F1FA02B-D6AA-2BB3-1218-DEDA9E86AB13}"/>
              </a:ext>
            </a:extLst>
          </p:cNvPr>
          <p:cNvSpPr>
            <a:spLocks noGrp="1"/>
          </p:cNvSpPr>
          <p:nvPr>
            <p:ph type="title"/>
          </p:nvPr>
        </p:nvSpPr>
        <p:spPr>
          <a:xfrm>
            <a:off x="838200" y="2454823"/>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a:t>
            </a:r>
            <a:r>
              <a:rPr lang="fr-FR" b="1" kern="100" dirty="0">
                <a:solidFill>
                  <a:schemeClr val="accent4"/>
                </a:solidFill>
              </a:rPr>
              <a:t>29</a:t>
            </a:r>
            <a:r>
              <a:rPr lang="fr-FR" b="1" i="0" u="none" strike="noStrike" kern="100" baseline="0" dirty="0">
                <a:solidFill>
                  <a:schemeClr val="accent4"/>
                </a:solidFill>
                <a:latin typeface="Calibri" panose="020F0502020204030204" pitchFamily="34" charset="0"/>
              </a:rPr>
              <a:t> : Concernant l’évolution de l’hépatite B aiguë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majorité des adultes guérissent spontanément</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 risque de chronicité est faible chez le nourrisson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Les formes fulminantes sont rares mais graves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cirrhose survient dans plus de 50 % des cas aigus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La co-infection par le virus D diminue les chances de guérison spontanée</a:t>
            </a:r>
          </a:p>
        </p:txBody>
      </p:sp>
    </p:spTree>
    <p:extLst>
      <p:ext uri="{BB962C8B-B14F-4D97-AF65-F5344CB8AC3E}">
        <p14:creationId xmlns="" xmlns:p14="http://schemas.microsoft.com/office/powerpoint/2010/main" val="261703692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16AD0B4-C5F4-A92C-4FF0-2BFEFBEABA10}"/>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F41C9606-1AB2-0EA1-BCE4-D110E5689528}"/>
              </a:ext>
            </a:extLst>
          </p:cNvPr>
          <p:cNvSpPr>
            <a:spLocks noGrp="1"/>
          </p:cNvSpPr>
          <p:nvPr>
            <p:ph type="title"/>
          </p:nvPr>
        </p:nvSpPr>
        <p:spPr>
          <a:xfrm>
            <a:off x="838200" y="2454823"/>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a:t>
            </a:r>
            <a:r>
              <a:rPr lang="fr-FR" b="1" kern="100" dirty="0">
                <a:solidFill>
                  <a:schemeClr val="accent4"/>
                </a:solidFill>
              </a:rPr>
              <a:t>29</a:t>
            </a:r>
            <a:r>
              <a:rPr lang="fr-FR" b="1" i="0" u="none" strike="noStrike" kern="100" baseline="0" dirty="0">
                <a:solidFill>
                  <a:schemeClr val="accent4"/>
                </a:solidFill>
                <a:latin typeface="Calibri" panose="020F0502020204030204" pitchFamily="34" charset="0"/>
              </a:rPr>
              <a:t> : Concernant l’évolution de l’hépatite B aiguë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La majorité des adultes guérissent spontanément</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B. Le risque de chronicité est faible chez le nourrisson</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C. Les formes fulminantes sont rares mais graves</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cirrhose survient dans plus de 50 % des cas aigus</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La co-infection par le virus D diminue les chances de résolution spontanée</a:t>
            </a:r>
          </a:p>
        </p:txBody>
      </p:sp>
      <p:sp>
        <p:nvSpPr>
          <p:cNvPr id="3" name="ZoneTexte 2">
            <a:extLst>
              <a:ext uri="{FF2B5EF4-FFF2-40B4-BE49-F238E27FC236}">
                <a16:creationId xmlns="" xmlns:a16="http://schemas.microsoft.com/office/drawing/2014/main" id="{71E35495-8396-A1D4-49A8-AA583D5CC0E1}"/>
              </a:ext>
            </a:extLst>
          </p:cNvPr>
          <p:cNvSpPr txBox="1"/>
          <p:nvPr/>
        </p:nvSpPr>
        <p:spPr>
          <a:xfrm>
            <a:off x="6525227" y="1531493"/>
            <a:ext cx="5435279" cy="646331"/>
          </a:xfrm>
          <a:prstGeom prst="rect">
            <a:avLst/>
          </a:prstGeom>
          <a:solidFill>
            <a:schemeClr val="tx2">
              <a:lumMod val="10000"/>
              <a:lumOff val="90000"/>
            </a:schemeClr>
          </a:solidFill>
        </p:spPr>
        <p:txBody>
          <a:bodyPr wrap="square">
            <a:spAutoFit/>
          </a:bodyPr>
          <a:lstStyle/>
          <a:p>
            <a:r>
              <a:rPr lang="fr-FR" dirty="0"/>
              <a:t>Guérison spontanée dans 90% des cas chez l’adulte immunocompétent</a:t>
            </a:r>
            <a:endParaRPr lang="fr-TN" dirty="0"/>
          </a:p>
        </p:txBody>
      </p:sp>
      <p:sp>
        <p:nvSpPr>
          <p:cNvPr id="4" name="ZoneTexte 3">
            <a:extLst>
              <a:ext uri="{FF2B5EF4-FFF2-40B4-BE49-F238E27FC236}">
                <a16:creationId xmlns="" xmlns:a16="http://schemas.microsoft.com/office/drawing/2014/main" id="{9E70F525-2E27-C0C5-BC17-524ABD88463B}"/>
              </a:ext>
            </a:extLst>
          </p:cNvPr>
          <p:cNvSpPr txBox="1"/>
          <p:nvPr/>
        </p:nvSpPr>
        <p:spPr>
          <a:xfrm>
            <a:off x="8757626" y="2348971"/>
            <a:ext cx="3160854" cy="369332"/>
          </a:xfrm>
          <a:prstGeom prst="rect">
            <a:avLst/>
          </a:prstGeom>
          <a:solidFill>
            <a:schemeClr val="bg2"/>
          </a:solidFill>
        </p:spPr>
        <p:txBody>
          <a:bodyPr wrap="square">
            <a:spAutoFit/>
          </a:bodyPr>
          <a:lstStyle/>
          <a:p>
            <a:r>
              <a:rPr lang="fr-FR" dirty="0"/>
              <a:t>Risque le plus élevé &gt; 90%</a:t>
            </a:r>
            <a:endParaRPr lang="fr-TN" dirty="0"/>
          </a:p>
        </p:txBody>
      </p:sp>
      <p:sp>
        <p:nvSpPr>
          <p:cNvPr id="5" name="ZoneTexte 4">
            <a:extLst>
              <a:ext uri="{FF2B5EF4-FFF2-40B4-BE49-F238E27FC236}">
                <a16:creationId xmlns="" xmlns:a16="http://schemas.microsoft.com/office/drawing/2014/main" id="{8B3A503B-28DB-F9CE-FBA7-6AB0060A70C5}"/>
              </a:ext>
            </a:extLst>
          </p:cNvPr>
          <p:cNvSpPr txBox="1"/>
          <p:nvPr/>
        </p:nvSpPr>
        <p:spPr>
          <a:xfrm>
            <a:off x="8192946" y="3102014"/>
            <a:ext cx="2758083" cy="369332"/>
          </a:xfrm>
          <a:prstGeom prst="rect">
            <a:avLst/>
          </a:prstGeom>
          <a:solidFill>
            <a:schemeClr val="bg2"/>
          </a:solidFill>
        </p:spPr>
        <p:txBody>
          <a:bodyPr wrap="square">
            <a:spAutoFit/>
          </a:bodyPr>
          <a:lstStyle/>
          <a:p>
            <a:r>
              <a:rPr lang="fr-FR" dirty="0"/>
              <a:t>Risque de 1%</a:t>
            </a:r>
            <a:endParaRPr lang="fr-TN" dirty="0"/>
          </a:p>
        </p:txBody>
      </p:sp>
      <p:sp>
        <p:nvSpPr>
          <p:cNvPr id="6" name="ZoneTexte 5">
            <a:extLst>
              <a:ext uri="{FF2B5EF4-FFF2-40B4-BE49-F238E27FC236}">
                <a16:creationId xmlns="" xmlns:a16="http://schemas.microsoft.com/office/drawing/2014/main" id="{41EB6FD3-53CA-DE51-BA6C-E557AB13FA93}"/>
              </a:ext>
            </a:extLst>
          </p:cNvPr>
          <p:cNvSpPr txBox="1"/>
          <p:nvPr/>
        </p:nvSpPr>
        <p:spPr>
          <a:xfrm>
            <a:off x="8227671" y="3573958"/>
            <a:ext cx="3416461" cy="646331"/>
          </a:xfrm>
          <a:prstGeom prst="rect">
            <a:avLst/>
          </a:prstGeom>
          <a:solidFill>
            <a:schemeClr val="bg2"/>
          </a:solidFill>
        </p:spPr>
        <p:txBody>
          <a:bodyPr wrap="square">
            <a:spAutoFit/>
          </a:bodyPr>
          <a:lstStyle/>
          <a:p>
            <a:r>
              <a:rPr lang="fr-FR" dirty="0"/>
              <a:t>Risque de chronicité: </a:t>
            </a:r>
            <a:r>
              <a:rPr lang="fr-FR" dirty="0" smtClean="0"/>
              <a:t>5-10</a:t>
            </a:r>
            <a:r>
              <a:rPr lang="fr-FR" dirty="0"/>
              <a:t>%</a:t>
            </a:r>
          </a:p>
          <a:p>
            <a:r>
              <a:rPr lang="fr-FR" dirty="0"/>
              <a:t>Cirrhose: 10-20%/ans</a:t>
            </a:r>
            <a:endParaRPr lang="fr-TN" dirty="0"/>
          </a:p>
        </p:txBody>
      </p:sp>
    </p:spTree>
    <p:extLst>
      <p:ext uri="{BB962C8B-B14F-4D97-AF65-F5344CB8AC3E}">
        <p14:creationId xmlns="" xmlns:p14="http://schemas.microsoft.com/office/powerpoint/2010/main" val="4168220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3981152-7E70-EE98-F5B6-289706112298}"/>
              </a:ext>
            </a:extLst>
          </p:cNvPr>
          <p:cNvSpPr>
            <a:spLocks noGrp="1"/>
          </p:cNvSpPr>
          <p:nvPr>
            <p:ph type="title"/>
          </p:nvPr>
        </p:nvSpPr>
        <p:spPr>
          <a:xfrm>
            <a:off x="944526" y="2412293"/>
            <a:ext cx="10515600" cy="1325563"/>
          </a:xfrm>
        </p:spPr>
        <p:txBody>
          <a:bodyPr>
            <a:noAutofit/>
          </a:bodyPr>
          <a:lstStyle/>
          <a:p>
            <a:r>
              <a:rPr lang="fr-FR" b="1" kern="100" dirty="0">
                <a:solidFill>
                  <a:schemeClr val="accent4"/>
                </a:solidFill>
              </a:rPr>
              <a:t>Question 30 : Concernant l’hépatite C aiguë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La guérison spontanée est possible.</a:t>
            </a:r>
            <a:br>
              <a:rPr lang="fr-FR" i="0" u="none" strike="noStrike" kern="100" baseline="0" dirty="0">
                <a:latin typeface="Calibri" panose="020F0502020204030204" pitchFamily="34" charset="0"/>
              </a:rPr>
            </a:br>
            <a:r>
              <a:rPr lang="fr-FR" kern="100" dirty="0"/>
              <a:t>B. Le traitement antiviral n’est pas indiqué en dehors des formes sévères.</a:t>
            </a:r>
            <a:br>
              <a:rPr lang="fr-FR" kern="100" dirty="0"/>
            </a:br>
            <a:r>
              <a:rPr lang="fr-FR" kern="100" dirty="0"/>
              <a:t>C. Le risque de chronicité est plus élevé que celui du VHB.</a:t>
            </a:r>
            <a:br>
              <a:rPr lang="fr-FR" kern="100" dirty="0"/>
            </a:br>
            <a:r>
              <a:rPr lang="fr-FR" kern="100" dirty="0"/>
              <a:t>D. L’infection est </a:t>
            </a:r>
            <a:r>
              <a:rPr lang="fr-FR" kern="100" dirty="0" smtClean="0"/>
              <a:t>souvent symptomatique</a:t>
            </a:r>
            <a:r>
              <a:rPr lang="fr-FR" kern="100" dirty="0"/>
              <a:t>.</a:t>
            </a:r>
            <a:br>
              <a:rPr lang="fr-FR" kern="100" dirty="0"/>
            </a:br>
            <a:r>
              <a:rPr lang="fr-FR" kern="100" dirty="0"/>
              <a:t>E. L’ARN du VHC est détectable avant la séroconversion</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280472266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1277EC5-9A81-6E30-228F-7AB94A1CAD3A}"/>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41778A1-9B6D-61AC-4607-5DC9A6C6D6FF}"/>
              </a:ext>
            </a:extLst>
          </p:cNvPr>
          <p:cNvSpPr>
            <a:spLocks noGrp="1"/>
          </p:cNvSpPr>
          <p:nvPr>
            <p:ph type="title"/>
          </p:nvPr>
        </p:nvSpPr>
        <p:spPr>
          <a:xfrm>
            <a:off x="944526" y="2412293"/>
            <a:ext cx="10515600" cy="1325563"/>
          </a:xfrm>
        </p:spPr>
        <p:txBody>
          <a:bodyPr>
            <a:noAutofit/>
          </a:bodyPr>
          <a:lstStyle/>
          <a:p>
            <a:r>
              <a:rPr lang="fr-FR" b="1" kern="100" dirty="0">
                <a:solidFill>
                  <a:schemeClr val="accent4"/>
                </a:solidFill>
              </a:rPr>
              <a:t>Question 30 : Concernant l’hépatite C aiguë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La guérison spontanée est possible.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kern="100" dirty="0"/>
              <a:t>B. Le traitement antiviral n’est pas indiqué en dehors des formes sévères.</a:t>
            </a:r>
            <a:br>
              <a:rPr lang="fr-FR" kern="100" dirty="0"/>
            </a:br>
            <a:r>
              <a:rPr lang="fr-FR" kern="100" dirty="0">
                <a:solidFill>
                  <a:schemeClr val="accent2"/>
                </a:solidFill>
              </a:rPr>
              <a:t>C. Le risque de chronicité est plus élevé que celui du VHB.</a:t>
            </a:r>
            <a:r>
              <a:rPr lang="fr-FR" kern="100" dirty="0"/>
              <a:t/>
            </a:r>
            <a:br>
              <a:rPr lang="fr-FR" kern="100" dirty="0"/>
            </a:br>
            <a:r>
              <a:rPr lang="fr-FR" kern="100" dirty="0"/>
              <a:t>D. L’infection est souvent symptomatique.</a:t>
            </a:r>
            <a:br>
              <a:rPr lang="fr-FR" kern="100" dirty="0"/>
            </a:br>
            <a:r>
              <a:rPr lang="fr-FR" kern="100" dirty="0">
                <a:solidFill>
                  <a:schemeClr val="accent2"/>
                </a:solidFill>
              </a:rPr>
              <a:t>E. L’ARN du VHC est détectable avant la séroconversion</a:t>
            </a:r>
            <a:endParaRPr lang="fr-FR" i="0" u="none" strike="noStrike" kern="100" baseline="0" dirty="0">
              <a:solidFill>
                <a:schemeClr val="accent2"/>
              </a:solidFill>
              <a:latin typeface="Calibri" panose="020F0502020204030204" pitchFamily="34" charset="0"/>
            </a:endParaRPr>
          </a:p>
        </p:txBody>
      </p:sp>
      <p:sp>
        <p:nvSpPr>
          <p:cNvPr id="3" name="ZoneTexte 2">
            <a:extLst>
              <a:ext uri="{FF2B5EF4-FFF2-40B4-BE49-F238E27FC236}">
                <a16:creationId xmlns="" xmlns:a16="http://schemas.microsoft.com/office/drawing/2014/main" id="{A778E3BD-BBDB-471B-CB73-633A234CA754}"/>
              </a:ext>
            </a:extLst>
          </p:cNvPr>
          <p:cNvSpPr txBox="1"/>
          <p:nvPr/>
        </p:nvSpPr>
        <p:spPr>
          <a:xfrm>
            <a:off x="6838708" y="1678328"/>
            <a:ext cx="3590082" cy="369332"/>
          </a:xfrm>
          <a:prstGeom prst="rect">
            <a:avLst/>
          </a:prstGeom>
          <a:solidFill>
            <a:schemeClr val="tx2">
              <a:lumMod val="10000"/>
              <a:lumOff val="90000"/>
            </a:schemeClr>
          </a:solidFill>
        </p:spPr>
        <p:txBody>
          <a:bodyPr wrap="square">
            <a:spAutoFit/>
          </a:bodyPr>
          <a:lstStyle/>
          <a:p>
            <a:r>
              <a:rPr lang="fr-FR" dirty="0"/>
              <a:t>Possible mais faible (10%)</a:t>
            </a:r>
            <a:endParaRPr lang="fr-TN" dirty="0"/>
          </a:p>
        </p:txBody>
      </p:sp>
      <p:sp>
        <p:nvSpPr>
          <p:cNvPr id="4" name="ZoneTexte 3">
            <a:extLst>
              <a:ext uri="{FF2B5EF4-FFF2-40B4-BE49-F238E27FC236}">
                <a16:creationId xmlns="" xmlns:a16="http://schemas.microsoft.com/office/drawing/2014/main" id="{671B4799-54AA-51FD-A35B-E01B4DC6F07E}"/>
              </a:ext>
            </a:extLst>
          </p:cNvPr>
          <p:cNvSpPr txBox="1"/>
          <p:nvPr/>
        </p:nvSpPr>
        <p:spPr>
          <a:xfrm>
            <a:off x="2498202" y="2890408"/>
            <a:ext cx="5905018" cy="646331"/>
          </a:xfrm>
          <a:prstGeom prst="rect">
            <a:avLst/>
          </a:prstGeom>
          <a:solidFill>
            <a:schemeClr val="bg2"/>
          </a:solidFill>
        </p:spPr>
        <p:txBody>
          <a:bodyPr wrap="square">
            <a:spAutoFit/>
          </a:bodyPr>
          <a:lstStyle/>
          <a:p>
            <a:r>
              <a:rPr lang="fr-FR" dirty="0"/>
              <a:t>Le traitement antiviral est systématique indépendamment de la sévérité</a:t>
            </a:r>
            <a:endParaRPr lang="fr-TN" dirty="0"/>
          </a:p>
        </p:txBody>
      </p:sp>
      <p:sp>
        <p:nvSpPr>
          <p:cNvPr id="5" name="ZoneTexte 4">
            <a:extLst>
              <a:ext uri="{FF2B5EF4-FFF2-40B4-BE49-F238E27FC236}">
                <a16:creationId xmlns="" xmlns:a16="http://schemas.microsoft.com/office/drawing/2014/main" id="{93819DF3-E923-485E-B3FC-DE4AA615036E}"/>
              </a:ext>
            </a:extLst>
          </p:cNvPr>
          <p:cNvSpPr txBox="1"/>
          <p:nvPr/>
        </p:nvSpPr>
        <p:spPr>
          <a:xfrm>
            <a:off x="7220898" y="4215971"/>
            <a:ext cx="4492682" cy="369332"/>
          </a:xfrm>
          <a:prstGeom prst="rect">
            <a:avLst/>
          </a:prstGeom>
          <a:solidFill>
            <a:schemeClr val="bg2"/>
          </a:solidFill>
        </p:spPr>
        <p:txBody>
          <a:bodyPr wrap="square">
            <a:spAutoFit/>
          </a:bodyPr>
          <a:lstStyle/>
          <a:p>
            <a:r>
              <a:rPr lang="fr-FR" dirty="0"/>
              <a:t>Asymptomatique dans la majorité des cas</a:t>
            </a:r>
            <a:endParaRPr lang="fr-TN" dirty="0"/>
          </a:p>
        </p:txBody>
      </p:sp>
      <p:sp>
        <p:nvSpPr>
          <p:cNvPr id="6" name="ZoneTexte 5">
            <a:extLst>
              <a:ext uri="{FF2B5EF4-FFF2-40B4-BE49-F238E27FC236}">
                <a16:creationId xmlns="" xmlns:a16="http://schemas.microsoft.com/office/drawing/2014/main" id="{A22519FA-83EE-9CEA-01C2-7359B4124F51}"/>
              </a:ext>
            </a:extLst>
          </p:cNvPr>
          <p:cNvSpPr txBox="1"/>
          <p:nvPr/>
        </p:nvSpPr>
        <p:spPr>
          <a:xfrm>
            <a:off x="7026507" y="5375369"/>
            <a:ext cx="4969550" cy="646331"/>
          </a:xfrm>
          <a:prstGeom prst="rect">
            <a:avLst/>
          </a:prstGeom>
          <a:solidFill>
            <a:schemeClr val="tx2">
              <a:lumMod val="10000"/>
              <a:lumOff val="90000"/>
            </a:schemeClr>
          </a:solidFill>
        </p:spPr>
        <p:txBody>
          <a:bodyPr wrap="square">
            <a:spAutoFit/>
          </a:bodyPr>
          <a:lstStyle/>
          <a:p>
            <a:r>
              <a:rPr lang="fr-FR" dirty="0"/>
              <a:t>L’ARN apparaît 2 semaines  post infection/ Les anti-VHC après 2 mois en moyenne</a:t>
            </a:r>
            <a:endParaRPr lang="fr-TN" dirty="0"/>
          </a:p>
        </p:txBody>
      </p:sp>
    </p:spTree>
    <p:extLst>
      <p:ext uri="{BB962C8B-B14F-4D97-AF65-F5344CB8AC3E}">
        <p14:creationId xmlns="" xmlns:p14="http://schemas.microsoft.com/office/powerpoint/2010/main" val="426028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0750758-71B8-B8CE-B99E-344D48FE735B}"/>
              </a:ext>
            </a:extLst>
          </p:cNvPr>
          <p:cNvSpPr>
            <a:spLocks noGrp="1"/>
          </p:cNvSpPr>
          <p:nvPr>
            <p:ph type="title"/>
          </p:nvPr>
        </p:nvSpPr>
        <p:spPr/>
        <p:txBody>
          <a:bodyPr/>
          <a:lstStyle/>
          <a:p>
            <a:endParaRPr lang="fr-TN"/>
          </a:p>
        </p:txBody>
      </p:sp>
      <p:pic>
        <p:nvPicPr>
          <p:cNvPr id="12290" name="Picture 2">
            <a:extLst>
              <a:ext uri="{FF2B5EF4-FFF2-40B4-BE49-F238E27FC236}">
                <a16:creationId xmlns="" xmlns:a16="http://schemas.microsoft.com/office/drawing/2014/main" id="{FB696957-EB84-C814-DE66-5B4E8258C3A9}"/>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43846" y="185196"/>
            <a:ext cx="8534261" cy="616526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6196474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533FBC5-B43A-337F-6301-B17639E3FE67}"/>
              </a:ext>
            </a:extLst>
          </p:cNvPr>
          <p:cNvSpPr>
            <a:spLocks noGrp="1"/>
          </p:cNvSpPr>
          <p:nvPr>
            <p:ph type="title"/>
          </p:nvPr>
        </p:nvSpPr>
        <p:spPr/>
        <p:txBody>
          <a:bodyPr/>
          <a:lstStyle/>
          <a:p>
            <a:endParaRPr lang="fr-TN"/>
          </a:p>
        </p:txBody>
      </p:sp>
      <p:pic>
        <p:nvPicPr>
          <p:cNvPr id="9218" name="Picture 2">
            <a:extLst>
              <a:ext uri="{FF2B5EF4-FFF2-40B4-BE49-F238E27FC236}">
                <a16:creationId xmlns="" xmlns:a16="http://schemas.microsoft.com/office/drawing/2014/main" id="{214F927C-4192-A348-4EFE-AB74A3A9AA9F}"/>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629516" y="0"/>
            <a:ext cx="9201632" cy="648873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58903364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A3D2E9-EB00-2DC7-5B01-2081979F2E13}"/>
              </a:ext>
            </a:extLst>
          </p:cNvPr>
          <p:cNvSpPr>
            <a:spLocks noGrp="1"/>
          </p:cNvSpPr>
          <p:nvPr>
            <p:ph type="title"/>
          </p:nvPr>
        </p:nvSpPr>
        <p:spPr>
          <a:xfrm>
            <a:off x="838200" y="2766218"/>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31 : Concernant l’hépatite fulminante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L’encéphalopathie hépatique survient dans les 8 semaines suivant le début de l’ictère.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 taux de mortalité est élevé malgré une prise en charge optimale.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La transplantation hépatique peut être indiquée en urgence.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co-infection HBV-HDV présente le risque le plus élevé d’hépatite virale fulminante.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L’implication du VHC est exceptionnelle dans les formes fulminantes.</a:t>
            </a:r>
          </a:p>
        </p:txBody>
      </p:sp>
    </p:spTree>
    <p:extLst>
      <p:ext uri="{BB962C8B-B14F-4D97-AF65-F5344CB8AC3E}">
        <p14:creationId xmlns="" xmlns:p14="http://schemas.microsoft.com/office/powerpoint/2010/main" val="16530897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482D6A9-18D8-300E-5FD5-E0B576D4BD80}"/>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5C8ED20C-5E84-CDD9-BC67-32E41D495A17}"/>
              </a:ext>
            </a:extLst>
          </p:cNvPr>
          <p:cNvSpPr>
            <a:spLocks noGrp="1"/>
          </p:cNvSpPr>
          <p:nvPr>
            <p:ph type="title"/>
          </p:nvPr>
        </p:nvSpPr>
        <p:spPr>
          <a:xfrm>
            <a:off x="838200" y="2766218"/>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a:t>
            </a:r>
            <a:r>
              <a:rPr lang="fr-FR" b="1" kern="100" dirty="0">
                <a:solidFill>
                  <a:schemeClr val="accent4"/>
                </a:solidFill>
              </a:rPr>
              <a:t>1</a:t>
            </a:r>
            <a:r>
              <a:rPr lang="fr-FR" b="1" i="0" u="none" strike="noStrike" kern="100" baseline="0" dirty="0">
                <a:solidFill>
                  <a:schemeClr val="accent4"/>
                </a:solidFill>
                <a:latin typeface="Calibri" panose="020F0502020204030204" pitchFamily="34" charset="0"/>
              </a:rPr>
              <a:t> : Concernant l’hépatite fulminante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L’encéphalopathie hépatique survient dans les 8 semaines suivant le début de l’ictère.</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Le taux de mortalité est élevé malgré une prise en charge optimale.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La transplantation hépatique peut être indiquée en urgence.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D. La co-infection HBV-HDV présente le risque le plus élevé d’hépatite virale fulminante.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L’implication du VHC est exceptionnelle.</a:t>
            </a:r>
          </a:p>
        </p:txBody>
      </p:sp>
      <p:sp>
        <p:nvSpPr>
          <p:cNvPr id="3" name="ZoneTexte 2">
            <a:extLst>
              <a:ext uri="{FF2B5EF4-FFF2-40B4-BE49-F238E27FC236}">
                <a16:creationId xmlns="" xmlns:a16="http://schemas.microsoft.com/office/drawing/2014/main" id="{A778E3BD-BBDB-471B-CB73-633A234CA754}"/>
              </a:ext>
            </a:extLst>
          </p:cNvPr>
          <p:cNvSpPr txBox="1"/>
          <p:nvPr/>
        </p:nvSpPr>
        <p:spPr>
          <a:xfrm>
            <a:off x="3856022" y="4726328"/>
            <a:ext cx="7171207" cy="646331"/>
          </a:xfrm>
          <a:prstGeom prst="rect">
            <a:avLst/>
          </a:prstGeom>
          <a:solidFill>
            <a:schemeClr val="tx2">
              <a:lumMod val="10000"/>
              <a:lumOff val="90000"/>
            </a:schemeClr>
          </a:solidFill>
        </p:spPr>
        <p:txBody>
          <a:bodyPr wrap="square">
            <a:spAutoFit/>
          </a:bodyPr>
          <a:lstStyle/>
          <a:p>
            <a:r>
              <a:rPr lang="fr-FR" dirty="0" smtClean="0"/>
              <a:t>B-D(&gt;1%)&gt;B(1%)&gt;E(0,5-4%, en dehors de la femme enceinte&gt;A(0,1%)&gt;C (exceptionnelle)</a:t>
            </a:r>
            <a:endParaRPr lang="fr-TN" dirty="0"/>
          </a:p>
        </p:txBody>
      </p:sp>
      <p:sp>
        <p:nvSpPr>
          <p:cNvPr id="4" name="ZoneTexte 3">
            <a:extLst>
              <a:ext uri="{FF2B5EF4-FFF2-40B4-BE49-F238E27FC236}">
                <a16:creationId xmlns="" xmlns:a16="http://schemas.microsoft.com/office/drawing/2014/main" id="{A778E3BD-BBDB-471B-CB73-633A234CA754}"/>
              </a:ext>
            </a:extLst>
          </p:cNvPr>
          <p:cNvSpPr txBox="1"/>
          <p:nvPr/>
        </p:nvSpPr>
        <p:spPr>
          <a:xfrm>
            <a:off x="8580422" y="3028156"/>
            <a:ext cx="3176149" cy="369332"/>
          </a:xfrm>
          <a:prstGeom prst="rect">
            <a:avLst/>
          </a:prstGeom>
          <a:solidFill>
            <a:schemeClr val="tx2">
              <a:lumMod val="10000"/>
              <a:lumOff val="90000"/>
            </a:schemeClr>
          </a:solidFill>
        </p:spPr>
        <p:txBody>
          <a:bodyPr wrap="square">
            <a:spAutoFit/>
          </a:bodyPr>
          <a:lstStyle/>
          <a:p>
            <a:r>
              <a:rPr lang="fr-FR" dirty="0" smtClean="0"/>
              <a:t>Mortalité spontanée de 80%</a:t>
            </a:r>
            <a:endParaRPr lang="fr-TN" dirty="0"/>
          </a:p>
        </p:txBody>
      </p:sp>
      <p:sp>
        <p:nvSpPr>
          <p:cNvPr id="5" name="ZoneTexte 4">
            <a:extLst>
              <a:ext uri="{FF2B5EF4-FFF2-40B4-BE49-F238E27FC236}">
                <a16:creationId xmlns="" xmlns:a16="http://schemas.microsoft.com/office/drawing/2014/main" id="{A778E3BD-BBDB-471B-CB73-633A234CA754}"/>
              </a:ext>
            </a:extLst>
          </p:cNvPr>
          <p:cNvSpPr txBox="1"/>
          <p:nvPr/>
        </p:nvSpPr>
        <p:spPr>
          <a:xfrm>
            <a:off x="8547765" y="3539785"/>
            <a:ext cx="3176149" cy="369332"/>
          </a:xfrm>
          <a:prstGeom prst="rect">
            <a:avLst/>
          </a:prstGeom>
          <a:solidFill>
            <a:schemeClr val="tx2">
              <a:lumMod val="10000"/>
              <a:lumOff val="90000"/>
            </a:schemeClr>
          </a:solidFill>
        </p:spPr>
        <p:txBody>
          <a:bodyPr wrap="square">
            <a:spAutoFit/>
          </a:bodyPr>
          <a:lstStyle/>
          <a:p>
            <a:r>
              <a:rPr lang="fr-FR" dirty="0" smtClean="0"/>
              <a:t>Survie post-TH de 75%</a:t>
            </a:r>
            <a:endParaRPr lang="fr-TN" dirty="0"/>
          </a:p>
        </p:txBody>
      </p:sp>
    </p:spTree>
    <p:extLst>
      <p:ext uri="{BB962C8B-B14F-4D97-AF65-F5344CB8AC3E}">
        <p14:creationId xmlns="" xmlns:p14="http://schemas.microsoft.com/office/powerpoint/2010/main" val="1227260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7315" y="1360714"/>
            <a:ext cx="10515600" cy="4093029"/>
          </a:xfrm>
        </p:spPr>
        <p:style>
          <a:lnRef idx="2">
            <a:schemeClr val="dk1"/>
          </a:lnRef>
          <a:fillRef idx="1">
            <a:schemeClr val="lt1"/>
          </a:fillRef>
          <a:effectRef idx="0">
            <a:schemeClr val="dk1"/>
          </a:effectRef>
          <a:fontRef idx="minor">
            <a:schemeClr val="dk1"/>
          </a:fontRef>
        </p:style>
        <p:txBody>
          <a:bodyPr>
            <a:noAutofit/>
          </a:bodyPr>
          <a:lstStyle/>
          <a:p>
            <a:pPr>
              <a:buFont typeface="Wingdings" pitchFamily="2" charset="2"/>
              <a:buChar char="Ø"/>
            </a:pPr>
            <a:r>
              <a:rPr lang="fr-FR" b="1" dirty="0" smtClean="0">
                <a:solidFill>
                  <a:schemeClr val="accent4"/>
                </a:solidFill>
              </a:rPr>
              <a:t>Définitions</a:t>
            </a:r>
            <a:r>
              <a:rPr lang="fr-FR" b="1" dirty="0" smtClean="0"/>
              <a:t/>
            </a:r>
            <a:br>
              <a:rPr lang="fr-FR" b="1" dirty="0" smtClean="0"/>
            </a:br>
            <a:r>
              <a:rPr lang="fr-FR" b="1" dirty="0" smtClean="0">
                <a:solidFill>
                  <a:srgbClr val="FF0000"/>
                </a:solidFill>
              </a:rPr>
              <a:t>Forme sévère</a:t>
            </a:r>
            <a:r>
              <a:rPr lang="fr-FR" dirty="0" smtClean="0">
                <a:solidFill>
                  <a:srgbClr val="FF0000"/>
                </a:solidFill>
              </a:rPr>
              <a:t> : </a:t>
            </a:r>
            <a:r>
              <a:rPr lang="fr-FR" dirty="0" smtClean="0"/>
              <a:t>TP (et/ou Facteur V) &lt; 50 % </a:t>
            </a:r>
            <a:r>
              <a:rPr lang="fr-FR" b="1" dirty="0" smtClean="0"/>
              <a:t>sans encéphalopathie hépatique</a:t>
            </a:r>
            <a:r>
              <a:rPr lang="fr-FR" dirty="0" smtClean="0"/>
              <a:t/>
            </a:r>
            <a:br>
              <a:rPr lang="fr-FR" dirty="0" smtClean="0"/>
            </a:br>
            <a:r>
              <a:rPr lang="fr-FR" b="1" dirty="0" smtClean="0">
                <a:solidFill>
                  <a:srgbClr val="FF0000"/>
                </a:solidFill>
              </a:rPr>
              <a:t>Forme grave </a:t>
            </a:r>
            <a:r>
              <a:rPr lang="fr-FR" b="1" dirty="0" smtClean="0"/>
              <a:t>= </a:t>
            </a:r>
            <a:r>
              <a:rPr lang="fr-FR" b="1" dirty="0" smtClean="0">
                <a:solidFill>
                  <a:srgbClr val="FF0000"/>
                </a:solidFill>
              </a:rPr>
              <a:t>Forme sévère</a:t>
            </a:r>
            <a:r>
              <a:rPr lang="fr-FR" dirty="0" smtClean="0">
                <a:solidFill>
                  <a:srgbClr val="FF0000"/>
                </a:solidFill>
              </a:rPr>
              <a:t> </a:t>
            </a:r>
            <a:r>
              <a:rPr lang="fr-FR" b="1" dirty="0" smtClean="0"/>
              <a:t>+ encéphalopathie hépatique</a:t>
            </a:r>
            <a:r>
              <a:rPr lang="fr-FR" dirty="0" smtClean="0"/>
              <a:t/>
            </a:r>
            <a:br>
              <a:rPr lang="fr-FR" dirty="0" smtClean="0"/>
            </a:br>
            <a:r>
              <a:rPr lang="fr-FR" dirty="0" smtClean="0"/>
              <a:t>       -</a:t>
            </a:r>
            <a:r>
              <a:rPr lang="fr-FR" b="1" dirty="0" smtClean="0"/>
              <a:t>Fulminante</a:t>
            </a:r>
            <a:r>
              <a:rPr lang="fr-FR" dirty="0" smtClean="0"/>
              <a:t> : délai &lt; 2 semaines entre ictère et encéphalopathie.</a:t>
            </a:r>
            <a:br>
              <a:rPr lang="fr-FR" dirty="0" smtClean="0"/>
            </a:br>
            <a:r>
              <a:rPr lang="fr-FR" dirty="0" smtClean="0"/>
              <a:t>       -</a:t>
            </a:r>
            <a:r>
              <a:rPr lang="fr-FR" b="1" dirty="0" err="1" smtClean="0"/>
              <a:t>Subfulminante</a:t>
            </a:r>
            <a:r>
              <a:rPr lang="fr-FR" dirty="0" smtClean="0"/>
              <a:t> : délai &gt; 2 semaines</a:t>
            </a:r>
            <a:br>
              <a:rPr lang="fr-FR" dirty="0" smtClean="0"/>
            </a:br>
            <a:endParaRPr lang="fr-FR"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8982BEF-6EC5-A33D-9472-CD7DE0A80453}"/>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A4F13303-C8F7-5ADA-24CD-4643379A86B8}"/>
              </a:ext>
            </a:extLst>
          </p:cNvPr>
          <p:cNvSpPr>
            <a:spLocks noGrp="1"/>
          </p:cNvSpPr>
          <p:nvPr>
            <p:ph type="title"/>
          </p:nvPr>
        </p:nvSpPr>
        <p:spPr>
          <a:xfrm>
            <a:off x="838200" y="218142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32 : Les signes de gravité devant une hépatite aigue sont:</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Âge jeune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Cytolyse &gt; 100N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Hyperbilirubinémie &gt; 300umol/l</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TP&lt;50%</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Atrophie hépatique</a:t>
            </a:r>
          </a:p>
        </p:txBody>
      </p:sp>
    </p:spTree>
    <p:extLst>
      <p:ext uri="{BB962C8B-B14F-4D97-AF65-F5344CB8AC3E}">
        <p14:creationId xmlns="" xmlns:p14="http://schemas.microsoft.com/office/powerpoint/2010/main" val="189600990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AAD9CC0-9DE4-13B3-E049-BD2A14A76E46}"/>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A5381D9-F724-79AB-6A48-A8564B2233E5}"/>
              </a:ext>
            </a:extLst>
          </p:cNvPr>
          <p:cNvSpPr>
            <a:spLocks noGrp="1"/>
          </p:cNvSpPr>
          <p:nvPr>
            <p:ph type="title"/>
          </p:nvPr>
        </p:nvSpPr>
        <p:spPr>
          <a:xfrm>
            <a:off x="838200" y="218142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32 : Les signes de gravité devant une hépatite aigue sont:</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Âge jeune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Cytolyse &gt; 100N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Hyperbilirubinémie &gt; 300umol/l</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D. TP&lt;50%</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E. Atrophie hépatique</a:t>
            </a:r>
          </a:p>
        </p:txBody>
      </p:sp>
      <p:sp>
        <p:nvSpPr>
          <p:cNvPr id="3" name="ZoneTexte 2">
            <a:extLst>
              <a:ext uri="{FF2B5EF4-FFF2-40B4-BE49-F238E27FC236}">
                <a16:creationId xmlns="" xmlns:a16="http://schemas.microsoft.com/office/drawing/2014/main" id="{A778E3BD-BBDB-471B-CB73-633A234CA754}"/>
              </a:ext>
            </a:extLst>
          </p:cNvPr>
          <p:cNvSpPr txBox="1"/>
          <p:nvPr/>
        </p:nvSpPr>
        <p:spPr>
          <a:xfrm>
            <a:off x="4857507" y="3572442"/>
            <a:ext cx="3176149" cy="1200329"/>
          </a:xfrm>
          <a:prstGeom prst="rect">
            <a:avLst/>
          </a:prstGeom>
          <a:solidFill>
            <a:schemeClr val="tx2">
              <a:lumMod val="10000"/>
              <a:lumOff val="90000"/>
            </a:schemeClr>
          </a:solidFill>
        </p:spPr>
        <p:txBody>
          <a:bodyPr wrap="square">
            <a:spAutoFit/>
          </a:bodyPr>
          <a:lstStyle/>
          <a:p>
            <a:r>
              <a:rPr lang="fr-FR" dirty="0" smtClean="0"/>
              <a:t>Autres signes :</a:t>
            </a:r>
          </a:p>
          <a:p>
            <a:r>
              <a:rPr lang="fr-FR" dirty="0" smtClean="0"/>
              <a:t>Facteur V&lt;50%</a:t>
            </a:r>
          </a:p>
          <a:p>
            <a:r>
              <a:rPr lang="fr-FR" dirty="0" smtClean="0"/>
              <a:t>Encéphalopathie hépatique</a:t>
            </a:r>
          </a:p>
          <a:p>
            <a:r>
              <a:rPr lang="fr-FR" dirty="0" smtClean="0"/>
              <a:t>Syndrome hémorragique</a:t>
            </a:r>
            <a:endParaRPr lang="fr-TN" dirty="0"/>
          </a:p>
        </p:txBody>
      </p:sp>
    </p:spTree>
    <p:extLst>
      <p:ext uri="{BB962C8B-B14F-4D97-AF65-F5344CB8AC3E}">
        <p14:creationId xmlns="" xmlns:p14="http://schemas.microsoft.com/office/powerpoint/2010/main" val="13314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BB4CBA0-303B-5BEC-717B-D06AA5B06687}"/>
              </a:ext>
            </a:extLst>
          </p:cNvPr>
          <p:cNvSpPr>
            <a:spLocks noGrp="1"/>
          </p:cNvSpPr>
          <p:nvPr>
            <p:ph type="title"/>
          </p:nvPr>
        </p:nvSpPr>
        <p:spPr>
          <a:xfrm>
            <a:off x="838200" y="2507986"/>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a:t>
            </a:r>
            <a:r>
              <a:rPr lang="fr-FR" b="1" kern="100" dirty="0">
                <a:solidFill>
                  <a:schemeClr val="accent4"/>
                </a:solidFill>
              </a:rPr>
              <a:t>3</a:t>
            </a:r>
            <a:r>
              <a:rPr lang="fr-FR" b="1" i="0" u="none" strike="noStrike" kern="100" baseline="0" dirty="0">
                <a:solidFill>
                  <a:schemeClr val="accent4"/>
                </a:solidFill>
                <a:latin typeface="Calibri" panose="020F0502020204030204" pitchFamily="34" charset="0"/>
              </a:rPr>
              <a:t> : Les antiviraux oraux de haute barrière de résistance dans le traitement de l’hépatite B sont:</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a:t>
            </a:r>
            <a:r>
              <a:rPr lang="fr-FR" i="0" u="none" strike="noStrike" kern="100" baseline="0" dirty="0" err="1">
                <a:latin typeface="Calibri" panose="020F0502020204030204" pitchFamily="34" charset="0"/>
              </a:rPr>
              <a:t>Lamivudine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a:t>
            </a:r>
            <a:r>
              <a:rPr lang="fr-FR" i="0" u="none" strike="noStrike" kern="100" baseline="0" dirty="0" err="1">
                <a:latin typeface="Calibri" panose="020F0502020204030204" pitchFamily="34" charset="0"/>
              </a:rPr>
              <a:t>Entecavir</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a:t>
            </a:r>
            <a:r>
              <a:rPr lang="fr-FR" i="0" u="none" strike="noStrike" kern="100" baseline="0" dirty="0" err="1">
                <a:latin typeface="Calibri" panose="020F0502020204030204" pitchFamily="34" charset="0"/>
              </a:rPr>
              <a:t>Tenofovir</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t>
            </a:r>
            <a:r>
              <a:rPr lang="fr-FR" i="0" u="none" strike="noStrike" kern="100" baseline="0" dirty="0" err="1">
                <a:latin typeface="Calibri" panose="020F0502020204030204" pitchFamily="34" charset="0"/>
              </a:rPr>
              <a:t>Peg</a:t>
            </a:r>
            <a:r>
              <a:rPr lang="fr-FR" i="0" u="none" strike="noStrike" kern="100" baseline="0" dirty="0">
                <a:latin typeface="Calibri" panose="020F0502020204030204" pitchFamily="34" charset="0"/>
              </a:rPr>
              <a:t>-Interféron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t>
            </a:r>
            <a:r>
              <a:rPr lang="fr-FR" i="0" u="none" strike="noStrike" kern="100" baseline="0" dirty="0" err="1">
                <a:latin typeface="Calibri" panose="020F0502020204030204" pitchFamily="34" charset="0"/>
              </a:rPr>
              <a:t>Sofosbuvir</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75141687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0F9028-441F-4883-C3F9-B7202026BFC0}"/>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B4137D54-B9EC-5E00-9302-AAD178272A20}"/>
              </a:ext>
            </a:extLst>
          </p:cNvPr>
          <p:cNvSpPr>
            <a:spLocks noGrp="1"/>
          </p:cNvSpPr>
          <p:nvPr>
            <p:ph type="title"/>
          </p:nvPr>
        </p:nvSpPr>
        <p:spPr>
          <a:xfrm>
            <a:off x="838200" y="2507986"/>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33 : Les antiviraux oraux de haute barrière de résistance dans le traitement de l’hépatite B sont:</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a:t>
            </a:r>
            <a:r>
              <a:rPr lang="fr-FR" i="0" u="none" strike="noStrike" kern="100" baseline="0" dirty="0" err="1">
                <a:latin typeface="Calibri" panose="020F0502020204030204" pitchFamily="34" charset="0"/>
              </a:rPr>
              <a:t>Lamivudine</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B. </a:t>
            </a:r>
            <a:r>
              <a:rPr lang="fr-FR" i="0" u="none" strike="noStrike" kern="100" baseline="0" dirty="0" err="1">
                <a:solidFill>
                  <a:schemeClr val="accent2"/>
                </a:solidFill>
                <a:latin typeface="Calibri" panose="020F0502020204030204" pitchFamily="34" charset="0"/>
              </a:rPr>
              <a:t>Entecavir</a:t>
            </a:r>
            <a:r>
              <a:rPr lang="fr-FR" i="0" u="none" strike="noStrike" kern="100" baseline="0" dirty="0">
                <a:solidFill>
                  <a:schemeClr val="accent2"/>
                </a:solidFill>
                <a:latin typeface="Calibri" panose="020F0502020204030204" pitchFamily="34" charset="0"/>
              </a:rPr>
              <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a:t>
            </a:r>
            <a:r>
              <a:rPr lang="fr-FR" i="0" u="none" strike="noStrike" kern="100" baseline="0" dirty="0" err="1">
                <a:solidFill>
                  <a:schemeClr val="accent2"/>
                </a:solidFill>
                <a:latin typeface="Calibri" panose="020F0502020204030204" pitchFamily="34" charset="0"/>
              </a:rPr>
              <a:t>Tenofovir</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a:t>
            </a:r>
            <a:r>
              <a:rPr lang="fr-FR" i="0" u="none" strike="noStrike" kern="100" baseline="0" dirty="0" err="1">
                <a:latin typeface="Calibri" panose="020F0502020204030204" pitchFamily="34" charset="0"/>
              </a:rPr>
              <a:t>Peg</a:t>
            </a:r>
            <a:r>
              <a:rPr lang="fr-FR" i="0" u="none" strike="noStrike" kern="100" baseline="0" dirty="0">
                <a:latin typeface="Calibri" panose="020F0502020204030204" pitchFamily="34" charset="0"/>
              </a:rPr>
              <a:t>-Interféron</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a:t>
            </a:r>
            <a:r>
              <a:rPr lang="fr-FR" i="0" u="none" strike="noStrike" kern="100" baseline="0" dirty="0" err="1">
                <a:latin typeface="Calibri" panose="020F0502020204030204" pitchFamily="34" charset="0"/>
              </a:rPr>
              <a:t>Sofosbuvir</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254178921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DC00F3C-2DCD-94AE-7531-4EBBD9E4E46F}"/>
              </a:ext>
            </a:extLst>
          </p:cNvPr>
          <p:cNvSpPr>
            <a:spLocks noGrp="1"/>
          </p:cNvSpPr>
          <p:nvPr>
            <p:ph type="title"/>
          </p:nvPr>
        </p:nvSpPr>
        <p:spPr>
          <a:xfrm>
            <a:off x="838200" y="2766218"/>
            <a:ext cx="10515600" cy="1325563"/>
          </a:xfrm>
        </p:spPr>
        <p:txBody>
          <a:bodyPr>
            <a:noAutofit/>
          </a:bodyPr>
          <a:lstStyle/>
          <a:p>
            <a:r>
              <a:rPr lang="fr-FR" b="1" kern="100" dirty="0">
                <a:solidFill>
                  <a:schemeClr val="accent4"/>
                </a:solidFill>
              </a:rPr>
              <a:t>Question 34 : Concernant le traitement de l’hépatite chronique B :</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Il est indiqué si l’ADN du VHB est supérieur à 2000 UI/ml avec cytolyse ou fibrose ≥ F2.</a:t>
            </a:r>
            <a:br>
              <a:rPr lang="fr-FR" i="0" u="none" strike="noStrike" kern="100" baseline="0" dirty="0">
                <a:latin typeface="Calibri" panose="020F0502020204030204" pitchFamily="34" charset="0"/>
              </a:rPr>
            </a:br>
            <a:r>
              <a:rPr lang="fr-FR" kern="100" dirty="0"/>
              <a:t>B. Les traitements de première intention sont l’</a:t>
            </a:r>
            <a:r>
              <a:rPr lang="fr-FR" kern="100" dirty="0" err="1"/>
              <a:t>entécavir</a:t>
            </a:r>
            <a:r>
              <a:rPr lang="fr-FR" kern="100" dirty="0"/>
              <a:t> ou le </a:t>
            </a:r>
            <a:r>
              <a:rPr lang="fr-FR" kern="100" dirty="0" err="1"/>
              <a:t>ténofovir</a:t>
            </a:r>
            <a:r>
              <a:rPr lang="fr-FR" kern="100" dirty="0"/>
              <a:t>.</a:t>
            </a:r>
            <a:br>
              <a:rPr lang="fr-FR" kern="100" dirty="0"/>
            </a:br>
            <a:r>
              <a:rPr lang="fr-FR" kern="100" dirty="0"/>
              <a:t>C. La durée standard du traitement est de 6 mois.</a:t>
            </a:r>
            <a:br>
              <a:rPr lang="fr-FR" kern="100" dirty="0"/>
            </a:br>
            <a:r>
              <a:rPr lang="fr-FR" kern="100" dirty="0"/>
              <a:t>D. La surveillance virologique est mensuelle durant le traitement </a:t>
            </a:r>
            <a:br>
              <a:rPr lang="fr-FR" kern="100" dirty="0"/>
            </a:br>
            <a:r>
              <a:rPr lang="fr-FR" kern="100" dirty="0"/>
              <a:t>E. L’arrêt du traitement est possible chez certains patients </a:t>
            </a:r>
            <a:r>
              <a:rPr lang="fr-FR" kern="100" dirty="0" err="1"/>
              <a:t>HBeAg</a:t>
            </a:r>
            <a:r>
              <a:rPr lang="fr-FR" kern="100" dirty="0"/>
              <a:t> positifs après séroconversion stable.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90604424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ACA1587-B82A-7589-32CE-1693C4AA8043}"/>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188897DC-76BA-573F-525F-520EECA2A6E3}"/>
              </a:ext>
            </a:extLst>
          </p:cNvPr>
          <p:cNvSpPr>
            <a:spLocks noGrp="1"/>
          </p:cNvSpPr>
          <p:nvPr>
            <p:ph type="title"/>
          </p:nvPr>
        </p:nvSpPr>
        <p:spPr>
          <a:xfrm>
            <a:off x="838200" y="2766218"/>
            <a:ext cx="10515600" cy="1325563"/>
          </a:xfrm>
        </p:spPr>
        <p:txBody>
          <a:bodyPr>
            <a:noAutofit/>
          </a:bodyPr>
          <a:lstStyle/>
          <a:p>
            <a:r>
              <a:rPr lang="fr-FR" b="1" kern="100" dirty="0">
                <a:solidFill>
                  <a:schemeClr val="accent4"/>
                </a:solidFill>
              </a:rPr>
              <a:t>Question 34 : Concernant le traitement de l’hépatite chronique B :</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Il est indiqué si l’ADN du VHB est supérieur à 2000 UI/ml avec cytolyse ou fibrose ≥ F2.</a:t>
            </a:r>
            <a:br>
              <a:rPr lang="fr-FR" i="0" u="none" strike="noStrike" kern="100" baseline="0" dirty="0">
                <a:solidFill>
                  <a:schemeClr val="accent2"/>
                </a:solidFill>
                <a:latin typeface="Calibri" panose="020F0502020204030204" pitchFamily="34" charset="0"/>
              </a:rPr>
            </a:br>
            <a:r>
              <a:rPr lang="fr-FR" kern="100" dirty="0">
                <a:solidFill>
                  <a:schemeClr val="accent2"/>
                </a:solidFill>
              </a:rPr>
              <a:t>B. Les traitements de première intention sont l’</a:t>
            </a:r>
            <a:r>
              <a:rPr lang="fr-FR" kern="100" dirty="0" err="1">
                <a:solidFill>
                  <a:schemeClr val="accent2"/>
                </a:solidFill>
              </a:rPr>
              <a:t>entécavir</a:t>
            </a:r>
            <a:r>
              <a:rPr lang="fr-FR" kern="100" dirty="0">
                <a:solidFill>
                  <a:schemeClr val="accent2"/>
                </a:solidFill>
              </a:rPr>
              <a:t> ou le </a:t>
            </a:r>
            <a:r>
              <a:rPr lang="fr-FR" kern="100" dirty="0" err="1">
                <a:solidFill>
                  <a:schemeClr val="accent2"/>
                </a:solidFill>
              </a:rPr>
              <a:t>ténofovir</a:t>
            </a:r>
            <a:r>
              <a:rPr lang="fr-FR" kern="100" dirty="0">
                <a:solidFill>
                  <a:schemeClr val="accent2"/>
                </a:solidFill>
              </a:rPr>
              <a:t>.</a:t>
            </a:r>
            <a:r>
              <a:rPr lang="fr-FR" kern="100" dirty="0"/>
              <a:t/>
            </a:r>
            <a:br>
              <a:rPr lang="fr-FR" kern="100" dirty="0"/>
            </a:br>
            <a:r>
              <a:rPr lang="fr-FR" kern="100" dirty="0"/>
              <a:t>C. La durée standard du traitement est de 6 mois.</a:t>
            </a:r>
            <a:br>
              <a:rPr lang="fr-FR" kern="100" dirty="0"/>
            </a:br>
            <a:r>
              <a:rPr lang="fr-FR" kern="100" dirty="0"/>
              <a:t>D. La surveillance virologique est mensuelle durant le traitement </a:t>
            </a:r>
            <a:br>
              <a:rPr lang="fr-FR" kern="100" dirty="0"/>
            </a:br>
            <a:r>
              <a:rPr lang="fr-FR" kern="100" dirty="0">
                <a:solidFill>
                  <a:schemeClr val="accent2"/>
                </a:solidFill>
              </a:rPr>
              <a:t>E. L’arrêt du traitement est possible chez certains patients </a:t>
            </a:r>
            <a:r>
              <a:rPr lang="fr-FR" kern="100" dirty="0" err="1">
                <a:solidFill>
                  <a:schemeClr val="accent2"/>
                </a:solidFill>
              </a:rPr>
              <a:t>HBeAg</a:t>
            </a:r>
            <a:r>
              <a:rPr lang="fr-FR" kern="100" dirty="0">
                <a:solidFill>
                  <a:schemeClr val="accent2"/>
                </a:solidFill>
              </a:rPr>
              <a:t> positifs après séroconversion stable.</a:t>
            </a:r>
            <a:endParaRPr lang="fr-FR" i="0" u="none" strike="noStrike" kern="100" baseline="0" dirty="0">
              <a:solidFill>
                <a:schemeClr val="accent2"/>
              </a:solidFill>
              <a:latin typeface="Calibri" panose="020F0502020204030204" pitchFamily="34" charset="0"/>
            </a:endParaRPr>
          </a:p>
        </p:txBody>
      </p:sp>
    </p:spTree>
    <p:extLst>
      <p:ext uri="{BB962C8B-B14F-4D97-AF65-F5344CB8AC3E}">
        <p14:creationId xmlns="" xmlns:p14="http://schemas.microsoft.com/office/powerpoint/2010/main" val="164394415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19A7DE3-F4FA-C9CC-7864-8D20E2F675F6}"/>
              </a:ext>
            </a:extLst>
          </p:cNvPr>
          <p:cNvSpPr>
            <a:spLocks noGrp="1"/>
          </p:cNvSpPr>
          <p:nvPr>
            <p:ph type="title"/>
          </p:nvPr>
        </p:nvSpPr>
        <p:spPr>
          <a:xfrm>
            <a:off x="838200" y="2542934"/>
            <a:ext cx="10515600" cy="1325563"/>
          </a:xfrm>
        </p:spPr>
        <p:txBody>
          <a:bodyPr>
            <a:noAutofit/>
          </a:bodyPr>
          <a:lstStyle/>
          <a:p>
            <a:r>
              <a:rPr lang="fr-FR" b="1" kern="100" dirty="0">
                <a:solidFill>
                  <a:schemeClr val="accent4"/>
                </a:solidFill>
              </a:rPr>
              <a:t>Question 35 : Concernant l’hépatite C chronique</a:t>
            </a:r>
            <a:r>
              <a:rPr lang="fr-FR" b="1" i="0" u="none" strike="noStrike" kern="100" baseline="0" dirty="0">
                <a:solidFill>
                  <a:schemeClr val="accent4"/>
                </a:solidFill>
                <a:latin typeface="Arial" panose="020B0604020202020204" pitchFamily="34" charset="0"/>
              </a:rPr>
              <a:t> </a:t>
            </a:r>
            <a:r>
              <a:rPr lang="fr-FR" b="1" kern="100" dirty="0">
                <a:solidFill>
                  <a:schemeClr val="accent4"/>
                </a:solidFill>
              </a:rPr>
              <a:t>:</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Tous les patients doivent être traités indépendamment du degré de fibrose.</a:t>
            </a:r>
            <a:br>
              <a:rPr lang="fr-FR" i="0" u="none" strike="noStrike" kern="100" baseline="0" dirty="0">
                <a:latin typeface="Calibri" panose="020F0502020204030204" pitchFamily="34" charset="0"/>
              </a:rPr>
            </a:br>
            <a:r>
              <a:rPr lang="fr-FR" kern="100" dirty="0"/>
              <a:t>B. La durée standard du traitement par antiviraux à action directe est de 12 semaines.</a:t>
            </a:r>
            <a:br>
              <a:rPr lang="fr-FR" kern="100" dirty="0"/>
            </a:br>
            <a:r>
              <a:rPr lang="fr-FR" kern="100" dirty="0"/>
              <a:t>C. Une réactivation virale est possible après réponse virologique soutenue.</a:t>
            </a:r>
            <a:br>
              <a:rPr lang="fr-FR" kern="100" dirty="0"/>
            </a:br>
            <a:r>
              <a:rPr lang="fr-FR" kern="100" dirty="0"/>
              <a:t>D. La transmission nosocomiale est possible.</a:t>
            </a:r>
            <a:br>
              <a:rPr lang="fr-FR" kern="100" dirty="0"/>
            </a:br>
            <a:r>
              <a:rPr lang="fr-FR" kern="100" dirty="0"/>
              <a:t>E. Un vaccin contre le VHC est disponible.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6670628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18F00C0-B54B-90D0-F50F-1F694C4CA754}"/>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C09A2642-C0C8-5ACD-18EF-5DD5C107A229}"/>
              </a:ext>
            </a:extLst>
          </p:cNvPr>
          <p:cNvSpPr>
            <a:spLocks noGrp="1"/>
          </p:cNvSpPr>
          <p:nvPr>
            <p:ph type="title"/>
          </p:nvPr>
        </p:nvSpPr>
        <p:spPr>
          <a:xfrm>
            <a:off x="838200" y="2542934"/>
            <a:ext cx="10515600" cy="1325563"/>
          </a:xfrm>
        </p:spPr>
        <p:txBody>
          <a:bodyPr>
            <a:noAutofit/>
          </a:bodyPr>
          <a:lstStyle/>
          <a:p>
            <a:r>
              <a:rPr lang="fr-FR" b="1" kern="100" dirty="0">
                <a:solidFill>
                  <a:schemeClr val="accent4"/>
                </a:solidFill>
              </a:rPr>
              <a:t>Question 35 : Concernant l’hépatite C chronique</a:t>
            </a:r>
            <a:r>
              <a:rPr lang="fr-FR" b="1" i="0" u="none" strike="noStrike" kern="100" baseline="0" dirty="0">
                <a:solidFill>
                  <a:schemeClr val="accent4"/>
                </a:solidFill>
                <a:latin typeface="Arial" panose="020B0604020202020204" pitchFamily="34" charset="0"/>
              </a:rPr>
              <a:t> </a:t>
            </a:r>
            <a:r>
              <a:rPr lang="fr-FR" b="1" kern="100" dirty="0">
                <a:solidFill>
                  <a:schemeClr val="accent4"/>
                </a:solidFill>
              </a:rPr>
              <a:t>:</a:t>
            </a:r>
            <a:r>
              <a:rPr lang="fr-FR" b="1" i="0" u="none" strike="noStrike" kern="100" baseline="0" dirty="0">
                <a:solidFill>
                  <a:schemeClr val="accent4"/>
                </a:solidFill>
                <a:latin typeface="Calibri" panose="020F0502020204030204" pitchFamily="34" charset="0"/>
              </a:rP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Tous les patients doivent être traités indépendamment du degré de fibrose.</a:t>
            </a:r>
            <a:br>
              <a:rPr lang="fr-FR" i="0" u="none" strike="noStrike" kern="100" baseline="0" dirty="0">
                <a:solidFill>
                  <a:schemeClr val="accent2"/>
                </a:solidFill>
                <a:latin typeface="Calibri" panose="020F0502020204030204" pitchFamily="34" charset="0"/>
              </a:rPr>
            </a:br>
            <a:r>
              <a:rPr lang="fr-FR" kern="100" dirty="0">
                <a:solidFill>
                  <a:schemeClr val="accent2"/>
                </a:solidFill>
              </a:rPr>
              <a:t>B. La durée standard du traitement par antiviraux à action directe est de 12 semaines.</a:t>
            </a:r>
            <a:br>
              <a:rPr lang="fr-FR" kern="100" dirty="0">
                <a:solidFill>
                  <a:schemeClr val="accent2"/>
                </a:solidFill>
              </a:rPr>
            </a:br>
            <a:r>
              <a:rPr lang="fr-FR" kern="100" dirty="0"/>
              <a:t>C. Une réactivation virale est possible après réponse virologique soutenue.</a:t>
            </a:r>
            <a:br>
              <a:rPr lang="fr-FR" kern="100" dirty="0"/>
            </a:br>
            <a:r>
              <a:rPr lang="fr-FR" kern="100" dirty="0"/>
              <a:t>D. L’éradication du virus est obtenue dans 60% des cas</a:t>
            </a:r>
            <a:br>
              <a:rPr lang="fr-FR" kern="100" dirty="0"/>
            </a:br>
            <a:r>
              <a:rPr lang="fr-FR" kern="100" dirty="0"/>
              <a:t>E. Un vaccin contre le VHC est disponible.</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372032203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DA51189-B873-703A-8AD4-AC127E71F038}"/>
              </a:ext>
            </a:extLst>
          </p:cNvPr>
          <p:cNvSpPr>
            <a:spLocks noGrp="1"/>
          </p:cNvSpPr>
          <p:nvPr>
            <p:ph type="title"/>
          </p:nvPr>
        </p:nvSpPr>
        <p:spPr/>
        <p:txBody>
          <a:bodyPr/>
          <a:lstStyle/>
          <a:p>
            <a:endParaRPr lang="fr-TN"/>
          </a:p>
        </p:txBody>
      </p:sp>
      <p:sp>
        <p:nvSpPr>
          <p:cNvPr id="3" name="Titre 1">
            <a:extLst>
              <a:ext uri="{FF2B5EF4-FFF2-40B4-BE49-F238E27FC236}">
                <a16:creationId xmlns="" xmlns:a16="http://schemas.microsoft.com/office/drawing/2014/main" id="{4303C583-8BBD-466D-9699-04CF82B3B7D5}"/>
              </a:ext>
            </a:extLst>
          </p:cNvPr>
          <p:cNvSpPr txBox="1">
            <a:spLocks/>
          </p:cNvSpPr>
          <p:nvPr/>
        </p:nvSpPr>
        <p:spPr>
          <a:xfrm>
            <a:off x="2237250" y="1422378"/>
            <a:ext cx="7717500" cy="294600"/>
          </a:xfrm>
          <a:prstGeom prst="rect">
            <a:avLst/>
          </a:prstGeom>
          <a:noFill/>
          <a:ln>
            <a:noFill/>
          </a:ln>
        </p:spPr>
        <p:txBody>
          <a:bodyPr spcFirstLastPara="1" wrap="square" lIns="91425" tIns="91425" rIns="91425" bIns="91425"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292929"/>
              </a:buClr>
              <a:buSzPts val="2800"/>
              <a:buFont typeface="Tenor Sans"/>
              <a:buNone/>
              <a:tabLst/>
              <a:defRPr/>
            </a:pPr>
            <a:r>
              <a:rPr kumimoji="0" lang="fr-FR" sz="3200" b="1" i="0" u="none" strike="noStrike" kern="0" cap="none" spc="0" normalizeH="0" baseline="0" noProof="0">
                <a:ln>
                  <a:noFill/>
                </a:ln>
                <a:solidFill>
                  <a:srgbClr val="292929"/>
                </a:solidFill>
                <a:effectLst/>
                <a:uLnTx/>
                <a:uFillTx/>
                <a:latin typeface="Calibri" panose="020F0502020204030204" pitchFamily="34" charset="0"/>
                <a:ea typeface="Tenor Sans"/>
                <a:cs typeface="Calibri" panose="020F0502020204030204" pitchFamily="34" charset="0"/>
                <a:sym typeface="Tenor Sans"/>
              </a:rPr>
              <a:t>Hépatites aigues</a:t>
            </a:r>
            <a:endParaRPr kumimoji="0" lang="fr-TN" sz="3200" b="1" i="0" u="none" strike="noStrike" kern="0" cap="none" spc="0" normalizeH="0" baseline="0" noProof="0" dirty="0">
              <a:ln>
                <a:noFill/>
              </a:ln>
              <a:solidFill>
                <a:srgbClr val="292929"/>
              </a:solidFill>
              <a:effectLst/>
              <a:uLnTx/>
              <a:uFillTx/>
              <a:latin typeface="Calibri" panose="020F0502020204030204" pitchFamily="34" charset="0"/>
              <a:ea typeface="Tenor Sans"/>
              <a:cs typeface="Calibri" panose="020F0502020204030204" pitchFamily="34" charset="0"/>
              <a:sym typeface="Tenor Sans"/>
            </a:endParaRPr>
          </a:p>
        </p:txBody>
      </p:sp>
      <p:sp>
        <p:nvSpPr>
          <p:cNvPr id="4" name="Espace réservé du texte 2">
            <a:extLst>
              <a:ext uri="{FF2B5EF4-FFF2-40B4-BE49-F238E27FC236}">
                <a16:creationId xmlns="" xmlns:a16="http://schemas.microsoft.com/office/drawing/2014/main" id="{526403CA-7AA0-4495-BE25-13DB964C2412}"/>
              </a:ext>
            </a:extLst>
          </p:cNvPr>
          <p:cNvSpPr txBox="1">
            <a:spLocks/>
          </p:cNvSpPr>
          <p:nvPr/>
        </p:nvSpPr>
        <p:spPr>
          <a:xfrm>
            <a:off x="2724672" y="1805921"/>
            <a:ext cx="7084612" cy="3629700"/>
          </a:xfrm>
          <a:prstGeom prst="rect">
            <a:avLst/>
          </a:prstGeom>
          <a:noFill/>
          <a:ln>
            <a:noFill/>
          </a:ln>
        </p:spPr>
        <p:txBody>
          <a:bodyPr spcFirstLastPara="1" wrap="square" lIns="91425" tIns="91425" rIns="91425" bIns="91425"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800" b="1" i="0" u="none" strike="noStrike" kern="0" cap="none" spc="0" normalizeH="0" baseline="0" noProof="0" dirty="0">
                <a:ln>
                  <a:noFill/>
                </a:ln>
                <a:solidFill>
                  <a:srgbClr val="644DB4"/>
                </a:solidFill>
                <a:effectLst/>
                <a:uLnTx/>
                <a:uFillTx/>
                <a:latin typeface="Calibri" panose="020F0502020204030204" pitchFamily="34" charset="0"/>
                <a:ea typeface="Manjari"/>
                <a:cs typeface="Manjari"/>
                <a:sym typeface="Manjari"/>
              </a:rPr>
              <a:t>Formes non graves:</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400" b="1" i="0" u="none" strike="noStrike" kern="0" cap="none" spc="0" normalizeH="0" baseline="0" noProof="0" dirty="0">
              <a:ln>
                <a:noFill/>
              </a:ln>
              <a:solidFill>
                <a:srgbClr val="644DB4"/>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1"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Manjari"/>
              </a:rPr>
              <a:t>A, B, D et E </a:t>
            </a:r>
            <a:r>
              <a:rPr kumimoji="0" lang="fr-FR" sz="2400" b="1"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Wingdings" panose="05000000000000000000" pitchFamily="2" charset="2"/>
              </a:rPr>
              <a:t></a:t>
            </a:r>
            <a:r>
              <a:rPr kumimoji="0" lang="fr-FR" sz="2400" b="1"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Manjari"/>
              </a:rPr>
              <a:t> </a:t>
            </a:r>
            <a:r>
              <a:rPr kumimoji="0" lang="fr-FR" sz="2400" b="1"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Pas</a:t>
            </a: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de traitement spécifique </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a:t>
            </a:r>
            <a:r>
              <a:rPr kumimoji="0" lang="fr-FR" sz="2400" b="0"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Wingdings" panose="05000000000000000000" pitchFamily="2" charset="2"/>
              </a:rPr>
              <a:t> </a:t>
            </a:r>
            <a:r>
              <a:rPr kumimoji="0" lang="fr-FR" sz="2400" b="1"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Précautions: </a:t>
            </a: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abstention d’alcool et de    médicaments hépatotoxiques</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a:r>
            <a:b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br>
            <a:r>
              <a:rPr kumimoji="0" lang="fr-FR" sz="2400" b="1"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Manjari"/>
              </a:rPr>
              <a:t>C </a:t>
            </a:r>
            <a:r>
              <a:rPr kumimoji="0" lang="fr-FR" sz="2400" b="1" i="0" u="none" strike="noStrike" kern="0" cap="none" spc="0" normalizeH="0" baseline="0" noProof="0" dirty="0">
                <a:ln>
                  <a:noFill/>
                </a:ln>
                <a:solidFill>
                  <a:srgbClr val="769EF6"/>
                </a:solidFill>
                <a:effectLst/>
                <a:uLnTx/>
                <a:uFillTx/>
                <a:latin typeface="Calibri" panose="020F0502020204030204" pitchFamily="34" charset="0"/>
                <a:ea typeface="Manjari"/>
                <a:cs typeface="Manjari"/>
                <a:sym typeface="Wingdings" panose="05000000000000000000" pitchFamily="2" charset="2"/>
              </a:rPr>
              <a:t> </a:t>
            </a:r>
            <a:r>
              <a:rPr kumimoji="0" lang="fr-FR" sz="2400" b="1"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Wingdings" panose="05000000000000000000" pitchFamily="2" charset="2"/>
              </a:rPr>
              <a:t>TTT</a:t>
            </a:r>
            <a:r>
              <a:rPr kumimoji="0" lang="fr-FR" sz="2400" b="1"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antiviral oral x 8 semaines </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1"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a:t>
            </a:r>
            <a:r>
              <a:rPr kumimoji="0" lang="fr-FR" sz="2400" b="0" i="0" u="none" strike="noStrike" kern="0" cap="none" spc="0" normalizeH="0" baseline="0" noProof="0" dirty="0" err="1">
                <a:ln>
                  <a:noFill/>
                </a:ln>
                <a:solidFill>
                  <a:srgbClr val="000000"/>
                </a:solidFill>
                <a:effectLst/>
                <a:uLnTx/>
                <a:uFillTx/>
                <a:latin typeface="Calibri" panose="020F0502020204030204" pitchFamily="34" charset="0"/>
                <a:ea typeface="Manjari"/>
                <a:cs typeface="Manjari"/>
                <a:sym typeface="Manjari"/>
              </a:rPr>
              <a:t>Sofosbuvir</a:t>
            </a: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 </a:t>
            </a:r>
            <a:r>
              <a:rPr kumimoji="0" lang="fr-FR" sz="2400" b="0" i="0" u="none" strike="noStrike" kern="0" cap="none" spc="0" normalizeH="0" baseline="0" noProof="0" dirty="0" err="1">
                <a:ln>
                  <a:noFill/>
                </a:ln>
                <a:solidFill>
                  <a:srgbClr val="000000"/>
                </a:solidFill>
                <a:effectLst/>
                <a:uLnTx/>
                <a:uFillTx/>
                <a:latin typeface="Calibri" panose="020F0502020204030204" pitchFamily="34" charset="0"/>
                <a:ea typeface="Manjari"/>
                <a:cs typeface="Manjari"/>
                <a:sym typeface="Manjari"/>
              </a:rPr>
              <a:t>Velpatasvir</a:t>
            </a: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 (</a:t>
            </a:r>
            <a:r>
              <a:rPr kumimoji="0" lang="fr-FR" sz="2400" b="0" i="0" u="none" strike="noStrike" kern="0" cap="none" spc="0" normalizeH="0" baseline="0" noProof="0" dirty="0" err="1">
                <a:ln>
                  <a:noFill/>
                </a:ln>
                <a:solidFill>
                  <a:srgbClr val="000000"/>
                </a:solidFill>
                <a:effectLst/>
                <a:uLnTx/>
                <a:uFillTx/>
                <a:latin typeface="Calibri" panose="020F0502020204030204" pitchFamily="34" charset="0"/>
                <a:ea typeface="Manjari"/>
                <a:cs typeface="Manjari"/>
                <a:sym typeface="Manjari"/>
              </a:rPr>
              <a:t>Pangénotypique</a:t>
            </a:r>
            <a: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t>)</a:t>
            </a:r>
            <a:br>
              <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rPr>
            </a:br>
            <a:endParaRPr kumimoji="0" lang="fr-FR" sz="24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
            </a:r>
            <a:br>
              <a:rPr kumimoji="0" lang="fr-FR" sz="24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br>
            <a:endParaRPr kumimoji="0" lang="fr-TN" sz="24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endParaRPr>
          </a:p>
        </p:txBody>
      </p:sp>
    </p:spTree>
    <p:extLst>
      <p:ext uri="{BB962C8B-B14F-4D97-AF65-F5344CB8AC3E}">
        <p14:creationId xmlns="" xmlns:p14="http://schemas.microsoft.com/office/powerpoint/2010/main" val="247673360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90354C5D-AD90-7107-6F1D-4E1212871761}"/>
              </a:ext>
            </a:extLst>
          </p:cNvPr>
          <p:cNvSpPr>
            <a:spLocks noGrp="1"/>
          </p:cNvSpPr>
          <p:nvPr/>
        </p:nvSpPr>
        <p:spPr>
          <a:xfrm>
            <a:off x="2439841" y="2238861"/>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dirty="0"/>
          </a:p>
        </p:txBody>
      </p:sp>
      <p:sp>
        <p:nvSpPr>
          <p:cNvPr id="4" name="Titre 1">
            <a:extLst>
              <a:ext uri="{FF2B5EF4-FFF2-40B4-BE49-F238E27FC236}">
                <a16:creationId xmlns="" xmlns:a16="http://schemas.microsoft.com/office/drawing/2014/main" id="{4303C583-8BBD-466D-9699-04CF82B3B7D5}"/>
              </a:ext>
            </a:extLst>
          </p:cNvPr>
          <p:cNvSpPr txBox="1">
            <a:spLocks/>
          </p:cNvSpPr>
          <p:nvPr/>
        </p:nvSpPr>
        <p:spPr>
          <a:xfrm>
            <a:off x="2314655" y="595779"/>
            <a:ext cx="7717500" cy="294600"/>
          </a:xfrm>
          <a:prstGeom prst="rect">
            <a:avLst/>
          </a:prstGeom>
          <a:noFill/>
          <a:ln>
            <a:noFill/>
          </a:ln>
        </p:spPr>
        <p:txBody>
          <a:bodyPr spcFirstLastPara="1" wrap="square" lIns="91425" tIns="91425" rIns="91425" bIns="91425"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292929"/>
              </a:buClr>
              <a:buSzPts val="2800"/>
              <a:buFont typeface="Tenor Sans"/>
              <a:buNone/>
              <a:tabLst/>
              <a:defRPr/>
            </a:pPr>
            <a:r>
              <a:rPr kumimoji="0" lang="fr-FR" sz="2800" b="1" i="0" u="none" strike="noStrike" kern="0" cap="none" spc="0" normalizeH="0" baseline="0" noProof="0">
                <a:ln>
                  <a:noFill/>
                </a:ln>
                <a:solidFill>
                  <a:srgbClr val="292929"/>
                </a:solidFill>
                <a:effectLst/>
                <a:uLnTx/>
                <a:uFillTx/>
                <a:latin typeface="Calibri" panose="020F0502020204030204" pitchFamily="34" charset="0"/>
                <a:ea typeface="Tenor Sans"/>
                <a:cs typeface="Calibri" panose="020F0502020204030204" pitchFamily="34" charset="0"/>
                <a:sym typeface="Tenor Sans"/>
              </a:rPr>
              <a:t>Hépatites aigues</a:t>
            </a:r>
            <a:endParaRPr kumimoji="0" lang="fr-TN" sz="2800" b="1" i="0" u="none" strike="noStrike" kern="0" cap="none" spc="0" normalizeH="0" baseline="0" noProof="0" dirty="0">
              <a:ln>
                <a:noFill/>
              </a:ln>
              <a:solidFill>
                <a:srgbClr val="292929"/>
              </a:solidFill>
              <a:effectLst/>
              <a:uLnTx/>
              <a:uFillTx/>
              <a:latin typeface="Calibri" panose="020F0502020204030204" pitchFamily="34" charset="0"/>
              <a:ea typeface="Tenor Sans"/>
              <a:cs typeface="Calibri" panose="020F0502020204030204" pitchFamily="34" charset="0"/>
              <a:sym typeface="Tenor Sans"/>
            </a:endParaRPr>
          </a:p>
        </p:txBody>
      </p:sp>
      <p:pic>
        <p:nvPicPr>
          <p:cNvPr id="5" name="table">
            <a:extLst>
              <a:ext uri="{FF2B5EF4-FFF2-40B4-BE49-F238E27FC236}">
                <a16:creationId xmlns="" xmlns:a16="http://schemas.microsoft.com/office/drawing/2014/main" id="{CFF7760D-11C4-03E5-47F9-C3EB3DB0AAF5}"/>
              </a:ext>
            </a:extLst>
          </p:cNvPr>
          <p:cNvPicPr>
            <a:picLocks noChangeAspect="1"/>
          </p:cNvPicPr>
          <p:nvPr/>
        </p:nvPicPr>
        <p:blipFill>
          <a:blip r:embed="rId2"/>
          <a:stretch>
            <a:fillRect/>
          </a:stretch>
        </p:blipFill>
        <p:spPr>
          <a:xfrm>
            <a:off x="2159845" y="2728988"/>
            <a:ext cx="4615072" cy="3066554"/>
          </a:xfrm>
          <a:prstGeom prst="rect">
            <a:avLst/>
          </a:prstGeom>
        </p:spPr>
      </p:pic>
      <p:sp>
        <p:nvSpPr>
          <p:cNvPr id="6" name="Signe de multiplication 5">
            <a:extLst>
              <a:ext uri="{FF2B5EF4-FFF2-40B4-BE49-F238E27FC236}">
                <a16:creationId xmlns="" xmlns:a16="http://schemas.microsoft.com/office/drawing/2014/main" id="{6B156815-F7DE-4BD7-BDD3-7F5748307F76}"/>
              </a:ext>
            </a:extLst>
          </p:cNvPr>
          <p:cNvSpPr/>
          <p:nvPr/>
        </p:nvSpPr>
        <p:spPr>
          <a:xfrm>
            <a:off x="5243613" y="5024935"/>
            <a:ext cx="532737" cy="818878"/>
          </a:xfrm>
          <a:prstGeom prst="mathMultiply">
            <a:avLst/>
          </a:prstGeom>
          <a:solidFill>
            <a:srgbClr val="DB5050"/>
          </a:solidFill>
          <a:ln w="25400" cap="flat" cmpd="sng" algn="ctr">
            <a:solidFill>
              <a:srgbClr val="DB5050">
                <a:shade val="50000"/>
              </a:srgbClr>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7" name="Rectangle 6">
            <a:extLst>
              <a:ext uri="{FF2B5EF4-FFF2-40B4-BE49-F238E27FC236}">
                <a16:creationId xmlns="" xmlns:a16="http://schemas.microsoft.com/office/drawing/2014/main" id="{8A9F9317-8829-4354-A75E-E1BA09CB7B2A}"/>
              </a:ext>
            </a:extLst>
          </p:cNvPr>
          <p:cNvSpPr/>
          <p:nvPr/>
        </p:nvSpPr>
        <p:spPr>
          <a:xfrm>
            <a:off x="4523947" y="3476709"/>
            <a:ext cx="2000264" cy="329177"/>
          </a:xfrm>
          <a:prstGeom prst="rect">
            <a:avLst/>
          </a:prstGeom>
          <a:noFill/>
          <a:ln w="25400" cap="flat" cmpd="sng" algn="ctr">
            <a:solidFill>
              <a:srgbClr val="FF0000"/>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
        <p:nvSpPr>
          <p:cNvPr id="8" name="Rectangle 7">
            <a:extLst>
              <a:ext uri="{FF2B5EF4-FFF2-40B4-BE49-F238E27FC236}">
                <a16:creationId xmlns="" xmlns:a16="http://schemas.microsoft.com/office/drawing/2014/main" id="{7CE15DDE-4913-4FDC-8BD5-277DE98DE279}"/>
              </a:ext>
            </a:extLst>
          </p:cNvPr>
          <p:cNvSpPr/>
          <p:nvPr/>
        </p:nvSpPr>
        <p:spPr>
          <a:xfrm>
            <a:off x="4659191" y="4695758"/>
            <a:ext cx="1701580" cy="329177"/>
          </a:xfrm>
          <a:prstGeom prst="rect">
            <a:avLst/>
          </a:prstGeom>
          <a:noFill/>
          <a:ln w="25400" cap="flat" cmpd="sng" algn="ctr">
            <a:solidFill>
              <a:srgbClr val="FF0000"/>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
        <p:nvSpPr>
          <p:cNvPr id="9" name="Flèche : droite 8">
            <a:extLst>
              <a:ext uri="{FF2B5EF4-FFF2-40B4-BE49-F238E27FC236}">
                <a16:creationId xmlns="" xmlns:a16="http://schemas.microsoft.com/office/drawing/2014/main" id="{4F94CE51-DC04-425F-830D-C816EDE5D556}"/>
              </a:ext>
            </a:extLst>
          </p:cNvPr>
          <p:cNvSpPr/>
          <p:nvPr/>
        </p:nvSpPr>
        <p:spPr>
          <a:xfrm>
            <a:off x="6667922" y="3769924"/>
            <a:ext cx="784737" cy="199389"/>
          </a:xfrm>
          <a:prstGeom prst="rightArrow">
            <a:avLst/>
          </a:prstGeom>
          <a:solidFill>
            <a:srgbClr val="DB5050"/>
          </a:solidFill>
          <a:ln w="25400" cap="flat" cmpd="sng" algn="ctr">
            <a:solidFill>
              <a:srgbClr val="DB5050">
                <a:shade val="50000"/>
              </a:srgbClr>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0" name="Espace réservé du contenu 2">
            <a:extLst>
              <a:ext uri="{FF2B5EF4-FFF2-40B4-BE49-F238E27FC236}">
                <a16:creationId xmlns="" xmlns:a16="http://schemas.microsoft.com/office/drawing/2014/main" id="{5218B969-4E14-8ADE-6BF3-040D1713338F}"/>
              </a:ext>
            </a:extLst>
          </p:cNvPr>
          <p:cNvSpPr>
            <a:spLocks noGrp="1"/>
          </p:cNvSpPr>
          <p:nvPr/>
        </p:nvSpPr>
        <p:spPr>
          <a:xfrm>
            <a:off x="2120758" y="2238861"/>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dirty="0"/>
          </a:p>
        </p:txBody>
      </p:sp>
      <p:sp>
        <p:nvSpPr>
          <p:cNvPr id="12" name="Espace réservé du texte 2">
            <a:extLst>
              <a:ext uri="{FF2B5EF4-FFF2-40B4-BE49-F238E27FC236}">
                <a16:creationId xmlns="" xmlns:a16="http://schemas.microsoft.com/office/drawing/2014/main" id="{526403CA-7AA0-4495-BE25-13DB964C2412}"/>
              </a:ext>
            </a:extLst>
          </p:cNvPr>
          <p:cNvSpPr txBox="1">
            <a:spLocks/>
          </p:cNvSpPr>
          <p:nvPr/>
        </p:nvSpPr>
        <p:spPr>
          <a:xfrm>
            <a:off x="2482969" y="1127088"/>
            <a:ext cx="7792278" cy="3629700"/>
          </a:xfrm>
          <a:prstGeom prst="rect">
            <a:avLst/>
          </a:prstGeom>
          <a:noFill/>
          <a:ln>
            <a:noFill/>
          </a:ln>
        </p:spPr>
        <p:txBody>
          <a:bodyPr spcFirstLastPara="1" wrap="square" lIns="91425" tIns="91425" rIns="91425" bIns="91425"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1" i="0" u="none" strike="noStrike" kern="0" cap="none" spc="0" normalizeH="0" baseline="0" noProof="0">
                <a:ln>
                  <a:noFill/>
                </a:ln>
                <a:solidFill>
                  <a:srgbClr val="644DB4"/>
                </a:solidFill>
                <a:effectLst/>
                <a:uLnTx/>
                <a:uFillTx/>
                <a:latin typeface="Calibri" panose="020F0502020204030204" pitchFamily="34" charset="0"/>
                <a:ea typeface="Manjari"/>
                <a:cs typeface="Manjari"/>
                <a:sym typeface="Manjari"/>
              </a:rPr>
              <a:t>Forme grave ou sévère:</a:t>
            </a:r>
            <a:endParaRPr kumimoji="0" lang="fr-FR" sz="24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4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rPr>
              <a:t>TTT spécifique:</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000" b="1" i="0" u="none" strike="noStrike" kern="0" cap="none" spc="0" normalizeH="0" baseline="0" noProof="0">
                <a:ln>
                  <a:noFill/>
                </a:ln>
                <a:solidFill>
                  <a:srgbClr val="769EF6"/>
                </a:solidFill>
                <a:effectLst/>
                <a:uLnTx/>
                <a:uFillTx/>
                <a:latin typeface="Calibri" panose="020F0502020204030204" pitchFamily="34" charset="0"/>
                <a:ea typeface="Manjari"/>
                <a:cs typeface="Manjari"/>
                <a:sym typeface="Manjari"/>
              </a:rPr>
              <a:t>A </a:t>
            </a:r>
            <a:r>
              <a:rPr kumimoji="0" lang="fr-FR" sz="2000" b="1" i="0" u="none" strike="noStrike" kern="0" cap="none" spc="0" normalizeH="0" baseline="0" noProof="0">
                <a:ln>
                  <a:noFill/>
                </a:ln>
                <a:solidFill>
                  <a:srgbClr val="769EF6"/>
                </a:solidFill>
                <a:effectLst/>
                <a:uLnTx/>
                <a:uFillTx/>
                <a:latin typeface="Calibri" panose="020F0502020204030204" pitchFamily="34" charset="0"/>
                <a:ea typeface="Manjari"/>
                <a:cs typeface="Manjari"/>
                <a:sym typeface="Wingdings" panose="05000000000000000000" pitchFamily="2" charset="2"/>
              </a:rPr>
              <a:t> </a:t>
            </a:r>
            <a:r>
              <a:rPr kumimoji="0" lang="fr-FR" sz="2000" b="0" i="0" u="none" strike="noStrike" kern="0" cap="none" spc="0" normalizeH="0" baseline="0" noProof="0">
                <a:ln>
                  <a:noFill/>
                </a:ln>
                <a:solidFill>
                  <a:srgbClr val="292929"/>
                </a:solidFill>
                <a:effectLst/>
                <a:uLnTx/>
                <a:uFillTx/>
                <a:latin typeface="Calibri" panose="020F0502020204030204" pitchFamily="34" charset="0"/>
                <a:ea typeface="Manjari"/>
                <a:cs typeface="Manjari"/>
                <a:sym typeface="Wingdings" panose="05000000000000000000" pitchFamily="2" charset="2"/>
              </a:rPr>
              <a:t>Pas de TTT spécifique</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000" b="1" i="0" u="none" strike="noStrike" kern="0" cap="none" spc="0" normalizeH="0" baseline="0" noProof="0">
                <a:ln>
                  <a:noFill/>
                </a:ln>
                <a:solidFill>
                  <a:srgbClr val="769EF6"/>
                </a:solidFill>
                <a:effectLst/>
                <a:uLnTx/>
                <a:uFillTx/>
                <a:latin typeface="Calibri" panose="020F0502020204030204" pitchFamily="34" charset="0"/>
                <a:ea typeface="Manjari"/>
                <a:cs typeface="Manjari"/>
                <a:sym typeface="Manjari"/>
              </a:rPr>
              <a:t>B </a:t>
            </a:r>
            <a:r>
              <a:rPr kumimoji="0" lang="fr-FR" sz="2000" b="1" i="0" u="none" strike="noStrike" kern="0" cap="none" spc="0" normalizeH="0" baseline="0" noProof="0">
                <a:ln>
                  <a:noFill/>
                </a:ln>
                <a:solidFill>
                  <a:srgbClr val="769EF6"/>
                </a:solidFill>
                <a:effectLst/>
                <a:uLnTx/>
                <a:uFillTx/>
                <a:latin typeface="Calibri" panose="020F0502020204030204" pitchFamily="34" charset="0"/>
                <a:ea typeface="Manjari"/>
                <a:cs typeface="Manjari"/>
                <a:sym typeface="Wingdings" panose="05000000000000000000" pitchFamily="2" charset="2"/>
              </a:rPr>
              <a:t></a:t>
            </a:r>
            <a:r>
              <a:rPr kumimoji="0" lang="fr-FR" sz="2000" b="1" i="0" u="none" strike="noStrike" kern="0" cap="none" spc="0" normalizeH="0" baseline="0" noProof="0">
                <a:ln>
                  <a:noFill/>
                </a:ln>
                <a:solidFill>
                  <a:srgbClr val="769EF6"/>
                </a:solidFill>
                <a:effectLst/>
                <a:uLnTx/>
                <a:uFillTx/>
                <a:latin typeface="Calibri" panose="020F0502020204030204" pitchFamily="34" charset="0"/>
                <a:ea typeface="Manjari"/>
                <a:cs typeface="Manjari"/>
                <a:sym typeface="Manjari"/>
              </a:rPr>
              <a:t> </a:t>
            </a:r>
            <a:r>
              <a:rPr kumimoji="0" lang="fr-FR" sz="20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rPr>
              <a:t>TTT  par analogues anti-viraux</a:t>
            </a: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0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0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0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000" b="0" i="0" u="none" strike="noStrike" kern="0" cap="none" spc="0" normalizeH="0" baseline="0" noProof="0">
              <a:ln>
                <a:noFill/>
              </a:ln>
              <a:solidFill>
                <a:srgbClr val="000000"/>
              </a:solidFill>
              <a:effectLst/>
              <a:uLnTx/>
              <a:uFillTx/>
              <a:latin typeface="Calibri" panose="020F0502020204030204" pitchFamily="34" charset="0"/>
              <a:ea typeface="Manjari"/>
              <a:cs typeface="Manjari"/>
              <a:sym typeface="Manjari"/>
            </a:endParaRPr>
          </a:p>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endParaRPr kumimoji="0" lang="fr-FR" sz="2000" b="0" i="0" u="none" strike="noStrike" kern="0" cap="none" spc="0" normalizeH="0" baseline="0" noProof="0" dirty="0">
              <a:ln>
                <a:noFill/>
              </a:ln>
              <a:solidFill>
                <a:srgbClr val="000000"/>
              </a:solidFill>
              <a:effectLst/>
              <a:uLnTx/>
              <a:uFillTx/>
              <a:latin typeface="Calibri" panose="020F0502020204030204" pitchFamily="34" charset="0"/>
              <a:ea typeface="Manjari"/>
              <a:cs typeface="Manjari"/>
              <a:sym typeface="Manjari"/>
            </a:endParaRPr>
          </a:p>
        </p:txBody>
      </p:sp>
      <p:sp>
        <p:nvSpPr>
          <p:cNvPr id="14" name="ZoneTexte 30">
            <a:extLst>
              <a:ext uri="{FF2B5EF4-FFF2-40B4-BE49-F238E27FC236}">
                <a16:creationId xmlns="" xmlns:a16="http://schemas.microsoft.com/office/drawing/2014/main" id="{638C207A-1F39-4CA8-BF7E-6454D27E6F3A}"/>
              </a:ext>
            </a:extLst>
          </p:cNvPr>
          <p:cNvSpPr txBox="1"/>
          <p:nvPr/>
        </p:nvSpPr>
        <p:spPr>
          <a:xfrm>
            <a:off x="7612779" y="3446657"/>
            <a:ext cx="3293653" cy="1631216"/>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indent="0">
              <a:buNone/>
            </a:pPr>
            <a:r>
              <a:rPr lang="fr-FR" sz="2000" dirty="0">
                <a:latin typeface="Calibri" panose="020F0502020204030204" pitchFamily="34" charset="0"/>
              </a:rPr>
              <a:t>J</a:t>
            </a:r>
            <a:r>
              <a:rPr lang="fr-FR" sz="2000" b="0" i="0" dirty="0">
                <a:solidFill>
                  <a:srgbClr val="000000"/>
                </a:solidFill>
                <a:effectLst/>
                <a:latin typeface="Calibri" panose="020F0502020204030204" pitchFamily="34" charset="0"/>
              </a:rPr>
              <a:t>usqu’à au moins </a:t>
            </a:r>
            <a:r>
              <a:rPr lang="fr-FR" sz="2000" b="1" i="0" dirty="0">
                <a:solidFill>
                  <a:srgbClr val="000000"/>
                </a:solidFill>
                <a:effectLst/>
                <a:latin typeface="Calibri" panose="020F0502020204030204" pitchFamily="34" charset="0"/>
              </a:rPr>
              <a:t>3 mois </a:t>
            </a:r>
            <a:r>
              <a:rPr lang="fr-FR" sz="2000" b="0" i="0" dirty="0">
                <a:solidFill>
                  <a:srgbClr val="000000"/>
                </a:solidFill>
                <a:effectLst/>
                <a:latin typeface="Calibri" panose="020F0502020204030204" pitchFamily="34" charset="0"/>
              </a:rPr>
              <a:t>après la séroconversion </a:t>
            </a:r>
            <a:r>
              <a:rPr lang="fr-FR" sz="2000" b="1" i="0" dirty="0" err="1">
                <a:solidFill>
                  <a:srgbClr val="000000"/>
                </a:solidFill>
                <a:effectLst/>
                <a:latin typeface="Calibri" panose="020F0502020204030204" pitchFamily="34" charset="0"/>
              </a:rPr>
              <a:t>HBs</a:t>
            </a:r>
            <a:r>
              <a:rPr lang="fr-FR" sz="2000" b="1" i="0" dirty="0">
                <a:solidFill>
                  <a:srgbClr val="000000"/>
                </a:solidFill>
                <a:effectLst/>
                <a:latin typeface="Calibri" panose="020F0502020204030204" pitchFamily="34" charset="0"/>
              </a:rPr>
              <a:t> </a:t>
            </a:r>
            <a:r>
              <a:rPr lang="fr-FR" sz="2000" b="0" i="0" dirty="0">
                <a:solidFill>
                  <a:srgbClr val="000000"/>
                </a:solidFill>
                <a:effectLst/>
                <a:latin typeface="Calibri" panose="020F0502020204030204" pitchFamily="34" charset="0"/>
              </a:rPr>
              <a:t>ou jusqu'à </a:t>
            </a:r>
            <a:r>
              <a:rPr lang="fr-FR" sz="2000" b="1" i="0" dirty="0">
                <a:solidFill>
                  <a:srgbClr val="000000"/>
                </a:solidFill>
                <a:effectLst/>
                <a:latin typeface="Calibri" panose="020F0502020204030204" pitchFamily="34" charset="0"/>
              </a:rPr>
              <a:t>12 mois </a:t>
            </a:r>
            <a:r>
              <a:rPr lang="fr-FR" sz="2000" b="0" i="0" dirty="0">
                <a:solidFill>
                  <a:srgbClr val="000000"/>
                </a:solidFill>
                <a:effectLst/>
                <a:latin typeface="Calibri" panose="020F0502020204030204" pitchFamily="34" charset="0"/>
              </a:rPr>
              <a:t>après la séroconversion </a:t>
            </a:r>
            <a:r>
              <a:rPr lang="fr-FR" sz="2000" b="1" i="1" dirty="0" err="1">
                <a:solidFill>
                  <a:srgbClr val="000000"/>
                </a:solidFill>
                <a:effectLst/>
                <a:latin typeface="Calibri" panose="020F0502020204030204" pitchFamily="34" charset="0"/>
              </a:rPr>
              <a:t>HBe</a:t>
            </a:r>
            <a:r>
              <a:rPr lang="fr-FR" sz="2000" dirty="0">
                <a:latin typeface="Calibri" panose="020F0502020204030204" pitchFamily="34" charset="0"/>
              </a:rPr>
              <a:t/>
            </a:r>
            <a:br>
              <a:rPr lang="fr-FR" sz="2000" dirty="0">
                <a:latin typeface="Calibri" panose="020F0502020204030204" pitchFamily="34" charset="0"/>
              </a:rPr>
            </a:br>
            <a:endParaRPr lang="fr-TN" sz="2000" dirty="0">
              <a:latin typeface="Calibri" panose="020F0502020204030204" pitchFamily="34" charset="0"/>
            </a:endParaRPr>
          </a:p>
        </p:txBody>
      </p:sp>
      <p:sp>
        <p:nvSpPr>
          <p:cNvPr id="15" name="Signe de multiplication 14">
            <a:extLst>
              <a:ext uri="{FF2B5EF4-FFF2-40B4-BE49-F238E27FC236}">
                <a16:creationId xmlns="" xmlns:a16="http://schemas.microsoft.com/office/drawing/2014/main" id="{6B156815-F7DE-4BD7-BDD3-7F5748307F76}"/>
              </a:ext>
            </a:extLst>
          </p:cNvPr>
          <p:cNvSpPr/>
          <p:nvPr/>
        </p:nvSpPr>
        <p:spPr>
          <a:xfrm>
            <a:off x="4924530" y="5024935"/>
            <a:ext cx="532737" cy="818878"/>
          </a:xfrm>
          <a:prstGeom prst="mathMultiply">
            <a:avLst/>
          </a:prstGeom>
          <a:solidFill>
            <a:srgbClr val="DB5050"/>
          </a:solidFill>
          <a:ln w="25400" cap="flat" cmpd="sng" algn="ctr">
            <a:solidFill>
              <a:srgbClr val="DB5050">
                <a:shade val="50000"/>
              </a:srgbClr>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Tree>
    <p:extLst>
      <p:ext uri="{BB962C8B-B14F-4D97-AF65-F5344CB8AC3E}">
        <p14:creationId xmlns="" xmlns:p14="http://schemas.microsoft.com/office/powerpoint/2010/main" val="383978008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 xmlns:a16="http://schemas.microsoft.com/office/drawing/2014/main" id="{C70F2ECD-0A9D-01A3-05D6-152A0743FF68}"/>
              </a:ext>
            </a:extLst>
          </p:cNvPr>
          <p:cNvSpPr>
            <a:spLocks noGrp="1"/>
          </p:cNvSpPr>
          <p:nvPr/>
        </p:nvSpPr>
        <p:spPr>
          <a:xfrm>
            <a:off x="2306019" y="566928"/>
            <a:ext cx="729005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fr-FR"/>
          </a:p>
        </p:txBody>
      </p:sp>
      <p:sp>
        <p:nvSpPr>
          <p:cNvPr id="4" name="Espace réservé du contenu 2">
            <a:extLst>
              <a:ext uri="{FF2B5EF4-FFF2-40B4-BE49-F238E27FC236}">
                <a16:creationId xmlns="" xmlns:a16="http://schemas.microsoft.com/office/drawing/2014/main" id="{C6A041D6-2B5B-5F82-1271-128FE6A8FFC9}"/>
              </a:ext>
            </a:extLst>
          </p:cNvPr>
          <p:cNvSpPr>
            <a:spLocks noGrp="1"/>
          </p:cNvSpPr>
          <p:nvPr/>
        </p:nvSpPr>
        <p:spPr>
          <a:xfrm>
            <a:off x="6449756" y="2545504"/>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dirty="0"/>
          </a:p>
        </p:txBody>
      </p:sp>
      <p:sp>
        <p:nvSpPr>
          <p:cNvPr id="5" name="Titre 1">
            <a:extLst>
              <a:ext uri="{FF2B5EF4-FFF2-40B4-BE49-F238E27FC236}">
                <a16:creationId xmlns="" xmlns:a16="http://schemas.microsoft.com/office/drawing/2014/main" id="{4303C583-8BBD-466D-9699-04CF82B3B7D5}"/>
              </a:ext>
            </a:extLst>
          </p:cNvPr>
          <p:cNvSpPr txBox="1">
            <a:spLocks/>
          </p:cNvSpPr>
          <p:nvPr/>
        </p:nvSpPr>
        <p:spPr>
          <a:xfrm>
            <a:off x="2251148" y="568019"/>
            <a:ext cx="7717500" cy="294600"/>
          </a:xfrm>
          <a:prstGeom prst="rect">
            <a:avLst/>
          </a:prstGeom>
          <a:noFill/>
          <a:ln>
            <a:noFill/>
          </a:ln>
        </p:spPr>
        <p:txBody>
          <a:bodyPr spcFirstLastPara="1" wrap="square" lIns="91425" tIns="91425" rIns="91425" bIns="91425"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
                <a:srgbClr val="292929"/>
              </a:buClr>
              <a:buSzPts val="2800"/>
              <a:buFont typeface="Tenor Sans"/>
              <a:buNone/>
              <a:tabLst/>
              <a:defRPr/>
            </a:pPr>
            <a:r>
              <a:rPr kumimoji="0" lang="fr-FR" sz="2800" b="1" i="0" u="none" strike="noStrike" kern="0" cap="none" spc="0" normalizeH="0" baseline="0" noProof="0">
                <a:ln>
                  <a:noFill/>
                </a:ln>
                <a:solidFill>
                  <a:srgbClr val="292929"/>
                </a:solidFill>
                <a:effectLst/>
                <a:uLnTx/>
                <a:uFillTx/>
                <a:latin typeface="Calibri" panose="020F0502020204030204" pitchFamily="34" charset="0"/>
                <a:ea typeface="Tenor Sans"/>
                <a:cs typeface="Calibri" panose="020F0502020204030204" pitchFamily="34" charset="0"/>
                <a:sym typeface="Tenor Sans"/>
              </a:rPr>
              <a:t>Hépatites chroniques</a:t>
            </a:r>
            <a:endParaRPr kumimoji="0" lang="fr-TN" sz="2800" b="1" i="0" u="none" strike="noStrike" kern="0" cap="none" spc="0" normalizeH="0" baseline="0" noProof="0" dirty="0">
              <a:ln>
                <a:noFill/>
              </a:ln>
              <a:solidFill>
                <a:srgbClr val="292929"/>
              </a:solidFill>
              <a:effectLst/>
              <a:uLnTx/>
              <a:uFillTx/>
              <a:latin typeface="Calibri" panose="020F0502020204030204" pitchFamily="34" charset="0"/>
              <a:ea typeface="Tenor Sans"/>
              <a:cs typeface="Calibri" panose="020F0502020204030204" pitchFamily="34" charset="0"/>
              <a:sym typeface="Tenor Sans"/>
            </a:endParaRPr>
          </a:p>
        </p:txBody>
      </p:sp>
      <p:sp>
        <p:nvSpPr>
          <p:cNvPr id="6" name="Espace réservé du texte 2">
            <a:extLst>
              <a:ext uri="{FF2B5EF4-FFF2-40B4-BE49-F238E27FC236}">
                <a16:creationId xmlns="" xmlns:a16="http://schemas.microsoft.com/office/drawing/2014/main" id="{526403CA-7AA0-4495-BE25-13DB964C2412}"/>
              </a:ext>
            </a:extLst>
          </p:cNvPr>
          <p:cNvSpPr txBox="1">
            <a:spLocks/>
          </p:cNvSpPr>
          <p:nvPr/>
        </p:nvSpPr>
        <p:spPr>
          <a:xfrm>
            <a:off x="6396008" y="2259744"/>
            <a:ext cx="7084612" cy="1469107"/>
          </a:xfrm>
          <a:prstGeom prst="rect">
            <a:avLst/>
          </a:prstGeom>
          <a:noFill/>
          <a:ln>
            <a:noFill/>
          </a:ln>
        </p:spPr>
        <p:txBody>
          <a:bodyPr spcFirstLastPara="1" wrap="square" lIns="91425" tIns="91425" rIns="91425" bIns="91425"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marR="0" lvl="0" indent="0" algn="l" defTabSz="914400" rtl="0" eaLnBrk="1" fontAlgn="auto" latinLnBrk="0" hangingPunct="1">
              <a:lnSpc>
                <a:spcPct val="100000"/>
              </a:lnSpc>
              <a:spcBef>
                <a:spcPts val="0"/>
              </a:spcBef>
              <a:spcAft>
                <a:spcPts val="0"/>
              </a:spcAft>
              <a:buClr>
                <a:srgbClr val="292929"/>
              </a:buClr>
              <a:buSzPts val="1600"/>
              <a:buFont typeface="Manjari"/>
              <a:buNone/>
              <a:tabLst/>
              <a:defRPr/>
            </a:pPr>
            <a:r>
              <a:rPr kumimoji="0" lang="fr-FR" sz="2000" b="1"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ADN viral &gt; 2000 UI/</a:t>
            </a:r>
            <a:r>
              <a:rPr kumimoji="0" lang="fr-FR" sz="2000" b="1" i="0" u="none" strike="noStrike" kern="0" cap="none" spc="0" normalizeH="0" baseline="0" noProof="0" dirty="0" err="1">
                <a:ln>
                  <a:noFill/>
                </a:ln>
                <a:solidFill>
                  <a:srgbClr val="292929"/>
                </a:solidFill>
                <a:effectLst/>
                <a:uLnTx/>
                <a:uFillTx/>
                <a:latin typeface="Calibri" panose="020F0502020204030204" pitchFamily="34" charset="0"/>
                <a:ea typeface="Manjari"/>
                <a:cs typeface="Manjari"/>
                <a:sym typeface="Manjari"/>
              </a:rPr>
              <a:t>mL</a:t>
            </a:r>
            <a:r>
              <a:rPr kumimoji="0" lang="fr-FR" sz="2000" b="1"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 </a:t>
            </a: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 </a:t>
            </a:r>
            <a:r>
              <a:rPr kumimoji="0" lang="fr-FR" sz="2000" b="1"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l’un</a:t>
            </a: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 des éléments suivants:</a:t>
            </a:r>
          </a:p>
          <a:p>
            <a:pPr marL="914400" marR="0" lvl="1" indent="-330200" algn="l" defTabSz="914400" rtl="0" eaLnBrk="1" fontAlgn="auto" latinLnBrk="0" hangingPunct="1">
              <a:lnSpc>
                <a:spcPct val="100000"/>
              </a:lnSpc>
              <a:spcBef>
                <a:spcPts val="0"/>
              </a:spcBef>
              <a:spcAft>
                <a:spcPts val="0"/>
              </a:spcAft>
              <a:buClr>
                <a:srgbClr val="292929"/>
              </a:buClr>
              <a:buSzPts val="1600"/>
              <a:buFontTx/>
              <a:buChar char="-"/>
              <a:tabLst/>
              <a:defRPr/>
            </a:pP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ALAT&gt;2 N </a:t>
            </a:r>
          </a:p>
          <a:p>
            <a:pPr marL="914400" marR="0" lvl="1" indent="-330200" algn="l" defTabSz="914400" rtl="0" eaLnBrk="1" fontAlgn="auto" latinLnBrk="0" hangingPunct="1">
              <a:lnSpc>
                <a:spcPct val="100000"/>
              </a:lnSpc>
              <a:spcBef>
                <a:spcPts val="0"/>
              </a:spcBef>
              <a:spcAft>
                <a:spcPts val="0"/>
              </a:spcAft>
              <a:buClr>
                <a:srgbClr val="292929"/>
              </a:buClr>
              <a:buSzPts val="1600"/>
              <a:buFontTx/>
              <a:buChar char="-"/>
              <a:tabLst/>
              <a:defRPr/>
            </a:pP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élasticité hépatique &gt; 9 </a:t>
            </a:r>
            <a:r>
              <a:rPr kumimoji="0" lang="fr-FR" sz="2000" b="0" i="0" u="none" strike="noStrike" kern="0" cap="none" spc="0" normalizeH="0" baseline="0" noProof="0" dirty="0" err="1">
                <a:ln>
                  <a:noFill/>
                </a:ln>
                <a:solidFill>
                  <a:srgbClr val="292929"/>
                </a:solidFill>
                <a:effectLst/>
                <a:uLnTx/>
                <a:uFillTx/>
                <a:latin typeface="Calibri" panose="020F0502020204030204" pitchFamily="34" charset="0"/>
                <a:ea typeface="Manjari"/>
                <a:cs typeface="Manjari"/>
                <a:sym typeface="Manjari"/>
              </a:rPr>
              <a:t>KPa</a:t>
            </a:r>
            <a:endPar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endParaRPr>
          </a:p>
          <a:p>
            <a:pPr marL="914400" marR="0" lvl="1" indent="-330200" algn="l" defTabSz="914400" rtl="0" eaLnBrk="1" fontAlgn="auto" latinLnBrk="0" hangingPunct="1">
              <a:lnSpc>
                <a:spcPct val="100000"/>
              </a:lnSpc>
              <a:spcBef>
                <a:spcPts val="0"/>
              </a:spcBef>
              <a:spcAft>
                <a:spcPts val="0"/>
              </a:spcAft>
              <a:buClr>
                <a:srgbClr val="292929"/>
              </a:buClr>
              <a:buSzPts val="1600"/>
              <a:buFontTx/>
              <a:buChar char="-"/>
              <a:tabLst/>
              <a:defRPr/>
            </a:pP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anjari"/>
                <a:cs typeface="Manjari"/>
                <a:sym typeface="Manjari"/>
              </a:rPr>
              <a:t>A ≥ 2 et/ou F ≥ 2 à la PBF</a:t>
            </a:r>
          </a:p>
        </p:txBody>
      </p:sp>
      <p:sp>
        <p:nvSpPr>
          <p:cNvPr id="7" name="ZoneTexte 11">
            <a:extLst>
              <a:ext uri="{FF2B5EF4-FFF2-40B4-BE49-F238E27FC236}">
                <a16:creationId xmlns="" xmlns:a16="http://schemas.microsoft.com/office/drawing/2014/main" id="{8214A958-FF1A-4555-B9CB-CA9C1EF0AF5E}"/>
              </a:ext>
            </a:extLst>
          </p:cNvPr>
          <p:cNvSpPr txBox="1"/>
          <p:nvPr/>
        </p:nvSpPr>
        <p:spPr>
          <a:xfrm>
            <a:off x="6467446" y="3707978"/>
            <a:ext cx="2741044"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400" b="1" dirty="0">
                <a:highlight>
                  <a:srgbClr val="85CCF4"/>
                </a:highlight>
                <a:latin typeface="Calibri" panose="020F0502020204030204" pitchFamily="34" charset="0"/>
              </a:rPr>
              <a:t>Ag </a:t>
            </a:r>
            <a:r>
              <a:rPr lang="fr-FR" sz="2400" b="1" dirty="0" err="1">
                <a:highlight>
                  <a:srgbClr val="85CCF4"/>
                </a:highlight>
                <a:latin typeface="Calibri" panose="020F0502020204030204" pitchFamily="34" charset="0"/>
              </a:rPr>
              <a:t>HBe</a:t>
            </a:r>
            <a:r>
              <a:rPr lang="fr-FR" sz="2400" b="1" dirty="0">
                <a:highlight>
                  <a:srgbClr val="85CCF4"/>
                </a:highlight>
                <a:latin typeface="Calibri" panose="020F0502020204030204" pitchFamily="34" charset="0"/>
              </a:rPr>
              <a:t> positif </a:t>
            </a:r>
            <a:endParaRPr lang="fr-TN" sz="2400" dirty="0">
              <a:highlight>
                <a:srgbClr val="85CCF4"/>
              </a:highlight>
              <a:latin typeface="Calibri" panose="020F0502020204030204" pitchFamily="34" charset="0"/>
            </a:endParaRPr>
          </a:p>
        </p:txBody>
      </p:sp>
      <p:sp>
        <p:nvSpPr>
          <p:cNvPr id="8" name="ZoneTexte 12">
            <a:extLst>
              <a:ext uri="{FF2B5EF4-FFF2-40B4-BE49-F238E27FC236}">
                <a16:creationId xmlns="" xmlns:a16="http://schemas.microsoft.com/office/drawing/2014/main" id="{654D6A5A-90DA-4B8A-811A-EADBB64EC58A}"/>
              </a:ext>
            </a:extLst>
          </p:cNvPr>
          <p:cNvSpPr txBox="1"/>
          <p:nvPr/>
        </p:nvSpPr>
        <p:spPr>
          <a:xfrm>
            <a:off x="6467446" y="1902554"/>
            <a:ext cx="2741044"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400" b="1" dirty="0">
                <a:highlight>
                  <a:srgbClr val="85CCF4"/>
                </a:highlight>
                <a:latin typeface="Calibri" panose="020F0502020204030204" pitchFamily="34" charset="0"/>
              </a:rPr>
              <a:t>Ag </a:t>
            </a:r>
            <a:r>
              <a:rPr lang="fr-FR" sz="2400" b="1" dirty="0" err="1">
                <a:highlight>
                  <a:srgbClr val="85CCF4"/>
                </a:highlight>
                <a:latin typeface="Calibri" panose="020F0502020204030204" pitchFamily="34" charset="0"/>
              </a:rPr>
              <a:t>HBe</a:t>
            </a:r>
            <a:r>
              <a:rPr lang="fr-FR" sz="2400" b="1" dirty="0">
                <a:highlight>
                  <a:srgbClr val="85CCF4"/>
                </a:highlight>
                <a:latin typeface="Calibri" panose="020F0502020204030204" pitchFamily="34" charset="0"/>
              </a:rPr>
              <a:t> négatif </a:t>
            </a:r>
            <a:endParaRPr lang="fr-TN" sz="2400" dirty="0">
              <a:highlight>
                <a:srgbClr val="85CCF4"/>
              </a:highlight>
              <a:latin typeface="Calibri" panose="020F0502020204030204" pitchFamily="34" charset="0"/>
            </a:endParaRPr>
          </a:p>
        </p:txBody>
      </p:sp>
      <p:sp>
        <p:nvSpPr>
          <p:cNvPr id="9" name="Espace réservé du texte 2">
            <a:extLst>
              <a:ext uri="{FF2B5EF4-FFF2-40B4-BE49-F238E27FC236}">
                <a16:creationId xmlns="" xmlns:a16="http://schemas.microsoft.com/office/drawing/2014/main" id="{8116EBDD-97E3-4AE3-A28A-7316AF9E7BAB}"/>
              </a:ext>
            </a:extLst>
          </p:cNvPr>
          <p:cNvSpPr txBox="1">
            <a:spLocks/>
          </p:cNvSpPr>
          <p:nvPr/>
        </p:nvSpPr>
        <p:spPr>
          <a:xfrm>
            <a:off x="6367089" y="4218333"/>
            <a:ext cx="4482860" cy="1469107"/>
          </a:xfrm>
          <a:prstGeom prst="rect">
            <a:avLst/>
          </a:prstGeom>
          <a:noFill/>
          <a:ln>
            <a:noFill/>
          </a:ln>
        </p:spPr>
        <p:txBody>
          <a:bodyPr spcFirstLastPara="1" wrap="square" lIns="91425" tIns="91425" rIns="91425" bIns="91425"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indent="0">
              <a:buFont typeface="Manjari"/>
              <a:buNone/>
              <a:defRPr/>
            </a:pPr>
            <a:r>
              <a:rPr lang="fr-FR" sz="2000" b="1" dirty="0">
                <a:latin typeface="Calibri" panose="020F0502020204030204" pitchFamily="34" charset="0"/>
              </a:rPr>
              <a:t>1- ADN viral &gt; 2000 UI/</a:t>
            </a:r>
            <a:r>
              <a:rPr lang="fr-FR" sz="2000" b="1" dirty="0" err="1">
                <a:latin typeface="Calibri" panose="020F0502020204030204" pitchFamily="34" charset="0"/>
              </a:rPr>
              <a:t>mL</a:t>
            </a:r>
            <a:r>
              <a:rPr lang="fr-FR" sz="2000" b="1" dirty="0">
                <a:latin typeface="Calibri" panose="020F0502020204030204" pitchFamily="34" charset="0"/>
              </a:rPr>
              <a:t> </a:t>
            </a:r>
          </a:p>
          <a:p>
            <a:pPr marL="127000" indent="0">
              <a:buFont typeface="Manjari"/>
              <a:buNone/>
              <a:defRPr/>
            </a:pPr>
            <a:r>
              <a:rPr lang="fr-FR" sz="2000" b="1" dirty="0">
                <a:latin typeface="Calibri" panose="020F0502020204030204" pitchFamily="34" charset="0"/>
              </a:rPr>
              <a:t>        ET  </a:t>
            </a:r>
            <a:r>
              <a:rPr lang="fr-FR" sz="2000" dirty="0">
                <a:latin typeface="Calibri" panose="020F0502020204030204" pitchFamily="34" charset="0"/>
              </a:rPr>
              <a:t>ALAT&gt;2 N </a:t>
            </a:r>
          </a:p>
          <a:p>
            <a:pPr marL="584200" lvl="1" indent="0">
              <a:buNone/>
              <a:defRPr/>
            </a:pPr>
            <a:r>
              <a:rPr lang="fr-FR" sz="2000" b="1" dirty="0">
                <a:latin typeface="Calibri" panose="020F0502020204030204" pitchFamily="34" charset="0"/>
              </a:rPr>
              <a:t>ET</a:t>
            </a:r>
            <a:r>
              <a:rPr lang="fr-FR" sz="2000" dirty="0">
                <a:latin typeface="Calibri" panose="020F0502020204030204" pitchFamily="34" charset="0"/>
              </a:rPr>
              <a:t>      élasticité hépatique &gt; 9 KPa </a:t>
            </a:r>
          </a:p>
          <a:p>
            <a:pPr marL="584200" lvl="1" indent="0">
              <a:buNone/>
              <a:defRPr/>
            </a:pPr>
            <a:r>
              <a:rPr lang="fr-FR" sz="2000" b="1" dirty="0">
                <a:latin typeface="Calibri" panose="020F0502020204030204" pitchFamily="34" charset="0"/>
              </a:rPr>
              <a:t>          OU</a:t>
            </a:r>
            <a:r>
              <a:rPr lang="fr-FR" sz="2000" dirty="0">
                <a:latin typeface="Calibri" panose="020F0502020204030204" pitchFamily="34" charset="0"/>
              </a:rPr>
              <a:t> A ≥ 2 et/ou F ≥ 2 à la PBF</a:t>
            </a:r>
          </a:p>
        </p:txBody>
      </p:sp>
      <p:sp>
        <p:nvSpPr>
          <p:cNvPr id="10" name="Accolade ouvrante 9">
            <a:extLst>
              <a:ext uri="{FF2B5EF4-FFF2-40B4-BE49-F238E27FC236}">
                <a16:creationId xmlns="" xmlns:a16="http://schemas.microsoft.com/office/drawing/2014/main" id="{715698B0-A73E-4690-B65B-0006C233138D}"/>
              </a:ext>
            </a:extLst>
          </p:cNvPr>
          <p:cNvSpPr/>
          <p:nvPr/>
        </p:nvSpPr>
        <p:spPr>
          <a:xfrm>
            <a:off x="7380300" y="5004843"/>
            <a:ext cx="232913" cy="589213"/>
          </a:xfrm>
          <a:prstGeom prst="leftBrace">
            <a:avLst/>
          </a:prstGeom>
          <a:noFill/>
          <a:ln w="9525" cap="flat" cmpd="sng" algn="ctr">
            <a:solidFill>
              <a:srgbClr val="B2D16F">
                <a:shade val="95000"/>
                <a:satMod val="105000"/>
              </a:srgbClr>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
        <p:nvSpPr>
          <p:cNvPr id="11" name="Titre 1">
            <a:extLst>
              <a:ext uri="{FF2B5EF4-FFF2-40B4-BE49-F238E27FC236}">
                <a16:creationId xmlns="" xmlns:a16="http://schemas.microsoft.com/office/drawing/2014/main" id="{38281496-E159-9FBF-25F6-AA026B6B3A29}"/>
              </a:ext>
            </a:extLst>
          </p:cNvPr>
          <p:cNvSpPr>
            <a:spLocks noGrp="1"/>
          </p:cNvSpPr>
          <p:nvPr/>
        </p:nvSpPr>
        <p:spPr>
          <a:xfrm>
            <a:off x="882456" y="1169469"/>
            <a:ext cx="729005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fr-FR"/>
          </a:p>
        </p:txBody>
      </p:sp>
      <p:sp>
        <p:nvSpPr>
          <p:cNvPr id="12" name="Espace réservé du contenu 2">
            <a:extLst>
              <a:ext uri="{FF2B5EF4-FFF2-40B4-BE49-F238E27FC236}">
                <a16:creationId xmlns="" xmlns:a16="http://schemas.microsoft.com/office/drawing/2014/main" id="{15AE6B8D-35C3-0877-B79E-4EA26D568807}"/>
              </a:ext>
            </a:extLst>
          </p:cNvPr>
          <p:cNvSpPr>
            <a:spLocks noGrp="1"/>
          </p:cNvSpPr>
          <p:nvPr/>
        </p:nvSpPr>
        <p:spPr>
          <a:xfrm>
            <a:off x="882456" y="2870253"/>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a:p>
        </p:txBody>
      </p:sp>
      <p:sp>
        <p:nvSpPr>
          <p:cNvPr id="15" name="ZoneTexte 15">
            <a:extLst>
              <a:ext uri="{FF2B5EF4-FFF2-40B4-BE49-F238E27FC236}">
                <a16:creationId xmlns="" xmlns:a16="http://schemas.microsoft.com/office/drawing/2014/main" id="{08D59D1D-9160-462D-9C25-CEE61755D38E}"/>
              </a:ext>
            </a:extLst>
          </p:cNvPr>
          <p:cNvSpPr txBox="1"/>
          <p:nvPr/>
        </p:nvSpPr>
        <p:spPr>
          <a:xfrm>
            <a:off x="1108181" y="3959996"/>
            <a:ext cx="5613640"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800" b="1" i="0" dirty="0">
                <a:solidFill>
                  <a:srgbClr val="7030A0"/>
                </a:solidFill>
                <a:effectLst/>
                <a:latin typeface="Calibri" panose="020F0502020204030204" pitchFamily="34" charset="0"/>
              </a:rPr>
              <a:t>3-</a:t>
            </a:r>
            <a:r>
              <a:rPr lang="fr-FR" sz="1800" b="0" i="0" dirty="0">
                <a:solidFill>
                  <a:srgbClr val="000000"/>
                </a:solidFill>
                <a:effectLst/>
                <a:latin typeface="Calibri" panose="020F0502020204030204" pitchFamily="34" charset="0"/>
              </a:rPr>
              <a:t> ADN viral B &gt; 20 000 UI/</a:t>
            </a:r>
            <a:r>
              <a:rPr lang="fr-FR" sz="1800" b="0" i="0" dirty="0" err="1">
                <a:solidFill>
                  <a:srgbClr val="000000"/>
                </a:solidFill>
                <a:effectLst/>
                <a:latin typeface="Calibri" panose="020F0502020204030204" pitchFamily="34" charset="0"/>
              </a:rPr>
              <a:t>mL</a:t>
            </a:r>
            <a:r>
              <a:rPr lang="fr-FR" sz="1800" b="0" i="0" dirty="0">
                <a:solidFill>
                  <a:srgbClr val="000000"/>
                </a:solidFill>
                <a:effectLst/>
                <a:latin typeface="Calibri" panose="020F0502020204030204" pitchFamily="34" charset="0"/>
              </a:rPr>
              <a:t> </a:t>
            </a:r>
            <a:r>
              <a:rPr lang="fr-FR" sz="1800" dirty="0">
                <a:latin typeface="Calibri" panose="020F0502020204030204" pitchFamily="34" charset="0"/>
              </a:rPr>
              <a:t>+ </a:t>
            </a:r>
            <a:r>
              <a:rPr lang="fr-FR" sz="1800" b="0" i="0" dirty="0">
                <a:solidFill>
                  <a:srgbClr val="000000"/>
                </a:solidFill>
                <a:effectLst/>
                <a:latin typeface="Calibri" panose="020F0502020204030204" pitchFamily="34" charset="0"/>
              </a:rPr>
              <a:t>ALAT &gt;2N </a:t>
            </a:r>
            <a:r>
              <a:rPr lang="fr-FR" sz="1800" dirty="0">
                <a:latin typeface="Calibri" panose="020F0502020204030204" pitchFamily="34" charset="0"/>
              </a:rPr>
              <a:t/>
            </a:r>
            <a:br>
              <a:rPr lang="fr-FR" sz="1800" dirty="0">
                <a:latin typeface="Calibri" panose="020F0502020204030204" pitchFamily="34" charset="0"/>
              </a:rPr>
            </a:br>
            <a:endParaRPr lang="fr-TN" sz="1800" dirty="0">
              <a:latin typeface="Calibri" panose="020F0502020204030204" pitchFamily="34" charset="0"/>
            </a:endParaRPr>
          </a:p>
        </p:txBody>
      </p:sp>
      <p:sp>
        <p:nvSpPr>
          <p:cNvPr id="16" name="ZoneTexte 16">
            <a:extLst>
              <a:ext uri="{FF2B5EF4-FFF2-40B4-BE49-F238E27FC236}">
                <a16:creationId xmlns="" xmlns:a16="http://schemas.microsoft.com/office/drawing/2014/main" id="{15713C2E-B3EE-4D4D-9F58-F1864B9BE5EA}"/>
              </a:ext>
            </a:extLst>
          </p:cNvPr>
          <p:cNvSpPr txBox="1"/>
          <p:nvPr/>
        </p:nvSpPr>
        <p:spPr>
          <a:xfrm>
            <a:off x="1134006" y="4585374"/>
            <a:ext cx="5233083" cy="9848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000" b="1" i="0" dirty="0">
                <a:solidFill>
                  <a:srgbClr val="7030A0"/>
                </a:solidFill>
                <a:effectLst/>
                <a:latin typeface="Calibri" panose="020F0502020204030204" pitchFamily="34" charset="0"/>
              </a:rPr>
              <a:t>4-</a:t>
            </a:r>
            <a:r>
              <a:rPr lang="fr-FR" sz="2000" b="0" i="0" dirty="0">
                <a:solidFill>
                  <a:srgbClr val="000000"/>
                </a:solidFill>
                <a:effectLst/>
                <a:latin typeface="Calibri" panose="020F0502020204030204" pitchFamily="34" charset="0"/>
              </a:rPr>
              <a:t> ATCD familiaux de 1er degré de</a:t>
            </a:r>
            <a:br>
              <a:rPr lang="fr-FR" sz="2000" b="0" i="0" dirty="0">
                <a:solidFill>
                  <a:srgbClr val="000000"/>
                </a:solidFill>
                <a:effectLst/>
                <a:latin typeface="Calibri" panose="020F0502020204030204" pitchFamily="34" charset="0"/>
              </a:rPr>
            </a:br>
            <a:r>
              <a:rPr lang="fr-FR" sz="2000" b="0" i="0" dirty="0">
                <a:solidFill>
                  <a:srgbClr val="000000"/>
                </a:solidFill>
                <a:effectLst/>
                <a:latin typeface="Calibri" panose="020F0502020204030204" pitchFamily="34" charset="0"/>
              </a:rPr>
              <a:t>CHC ou de cirrhose</a:t>
            </a:r>
            <a:r>
              <a:rPr lang="fr-FR" dirty="0">
                <a:latin typeface="Calibri" panose="020F0502020204030204" pitchFamily="34" charset="0"/>
              </a:rPr>
              <a:t/>
            </a:r>
            <a:br>
              <a:rPr lang="fr-FR" dirty="0">
                <a:latin typeface="Calibri" panose="020F0502020204030204" pitchFamily="34" charset="0"/>
              </a:rPr>
            </a:br>
            <a:endParaRPr lang="fr-TN" dirty="0">
              <a:latin typeface="Calibri" panose="020F0502020204030204" pitchFamily="34" charset="0"/>
            </a:endParaRPr>
          </a:p>
        </p:txBody>
      </p:sp>
      <p:sp>
        <p:nvSpPr>
          <p:cNvPr id="20" name="ZoneTexte 20">
            <a:extLst>
              <a:ext uri="{FF2B5EF4-FFF2-40B4-BE49-F238E27FC236}">
                <a16:creationId xmlns="" xmlns:a16="http://schemas.microsoft.com/office/drawing/2014/main" id="{71476A18-B5B7-42FE-8342-C82F42811483}"/>
              </a:ext>
            </a:extLst>
          </p:cNvPr>
          <p:cNvSpPr txBox="1"/>
          <p:nvPr/>
        </p:nvSpPr>
        <p:spPr>
          <a:xfrm>
            <a:off x="439839" y="1148369"/>
            <a:ext cx="4593566"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27000" marR="0" lvl="0" indent="0" defTabSz="914400" eaLnBrk="1" fontAlgn="auto" latinLnBrk="0" hangingPunct="1">
              <a:lnSpc>
                <a:spcPct val="10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769EF6"/>
                </a:solidFill>
                <a:effectLst/>
                <a:uLnTx/>
                <a:uFillTx/>
                <a:latin typeface="Calibri" panose="020F0502020204030204" pitchFamily="34" charset="0"/>
              </a:rPr>
              <a:t>B </a:t>
            </a:r>
            <a:r>
              <a:rPr kumimoji="0" lang="fr-FR" sz="2400" b="1" i="0" u="none" strike="noStrike" kern="0" cap="none" spc="0" normalizeH="0" baseline="0" noProof="0" dirty="0">
                <a:ln>
                  <a:noFill/>
                </a:ln>
                <a:solidFill>
                  <a:srgbClr val="769EF6"/>
                </a:solidFill>
                <a:effectLst/>
                <a:uLnTx/>
                <a:uFillTx/>
                <a:latin typeface="Calibri" panose="020F0502020204030204" pitchFamily="34" charset="0"/>
                <a:sym typeface="Wingdings" panose="05000000000000000000" pitchFamily="2" charset="2"/>
              </a:rPr>
              <a:t> </a:t>
            </a:r>
            <a:r>
              <a:rPr kumimoji="0" lang="fr-FR" sz="2400" b="1" i="0" u="none" strike="noStrike" kern="0" cap="none" spc="0" normalizeH="0" baseline="0" noProof="0" dirty="0">
                <a:ln>
                  <a:noFill/>
                </a:ln>
                <a:solidFill>
                  <a:srgbClr val="292929"/>
                </a:solidFill>
                <a:effectLst/>
                <a:uLnTx/>
                <a:uFillTx/>
                <a:latin typeface="Calibri" panose="020F0502020204030204" pitchFamily="34" charset="0"/>
                <a:sym typeface="Wingdings" panose="05000000000000000000" pitchFamily="2" charset="2"/>
              </a:rPr>
              <a:t>QUI traiter?</a:t>
            </a:r>
            <a:endParaRPr kumimoji="0" lang="fr-TN" sz="2400" b="0" i="0" u="none" strike="noStrike" kern="0" cap="none" spc="0" normalizeH="0" baseline="0" noProof="0" dirty="0">
              <a:ln>
                <a:noFill/>
              </a:ln>
              <a:solidFill>
                <a:sysClr val="windowText" lastClr="000000"/>
              </a:solidFill>
              <a:effectLst/>
              <a:uLnTx/>
              <a:uFillTx/>
              <a:latin typeface="Calibri" panose="020F0502020204030204" pitchFamily="34" charset="0"/>
            </a:endParaRPr>
          </a:p>
        </p:txBody>
      </p:sp>
      <p:sp>
        <p:nvSpPr>
          <p:cNvPr id="21" name="ZoneTexte 21">
            <a:extLst>
              <a:ext uri="{FF2B5EF4-FFF2-40B4-BE49-F238E27FC236}">
                <a16:creationId xmlns="" xmlns:a16="http://schemas.microsoft.com/office/drawing/2014/main" id="{D9C5DDF4-4878-4E73-9149-7FF83B1871FC}"/>
              </a:ext>
            </a:extLst>
          </p:cNvPr>
          <p:cNvSpPr txBox="1"/>
          <p:nvPr/>
        </p:nvSpPr>
        <p:spPr>
          <a:xfrm>
            <a:off x="1071299" y="1774004"/>
            <a:ext cx="2783180" cy="461665"/>
          </a:xfrm>
          <a:prstGeom prst="rect">
            <a:avLst/>
          </a:prstGeom>
          <a:solidFill>
            <a:srgbClr val="644DB4"/>
          </a:solidFill>
          <a:ln w="25400" cap="flat" cmpd="sng" algn="ctr">
            <a:solidFill>
              <a:srgbClr val="644DB4">
                <a:shade val="50000"/>
              </a:srgbClr>
            </a:solidFill>
            <a:prstDash val="solid"/>
          </a:ln>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1" i="0" u="none" strike="noStrike" kern="0" cap="none" spc="0" normalizeH="0" baseline="0" noProof="0" dirty="0">
                <a:ln>
                  <a:noFill/>
                </a:ln>
                <a:solidFill>
                  <a:srgbClr val="FFFFFF"/>
                </a:solidFill>
                <a:effectLst/>
                <a:uLnTx/>
                <a:uFillTx/>
                <a:latin typeface="Calibri" panose="020F0502020204030204" pitchFamily="34" charset="0"/>
                <a:ea typeface="+mn-ea"/>
                <a:cs typeface="+mn-cs"/>
              </a:rPr>
              <a:t>Décision facile</a:t>
            </a:r>
            <a:endParaRPr kumimoji="0" lang="fr-TN" sz="2400" b="1"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22" name="ZoneTexte 22">
            <a:extLst>
              <a:ext uri="{FF2B5EF4-FFF2-40B4-BE49-F238E27FC236}">
                <a16:creationId xmlns="" xmlns:a16="http://schemas.microsoft.com/office/drawing/2014/main" id="{CA7FBC6C-EAA3-439F-B0DD-1F30901376F1}"/>
              </a:ext>
            </a:extLst>
          </p:cNvPr>
          <p:cNvSpPr txBox="1"/>
          <p:nvPr/>
        </p:nvSpPr>
        <p:spPr>
          <a:xfrm rot="16200000">
            <a:off x="-578872" y="3653024"/>
            <a:ext cx="2027207" cy="461665"/>
          </a:xfrm>
          <a:prstGeom prst="rect">
            <a:avLst/>
          </a:prstGeom>
          <a:solidFill>
            <a:srgbClr val="FFFFFF"/>
          </a:solidFill>
          <a:ln w="25400" cap="flat" cmpd="sng" algn="ctr">
            <a:solidFill>
              <a:srgbClr val="644DB4"/>
            </a:solidFill>
            <a:prstDash val="solid"/>
          </a:ln>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4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4 situations</a:t>
            </a:r>
            <a:endParaRPr kumimoji="0" lang="fr-TN" sz="24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
        <p:nvSpPr>
          <p:cNvPr id="24" name="ZoneTexte 15">
            <a:extLst>
              <a:ext uri="{FF2B5EF4-FFF2-40B4-BE49-F238E27FC236}">
                <a16:creationId xmlns="" xmlns:a16="http://schemas.microsoft.com/office/drawing/2014/main" id="{FDBEBCE1-5EEC-3740-D68E-88EDA4C4B17E}"/>
              </a:ext>
            </a:extLst>
          </p:cNvPr>
          <p:cNvSpPr txBox="1"/>
          <p:nvPr/>
        </p:nvSpPr>
        <p:spPr>
          <a:xfrm>
            <a:off x="1108181" y="2620855"/>
            <a:ext cx="5613640"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b="1" dirty="0">
                <a:solidFill>
                  <a:srgbClr val="7030A0"/>
                </a:solidFill>
                <a:latin typeface="Calibri" panose="020F0502020204030204" pitchFamily="34" charset="0"/>
              </a:rPr>
              <a:t>1</a:t>
            </a:r>
            <a:r>
              <a:rPr lang="fr-FR" sz="1800" b="1" i="0" dirty="0">
                <a:solidFill>
                  <a:srgbClr val="7030A0"/>
                </a:solidFill>
                <a:effectLst/>
                <a:latin typeface="Calibri" panose="020F0502020204030204" pitchFamily="34" charset="0"/>
              </a:rPr>
              <a:t>-</a:t>
            </a:r>
            <a:r>
              <a:rPr lang="fr-FR" sz="1800" b="0" i="0" dirty="0">
                <a:solidFill>
                  <a:srgbClr val="000000"/>
                </a:solidFill>
                <a:effectLst/>
                <a:latin typeface="Calibri" panose="020F0502020204030204" pitchFamily="34" charset="0"/>
              </a:rPr>
              <a:t> Cirrhose + ADN détectable</a:t>
            </a:r>
            <a:r>
              <a:rPr lang="fr-FR" sz="1800" dirty="0">
                <a:latin typeface="Calibri" panose="020F0502020204030204" pitchFamily="34" charset="0"/>
              </a:rPr>
              <a:t/>
            </a:r>
            <a:br>
              <a:rPr lang="fr-FR" sz="1800" dirty="0">
                <a:latin typeface="Calibri" panose="020F0502020204030204" pitchFamily="34" charset="0"/>
              </a:rPr>
            </a:br>
            <a:endParaRPr lang="fr-TN" sz="1800" dirty="0">
              <a:latin typeface="Calibri" panose="020F0502020204030204" pitchFamily="34" charset="0"/>
            </a:endParaRPr>
          </a:p>
        </p:txBody>
      </p:sp>
      <p:sp>
        <p:nvSpPr>
          <p:cNvPr id="25" name="ZoneTexte 15">
            <a:extLst>
              <a:ext uri="{FF2B5EF4-FFF2-40B4-BE49-F238E27FC236}">
                <a16:creationId xmlns="" xmlns:a16="http://schemas.microsoft.com/office/drawing/2014/main" id="{6EA072E8-548A-0A62-1327-E65C0DAFE8EF}"/>
              </a:ext>
            </a:extLst>
          </p:cNvPr>
          <p:cNvSpPr txBox="1"/>
          <p:nvPr/>
        </p:nvSpPr>
        <p:spPr>
          <a:xfrm>
            <a:off x="1108181" y="3281726"/>
            <a:ext cx="5613640"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800" b="1" i="0" dirty="0">
                <a:solidFill>
                  <a:srgbClr val="7030A0"/>
                </a:solidFill>
                <a:effectLst/>
                <a:latin typeface="Calibri" panose="020F0502020204030204" pitchFamily="34" charset="0"/>
              </a:rPr>
              <a:t>2-</a:t>
            </a:r>
            <a:r>
              <a:rPr lang="fr-FR" sz="1800" b="0" i="0" dirty="0">
                <a:solidFill>
                  <a:srgbClr val="000000"/>
                </a:solidFill>
                <a:effectLst/>
                <a:latin typeface="Calibri" panose="020F0502020204030204" pitchFamily="34" charset="0"/>
              </a:rPr>
              <a:t> Fibrose ≥F3 + ADN détectable</a:t>
            </a:r>
            <a:r>
              <a:rPr lang="fr-FR" sz="1800" dirty="0">
                <a:latin typeface="Calibri" panose="020F0502020204030204" pitchFamily="34" charset="0"/>
              </a:rPr>
              <a:t/>
            </a:r>
            <a:br>
              <a:rPr lang="fr-FR" sz="1800" dirty="0">
                <a:latin typeface="Calibri" panose="020F0502020204030204" pitchFamily="34" charset="0"/>
              </a:rPr>
            </a:br>
            <a:endParaRPr lang="fr-TN" sz="1800" dirty="0">
              <a:latin typeface="Calibri" panose="020F0502020204030204" pitchFamily="34" charset="0"/>
            </a:endParaRPr>
          </a:p>
        </p:txBody>
      </p:sp>
    </p:spTree>
    <p:extLst>
      <p:ext uri="{BB962C8B-B14F-4D97-AF65-F5344CB8AC3E}">
        <p14:creationId xmlns="" xmlns:p14="http://schemas.microsoft.com/office/powerpoint/2010/main" val="12874774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16FACA5-F942-85DA-15BD-5FC89A8F28E3}"/>
              </a:ext>
            </a:extLst>
          </p:cNvPr>
          <p:cNvSpPr>
            <a:spLocks noGrp="1"/>
          </p:cNvSpPr>
          <p:nvPr>
            <p:ph type="title"/>
          </p:nvPr>
        </p:nvSpPr>
        <p:spPr>
          <a:xfrm>
            <a:off x="838200" y="2305967"/>
            <a:ext cx="10515600" cy="1325563"/>
          </a:xfrm>
        </p:spPr>
        <p:txBody>
          <a:bodyPr>
            <a:noAutofit/>
          </a:bodyPr>
          <a:lstStyle/>
          <a:p>
            <a:r>
              <a:rPr lang="fr-FR" b="1" kern="100" dirty="0">
                <a:solidFill>
                  <a:schemeClr val="accent4"/>
                </a:solidFill>
              </a:rPr>
              <a:t>Question 36 : En ce qui concerne l’immunoprophylaxie du VHB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La vaccination seule est suffisante dans tous les cas.</a:t>
            </a:r>
            <a:br>
              <a:rPr lang="fr-FR" i="0" u="none" strike="noStrike" kern="100" baseline="0" dirty="0">
                <a:latin typeface="Calibri" panose="020F0502020204030204" pitchFamily="34" charset="0"/>
              </a:rPr>
            </a:br>
            <a:r>
              <a:rPr lang="fr-FR" kern="100" dirty="0"/>
              <a:t>B. Une </a:t>
            </a:r>
            <a:r>
              <a:rPr lang="fr-FR" kern="100" dirty="0" err="1"/>
              <a:t>séro-vaccination</a:t>
            </a:r>
            <a:r>
              <a:rPr lang="fr-FR" kern="100" dirty="0"/>
              <a:t> est indiquée en cas d’AES</a:t>
            </a:r>
            <a:br>
              <a:rPr lang="fr-FR" kern="100" dirty="0"/>
            </a:br>
            <a:r>
              <a:rPr lang="fr-FR" kern="100" dirty="0"/>
              <a:t>C. Le vaccin utilisé est un vaccin recombinant.</a:t>
            </a:r>
            <a:br>
              <a:rPr lang="fr-FR" kern="100" dirty="0"/>
            </a:br>
            <a:r>
              <a:rPr lang="fr-FR" kern="100" dirty="0"/>
              <a:t>D. Il est nécessaire de vérifier les anticorps anti-</a:t>
            </a:r>
            <a:r>
              <a:rPr lang="fr-FR" kern="100" dirty="0" err="1"/>
              <a:t>HBs</a:t>
            </a:r>
            <a:r>
              <a:rPr lang="fr-FR" kern="100" dirty="0"/>
              <a:t> après vaccination chez les professionnels exposés.</a:t>
            </a:r>
            <a:br>
              <a:rPr lang="fr-FR" kern="100" dirty="0"/>
            </a:br>
            <a:r>
              <a:rPr lang="fr-FR" kern="100" dirty="0"/>
              <a:t>E. Un rappel systématique est obligatoire tous les 10 ans.</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185130400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8B5E92D-881D-B537-F11B-7589687F5A94}"/>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5E905A3E-86F0-3A50-9EB3-9A93EAC98980}"/>
              </a:ext>
            </a:extLst>
          </p:cNvPr>
          <p:cNvSpPr>
            <a:spLocks noGrp="1"/>
          </p:cNvSpPr>
          <p:nvPr>
            <p:ph type="title"/>
          </p:nvPr>
        </p:nvSpPr>
        <p:spPr>
          <a:xfrm>
            <a:off x="838200" y="2305967"/>
            <a:ext cx="10515600" cy="1325563"/>
          </a:xfrm>
        </p:spPr>
        <p:txBody>
          <a:bodyPr>
            <a:noAutofit/>
          </a:bodyPr>
          <a:lstStyle/>
          <a:p>
            <a:r>
              <a:rPr lang="fr-FR" b="1" kern="100" dirty="0">
                <a:solidFill>
                  <a:schemeClr val="accent4"/>
                </a:solidFill>
              </a:rPr>
              <a:t>Question 36 : En ce qui concerne l’immunoprophylaxie du VHB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La vaccination seule est suffisante dans tous les cas.</a:t>
            </a:r>
            <a:br>
              <a:rPr lang="fr-FR" i="0" u="none" strike="noStrike" kern="100" baseline="0" dirty="0">
                <a:latin typeface="Calibri" panose="020F0502020204030204" pitchFamily="34" charset="0"/>
              </a:rPr>
            </a:br>
            <a:r>
              <a:rPr lang="fr-FR" kern="100" dirty="0">
                <a:solidFill>
                  <a:schemeClr val="accent2"/>
                </a:solidFill>
              </a:rPr>
              <a:t>B. Une </a:t>
            </a:r>
            <a:r>
              <a:rPr lang="fr-FR" kern="100" dirty="0" err="1">
                <a:solidFill>
                  <a:schemeClr val="accent2"/>
                </a:solidFill>
              </a:rPr>
              <a:t>séro-vaccination</a:t>
            </a:r>
            <a:r>
              <a:rPr lang="fr-FR" kern="100" dirty="0">
                <a:solidFill>
                  <a:schemeClr val="accent2"/>
                </a:solidFill>
              </a:rPr>
              <a:t> est indiquée en cas d’AES</a:t>
            </a:r>
            <a:r>
              <a:rPr lang="fr-FR" kern="100" dirty="0"/>
              <a:t/>
            </a:r>
            <a:br>
              <a:rPr lang="fr-FR" kern="100" dirty="0"/>
            </a:br>
            <a:r>
              <a:rPr lang="fr-FR" kern="100" dirty="0"/>
              <a:t>C. Le vaccin utilisé est un vaccin recombinant.</a:t>
            </a:r>
            <a:br>
              <a:rPr lang="fr-FR" kern="100" dirty="0"/>
            </a:br>
            <a:r>
              <a:rPr lang="fr-FR" kern="100" dirty="0">
                <a:solidFill>
                  <a:schemeClr val="accent2"/>
                </a:solidFill>
              </a:rPr>
              <a:t>D. Il est nécessaire de vérifier les anticorps anti-</a:t>
            </a:r>
            <a:r>
              <a:rPr lang="fr-FR" kern="100" dirty="0" err="1">
                <a:solidFill>
                  <a:schemeClr val="accent2"/>
                </a:solidFill>
              </a:rPr>
              <a:t>HBs</a:t>
            </a:r>
            <a:r>
              <a:rPr lang="fr-FR" kern="100" dirty="0">
                <a:solidFill>
                  <a:schemeClr val="accent2"/>
                </a:solidFill>
              </a:rPr>
              <a:t> après vaccination chez les professionnels exposés.</a:t>
            </a:r>
            <a:br>
              <a:rPr lang="fr-FR" kern="100" dirty="0">
                <a:solidFill>
                  <a:schemeClr val="accent2"/>
                </a:solidFill>
              </a:rPr>
            </a:br>
            <a:r>
              <a:rPr lang="fr-FR" kern="100" dirty="0"/>
              <a:t>E. Un rappel systématique est obligatoire tous les 10 ans.</a:t>
            </a:r>
            <a:endParaRPr lang="fr-FR" i="0" u="none" strike="noStrike" kern="100" baseline="0" dirty="0">
              <a:latin typeface="Calibri" panose="020F0502020204030204" pitchFamily="34" charset="0"/>
            </a:endParaRPr>
          </a:p>
        </p:txBody>
      </p:sp>
    </p:spTree>
    <p:extLst>
      <p:ext uri="{BB962C8B-B14F-4D97-AF65-F5344CB8AC3E}">
        <p14:creationId xmlns="" xmlns:p14="http://schemas.microsoft.com/office/powerpoint/2010/main" val="9313363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B46EC32-B900-4B6E-5751-C80124E918F5}"/>
              </a:ext>
            </a:extLst>
          </p:cNvPr>
          <p:cNvSpPr>
            <a:spLocks noGrp="1"/>
          </p:cNvSpPr>
          <p:nvPr>
            <p:ph type="title"/>
          </p:nvPr>
        </p:nvSpPr>
        <p:spPr>
          <a:xfrm>
            <a:off x="838200" y="2359130"/>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a:t>
            </a:r>
            <a:r>
              <a:rPr lang="fr-FR" b="1" kern="100" dirty="0">
                <a:solidFill>
                  <a:schemeClr val="accent4"/>
                </a:solidFill>
              </a:rPr>
              <a:t>7</a:t>
            </a:r>
            <a:r>
              <a:rPr lang="fr-FR" b="1" i="0" u="none" strike="noStrike" kern="100" baseline="0" dirty="0">
                <a:solidFill>
                  <a:schemeClr val="accent4"/>
                </a:solidFill>
                <a:latin typeface="Calibri" panose="020F0502020204030204" pitchFamily="34" charset="0"/>
              </a:rPr>
              <a:t> : La prévention primaire contre le VHA repose sur :</a:t>
            </a:r>
            <a:br>
              <a:rPr lang="fr-FR" b="1" i="0" u="none" strike="noStrike" kern="100" baseline="0" dirty="0">
                <a:solidFill>
                  <a:schemeClr val="accent4"/>
                </a:solidFill>
                <a:latin typeface="Calibri" panose="020F0502020204030204" pitchFamily="34" charset="0"/>
              </a:rPr>
            </a:br>
            <a:r>
              <a:rPr lang="fr-FR" i="0" u="none" strike="noStrike" kern="100" baseline="0" dirty="0">
                <a:latin typeface="Calibri" panose="020F0502020204030204" pitchFamily="34" charset="0"/>
              </a:rPr>
              <a:t>A. La vaccination systématique.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L’amélioration de l’hygiène personnelle et collective.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La cuisson à  cœur de la viande.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surveillance sérologique des voyageurs.</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L’assainissement  de l’eau de consommation.</a:t>
            </a:r>
          </a:p>
        </p:txBody>
      </p:sp>
    </p:spTree>
    <p:extLst>
      <p:ext uri="{BB962C8B-B14F-4D97-AF65-F5344CB8AC3E}">
        <p14:creationId xmlns="" xmlns:p14="http://schemas.microsoft.com/office/powerpoint/2010/main" val="124830201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7E63975-99B7-0E6D-E60C-081C04D7B481}"/>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3FD3FD31-A40C-0DFE-3CCA-49A273988AF3}"/>
              </a:ext>
            </a:extLst>
          </p:cNvPr>
          <p:cNvSpPr>
            <a:spLocks noGrp="1"/>
          </p:cNvSpPr>
          <p:nvPr>
            <p:ph type="title"/>
          </p:nvPr>
        </p:nvSpPr>
        <p:spPr>
          <a:xfrm>
            <a:off x="838200" y="2359130"/>
            <a:ext cx="10515600" cy="1325563"/>
          </a:xfrm>
        </p:spPr>
        <p:txBody>
          <a:bodyPr>
            <a:noAutofit/>
          </a:bodyPr>
          <a:lstStyle/>
          <a:p>
            <a:r>
              <a:rPr lang="fr-FR" b="1" i="0" u="none" strike="noStrike" kern="100" baseline="0" dirty="0">
                <a:solidFill>
                  <a:schemeClr val="accent4"/>
                </a:solidFill>
                <a:latin typeface="Calibri" panose="020F0502020204030204" pitchFamily="34" charset="0"/>
              </a:rPr>
              <a:t>Question 37 : La prévention primaire contre le VHA repose sur :</a:t>
            </a:r>
            <a:br>
              <a:rPr lang="fr-FR" b="1" i="0" u="none" strike="noStrike" kern="100" baseline="0" dirty="0">
                <a:solidFill>
                  <a:schemeClr val="accent4"/>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A. La vaccination systématique.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L’amélioration de l’hygiène personnelle et collective.</a:t>
            </a:r>
            <a:br>
              <a:rPr lang="fr-FR" i="0" u="none" strike="noStrike" kern="100" baseline="0" dirty="0">
                <a:solidFill>
                  <a:schemeClr val="accent2"/>
                </a:solidFill>
                <a:latin typeface="Calibri" panose="020F0502020204030204" pitchFamily="34" charset="0"/>
              </a:rPr>
            </a:br>
            <a:r>
              <a:rPr lang="fr-FR" i="0" u="none" strike="noStrike" kern="100" baseline="0" dirty="0">
                <a:latin typeface="Calibri" panose="020F0502020204030204" pitchFamily="34" charset="0"/>
              </a:rPr>
              <a:t>C. La cuisson à  cœur de la viande.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La surveillance sérologique des voyageurs.</a:t>
            </a:r>
            <a:br>
              <a:rPr lang="fr-FR"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E. </a:t>
            </a:r>
            <a:r>
              <a:rPr lang="fr-FR" kern="100" dirty="0">
                <a:solidFill>
                  <a:schemeClr val="accent2"/>
                </a:solidFill>
              </a:rPr>
              <a:t>L’assainissement </a:t>
            </a:r>
            <a:r>
              <a:rPr lang="fr-FR" i="0" u="none" strike="noStrike" kern="100" baseline="0" dirty="0">
                <a:solidFill>
                  <a:schemeClr val="accent2"/>
                </a:solidFill>
                <a:latin typeface="Calibri" panose="020F0502020204030204" pitchFamily="34" charset="0"/>
              </a:rPr>
              <a:t>de l’eau de consommation.</a:t>
            </a:r>
          </a:p>
        </p:txBody>
      </p:sp>
    </p:spTree>
    <p:extLst>
      <p:ext uri="{BB962C8B-B14F-4D97-AF65-F5344CB8AC3E}">
        <p14:creationId xmlns="" xmlns:p14="http://schemas.microsoft.com/office/powerpoint/2010/main" val="49720290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4414321-C004-9342-1D11-4C6A76D2688A}"/>
              </a:ext>
            </a:extLst>
          </p:cNvPr>
          <p:cNvSpPr>
            <a:spLocks noGrp="1"/>
          </p:cNvSpPr>
          <p:nvPr>
            <p:ph type="title"/>
          </p:nvPr>
        </p:nvSpPr>
        <p:spPr>
          <a:xfrm>
            <a:off x="838200" y="234849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38 : La vaccination contre l’hépatite A en Tunisie est recommandée pour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latin typeface="Calibri" panose="020F0502020204030204" pitchFamily="34" charset="0"/>
              </a:rPr>
              <a:t>A. Les contacts d’un patient atteint d’hépatite A</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B. Les nourrissons et enfants selon le calendrier vaccinal</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C. Les voyageurs vers les pays à forte endémie</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D. Les professionnels exposés au virus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Les sujets ayant déjà été infectés par le VHA</a:t>
            </a:r>
          </a:p>
        </p:txBody>
      </p:sp>
    </p:spTree>
    <p:extLst>
      <p:ext uri="{BB962C8B-B14F-4D97-AF65-F5344CB8AC3E}">
        <p14:creationId xmlns="" xmlns:p14="http://schemas.microsoft.com/office/powerpoint/2010/main" val="242657163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334E798-3D3C-9744-FE0A-F7D7EF193B2F}"/>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08349E15-9D33-F97B-C946-04BA35660EF2}"/>
              </a:ext>
            </a:extLst>
          </p:cNvPr>
          <p:cNvSpPr>
            <a:spLocks noGrp="1"/>
          </p:cNvSpPr>
          <p:nvPr>
            <p:ph type="title"/>
          </p:nvPr>
        </p:nvSpPr>
        <p:spPr>
          <a:xfrm>
            <a:off x="838200" y="2348497"/>
            <a:ext cx="10515600" cy="1325563"/>
          </a:xfrm>
        </p:spPr>
        <p:txBody>
          <a:bodyPr>
            <a:noAutofit/>
          </a:bodyPr>
          <a:lstStyle/>
          <a:p>
            <a:pPr marR="0" rtl="0"/>
            <a:r>
              <a:rPr lang="fr-FR" b="1" i="0" u="none" strike="noStrike" kern="100" baseline="0" dirty="0">
                <a:solidFill>
                  <a:schemeClr val="accent4"/>
                </a:solidFill>
                <a:latin typeface="Calibri" panose="020F0502020204030204" pitchFamily="34" charset="0"/>
              </a:rPr>
              <a:t>Question 3</a:t>
            </a:r>
            <a:r>
              <a:rPr lang="fr-FR" b="1" kern="100" dirty="0">
                <a:solidFill>
                  <a:schemeClr val="accent4"/>
                </a:solidFill>
              </a:rPr>
              <a:t>8</a:t>
            </a:r>
            <a:r>
              <a:rPr lang="fr-FR" b="1" i="0" u="none" strike="noStrike" kern="100" baseline="0" dirty="0">
                <a:solidFill>
                  <a:schemeClr val="accent4"/>
                </a:solidFill>
                <a:latin typeface="Calibri" panose="020F0502020204030204" pitchFamily="34" charset="0"/>
              </a:rPr>
              <a:t> : La vaccination contre l’hépatite A en Tunisie est recommandée pour :</a:t>
            </a:r>
            <a:r>
              <a:rPr lang="fr-FR" b="1" i="0" u="none" strike="noStrike" kern="100" baseline="0" dirty="0">
                <a:latin typeface="Calibri" panose="020F0502020204030204" pitchFamily="34" charset="0"/>
              </a:rPr>
              <a:t/>
            </a:r>
            <a:br>
              <a:rPr lang="fr-FR" b="1" i="0" u="none" strike="noStrike" kern="100" baseline="0" dirty="0">
                <a:latin typeface="Calibri" panose="020F0502020204030204" pitchFamily="34" charset="0"/>
              </a:rPr>
            </a:br>
            <a:r>
              <a:rPr lang="fr-FR" i="0" u="none" strike="noStrike" kern="100" baseline="0" dirty="0">
                <a:solidFill>
                  <a:schemeClr val="accent2"/>
                </a:solidFill>
                <a:latin typeface="Calibri" panose="020F0502020204030204" pitchFamily="34" charset="0"/>
              </a:rPr>
              <a:t>A. Les contacts d’un patient atteint d’hépatite A</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B. Les nourrissons et enfants selon le calendrier vaccinal</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C. Les voyageurs vers les pays à forte endémie</a:t>
            </a:r>
            <a:br>
              <a:rPr lang="fr-FR" i="0" u="none" strike="noStrike" kern="100" baseline="0" dirty="0">
                <a:solidFill>
                  <a:schemeClr val="accent2"/>
                </a:solidFill>
                <a:latin typeface="Calibri" panose="020F0502020204030204" pitchFamily="34" charset="0"/>
              </a:rPr>
            </a:br>
            <a:r>
              <a:rPr lang="fr-FR" i="0" u="none" strike="noStrike" kern="100" baseline="0" dirty="0">
                <a:solidFill>
                  <a:schemeClr val="accent2"/>
                </a:solidFill>
                <a:latin typeface="Calibri" panose="020F0502020204030204" pitchFamily="34" charset="0"/>
              </a:rPr>
              <a:t>D. Les professionnels exposés au virus </a:t>
            </a:r>
            <a:r>
              <a:rPr lang="fr-FR" i="0" u="none" strike="noStrike" kern="100" baseline="0" dirty="0">
                <a:latin typeface="Calibri" panose="020F0502020204030204" pitchFamily="34" charset="0"/>
              </a:rPr>
              <a:t/>
            </a:r>
            <a:br>
              <a:rPr lang="fr-FR" i="0" u="none" strike="noStrike" kern="100" baseline="0" dirty="0">
                <a:latin typeface="Calibri" panose="020F0502020204030204" pitchFamily="34" charset="0"/>
              </a:rPr>
            </a:br>
            <a:r>
              <a:rPr lang="fr-FR" i="0" u="none" strike="noStrike" kern="100" baseline="0" dirty="0">
                <a:latin typeface="Calibri" panose="020F0502020204030204" pitchFamily="34" charset="0"/>
              </a:rPr>
              <a:t>E. Les sujets ayant déjà été infectés par le VHA</a:t>
            </a:r>
          </a:p>
        </p:txBody>
      </p:sp>
    </p:spTree>
    <p:extLst>
      <p:ext uri="{BB962C8B-B14F-4D97-AF65-F5344CB8AC3E}">
        <p14:creationId xmlns="" xmlns:p14="http://schemas.microsoft.com/office/powerpoint/2010/main" val="81284660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931798C3-B017-FC5B-B344-684CA7ABF1AB}"/>
              </a:ext>
            </a:extLst>
          </p:cNvPr>
          <p:cNvSpPr>
            <a:spLocks noGrp="1"/>
          </p:cNvSpPr>
          <p:nvPr/>
        </p:nvSpPr>
        <p:spPr>
          <a:xfrm>
            <a:off x="1955756" y="1729994"/>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a:p>
        </p:txBody>
      </p:sp>
      <p:sp>
        <p:nvSpPr>
          <p:cNvPr id="4" name="ZoneTexte 11">
            <a:extLst>
              <a:ext uri="{FF2B5EF4-FFF2-40B4-BE49-F238E27FC236}">
                <a16:creationId xmlns="" xmlns:a16="http://schemas.microsoft.com/office/drawing/2014/main" id="{6616C58B-C22C-4EDE-89A8-AB3299E4B4B2}"/>
              </a:ext>
            </a:extLst>
          </p:cNvPr>
          <p:cNvSpPr txBox="1"/>
          <p:nvPr/>
        </p:nvSpPr>
        <p:spPr>
          <a:xfrm>
            <a:off x="2190490" y="1504756"/>
            <a:ext cx="7290055" cy="400109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
            </a:pPr>
            <a:r>
              <a:rPr lang="fr-FR" sz="2000" b="0" i="0" dirty="0">
                <a:solidFill>
                  <a:srgbClr val="000000"/>
                </a:solidFill>
                <a:effectLst/>
                <a:latin typeface="Calibri" panose="020F0502020204030204" pitchFamily="34" charset="0"/>
              </a:rPr>
              <a:t>Virus inactivé</a:t>
            </a:r>
          </a:p>
          <a:p>
            <a:pPr marL="342900" indent="-342900">
              <a:buFont typeface="Wingdings" panose="05000000000000000000" pitchFamily="2" charset="2"/>
              <a:buChar char="§"/>
            </a:pPr>
            <a:r>
              <a:rPr lang="fr-FR" sz="2000" b="0" i="0" dirty="0">
                <a:solidFill>
                  <a:srgbClr val="000000"/>
                </a:solidFill>
                <a:effectLst/>
                <a:latin typeface="Calibri" panose="020F0502020204030204" pitchFamily="34" charset="0"/>
              </a:rPr>
              <a:t> 2 injections IM (région deltoïdienne) à 1 mois d’intervalle</a:t>
            </a:r>
          </a:p>
          <a:p>
            <a:r>
              <a:rPr lang="fr-FR" sz="2000" dirty="0">
                <a:latin typeface="Calibri" panose="020F0502020204030204" pitchFamily="34" charset="0"/>
              </a:rPr>
              <a:t>+</a:t>
            </a:r>
            <a:r>
              <a:rPr lang="fr-FR" sz="2000" b="0" i="0" dirty="0">
                <a:solidFill>
                  <a:srgbClr val="000000"/>
                </a:solidFill>
                <a:effectLst/>
                <a:latin typeface="Calibri" panose="020F0502020204030204" pitchFamily="34" charset="0"/>
              </a:rPr>
              <a:t>  Rappel à 6 mois après</a:t>
            </a:r>
          </a:p>
          <a:p>
            <a:endParaRPr lang="fr-FR" dirty="0">
              <a:latin typeface="Calibri" panose="020F0502020204030204" pitchFamily="34" charset="0"/>
            </a:endParaRPr>
          </a:p>
          <a:p>
            <a:pPr marL="342900" indent="-342900">
              <a:buFont typeface="Wingdings" panose="05000000000000000000" pitchFamily="2" charset="2"/>
              <a:buChar char="§"/>
            </a:pPr>
            <a:r>
              <a:rPr lang="fr-FR" sz="2000" b="1" i="0" dirty="0">
                <a:solidFill>
                  <a:srgbClr val="000000"/>
                </a:solidFill>
                <a:effectLst/>
                <a:latin typeface="Calibri" panose="020F0502020204030204" pitchFamily="34" charset="0"/>
              </a:rPr>
              <a:t>Indications en Tunisie:</a:t>
            </a:r>
            <a:endParaRPr lang="fr-FR" sz="2000" dirty="0">
              <a:latin typeface="Calibri" panose="020F0502020204030204" pitchFamily="34" charset="0"/>
            </a:endParaRPr>
          </a:p>
          <a:p>
            <a:pPr marL="342900" indent="-342900">
              <a:buFont typeface="Wingdings" panose="05000000000000000000" pitchFamily="2" charset="2"/>
              <a:buChar char="Ø"/>
            </a:pPr>
            <a:r>
              <a:rPr lang="fr-FR" sz="2000" b="0" i="0" dirty="0">
                <a:solidFill>
                  <a:srgbClr val="000000"/>
                </a:solidFill>
                <a:effectLst/>
                <a:latin typeface="Calibri" panose="020F0502020204030204" pitchFamily="34" charset="0"/>
              </a:rPr>
              <a:t>Chez les nourrissons et enfants selon le calendrier vaccinal</a:t>
            </a:r>
            <a:endParaRPr lang="fr-FR" sz="2000" dirty="0">
              <a:latin typeface="Calibri" panose="020F0502020204030204" pitchFamily="34" charset="0"/>
            </a:endParaRPr>
          </a:p>
          <a:p>
            <a:pPr marL="342900" indent="-342900">
              <a:buFont typeface="Wingdings" panose="05000000000000000000" pitchFamily="2" charset="2"/>
              <a:buChar char="Ø"/>
            </a:pPr>
            <a:r>
              <a:rPr lang="fr-FR" sz="2000" b="0" i="0" dirty="0">
                <a:solidFill>
                  <a:srgbClr val="000000"/>
                </a:solidFill>
                <a:effectLst/>
                <a:latin typeface="Calibri" panose="020F0502020204030204" pitchFamily="34" charset="0"/>
              </a:rPr>
              <a:t>Dans l’entourage d’un patient ayant une hépatite aigue A</a:t>
            </a:r>
          </a:p>
          <a:p>
            <a:pPr marL="342900" indent="-342900">
              <a:buFont typeface="Wingdings" panose="05000000000000000000" pitchFamily="2" charset="2"/>
              <a:buChar char="Ø"/>
            </a:pPr>
            <a:r>
              <a:rPr lang="fr-FR" sz="2000" dirty="0">
                <a:latin typeface="Calibri" panose="020F0502020204030204" pitchFamily="34" charset="0"/>
              </a:rPr>
              <a:t>V</a:t>
            </a:r>
            <a:r>
              <a:rPr lang="fr-FR" sz="2000" b="0" i="0" dirty="0">
                <a:solidFill>
                  <a:srgbClr val="000000"/>
                </a:solidFill>
                <a:effectLst/>
                <a:latin typeface="Calibri" panose="020F0502020204030204" pitchFamily="34" charset="0"/>
              </a:rPr>
              <a:t>oyage dans les pays à forte endémie d’hépatite A</a:t>
            </a:r>
          </a:p>
          <a:p>
            <a:pPr marL="342900" indent="-342900">
              <a:buFont typeface="Wingdings" panose="05000000000000000000" pitchFamily="2" charset="2"/>
              <a:buChar char="Ø"/>
            </a:pPr>
            <a:r>
              <a:rPr lang="fr-FR" sz="2000" dirty="0">
                <a:latin typeface="Calibri" panose="020F0502020204030204" pitchFamily="34" charset="0"/>
              </a:rPr>
              <a:t>Chez les sujets ayant des professions à risque de contamination (station d’assainissement) ou de transmission du VHA (crèches, restauration). </a:t>
            </a:r>
            <a:r>
              <a:rPr lang="fr-FR" dirty="0">
                <a:latin typeface="Calibri" panose="020F0502020204030204" pitchFamily="34" charset="0"/>
              </a:rPr>
              <a:t/>
            </a:r>
            <a:br>
              <a:rPr lang="fr-FR" dirty="0">
                <a:latin typeface="Calibri" panose="020F0502020204030204" pitchFamily="34" charset="0"/>
              </a:rPr>
            </a:br>
            <a:r>
              <a:rPr lang="fr-FR" dirty="0">
                <a:latin typeface="Calibri" panose="020F0502020204030204" pitchFamily="34" charset="0"/>
              </a:rPr>
              <a:t> </a:t>
            </a:r>
            <a:br>
              <a:rPr lang="fr-FR" dirty="0">
                <a:latin typeface="Calibri" panose="020F0502020204030204" pitchFamily="34" charset="0"/>
              </a:rPr>
            </a:br>
            <a:endParaRPr lang="fr-TN" dirty="0">
              <a:latin typeface="Calibri" panose="020F0502020204030204" pitchFamily="34" charset="0"/>
            </a:endParaRPr>
          </a:p>
        </p:txBody>
      </p:sp>
      <p:sp>
        <p:nvSpPr>
          <p:cNvPr id="5" name="ZoneTexte 12">
            <a:extLst>
              <a:ext uri="{FF2B5EF4-FFF2-40B4-BE49-F238E27FC236}">
                <a16:creationId xmlns="" xmlns:a16="http://schemas.microsoft.com/office/drawing/2014/main" id="{E063EC75-B38D-4FCA-9F96-9BF3F53A83D8}"/>
              </a:ext>
            </a:extLst>
          </p:cNvPr>
          <p:cNvSpPr txBox="1"/>
          <p:nvPr/>
        </p:nvSpPr>
        <p:spPr>
          <a:xfrm>
            <a:off x="3032361" y="1145661"/>
            <a:ext cx="2536466"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000" dirty="0">
                <a:highlight>
                  <a:srgbClr val="85CCF4"/>
                </a:highlight>
                <a:latin typeface="Calibri" panose="020F0502020204030204" pitchFamily="34" charset="0"/>
              </a:rPr>
              <a:t>Vaccin anti-VHA</a:t>
            </a:r>
            <a:endParaRPr lang="fr-TN" sz="2000" dirty="0">
              <a:highlight>
                <a:srgbClr val="85CCF4"/>
              </a:highlight>
              <a:latin typeface="Calibri" panose="020F0502020204030204" pitchFamily="34" charset="0"/>
            </a:endParaRPr>
          </a:p>
        </p:txBody>
      </p:sp>
      <p:sp>
        <p:nvSpPr>
          <p:cNvPr id="6" name="ZoneTexte 13">
            <a:extLst>
              <a:ext uri="{FF2B5EF4-FFF2-40B4-BE49-F238E27FC236}">
                <a16:creationId xmlns="" xmlns:a16="http://schemas.microsoft.com/office/drawing/2014/main" id="{B2471174-F7FC-4A71-8AD7-994A7D55CAF2}"/>
              </a:ext>
            </a:extLst>
          </p:cNvPr>
          <p:cNvSpPr txBox="1"/>
          <p:nvPr/>
        </p:nvSpPr>
        <p:spPr>
          <a:xfrm>
            <a:off x="7515405" y="1104646"/>
            <a:ext cx="2720839" cy="400110"/>
          </a:xfrm>
          <a:prstGeom prst="rect">
            <a:avLst/>
          </a:prstGeom>
          <a:solidFill>
            <a:srgbClr val="FFFFFF"/>
          </a:solidFill>
          <a:ln w="25400" cap="flat" cmpd="sng" algn="ctr">
            <a:solidFill>
              <a:srgbClr val="644DB4"/>
            </a:solidFill>
            <a:prstDash val="solid"/>
          </a:ln>
          <a:effec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Protection </a:t>
            </a:r>
            <a:r>
              <a:rPr kumimoji="0" lang="fr-FR" sz="20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&gt;</a:t>
            </a:r>
            <a:r>
              <a:rPr kumimoji="0" lang="fr-FR" sz="2000" b="0" i="0" u="none" strike="noStrike" kern="0" cap="none" spc="0" normalizeH="0" baseline="0" noProof="0" dirty="0">
                <a:ln>
                  <a:noFill/>
                </a:ln>
                <a:solidFill>
                  <a:srgbClr val="000000"/>
                </a:solidFill>
                <a:effectLst/>
                <a:uLnTx/>
                <a:uFillTx/>
                <a:latin typeface="Calibri" panose="020F0502020204030204" pitchFamily="34" charset="0"/>
                <a:ea typeface="+mn-ea"/>
                <a:cs typeface="+mn-cs"/>
              </a:rPr>
              <a:t>10 ans</a:t>
            </a:r>
            <a:endParaRPr kumimoji="0" lang="fr-TN" sz="20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
        <p:nvSpPr>
          <p:cNvPr id="7" name="Flèche : courbe vers le haut 6">
            <a:extLst>
              <a:ext uri="{FF2B5EF4-FFF2-40B4-BE49-F238E27FC236}">
                <a16:creationId xmlns="" xmlns:a16="http://schemas.microsoft.com/office/drawing/2014/main" id="{7137DA14-763F-4672-9F25-AC1F3014CDA6}"/>
              </a:ext>
            </a:extLst>
          </p:cNvPr>
          <p:cNvSpPr/>
          <p:nvPr/>
        </p:nvSpPr>
        <p:spPr>
          <a:xfrm rot="18184196">
            <a:off x="8476031" y="1875829"/>
            <a:ext cx="1106725" cy="513320"/>
          </a:xfrm>
          <a:prstGeom prst="curvedUpArrow">
            <a:avLst/>
          </a:prstGeom>
          <a:solidFill>
            <a:srgbClr val="644DB4"/>
          </a:solidFill>
          <a:ln w="25400" cap="flat" cmpd="sng" algn="ctr">
            <a:solidFill>
              <a:srgbClr val="644DB4">
                <a:shade val="50000"/>
              </a:srgbClr>
            </a:solidFill>
            <a:prstDash val="solid"/>
          </a:ln>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endParaRPr>
          </a:p>
        </p:txBody>
      </p:sp>
    </p:spTree>
    <p:extLst>
      <p:ext uri="{BB962C8B-B14F-4D97-AF65-F5344CB8AC3E}">
        <p14:creationId xmlns="" xmlns:p14="http://schemas.microsoft.com/office/powerpoint/2010/main" val="13853177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11">
            <a:extLst>
              <a:ext uri="{FF2B5EF4-FFF2-40B4-BE49-F238E27FC236}">
                <a16:creationId xmlns="" xmlns:a16="http://schemas.microsoft.com/office/drawing/2014/main" id="{6616C58B-C22C-4EDE-89A8-AB3299E4B4B2}"/>
              </a:ext>
            </a:extLst>
          </p:cNvPr>
          <p:cNvSpPr txBox="1"/>
          <p:nvPr/>
        </p:nvSpPr>
        <p:spPr>
          <a:xfrm>
            <a:off x="528328" y="1658195"/>
            <a:ext cx="4931315" cy="2523768"/>
          </a:xfrm>
          <a:prstGeom prst="rect">
            <a:avLst/>
          </a:prstGeom>
          <a:solidFill>
            <a:srgbClr val="FFFFFF"/>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2000" b="0" i="0" u="none" strike="noStrike" kern="0" cap="none" spc="0" normalizeH="0" baseline="0" noProof="0" dirty="0">
                <a:ln>
                  <a:noFill/>
                </a:ln>
                <a:solidFill>
                  <a:sysClr val="windowText" lastClr="000000"/>
                </a:solidFill>
                <a:effectLst/>
                <a:uLnTx/>
                <a:uFillTx/>
                <a:latin typeface="Calibri" panose="020F0502020204030204" pitchFamily="34" charset="0"/>
              </a:rPr>
              <a:t>Constitué d’</a:t>
            </a:r>
            <a:r>
              <a:rPr kumimoji="0" lang="fr-FR" sz="2000" b="1" i="0" u="none" strike="noStrike" kern="0" cap="none" spc="0" normalizeH="0" baseline="0" noProof="0" dirty="0">
                <a:ln>
                  <a:noFill/>
                </a:ln>
                <a:solidFill>
                  <a:sysClr val="windowText" lastClr="000000"/>
                </a:solidFill>
                <a:effectLst/>
                <a:uLnTx/>
                <a:uFillTx/>
                <a:latin typeface="Calibri" panose="020F0502020204030204" pitchFamily="34" charset="0"/>
              </a:rPr>
              <a:t>Ag HBS </a:t>
            </a: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2000" b="0" i="0" u="none" strike="noStrike" kern="0" cap="none" spc="0" normalizeH="0" baseline="0" noProof="0" dirty="0">
                <a:ln>
                  <a:noFill/>
                </a:ln>
                <a:solidFill>
                  <a:sysClr val="windowText" lastClr="000000"/>
                </a:solidFill>
                <a:effectLst/>
                <a:uLnTx/>
                <a:uFillTx/>
                <a:latin typeface="Calibri" panose="020F0502020204030204" pitchFamily="34" charset="0"/>
              </a:rPr>
              <a:t>Schéma classique: </a:t>
            </a:r>
            <a:r>
              <a:rPr kumimoji="0" lang="fr-FR" sz="2000" b="1" i="0" u="none" strike="noStrike" kern="0" cap="none" spc="0" normalizeH="0" baseline="0" noProof="0" dirty="0">
                <a:ln>
                  <a:noFill/>
                </a:ln>
                <a:solidFill>
                  <a:sysClr val="windowText" lastClr="000000"/>
                </a:solidFill>
                <a:effectLst/>
                <a:uLnTx/>
                <a:uFillTx/>
                <a:latin typeface="Calibri" panose="020F0502020204030204" pitchFamily="34" charset="0"/>
              </a:rPr>
              <a:t>M0-M1-M6</a:t>
            </a:r>
          </a:p>
          <a:p>
            <a:pPr marL="0" marR="0" lvl="0" indent="0" defTabSz="914400" eaLnBrk="1" fontAlgn="auto" latinLnBrk="0" hangingPunct="1">
              <a:lnSpc>
                <a:spcPct val="100000"/>
              </a:lnSpc>
              <a:spcBef>
                <a:spcPts val="0"/>
              </a:spcBef>
              <a:spcAft>
                <a:spcPts val="0"/>
              </a:spcAft>
              <a:buClrTx/>
              <a:buSzTx/>
              <a:buFontTx/>
              <a:buNone/>
              <a:tabLst/>
              <a:defRPr/>
            </a:pPr>
            <a:endParaRPr kumimoji="0" lang="fr-FR" sz="2000" b="1" i="0" u="none" strike="noStrike" kern="0" cap="none" spc="0" normalizeH="0" baseline="0" noProof="0" dirty="0">
              <a:ln>
                <a:noFill/>
              </a:ln>
              <a:solidFill>
                <a:sysClr val="windowText" lastClr="000000"/>
              </a:solidFill>
              <a:effectLst/>
              <a:uLnTx/>
              <a:uFillTx/>
              <a:latin typeface="Calibri" panose="020F0502020204030204" pitchFamily="34" charset="0"/>
            </a:endParaRPr>
          </a:p>
          <a:p>
            <a:pPr marL="342900" marR="0" lvl="0" indent="-342900" defTabSz="91440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fr-FR" sz="2000" b="0" i="0" u="none" strike="noStrike" kern="0" cap="none" spc="0" normalizeH="0" baseline="0" noProof="0" dirty="0">
                <a:ln>
                  <a:noFill/>
                </a:ln>
                <a:solidFill>
                  <a:sysClr val="windowText" lastClr="000000"/>
                </a:solidFill>
                <a:effectLst/>
                <a:uLnTx/>
                <a:uFillTx/>
                <a:latin typeface="Calibri" panose="020F0502020204030204" pitchFamily="34" charset="0"/>
                <a:sym typeface="Wingdings" panose="05000000000000000000" pitchFamily="2" charset="2"/>
              </a:rPr>
              <a:t>Protection: </a:t>
            </a:r>
            <a:r>
              <a:rPr kumimoji="0" lang="fr-FR" sz="2000" b="1" i="0" u="none" strike="noStrike" kern="0" cap="none" spc="0" normalizeH="0" baseline="0" noProof="0" dirty="0" err="1">
                <a:ln>
                  <a:noFill/>
                </a:ln>
                <a:solidFill>
                  <a:sysClr val="windowText" lastClr="000000"/>
                </a:solidFill>
                <a:effectLst/>
                <a:uLnTx/>
                <a:uFillTx/>
                <a:latin typeface="Calibri" panose="020F0502020204030204" pitchFamily="34" charset="0"/>
                <a:sym typeface="Wingdings" panose="05000000000000000000" pitchFamily="2" charset="2"/>
              </a:rPr>
              <a:t>antiHBS</a:t>
            </a:r>
            <a:r>
              <a:rPr kumimoji="0" lang="fr-FR" sz="2000" b="1" i="0" u="none" strike="noStrike" kern="0" cap="none" spc="0" normalizeH="0" baseline="0" noProof="0" dirty="0">
                <a:ln>
                  <a:noFill/>
                </a:ln>
                <a:solidFill>
                  <a:sysClr val="windowText" lastClr="000000"/>
                </a:solidFill>
                <a:effectLst/>
                <a:uLnTx/>
                <a:uFillTx/>
                <a:latin typeface="Calibri" panose="020F0502020204030204" pitchFamily="34" charset="0"/>
                <a:sym typeface="Wingdings" panose="05000000000000000000" pitchFamily="2" charset="2"/>
              </a:rPr>
              <a:t>&gt; 10UI/ml</a:t>
            </a:r>
          </a:p>
          <a:p>
            <a:pPr marL="0" marR="0" lvl="0" indent="0" defTabSz="91440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dirty="0">
                <a:ln>
                  <a:noFill/>
                </a:ln>
                <a:solidFill>
                  <a:sysClr val="windowText" lastClr="000000"/>
                </a:solidFill>
                <a:effectLst/>
                <a:uLnTx/>
                <a:uFillTx/>
                <a:latin typeface="Calibri" panose="020F0502020204030204" pitchFamily="34" charset="0"/>
                <a:sym typeface="Wingdings" panose="05000000000000000000" pitchFamily="2" charset="2"/>
              </a:rPr>
              <a:t>             Cas particuliers:  chez les personnels de la santé: un taux&gt;100UI/ml est recommandé</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
            </a:r>
            <a:b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b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 </a:t>
            </a:r>
            <a:endParaRPr kumimoji="0" lang="fr-TN" sz="1800" b="0" i="0" u="none" strike="noStrike" kern="0" cap="none" spc="0" normalizeH="0" baseline="0" noProof="0" dirty="0">
              <a:ln>
                <a:noFill/>
              </a:ln>
              <a:solidFill>
                <a:sysClr val="windowText" lastClr="000000"/>
              </a:solidFill>
              <a:effectLst/>
              <a:uLnTx/>
              <a:uFillTx/>
              <a:latin typeface="Calibri" panose="020F0502020204030204" pitchFamily="34" charset="0"/>
            </a:endParaRPr>
          </a:p>
        </p:txBody>
      </p:sp>
      <p:sp>
        <p:nvSpPr>
          <p:cNvPr id="4" name="ZoneTexte 12">
            <a:extLst>
              <a:ext uri="{FF2B5EF4-FFF2-40B4-BE49-F238E27FC236}">
                <a16:creationId xmlns="" xmlns:a16="http://schemas.microsoft.com/office/drawing/2014/main" id="{E063EC75-B38D-4FCA-9F96-9BF3F53A83D8}"/>
              </a:ext>
            </a:extLst>
          </p:cNvPr>
          <p:cNvSpPr txBox="1"/>
          <p:nvPr/>
        </p:nvSpPr>
        <p:spPr>
          <a:xfrm>
            <a:off x="1372019" y="719786"/>
            <a:ext cx="2536466"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000" dirty="0">
                <a:highlight>
                  <a:srgbClr val="85CCF4"/>
                </a:highlight>
                <a:latin typeface="Calibri" panose="020F0502020204030204" pitchFamily="34" charset="0"/>
              </a:rPr>
              <a:t>Vaccin </a:t>
            </a:r>
            <a:r>
              <a:rPr lang="fr-FR" sz="2000" dirty="0" err="1">
                <a:highlight>
                  <a:srgbClr val="85CCF4"/>
                </a:highlight>
                <a:latin typeface="Calibri" panose="020F0502020204030204" pitchFamily="34" charset="0"/>
              </a:rPr>
              <a:t>anti-VHB</a:t>
            </a:r>
            <a:endParaRPr lang="fr-TN" sz="2000" dirty="0">
              <a:highlight>
                <a:srgbClr val="85CCF4"/>
              </a:highlight>
              <a:latin typeface="Calibri" panose="020F0502020204030204" pitchFamily="34" charset="0"/>
            </a:endParaRPr>
          </a:p>
        </p:txBody>
      </p:sp>
      <p:sp>
        <p:nvSpPr>
          <p:cNvPr id="5" name="ZoneTexte 9">
            <a:extLst>
              <a:ext uri="{FF2B5EF4-FFF2-40B4-BE49-F238E27FC236}">
                <a16:creationId xmlns="" xmlns:a16="http://schemas.microsoft.com/office/drawing/2014/main" id="{6616C58B-C22C-4EDE-89A8-AB3299E4B4B2}"/>
              </a:ext>
            </a:extLst>
          </p:cNvPr>
          <p:cNvSpPr txBox="1"/>
          <p:nvPr/>
        </p:nvSpPr>
        <p:spPr>
          <a:xfrm>
            <a:off x="6005884" y="1415126"/>
            <a:ext cx="5850305" cy="452303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lnSpc>
                <a:spcPts val="2900"/>
              </a:lnSpc>
              <a:buFont typeface="Wingdings" panose="05000000000000000000" pitchFamily="2" charset="2"/>
              <a:buChar char="§"/>
            </a:pPr>
            <a:r>
              <a:rPr lang="fr-FR" sz="2000" b="1" i="0" dirty="0">
                <a:solidFill>
                  <a:srgbClr val="000000"/>
                </a:solidFill>
                <a:effectLst/>
                <a:latin typeface="Calibri" panose="020F0502020204030204" pitchFamily="34" charset="0"/>
              </a:rPr>
              <a:t>Vaccin + </a:t>
            </a:r>
            <a:r>
              <a:rPr lang="fr-FR" sz="2000" b="1" i="0" dirty="0" err="1">
                <a:solidFill>
                  <a:srgbClr val="000000"/>
                </a:solidFill>
                <a:effectLst/>
                <a:latin typeface="Calibri" panose="020F0502020204030204" pitchFamily="34" charset="0"/>
              </a:rPr>
              <a:t>Ig</a:t>
            </a:r>
            <a:r>
              <a:rPr lang="fr-FR" sz="2000" b="1" i="0" dirty="0">
                <a:solidFill>
                  <a:srgbClr val="000000"/>
                </a:solidFill>
                <a:effectLst/>
                <a:latin typeface="Calibri" panose="020F0502020204030204" pitchFamily="34" charset="0"/>
              </a:rPr>
              <a:t> spécifiques anti </a:t>
            </a:r>
            <a:r>
              <a:rPr lang="fr-FR" sz="2000" b="1" i="0" dirty="0" err="1">
                <a:solidFill>
                  <a:srgbClr val="000000"/>
                </a:solidFill>
                <a:effectLst/>
                <a:latin typeface="Calibri" panose="020F0502020204030204" pitchFamily="34" charset="0"/>
              </a:rPr>
              <a:t>HBs</a:t>
            </a:r>
            <a:r>
              <a:rPr lang="fr-FR" sz="2000" b="1" i="0" dirty="0">
                <a:solidFill>
                  <a:srgbClr val="000000"/>
                </a:solidFill>
                <a:effectLst/>
                <a:latin typeface="Calibri" panose="020F0502020204030204" pitchFamily="34" charset="0"/>
              </a:rPr>
              <a:t> </a:t>
            </a:r>
            <a:r>
              <a:rPr lang="fr-FR" sz="2000" b="0" i="0" dirty="0">
                <a:solidFill>
                  <a:srgbClr val="000000"/>
                </a:solidFill>
                <a:effectLst/>
                <a:latin typeface="Calibri" panose="020F0502020204030204" pitchFamily="34" charset="0"/>
              </a:rPr>
              <a:t>: injectés en deux</a:t>
            </a:r>
            <a:br>
              <a:rPr lang="fr-FR" sz="2000" b="0" i="0" dirty="0">
                <a:solidFill>
                  <a:srgbClr val="000000"/>
                </a:solidFill>
                <a:effectLst/>
                <a:latin typeface="Calibri" panose="020F0502020204030204" pitchFamily="34" charset="0"/>
              </a:rPr>
            </a:br>
            <a:r>
              <a:rPr lang="fr-FR" sz="2000" b="0" i="0" dirty="0">
                <a:solidFill>
                  <a:srgbClr val="000000"/>
                </a:solidFill>
                <a:effectLst/>
                <a:latin typeface="Calibri" panose="020F0502020204030204" pitchFamily="34" charset="0"/>
              </a:rPr>
              <a:t>endroits différents</a:t>
            </a:r>
          </a:p>
          <a:p>
            <a:pPr>
              <a:lnSpc>
                <a:spcPts val="2900"/>
              </a:lnSpc>
            </a:pPr>
            <a:endParaRPr lang="fr-FR" sz="2000" b="0" i="0" dirty="0">
              <a:solidFill>
                <a:srgbClr val="000000"/>
              </a:solidFill>
              <a:effectLst/>
              <a:latin typeface="Calibri" panose="020F0502020204030204" pitchFamily="34" charset="0"/>
            </a:endParaRPr>
          </a:p>
          <a:p>
            <a:pPr marL="342900" indent="-342900">
              <a:lnSpc>
                <a:spcPts val="2900"/>
              </a:lnSpc>
              <a:buFont typeface="Wingdings" panose="05000000000000000000" pitchFamily="2" charset="2"/>
              <a:buChar char="§"/>
            </a:pPr>
            <a:r>
              <a:rPr lang="fr-FR" sz="2000" b="1" dirty="0">
                <a:latin typeface="Calibri" panose="020F0502020204030204" pitchFamily="34" charset="0"/>
              </a:rPr>
              <a:t>Indications:</a:t>
            </a:r>
          </a:p>
          <a:p>
            <a:pPr marL="342900" indent="-342900">
              <a:lnSpc>
                <a:spcPts val="2900"/>
              </a:lnSpc>
              <a:buFont typeface="+mj-lt"/>
              <a:buAutoNum type="arabicPeriod"/>
            </a:pPr>
            <a:r>
              <a:rPr lang="fr-FR" sz="2000" dirty="0">
                <a:latin typeface="Calibri" panose="020F0502020204030204" pitchFamily="34" charset="0"/>
              </a:rPr>
              <a:t>Nouveau-né d’une mère porteuse de l’Ag </a:t>
            </a:r>
            <a:r>
              <a:rPr lang="fr-FR" sz="2000" dirty="0" err="1">
                <a:latin typeface="Calibri" panose="020F0502020204030204" pitchFamily="34" charset="0"/>
              </a:rPr>
              <a:t>HBs</a:t>
            </a:r>
            <a:r>
              <a:rPr lang="fr-FR" sz="2000" dirty="0">
                <a:latin typeface="Calibri" panose="020F0502020204030204" pitchFamily="34" charset="0"/>
              </a:rPr>
              <a:t> </a:t>
            </a:r>
          </a:p>
          <a:p>
            <a:pPr marL="342900" indent="-342900">
              <a:lnSpc>
                <a:spcPts val="2900"/>
              </a:lnSpc>
              <a:buFont typeface="+mj-lt"/>
              <a:buAutoNum type="arabicPeriod"/>
            </a:pPr>
            <a:r>
              <a:rPr lang="fr-FR" sz="2000" dirty="0">
                <a:latin typeface="Calibri" panose="020F0502020204030204" pitchFamily="34" charset="0"/>
              </a:rPr>
              <a:t>Entourage </a:t>
            </a:r>
            <a:r>
              <a:rPr lang="fr-FR" sz="2000" b="0" i="0" dirty="0">
                <a:solidFill>
                  <a:srgbClr val="000000"/>
                </a:solidFill>
                <a:effectLst/>
                <a:latin typeface="Calibri" panose="020F0502020204030204" pitchFamily="34" charset="0"/>
              </a:rPr>
              <a:t>d’un malade atteint d’une hépatite B aiguë</a:t>
            </a:r>
          </a:p>
          <a:p>
            <a:pPr marL="342900" indent="-342900">
              <a:lnSpc>
                <a:spcPts val="2900"/>
              </a:lnSpc>
              <a:buFont typeface="+mj-lt"/>
              <a:buAutoNum type="arabicPeriod"/>
            </a:pPr>
            <a:r>
              <a:rPr lang="fr-FR" sz="2000" b="0" i="0" dirty="0">
                <a:solidFill>
                  <a:srgbClr val="000000"/>
                </a:solidFill>
                <a:effectLst/>
                <a:latin typeface="Calibri" panose="020F0502020204030204" pitchFamily="34" charset="0"/>
              </a:rPr>
              <a:t>Piqûre accidentelle avec une aiguille souillée de sang contaminé</a:t>
            </a:r>
            <a:r>
              <a:rPr lang="fr-FR" sz="2800" dirty="0">
                <a:latin typeface="Calibri" panose="020F0502020204030204" pitchFamily="34" charset="0"/>
              </a:rPr>
              <a:t/>
            </a:r>
            <a:br>
              <a:rPr lang="fr-FR" sz="2800" dirty="0">
                <a:latin typeface="Calibri" panose="020F0502020204030204" pitchFamily="34" charset="0"/>
              </a:rPr>
            </a:br>
            <a:r>
              <a:rPr lang="fr-FR" dirty="0">
                <a:latin typeface="Calibri" panose="020F0502020204030204" pitchFamily="34" charset="0"/>
              </a:rPr>
              <a:t/>
            </a:r>
            <a:br>
              <a:rPr lang="fr-FR" dirty="0">
                <a:latin typeface="Calibri" panose="020F0502020204030204" pitchFamily="34" charset="0"/>
              </a:rPr>
            </a:br>
            <a:r>
              <a:rPr lang="fr-FR" dirty="0">
                <a:latin typeface="Calibri" panose="020F0502020204030204" pitchFamily="34" charset="0"/>
              </a:rPr>
              <a:t> </a:t>
            </a:r>
            <a:br>
              <a:rPr lang="fr-FR" dirty="0">
                <a:latin typeface="Calibri" panose="020F0502020204030204" pitchFamily="34" charset="0"/>
              </a:rPr>
            </a:br>
            <a:endParaRPr lang="fr-TN" dirty="0">
              <a:latin typeface="Calibri" panose="020F0502020204030204" pitchFamily="34" charset="0"/>
            </a:endParaRPr>
          </a:p>
        </p:txBody>
      </p:sp>
      <p:sp>
        <p:nvSpPr>
          <p:cNvPr id="6" name="ZoneTexte 10">
            <a:extLst>
              <a:ext uri="{FF2B5EF4-FFF2-40B4-BE49-F238E27FC236}">
                <a16:creationId xmlns="" xmlns:a16="http://schemas.microsoft.com/office/drawing/2014/main" id="{E063EC75-B38D-4FCA-9F96-9BF3F53A83D8}"/>
              </a:ext>
            </a:extLst>
          </p:cNvPr>
          <p:cNvSpPr txBox="1"/>
          <p:nvPr/>
        </p:nvSpPr>
        <p:spPr>
          <a:xfrm>
            <a:off x="7255950" y="719786"/>
            <a:ext cx="3856382"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000" dirty="0">
                <a:highlight>
                  <a:srgbClr val="85CCF4"/>
                </a:highlight>
                <a:latin typeface="Calibri" panose="020F0502020204030204" pitchFamily="34" charset="0"/>
              </a:rPr>
              <a:t>Sérovaccination </a:t>
            </a:r>
            <a:r>
              <a:rPr lang="fr-FR" sz="2000" dirty="0" err="1">
                <a:highlight>
                  <a:srgbClr val="85CCF4"/>
                </a:highlight>
                <a:latin typeface="Calibri" panose="020F0502020204030204" pitchFamily="34" charset="0"/>
              </a:rPr>
              <a:t>anti-VHB</a:t>
            </a:r>
            <a:endParaRPr lang="fr-TN" sz="2000" dirty="0">
              <a:highlight>
                <a:srgbClr val="85CCF4"/>
              </a:highlight>
              <a:latin typeface="Calibri" panose="020F0502020204030204" pitchFamily="34" charset="0"/>
            </a:endParaRPr>
          </a:p>
        </p:txBody>
      </p:sp>
    </p:spTree>
    <p:extLst>
      <p:ext uri="{BB962C8B-B14F-4D97-AF65-F5344CB8AC3E}">
        <p14:creationId xmlns="" xmlns:p14="http://schemas.microsoft.com/office/powerpoint/2010/main" val="112181212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0489" y="264004"/>
            <a:ext cx="10515600" cy="1325563"/>
          </a:xfrm>
        </p:spPr>
        <p:txBody>
          <a:bodyPr/>
          <a:lstStyle/>
          <a:p>
            <a:r>
              <a:rPr lang="fr-FR" b="1" dirty="0">
                <a:solidFill>
                  <a:schemeClr val="accent2"/>
                </a:solidFill>
              </a:rPr>
              <a:t>Cas clinique N1</a:t>
            </a:r>
          </a:p>
        </p:txBody>
      </p:sp>
      <p:sp>
        <p:nvSpPr>
          <p:cNvPr id="3" name="Espace réservé du contenu 2"/>
          <p:cNvSpPr>
            <a:spLocks noGrp="1"/>
          </p:cNvSpPr>
          <p:nvPr>
            <p:ph idx="1"/>
          </p:nvPr>
        </p:nvSpPr>
        <p:spPr>
          <a:xfrm>
            <a:off x="1135911" y="1589567"/>
            <a:ext cx="10515600" cy="5143512"/>
          </a:xfrm>
        </p:spPr>
        <p:txBody>
          <a:bodyPr>
            <a:normAutofit fontScale="92500" lnSpcReduction="20000"/>
          </a:bodyPr>
          <a:lstStyle/>
          <a:p>
            <a:r>
              <a:rPr lang="fr-FR" dirty="0">
                <a:latin typeface="Calibri" pitchFamily="34" charset="0"/>
                <a:cs typeface="Calibri" pitchFamily="34" charset="0"/>
              </a:rPr>
              <a:t>Un patient âgé de 25 ans usager de drogue par voie iv est amené aux urgences  pour ictère. Cet ictère est apparu il y a 48 heures après une grippe qui a duré une semaine. A l’examen clinique, le patient est désorienté dans le temps et dans l’espace, apyrétique sans hépatomégalie ni splénomégalie.</a:t>
            </a:r>
          </a:p>
          <a:p>
            <a:r>
              <a:rPr lang="fr-FR" b="1" dirty="0">
                <a:latin typeface="Calibri" pitchFamily="34" charset="0"/>
                <a:cs typeface="Calibri" pitchFamily="34" charset="0"/>
              </a:rPr>
              <a:t>Biologie:</a:t>
            </a:r>
            <a:endParaRPr lang="fr-FR" dirty="0">
              <a:latin typeface="Calibri" pitchFamily="34" charset="0"/>
              <a:cs typeface="Calibri" pitchFamily="34" charset="0"/>
            </a:endParaRPr>
          </a:p>
          <a:p>
            <a:pPr lvl="0"/>
            <a:r>
              <a:rPr lang="fr-FR" dirty="0">
                <a:latin typeface="Calibri" pitchFamily="34" charset="0"/>
                <a:cs typeface="Calibri" pitchFamily="34" charset="0"/>
              </a:rPr>
              <a:t>Bilirubine totale : 40 micromoles/l            Bilirubine conjuguée : 36 </a:t>
            </a:r>
            <a:r>
              <a:rPr lang="fr-FR" dirty="0" err="1">
                <a:latin typeface="Calibri" pitchFamily="34" charset="0"/>
                <a:cs typeface="Calibri" pitchFamily="34" charset="0"/>
              </a:rPr>
              <a:t>μmol</a:t>
            </a:r>
            <a:r>
              <a:rPr lang="fr-FR" dirty="0">
                <a:latin typeface="Calibri" pitchFamily="34" charset="0"/>
                <a:cs typeface="Calibri" pitchFamily="34" charset="0"/>
              </a:rPr>
              <a:t> /l</a:t>
            </a:r>
          </a:p>
          <a:p>
            <a:pPr lvl="0"/>
            <a:r>
              <a:rPr lang="fr-FR" dirty="0">
                <a:latin typeface="Calibri" pitchFamily="34" charset="0"/>
                <a:cs typeface="Calibri" pitchFamily="34" charset="0"/>
              </a:rPr>
              <a:t>ALAT : 1400UI/l (N&lt;40)              ASAT : 1200 UI/l (N&lt;50)</a:t>
            </a:r>
          </a:p>
          <a:p>
            <a:pPr lvl="0"/>
            <a:r>
              <a:rPr lang="fr-FR" dirty="0">
                <a:latin typeface="Calibri" pitchFamily="34" charset="0"/>
                <a:cs typeface="Calibri" pitchFamily="34" charset="0"/>
              </a:rPr>
              <a:t>Phosphatase alcaline :340 </a:t>
            </a:r>
            <a:r>
              <a:rPr lang="fr-FR" dirty="0" err="1">
                <a:latin typeface="Calibri" pitchFamily="34" charset="0"/>
                <a:cs typeface="Calibri" pitchFamily="34" charset="0"/>
              </a:rPr>
              <a:t>μmol</a:t>
            </a:r>
            <a:r>
              <a:rPr lang="fr-FR" dirty="0">
                <a:latin typeface="Calibri" pitchFamily="34" charset="0"/>
                <a:cs typeface="Calibri" pitchFamily="34" charset="0"/>
              </a:rPr>
              <a:t>/l (N&lt;306)</a:t>
            </a:r>
          </a:p>
          <a:p>
            <a:pPr lvl="0"/>
            <a:r>
              <a:rPr lang="fr-FR" dirty="0">
                <a:latin typeface="Calibri" pitchFamily="34" charset="0"/>
                <a:cs typeface="Calibri" pitchFamily="34" charset="0"/>
              </a:rPr>
              <a:t>NFS normale</a:t>
            </a:r>
          </a:p>
          <a:p>
            <a:pPr lvl="0"/>
            <a:r>
              <a:rPr lang="fr-FR" dirty="0">
                <a:latin typeface="Calibri" pitchFamily="34" charset="0"/>
                <a:cs typeface="Calibri" pitchFamily="34" charset="0"/>
              </a:rPr>
              <a:t>Taux de prothrombine : 35%</a:t>
            </a:r>
          </a:p>
          <a:p>
            <a:pPr lvl="0"/>
            <a:r>
              <a:rPr lang="fr-FR" dirty="0">
                <a:latin typeface="Calibri" pitchFamily="34" charset="0"/>
                <a:cs typeface="Calibri" pitchFamily="34" charset="0"/>
              </a:rPr>
              <a:t>Facteur V : 32% </a:t>
            </a:r>
          </a:p>
          <a:p>
            <a:pPr lvl="0"/>
            <a:r>
              <a:rPr lang="fr-FR" dirty="0">
                <a:latin typeface="Calibri" pitchFamily="34" charset="0"/>
                <a:cs typeface="Calibri" pitchFamily="34" charset="0"/>
              </a:rPr>
              <a:t>L’échographie n’a pas révélé de pathologie </a:t>
            </a:r>
            <a:r>
              <a:rPr lang="fr-FR" dirty="0" err="1">
                <a:latin typeface="Calibri" pitchFamily="34" charset="0"/>
                <a:cs typeface="Calibri" pitchFamily="34" charset="0"/>
              </a:rPr>
              <a:t>bilio</a:t>
            </a:r>
            <a:r>
              <a:rPr lang="fr-FR" dirty="0">
                <a:latin typeface="Calibri" pitchFamily="34" charset="0"/>
                <a:cs typeface="Calibri" pitchFamily="34" charset="0"/>
              </a:rPr>
              <a:t>-pancréatique.</a:t>
            </a:r>
          </a:p>
          <a:p>
            <a:endParaRPr lang="fr-FR" dirty="0"/>
          </a:p>
        </p:txBody>
      </p:sp>
    </p:spTree>
    <p:extLst>
      <p:ext uri="{BB962C8B-B14F-4D97-AF65-F5344CB8AC3E}">
        <p14:creationId xmlns="" xmlns:p14="http://schemas.microsoft.com/office/powerpoint/2010/main" val="10392131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Font typeface="+mj-lt"/>
              <a:buAutoNum type="arabicPeriod"/>
            </a:pPr>
            <a:r>
              <a:rPr lang="fr-FR" sz="5400" b="1" dirty="0">
                <a:latin typeface="Calibri"/>
                <a:ea typeface="Times New Roman"/>
              </a:rPr>
              <a:t>Les éléments cliniques et biologiques qui indiquent  l’hospitalisation en urgence sont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Désorientation dans le temps et dans l’espace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Bilirubines totales : 40 micromoles/l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ALAT : 1400UI/l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Taux de prothrombine : 35%</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Facteur V : 32% </a:t>
            </a:r>
            <a:endParaRPr lang="fr-FR" sz="4800" dirty="0">
              <a:latin typeface="Calibri"/>
              <a:ea typeface="Calibri"/>
              <a:cs typeface="Times New Roman"/>
            </a:endParaRPr>
          </a:p>
        </p:txBody>
      </p:sp>
    </p:spTree>
    <p:extLst>
      <p:ext uri="{BB962C8B-B14F-4D97-AF65-F5344CB8AC3E}">
        <p14:creationId xmlns="" xmlns:p14="http://schemas.microsoft.com/office/powerpoint/2010/main" val="241281989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Font typeface="+mj-lt"/>
              <a:buAutoNum type="arabicPeriod"/>
            </a:pPr>
            <a:r>
              <a:rPr lang="fr-FR" sz="5400" b="1" dirty="0">
                <a:latin typeface="Calibri"/>
                <a:ea typeface="Times New Roman"/>
              </a:rPr>
              <a:t>Les éléments cliniques et biologiques qui indiquent  l’hospitalisation en urgence sont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Désorientation dans le temps et dans l’espace</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Bilirubines totales : 40 micromoles/l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ALAT : 1400UI/l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Taux de prothrombine : 35%</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Facteur V : 32% </a:t>
            </a:r>
            <a:endParaRPr lang="fr-FR" sz="4800" b="1" dirty="0">
              <a:solidFill>
                <a:srgbClr val="FF0000"/>
              </a:solidFill>
              <a:latin typeface="Calibri"/>
              <a:ea typeface="Calibri"/>
              <a:cs typeface="Times New Roman"/>
            </a:endParaRPr>
          </a:p>
        </p:txBody>
      </p:sp>
    </p:spTree>
    <p:extLst>
      <p:ext uri="{BB962C8B-B14F-4D97-AF65-F5344CB8AC3E}">
        <p14:creationId xmlns="" xmlns:p14="http://schemas.microsoft.com/office/powerpoint/2010/main" val="22949600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Font typeface="+mj-lt"/>
              <a:buAutoNum type="arabicPeriod"/>
            </a:pPr>
            <a:r>
              <a:rPr lang="fr-FR" sz="5400" b="1" dirty="0">
                <a:latin typeface="Calibri"/>
                <a:ea typeface="Times New Roman"/>
              </a:rPr>
              <a:t>Les éléments cliniques et biologiques qui indiquent  l’hospitalisation en urgence sont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Désorientation dans le temps et dans l’espace</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Bilirubines totales : 40 micromoles/l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ALAT : 1400UI/l</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Taux de prothrombine : 35%</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Facteur V : 32% </a:t>
            </a:r>
            <a:endParaRPr lang="fr-FR" sz="4800" b="1" dirty="0">
              <a:solidFill>
                <a:srgbClr val="FF0000"/>
              </a:solidFill>
              <a:latin typeface="Calibri"/>
              <a:ea typeface="Calibri"/>
              <a:cs typeface="Times New Roman"/>
            </a:endParaRPr>
          </a:p>
        </p:txBody>
      </p:sp>
    </p:spTree>
    <p:extLst>
      <p:ext uri="{BB962C8B-B14F-4D97-AF65-F5344CB8AC3E}">
        <p14:creationId xmlns="" xmlns:p14="http://schemas.microsoft.com/office/powerpoint/2010/main" val="219475661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None/>
            </a:pPr>
            <a:r>
              <a:rPr lang="fr-FR" sz="5400" b="1" dirty="0">
                <a:latin typeface="Calibri"/>
                <a:ea typeface="Times New Roman"/>
              </a:rPr>
              <a:t>2. Les  marqueurs sérologiques à demander pour confirmer le diagnostic  d’une hépatite B aiguë sont :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HBS</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HBC</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Anti </a:t>
            </a:r>
            <a:r>
              <a:rPr lang="fr-FR" sz="5400" dirty="0" err="1">
                <a:latin typeface="Calibri"/>
                <a:ea typeface="Calibri"/>
                <a:cs typeface="Calibri"/>
              </a:rPr>
              <a:t>HBc</a:t>
            </a:r>
            <a:r>
              <a:rPr lang="fr-FR" sz="5400" dirty="0">
                <a:latin typeface="Calibri"/>
                <a:ea typeface="Calibri"/>
                <a:cs typeface="Calibri"/>
              </a:rPr>
              <a:t> de type </a:t>
            </a:r>
            <a:r>
              <a:rPr lang="fr-FR" sz="5400" dirty="0" err="1">
                <a:latin typeface="Calibri"/>
                <a:ea typeface="Calibri"/>
                <a:cs typeface="Calibri"/>
              </a:rPr>
              <a:t>Ig</a:t>
            </a:r>
            <a:r>
              <a:rPr lang="fr-FR" sz="5400" dirty="0">
                <a:latin typeface="Calibri"/>
                <a:ea typeface="Calibri"/>
                <a:cs typeface="Calibri"/>
              </a:rPr>
              <a:t> M</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Anti HBC de type </a:t>
            </a:r>
            <a:r>
              <a:rPr lang="fr-FR" sz="5400" dirty="0" err="1">
                <a:latin typeface="Calibri"/>
                <a:ea typeface="Calibri"/>
                <a:cs typeface="Calibri"/>
              </a:rPr>
              <a:t>Ig</a:t>
            </a:r>
            <a:r>
              <a:rPr lang="fr-FR" sz="5400" dirty="0">
                <a:latin typeface="Calibri"/>
                <a:ea typeface="Calibri"/>
                <a:cs typeface="Calibri"/>
              </a:rPr>
              <a:t> G</a:t>
            </a:r>
            <a:endParaRPr lang="fr-FR" sz="4800" dirty="0">
              <a:latin typeface="Calibri"/>
              <a:ea typeface="Calibri"/>
              <a:cs typeface="Times New Roman"/>
            </a:endParaRPr>
          </a:p>
        </p:txBody>
      </p:sp>
    </p:spTree>
    <p:extLst>
      <p:ext uri="{BB962C8B-B14F-4D97-AF65-F5344CB8AC3E}">
        <p14:creationId xmlns="" xmlns:p14="http://schemas.microsoft.com/office/powerpoint/2010/main" val="279994370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None/>
            </a:pPr>
            <a:r>
              <a:rPr lang="fr-FR" sz="5400" b="1" dirty="0">
                <a:latin typeface="Calibri"/>
                <a:ea typeface="Times New Roman"/>
              </a:rPr>
              <a:t>2. Les  marqueurs sérologiques à demander pour confirmer le diagnostic  d’une hépatite B aiguë sont :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Ag HBS</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HBC</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Anti </a:t>
            </a:r>
            <a:r>
              <a:rPr lang="fr-FR" sz="5400" b="1" dirty="0" err="1">
                <a:solidFill>
                  <a:srgbClr val="FF0000"/>
                </a:solidFill>
                <a:latin typeface="Calibri"/>
                <a:ea typeface="Calibri"/>
                <a:cs typeface="Calibri"/>
              </a:rPr>
              <a:t>HBc</a:t>
            </a:r>
            <a:r>
              <a:rPr lang="fr-FR" sz="5400" b="1" dirty="0">
                <a:solidFill>
                  <a:srgbClr val="FF0000"/>
                </a:solidFill>
                <a:latin typeface="Calibri"/>
                <a:ea typeface="Calibri"/>
                <a:cs typeface="Calibri"/>
              </a:rPr>
              <a:t> de type </a:t>
            </a:r>
            <a:r>
              <a:rPr lang="fr-FR" sz="5400" b="1" dirty="0" err="1">
                <a:solidFill>
                  <a:srgbClr val="FF0000"/>
                </a:solidFill>
                <a:latin typeface="Calibri"/>
                <a:ea typeface="Calibri"/>
                <a:cs typeface="Calibri"/>
              </a:rPr>
              <a:t>Ig</a:t>
            </a:r>
            <a:r>
              <a:rPr lang="fr-FR" sz="5400" b="1" dirty="0">
                <a:solidFill>
                  <a:srgbClr val="FF0000"/>
                </a:solidFill>
                <a:latin typeface="Calibri"/>
                <a:ea typeface="Calibri"/>
                <a:cs typeface="Calibri"/>
              </a:rPr>
              <a:t> M</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Anti HBC de type </a:t>
            </a:r>
            <a:r>
              <a:rPr lang="fr-FR" sz="5400" dirty="0" err="1">
                <a:latin typeface="Calibri"/>
                <a:ea typeface="Calibri"/>
                <a:cs typeface="Calibri"/>
              </a:rPr>
              <a:t>Ig</a:t>
            </a:r>
            <a:r>
              <a:rPr lang="fr-FR" sz="5400" dirty="0">
                <a:latin typeface="Calibri"/>
                <a:ea typeface="Calibri"/>
                <a:cs typeface="Calibri"/>
              </a:rPr>
              <a:t> G</a:t>
            </a:r>
            <a:endParaRPr lang="fr-FR" sz="4800" dirty="0">
              <a:latin typeface="Calibri"/>
              <a:ea typeface="Calibri"/>
              <a:cs typeface="Times New Roman"/>
            </a:endParaRPr>
          </a:p>
        </p:txBody>
      </p:sp>
    </p:spTree>
    <p:extLst>
      <p:ext uri="{BB962C8B-B14F-4D97-AF65-F5344CB8AC3E}">
        <p14:creationId xmlns="" xmlns:p14="http://schemas.microsoft.com/office/powerpoint/2010/main" val="309707261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55000" lnSpcReduction="20000"/>
          </a:bodyPr>
          <a:lstStyle/>
          <a:p>
            <a:pPr marL="342900" indent="-342900">
              <a:lnSpc>
                <a:spcPct val="150000"/>
              </a:lnSpc>
              <a:buNone/>
            </a:pPr>
            <a:r>
              <a:rPr lang="fr-FR" sz="5400" b="1" dirty="0">
                <a:latin typeface="Calibri"/>
                <a:ea typeface="Times New Roman"/>
              </a:rPr>
              <a:t>3. L’évolution clinique  de l’hépatite était favorable. Pour confirmer la guérison vous demandez quel marqueur sérologique ?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HBS </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Ag HBC</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Anti HBS</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Anti HBC de type </a:t>
            </a:r>
            <a:r>
              <a:rPr lang="fr-FR" sz="5400" dirty="0" err="1">
                <a:latin typeface="Calibri"/>
                <a:ea typeface="Calibri"/>
                <a:cs typeface="Calibri"/>
              </a:rPr>
              <a:t>Ig</a:t>
            </a:r>
            <a:r>
              <a:rPr lang="fr-FR" sz="5400" dirty="0">
                <a:latin typeface="Calibri"/>
                <a:ea typeface="Calibri"/>
                <a:cs typeface="Calibri"/>
              </a:rPr>
              <a:t> G</a:t>
            </a:r>
            <a:endParaRPr lang="fr-FR" sz="4800" dirty="0">
              <a:latin typeface="Calibri"/>
              <a:ea typeface="Calibri"/>
              <a:cs typeface="Times New Roman"/>
            </a:endParaRPr>
          </a:p>
        </p:txBody>
      </p:sp>
    </p:spTree>
    <p:extLst>
      <p:ext uri="{BB962C8B-B14F-4D97-AF65-F5344CB8AC3E}">
        <p14:creationId xmlns="" xmlns:p14="http://schemas.microsoft.com/office/powerpoint/2010/main" val="259595323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04284" y="678674"/>
            <a:ext cx="10515600" cy="1325563"/>
          </a:xfrm>
        </p:spPr>
        <p:txBody>
          <a:bodyPr/>
          <a:lstStyle/>
          <a:p>
            <a:r>
              <a:rPr lang="fr-FR" b="1" dirty="0">
                <a:solidFill>
                  <a:schemeClr val="accent2"/>
                </a:solidFill>
              </a:rPr>
              <a:t>CAS CLINIQUE N2</a:t>
            </a:r>
          </a:p>
        </p:txBody>
      </p:sp>
      <p:sp>
        <p:nvSpPr>
          <p:cNvPr id="3" name="Espace réservé du contenu 2"/>
          <p:cNvSpPr>
            <a:spLocks noGrp="1"/>
          </p:cNvSpPr>
          <p:nvPr>
            <p:ph idx="1"/>
          </p:nvPr>
        </p:nvSpPr>
        <p:spPr>
          <a:xfrm>
            <a:off x="527588" y="1967023"/>
            <a:ext cx="10668991" cy="4572000"/>
          </a:xfrm>
        </p:spPr>
        <p:txBody>
          <a:bodyPr>
            <a:normAutofit lnSpcReduction="10000"/>
          </a:bodyPr>
          <a:lstStyle/>
          <a:p>
            <a:r>
              <a:rPr lang="fr-FR" dirty="0">
                <a:latin typeface="Calibri" pitchFamily="34" charset="0"/>
                <a:cs typeface="Calibri" pitchFamily="34" charset="0"/>
              </a:rPr>
              <a:t>Un patient âgé de 45 ans alcoolique chronique est hospitalisé pour un ictère apparu il y a 10 jours.  A l’examen clinique, le patient est confus.</a:t>
            </a:r>
          </a:p>
          <a:p>
            <a:r>
              <a:rPr lang="fr-FR" b="1" dirty="0">
                <a:latin typeface="Calibri" pitchFamily="34" charset="0"/>
                <a:cs typeface="Calibri" pitchFamily="34" charset="0"/>
              </a:rPr>
              <a:t>A la biologie:</a:t>
            </a:r>
            <a:endParaRPr lang="fr-FR" dirty="0">
              <a:latin typeface="Calibri" pitchFamily="34" charset="0"/>
              <a:cs typeface="Calibri" pitchFamily="34" charset="0"/>
            </a:endParaRPr>
          </a:p>
          <a:p>
            <a:pPr lvl="0"/>
            <a:r>
              <a:rPr lang="fr-FR" dirty="0">
                <a:latin typeface="Calibri" pitchFamily="34" charset="0"/>
                <a:cs typeface="Calibri" pitchFamily="34" charset="0"/>
              </a:rPr>
              <a:t>Bilirubines totales : 100 micromoles/l        </a:t>
            </a:r>
          </a:p>
          <a:p>
            <a:pPr marL="0" lvl="0" indent="0">
              <a:buNone/>
            </a:pPr>
            <a:r>
              <a:rPr lang="fr-FR" dirty="0">
                <a:latin typeface="Calibri" pitchFamily="34" charset="0"/>
                <a:cs typeface="Calibri" pitchFamily="34" charset="0"/>
              </a:rPr>
              <a:t>Bilirubines conjuguée : 80μmol /l</a:t>
            </a:r>
          </a:p>
          <a:p>
            <a:pPr lvl="0"/>
            <a:r>
              <a:rPr lang="fr-FR" dirty="0">
                <a:latin typeface="Calibri" pitchFamily="34" charset="0"/>
                <a:cs typeface="Calibri" pitchFamily="34" charset="0"/>
              </a:rPr>
              <a:t>ALAT : 2600UI/l (N&lt;40)            ASAT : 1800 UI/l (N&lt;50)</a:t>
            </a:r>
          </a:p>
          <a:p>
            <a:pPr lvl="0"/>
            <a:r>
              <a:rPr lang="fr-FR" dirty="0">
                <a:latin typeface="Calibri" pitchFamily="34" charset="0"/>
                <a:cs typeface="Calibri" pitchFamily="34" charset="0"/>
              </a:rPr>
              <a:t>Phosphatase alcaline : 350 </a:t>
            </a:r>
            <a:r>
              <a:rPr lang="fr-FR" dirty="0" err="1">
                <a:latin typeface="Calibri" pitchFamily="34" charset="0"/>
                <a:cs typeface="Calibri" pitchFamily="34" charset="0"/>
              </a:rPr>
              <a:t>μmol</a:t>
            </a:r>
            <a:r>
              <a:rPr lang="fr-FR" dirty="0">
                <a:latin typeface="Calibri" pitchFamily="34" charset="0"/>
                <a:cs typeface="Calibri" pitchFamily="34" charset="0"/>
              </a:rPr>
              <a:t>/l (N&lt;306)</a:t>
            </a:r>
          </a:p>
          <a:p>
            <a:pPr lvl="0"/>
            <a:r>
              <a:rPr lang="fr-FR" dirty="0">
                <a:latin typeface="Calibri" pitchFamily="34" charset="0"/>
                <a:cs typeface="Calibri" pitchFamily="34" charset="0"/>
              </a:rPr>
              <a:t>Numération formule sanguine normale</a:t>
            </a:r>
          </a:p>
          <a:p>
            <a:pPr lvl="0"/>
            <a:r>
              <a:rPr lang="fr-FR" dirty="0">
                <a:latin typeface="Calibri" pitchFamily="34" charset="0"/>
                <a:cs typeface="Calibri" pitchFamily="34" charset="0"/>
              </a:rPr>
              <a:t>Taux de prothrombine : 20%</a:t>
            </a:r>
          </a:p>
          <a:p>
            <a:pPr lvl="0"/>
            <a:r>
              <a:rPr lang="fr-FR" dirty="0">
                <a:latin typeface="Calibri" pitchFamily="34" charset="0"/>
                <a:cs typeface="Calibri" pitchFamily="34" charset="0"/>
              </a:rPr>
              <a:t>Facteur V : 22% </a:t>
            </a:r>
          </a:p>
          <a:p>
            <a:endParaRPr lang="fr-FR" dirty="0"/>
          </a:p>
        </p:txBody>
      </p:sp>
    </p:spTree>
    <p:extLst>
      <p:ext uri="{BB962C8B-B14F-4D97-AF65-F5344CB8AC3E}">
        <p14:creationId xmlns="" xmlns:p14="http://schemas.microsoft.com/office/powerpoint/2010/main" val="175470349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a:bodyPr>
          <a:lstStyle/>
          <a:p>
            <a:pPr marL="342900" indent="-342900">
              <a:lnSpc>
                <a:spcPct val="150000"/>
              </a:lnSpc>
              <a:buFont typeface="+mj-lt"/>
              <a:buAutoNum type="arabicPeriod"/>
            </a:pPr>
            <a:r>
              <a:rPr lang="fr-FR" sz="3200" b="1" dirty="0">
                <a:latin typeface="Calibri"/>
                <a:ea typeface="Times New Roman"/>
              </a:rPr>
              <a:t>Que présente ce patient ?</a:t>
            </a:r>
            <a:endParaRPr lang="fr-FR" sz="3200" dirty="0">
              <a:latin typeface="Times New Roman"/>
              <a:ea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aigue grave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aigue sévère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fulminante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t>
            </a:r>
            <a:r>
              <a:rPr lang="fr-FR" sz="3200" dirty="0" err="1">
                <a:latin typeface="Calibri"/>
                <a:ea typeface="Calibri"/>
                <a:cs typeface="Calibri"/>
              </a:rPr>
              <a:t>subfulminante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Cirrhose</a:t>
            </a:r>
            <a:endParaRPr lang="fr-FR" dirty="0">
              <a:latin typeface="Calibri"/>
              <a:ea typeface="Calibri"/>
              <a:cs typeface="Times New Roman"/>
            </a:endParaRPr>
          </a:p>
          <a:p>
            <a:pPr>
              <a:lnSpc>
                <a:spcPct val="150000"/>
              </a:lnSpc>
            </a:pPr>
            <a:endParaRPr lang="fr-FR" dirty="0">
              <a:latin typeface="Calibri"/>
              <a:ea typeface="Calibri"/>
              <a:cs typeface="Times New Roman"/>
            </a:endParaRPr>
          </a:p>
        </p:txBody>
      </p:sp>
    </p:spTree>
    <p:extLst>
      <p:ext uri="{BB962C8B-B14F-4D97-AF65-F5344CB8AC3E}">
        <p14:creationId xmlns="" xmlns:p14="http://schemas.microsoft.com/office/powerpoint/2010/main" val="114620565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a:bodyPr>
          <a:lstStyle/>
          <a:p>
            <a:pPr marL="342900" indent="-342900">
              <a:lnSpc>
                <a:spcPct val="150000"/>
              </a:lnSpc>
              <a:buFont typeface="+mj-lt"/>
              <a:buAutoNum type="arabicPeriod"/>
            </a:pPr>
            <a:r>
              <a:rPr lang="fr-FR" sz="3200" b="1" dirty="0">
                <a:latin typeface="Calibri"/>
                <a:ea typeface="Times New Roman"/>
              </a:rPr>
              <a:t>Que présente ce patient ?</a:t>
            </a:r>
            <a:endParaRPr lang="fr-FR" sz="3200" dirty="0">
              <a:latin typeface="Times New Roman"/>
              <a:ea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aigue grave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aigue sévère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b="1" dirty="0">
                <a:solidFill>
                  <a:srgbClr val="FF0000"/>
                </a:solidFill>
                <a:latin typeface="Calibri"/>
                <a:ea typeface="Calibri"/>
                <a:cs typeface="Calibri"/>
              </a:rPr>
              <a:t>Hépatite fulminante</a:t>
            </a:r>
            <a:endParaRPr lang="fr-FR"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Hépatite </a:t>
            </a:r>
            <a:r>
              <a:rPr lang="fr-FR" sz="3200" dirty="0" err="1">
                <a:latin typeface="Calibri"/>
                <a:ea typeface="Calibri"/>
                <a:cs typeface="Calibri"/>
              </a:rPr>
              <a:t>subfulminante</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Cirrhose</a:t>
            </a:r>
            <a:endParaRPr lang="fr-FR" dirty="0">
              <a:latin typeface="Calibri"/>
              <a:ea typeface="Calibri"/>
              <a:cs typeface="Times New Roman"/>
            </a:endParaRPr>
          </a:p>
          <a:p>
            <a:pPr marL="0" indent="0">
              <a:lnSpc>
                <a:spcPct val="150000"/>
              </a:lnSpc>
              <a:buNone/>
            </a:pPr>
            <a:endParaRPr lang="fr-FR" dirty="0">
              <a:latin typeface="Calibri"/>
              <a:ea typeface="Calibri"/>
              <a:cs typeface="Times New Roman"/>
            </a:endParaRPr>
          </a:p>
        </p:txBody>
      </p:sp>
    </p:spTree>
    <p:extLst>
      <p:ext uri="{BB962C8B-B14F-4D97-AF65-F5344CB8AC3E}">
        <p14:creationId xmlns="" xmlns:p14="http://schemas.microsoft.com/office/powerpoint/2010/main" val="341080989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fontScale="47500" lnSpcReduction="20000"/>
          </a:bodyPr>
          <a:lstStyle/>
          <a:p>
            <a:pPr marL="342900" indent="-342900">
              <a:lnSpc>
                <a:spcPct val="150000"/>
              </a:lnSpc>
              <a:buFont typeface="Wingdings 2"/>
              <a:buChar char=""/>
              <a:tabLst>
                <a:tab pos="457200" algn="l"/>
              </a:tabLst>
            </a:pPr>
            <a:r>
              <a:rPr lang="fr-FR" sz="5400" b="1" dirty="0">
                <a:latin typeface="Calibri"/>
                <a:ea typeface="Calibri"/>
                <a:cs typeface="Calibri"/>
              </a:rPr>
              <a:t>Le bilan sérologique montre un Ag </a:t>
            </a:r>
            <a:r>
              <a:rPr lang="fr-FR" sz="5400" b="1" dirty="0" err="1">
                <a:latin typeface="Calibri"/>
                <a:ea typeface="Calibri"/>
                <a:cs typeface="Calibri"/>
              </a:rPr>
              <a:t>HBs</a:t>
            </a:r>
            <a:r>
              <a:rPr lang="fr-FR" sz="5400" b="1" dirty="0">
                <a:latin typeface="Calibri"/>
                <a:ea typeface="Calibri"/>
                <a:cs typeface="Calibri"/>
              </a:rPr>
              <a:t> positif, des anti </a:t>
            </a:r>
            <a:r>
              <a:rPr lang="fr-FR" sz="5400" b="1" dirty="0" err="1">
                <a:latin typeface="Calibri"/>
                <a:ea typeface="Calibri"/>
                <a:cs typeface="Calibri"/>
              </a:rPr>
              <a:t>HBc</a:t>
            </a:r>
            <a:r>
              <a:rPr lang="fr-FR" sz="5400" b="1" dirty="0">
                <a:latin typeface="Calibri"/>
                <a:ea typeface="Calibri"/>
                <a:cs typeface="Calibri"/>
              </a:rPr>
              <a:t> de type </a:t>
            </a:r>
            <a:r>
              <a:rPr lang="fr-FR" sz="5400" b="1" dirty="0" err="1">
                <a:latin typeface="Calibri"/>
                <a:ea typeface="Calibri"/>
                <a:cs typeface="Calibri"/>
              </a:rPr>
              <a:t>Ig</a:t>
            </a:r>
            <a:r>
              <a:rPr lang="fr-FR" sz="5400" b="1" dirty="0">
                <a:latin typeface="Calibri"/>
                <a:ea typeface="Calibri"/>
                <a:cs typeface="Calibri"/>
              </a:rPr>
              <a:t> M positifs et des anti VHC négatifs. </a:t>
            </a:r>
            <a:endParaRPr lang="fr-FR" sz="4800" dirty="0">
              <a:latin typeface="Calibri"/>
              <a:ea typeface="Calibri"/>
              <a:cs typeface="Times New Roman"/>
            </a:endParaRPr>
          </a:p>
          <a:p>
            <a:pPr marL="342900" indent="-342900">
              <a:lnSpc>
                <a:spcPct val="150000"/>
              </a:lnSpc>
              <a:buNone/>
            </a:pPr>
            <a:r>
              <a:rPr lang="fr-FR" sz="5400" b="1" dirty="0">
                <a:latin typeface="Calibri"/>
                <a:ea typeface="Times New Roman"/>
              </a:rPr>
              <a:t>2. Quels diagnostics évoquez vous ?</a:t>
            </a:r>
            <a:endParaRPr lang="fr-FR" sz="5400" dirty="0">
              <a:latin typeface="Times New Roman"/>
              <a:ea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Hépatite C aiguë</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Hépatite B aigue </a:t>
            </a:r>
            <a:endParaRPr lang="fr-FR" sz="4800"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Hépatite B chronique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dirty="0">
                <a:latin typeface="Calibri"/>
                <a:ea typeface="Calibri"/>
                <a:cs typeface="Calibri"/>
              </a:rPr>
              <a:t>Hépatite C chronique</a:t>
            </a:r>
            <a:endParaRPr lang="fr-FR" sz="4800" dirty="0">
              <a:latin typeface="Calibri"/>
              <a:ea typeface="Calibri"/>
              <a:cs typeface="Times New Roman"/>
            </a:endParaRPr>
          </a:p>
          <a:p>
            <a:pPr marL="342900" indent="-342900">
              <a:lnSpc>
                <a:spcPct val="150000"/>
              </a:lnSpc>
              <a:buFont typeface="+mj-lt"/>
              <a:buAutoNum type="alphaUcPeriod"/>
              <a:tabLst>
                <a:tab pos="457200" algn="l"/>
              </a:tabLst>
            </a:pPr>
            <a:r>
              <a:rPr lang="fr-FR" sz="5400" b="1" dirty="0">
                <a:solidFill>
                  <a:srgbClr val="FF0000"/>
                </a:solidFill>
                <a:latin typeface="Calibri"/>
                <a:ea typeface="Calibri"/>
                <a:cs typeface="Calibri"/>
              </a:rPr>
              <a:t>Réactivation virale B</a:t>
            </a:r>
            <a:endParaRPr lang="fr-FR" sz="4800" b="1" dirty="0">
              <a:solidFill>
                <a:srgbClr val="FF0000"/>
              </a:solidFill>
              <a:latin typeface="Calibri"/>
              <a:ea typeface="Calibri"/>
              <a:cs typeface="Times New Roman"/>
            </a:endParaRPr>
          </a:p>
          <a:p>
            <a:pPr marL="0" indent="0">
              <a:lnSpc>
                <a:spcPct val="150000"/>
              </a:lnSpc>
              <a:buNone/>
            </a:pPr>
            <a:endParaRPr lang="fr-FR" sz="4800" dirty="0">
              <a:latin typeface="Calibri"/>
              <a:ea typeface="Calibri"/>
              <a:cs typeface="Times New Roman"/>
            </a:endParaRPr>
          </a:p>
        </p:txBody>
      </p:sp>
    </p:spTree>
    <p:extLst>
      <p:ext uri="{BB962C8B-B14F-4D97-AF65-F5344CB8AC3E}">
        <p14:creationId xmlns="" xmlns:p14="http://schemas.microsoft.com/office/powerpoint/2010/main" val="13702428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429652" cy="6000792"/>
          </a:xfrm>
        </p:spPr>
        <p:txBody>
          <a:bodyPr>
            <a:normAutofit/>
          </a:bodyPr>
          <a:lstStyle/>
          <a:p>
            <a:pPr marL="342900" indent="-342900">
              <a:lnSpc>
                <a:spcPct val="150000"/>
              </a:lnSpc>
              <a:buNone/>
            </a:pPr>
            <a:r>
              <a:rPr lang="fr-FR" sz="3200" b="1" dirty="0">
                <a:latin typeface="Calibri"/>
                <a:ea typeface="Times New Roman"/>
              </a:rPr>
              <a:t>3. Quel serez votre prise en charge thérapeutique:</a:t>
            </a:r>
            <a:endParaRPr lang="fr-FR" sz="3200" dirty="0">
              <a:latin typeface="Times New Roman"/>
              <a:ea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Traitement antiviral par interféron </a:t>
            </a:r>
            <a:r>
              <a:rPr lang="fr-FR" sz="3200" dirty="0" err="1">
                <a:latin typeface="Calibri"/>
                <a:ea typeface="Calibri"/>
                <a:cs typeface="Calibri"/>
              </a:rPr>
              <a:t>pégylé</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b="1" dirty="0">
                <a:solidFill>
                  <a:srgbClr val="FF0000"/>
                </a:solidFill>
                <a:latin typeface="Calibri"/>
                <a:ea typeface="Calibri"/>
                <a:cs typeface="Calibri"/>
              </a:rPr>
              <a:t>Traitement antiviral par  </a:t>
            </a:r>
            <a:r>
              <a:rPr lang="fr-FR" sz="3200" b="1" dirty="0" err="1">
                <a:solidFill>
                  <a:srgbClr val="FF0000"/>
                </a:solidFill>
                <a:latin typeface="Calibri"/>
                <a:ea typeface="Calibri"/>
                <a:cs typeface="Calibri"/>
              </a:rPr>
              <a:t>entécavir</a:t>
            </a:r>
            <a:endParaRPr lang="fr-FR" b="1" dirty="0">
              <a:solidFill>
                <a:srgbClr val="FF0000"/>
              </a:solidFill>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Traitement antiviral par </a:t>
            </a:r>
            <a:r>
              <a:rPr lang="fr-FR" sz="3200" dirty="0" err="1">
                <a:latin typeface="Calibri"/>
                <a:ea typeface="Calibri"/>
                <a:cs typeface="Calibri"/>
              </a:rPr>
              <a:t>sofosbuvir+</a:t>
            </a:r>
            <a:r>
              <a:rPr lang="fr-FR" sz="3200" dirty="0" err="1">
                <a:latin typeface="Calibri"/>
                <a:cs typeface="Calibri"/>
              </a:rPr>
              <a:t>Velpatasvir</a:t>
            </a:r>
            <a:r>
              <a:rPr lang="fr-FR" sz="3200" dirty="0">
                <a:latin typeface="Calibri"/>
                <a:cs typeface="Calibri"/>
              </a:rPr>
              <a:t> </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Sérovaccination anti-VHB</a:t>
            </a:r>
            <a:endParaRPr lang="fr-FR" dirty="0">
              <a:latin typeface="Calibri"/>
              <a:ea typeface="Calibri"/>
              <a:cs typeface="Times New Roman"/>
            </a:endParaRPr>
          </a:p>
          <a:p>
            <a:pPr marL="342900" indent="-342900">
              <a:lnSpc>
                <a:spcPct val="150000"/>
              </a:lnSpc>
              <a:buFont typeface="+mj-lt"/>
              <a:buAutoNum type="alphaUcPeriod"/>
              <a:tabLst>
                <a:tab pos="457200" algn="l"/>
              </a:tabLst>
            </a:pPr>
            <a:r>
              <a:rPr lang="fr-FR" sz="3200" dirty="0">
                <a:latin typeface="Calibri"/>
                <a:ea typeface="Calibri"/>
                <a:cs typeface="Calibri"/>
              </a:rPr>
              <a:t>Aucun traitement spécifique n’est indiqué</a:t>
            </a:r>
            <a:endParaRPr lang="fr-FR" dirty="0">
              <a:latin typeface="Calibri"/>
              <a:ea typeface="Calibri"/>
              <a:cs typeface="Times New Roman"/>
            </a:endParaRPr>
          </a:p>
        </p:txBody>
      </p:sp>
    </p:spTree>
    <p:extLst>
      <p:ext uri="{BB962C8B-B14F-4D97-AF65-F5344CB8AC3E}">
        <p14:creationId xmlns="" xmlns:p14="http://schemas.microsoft.com/office/powerpoint/2010/main" val="184950266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14916" y="508553"/>
            <a:ext cx="10515600" cy="1325563"/>
          </a:xfrm>
        </p:spPr>
        <p:txBody>
          <a:bodyPr/>
          <a:lstStyle/>
          <a:p>
            <a:r>
              <a:rPr lang="fr-FR" b="1" dirty="0">
                <a:solidFill>
                  <a:schemeClr val="accent2"/>
                </a:solidFill>
              </a:rPr>
              <a:t>CAS CLINIQUE N3</a:t>
            </a:r>
          </a:p>
        </p:txBody>
      </p:sp>
      <p:sp>
        <p:nvSpPr>
          <p:cNvPr id="3" name="Espace réservé du contenu 2"/>
          <p:cNvSpPr>
            <a:spLocks noGrp="1"/>
          </p:cNvSpPr>
          <p:nvPr>
            <p:ph idx="1"/>
          </p:nvPr>
        </p:nvSpPr>
        <p:spPr>
          <a:xfrm>
            <a:off x="838200" y="1998109"/>
            <a:ext cx="10515600" cy="4351338"/>
          </a:xfrm>
        </p:spPr>
        <p:txBody>
          <a:bodyPr>
            <a:normAutofit/>
          </a:bodyPr>
          <a:lstStyle/>
          <a:p>
            <a:r>
              <a:rPr lang="fr-FR" dirty="0"/>
              <a:t>Mme ZB âgée de 36 ans, a été adressée pour une cytolyse chronique à 2 fois la normale.</a:t>
            </a:r>
            <a:r>
              <a:rPr lang="fr-FR" u="sng" dirty="0"/>
              <a:t> </a:t>
            </a:r>
            <a:endParaRPr lang="fr-FR" dirty="0"/>
          </a:p>
          <a:p>
            <a:r>
              <a:rPr lang="fr-FR" dirty="0"/>
              <a:t>Le diagnostic d’hépatite chronique virale C est évoqué devant des anti VHC (+). </a:t>
            </a:r>
          </a:p>
          <a:p>
            <a:endParaRPr lang="fr-FR" dirty="0"/>
          </a:p>
        </p:txBody>
      </p:sp>
    </p:spTree>
    <p:extLst>
      <p:ext uri="{BB962C8B-B14F-4D97-AF65-F5344CB8AC3E}">
        <p14:creationId xmlns="" xmlns:p14="http://schemas.microsoft.com/office/powerpoint/2010/main" val="5414613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143932" cy="6000792"/>
          </a:xfrm>
        </p:spPr>
        <p:txBody>
          <a:bodyPr>
            <a:normAutofit/>
          </a:bodyPr>
          <a:lstStyle/>
          <a:p>
            <a:pPr marL="1097280">
              <a:lnSpc>
                <a:spcPct val="100000"/>
              </a:lnSpc>
              <a:buNone/>
            </a:pPr>
            <a:r>
              <a:rPr lang="fr-FR" b="1" dirty="0">
                <a:ea typeface="Times New Roman"/>
                <a:cs typeface="Calibri" pitchFamily="34" charset="0"/>
              </a:rPr>
              <a:t>1. Afin de confirmer le diagnostic d’une hépatite chronique C, vous demandez :</a:t>
            </a:r>
            <a:endParaRPr lang="fr-FR" dirty="0">
              <a:ea typeface="Times New Roman"/>
              <a:cs typeface="Calibri" pitchFamily="34" charset="0"/>
            </a:endParaRPr>
          </a:p>
          <a:p>
            <a:pPr marL="342900" indent="-342900">
              <a:lnSpc>
                <a:spcPct val="100000"/>
              </a:lnSpc>
              <a:spcAft>
                <a:spcPts val="1000"/>
              </a:spcAft>
              <a:buFont typeface="+mj-lt"/>
              <a:buAutoNum type="alphaUcPeriod"/>
              <a:tabLst>
                <a:tab pos="457200" algn="l"/>
              </a:tabLst>
            </a:pPr>
            <a:r>
              <a:rPr lang="fr-FR" dirty="0">
                <a:ea typeface="Calibri"/>
                <a:cs typeface="Calibri" pitchFamily="34" charset="0"/>
              </a:rPr>
              <a:t>PCR du VHC</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Génotypage</a:t>
            </a:r>
            <a:r>
              <a:rPr lang="fr-FR" dirty="0">
                <a:ea typeface="Calibri"/>
                <a:cs typeface="Calibri" pitchFamily="34" charset="0"/>
              </a:rPr>
              <a:t> du VHC</a:t>
            </a:r>
          </a:p>
          <a:p>
            <a:pPr marL="342900" indent="-342900">
              <a:lnSpc>
                <a:spcPct val="100000"/>
              </a:lnSpc>
              <a:spcAft>
                <a:spcPts val="1000"/>
              </a:spcAft>
              <a:buFont typeface="+mj-lt"/>
              <a:buAutoNum type="alphaUcPeriod"/>
              <a:tabLst>
                <a:tab pos="457200" algn="l"/>
              </a:tabLst>
            </a:pPr>
            <a:r>
              <a:rPr lang="fr-FR" dirty="0">
                <a:ea typeface="Calibri"/>
                <a:cs typeface="Calibri" pitchFamily="34" charset="0"/>
              </a:rPr>
              <a:t>Biopsie hépatique</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Fibroscan</a:t>
            </a:r>
            <a:r>
              <a:rPr lang="fr-FR" dirty="0">
                <a:ea typeface="Calibri"/>
                <a:cs typeface="Calibri" pitchFamily="34" charset="0"/>
              </a:rPr>
              <a:t> </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Fibrotest</a:t>
            </a:r>
            <a:endParaRPr lang="fr-FR" dirty="0">
              <a:ea typeface="Calibri"/>
              <a:cs typeface="Calibri" pitchFamily="34" charset="0"/>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300380854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ECA1B5B-3C98-CBEC-02B7-69F8A01652C6}"/>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58A947A9-98F7-4FEF-4017-A86FAB67C89C}"/>
              </a:ext>
            </a:extLst>
          </p:cNvPr>
          <p:cNvSpPr>
            <a:spLocks noGrp="1"/>
          </p:cNvSpPr>
          <p:nvPr>
            <p:ph idx="1"/>
          </p:nvPr>
        </p:nvSpPr>
        <p:spPr>
          <a:xfrm>
            <a:off x="2238348" y="857208"/>
            <a:ext cx="8143932" cy="6000792"/>
          </a:xfrm>
        </p:spPr>
        <p:txBody>
          <a:bodyPr>
            <a:normAutofit/>
          </a:bodyPr>
          <a:lstStyle/>
          <a:p>
            <a:pPr marL="1097280">
              <a:lnSpc>
                <a:spcPct val="100000"/>
              </a:lnSpc>
              <a:buNone/>
            </a:pPr>
            <a:r>
              <a:rPr lang="fr-FR" b="1" dirty="0">
                <a:ea typeface="Times New Roman"/>
                <a:cs typeface="Calibri" pitchFamily="34" charset="0"/>
              </a:rPr>
              <a:t>1. Afin de confirmer le diagnostic d’une hépatite chronique C, vous demandez :</a:t>
            </a:r>
            <a:endParaRPr lang="fr-FR" dirty="0">
              <a:ea typeface="Times New Roman"/>
              <a:cs typeface="Calibri" pitchFamily="34" charset="0"/>
            </a:endParaRPr>
          </a:p>
          <a:p>
            <a:pPr marL="342900" indent="-342900">
              <a:lnSpc>
                <a:spcPct val="100000"/>
              </a:lnSpc>
              <a:spcAft>
                <a:spcPts val="1000"/>
              </a:spcAft>
              <a:buFont typeface="+mj-lt"/>
              <a:buAutoNum type="alphaUcPeriod"/>
              <a:tabLst>
                <a:tab pos="457200" algn="l"/>
              </a:tabLst>
            </a:pPr>
            <a:r>
              <a:rPr lang="fr-FR" b="1" dirty="0">
                <a:solidFill>
                  <a:srgbClr val="FF0000"/>
                </a:solidFill>
                <a:ea typeface="Calibri"/>
                <a:cs typeface="Calibri" pitchFamily="34" charset="0"/>
              </a:rPr>
              <a:t>PCR du VHC</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Génotypage</a:t>
            </a:r>
            <a:r>
              <a:rPr lang="fr-FR" dirty="0">
                <a:ea typeface="Calibri"/>
                <a:cs typeface="Calibri" pitchFamily="34" charset="0"/>
              </a:rPr>
              <a:t> du VHC</a:t>
            </a:r>
          </a:p>
          <a:p>
            <a:pPr marL="342900" indent="-342900">
              <a:lnSpc>
                <a:spcPct val="100000"/>
              </a:lnSpc>
              <a:spcAft>
                <a:spcPts val="1000"/>
              </a:spcAft>
              <a:buFont typeface="+mj-lt"/>
              <a:buAutoNum type="alphaUcPeriod"/>
              <a:tabLst>
                <a:tab pos="457200" algn="l"/>
              </a:tabLst>
            </a:pPr>
            <a:r>
              <a:rPr lang="fr-FR" dirty="0">
                <a:ea typeface="Calibri"/>
                <a:cs typeface="Calibri" pitchFamily="34" charset="0"/>
              </a:rPr>
              <a:t>Biopsie hépatique</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Fibroscan</a:t>
            </a:r>
            <a:r>
              <a:rPr lang="fr-FR" dirty="0">
                <a:ea typeface="Calibri"/>
                <a:cs typeface="Calibri" pitchFamily="34" charset="0"/>
              </a:rPr>
              <a:t> </a:t>
            </a:r>
          </a:p>
          <a:p>
            <a:pPr marL="342900" indent="-342900">
              <a:lnSpc>
                <a:spcPct val="100000"/>
              </a:lnSpc>
              <a:spcAft>
                <a:spcPts val="1000"/>
              </a:spcAft>
              <a:buFont typeface="+mj-lt"/>
              <a:buAutoNum type="alphaUcPeriod"/>
              <a:tabLst>
                <a:tab pos="457200" algn="l"/>
              </a:tabLst>
            </a:pPr>
            <a:r>
              <a:rPr lang="fr-FR" dirty="0" err="1">
                <a:ea typeface="Calibri"/>
                <a:cs typeface="Calibri" pitchFamily="34" charset="0"/>
              </a:rPr>
              <a:t>Fibrotest</a:t>
            </a:r>
            <a:endParaRPr lang="fr-FR" dirty="0">
              <a:ea typeface="Calibri"/>
              <a:cs typeface="Calibri" pitchFamily="34" charset="0"/>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189130905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8348" y="857208"/>
            <a:ext cx="8143932" cy="6000792"/>
          </a:xfrm>
        </p:spPr>
        <p:txBody>
          <a:bodyPr>
            <a:normAutofit/>
          </a:bodyPr>
          <a:lstStyle/>
          <a:p>
            <a:pPr marL="342900" indent="-342900">
              <a:lnSpc>
                <a:spcPct val="100000"/>
              </a:lnSpc>
              <a:buFont typeface="+mj-lt"/>
              <a:buAutoNum type="arabicPeriod" startAt="2"/>
            </a:pPr>
            <a:r>
              <a:rPr lang="fr-FR" b="1" dirty="0">
                <a:latin typeface="Calibri"/>
                <a:ea typeface="Times New Roman"/>
              </a:rPr>
              <a:t>Le diagnostic d’une hépatite virale C étant retenu, le traitement de cette patiente:</a:t>
            </a:r>
            <a:endParaRPr lang="fr-FR" dirty="0">
              <a:latin typeface="Times New Roman"/>
              <a:ea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Est systématiquement indiqué</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taux des transaminases</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génotype du VHC</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degré de fibrose hépatique</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taux de l’ARN viral</a:t>
            </a:r>
            <a:endParaRPr lang="fr-FR" dirty="0">
              <a:latin typeface="Calibri"/>
              <a:ea typeface="Calibri"/>
              <a:cs typeface="Times New Roman"/>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339949432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1DBD0E5-E078-1A5D-FA46-C62431110203}"/>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213418E1-BA0B-548C-B7A4-69EC51932701}"/>
              </a:ext>
            </a:extLst>
          </p:cNvPr>
          <p:cNvSpPr>
            <a:spLocks noGrp="1"/>
          </p:cNvSpPr>
          <p:nvPr>
            <p:ph idx="1"/>
          </p:nvPr>
        </p:nvSpPr>
        <p:spPr>
          <a:xfrm>
            <a:off x="1226916" y="857208"/>
            <a:ext cx="9155364" cy="6000792"/>
          </a:xfrm>
        </p:spPr>
        <p:txBody>
          <a:bodyPr>
            <a:normAutofit/>
          </a:bodyPr>
          <a:lstStyle/>
          <a:p>
            <a:pPr marL="342900" indent="-342900">
              <a:lnSpc>
                <a:spcPct val="100000"/>
              </a:lnSpc>
              <a:buFont typeface="+mj-lt"/>
              <a:buAutoNum type="arabicPeriod" startAt="2"/>
            </a:pPr>
            <a:r>
              <a:rPr lang="fr-FR" b="1" dirty="0">
                <a:latin typeface="Calibri"/>
                <a:ea typeface="Times New Roman"/>
              </a:rPr>
              <a:t>Le diagnostic d’une hépatite virale C étant retenu, le traitement de cette patiente:</a:t>
            </a:r>
            <a:endParaRPr lang="fr-FR" dirty="0">
              <a:latin typeface="Times New Roman"/>
              <a:ea typeface="Times New Roman"/>
            </a:endParaRPr>
          </a:p>
          <a:p>
            <a:pPr marL="342900" indent="-342900">
              <a:lnSpc>
                <a:spcPct val="100000"/>
              </a:lnSpc>
              <a:spcAft>
                <a:spcPts val="1000"/>
              </a:spcAft>
              <a:buFont typeface="+mj-lt"/>
              <a:buAutoNum type="alphaUcPeriod"/>
              <a:tabLst>
                <a:tab pos="457200" algn="l"/>
              </a:tabLst>
            </a:pPr>
            <a:r>
              <a:rPr lang="fr-FR" b="1" dirty="0">
                <a:solidFill>
                  <a:srgbClr val="FF0000"/>
                </a:solidFill>
                <a:latin typeface="Calibri"/>
                <a:ea typeface="Calibri"/>
                <a:cs typeface="Calibri"/>
              </a:rPr>
              <a:t>Est systématiquement indiqué</a:t>
            </a:r>
            <a:endParaRPr lang="fr-FR" b="1" dirty="0">
              <a:solidFill>
                <a:srgbClr val="FF0000"/>
              </a:solidFill>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taux des transaminases</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génotype du VHC</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degré de fibrose hépatique</a:t>
            </a:r>
            <a:endParaRPr lang="fr-FR"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Dépend du taux de l’ARN viral</a:t>
            </a:r>
            <a:endParaRPr lang="fr-FR" dirty="0">
              <a:latin typeface="Calibri"/>
              <a:ea typeface="Calibri"/>
              <a:cs typeface="Times New Roman"/>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98606172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6375D42-F423-8DB3-48C9-256AB455BD09}"/>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90DE515C-52ED-044E-B35D-7CE6B3249D6C}"/>
              </a:ext>
            </a:extLst>
          </p:cNvPr>
          <p:cNvSpPr>
            <a:spLocks noGrp="1"/>
          </p:cNvSpPr>
          <p:nvPr>
            <p:ph idx="1"/>
          </p:nvPr>
        </p:nvSpPr>
        <p:spPr>
          <a:xfrm>
            <a:off x="1250066" y="857208"/>
            <a:ext cx="9132214" cy="6000792"/>
          </a:xfrm>
        </p:spPr>
        <p:txBody>
          <a:bodyPr>
            <a:normAutofit/>
          </a:bodyPr>
          <a:lstStyle/>
          <a:p>
            <a:pPr marL="0" indent="0">
              <a:lnSpc>
                <a:spcPct val="100000"/>
              </a:lnSpc>
              <a:buNone/>
            </a:pPr>
            <a:r>
              <a:rPr lang="fr-FR" b="1" dirty="0">
                <a:latin typeface="Calibri"/>
                <a:ea typeface="Times New Roman"/>
              </a:rPr>
              <a:t>3. Quel traitement lui proposerez-vous:</a:t>
            </a:r>
            <a:endParaRPr lang="fr-FR" dirty="0">
              <a:latin typeface="Times New Roman"/>
              <a:ea typeface="Times New Roman"/>
            </a:endParaRP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Sofosbuvir</a:t>
            </a:r>
            <a:r>
              <a:rPr lang="fr-FR" dirty="0">
                <a:latin typeface="Calibri"/>
                <a:ea typeface="Calibri"/>
                <a:cs typeface="Calibri"/>
              </a:rPr>
              <a:t> pendant 24 semaines</a:t>
            </a: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Sofosbuvir</a:t>
            </a:r>
            <a:r>
              <a:rPr lang="fr-FR" dirty="0">
                <a:latin typeface="Calibri"/>
                <a:ea typeface="Calibri"/>
                <a:cs typeface="Calibri"/>
              </a:rPr>
              <a:t>  + </a:t>
            </a:r>
            <a:r>
              <a:rPr lang="fr-FR" dirty="0" err="1">
                <a:latin typeface="Calibri"/>
                <a:ea typeface="Calibri"/>
                <a:cs typeface="Calibri"/>
              </a:rPr>
              <a:t>Velpatasvir</a:t>
            </a:r>
            <a:r>
              <a:rPr lang="fr-FR" dirty="0">
                <a:latin typeface="Calibri"/>
                <a:ea typeface="Calibri"/>
                <a:cs typeface="Calibri"/>
              </a:rPr>
              <a:t> pendant 12 semaines</a:t>
            </a: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Interferon</a:t>
            </a:r>
            <a:r>
              <a:rPr lang="fr-FR" dirty="0">
                <a:latin typeface="Calibri"/>
                <a:ea typeface="Calibri"/>
                <a:cs typeface="Calibri"/>
              </a:rPr>
              <a:t> pendant 48 semaines</a:t>
            </a: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Ribavirine et </a:t>
            </a:r>
            <a:r>
              <a:rPr lang="fr-FR" dirty="0" err="1">
                <a:latin typeface="Calibri"/>
                <a:ea typeface="Calibri"/>
                <a:cs typeface="Calibri"/>
              </a:rPr>
              <a:t>Interferon</a:t>
            </a:r>
            <a:r>
              <a:rPr lang="fr-FR" dirty="0">
                <a:latin typeface="Calibri"/>
                <a:ea typeface="Calibri"/>
                <a:cs typeface="Calibri"/>
              </a:rPr>
              <a:t> pendant 24 semaine</a:t>
            </a: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Sofosbuvir</a:t>
            </a:r>
            <a:r>
              <a:rPr lang="fr-FR" dirty="0">
                <a:latin typeface="Calibri"/>
                <a:ea typeface="Calibri"/>
                <a:cs typeface="Calibri"/>
              </a:rPr>
              <a:t> + Ribavirine pendant 12 semaines </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417687003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6B0E1CE-B223-BAB5-E82B-E8FC6668E8F5}"/>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B660CE51-0A9E-A320-6B73-9FB49A214B64}"/>
              </a:ext>
            </a:extLst>
          </p:cNvPr>
          <p:cNvSpPr>
            <a:spLocks noGrp="1"/>
          </p:cNvSpPr>
          <p:nvPr>
            <p:ph idx="1"/>
          </p:nvPr>
        </p:nvSpPr>
        <p:spPr>
          <a:xfrm>
            <a:off x="2238348" y="857208"/>
            <a:ext cx="8143932" cy="6000792"/>
          </a:xfrm>
        </p:spPr>
        <p:txBody>
          <a:bodyPr>
            <a:normAutofit/>
          </a:bodyPr>
          <a:lstStyle/>
          <a:p>
            <a:pPr marL="342900" indent="-342900">
              <a:lnSpc>
                <a:spcPct val="100000"/>
              </a:lnSpc>
              <a:buFont typeface="+mj-lt"/>
              <a:buAutoNum type="arabicPeriod" startAt="2"/>
            </a:pPr>
            <a:r>
              <a:rPr lang="fr-FR" b="1" dirty="0">
                <a:latin typeface="Calibri"/>
                <a:ea typeface="Times New Roman"/>
              </a:rPr>
              <a:t>Quel traitement lui proposerez-vous:</a:t>
            </a:r>
            <a:endParaRPr lang="fr-FR" dirty="0">
              <a:latin typeface="Times New Roman"/>
              <a:ea typeface="Times New Roman"/>
            </a:endParaRP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Sofosbuvir</a:t>
            </a:r>
            <a:r>
              <a:rPr lang="fr-FR" dirty="0">
                <a:latin typeface="Calibri"/>
                <a:ea typeface="Calibri"/>
                <a:cs typeface="Calibri"/>
              </a:rPr>
              <a:t> pendant 24 semaines</a:t>
            </a:r>
          </a:p>
          <a:p>
            <a:pPr marL="342900" indent="-342900">
              <a:lnSpc>
                <a:spcPct val="100000"/>
              </a:lnSpc>
              <a:spcAft>
                <a:spcPts val="1000"/>
              </a:spcAft>
              <a:buFont typeface="+mj-lt"/>
              <a:buAutoNum type="alphaUcPeriod"/>
              <a:tabLst>
                <a:tab pos="457200" algn="l"/>
              </a:tabLst>
            </a:pPr>
            <a:r>
              <a:rPr lang="fr-FR" b="1" dirty="0" err="1">
                <a:solidFill>
                  <a:srgbClr val="FF0000"/>
                </a:solidFill>
                <a:latin typeface="Calibri"/>
                <a:ea typeface="Calibri"/>
                <a:cs typeface="Calibri"/>
              </a:rPr>
              <a:t>Sofosbuvir</a:t>
            </a:r>
            <a:r>
              <a:rPr lang="fr-FR" b="1" dirty="0">
                <a:solidFill>
                  <a:srgbClr val="FF0000"/>
                </a:solidFill>
                <a:latin typeface="Calibri"/>
                <a:ea typeface="Calibri"/>
                <a:cs typeface="Calibri"/>
              </a:rPr>
              <a:t>  + </a:t>
            </a:r>
            <a:r>
              <a:rPr lang="fr-FR" b="1" dirty="0" err="1">
                <a:solidFill>
                  <a:srgbClr val="FF0000"/>
                </a:solidFill>
                <a:latin typeface="Calibri"/>
                <a:ea typeface="Calibri"/>
                <a:cs typeface="Calibri"/>
              </a:rPr>
              <a:t>Velpatasvir</a:t>
            </a:r>
            <a:r>
              <a:rPr lang="fr-FR" b="1" dirty="0">
                <a:solidFill>
                  <a:srgbClr val="FF0000"/>
                </a:solidFill>
                <a:latin typeface="Calibri"/>
                <a:ea typeface="Calibri"/>
                <a:cs typeface="Calibri"/>
              </a:rPr>
              <a:t> pendant 12 semaines</a:t>
            </a: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Interferon</a:t>
            </a:r>
            <a:r>
              <a:rPr lang="fr-FR" dirty="0">
                <a:latin typeface="Calibri"/>
                <a:ea typeface="Calibri"/>
                <a:cs typeface="Calibri"/>
              </a:rPr>
              <a:t> pendant 48 semaines</a:t>
            </a: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Ribavirine et </a:t>
            </a:r>
            <a:r>
              <a:rPr lang="fr-FR" dirty="0" err="1">
                <a:latin typeface="Calibri"/>
                <a:ea typeface="Calibri"/>
                <a:cs typeface="Calibri"/>
              </a:rPr>
              <a:t>Interferon</a:t>
            </a:r>
            <a:r>
              <a:rPr lang="fr-FR" dirty="0">
                <a:latin typeface="Calibri"/>
                <a:ea typeface="Calibri"/>
                <a:cs typeface="Calibri"/>
              </a:rPr>
              <a:t> pendant 24 semaine</a:t>
            </a:r>
          </a:p>
          <a:p>
            <a:pPr marL="342900" indent="-342900">
              <a:lnSpc>
                <a:spcPct val="100000"/>
              </a:lnSpc>
              <a:spcAft>
                <a:spcPts val="1000"/>
              </a:spcAft>
              <a:buFont typeface="+mj-lt"/>
              <a:buAutoNum type="alphaUcPeriod"/>
              <a:tabLst>
                <a:tab pos="457200" algn="l"/>
              </a:tabLst>
            </a:pPr>
            <a:r>
              <a:rPr lang="fr-FR" dirty="0" err="1">
                <a:latin typeface="Calibri"/>
                <a:ea typeface="Calibri"/>
                <a:cs typeface="Calibri"/>
              </a:rPr>
              <a:t>Sofosbuvir</a:t>
            </a:r>
            <a:r>
              <a:rPr lang="fr-FR" dirty="0">
                <a:latin typeface="Calibri"/>
                <a:ea typeface="Calibri"/>
                <a:cs typeface="Calibri"/>
              </a:rPr>
              <a:t> + Ribavirine pendant 12 semaines </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396690610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14400" y="857208"/>
            <a:ext cx="9467880" cy="6000792"/>
          </a:xfrm>
        </p:spPr>
        <p:txBody>
          <a:bodyPr>
            <a:normAutofit/>
          </a:bodyPr>
          <a:lstStyle/>
          <a:p>
            <a:pPr marL="342900" indent="-342900">
              <a:lnSpc>
                <a:spcPct val="150000"/>
              </a:lnSpc>
              <a:buNone/>
            </a:pPr>
            <a:r>
              <a:rPr lang="fr-FR" b="1" dirty="0">
                <a:solidFill>
                  <a:srgbClr val="000000"/>
                </a:solidFill>
                <a:latin typeface="Calibri"/>
                <a:ea typeface="Times New Roman"/>
              </a:rPr>
              <a:t>3. Afin d’éviter la contamination de l’entourage vous conseillez la patiente :</a:t>
            </a:r>
            <a:br>
              <a:rPr lang="fr-FR" b="1" dirty="0">
                <a:solidFill>
                  <a:srgbClr val="000000"/>
                </a:solidFill>
                <a:latin typeface="Calibri"/>
                <a:ea typeface="Times New Roman"/>
              </a:rPr>
            </a:br>
            <a:r>
              <a:rPr lang="fr-FR" dirty="0">
                <a:solidFill>
                  <a:srgbClr val="000000"/>
                </a:solidFill>
                <a:latin typeface="Calibri"/>
                <a:ea typeface="Times New Roman"/>
              </a:rPr>
              <a:t>A- De ne pas partager son coupe ongle avec les autres</a:t>
            </a:r>
            <a:br>
              <a:rPr lang="fr-FR" dirty="0">
                <a:solidFill>
                  <a:srgbClr val="000000"/>
                </a:solidFill>
                <a:latin typeface="Calibri"/>
                <a:ea typeface="Times New Roman"/>
              </a:rPr>
            </a:br>
            <a:r>
              <a:rPr lang="fr-FR" dirty="0">
                <a:solidFill>
                  <a:srgbClr val="000000"/>
                </a:solidFill>
                <a:latin typeface="Calibri"/>
                <a:ea typeface="Times New Roman"/>
              </a:rPr>
              <a:t>B- De ne pas partager la même assiette </a:t>
            </a:r>
            <a:br>
              <a:rPr lang="fr-FR" dirty="0">
                <a:solidFill>
                  <a:srgbClr val="000000"/>
                </a:solidFill>
                <a:latin typeface="Calibri"/>
                <a:ea typeface="Times New Roman"/>
              </a:rPr>
            </a:br>
            <a:r>
              <a:rPr lang="fr-FR" dirty="0">
                <a:solidFill>
                  <a:srgbClr val="000000"/>
                </a:solidFill>
                <a:latin typeface="Calibri"/>
                <a:ea typeface="Times New Roman"/>
              </a:rPr>
              <a:t>C- De ne pas utiliser les habits des autres</a:t>
            </a:r>
            <a:br>
              <a:rPr lang="fr-FR" dirty="0">
                <a:solidFill>
                  <a:srgbClr val="000000"/>
                </a:solidFill>
                <a:latin typeface="Calibri"/>
                <a:ea typeface="Times New Roman"/>
              </a:rPr>
            </a:br>
            <a:r>
              <a:rPr lang="fr-FR" dirty="0">
                <a:solidFill>
                  <a:srgbClr val="000000"/>
                </a:solidFill>
                <a:latin typeface="Calibri"/>
                <a:ea typeface="Times New Roman"/>
              </a:rPr>
              <a:t>D- De mettre une bavette couvrant la bouche et le nez </a:t>
            </a:r>
            <a:br>
              <a:rPr lang="fr-FR" dirty="0">
                <a:solidFill>
                  <a:srgbClr val="000000"/>
                </a:solidFill>
                <a:latin typeface="Calibri"/>
                <a:ea typeface="Times New Roman"/>
              </a:rPr>
            </a:br>
            <a:r>
              <a:rPr lang="fr-FR" dirty="0">
                <a:solidFill>
                  <a:srgbClr val="000000"/>
                </a:solidFill>
                <a:latin typeface="Calibri"/>
                <a:ea typeface="Times New Roman"/>
              </a:rPr>
              <a:t>E- D’éviter définitivement les rapports sexuels non protégés avec son mari</a:t>
            </a:r>
            <a:endParaRPr lang="fr-FR" dirty="0">
              <a:latin typeface="Times New Roman"/>
              <a:ea typeface="Times New Roman"/>
            </a:endParaRPr>
          </a:p>
          <a:p>
            <a:pPr indent="0">
              <a:lnSpc>
                <a:spcPct val="150000"/>
              </a:lnSpc>
              <a:spcAft>
                <a:spcPts val="1000"/>
              </a:spcAft>
              <a:buNone/>
            </a:pPr>
            <a:endParaRPr lang="fr-FR" dirty="0">
              <a:latin typeface="Calibri"/>
              <a:ea typeface="Calibri"/>
              <a:cs typeface="Times New Roman"/>
            </a:endParaRPr>
          </a:p>
          <a:p>
            <a:pPr>
              <a:lnSpc>
                <a:spcPct val="150000"/>
              </a:lnSpc>
            </a:pPr>
            <a:endParaRPr lang="fr-FR" dirty="0">
              <a:latin typeface="Calibri"/>
              <a:ea typeface="Calibri"/>
              <a:cs typeface="Times New Roman"/>
            </a:endParaRPr>
          </a:p>
        </p:txBody>
      </p:sp>
    </p:spTree>
    <p:extLst>
      <p:ext uri="{BB962C8B-B14F-4D97-AF65-F5344CB8AC3E}">
        <p14:creationId xmlns="" xmlns:p14="http://schemas.microsoft.com/office/powerpoint/2010/main" val="310282334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0E094B8-378E-2C7F-ECEA-D7FD47D10024}"/>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FD26903C-AB41-F091-2B3A-461EC69572E2}"/>
              </a:ext>
            </a:extLst>
          </p:cNvPr>
          <p:cNvSpPr>
            <a:spLocks noGrp="1"/>
          </p:cNvSpPr>
          <p:nvPr>
            <p:ph idx="1"/>
          </p:nvPr>
        </p:nvSpPr>
        <p:spPr>
          <a:xfrm>
            <a:off x="914400" y="857208"/>
            <a:ext cx="9467880" cy="6000792"/>
          </a:xfrm>
        </p:spPr>
        <p:txBody>
          <a:bodyPr>
            <a:normAutofit/>
          </a:bodyPr>
          <a:lstStyle/>
          <a:p>
            <a:pPr marL="342900" indent="-342900">
              <a:lnSpc>
                <a:spcPct val="150000"/>
              </a:lnSpc>
              <a:buNone/>
            </a:pPr>
            <a:r>
              <a:rPr lang="fr-FR" b="1" dirty="0">
                <a:solidFill>
                  <a:srgbClr val="000000"/>
                </a:solidFill>
                <a:latin typeface="Calibri"/>
                <a:ea typeface="Times New Roman"/>
              </a:rPr>
              <a:t>3. Afin d’éviter la contamination de l’entourage vous conseillez la patiente :</a:t>
            </a:r>
            <a:br>
              <a:rPr lang="fr-FR" b="1" dirty="0">
                <a:solidFill>
                  <a:srgbClr val="000000"/>
                </a:solidFill>
                <a:latin typeface="Calibri"/>
                <a:ea typeface="Times New Roman"/>
              </a:rPr>
            </a:br>
            <a:r>
              <a:rPr lang="fr-FR" dirty="0">
                <a:solidFill>
                  <a:srgbClr val="FF0000"/>
                </a:solidFill>
                <a:latin typeface="Calibri"/>
                <a:ea typeface="Times New Roman"/>
              </a:rPr>
              <a:t>A- De ne pas partager son coupe ongle avec les autres</a:t>
            </a:r>
            <a:r>
              <a:rPr lang="fr-FR" dirty="0">
                <a:solidFill>
                  <a:srgbClr val="000000"/>
                </a:solidFill>
                <a:latin typeface="Calibri"/>
                <a:ea typeface="Times New Roman"/>
              </a:rPr>
              <a:t/>
            </a:r>
            <a:br>
              <a:rPr lang="fr-FR" dirty="0">
                <a:solidFill>
                  <a:srgbClr val="000000"/>
                </a:solidFill>
                <a:latin typeface="Calibri"/>
                <a:ea typeface="Times New Roman"/>
              </a:rPr>
            </a:br>
            <a:r>
              <a:rPr lang="fr-FR" dirty="0">
                <a:solidFill>
                  <a:srgbClr val="000000"/>
                </a:solidFill>
                <a:latin typeface="Calibri"/>
                <a:ea typeface="Times New Roman"/>
              </a:rPr>
              <a:t>B- De ne pas partager la même assiette </a:t>
            </a:r>
            <a:br>
              <a:rPr lang="fr-FR" dirty="0">
                <a:solidFill>
                  <a:srgbClr val="000000"/>
                </a:solidFill>
                <a:latin typeface="Calibri"/>
                <a:ea typeface="Times New Roman"/>
              </a:rPr>
            </a:br>
            <a:r>
              <a:rPr lang="fr-FR" dirty="0">
                <a:solidFill>
                  <a:srgbClr val="000000"/>
                </a:solidFill>
                <a:latin typeface="Calibri"/>
                <a:ea typeface="Times New Roman"/>
              </a:rPr>
              <a:t>C- De ne pas utiliser les habits des autres</a:t>
            </a:r>
            <a:br>
              <a:rPr lang="fr-FR" dirty="0">
                <a:solidFill>
                  <a:srgbClr val="000000"/>
                </a:solidFill>
                <a:latin typeface="Calibri"/>
                <a:ea typeface="Times New Roman"/>
              </a:rPr>
            </a:br>
            <a:r>
              <a:rPr lang="fr-FR" dirty="0">
                <a:solidFill>
                  <a:srgbClr val="000000"/>
                </a:solidFill>
                <a:latin typeface="Calibri"/>
                <a:ea typeface="Times New Roman"/>
              </a:rPr>
              <a:t>D- De mettre une bavette couvrant la bouche et le nez </a:t>
            </a:r>
            <a:br>
              <a:rPr lang="fr-FR" dirty="0">
                <a:solidFill>
                  <a:srgbClr val="000000"/>
                </a:solidFill>
                <a:latin typeface="Calibri"/>
                <a:ea typeface="Times New Roman"/>
              </a:rPr>
            </a:br>
            <a:r>
              <a:rPr lang="fr-FR" dirty="0">
                <a:solidFill>
                  <a:srgbClr val="000000"/>
                </a:solidFill>
                <a:latin typeface="Calibri"/>
                <a:ea typeface="Times New Roman"/>
              </a:rPr>
              <a:t>E- D’éviter définitivement les rapports sexuels non protégés avec son mari</a:t>
            </a:r>
            <a:endParaRPr lang="fr-FR" dirty="0">
              <a:latin typeface="Times New Roman"/>
              <a:ea typeface="Times New Roman"/>
            </a:endParaRPr>
          </a:p>
          <a:p>
            <a:pPr indent="0">
              <a:lnSpc>
                <a:spcPct val="150000"/>
              </a:lnSpc>
              <a:spcAft>
                <a:spcPts val="1000"/>
              </a:spcAft>
              <a:buNone/>
            </a:pPr>
            <a:endParaRPr lang="fr-FR" dirty="0">
              <a:latin typeface="Calibri"/>
              <a:ea typeface="Calibri"/>
              <a:cs typeface="Times New Roman"/>
            </a:endParaRPr>
          </a:p>
          <a:p>
            <a:pPr>
              <a:lnSpc>
                <a:spcPct val="150000"/>
              </a:lnSpc>
            </a:pPr>
            <a:endParaRPr lang="fr-FR" dirty="0">
              <a:latin typeface="Calibri"/>
              <a:ea typeface="Calibri"/>
              <a:cs typeface="Times New Roman"/>
            </a:endParaRPr>
          </a:p>
        </p:txBody>
      </p:sp>
    </p:spTree>
    <p:extLst>
      <p:ext uri="{BB962C8B-B14F-4D97-AF65-F5344CB8AC3E}">
        <p14:creationId xmlns="" xmlns:p14="http://schemas.microsoft.com/office/powerpoint/2010/main" val="280079710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68079" y="253372"/>
            <a:ext cx="10515600" cy="1325563"/>
          </a:xfrm>
        </p:spPr>
        <p:txBody>
          <a:bodyPr/>
          <a:lstStyle/>
          <a:p>
            <a:r>
              <a:rPr lang="fr-FR" b="1" dirty="0">
                <a:solidFill>
                  <a:schemeClr val="accent2"/>
                </a:solidFill>
              </a:rPr>
              <a:t>CAS CLINIQUE N4</a:t>
            </a:r>
          </a:p>
        </p:txBody>
      </p:sp>
      <p:sp>
        <p:nvSpPr>
          <p:cNvPr id="3" name="Espace réservé du contenu 2"/>
          <p:cNvSpPr>
            <a:spLocks noGrp="1"/>
          </p:cNvSpPr>
          <p:nvPr>
            <p:ph idx="1"/>
          </p:nvPr>
        </p:nvSpPr>
        <p:spPr>
          <a:xfrm>
            <a:off x="838200" y="1929809"/>
            <a:ext cx="10515600" cy="4351338"/>
          </a:xfrm>
        </p:spPr>
        <p:txBody>
          <a:bodyPr/>
          <a:lstStyle/>
          <a:p>
            <a:pPr>
              <a:lnSpc>
                <a:spcPct val="150000"/>
              </a:lnSpc>
            </a:pPr>
            <a:r>
              <a:rPr lang="fr-FR" dirty="0"/>
              <a:t>Mr AH âgé de 38 ans a consulté il y a 8 mois pour une asthénie profonde, des myalgies, une fébricule et un ictère. La sérologie virale actuelle objective les données suivantes:</a:t>
            </a:r>
          </a:p>
          <a:p>
            <a:pPr>
              <a:lnSpc>
                <a:spcPct val="150000"/>
              </a:lnSpc>
            </a:pPr>
            <a:r>
              <a:rPr lang="en-US" dirty="0"/>
              <a:t>Ag </a:t>
            </a:r>
            <a:r>
              <a:rPr lang="en-US" dirty="0" err="1"/>
              <a:t>Hbs</a:t>
            </a:r>
            <a:r>
              <a:rPr lang="en-US" dirty="0"/>
              <a:t> (+), anti </a:t>
            </a:r>
            <a:r>
              <a:rPr lang="en-US" dirty="0" err="1"/>
              <a:t>Hbs</a:t>
            </a:r>
            <a:r>
              <a:rPr lang="en-US" dirty="0"/>
              <a:t> (-), Ag </a:t>
            </a:r>
            <a:r>
              <a:rPr lang="en-US" dirty="0" err="1"/>
              <a:t>Hbe</a:t>
            </a:r>
            <a:r>
              <a:rPr lang="en-US" dirty="0"/>
              <a:t> (-), anti </a:t>
            </a:r>
            <a:r>
              <a:rPr lang="en-US" dirty="0" err="1"/>
              <a:t>Hbe</a:t>
            </a:r>
            <a:r>
              <a:rPr lang="en-US" dirty="0"/>
              <a:t> (+), anti </a:t>
            </a:r>
            <a:r>
              <a:rPr lang="en-US" dirty="0" err="1"/>
              <a:t>Hbc</a:t>
            </a:r>
            <a:r>
              <a:rPr lang="en-US" dirty="0"/>
              <a:t> (+) type </a:t>
            </a:r>
            <a:r>
              <a:rPr lang="en-US" dirty="0" err="1"/>
              <a:t>IgG</a:t>
            </a:r>
            <a:endParaRPr lang="fr-FR" dirty="0"/>
          </a:p>
          <a:p>
            <a:pPr>
              <a:lnSpc>
                <a:spcPct val="150000"/>
              </a:lnSpc>
            </a:pPr>
            <a:endParaRPr lang="fr-FR" sz="3200" dirty="0"/>
          </a:p>
        </p:txBody>
      </p:sp>
    </p:spTree>
    <p:extLst>
      <p:ext uri="{BB962C8B-B14F-4D97-AF65-F5344CB8AC3E}">
        <p14:creationId xmlns="" xmlns:p14="http://schemas.microsoft.com/office/powerpoint/2010/main" val="309749620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906" y="623291"/>
            <a:ext cx="8143932" cy="6000792"/>
          </a:xfrm>
        </p:spPr>
        <p:txBody>
          <a:bodyPr>
            <a:normAutofit/>
          </a:bodyPr>
          <a:lstStyle/>
          <a:p>
            <a:pPr marL="0" indent="0">
              <a:lnSpc>
                <a:spcPct val="100000"/>
              </a:lnSpc>
              <a:spcAft>
                <a:spcPts val="1000"/>
              </a:spcAft>
              <a:buNone/>
              <a:tabLst>
                <a:tab pos="457200" algn="l"/>
              </a:tabLst>
            </a:pPr>
            <a:r>
              <a:rPr lang="fr-FR" b="1" dirty="0">
                <a:latin typeface="Calibri"/>
                <a:ea typeface="Times New Roman"/>
              </a:rPr>
              <a:t>1. Quels sont les deux diagnostics possibles pouvant cadrer avec ce profil sérologique?</a:t>
            </a:r>
            <a:endParaRPr lang="fr-FR" dirty="0">
              <a:latin typeface="Calibri"/>
              <a:ea typeface="Calibri"/>
              <a:cs typeface="Calibri"/>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Infection chronique Ag </a:t>
            </a:r>
            <a:r>
              <a:rPr lang="fr-FR" dirty="0" err="1">
                <a:latin typeface="Calibri"/>
                <a:ea typeface="Calibri"/>
                <a:cs typeface="Calibri"/>
              </a:rPr>
              <a:t>Hbe</a:t>
            </a:r>
            <a:r>
              <a:rPr lang="fr-FR" dirty="0">
                <a:latin typeface="Calibri"/>
                <a:ea typeface="Calibri"/>
                <a:cs typeface="Calibri"/>
              </a:rPr>
              <a:t> négatif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Infection chronique Ag </a:t>
            </a:r>
            <a:r>
              <a:rPr lang="fr-FR" dirty="0" err="1">
                <a:latin typeface="Calibri"/>
                <a:ea typeface="Calibri"/>
                <a:cs typeface="Calibri"/>
              </a:rPr>
              <a:t>Hbe</a:t>
            </a:r>
            <a:r>
              <a:rPr lang="fr-FR" dirty="0">
                <a:latin typeface="Calibri"/>
                <a:ea typeface="Calibri"/>
                <a:cs typeface="Calibri"/>
              </a:rPr>
              <a:t> positif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Hépatite chronique Ag </a:t>
            </a:r>
            <a:r>
              <a:rPr lang="fr-FR" dirty="0" err="1">
                <a:latin typeface="Calibri"/>
                <a:ea typeface="Calibri"/>
                <a:cs typeface="Calibri"/>
              </a:rPr>
              <a:t>Hbe</a:t>
            </a:r>
            <a:r>
              <a:rPr lang="fr-FR" dirty="0">
                <a:latin typeface="Calibri"/>
                <a:ea typeface="Calibri"/>
                <a:cs typeface="Calibri"/>
              </a:rPr>
              <a:t> négatif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Hépatite chronique B Ag </a:t>
            </a:r>
            <a:r>
              <a:rPr lang="fr-FR" dirty="0" err="1">
                <a:latin typeface="Calibri"/>
                <a:ea typeface="Calibri"/>
                <a:cs typeface="Calibri"/>
              </a:rPr>
              <a:t>Hbe</a:t>
            </a:r>
            <a:r>
              <a:rPr lang="fr-FR" dirty="0">
                <a:latin typeface="Calibri"/>
                <a:ea typeface="Calibri"/>
                <a:cs typeface="Calibri"/>
              </a:rPr>
              <a:t> positif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Infection B occulte   </a:t>
            </a:r>
            <a:endParaRPr lang="fr-FR" sz="1800" dirty="0">
              <a:latin typeface="Calibri"/>
              <a:ea typeface="Calibri"/>
              <a:cs typeface="Times New Roman"/>
            </a:endParaRPr>
          </a:p>
          <a:p>
            <a:pPr>
              <a:lnSpc>
                <a:spcPct val="10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3763166938"/>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73791D2-2151-E891-D7C6-3055D74A447C}"/>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A698BDBD-C452-285B-D519-FB2091E1B02F}"/>
              </a:ext>
            </a:extLst>
          </p:cNvPr>
          <p:cNvSpPr>
            <a:spLocks noGrp="1"/>
          </p:cNvSpPr>
          <p:nvPr>
            <p:ph idx="1"/>
          </p:nvPr>
        </p:nvSpPr>
        <p:spPr>
          <a:xfrm>
            <a:off x="1440906" y="623291"/>
            <a:ext cx="8143932" cy="6000792"/>
          </a:xfrm>
        </p:spPr>
        <p:txBody>
          <a:bodyPr>
            <a:normAutofit/>
          </a:bodyPr>
          <a:lstStyle/>
          <a:p>
            <a:pPr marL="0" indent="0">
              <a:lnSpc>
                <a:spcPct val="100000"/>
              </a:lnSpc>
              <a:spcAft>
                <a:spcPts val="1000"/>
              </a:spcAft>
              <a:buNone/>
              <a:tabLst>
                <a:tab pos="457200" algn="l"/>
              </a:tabLst>
            </a:pPr>
            <a:r>
              <a:rPr lang="fr-FR" b="1" dirty="0">
                <a:latin typeface="Calibri"/>
                <a:ea typeface="Times New Roman"/>
              </a:rPr>
              <a:t>1. Quels sont les deux diagnostics possibles pouvant cadrer avec ce profil sérologique?</a:t>
            </a:r>
            <a:endParaRPr lang="fr-FR" dirty="0">
              <a:latin typeface="Calibri"/>
              <a:ea typeface="Calibri"/>
              <a:cs typeface="Calibri"/>
            </a:endParaRPr>
          </a:p>
          <a:p>
            <a:pPr marL="342900" indent="-342900">
              <a:lnSpc>
                <a:spcPct val="100000"/>
              </a:lnSpc>
              <a:spcAft>
                <a:spcPts val="1000"/>
              </a:spcAft>
              <a:buFont typeface="+mj-lt"/>
              <a:buAutoNum type="alphaUcPeriod"/>
              <a:tabLst>
                <a:tab pos="457200" algn="l"/>
              </a:tabLst>
            </a:pPr>
            <a:r>
              <a:rPr lang="fr-FR" b="1" dirty="0">
                <a:solidFill>
                  <a:srgbClr val="FF0000"/>
                </a:solidFill>
                <a:latin typeface="Calibri"/>
                <a:ea typeface="Calibri"/>
                <a:cs typeface="Calibri"/>
              </a:rPr>
              <a:t>Infection chronique Ag </a:t>
            </a:r>
            <a:r>
              <a:rPr lang="fr-FR" b="1" dirty="0" err="1">
                <a:solidFill>
                  <a:srgbClr val="FF0000"/>
                </a:solidFill>
                <a:latin typeface="Calibri"/>
                <a:ea typeface="Calibri"/>
                <a:cs typeface="Calibri"/>
              </a:rPr>
              <a:t>Hbe</a:t>
            </a:r>
            <a:r>
              <a:rPr lang="fr-FR" b="1" dirty="0">
                <a:solidFill>
                  <a:srgbClr val="FF0000"/>
                </a:solidFill>
                <a:latin typeface="Calibri"/>
                <a:ea typeface="Calibri"/>
                <a:cs typeface="Calibri"/>
              </a:rPr>
              <a:t> négatif </a:t>
            </a:r>
            <a:endParaRPr lang="fr-FR" sz="1800" b="1" dirty="0">
              <a:solidFill>
                <a:srgbClr val="FF0000"/>
              </a:solidFill>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Infection chronique Ag </a:t>
            </a:r>
            <a:r>
              <a:rPr lang="fr-FR" dirty="0" err="1">
                <a:latin typeface="Calibri"/>
                <a:ea typeface="Calibri"/>
                <a:cs typeface="Calibri"/>
              </a:rPr>
              <a:t>Hbe</a:t>
            </a:r>
            <a:r>
              <a:rPr lang="fr-FR" dirty="0">
                <a:latin typeface="Calibri"/>
                <a:ea typeface="Calibri"/>
                <a:cs typeface="Calibri"/>
              </a:rPr>
              <a:t> positif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b="1" dirty="0">
                <a:solidFill>
                  <a:srgbClr val="FF0000"/>
                </a:solidFill>
                <a:latin typeface="Calibri"/>
                <a:ea typeface="Calibri"/>
                <a:cs typeface="Calibri"/>
              </a:rPr>
              <a:t>Hépatite chronique Ag </a:t>
            </a:r>
            <a:r>
              <a:rPr lang="fr-FR" b="1" dirty="0" err="1">
                <a:solidFill>
                  <a:srgbClr val="FF0000"/>
                </a:solidFill>
                <a:latin typeface="Calibri"/>
                <a:ea typeface="Calibri"/>
                <a:cs typeface="Calibri"/>
              </a:rPr>
              <a:t>Hbe</a:t>
            </a:r>
            <a:r>
              <a:rPr lang="fr-FR" b="1" dirty="0">
                <a:solidFill>
                  <a:srgbClr val="FF0000"/>
                </a:solidFill>
                <a:latin typeface="Calibri"/>
                <a:ea typeface="Calibri"/>
                <a:cs typeface="Calibri"/>
              </a:rPr>
              <a:t> négatif </a:t>
            </a:r>
            <a:endParaRPr lang="fr-FR" sz="1800" b="1" dirty="0">
              <a:solidFill>
                <a:srgbClr val="FF0000"/>
              </a:solidFill>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Hépatite chronique B Ag </a:t>
            </a:r>
            <a:r>
              <a:rPr lang="fr-FR" dirty="0" err="1">
                <a:latin typeface="Calibri"/>
                <a:ea typeface="Calibri"/>
                <a:cs typeface="Calibri"/>
              </a:rPr>
              <a:t>Hbe</a:t>
            </a:r>
            <a:r>
              <a:rPr lang="fr-FR" dirty="0">
                <a:latin typeface="Calibri"/>
                <a:ea typeface="Calibri"/>
                <a:cs typeface="Calibri"/>
              </a:rPr>
              <a:t> positif </a:t>
            </a:r>
            <a:endParaRPr lang="fr-FR" sz="1800" dirty="0">
              <a:latin typeface="Calibri"/>
              <a:ea typeface="Calibri"/>
              <a:cs typeface="Times New Roman"/>
            </a:endParaRPr>
          </a:p>
          <a:p>
            <a:pPr marL="342900" indent="-342900">
              <a:lnSpc>
                <a:spcPct val="100000"/>
              </a:lnSpc>
              <a:spcAft>
                <a:spcPts val="1000"/>
              </a:spcAft>
              <a:buFont typeface="+mj-lt"/>
              <a:buAutoNum type="alphaUcPeriod"/>
              <a:tabLst>
                <a:tab pos="457200" algn="l"/>
              </a:tabLst>
            </a:pPr>
            <a:r>
              <a:rPr lang="fr-FR" dirty="0">
                <a:latin typeface="Calibri"/>
                <a:ea typeface="Calibri"/>
                <a:cs typeface="Calibri"/>
              </a:rPr>
              <a:t>Infection B occulte   </a:t>
            </a:r>
            <a:endParaRPr lang="fr-FR" sz="1800" dirty="0">
              <a:latin typeface="Calibri"/>
              <a:ea typeface="Calibri"/>
              <a:cs typeface="Times New Roman"/>
            </a:endParaRPr>
          </a:p>
          <a:p>
            <a:pPr>
              <a:lnSpc>
                <a:spcPct val="10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151209685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 xmlns:a16="http://schemas.microsoft.com/office/drawing/2014/main" id="{47870008-9281-7B3A-5754-044A72BE4A7D}"/>
              </a:ext>
            </a:extLst>
          </p:cNvPr>
          <p:cNvSpPr>
            <a:spLocks noGrp="1"/>
          </p:cNvSpPr>
          <p:nvPr/>
        </p:nvSpPr>
        <p:spPr>
          <a:xfrm>
            <a:off x="2066915" y="778232"/>
            <a:ext cx="729005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fr-FR"/>
          </a:p>
        </p:txBody>
      </p:sp>
      <p:sp>
        <p:nvSpPr>
          <p:cNvPr id="5" name="Espace réservé du contenu 2">
            <a:extLst>
              <a:ext uri="{FF2B5EF4-FFF2-40B4-BE49-F238E27FC236}">
                <a16:creationId xmlns="" xmlns:a16="http://schemas.microsoft.com/office/drawing/2014/main" id="{A76FEF72-6B2C-F68D-00AB-93D6A1B17EA2}"/>
              </a:ext>
            </a:extLst>
          </p:cNvPr>
          <p:cNvSpPr>
            <a:spLocks noGrp="1"/>
          </p:cNvSpPr>
          <p:nvPr/>
        </p:nvSpPr>
        <p:spPr>
          <a:xfrm>
            <a:off x="2066915" y="2479016"/>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a:p>
        </p:txBody>
      </p:sp>
      <p:grpSp>
        <p:nvGrpSpPr>
          <p:cNvPr id="6" name="Groupe 5">
            <a:extLst>
              <a:ext uri="{FF2B5EF4-FFF2-40B4-BE49-F238E27FC236}">
                <a16:creationId xmlns="" xmlns:a16="http://schemas.microsoft.com/office/drawing/2014/main" id="{1CB8C8ED-C761-4957-906F-DB64F341D439}"/>
              </a:ext>
            </a:extLst>
          </p:cNvPr>
          <p:cNvGrpSpPr/>
          <p:nvPr/>
        </p:nvGrpSpPr>
        <p:grpSpPr>
          <a:xfrm>
            <a:off x="1738298" y="1334243"/>
            <a:ext cx="6748129" cy="3749749"/>
            <a:chOff x="850605" y="1141227"/>
            <a:chExt cx="6337003" cy="3749749"/>
          </a:xfrm>
        </p:grpSpPr>
        <p:pic>
          <p:nvPicPr>
            <p:cNvPr id="17" name="Picture 2" descr="Histoire naturelle de l'infection chronique par le VHB (nouvelle classification de l'EASL, 2017). CTL : lymphocyte T cytotoxique.">
              <a:extLst>
                <a:ext uri="{FF2B5EF4-FFF2-40B4-BE49-F238E27FC236}">
                  <a16:creationId xmlns="" xmlns:a16="http://schemas.microsoft.com/office/drawing/2014/main" id="{095D4923-441A-40C2-82D3-348F57715ADE}"/>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l="693" t="879" r="691" b="9278"/>
            <a:stretch/>
          </p:blipFill>
          <p:spPr bwMode="auto">
            <a:xfrm>
              <a:off x="850605" y="1141227"/>
              <a:ext cx="6067646" cy="3749749"/>
            </a:xfrm>
            <a:prstGeom prst="rect">
              <a:avLst/>
            </a:prstGeom>
            <a:noFill/>
            <a:ln>
              <a:noFill/>
            </a:ln>
            <a:extLst>
              <a:ext uri="{909E8E84-426E-40DD-AFC4-6F175D3DCCD1}">
                <a14:hiddenFill xmlns="" xmlns:a14="http://schemas.microsoft.com/office/drawing/2010/main">
                  <a:solidFill>
                    <a:srgbClr val="FFFFFF"/>
                  </a:solidFill>
                </a14:hiddenFill>
              </a:ext>
            </a:extLst>
          </p:spPr>
        </p:pic>
        <p:sp>
          <p:nvSpPr>
            <p:cNvPr id="18" name="ZoneTexte 18">
              <a:extLst>
                <a:ext uri="{FF2B5EF4-FFF2-40B4-BE49-F238E27FC236}">
                  <a16:creationId xmlns="" xmlns:a16="http://schemas.microsoft.com/office/drawing/2014/main" id="{5ABF2906-FB54-4DCF-9746-D1FC719B09CC}"/>
                </a:ext>
              </a:extLst>
            </p:cNvPr>
            <p:cNvSpPr txBox="1"/>
            <p:nvPr/>
          </p:nvSpPr>
          <p:spPr>
            <a:xfrm>
              <a:off x="6294473" y="4394791"/>
              <a:ext cx="893135" cy="21544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800" dirty="0">
                  <a:latin typeface="Calibri" panose="020F0502020204030204" pitchFamily="34" charset="0"/>
                  <a:cs typeface="Times New Roman" panose="02020603050405020304" pitchFamily="18" charset="0"/>
                </a:rPr>
                <a:t>- Fluctuante</a:t>
              </a:r>
              <a:endParaRPr lang="fr-TN" sz="800" dirty="0">
                <a:latin typeface="Calibri" panose="020F0502020204030204" pitchFamily="34" charset="0"/>
                <a:cs typeface="Times New Roman" panose="02020603050405020304" pitchFamily="18" charset="0"/>
              </a:endParaRPr>
            </a:p>
          </p:txBody>
        </p:sp>
      </p:grpSp>
      <p:sp>
        <p:nvSpPr>
          <p:cNvPr id="7" name="ZoneTexte 19">
            <a:extLst>
              <a:ext uri="{FF2B5EF4-FFF2-40B4-BE49-F238E27FC236}">
                <a16:creationId xmlns="" xmlns:a16="http://schemas.microsoft.com/office/drawing/2014/main" id="{A172760F-BB43-42E8-B623-8AAE88A20CDE}"/>
              </a:ext>
            </a:extLst>
          </p:cNvPr>
          <p:cNvSpPr txBox="1"/>
          <p:nvPr/>
        </p:nvSpPr>
        <p:spPr>
          <a:xfrm>
            <a:off x="8019982" y="1293826"/>
            <a:ext cx="2105247"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srgbClr val="769EF6">
                    <a:lumMod val="50000"/>
                  </a:srgbClr>
                </a:solidFill>
                <a:effectLst/>
                <a:uLnTx/>
                <a:uFillTx/>
                <a:latin typeface="Calibri" panose="020F0502020204030204" pitchFamily="34" charset="0"/>
              </a:rPr>
              <a:t>Perte de l’</a:t>
            </a:r>
            <a:r>
              <a:rPr kumimoji="0" lang="fr-FR" sz="1600" b="1" i="0" u="none" strike="noStrike" kern="0" cap="none" spc="0" normalizeH="0" baseline="0" noProof="0" dirty="0" err="1">
                <a:ln>
                  <a:noFill/>
                </a:ln>
                <a:solidFill>
                  <a:srgbClr val="769EF6">
                    <a:lumMod val="50000"/>
                  </a:srgbClr>
                </a:solidFill>
                <a:effectLst/>
                <a:uLnTx/>
                <a:uFillTx/>
                <a:latin typeface="Calibri" panose="020F0502020204030204" pitchFamily="34" charset="0"/>
              </a:rPr>
              <a:t>AgHBS</a:t>
            </a:r>
            <a:endParaRPr kumimoji="0" lang="fr-FR" sz="1600" b="1" i="0" u="none" strike="noStrike" kern="0" cap="none" spc="0" normalizeH="0" baseline="0" noProof="0" dirty="0">
              <a:ln>
                <a:noFill/>
              </a:ln>
              <a:solidFill>
                <a:srgbClr val="769EF6">
                  <a:lumMod val="50000"/>
                </a:srgbClr>
              </a:solidFill>
              <a:effectLst/>
              <a:uLnTx/>
              <a:uFillTx/>
              <a:latin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dirty="0">
                <a:ln>
                  <a:noFill/>
                </a:ln>
                <a:solidFill>
                  <a:srgbClr val="769EF6">
                    <a:lumMod val="50000"/>
                  </a:srgbClr>
                </a:solidFill>
                <a:effectLst/>
                <a:uLnTx/>
                <a:uFillTx/>
                <a:latin typeface="Calibri" panose="020F0502020204030204" pitchFamily="34" charset="0"/>
              </a:rPr>
              <a:t>(Guérison)</a:t>
            </a:r>
          </a:p>
        </p:txBody>
      </p:sp>
      <p:sp>
        <p:nvSpPr>
          <p:cNvPr id="8" name="ZoneTexte 20">
            <a:extLst>
              <a:ext uri="{FF2B5EF4-FFF2-40B4-BE49-F238E27FC236}">
                <a16:creationId xmlns="" xmlns:a16="http://schemas.microsoft.com/office/drawing/2014/main" id="{CFD94791-1176-4924-98F3-DC89BC7150EF}"/>
              </a:ext>
            </a:extLst>
          </p:cNvPr>
          <p:cNvSpPr txBox="1"/>
          <p:nvPr/>
        </p:nvSpPr>
        <p:spPr>
          <a:xfrm>
            <a:off x="8309218" y="1904956"/>
            <a:ext cx="2013097" cy="160043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dirty="0" err="1">
                <a:latin typeface="Calibri" panose="020F0502020204030204" pitchFamily="34" charset="0"/>
              </a:rPr>
              <a:t>antiHBc</a:t>
            </a:r>
            <a:r>
              <a:rPr lang="fr-FR" dirty="0">
                <a:latin typeface="Calibri" panose="020F0502020204030204" pitchFamily="34" charset="0"/>
              </a:rPr>
              <a:t> +</a:t>
            </a:r>
          </a:p>
          <a:p>
            <a:pPr marL="285750" indent="-285750">
              <a:buFont typeface="Wingdings" panose="05000000000000000000" pitchFamily="2" charset="2"/>
              <a:buChar char="§"/>
            </a:pPr>
            <a:r>
              <a:rPr lang="fr-FR" dirty="0" err="1">
                <a:latin typeface="Calibri" panose="020F0502020204030204" pitchFamily="34" charset="0"/>
              </a:rPr>
              <a:t>antiHBS</a:t>
            </a:r>
            <a:r>
              <a:rPr lang="fr-FR" dirty="0">
                <a:latin typeface="Calibri" panose="020F0502020204030204" pitchFamily="34" charset="0"/>
              </a:rPr>
              <a:t> +/-</a:t>
            </a:r>
          </a:p>
          <a:p>
            <a:pPr marL="285750" indent="-285750">
              <a:buFont typeface="Wingdings" panose="05000000000000000000" pitchFamily="2" charset="2"/>
              <a:buChar char="§"/>
            </a:pPr>
            <a:r>
              <a:rPr lang="fr-FR" dirty="0">
                <a:latin typeface="Calibri" panose="020F0502020204030204" pitchFamily="34" charset="0"/>
              </a:rPr>
              <a:t>ALAT normales</a:t>
            </a:r>
          </a:p>
          <a:p>
            <a:pPr marL="285750" indent="-285750">
              <a:buFont typeface="Wingdings" panose="05000000000000000000" pitchFamily="2" charset="2"/>
              <a:buChar char="§"/>
            </a:pPr>
            <a:r>
              <a:rPr lang="fr-FR" dirty="0">
                <a:latin typeface="Calibri" panose="020F0502020204030204" pitchFamily="34" charset="0"/>
              </a:rPr>
              <a:t>ADN: indétectable ou faible</a:t>
            </a:r>
          </a:p>
          <a:p>
            <a:pPr marL="285750" indent="-285750">
              <a:buFont typeface="Wingdings" panose="05000000000000000000" pitchFamily="2" charset="2"/>
              <a:buChar char="§"/>
            </a:pPr>
            <a:r>
              <a:rPr lang="fr-FR" dirty="0" err="1">
                <a:latin typeface="Calibri" panose="020F0502020204030204" pitchFamily="34" charset="0"/>
              </a:rPr>
              <a:t>ADNccc</a:t>
            </a:r>
            <a:r>
              <a:rPr lang="fr-FR" dirty="0">
                <a:latin typeface="Calibri" panose="020F0502020204030204" pitchFamily="34" charset="0"/>
              </a:rPr>
              <a:t>: reste au niveau du foie</a:t>
            </a:r>
            <a:endParaRPr lang="fr-TN" dirty="0">
              <a:latin typeface="Calibri" panose="020F0502020204030204" pitchFamily="34" charset="0"/>
            </a:endParaRPr>
          </a:p>
        </p:txBody>
      </p:sp>
      <p:sp>
        <p:nvSpPr>
          <p:cNvPr id="9" name="ZoneTexte 21">
            <a:extLst>
              <a:ext uri="{FF2B5EF4-FFF2-40B4-BE49-F238E27FC236}">
                <a16:creationId xmlns="" xmlns:a16="http://schemas.microsoft.com/office/drawing/2014/main" id="{295BBAEF-4402-40AA-A02C-126DF93CF94C}"/>
              </a:ext>
            </a:extLst>
          </p:cNvPr>
          <p:cNvSpPr txBox="1"/>
          <p:nvPr/>
        </p:nvSpPr>
        <p:spPr>
          <a:xfrm>
            <a:off x="8310562" y="4716450"/>
            <a:ext cx="2143140" cy="923330"/>
          </a:xfrm>
          <a:prstGeom prst="rect">
            <a:avLst/>
          </a:prstGeom>
          <a:solidFill>
            <a:srgbClr val="DB5050"/>
          </a:solidFill>
          <a:ln w="38100" cap="flat" cmpd="sng" algn="ctr">
            <a:solidFill>
              <a:srgbClr val="FFFFFF"/>
            </a:solidFill>
            <a:prstDash val="solid"/>
          </a:ln>
          <a:effectLst>
            <a:outerShdw blurRad="40000" dist="20000" dir="5400000" rotWithShape="0">
              <a:srgbClr val="000000">
                <a:alpha val="38000"/>
              </a:srgbClr>
            </a:outerShdw>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rPr>
              <a:t>Risque de réactivation si immunosuppression</a:t>
            </a:r>
            <a:endParaRPr kumimoji="0" lang="fr-TN"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0" name="Flèche : bas 9">
            <a:extLst>
              <a:ext uri="{FF2B5EF4-FFF2-40B4-BE49-F238E27FC236}">
                <a16:creationId xmlns="" xmlns:a16="http://schemas.microsoft.com/office/drawing/2014/main" id="{825EC932-7AC0-43BE-823C-04E42FAF3E07}"/>
              </a:ext>
            </a:extLst>
          </p:cNvPr>
          <p:cNvSpPr/>
          <p:nvPr/>
        </p:nvSpPr>
        <p:spPr>
          <a:xfrm>
            <a:off x="9239256" y="4216384"/>
            <a:ext cx="184299" cy="422041"/>
          </a:xfrm>
          <a:prstGeom prst="downArrow">
            <a:avLst/>
          </a:prstGeom>
          <a:solidFill>
            <a:srgbClr val="DB5050"/>
          </a:solidFill>
          <a:ln w="38100" cap="flat" cmpd="sng" algn="ctr">
            <a:solidFill>
              <a:srgbClr val="FFFFFF"/>
            </a:solidFill>
            <a:prstDash val="solid"/>
          </a:ln>
          <a:effectLst>
            <a:outerShdw blurRad="40000" dist="20000" dir="5400000" rotWithShape="0">
              <a:srgbClr val="000000">
                <a:alpha val="38000"/>
              </a:srgbClr>
            </a:outerShdw>
          </a:effectLst>
        </p:spPr>
        <p:txBody>
          <a:bodyPr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TN" sz="1800" b="0" i="0" u="none" strike="noStrike" kern="0" cap="none" spc="0" normalizeH="0" baseline="0" noProof="0" dirty="0">
              <a:ln>
                <a:noFill/>
              </a:ln>
              <a:solidFill>
                <a:srgbClr val="FFFFFF"/>
              </a:solidFill>
              <a:effectLst/>
              <a:uLnTx/>
              <a:uFillTx/>
              <a:latin typeface="Calibri" panose="020F0502020204030204" pitchFamily="34" charset="0"/>
              <a:ea typeface="+mn-ea"/>
              <a:cs typeface="+mn-cs"/>
            </a:endParaRPr>
          </a:p>
        </p:txBody>
      </p:sp>
      <p:sp>
        <p:nvSpPr>
          <p:cNvPr id="11" name="ZoneTexte 23">
            <a:extLst>
              <a:ext uri="{FF2B5EF4-FFF2-40B4-BE49-F238E27FC236}">
                <a16:creationId xmlns="" xmlns:a16="http://schemas.microsoft.com/office/drawing/2014/main" id="{0E97C5FE-5D47-48BC-935F-F4338916759D}"/>
              </a:ext>
            </a:extLst>
          </p:cNvPr>
          <p:cNvSpPr txBox="1"/>
          <p:nvPr/>
        </p:nvSpPr>
        <p:spPr>
          <a:xfrm>
            <a:off x="5041431" y="355624"/>
            <a:ext cx="4274335"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644DB4"/>
                </a:solidFill>
                <a:effectLst/>
                <a:uLnTx/>
                <a:uFillTx/>
                <a:latin typeface="Calibri" panose="020F0502020204030204" pitchFamily="34" charset="0"/>
              </a:rPr>
              <a:t>VHB</a:t>
            </a:r>
            <a:endParaRPr kumimoji="0" lang="fr-TN" sz="3600" b="1" i="0" u="none" strike="noStrike" kern="0" cap="none" spc="0" normalizeH="0" baseline="0" noProof="0" dirty="0">
              <a:ln>
                <a:noFill/>
              </a:ln>
              <a:solidFill>
                <a:srgbClr val="644DB4"/>
              </a:solidFill>
              <a:effectLst/>
              <a:uLnTx/>
              <a:uFillTx/>
              <a:latin typeface="Calibri" panose="020F0502020204030204" pitchFamily="34" charset="0"/>
            </a:endParaRPr>
          </a:p>
        </p:txBody>
      </p:sp>
      <p:sp>
        <p:nvSpPr>
          <p:cNvPr id="12" name="ZoneTexte 24">
            <a:extLst>
              <a:ext uri="{FF2B5EF4-FFF2-40B4-BE49-F238E27FC236}">
                <a16:creationId xmlns="" xmlns:a16="http://schemas.microsoft.com/office/drawing/2014/main" id="{95CBBD25-3117-4534-A07E-14C2CC7B64CD}"/>
              </a:ext>
            </a:extLst>
          </p:cNvPr>
          <p:cNvSpPr txBox="1"/>
          <p:nvPr/>
        </p:nvSpPr>
        <p:spPr>
          <a:xfrm>
            <a:off x="2938433" y="722354"/>
            <a:ext cx="87235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769EF6"/>
                </a:solidFill>
                <a:effectLst/>
                <a:uLnTx/>
                <a:uFillTx/>
              </a:rPr>
              <a:t>1</a:t>
            </a:r>
            <a:endParaRPr kumimoji="0" lang="fr-TN" sz="3600" b="1" i="0" u="none" strike="noStrike" kern="0" cap="none" spc="0" normalizeH="0" baseline="0" noProof="0" dirty="0">
              <a:ln>
                <a:noFill/>
              </a:ln>
              <a:solidFill>
                <a:srgbClr val="769EF6"/>
              </a:solidFill>
              <a:effectLst/>
              <a:uLnTx/>
              <a:uFillTx/>
            </a:endParaRPr>
          </a:p>
        </p:txBody>
      </p:sp>
      <p:sp>
        <p:nvSpPr>
          <p:cNvPr id="13" name="ZoneTexte 25">
            <a:extLst>
              <a:ext uri="{FF2B5EF4-FFF2-40B4-BE49-F238E27FC236}">
                <a16:creationId xmlns="" xmlns:a16="http://schemas.microsoft.com/office/drawing/2014/main" id="{2396844E-2D0E-436A-9B43-3E06CCF777F2}"/>
              </a:ext>
            </a:extLst>
          </p:cNvPr>
          <p:cNvSpPr txBox="1"/>
          <p:nvPr/>
        </p:nvSpPr>
        <p:spPr>
          <a:xfrm>
            <a:off x="4425647" y="722354"/>
            <a:ext cx="87235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769EF6"/>
                </a:solidFill>
                <a:effectLst/>
                <a:uLnTx/>
                <a:uFillTx/>
              </a:rPr>
              <a:t>2</a:t>
            </a:r>
            <a:endParaRPr kumimoji="0" lang="fr-TN" sz="3600" b="1" i="0" u="none" strike="noStrike" kern="0" cap="none" spc="0" normalizeH="0" baseline="0" noProof="0" dirty="0">
              <a:ln>
                <a:noFill/>
              </a:ln>
              <a:solidFill>
                <a:srgbClr val="769EF6"/>
              </a:solidFill>
              <a:effectLst/>
              <a:uLnTx/>
              <a:uFillTx/>
            </a:endParaRPr>
          </a:p>
        </p:txBody>
      </p:sp>
      <p:sp>
        <p:nvSpPr>
          <p:cNvPr id="14" name="ZoneTexte 26">
            <a:extLst>
              <a:ext uri="{FF2B5EF4-FFF2-40B4-BE49-F238E27FC236}">
                <a16:creationId xmlns="" xmlns:a16="http://schemas.microsoft.com/office/drawing/2014/main" id="{FEF8A472-F338-4ED9-A3ED-2ABCE31B72B7}"/>
              </a:ext>
            </a:extLst>
          </p:cNvPr>
          <p:cNvSpPr txBox="1"/>
          <p:nvPr/>
        </p:nvSpPr>
        <p:spPr>
          <a:xfrm>
            <a:off x="6008614" y="722354"/>
            <a:ext cx="87235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769EF6"/>
                </a:solidFill>
                <a:effectLst/>
                <a:uLnTx/>
                <a:uFillTx/>
              </a:rPr>
              <a:t>3</a:t>
            </a:r>
            <a:endParaRPr kumimoji="0" lang="fr-TN" sz="3600" b="1" i="0" u="none" strike="noStrike" kern="0" cap="none" spc="0" normalizeH="0" baseline="0" noProof="0" dirty="0">
              <a:ln>
                <a:noFill/>
              </a:ln>
              <a:solidFill>
                <a:srgbClr val="769EF6"/>
              </a:solidFill>
              <a:effectLst/>
              <a:uLnTx/>
              <a:uFillTx/>
            </a:endParaRPr>
          </a:p>
        </p:txBody>
      </p:sp>
      <p:sp>
        <p:nvSpPr>
          <p:cNvPr id="15" name="ZoneTexte 27">
            <a:extLst>
              <a:ext uri="{FF2B5EF4-FFF2-40B4-BE49-F238E27FC236}">
                <a16:creationId xmlns="" xmlns:a16="http://schemas.microsoft.com/office/drawing/2014/main" id="{D34BC792-22E2-4446-9595-8F58CC8E6626}"/>
              </a:ext>
            </a:extLst>
          </p:cNvPr>
          <p:cNvSpPr txBox="1"/>
          <p:nvPr/>
        </p:nvSpPr>
        <p:spPr>
          <a:xfrm>
            <a:off x="7382047" y="720410"/>
            <a:ext cx="87235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769EF6"/>
                </a:solidFill>
                <a:effectLst/>
                <a:uLnTx/>
                <a:uFillTx/>
              </a:rPr>
              <a:t>4</a:t>
            </a:r>
            <a:endParaRPr kumimoji="0" lang="fr-TN" sz="3600" b="1" i="0" u="none" strike="noStrike" kern="0" cap="none" spc="0" normalizeH="0" baseline="0" noProof="0" dirty="0">
              <a:ln>
                <a:noFill/>
              </a:ln>
              <a:solidFill>
                <a:srgbClr val="769EF6"/>
              </a:solidFill>
              <a:effectLst/>
              <a:uLnTx/>
              <a:uFillTx/>
            </a:endParaRPr>
          </a:p>
        </p:txBody>
      </p:sp>
      <p:sp>
        <p:nvSpPr>
          <p:cNvPr id="16" name="ZoneTexte 28">
            <a:extLst>
              <a:ext uri="{FF2B5EF4-FFF2-40B4-BE49-F238E27FC236}">
                <a16:creationId xmlns="" xmlns:a16="http://schemas.microsoft.com/office/drawing/2014/main" id="{BB274009-3DD3-48EA-A7A8-5A0841217218}"/>
              </a:ext>
            </a:extLst>
          </p:cNvPr>
          <p:cNvSpPr txBox="1"/>
          <p:nvPr/>
        </p:nvSpPr>
        <p:spPr>
          <a:xfrm>
            <a:off x="8814450" y="727812"/>
            <a:ext cx="872359"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769EF6"/>
                </a:solidFill>
                <a:effectLst/>
                <a:uLnTx/>
                <a:uFillTx/>
              </a:rPr>
              <a:t>5</a:t>
            </a:r>
            <a:endParaRPr kumimoji="0" lang="fr-TN" sz="3600" b="1" i="0" u="none" strike="noStrike" kern="0" cap="none" spc="0" normalizeH="0" baseline="0" noProof="0" dirty="0">
              <a:ln>
                <a:noFill/>
              </a:ln>
              <a:solidFill>
                <a:srgbClr val="769EF6"/>
              </a:solidFill>
              <a:effectLst/>
              <a:uLnTx/>
              <a:uFillTx/>
            </a:endParaRPr>
          </a:p>
        </p:txBody>
      </p:sp>
    </p:spTree>
    <p:extLst>
      <p:ext uri="{BB962C8B-B14F-4D97-AF65-F5344CB8AC3E}">
        <p14:creationId xmlns="" xmlns:p14="http://schemas.microsoft.com/office/powerpoint/2010/main" val="1257324335"/>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 xmlns:a16="http://schemas.microsoft.com/office/drawing/2014/main" id="{9E649B83-5475-9252-B1B9-D51798594D23}"/>
              </a:ext>
            </a:extLst>
          </p:cNvPr>
          <p:cNvSpPr>
            <a:spLocks noGrp="1"/>
          </p:cNvSpPr>
          <p:nvPr/>
        </p:nvSpPr>
        <p:spPr>
          <a:xfrm>
            <a:off x="2331969" y="566928"/>
            <a:ext cx="7290054" cy="149961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a:lstStyle>
          <a:p>
            <a:endParaRPr lang="fr-FR"/>
          </a:p>
        </p:txBody>
      </p:sp>
      <p:sp>
        <p:nvSpPr>
          <p:cNvPr id="5" name="Espace réservé du contenu 2">
            <a:extLst>
              <a:ext uri="{FF2B5EF4-FFF2-40B4-BE49-F238E27FC236}">
                <a16:creationId xmlns="" xmlns:a16="http://schemas.microsoft.com/office/drawing/2014/main" id="{53516672-6DE1-7028-07D4-0E98BB8CA28B}"/>
              </a:ext>
            </a:extLst>
          </p:cNvPr>
          <p:cNvSpPr>
            <a:spLocks noGrp="1"/>
          </p:cNvSpPr>
          <p:nvPr/>
        </p:nvSpPr>
        <p:spPr>
          <a:xfrm>
            <a:off x="2331969" y="2267712"/>
            <a:ext cx="7290055"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endParaRPr lang="fr-FR"/>
          </a:p>
        </p:txBody>
      </p:sp>
      <p:pic>
        <p:nvPicPr>
          <p:cNvPr id="6" name="Picture 4" descr="Man Showing Three Fingers on White Background Stock Image - Image of  isolated, showing: 137977011">
            <a:extLst>
              <a:ext uri="{FF2B5EF4-FFF2-40B4-BE49-F238E27FC236}">
                <a16:creationId xmlns="" xmlns:a16="http://schemas.microsoft.com/office/drawing/2014/main" id="{8D8398BF-8C11-4077-B263-775E4396829C}"/>
              </a:ext>
            </a:extLst>
          </p:cNvPr>
          <p:cNvPicPr>
            <a:picLocks noChangeAspect="1" noChangeArrowheads="1"/>
          </p:cNvPicPr>
          <p:nvPr/>
        </p:nvPicPr>
        <p:blipFill rotWithShape="1">
          <a:blip r:embed="rId2">
            <a:extLst>
              <a:ext uri="{28A0092B-C50C-407E-A947-70E740481C1C}">
                <a14:useLocalDpi xmlns="" xmlns:a14="http://schemas.microsoft.com/office/drawing/2010/main" val="0"/>
              </a:ext>
            </a:extLst>
          </a:blip>
          <a:srcRect b="10548"/>
          <a:stretch/>
        </p:blipFill>
        <p:spPr bwMode="auto">
          <a:xfrm rot="2137719">
            <a:off x="1787030" y="3558815"/>
            <a:ext cx="841582" cy="1036597"/>
          </a:xfrm>
          <a:prstGeom prst="rect">
            <a:avLst/>
          </a:prstGeom>
          <a:noFill/>
          <a:extLst>
            <a:ext uri="{909E8E84-426E-40DD-AFC4-6F175D3DCCD1}">
              <a14:hiddenFill xmlns="" xmlns:a14="http://schemas.microsoft.com/office/drawing/2010/main">
                <a:solidFill>
                  <a:srgbClr val="FFFFFF"/>
                </a:solidFill>
              </a14:hiddenFill>
            </a:ext>
          </a:extLst>
        </p:spPr>
      </p:pic>
      <p:sp>
        <p:nvSpPr>
          <p:cNvPr id="7" name="ZoneTexte 32">
            <a:extLst>
              <a:ext uri="{FF2B5EF4-FFF2-40B4-BE49-F238E27FC236}">
                <a16:creationId xmlns="" xmlns:a16="http://schemas.microsoft.com/office/drawing/2014/main" id="{0E97C5FE-5D47-48BC-935F-F4338916759D}"/>
              </a:ext>
            </a:extLst>
          </p:cNvPr>
          <p:cNvSpPr txBox="1"/>
          <p:nvPr/>
        </p:nvSpPr>
        <p:spPr>
          <a:xfrm>
            <a:off x="5475304" y="842418"/>
            <a:ext cx="4274335" cy="64633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600" b="1" i="0" u="none" strike="noStrike" kern="0" cap="none" spc="0" normalizeH="0" baseline="0" noProof="0" dirty="0">
                <a:ln>
                  <a:noFill/>
                </a:ln>
                <a:solidFill>
                  <a:srgbClr val="644DB4"/>
                </a:solidFill>
                <a:effectLst/>
                <a:uLnTx/>
                <a:uFillTx/>
                <a:latin typeface="Calibri" panose="020F0502020204030204" pitchFamily="34" charset="0"/>
              </a:rPr>
              <a:t>VHB</a:t>
            </a:r>
            <a:endParaRPr kumimoji="0" lang="fr-TN" sz="3600" b="1" i="0" u="none" strike="noStrike" kern="0" cap="none" spc="0" normalizeH="0" baseline="0" noProof="0" dirty="0">
              <a:ln>
                <a:noFill/>
              </a:ln>
              <a:solidFill>
                <a:srgbClr val="644DB4"/>
              </a:solidFill>
              <a:effectLst/>
              <a:uLnTx/>
              <a:uFillTx/>
              <a:latin typeface="Calibri" panose="020F0502020204030204" pitchFamily="34" charset="0"/>
            </a:endParaRPr>
          </a:p>
        </p:txBody>
      </p:sp>
      <p:sp>
        <p:nvSpPr>
          <p:cNvPr id="8" name="Espace réservé du contenu 2">
            <a:extLst>
              <a:ext uri="{FF2B5EF4-FFF2-40B4-BE49-F238E27FC236}">
                <a16:creationId xmlns="" xmlns:a16="http://schemas.microsoft.com/office/drawing/2014/main" id="{F6DF3507-1157-43D9-8196-2F52B4F350F8}"/>
              </a:ext>
            </a:extLst>
          </p:cNvPr>
          <p:cNvSpPr txBox="1">
            <a:spLocks noGrp="1"/>
          </p:cNvSpPr>
          <p:nvPr/>
        </p:nvSpPr>
        <p:spPr bwMode="auto">
          <a:xfrm>
            <a:off x="2935686" y="1944066"/>
            <a:ext cx="7461121" cy="3255113"/>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1000"/>
              </a:spcBef>
              <a:spcAft>
                <a:spcPts val="600"/>
              </a:spcAft>
              <a:buClr>
                <a:srgbClr val="E6C133"/>
              </a:buClr>
              <a:buSzPct val="92000"/>
              <a:buFont typeface="Wingdings 3" charset="2"/>
              <a:buNone/>
              <a:tabLst/>
              <a:defRPr/>
            </a:pPr>
            <a:r>
              <a:rPr kumimoji="0" lang="fr-FR" sz="1600" b="0" i="0" u="none" strike="noStrike" kern="1200" cap="none" spc="0" normalizeH="0" baseline="0" noProof="0" dirty="0">
                <a:ln>
                  <a:noFill/>
                </a:ln>
                <a:solidFill>
                  <a:sysClr val="windowText" lastClr="000000">
                    <a:lumMod val="95000"/>
                    <a:lumOff val="5000"/>
                  </a:sysClr>
                </a:solidFill>
                <a:effectLst/>
                <a:uLnTx/>
                <a:uFillTx/>
                <a:latin typeface="Century Gothic"/>
                <a:ea typeface="Tahoma" pitchFamily="34" charset="0"/>
                <a:cs typeface="Tahoma" pitchFamily="34" charset="0"/>
              </a:rPr>
              <a:t>          </a:t>
            </a:r>
          </a:p>
          <a:p>
            <a:pPr marL="306000" marR="0" lvl="0" indent="-306000" algn="just" defTabSz="457200" rtl="0" eaLnBrk="1" fontAlgn="auto" latinLnBrk="0" hangingPunct="1">
              <a:lnSpc>
                <a:spcPct val="100000"/>
              </a:lnSpc>
              <a:spcBef>
                <a:spcPts val="1000"/>
              </a:spcBef>
              <a:spcAft>
                <a:spcPts val="600"/>
              </a:spcAft>
              <a:buClr>
                <a:srgbClr val="E6C133"/>
              </a:buClr>
              <a:buSzPct val="92000"/>
              <a:buFont typeface="Wingdings 3" charset="2"/>
              <a:buNone/>
              <a:tabLst/>
              <a:defRPr/>
            </a:pPr>
            <a:endParaRPr kumimoji="0" lang="fr-FR" sz="1800" b="0" i="0" u="none" strike="noStrike" kern="1200" cap="none" spc="0" normalizeH="0" baseline="0" noProof="0" dirty="0">
              <a:ln>
                <a:noFill/>
              </a:ln>
              <a:solidFill>
                <a:srgbClr val="0E5580"/>
              </a:solidFill>
              <a:effectLst/>
              <a:uLnTx/>
              <a:uFillTx/>
              <a:latin typeface="Century Gothic"/>
              <a:ea typeface="Tahoma" pitchFamily="34" charset="0"/>
              <a:cs typeface="Tahoma" pitchFamily="34" charset="0"/>
            </a:endParaRPr>
          </a:p>
        </p:txBody>
      </p:sp>
      <p:grpSp>
        <p:nvGrpSpPr>
          <p:cNvPr id="9" name="Groupe 8">
            <a:extLst>
              <a:ext uri="{FF2B5EF4-FFF2-40B4-BE49-F238E27FC236}">
                <a16:creationId xmlns="" xmlns:a16="http://schemas.microsoft.com/office/drawing/2014/main" id="{FA6E3FA4-DE4B-42D2-89A1-2539C798D9A0}"/>
              </a:ext>
            </a:extLst>
          </p:cNvPr>
          <p:cNvGrpSpPr/>
          <p:nvPr/>
        </p:nvGrpSpPr>
        <p:grpSpPr>
          <a:xfrm>
            <a:off x="3046652" y="2119842"/>
            <a:ext cx="2649742" cy="1721160"/>
            <a:chOff x="335" y="458478"/>
            <a:chExt cx="2952749" cy="2952749"/>
          </a:xfrm>
          <a:scene3d>
            <a:camera prst="orthographicFront"/>
            <a:lightRig rig="threePt" dir="t">
              <a:rot lat="0" lon="0" rev="7500000"/>
            </a:lightRig>
          </a:scene3d>
        </p:grpSpPr>
        <p:sp>
          <p:nvSpPr>
            <p:cNvPr id="18" name="Flèche vers le bas 5">
              <a:extLst>
                <a:ext uri="{FF2B5EF4-FFF2-40B4-BE49-F238E27FC236}">
                  <a16:creationId xmlns="" xmlns:a16="http://schemas.microsoft.com/office/drawing/2014/main" id="{FA57DCFC-976C-49D7-9021-B8226F8E6D91}"/>
                </a:ext>
              </a:extLst>
            </p:cNvPr>
            <p:cNvSpPr/>
            <p:nvPr/>
          </p:nvSpPr>
          <p:spPr>
            <a:xfrm rot="16200000">
              <a:off x="335" y="458478"/>
              <a:ext cx="2952749" cy="2952749"/>
            </a:xfrm>
            <a:prstGeom prst="downArrow">
              <a:avLst>
                <a:gd name="adj1" fmla="val 50000"/>
                <a:gd name="adj2" fmla="val 35000"/>
              </a:avLst>
            </a:prstGeom>
            <a:solidFill>
              <a:srgbClr val="ACD433">
                <a:lumMod val="75000"/>
              </a:srgbClr>
            </a:solidFill>
            <a:ln>
              <a:noFill/>
            </a:ln>
            <a:effectLst>
              <a:outerShdw blurRad="38100" dist="25400" dir="5400000" rotWithShape="0">
                <a:srgbClr val="000000">
                  <a:alpha val="45000"/>
                </a:srgbClr>
              </a:outerShdw>
            </a:effectLst>
            <a:sp3d prstMaterial="plastic">
              <a:bevelT w="127000" h="25400" prst="relaxedInset"/>
            </a:sp3d>
          </p:spPr>
          <p:txBody>
            <a:bodyPr/>
            <a:lstStyle/>
            <a:p>
              <a:endParaRPr lang="fr-TN"/>
            </a:p>
          </p:txBody>
        </p:sp>
        <p:sp>
          <p:nvSpPr>
            <p:cNvPr id="19" name="Flèche vers le bas 4">
              <a:extLst>
                <a:ext uri="{FF2B5EF4-FFF2-40B4-BE49-F238E27FC236}">
                  <a16:creationId xmlns="" xmlns:a16="http://schemas.microsoft.com/office/drawing/2014/main" id="{BF61B9E2-36E7-4AA6-868D-179E0D4686E1}"/>
                </a:ext>
              </a:extLst>
            </p:cNvPr>
            <p:cNvSpPr/>
            <p:nvPr/>
          </p:nvSpPr>
          <p:spPr>
            <a:xfrm rot="21600000">
              <a:off x="336" y="1196664"/>
              <a:ext cx="2436018" cy="1476375"/>
            </a:xfrm>
            <a:prstGeom prst="rect">
              <a:avLst/>
            </a:prstGeom>
            <a:noFill/>
            <a:ln>
              <a:noFill/>
            </a:ln>
            <a:effectLst/>
            <a:sp3d/>
          </p:spPr>
          <p:txBody>
            <a:bodyPr lIns="270256" tIns="270256" rIns="270256" bIns="270256" spcCol="127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689100" rtl="0" eaLnBrk="1" fontAlgn="auto" latinLnBrk="0" hangingPunct="1">
                <a:lnSpc>
                  <a:spcPct val="90000"/>
                </a:lnSpc>
                <a:spcBef>
                  <a:spcPts val="0"/>
                </a:spcBef>
                <a:spcAft>
                  <a:spcPct val="35000"/>
                </a:spcAft>
                <a:buClrTx/>
                <a:buSzTx/>
                <a:buFontTx/>
                <a:buNone/>
                <a:tabLst/>
                <a:defRPr/>
              </a:pPr>
              <a:r>
                <a:rPr kumimoji="0" lang="fr-FR" sz="3200" b="0" i="0" u="none" strike="noStrike" kern="1200" cap="none" spc="0" normalizeH="0" baseline="0" noProof="0" dirty="0">
                  <a:ln>
                    <a:noFill/>
                  </a:ln>
                  <a:solidFill>
                    <a:sysClr val="window" lastClr="FFFFFF"/>
                  </a:solidFill>
                  <a:effectLst/>
                  <a:uLnTx/>
                  <a:uFillTx/>
                  <a:latin typeface="Tahoma" pitchFamily="34" charset="0"/>
                  <a:ea typeface="Tahoma" pitchFamily="34" charset="0"/>
                  <a:cs typeface="Tahoma" pitchFamily="34" charset="0"/>
                </a:rPr>
                <a:t>Infection</a:t>
              </a:r>
            </a:p>
          </p:txBody>
        </p:sp>
      </p:grpSp>
      <p:grpSp>
        <p:nvGrpSpPr>
          <p:cNvPr id="10" name="Groupe 9">
            <a:extLst>
              <a:ext uri="{FF2B5EF4-FFF2-40B4-BE49-F238E27FC236}">
                <a16:creationId xmlns="" xmlns:a16="http://schemas.microsoft.com/office/drawing/2014/main" id="{2ABB72FA-0437-4908-BBC5-8650F0B1BB6D}"/>
              </a:ext>
            </a:extLst>
          </p:cNvPr>
          <p:cNvGrpSpPr/>
          <p:nvPr/>
        </p:nvGrpSpPr>
        <p:grpSpPr>
          <a:xfrm>
            <a:off x="6599446" y="2119841"/>
            <a:ext cx="2589386" cy="1743125"/>
            <a:chOff x="3142914" y="458478"/>
            <a:chExt cx="2952750" cy="2952749"/>
          </a:xfrm>
          <a:solidFill>
            <a:srgbClr val="00B0F0"/>
          </a:solidFill>
          <a:scene3d>
            <a:camera prst="orthographicFront"/>
            <a:lightRig rig="threePt" dir="t">
              <a:rot lat="0" lon="0" rev="7500000"/>
            </a:lightRig>
          </a:scene3d>
        </p:grpSpPr>
        <p:sp>
          <p:nvSpPr>
            <p:cNvPr id="16" name="Flèche vers le bas 8">
              <a:extLst>
                <a:ext uri="{FF2B5EF4-FFF2-40B4-BE49-F238E27FC236}">
                  <a16:creationId xmlns="" xmlns:a16="http://schemas.microsoft.com/office/drawing/2014/main" id="{CD9766CA-3963-4F6B-8FA9-12A3AAD0A0A2}"/>
                </a:ext>
              </a:extLst>
            </p:cNvPr>
            <p:cNvSpPr/>
            <p:nvPr/>
          </p:nvSpPr>
          <p:spPr>
            <a:xfrm rot="5400000">
              <a:off x="3142914" y="458478"/>
              <a:ext cx="2952749" cy="2952749"/>
            </a:xfrm>
            <a:prstGeom prst="downArrow">
              <a:avLst>
                <a:gd name="adj1" fmla="val 50000"/>
                <a:gd name="adj2" fmla="val 35000"/>
              </a:avLst>
            </a:prstGeom>
            <a:grpFill/>
            <a:ln>
              <a:noFill/>
            </a:ln>
            <a:effectLst>
              <a:outerShdw blurRad="38100" dist="25400" dir="5400000" rotWithShape="0">
                <a:srgbClr val="000000">
                  <a:alpha val="45000"/>
                </a:srgbClr>
              </a:outerShdw>
            </a:effectLst>
            <a:sp3d prstMaterial="plastic">
              <a:bevelT w="127000" h="25400" prst="relaxedInset"/>
            </a:sp3d>
          </p:spPr>
          <p:txBody>
            <a:bodyPr/>
            <a:lstStyle/>
            <a:p>
              <a:endParaRPr lang="fr-TN"/>
            </a:p>
          </p:txBody>
        </p:sp>
        <p:sp>
          <p:nvSpPr>
            <p:cNvPr id="17" name="Flèche vers le bas 4">
              <a:extLst>
                <a:ext uri="{FF2B5EF4-FFF2-40B4-BE49-F238E27FC236}">
                  <a16:creationId xmlns="" xmlns:a16="http://schemas.microsoft.com/office/drawing/2014/main" id="{3E5880C7-0781-4E6F-B8C7-0053637AC350}"/>
                </a:ext>
              </a:extLst>
            </p:cNvPr>
            <p:cNvSpPr/>
            <p:nvPr/>
          </p:nvSpPr>
          <p:spPr>
            <a:xfrm>
              <a:off x="3659646" y="1196665"/>
              <a:ext cx="2436018" cy="1476375"/>
            </a:xfrm>
            <a:prstGeom prst="rect">
              <a:avLst/>
            </a:prstGeom>
            <a:grpFill/>
            <a:ln>
              <a:noFill/>
            </a:ln>
            <a:effectLst/>
            <a:sp3d/>
          </p:spPr>
          <p:txBody>
            <a:bodyPr lIns="270256" tIns="270256" rIns="270256" bIns="270256" spcCol="127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1689100" rtl="0" eaLnBrk="1" fontAlgn="auto" latinLnBrk="0" hangingPunct="1">
                <a:lnSpc>
                  <a:spcPct val="90000"/>
                </a:lnSpc>
                <a:spcBef>
                  <a:spcPts val="0"/>
                </a:spcBef>
                <a:spcAft>
                  <a:spcPct val="35000"/>
                </a:spcAft>
                <a:buClrTx/>
                <a:buSzTx/>
                <a:buFontTx/>
                <a:buNone/>
                <a:tabLst/>
                <a:defRPr/>
              </a:pPr>
              <a:r>
                <a:rPr kumimoji="0" lang="fr-FR" sz="3200" b="0" i="0" u="none" strike="noStrike" kern="1200" cap="none" spc="0" normalizeH="0" baseline="0" noProof="0" dirty="0">
                  <a:ln>
                    <a:noFill/>
                  </a:ln>
                  <a:solidFill>
                    <a:sysClr val="window" lastClr="FFFFFF"/>
                  </a:solidFill>
                  <a:effectLst/>
                  <a:uLnTx/>
                  <a:uFillTx/>
                  <a:latin typeface="Tahoma" pitchFamily="34" charset="0"/>
                  <a:ea typeface="Tahoma" pitchFamily="34" charset="0"/>
                  <a:cs typeface="Tahoma" pitchFamily="34" charset="0"/>
                </a:rPr>
                <a:t>Hépatite</a:t>
              </a:r>
            </a:p>
          </p:txBody>
        </p:sp>
      </p:grpSp>
      <p:sp>
        <p:nvSpPr>
          <p:cNvPr id="11" name="ZoneTexte 7">
            <a:extLst>
              <a:ext uri="{FF2B5EF4-FFF2-40B4-BE49-F238E27FC236}">
                <a16:creationId xmlns="" xmlns:a16="http://schemas.microsoft.com/office/drawing/2014/main" id="{37AA7007-218C-47A9-AC36-95D0E345760C}"/>
              </a:ext>
            </a:extLst>
          </p:cNvPr>
          <p:cNvSpPr txBox="1"/>
          <p:nvPr/>
        </p:nvSpPr>
        <p:spPr>
          <a:xfrm>
            <a:off x="2743232" y="3886870"/>
            <a:ext cx="3102327" cy="584775"/>
          </a:xfrm>
          <a:prstGeom prst="rect">
            <a:avLst/>
          </a:prstGeom>
          <a:solidFill>
            <a:srgbClr val="ACD433">
              <a:lumMod val="40000"/>
              <a:lumOff val="60000"/>
            </a:srgbClr>
          </a:solid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ysClr val="windowText" lastClr="000000"/>
                </a:solidFill>
                <a:effectLst/>
                <a:uLnTx/>
                <a:uFillTx/>
                <a:latin typeface="Century Gothic"/>
                <a:ea typeface="+mn-ea"/>
              </a:rPr>
              <a:t>Présence du VHB</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600" b="1" i="0" u="none" strike="noStrike" kern="1200" cap="none" spc="0" normalizeH="0" baseline="0" noProof="0" dirty="0">
              <a:ln>
                <a:noFill/>
              </a:ln>
              <a:solidFill>
                <a:sysClr val="windowText" lastClr="000000"/>
              </a:solidFill>
              <a:effectLst/>
              <a:uLnTx/>
              <a:uFillTx/>
              <a:latin typeface="Century Gothic"/>
              <a:ea typeface="+mn-ea"/>
            </a:endParaRPr>
          </a:p>
        </p:txBody>
      </p:sp>
      <p:sp>
        <p:nvSpPr>
          <p:cNvPr id="12" name="ZoneTexte 12">
            <a:extLst>
              <a:ext uri="{FF2B5EF4-FFF2-40B4-BE49-F238E27FC236}">
                <a16:creationId xmlns="" xmlns:a16="http://schemas.microsoft.com/office/drawing/2014/main" id="{DC0BE10B-289B-4400-90A8-1AB1E55002C2}"/>
              </a:ext>
            </a:extLst>
          </p:cNvPr>
          <p:cNvSpPr txBox="1"/>
          <p:nvPr/>
        </p:nvSpPr>
        <p:spPr>
          <a:xfrm>
            <a:off x="6329453" y="3882502"/>
            <a:ext cx="4075517" cy="584775"/>
          </a:xfrm>
          <a:prstGeom prst="rect">
            <a:avLst/>
          </a:prstGeom>
          <a:solidFill>
            <a:srgbClr val="75CEEC">
              <a:lumMod val="20000"/>
              <a:lumOff val="80000"/>
            </a:srgbClr>
          </a:solid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ysClr val="windowText" lastClr="000000"/>
                </a:solidFill>
                <a:effectLst/>
                <a:uLnTx/>
                <a:uFillTx/>
                <a:latin typeface="Century Gothic"/>
                <a:ea typeface="+mn-ea"/>
              </a:rPr>
              <a:t>Lésions hépatiques induites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dirty="0">
                <a:ln>
                  <a:noFill/>
                </a:ln>
                <a:solidFill>
                  <a:sysClr val="windowText" lastClr="000000"/>
                </a:solidFill>
                <a:effectLst/>
                <a:uLnTx/>
                <a:uFillTx/>
                <a:latin typeface="Century Gothic"/>
                <a:ea typeface="+mn-ea"/>
              </a:rPr>
              <a:t>par la réaction immunitaire</a:t>
            </a:r>
          </a:p>
        </p:txBody>
      </p:sp>
      <p:sp>
        <p:nvSpPr>
          <p:cNvPr id="13" name="ZoneTexte 42">
            <a:extLst>
              <a:ext uri="{FF2B5EF4-FFF2-40B4-BE49-F238E27FC236}">
                <a16:creationId xmlns="" xmlns:a16="http://schemas.microsoft.com/office/drawing/2014/main" id="{111C373D-4FBB-4AD7-B35A-23A53B319F33}"/>
              </a:ext>
            </a:extLst>
          </p:cNvPr>
          <p:cNvSpPr txBox="1"/>
          <p:nvPr/>
        </p:nvSpPr>
        <p:spPr>
          <a:xfrm>
            <a:off x="2008635" y="4703389"/>
            <a:ext cx="4175948" cy="738664"/>
          </a:xfrm>
          <a:prstGeom prst="rect">
            <a:avLst/>
          </a:prstGeom>
          <a:solidFill>
            <a:srgbClr val="FFFFFF"/>
          </a:solidFill>
          <a:ln w="25400" cap="flat" cmpd="sng" algn="ctr">
            <a:noFill/>
            <a:prstDash val="solid"/>
          </a:ln>
          <a:effectLst/>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ALAT</a:t>
            </a:r>
            <a:r>
              <a:rPr kumimoji="0" lang="fr-FR" sz="18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 normales</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ADN: </a:t>
            </a:r>
            <a:r>
              <a:rPr kumimoji="0" lang="fr-FR"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&gt;10</a:t>
            </a:r>
            <a:r>
              <a:rPr kumimoji="0" lang="fr-FR" sz="1800" b="0" i="0" u="none" strike="noStrike" kern="0" cap="none" spc="0" normalizeH="0" baseline="30000" noProof="0" dirty="0">
                <a:ln>
                  <a:noFill/>
                </a:ln>
                <a:solidFill>
                  <a:srgbClr val="292929"/>
                </a:solidFill>
                <a:effectLst/>
                <a:uLnTx/>
                <a:uFillTx/>
                <a:latin typeface="Calibri" panose="020F0502020204030204" pitchFamily="34" charset="0"/>
                <a:ea typeface="+mn-ea"/>
                <a:cs typeface="+mn-cs"/>
              </a:rPr>
              <a:t>7  </a:t>
            </a:r>
            <a:r>
              <a:rPr kumimoji="0" lang="fr-FR"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a:t>
            </a:r>
            <a:r>
              <a:rPr kumimoji="0" lang="fr-FR" sz="1800" b="0" i="0" u="none" strike="noStrike" kern="0" cap="none" spc="0" normalizeH="0" baseline="0" noProof="0" dirty="0" err="1">
                <a:ln>
                  <a:noFill/>
                </a:ln>
                <a:solidFill>
                  <a:srgbClr val="292929"/>
                </a:solidFill>
                <a:effectLst/>
                <a:uLnTx/>
                <a:uFillTx/>
                <a:latin typeface="Calibri" panose="020F0502020204030204" pitchFamily="34" charset="0"/>
                <a:ea typeface="+mn-ea"/>
                <a:cs typeface="+mn-cs"/>
              </a:rPr>
              <a:t>AgHBe</a:t>
            </a:r>
            <a:r>
              <a:rPr kumimoji="0" lang="fr-FR"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 &lt;2000-20000 (</a:t>
            </a:r>
            <a:r>
              <a:rPr kumimoji="0" lang="fr-FR" sz="1800" b="0" i="0" u="none" strike="noStrike" kern="0" cap="none" spc="0" normalizeH="0" baseline="0" noProof="0" dirty="0" err="1">
                <a:ln>
                  <a:noFill/>
                </a:ln>
                <a:solidFill>
                  <a:srgbClr val="292929"/>
                </a:solidFill>
                <a:effectLst/>
                <a:uLnTx/>
                <a:uFillTx/>
                <a:latin typeface="Calibri" panose="020F0502020204030204" pitchFamily="34" charset="0"/>
                <a:ea typeface="+mn-ea"/>
                <a:cs typeface="+mn-cs"/>
              </a:rPr>
              <a:t>AgHBe</a:t>
            </a:r>
            <a:r>
              <a:rPr kumimoji="0" lang="fr-FR" sz="1800" b="0" i="0" u="none" strike="noStrike" kern="0" cap="none" spc="0" normalizeH="0" baseline="0" noProof="0" dirty="0">
                <a:ln>
                  <a:noFill/>
                </a:ln>
                <a:solidFill>
                  <a:srgbClr val="292929"/>
                </a:solidFill>
                <a:effectLst/>
                <a:uLnTx/>
                <a:uFillTx/>
                <a:latin typeface="Calibri" panose="020F0502020204030204" pitchFamily="34" charset="0"/>
                <a:ea typeface="+mn-ea"/>
                <a:cs typeface="+mn-cs"/>
              </a:rPr>
              <a:t>-)</a:t>
            </a:r>
            <a:endParaRPr kumimoji="0" lang="fr-TN" sz="1800" b="0" i="0" u="none" strike="noStrike" kern="0" cap="none" spc="0" normalizeH="0" baseline="30000" noProof="0" dirty="0">
              <a:ln>
                <a:noFill/>
              </a:ln>
              <a:solidFill>
                <a:srgbClr val="292929"/>
              </a:solidFill>
              <a:effectLst/>
              <a:uLnTx/>
              <a:uFillTx/>
              <a:latin typeface="Calibri" panose="020F0502020204030204" pitchFamily="34" charset="0"/>
              <a:ea typeface="+mn-ea"/>
              <a:cs typeface="+mn-cs"/>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Lésions hépatiques: </a:t>
            </a:r>
            <a:r>
              <a:rPr kumimoji="0" lang="fr-FR" sz="1800" b="0" i="0" u="none" strike="noStrike" kern="0" cap="none" spc="0" normalizeH="0" baseline="0" noProof="0" dirty="0">
                <a:ln>
                  <a:noFill/>
                </a:ln>
                <a:solidFill>
                  <a:srgbClr val="FF0000"/>
                </a:solidFill>
                <a:effectLst/>
                <a:uLnTx/>
                <a:uFillTx/>
                <a:latin typeface="Calibri" panose="020F0502020204030204" pitchFamily="34" charset="0"/>
                <a:ea typeface="+mn-ea"/>
                <a:cs typeface="+mn-cs"/>
              </a:rPr>
              <a:t>absentes/minimes</a:t>
            </a:r>
          </a:p>
        </p:txBody>
      </p:sp>
      <p:sp>
        <p:nvSpPr>
          <p:cNvPr id="14" name="ZoneTexte 43">
            <a:extLst>
              <a:ext uri="{FF2B5EF4-FFF2-40B4-BE49-F238E27FC236}">
                <a16:creationId xmlns="" xmlns:a16="http://schemas.microsoft.com/office/drawing/2014/main" id="{1C7C7F78-E207-40DD-B7B1-57A073D50B04}"/>
              </a:ext>
            </a:extLst>
          </p:cNvPr>
          <p:cNvSpPr txBox="1"/>
          <p:nvPr/>
        </p:nvSpPr>
        <p:spPr>
          <a:xfrm>
            <a:off x="6329453" y="4691870"/>
            <a:ext cx="3957751" cy="738664"/>
          </a:xfrm>
          <a:prstGeom prst="rect">
            <a:avLst/>
          </a:prstGeom>
          <a:solidFill>
            <a:srgbClr val="FFFFFF"/>
          </a:solidFill>
          <a:ln w="28575">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ysClr val="windowText" lastClr="000000"/>
                </a:solidFill>
                <a:effectLst/>
                <a:uLnTx/>
                <a:uFillTx/>
                <a:latin typeface="Calibri" panose="020F0502020204030204" pitchFamily="34" charset="0"/>
              </a:rPr>
              <a:t>ALAT:</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 élevée / fluctuantes</a:t>
            </a: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ysClr val="windowText" lastClr="000000"/>
                </a:solidFill>
                <a:effectLst/>
                <a:uLnTx/>
                <a:uFillTx/>
                <a:latin typeface="Calibri" panose="020F0502020204030204" pitchFamily="34" charset="0"/>
              </a:rPr>
              <a:t>ADN:</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 10</a:t>
            </a:r>
            <a:r>
              <a:rPr kumimoji="0" lang="fr-FR" sz="1800" b="0" i="0" u="none" strike="noStrike" kern="0" cap="none" spc="0" normalizeH="0" baseline="30000" noProof="0" dirty="0">
                <a:ln>
                  <a:noFill/>
                </a:ln>
                <a:solidFill>
                  <a:sysClr val="windowText" lastClr="000000"/>
                </a:solidFill>
                <a:effectLst/>
                <a:uLnTx/>
                <a:uFillTx/>
                <a:latin typeface="Calibri" panose="020F0502020204030204" pitchFamily="34" charset="0"/>
              </a:rPr>
              <a:t>7</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-10</a:t>
            </a:r>
            <a:r>
              <a:rPr kumimoji="0" lang="fr-FR" sz="1800" b="0" i="0" u="none" strike="noStrike" kern="0" cap="none" spc="0" normalizeH="0" baseline="30000" noProof="0" dirty="0">
                <a:ln>
                  <a:noFill/>
                </a:ln>
                <a:solidFill>
                  <a:sysClr val="windowText" lastClr="000000"/>
                </a:solidFill>
                <a:effectLst/>
                <a:uLnTx/>
                <a:uFillTx/>
                <a:latin typeface="Calibri" panose="020F0502020204030204" pitchFamily="34" charset="0"/>
              </a:rPr>
              <a:t>4 </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a:t>
            </a:r>
            <a:r>
              <a:rPr kumimoji="0" lang="fr-FR" sz="1800" b="0" i="0" u="none" strike="noStrike" kern="0" cap="none" spc="0" normalizeH="0" baseline="0" noProof="0" dirty="0" err="1">
                <a:ln>
                  <a:noFill/>
                </a:ln>
                <a:solidFill>
                  <a:sysClr val="windowText" lastClr="000000"/>
                </a:solidFill>
                <a:effectLst/>
                <a:uLnTx/>
                <a:uFillTx/>
                <a:latin typeface="Calibri" panose="020F0502020204030204" pitchFamily="34" charset="0"/>
              </a:rPr>
              <a:t>AgHBe</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 &gt;2000 (</a:t>
            </a:r>
            <a:r>
              <a:rPr kumimoji="0" lang="fr-FR" sz="1800" b="0" i="0" u="none" strike="noStrike" kern="0" cap="none" spc="0" normalizeH="0" baseline="0" noProof="0" dirty="0" err="1">
                <a:ln>
                  <a:noFill/>
                </a:ln>
                <a:solidFill>
                  <a:sysClr val="windowText" lastClr="000000"/>
                </a:solidFill>
                <a:effectLst/>
                <a:uLnTx/>
                <a:uFillTx/>
                <a:latin typeface="Calibri" panose="020F0502020204030204" pitchFamily="34" charset="0"/>
              </a:rPr>
              <a:t>AgHBe</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a:t>
            </a:r>
            <a:endParaRPr kumimoji="0" lang="fr-TN" sz="1800" b="0" i="0" u="none" strike="noStrike" kern="0" cap="none" spc="0" normalizeH="0" baseline="30000" noProof="0" dirty="0">
              <a:ln>
                <a:noFill/>
              </a:ln>
              <a:solidFill>
                <a:sysClr val="windowText" lastClr="000000"/>
              </a:solidFill>
              <a:effectLst/>
              <a:uLnTx/>
              <a:uFillTx/>
              <a:latin typeface="Calibri" panose="020F0502020204030204" pitchFamily="34" charset="0"/>
            </a:endParaRPr>
          </a:p>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fr-FR" sz="1800" b="1" i="0" u="none" strike="noStrike" kern="0" cap="none" spc="0" normalizeH="0" baseline="0" noProof="0" dirty="0">
                <a:ln>
                  <a:noFill/>
                </a:ln>
                <a:solidFill>
                  <a:sysClr val="windowText" lastClr="000000"/>
                </a:solidFill>
                <a:effectLst/>
                <a:uLnTx/>
                <a:uFillTx/>
                <a:latin typeface="Calibri" panose="020F0502020204030204" pitchFamily="34" charset="0"/>
              </a:rPr>
              <a:t>Lésions hépatiques: </a:t>
            </a: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rPr>
              <a:t>modérées à sévères</a:t>
            </a:r>
          </a:p>
        </p:txBody>
      </p:sp>
      <p:sp>
        <p:nvSpPr>
          <p:cNvPr id="15" name="ZoneTexte 44">
            <a:extLst>
              <a:ext uri="{FF2B5EF4-FFF2-40B4-BE49-F238E27FC236}">
                <a16:creationId xmlns="" xmlns:a16="http://schemas.microsoft.com/office/drawing/2014/main" id="{0208359E-AF40-4E5E-9A5D-98628EC4ECCD}"/>
              </a:ext>
            </a:extLst>
          </p:cNvPr>
          <p:cNvSpPr txBox="1"/>
          <p:nvPr/>
        </p:nvSpPr>
        <p:spPr>
          <a:xfrm>
            <a:off x="5475304" y="1800855"/>
            <a:ext cx="1708298"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2000" b="1" dirty="0" err="1">
                <a:latin typeface="Calibri" panose="020F0502020204030204" pitchFamily="34" charset="0"/>
              </a:rPr>
              <a:t>AgHBS</a:t>
            </a:r>
            <a:r>
              <a:rPr lang="fr-FR" sz="2000" b="1" dirty="0">
                <a:latin typeface="Calibri" panose="020F0502020204030204" pitchFamily="34" charset="0"/>
              </a:rPr>
              <a:t> +</a:t>
            </a:r>
            <a:endParaRPr lang="fr-TN" sz="2000" b="1" dirty="0">
              <a:latin typeface="Calibri" panose="020F0502020204030204" pitchFamily="34" charset="0"/>
            </a:endParaRPr>
          </a:p>
        </p:txBody>
      </p:sp>
    </p:spTree>
    <p:extLst>
      <p:ext uri="{BB962C8B-B14F-4D97-AF65-F5344CB8AC3E}">
        <p14:creationId xmlns="" xmlns:p14="http://schemas.microsoft.com/office/powerpoint/2010/main" val="1306929478"/>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04971" y="942268"/>
            <a:ext cx="9563792" cy="6000792"/>
          </a:xfrm>
        </p:spPr>
        <p:txBody>
          <a:bodyPr>
            <a:normAutofit/>
          </a:bodyPr>
          <a:lstStyle/>
          <a:p>
            <a:pPr marL="0" indent="0">
              <a:lnSpc>
                <a:spcPct val="100000"/>
              </a:lnSpc>
              <a:buNone/>
            </a:pPr>
            <a:r>
              <a:rPr lang="fr-FR" sz="3200" b="1" dirty="0">
                <a:latin typeface="Calibri"/>
                <a:ea typeface="Times New Roman"/>
              </a:rPr>
              <a:t>2. Afin de mieux étayer le diagnostic vous demandez :</a:t>
            </a:r>
            <a:endParaRPr lang="fr-FR" sz="3200" dirty="0">
              <a:latin typeface="Calibri"/>
              <a:ea typeface="Times New Roman"/>
            </a:endParaRPr>
          </a:p>
          <a:p>
            <a:pPr marL="342900" indent="-342900">
              <a:lnSpc>
                <a:spcPct val="100000"/>
              </a:lnSpc>
              <a:buFont typeface="+mj-lt"/>
              <a:buAutoNum type="alphaUcPeriod"/>
            </a:pPr>
            <a:r>
              <a:rPr lang="fr-FR" sz="3200" dirty="0">
                <a:latin typeface="Calibri"/>
                <a:ea typeface="Times New Roman"/>
              </a:rPr>
              <a:t>Transaminases</a:t>
            </a:r>
            <a:endParaRPr lang="fr-FR" sz="3200" dirty="0">
              <a:latin typeface="Times New Roman"/>
              <a:ea typeface="Times New Roman"/>
            </a:endParaRPr>
          </a:p>
          <a:p>
            <a:pPr marL="342900" indent="-342900">
              <a:lnSpc>
                <a:spcPct val="100000"/>
              </a:lnSpc>
              <a:buFont typeface="+mj-lt"/>
              <a:buAutoNum type="alphaUcPeriod"/>
            </a:pPr>
            <a:r>
              <a:rPr lang="fr-FR" sz="3200" dirty="0">
                <a:latin typeface="Calibri"/>
                <a:ea typeface="Times New Roman"/>
              </a:rPr>
              <a:t>PCR du VHB</a:t>
            </a:r>
            <a:endParaRPr lang="fr-FR" sz="3200" dirty="0">
              <a:latin typeface="Times New Roman"/>
              <a:ea typeface="Times New Roman"/>
            </a:endParaRPr>
          </a:p>
          <a:p>
            <a:pPr marL="342900" indent="-342900">
              <a:lnSpc>
                <a:spcPct val="100000"/>
              </a:lnSpc>
              <a:buFont typeface="+mj-lt"/>
              <a:buAutoNum type="alphaUcPeriod"/>
            </a:pPr>
            <a:r>
              <a:rPr lang="fr-FR" sz="3200" dirty="0">
                <a:latin typeface="Calibri"/>
                <a:ea typeface="Times New Roman"/>
              </a:rPr>
              <a:t>Biopsie hépatique</a:t>
            </a:r>
            <a:endParaRPr lang="fr-FR" sz="3200" dirty="0">
              <a:latin typeface="Times New Roman"/>
              <a:ea typeface="Times New Roman"/>
            </a:endParaRPr>
          </a:p>
          <a:p>
            <a:pPr marL="342900" indent="-342900">
              <a:lnSpc>
                <a:spcPct val="100000"/>
              </a:lnSpc>
              <a:buFont typeface="+mj-lt"/>
              <a:buAutoNum type="alphaUcPeriod"/>
            </a:pPr>
            <a:r>
              <a:rPr lang="fr-FR" sz="3200" dirty="0" err="1">
                <a:latin typeface="Calibri"/>
                <a:ea typeface="Times New Roman"/>
              </a:rPr>
              <a:t>Génotypage</a:t>
            </a:r>
            <a:endParaRPr lang="fr-FR" sz="3200" dirty="0">
              <a:latin typeface="Times New Roman"/>
              <a:ea typeface="Times New Roman"/>
            </a:endParaRPr>
          </a:p>
          <a:p>
            <a:pPr marL="342900" indent="-342900">
              <a:lnSpc>
                <a:spcPct val="100000"/>
              </a:lnSpc>
              <a:buFont typeface="+mj-lt"/>
              <a:buAutoNum type="alphaUcPeriod"/>
            </a:pPr>
            <a:r>
              <a:rPr lang="fr-FR" sz="3200" dirty="0" err="1">
                <a:latin typeface="Calibri"/>
                <a:ea typeface="Times New Roman"/>
              </a:rPr>
              <a:t>Fibroscan</a:t>
            </a:r>
            <a:r>
              <a:rPr lang="fr-FR" sz="2400" dirty="0">
                <a:latin typeface="Calibri"/>
                <a:ea typeface="Calibri"/>
                <a:cs typeface="Calibri"/>
              </a:rPr>
              <a:t> </a:t>
            </a:r>
            <a:endParaRPr lang="fr-FR" sz="2400" dirty="0">
              <a:latin typeface="Calibri"/>
              <a:ea typeface="Calibri"/>
              <a:cs typeface="Times New Roman"/>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244268727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657E5A8-2BC6-52CF-8980-8DEC12C36BD3}"/>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E9EA7385-290C-2BFC-3004-8BFC30348483}"/>
              </a:ext>
            </a:extLst>
          </p:cNvPr>
          <p:cNvSpPr>
            <a:spLocks noGrp="1"/>
          </p:cNvSpPr>
          <p:nvPr>
            <p:ph idx="1"/>
          </p:nvPr>
        </p:nvSpPr>
        <p:spPr>
          <a:xfrm>
            <a:off x="1004971" y="942268"/>
            <a:ext cx="9563792" cy="6000792"/>
          </a:xfrm>
        </p:spPr>
        <p:txBody>
          <a:bodyPr>
            <a:normAutofit/>
          </a:bodyPr>
          <a:lstStyle/>
          <a:p>
            <a:pPr marL="0" indent="0">
              <a:lnSpc>
                <a:spcPct val="100000"/>
              </a:lnSpc>
              <a:buNone/>
            </a:pPr>
            <a:r>
              <a:rPr lang="fr-FR" sz="3200" b="1" dirty="0">
                <a:latin typeface="Calibri"/>
                <a:ea typeface="Times New Roman"/>
              </a:rPr>
              <a:t>2. Afin de mieux étayer le diagnostic vous demandez :</a:t>
            </a:r>
            <a:endParaRPr lang="fr-FR" sz="3200" dirty="0">
              <a:latin typeface="Calibri"/>
              <a:ea typeface="Times New Roman"/>
            </a:endParaRPr>
          </a:p>
          <a:p>
            <a:pPr marL="342900" indent="-342900">
              <a:lnSpc>
                <a:spcPct val="100000"/>
              </a:lnSpc>
              <a:buFont typeface="+mj-lt"/>
              <a:buAutoNum type="alphaUcPeriod"/>
            </a:pPr>
            <a:r>
              <a:rPr lang="fr-FR" sz="3200" b="1" dirty="0">
                <a:solidFill>
                  <a:srgbClr val="FF0000"/>
                </a:solidFill>
                <a:latin typeface="Calibri"/>
                <a:ea typeface="Times New Roman"/>
              </a:rPr>
              <a:t>Transaminases</a:t>
            </a:r>
            <a:endParaRPr lang="fr-FR" sz="3200" b="1" dirty="0">
              <a:solidFill>
                <a:srgbClr val="FF0000"/>
              </a:solidFill>
              <a:latin typeface="Times New Roman"/>
              <a:ea typeface="Times New Roman"/>
            </a:endParaRPr>
          </a:p>
          <a:p>
            <a:pPr marL="342900" indent="-342900">
              <a:lnSpc>
                <a:spcPct val="100000"/>
              </a:lnSpc>
              <a:buFont typeface="+mj-lt"/>
              <a:buAutoNum type="alphaUcPeriod"/>
            </a:pPr>
            <a:r>
              <a:rPr lang="fr-FR" sz="3200" b="1" dirty="0">
                <a:solidFill>
                  <a:srgbClr val="FF0000"/>
                </a:solidFill>
                <a:latin typeface="Calibri"/>
              </a:rPr>
              <a:t>PCR du VHB</a:t>
            </a:r>
          </a:p>
          <a:p>
            <a:pPr marL="342900" indent="-342900">
              <a:lnSpc>
                <a:spcPct val="100000"/>
              </a:lnSpc>
              <a:buFont typeface="+mj-lt"/>
              <a:buAutoNum type="alphaUcPeriod"/>
            </a:pPr>
            <a:r>
              <a:rPr lang="fr-FR" sz="3200" dirty="0">
                <a:latin typeface="Calibri"/>
                <a:ea typeface="Times New Roman"/>
              </a:rPr>
              <a:t>Biopsie hépatique</a:t>
            </a:r>
            <a:endParaRPr lang="fr-FR" sz="3200" dirty="0">
              <a:latin typeface="Times New Roman"/>
              <a:ea typeface="Times New Roman"/>
            </a:endParaRPr>
          </a:p>
          <a:p>
            <a:pPr marL="342900" indent="-342900">
              <a:lnSpc>
                <a:spcPct val="100000"/>
              </a:lnSpc>
              <a:buFont typeface="+mj-lt"/>
              <a:buAutoNum type="alphaUcPeriod"/>
            </a:pPr>
            <a:r>
              <a:rPr lang="fr-FR" sz="3200" dirty="0" err="1">
                <a:latin typeface="Calibri"/>
                <a:ea typeface="Times New Roman"/>
              </a:rPr>
              <a:t>Génotypage</a:t>
            </a:r>
            <a:endParaRPr lang="fr-FR" sz="3200" dirty="0">
              <a:latin typeface="Times New Roman"/>
              <a:ea typeface="Times New Roman"/>
            </a:endParaRPr>
          </a:p>
          <a:p>
            <a:pPr marL="342900" indent="-342900">
              <a:lnSpc>
                <a:spcPct val="100000"/>
              </a:lnSpc>
              <a:buFont typeface="+mj-lt"/>
              <a:buAutoNum type="alphaUcPeriod"/>
            </a:pPr>
            <a:r>
              <a:rPr lang="fr-FR" sz="3200" b="1" dirty="0">
                <a:solidFill>
                  <a:srgbClr val="FF0000"/>
                </a:solidFill>
                <a:latin typeface="Calibri"/>
              </a:rPr>
              <a:t>Fibroscan </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299566675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93844" y="857208"/>
            <a:ext cx="8143932" cy="6000792"/>
          </a:xfrm>
        </p:spPr>
        <p:txBody>
          <a:bodyPr>
            <a:normAutofit/>
          </a:bodyPr>
          <a:lstStyle/>
          <a:p>
            <a:pPr lvl="3">
              <a:lnSpc>
                <a:spcPct val="150000"/>
              </a:lnSpc>
              <a:buNone/>
            </a:pPr>
            <a:r>
              <a:rPr lang="fr-FR" sz="2800" b="1" dirty="0">
                <a:solidFill>
                  <a:srgbClr val="000000"/>
                </a:solidFill>
                <a:latin typeface="Calibri"/>
                <a:ea typeface="Calibri"/>
              </a:rPr>
              <a:t>3. Dans le cadre de l’enquête familiale, vous allez proposer pour la femme de ce</a:t>
            </a:r>
            <a:br>
              <a:rPr lang="fr-FR" sz="2800" b="1" dirty="0">
                <a:solidFill>
                  <a:srgbClr val="000000"/>
                </a:solidFill>
                <a:latin typeface="Calibri"/>
                <a:ea typeface="Calibri"/>
              </a:rPr>
            </a:br>
            <a:r>
              <a:rPr lang="fr-FR" sz="2800" b="1" dirty="0">
                <a:solidFill>
                  <a:srgbClr val="000000"/>
                </a:solidFill>
                <a:latin typeface="Calibri"/>
                <a:ea typeface="Calibri"/>
              </a:rPr>
              <a:t>patient le dosage de:</a:t>
            </a:r>
            <a:br>
              <a:rPr lang="fr-FR" sz="2800" b="1" dirty="0">
                <a:solidFill>
                  <a:srgbClr val="000000"/>
                </a:solidFill>
                <a:latin typeface="Calibri"/>
                <a:ea typeface="Calibri"/>
              </a:rPr>
            </a:br>
            <a:r>
              <a:rPr lang="fr-FR" sz="2800" dirty="0">
                <a:latin typeface="Calibri"/>
                <a:ea typeface="Calibri"/>
              </a:rPr>
              <a:t>A- Antigène </a:t>
            </a:r>
            <a:r>
              <a:rPr lang="fr-FR" sz="2800" dirty="0" err="1">
                <a:latin typeface="Calibri"/>
                <a:ea typeface="Calibri"/>
              </a:rPr>
              <a:t>HBs</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B- Anticorps anti-</a:t>
            </a:r>
            <a:r>
              <a:rPr lang="fr-FR" sz="2800" dirty="0" err="1">
                <a:solidFill>
                  <a:srgbClr val="000000"/>
                </a:solidFill>
                <a:latin typeface="Calibri"/>
                <a:ea typeface="Calibri"/>
              </a:rPr>
              <a:t>HBe</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C- Antigène </a:t>
            </a:r>
            <a:r>
              <a:rPr lang="fr-FR" sz="2800" dirty="0" err="1">
                <a:solidFill>
                  <a:srgbClr val="000000"/>
                </a:solidFill>
                <a:latin typeface="Calibri"/>
                <a:ea typeface="Calibri"/>
              </a:rPr>
              <a:t>HBe</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D- Anticorps anti-</a:t>
            </a:r>
            <a:r>
              <a:rPr lang="fr-FR" sz="2800" dirty="0" err="1">
                <a:solidFill>
                  <a:srgbClr val="000000"/>
                </a:solidFill>
                <a:latin typeface="Calibri"/>
                <a:ea typeface="Calibri"/>
              </a:rPr>
              <a:t>HBc</a:t>
            </a:r>
            <a:r>
              <a:rPr lang="fr-FR" sz="2800" dirty="0">
                <a:solidFill>
                  <a:srgbClr val="000000"/>
                </a:solidFill>
                <a:latin typeface="Calibri"/>
                <a:ea typeface="Calibri"/>
              </a:rPr>
              <a:t> </a:t>
            </a:r>
            <a:r>
              <a:rPr lang="fr-FR" sz="2800" dirty="0" err="1">
                <a:solidFill>
                  <a:srgbClr val="000000"/>
                </a:solidFill>
                <a:latin typeface="Calibri"/>
                <a:ea typeface="Calibri"/>
              </a:rPr>
              <a:t>IgG</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E- Anticorps anti-</a:t>
            </a:r>
            <a:r>
              <a:rPr lang="fr-FR" sz="2800" dirty="0" err="1">
                <a:solidFill>
                  <a:srgbClr val="000000"/>
                </a:solidFill>
                <a:latin typeface="Calibri"/>
                <a:ea typeface="Calibri"/>
              </a:rPr>
              <a:t>HBc</a:t>
            </a:r>
            <a:r>
              <a:rPr lang="fr-FR" sz="2800" dirty="0">
                <a:solidFill>
                  <a:srgbClr val="000000"/>
                </a:solidFill>
                <a:latin typeface="Calibri"/>
                <a:ea typeface="Calibri"/>
              </a:rPr>
              <a:t> </a:t>
            </a:r>
            <a:r>
              <a:rPr lang="fr-FR" sz="2800" dirty="0" err="1">
                <a:solidFill>
                  <a:srgbClr val="000000"/>
                </a:solidFill>
                <a:latin typeface="Calibri"/>
                <a:ea typeface="Calibri"/>
              </a:rPr>
              <a:t>IgM</a:t>
            </a:r>
            <a:endParaRPr lang="fr-FR" sz="2800" dirty="0">
              <a:latin typeface="Times New Roman"/>
              <a:ea typeface="Times New Roman"/>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43226414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9440" y="761515"/>
            <a:ext cx="8143932" cy="6000792"/>
          </a:xfrm>
        </p:spPr>
        <p:txBody>
          <a:bodyPr>
            <a:normAutofit/>
          </a:bodyPr>
          <a:lstStyle/>
          <a:p>
            <a:pPr lvl="3">
              <a:lnSpc>
                <a:spcPct val="150000"/>
              </a:lnSpc>
              <a:buNone/>
            </a:pPr>
            <a:r>
              <a:rPr lang="fr-FR" sz="2800" b="1" dirty="0">
                <a:solidFill>
                  <a:srgbClr val="000000"/>
                </a:solidFill>
                <a:latin typeface="Calibri"/>
                <a:ea typeface="Calibri"/>
              </a:rPr>
              <a:t>3. Dans le cadre de l’enquête familiale, vous allez proposer pour la femme de ce</a:t>
            </a:r>
            <a:br>
              <a:rPr lang="fr-FR" sz="2800" b="1" dirty="0">
                <a:solidFill>
                  <a:srgbClr val="000000"/>
                </a:solidFill>
                <a:latin typeface="Calibri"/>
                <a:ea typeface="Calibri"/>
              </a:rPr>
            </a:br>
            <a:r>
              <a:rPr lang="fr-FR" sz="2800" b="1" dirty="0">
                <a:solidFill>
                  <a:srgbClr val="000000"/>
                </a:solidFill>
                <a:latin typeface="Calibri"/>
                <a:ea typeface="Calibri"/>
              </a:rPr>
              <a:t>patient le dosage de:</a:t>
            </a:r>
            <a:br>
              <a:rPr lang="fr-FR" sz="2800" b="1" dirty="0">
                <a:solidFill>
                  <a:srgbClr val="000000"/>
                </a:solidFill>
                <a:latin typeface="Calibri"/>
                <a:ea typeface="Calibri"/>
              </a:rPr>
            </a:br>
            <a:r>
              <a:rPr lang="fr-FR" sz="2800" dirty="0">
                <a:solidFill>
                  <a:srgbClr val="000000"/>
                </a:solidFill>
                <a:latin typeface="Calibri"/>
                <a:ea typeface="Calibri"/>
              </a:rPr>
              <a:t>A- </a:t>
            </a:r>
            <a:r>
              <a:rPr lang="fr-FR" sz="2800" b="1" dirty="0">
                <a:solidFill>
                  <a:srgbClr val="FF0000"/>
                </a:solidFill>
                <a:latin typeface="Calibri"/>
                <a:ea typeface="Calibri"/>
              </a:rPr>
              <a:t>Antigène </a:t>
            </a:r>
            <a:r>
              <a:rPr lang="fr-FR" sz="2800" b="1" dirty="0" err="1">
                <a:solidFill>
                  <a:srgbClr val="FF0000"/>
                </a:solidFill>
                <a:latin typeface="Calibri"/>
                <a:ea typeface="Calibri"/>
              </a:rPr>
              <a:t>HBs</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B- Anticorps anti-</a:t>
            </a:r>
            <a:r>
              <a:rPr lang="fr-FR" sz="2800" dirty="0" err="1">
                <a:solidFill>
                  <a:srgbClr val="000000"/>
                </a:solidFill>
                <a:latin typeface="Calibri"/>
                <a:ea typeface="Calibri"/>
              </a:rPr>
              <a:t>HBe</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C- Antigène </a:t>
            </a:r>
            <a:r>
              <a:rPr lang="fr-FR" sz="2800" dirty="0" err="1">
                <a:solidFill>
                  <a:srgbClr val="000000"/>
                </a:solidFill>
                <a:latin typeface="Calibri"/>
                <a:ea typeface="Calibri"/>
              </a:rPr>
              <a:t>HBe</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D- Anticorps anti-</a:t>
            </a:r>
            <a:r>
              <a:rPr lang="fr-FR" sz="2800" dirty="0" err="1">
                <a:solidFill>
                  <a:srgbClr val="000000"/>
                </a:solidFill>
                <a:latin typeface="Calibri"/>
                <a:ea typeface="Calibri"/>
              </a:rPr>
              <a:t>HBc</a:t>
            </a:r>
            <a:r>
              <a:rPr lang="fr-FR" sz="2800" dirty="0">
                <a:solidFill>
                  <a:srgbClr val="000000"/>
                </a:solidFill>
                <a:latin typeface="Calibri"/>
                <a:ea typeface="Calibri"/>
              </a:rPr>
              <a:t> </a:t>
            </a:r>
            <a:r>
              <a:rPr lang="fr-FR" sz="2800" dirty="0" err="1">
                <a:solidFill>
                  <a:srgbClr val="000000"/>
                </a:solidFill>
                <a:latin typeface="Calibri"/>
                <a:ea typeface="Calibri"/>
              </a:rPr>
              <a:t>IgG</a:t>
            </a:r>
            <a:r>
              <a:rPr lang="fr-FR" sz="2800" dirty="0">
                <a:solidFill>
                  <a:srgbClr val="000000"/>
                </a:solidFill>
                <a:latin typeface="Calibri"/>
                <a:ea typeface="Calibri"/>
              </a:rPr>
              <a:t/>
            </a:r>
            <a:br>
              <a:rPr lang="fr-FR" sz="2800" dirty="0">
                <a:solidFill>
                  <a:srgbClr val="000000"/>
                </a:solidFill>
                <a:latin typeface="Calibri"/>
                <a:ea typeface="Calibri"/>
              </a:rPr>
            </a:br>
            <a:r>
              <a:rPr lang="fr-FR" sz="2800" dirty="0">
                <a:solidFill>
                  <a:srgbClr val="000000"/>
                </a:solidFill>
                <a:latin typeface="Calibri"/>
                <a:ea typeface="Calibri"/>
              </a:rPr>
              <a:t>E- Anticorps anti-</a:t>
            </a:r>
            <a:r>
              <a:rPr lang="fr-FR" sz="2800" dirty="0" err="1">
                <a:solidFill>
                  <a:srgbClr val="000000"/>
                </a:solidFill>
                <a:latin typeface="Calibri"/>
                <a:ea typeface="Calibri"/>
              </a:rPr>
              <a:t>HBc</a:t>
            </a:r>
            <a:r>
              <a:rPr lang="fr-FR" sz="2800" dirty="0">
                <a:solidFill>
                  <a:srgbClr val="000000"/>
                </a:solidFill>
                <a:latin typeface="Calibri"/>
                <a:ea typeface="Calibri"/>
              </a:rPr>
              <a:t> </a:t>
            </a:r>
            <a:r>
              <a:rPr lang="fr-FR" sz="2800" dirty="0" err="1">
                <a:solidFill>
                  <a:srgbClr val="000000"/>
                </a:solidFill>
                <a:latin typeface="Calibri"/>
                <a:ea typeface="Calibri"/>
              </a:rPr>
              <a:t>IgM</a:t>
            </a:r>
            <a:endParaRPr lang="fr-FR" sz="2800" dirty="0">
              <a:latin typeface="Times New Roman"/>
              <a:ea typeface="Times New Roman"/>
            </a:endParaRP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177560895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49E1A2C-A3D5-178F-C878-A3A4725119B4}"/>
            </a:ext>
          </a:extLst>
        </p:cNvPr>
        <p:cNvGrpSpPr/>
        <p:nvPr/>
      </p:nvGrpSpPr>
      <p:grpSpPr>
        <a:xfrm>
          <a:off x="0" y="0"/>
          <a:ext cx="0" cy="0"/>
          <a:chOff x="0" y="0"/>
          <a:chExt cx="0" cy="0"/>
        </a:xfrm>
      </p:grpSpPr>
      <p:sp>
        <p:nvSpPr>
          <p:cNvPr id="2" name="Titre 1">
            <a:extLst>
              <a:ext uri="{FF2B5EF4-FFF2-40B4-BE49-F238E27FC236}">
                <a16:creationId xmlns="" xmlns:a16="http://schemas.microsoft.com/office/drawing/2014/main" id="{016499B1-D9C7-2F2B-3453-F0133FD0A74F}"/>
              </a:ext>
            </a:extLst>
          </p:cNvPr>
          <p:cNvSpPr>
            <a:spLocks noGrp="1"/>
          </p:cNvSpPr>
          <p:nvPr>
            <p:ph type="title"/>
          </p:nvPr>
        </p:nvSpPr>
        <p:spPr>
          <a:xfrm>
            <a:off x="668079" y="253372"/>
            <a:ext cx="10515600" cy="1325563"/>
          </a:xfrm>
        </p:spPr>
        <p:txBody>
          <a:bodyPr/>
          <a:lstStyle/>
          <a:p>
            <a:r>
              <a:rPr lang="fr-FR" b="1" dirty="0">
                <a:solidFill>
                  <a:schemeClr val="accent2"/>
                </a:solidFill>
              </a:rPr>
              <a:t>CAS CLINIQUE N5</a:t>
            </a:r>
          </a:p>
        </p:txBody>
      </p:sp>
      <p:sp>
        <p:nvSpPr>
          <p:cNvPr id="3" name="Espace réservé du contenu 2">
            <a:extLst>
              <a:ext uri="{FF2B5EF4-FFF2-40B4-BE49-F238E27FC236}">
                <a16:creationId xmlns="" xmlns:a16="http://schemas.microsoft.com/office/drawing/2014/main" id="{842A2F21-6E4C-E5D6-6099-4B9EDFDA26A8}"/>
              </a:ext>
            </a:extLst>
          </p:cNvPr>
          <p:cNvSpPr>
            <a:spLocks noGrp="1"/>
          </p:cNvSpPr>
          <p:nvPr>
            <p:ph idx="1"/>
          </p:nvPr>
        </p:nvSpPr>
        <p:spPr>
          <a:xfrm>
            <a:off x="838200" y="1929809"/>
            <a:ext cx="10515600" cy="4351338"/>
          </a:xfrm>
        </p:spPr>
        <p:txBody>
          <a:bodyPr/>
          <a:lstStyle/>
          <a:p>
            <a:pPr>
              <a:lnSpc>
                <a:spcPct val="150000"/>
              </a:lnSpc>
            </a:pPr>
            <a:r>
              <a:rPr lang="fr-FR" dirty="0"/>
              <a:t>Une patiente âgée de 29 ans, consulte pour des douleurs abdominales avec une asthénie et un ictère apparu il y a 3 jours. Son bilan biologique montre une cytolyse à 20 fois la normale, un taux de prothrombine  à 90%. Les sérologies virales montrent des anticorps anti-VHA IgM positifs. Vous retenez le diagnostic d’une hépatite aigue virale A.</a:t>
            </a:r>
          </a:p>
          <a:p>
            <a:pPr>
              <a:lnSpc>
                <a:spcPct val="150000"/>
              </a:lnSpc>
            </a:pPr>
            <a:endParaRPr lang="fr-FR" sz="3200" dirty="0"/>
          </a:p>
        </p:txBody>
      </p:sp>
    </p:spTree>
    <p:extLst>
      <p:ext uri="{BB962C8B-B14F-4D97-AF65-F5344CB8AC3E}">
        <p14:creationId xmlns="" xmlns:p14="http://schemas.microsoft.com/office/powerpoint/2010/main" val="1865861081"/>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74A9419-F97F-1787-514A-F2B3F41FDA18}"/>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80A09952-C6CA-AECC-8253-D942764E7EC4}"/>
              </a:ext>
            </a:extLst>
          </p:cNvPr>
          <p:cNvSpPr>
            <a:spLocks noGrp="1"/>
          </p:cNvSpPr>
          <p:nvPr>
            <p:ph idx="1"/>
          </p:nvPr>
        </p:nvSpPr>
        <p:spPr>
          <a:xfrm>
            <a:off x="-93844" y="857208"/>
            <a:ext cx="8143932" cy="6000792"/>
          </a:xfrm>
        </p:spPr>
        <p:txBody>
          <a:bodyPr>
            <a:normAutofit/>
          </a:bodyPr>
          <a:lstStyle/>
          <a:p>
            <a:pPr lvl="3">
              <a:lnSpc>
                <a:spcPct val="150000"/>
              </a:lnSpc>
              <a:buNone/>
            </a:pPr>
            <a:r>
              <a:rPr lang="fr-FR" sz="2800" b="1" dirty="0">
                <a:solidFill>
                  <a:srgbClr val="000000"/>
                </a:solidFill>
                <a:latin typeface="Calibri"/>
                <a:ea typeface="Calibri"/>
              </a:rPr>
              <a:t>1. Quelle est la durée habituelle de l'ictère dans ce tableau?</a:t>
            </a:r>
          </a:p>
          <a:p>
            <a:pPr lvl="3">
              <a:lnSpc>
                <a:spcPct val="150000"/>
              </a:lnSpc>
              <a:buNone/>
            </a:pPr>
            <a:r>
              <a:rPr lang="fr-FR" sz="2800" dirty="0">
                <a:solidFill>
                  <a:srgbClr val="000000"/>
                </a:solidFill>
                <a:latin typeface="Calibri"/>
                <a:ea typeface="Calibri"/>
              </a:rPr>
              <a:t>A. 1 à 2 semaines.</a:t>
            </a:r>
          </a:p>
          <a:p>
            <a:pPr lvl="3">
              <a:lnSpc>
                <a:spcPct val="150000"/>
              </a:lnSpc>
              <a:buNone/>
            </a:pPr>
            <a:r>
              <a:rPr lang="fr-FR" sz="2800" dirty="0">
                <a:solidFill>
                  <a:srgbClr val="000000"/>
                </a:solidFill>
                <a:latin typeface="Calibri"/>
                <a:ea typeface="Calibri"/>
              </a:rPr>
              <a:t>B. 2 à 6 semaines.</a:t>
            </a:r>
          </a:p>
          <a:p>
            <a:pPr lvl="3">
              <a:lnSpc>
                <a:spcPct val="150000"/>
              </a:lnSpc>
              <a:buNone/>
            </a:pPr>
            <a:r>
              <a:rPr lang="fr-FR" sz="2800" dirty="0">
                <a:solidFill>
                  <a:srgbClr val="000000"/>
                </a:solidFill>
                <a:latin typeface="Calibri"/>
                <a:ea typeface="Calibri"/>
              </a:rPr>
              <a:t>C. 6 à 8 semaines</a:t>
            </a:r>
          </a:p>
          <a:p>
            <a:pPr lvl="3">
              <a:lnSpc>
                <a:spcPct val="150000"/>
              </a:lnSpc>
              <a:buNone/>
            </a:pPr>
            <a:r>
              <a:rPr lang="fr-FR" sz="2800" dirty="0">
                <a:solidFill>
                  <a:srgbClr val="000000"/>
                </a:solidFill>
                <a:latin typeface="Calibri"/>
                <a:ea typeface="Calibri"/>
              </a:rPr>
              <a:t>D. 8 à 12 semaines.</a:t>
            </a:r>
          </a:p>
          <a:p>
            <a:pPr lvl="3">
              <a:lnSpc>
                <a:spcPct val="150000"/>
              </a:lnSpc>
              <a:buNone/>
            </a:pPr>
            <a:r>
              <a:rPr lang="fr-FR" sz="2800" dirty="0">
                <a:solidFill>
                  <a:srgbClr val="000000"/>
                </a:solidFill>
                <a:latin typeface="Calibri"/>
                <a:ea typeface="Calibri"/>
              </a:rPr>
              <a:t>E. Plus de 3 mois.</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3518969058"/>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C4EFE44-BAB1-E397-C5BB-D0829830C49E}"/>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230A1381-DAC3-4C9F-3561-C337C7866537}"/>
              </a:ext>
            </a:extLst>
          </p:cNvPr>
          <p:cNvSpPr>
            <a:spLocks noGrp="1"/>
          </p:cNvSpPr>
          <p:nvPr>
            <p:ph idx="1"/>
          </p:nvPr>
        </p:nvSpPr>
        <p:spPr>
          <a:xfrm>
            <a:off x="-93844" y="857208"/>
            <a:ext cx="8143932" cy="6000792"/>
          </a:xfrm>
        </p:spPr>
        <p:txBody>
          <a:bodyPr>
            <a:normAutofit/>
          </a:bodyPr>
          <a:lstStyle/>
          <a:p>
            <a:pPr lvl="3">
              <a:lnSpc>
                <a:spcPct val="150000"/>
              </a:lnSpc>
              <a:buNone/>
            </a:pPr>
            <a:r>
              <a:rPr lang="fr-FR" sz="2800" b="1" dirty="0">
                <a:solidFill>
                  <a:srgbClr val="000000"/>
                </a:solidFill>
                <a:latin typeface="Calibri"/>
                <a:ea typeface="Calibri"/>
              </a:rPr>
              <a:t>1. Quelle est la durée habituelle de l'ictère dans ce tableau?</a:t>
            </a:r>
          </a:p>
          <a:p>
            <a:pPr lvl="3">
              <a:lnSpc>
                <a:spcPct val="150000"/>
              </a:lnSpc>
              <a:buNone/>
            </a:pPr>
            <a:r>
              <a:rPr lang="fr-FR" sz="2800" dirty="0">
                <a:solidFill>
                  <a:srgbClr val="000000"/>
                </a:solidFill>
                <a:latin typeface="Calibri"/>
                <a:ea typeface="Calibri"/>
              </a:rPr>
              <a:t>A. 1 à 2 semaines.</a:t>
            </a:r>
          </a:p>
          <a:p>
            <a:pPr lvl="3">
              <a:lnSpc>
                <a:spcPct val="150000"/>
              </a:lnSpc>
              <a:buNone/>
            </a:pPr>
            <a:r>
              <a:rPr lang="fr-FR" sz="2800" b="1" dirty="0">
                <a:solidFill>
                  <a:srgbClr val="FF0000"/>
                </a:solidFill>
                <a:latin typeface="Calibri"/>
                <a:ea typeface="Calibri"/>
              </a:rPr>
              <a:t>B. 2 à 6 semaines.</a:t>
            </a:r>
          </a:p>
          <a:p>
            <a:pPr lvl="3">
              <a:lnSpc>
                <a:spcPct val="150000"/>
              </a:lnSpc>
              <a:buNone/>
            </a:pPr>
            <a:r>
              <a:rPr lang="fr-FR" sz="2800" dirty="0">
                <a:solidFill>
                  <a:srgbClr val="000000"/>
                </a:solidFill>
                <a:latin typeface="Calibri"/>
                <a:ea typeface="Calibri"/>
              </a:rPr>
              <a:t>C. 6 à 8 semaines</a:t>
            </a:r>
          </a:p>
          <a:p>
            <a:pPr lvl="3">
              <a:lnSpc>
                <a:spcPct val="150000"/>
              </a:lnSpc>
              <a:buNone/>
            </a:pPr>
            <a:r>
              <a:rPr lang="fr-FR" sz="2800" dirty="0">
                <a:solidFill>
                  <a:srgbClr val="000000"/>
                </a:solidFill>
                <a:latin typeface="Calibri"/>
                <a:ea typeface="Calibri"/>
              </a:rPr>
              <a:t>D. 8 à 12 semaines.</a:t>
            </a:r>
          </a:p>
          <a:p>
            <a:pPr lvl="3">
              <a:lnSpc>
                <a:spcPct val="150000"/>
              </a:lnSpc>
              <a:buNone/>
            </a:pPr>
            <a:r>
              <a:rPr lang="fr-FR" sz="2800" dirty="0">
                <a:solidFill>
                  <a:srgbClr val="000000"/>
                </a:solidFill>
                <a:latin typeface="Calibri"/>
                <a:ea typeface="Calibri"/>
              </a:rPr>
              <a:t>E. Plus de 3 mois.</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161208584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671E45A-BC09-EB23-B96F-E4537B7297C4}"/>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826B0F65-278C-5652-E161-D53433C92F77}"/>
              </a:ext>
            </a:extLst>
          </p:cNvPr>
          <p:cNvSpPr>
            <a:spLocks noGrp="1"/>
          </p:cNvSpPr>
          <p:nvPr>
            <p:ph idx="1"/>
          </p:nvPr>
        </p:nvSpPr>
        <p:spPr>
          <a:xfrm>
            <a:off x="-93844" y="857208"/>
            <a:ext cx="8143932" cy="6000792"/>
          </a:xfrm>
        </p:spPr>
        <p:txBody>
          <a:bodyPr>
            <a:normAutofit/>
          </a:bodyPr>
          <a:lstStyle/>
          <a:p>
            <a:pPr lvl="3">
              <a:lnSpc>
                <a:spcPct val="150000"/>
              </a:lnSpc>
              <a:buNone/>
            </a:pPr>
            <a:r>
              <a:rPr lang="fr-FR" sz="2800" b="1" dirty="0">
                <a:solidFill>
                  <a:srgbClr val="000000"/>
                </a:solidFill>
                <a:latin typeface="Calibri"/>
                <a:ea typeface="Calibri"/>
              </a:rPr>
              <a:t>2. En cas d’évolution favorable, la cytolyse disparaît au bout de :</a:t>
            </a:r>
          </a:p>
          <a:p>
            <a:pPr lvl="3">
              <a:lnSpc>
                <a:spcPct val="150000"/>
              </a:lnSpc>
              <a:buNone/>
            </a:pPr>
            <a:r>
              <a:rPr lang="fr-FR" sz="2800" dirty="0">
                <a:solidFill>
                  <a:srgbClr val="000000"/>
                </a:solidFill>
                <a:latin typeface="Calibri"/>
                <a:ea typeface="Calibri"/>
              </a:rPr>
              <a:t>A.	Quelques jours</a:t>
            </a:r>
          </a:p>
          <a:p>
            <a:pPr lvl="3">
              <a:lnSpc>
                <a:spcPct val="150000"/>
              </a:lnSpc>
              <a:buNone/>
            </a:pPr>
            <a:r>
              <a:rPr lang="fr-FR" sz="2800" dirty="0">
                <a:solidFill>
                  <a:srgbClr val="000000"/>
                </a:solidFill>
                <a:latin typeface="Calibri"/>
                <a:ea typeface="Calibri"/>
              </a:rPr>
              <a:t>B.	1 à 2 semaines</a:t>
            </a:r>
          </a:p>
          <a:p>
            <a:pPr lvl="3">
              <a:lnSpc>
                <a:spcPct val="150000"/>
              </a:lnSpc>
              <a:buNone/>
            </a:pPr>
            <a:r>
              <a:rPr lang="fr-FR" sz="2800" dirty="0">
                <a:solidFill>
                  <a:srgbClr val="000000"/>
                </a:solidFill>
                <a:latin typeface="Calibri"/>
                <a:ea typeface="Calibri"/>
              </a:rPr>
              <a:t>C.	2 à 4 semaines</a:t>
            </a:r>
          </a:p>
          <a:p>
            <a:pPr lvl="3">
              <a:lnSpc>
                <a:spcPct val="150000"/>
              </a:lnSpc>
              <a:buNone/>
            </a:pPr>
            <a:r>
              <a:rPr lang="fr-FR" sz="2800" dirty="0">
                <a:solidFill>
                  <a:srgbClr val="000000"/>
                </a:solidFill>
                <a:latin typeface="Calibri"/>
                <a:ea typeface="Calibri"/>
              </a:rPr>
              <a:t>D.	1 à 2 mois</a:t>
            </a:r>
          </a:p>
          <a:p>
            <a:pPr lvl="3">
              <a:lnSpc>
                <a:spcPct val="150000"/>
              </a:lnSpc>
              <a:buNone/>
            </a:pPr>
            <a:r>
              <a:rPr lang="fr-FR" sz="2800" b="1" dirty="0">
                <a:solidFill>
                  <a:srgbClr val="FF0000"/>
                </a:solidFill>
                <a:latin typeface="Calibri"/>
                <a:ea typeface="Calibri"/>
              </a:rPr>
              <a:t>E.	2 à 4 mois</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46990484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7CAE5F6-0A08-98D1-5D6D-4F33223F94E2}"/>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4B54EE4F-076B-5C61-FD76-FB0A50D1C4FD}"/>
              </a:ext>
            </a:extLst>
          </p:cNvPr>
          <p:cNvSpPr>
            <a:spLocks noGrp="1"/>
          </p:cNvSpPr>
          <p:nvPr>
            <p:ph idx="1"/>
          </p:nvPr>
        </p:nvSpPr>
        <p:spPr>
          <a:xfrm>
            <a:off x="-93845" y="857208"/>
            <a:ext cx="11148531" cy="6000792"/>
          </a:xfrm>
        </p:spPr>
        <p:txBody>
          <a:bodyPr>
            <a:normAutofit fontScale="92500"/>
          </a:bodyPr>
          <a:lstStyle/>
          <a:p>
            <a:pPr lvl="3">
              <a:lnSpc>
                <a:spcPct val="150000"/>
              </a:lnSpc>
              <a:buNone/>
            </a:pPr>
            <a:r>
              <a:rPr lang="fr-FR" sz="2800" b="1" dirty="0">
                <a:solidFill>
                  <a:srgbClr val="000000"/>
                </a:solidFill>
                <a:latin typeface="Calibri"/>
                <a:ea typeface="Calibri"/>
              </a:rPr>
              <a:t>3.	Concernant la vaccination de l’entourage immédiat de cette patiente :</a:t>
            </a:r>
          </a:p>
          <a:p>
            <a:pPr lvl="3">
              <a:lnSpc>
                <a:spcPct val="150000"/>
              </a:lnSpc>
              <a:buNone/>
            </a:pPr>
            <a:r>
              <a:rPr lang="fr-FR" sz="2800" dirty="0">
                <a:solidFill>
                  <a:srgbClr val="000000"/>
                </a:solidFill>
                <a:latin typeface="Calibri"/>
                <a:ea typeface="Calibri"/>
              </a:rPr>
              <a:t>A.	Elle n’est pas obligatoire</a:t>
            </a:r>
          </a:p>
          <a:p>
            <a:pPr lvl="3">
              <a:lnSpc>
                <a:spcPct val="150000"/>
              </a:lnSpc>
              <a:buNone/>
            </a:pPr>
            <a:r>
              <a:rPr lang="fr-FR" sz="2800" dirty="0">
                <a:solidFill>
                  <a:srgbClr val="000000"/>
                </a:solidFill>
                <a:latin typeface="Calibri"/>
                <a:ea typeface="Calibri"/>
              </a:rPr>
              <a:t>B.	Elle est systématique avec un schéma de 2 injections séparées de 6 à 12 mois</a:t>
            </a:r>
          </a:p>
          <a:p>
            <a:pPr lvl="3">
              <a:lnSpc>
                <a:spcPct val="150000"/>
              </a:lnSpc>
              <a:buNone/>
            </a:pPr>
            <a:r>
              <a:rPr lang="fr-FR" sz="2800" dirty="0">
                <a:solidFill>
                  <a:srgbClr val="000000"/>
                </a:solidFill>
                <a:latin typeface="Calibri"/>
                <a:ea typeface="Calibri"/>
              </a:rPr>
              <a:t>C.	Elle n’est indiquée que chez les sujets symptomatiques</a:t>
            </a:r>
          </a:p>
          <a:p>
            <a:pPr lvl="3">
              <a:lnSpc>
                <a:spcPct val="150000"/>
              </a:lnSpc>
              <a:buNone/>
            </a:pPr>
            <a:r>
              <a:rPr lang="fr-FR" sz="2800" dirty="0">
                <a:solidFill>
                  <a:srgbClr val="000000"/>
                </a:solidFill>
                <a:latin typeface="Calibri"/>
                <a:ea typeface="Calibri"/>
              </a:rPr>
              <a:t>D.	Elle n’est indiquée que chez les sujets non immunisés contre le VHA</a:t>
            </a:r>
          </a:p>
          <a:p>
            <a:pPr lvl="3">
              <a:lnSpc>
                <a:spcPct val="150000"/>
              </a:lnSpc>
              <a:buNone/>
            </a:pPr>
            <a:r>
              <a:rPr lang="fr-FR" sz="2800" dirty="0">
                <a:solidFill>
                  <a:srgbClr val="000000"/>
                </a:solidFill>
                <a:latin typeface="Calibri"/>
                <a:ea typeface="Calibri"/>
              </a:rPr>
              <a:t>E.	Elle n’est indiquée que si la patiente évolue vers une forme grave</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635537789"/>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F0D222C-299A-69BA-34FF-608ADF3F16CF}"/>
            </a:ext>
          </a:extLst>
        </p:cNvPr>
        <p:cNvGrpSpPr/>
        <p:nvPr/>
      </p:nvGrpSpPr>
      <p:grpSpPr>
        <a:xfrm>
          <a:off x="0" y="0"/>
          <a:ext cx="0" cy="0"/>
          <a:chOff x="0" y="0"/>
          <a:chExt cx="0" cy="0"/>
        </a:xfrm>
      </p:grpSpPr>
      <p:sp>
        <p:nvSpPr>
          <p:cNvPr id="3" name="Espace réservé du contenu 2">
            <a:extLst>
              <a:ext uri="{FF2B5EF4-FFF2-40B4-BE49-F238E27FC236}">
                <a16:creationId xmlns="" xmlns:a16="http://schemas.microsoft.com/office/drawing/2014/main" id="{6E9DAA01-5A92-1316-0E91-FF6D8E15E495}"/>
              </a:ext>
            </a:extLst>
          </p:cNvPr>
          <p:cNvSpPr>
            <a:spLocks noGrp="1"/>
          </p:cNvSpPr>
          <p:nvPr>
            <p:ph idx="1"/>
          </p:nvPr>
        </p:nvSpPr>
        <p:spPr>
          <a:xfrm>
            <a:off x="-93845" y="857208"/>
            <a:ext cx="11148531" cy="6000792"/>
          </a:xfrm>
        </p:spPr>
        <p:txBody>
          <a:bodyPr>
            <a:normAutofit fontScale="92500"/>
          </a:bodyPr>
          <a:lstStyle/>
          <a:p>
            <a:pPr lvl="3">
              <a:lnSpc>
                <a:spcPct val="150000"/>
              </a:lnSpc>
              <a:buNone/>
            </a:pPr>
            <a:r>
              <a:rPr lang="fr-FR" sz="2800" b="1" dirty="0">
                <a:solidFill>
                  <a:srgbClr val="000000"/>
                </a:solidFill>
                <a:latin typeface="Calibri"/>
                <a:ea typeface="Calibri"/>
              </a:rPr>
              <a:t>3.	Concernant la vaccination de l’entourage immédiat de cette patiente :</a:t>
            </a:r>
          </a:p>
          <a:p>
            <a:pPr lvl="3">
              <a:lnSpc>
                <a:spcPct val="150000"/>
              </a:lnSpc>
              <a:buNone/>
            </a:pPr>
            <a:r>
              <a:rPr lang="fr-FR" sz="2800" dirty="0">
                <a:solidFill>
                  <a:srgbClr val="000000"/>
                </a:solidFill>
                <a:latin typeface="Calibri"/>
                <a:ea typeface="Calibri"/>
              </a:rPr>
              <a:t>A.	Elle n’est pas obligatoire</a:t>
            </a:r>
          </a:p>
          <a:p>
            <a:pPr lvl="3">
              <a:lnSpc>
                <a:spcPct val="150000"/>
              </a:lnSpc>
              <a:buNone/>
            </a:pPr>
            <a:r>
              <a:rPr lang="fr-FR" sz="2800" b="1" dirty="0">
                <a:solidFill>
                  <a:srgbClr val="FF0000"/>
                </a:solidFill>
                <a:latin typeface="Calibri"/>
                <a:ea typeface="Calibri"/>
              </a:rPr>
              <a:t>B.	Elle est indiquée avec un schéma de 2 injections séparées de 6 à 12 mois</a:t>
            </a:r>
          </a:p>
          <a:p>
            <a:pPr lvl="3">
              <a:lnSpc>
                <a:spcPct val="150000"/>
              </a:lnSpc>
              <a:buNone/>
            </a:pPr>
            <a:r>
              <a:rPr lang="fr-FR" sz="2800" dirty="0">
                <a:solidFill>
                  <a:srgbClr val="000000"/>
                </a:solidFill>
                <a:latin typeface="Calibri"/>
                <a:ea typeface="Calibri"/>
              </a:rPr>
              <a:t>C.	Elle n’est indiquée que chez les sujets symptomatiques</a:t>
            </a:r>
          </a:p>
          <a:p>
            <a:pPr lvl="3">
              <a:lnSpc>
                <a:spcPct val="150000"/>
              </a:lnSpc>
              <a:buNone/>
            </a:pPr>
            <a:r>
              <a:rPr lang="fr-FR" sz="2800" dirty="0">
                <a:solidFill>
                  <a:srgbClr val="000000"/>
                </a:solidFill>
                <a:latin typeface="Calibri"/>
                <a:ea typeface="Calibri"/>
              </a:rPr>
              <a:t>D.	Elle n’est indiquée que chez les sujets non immunisés contre le VHA</a:t>
            </a:r>
          </a:p>
          <a:p>
            <a:pPr lvl="3">
              <a:lnSpc>
                <a:spcPct val="150000"/>
              </a:lnSpc>
              <a:buNone/>
            </a:pPr>
            <a:r>
              <a:rPr lang="fr-FR" sz="2800" dirty="0">
                <a:solidFill>
                  <a:srgbClr val="000000"/>
                </a:solidFill>
                <a:latin typeface="Calibri"/>
                <a:ea typeface="Calibri"/>
              </a:rPr>
              <a:t>E.	Elle n’est indiquée que si la patiente évolue vers une forme grave</a:t>
            </a:r>
          </a:p>
          <a:p>
            <a:pPr>
              <a:lnSpc>
                <a:spcPct val="150000"/>
              </a:lnSpc>
            </a:pPr>
            <a:endParaRPr lang="fr-FR" sz="4800" dirty="0">
              <a:latin typeface="Calibri"/>
              <a:ea typeface="Calibri"/>
              <a:cs typeface="Times New Roman"/>
            </a:endParaRPr>
          </a:p>
        </p:txBody>
      </p:sp>
    </p:spTree>
    <p:extLst>
      <p:ext uri="{BB962C8B-B14F-4D97-AF65-F5344CB8AC3E}">
        <p14:creationId xmlns="" xmlns:p14="http://schemas.microsoft.com/office/powerpoint/2010/main" val="1309389374"/>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3032</TotalTime>
  <Words>3435</Words>
  <Application>Microsoft Office PowerPoint</Application>
  <PresentationFormat>Personnalisé</PresentationFormat>
  <Paragraphs>619</Paragraphs>
  <Slides>128</Slides>
  <Notes>14</Notes>
  <HiddenSlides>0</HiddenSlides>
  <MMClips>0</MMClips>
  <ScaleCrop>false</ScaleCrop>
  <HeadingPairs>
    <vt:vector size="4" baseType="variant">
      <vt:variant>
        <vt:lpstr>Thème</vt:lpstr>
      </vt:variant>
      <vt:variant>
        <vt:i4>1</vt:i4>
      </vt:variant>
      <vt:variant>
        <vt:lpstr>Titres des diapositives</vt:lpstr>
      </vt:variant>
      <vt:variant>
        <vt:i4>128</vt:i4>
      </vt:variant>
    </vt:vector>
  </HeadingPairs>
  <TitlesOfParts>
    <vt:vector size="129" baseType="lpstr">
      <vt:lpstr>Thème Office</vt:lpstr>
      <vt:lpstr>Sujet 35: Les hépatites virales</vt:lpstr>
      <vt:lpstr>Question 1 : Le virus de l’hépatite A (VHA) est un virus: A. Nu, sans enveloppe lipidique. B. À ARN simple brin.  C. Résistant aux conditions acides du tube digestif. D. Capable de persister longtemps dans les selles. E. Qui s'intègre au génome de l’hôte.</vt:lpstr>
      <vt:lpstr>Question 1 : Le virus de l’hépatite A (VHA) est un virus: A. Nu, sans enveloppe lipidique. B. À ARN simple brin.  C. Résistant aux conditions acides du tube digestif. D. Capable de persister longtemps dans les selles. E. Qui s'intègre au génome de l’hôte.</vt:lpstr>
      <vt:lpstr>Question 2 : A propos du VHA : A. Il se transmet principalement par ingestion d’eau ou d’aliments contaminés B. L’âge de primoinfection est tardif dans les pays fortement endémiques C. L’infection n’évolue pas vers une hépatite chronique D. Il provoque rarement une atteinte sévère chez l’enfant  E. Un vaccin efficace est disponible pour la prévention</vt:lpstr>
      <vt:lpstr>Question 2 : A propos du VHA : A. Il se transmet principalement par ingestion d’eau ou d’aliments contaminés B. L’âge de primoinfection est tardif dans les pays fortement endémiques C. L’infection n’évolue pas vers une hépatite chronique D. Il provoque rarement une atteinte sévère chez l’enfant  E. Un vaccin efficace est disponible pour la prévention</vt:lpstr>
      <vt:lpstr>Question 3 : L’hépatite A : A. Provoque des lésions hépatiques par effet cytopathique direct B. Est associée à une réponse immune essentiellement cellulaire C. Peut donner lieu à une infection chronique chez les transplantés d’organes D. Peut être transmise par voie transplacentaire E. L’immunité post-infectieuse est durable </vt:lpstr>
      <vt:lpstr>Question 3 : L’hépatite A : A. Provoque des lésions hépatiques par effet cytopathique direct B. Est associée à une réponse immune essentiellement cellulaire C. Peut donner lieu à une infection chronique chez les transplantés d’organes D. Peut être transmise par voie transplacentaire E. L’immunité post-infectieuse est durable </vt:lpstr>
      <vt:lpstr>Question 4 : À propos du virus de l’hépatite B : A. La particule complète de Dane est infectieuse. B. Les particules vides ne transmettent pas le virus. C. Le virus mesure environ 42 nm de diamètre. D. L’enveloppe contient une bicouche lipidique associée à l’AgHBe. E. La capside est composée de protéines codées par le gène C</vt:lpstr>
      <vt:lpstr>Question 4 : À propos du virus de l’hépatite B : A. La particule complète de Dane est infectieuse. B. Les particules vides ne transmettent pas le virus. C. Le virus mesure environ 42 nm de diamètre. D. L’enveloppe contient une bicouche lipidique associée à l’AgHBe. E. La capside est composée de protéines codées par le gène C</vt:lpstr>
      <vt:lpstr>Question 5 : Le virus de l’hépatite B: A. Comporte un génome constitué d’ADN partiellement double brin. B. Se réplique via une enzyme appelée transcriptase inverse. C. Est entouré d’une enveloppe protéique externe.  D. Maintient une forme stable appelée cccDNA dans le noyau des hépatocytes.  E. Est capable de persister dans l’organisme malgré un traitement antiviral prolongé.</vt:lpstr>
      <vt:lpstr>Question 5 : Le virus de l’hépatite B: A. Comporte un génome constitué d’ADN partiellement double brin. B. Se réplique via une enzyme appelée transcriptase inverse. C. Est entouré d’une enveloppe protéique externe.  D. Maintient une forme stable appelée cccDNA dans le noyau des hépatocytes.  E. Est capable de persister dans l’organisme malgré un traitement antiviral prolongé.</vt:lpstr>
      <vt:lpstr>Question 6 : Concernant la variabilité génétique du VHB : A. La reverse transcriptase favorise l’apparition de mutants. B. Les mutants pré-C/C empêchent la synthèse de l’AgHBe tout en maintenant la réplication. C. Les mutants du gène S peuvent échapper à la détection vaccinale et sérologique. D. Le virus sauvage présente  un AgHBe négatif et des Ac anti-HBe positifs. E. Certains mutants du VHB sont associés à un risque accru de survenue de carcinome hépatocellulaire.</vt:lpstr>
      <vt:lpstr>Question 6 : Concernant la variabilité génétique du VHB : A. La reverse transcriptase favorise l’apparition de mutants. B. Les mutants pré-C/C empêchent la synthèse de l’AgHBe tout en maintenant la réplication. C. Les mutants du gène S peuvent échapper à la détection vaccinale et sérologique. D. Le virus sauvage présente  un AgHBe négatif et des Ac anti-HBe positifs. E. Certains mutants du VHB sont associés à un risque accru de survenue de carcinome hépatocellulaire.</vt:lpstr>
      <vt:lpstr>Question 7 : Concernant le virus de l’hépatite C: A. Son réservoir est strictement humain.  B. Sa forte variabilité génétique rend difficile le développement d’un vaccin efficace. C. Il existe sous forme de quasi-espèces. D. Ses différents génotypes influencent la réponse au traitement. E. Le génotype 1 est rare en Tunisie.</vt:lpstr>
      <vt:lpstr>Question 7 : Concernant le virus de l’hépatite C: A. Il appartient à la famille des Hepadnaviridae.  B. Sa forte variabilité génétique rend difficile le développement d’un vaccin efficace. C. Il existe sous forme de quasi-espèces. D. Ses différents génotypes peuvent influencer la réponse au traitement. E. Le génotype 1 est rare en Tunisie.</vt:lpstr>
      <vt:lpstr>Question 8 : La prévalence la plus élevée du portage chronique du VHB concerne : A. Europe de l’Ouest B. Afrique subsaharienne C. Amérique du Nord D. Europe de l’Est E. Asie du Sud-Est</vt:lpstr>
      <vt:lpstr>Question 8 : La prévalence la plus élevée du portage chronique du VHB concerne : A. Europe de l’Ouest B. Afrique subsaharienne C. Amérique du Nord D. Europe de l’Est E. Asie du Sud-Est</vt:lpstr>
      <vt:lpstr>Question 9 : Dans les pays à forte endémicité pour le VHB, les modes de transmission les plus fréquents sont : A. Transmission mère-enfant à la naissance B. Transmission sexuelle C. Transmission horizontale au jeune âge D. Toxicomanie E. Accidents transfusionnels</vt:lpstr>
      <vt:lpstr>Question 9 : Dans les pays à forte endémicité pour le VHB, les modes de transmission les plus fréquents sont : A. Transmission mère-enfant à la naissance B. Transmission sexuelle C. Transmission horizontale au jeune âge D. Toxicomanie E. Accidents transfusionnels</vt:lpstr>
      <vt:lpstr>Diapositive 20</vt:lpstr>
      <vt:lpstr>Question 10 : Concernant l’hépatite virale B : A. La Tunisie est classée en zone d’endémicité intermédiaire B. Le risque de chronicité est maximal lors d’une infection néonatale. C. La transmission par le lait maternel est rare même en zone de forte endémie  D. En zone de faible endémie, la transmission se fait surtout par toxicomanie IV et voie sexuelle. E. Après un AES avec un patient AgHBs+ et AgHBe+, le risque de transmission est de 40%.</vt:lpstr>
      <vt:lpstr>Question 10 : Concernant l’hépatite virale B : A. La Tunisie est classée en zone d’endémicité intermédiaire. B. Le risque de chronicité est maximal lors d’une infection néonatale. C. La transmission par le lait maternel est rare même en zone de forte endémie  D. En zone de faible endémie, la transmission se fait surtout par toxicomanie IV et voie sexuelle. E. Après un AES avec un patient AgHBs+ et AgHBe+, le risque de transmission est de 40%.</vt:lpstr>
      <vt:lpstr>Question 11 : La transmission du VHB de la mère à l’enfant : A. Se fait principalement lors de l’accouchement. B. Est fréquente in utero, même sans forte charge virale chez la mère. C. Peut se produire via le lait maternel, mais le risque est faible. D. Conduit rarement à un portage chronique chez le nouveau-né. E. Peut être réduite par la vaccination et l’injection d’immunoglobulines.</vt:lpstr>
      <vt:lpstr>Question 11 : La transmission du VHB de la mère à l’enfant : A. Se fait principalement lors de l’accouchement. B. Est fréquente in utero, même sans forte charge virale chez la mère. C. Conduit rarement à un portage chronique chez le nouveau-né. D. Peut être prévenue  par un traitement antiviral systématique chez la mère E. Peut être réduite par la vaccination et l’injection d’immunoglobulines.</vt:lpstr>
      <vt:lpstr>Question 12 : La transmission verticale du VHB est favorisée par : A. La positivité de l’AgHBe chez la mère B. Une charge virale maternelle élevée C. La présence d’anticorps anti-HBe chez la mère D. L’absence de prophylaxie néonatale E.  Une cytolyse chez la mère</vt:lpstr>
      <vt:lpstr>Question 12 : La transmission verticale du VHB est favorisée par : A. La positivité de l’AgHBe chez la mère B. Une charge virale maternelle élevée C. La présence d’anticorps anti-HBe chez la mère D. L’absence de prophylaxie néonatale E.  Une cytolyse chez la mère</vt:lpstr>
      <vt:lpstr>Diapositive 27</vt:lpstr>
      <vt:lpstr>Question 13 : Concernant l’hépatite C, les modes de transmission les plus fréquents sont: A. Rapports sexuels non protégés B. Transfusion avant l’instauration du dépistage systématique C. Partage de matériel d’injection D. Transmission périnatale E. Transmission  horizontale (intra-familiale)</vt:lpstr>
      <vt:lpstr>Question 13 : Concernant l’hépatite C, les modes de transmission les plus fréquents sont: A. Rapports sexuels non protégés B. Transfusion avant l’instauration du dépistage systématique C. Partage de matériel d’injection D. Transmission périnatale E. Transmission  horizontale (intra-familiale)</vt:lpstr>
      <vt:lpstr>Diapositive 30</vt:lpstr>
      <vt:lpstr>Question 14 : En zones faiblement endémiques, le virus de l’hépatite E est principalement transmis par: A. La consommation de viandes insuffisamment cuites B. Transfusion sanguine. C. De  l’eau contaminée. D. Contact avec un animal infecté. E. Voie transplacentaire.</vt:lpstr>
      <vt:lpstr>Question 14 : En zones faiblement endémiques, le virus de l’hépatite E est principalement transmis par: A. La consommation de viandes insuffisamment cuites B. Transfusion sanguine. C. De  l’eau contaminée. D. Contact avec un animal infecté. E. Voie transplacentaire.</vt:lpstr>
      <vt:lpstr>Diapositive 33</vt:lpstr>
      <vt:lpstr>Question 15 : Le virus de l’hépatite Delta (VHD) : A. Possède un génome à ADN B. Nécessite la présence du VHB pour se répliquer C. Peut infecter simultanément avec le VHB ou survenir sur un portage chronique  D. Est responsable de formes plus sévères que le VHB seul E. La vaccination anti-VHB protège contre le VHD</vt:lpstr>
      <vt:lpstr>Question 15 : Le virus de l’hépatite Delta (VHD) : A. Possède un génome à ADN B. Nécessite la présence du VHB pour se répliquer C. Peut infecter simultanément avec le VHB ou survenir sur un portage chronique  D. Est responsable de formes plus sévères que le VHB seul E. Peut être prévenu par la vaccination anti-VHD</vt:lpstr>
      <vt:lpstr>Diapositive 36</vt:lpstr>
      <vt:lpstr>Diapositive 37</vt:lpstr>
      <vt:lpstr>Question 16 : Dans l’hépatite A : A. L’incubation est de l’ordre de 1 à 2 semaines B. L’ictère précède généralement la phase prodromique C. Une forme fulminante peut survenir dans 1% des cas D. Le traitement repose sur un antiviral spécifique E. L’immunité acquise après infection est durable</vt:lpstr>
      <vt:lpstr>Question 16 : Dans l’hépatite A : A. L’incubation est de l’ordre de 1 à 2 semaines B. L’ictère précède généralement la phase prodromique C. Une forme fulminante peut survenir dans 1% des cas D. Le traitement repose sur un antiviral spécifique E. L’immunité acquise après infection est durable</vt:lpstr>
      <vt:lpstr>Question 17 : La chronicité du VHC est confirmée par : A. ARN VHC détectable après 6 mois B. ALAT élevées pendant 2 semaines C. Absence d’ictère D. Présence d’anticorps anti-VHC E. Fibrose hépatique F1</vt:lpstr>
      <vt:lpstr>Question 17 : La chronicité du VHC est confirmée par : A. ARN VHC détectable après 6 mois B. ALAT élevées pendant 2 semaines C. Absence d’ictère D. Présence d’anticorps anti-VHC E. Fibrose hépatique F1</vt:lpstr>
      <vt:lpstr>Question 18 : Le risque de passage à la chronicité au cours de l’hépatite virale B est augmenté dans les situations suivantes : A. Infection chez le nouveau-né B. Infection chez une personne âgée C. Coinfection avec le virus de l’hépatite D  D. Coinfection avec le virus de l’hépatite C  E. Immunodépression</vt:lpstr>
      <vt:lpstr>Question 18 : Le risque de passage à la chronicité au cours de l’hépatite virale B est augmenté dans les situations suivantes : A. Infection chez le nouveau-né B. Infection chez une personne âgée C. Coinfection avec le virus de l’hépatite D  D. Coinfection avec le virus de l’hépatite C  E. Immunodépression</vt:lpstr>
      <vt:lpstr>Question 19 : L’hépatite E chez la femme enceinte peut se compliquer par : A. Forme fulminante B. Passage  à la chronicité C. Hypertension portale D. Ascite  E. Hépatocarcinome</vt:lpstr>
      <vt:lpstr>Question 19 : L’hépatite E chez la femme enceinte peut se compliquer par : A. Forme fulminante B. Passage  à la chronicité C. Hypertension portale D. Ascite  E. Hépatocarcinome</vt:lpstr>
      <vt:lpstr>Question 20 : Concernant les marqueurs sérologiques des hépatites virales : A. Les anticorps Anti-HBc IgG apparaissent après l’AgHBs. B. Les anticorps Anti-HBs apparaissent en même temps que l’AgHBs. C. L’ADN du VHB peut être présent sans détection d’AgHBs. D. Les IgM anti-HAV persistent toute la vie. E. Les anticorps Anti-HCV persistent après guérison.</vt:lpstr>
      <vt:lpstr>Question 20 : Concernant les marqueurs sérologiques des hépatites virales : A. Les anticorps Anti-HBc IgG apparaissent après l’AgHBs. B. Les anticorps Anti-HBs apparaissent en même temps que l’AgHBs. C. L’ADN du VHB peut être présent sans détection d’AgHBs. D. Les IgM anti-HAV persistent toute la vie. E. Les anticorps Anti-HCV persistent après guérison.</vt:lpstr>
      <vt:lpstr>Diapositive 48</vt:lpstr>
      <vt:lpstr>Question 21 : Parmi les marqueurs suivants, lesquels indiquent une réplication active du virus de l’hépatite B ? A. Antigène HBe B. Anticorps anti-HBe C. Charge virale élevée D. Anticorps anti-HBc IgM  E. Transaminases normales</vt:lpstr>
      <vt:lpstr>Question 21 : Parmi les marqueurs suivants, lesquels indiquent une réplication active du virus de l’hépatite B ? A. Antigène HBe B. Anticorps anti-HBe C. Charge virale élevée D. Anticorps anti-HBc IgM  E. Transaminases normales</vt:lpstr>
      <vt:lpstr>Question 22 : A propos des marqueurs sérologiques de l’hépatite B: A. La présence d’AgHBs signe une infection en cours ou passée. B. Les Ac anti-HBs indiquent la résolution de l’infection. C. Les Ac anti-HBc IgM signalent une infection récente ou une réactivation. D. Les Ac anti-HBe  indiquent l’absence de réplication pour un virus mutant. E. L’AgHBc n’est pas détecté dans le sérum en conditions habituelles.</vt:lpstr>
      <vt:lpstr>Question 22 : A propos des marqueurs sérologiques de l’hépatite B: A. La présence d’AgHBs signe une infection en cours ou passée. B. Les Ac anti-HBs indiquent la résolution de l’infection. C. Les Ac anti-HBc IgM signalent une infection récente ou une réactivation. D. Les Ac anti-HBe  indiquent l’absence de réplication pour un virus mutant. E. L’AgHBc n’est pas détecté dans le sérum en conditions habituelles.</vt:lpstr>
      <vt:lpstr>Question 23 : La présence d’anticorps IgM anti-HBc peut être en rapport avec: A. Une infection récente par le VHB B. Une infection ancienne guérie C. Une vaccination antérieure contre le VHB D. Une infection chronique inactive E. Une réactivation possible du virus</vt:lpstr>
      <vt:lpstr>Question 23 : La présence d’anticorps IgM anti-HBc peut être en rapport avec: A. Une infection récente par le VHB B. Une infection ancienne guérie C. Une vaccination antérieure contre le VHB D. Une infection chronique inactive E. Une réactivation possible du virus</vt:lpstr>
      <vt:lpstr> Question 24 : Le profil sérologique suivant : AgHBs positif, Ac anti-HBc positif IgM, ADN VHB élevé, évoque : A. Portage inactif du VHB B. Hépatite B aigue C. Hépatite chronique B active D. Immunité post-infection E. Infection résolue</vt:lpstr>
      <vt:lpstr> Question 24 : Le profil sérologique suivant : AgHBs positif, Ac anti-HBc positif IgM, ADN VHB élevé, évoque : A. Portage inactif du VHB B. Hépatite B aigue C. Hépatite chronique B active D. Immunité post-infection E. Infection résolue</vt:lpstr>
      <vt:lpstr>Question 25 : La réactivation d’une hépatite B se manifeste par : A. La réapparition de l’AgHBs dans le sang. B. Une élévation isolée des transaminases (ALAT). C. Une augmentation de l’ADN VHB circulant. D. La présence d’IgM anti-HBc. E. Une positivité persistante de l’AgHBe.</vt:lpstr>
      <vt:lpstr>Question 25 : La réactivation d’une hépatite B se manifeste par : A. La réapparition de l’AgHBs dans le sang. B. Une élévation isolée des transaminases. C. Une augmentation de l’ADN VHB circulant. D. La présence d’IgM anti-HBc. E. Une positivité persistante de l’AgHBe.</vt:lpstr>
      <vt:lpstr>Question 26 :À propos de l’hépatite B occulte, quelles affirmations sont exactes ? A. L’ADN du VHB est présent alors que l’AgHBs est négatif. B. Les anticorps Anti-HBc sont souvent positifs. C. Il n’y a pas de risque de transmission. D. Elle peut se réactiver. E. Elle est secondaire à une mutation préC/C.</vt:lpstr>
      <vt:lpstr>Question 26 :À propos de l’hépatite B occulte, quelles affirmations sont exactes ? A. L’ADN du VHB est présent alors que l’AgHBs est négatif. B. Les anticorps Anti-HBc sont souvent positifs. C. Il n’y a pas de risque de transmission. D. Elle peut se réactiver. E. Elle est secondaire à une mutation préC/C.</vt:lpstr>
      <vt:lpstr>Question 27 : Concernant l’hépatite C, quel test est le plus approprié pour confirmer une infection active ? A. Détection des anticorps anti-VHC par ELISA B. PCR qualitative pour ARN VHC C. Dosage des transaminases D. Échographie hépatique E. Fibroscan</vt:lpstr>
      <vt:lpstr>Question 27 : Concernant l’hépatite C, quel test est le plus approprié pour confirmer une infection active ? A. Détection des anticorps anti-VHC par ELISA B. PCR qualitative pour ARN VHC C. Dosage des transaminases D. Échographie hépatique E. Fibroscan</vt:lpstr>
      <vt:lpstr>Question 28 : Le diagnostic d’hépatite E aiguë repose  sur : A. ARN VHE par PCR B. Sérologie IgM anti-VHE C. Élévation isolée des ALAT D. Biopsie hépatique E. Recherche de l’AgHE</vt:lpstr>
      <vt:lpstr>Question 28 : Le diagnostic d’hépatite E aiguë repose  sur : A. ARN VHE par PCR B. Sérologie IgM anti-VHE C. Élévation isolée des ALAT D. Biopsie hépatique E. Recherche de l’AgHE</vt:lpstr>
      <vt:lpstr>Question 29 : Concernant l’évolution de l’hépatite B aiguë : A. La majorité des adultes guérissent spontanément B. Le risque de chronicité est faible chez le nourrisson C. Les formes fulminantes sont rares mais graves D. La cirrhose survient dans plus de 50 % des cas aigus E. La co-infection par le virus D diminue les chances de guérison spontanée</vt:lpstr>
      <vt:lpstr>Question 29 : Concernant l’évolution de l’hépatite B aiguë : A. La majorité des adultes guérissent spontanément B. Le risque de chronicité est faible chez le nourrisson C. Les formes fulminantes sont rares mais graves D. La cirrhose survient dans plus de 50 % des cas aigus E. La co-infection par le virus D diminue les chances de résolution spontanée</vt:lpstr>
      <vt:lpstr>Question 30 : Concernant l’hépatite C aiguë : A. La guérison spontanée est possible. B. Le traitement antiviral n’est pas indiqué en dehors des formes sévères. C. Le risque de chronicité est plus élevé que celui du VHB. D. L’infection est souvent symptomatique. E. L’ARN du VHC est détectable avant la séroconversion</vt:lpstr>
      <vt:lpstr>Question 30 : Concernant l’hépatite C aiguë : A. La guérison spontanée est possible. B. Le traitement antiviral n’est pas indiqué en dehors des formes sévères. C. Le risque de chronicité est plus élevé que celui du VHB. D. L’infection est souvent symptomatique. E. L’ARN du VHC est détectable avant la séroconversion</vt:lpstr>
      <vt:lpstr>Diapositive 69</vt:lpstr>
      <vt:lpstr>Diapositive 70</vt:lpstr>
      <vt:lpstr>Question 31 : Concernant l’hépatite fulminante : A. L’encéphalopathie hépatique survient dans les 8 semaines suivant le début de l’ictère. B. Le taux de mortalité est élevé malgré une prise en charge optimale. C. La transplantation hépatique peut être indiquée en urgence. D. La co-infection HBV-HDV présente le risque le plus élevé d’hépatite virale fulminante. E. L’implication du VHC est exceptionnelle dans les formes fulminantes.</vt:lpstr>
      <vt:lpstr>Question 31 : Concernant l’hépatite fulminante : A. L’encéphalopathie hépatique survient dans les 8 semaines suivant le début de l’ictère. B. Le taux de mortalité est élevé malgré une prise en charge optimale. C. La transplantation hépatique peut être indiquée en urgence. D. La co-infection HBV-HDV présente le risque le plus élevé d’hépatite virale fulminante. E. L’implication du VHC est exceptionnelle.</vt:lpstr>
      <vt:lpstr>Définitions Forme sévère : TP (et/ou Facteur V) &lt; 50 % sans encéphalopathie hépatique Forme grave = Forme sévère + encéphalopathie hépatique        -Fulminante : délai &lt; 2 semaines entre ictère et encéphalopathie.        -Subfulminante : délai &gt; 2 semaines </vt:lpstr>
      <vt:lpstr>Question 32 : Les signes de gravité devant une hépatite aigue sont: A. Âge jeune  B. Cytolyse &gt; 100N  C. Hyperbilirubinémie &gt; 300umol/l D. TP&lt;50% E. Atrophie hépatique</vt:lpstr>
      <vt:lpstr>Question 32 : Les signes de gravité devant une hépatite aigue sont: A. Âge jeune  B. Cytolyse &gt; 100N  C. Hyperbilirubinémie &gt; 300umol/l D. TP&lt;50% E. Atrophie hépatique</vt:lpstr>
      <vt:lpstr>Question 33 : Les antiviraux oraux de haute barrière de résistance dans le traitement de l’hépatite B sont: A. Lamivudine B. Entecavir C. Tenofovir D. Peg-Interféron E. Sofosbuvir</vt:lpstr>
      <vt:lpstr>Question 33 : Les antiviraux oraux de haute barrière de résistance dans le traitement de l’hépatite B sont: A. Lamivudine B. Entecavir C. Tenofovir D. Peg-Interféron E. Sofosbuvir</vt:lpstr>
      <vt:lpstr>Question 34 : Concernant le traitement de l’hépatite chronique B : A. Il est indiqué si l’ADN du VHB est supérieur à 2000 UI/ml avec cytolyse ou fibrose ≥ F2. B. Les traitements de première intention sont l’entécavir ou le ténofovir. C. La durée standard du traitement est de 6 mois. D. La surveillance virologique est mensuelle durant le traitement  E. L’arrêt du traitement est possible chez certains patients HBeAg positifs après séroconversion stable.</vt:lpstr>
      <vt:lpstr>Question 34 : Concernant le traitement de l’hépatite chronique B : A. Il est indiqué si l’ADN du VHB est supérieur à 2000 UI/ml avec cytolyse ou fibrose ≥ F2. B. Les traitements de première intention sont l’entécavir ou le ténofovir. C. La durée standard du traitement est de 6 mois. D. La surveillance virologique est mensuelle durant le traitement  E. L’arrêt du traitement est possible chez certains patients HBeAg positifs après séroconversion stable.</vt:lpstr>
      <vt:lpstr>Question 35 : Concernant l’hépatite C chronique : A. Tous les patients doivent être traités indépendamment du degré de fibrose. B. La durée standard du traitement par antiviraux à action directe est de 12 semaines. C. Une réactivation virale est possible après réponse virologique soutenue. D. La transmission nosocomiale est possible. E. Un vaccin contre le VHC est disponible.</vt:lpstr>
      <vt:lpstr>Question 35 : Concernant l’hépatite C chronique : A. Tous les patients doivent être traités indépendamment du degré de fibrose. B. La durée standard du traitement par antiviraux à action directe est de 12 semaines. C. Une réactivation virale est possible après réponse virologique soutenue. D. L’éradication du virus est obtenue dans 60% des cas E. Un vaccin contre le VHC est disponible.</vt:lpstr>
      <vt:lpstr>Diapositive 82</vt:lpstr>
      <vt:lpstr>Diapositive 83</vt:lpstr>
      <vt:lpstr>Diapositive 84</vt:lpstr>
      <vt:lpstr>Question 36 : En ce qui concerne l’immunoprophylaxie du VHB : A. La vaccination seule est suffisante dans tous les cas. B. Une séro-vaccination est indiquée en cas d’AES C. Le vaccin utilisé est un vaccin recombinant. D. Il est nécessaire de vérifier les anticorps anti-HBs après vaccination chez les professionnels exposés. E. Un rappel systématique est obligatoire tous les 10 ans.</vt:lpstr>
      <vt:lpstr>Question 36 : En ce qui concerne l’immunoprophylaxie du VHB : A. La vaccination seule est suffisante dans tous les cas. B. Une séro-vaccination est indiquée en cas d’AES C. Le vaccin utilisé est un vaccin recombinant. D. Il est nécessaire de vérifier les anticorps anti-HBs après vaccination chez les professionnels exposés. E. Un rappel systématique est obligatoire tous les 10 ans.</vt:lpstr>
      <vt:lpstr>Question 37 : La prévention primaire contre le VHA repose sur : A. La vaccination systématique. B. L’amélioration de l’hygiène personnelle et collective. C. La cuisson à  cœur de la viande. D. La surveillance sérologique des voyageurs. E. L’assainissement  de l’eau de consommation.</vt:lpstr>
      <vt:lpstr>Question 37 : La prévention primaire contre le VHA repose sur : A. La vaccination systématique. B. L’amélioration de l’hygiène personnelle et collective. C. La cuisson à  cœur de la viande. D. La surveillance sérologique des voyageurs. E. L’assainissement de l’eau de consommation.</vt:lpstr>
      <vt:lpstr>Question 38 : La vaccination contre l’hépatite A en Tunisie est recommandée pour : A. Les contacts d’un patient atteint d’hépatite A B. Les nourrissons et enfants selon le calendrier vaccinal C. Les voyageurs vers les pays à forte endémie D. Les professionnels exposés au virus  E. Les sujets ayant déjà été infectés par le VHA</vt:lpstr>
      <vt:lpstr>Question 38 : La vaccination contre l’hépatite A en Tunisie est recommandée pour : A. Les contacts d’un patient atteint d’hépatite A B. Les nourrissons et enfants selon le calendrier vaccinal C. Les voyageurs vers les pays à forte endémie D. Les professionnels exposés au virus  E. Les sujets ayant déjà été infectés par le VHA</vt:lpstr>
      <vt:lpstr>Diapositive 91</vt:lpstr>
      <vt:lpstr>Diapositive 92</vt:lpstr>
      <vt:lpstr>Cas clinique N1</vt:lpstr>
      <vt:lpstr>Diapositive 94</vt:lpstr>
      <vt:lpstr>Diapositive 95</vt:lpstr>
      <vt:lpstr>Diapositive 96</vt:lpstr>
      <vt:lpstr>Diapositive 97</vt:lpstr>
      <vt:lpstr>Diapositive 98</vt:lpstr>
      <vt:lpstr>Diapositive 99</vt:lpstr>
      <vt:lpstr>CAS CLINIQUE N2</vt:lpstr>
      <vt:lpstr>Diapositive 101</vt:lpstr>
      <vt:lpstr>Diapositive 102</vt:lpstr>
      <vt:lpstr>Diapositive 103</vt:lpstr>
      <vt:lpstr>Diapositive 104</vt:lpstr>
      <vt:lpstr>CAS CLINIQUE N3</vt:lpstr>
      <vt:lpstr>Diapositive 106</vt:lpstr>
      <vt:lpstr>Diapositive 107</vt:lpstr>
      <vt:lpstr>Diapositive 108</vt:lpstr>
      <vt:lpstr>Diapositive 109</vt:lpstr>
      <vt:lpstr>Diapositive 110</vt:lpstr>
      <vt:lpstr>Diapositive 111</vt:lpstr>
      <vt:lpstr>Diapositive 112</vt:lpstr>
      <vt:lpstr>Diapositive 113</vt:lpstr>
      <vt:lpstr>CAS CLINIQUE N4</vt:lpstr>
      <vt:lpstr>Diapositive 115</vt:lpstr>
      <vt:lpstr>Diapositive 116</vt:lpstr>
      <vt:lpstr>Diapositive 117</vt:lpstr>
      <vt:lpstr>Diapositive 118</vt:lpstr>
      <vt:lpstr>Diapositive 119</vt:lpstr>
      <vt:lpstr>Diapositive 120</vt:lpstr>
      <vt:lpstr>Diapositive 121</vt:lpstr>
      <vt:lpstr>Diapositive 122</vt:lpstr>
      <vt:lpstr>CAS CLINIQUE N5</vt:lpstr>
      <vt:lpstr>Diapositive 124</vt:lpstr>
      <vt:lpstr>Diapositive 125</vt:lpstr>
      <vt:lpstr>Diapositive 126</vt:lpstr>
      <vt:lpstr>Diapositive 127</vt:lpstr>
      <vt:lpstr>Diapositive 128</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Sujet 35: Les hépatites virales</dc:title>
  <dc:creator>wafedahmani@outlook.fr</dc:creator>
  <cp:lastModifiedBy>wafed</cp:lastModifiedBy>
  <cp:revision>37</cp:revision>
  <dcterms:created xsi:type="dcterms:W3CDTF">2025-08-16T20:41:28Z</dcterms:created>
  <dcterms:modified xsi:type="dcterms:W3CDTF">2025-08-20T16:54:29Z</dcterms:modified>
</cp:coreProperties>
</file>
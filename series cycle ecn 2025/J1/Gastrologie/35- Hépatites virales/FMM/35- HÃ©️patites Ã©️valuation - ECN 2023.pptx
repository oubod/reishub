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739" r:id="rId3"/>
    <p:sldId id="778" r:id="rId4"/>
    <p:sldId id="740" r:id="rId5"/>
    <p:sldId id="782" r:id="rId6"/>
    <p:sldId id="783" r:id="rId7"/>
    <p:sldId id="781" r:id="rId8"/>
    <p:sldId id="780" r:id="rId9"/>
    <p:sldId id="779" r:id="rId10"/>
    <p:sldId id="790" r:id="rId11"/>
    <p:sldId id="789" r:id="rId12"/>
    <p:sldId id="788" r:id="rId13"/>
    <p:sldId id="787" r:id="rId14"/>
    <p:sldId id="786" r:id="rId15"/>
    <p:sldId id="785" r:id="rId16"/>
    <p:sldId id="784" r:id="rId17"/>
    <p:sldId id="791" r:id="rId18"/>
    <p:sldId id="799" r:id="rId19"/>
    <p:sldId id="798" r:id="rId20"/>
    <p:sldId id="797" r:id="rId21"/>
    <p:sldId id="796" r:id="rId22"/>
    <p:sldId id="795" r:id="rId23"/>
    <p:sldId id="794" r:id="rId24"/>
    <p:sldId id="793" r:id="rId25"/>
    <p:sldId id="792" r:id="rId26"/>
    <p:sldId id="802" r:id="rId27"/>
    <p:sldId id="804" r:id="rId28"/>
    <p:sldId id="803" r:id="rId29"/>
    <p:sldId id="801" r:id="rId30"/>
    <p:sldId id="800" r:id="rId31"/>
    <p:sldId id="805" r:id="rId32"/>
    <p:sldId id="808" r:id="rId33"/>
    <p:sldId id="807" r:id="rId34"/>
    <p:sldId id="806" r:id="rId35"/>
    <p:sldId id="810" r:id="rId36"/>
    <p:sldId id="809" r:id="rId37"/>
    <p:sldId id="813" r:id="rId38"/>
    <p:sldId id="812" r:id="rId39"/>
    <p:sldId id="814" r:id="rId40"/>
    <p:sldId id="764" r:id="rId41"/>
    <p:sldId id="594" r:id="rId42"/>
    <p:sldId id="633" r:id="rId43"/>
    <p:sldId id="634" r:id="rId44"/>
    <p:sldId id="636" r:id="rId45"/>
    <p:sldId id="735" r:id="rId46"/>
    <p:sldId id="638" r:id="rId47"/>
    <p:sldId id="736" r:id="rId48"/>
    <p:sldId id="640" r:id="rId49"/>
    <p:sldId id="642" r:id="rId50"/>
    <p:sldId id="644" r:id="rId51"/>
    <p:sldId id="646" r:id="rId52"/>
    <p:sldId id="648" r:id="rId53"/>
    <p:sldId id="650" r:id="rId54"/>
    <p:sldId id="652" r:id="rId55"/>
    <p:sldId id="654" r:id="rId56"/>
    <p:sldId id="656" r:id="rId57"/>
    <p:sldId id="660" r:id="rId58"/>
    <p:sldId id="662" r:id="rId59"/>
    <p:sldId id="664" r:id="rId60"/>
    <p:sldId id="732" r:id="rId61"/>
    <p:sldId id="733" r:id="rId62"/>
    <p:sldId id="667" r:id="rId63"/>
    <p:sldId id="554" r:id="rId64"/>
    <p:sldId id="766" r:id="rId65"/>
    <p:sldId id="767" r:id="rId66"/>
    <p:sldId id="738" r:id="rId67"/>
    <p:sldId id="768" r:id="rId68"/>
    <p:sldId id="769" r:id="rId69"/>
    <p:sldId id="771" r:id="rId70"/>
    <p:sldId id="770" r:id="rId71"/>
    <p:sldId id="772" r:id="rId72"/>
    <p:sldId id="773" r:id="rId73"/>
    <p:sldId id="774" r:id="rId74"/>
    <p:sldId id="775" r:id="rId75"/>
    <p:sldId id="776" r:id="rId76"/>
    <p:sldId id="777" r:id="rId77"/>
    <p:sldId id="666" r:id="rId78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00CC"/>
    <a:srgbClr val="FF9797"/>
    <a:srgbClr val="4FD1FF"/>
    <a:srgbClr val="0000FF"/>
    <a:srgbClr val="6699FF"/>
    <a:srgbClr val="6666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E056A7A-95F6-4AAC-90B8-239EB43EE3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102FAA-64B9-451E-AAA8-35FC527E04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0ADD2B5-8514-450E-91A8-9BF807C2262B}" type="datetimeFigureOut">
              <a:rPr lang="fr-FR"/>
              <a:pPr>
                <a:defRPr/>
              </a:pPr>
              <a:t>04/07/2025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68EB8E8D-6AF5-437C-B51A-7F37DCF43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3EC8F875-DE80-4F75-A558-C5DBF392B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EDBBA6-63D0-49C6-8CE4-5AC2A03872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E9097D-FC20-4536-AD52-0A18250DD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EAE1393-401A-4DB0-B3E7-EF3AD19A447D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>
            <a:extLst>
              <a:ext uri="{FF2B5EF4-FFF2-40B4-BE49-F238E27FC236}">
                <a16:creationId xmlns:a16="http://schemas.microsoft.com/office/drawing/2014/main" id="{A21E6588-C120-E4B2-59BC-CF7BAF6DB6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Espace réservé des commentaires 2">
            <a:extLst>
              <a:ext uri="{FF2B5EF4-FFF2-40B4-BE49-F238E27FC236}">
                <a16:creationId xmlns:a16="http://schemas.microsoft.com/office/drawing/2014/main" id="{DE36EEBC-B72D-F018-7EC1-C1D52948F0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altLang="fr-FR"/>
          </a:p>
        </p:txBody>
      </p:sp>
      <p:sp>
        <p:nvSpPr>
          <p:cNvPr id="44036" name="Espace réservé du numéro de diapositive 3">
            <a:extLst>
              <a:ext uri="{FF2B5EF4-FFF2-40B4-BE49-F238E27FC236}">
                <a16:creationId xmlns:a16="http://schemas.microsoft.com/office/drawing/2014/main" id="{7BF06E2F-C46B-1799-AC06-C4AAF82CE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8F1EAB-08C1-46C5-B1E2-BCEA81E01E6B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63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>
            <a:extLst>
              <a:ext uri="{FF2B5EF4-FFF2-40B4-BE49-F238E27FC236}">
                <a16:creationId xmlns:a16="http://schemas.microsoft.com/office/drawing/2014/main" id="{852E1656-182E-89C3-4CB3-0EB917DF48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ce réservé des commentaires 2">
            <a:extLst>
              <a:ext uri="{FF2B5EF4-FFF2-40B4-BE49-F238E27FC236}">
                <a16:creationId xmlns:a16="http://schemas.microsoft.com/office/drawing/2014/main" id="{658BD7E2-22C0-C819-9F08-557F627695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altLang="fr-FR"/>
          </a:p>
        </p:txBody>
      </p:sp>
      <p:sp>
        <p:nvSpPr>
          <p:cNvPr id="51204" name="Espace réservé du numéro de diapositive 3">
            <a:extLst>
              <a:ext uri="{FF2B5EF4-FFF2-40B4-BE49-F238E27FC236}">
                <a16:creationId xmlns:a16="http://schemas.microsoft.com/office/drawing/2014/main" id="{56ADC44D-DA7D-95BE-2AE1-3D59D96EE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62F2F5-EC6B-4528-9B24-574C4201A491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69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6CF02F-42B4-994E-B83C-5302EC5006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209E4E-F8CB-4E80-98E5-5462128529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96061C-0900-74C6-AB42-BDB30C490A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32840-7E88-4D21-8079-9FDF1BFB092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38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57A811-F1BA-FCA7-7FB1-6BEB01DC7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53A93-42A7-FCF2-C7F7-9A7248C32C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30BC2C-D07B-1572-52D1-5BF72EF4D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29AAC9-08BB-4AC8-9983-43C168859ED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004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67029-5E52-F4E2-6EC4-5C11FAEF44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E7A77F-3E62-AE3F-DBEE-C5B12DD3A8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D241FB-C574-183D-7D69-704ECB7618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8C920-0CB0-4176-BCC9-3C0965B2F43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6193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7A4C0-6FC8-2C53-A556-486E331E68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D5A898-CBE4-818B-7D8E-B72EBBBEE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97603-218F-2870-2632-136D8C70F5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8CAC2B-8089-4BCE-AC39-BF7988284A9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3773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CB4C9F-B657-CEA6-DD57-E1553FF7CD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7F0A960-EA7F-56E0-523E-0101F87014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0369C9-C483-0175-3FEB-BF7FFD8DC9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2A7600-22E9-4FC0-8883-3EDFD2BE64C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4397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27D9D1-B262-772E-43DA-8632477EA6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29D36C-CE3F-CDBA-444D-2B3C24038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4768E0-1C11-2E3D-6581-DB7C077D7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38FC58-12A0-4B0D-8A4A-84F3955B28E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2489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0F4066E-0452-983A-998F-035E203DE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F383604-ED20-CDB9-FDED-DA765478B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61870C-2EDF-A77F-F45F-0660A3C92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E6EA7-3550-4562-8F57-B6903F9CECF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031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6CF59-BF70-D82F-FEDB-78EFBAE6ED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AE3CA-5399-D8BB-EBFB-97546B897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0E1A4-210B-94BB-02D8-DEF1EA0EE1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EC3500-990A-4F75-B590-3C7DC397914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8871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50D0C6-FD27-E661-8245-D5CC01711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A5771-3937-5E97-6EDD-256C81F96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E3AEA-2688-641B-C3D6-B38D05A75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41243C-D7BF-4C6E-B16A-7C20AC5871E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2523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F3D4B7-7C9D-327B-6800-B179B1C49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5711B3-22D8-FF04-B0A4-114BEA8CBB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C4EAFD-A82A-C143-9D09-F54B269CE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3FFA00-0A9A-4BD7-8D06-44D2F79051E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0441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02A330-83B4-2116-64A5-C1BD695016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AEF633-0B88-FD8D-B8A7-6F63618C2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219BD0-45CE-6EC7-6108-BE6318B23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8CE26-56E5-4013-8ECA-92EB89F9696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09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7A1C39-0F02-1DD0-5D1A-991D38CF0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BEA17D-6697-6619-FCED-0B9F243D6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0D9822-C071-43E2-805D-E8DAA19996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B2E659-8DCA-4500-AF7D-B55A3F9FF4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FE1FA6-2C6D-40A5-AB52-5860357F5C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C7066BC-8D28-4F50-AF11-15722207A446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>
            <a:extLst>
              <a:ext uri="{FF2B5EF4-FFF2-40B4-BE49-F238E27FC236}">
                <a16:creationId xmlns:a16="http://schemas.microsoft.com/office/drawing/2014/main" id="{EBAF987D-7DEB-4A61-9AB6-2D9C68BA3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54375"/>
            <a:ext cx="8153400" cy="1012825"/>
          </a:xfrm>
          <a:prstGeom prst="rect">
            <a:avLst/>
          </a:prstGeom>
          <a:solidFill>
            <a:srgbClr val="4FD1FF"/>
          </a:solidFill>
          <a:ln w="60325" cmpd="tri">
            <a:solidFill>
              <a:srgbClr val="0000CC"/>
            </a:solidFill>
            <a:rou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tIns="0" bIns="1800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sz="5400" b="1" dirty="0">
                <a:solidFill>
                  <a:srgbClr val="0000CC"/>
                </a:solidFill>
              </a:rPr>
              <a:t>S35: Hépatites virales</a:t>
            </a:r>
            <a:endParaRPr lang="fr-FR" sz="6600" b="1" dirty="0">
              <a:solidFill>
                <a:srgbClr val="0000CC"/>
              </a:solidFill>
            </a:endParaRPr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D50275FE-64C2-BA30-1C51-110049D5D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92650"/>
            <a:ext cx="69342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7030A0"/>
                </a:solidFill>
              </a:rPr>
              <a:t>Pr Ag. Mohamed Hichem LOGHMARI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7030A0"/>
                </a:solidFill>
              </a:rPr>
              <a:t>Service d’Hépato-gastroentérologie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7030A0"/>
                </a:solidFill>
              </a:rPr>
              <a:t> CHU </a:t>
            </a:r>
            <a:r>
              <a:rPr lang="fr-FR" altLang="fr-FR" sz="1600" b="1" dirty="0" err="1">
                <a:solidFill>
                  <a:srgbClr val="7030A0"/>
                </a:solidFill>
              </a:rPr>
              <a:t>Fattouma</a:t>
            </a:r>
            <a:r>
              <a:rPr lang="fr-FR" altLang="fr-FR" sz="1600" b="1" dirty="0">
                <a:solidFill>
                  <a:srgbClr val="7030A0"/>
                </a:solidFill>
              </a:rPr>
              <a:t> Bourguiba de Monastir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/>
              <a:t>04 Juillet 2025</a:t>
            </a:r>
          </a:p>
        </p:txBody>
      </p:sp>
      <p:pic>
        <p:nvPicPr>
          <p:cNvPr id="3076" name="Picture 9" descr="Logo service bilangue 2014">
            <a:extLst>
              <a:ext uri="{FF2B5EF4-FFF2-40B4-BE49-F238E27FC236}">
                <a16:creationId xmlns:a16="http://schemas.microsoft.com/office/drawing/2014/main" id="{91E4CE45-A119-3412-DD5E-9C2BFCD3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33350"/>
            <a:ext cx="1638300" cy="1543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Image 1">
            <a:extLst>
              <a:ext uri="{FF2B5EF4-FFF2-40B4-BE49-F238E27FC236}">
                <a16:creationId xmlns:a16="http://schemas.microsoft.com/office/drawing/2014/main" id="{74AD8AF7-BEA8-92A5-826E-5F0BBAFDC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2209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1">
            <a:extLst>
              <a:ext uri="{FF2B5EF4-FFF2-40B4-BE49-F238E27FC236}">
                <a16:creationId xmlns:a16="http://schemas.microsoft.com/office/drawing/2014/main" id="{E5063F0B-77DD-E947-56DF-867AE6556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286000"/>
            <a:ext cx="5391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008000"/>
                </a:solidFill>
              </a:rPr>
              <a:t>Questions d’évaluation </a:t>
            </a:r>
            <a:endParaRPr lang="fr-FR" altLang="fr-FR" sz="3600"/>
          </a:p>
        </p:txBody>
      </p:sp>
      <p:sp>
        <p:nvSpPr>
          <p:cNvPr id="3079" name="Text Box 4">
            <a:extLst>
              <a:ext uri="{FF2B5EF4-FFF2-40B4-BE49-F238E27FC236}">
                <a16:creationId xmlns:a16="http://schemas.microsoft.com/office/drawing/2014/main" id="{6E230F9E-446C-9C15-92F3-006472E58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69342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600" b="1" dirty="0">
                <a:solidFill>
                  <a:srgbClr val="800000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b="1" dirty="0">
                <a:solidFill>
                  <a:srgbClr val="800000"/>
                </a:solidFill>
              </a:rPr>
              <a:t>Module de Gastro-entérologie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95EEF1-9EB1-4C41-A861-15E3AB2B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76034"/>
            <a:ext cx="6629400" cy="1762566"/>
          </a:xfrm>
          <a:prstGeom prst="rect">
            <a:avLst/>
          </a:prstGeom>
          <a:solidFill>
            <a:srgbClr val="FF9797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36000" bIns="216000" anchor="ctr">
            <a:spAutoFit/>
          </a:bodyPr>
          <a:lstStyle/>
          <a:p>
            <a:pPr algn="ctr" eaLnBrk="1" hangingPunct="1">
              <a:defRPr/>
            </a:pPr>
            <a:r>
              <a:rPr lang="fr-FR" sz="5400" b="1" dirty="0">
                <a:solidFill>
                  <a:srgbClr val="C00000"/>
                </a:solidFill>
              </a:rPr>
              <a:t>QCM </a:t>
            </a:r>
          </a:p>
          <a:p>
            <a:pPr algn="ctr" eaLnBrk="1" hangingPunct="1">
              <a:defRPr/>
            </a:pPr>
            <a:r>
              <a:rPr lang="fr-FR" sz="4400" b="1" dirty="0">
                <a:solidFill>
                  <a:srgbClr val="C00000"/>
                </a:solidFill>
              </a:rPr>
              <a:t>(37 questions)</a:t>
            </a:r>
            <a:endParaRPr lang="fr-FR" sz="4400" dirty="0">
              <a:solidFill>
                <a:srgbClr val="C00000"/>
              </a:solidFill>
            </a:endParaRP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7C027DD7-8FCF-8F55-C4CF-3485777F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685800"/>
            <a:ext cx="69342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600" b="1" dirty="0">
                <a:solidFill>
                  <a:srgbClr val="3333FF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b="1" dirty="0">
                <a:solidFill>
                  <a:srgbClr val="3333FF"/>
                </a:solidFill>
              </a:rPr>
              <a:t>S35: Hépatites virales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7F336A-28F6-8363-17AC-78E0D470A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86DAE094-8164-A2CA-174A-BBB4249EA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1. Le virus de l’hépatite A est transmis 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Par voie parentérale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Par voie </a:t>
            </a:r>
            <a:r>
              <a:rPr lang="fr-FR" altLang="fr-FR" sz="2400" b="1" dirty="0" err="1"/>
              <a:t>féco</a:t>
            </a:r>
            <a:r>
              <a:rPr lang="fr-FR" altLang="fr-FR" sz="2400" b="1" dirty="0"/>
              <a:t>-orale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Par relations sexuelles </a:t>
            </a:r>
            <a:r>
              <a:rPr lang="fr-FR" altLang="fr-FR" sz="2400" b="1" dirty="0" err="1"/>
              <a:t>oro</a:t>
            </a:r>
            <a:r>
              <a:rPr lang="fr-FR" altLang="fr-FR" sz="2400" b="1" dirty="0"/>
              <a:t>-anales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Par lait maternel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Par consommation d’aliments contaminés</a:t>
            </a:r>
          </a:p>
        </p:txBody>
      </p:sp>
    </p:spTree>
    <p:extLst>
      <p:ext uri="{BB962C8B-B14F-4D97-AF65-F5344CB8AC3E}">
        <p14:creationId xmlns:p14="http://schemas.microsoft.com/office/powerpoint/2010/main" val="28582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ECC8ED09-E80C-A5CB-D755-E7534C213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2. Les facteurs de risque d’infection par le virus de l’hépatite A sont 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Voyage en zone d’endémie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Alcoolisme chronique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Non-vaccination dans un pays d’endémie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Travail dans une station d’épuration des eaux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Contact avec des animaux sauvages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36D944-52CA-2809-CA64-ED4D880D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27B81420-0A99-BC05-2802-5C87422DE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3. Le virus de l’hépatite E peu être transmis 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Par consommation d’aliments contaminés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Par contact avec les animaux tels que le porc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Par voie </a:t>
            </a:r>
            <a:r>
              <a:rPr lang="fr-FR" altLang="fr-FR" sz="2400" b="1" dirty="0" err="1"/>
              <a:t>materno</a:t>
            </a:r>
            <a:r>
              <a:rPr lang="fr-FR" altLang="fr-FR" sz="2400" b="1" dirty="0"/>
              <a:t>-fœtale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Par les rapports sexuels non protégés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Par transfusion sanguin.</a:t>
            </a:r>
          </a:p>
        </p:txBody>
      </p:sp>
    </p:spTree>
    <p:extLst>
      <p:ext uri="{BB962C8B-B14F-4D97-AF65-F5344CB8AC3E}">
        <p14:creationId xmlns:p14="http://schemas.microsoft.com/office/powerpoint/2010/main" val="42340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9C6173-B712-DB74-0C63-763E828B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6521E2EA-CF73-1982-A4D7-F15D019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4. Les principaux modes de contamination par le virus de l’hépatite B sont: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Par voie sexuelle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Par transmission horizontale intrafamiliale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Par allaitement (haut risque)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Par transmission sanguine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Par transmission verticale mère-enfant, surtout lors de l’accouchement.</a:t>
            </a:r>
          </a:p>
        </p:txBody>
      </p:sp>
    </p:spTree>
    <p:extLst>
      <p:ext uri="{BB962C8B-B14F-4D97-AF65-F5344CB8AC3E}">
        <p14:creationId xmlns:p14="http://schemas.microsoft.com/office/powerpoint/2010/main" val="29703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698B781-F621-1E52-4554-8EB9F68E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2105FE61-44CD-248D-C4AF-A72B63CD2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7724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5. Les groupes à risque d’infection par le VHB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Patients hémodialysés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Usagers de drogues intraveineuses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Détenus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Personnel de santé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Travailleurs dans les stations d’assainissement</a:t>
            </a:r>
          </a:p>
        </p:txBody>
      </p:sp>
    </p:spTree>
    <p:extLst>
      <p:ext uri="{BB962C8B-B14F-4D97-AF65-F5344CB8AC3E}">
        <p14:creationId xmlns:p14="http://schemas.microsoft.com/office/powerpoint/2010/main" val="183480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0CCA798-4E7D-ED81-6247-86D3FBE7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0438E0F3-792E-78EC-B51A-F6CBBC6E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14400"/>
            <a:ext cx="85344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6. Concernant l’infection par le virus de l’hépatite D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Elle peut toucher des sujets non porteurs du VHB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Elle nécessite la présence de l’</a:t>
            </a:r>
            <a:r>
              <a:rPr lang="fr-FR" altLang="fr-FR" sz="2400" b="1" dirty="0" err="1"/>
              <a:t>AgHBs</a:t>
            </a:r>
            <a:r>
              <a:rPr lang="fr-FR" altLang="fr-FR" sz="2400" b="1" dirty="0"/>
              <a:t> pour produire des particules virales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La contamination se fait par voie sanguine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Sa co-infection avec le VHB augmente le risque de forme fulminante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Elle est fréquente en Tunisie</a:t>
            </a:r>
          </a:p>
        </p:txBody>
      </p:sp>
    </p:spTree>
    <p:extLst>
      <p:ext uri="{BB962C8B-B14F-4D97-AF65-F5344CB8AC3E}">
        <p14:creationId xmlns:p14="http://schemas.microsoft.com/office/powerpoint/2010/main" val="212312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C03C957-79E3-9DD4-7BAB-DC503178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AF0B1AB3-8CE0-13BF-01BB-757C31128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43000"/>
            <a:ext cx="78486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7. Le virus de l’hépatite C (VHC) se transmet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Par voie parentérale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Par relations sexuelles fréquentes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Par inhalation de gouttelettes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Par transfusion de produits sanguins contaminés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Par voie </a:t>
            </a:r>
            <a:r>
              <a:rPr lang="fr-FR" altLang="fr-FR" sz="2400" b="1" dirty="0" err="1"/>
              <a:t>oro</a:t>
            </a:r>
            <a:r>
              <a:rPr lang="fr-FR" altLang="fr-FR" sz="2400" b="1" dirty="0"/>
              <a:t>-fécale</a:t>
            </a:r>
          </a:p>
        </p:txBody>
      </p:sp>
    </p:spTree>
    <p:extLst>
      <p:ext uri="{BB962C8B-B14F-4D97-AF65-F5344CB8AC3E}">
        <p14:creationId xmlns:p14="http://schemas.microsoft.com/office/powerpoint/2010/main" val="258193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155B0FB-68B6-FB10-D1BC-F53EBBF0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E1DAF2A0-4ACC-BDAD-074D-F6D21698A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8. Parmi les caractéristiques du virus de l’hépatite B vous retenez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Un virus enveloppé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Il possède une activité reverse transcriptase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Il possède un seul génotype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Un virus à ADN circulaire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Un virus oncogène</a:t>
            </a:r>
          </a:p>
        </p:txBody>
      </p:sp>
    </p:spTree>
    <p:extLst>
      <p:ext uri="{BB962C8B-B14F-4D97-AF65-F5344CB8AC3E}">
        <p14:creationId xmlns:p14="http://schemas.microsoft.com/office/powerpoint/2010/main" val="149529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1B7936E-A29E-FA89-5594-080056A5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4540F4E1-BE13-7DA1-D244-3A333E3AB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500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9. Concernant les marqueurs sérologiques de l'hépatite B: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L’</a:t>
            </a:r>
            <a:r>
              <a:rPr lang="fr-FR" altLang="fr-FR" sz="2400" b="1" dirty="0" err="1"/>
              <a:t>AgHBs</a:t>
            </a:r>
            <a:r>
              <a:rPr lang="fr-FR" altLang="fr-FR" sz="2400" b="1" dirty="0"/>
              <a:t> est un marqueur d’infection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L’Anti-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IgM est un marqueur d’infection aiguë ou récente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L’</a:t>
            </a:r>
            <a:r>
              <a:rPr lang="fr-FR" altLang="fr-FR" sz="2400" b="1" dirty="0" err="1"/>
              <a:t>AgHBe</a:t>
            </a:r>
            <a:r>
              <a:rPr lang="fr-FR" altLang="fr-FR" sz="2400" b="1" dirty="0"/>
              <a:t> est un marqueur de virus mutant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L’Anti-</a:t>
            </a:r>
            <a:r>
              <a:rPr lang="fr-FR" altLang="fr-FR" sz="2400" b="1" dirty="0" err="1"/>
              <a:t>HBs</a:t>
            </a:r>
            <a:r>
              <a:rPr lang="fr-FR" altLang="fr-FR" sz="2400" b="1" dirty="0"/>
              <a:t> est un marqueur d’immunisation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L’Anti-</a:t>
            </a:r>
            <a:r>
              <a:rPr lang="fr-FR" altLang="fr-FR" sz="2400" b="1" dirty="0" err="1"/>
              <a:t>HBe</a:t>
            </a:r>
            <a:r>
              <a:rPr lang="fr-FR" altLang="fr-FR" sz="2400" b="1" dirty="0"/>
              <a:t> est un marqueur de disparition de la réplication virale (sauf mutant)</a:t>
            </a:r>
          </a:p>
        </p:txBody>
      </p:sp>
    </p:spTree>
    <p:extLst>
      <p:ext uri="{BB962C8B-B14F-4D97-AF65-F5344CB8AC3E}">
        <p14:creationId xmlns:p14="http://schemas.microsoft.com/office/powerpoint/2010/main" val="177050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DF53FB-8056-95EF-F095-ECEF0104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9DCE9B7-1BEA-C7A2-FDFF-2FE44E25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10. Le profil sérologique B suivant : </a:t>
            </a:r>
            <a:r>
              <a:rPr lang="fr-FR" altLang="fr-FR" sz="2400" b="1" dirty="0" err="1"/>
              <a:t>AgHBs</a:t>
            </a:r>
            <a:r>
              <a:rPr lang="fr-FR" altLang="fr-FR" sz="2400" b="1" dirty="0"/>
              <a:t> négatif, anti-</a:t>
            </a:r>
            <a:r>
              <a:rPr lang="fr-FR" altLang="fr-FR" sz="2400" b="1" dirty="0" err="1"/>
              <a:t>HBs</a:t>
            </a:r>
            <a:r>
              <a:rPr lang="fr-FR" altLang="fr-FR" sz="2400" b="1" dirty="0"/>
              <a:t> positif, 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IgG positif, est en faveur de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Sujet vacciné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Sujet immunisé après une infection passée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Sujet naïf de toute infection virale B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Infection chronique B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Infection aigue B</a:t>
            </a:r>
          </a:p>
        </p:txBody>
      </p:sp>
    </p:spTree>
    <p:extLst>
      <p:ext uri="{BB962C8B-B14F-4D97-AF65-F5344CB8AC3E}">
        <p14:creationId xmlns:p14="http://schemas.microsoft.com/office/powerpoint/2010/main" val="353597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4D4686-BFCB-D849-DD4C-088F0B7F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06CE13A7-6BA5-2C13-1C7C-EEB3544BC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500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11. Vous indiquez un traitement antiviral B dans les situations cliniques suivantes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Cirrhose avec ADN viral B détectable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</a:t>
            </a:r>
            <a:r>
              <a:rPr lang="fr-FR" altLang="fr-FR" sz="2400" b="1" dirty="0" err="1"/>
              <a:t>AgHBe</a:t>
            </a:r>
            <a:r>
              <a:rPr lang="fr-FR" altLang="fr-FR" sz="2400" b="1" dirty="0"/>
              <a:t> positif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ADN viral B &gt; 20 000 UI/</a:t>
            </a:r>
            <a:r>
              <a:rPr lang="fr-FR" altLang="fr-FR" sz="2400" b="1" dirty="0" err="1"/>
              <a:t>mL</a:t>
            </a:r>
            <a:r>
              <a:rPr lang="fr-FR" altLang="fr-FR" sz="2400" b="1" dirty="0"/>
              <a:t> qq soit le reste des paramètres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type IgM positif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ADN viral B &gt; 2000 UI/</a:t>
            </a:r>
            <a:r>
              <a:rPr lang="fr-FR" altLang="fr-FR" sz="2400" b="1" dirty="0" err="1"/>
              <a:t>mL</a:t>
            </a:r>
            <a:r>
              <a:rPr lang="fr-FR" altLang="fr-FR" sz="2400" b="1" dirty="0"/>
              <a:t> associé à des lésions hépatiques </a:t>
            </a:r>
            <a:r>
              <a:rPr lang="fr-FR" altLang="fr-FR" sz="2400" b="1" dirty="0" err="1"/>
              <a:t>Métavir</a:t>
            </a:r>
            <a:r>
              <a:rPr lang="fr-FR" altLang="fr-FR" sz="2400" b="1" dirty="0"/>
              <a:t> ≥ F2</a:t>
            </a:r>
          </a:p>
        </p:txBody>
      </p:sp>
    </p:spTree>
    <p:extLst>
      <p:ext uri="{BB962C8B-B14F-4D97-AF65-F5344CB8AC3E}">
        <p14:creationId xmlns:p14="http://schemas.microsoft.com/office/powerpoint/2010/main" val="220472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34EAC0-2103-CF10-E905-AD4F36A2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85123347-5FE7-43EA-D46C-BED8517BC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12. Les principaux objectifs thérapeutiques dans l’hépatite B chronique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Normalisation des ALAT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Perte de l’</a:t>
            </a:r>
            <a:r>
              <a:rPr lang="fr-FR" altLang="fr-FR" sz="2400" b="1" dirty="0" err="1"/>
              <a:t>AgHBs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Virosuppression</a:t>
            </a:r>
            <a:r>
              <a:rPr lang="fr-FR" altLang="fr-FR" sz="2400" b="1" dirty="0"/>
              <a:t> (ADN viral B indétectable)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Séroconversion </a:t>
            </a:r>
            <a:r>
              <a:rPr lang="fr-FR" altLang="fr-FR" sz="2400" b="1" dirty="0" err="1"/>
              <a:t>AgHBe</a:t>
            </a:r>
            <a:r>
              <a:rPr lang="fr-FR" altLang="fr-FR" sz="2400" b="1" dirty="0"/>
              <a:t>  anti-</a:t>
            </a:r>
            <a:r>
              <a:rPr lang="fr-FR" altLang="fr-FR" sz="2400" b="1" dirty="0" err="1"/>
              <a:t>HBe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Elimination complète du virus B</a:t>
            </a:r>
          </a:p>
        </p:txBody>
      </p:sp>
    </p:spTree>
    <p:extLst>
      <p:ext uri="{BB962C8B-B14F-4D97-AF65-F5344CB8AC3E}">
        <p14:creationId xmlns:p14="http://schemas.microsoft.com/office/powerpoint/2010/main" val="85404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649CA0-9560-EFC4-F179-74AF71F2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8FCB77D2-1BA8-E6B3-7DA7-983E0EA2F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13. Les médicaments utilisés actuellement pour le traitement du virus B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Lamivudine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</a:t>
            </a:r>
            <a:r>
              <a:rPr lang="fr-FR" altLang="fr-FR" sz="2400" b="1" dirty="0" err="1"/>
              <a:t>Entecavir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Ténofovir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Sofosbuvir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Ribavirine</a:t>
            </a:r>
          </a:p>
        </p:txBody>
      </p:sp>
    </p:spTree>
    <p:extLst>
      <p:ext uri="{BB962C8B-B14F-4D97-AF65-F5344CB8AC3E}">
        <p14:creationId xmlns:p14="http://schemas.microsoft.com/office/powerpoint/2010/main" val="287951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BFAAC5C-4DF1-F628-90BD-9CD0754E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7011EB7-5E90-2F0A-2163-4C2BD1B2A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14. La surveillance des patients sous traitement antiviral B se base sur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Bilan hépatique régulier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Dosage de l’ADN viral B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Suivi de la densité osseuse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Évaluation de la fibrose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Surveillance du carcinome hépatocellulaire</a:t>
            </a:r>
          </a:p>
        </p:txBody>
      </p:sp>
    </p:spTree>
    <p:extLst>
      <p:ext uri="{BB962C8B-B14F-4D97-AF65-F5344CB8AC3E}">
        <p14:creationId xmlns:p14="http://schemas.microsoft.com/office/powerpoint/2010/main" val="313001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C335AC6-2A30-2941-0314-C3EF3476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FA09C7AC-4019-E80A-1871-F6042B409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15. L’hépatite E est caractérisé par les éléments suivants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Elle peut évoluer vers une forme chronique chez l’immunodéprimé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Il existe un vaccin en Chine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La forme aiguë est souvent asymptomatique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L’infection est grave chez la femme enceinte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Le diagnostic repose sur la biopsie hépatique</a:t>
            </a:r>
          </a:p>
        </p:txBody>
      </p:sp>
    </p:spTree>
    <p:extLst>
      <p:ext uri="{BB962C8B-B14F-4D97-AF65-F5344CB8AC3E}">
        <p14:creationId xmlns:p14="http://schemas.microsoft.com/office/powerpoint/2010/main" val="132551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01DFF18-5FF3-FEED-C56E-492FD501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C503B34-338F-A65E-26C8-C9A663303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16. Les patients à risque de forme grave d’hépatite E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Femmes enceintes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Patients immunodéprimés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Patients ayant une stéatose hépatique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Patients atteints de maladies inflammatoires chroniques de l’intestin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Diabétiques sous insuline</a:t>
            </a:r>
          </a:p>
        </p:txBody>
      </p:sp>
    </p:spTree>
    <p:extLst>
      <p:ext uri="{BB962C8B-B14F-4D97-AF65-F5344CB8AC3E}">
        <p14:creationId xmlns:p14="http://schemas.microsoft.com/office/powerpoint/2010/main" val="414873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F9F3FF-0745-010B-DBDC-FF772D46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A48F57BC-0CB6-E3E4-DE94-2EFA7014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17. Le traitement antiviral C est actuellement indiqué dans les situations suivantes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Si ARN viral C &gt; 2000 UI/</a:t>
            </a:r>
            <a:r>
              <a:rPr lang="fr-FR" altLang="fr-FR" sz="2400" b="1" dirty="0" err="1"/>
              <a:t>mL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Uniquement en cas de fibrose &gt; F2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Uniquement chez les immunodéprimés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Toute personne avec ARN viral C détectable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En cas de co-infection VHC-VIH</a:t>
            </a:r>
          </a:p>
        </p:txBody>
      </p:sp>
    </p:spTree>
    <p:extLst>
      <p:ext uri="{BB962C8B-B14F-4D97-AF65-F5344CB8AC3E}">
        <p14:creationId xmlns:p14="http://schemas.microsoft.com/office/powerpoint/2010/main" val="300396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C8EF1A-3CAF-83AD-F52D-C161B6E3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93A5848-0CE4-0B6B-FF62-445A4971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534400" cy="37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18. Une hépatite aigue D de type </a:t>
            </a:r>
            <a:r>
              <a:rPr lang="fr-FR" altLang="fr-FR" sz="2000" b="1" dirty="0" err="1"/>
              <a:t>coinfection</a:t>
            </a:r>
            <a:r>
              <a:rPr lang="fr-FR" altLang="fr-FR" sz="2000" b="1" dirty="0"/>
              <a:t> est retenue devant le profil virologique suivant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A. Ag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(+) et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IgG (+), Anti VHD (+), ARN du VHD (+)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B. Ag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(+) et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IgM (+), Anti VHD (+), ARN du VHD (+)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C. Ag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(+) et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IgM (+), Anti VHD (+), ARN du VHD (-)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D. Ag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(-) et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IgG (+), Anti VHD (+), ARN du VHD (-)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E. Ag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(+),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IgM (-), </a:t>
            </a:r>
            <a:r>
              <a:rPr lang="fr-FR" altLang="fr-FR" sz="2000" b="1" dirty="0" err="1"/>
              <a:t>Ac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IgG (-), Anti VHD (+), ARN du VHD (+)</a:t>
            </a:r>
          </a:p>
        </p:txBody>
      </p:sp>
    </p:spTree>
    <p:extLst>
      <p:ext uri="{BB962C8B-B14F-4D97-AF65-F5344CB8AC3E}">
        <p14:creationId xmlns:p14="http://schemas.microsoft.com/office/powerpoint/2010/main" val="18169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2435EE1-7C57-7281-8A05-FA85C57E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E0DB0130-6327-4D73-505B-415691B54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43000"/>
            <a:ext cx="80772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19. Le vaccin contre l’hépatite B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Contient l’</a:t>
            </a:r>
            <a:r>
              <a:rPr lang="fr-FR" altLang="fr-FR" sz="2400" b="1" dirty="0" err="1"/>
              <a:t>AgHBs</a:t>
            </a:r>
            <a:r>
              <a:rPr lang="fr-FR" altLang="fr-FR" sz="2400" b="1" dirty="0"/>
              <a:t> recombinant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Est administré par voie IV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Est systématique chez les professionnels de santé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Est contre-indiqué chez la femme enceinte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Est jugé efficace si le taux de l’anti-</a:t>
            </a:r>
            <a:r>
              <a:rPr lang="fr-FR" altLang="fr-FR" sz="2400" b="1" dirty="0" err="1"/>
              <a:t>HBs</a:t>
            </a:r>
            <a:r>
              <a:rPr lang="fr-FR" altLang="fr-FR" sz="2400" b="1" dirty="0"/>
              <a:t> &gt; 10 UI/</a:t>
            </a:r>
            <a:r>
              <a:rPr lang="fr-FR" altLang="fr-FR" sz="2400" b="1" dirty="0" err="1"/>
              <a:t>mL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44035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4A9DDC-00DD-C72F-42BE-F46783DE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1A94594B-F395-EA08-6354-F7B3188C2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20. Le traitement antiviral B recommandé pour la prophylaxie de la transmission verticale du virus B est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Lamivudine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</a:t>
            </a:r>
            <a:r>
              <a:rPr lang="fr-FR" altLang="fr-FR" sz="2400" b="1" dirty="0" err="1"/>
              <a:t>Entécavir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Interféron </a:t>
            </a:r>
            <a:r>
              <a:rPr lang="fr-FR" altLang="fr-FR" sz="2400" b="1" dirty="0" err="1"/>
              <a:t>pégylé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Ténofovir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</a:t>
            </a:r>
            <a:r>
              <a:rPr lang="fr-FR" altLang="fr-FR" sz="2400" b="1" dirty="0" err="1"/>
              <a:t>Sofosbuvir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99214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93CF23-9CFE-8856-A734-B23F73E4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855E984A-5CD6-CBAE-CA53-D4F6BD9A0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21. Les moyens qui permettent de prévenir la transmission du virus B sont: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Vaccination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Port de gants lors de soins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Stérilisation du matériel médical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Traitement systématique des sujets contacts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Utilisation de préservatifs</a:t>
            </a:r>
          </a:p>
        </p:txBody>
      </p:sp>
    </p:spTree>
    <p:extLst>
      <p:ext uri="{BB962C8B-B14F-4D97-AF65-F5344CB8AC3E}">
        <p14:creationId xmlns:p14="http://schemas.microsoft.com/office/powerpoint/2010/main" val="266429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953004-58E3-75FD-13BC-1EDC3BD0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9C05001-9D25-D0E6-8A95-0AB5B0A68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22. Les manifestations extra-hépatiques possibles de l’infection par le virus B sont: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Polyarthrite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Glomérulonéphrite </a:t>
            </a:r>
            <a:r>
              <a:rPr lang="fr-FR" altLang="fr-FR" sz="2400" b="1" dirty="0" err="1"/>
              <a:t>membrano</a:t>
            </a:r>
            <a:r>
              <a:rPr lang="fr-FR" altLang="fr-FR" sz="2400" b="1" dirty="0"/>
              <a:t>-proliférative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Vascularite </a:t>
            </a:r>
            <a:r>
              <a:rPr lang="fr-FR" altLang="fr-FR" sz="2400" b="1" dirty="0" err="1"/>
              <a:t>cryoglobulinémique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Syndrome de Guillain Barré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Fibrose pulmonaire diffuse</a:t>
            </a:r>
          </a:p>
        </p:txBody>
      </p:sp>
    </p:spTree>
    <p:extLst>
      <p:ext uri="{BB962C8B-B14F-4D97-AF65-F5344CB8AC3E}">
        <p14:creationId xmlns:p14="http://schemas.microsoft.com/office/powerpoint/2010/main" val="392865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F26791-5162-6AAC-E3C5-D9542EFB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6541B30B-4B2F-8B9A-C615-5C00AFD32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23. Le traitement de l’hépatite chronique E se base sur: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Lamivudine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</a:t>
            </a:r>
            <a:r>
              <a:rPr lang="fr-FR" altLang="fr-FR" sz="2400" b="1" dirty="0" err="1"/>
              <a:t>Entécavir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Ribavirine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Sofosbuvir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</a:t>
            </a:r>
            <a:r>
              <a:rPr lang="fr-FR" altLang="fr-FR" sz="2400" b="1" dirty="0" err="1"/>
              <a:t>Lédipasvir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3956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FF2C80C-EF11-59CB-8179-BB4E51B6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0F838DF0-4582-EC09-3DC7-68A49978B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8458200" cy="500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24. En cas d’accident d’exposition au sang chez un sujet non vacciné contre le virus B, votre conduite sera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Administrer une dose de vaccin </a:t>
            </a:r>
            <a:r>
              <a:rPr lang="fr-FR" altLang="fr-FR" sz="2400" b="1" dirty="0" err="1"/>
              <a:t>anti-VHB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Administrer des immunoglobulines spécifiques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Contrôler les sérologies virales du contact source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Administrer d’emblée un traitement antiviral de type Interféron alpha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Administrer d’emblée un traitement antiviral de type </a:t>
            </a:r>
            <a:r>
              <a:rPr lang="fr-FR" altLang="fr-FR" sz="2400" b="1" dirty="0" err="1"/>
              <a:t>Entécavir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92760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C36A86-9F00-B64B-0026-53525F57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658982B9-643C-EABD-5E0F-3FBDCD25D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3152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25. Les marqueurs de réplication virale B sont: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ADN VHB détectable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</a:t>
            </a:r>
            <a:r>
              <a:rPr lang="fr-FR" altLang="fr-FR" sz="2400" b="1" dirty="0" err="1"/>
              <a:t>AgHBe</a:t>
            </a:r>
            <a:r>
              <a:rPr lang="fr-FR" altLang="fr-FR" sz="2400" b="1" dirty="0"/>
              <a:t> positif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Anti-</a:t>
            </a:r>
            <a:r>
              <a:rPr lang="fr-FR" altLang="fr-FR" sz="2400" b="1" dirty="0" err="1"/>
              <a:t>HBs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IgM Anti-</a:t>
            </a:r>
            <a:r>
              <a:rPr lang="fr-FR" altLang="fr-FR" sz="2400" b="1" dirty="0" err="1"/>
              <a:t>HBc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Ag </a:t>
            </a:r>
            <a:r>
              <a:rPr lang="fr-FR" altLang="fr-FR" sz="2400" b="1" dirty="0" err="1"/>
              <a:t>HBs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7209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5316ED-5AB8-723E-DB9E-0A8FBD17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F5CF979-46CC-0FC2-30DE-C08F07F63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26. Les mesures préventives recommandées contre le virus de l’hépatite E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Cuisson suffisante de la viande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Vaccination systématique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Port de gants et de bottes chez les vétérinaires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Lavage des mains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Pasteurisation du lait</a:t>
            </a:r>
          </a:p>
        </p:txBody>
      </p:sp>
    </p:spTree>
    <p:extLst>
      <p:ext uri="{BB962C8B-B14F-4D97-AF65-F5344CB8AC3E}">
        <p14:creationId xmlns:p14="http://schemas.microsoft.com/office/powerpoint/2010/main" val="387161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A0463D3-F2C1-C23C-E9CB-9FB732E6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CD814C66-B8BE-E6ED-37C3-B2CF448AA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27. Les gestes de soins qui peuvent transmettre une hépatite virale B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Injection avec seringue usagée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Mauvaise désinfection du matériel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Application d’un sparadrap sur la peau d’un sujet infecté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Aérosols respiratoires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Transfusion sanguine</a:t>
            </a:r>
          </a:p>
        </p:txBody>
      </p:sp>
    </p:spTree>
    <p:extLst>
      <p:ext uri="{BB962C8B-B14F-4D97-AF65-F5344CB8AC3E}">
        <p14:creationId xmlns:p14="http://schemas.microsoft.com/office/powerpoint/2010/main" val="83309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EDD887-A5BF-3A9C-F93F-242361071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FF1798BC-FD84-C376-3BA7-BAD1AAAE6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7848600" cy="500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28. Chez un patient ictérique, le diagnostic d’une hépatite aiguë virale A est évoqué devant: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A- La notion de transfusion sanguine dans les 2 mois qui ont précédé l’ictère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B- La notion d’hépatite virale aiguë dans l’entourage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C- Le travail du patient dans une station d’assainissement.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D- Des scarifications récentes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E- Des tatouages</a:t>
            </a:r>
          </a:p>
        </p:txBody>
      </p:sp>
    </p:spTree>
    <p:extLst>
      <p:ext uri="{BB962C8B-B14F-4D97-AF65-F5344CB8AC3E}">
        <p14:creationId xmlns:p14="http://schemas.microsoft.com/office/powerpoint/2010/main" val="176062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66A3D-6716-0942-6572-FD1FA3AD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A520F611-4182-8BAA-D935-23C75E55D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29. Au cours d’une hépatite aiguë, les éléments qui font craindre une forme fulminante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A- Un ictère foncé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B- La présence de fièvre.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C- La survenue d’accès confusionnels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D- Un </a:t>
            </a:r>
            <a:r>
              <a:rPr lang="fr-FR" altLang="fr-FR" sz="2400" b="1" dirty="0" err="1"/>
              <a:t>astérixis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E- Une élévation importante des transaminases</a:t>
            </a:r>
          </a:p>
        </p:txBody>
      </p:sp>
    </p:spTree>
    <p:extLst>
      <p:ext uri="{BB962C8B-B14F-4D97-AF65-F5344CB8AC3E}">
        <p14:creationId xmlns:p14="http://schemas.microsoft.com/office/powerpoint/2010/main" val="132481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CD534C8-DE14-EC50-3980-EEEF1A14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3ED01347-AC5A-CD5A-9045-9ED05EBA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30. Les marqueurs sérologiques retrouvées positifs dans une hépatite B ancienne « guérie »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A- Antigène </a:t>
            </a:r>
            <a:r>
              <a:rPr lang="fr-FR" altLang="fr-FR" sz="2400" b="1" dirty="0" err="1"/>
              <a:t>HBs</a:t>
            </a:r>
            <a:r>
              <a:rPr lang="fr-FR" altLang="fr-FR" sz="2400" b="1" dirty="0"/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B-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 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de type IgM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C-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de type IgG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D- Antigène </a:t>
            </a:r>
            <a:r>
              <a:rPr lang="fr-FR" altLang="fr-FR" sz="2400" b="1" dirty="0" err="1"/>
              <a:t>HBe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E-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 </a:t>
            </a:r>
            <a:r>
              <a:rPr lang="fr-FR" altLang="fr-FR" sz="2400" b="1" dirty="0" err="1"/>
              <a:t>HBs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85955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179241E-1BD6-2F9F-6D3D-D573E146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FADA55FE-8DA2-2E07-F1EC-511C4A88A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31. Devant un patient présentant une hépatite aigue virale, vous évoquez un tableau grave si vous constatez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Des arthralgies intenses.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Une augmentation du volume du foie.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Un prurit intense.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Des gingivorragies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Des troubles neuropsychiques.</a:t>
            </a:r>
          </a:p>
        </p:txBody>
      </p:sp>
    </p:spTree>
    <p:extLst>
      <p:ext uri="{BB962C8B-B14F-4D97-AF65-F5344CB8AC3E}">
        <p14:creationId xmlns:p14="http://schemas.microsoft.com/office/powerpoint/2010/main" val="418091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3E9E0A-2A5D-2340-71CD-0CBCF284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B7B8E54-DB38-0068-12D4-A30EC07D8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32. Pour confirmer le diagnostic d’une hépatite aigue B vous cherchez la positivité de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anti-</a:t>
            </a:r>
            <a:r>
              <a:rPr lang="fr-FR" altLang="fr-FR" sz="2400" b="1" dirty="0" err="1"/>
              <a:t>HBs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Antigène </a:t>
            </a:r>
            <a:r>
              <a:rPr lang="fr-FR" altLang="fr-FR" sz="2400" b="1" dirty="0" err="1"/>
              <a:t>HBs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de type IgG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Ac</a:t>
            </a:r>
            <a:r>
              <a:rPr lang="fr-FR" altLang="fr-FR" sz="2400" b="1" dirty="0"/>
              <a:t> anti-</a:t>
            </a:r>
            <a:r>
              <a:rPr lang="fr-FR" altLang="fr-FR" sz="2400" b="1" dirty="0" err="1"/>
              <a:t>HBc</a:t>
            </a:r>
            <a:r>
              <a:rPr lang="fr-FR" altLang="fr-FR" sz="2400" b="1" dirty="0"/>
              <a:t> de type IgM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Antigène </a:t>
            </a:r>
            <a:r>
              <a:rPr lang="fr-FR" altLang="fr-FR" sz="2400" b="1" dirty="0" err="1"/>
              <a:t>HBe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54076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EA5858-EE31-0B0F-5868-F87DD4F0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0213506A-5992-1C90-C173-2BEBFB4E8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33. La vaccination contre l’hépatite virale est possible pour le(s) virus suivant(s):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Virus A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Virus B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Virus C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Virus D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Virus E</a:t>
            </a:r>
          </a:p>
        </p:txBody>
      </p:sp>
    </p:spTree>
    <p:extLst>
      <p:ext uri="{BB962C8B-B14F-4D97-AF65-F5344CB8AC3E}">
        <p14:creationId xmlns:p14="http://schemas.microsoft.com/office/powerpoint/2010/main" val="366870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AC6AA5E-DF52-A0F3-63E3-07139419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FB555BC-8D7A-0E9E-A7BC-1266FD5D1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34. Devant un patient présentant une hépatite aigue, l’origine virale est évoquée devant le(s) éléments(s) suivant(s)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Les antécédents de scarifications.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L’installation aigue des symptômes.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La présence d’arthralgies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L’asthénie intense.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Le syndrome </a:t>
            </a:r>
            <a:r>
              <a:rPr lang="fr-FR" altLang="fr-FR" sz="2400" b="1" dirty="0" err="1"/>
              <a:t>pseud</a:t>
            </a:r>
            <a:r>
              <a:rPr lang="fr-FR" altLang="fr-FR" sz="2400" b="1" dirty="0"/>
              <a:t>-grippal</a:t>
            </a:r>
          </a:p>
        </p:txBody>
      </p:sp>
    </p:spTree>
    <p:extLst>
      <p:ext uri="{BB962C8B-B14F-4D97-AF65-F5344CB8AC3E}">
        <p14:creationId xmlns:p14="http://schemas.microsoft.com/office/powerpoint/2010/main" val="122094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637A8A1-0BB6-AB70-2266-F898B957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EF0B60C-F622-B756-F784-9EF4A23E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35. Un dépistage de l’hépatite B est légalement obligatoire dans les situations suivantes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Bilan prénuptial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Bilan d’embauche.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Donneur de sang.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Avant de partir à l’étranger.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Femme enceinte</a:t>
            </a:r>
          </a:p>
        </p:txBody>
      </p:sp>
    </p:spTree>
    <p:extLst>
      <p:ext uri="{BB962C8B-B14F-4D97-AF65-F5344CB8AC3E}">
        <p14:creationId xmlns:p14="http://schemas.microsoft.com/office/powerpoint/2010/main" val="5297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2F98B79-E8D3-73AA-71FC-B88A9F37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9472EC7D-E822-49E8-2AF2-B6F498531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36. Le traitement de l’hépatite virale C en Tunisie est basée actuellement sur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Entécavir</a:t>
            </a:r>
            <a:r>
              <a:rPr lang="fr-FR" altLang="fr-FR" sz="2400" b="1" dirty="0"/>
              <a:t> + ribavirine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Interféron </a:t>
            </a:r>
            <a:r>
              <a:rPr lang="fr-FR" altLang="fr-FR" sz="2400" b="1" dirty="0" err="1"/>
              <a:t>pégylée</a:t>
            </a:r>
            <a:r>
              <a:rPr lang="fr-FR" altLang="fr-FR" sz="2400" b="1" dirty="0"/>
              <a:t> + ribavirine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Sofosbuvir</a:t>
            </a:r>
            <a:r>
              <a:rPr lang="fr-FR" altLang="fr-FR" sz="2400" b="1" dirty="0"/>
              <a:t> + </a:t>
            </a:r>
            <a:r>
              <a:rPr lang="fr-FR" altLang="fr-FR" sz="2400" b="1" dirty="0" err="1"/>
              <a:t>Velpatasvir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Lamivudine</a:t>
            </a:r>
            <a:r>
              <a:rPr lang="fr-FR" altLang="fr-FR" sz="2400" b="1" dirty="0"/>
              <a:t> + Ribavirine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Interféron </a:t>
            </a:r>
            <a:r>
              <a:rPr lang="fr-FR" altLang="fr-FR" sz="2400" b="1" dirty="0" err="1"/>
              <a:t>pégylée</a:t>
            </a:r>
            <a:r>
              <a:rPr lang="fr-FR" altLang="fr-FR" sz="2400" b="1" dirty="0"/>
              <a:t> seule</a:t>
            </a:r>
          </a:p>
        </p:txBody>
      </p:sp>
    </p:spTree>
    <p:extLst>
      <p:ext uri="{BB962C8B-B14F-4D97-AF65-F5344CB8AC3E}">
        <p14:creationId xmlns:p14="http://schemas.microsoft.com/office/powerpoint/2010/main" val="100371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F5F9094-2903-86AB-616E-DBE677D64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14B620F-B25C-E254-2841-23436620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43000"/>
            <a:ext cx="7239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37. Au cours d’une hépatite aiguë, les éléments cliniques qui sont en faveur d’une hépatite grave sont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une hépatomégalie importante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des </a:t>
            </a:r>
            <a:r>
              <a:rPr lang="fr-FR" altLang="fr-FR" sz="2400" b="1" dirty="0" err="1"/>
              <a:t>écchymoses</a:t>
            </a:r>
            <a:r>
              <a:rPr lang="fr-FR" altLang="fr-FR" sz="2400" b="1" dirty="0"/>
              <a:t> cutanées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un ictère très foncé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un </a:t>
            </a:r>
            <a:r>
              <a:rPr lang="fr-FR" altLang="fr-FR" sz="2400" b="1" dirty="0" err="1"/>
              <a:t>astérixis</a:t>
            </a:r>
            <a:endParaRPr lang="fr-FR" altLang="fr-FR" sz="24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l'apparition de troubles de la conscience.</a:t>
            </a:r>
          </a:p>
        </p:txBody>
      </p:sp>
    </p:spTree>
    <p:extLst>
      <p:ext uri="{BB962C8B-B14F-4D97-AF65-F5344CB8AC3E}">
        <p14:creationId xmlns:p14="http://schemas.microsoft.com/office/powerpoint/2010/main" val="30381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EF78EF-592E-4D88-B673-082BBA227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67755"/>
            <a:ext cx="5867400" cy="1577900"/>
          </a:xfrm>
          <a:prstGeom prst="rect">
            <a:avLst/>
          </a:prstGeom>
          <a:solidFill>
            <a:srgbClr val="FF9797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36000" bIns="216000" anchor="ctr">
            <a:spAutoFit/>
          </a:bodyPr>
          <a:lstStyle/>
          <a:p>
            <a:pPr algn="ctr" eaLnBrk="1" hangingPunct="1">
              <a:defRPr/>
            </a:pPr>
            <a:r>
              <a:rPr lang="fr-FR" sz="5400" b="1" dirty="0">
                <a:solidFill>
                  <a:srgbClr val="C00000"/>
                </a:solidFill>
              </a:rPr>
              <a:t>Cas cliniques</a:t>
            </a:r>
          </a:p>
          <a:p>
            <a:pPr algn="ctr" eaLnBrk="1" hangingPunct="1">
              <a:defRPr/>
            </a:pPr>
            <a:r>
              <a:rPr lang="fr-FR" sz="3200" b="1" dirty="0">
                <a:solidFill>
                  <a:srgbClr val="C00000"/>
                </a:solidFill>
              </a:rPr>
              <a:t>(19 questions)</a:t>
            </a:r>
            <a:endParaRPr lang="fr-FR" sz="3200" dirty="0">
              <a:solidFill>
                <a:srgbClr val="C00000"/>
              </a:solidFill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5973BD3-F78D-E054-7D81-525ED530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685800"/>
            <a:ext cx="69342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600" b="1" dirty="0">
                <a:solidFill>
                  <a:srgbClr val="3333FF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b="1" dirty="0">
                <a:solidFill>
                  <a:srgbClr val="3333FF"/>
                </a:solidFill>
              </a:rPr>
              <a:t>S35: Hépatites virales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035C68A-7502-4198-BDC1-D77D3AFDC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197100"/>
            <a:ext cx="6324600" cy="10080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bIns="72000"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fr-FR" sz="4400" b="1" dirty="0">
                <a:solidFill>
                  <a:srgbClr val="008000"/>
                </a:solidFill>
              </a:rPr>
              <a:t>Cas clinique n°1 </a:t>
            </a:r>
            <a:endParaRPr lang="fr-FR" sz="4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F7D6538C-7A4B-8BF7-7FFB-F95092D89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8382000" cy="518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b="1" dirty="0"/>
              <a:t>Patiente </a:t>
            </a:r>
            <a:r>
              <a:rPr lang="fr-FR" altLang="fr-FR" sz="2200" b="1" dirty="0" err="1"/>
              <a:t>Mouna</a:t>
            </a:r>
            <a:r>
              <a:rPr lang="fr-FR" altLang="fr-FR" sz="2200" b="1" dirty="0"/>
              <a:t> S. de 29 ans, originaire de Msaken, se plaint depuis 2 semaines d'asthénie intense avec ictère d’allure cholestatique.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b="1" dirty="0"/>
              <a:t> * Signes fonctionnels associés : somnolence, anorexie, vomissements post-prandiaux et polyarthralgie.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b="1" dirty="0"/>
              <a:t> * Non vaccinée contre l'hépatite virale B.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b="1" dirty="0"/>
              <a:t> * A l'examen : ictère conjonctival, traces d'injections intraveineuses aux deux bras en rapport avec une toxicomanie affirmée par la patiente. </a:t>
            </a: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200" b="1" dirty="0">
                <a:sym typeface="Wingdings" panose="05000000000000000000" pitchFamily="2" charset="2"/>
              </a:rPr>
              <a:t> </a:t>
            </a:r>
            <a:r>
              <a:rPr lang="fr-FR" altLang="fr-FR" sz="2200" b="1" dirty="0"/>
              <a:t>Vous évoquez le diagnostic d'hépatite virale aiguë.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B869040-ED09-C0AA-7D61-4F982C367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074738"/>
            <a:ext cx="7239000" cy="418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38- L'examen biologique le plus utile en faveur du diagnostic d'hépatite aiguë est : 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Bilirubinémie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Taux de prothrombine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Electrophorèse des protéines sériques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D-Transaminases sériques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Numération de la formule sanguine.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1BFF9F0-AFD5-8B33-531F-BBACC0EFB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90600"/>
            <a:ext cx="7239000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39- Le signe clinique qui vous fait craindre une hépatite grave chez cette patiente est :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A- Asthénie intense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Anorexie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Polyarthralgies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Somnolence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Vomissements.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507FA1B-75A0-C4FA-E6BB-3818A5FD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14400"/>
            <a:ext cx="7239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40- Vous évoquer une hépatite grave chez cette patiente si vous constatez à l’examen physique les signes suivants : 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A- </a:t>
            </a:r>
            <a:r>
              <a:rPr lang="fr-FR" altLang="fr-FR" sz="2000" b="1" dirty="0" err="1"/>
              <a:t>Astérixis</a:t>
            </a:r>
            <a:endParaRPr lang="fr-FR" altLang="fr-FR" sz="2000" b="1" dirty="0"/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Hépatomégalie &gt; 16 cm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Splénomégalie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Lésions ecchymotiques cutanées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Urticaire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E2FD506-D5B2-EEFD-3395-BFA8B657A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14400"/>
            <a:ext cx="7239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41- L'examen biologique qui vous permet d’évaluer la gravité de l’hépatite aiguë chez cette patiente est : 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A- Taux des transaminases sériques.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Taux de bilirubinémie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Taux des plaquettes.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D-Taux de prothrombine.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Taux d’hémoglobine.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8E13AD9D-689A-A7A4-C8C8-79934BDD7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01675"/>
            <a:ext cx="7239000" cy="536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42- En plus du paramètre précédent, les autres paramètres biologiques qui vous permettent d’évaluer la gravité de l’hépatite chez cette patiente sont: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A- Taux des plaquettes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Taux de glycémie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Taux de cholestérolémie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D-Taux de créatininémie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Taux de CRP.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C6AC264F-4074-43E0-2991-282CCDB47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5438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43- Cette patiente, toxicomane, fait partie d’un groupe à haut risque d’infection pour le(s) virus suivant(s)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Virus de l'hépatite A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Virus de l'hépatite B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Virus de l'</a:t>
            </a:r>
            <a:r>
              <a:rPr lang="fr-FR" altLang="fr-FR" sz="2000" b="1" dirty="0" err="1"/>
              <a:t>immuno-déficience</a:t>
            </a:r>
            <a:r>
              <a:rPr lang="fr-FR" altLang="fr-FR" sz="2000" b="1" dirty="0"/>
              <a:t> humaine (VIH)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Virus de l’hépatite 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Virus de l'hépatite 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7A57BB7B-1BBC-DE8A-3BF4-2FC4DCEB1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305800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44- Le diagnostic d'hépatite aiguë non grave est porté chez cette femme. La recherche d'antigène </a:t>
            </a:r>
            <a:r>
              <a:rPr lang="fr-FR" altLang="fr-FR" sz="2400" b="1" dirty="0" err="1">
                <a:solidFill>
                  <a:srgbClr val="C00000"/>
                </a:solidFill>
              </a:rPr>
              <a:t>HBs</a:t>
            </a:r>
            <a:r>
              <a:rPr lang="fr-FR" altLang="fr-FR" sz="2400" b="1" dirty="0">
                <a:solidFill>
                  <a:srgbClr val="C00000"/>
                </a:solidFill>
              </a:rPr>
              <a:t> est positive. Le paramètre sérologique qui doit être positive pour rapporter au virus B cette hépatite aiguë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Recherche de l’antigène </a:t>
            </a:r>
            <a:r>
              <a:rPr lang="fr-FR" altLang="fr-FR" sz="2000" b="1" dirty="0" err="1"/>
              <a:t>Hbe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Recherche d'anticorps anti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Recherche de l’antigène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Recherche d'anticorps anti </a:t>
            </a:r>
            <a:r>
              <a:rPr lang="fr-FR" altLang="fr-FR" sz="2000" b="1" dirty="0" err="1"/>
              <a:t>Hbe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Recherche d'anticorps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de type IgM.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72182E1F-0E7B-13D0-8F4A-E3ED5F72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9248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45- Le diagnostic d’hépatite aigue B non grave, </a:t>
            </a:r>
            <a:r>
              <a:rPr lang="fr-FR" altLang="fr-FR" sz="2400" b="1" dirty="0" err="1">
                <a:solidFill>
                  <a:srgbClr val="C00000"/>
                </a:solidFill>
              </a:rPr>
              <a:t>AgHbe</a:t>
            </a:r>
            <a:r>
              <a:rPr lang="fr-FR" altLang="fr-FR" sz="2400" b="1" dirty="0">
                <a:solidFill>
                  <a:srgbClr val="C00000"/>
                </a:solidFill>
              </a:rPr>
              <a:t> négatif, a été retenue chez cette patiente, vous proposez comme traitement:</a:t>
            </a:r>
          </a:p>
          <a:p>
            <a:pPr algn="just" eaLnBrk="1" hangingPunct="1">
              <a:lnSpc>
                <a:spcPct val="20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A- Extraits hépatiques en intramusculaire.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Prednisone 30 mg/j per os.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</a:t>
            </a:r>
            <a:r>
              <a:rPr lang="fr-FR" altLang="fr-FR" sz="2000" b="1" dirty="0" err="1"/>
              <a:t>Entécavir</a:t>
            </a:r>
            <a:r>
              <a:rPr lang="fr-FR" altLang="fr-FR" sz="2000" b="1" dirty="0"/>
              <a:t> per os 1cp/j au long cours.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Interféron en sous-cutané pendant 1 an.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Traitement symptomatique.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8DF590E-22C2-6592-0C77-D812B588C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924800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46- Afin d’éviter la contamination de l’entourage vous conseillez la patiente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De ne pas partager son coupe ongle avec les autres.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De ne pas manger dans la même assiette avec les autres.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De ne pas utiliser les habits des autres.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De mettre une bavette couvrant la bouche et le nez jusqu’à disparition de l’ictère.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D’éviter définitivement les rapports sexuels non protégés avec son mari.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D7FC1381-2503-1A59-EA91-058BAA952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80772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47- A plus ou moins long terme l’hépatite aiguë B, chez la patiente, peut se compliquer de :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Insuffisance rénale.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Cirrhose.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Etat de choc septique.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Hépatocarcinome.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Hépatite chronique active.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F084D193-3C96-E8C2-FBFC-F77023D6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"/>
            <a:ext cx="8763000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Deux semaines plus tard, une infirmière au dispensaire local a prélevé un bilan de contrôle chez cette patiente, et par faute d’inattention lors du prélèvement elle s’est piquée par l’aiguille souillée de sang.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48- Vous devez immédiatement indiquer chez cette infirmière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L’injection de </a:t>
            </a:r>
            <a:r>
              <a:rPr lang="fr-FR" altLang="fr-FR" sz="2000" b="1" dirty="0" err="1"/>
              <a:t>gamma-globulines</a:t>
            </a:r>
            <a:r>
              <a:rPr lang="fr-FR" altLang="fr-FR" sz="2000" b="1" dirty="0"/>
              <a:t> standards.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L’injection de </a:t>
            </a:r>
            <a:r>
              <a:rPr lang="fr-FR" altLang="fr-FR" sz="2000" b="1" dirty="0" err="1"/>
              <a:t>gamma-globulines</a:t>
            </a:r>
            <a:r>
              <a:rPr lang="fr-FR" altLang="fr-FR" sz="2000" b="1" dirty="0"/>
              <a:t> anti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Le traitement par </a:t>
            </a:r>
            <a:r>
              <a:rPr lang="fr-FR" altLang="fr-FR" sz="2000" b="1" dirty="0" err="1"/>
              <a:t>entécavir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Le traitement par interféron.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De faire juste un rappel de vaccination anti-B.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14759599-84D6-FE8D-50B5-E18AED575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"/>
            <a:ext cx="8229600" cy="565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Dans le cadre de l’enquête familiale pour le virus B, le frère de la patiente, âgé de 40 ans, vient d’avoir une sérologie virale B montrant les résultats suivants: </a:t>
            </a:r>
            <a:r>
              <a:rPr lang="fr-FR" altLang="fr-FR" sz="2200" dirty="0" err="1"/>
              <a:t>AgHbs</a:t>
            </a:r>
            <a:r>
              <a:rPr lang="fr-FR" altLang="fr-FR" sz="2200" dirty="0"/>
              <a:t> (-) , </a:t>
            </a:r>
            <a:r>
              <a:rPr lang="fr-FR" altLang="fr-FR" sz="2200" dirty="0" err="1"/>
              <a:t>Ac</a:t>
            </a:r>
            <a:r>
              <a:rPr lang="fr-FR" altLang="fr-FR" sz="2200" dirty="0"/>
              <a:t> anti-</a:t>
            </a:r>
            <a:r>
              <a:rPr lang="fr-FR" altLang="fr-FR" sz="2200" dirty="0" err="1"/>
              <a:t>Hbs</a:t>
            </a:r>
            <a:r>
              <a:rPr lang="fr-FR" altLang="fr-FR" sz="2200" dirty="0"/>
              <a:t> (+), IgM anti-</a:t>
            </a:r>
            <a:r>
              <a:rPr lang="fr-FR" altLang="fr-FR" sz="2200" dirty="0" err="1"/>
              <a:t>Hbc</a:t>
            </a:r>
            <a:r>
              <a:rPr lang="fr-FR" altLang="fr-FR" sz="2200" dirty="0"/>
              <a:t> (-), IgG anti-</a:t>
            </a:r>
            <a:r>
              <a:rPr lang="fr-FR" altLang="fr-FR" sz="2200" dirty="0" err="1"/>
              <a:t>Hbc</a:t>
            </a:r>
            <a:r>
              <a:rPr lang="fr-FR" altLang="fr-FR" sz="2200" dirty="0"/>
              <a:t> (+), Ag </a:t>
            </a:r>
            <a:r>
              <a:rPr lang="fr-FR" altLang="fr-FR" sz="2200" dirty="0" err="1"/>
              <a:t>Hbe</a:t>
            </a:r>
            <a:r>
              <a:rPr lang="fr-FR" altLang="fr-FR" sz="2200" dirty="0"/>
              <a:t>(-), </a:t>
            </a:r>
            <a:r>
              <a:rPr lang="fr-FR" altLang="fr-FR" sz="2200" dirty="0" err="1"/>
              <a:t>Ac</a:t>
            </a:r>
            <a:r>
              <a:rPr lang="fr-FR" altLang="fr-FR" sz="2200" dirty="0"/>
              <a:t> anti-</a:t>
            </a:r>
            <a:r>
              <a:rPr lang="fr-FR" altLang="fr-FR" sz="2200" dirty="0" err="1"/>
              <a:t>Hbe</a:t>
            </a:r>
            <a:r>
              <a:rPr lang="fr-FR" altLang="fr-FR" sz="2200" dirty="0"/>
              <a:t> (-).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49- Ce profil sérologique du frère est en faveur de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Hépatite chronique B active.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Patient vacciné contre le virus B.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Portage inactif du virus B.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Hépatite B ancienne « guérie » (immunisée).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Hépatite aigue 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DA950CA5-BC78-8677-848A-428DDE4A2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50- Le mari de cette patiente, ayant une sérologie B négative, a été vacciné contre l'hépatite B lorsque sa femme a développé son hépatite aiguë. A l'examen sérologique de ce mari effectué 4 mois après la vaccination, on s'attend à trouver 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Les anticorps anti delta.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Les anticorps anti </a:t>
            </a:r>
            <a:r>
              <a:rPr lang="fr-FR" altLang="fr-FR" sz="2000" b="1" dirty="0" err="1"/>
              <a:t>HBe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Les anticorps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type IgG.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Les anticorps anti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Les anticorps anti </a:t>
            </a:r>
            <a:r>
              <a:rPr lang="fr-FR" altLang="fr-FR" sz="2000" b="1" dirty="0" err="1"/>
              <a:t>HBc</a:t>
            </a:r>
            <a:r>
              <a:rPr lang="fr-FR" altLang="fr-FR" sz="2000" b="1" dirty="0"/>
              <a:t> type IgM.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7ABD1F3A-F251-350A-308C-DFF36F37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0700"/>
            <a:ext cx="8229600" cy="4736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51- Les injections du vaccin anti-B pratiqué chez le mari seront faites selon le protocole recommandé suivant  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M0, M3, M6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M0, M6, M12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M0, M1, M6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M0, M12, M24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M0, M1, M3.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77989356-F435-A845-9802-4BD160500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52- Le(s) paramètre(s) biologique(s) que vous demandez chez cette patiente afin de recherche une hépatite chronique B </a:t>
            </a:r>
            <a:r>
              <a:rPr lang="fr-FR" altLang="fr-FR" sz="2400" b="1" u="sng" dirty="0">
                <a:solidFill>
                  <a:srgbClr val="C00000"/>
                </a:solidFill>
              </a:rPr>
              <a:t>active</a:t>
            </a:r>
            <a:r>
              <a:rPr lang="fr-FR" altLang="fr-FR" sz="2400" b="1" dirty="0">
                <a:solidFill>
                  <a:srgbClr val="C00000"/>
                </a:solidFill>
              </a:rPr>
              <a:t> est (sont):  </a:t>
            </a:r>
            <a:endParaRPr lang="fr-FR" altLang="fr-FR" sz="24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Taux des transaminases.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Taux de l’antigène 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Taux des GGT.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Taux de l’ADN viral B.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Taux de la bilirubinémie.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A323B46E-9320-2F82-1D6F-DAE6D8F82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Le bilan à 6 mois fait chez cette patiente a montré: ALAT = 120, ASAT= 100, PAL = 100, GGT = 45, BT= 15;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ADN viral B = 10 000 UI/</a:t>
            </a:r>
            <a:r>
              <a:rPr lang="fr-FR" altLang="fr-FR" sz="2200" dirty="0" err="1"/>
              <a:t>mL</a:t>
            </a:r>
            <a:r>
              <a:rPr lang="fr-FR" altLang="fr-FR" sz="2200" dirty="0"/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53- Vous proposez pour cette patiente: 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Un contrôle du même bilan à 6 mois.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Un traitement par interféron </a:t>
            </a:r>
            <a:r>
              <a:rPr lang="fr-FR" altLang="fr-FR" sz="2000" b="1" dirty="0" err="1"/>
              <a:t>pégylée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Un traitement par </a:t>
            </a:r>
            <a:r>
              <a:rPr lang="fr-FR" altLang="fr-FR" sz="2000" b="1" dirty="0" err="1"/>
              <a:t>Entécavir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Un fibroscan hépatique.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Un </a:t>
            </a:r>
            <a:r>
              <a:rPr lang="fr-FR" altLang="fr-FR" sz="2000" b="1" dirty="0" err="1"/>
              <a:t>fibrotest</a:t>
            </a:r>
            <a:r>
              <a:rPr lang="fr-FR" altLang="fr-FR" sz="2000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AB1C16E6-5A6F-4A60-4D93-79079D58B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Un fibroscan hépatique a été pratiqué chez cette patiente et a montré une fibrose hépatique classée F3.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54- Vous proposez en première intention pour cette patiente le traitement suivant : 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Un traitement par </a:t>
            </a:r>
            <a:r>
              <a:rPr lang="fr-FR" altLang="fr-FR" sz="2000" b="1" dirty="0" err="1"/>
              <a:t>Sofosbuvir</a:t>
            </a:r>
            <a:r>
              <a:rPr lang="fr-FR" altLang="fr-FR" sz="2000" b="1" dirty="0"/>
              <a:t> + </a:t>
            </a:r>
            <a:r>
              <a:rPr lang="fr-FR" altLang="fr-FR" sz="2000" b="1" dirty="0" err="1"/>
              <a:t>Ledipasvir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Un traitement par interféron </a:t>
            </a:r>
            <a:r>
              <a:rPr lang="fr-FR" altLang="fr-FR" sz="2000" b="1" dirty="0" err="1"/>
              <a:t>pégylée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Un traitement par </a:t>
            </a:r>
            <a:r>
              <a:rPr lang="fr-FR" altLang="fr-FR" sz="2000" b="1" dirty="0" err="1"/>
              <a:t>Entécavir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Un traitement par </a:t>
            </a:r>
            <a:r>
              <a:rPr lang="fr-FR" altLang="fr-FR" sz="2000" b="1" dirty="0" err="1"/>
              <a:t>Ténofovir</a:t>
            </a:r>
            <a:r>
              <a:rPr lang="fr-FR" altLang="fr-FR" sz="2000" b="1" dirty="0"/>
              <a:t>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Un traitement par Corticoïdes.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FDBE7ABD-E691-0B96-9662-4EDF4ECFE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8229600" cy="590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Au 12</a:t>
            </a:r>
            <a:r>
              <a:rPr lang="fr-FR" altLang="fr-FR" sz="2200" baseline="30000" dirty="0"/>
              <a:t>ème</a:t>
            </a:r>
            <a:r>
              <a:rPr lang="fr-FR" altLang="fr-FR" sz="2200" dirty="0"/>
              <a:t> mois du traitement antiviral, l’ADN viral B était indétectable. </a:t>
            </a:r>
          </a:p>
          <a:p>
            <a:pPr algn="just"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fr-FR" altLang="fr-FR" sz="2200" dirty="0"/>
              <a:t>La patiente est tombée enceinte et a accouché d’une fille en bonne état de santé. </a:t>
            </a:r>
          </a:p>
          <a:p>
            <a:pPr algn="just"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55- Votre attitude immédiate chez la fille pour la prévention de l’hépatite B sera :</a:t>
            </a:r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  <a:buFontTx/>
              <a:buNone/>
            </a:pPr>
            <a:r>
              <a:rPr lang="fr-FR" altLang="fr-FR" sz="2000" b="1" dirty="0"/>
              <a:t>A- Traitement antiviral B préventif jusqu’à l’âge de 6 mois.</a:t>
            </a:r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  <a:buFontTx/>
              <a:buNone/>
            </a:pPr>
            <a:r>
              <a:rPr lang="fr-FR" altLang="fr-FR" sz="2000" b="1" dirty="0"/>
              <a:t>B- Vaccination anti-B seule.</a:t>
            </a:r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  <a:buFontTx/>
              <a:buNone/>
            </a:pPr>
            <a:r>
              <a:rPr lang="fr-FR" altLang="fr-FR" sz="2000" b="1" dirty="0"/>
              <a:t>C- Sérothérapie anti-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seule</a:t>
            </a:r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  <a:buFontTx/>
              <a:buNone/>
            </a:pPr>
            <a:r>
              <a:rPr lang="fr-FR" altLang="fr-FR" sz="2000" b="1" dirty="0"/>
              <a:t>D- Association sérothérapie anti-</a:t>
            </a:r>
            <a:r>
              <a:rPr lang="fr-FR" altLang="fr-FR" sz="2000" b="1" dirty="0" err="1"/>
              <a:t>HBs</a:t>
            </a:r>
            <a:r>
              <a:rPr lang="fr-FR" altLang="fr-FR" sz="2000" b="1" dirty="0"/>
              <a:t> + vaccination anti-B</a:t>
            </a:r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  <a:buFontTx/>
              <a:buNone/>
            </a:pPr>
            <a:r>
              <a:rPr lang="fr-FR" altLang="fr-FR" sz="2000" b="1" dirty="0"/>
              <a:t>E- Simple surveillance.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EDFC4A53-00EF-E6B2-E695-8C6F985C5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56- Selon le calendrier vaccinal tunisien, la fille de la patiente devrait être vacciné contre l’hépatite B selon le schéma suivant: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M0, M1, M6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M0, S6, M6, M12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M0, S6, M2, M6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M0, M2, M3, M6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M0, S6, M3, M6, M12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D2AA33-B5A6-4F00-88CD-A6BCBBE1B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43175"/>
            <a:ext cx="6629400" cy="11906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bIns="252000"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fr-FR" sz="4400" b="1" dirty="0">
                <a:solidFill>
                  <a:srgbClr val="008000"/>
                </a:solidFill>
              </a:rPr>
              <a:t>Cas clinique n°2 </a:t>
            </a:r>
            <a:endParaRPr lang="fr-FR" sz="4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9A15A8F-837D-26F1-C14D-65F422A08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3200"/>
            <a:ext cx="8534400" cy="612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Un homme de 40 ans, originaire de Béja, consulte pour une asthénie d’aggravation progressive depuis 6 mois.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* A l’interrogatoire 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  - Arthrose des genoux sous Paracétamol à la demande.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  - Diabète type 2 depuis 10 ans sous Glucophage.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  - Consommation d’alcool 50 g/j depuis 2 ans.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* A l’examen physique : Scarifications du visage, IMC = 36 kg/m2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* Au bilan biologique 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ALAT = 160 UI, ASAT = 120, BT= 15 µmol/L, BD= 10 µmol/L, PAL = 100 UI.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NFS : Hb= 13,5 g/dl, GB= 5800 , Plq = 290 000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200"/>
              <a:t>Créatininémie = 70 µmol/L , glycémie = 5,1 mmol/L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7DB347BF-7B20-6C93-139E-0368EA2DA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57- Le dosage essentiel qui manque dans le bilan biologique de ce patient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GGT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Cholestérolémie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TP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Albuminémie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Ionogramme sanguin.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C3D9ABB2-C977-F1A2-1027-A18E43601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382000" cy="393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58- La première étiologie à évoquer chez ce patient est : </a:t>
            </a:r>
            <a:r>
              <a:rPr lang="fr-FR" altLang="fr-FR" sz="2000" b="1" dirty="0"/>
              <a:t>A- Hépatite médicamenteuse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Hépatite auto-immune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Hépatite virale 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Hépatite alcoolique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</a:t>
            </a:r>
            <a:r>
              <a:rPr lang="fr-FR" altLang="fr-FR" sz="2000" b="1" dirty="0" err="1"/>
              <a:t>Stéato</a:t>
            </a:r>
            <a:r>
              <a:rPr lang="fr-FR" altLang="fr-FR" sz="2000" b="1" dirty="0"/>
              <a:t>-hépatite.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EA1576B9-DEB6-0FF7-CA40-E245B94C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040688" cy="584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dirty="0"/>
              <a:t>Parmi le bilan demandé chez ce patient, la sérologie C a montré des </a:t>
            </a:r>
            <a:r>
              <a:rPr lang="fr-FR" altLang="fr-FR" sz="2400" dirty="0" err="1"/>
              <a:t>Ac</a:t>
            </a:r>
            <a:r>
              <a:rPr lang="fr-FR" altLang="fr-FR" sz="2400" dirty="0"/>
              <a:t> anti-VHC positifs avec un taux d’ARN viral C = 900 UI/ml. Un traitement antiviral a été indiqué.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59- Le bilan pré thérapeutique à pratiquer chez ce patient comporte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Sérologie VIH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Génotype viral C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Echographie abdominale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Fibroscan hépatique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Alpha-</a:t>
            </a:r>
            <a:r>
              <a:rPr lang="fr-FR" altLang="fr-FR" sz="2000" b="1" dirty="0" err="1"/>
              <a:t>foetoprotéine</a:t>
            </a:r>
            <a:endParaRPr lang="fr-FR" alt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42420C1E-DEE7-47A6-EDA4-AE322D831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040688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60- Le traitement que vous proposez chez ce patient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</a:t>
            </a:r>
            <a:r>
              <a:rPr lang="fr-FR" altLang="fr-FR" sz="2000" b="1" dirty="0" err="1"/>
              <a:t>Sofosbuvir</a:t>
            </a:r>
            <a:r>
              <a:rPr lang="fr-FR" altLang="fr-FR" sz="2000" b="1" dirty="0"/>
              <a:t> en monothérapie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</a:t>
            </a:r>
            <a:r>
              <a:rPr lang="fr-FR" altLang="fr-FR" sz="2000" b="1" dirty="0" err="1"/>
              <a:t>Ledipasvir</a:t>
            </a:r>
            <a:r>
              <a:rPr lang="fr-FR" altLang="fr-FR" sz="2000" b="1" dirty="0"/>
              <a:t> en monothérapie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Association </a:t>
            </a:r>
            <a:r>
              <a:rPr lang="fr-FR" altLang="fr-FR" sz="2000" b="1" dirty="0" err="1"/>
              <a:t>Sofosbuvir</a:t>
            </a:r>
            <a:r>
              <a:rPr lang="fr-FR" altLang="fr-FR" sz="2000" b="1" dirty="0"/>
              <a:t> + </a:t>
            </a:r>
            <a:r>
              <a:rPr lang="fr-FR" altLang="fr-FR" sz="2000" b="1" dirty="0" err="1"/>
              <a:t>Velpatasvir</a:t>
            </a:r>
            <a:endParaRPr lang="fr-FR" altLang="fr-FR" sz="2000" b="1" dirty="0"/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Association </a:t>
            </a:r>
            <a:r>
              <a:rPr lang="fr-FR" altLang="fr-FR" sz="2000" b="1" dirty="0" err="1"/>
              <a:t>Sofosbuvir</a:t>
            </a:r>
            <a:r>
              <a:rPr lang="fr-FR" altLang="fr-FR" sz="2000" b="1" dirty="0"/>
              <a:t> + Ribavirine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Interféron </a:t>
            </a:r>
            <a:r>
              <a:rPr lang="fr-FR" altLang="fr-FR" sz="2000" b="1" dirty="0" err="1"/>
              <a:t>pégylé</a:t>
            </a:r>
            <a:r>
              <a:rPr lang="fr-FR" altLang="fr-FR" sz="2000" b="1" dirty="0"/>
              <a:t> en monothérapie.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8697051-98C1-46B8-B9E9-299766818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43175"/>
            <a:ext cx="6629400" cy="11906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bIns="252000"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fr-FR" sz="4400" b="1" dirty="0">
                <a:solidFill>
                  <a:srgbClr val="008000"/>
                </a:solidFill>
              </a:rPr>
              <a:t>Cas clinique n°3 </a:t>
            </a:r>
            <a:endParaRPr lang="fr-FR" sz="4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D7A1C3E-AD9B-EE06-6754-FB40959CD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96346"/>
            <a:ext cx="8534400" cy="681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100" b="1" dirty="0"/>
              <a:t>Vous venez de recevoir en consultation un homme de 55 ans présentant une asthénie progressive depuis 2 semaines associée à des arthralgies diffuses. Il est marié et il occupe la fonction d’un infirmier dans l’hôpital régional de Gafsa depuis 15 ans. Il se plaint depuis 7 jours d'une sensation de pesanteur de l'hypochondre droit associé à des urines foncées.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100" b="1" dirty="0"/>
              <a:t>A l’examen physique : T° = 37°c, ictère conjonctival, un foie de taille normale mais sensible à la palpation. Tatouages du bras gauche. Le reste de l'examen est normal.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100" b="1" dirty="0"/>
              <a:t>Les résultats d'un bilan biologique demandé par le médecin qu'il avait consulté quelques jours plus tôt, sont : Bilirubine totale = 55 </a:t>
            </a:r>
            <a:r>
              <a:rPr lang="fr-FR" altLang="fr-FR" sz="2100" b="1" dirty="0" err="1"/>
              <a:t>μmol</a:t>
            </a:r>
            <a:r>
              <a:rPr lang="fr-FR" altLang="fr-FR" sz="2100" b="1" dirty="0"/>
              <a:t>/L, Bilirubine conjuguée = 43 </a:t>
            </a:r>
            <a:r>
              <a:rPr lang="fr-FR" altLang="fr-FR" sz="2100" b="1" dirty="0" err="1"/>
              <a:t>μmol</a:t>
            </a:r>
            <a:r>
              <a:rPr lang="fr-FR" altLang="fr-FR" sz="2100" b="1" dirty="0"/>
              <a:t>/L, ALAT = 1200 UI/L, ASAT = 1000 UI/L, TP = 80%. Une hépatite aigue virale est évoquée.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C11D022A-6746-72FE-5454-46210A821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61- Les arguments en faveur du caractère aigue de l’hépatite chez ce patient sont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L’âge jeune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L’absence d’hépatomégalie à l’examen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L’évolution des symptômes depuis 2 semaines.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Le taux d’ALAT à 1200 UI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L’ictère.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568F6A11-AD6B-E8C2-DCF3-7E8AF1CF7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62- Les arguments en faveur de l’origine virale de l’hépatite chez ce patient sont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L’âge jeune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La profession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Le tatouage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L’asthénie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Le taux d’ALAT à 1200 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E8F3A9D6-C83C-0A38-50DD-D0BD6A2E5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63- Dans le cadre du bilan étiologique de cette hépatite le virus que vous recherchez en premier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A- Virus A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B- Virus B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C- Virus C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D- Virus D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E- Virus 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25C25F0E-6E85-81E9-DD8E-815DF5580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64- Le bilan virologique demandé a conclu à une hépatite B aigue. Le paramètre sérologique qui vous a permis de retenir ce diagnostic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A- Antigène HBs positif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B- Anticorps anti-HBe positifs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C- Antigène HBe positif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D- Anticorps anti-HBc IgG positifs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E- Anticorps anti-HBc IgM positifs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E2505FC8-A87D-E300-6550-FD1A4BD6B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65- Dans le cadre du suivi de ce patient, le paramètre qui vous permet de dépister le passage à la chronicité du virus B est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A- Antigène HBs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B- Anticorps anti-HBe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C- Antigène HBe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D- Anticorps anti-HBc IgG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E- Anticorps anti-HBc IgM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C7D1A9AD-830A-C7B6-E130-576F74C89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"/>
            <a:ext cx="8382000" cy="5806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100" dirty="0"/>
              <a:t>Le patient n'a pas effectué le suivi recommandé et consulte inquiet, deux ans plus tard, avec le résultat du bilan biologique récent fait à la clinique : ASAT = 60 UI/L, ALAT = 70 UI/L, Ag </a:t>
            </a:r>
            <a:r>
              <a:rPr lang="fr-FR" altLang="fr-FR" sz="2100" dirty="0" err="1"/>
              <a:t>HBs</a:t>
            </a:r>
            <a:r>
              <a:rPr lang="fr-FR" altLang="fr-FR" sz="2100" dirty="0"/>
              <a:t>(+), </a:t>
            </a:r>
            <a:r>
              <a:rPr lang="fr-FR" altLang="fr-FR" sz="2100" dirty="0" err="1"/>
              <a:t>Ac</a:t>
            </a:r>
            <a:r>
              <a:rPr lang="fr-FR" altLang="fr-FR" sz="2100" dirty="0"/>
              <a:t> anti </a:t>
            </a:r>
            <a:r>
              <a:rPr lang="fr-FR" altLang="fr-FR" sz="2100" dirty="0" err="1"/>
              <a:t>HBs</a:t>
            </a:r>
            <a:r>
              <a:rPr lang="fr-FR" altLang="fr-FR" sz="2100" dirty="0"/>
              <a:t>(-), Ag </a:t>
            </a:r>
            <a:r>
              <a:rPr lang="fr-FR" altLang="fr-FR" sz="2100" dirty="0" err="1"/>
              <a:t>HBe</a:t>
            </a:r>
            <a:r>
              <a:rPr lang="fr-FR" altLang="fr-FR" sz="2100" dirty="0"/>
              <a:t>(+) , </a:t>
            </a:r>
            <a:r>
              <a:rPr lang="fr-FR" altLang="fr-FR" sz="2100" dirty="0" err="1"/>
              <a:t>Ac</a:t>
            </a:r>
            <a:r>
              <a:rPr lang="fr-FR" altLang="fr-FR" sz="2100" dirty="0"/>
              <a:t> anti </a:t>
            </a:r>
            <a:r>
              <a:rPr lang="fr-FR" altLang="fr-FR" sz="2100" dirty="0" err="1"/>
              <a:t>HBe</a:t>
            </a:r>
            <a:r>
              <a:rPr lang="fr-FR" altLang="fr-FR" sz="2100" dirty="0"/>
              <a:t> (-), IgM anti-</a:t>
            </a:r>
            <a:r>
              <a:rPr lang="fr-FR" altLang="fr-FR" sz="2100" dirty="0" err="1"/>
              <a:t>HBc</a:t>
            </a:r>
            <a:r>
              <a:rPr lang="fr-FR" altLang="fr-FR" sz="2100" dirty="0"/>
              <a:t> (-), ADN viral B = 190 000 UI/</a:t>
            </a:r>
            <a:r>
              <a:rPr lang="fr-FR" altLang="fr-FR" sz="2100" dirty="0" err="1"/>
              <a:t>mL</a:t>
            </a:r>
            <a:r>
              <a:rPr lang="fr-FR" altLang="fr-FR" sz="2100" dirty="0"/>
              <a:t>. Une Ponction biopsique du foie a été réalisée chez ce patient montrant un score de </a:t>
            </a:r>
            <a:r>
              <a:rPr lang="fr-FR" altLang="fr-FR" sz="2100" dirty="0" err="1"/>
              <a:t>Métavir</a:t>
            </a:r>
            <a:r>
              <a:rPr lang="fr-FR" altLang="fr-FR" sz="2100" dirty="0"/>
              <a:t> égal à A1 F3.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66- Vous proposez pour ce patient le traitement suivant 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A- </a:t>
            </a:r>
            <a:r>
              <a:rPr lang="fr-FR" altLang="fr-FR" sz="2000" b="1" dirty="0" err="1"/>
              <a:t>Entécavir</a:t>
            </a:r>
            <a:endParaRPr lang="fr-FR" altLang="fr-FR" sz="20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B- </a:t>
            </a:r>
            <a:r>
              <a:rPr lang="fr-FR" altLang="fr-FR" sz="2000" b="1" dirty="0" err="1"/>
              <a:t>Ganciclovir</a:t>
            </a:r>
            <a:endParaRPr lang="fr-FR" altLang="fr-FR" sz="20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C- </a:t>
            </a:r>
            <a:r>
              <a:rPr lang="fr-FR" altLang="fr-FR" sz="2000" b="1" dirty="0" err="1"/>
              <a:t>Lamivudine</a:t>
            </a:r>
            <a:endParaRPr lang="fr-FR" altLang="fr-FR" sz="20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D- </a:t>
            </a:r>
            <a:r>
              <a:rPr lang="fr-FR" altLang="fr-FR" sz="2000" b="1" dirty="0" err="1"/>
              <a:t>Sofosbuvir</a:t>
            </a:r>
            <a:r>
              <a:rPr lang="fr-FR" altLang="fr-FR" sz="2000" b="1" dirty="0"/>
              <a:t> + </a:t>
            </a:r>
            <a:r>
              <a:rPr lang="fr-FR" altLang="fr-FR" sz="2000" b="1" dirty="0" err="1"/>
              <a:t>Velpatasvir</a:t>
            </a:r>
            <a:endParaRPr lang="fr-FR" altLang="fr-FR" sz="2000" b="1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E- Ribavirine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7F92E8A4-1F1F-6AA0-C887-69E71C81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C00000"/>
                </a:solidFill>
              </a:rPr>
              <a:t>67- Dans le cadre de l’enquête familiale, vous allez proposer pour la femme de ce patient le(s) dosage(s) suivant(s) :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A- Antigène HBs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B- Anticorps anti-HBe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C- Antigène HBe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D- Anticorps anti-HBc IgG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pt-BR" altLang="fr-FR" sz="2000" b="1" dirty="0"/>
              <a:t>E- Anticorps anti-HBc IgM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ZoneTexte 3">
            <a:extLst>
              <a:ext uri="{FF2B5EF4-FFF2-40B4-BE49-F238E27FC236}">
                <a16:creationId xmlns:a16="http://schemas.microsoft.com/office/drawing/2014/main" id="{D3CE5AE1-1339-D935-5FAE-2E5CC5582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6573838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C00000"/>
                </a:solidFill>
                <a:latin typeface="Blackadder ITC" panose="020F0502020204030204" pitchFamily="82" charset="0"/>
              </a:rPr>
              <a:t>Dr Loghmari</a:t>
            </a:r>
          </a:p>
        </p:txBody>
      </p:sp>
      <p:pic>
        <p:nvPicPr>
          <p:cNvPr id="59395" name="Picture 6">
            <a:extLst>
              <a:ext uri="{FF2B5EF4-FFF2-40B4-BE49-F238E27FC236}">
                <a16:creationId xmlns:a16="http://schemas.microsoft.com/office/drawing/2014/main" id="{AB084C28-A34C-A45F-868C-08695A184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9525"/>
            <a:ext cx="9153525" cy="585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0" name="Rectangle 2">
            <a:extLst>
              <a:ext uri="{FF2B5EF4-FFF2-40B4-BE49-F238E27FC236}">
                <a16:creationId xmlns:a16="http://schemas.microsoft.com/office/drawing/2014/main" id="{B2DD8B94-059A-4133-B1E0-54293A46E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0"/>
            <a:ext cx="9144000" cy="15113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bIns="252000" anchor="ctr"/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fr-FR" sz="4400" b="1" dirty="0">
                <a:solidFill>
                  <a:srgbClr val="3333FF"/>
                </a:solidFill>
              </a:rPr>
              <a:t>Bonne chance</a:t>
            </a:r>
          </a:p>
        </p:txBody>
      </p:sp>
      <p:pic>
        <p:nvPicPr>
          <p:cNvPr id="59397" name="Picture 8">
            <a:extLst>
              <a:ext uri="{FF2B5EF4-FFF2-40B4-BE49-F238E27FC236}">
                <a16:creationId xmlns:a16="http://schemas.microsoft.com/office/drawing/2014/main" id="{3590FF80-D6E2-E64B-CCFF-0B55911F1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25" y="5286375"/>
            <a:ext cx="21971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8">
            <a:extLst>
              <a:ext uri="{FF2B5EF4-FFF2-40B4-BE49-F238E27FC236}">
                <a16:creationId xmlns:a16="http://schemas.microsoft.com/office/drawing/2014/main" id="{043039BC-D12A-3BE6-63B8-0D9B1A708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5286375"/>
            <a:ext cx="21971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6218</TotalTime>
  <Words>3884</Words>
  <Application>Microsoft Office PowerPoint</Application>
  <PresentationFormat>Affichage à l'écran (4:3)</PresentationFormat>
  <Paragraphs>451</Paragraphs>
  <Slides>77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77</vt:i4>
      </vt:variant>
    </vt:vector>
  </HeadingPairs>
  <TitlesOfParts>
    <vt:vector size="82" baseType="lpstr">
      <vt:lpstr>Arial</vt:lpstr>
      <vt:lpstr>Blackadder ITC</vt:lpstr>
      <vt:lpstr>Calibri</vt:lpstr>
      <vt:lpstr>Wingdings</vt:lpstr>
      <vt:lpstr>Modèle par défaut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Mohamed Hichem LOGHMARI</cp:lastModifiedBy>
  <cp:revision>1059</cp:revision>
  <cp:lastPrinted>1601-01-01T00:00:00Z</cp:lastPrinted>
  <dcterms:created xsi:type="dcterms:W3CDTF">1601-01-01T00:00:00Z</dcterms:created>
  <dcterms:modified xsi:type="dcterms:W3CDTF">2025-07-04T07:40:47Z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
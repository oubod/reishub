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Id2"/>
    <p:sldId id="257" r:id="rId3"/>
    <p:sldId id="307" r:id="rId4"/>
    <p:sldId id="258" r:id="rId5"/>
    <p:sldId id="308" r:id="rId6"/>
    <p:sldId id="259" r:id="rId7"/>
    <p:sldId id="309" r:id="rId8"/>
    <p:sldId id="260" r:id="rId9"/>
    <p:sldId id="310" r:id="rId10"/>
    <p:sldId id="261" r:id="rId11"/>
    <p:sldId id="311" r:id="rId12"/>
    <p:sldId id="262" r:id="rId13"/>
    <p:sldId id="312" r:id="rId14"/>
    <p:sldId id="263" r:id="rId15"/>
    <p:sldId id="313" r:id="rId16"/>
    <p:sldId id="264" r:id="rId17"/>
    <p:sldId id="314" r:id="rId18"/>
    <p:sldId id="265" r:id="rId19"/>
    <p:sldId id="315" r:id="rId20"/>
    <p:sldId id="266" r:id="rId21"/>
    <p:sldId id="316" r:id="rId22"/>
    <p:sldId id="267" r:id="rId23"/>
    <p:sldId id="317" r:id="rId24"/>
    <p:sldId id="268" r:id="rId25"/>
    <p:sldId id="318" r:id="rId26"/>
    <p:sldId id="269" r:id="rId27"/>
    <p:sldId id="319" r:id="rId28"/>
    <p:sldId id="270" r:id="rId29"/>
    <p:sldId id="320" r:id="rId30"/>
    <p:sldId id="271" r:id="rId31"/>
    <p:sldId id="321" r:id="rId32"/>
    <p:sldId id="272" r:id="rId33"/>
    <p:sldId id="322" r:id="rId34"/>
    <p:sldId id="273" r:id="rId35"/>
    <p:sldId id="323" r:id="rId36"/>
    <p:sldId id="274" r:id="rId37"/>
    <p:sldId id="324" r:id="rId38"/>
    <p:sldId id="275" r:id="rId39"/>
    <p:sldId id="325" r:id="rId40"/>
    <p:sldId id="276" r:id="rId41"/>
    <p:sldId id="326" r:id="rId42"/>
    <p:sldId id="277" r:id="rId43"/>
    <p:sldId id="327" r:id="rId44"/>
    <p:sldId id="278" r:id="rId45"/>
    <p:sldId id="328" r:id="rId46"/>
    <p:sldId id="279" r:id="rId47"/>
    <p:sldId id="329" r:id="rId48"/>
    <p:sldId id="280" r:id="rId49"/>
    <p:sldId id="330" r:id="rId50"/>
    <p:sldId id="281" r:id="rId51"/>
    <p:sldId id="331" r:id="rId52"/>
    <p:sldId id="282" r:id="rId53"/>
    <p:sldId id="332" r:id="rId54"/>
    <p:sldId id="283" r:id="rId55"/>
    <p:sldId id="333" r:id="rId56"/>
    <p:sldId id="284" r:id="rId57"/>
    <p:sldId id="334" r:id="rId58"/>
    <p:sldId id="285" r:id="rId59"/>
    <p:sldId id="335" r:id="rId60"/>
    <p:sldId id="286" r:id="rId61"/>
    <p:sldId id="287" r:id="rId62"/>
    <p:sldId id="336" r:id="rId63"/>
    <p:sldId id="337" r:id="rId64"/>
    <p:sldId id="288" r:id="rId65"/>
    <p:sldId id="289" r:id="rId66"/>
    <p:sldId id="338" r:id="rId67"/>
    <p:sldId id="290" r:id="rId68"/>
    <p:sldId id="291" r:id="rId69"/>
    <p:sldId id="292" r:id="rId70"/>
    <p:sldId id="339" r:id="rId71"/>
    <p:sldId id="293" r:id="rId72"/>
    <p:sldId id="340" r:id="rId73"/>
    <p:sldId id="294" r:id="rId74"/>
    <p:sldId id="341" r:id="rId75"/>
    <p:sldId id="295" r:id="rId76"/>
    <p:sldId id="342" r:id="rId77"/>
    <p:sldId id="296" r:id="rId78"/>
    <p:sldId id="347" r:id="rId79"/>
    <p:sldId id="297" r:id="rId80"/>
    <p:sldId id="299" r:id="rId81"/>
    <p:sldId id="348" r:id="rId82"/>
    <p:sldId id="298" r:id="rId83"/>
    <p:sldId id="346" r:id="rId84"/>
    <p:sldId id="300" r:id="rId85"/>
    <p:sldId id="301" r:id="rId86"/>
    <p:sldId id="305" r:id="rId87"/>
    <p:sldId id="345" r:id="rId88"/>
    <p:sldId id="302" r:id="rId89"/>
    <p:sldId id="344" r:id="rId90"/>
    <p:sldId id="303" r:id="rId91"/>
    <p:sldId id="343" r:id="rId9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65" d="100"/>
          <a:sy n="65" d="100"/>
        </p:scale>
        <p:origin x="9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1F9756-76C5-AC06-FAD8-EB7951C4540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D78DEB6-9F6D-70FA-FC67-89E239151B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E170C18-F603-4C29-1EB7-8D4B673372A7}"/>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BB5E85BD-F069-CE42-75BB-CB8E333231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1805E7-291B-1C6E-D727-2D369D536586}"/>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221711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EA9F0-36E9-8717-0276-29B8CC9E4A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A0F4DA8-8F6E-3993-95FA-52A2FD10B9A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DF09D54-B100-135B-2FC3-2CC30FB9112C}"/>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A9711A21-BE6E-68A3-8A71-7252AA7CE7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76EEF70-BAA2-4ECF-D06D-363C6904595E}"/>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3114679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76F5E1-9683-A2C2-9990-771C88F2E92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C54A1B8-6050-5146-73F6-8595C8F03A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8BEBA20-9011-5FF6-AE79-D43021C2FFC6}"/>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EC78FD6E-8761-691F-C42B-AF4D70740D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4EC6B62-3D0B-5F10-F698-5FD04B32F969}"/>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244798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2156A-EA7A-06B0-3BF3-7ADF92CA3D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B4E7ADE-75CA-3B9A-EB65-A7C0214431B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F2C98FA-AB04-059B-29FB-FF580A83CDD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30FDCDA-E061-90E3-ABC6-1B04129402E9}"/>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6" name="Espace réservé du pied de page 5">
            <a:extLst>
              <a:ext uri="{FF2B5EF4-FFF2-40B4-BE49-F238E27FC236}">
                <a16:creationId xmlns:a16="http://schemas.microsoft.com/office/drawing/2014/main" id="{6D60A954-C118-0083-C290-C2BDC1DBB2A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C5D35E-0E8D-D2FD-AD20-16DFDA66D945}"/>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10829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C4BB7-0886-CF7B-AE38-148042B3F4A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968133A-246F-DD6B-D6A5-AA7946DF2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F0A4E93-0EE9-E5A7-F9AE-E78CA7DCACF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D1D0F16-B81D-730B-4557-B7C5EF5763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0D8B8D8-E4B9-D7C3-2D72-7BD39DEA033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943C00-4287-2E36-1385-E8A5D0884EF8}"/>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8" name="Espace réservé du pied de page 7">
            <a:extLst>
              <a:ext uri="{FF2B5EF4-FFF2-40B4-BE49-F238E27FC236}">
                <a16:creationId xmlns:a16="http://schemas.microsoft.com/office/drawing/2014/main" id="{A350ECDC-B35E-CA16-CA69-C627F73A78A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67E33B3-C301-DB9F-5C5F-041CCFEF0384}"/>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180170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9F5E17-C2B4-A494-AB0D-D03818B2FEF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8D69B10-4A19-745E-BA3C-78984417BFB3}"/>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4" name="Espace réservé du pied de page 3">
            <a:extLst>
              <a:ext uri="{FF2B5EF4-FFF2-40B4-BE49-F238E27FC236}">
                <a16:creationId xmlns:a16="http://schemas.microsoft.com/office/drawing/2014/main" id="{01DA9732-7662-4C02-4100-EBC4B2397E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BD82C54-1224-A4BB-7144-CE30FAA620CA}"/>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4271393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A77C75A-6C95-C624-60C4-5EA396CC7D82}"/>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3" name="Espace réservé du pied de page 2">
            <a:extLst>
              <a:ext uri="{FF2B5EF4-FFF2-40B4-BE49-F238E27FC236}">
                <a16:creationId xmlns:a16="http://schemas.microsoft.com/office/drawing/2014/main" id="{5230EBC9-9411-2408-3865-FCB008661D2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D585179-ED20-A16D-93D3-D697709B6F25}"/>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129745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47192D-7FC4-5058-F98D-398648E70A8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81C8459-3AB0-6C85-D91E-18098325DA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5582F59-AF8A-EFFB-0864-A1C6F6BDB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42F9248-140B-45DF-F17B-346385ADAB40}"/>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6" name="Espace réservé du pied de page 5">
            <a:extLst>
              <a:ext uri="{FF2B5EF4-FFF2-40B4-BE49-F238E27FC236}">
                <a16:creationId xmlns:a16="http://schemas.microsoft.com/office/drawing/2014/main" id="{23EF4A48-026C-0239-856B-1A79398318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94537E8-1D94-03ED-B955-0DEE3F7CB9A0}"/>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2221236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D2A1DA-F33E-B2C8-E12B-104BFF03FD5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365554-E5B3-8170-CE18-0F10530A53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B8030DF-7D96-438D-4EF4-2A94D3155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03384BD-A690-7296-5550-0BCD8F5E51E6}"/>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6" name="Espace réservé du pied de page 5">
            <a:extLst>
              <a:ext uri="{FF2B5EF4-FFF2-40B4-BE49-F238E27FC236}">
                <a16:creationId xmlns:a16="http://schemas.microsoft.com/office/drawing/2014/main" id="{D2A0B942-F4F5-2E72-9464-4DDD68FB8F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920694-4BA0-3891-DECC-A71831DCB008}"/>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2890680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C66808-AD43-C9AA-8A18-8B1964B75C1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C6DAFDB-6C96-253C-60F2-7AF79FC149B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55654CB-D24A-4F8F-48FA-8AE802F00103}"/>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7B92107B-EC3D-BB25-30CE-09645641B5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80274BC-BC2C-CC53-9EC4-A8C97055AAF4}"/>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1453147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3F12B2E-3A3D-EA84-DDC8-0E240B93DA2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EA5F47C-E6D7-B3CB-B691-C99621278E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53B8697-9174-03A1-E2BD-868758F26BA5}"/>
              </a:ext>
            </a:extLst>
          </p:cNvPr>
          <p:cNvSpPr>
            <a:spLocks noGrp="1"/>
          </p:cNvSpPr>
          <p:nvPr>
            <p:ph type="dt" sz="half" idx="10"/>
          </p:nvPr>
        </p:nvSpPr>
        <p:spPr/>
        <p:txBody>
          <a:body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BBCEB099-7F61-CEBF-1AF9-4E4EF42B007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D8B8DE4-E0FD-31FD-0411-97B48CAFF4F0}"/>
              </a:ext>
            </a:extLst>
          </p:cNvPr>
          <p:cNvSpPr>
            <a:spLocks noGrp="1"/>
          </p:cNvSpPr>
          <p:nvPr>
            <p:ph type="sldNum" sz="quarter" idx="12"/>
          </p:nvPr>
        </p:nvSpPr>
        <p:spPr/>
        <p:txBody>
          <a:bodyPr/>
          <a:lstStyle/>
          <a:p>
            <a:fld id="{D89CBA12-F61D-4184-8ACA-FFAB59BACF7A}" type="slidenum">
              <a:rPr lang="fr-FR" smtClean="0"/>
              <a:t>‹N°›</a:t>
            </a:fld>
            <a:endParaRPr lang="fr-FR"/>
          </a:p>
        </p:txBody>
      </p:sp>
    </p:spTree>
    <p:extLst>
      <p:ext uri="{BB962C8B-B14F-4D97-AF65-F5344CB8AC3E}">
        <p14:creationId xmlns:p14="http://schemas.microsoft.com/office/powerpoint/2010/main" val="3919460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E116A29-B445-5AAD-2E28-AC3C93D8C3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3952A6A-F5D5-0ECC-570F-91DDD006BE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5203EDB-B9CA-9C1F-6B82-0BFD8497E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81B393-71E2-4C12-96D7-9A36FC326AEB}" type="datetimeFigureOut">
              <a:rPr lang="fr-FR" smtClean="0"/>
              <a:t>18/09/2025</a:t>
            </a:fld>
            <a:endParaRPr lang="fr-FR"/>
          </a:p>
        </p:txBody>
      </p:sp>
      <p:sp>
        <p:nvSpPr>
          <p:cNvPr id="5" name="Espace réservé du pied de page 4">
            <a:extLst>
              <a:ext uri="{FF2B5EF4-FFF2-40B4-BE49-F238E27FC236}">
                <a16:creationId xmlns:a16="http://schemas.microsoft.com/office/drawing/2014/main" id="{FE9B216C-E782-673D-397C-BB8C9AEB54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04E662D-F996-AB40-808A-26B8D0293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9CBA12-F61D-4184-8ACA-FFAB59BACF7A}" type="slidenum">
              <a:rPr lang="fr-FR" smtClean="0"/>
              <a:t>‹N°›</a:t>
            </a:fld>
            <a:endParaRPr lang="fr-FR"/>
          </a:p>
        </p:txBody>
      </p:sp>
    </p:spTree>
    <p:extLst>
      <p:ext uri="{BB962C8B-B14F-4D97-AF65-F5344CB8AC3E}">
        <p14:creationId xmlns:p14="http://schemas.microsoft.com/office/powerpoint/2010/main" val="1651389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97169"/>
            <a:ext cx="9144000" cy="2712794"/>
          </a:xfrm>
        </p:spPr>
        <p:txBody>
          <a:bodyPr>
            <a:normAutofit fontScale="90000"/>
          </a:bodyPr>
          <a:lstStyle/>
          <a:p>
            <a:br>
              <a:rPr lang="fr-FR" sz="4900" b="1" dirty="0"/>
            </a:br>
            <a:br>
              <a:rPr lang="fr-FR" sz="4900" b="1" dirty="0"/>
            </a:br>
            <a:br>
              <a:rPr lang="fr-FR" sz="4900" b="1" dirty="0"/>
            </a:br>
            <a:br>
              <a:rPr lang="fr-FR" sz="4900" b="1" dirty="0"/>
            </a:br>
            <a:br>
              <a:rPr lang="fr-FR" sz="4900" b="1" dirty="0"/>
            </a:br>
            <a:r>
              <a:rPr lang="fr-FR" sz="4900" b="1" dirty="0">
                <a:solidFill>
                  <a:srgbClr val="C00000"/>
                </a:solidFill>
                <a:latin typeface="Agency FB" panose="020B0503020202020204" pitchFamily="34" charset="0"/>
              </a:rPr>
              <a:t>Préparation au concours de résidanat 2025</a:t>
            </a:r>
            <a:br>
              <a:rPr lang="fr-FR" sz="4900" b="1" dirty="0">
                <a:solidFill>
                  <a:srgbClr val="C00000"/>
                </a:solidFill>
                <a:latin typeface="Agency FB" panose="020B0503020202020204" pitchFamily="34" charset="0"/>
              </a:rPr>
            </a:br>
            <a:r>
              <a:rPr lang="fr-FR" sz="4900" b="1" dirty="0">
                <a:solidFill>
                  <a:srgbClr val="C00000"/>
                </a:solidFill>
                <a:latin typeface="Agency FB" panose="020B0503020202020204" pitchFamily="34" charset="0"/>
              </a:rPr>
              <a:t>11/ cancers bronchopulmonaires</a:t>
            </a:r>
            <a:br>
              <a:rPr lang="fr-FR" b="1" dirty="0">
                <a:solidFill>
                  <a:srgbClr val="C00000"/>
                </a:solidFill>
                <a:latin typeface="Agency FB" panose="020B0503020202020204" pitchFamily="34" charset="0"/>
              </a:rPr>
            </a:br>
            <a:endParaRPr lang="fr-FR" b="1" dirty="0">
              <a:solidFill>
                <a:srgbClr val="C00000"/>
              </a:solidFill>
              <a:latin typeface="Agency FB" panose="020B0503020202020204" pitchFamily="34" charset="0"/>
            </a:endParaRPr>
          </a:p>
        </p:txBody>
      </p:sp>
      <p:sp>
        <p:nvSpPr>
          <p:cNvPr id="3" name="Sous-titre 2"/>
          <p:cNvSpPr>
            <a:spLocks noGrp="1"/>
          </p:cNvSpPr>
          <p:nvPr>
            <p:ph type="subTitle" idx="1"/>
          </p:nvPr>
        </p:nvSpPr>
        <p:spPr/>
        <p:txBody>
          <a:bodyPr>
            <a:noAutofit/>
          </a:bodyPr>
          <a:lstStyle/>
          <a:p>
            <a:r>
              <a:rPr lang="fr-FR" sz="4000" b="1" dirty="0">
                <a:solidFill>
                  <a:schemeClr val="accent5">
                    <a:lumMod val="50000"/>
                  </a:schemeClr>
                </a:solidFill>
                <a:latin typeface="Arabic Typesetting" panose="03020402040406030203" pitchFamily="66" charset="-78"/>
                <a:cs typeface="Arabic Typesetting" panose="03020402040406030203" pitchFamily="66" charset="-78"/>
              </a:rPr>
              <a:t>Pr </a:t>
            </a:r>
            <a:r>
              <a:rPr lang="fr-FR" sz="4000" b="1" dirty="0" err="1">
                <a:solidFill>
                  <a:schemeClr val="accent5">
                    <a:lumMod val="50000"/>
                  </a:schemeClr>
                </a:solidFill>
                <a:latin typeface="Arabic Typesetting" panose="03020402040406030203" pitchFamily="66" charset="-78"/>
                <a:cs typeface="Arabic Typesetting" panose="03020402040406030203" pitchFamily="66" charset="-78"/>
              </a:rPr>
              <a:t>Samah</a:t>
            </a:r>
            <a:r>
              <a:rPr lang="fr-FR" sz="4000" b="1" dirty="0">
                <a:solidFill>
                  <a:schemeClr val="accent5">
                    <a:lumMod val="50000"/>
                  </a:schemeClr>
                </a:solidFill>
                <a:latin typeface="Arabic Typesetting" panose="03020402040406030203" pitchFamily="66" charset="-78"/>
                <a:cs typeface="Arabic Typesetting" panose="03020402040406030203" pitchFamily="66" charset="-78"/>
              </a:rPr>
              <a:t> </a:t>
            </a:r>
            <a:r>
              <a:rPr lang="fr-FR" sz="4000" b="1" dirty="0" err="1">
                <a:solidFill>
                  <a:schemeClr val="accent5">
                    <a:lumMod val="50000"/>
                  </a:schemeClr>
                </a:solidFill>
                <a:latin typeface="Arabic Typesetting" panose="03020402040406030203" pitchFamily="66" charset="-78"/>
                <a:cs typeface="Arabic Typesetting" panose="03020402040406030203" pitchFamily="66" charset="-78"/>
              </a:rPr>
              <a:t>Joobeur</a:t>
            </a:r>
            <a:br>
              <a:rPr lang="fr-FR" sz="4000" b="1" dirty="0">
                <a:solidFill>
                  <a:schemeClr val="accent5">
                    <a:lumMod val="50000"/>
                  </a:schemeClr>
                </a:solidFill>
                <a:latin typeface="Arabic Typesetting" panose="03020402040406030203" pitchFamily="66" charset="-78"/>
                <a:cs typeface="Arabic Typesetting" panose="03020402040406030203" pitchFamily="66" charset="-78"/>
              </a:rPr>
            </a:br>
            <a:r>
              <a:rPr lang="fr-FR" sz="4000" b="1" dirty="0">
                <a:solidFill>
                  <a:schemeClr val="accent5">
                    <a:lumMod val="50000"/>
                  </a:schemeClr>
                </a:solidFill>
                <a:latin typeface="Arabic Typesetting" panose="03020402040406030203" pitchFamily="66" charset="-78"/>
                <a:cs typeface="Arabic Typesetting" panose="03020402040406030203" pitchFamily="66" charset="-78"/>
              </a:rPr>
              <a:t>Service de Pneumologie et Allergologie</a:t>
            </a:r>
            <a:br>
              <a:rPr lang="fr-FR" sz="4000" b="1" dirty="0">
                <a:solidFill>
                  <a:schemeClr val="accent5">
                    <a:lumMod val="50000"/>
                  </a:schemeClr>
                </a:solidFill>
                <a:latin typeface="Arabic Typesetting" panose="03020402040406030203" pitchFamily="66" charset="-78"/>
                <a:cs typeface="Arabic Typesetting" panose="03020402040406030203" pitchFamily="66" charset="-78"/>
              </a:rPr>
            </a:br>
            <a:r>
              <a:rPr lang="fr-FR" sz="4000" b="1" dirty="0">
                <a:solidFill>
                  <a:schemeClr val="accent5">
                    <a:lumMod val="50000"/>
                  </a:schemeClr>
                </a:solidFill>
                <a:latin typeface="Arabic Typesetting" panose="03020402040406030203" pitchFamily="66" charset="-78"/>
                <a:cs typeface="Arabic Typesetting" panose="03020402040406030203" pitchFamily="66" charset="-78"/>
              </a:rPr>
              <a:t>CHU FB MONASTIR</a:t>
            </a:r>
            <a:br>
              <a:rPr lang="fr-FR" sz="4000" b="1" dirty="0">
                <a:solidFill>
                  <a:schemeClr val="accent5">
                    <a:lumMod val="50000"/>
                  </a:schemeClr>
                </a:solidFill>
                <a:latin typeface="Arabic Typesetting" panose="03020402040406030203" pitchFamily="66" charset="-78"/>
                <a:cs typeface="Arabic Typesetting" panose="03020402040406030203" pitchFamily="66" charset="-78"/>
              </a:rPr>
            </a:br>
            <a:endParaRPr lang="fr-FR" sz="4000" b="1" dirty="0">
              <a:solidFill>
                <a:schemeClr val="accent5">
                  <a:lumMod val="50000"/>
                </a:schemeClr>
              </a:solidFill>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241607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1691B1-4700-4865-E74A-FEA11B184E9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3987B05-F905-602E-69D5-2F840DA51954}"/>
              </a:ext>
            </a:extLst>
          </p:cNvPr>
          <p:cNvSpPr>
            <a:spLocks noGrp="1"/>
          </p:cNvSpPr>
          <p:nvPr>
            <p:ph idx="1"/>
          </p:nvPr>
        </p:nvSpPr>
        <p:spPr/>
        <p:txBody>
          <a:bodyPr/>
          <a:lstStyle/>
          <a:p>
            <a:pPr marL="0" indent="0">
              <a:buNone/>
            </a:pPr>
            <a:r>
              <a:rPr lang="fr-FR" b="1" dirty="0"/>
              <a:t>Concernant les facteurs du risque des CBP :</a:t>
            </a:r>
            <a:endParaRPr lang="fr-FR" dirty="0"/>
          </a:p>
          <a:p>
            <a:pPr marL="514350" lvl="0" indent="-514350">
              <a:buFont typeface="+mj-lt"/>
              <a:buAutoNum type="alphaUcPeriod"/>
            </a:pPr>
            <a:r>
              <a:rPr lang="fr-FR" dirty="0"/>
              <a:t>Le tabac est responsable de 90% des CBP</a:t>
            </a:r>
          </a:p>
          <a:p>
            <a:pPr marL="514350" lvl="0" indent="-514350">
              <a:buFont typeface="+mj-lt"/>
              <a:buAutoNum type="alphaUcPeriod"/>
            </a:pPr>
            <a:r>
              <a:rPr lang="fr-FR" dirty="0"/>
              <a:t>Le tabagisme passif augmente le risque de CBP de 30%</a:t>
            </a:r>
          </a:p>
          <a:p>
            <a:pPr marL="514350" lvl="0" indent="-514350">
              <a:buFont typeface="+mj-lt"/>
              <a:buAutoNum type="alphaUcPeriod"/>
            </a:pPr>
            <a:r>
              <a:rPr lang="fr-FR" dirty="0"/>
              <a:t>A tabagisme égale, les hommes sont plus à risque de développer un CBP</a:t>
            </a:r>
          </a:p>
          <a:p>
            <a:pPr marL="514350" lvl="0" indent="-514350">
              <a:buFont typeface="+mj-lt"/>
              <a:buAutoNum type="alphaUcPeriod"/>
            </a:pPr>
            <a:r>
              <a:rPr lang="fr-FR" dirty="0"/>
              <a:t>Une histoire familiale de néoplasie n’augmente pas le risque de CBP</a:t>
            </a:r>
          </a:p>
          <a:p>
            <a:pPr marL="514350" lvl="0" indent="-514350">
              <a:buFont typeface="+mj-lt"/>
              <a:buAutoNum type="alphaUcPeriod"/>
            </a:pPr>
            <a:r>
              <a:rPr lang="fr-FR" dirty="0"/>
              <a:t>Il existe une susceptibilité génétique aux carcinogènes</a:t>
            </a:r>
          </a:p>
          <a:p>
            <a:pPr marL="0" indent="0" algn="ctr">
              <a:buNone/>
            </a:pPr>
            <a:endParaRPr lang="fr-FR" dirty="0"/>
          </a:p>
        </p:txBody>
      </p:sp>
    </p:spTree>
    <p:extLst>
      <p:ext uri="{BB962C8B-B14F-4D97-AF65-F5344CB8AC3E}">
        <p14:creationId xmlns:p14="http://schemas.microsoft.com/office/powerpoint/2010/main" val="1758935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674E6-7238-150D-4F67-67842758252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59EA5B-CF63-433B-26CA-ABC99888295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D20595A-6E77-862D-0DF2-0A7F006F6B4A}"/>
              </a:ext>
            </a:extLst>
          </p:cNvPr>
          <p:cNvSpPr>
            <a:spLocks noGrp="1"/>
          </p:cNvSpPr>
          <p:nvPr>
            <p:ph idx="1"/>
          </p:nvPr>
        </p:nvSpPr>
        <p:spPr/>
        <p:txBody>
          <a:bodyPr/>
          <a:lstStyle/>
          <a:p>
            <a:pPr marL="0" indent="0">
              <a:buNone/>
            </a:pPr>
            <a:r>
              <a:rPr lang="fr-FR" b="1" dirty="0"/>
              <a:t>Concernant les facteurs du risque des CBP :</a:t>
            </a:r>
            <a:endParaRPr lang="fr-FR" dirty="0"/>
          </a:p>
          <a:p>
            <a:pPr marL="514350" lvl="0" indent="-514350">
              <a:buFont typeface="+mj-lt"/>
              <a:buAutoNum type="alphaUcPeriod"/>
            </a:pPr>
            <a:r>
              <a:rPr lang="fr-FR" dirty="0">
                <a:solidFill>
                  <a:srgbClr val="FF0000"/>
                </a:solidFill>
              </a:rPr>
              <a:t>Le tabac est responsable de 90% des CBP</a:t>
            </a:r>
          </a:p>
          <a:p>
            <a:pPr marL="514350" lvl="0" indent="-514350">
              <a:buFont typeface="+mj-lt"/>
              <a:buAutoNum type="alphaUcPeriod"/>
            </a:pPr>
            <a:r>
              <a:rPr lang="fr-FR" dirty="0">
                <a:solidFill>
                  <a:srgbClr val="FF0000"/>
                </a:solidFill>
              </a:rPr>
              <a:t>Le tabagisme passif augmente le risque de CBP de 30%</a:t>
            </a:r>
          </a:p>
          <a:p>
            <a:pPr marL="514350" lvl="0" indent="-514350">
              <a:buFont typeface="+mj-lt"/>
              <a:buAutoNum type="alphaUcPeriod"/>
            </a:pPr>
            <a:r>
              <a:rPr lang="fr-FR" dirty="0"/>
              <a:t>A tabagisme égale, les hommes sont plus à risque de développer un CBP</a:t>
            </a:r>
          </a:p>
          <a:p>
            <a:pPr marL="514350" lvl="0" indent="-514350">
              <a:buFont typeface="+mj-lt"/>
              <a:buAutoNum type="alphaUcPeriod"/>
            </a:pPr>
            <a:r>
              <a:rPr lang="fr-FR" dirty="0"/>
              <a:t>Une histoire familiale de néoplasie n’augmente pas le risque de CBP</a:t>
            </a:r>
          </a:p>
          <a:p>
            <a:pPr marL="514350" lvl="0" indent="-514350">
              <a:buFont typeface="+mj-lt"/>
              <a:buAutoNum type="alphaUcPeriod"/>
            </a:pPr>
            <a:r>
              <a:rPr lang="fr-FR" dirty="0">
                <a:solidFill>
                  <a:srgbClr val="FF0000"/>
                </a:solidFill>
              </a:rPr>
              <a:t>Il existe une susceptibilité génétique aux carcinogènes</a:t>
            </a:r>
          </a:p>
          <a:p>
            <a:pPr marL="0" indent="0" algn="ctr">
              <a:buNone/>
            </a:pPr>
            <a:endParaRPr lang="fr-FR" dirty="0"/>
          </a:p>
        </p:txBody>
      </p:sp>
    </p:spTree>
    <p:extLst>
      <p:ext uri="{BB962C8B-B14F-4D97-AF65-F5344CB8AC3E}">
        <p14:creationId xmlns:p14="http://schemas.microsoft.com/office/powerpoint/2010/main" val="3657322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7CE478-3FF1-1B4F-58E5-C67BD5B29D8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52D62FE-FB37-67A9-752A-A662FBB6F23F}"/>
              </a:ext>
            </a:extLst>
          </p:cNvPr>
          <p:cNvSpPr>
            <a:spLocks noGrp="1"/>
          </p:cNvSpPr>
          <p:nvPr>
            <p:ph idx="1"/>
          </p:nvPr>
        </p:nvSpPr>
        <p:spPr/>
        <p:txBody>
          <a:bodyPr/>
          <a:lstStyle/>
          <a:p>
            <a:pPr marL="0" indent="0">
              <a:buNone/>
            </a:pPr>
            <a:r>
              <a:rPr lang="fr-FR" b="1" dirty="0"/>
              <a:t>Parmi les facteurs professionnels suivants quel(s) est (sont) celui ceux) qui joue(nt) un rôle dans la genèse du cancer bronchique ? </a:t>
            </a:r>
            <a:endParaRPr lang="fr-FR" dirty="0"/>
          </a:p>
          <a:p>
            <a:pPr marL="0" indent="0">
              <a:buNone/>
            </a:pPr>
            <a:r>
              <a:rPr lang="fr-FR" dirty="0"/>
              <a:t>A- Nickel </a:t>
            </a:r>
          </a:p>
          <a:p>
            <a:pPr marL="0" indent="0">
              <a:buNone/>
            </a:pPr>
            <a:r>
              <a:rPr lang="fr-FR" dirty="0"/>
              <a:t>B- Moisissures</a:t>
            </a:r>
          </a:p>
          <a:p>
            <a:pPr marL="0" indent="0">
              <a:buNone/>
            </a:pPr>
            <a:r>
              <a:rPr lang="fr-FR" dirty="0"/>
              <a:t>C- Poussière de bois </a:t>
            </a:r>
          </a:p>
          <a:p>
            <a:pPr marL="0" indent="0">
              <a:buNone/>
            </a:pPr>
            <a:r>
              <a:rPr lang="fr-FR" dirty="0"/>
              <a:t>D- Chrome </a:t>
            </a:r>
          </a:p>
          <a:p>
            <a:pPr marL="0" indent="0">
              <a:buNone/>
            </a:pPr>
            <a:r>
              <a:rPr lang="fr-FR" dirty="0"/>
              <a:t>E- Amiante </a:t>
            </a:r>
          </a:p>
          <a:p>
            <a:pPr marL="0" indent="0">
              <a:buNone/>
            </a:pPr>
            <a:endParaRPr lang="fr-FR" dirty="0"/>
          </a:p>
        </p:txBody>
      </p:sp>
    </p:spTree>
    <p:extLst>
      <p:ext uri="{BB962C8B-B14F-4D97-AF65-F5344CB8AC3E}">
        <p14:creationId xmlns:p14="http://schemas.microsoft.com/office/powerpoint/2010/main" val="4258910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A97ED-18EE-BBB7-FCA8-455407B8F7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13031D-E7A4-61D2-A5A7-07C27C300DD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E353950-FE3A-9C56-3F0E-E5DA3D6A67CB}"/>
              </a:ext>
            </a:extLst>
          </p:cNvPr>
          <p:cNvSpPr>
            <a:spLocks noGrp="1"/>
          </p:cNvSpPr>
          <p:nvPr>
            <p:ph idx="1"/>
          </p:nvPr>
        </p:nvSpPr>
        <p:spPr/>
        <p:txBody>
          <a:bodyPr/>
          <a:lstStyle/>
          <a:p>
            <a:pPr marL="0" indent="0">
              <a:buNone/>
            </a:pPr>
            <a:r>
              <a:rPr lang="fr-FR" b="1" dirty="0"/>
              <a:t>Parmi les facteurs professionnels suivants quel(s) est (sont) celui ceux) qui joue(nt) un rôle dans la genèse du cancer bronchique ? </a:t>
            </a:r>
            <a:endParaRPr lang="fr-FR" dirty="0"/>
          </a:p>
          <a:p>
            <a:pPr marL="0" indent="0">
              <a:buNone/>
            </a:pPr>
            <a:r>
              <a:rPr lang="fr-FR" dirty="0">
                <a:solidFill>
                  <a:srgbClr val="FF0000"/>
                </a:solidFill>
              </a:rPr>
              <a:t>A- Nickel </a:t>
            </a:r>
          </a:p>
          <a:p>
            <a:pPr marL="0" indent="0">
              <a:buNone/>
            </a:pPr>
            <a:r>
              <a:rPr lang="fr-FR" dirty="0"/>
              <a:t>B- Moisissures</a:t>
            </a:r>
          </a:p>
          <a:p>
            <a:pPr marL="0" indent="0">
              <a:buNone/>
            </a:pPr>
            <a:r>
              <a:rPr lang="fr-FR" dirty="0"/>
              <a:t>C- Poussière de bois </a:t>
            </a:r>
          </a:p>
          <a:p>
            <a:pPr marL="0" indent="0">
              <a:buNone/>
            </a:pPr>
            <a:r>
              <a:rPr lang="fr-FR" dirty="0">
                <a:solidFill>
                  <a:srgbClr val="FF0000"/>
                </a:solidFill>
              </a:rPr>
              <a:t>D- Chrome </a:t>
            </a:r>
          </a:p>
          <a:p>
            <a:pPr marL="0" indent="0">
              <a:buNone/>
            </a:pPr>
            <a:r>
              <a:rPr lang="fr-FR" dirty="0">
                <a:solidFill>
                  <a:srgbClr val="FF0000"/>
                </a:solidFill>
              </a:rPr>
              <a:t>E- Amiante</a:t>
            </a:r>
            <a:r>
              <a:rPr lang="fr-FR" dirty="0"/>
              <a:t> </a:t>
            </a:r>
          </a:p>
          <a:p>
            <a:pPr marL="0" indent="0">
              <a:buNone/>
            </a:pPr>
            <a:endParaRPr lang="fr-FR" dirty="0"/>
          </a:p>
        </p:txBody>
      </p:sp>
    </p:spTree>
    <p:extLst>
      <p:ext uri="{BB962C8B-B14F-4D97-AF65-F5344CB8AC3E}">
        <p14:creationId xmlns:p14="http://schemas.microsoft.com/office/powerpoint/2010/main" val="2205320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B421B-4C29-F9B3-D228-6AF2A834595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09EB2CC-11B1-87BB-AAC5-94CD4C42F4B1}"/>
              </a:ext>
            </a:extLst>
          </p:cNvPr>
          <p:cNvSpPr>
            <a:spLocks noGrp="1"/>
          </p:cNvSpPr>
          <p:nvPr>
            <p:ph idx="1"/>
          </p:nvPr>
        </p:nvSpPr>
        <p:spPr/>
        <p:txBody>
          <a:bodyPr/>
          <a:lstStyle/>
          <a:p>
            <a:pPr marL="0" indent="0">
              <a:buNone/>
            </a:pPr>
            <a:r>
              <a:rPr lang="fr-FR" b="1" dirty="0"/>
              <a:t>L’agent causal de la majorité des cas de CBP d’origine professionnelle est :</a:t>
            </a:r>
            <a:endParaRPr lang="fr-FR" dirty="0"/>
          </a:p>
          <a:p>
            <a:pPr marL="514350" lvl="0" indent="-514350">
              <a:buFont typeface="+mj-lt"/>
              <a:buAutoNum type="alphaUcPeriod"/>
            </a:pPr>
            <a:r>
              <a:rPr lang="fr-FR" dirty="0"/>
              <a:t>Arsenic</a:t>
            </a:r>
          </a:p>
          <a:p>
            <a:pPr marL="514350" lvl="0" indent="-514350">
              <a:buFont typeface="+mj-lt"/>
              <a:buAutoNum type="alphaUcPeriod"/>
            </a:pPr>
            <a:r>
              <a:rPr lang="fr-FR" dirty="0"/>
              <a:t>Chrome</a:t>
            </a:r>
          </a:p>
          <a:p>
            <a:pPr marL="514350" lvl="0" indent="-514350">
              <a:buFont typeface="+mj-lt"/>
              <a:buAutoNum type="alphaUcPeriod"/>
            </a:pPr>
            <a:r>
              <a:rPr lang="fr-FR" dirty="0"/>
              <a:t>Amiante</a:t>
            </a:r>
          </a:p>
          <a:p>
            <a:pPr marL="514350" lvl="0" indent="-514350">
              <a:buFont typeface="+mj-lt"/>
              <a:buAutoNum type="alphaUcPeriod"/>
            </a:pPr>
            <a:r>
              <a:rPr lang="fr-FR" dirty="0"/>
              <a:t>Nickel</a:t>
            </a:r>
          </a:p>
          <a:p>
            <a:pPr marL="514350" lvl="0" indent="-514350">
              <a:buFont typeface="+mj-lt"/>
              <a:buAutoNum type="alphaUcPeriod"/>
            </a:pPr>
            <a:r>
              <a:rPr lang="fr-FR" dirty="0"/>
              <a:t>Silice</a:t>
            </a:r>
          </a:p>
          <a:p>
            <a:pPr marL="0" indent="0">
              <a:buNone/>
            </a:pPr>
            <a:endParaRPr lang="fr-FR" dirty="0"/>
          </a:p>
        </p:txBody>
      </p:sp>
    </p:spTree>
    <p:extLst>
      <p:ext uri="{BB962C8B-B14F-4D97-AF65-F5344CB8AC3E}">
        <p14:creationId xmlns:p14="http://schemas.microsoft.com/office/powerpoint/2010/main" val="71561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2B3D6-D8E9-70E6-4F56-8381858352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358C49-7557-D056-1AD8-00E24973A56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6755DC5-48D5-3C4D-CC20-3204E73856E3}"/>
              </a:ext>
            </a:extLst>
          </p:cNvPr>
          <p:cNvSpPr>
            <a:spLocks noGrp="1"/>
          </p:cNvSpPr>
          <p:nvPr>
            <p:ph idx="1"/>
          </p:nvPr>
        </p:nvSpPr>
        <p:spPr/>
        <p:txBody>
          <a:bodyPr/>
          <a:lstStyle/>
          <a:p>
            <a:pPr marL="0" indent="0">
              <a:buNone/>
            </a:pPr>
            <a:r>
              <a:rPr lang="fr-FR" b="1" dirty="0"/>
              <a:t>L’agent causal de la majorité des cas de CBP d’origine professionnelle est :</a:t>
            </a:r>
            <a:endParaRPr lang="fr-FR" dirty="0"/>
          </a:p>
          <a:p>
            <a:pPr marL="514350" lvl="0" indent="-514350">
              <a:buFont typeface="+mj-lt"/>
              <a:buAutoNum type="alphaUcPeriod"/>
            </a:pPr>
            <a:r>
              <a:rPr lang="fr-FR" dirty="0"/>
              <a:t>Arsenic</a:t>
            </a:r>
          </a:p>
          <a:p>
            <a:pPr marL="514350" lvl="0" indent="-514350">
              <a:buFont typeface="+mj-lt"/>
              <a:buAutoNum type="alphaUcPeriod"/>
            </a:pPr>
            <a:r>
              <a:rPr lang="fr-FR" dirty="0"/>
              <a:t>Chrome</a:t>
            </a:r>
          </a:p>
          <a:p>
            <a:pPr marL="514350" lvl="0" indent="-514350">
              <a:buFont typeface="+mj-lt"/>
              <a:buAutoNum type="alphaUcPeriod"/>
            </a:pPr>
            <a:r>
              <a:rPr lang="fr-FR" dirty="0">
                <a:solidFill>
                  <a:srgbClr val="FF0000"/>
                </a:solidFill>
              </a:rPr>
              <a:t>Amiante</a:t>
            </a:r>
          </a:p>
          <a:p>
            <a:pPr marL="514350" lvl="0" indent="-514350">
              <a:buFont typeface="+mj-lt"/>
              <a:buAutoNum type="alphaUcPeriod"/>
            </a:pPr>
            <a:r>
              <a:rPr lang="fr-FR" dirty="0"/>
              <a:t>Nickel</a:t>
            </a:r>
          </a:p>
          <a:p>
            <a:pPr marL="514350" lvl="0" indent="-514350">
              <a:buFont typeface="+mj-lt"/>
              <a:buAutoNum type="alphaUcPeriod"/>
            </a:pPr>
            <a:r>
              <a:rPr lang="fr-FR" dirty="0"/>
              <a:t>Silice</a:t>
            </a:r>
          </a:p>
          <a:p>
            <a:pPr marL="0" indent="0">
              <a:buNone/>
            </a:pPr>
            <a:endParaRPr lang="fr-FR" dirty="0"/>
          </a:p>
        </p:txBody>
      </p:sp>
    </p:spTree>
    <p:extLst>
      <p:ext uri="{BB962C8B-B14F-4D97-AF65-F5344CB8AC3E}">
        <p14:creationId xmlns:p14="http://schemas.microsoft.com/office/powerpoint/2010/main" val="20180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756C53-C5D9-3B24-0C7E-20027DA5E1C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BA99FE8-AA8D-051E-00BF-60745C16777A}"/>
              </a:ext>
            </a:extLst>
          </p:cNvPr>
          <p:cNvSpPr>
            <a:spLocks noGrp="1"/>
          </p:cNvSpPr>
          <p:nvPr>
            <p:ph idx="1"/>
          </p:nvPr>
        </p:nvSpPr>
        <p:spPr/>
        <p:txBody>
          <a:bodyPr/>
          <a:lstStyle/>
          <a:p>
            <a:pPr marL="0" indent="0">
              <a:buNone/>
            </a:pPr>
            <a:r>
              <a:rPr lang="fr-FR" b="1" dirty="0"/>
              <a:t>Les facteurs de risque du CBP sont :</a:t>
            </a:r>
            <a:endParaRPr lang="fr-FR" dirty="0"/>
          </a:p>
          <a:p>
            <a:pPr marL="514350" lvl="0" indent="-514350">
              <a:buFont typeface="+mj-lt"/>
              <a:buAutoNum type="alphaUcPeriod"/>
            </a:pPr>
            <a:r>
              <a:rPr lang="fr-FR" dirty="0"/>
              <a:t>L’exposition aux déjections d’oiseaux</a:t>
            </a:r>
          </a:p>
          <a:p>
            <a:pPr marL="514350" lvl="0" indent="-514350">
              <a:buFont typeface="+mj-lt"/>
              <a:buAutoNum type="alphaUcPeriod"/>
            </a:pPr>
            <a:r>
              <a:rPr lang="fr-FR" dirty="0"/>
              <a:t>La BPCO</a:t>
            </a:r>
          </a:p>
          <a:p>
            <a:pPr marL="514350" lvl="0" indent="-514350">
              <a:buFont typeface="+mj-lt"/>
              <a:buAutoNum type="alphaUcPeriod"/>
            </a:pPr>
            <a:r>
              <a:rPr lang="fr-FR" dirty="0"/>
              <a:t>Les </a:t>
            </a:r>
            <a:r>
              <a:rPr lang="fr-FR" dirty="0" err="1"/>
              <a:t>ATCDs</a:t>
            </a:r>
            <a:r>
              <a:rPr lang="fr-FR" dirty="0"/>
              <a:t> familiaux de néoplasie</a:t>
            </a:r>
          </a:p>
          <a:p>
            <a:pPr marL="514350" lvl="0" indent="-514350">
              <a:buFont typeface="+mj-lt"/>
              <a:buAutoNum type="alphaUcPeriod"/>
            </a:pPr>
            <a:r>
              <a:rPr lang="fr-FR" dirty="0"/>
              <a:t>La fibrose pulmonaire</a:t>
            </a:r>
          </a:p>
          <a:p>
            <a:pPr marL="514350" lvl="0" indent="-514350">
              <a:buFont typeface="+mj-lt"/>
              <a:buAutoNum type="alphaUcPeriod"/>
            </a:pPr>
            <a:r>
              <a:rPr lang="fr-FR" dirty="0"/>
              <a:t>L’exposition aux pneumallergènes  </a:t>
            </a:r>
          </a:p>
          <a:p>
            <a:pPr marL="0" indent="0">
              <a:buNone/>
            </a:pPr>
            <a:endParaRPr lang="fr-FR" dirty="0"/>
          </a:p>
        </p:txBody>
      </p:sp>
    </p:spTree>
    <p:extLst>
      <p:ext uri="{BB962C8B-B14F-4D97-AF65-F5344CB8AC3E}">
        <p14:creationId xmlns:p14="http://schemas.microsoft.com/office/powerpoint/2010/main" val="580497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145E7-3832-D25D-CDAD-C19800378A9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3C1539B-DCB5-9220-37AC-D81E8E86E78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D2DBD09-4141-4DE6-2AFF-F1CA0659EF34}"/>
              </a:ext>
            </a:extLst>
          </p:cNvPr>
          <p:cNvSpPr>
            <a:spLocks noGrp="1"/>
          </p:cNvSpPr>
          <p:nvPr>
            <p:ph idx="1"/>
          </p:nvPr>
        </p:nvSpPr>
        <p:spPr/>
        <p:txBody>
          <a:bodyPr/>
          <a:lstStyle/>
          <a:p>
            <a:pPr marL="0" indent="0">
              <a:buNone/>
            </a:pPr>
            <a:r>
              <a:rPr lang="fr-FR" b="1" dirty="0"/>
              <a:t>Les facteurs de risque du CBP sont :</a:t>
            </a:r>
            <a:endParaRPr lang="fr-FR" dirty="0"/>
          </a:p>
          <a:p>
            <a:pPr marL="514350" lvl="0" indent="-514350">
              <a:buFont typeface="+mj-lt"/>
              <a:buAutoNum type="alphaUcPeriod"/>
            </a:pPr>
            <a:r>
              <a:rPr lang="fr-FR" dirty="0"/>
              <a:t>L’exposition aux déjections d’oiseaux</a:t>
            </a:r>
          </a:p>
          <a:p>
            <a:pPr marL="514350" lvl="0" indent="-514350">
              <a:buFont typeface="+mj-lt"/>
              <a:buAutoNum type="alphaUcPeriod"/>
            </a:pPr>
            <a:r>
              <a:rPr lang="fr-FR" dirty="0">
                <a:solidFill>
                  <a:srgbClr val="FF0000"/>
                </a:solidFill>
              </a:rPr>
              <a:t>La BPCO</a:t>
            </a:r>
          </a:p>
          <a:p>
            <a:pPr marL="514350" lvl="0" indent="-514350">
              <a:buFont typeface="+mj-lt"/>
              <a:buAutoNum type="alphaUcPeriod"/>
            </a:pPr>
            <a:r>
              <a:rPr lang="fr-FR" dirty="0">
                <a:solidFill>
                  <a:srgbClr val="FF0000"/>
                </a:solidFill>
              </a:rPr>
              <a:t>Les </a:t>
            </a:r>
            <a:r>
              <a:rPr lang="fr-FR" dirty="0" err="1">
                <a:solidFill>
                  <a:srgbClr val="FF0000"/>
                </a:solidFill>
              </a:rPr>
              <a:t>ATCDs</a:t>
            </a:r>
            <a:r>
              <a:rPr lang="fr-FR" dirty="0">
                <a:solidFill>
                  <a:srgbClr val="FF0000"/>
                </a:solidFill>
              </a:rPr>
              <a:t> familiaux de néoplasie</a:t>
            </a:r>
          </a:p>
          <a:p>
            <a:pPr marL="514350" lvl="0" indent="-514350">
              <a:buFont typeface="+mj-lt"/>
              <a:buAutoNum type="alphaUcPeriod"/>
            </a:pPr>
            <a:r>
              <a:rPr lang="fr-FR" dirty="0">
                <a:solidFill>
                  <a:srgbClr val="FF0000"/>
                </a:solidFill>
              </a:rPr>
              <a:t>La fibrose pulmonaire</a:t>
            </a:r>
          </a:p>
          <a:p>
            <a:pPr marL="514350" lvl="0" indent="-514350">
              <a:buFont typeface="+mj-lt"/>
              <a:buAutoNum type="alphaUcPeriod"/>
            </a:pPr>
            <a:r>
              <a:rPr lang="fr-FR" dirty="0"/>
              <a:t>L’exposition aux pneumallergènes  </a:t>
            </a:r>
          </a:p>
          <a:p>
            <a:pPr marL="0" indent="0">
              <a:buNone/>
            </a:pPr>
            <a:endParaRPr lang="fr-FR" dirty="0"/>
          </a:p>
        </p:txBody>
      </p:sp>
    </p:spTree>
    <p:extLst>
      <p:ext uri="{BB962C8B-B14F-4D97-AF65-F5344CB8AC3E}">
        <p14:creationId xmlns:p14="http://schemas.microsoft.com/office/powerpoint/2010/main" val="192217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F1931-1082-084C-35E1-D289943EFF6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5552F2B-A250-ED5A-FE72-2DCE0DF9E92D}"/>
              </a:ext>
            </a:extLst>
          </p:cNvPr>
          <p:cNvSpPr>
            <a:spLocks noGrp="1"/>
          </p:cNvSpPr>
          <p:nvPr>
            <p:ph idx="1"/>
          </p:nvPr>
        </p:nvSpPr>
        <p:spPr/>
        <p:txBody>
          <a:bodyPr/>
          <a:lstStyle/>
          <a:p>
            <a:pPr marL="0" indent="0">
              <a:buNone/>
            </a:pPr>
            <a:r>
              <a:rPr lang="fr-FR" b="1" dirty="0"/>
              <a:t>Le CPC se caractérise sur le plan histologique par :</a:t>
            </a:r>
            <a:endParaRPr lang="fr-FR" dirty="0"/>
          </a:p>
          <a:p>
            <a:pPr marL="514350" lvl="0" indent="-514350">
              <a:buFont typeface="+mj-lt"/>
              <a:buAutoNum type="alphaUcPeriod"/>
            </a:pPr>
            <a:r>
              <a:rPr lang="fr-FR" dirty="0"/>
              <a:t>Extension médiastinale précoce</a:t>
            </a:r>
          </a:p>
          <a:p>
            <a:pPr marL="514350" lvl="0" indent="-514350">
              <a:buFont typeface="+mj-lt"/>
              <a:buAutoNum type="alphaUcPeriod"/>
            </a:pPr>
            <a:r>
              <a:rPr lang="fr-FR" dirty="0"/>
              <a:t>Des cellules de petite taille</a:t>
            </a:r>
          </a:p>
          <a:p>
            <a:pPr marL="514350" lvl="0" indent="-514350">
              <a:buFont typeface="+mj-lt"/>
              <a:buAutoNum type="alphaUcPeriod"/>
            </a:pPr>
            <a:r>
              <a:rPr lang="fr-FR" dirty="0"/>
              <a:t>Cytoplasme abondant</a:t>
            </a:r>
          </a:p>
          <a:p>
            <a:pPr marL="514350" lvl="0" indent="-514350">
              <a:buFont typeface="+mj-lt"/>
              <a:buAutoNum type="alphaUcPeriod"/>
            </a:pPr>
            <a:r>
              <a:rPr lang="fr-FR" dirty="0"/>
              <a:t>Nucléole non visible</a:t>
            </a:r>
          </a:p>
          <a:p>
            <a:pPr marL="514350" lvl="0" indent="-514350">
              <a:buFont typeface="+mj-lt"/>
              <a:buAutoNum type="alphaUcPeriod"/>
            </a:pPr>
            <a:r>
              <a:rPr lang="fr-FR" dirty="0"/>
              <a:t>Index mitotique bas</a:t>
            </a:r>
          </a:p>
          <a:p>
            <a:pPr marL="0" indent="0">
              <a:buNone/>
            </a:pPr>
            <a:endParaRPr lang="fr-FR" dirty="0"/>
          </a:p>
        </p:txBody>
      </p:sp>
    </p:spTree>
    <p:extLst>
      <p:ext uri="{BB962C8B-B14F-4D97-AF65-F5344CB8AC3E}">
        <p14:creationId xmlns:p14="http://schemas.microsoft.com/office/powerpoint/2010/main" val="3540350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43674-8AE5-AF66-9542-E4F24251F0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FC5CBAF-672C-D66E-218C-E855581A349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7FD4762-29A5-E0C0-7787-6D7DE9A31FC4}"/>
              </a:ext>
            </a:extLst>
          </p:cNvPr>
          <p:cNvSpPr>
            <a:spLocks noGrp="1"/>
          </p:cNvSpPr>
          <p:nvPr>
            <p:ph idx="1"/>
          </p:nvPr>
        </p:nvSpPr>
        <p:spPr/>
        <p:txBody>
          <a:bodyPr/>
          <a:lstStyle/>
          <a:p>
            <a:pPr marL="0" indent="0">
              <a:buNone/>
            </a:pPr>
            <a:r>
              <a:rPr lang="fr-FR" b="1" dirty="0"/>
              <a:t>Le CPC se caractérise sur le plan histologique par :</a:t>
            </a:r>
            <a:endParaRPr lang="fr-FR" dirty="0"/>
          </a:p>
          <a:p>
            <a:pPr marL="514350" lvl="0" indent="-514350">
              <a:buFont typeface="+mj-lt"/>
              <a:buAutoNum type="alphaUcPeriod"/>
            </a:pPr>
            <a:r>
              <a:rPr lang="fr-FR" dirty="0">
                <a:solidFill>
                  <a:srgbClr val="FF0000"/>
                </a:solidFill>
              </a:rPr>
              <a:t>Extension médiastinale précoce</a:t>
            </a:r>
          </a:p>
          <a:p>
            <a:pPr marL="514350" lvl="0" indent="-514350">
              <a:buFont typeface="+mj-lt"/>
              <a:buAutoNum type="alphaUcPeriod"/>
            </a:pPr>
            <a:r>
              <a:rPr lang="fr-FR" dirty="0">
                <a:solidFill>
                  <a:srgbClr val="FF0000"/>
                </a:solidFill>
              </a:rPr>
              <a:t>Des cellules de petite taille</a:t>
            </a:r>
          </a:p>
          <a:p>
            <a:pPr marL="514350" lvl="0" indent="-514350">
              <a:buFont typeface="+mj-lt"/>
              <a:buAutoNum type="alphaUcPeriod"/>
            </a:pPr>
            <a:r>
              <a:rPr lang="fr-FR" dirty="0"/>
              <a:t>Cytoplasme abondant</a:t>
            </a:r>
          </a:p>
          <a:p>
            <a:pPr marL="514350" lvl="0" indent="-514350">
              <a:buFont typeface="+mj-lt"/>
              <a:buAutoNum type="alphaUcPeriod"/>
            </a:pPr>
            <a:r>
              <a:rPr lang="fr-FR" dirty="0">
                <a:solidFill>
                  <a:srgbClr val="FF0000"/>
                </a:solidFill>
              </a:rPr>
              <a:t>Nucléole non visible</a:t>
            </a:r>
          </a:p>
          <a:p>
            <a:pPr marL="514350" lvl="0" indent="-514350">
              <a:buFont typeface="+mj-lt"/>
              <a:buAutoNum type="alphaUcPeriod"/>
            </a:pPr>
            <a:r>
              <a:rPr lang="fr-FR" dirty="0"/>
              <a:t>Index mitotique bas</a:t>
            </a:r>
          </a:p>
          <a:p>
            <a:pPr marL="0" indent="0">
              <a:buNone/>
            </a:pPr>
            <a:endParaRPr lang="fr-FR" dirty="0"/>
          </a:p>
        </p:txBody>
      </p:sp>
    </p:spTree>
    <p:extLst>
      <p:ext uri="{BB962C8B-B14F-4D97-AF65-F5344CB8AC3E}">
        <p14:creationId xmlns:p14="http://schemas.microsoft.com/office/powerpoint/2010/main" val="3470087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149B3-0816-CDA5-FC0E-1C8AB5DFF58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01DE161-F422-9313-C9A0-4C9434F27C09}"/>
              </a:ext>
            </a:extLst>
          </p:cNvPr>
          <p:cNvSpPr>
            <a:spLocks noGrp="1"/>
          </p:cNvSpPr>
          <p:nvPr>
            <p:ph idx="1"/>
          </p:nvPr>
        </p:nvSpPr>
        <p:spPr/>
        <p:txBody>
          <a:bodyPr/>
          <a:lstStyle/>
          <a:p>
            <a:pPr marL="0" indent="0">
              <a:buNone/>
            </a:pPr>
            <a:r>
              <a:rPr lang="fr-FR" b="1" dirty="0"/>
              <a:t>Sur le plan IHC, le CBP qui exprime plus le TTF1 est :</a:t>
            </a:r>
            <a:endParaRPr lang="fr-FR" dirty="0"/>
          </a:p>
          <a:p>
            <a:pPr marL="514350" lvl="0" indent="-514350">
              <a:buFont typeface="+mj-lt"/>
              <a:buAutoNum type="alphaUcPeriod"/>
            </a:pPr>
            <a:r>
              <a:rPr lang="fr-FR" dirty="0"/>
              <a:t>CPC</a:t>
            </a:r>
          </a:p>
          <a:p>
            <a:pPr marL="514350" lvl="0" indent="-514350">
              <a:buFont typeface="+mj-lt"/>
              <a:buAutoNum type="alphaUcPeriod"/>
            </a:pPr>
            <a:r>
              <a:rPr lang="fr-FR" dirty="0"/>
              <a:t>ADK</a:t>
            </a:r>
          </a:p>
          <a:p>
            <a:pPr marL="514350" lvl="0" indent="-514350">
              <a:buFont typeface="+mj-lt"/>
              <a:buAutoNum type="alphaUcPeriod"/>
            </a:pPr>
            <a:r>
              <a:rPr lang="fr-FR" dirty="0"/>
              <a:t>Tumeurs carcinoïdes</a:t>
            </a:r>
          </a:p>
          <a:p>
            <a:pPr marL="514350" lvl="0" indent="-514350">
              <a:buFont typeface="+mj-lt"/>
              <a:buAutoNum type="alphaUcPeriod"/>
            </a:pPr>
            <a:r>
              <a:rPr lang="fr-FR" dirty="0"/>
              <a:t>Carcinome épidermoïde</a:t>
            </a:r>
          </a:p>
          <a:p>
            <a:pPr marL="514350" lvl="0" indent="-514350">
              <a:buFont typeface="+mj-lt"/>
              <a:buAutoNum type="alphaUcPeriod"/>
            </a:pPr>
            <a:r>
              <a:rPr lang="fr-FR" dirty="0"/>
              <a:t>Carcinome pléomorphe </a:t>
            </a:r>
          </a:p>
          <a:p>
            <a:endParaRPr lang="fr-FR" dirty="0"/>
          </a:p>
        </p:txBody>
      </p:sp>
    </p:spTree>
    <p:extLst>
      <p:ext uri="{BB962C8B-B14F-4D97-AF65-F5344CB8AC3E}">
        <p14:creationId xmlns:p14="http://schemas.microsoft.com/office/powerpoint/2010/main" val="1316680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40113-88A5-7FE5-91A7-AB801FED7A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AE2D95B-60C4-8C30-3713-FA684A1B6F6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2EA6B2F-D19E-BAC9-F868-CB2E7D34FF45}"/>
              </a:ext>
            </a:extLst>
          </p:cNvPr>
          <p:cNvSpPr>
            <a:spLocks noGrp="1"/>
          </p:cNvSpPr>
          <p:nvPr>
            <p:ph idx="1"/>
          </p:nvPr>
        </p:nvSpPr>
        <p:spPr/>
        <p:txBody>
          <a:bodyPr/>
          <a:lstStyle/>
          <a:p>
            <a:pPr marL="0" indent="0">
              <a:buNone/>
            </a:pPr>
            <a:r>
              <a:rPr lang="fr-FR" b="1" dirty="0"/>
              <a:t>Sur le plan IHC, le CBP qui exprime plus le TTF1 est :</a:t>
            </a:r>
            <a:endParaRPr lang="fr-FR" dirty="0"/>
          </a:p>
          <a:p>
            <a:pPr marL="514350" lvl="0" indent="-514350">
              <a:buFont typeface="+mj-lt"/>
              <a:buAutoNum type="alphaUcPeriod"/>
            </a:pPr>
            <a:r>
              <a:rPr lang="fr-FR" dirty="0"/>
              <a:t>CPC</a:t>
            </a:r>
          </a:p>
          <a:p>
            <a:pPr marL="514350" lvl="0" indent="-514350">
              <a:buFont typeface="+mj-lt"/>
              <a:buAutoNum type="alphaUcPeriod"/>
            </a:pPr>
            <a:r>
              <a:rPr lang="fr-FR" dirty="0">
                <a:solidFill>
                  <a:srgbClr val="FF0000"/>
                </a:solidFill>
              </a:rPr>
              <a:t>ADK</a:t>
            </a:r>
          </a:p>
          <a:p>
            <a:pPr marL="514350" lvl="0" indent="-514350">
              <a:buFont typeface="+mj-lt"/>
              <a:buAutoNum type="alphaUcPeriod"/>
            </a:pPr>
            <a:r>
              <a:rPr lang="fr-FR" dirty="0"/>
              <a:t>Tumeurs carcinoïdes</a:t>
            </a:r>
          </a:p>
          <a:p>
            <a:pPr marL="514350" lvl="0" indent="-514350">
              <a:buFont typeface="+mj-lt"/>
              <a:buAutoNum type="alphaUcPeriod"/>
            </a:pPr>
            <a:r>
              <a:rPr lang="fr-FR" dirty="0"/>
              <a:t>Carcinome épidermoïde</a:t>
            </a:r>
          </a:p>
          <a:p>
            <a:pPr marL="514350" lvl="0" indent="-514350">
              <a:buFont typeface="+mj-lt"/>
              <a:buAutoNum type="alphaUcPeriod"/>
            </a:pPr>
            <a:r>
              <a:rPr lang="fr-FR" dirty="0"/>
              <a:t>Carcinome pléomorphe </a:t>
            </a:r>
          </a:p>
          <a:p>
            <a:endParaRPr lang="fr-FR" dirty="0"/>
          </a:p>
        </p:txBody>
      </p:sp>
    </p:spTree>
    <p:extLst>
      <p:ext uri="{BB962C8B-B14F-4D97-AF65-F5344CB8AC3E}">
        <p14:creationId xmlns:p14="http://schemas.microsoft.com/office/powerpoint/2010/main" val="3727793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AEDBA-EB53-15F4-7ADE-A16EE9A4187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3BDFE43-E8E6-2145-CB45-1E3031EF8B24}"/>
              </a:ext>
            </a:extLst>
          </p:cNvPr>
          <p:cNvSpPr>
            <a:spLocks noGrp="1"/>
          </p:cNvSpPr>
          <p:nvPr>
            <p:ph idx="1"/>
          </p:nvPr>
        </p:nvSpPr>
        <p:spPr/>
        <p:txBody>
          <a:bodyPr/>
          <a:lstStyle/>
          <a:p>
            <a:pPr marL="0" indent="0">
              <a:buNone/>
            </a:pPr>
            <a:r>
              <a:rPr lang="fr-FR" b="1" dirty="0"/>
              <a:t>L’adénocarcinome primitif pulmonaire :</a:t>
            </a:r>
            <a:endParaRPr lang="fr-FR" dirty="0"/>
          </a:p>
          <a:p>
            <a:pPr marL="0" indent="0" eaLnBrk="0" fontAlgn="base" hangingPunct="0">
              <a:buNone/>
            </a:pPr>
            <a:r>
              <a:rPr lang="fr-FR" dirty="0"/>
              <a:t>A- représente 20% des CBP</a:t>
            </a:r>
          </a:p>
          <a:p>
            <a:pPr marL="0" indent="0" eaLnBrk="0" fontAlgn="base" hangingPunct="0">
              <a:buNone/>
            </a:pPr>
            <a:r>
              <a:rPr lang="fr-FR" dirty="0"/>
              <a:t>B- exprime le TTF1 à l’immunohistochimie</a:t>
            </a:r>
          </a:p>
          <a:p>
            <a:pPr marL="0" indent="0" eaLnBrk="0" fontAlgn="base" hangingPunct="0">
              <a:buNone/>
            </a:pPr>
            <a:r>
              <a:rPr lang="fr-FR" dirty="0"/>
              <a:t>C- se présente souvent sous forme d’une masse intra parenchymateux </a:t>
            </a:r>
          </a:p>
          <a:p>
            <a:pPr marL="0" indent="0" eaLnBrk="0" fontAlgn="base" hangingPunct="0">
              <a:buNone/>
            </a:pPr>
            <a:r>
              <a:rPr lang="fr-FR" dirty="0"/>
              <a:t>D- a une différenciation glandulaire </a:t>
            </a:r>
          </a:p>
          <a:p>
            <a:pPr marL="0" indent="0" eaLnBrk="0" fontAlgn="base" hangingPunct="0">
              <a:buNone/>
            </a:pPr>
            <a:r>
              <a:rPr lang="fr-FR" dirty="0"/>
              <a:t>E- est radiosensible</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643140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28B3-74D6-AFB6-4D88-E8AFAE619D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0BA38B-979F-2165-B5F6-AA11B66C28C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1E84687-9B7E-92D6-C667-866C8750C759}"/>
              </a:ext>
            </a:extLst>
          </p:cNvPr>
          <p:cNvSpPr>
            <a:spLocks noGrp="1"/>
          </p:cNvSpPr>
          <p:nvPr>
            <p:ph idx="1"/>
          </p:nvPr>
        </p:nvSpPr>
        <p:spPr/>
        <p:txBody>
          <a:bodyPr/>
          <a:lstStyle/>
          <a:p>
            <a:pPr marL="0" indent="0">
              <a:buNone/>
            </a:pPr>
            <a:r>
              <a:rPr lang="fr-FR" b="1" dirty="0"/>
              <a:t>L’adénocarcinome primitif pulmonaire :</a:t>
            </a:r>
            <a:endParaRPr lang="fr-FR" dirty="0"/>
          </a:p>
          <a:p>
            <a:pPr marL="0" indent="0" eaLnBrk="0" fontAlgn="base" hangingPunct="0">
              <a:buNone/>
            </a:pPr>
            <a:r>
              <a:rPr lang="fr-FR" dirty="0"/>
              <a:t>A- représente 20% des CBP</a:t>
            </a:r>
          </a:p>
          <a:p>
            <a:pPr marL="0" indent="0" eaLnBrk="0" fontAlgn="base" hangingPunct="0">
              <a:buNone/>
            </a:pPr>
            <a:r>
              <a:rPr lang="fr-FR" dirty="0">
                <a:solidFill>
                  <a:srgbClr val="FF0000"/>
                </a:solidFill>
              </a:rPr>
              <a:t>B- exprime le TTF1 à l’immunohistochimie</a:t>
            </a:r>
          </a:p>
          <a:p>
            <a:pPr marL="0" indent="0" eaLnBrk="0" fontAlgn="base" hangingPunct="0">
              <a:buNone/>
            </a:pPr>
            <a:r>
              <a:rPr lang="fr-FR" dirty="0">
                <a:solidFill>
                  <a:srgbClr val="FF0000"/>
                </a:solidFill>
              </a:rPr>
              <a:t>C- se présente souvent sous forme d’une masse intra parenchymateux </a:t>
            </a:r>
          </a:p>
          <a:p>
            <a:pPr marL="0" indent="0" eaLnBrk="0" fontAlgn="base" hangingPunct="0">
              <a:buNone/>
            </a:pPr>
            <a:r>
              <a:rPr lang="fr-FR" dirty="0">
                <a:solidFill>
                  <a:srgbClr val="FF0000"/>
                </a:solidFill>
              </a:rPr>
              <a:t>D- a une différenciation glandulaire </a:t>
            </a:r>
          </a:p>
          <a:p>
            <a:pPr marL="0" indent="0" eaLnBrk="0" fontAlgn="base" hangingPunct="0">
              <a:buNone/>
            </a:pPr>
            <a:r>
              <a:rPr lang="fr-FR" dirty="0"/>
              <a:t>E- est radiosensible</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3104032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B7AD6-76E3-9D75-FDC2-4B7DB10D481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7ACEB51-6522-6B5D-6E7F-5A059850C4A2}"/>
              </a:ext>
            </a:extLst>
          </p:cNvPr>
          <p:cNvSpPr>
            <a:spLocks noGrp="1"/>
          </p:cNvSpPr>
          <p:nvPr>
            <p:ph idx="1"/>
          </p:nvPr>
        </p:nvSpPr>
        <p:spPr/>
        <p:txBody>
          <a:bodyPr/>
          <a:lstStyle/>
          <a:p>
            <a:pPr marL="0" indent="0">
              <a:buNone/>
            </a:pPr>
            <a:r>
              <a:rPr lang="fr-FR" b="1" dirty="0"/>
              <a:t>Concernant les circonstances de découverte du CBP :</a:t>
            </a:r>
            <a:endParaRPr lang="fr-FR" dirty="0"/>
          </a:p>
          <a:p>
            <a:pPr marL="514350" lvl="0" indent="-514350">
              <a:buFont typeface="+mj-lt"/>
              <a:buAutoNum type="alphaUcPeriod"/>
            </a:pPr>
            <a:r>
              <a:rPr lang="fr-FR" dirty="0"/>
              <a:t>Une altération de l’état général non expliquée chez un tabagique doit faire pratiquer une radiographie du thorax</a:t>
            </a:r>
          </a:p>
          <a:p>
            <a:pPr marL="514350" lvl="0" indent="-514350">
              <a:buFont typeface="+mj-lt"/>
              <a:buAutoNum type="alphaUcPeriod"/>
            </a:pPr>
            <a:r>
              <a:rPr lang="fr-FR" dirty="0"/>
              <a:t>Une toux trainante doit faire évoquer le diagnostic</a:t>
            </a:r>
          </a:p>
          <a:p>
            <a:pPr marL="514350" lvl="0" indent="-514350">
              <a:buFont typeface="+mj-lt"/>
              <a:buAutoNum type="alphaUcPeriod"/>
            </a:pPr>
            <a:r>
              <a:rPr lang="fr-FR" dirty="0"/>
              <a:t>La douleur thoracique est constante</a:t>
            </a:r>
          </a:p>
          <a:p>
            <a:pPr marL="514350" lvl="0" indent="-514350">
              <a:buFont typeface="+mj-lt"/>
              <a:buAutoNum type="alphaUcPeriod"/>
            </a:pPr>
            <a:r>
              <a:rPr lang="fr-FR" dirty="0"/>
              <a:t>Une infection respiratoire basse récidivante dans le même territoire peut être en rapport avec un CBP</a:t>
            </a:r>
          </a:p>
          <a:p>
            <a:pPr marL="514350" lvl="0" indent="-514350">
              <a:buFont typeface="+mj-lt"/>
              <a:buAutoNum type="alphaUcPeriod"/>
            </a:pPr>
            <a:r>
              <a:rPr lang="fr-FR" dirty="0"/>
              <a:t>L’hémoptysie est présente dans près de la moitié des cas</a:t>
            </a:r>
          </a:p>
          <a:p>
            <a:endParaRPr lang="fr-FR" dirty="0"/>
          </a:p>
        </p:txBody>
      </p:sp>
    </p:spTree>
    <p:extLst>
      <p:ext uri="{BB962C8B-B14F-4D97-AF65-F5344CB8AC3E}">
        <p14:creationId xmlns:p14="http://schemas.microsoft.com/office/powerpoint/2010/main" val="420488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1049-2469-CE80-E4C0-F3E533A1B4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8751A7-7682-500A-E971-241CEFE24A1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CE94F9B-72B8-7835-10A0-50BD0EE7D5E5}"/>
              </a:ext>
            </a:extLst>
          </p:cNvPr>
          <p:cNvSpPr>
            <a:spLocks noGrp="1"/>
          </p:cNvSpPr>
          <p:nvPr>
            <p:ph idx="1"/>
          </p:nvPr>
        </p:nvSpPr>
        <p:spPr/>
        <p:txBody>
          <a:bodyPr/>
          <a:lstStyle/>
          <a:p>
            <a:pPr marL="0" indent="0">
              <a:buNone/>
            </a:pPr>
            <a:r>
              <a:rPr lang="fr-FR" b="1" dirty="0"/>
              <a:t>Concernant les circonstances de découverte du CBP :</a:t>
            </a:r>
            <a:endParaRPr lang="fr-FR" dirty="0"/>
          </a:p>
          <a:p>
            <a:pPr marL="514350" lvl="0" indent="-514350">
              <a:buFont typeface="+mj-lt"/>
              <a:buAutoNum type="alphaUcPeriod"/>
            </a:pPr>
            <a:r>
              <a:rPr lang="fr-FR" dirty="0">
                <a:solidFill>
                  <a:srgbClr val="FF0000"/>
                </a:solidFill>
              </a:rPr>
              <a:t>Une altération de l’état général non expliquée chez un tabagique doit faire pratiquer une radiographie du thorax</a:t>
            </a:r>
          </a:p>
          <a:p>
            <a:pPr marL="514350" lvl="0" indent="-514350">
              <a:buFont typeface="+mj-lt"/>
              <a:buAutoNum type="alphaUcPeriod"/>
            </a:pPr>
            <a:r>
              <a:rPr lang="fr-FR" dirty="0">
                <a:solidFill>
                  <a:srgbClr val="FF0000"/>
                </a:solidFill>
              </a:rPr>
              <a:t>Une toux trainante doit faire évoquer le diagnostic</a:t>
            </a:r>
          </a:p>
          <a:p>
            <a:pPr marL="514350" lvl="0" indent="-514350">
              <a:buFont typeface="+mj-lt"/>
              <a:buAutoNum type="alphaUcPeriod"/>
            </a:pPr>
            <a:r>
              <a:rPr lang="fr-FR" dirty="0"/>
              <a:t>La douleur thoracique est constante</a:t>
            </a:r>
          </a:p>
          <a:p>
            <a:pPr marL="514350" lvl="0" indent="-514350">
              <a:buFont typeface="+mj-lt"/>
              <a:buAutoNum type="alphaUcPeriod"/>
            </a:pPr>
            <a:r>
              <a:rPr lang="fr-FR" dirty="0">
                <a:solidFill>
                  <a:srgbClr val="FF0000"/>
                </a:solidFill>
              </a:rPr>
              <a:t>Une infection respiratoire basse récidivante dans le même territoire peut être en rapport avec un CBP</a:t>
            </a:r>
          </a:p>
          <a:p>
            <a:pPr marL="514350" lvl="0" indent="-514350">
              <a:buFont typeface="+mj-lt"/>
              <a:buAutoNum type="alphaUcPeriod"/>
            </a:pPr>
            <a:r>
              <a:rPr lang="fr-FR" dirty="0"/>
              <a:t>L’hémoptysie est présente dans près de la moitié des cas</a:t>
            </a:r>
          </a:p>
          <a:p>
            <a:endParaRPr lang="fr-FR" dirty="0"/>
          </a:p>
        </p:txBody>
      </p:sp>
    </p:spTree>
    <p:extLst>
      <p:ext uri="{BB962C8B-B14F-4D97-AF65-F5344CB8AC3E}">
        <p14:creationId xmlns:p14="http://schemas.microsoft.com/office/powerpoint/2010/main" val="3280239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E6E898-D165-C69B-0984-08EF7464357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40BC7E6-B487-2C9E-4899-01E59D0CF035}"/>
              </a:ext>
            </a:extLst>
          </p:cNvPr>
          <p:cNvSpPr>
            <a:spLocks noGrp="1"/>
          </p:cNvSpPr>
          <p:nvPr>
            <p:ph idx="1"/>
          </p:nvPr>
        </p:nvSpPr>
        <p:spPr/>
        <p:txBody>
          <a:bodyPr/>
          <a:lstStyle/>
          <a:p>
            <a:pPr marL="0" indent="0">
              <a:buNone/>
            </a:pPr>
            <a:r>
              <a:rPr lang="fr-FR" b="1" dirty="0"/>
              <a:t>Les symptômes en rapport avec l’extension locorégionale du CBP sont :</a:t>
            </a:r>
            <a:endParaRPr lang="fr-FR" dirty="0"/>
          </a:p>
          <a:p>
            <a:pPr marL="514350" lvl="0" indent="-514350">
              <a:buFont typeface="+mj-lt"/>
              <a:buAutoNum type="alphaUcPeriod"/>
            </a:pPr>
            <a:r>
              <a:rPr lang="fr-FR" dirty="0"/>
              <a:t>La dysphonie</a:t>
            </a:r>
          </a:p>
          <a:p>
            <a:pPr marL="514350" lvl="0" indent="-514350">
              <a:buFont typeface="+mj-lt"/>
              <a:buAutoNum type="alphaUcPeriod"/>
            </a:pPr>
            <a:r>
              <a:rPr lang="fr-FR" dirty="0"/>
              <a:t>Le Hoquet</a:t>
            </a:r>
          </a:p>
          <a:p>
            <a:pPr marL="514350" lvl="0" indent="-514350">
              <a:buFont typeface="+mj-lt"/>
              <a:buAutoNum type="alphaUcPeriod"/>
            </a:pPr>
            <a:r>
              <a:rPr lang="fr-FR" dirty="0"/>
              <a:t>Le syndrome cave supérieur</a:t>
            </a:r>
          </a:p>
          <a:p>
            <a:pPr marL="514350" lvl="0" indent="-514350">
              <a:buFont typeface="+mj-lt"/>
              <a:buAutoNum type="alphaUcPeriod"/>
            </a:pPr>
            <a:r>
              <a:rPr lang="fr-FR" dirty="0"/>
              <a:t>L’hippocratisme digital</a:t>
            </a:r>
          </a:p>
          <a:p>
            <a:pPr marL="514350" lvl="0" indent="-514350">
              <a:buFont typeface="+mj-lt"/>
              <a:buAutoNum type="alphaUcPeriod"/>
            </a:pPr>
            <a:r>
              <a:rPr lang="fr-FR" dirty="0"/>
              <a:t>L’hémoptysie</a:t>
            </a:r>
          </a:p>
          <a:p>
            <a:endParaRPr lang="fr-FR" dirty="0"/>
          </a:p>
        </p:txBody>
      </p:sp>
    </p:spTree>
    <p:extLst>
      <p:ext uri="{BB962C8B-B14F-4D97-AF65-F5344CB8AC3E}">
        <p14:creationId xmlns:p14="http://schemas.microsoft.com/office/powerpoint/2010/main" val="1162372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DEE83-4D23-2367-D0D6-8397C673724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FD9185D-6CB8-94DE-328B-E07675D0BF5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CD226AA-E2F0-7EF6-D8E0-88DCC4CAE7C0}"/>
              </a:ext>
            </a:extLst>
          </p:cNvPr>
          <p:cNvSpPr>
            <a:spLocks noGrp="1"/>
          </p:cNvSpPr>
          <p:nvPr>
            <p:ph idx="1"/>
          </p:nvPr>
        </p:nvSpPr>
        <p:spPr/>
        <p:txBody>
          <a:bodyPr/>
          <a:lstStyle/>
          <a:p>
            <a:pPr marL="0" indent="0">
              <a:buNone/>
            </a:pPr>
            <a:r>
              <a:rPr lang="fr-FR" b="1" dirty="0"/>
              <a:t>Les symptômes en rapport avec l’extension locorégionale du CBP sont :</a:t>
            </a:r>
            <a:endParaRPr lang="fr-FR" dirty="0"/>
          </a:p>
          <a:p>
            <a:pPr marL="514350" lvl="0" indent="-514350">
              <a:buFont typeface="+mj-lt"/>
              <a:buAutoNum type="alphaUcPeriod"/>
            </a:pPr>
            <a:r>
              <a:rPr lang="fr-FR" dirty="0">
                <a:solidFill>
                  <a:srgbClr val="FF0000"/>
                </a:solidFill>
              </a:rPr>
              <a:t>La dysphonie</a:t>
            </a:r>
          </a:p>
          <a:p>
            <a:pPr marL="514350" lvl="0" indent="-514350">
              <a:buFont typeface="+mj-lt"/>
              <a:buAutoNum type="alphaUcPeriod"/>
            </a:pPr>
            <a:r>
              <a:rPr lang="fr-FR" dirty="0">
                <a:solidFill>
                  <a:srgbClr val="FF0000"/>
                </a:solidFill>
              </a:rPr>
              <a:t>Le Hoquet</a:t>
            </a:r>
          </a:p>
          <a:p>
            <a:pPr marL="514350" lvl="0" indent="-514350">
              <a:buFont typeface="+mj-lt"/>
              <a:buAutoNum type="alphaUcPeriod"/>
            </a:pPr>
            <a:r>
              <a:rPr lang="fr-FR" dirty="0">
                <a:solidFill>
                  <a:srgbClr val="FF0000"/>
                </a:solidFill>
              </a:rPr>
              <a:t>Le syndrome cave supérieur</a:t>
            </a:r>
          </a:p>
          <a:p>
            <a:pPr marL="514350" lvl="0" indent="-514350">
              <a:buFont typeface="+mj-lt"/>
              <a:buAutoNum type="alphaUcPeriod"/>
            </a:pPr>
            <a:r>
              <a:rPr lang="fr-FR" dirty="0"/>
              <a:t>L’hippocratisme digital</a:t>
            </a:r>
          </a:p>
          <a:p>
            <a:pPr marL="514350" lvl="0" indent="-514350">
              <a:buFont typeface="+mj-lt"/>
              <a:buAutoNum type="alphaUcPeriod"/>
            </a:pPr>
            <a:r>
              <a:rPr lang="fr-FR" dirty="0"/>
              <a:t>L’hémoptysie</a:t>
            </a:r>
          </a:p>
          <a:p>
            <a:endParaRPr lang="fr-FR" dirty="0"/>
          </a:p>
        </p:txBody>
      </p:sp>
    </p:spTree>
    <p:extLst>
      <p:ext uri="{BB962C8B-B14F-4D97-AF65-F5344CB8AC3E}">
        <p14:creationId xmlns:p14="http://schemas.microsoft.com/office/powerpoint/2010/main" val="69440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89310B-5802-0E74-A547-082D4D4EDBB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6C13E8F-AC4E-6434-98EC-F8F85546B475}"/>
              </a:ext>
            </a:extLst>
          </p:cNvPr>
          <p:cNvSpPr>
            <a:spLocks noGrp="1"/>
          </p:cNvSpPr>
          <p:nvPr>
            <p:ph idx="1"/>
          </p:nvPr>
        </p:nvSpPr>
        <p:spPr/>
        <p:txBody>
          <a:bodyPr/>
          <a:lstStyle/>
          <a:p>
            <a:pPr marL="0" indent="0">
              <a:buNone/>
            </a:pPr>
            <a:r>
              <a:rPr lang="fr-FR" b="1" dirty="0"/>
              <a:t>Les syndromes paranéoplasiques au cours du CBP :</a:t>
            </a:r>
            <a:endParaRPr lang="fr-FR" dirty="0"/>
          </a:p>
          <a:p>
            <a:pPr marL="514350" lvl="0" indent="-514350">
              <a:buFont typeface="+mj-lt"/>
              <a:buAutoNum type="alphaUcPeriod"/>
            </a:pPr>
            <a:r>
              <a:rPr lang="fr-FR" dirty="0"/>
              <a:t>Sont présents dans plus de 50% des cas</a:t>
            </a:r>
          </a:p>
          <a:p>
            <a:pPr marL="514350" lvl="0" indent="-514350">
              <a:buFont typeface="+mj-lt"/>
              <a:buAutoNum type="alphaUcPeriod"/>
            </a:pPr>
            <a:r>
              <a:rPr lang="fr-FR" dirty="0"/>
              <a:t>Sont plus fréquent dans le CPC</a:t>
            </a:r>
          </a:p>
          <a:p>
            <a:pPr marL="514350" lvl="0" indent="-514350">
              <a:buFont typeface="+mj-lt"/>
              <a:buAutoNum type="alphaUcPeriod"/>
            </a:pPr>
            <a:r>
              <a:rPr lang="fr-FR" dirty="0"/>
              <a:t>Sont liés à la secrétions de substances par les cellules néoplasiques</a:t>
            </a:r>
          </a:p>
          <a:p>
            <a:pPr marL="514350" lvl="0" indent="-514350">
              <a:buFont typeface="+mj-lt"/>
              <a:buAutoNum type="alphaUcPeriod"/>
            </a:pPr>
            <a:r>
              <a:rPr lang="fr-FR" dirty="0"/>
              <a:t>Disparaissent si le cancer est guéri</a:t>
            </a:r>
          </a:p>
          <a:p>
            <a:pPr marL="514350" lvl="0" indent="-514350">
              <a:buFont typeface="+mj-lt"/>
              <a:buAutoNum type="alphaUcPeriod"/>
            </a:pPr>
            <a:r>
              <a:rPr lang="fr-FR" dirty="0"/>
              <a:t>Peuvent précéder l’installation des signes cliniques</a:t>
            </a:r>
          </a:p>
          <a:p>
            <a:endParaRPr lang="fr-FR" dirty="0"/>
          </a:p>
        </p:txBody>
      </p:sp>
    </p:spTree>
    <p:extLst>
      <p:ext uri="{BB962C8B-B14F-4D97-AF65-F5344CB8AC3E}">
        <p14:creationId xmlns:p14="http://schemas.microsoft.com/office/powerpoint/2010/main" val="3398293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7095E-773D-BB90-22D5-1B386D6392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5A2A49-9713-5512-3CA3-F2F683AEA9D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E361622-1EC2-D3D1-650F-B2C5CE2B0527}"/>
              </a:ext>
            </a:extLst>
          </p:cNvPr>
          <p:cNvSpPr>
            <a:spLocks noGrp="1"/>
          </p:cNvSpPr>
          <p:nvPr>
            <p:ph idx="1"/>
          </p:nvPr>
        </p:nvSpPr>
        <p:spPr/>
        <p:txBody>
          <a:bodyPr/>
          <a:lstStyle/>
          <a:p>
            <a:pPr marL="0" indent="0">
              <a:buNone/>
            </a:pPr>
            <a:r>
              <a:rPr lang="fr-FR" b="1" dirty="0"/>
              <a:t>Les syndromes paranéoplasiques au cours du CBP :</a:t>
            </a:r>
            <a:endParaRPr lang="fr-FR" dirty="0"/>
          </a:p>
          <a:p>
            <a:pPr marL="514350" lvl="0" indent="-514350">
              <a:buFont typeface="+mj-lt"/>
              <a:buAutoNum type="alphaUcPeriod"/>
            </a:pPr>
            <a:r>
              <a:rPr lang="fr-FR" dirty="0"/>
              <a:t>Sont présents dans plus de 50% des cas</a:t>
            </a:r>
          </a:p>
          <a:p>
            <a:pPr marL="514350" lvl="0" indent="-514350">
              <a:buFont typeface="+mj-lt"/>
              <a:buAutoNum type="alphaUcPeriod"/>
            </a:pPr>
            <a:r>
              <a:rPr lang="fr-FR" dirty="0">
                <a:solidFill>
                  <a:srgbClr val="FF0000"/>
                </a:solidFill>
              </a:rPr>
              <a:t>Sont plus fréquent dans le CPC</a:t>
            </a:r>
          </a:p>
          <a:p>
            <a:pPr marL="514350" lvl="0" indent="-514350">
              <a:buFont typeface="+mj-lt"/>
              <a:buAutoNum type="alphaUcPeriod"/>
            </a:pPr>
            <a:r>
              <a:rPr lang="fr-FR" dirty="0">
                <a:solidFill>
                  <a:srgbClr val="FF0000"/>
                </a:solidFill>
              </a:rPr>
              <a:t>Sont liés à la secrétions de substances par les cellules néoplasiques</a:t>
            </a:r>
          </a:p>
          <a:p>
            <a:pPr marL="514350" lvl="0" indent="-514350">
              <a:buFont typeface="+mj-lt"/>
              <a:buAutoNum type="alphaUcPeriod"/>
            </a:pPr>
            <a:r>
              <a:rPr lang="fr-FR" dirty="0">
                <a:solidFill>
                  <a:srgbClr val="FF0000"/>
                </a:solidFill>
              </a:rPr>
              <a:t>Disparaissent si le cancer est guéri</a:t>
            </a:r>
          </a:p>
          <a:p>
            <a:pPr marL="514350" lvl="0" indent="-514350">
              <a:buFont typeface="+mj-lt"/>
              <a:buAutoNum type="alphaUcPeriod"/>
            </a:pPr>
            <a:r>
              <a:rPr lang="fr-FR" dirty="0">
                <a:solidFill>
                  <a:srgbClr val="FF0000"/>
                </a:solidFill>
              </a:rPr>
              <a:t>Peuvent précéder l’installation des signes cliniques</a:t>
            </a:r>
          </a:p>
          <a:p>
            <a:endParaRPr lang="fr-FR" dirty="0"/>
          </a:p>
        </p:txBody>
      </p:sp>
    </p:spTree>
    <p:extLst>
      <p:ext uri="{BB962C8B-B14F-4D97-AF65-F5344CB8AC3E}">
        <p14:creationId xmlns:p14="http://schemas.microsoft.com/office/powerpoint/2010/main" val="1847524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33AC6C-2E55-2F3A-E36D-ED112E4E781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47C3F88-D7DC-830F-1679-775DE4B649E2}"/>
              </a:ext>
            </a:extLst>
          </p:cNvPr>
          <p:cNvSpPr>
            <a:spLocks noGrp="1"/>
          </p:cNvSpPr>
          <p:nvPr>
            <p:ph idx="1"/>
          </p:nvPr>
        </p:nvSpPr>
        <p:spPr/>
        <p:txBody>
          <a:bodyPr/>
          <a:lstStyle/>
          <a:p>
            <a:pPr marL="0" indent="0">
              <a:buNone/>
            </a:pPr>
            <a:r>
              <a:rPr lang="fr-FR" b="1" dirty="0"/>
              <a:t>Quelles sont parmi les manifestations suivantes, celles qui sont considérées comme paranéoplasiques ?</a:t>
            </a:r>
            <a:endParaRPr lang="fr-FR" dirty="0"/>
          </a:p>
          <a:p>
            <a:pPr marL="0" indent="0">
              <a:buNone/>
            </a:pPr>
            <a:r>
              <a:rPr lang="fr-FR" dirty="0"/>
              <a:t>A. le syndrome de Claude Bernard Horner </a:t>
            </a:r>
          </a:p>
          <a:p>
            <a:pPr marL="0" indent="0">
              <a:buNone/>
            </a:pPr>
            <a:r>
              <a:rPr lang="fr-FR" dirty="0"/>
              <a:t>B. Une hypercalcémie sans métastases osseuses</a:t>
            </a:r>
          </a:p>
          <a:p>
            <a:pPr marL="0" indent="0">
              <a:buNone/>
            </a:pPr>
            <a:r>
              <a:rPr lang="fr-FR" dirty="0"/>
              <a:t>C. un syndrome de sécrétion inappropriée d’ADH </a:t>
            </a:r>
          </a:p>
          <a:p>
            <a:pPr marL="0" indent="0">
              <a:buNone/>
            </a:pPr>
            <a:r>
              <a:rPr lang="fr-FR" dirty="0"/>
              <a:t>D. Une </a:t>
            </a:r>
            <a:r>
              <a:rPr lang="fr-FR" dirty="0" err="1"/>
              <a:t>ostéoarthropathie</a:t>
            </a:r>
            <a:r>
              <a:rPr lang="fr-FR" dirty="0"/>
              <a:t> hypertrophique de Pierre Marie </a:t>
            </a:r>
          </a:p>
          <a:p>
            <a:pPr marL="0" indent="0">
              <a:buNone/>
            </a:pPr>
            <a:r>
              <a:rPr lang="fr-FR" dirty="0"/>
              <a:t>E. Une hypertension artérielle pulmonaire</a:t>
            </a:r>
          </a:p>
          <a:p>
            <a:endParaRPr lang="fr-FR" dirty="0"/>
          </a:p>
        </p:txBody>
      </p:sp>
    </p:spTree>
    <p:extLst>
      <p:ext uri="{BB962C8B-B14F-4D97-AF65-F5344CB8AC3E}">
        <p14:creationId xmlns:p14="http://schemas.microsoft.com/office/powerpoint/2010/main" val="3420860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CFEF-D415-C14A-5F71-E56E3F910B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CCF6D3-6004-6DA6-8B4F-EAA2D914CE5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840C78F-4B72-3A41-864E-3A084108E301}"/>
              </a:ext>
            </a:extLst>
          </p:cNvPr>
          <p:cNvSpPr>
            <a:spLocks noGrp="1"/>
          </p:cNvSpPr>
          <p:nvPr>
            <p:ph idx="1"/>
          </p:nvPr>
        </p:nvSpPr>
        <p:spPr/>
        <p:txBody>
          <a:bodyPr/>
          <a:lstStyle/>
          <a:p>
            <a:pPr marL="0" indent="0">
              <a:buNone/>
            </a:pPr>
            <a:r>
              <a:rPr lang="fr-FR" b="1" dirty="0"/>
              <a:t>Quelles sont parmi les manifestations suivantes, celles qui sont considérées comme paranéoplasiques ?</a:t>
            </a:r>
            <a:endParaRPr lang="fr-FR" dirty="0"/>
          </a:p>
          <a:p>
            <a:pPr marL="0" indent="0">
              <a:buNone/>
            </a:pPr>
            <a:r>
              <a:rPr lang="fr-FR" dirty="0"/>
              <a:t>A. le syndrome de Claude Bernard Horner </a:t>
            </a:r>
          </a:p>
          <a:p>
            <a:pPr marL="0" indent="0">
              <a:buNone/>
            </a:pPr>
            <a:r>
              <a:rPr lang="fr-FR" dirty="0">
                <a:solidFill>
                  <a:srgbClr val="FF0000"/>
                </a:solidFill>
              </a:rPr>
              <a:t>B. Une hypercalcémie sans métastases osseuses</a:t>
            </a:r>
          </a:p>
          <a:p>
            <a:pPr marL="0" indent="0">
              <a:buNone/>
            </a:pPr>
            <a:r>
              <a:rPr lang="fr-FR" dirty="0">
                <a:solidFill>
                  <a:srgbClr val="FF0000"/>
                </a:solidFill>
              </a:rPr>
              <a:t>C. un syndrome de sécrétion inappropriée d’ADH </a:t>
            </a:r>
          </a:p>
          <a:p>
            <a:pPr marL="0" indent="0">
              <a:buNone/>
            </a:pPr>
            <a:r>
              <a:rPr lang="fr-FR" dirty="0">
                <a:solidFill>
                  <a:srgbClr val="FF0000"/>
                </a:solidFill>
              </a:rPr>
              <a:t>D. Une </a:t>
            </a:r>
            <a:r>
              <a:rPr lang="fr-FR" dirty="0" err="1">
                <a:solidFill>
                  <a:srgbClr val="FF0000"/>
                </a:solidFill>
              </a:rPr>
              <a:t>ostéoarthropathie</a:t>
            </a:r>
            <a:r>
              <a:rPr lang="fr-FR" dirty="0">
                <a:solidFill>
                  <a:srgbClr val="FF0000"/>
                </a:solidFill>
              </a:rPr>
              <a:t> hypertrophique de Pierre Marie </a:t>
            </a:r>
          </a:p>
          <a:p>
            <a:pPr marL="0" indent="0">
              <a:buNone/>
            </a:pPr>
            <a:r>
              <a:rPr lang="fr-FR" dirty="0"/>
              <a:t>E. Une hypertension artérielle pulmonaire</a:t>
            </a:r>
          </a:p>
          <a:p>
            <a:endParaRPr lang="fr-FR" dirty="0"/>
          </a:p>
        </p:txBody>
      </p:sp>
    </p:spTree>
    <p:extLst>
      <p:ext uri="{BB962C8B-B14F-4D97-AF65-F5344CB8AC3E}">
        <p14:creationId xmlns:p14="http://schemas.microsoft.com/office/powerpoint/2010/main" val="1529334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751A8-87E0-CF5C-21D8-921E1A689D2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3DD762C-41BC-4784-BEE4-166E381D4D4F}"/>
              </a:ext>
            </a:extLst>
          </p:cNvPr>
          <p:cNvSpPr>
            <a:spLocks noGrp="1"/>
          </p:cNvSpPr>
          <p:nvPr>
            <p:ph idx="1"/>
          </p:nvPr>
        </p:nvSpPr>
        <p:spPr/>
        <p:txBody>
          <a:bodyPr/>
          <a:lstStyle/>
          <a:p>
            <a:pPr marL="0" indent="0">
              <a:buNone/>
            </a:pPr>
            <a:r>
              <a:rPr lang="fr-FR" b="1" dirty="0"/>
              <a:t>Les aspects radiologiques évocateurs de CBP sont :</a:t>
            </a:r>
            <a:endParaRPr lang="fr-FR" dirty="0"/>
          </a:p>
          <a:p>
            <a:pPr marL="514350" lvl="0" indent="-514350">
              <a:buFont typeface="+mj-lt"/>
              <a:buAutoNum type="alphaUcPeriod"/>
            </a:pPr>
            <a:r>
              <a:rPr lang="fr-FR" dirty="0"/>
              <a:t>Aspect de miliaire</a:t>
            </a:r>
          </a:p>
          <a:p>
            <a:pPr marL="514350" lvl="0" indent="-514350">
              <a:buFont typeface="+mj-lt"/>
              <a:buAutoNum type="alphaUcPeriod"/>
            </a:pPr>
            <a:r>
              <a:rPr lang="fr-FR" dirty="0"/>
              <a:t>Opacité </a:t>
            </a:r>
            <a:r>
              <a:rPr lang="fr-FR" dirty="0" err="1"/>
              <a:t>médiastinopulmonaire</a:t>
            </a:r>
            <a:endParaRPr lang="fr-FR" dirty="0"/>
          </a:p>
          <a:p>
            <a:pPr marL="514350" lvl="0" indent="-514350">
              <a:buFont typeface="+mj-lt"/>
              <a:buAutoNum type="alphaUcPeriod"/>
            </a:pPr>
            <a:r>
              <a:rPr lang="fr-FR" dirty="0"/>
              <a:t>Atélectasie</a:t>
            </a:r>
          </a:p>
          <a:p>
            <a:pPr marL="514350" lvl="0" indent="-514350">
              <a:buFont typeface="+mj-lt"/>
              <a:buAutoNum type="alphaUcPeriod"/>
            </a:pPr>
            <a:r>
              <a:rPr lang="fr-FR" dirty="0"/>
              <a:t>Opacité ronde intra parenchymateuse mal limitée</a:t>
            </a:r>
          </a:p>
          <a:p>
            <a:pPr marL="514350" lvl="0" indent="-514350">
              <a:buFont typeface="+mj-lt"/>
              <a:buAutoNum type="alphaUcPeriod"/>
            </a:pPr>
            <a:r>
              <a:rPr lang="fr-FR" dirty="0"/>
              <a:t>Opacité apicale avec lyse costale</a:t>
            </a:r>
          </a:p>
          <a:p>
            <a:endParaRPr lang="fr-FR" dirty="0"/>
          </a:p>
        </p:txBody>
      </p:sp>
    </p:spTree>
    <p:extLst>
      <p:ext uri="{BB962C8B-B14F-4D97-AF65-F5344CB8AC3E}">
        <p14:creationId xmlns:p14="http://schemas.microsoft.com/office/powerpoint/2010/main" val="547845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4ACCA-77B0-0926-9646-9E50869311D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D808CB1-2900-E9D8-85E8-11B90007033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E95F3A9-7B7D-5F10-1BD1-0D91A01797F5}"/>
              </a:ext>
            </a:extLst>
          </p:cNvPr>
          <p:cNvSpPr>
            <a:spLocks noGrp="1"/>
          </p:cNvSpPr>
          <p:nvPr>
            <p:ph idx="1"/>
          </p:nvPr>
        </p:nvSpPr>
        <p:spPr/>
        <p:txBody>
          <a:bodyPr/>
          <a:lstStyle/>
          <a:p>
            <a:pPr marL="0" indent="0">
              <a:buNone/>
            </a:pPr>
            <a:r>
              <a:rPr lang="fr-FR" b="1" dirty="0"/>
              <a:t>Les aspects radiologiques évocateurs de CBP sont :</a:t>
            </a:r>
            <a:endParaRPr lang="fr-FR" dirty="0"/>
          </a:p>
          <a:p>
            <a:pPr marL="514350" lvl="0" indent="-514350">
              <a:buFont typeface="+mj-lt"/>
              <a:buAutoNum type="alphaUcPeriod"/>
            </a:pPr>
            <a:r>
              <a:rPr lang="fr-FR" dirty="0"/>
              <a:t>Aspect de miliaire</a:t>
            </a:r>
          </a:p>
          <a:p>
            <a:pPr marL="514350" lvl="0" indent="-514350">
              <a:buFont typeface="+mj-lt"/>
              <a:buAutoNum type="alphaUcPeriod"/>
            </a:pPr>
            <a:r>
              <a:rPr lang="fr-FR" dirty="0">
                <a:solidFill>
                  <a:srgbClr val="FF0000"/>
                </a:solidFill>
              </a:rPr>
              <a:t>Opacité </a:t>
            </a:r>
            <a:r>
              <a:rPr lang="fr-FR" dirty="0" err="1">
                <a:solidFill>
                  <a:srgbClr val="FF0000"/>
                </a:solidFill>
              </a:rPr>
              <a:t>médiastinopulmonaire</a:t>
            </a:r>
            <a:endParaRPr lang="fr-FR" dirty="0">
              <a:solidFill>
                <a:srgbClr val="FF0000"/>
              </a:solidFill>
            </a:endParaRPr>
          </a:p>
          <a:p>
            <a:pPr marL="514350" lvl="0" indent="-514350">
              <a:buFont typeface="+mj-lt"/>
              <a:buAutoNum type="alphaUcPeriod"/>
            </a:pPr>
            <a:r>
              <a:rPr lang="fr-FR" dirty="0">
                <a:solidFill>
                  <a:srgbClr val="FF0000"/>
                </a:solidFill>
              </a:rPr>
              <a:t>Atélectasie</a:t>
            </a:r>
          </a:p>
          <a:p>
            <a:pPr marL="514350" lvl="0" indent="-514350">
              <a:buFont typeface="+mj-lt"/>
              <a:buAutoNum type="alphaUcPeriod"/>
            </a:pPr>
            <a:r>
              <a:rPr lang="fr-FR" dirty="0">
                <a:solidFill>
                  <a:srgbClr val="FF0000"/>
                </a:solidFill>
              </a:rPr>
              <a:t>Opacité ronde intra parenchymateuse mal limitée</a:t>
            </a:r>
          </a:p>
          <a:p>
            <a:pPr marL="514350" lvl="0" indent="-514350">
              <a:buFont typeface="+mj-lt"/>
              <a:buAutoNum type="alphaUcPeriod"/>
            </a:pPr>
            <a:r>
              <a:rPr lang="fr-FR" dirty="0">
                <a:solidFill>
                  <a:srgbClr val="FF0000"/>
                </a:solidFill>
              </a:rPr>
              <a:t>Opacité apicale avec lyse costale</a:t>
            </a:r>
          </a:p>
          <a:p>
            <a:endParaRPr lang="fr-FR" dirty="0"/>
          </a:p>
        </p:txBody>
      </p:sp>
    </p:spTree>
    <p:extLst>
      <p:ext uri="{BB962C8B-B14F-4D97-AF65-F5344CB8AC3E}">
        <p14:creationId xmlns:p14="http://schemas.microsoft.com/office/powerpoint/2010/main" val="2698264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B29AA3-27A0-B99D-3117-17315C4DF74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517B827-737A-3E6D-BF0F-A199FB1FA288}"/>
              </a:ext>
            </a:extLst>
          </p:cNvPr>
          <p:cNvSpPr>
            <a:spLocks noGrp="1"/>
          </p:cNvSpPr>
          <p:nvPr>
            <p:ph idx="1"/>
          </p:nvPr>
        </p:nvSpPr>
        <p:spPr/>
        <p:txBody>
          <a:bodyPr/>
          <a:lstStyle/>
          <a:p>
            <a:pPr marL="0" indent="0">
              <a:buNone/>
            </a:pPr>
            <a:r>
              <a:rPr lang="fr-FR" b="1" dirty="0"/>
              <a:t>Les aspects radiologiques évocateurs d’un cancer-bronchique secondaire sont: </a:t>
            </a:r>
            <a:endParaRPr lang="fr-FR" dirty="0"/>
          </a:p>
          <a:p>
            <a:pPr marL="0" indent="0">
              <a:buNone/>
            </a:pPr>
            <a:r>
              <a:rPr lang="fr-FR" dirty="0"/>
              <a:t>A- Un syndrome interstitiel bilatéral prédominant aux bases </a:t>
            </a:r>
          </a:p>
          <a:p>
            <a:pPr marL="0" indent="0">
              <a:buNone/>
            </a:pPr>
            <a:r>
              <a:rPr lang="fr-FR" dirty="0"/>
              <a:t>B- Un aspect en lâcher de ballon </a:t>
            </a:r>
          </a:p>
          <a:p>
            <a:pPr marL="0" indent="0">
              <a:buNone/>
            </a:pPr>
            <a:r>
              <a:rPr lang="fr-FR" dirty="0"/>
              <a:t>C- Une atélectasie lobaire </a:t>
            </a:r>
          </a:p>
          <a:p>
            <a:pPr marL="0" indent="0">
              <a:buNone/>
            </a:pPr>
            <a:r>
              <a:rPr lang="fr-FR" dirty="0"/>
              <a:t>D- Une opacité ronde intra-parenchymateuse </a:t>
            </a:r>
          </a:p>
          <a:p>
            <a:pPr marL="0" indent="0">
              <a:buNone/>
            </a:pPr>
            <a:r>
              <a:rPr lang="fr-FR" dirty="0"/>
              <a:t>E- Une opacité hilaire mal limitée</a:t>
            </a:r>
          </a:p>
          <a:p>
            <a:endParaRPr lang="fr-FR" dirty="0"/>
          </a:p>
        </p:txBody>
      </p:sp>
    </p:spTree>
    <p:extLst>
      <p:ext uri="{BB962C8B-B14F-4D97-AF65-F5344CB8AC3E}">
        <p14:creationId xmlns:p14="http://schemas.microsoft.com/office/powerpoint/2010/main" val="105948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A747E-EECB-E618-1892-82E408AF63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84791DE-5D8A-0ED2-8ACD-A574DB150D7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4523C37-6BC6-9C08-FF0A-87AEE18C1054}"/>
              </a:ext>
            </a:extLst>
          </p:cNvPr>
          <p:cNvSpPr>
            <a:spLocks noGrp="1"/>
          </p:cNvSpPr>
          <p:nvPr>
            <p:ph idx="1"/>
          </p:nvPr>
        </p:nvSpPr>
        <p:spPr/>
        <p:txBody>
          <a:bodyPr/>
          <a:lstStyle/>
          <a:p>
            <a:pPr marL="0" indent="0">
              <a:buNone/>
            </a:pPr>
            <a:r>
              <a:rPr lang="fr-FR" b="1" dirty="0"/>
              <a:t>Les aspects radiologiques évocateurs d’un cancer-bronchique secondaire sont: </a:t>
            </a:r>
            <a:endParaRPr lang="fr-FR" dirty="0"/>
          </a:p>
          <a:p>
            <a:pPr marL="0" indent="0">
              <a:buNone/>
            </a:pPr>
            <a:r>
              <a:rPr lang="fr-FR" dirty="0"/>
              <a:t>A- Un syndrome interstitiel bilatéral prédominant aux bases </a:t>
            </a:r>
          </a:p>
          <a:p>
            <a:pPr marL="0" indent="0">
              <a:buNone/>
            </a:pPr>
            <a:r>
              <a:rPr lang="fr-FR" dirty="0">
                <a:solidFill>
                  <a:srgbClr val="FF0000"/>
                </a:solidFill>
              </a:rPr>
              <a:t>B- Un aspect en lâcher de ballon </a:t>
            </a:r>
          </a:p>
          <a:p>
            <a:pPr marL="0" indent="0">
              <a:buNone/>
            </a:pPr>
            <a:r>
              <a:rPr lang="fr-FR" dirty="0"/>
              <a:t>C- Une atélectasie lobaire </a:t>
            </a:r>
          </a:p>
          <a:p>
            <a:pPr marL="0" indent="0">
              <a:buNone/>
            </a:pPr>
            <a:r>
              <a:rPr lang="fr-FR" dirty="0">
                <a:solidFill>
                  <a:srgbClr val="FF0000"/>
                </a:solidFill>
              </a:rPr>
              <a:t>D- Une opacité ronde intra-parenchymateuse </a:t>
            </a:r>
          </a:p>
          <a:p>
            <a:pPr marL="0" indent="0">
              <a:buNone/>
            </a:pPr>
            <a:r>
              <a:rPr lang="fr-FR" dirty="0"/>
              <a:t>E- Une opacité hilaire mal limitée</a:t>
            </a:r>
          </a:p>
          <a:p>
            <a:endParaRPr lang="fr-FR" dirty="0"/>
          </a:p>
        </p:txBody>
      </p:sp>
    </p:spTree>
    <p:extLst>
      <p:ext uri="{BB962C8B-B14F-4D97-AF65-F5344CB8AC3E}">
        <p14:creationId xmlns:p14="http://schemas.microsoft.com/office/powerpoint/2010/main" val="2491162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CCD4CE-A78F-0D93-18DA-5E968B3BF44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0CB7A3D-EE51-52DD-EDDC-A1D9AB0A75BC}"/>
              </a:ext>
            </a:extLst>
          </p:cNvPr>
          <p:cNvSpPr>
            <a:spLocks noGrp="1"/>
          </p:cNvSpPr>
          <p:nvPr>
            <p:ph idx="1"/>
          </p:nvPr>
        </p:nvSpPr>
        <p:spPr/>
        <p:txBody>
          <a:bodyPr/>
          <a:lstStyle/>
          <a:p>
            <a:pPr marL="0" indent="0">
              <a:buNone/>
            </a:pPr>
            <a:r>
              <a:rPr lang="fr-FR" b="1" dirty="0"/>
              <a:t>Quel est ou quels sont, dans cette liste, le ou les diagnostic(s) à évoquer en présence d'une opacité ronde solitaire intra pulmonaire ?</a:t>
            </a:r>
            <a:endParaRPr lang="fr-FR" dirty="0"/>
          </a:p>
          <a:p>
            <a:pPr marL="0" indent="0">
              <a:buNone/>
            </a:pPr>
            <a:r>
              <a:rPr lang="fr-FR" dirty="0"/>
              <a:t>A - Cancer bronchique</a:t>
            </a:r>
          </a:p>
          <a:p>
            <a:pPr marL="0" indent="0">
              <a:buNone/>
            </a:pPr>
            <a:r>
              <a:rPr lang="fr-FR" dirty="0"/>
              <a:t>B – </a:t>
            </a:r>
            <a:r>
              <a:rPr lang="fr-FR" dirty="0" err="1"/>
              <a:t>Tuberculome</a:t>
            </a:r>
            <a:r>
              <a:rPr lang="fr-FR" dirty="0"/>
              <a:t> </a:t>
            </a:r>
          </a:p>
          <a:p>
            <a:pPr marL="0" indent="0">
              <a:buNone/>
            </a:pPr>
            <a:r>
              <a:rPr lang="fr-FR" dirty="0"/>
              <a:t>C - Embolie pulmonaire avec infarctus </a:t>
            </a:r>
          </a:p>
          <a:p>
            <a:pPr marL="0" indent="0">
              <a:buNone/>
            </a:pPr>
            <a:r>
              <a:rPr lang="fr-FR" dirty="0"/>
              <a:t>D - Kyste hydatique </a:t>
            </a:r>
          </a:p>
          <a:p>
            <a:pPr marL="0" indent="0">
              <a:buNone/>
            </a:pPr>
            <a:r>
              <a:rPr lang="fr-FR" dirty="0"/>
              <a:t>E - Métastase pulmonaire unique </a:t>
            </a:r>
          </a:p>
          <a:p>
            <a:endParaRPr lang="fr-FR" dirty="0"/>
          </a:p>
        </p:txBody>
      </p:sp>
    </p:spTree>
    <p:extLst>
      <p:ext uri="{BB962C8B-B14F-4D97-AF65-F5344CB8AC3E}">
        <p14:creationId xmlns:p14="http://schemas.microsoft.com/office/powerpoint/2010/main" val="2720736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7678-2A7A-CB0F-0319-63E4AD950F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9DD2830-510D-2C98-7D6B-F12C9F56BFE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244A58B-3BC2-42AF-2805-962C7D22283C}"/>
              </a:ext>
            </a:extLst>
          </p:cNvPr>
          <p:cNvSpPr>
            <a:spLocks noGrp="1"/>
          </p:cNvSpPr>
          <p:nvPr>
            <p:ph idx="1"/>
          </p:nvPr>
        </p:nvSpPr>
        <p:spPr/>
        <p:txBody>
          <a:bodyPr/>
          <a:lstStyle/>
          <a:p>
            <a:pPr marL="0" indent="0">
              <a:buNone/>
            </a:pPr>
            <a:r>
              <a:rPr lang="fr-FR" b="1" dirty="0"/>
              <a:t>Quel est ou quels sont, dans cette liste, le ou les diagnostic(s) à évoquer en présence d'une opacité ronde solitaire intra pulmonaire ?</a:t>
            </a:r>
            <a:endParaRPr lang="fr-FR" dirty="0"/>
          </a:p>
          <a:p>
            <a:pPr marL="0" indent="0">
              <a:buNone/>
            </a:pPr>
            <a:r>
              <a:rPr lang="fr-FR" dirty="0">
                <a:solidFill>
                  <a:srgbClr val="FF0000"/>
                </a:solidFill>
              </a:rPr>
              <a:t>A - Cancer bronchique</a:t>
            </a:r>
          </a:p>
          <a:p>
            <a:pPr marL="0" indent="0">
              <a:buNone/>
            </a:pPr>
            <a:r>
              <a:rPr lang="fr-FR" dirty="0">
                <a:solidFill>
                  <a:srgbClr val="FF0000"/>
                </a:solidFill>
              </a:rPr>
              <a:t>B – </a:t>
            </a:r>
            <a:r>
              <a:rPr lang="fr-FR" dirty="0" err="1">
                <a:solidFill>
                  <a:srgbClr val="FF0000"/>
                </a:solidFill>
              </a:rPr>
              <a:t>Tuberculome</a:t>
            </a:r>
            <a:r>
              <a:rPr lang="fr-FR" dirty="0">
                <a:solidFill>
                  <a:srgbClr val="FF0000"/>
                </a:solidFill>
              </a:rPr>
              <a:t> </a:t>
            </a:r>
          </a:p>
          <a:p>
            <a:pPr marL="0" indent="0">
              <a:buNone/>
            </a:pPr>
            <a:r>
              <a:rPr lang="fr-FR" dirty="0"/>
              <a:t>C - Embolie pulmonaire avec infarctus </a:t>
            </a:r>
          </a:p>
          <a:p>
            <a:pPr marL="0" indent="0">
              <a:buNone/>
            </a:pPr>
            <a:r>
              <a:rPr lang="fr-FR" dirty="0">
                <a:solidFill>
                  <a:srgbClr val="FF0000"/>
                </a:solidFill>
              </a:rPr>
              <a:t>D - Kyste hydatique </a:t>
            </a:r>
          </a:p>
          <a:p>
            <a:pPr marL="0" indent="0">
              <a:buNone/>
            </a:pPr>
            <a:r>
              <a:rPr lang="fr-FR" dirty="0">
                <a:solidFill>
                  <a:srgbClr val="FF0000"/>
                </a:solidFill>
              </a:rPr>
              <a:t>E - Métastase pulmonaire unique </a:t>
            </a:r>
          </a:p>
          <a:p>
            <a:endParaRPr lang="fr-FR" dirty="0"/>
          </a:p>
        </p:txBody>
      </p:sp>
    </p:spTree>
    <p:extLst>
      <p:ext uri="{BB962C8B-B14F-4D97-AF65-F5344CB8AC3E}">
        <p14:creationId xmlns:p14="http://schemas.microsoft.com/office/powerpoint/2010/main" val="3059229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5F6B29-589C-68E2-EE99-CD8D5C32AF8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DCC8A8F-973C-DB9E-140C-EE1B0F0173A4}"/>
              </a:ext>
            </a:extLst>
          </p:cNvPr>
          <p:cNvSpPr>
            <a:spLocks noGrp="1"/>
          </p:cNvSpPr>
          <p:nvPr>
            <p:ph idx="1"/>
          </p:nvPr>
        </p:nvSpPr>
        <p:spPr/>
        <p:txBody>
          <a:bodyPr/>
          <a:lstStyle/>
          <a:p>
            <a:pPr marL="0" indent="0">
              <a:buNone/>
            </a:pPr>
            <a:r>
              <a:rPr lang="fr-FR" b="1" dirty="0"/>
              <a:t>Concernant le PET Scanner dans le diagnostic des CBP :</a:t>
            </a:r>
            <a:endParaRPr lang="fr-FR" dirty="0"/>
          </a:p>
          <a:p>
            <a:pPr marL="514350" lvl="0" indent="-514350">
              <a:buFont typeface="+mj-lt"/>
              <a:buAutoNum type="alphaUcPeriod"/>
            </a:pPr>
            <a:r>
              <a:rPr lang="fr-FR" dirty="0"/>
              <a:t>Permet de confirmer le caractère métastatique des adénopathies médiastinales</a:t>
            </a:r>
          </a:p>
          <a:p>
            <a:pPr marL="514350" lvl="0" indent="-514350">
              <a:buFont typeface="+mj-lt"/>
              <a:buAutoNum type="alphaUcPeriod"/>
            </a:pPr>
            <a:r>
              <a:rPr lang="fr-FR" dirty="0"/>
              <a:t>Est plus performant que le scanner cérébrale pour le diagnostic des métastases cérébrales</a:t>
            </a:r>
          </a:p>
          <a:p>
            <a:pPr marL="514350" lvl="0" indent="-514350">
              <a:buFont typeface="+mj-lt"/>
              <a:buAutoNum type="alphaUcPeriod"/>
            </a:pPr>
            <a:r>
              <a:rPr lang="fr-FR" dirty="0"/>
              <a:t>Permet d’évaluer l’extension osseuse</a:t>
            </a:r>
          </a:p>
          <a:p>
            <a:pPr marL="514350" lvl="0" indent="-514350">
              <a:buFont typeface="+mj-lt"/>
              <a:buAutoNum type="alphaUcPeriod"/>
            </a:pPr>
            <a:r>
              <a:rPr lang="fr-FR" dirty="0"/>
              <a:t>A une valeur prédictive négative élevée pour le bilan d’extension</a:t>
            </a:r>
          </a:p>
          <a:p>
            <a:pPr marL="514350" lvl="0" indent="-514350">
              <a:buFont typeface="+mj-lt"/>
              <a:buAutoNum type="alphaUcPeriod"/>
            </a:pPr>
            <a:r>
              <a:rPr lang="fr-FR" dirty="0"/>
              <a:t>Un nodule </a:t>
            </a:r>
            <a:r>
              <a:rPr lang="fr-FR" dirty="0" err="1"/>
              <a:t>hypermétabolique</a:t>
            </a:r>
            <a:r>
              <a:rPr lang="fr-FR" dirty="0"/>
              <a:t> est toujours d’origine néoplasique</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1006786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9BD9-DC7A-828F-6BFD-02F07225EA8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626945F-4404-F53F-AC27-E8F0354891B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8F59D47-38C3-D4AE-E4FF-8379DEA43E92}"/>
              </a:ext>
            </a:extLst>
          </p:cNvPr>
          <p:cNvSpPr>
            <a:spLocks noGrp="1"/>
          </p:cNvSpPr>
          <p:nvPr>
            <p:ph idx="1"/>
          </p:nvPr>
        </p:nvSpPr>
        <p:spPr/>
        <p:txBody>
          <a:bodyPr/>
          <a:lstStyle/>
          <a:p>
            <a:pPr marL="0" indent="0">
              <a:buNone/>
            </a:pPr>
            <a:r>
              <a:rPr lang="fr-FR" b="1" dirty="0"/>
              <a:t>Concernant le PET Scanner dans le diagnostic des CBP :</a:t>
            </a:r>
            <a:endParaRPr lang="fr-FR" dirty="0"/>
          </a:p>
          <a:p>
            <a:pPr marL="514350" lvl="0" indent="-514350">
              <a:buFont typeface="+mj-lt"/>
              <a:buAutoNum type="alphaUcPeriod"/>
            </a:pPr>
            <a:r>
              <a:rPr lang="fr-FR" dirty="0"/>
              <a:t>Permet de confirmer le caractère métastatique des adénopathies médiastinales</a:t>
            </a:r>
          </a:p>
          <a:p>
            <a:pPr marL="514350" lvl="0" indent="-514350">
              <a:buFont typeface="+mj-lt"/>
              <a:buAutoNum type="alphaUcPeriod"/>
            </a:pPr>
            <a:r>
              <a:rPr lang="fr-FR" dirty="0"/>
              <a:t>Est plus performant que le scanner cérébrale pour le diagnostic des métastases cérébrales</a:t>
            </a:r>
          </a:p>
          <a:p>
            <a:pPr marL="514350" lvl="0" indent="-514350">
              <a:buFont typeface="+mj-lt"/>
              <a:buAutoNum type="alphaUcPeriod"/>
            </a:pPr>
            <a:r>
              <a:rPr lang="fr-FR" dirty="0">
                <a:solidFill>
                  <a:srgbClr val="FF0000"/>
                </a:solidFill>
              </a:rPr>
              <a:t>Permet d’évaluer l’extension osseuse</a:t>
            </a:r>
          </a:p>
          <a:p>
            <a:pPr marL="514350" lvl="0" indent="-514350">
              <a:buFont typeface="+mj-lt"/>
              <a:buAutoNum type="alphaUcPeriod"/>
            </a:pPr>
            <a:r>
              <a:rPr lang="fr-FR" dirty="0">
                <a:solidFill>
                  <a:srgbClr val="FF0000"/>
                </a:solidFill>
              </a:rPr>
              <a:t>A une valeur prédictive négative élevée pour le bilan d’extension</a:t>
            </a:r>
          </a:p>
          <a:p>
            <a:pPr marL="514350" lvl="0" indent="-514350">
              <a:buFont typeface="+mj-lt"/>
              <a:buAutoNum type="alphaUcPeriod"/>
            </a:pPr>
            <a:r>
              <a:rPr lang="fr-FR" dirty="0"/>
              <a:t>Un nodule </a:t>
            </a:r>
            <a:r>
              <a:rPr lang="fr-FR" dirty="0" err="1"/>
              <a:t>hypermétabolique</a:t>
            </a:r>
            <a:r>
              <a:rPr lang="fr-FR" dirty="0"/>
              <a:t> est toujours d’origine néoplasique</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3303098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10F218-198F-8F49-B164-D425BAD4B75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59F0F25-4DBF-E053-E1E9-628D014F2FCA}"/>
              </a:ext>
            </a:extLst>
          </p:cNvPr>
          <p:cNvSpPr>
            <a:spLocks noGrp="1"/>
          </p:cNvSpPr>
          <p:nvPr>
            <p:ph idx="1"/>
          </p:nvPr>
        </p:nvSpPr>
        <p:spPr/>
        <p:txBody>
          <a:bodyPr/>
          <a:lstStyle/>
          <a:p>
            <a:pPr marL="0" indent="0">
              <a:buNone/>
            </a:pPr>
            <a:r>
              <a:rPr lang="fr-FR" b="1" dirty="0"/>
              <a:t>Les indications du PET Scanner dans le bilan des CBP sont :</a:t>
            </a:r>
            <a:endParaRPr lang="fr-FR" dirty="0"/>
          </a:p>
          <a:p>
            <a:pPr marL="514350" lvl="0" indent="-514350">
              <a:buFont typeface="+mj-lt"/>
              <a:buAutoNum type="alphaUcPeriod"/>
            </a:pPr>
            <a:r>
              <a:rPr lang="fr-FR" dirty="0"/>
              <a:t>Le </a:t>
            </a:r>
            <a:r>
              <a:rPr lang="fr-FR" dirty="0" err="1"/>
              <a:t>staging</a:t>
            </a:r>
            <a:r>
              <a:rPr lang="fr-FR" dirty="0"/>
              <a:t> médiastinal d’un cancer opérable</a:t>
            </a:r>
          </a:p>
          <a:p>
            <a:pPr marL="514350" lvl="0" indent="-514350">
              <a:buFont typeface="+mj-lt"/>
              <a:buAutoNum type="alphaUcPeriod"/>
            </a:pPr>
            <a:r>
              <a:rPr lang="fr-FR" dirty="0"/>
              <a:t>La caractérisation des nodules pulmonaires de moins de 8 mm</a:t>
            </a:r>
          </a:p>
          <a:p>
            <a:pPr marL="514350" lvl="0" indent="-514350">
              <a:buFont typeface="+mj-lt"/>
              <a:buAutoNum type="alphaUcPeriod"/>
            </a:pPr>
            <a:r>
              <a:rPr lang="fr-FR" dirty="0"/>
              <a:t>Le bilan d’extension à distance dans les formes localisées</a:t>
            </a:r>
          </a:p>
          <a:p>
            <a:pPr marL="514350" lvl="0" indent="-514350">
              <a:buFont typeface="+mj-lt"/>
              <a:buAutoNum type="alphaUcPeriod"/>
            </a:pPr>
            <a:r>
              <a:rPr lang="fr-FR" dirty="0"/>
              <a:t>Le bilan d’extension à distance dans les formes localement avancées</a:t>
            </a:r>
          </a:p>
          <a:p>
            <a:pPr marL="514350" lvl="0" indent="-514350">
              <a:buFont typeface="+mj-lt"/>
              <a:buAutoNum type="alphaUcPeriod"/>
            </a:pPr>
            <a:r>
              <a:rPr lang="fr-FR" dirty="0"/>
              <a:t>Confirmer le type histologique selon le degré d’hypermétabolisme tumoral</a:t>
            </a:r>
          </a:p>
          <a:p>
            <a:endParaRPr lang="fr-FR" dirty="0"/>
          </a:p>
        </p:txBody>
      </p:sp>
    </p:spTree>
    <p:extLst>
      <p:ext uri="{BB962C8B-B14F-4D97-AF65-F5344CB8AC3E}">
        <p14:creationId xmlns:p14="http://schemas.microsoft.com/office/powerpoint/2010/main" val="129720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03A3E-ACD7-75DC-B326-3512F0573F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A39081-7E1D-ADF5-3640-DE44AEA8716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D38957B-1C33-E75C-4B35-DB83D9012149}"/>
              </a:ext>
            </a:extLst>
          </p:cNvPr>
          <p:cNvSpPr>
            <a:spLocks noGrp="1"/>
          </p:cNvSpPr>
          <p:nvPr>
            <p:ph idx="1"/>
          </p:nvPr>
        </p:nvSpPr>
        <p:spPr/>
        <p:txBody>
          <a:bodyPr/>
          <a:lstStyle/>
          <a:p>
            <a:pPr marL="0" indent="0">
              <a:buNone/>
            </a:pPr>
            <a:r>
              <a:rPr lang="fr-FR" b="1" dirty="0"/>
              <a:t>Les indications du PET Scanner dans le bilan des CBP sont :</a:t>
            </a:r>
            <a:endParaRPr lang="fr-FR" dirty="0"/>
          </a:p>
          <a:p>
            <a:pPr marL="514350" lvl="0" indent="-514350">
              <a:buFont typeface="+mj-lt"/>
              <a:buAutoNum type="alphaUcPeriod"/>
            </a:pPr>
            <a:r>
              <a:rPr lang="fr-FR" dirty="0">
                <a:solidFill>
                  <a:srgbClr val="FF0000"/>
                </a:solidFill>
              </a:rPr>
              <a:t>Le </a:t>
            </a:r>
            <a:r>
              <a:rPr lang="fr-FR" dirty="0" err="1">
                <a:solidFill>
                  <a:srgbClr val="FF0000"/>
                </a:solidFill>
              </a:rPr>
              <a:t>staging</a:t>
            </a:r>
            <a:r>
              <a:rPr lang="fr-FR" dirty="0">
                <a:solidFill>
                  <a:srgbClr val="FF0000"/>
                </a:solidFill>
              </a:rPr>
              <a:t> médiastinal d’un cancer opérable</a:t>
            </a:r>
          </a:p>
          <a:p>
            <a:pPr marL="514350" lvl="0" indent="-514350">
              <a:buFont typeface="+mj-lt"/>
              <a:buAutoNum type="alphaUcPeriod"/>
            </a:pPr>
            <a:r>
              <a:rPr lang="fr-FR" dirty="0"/>
              <a:t>La caractérisation des nodules pulmonaires de moins de 8 mm</a:t>
            </a:r>
          </a:p>
          <a:p>
            <a:pPr marL="514350" lvl="0" indent="-514350">
              <a:buFont typeface="+mj-lt"/>
              <a:buAutoNum type="alphaUcPeriod"/>
            </a:pPr>
            <a:r>
              <a:rPr lang="fr-FR" dirty="0">
                <a:solidFill>
                  <a:srgbClr val="FF0000"/>
                </a:solidFill>
              </a:rPr>
              <a:t>Le bilan d’extension à distance dans les formes localisées</a:t>
            </a:r>
          </a:p>
          <a:p>
            <a:pPr marL="514350" lvl="0" indent="-514350">
              <a:buFont typeface="+mj-lt"/>
              <a:buAutoNum type="alphaUcPeriod"/>
            </a:pPr>
            <a:r>
              <a:rPr lang="fr-FR" dirty="0">
                <a:solidFill>
                  <a:srgbClr val="FF0000"/>
                </a:solidFill>
              </a:rPr>
              <a:t>Le bilan d’extension à distance dans les formes localement avancées</a:t>
            </a:r>
          </a:p>
          <a:p>
            <a:pPr marL="514350" lvl="0" indent="-514350">
              <a:buFont typeface="+mj-lt"/>
              <a:buAutoNum type="alphaUcPeriod"/>
            </a:pPr>
            <a:r>
              <a:rPr lang="fr-FR" dirty="0"/>
              <a:t>Confirmer le type histologique selon le degré d’hypermétabolisme tumoral</a:t>
            </a:r>
          </a:p>
          <a:p>
            <a:endParaRPr lang="fr-FR" dirty="0"/>
          </a:p>
        </p:txBody>
      </p:sp>
    </p:spTree>
    <p:extLst>
      <p:ext uri="{BB962C8B-B14F-4D97-AF65-F5344CB8AC3E}">
        <p14:creationId xmlns:p14="http://schemas.microsoft.com/office/powerpoint/2010/main" val="3274548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F8E6FA-E175-C922-E2F1-27A9841C87F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426DA7A-32F4-D08F-9D01-F879049AE8D9}"/>
              </a:ext>
            </a:extLst>
          </p:cNvPr>
          <p:cNvSpPr>
            <a:spLocks noGrp="1"/>
          </p:cNvSpPr>
          <p:nvPr>
            <p:ph idx="1"/>
          </p:nvPr>
        </p:nvSpPr>
        <p:spPr/>
        <p:txBody>
          <a:bodyPr/>
          <a:lstStyle/>
          <a:p>
            <a:pPr marL="0" indent="0">
              <a:buNone/>
            </a:pPr>
            <a:r>
              <a:rPr lang="fr-FR" b="1" dirty="0"/>
              <a:t>Concernant la fibroscopie bronchique dans le bilan du CBP :</a:t>
            </a:r>
            <a:endParaRPr lang="fr-FR" dirty="0"/>
          </a:p>
          <a:p>
            <a:pPr marL="514350" lvl="0" indent="-514350">
              <a:buFont typeface="+mj-lt"/>
              <a:buAutoNum type="alphaUcPeriod"/>
            </a:pPr>
            <a:r>
              <a:rPr lang="fr-FR" dirty="0"/>
              <a:t>Lorsqu’elle est normale élimine le diagnostic</a:t>
            </a:r>
          </a:p>
          <a:p>
            <a:pPr marL="514350" lvl="0" indent="-514350">
              <a:buFont typeface="+mj-lt"/>
              <a:buAutoNum type="alphaUcPeriod"/>
            </a:pPr>
            <a:r>
              <a:rPr lang="fr-FR" dirty="0"/>
              <a:t>La présence d’un bourgeon confirme le diagnostic</a:t>
            </a:r>
          </a:p>
          <a:p>
            <a:pPr marL="514350" lvl="0" indent="-514350">
              <a:buFont typeface="+mj-lt"/>
              <a:buAutoNum type="alphaUcPeriod"/>
            </a:pPr>
            <a:r>
              <a:rPr lang="fr-FR" dirty="0"/>
              <a:t>Est plus performante dans tumeurs périphériques</a:t>
            </a:r>
          </a:p>
          <a:p>
            <a:pPr marL="514350" lvl="0" indent="-514350">
              <a:buFont typeface="+mj-lt"/>
              <a:buAutoNum type="alphaUcPeriod"/>
            </a:pPr>
            <a:r>
              <a:rPr lang="fr-FR" dirty="0"/>
              <a:t>Permet de vérifier la mobilité des cordes vocales</a:t>
            </a:r>
          </a:p>
          <a:p>
            <a:pPr marL="514350" lvl="0" indent="-514350">
              <a:buFont typeface="+mj-lt"/>
              <a:buAutoNum type="alphaUcPeriod"/>
            </a:pPr>
            <a:r>
              <a:rPr lang="fr-FR" dirty="0"/>
              <a:t>Permet de pratiquer des biopsies</a:t>
            </a:r>
          </a:p>
          <a:p>
            <a:pPr marL="0" indent="0">
              <a:buNone/>
            </a:pPr>
            <a:r>
              <a:rPr lang="fr-FR" dirty="0"/>
              <a:t> </a:t>
            </a:r>
          </a:p>
          <a:p>
            <a:endParaRPr lang="fr-FR" dirty="0"/>
          </a:p>
        </p:txBody>
      </p:sp>
    </p:spTree>
    <p:extLst>
      <p:ext uri="{BB962C8B-B14F-4D97-AF65-F5344CB8AC3E}">
        <p14:creationId xmlns:p14="http://schemas.microsoft.com/office/powerpoint/2010/main" val="1907712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A57BD-D0D0-C52A-ED10-F5DB8C3919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F61C01-BB5C-BFC8-E7F5-154FE8EB67A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72B5300-3151-4F86-1172-B7F1A15ECA36}"/>
              </a:ext>
            </a:extLst>
          </p:cNvPr>
          <p:cNvSpPr>
            <a:spLocks noGrp="1"/>
          </p:cNvSpPr>
          <p:nvPr>
            <p:ph idx="1"/>
          </p:nvPr>
        </p:nvSpPr>
        <p:spPr/>
        <p:txBody>
          <a:bodyPr/>
          <a:lstStyle/>
          <a:p>
            <a:pPr marL="0" indent="0">
              <a:buNone/>
            </a:pPr>
            <a:r>
              <a:rPr lang="fr-FR" b="1" dirty="0"/>
              <a:t>Concernant la fibroscopie bronchique dans le bilan du CBP :</a:t>
            </a:r>
            <a:endParaRPr lang="fr-FR" dirty="0"/>
          </a:p>
          <a:p>
            <a:pPr marL="514350" lvl="0" indent="-514350">
              <a:buFont typeface="+mj-lt"/>
              <a:buAutoNum type="alphaUcPeriod"/>
            </a:pPr>
            <a:r>
              <a:rPr lang="fr-FR" dirty="0"/>
              <a:t>Lorsqu’elle est normale élimine le diagnostic</a:t>
            </a:r>
          </a:p>
          <a:p>
            <a:pPr marL="514350" lvl="0" indent="-514350">
              <a:buFont typeface="+mj-lt"/>
              <a:buAutoNum type="alphaUcPeriod"/>
            </a:pPr>
            <a:r>
              <a:rPr lang="fr-FR" dirty="0"/>
              <a:t>La présence d’un bourgeon confirme le diagnostic</a:t>
            </a:r>
          </a:p>
          <a:p>
            <a:pPr marL="514350" lvl="0" indent="-514350">
              <a:buFont typeface="+mj-lt"/>
              <a:buAutoNum type="alphaUcPeriod"/>
            </a:pPr>
            <a:r>
              <a:rPr lang="fr-FR" dirty="0"/>
              <a:t>Est plus performante dans tumeurs périphériques</a:t>
            </a:r>
          </a:p>
          <a:p>
            <a:pPr marL="514350" lvl="0" indent="-514350">
              <a:buFont typeface="+mj-lt"/>
              <a:buAutoNum type="alphaUcPeriod"/>
            </a:pPr>
            <a:r>
              <a:rPr lang="fr-FR" dirty="0">
                <a:solidFill>
                  <a:srgbClr val="FF0000"/>
                </a:solidFill>
              </a:rPr>
              <a:t>Permet de vérifier la mobilité des cordes vocales</a:t>
            </a:r>
          </a:p>
          <a:p>
            <a:pPr marL="514350" lvl="0" indent="-514350">
              <a:buFont typeface="+mj-lt"/>
              <a:buAutoNum type="alphaUcPeriod"/>
            </a:pPr>
            <a:r>
              <a:rPr lang="fr-FR" dirty="0">
                <a:solidFill>
                  <a:srgbClr val="FF0000"/>
                </a:solidFill>
              </a:rPr>
              <a:t>Permet de pratiquer des biopsies</a:t>
            </a:r>
          </a:p>
          <a:p>
            <a:pPr marL="0" indent="0">
              <a:buNone/>
            </a:pPr>
            <a:r>
              <a:rPr lang="fr-FR" dirty="0"/>
              <a:t> </a:t>
            </a:r>
          </a:p>
          <a:p>
            <a:endParaRPr lang="fr-FR" dirty="0"/>
          </a:p>
        </p:txBody>
      </p:sp>
    </p:spTree>
    <p:extLst>
      <p:ext uri="{BB962C8B-B14F-4D97-AF65-F5344CB8AC3E}">
        <p14:creationId xmlns:p14="http://schemas.microsoft.com/office/powerpoint/2010/main" val="166073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9E9CD4-80F2-9D24-7333-421398A0A25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849535F-C391-6EA7-9D2C-AB20F49884EF}"/>
              </a:ext>
            </a:extLst>
          </p:cNvPr>
          <p:cNvSpPr>
            <a:spLocks noGrp="1"/>
          </p:cNvSpPr>
          <p:nvPr>
            <p:ph idx="1"/>
          </p:nvPr>
        </p:nvSpPr>
        <p:spPr/>
        <p:txBody>
          <a:bodyPr/>
          <a:lstStyle/>
          <a:p>
            <a:pPr marL="0" indent="0">
              <a:buNone/>
            </a:pPr>
            <a:r>
              <a:rPr lang="fr-FR" b="1" dirty="0"/>
              <a:t>Le syndrome de </a:t>
            </a:r>
            <a:r>
              <a:rPr lang="fr-FR" b="1" dirty="0" err="1"/>
              <a:t>Pancoast</a:t>
            </a:r>
            <a:r>
              <a:rPr lang="fr-FR" b="1" dirty="0"/>
              <a:t> Tobias comporte:</a:t>
            </a:r>
            <a:endParaRPr lang="fr-FR" dirty="0"/>
          </a:p>
          <a:p>
            <a:pPr marL="0" indent="0">
              <a:buNone/>
            </a:pPr>
            <a:r>
              <a:rPr lang="fr-FR" dirty="0"/>
              <a:t>A- lyse de la 1ère cote</a:t>
            </a:r>
          </a:p>
          <a:p>
            <a:pPr marL="0" indent="0">
              <a:buNone/>
            </a:pPr>
            <a:r>
              <a:rPr lang="fr-FR" dirty="0"/>
              <a:t>B- circulation veineuse collatérale thoracique</a:t>
            </a:r>
          </a:p>
          <a:p>
            <a:pPr marL="0" indent="0">
              <a:buNone/>
            </a:pPr>
            <a:r>
              <a:rPr lang="fr-FR" dirty="0"/>
              <a:t>C- syndrome de Claude Bernard-Horner</a:t>
            </a:r>
          </a:p>
          <a:p>
            <a:pPr marL="0" indent="0">
              <a:buNone/>
            </a:pPr>
            <a:r>
              <a:rPr lang="fr-FR" dirty="0"/>
              <a:t>D- névralgies </a:t>
            </a:r>
            <a:r>
              <a:rPr lang="fr-FR" dirty="0" err="1"/>
              <a:t>cervicobrachiales</a:t>
            </a:r>
            <a:r>
              <a:rPr lang="fr-FR" dirty="0"/>
              <a:t> C8-D1</a:t>
            </a:r>
          </a:p>
          <a:p>
            <a:pPr marL="0" indent="0">
              <a:buNone/>
            </a:pPr>
            <a:r>
              <a:rPr lang="fr-FR" dirty="0"/>
              <a:t>E- histologie de carcinome épidermoïde </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1059292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9B0BA-77C3-D0D3-8656-C468F9DA30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5BF560-5D91-7D4D-F748-7DD85BF0983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FD6FFA0-A0F8-1BD8-8F2B-B1E5F82D668C}"/>
              </a:ext>
            </a:extLst>
          </p:cNvPr>
          <p:cNvSpPr>
            <a:spLocks noGrp="1"/>
          </p:cNvSpPr>
          <p:nvPr>
            <p:ph idx="1"/>
          </p:nvPr>
        </p:nvSpPr>
        <p:spPr/>
        <p:txBody>
          <a:bodyPr/>
          <a:lstStyle/>
          <a:p>
            <a:pPr marL="0" indent="0">
              <a:buNone/>
            </a:pPr>
            <a:r>
              <a:rPr lang="fr-FR" b="1" dirty="0"/>
              <a:t>Le syndrome de </a:t>
            </a:r>
            <a:r>
              <a:rPr lang="fr-FR" b="1" dirty="0" err="1"/>
              <a:t>Pancoast</a:t>
            </a:r>
            <a:r>
              <a:rPr lang="fr-FR" b="1" dirty="0"/>
              <a:t> Tobias comporte:</a:t>
            </a:r>
            <a:endParaRPr lang="fr-FR" dirty="0"/>
          </a:p>
          <a:p>
            <a:pPr marL="0" indent="0">
              <a:buNone/>
            </a:pPr>
            <a:r>
              <a:rPr lang="fr-FR" dirty="0">
                <a:solidFill>
                  <a:srgbClr val="FF0000"/>
                </a:solidFill>
              </a:rPr>
              <a:t>A- lyse de la 1ère cote</a:t>
            </a:r>
          </a:p>
          <a:p>
            <a:pPr marL="0" indent="0">
              <a:buNone/>
            </a:pPr>
            <a:r>
              <a:rPr lang="fr-FR" dirty="0"/>
              <a:t>B- circulation veineuse collatérale thoracique</a:t>
            </a:r>
          </a:p>
          <a:p>
            <a:pPr marL="0" indent="0">
              <a:buNone/>
            </a:pPr>
            <a:r>
              <a:rPr lang="fr-FR" dirty="0">
                <a:solidFill>
                  <a:srgbClr val="FF0000"/>
                </a:solidFill>
              </a:rPr>
              <a:t>C- syndrome de Claude Bernard-Horner</a:t>
            </a:r>
          </a:p>
          <a:p>
            <a:pPr marL="0" indent="0">
              <a:buNone/>
            </a:pPr>
            <a:r>
              <a:rPr lang="fr-FR" dirty="0">
                <a:solidFill>
                  <a:srgbClr val="FF0000"/>
                </a:solidFill>
              </a:rPr>
              <a:t>D- névralgies </a:t>
            </a:r>
            <a:r>
              <a:rPr lang="fr-FR" dirty="0" err="1">
                <a:solidFill>
                  <a:srgbClr val="FF0000"/>
                </a:solidFill>
              </a:rPr>
              <a:t>cervicobrachiales</a:t>
            </a:r>
            <a:r>
              <a:rPr lang="fr-FR" dirty="0">
                <a:solidFill>
                  <a:srgbClr val="FF0000"/>
                </a:solidFill>
              </a:rPr>
              <a:t> C8-D1</a:t>
            </a:r>
          </a:p>
          <a:p>
            <a:pPr marL="0" indent="0">
              <a:buNone/>
            </a:pPr>
            <a:r>
              <a:rPr lang="fr-FR" dirty="0"/>
              <a:t>E- histologie de carcinome épidermoïde </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3689062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3A10D-6949-9BFD-B30D-C05F7934249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52A1AB1-0D26-2B0E-5976-F3FC07892EF5}"/>
              </a:ext>
            </a:extLst>
          </p:cNvPr>
          <p:cNvSpPr>
            <a:spLocks noGrp="1"/>
          </p:cNvSpPr>
          <p:nvPr>
            <p:ph idx="1"/>
          </p:nvPr>
        </p:nvSpPr>
        <p:spPr/>
        <p:txBody>
          <a:bodyPr/>
          <a:lstStyle/>
          <a:p>
            <a:pPr marL="0" indent="0">
              <a:buNone/>
            </a:pPr>
            <a:r>
              <a:rPr lang="fr-FR" b="1" dirty="0"/>
              <a:t>Quel est le site inhabituel des métastases d'un cancer broncho-pulmonaire ? </a:t>
            </a:r>
            <a:endParaRPr lang="fr-FR" dirty="0"/>
          </a:p>
          <a:p>
            <a:pPr marL="514350" lvl="0" indent="-514350">
              <a:buFont typeface="+mj-lt"/>
              <a:buAutoNum type="alphaUcPeriod"/>
            </a:pPr>
            <a:r>
              <a:rPr lang="fr-FR" dirty="0"/>
              <a:t>Le foie</a:t>
            </a:r>
          </a:p>
          <a:p>
            <a:pPr marL="514350" lvl="0" indent="-514350">
              <a:buFont typeface="+mj-lt"/>
              <a:buAutoNum type="alphaUcPeriod"/>
            </a:pPr>
            <a:r>
              <a:rPr lang="fr-FR" dirty="0"/>
              <a:t>La surrénale </a:t>
            </a:r>
          </a:p>
          <a:p>
            <a:pPr marL="514350" lvl="0" indent="-514350">
              <a:buFont typeface="+mj-lt"/>
              <a:buAutoNum type="alphaUcPeriod"/>
            </a:pPr>
            <a:r>
              <a:rPr lang="fr-FR" dirty="0"/>
              <a:t>Le rein </a:t>
            </a:r>
          </a:p>
          <a:p>
            <a:pPr marL="514350" lvl="0" indent="-514350">
              <a:buFont typeface="+mj-lt"/>
              <a:buAutoNum type="alphaUcPeriod"/>
            </a:pPr>
            <a:r>
              <a:rPr lang="fr-FR" dirty="0"/>
              <a:t>Les os </a:t>
            </a:r>
          </a:p>
          <a:p>
            <a:pPr marL="514350" lvl="0" indent="-514350">
              <a:buFont typeface="+mj-lt"/>
              <a:buAutoNum type="alphaUcPeriod"/>
            </a:pPr>
            <a:r>
              <a:rPr lang="fr-FR" dirty="0"/>
              <a:t>Le cerveau</a:t>
            </a:r>
          </a:p>
          <a:p>
            <a:endParaRPr lang="fr-FR" dirty="0"/>
          </a:p>
        </p:txBody>
      </p:sp>
    </p:spTree>
    <p:extLst>
      <p:ext uri="{BB962C8B-B14F-4D97-AF65-F5344CB8AC3E}">
        <p14:creationId xmlns:p14="http://schemas.microsoft.com/office/powerpoint/2010/main" val="2997148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195CB-27D5-35F6-6128-18D478B02A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2A70C4-0156-9C4B-B80F-0E32E2D571E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F88FB5D-FDF2-D78F-6559-32754D860094}"/>
              </a:ext>
            </a:extLst>
          </p:cNvPr>
          <p:cNvSpPr>
            <a:spLocks noGrp="1"/>
          </p:cNvSpPr>
          <p:nvPr>
            <p:ph idx="1"/>
          </p:nvPr>
        </p:nvSpPr>
        <p:spPr/>
        <p:txBody>
          <a:bodyPr/>
          <a:lstStyle/>
          <a:p>
            <a:pPr marL="0" indent="0">
              <a:buNone/>
            </a:pPr>
            <a:r>
              <a:rPr lang="fr-FR" b="1" dirty="0"/>
              <a:t>Quel est le site inhabituel des métastases d'un cancer broncho-pulmonaire ? </a:t>
            </a:r>
            <a:endParaRPr lang="fr-FR" dirty="0"/>
          </a:p>
          <a:p>
            <a:pPr marL="514350" lvl="0" indent="-514350">
              <a:buFont typeface="+mj-lt"/>
              <a:buAutoNum type="alphaUcPeriod"/>
            </a:pPr>
            <a:r>
              <a:rPr lang="fr-FR" dirty="0"/>
              <a:t>Le foie</a:t>
            </a:r>
          </a:p>
          <a:p>
            <a:pPr marL="514350" lvl="0" indent="-514350">
              <a:buFont typeface="+mj-lt"/>
              <a:buAutoNum type="alphaUcPeriod"/>
            </a:pPr>
            <a:r>
              <a:rPr lang="fr-FR" dirty="0"/>
              <a:t>La surrénale </a:t>
            </a:r>
          </a:p>
          <a:p>
            <a:pPr marL="514350" lvl="0" indent="-514350">
              <a:buFont typeface="+mj-lt"/>
              <a:buAutoNum type="alphaUcPeriod"/>
            </a:pPr>
            <a:r>
              <a:rPr lang="fr-FR" dirty="0">
                <a:solidFill>
                  <a:srgbClr val="FF0000"/>
                </a:solidFill>
              </a:rPr>
              <a:t>Le rein </a:t>
            </a:r>
          </a:p>
          <a:p>
            <a:pPr marL="514350" lvl="0" indent="-514350">
              <a:buFont typeface="+mj-lt"/>
              <a:buAutoNum type="alphaUcPeriod"/>
            </a:pPr>
            <a:r>
              <a:rPr lang="fr-FR" dirty="0"/>
              <a:t>Les os </a:t>
            </a:r>
          </a:p>
          <a:p>
            <a:pPr marL="514350" lvl="0" indent="-514350">
              <a:buFont typeface="+mj-lt"/>
              <a:buAutoNum type="alphaUcPeriod"/>
            </a:pPr>
            <a:r>
              <a:rPr lang="fr-FR" dirty="0"/>
              <a:t>Le cerveau</a:t>
            </a:r>
          </a:p>
          <a:p>
            <a:endParaRPr lang="fr-FR" dirty="0"/>
          </a:p>
        </p:txBody>
      </p:sp>
    </p:spTree>
    <p:extLst>
      <p:ext uri="{BB962C8B-B14F-4D97-AF65-F5344CB8AC3E}">
        <p14:creationId xmlns:p14="http://schemas.microsoft.com/office/powerpoint/2010/main" val="3930146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83F3F4-C67D-4BB5-9A5F-3D9B0BA16B2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0B7CB8E-9B8D-9128-2AD4-B81C0B8028E3}"/>
              </a:ext>
            </a:extLst>
          </p:cNvPr>
          <p:cNvSpPr>
            <a:spLocks noGrp="1"/>
          </p:cNvSpPr>
          <p:nvPr>
            <p:ph idx="1"/>
          </p:nvPr>
        </p:nvSpPr>
        <p:spPr/>
        <p:txBody>
          <a:bodyPr/>
          <a:lstStyle/>
          <a:p>
            <a:pPr marL="0" indent="0">
              <a:buNone/>
            </a:pPr>
            <a:r>
              <a:rPr lang="fr-FR" b="1" dirty="0"/>
              <a:t>Dans la classification TNM du CNPC, T prend en considération :</a:t>
            </a:r>
            <a:endParaRPr lang="fr-FR" dirty="0"/>
          </a:p>
          <a:p>
            <a:pPr marL="0" indent="0">
              <a:buNone/>
            </a:pPr>
            <a:r>
              <a:rPr lang="fr-FR" dirty="0"/>
              <a:t>A- la taille tumorale</a:t>
            </a:r>
          </a:p>
          <a:p>
            <a:pPr marL="0" indent="0">
              <a:buNone/>
            </a:pPr>
            <a:r>
              <a:rPr lang="fr-FR" dirty="0"/>
              <a:t>B- la présence ou non d’ADP médiastinale</a:t>
            </a:r>
          </a:p>
          <a:p>
            <a:pPr marL="0" indent="0">
              <a:buNone/>
            </a:pPr>
            <a:r>
              <a:rPr lang="fr-FR" dirty="0"/>
              <a:t>C- l’envahissement des gros vaisseaux du médiastin</a:t>
            </a:r>
          </a:p>
          <a:p>
            <a:pPr marL="0" indent="0">
              <a:buNone/>
            </a:pPr>
            <a:r>
              <a:rPr lang="fr-FR" dirty="0"/>
              <a:t>D- l’envahissement de la paroi thoracique</a:t>
            </a:r>
          </a:p>
          <a:p>
            <a:pPr marL="0" indent="0">
              <a:buNone/>
            </a:pPr>
            <a:r>
              <a:rPr lang="fr-FR" dirty="0"/>
              <a:t>E- l’atteinte pulmonaire controlatérale</a:t>
            </a:r>
          </a:p>
          <a:p>
            <a:endParaRPr lang="fr-FR" dirty="0"/>
          </a:p>
        </p:txBody>
      </p:sp>
    </p:spTree>
    <p:extLst>
      <p:ext uri="{BB962C8B-B14F-4D97-AF65-F5344CB8AC3E}">
        <p14:creationId xmlns:p14="http://schemas.microsoft.com/office/powerpoint/2010/main" val="3979516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F82D3-5E45-E2D8-BA9D-7D45D082C7B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C9BFD5-87FC-F05C-59A8-5C7B6C33B16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02819B0-F468-2C60-2EDB-E10958438D14}"/>
              </a:ext>
            </a:extLst>
          </p:cNvPr>
          <p:cNvSpPr>
            <a:spLocks noGrp="1"/>
          </p:cNvSpPr>
          <p:nvPr>
            <p:ph idx="1"/>
          </p:nvPr>
        </p:nvSpPr>
        <p:spPr/>
        <p:txBody>
          <a:bodyPr/>
          <a:lstStyle/>
          <a:p>
            <a:pPr marL="0" indent="0">
              <a:buNone/>
            </a:pPr>
            <a:r>
              <a:rPr lang="fr-FR" b="1" dirty="0"/>
              <a:t>Dans la classification TNM du CNPC, T prend en considération :</a:t>
            </a:r>
            <a:endParaRPr lang="fr-FR" dirty="0"/>
          </a:p>
          <a:p>
            <a:pPr marL="0" indent="0">
              <a:buNone/>
            </a:pPr>
            <a:r>
              <a:rPr lang="fr-FR" dirty="0"/>
              <a:t>A- </a:t>
            </a:r>
            <a:r>
              <a:rPr lang="fr-FR" dirty="0">
                <a:solidFill>
                  <a:srgbClr val="FF0000"/>
                </a:solidFill>
              </a:rPr>
              <a:t>la taille tumorale</a:t>
            </a:r>
          </a:p>
          <a:p>
            <a:pPr marL="0" indent="0">
              <a:buNone/>
            </a:pPr>
            <a:r>
              <a:rPr lang="fr-FR" dirty="0"/>
              <a:t>B- la présence ou non d’ADP médiastinale</a:t>
            </a:r>
          </a:p>
          <a:p>
            <a:pPr marL="0" indent="0">
              <a:buNone/>
            </a:pPr>
            <a:r>
              <a:rPr lang="fr-FR" dirty="0">
                <a:solidFill>
                  <a:srgbClr val="FF0000"/>
                </a:solidFill>
              </a:rPr>
              <a:t>C- l’envahissement des gros vaisseaux du médiastin</a:t>
            </a:r>
          </a:p>
          <a:p>
            <a:pPr marL="0" indent="0">
              <a:buNone/>
            </a:pPr>
            <a:r>
              <a:rPr lang="fr-FR" dirty="0">
                <a:solidFill>
                  <a:srgbClr val="FF0000"/>
                </a:solidFill>
              </a:rPr>
              <a:t>D- l’envahissement de la paroi thoracique</a:t>
            </a:r>
          </a:p>
          <a:p>
            <a:pPr marL="0" indent="0">
              <a:buNone/>
            </a:pPr>
            <a:r>
              <a:rPr lang="fr-FR" dirty="0"/>
              <a:t>E- l’atteinte pulmonaire controlatérale</a:t>
            </a:r>
          </a:p>
          <a:p>
            <a:endParaRPr lang="fr-FR" dirty="0"/>
          </a:p>
        </p:txBody>
      </p:sp>
    </p:spTree>
    <p:extLst>
      <p:ext uri="{BB962C8B-B14F-4D97-AF65-F5344CB8AC3E}">
        <p14:creationId xmlns:p14="http://schemas.microsoft.com/office/powerpoint/2010/main" val="3878812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4B2EF9-8F5F-FFBF-140B-C31654C1A79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53EF814-F000-E4DE-8D36-46FCC86FEDC0}"/>
              </a:ext>
            </a:extLst>
          </p:cNvPr>
          <p:cNvSpPr>
            <a:spLocks noGrp="1"/>
          </p:cNvSpPr>
          <p:nvPr>
            <p:ph idx="1"/>
          </p:nvPr>
        </p:nvSpPr>
        <p:spPr/>
        <p:txBody>
          <a:bodyPr>
            <a:normAutofit lnSpcReduction="10000"/>
          </a:bodyPr>
          <a:lstStyle/>
          <a:p>
            <a:pPr marL="0" indent="0">
              <a:buNone/>
            </a:pPr>
            <a:r>
              <a:rPr lang="fr-FR" b="1" dirty="0"/>
              <a:t>Pour présenter en Réunion de Concertation Pluridisciplinaire (RCP) le dossier d'un patient atteint d'un cancer bronchique primitif semblant localisé uniquement au thorax, il est nécessaire de disposer de tous les éléments suivants :</a:t>
            </a:r>
            <a:endParaRPr lang="fr-FR" dirty="0"/>
          </a:p>
          <a:p>
            <a:pPr marL="514350" lvl="0" indent="-514350">
              <a:buFont typeface="+mj-lt"/>
              <a:buAutoNum type="alphaUcPeriod"/>
            </a:pPr>
            <a:r>
              <a:rPr lang="fr-FR" dirty="0"/>
              <a:t>D'une preuve histologique de la maladie </a:t>
            </a:r>
          </a:p>
          <a:p>
            <a:pPr marL="514350" lvl="0" indent="-514350">
              <a:buFont typeface="+mj-lt"/>
              <a:buAutoNum type="alphaUcPeriod"/>
            </a:pPr>
            <a:r>
              <a:rPr lang="fr-FR" dirty="0"/>
              <a:t>D'un bilan tomodensitométrique thoracique, avec au minimum des coupes sus-mésocoliques, ainsi que cérébral </a:t>
            </a:r>
          </a:p>
          <a:p>
            <a:pPr marL="514350" lvl="0" indent="-514350">
              <a:buFont typeface="+mj-lt"/>
              <a:buAutoNum type="alphaUcPeriod"/>
            </a:pPr>
            <a:r>
              <a:rPr lang="fr-FR" dirty="0"/>
              <a:t>D'une scintigraphie au 18-FDG (TEP-scanner) </a:t>
            </a:r>
          </a:p>
          <a:p>
            <a:pPr marL="514350" lvl="0" indent="-514350">
              <a:buFont typeface="+mj-lt"/>
              <a:buAutoNum type="alphaUcPeriod"/>
            </a:pPr>
            <a:r>
              <a:rPr lang="fr-FR" dirty="0"/>
              <a:t>D'une épreuve fonctionnelle respiratoire </a:t>
            </a:r>
          </a:p>
          <a:p>
            <a:pPr marL="514350" lvl="0" indent="-514350">
              <a:buFont typeface="+mj-lt"/>
              <a:buAutoNum type="alphaUcPeriod"/>
            </a:pPr>
            <a:r>
              <a:rPr lang="fr-FR" dirty="0"/>
              <a:t>Du résultat des dosages des marqueurs tumoraux</a:t>
            </a:r>
          </a:p>
          <a:p>
            <a:pPr marL="0" indent="0">
              <a:buNone/>
            </a:pPr>
            <a:endParaRPr lang="fr-FR" dirty="0"/>
          </a:p>
          <a:p>
            <a:endParaRPr lang="fr-FR" dirty="0"/>
          </a:p>
        </p:txBody>
      </p:sp>
    </p:spTree>
    <p:extLst>
      <p:ext uri="{BB962C8B-B14F-4D97-AF65-F5344CB8AC3E}">
        <p14:creationId xmlns:p14="http://schemas.microsoft.com/office/powerpoint/2010/main" val="4112467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7EF35-0482-E43C-98F2-172B2563E5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E034B7-696F-F96F-EAD7-744E664F4EC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BFFC7D5-9F05-B6DF-233B-8EA8C09FA828}"/>
              </a:ext>
            </a:extLst>
          </p:cNvPr>
          <p:cNvSpPr>
            <a:spLocks noGrp="1"/>
          </p:cNvSpPr>
          <p:nvPr>
            <p:ph idx="1"/>
          </p:nvPr>
        </p:nvSpPr>
        <p:spPr/>
        <p:txBody>
          <a:bodyPr>
            <a:normAutofit lnSpcReduction="10000"/>
          </a:bodyPr>
          <a:lstStyle/>
          <a:p>
            <a:pPr marL="0" indent="0">
              <a:buNone/>
            </a:pPr>
            <a:r>
              <a:rPr lang="fr-FR" b="1" dirty="0"/>
              <a:t>Pour présenter en Réunion de Concertation Pluridisciplinaire (RCP) le dossier d'un patient atteint d'un cancer bronchique primitif semblant localisé uniquement au thorax, il est nécessaire de disposer de tous les éléments suivants :</a:t>
            </a:r>
            <a:endParaRPr lang="fr-FR" dirty="0"/>
          </a:p>
          <a:p>
            <a:pPr marL="514350" lvl="0" indent="-514350">
              <a:buFont typeface="+mj-lt"/>
              <a:buAutoNum type="alphaUcPeriod"/>
            </a:pPr>
            <a:r>
              <a:rPr lang="fr-FR" dirty="0">
                <a:solidFill>
                  <a:srgbClr val="FFC000"/>
                </a:solidFill>
              </a:rPr>
              <a:t>D'une preuve histologique de la maladie </a:t>
            </a:r>
          </a:p>
          <a:p>
            <a:pPr marL="514350" lvl="0" indent="-514350">
              <a:buFont typeface="+mj-lt"/>
              <a:buAutoNum type="alphaUcPeriod"/>
            </a:pPr>
            <a:r>
              <a:rPr lang="fr-FR" dirty="0">
                <a:solidFill>
                  <a:srgbClr val="FF0000"/>
                </a:solidFill>
              </a:rPr>
              <a:t>D'un bilan tomodensitométrique thoracique, avec au minimum des coupes sus-mésocoliques, ainsi que cérébral </a:t>
            </a:r>
          </a:p>
          <a:p>
            <a:pPr marL="514350" lvl="0" indent="-514350">
              <a:buFont typeface="+mj-lt"/>
              <a:buAutoNum type="alphaUcPeriod"/>
            </a:pPr>
            <a:r>
              <a:rPr lang="fr-FR" dirty="0">
                <a:solidFill>
                  <a:srgbClr val="FF0000"/>
                </a:solidFill>
              </a:rPr>
              <a:t>D'une scintigraphie au 18-FDG (TEP-scanner) </a:t>
            </a:r>
          </a:p>
          <a:p>
            <a:pPr marL="514350" lvl="0" indent="-514350">
              <a:buFont typeface="+mj-lt"/>
              <a:buAutoNum type="alphaUcPeriod"/>
            </a:pPr>
            <a:r>
              <a:rPr lang="fr-FR" dirty="0">
                <a:solidFill>
                  <a:srgbClr val="FF0000"/>
                </a:solidFill>
              </a:rPr>
              <a:t>D'une épreuve fonctionnelle respiratoire </a:t>
            </a:r>
          </a:p>
          <a:p>
            <a:pPr marL="514350" lvl="0" indent="-514350">
              <a:buFont typeface="+mj-lt"/>
              <a:buAutoNum type="alphaUcPeriod"/>
            </a:pPr>
            <a:r>
              <a:rPr lang="fr-FR" dirty="0"/>
              <a:t>Du résultat des dosages des marqueurs tumoraux</a:t>
            </a:r>
          </a:p>
          <a:p>
            <a:pPr marL="0" indent="0">
              <a:buNone/>
            </a:pPr>
            <a:endParaRPr lang="fr-FR" dirty="0"/>
          </a:p>
          <a:p>
            <a:endParaRPr lang="fr-FR" dirty="0"/>
          </a:p>
        </p:txBody>
      </p:sp>
    </p:spTree>
    <p:extLst>
      <p:ext uri="{BB962C8B-B14F-4D97-AF65-F5344CB8AC3E}">
        <p14:creationId xmlns:p14="http://schemas.microsoft.com/office/powerpoint/2010/main" val="38688763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DC74E3-5987-E6C0-936A-5494C77B8EC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CA1118E-6FAD-04A7-BE67-17139A35BCAA}"/>
              </a:ext>
            </a:extLst>
          </p:cNvPr>
          <p:cNvSpPr>
            <a:spLocks noGrp="1"/>
          </p:cNvSpPr>
          <p:nvPr>
            <p:ph idx="1"/>
          </p:nvPr>
        </p:nvSpPr>
        <p:spPr/>
        <p:txBody>
          <a:bodyPr>
            <a:normAutofit lnSpcReduction="10000"/>
          </a:bodyPr>
          <a:lstStyle/>
          <a:p>
            <a:pPr marL="0" indent="0">
              <a:buNone/>
            </a:pPr>
            <a:r>
              <a:rPr lang="fr-FR" b="1" dirty="0"/>
              <a:t>Le stade TNM d’un carcinome épidermoïde du lobe moyen de 4 cm de grand axe avec invasion de la plèvre viscérale, associé à des adénopathies sous </a:t>
            </a:r>
            <a:r>
              <a:rPr lang="fr-FR" b="1" dirty="0" err="1"/>
              <a:t>carénaire</a:t>
            </a:r>
            <a:r>
              <a:rPr lang="fr-FR" b="1" dirty="0"/>
              <a:t> et hilaire gauche sans métastases à distance est :</a:t>
            </a:r>
            <a:endParaRPr lang="fr-FR" dirty="0"/>
          </a:p>
          <a:p>
            <a:pPr marL="514350" lvl="0" indent="-514350">
              <a:buFont typeface="+mj-lt"/>
              <a:buAutoNum type="alphaUcPeriod"/>
            </a:pPr>
            <a:r>
              <a:rPr lang="fr-FR" dirty="0"/>
              <a:t>T2bN1M0 </a:t>
            </a:r>
          </a:p>
          <a:p>
            <a:pPr marL="514350" lvl="0" indent="-514350">
              <a:buFont typeface="+mj-lt"/>
              <a:buAutoNum type="alphaUcPeriod"/>
            </a:pPr>
            <a:r>
              <a:rPr lang="fr-FR" dirty="0"/>
              <a:t>T3N1M1a </a:t>
            </a:r>
          </a:p>
          <a:p>
            <a:pPr marL="514350" lvl="0" indent="-514350">
              <a:buFont typeface="+mj-lt"/>
              <a:buAutoNum type="alphaUcPeriod"/>
            </a:pPr>
            <a:r>
              <a:rPr lang="fr-FR" dirty="0"/>
              <a:t>T4N2M0 </a:t>
            </a:r>
          </a:p>
          <a:p>
            <a:pPr marL="514350" lvl="0" indent="-514350">
              <a:buFont typeface="+mj-lt"/>
              <a:buAutoNum type="alphaUcPeriod"/>
            </a:pPr>
            <a:r>
              <a:rPr lang="fr-FR" dirty="0"/>
              <a:t>T2aN3M0 </a:t>
            </a:r>
          </a:p>
          <a:p>
            <a:pPr marL="514350" lvl="0" indent="-514350">
              <a:buFont typeface="+mj-lt"/>
              <a:buAutoNum type="alphaUcPeriod"/>
            </a:pPr>
            <a:r>
              <a:rPr lang="fr-FR" dirty="0"/>
              <a:t>T1aN2M0 </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6435044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26D06-74C1-378E-0721-B729993857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28CB02-8339-29BF-93A3-51658BF7586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415C6BC-EE6A-B58F-C591-BCA4A3EC1BFE}"/>
              </a:ext>
            </a:extLst>
          </p:cNvPr>
          <p:cNvSpPr>
            <a:spLocks noGrp="1"/>
          </p:cNvSpPr>
          <p:nvPr>
            <p:ph idx="1"/>
          </p:nvPr>
        </p:nvSpPr>
        <p:spPr/>
        <p:txBody>
          <a:bodyPr>
            <a:normAutofit lnSpcReduction="10000"/>
          </a:bodyPr>
          <a:lstStyle/>
          <a:p>
            <a:pPr marL="0" indent="0">
              <a:buNone/>
            </a:pPr>
            <a:r>
              <a:rPr lang="fr-FR" b="1" dirty="0"/>
              <a:t>Le stade TNM d’un carcinome épidermoïde du lobe moyen de 4 cm de grand axe avec invasion de la plèvre viscérale, associé à des adénopathies sous </a:t>
            </a:r>
            <a:r>
              <a:rPr lang="fr-FR" b="1" dirty="0" err="1"/>
              <a:t>carénaire</a:t>
            </a:r>
            <a:r>
              <a:rPr lang="fr-FR" b="1" dirty="0"/>
              <a:t> et hilaire gauche sans métastases à distance est :</a:t>
            </a:r>
            <a:endParaRPr lang="fr-FR" dirty="0"/>
          </a:p>
          <a:p>
            <a:pPr marL="514350" lvl="0" indent="-514350">
              <a:buFont typeface="+mj-lt"/>
              <a:buAutoNum type="alphaUcPeriod"/>
            </a:pPr>
            <a:r>
              <a:rPr lang="fr-FR" dirty="0"/>
              <a:t>T2bN1M0 </a:t>
            </a:r>
          </a:p>
          <a:p>
            <a:pPr marL="514350" lvl="0" indent="-514350">
              <a:buFont typeface="+mj-lt"/>
              <a:buAutoNum type="alphaUcPeriod"/>
            </a:pPr>
            <a:r>
              <a:rPr lang="fr-FR" dirty="0"/>
              <a:t>T3N1M1a </a:t>
            </a:r>
          </a:p>
          <a:p>
            <a:pPr marL="514350" lvl="0" indent="-514350">
              <a:buFont typeface="+mj-lt"/>
              <a:buAutoNum type="alphaUcPeriod"/>
            </a:pPr>
            <a:r>
              <a:rPr lang="fr-FR" dirty="0"/>
              <a:t>T4N2M0 </a:t>
            </a:r>
          </a:p>
          <a:p>
            <a:pPr marL="514350" lvl="0" indent="-514350">
              <a:buFont typeface="+mj-lt"/>
              <a:buAutoNum type="alphaUcPeriod"/>
            </a:pPr>
            <a:r>
              <a:rPr lang="fr-FR" dirty="0">
                <a:solidFill>
                  <a:srgbClr val="FF0000"/>
                </a:solidFill>
              </a:rPr>
              <a:t>T2aN3M0 </a:t>
            </a:r>
          </a:p>
          <a:p>
            <a:pPr marL="514350" lvl="0" indent="-514350">
              <a:buFont typeface="+mj-lt"/>
              <a:buAutoNum type="alphaUcPeriod"/>
            </a:pPr>
            <a:r>
              <a:rPr lang="fr-FR" dirty="0"/>
              <a:t>T1aN2M0 </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3584418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8D2C-1BEC-2BA9-88FF-7D4C47E143F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AD9BC17-041B-25BF-9C8B-D1130D457155}"/>
              </a:ext>
            </a:extLst>
          </p:cNvPr>
          <p:cNvSpPr>
            <a:spLocks noGrp="1"/>
          </p:cNvSpPr>
          <p:nvPr>
            <p:ph idx="1"/>
          </p:nvPr>
        </p:nvSpPr>
        <p:spPr/>
        <p:txBody>
          <a:bodyPr/>
          <a:lstStyle/>
          <a:p>
            <a:pPr marL="0" indent="0">
              <a:buNone/>
            </a:pPr>
            <a:r>
              <a:rPr lang="fr-FR" b="1" dirty="0"/>
              <a:t>Quelle est la meilleure prise en charge d'un cancer broncho-pulmonaire localisé chez un patient de 55 ans tabagique ayant un VEMS à 72 % ? </a:t>
            </a:r>
            <a:endParaRPr lang="fr-FR" dirty="0"/>
          </a:p>
          <a:p>
            <a:pPr marL="514350" lvl="0" indent="-514350">
              <a:buFont typeface="+mj-lt"/>
              <a:buAutoNum type="alphaUcPeriod"/>
            </a:pPr>
            <a:r>
              <a:rPr lang="fr-FR" dirty="0"/>
              <a:t>La chirurgie </a:t>
            </a:r>
          </a:p>
          <a:p>
            <a:pPr marL="514350" lvl="0" indent="-514350">
              <a:buFont typeface="+mj-lt"/>
              <a:buAutoNum type="alphaUcPeriod"/>
            </a:pPr>
            <a:r>
              <a:rPr lang="fr-FR" dirty="0"/>
              <a:t>La radiothérapie exclusive </a:t>
            </a:r>
          </a:p>
          <a:p>
            <a:pPr marL="514350" lvl="0" indent="-514350">
              <a:buFont typeface="+mj-lt"/>
              <a:buAutoNum type="alphaUcPeriod"/>
            </a:pPr>
            <a:r>
              <a:rPr lang="fr-FR" dirty="0"/>
              <a:t>La chimiothérapie comportant un sel de platine </a:t>
            </a:r>
          </a:p>
          <a:p>
            <a:pPr marL="514350" lvl="0" indent="-514350">
              <a:buFont typeface="+mj-lt"/>
              <a:buAutoNum type="alphaUcPeriod"/>
            </a:pPr>
            <a:r>
              <a:rPr lang="fr-FR" dirty="0"/>
              <a:t>L'association radiothérapie et chimiothérapie </a:t>
            </a:r>
          </a:p>
          <a:p>
            <a:pPr marL="514350" lvl="0" indent="-514350">
              <a:buFont typeface="+mj-lt"/>
              <a:buAutoNum type="alphaUcPeriod"/>
            </a:pPr>
            <a:r>
              <a:rPr lang="fr-FR" dirty="0"/>
              <a:t>La radiofréquence </a:t>
            </a:r>
          </a:p>
          <a:p>
            <a:endParaRPr lang="fr-FR" dirty="0"/>
          </a:p>
        </p:txBody>
      </p:sp>
    </p:spTree>
    <p:extLst>
      <p:ext uri="{BB962C8B-B14F-4D97-AF65-F5344CB8AC3E}">
        <p14:creationId xmlns:p14="http://schemas.microsoft.com/office/powerpoint/2010/main" val="1481153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2A64-3518-3CD7-6B49-DCD7E4041B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E77A06-C97C-063B-2CC2-580871B186A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B317E7B-6137-14D0-E3A9-077D55093D84}"/>
              </a:ext>
            </a:extLst>
          </p:cNvPr>
          <p:cNvSpPr>
            <a:spLocks noGrp="1"/>
          </p:cNvSpPr>
          <p:nvPr>
            <p:ph idx="1"/>
          </p:nvPr>
        </p:nvSpPr>
        <p:spPr/>
        <p:txBody>
          <a:bodyPr/>
          <a:lstStyle/>
          <a:p>
            <a:pPr marL="0" indent="0">
              <a:buNone/>
            </a:pPr>
            <a:r>
              <a:rPr lang="fr-FR" b="1" dirty="0"/>
              <a:t>Quelle est la meilleure prise en charge d'un cancer broncho-pulmonaire localisé chez un patient de 55 ans tabagique ayant un VEMS à 72 % ? </a:t>
            </a:r>
            <a:endParaRPr lang="fr-FR" dirty="0"/>
          </a:p>
          <a:p>
            <a:pPr marL="514350" lvl="0" indent="-514350">
              <a:buFont typeface="+mj-lt"/>
              <a:buAutoNum type="alphaUcPeriod"/>
            </a:pPr>
            <a:r>
              <a:rPr lang="fr-FR" dirty="0">
                <a:solidFill>
                  <a:srgbClr val="FF0000"/>
                </a:solidFill>
              </a:rPr>
              <a:t>La chirurgie </a:t>
            </a:r>
          </a:p>
          <a:p>
            <a:pPr marL="514350" lvl="0" indent="-514350">
              <a:buFont typeface="+mj-lt"/>
              <a:buAutoNum type="alphaUcPeriod"/>
            </a:pPr>
            <a:r>
              <a:rPr lang="fr-FR" dirty="0"/>
              <a:t>La radiothérapie exclusive </a:t>
            </a:r>
          </a:p>
          <a:p>
            <a:pPr marL="514350" lvl="0" indent="-514350">
              <a:buFont typeface="+mj-lt"/>
              <a:buAutoNum type="alphaUcPeriod"/>
            </a:pPr>
            <a:r>
              <a:rPr lang="fr-FR" dirty="0"/>
              <a:t>La chimiothérapie comportant un sel de platine </a:t>
            </a:r>
          </a:p>
          <a:p>
            <a:pPr marL="514350" lvl="0" indent="-514350">
              <a:buFont typeface="+mj-lt"/>
              <a:buAutoNum type="alphaUcPeriod"/>
            </a:pPr>
            <a:r>
              <a:rPr lang="fr-FR" dirty="0"/>
              <a:t>L'association radiothérapie et chimiothérapie </a:t>
            </a:r>
          </a:p>
          <a:p>
            <a:pPr marL="514350" lvl="0" indent="-514350">
              <a:buFont typeface="+mj-lt"/>
              <a:buAutoNum type="alphaUcPeriod"/>
            </a:pPr>
            <a:r>
              <a:rPr lang="fr-FR" dirty="0"/>
              <a:t>La radiofréquence </a:t>
            </a:r>
          </a:p>
          <a:p>
            <a:endParaRPr lang="fr-FR" dirty="0"/>
          </a:p>
        </p:txBody>
      </p:sp>
    </p:spTree>
    <p:extLst>
      <p:ext uri="{BB962C8B-B14F-4D97-AF65-F5344CB8AC3E}">
        <p14:creationId xmlns:p14="http://schemas.microsoft.com/office/powerpoint/2010/main" val="1928859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249EA9-44F9-4145-3384-C8A04E3489F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3DF474C-6FA5-CED4-06A7-B25BDB674CBE}"/>
              </a:ext>
            </a:extLst>
          </p:cNvPr>
          <p:cNvSpPr>
            <a:spLocks noGrp="1"/>
          </p:cNvSpPr>
          <p:nvPr>
            <p:ph idx="1"/>
          </p:nvPr>
        </p:nvSpPr>
        <p:spPr/>
        <p:txBody>
          <a:bodyPr/>
          <a:lstStyle/>
          <a:p>
            <a:pPr marL="0" indent="0">
              <a:buNone/>
            </a:pPr>
            <a:r>
              <a:rPr lang="fr-FR" b="1" dirty="0"/>
              <a:t>Parmi les propositions suivantes concernant la radiothérapie thoracique curative, on retient :</a:t>
            </a:r>
            <a:endParaRPr lang="fr-FR" dirty="0"/>
          </a:p>
          <a:p>
            <a:pPr marL="0" indent="0">
              <a:buNone/>
            </a:pPr>
            <a:r>
              <a:rPr lang="fr-FR" dirty="0"/>
              <a:t>A- Elle est indiquée dans les stades métastatiques des CBP </a:t>
            </a:r>
          </a:p>
          <a:p>
            <a:pPr marL="0" indent="0">
              <a:buNone/>
            </a:pPr>
            <a:r>
              <a:rPr lang="fr-FR" dirty="0"/>
              <a:t>B- La dose est de 65 Gr</a:t>
            </a:r>
          </a:p>
          <a:p>
            <a:pPr marL="0" indent="0">
              <a:buNone/>
            </a:pPr>
            <a:r>
              <a:rPr lang="fr-FR" dirty="0"/>
              <a:t>C- L’insuffisance respiratoire chronique en constitue une CI</a:t>
            </a:r>
          </a:p>
          <a:p>
            <a:pPr marL="0" indent="0">
              <a:buNone/>
            </a:pPr>
            <a:r>
              <a:rPr lang="fr-FR" dirty="0"/>
              <a:t>D- Les effets secondaires locaux sont rares</a:t>
            </a:r>
          </a:p>
          <a:p>
            <a:pPr marL="0" indent="0">
              <a:buNone/>
            </a:pPr>
            <a:r>
              <a:rPr lang="fr-FR" dirty="0"/>
              <a:t>E-Potentialise l’effet de la chimiothérapie</a:t>
            </a:r>
          </a:p>
          <a:p>
            <a:endParaRPr lang="fr-FR" dirty="0"/>
          </a:p>
        </p:txBody>
      </p:sp>
    </p:spTree>
    <p:extLst>
      <p:ext uri="{BB962C8B-B14F-4D97-AF65-F5344CB8AC3E}">
        <p14:creationId xmlns:p14="http://schemas.microsoft.com/office/powerpoint/2010/main" val="2711183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8C66-34E5-5C52-5FBB-4E9D519006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2F58B5-B9AD-E844-30BD-789B7C26F5A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7A33FD1-F999-CB71-85A3-EB69147D4F1B}"/>
              </a:ext>
            </a:extLst>
          </p:cNvPr>
          <p:cNvSpPr>
            <a:spLocks noGrp="1"/>
          </p:cNvSpPr>
          <p:nvPr>
            <p:ph idx="1"/>
          </p:nvPr>
        </p:nvSpPr>
        <p:spPr/>
        <p:txBody>
          <a:bodyPr/>
          <a:lstStyle/>
          <a:p>
            <a:pPr marL="0" indent="0">
              <a:buNone/>
            </a:pPr>
            <a:r>
              <a:rPr lang="fr-FR" b="1" dirty="0"/>
              <a:t>Parmi les propositions suivantes concernant la radiothérapie thoracique curative, on retient :</a:t>
            </a:r>
            <a:endParaRPr lang="fr-FR" dirty="0"/>
          </a:p>
          <a:p>
            <a:pPr marL="0" indent="0">
              <a:buNone/>
            </a:pPr>
            <a:r>
              <a:rPr lang="fr-FR" dirty="0"/>
              <a:t>A- Elle est indiquée dans les stades métastatiques des CBP </a:t>
            </a:r>
          </a:p>
          <a:p>
            <a:pPr marL="0" indent="0">
              <a:buNone/>
            </a:pPr>
            <a:r>
              <a:rPr lang="fr-FR" dirty="0">
                <a:solidFill>
                  <a:srgbClr val="FF0000"/>
                </a:solidFill>
              </a:rPr>
              <a:t>B- La dose est de 65 Gr</a:t>
            </a:r>
          </a:p>
          <a:p>
            <a:pPr marL="0" indent="0">
              <a:buNone/>
            </a:pPr>
            <a:r>
              <a:rPr lang="fr-FR" dirty="0">
                <a:solidFill>
                  <a:srgbClr val="FF0000"/>
                </a:solidFill>
              </a:rPr>
              <a:t>C- L’insuffisance respiratoire chronique en constitue une CI</a:t>
            </a:r>
          </a:p>
          <a:p>
            <a:pPr marL="0" indent="0">
              <a:buNone/>
            </a:pPr>
            <a:r>
              <a:rPr lang="fr-FR" dirty="0"/>
              <a:t>D- Les effets secondaires locaux sont rares</a:t>
            </a:r>
          </a:p>
          <a:p>
            <a:pPr marL="0" indent="0">
              <a:buNone/>
            </a:pPr>
            <a:r>
              <a:rPr lang="fr-FR" dirty="0">
                <a:solidFill>
                  <a:srgbClr val="FF0000"/>
                </a:solidFill>
              </a:rPr>
              <a:t>E-Potentialise l’effet de la chimiothérapie</a:t>
            </a:r>
          </a:p>
          <a:p>
            <a:endParaRPr lang="fr-FR" dirty="0"/>
          </a:p>
        </p:txBody>
      </p:sp>
    </p:spTree>
    <p:extLst>
      <p:ext uri="{BB962C8B-B14F-4D97-AF65-F5344CB8AC3E}">
        <p14:creationId xmlns:p14="http://schemas.microsoft.com/office/powerpoint/2010/main" val="1253695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90621B-F8A1-82FA-DA24-03E7CC86F4E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A5EC9E3-8B22-75E3-8D43-C9BF3AE15811}"/>
              </a:ext>
            </a:extLst>
          </p:cNvPr>
          <p:cNvSpPr>
            <a:spLocks noGrp="1"/>
          </p:cNvSpPr>
          <p:nvPr>
            <p:ph idx="1"/>
          </p:nvPr>
        </p:nvSpPr>
        <p:spPr/>
        <p:txBody>
          <a:bodyPr>
            <a:normAutofit lnSpcReduction="10000"/>
          </a:bodyPr>
          <a:lstStyle/>
          <a:p>
            <a:pPr marL="0" indent="0">
              <a:buNone/>
            </a:pPr>
            <a:r>
              <a:rPr lang="fr-FR" b="1" dirty="0"/>
              <a:t>Pour un adénocarcinome du lobe supérieur gauche avec atteinte de l’éperon lobaire supérieure - lobaire inférieure prouvée histologiquement, sans atteinte médiastinale, avec un bilan d’extension négatif, chez un sujet sans contre-indication opératoire, le geste chirurgical proposé sera : </a:t>
            </a:r>
            <a:endParaRPr lang="fr-FR" dirty="0"/>
          </a:p>
          <a:p>
            <a:pPr marL="0" indent="0">
              <a:buNone/>
            </a:pPr>
            <a:r>
              <a:rPr lang="fr-FR" dirty="0"/>
              <a:t>A – Une </a:t>
            </a:r>
            <a:r>
              <a:rPr lang="fr-FR" dirty="0" err="1"/>
              <a:t>segmentectomie</a:t>
            </a:r>
            <a:r>
              <a:rPr lang="fr-FR" dirty="0"/>
              <a:t> </a:t>
            </a:r>
          </a:p>
          <a:p>
            <a:pPr marL="0" indent="0">
              <a:buNone/>
            </a:pPr>
            <a:r>
              <a:rPr lang="fr-FR" dirty="0"/>
              <a:t>B – Une </a:t>
            </a:r>
            <a:r>
              <a:rPr lang="fr-FR" dirty="0" err="1"/>
              <a:t>culminectomie</a:t>
            </a:r>
            <a:r>
              <a:rPr lang="fr-FR" dirty="0"/>
              <a:t> </a:t>
            </a:r>
          </a:p>
          <a:p>
            <a:pPr marL="0" indent="0">
              <a:buNone/>
            </a:pPr>
            <a:r>
              <a:rPr lang="fr-FR" dirty="0"/>
              <a:t>C – Une lobectomie supérieure </a:t>
            </a:r>
          </a:p>
          <a:p>
            <a:pPr marL="0" indent="0">
              <a:buNone/>
            </a:pPr>
            <a:r>
              <a:rPr lang="fr-FR" dirty="0"/>
              <a:t>D – Une </a:t>
            </a:r>
            <a:r>
              <a:rPr lang="fr-FR" dirty="0" err="1"/>
              <a:t>bilobectomie</a:t>
            </a:r>
            <a:endParaRPr lang="fr-FR" dirty="0"/>
          </a:p>
          <a:p>
            <a:pPr marL="0" indent="0">
              <a:buNone/>
            </a:pPr>
            <a:r>
              <a:rPr lang="fr-FR" dirty="0"/>
              <a:t>E – Une Pneumonectomie gauche </a:t>
            </a:r>
          </a:p>
          <a:p>
            <a:endParaRPr lang="fr-FR" dirty="0"/>
          </a:p>
        </p:txBody>
      </p:sp>
    </p:spTree>
    <p:extLst>
      <p:ext uri="{BB962C8B-B14F-4D97-AF65-F5344CB8AC3E}">
        <p14:creationId xmlns:p14="http://schemas.microsoft.com/office/powerpoint/2010/main" val="4139716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BCFE-1F10-5F2B-FEDC-1D6BBE2E68D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D9FCF7-3A5C-58BF-2A98-F72A101131F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7F79142-B4FB-90A4-35FB-EAF5FE9FEBB2}"/>
              </a:ext>
            </a:extLst>
          </p:cNvPr>
          <p:cNvSpPr>
            <a:spLocks noGrp="1"/>
          </p:cNvSpPr>
          <p:nvPr>
            <p:ph idx="1"/>
          </p:nvPr>
        </p:nvSpPr>
        <p:spPr/>
        <p:txBody>
          <a:bodyPr>
            <a:normAutofit lnSpcReduction="10000"/>
          </a:bodyPr>
          <a:lstStyle/>
          <a:p>
            <a:pPr marL="0" indent="0">
              <a:buNone/>
            </a:pPr>
            <a:r>
              <a:rPr lang="fr-FR" b="1" dirty="0"/>
              <a:t>Pour un adénocarcinome du lobe supérieur gauche avec atteinte de l’éperon lobaire supérieure - lobaire inférieure prouvée histologiquement, sans atteinte médiastinale, avec un bilan d’extension négatif, chez un sujet sans contre-indication opératoire, le geste chirurgical proposé sera : </a:t>
            </a:r>
            <a:endParaRPr lang="fr-FR" dirty="0"/>
          </a:p>
          <a:p>
            <a:pPr marL="0" indent="0">
              <a:buNone/>
            </a:pPr>
            <a:r>
              <a:rPr lang="fr-FR" dirty="0"/>
              <a:t>A – Une </a:t>
            </a:r>
            <a:r>
              <a:rPr lang="fr-FR" dirty="0" err="1"/>
              <a:t>segmentectomie</a:t>
            </a:r>
            <a:r>
              <a:rPr lang="fr-FR" dirty="0"/>
              <a:t> </a:t>
            </a:r>
          </a:p>
          <a:p>
            <a:pPr marL="0" indent="0">
              <a:buNone/>
            </a:pPr>
            <a:r>
              <a:rPr lang="fr-FR" dirty="0"/>
              <a:t>B – Une </a:t>
            </a:r>
            <a:r>
              <a:rPr lang="fr-FR" dirty="0" err="1"/>
              <a:t>culminectomie</a:t>
            </a:r>
            <a:r>
              <a:rPr lang="fr-FR" dirty="0"/>
              <a:t> </a:t>
            </a:r>
          </a:p>
          <a:p>
            <a:pPr marL="0" indent="0">
              <a:buNone/>
            </a:pPr>
            <a:r>
              <a:rPr lang="fr-FR" dirty="0"/>
              <a:t>C – Une lobectomie supérieure </a:t>
            </a:r>
          </a:p>
          <a:p>
            <a:pPr marL="0" indent="0">
              <a:buNone/>
            </a:pPr>
            <a:r>
              <a:rPr lang="fr-FR" dirty="0"/>
              <a:t>D – Une </a:t>
            </a:r>
            <a:r>
              <a:rPr lang="fr-FR" dirty="0" err="1"/>
              <a:t>bilobectomie</a:t>
            </a:r>
            <a:endParaRPr lang="fr-FR" dirty="0"/>
          </a:p>
          <a:p>
            <a:pPr marL="0" indent="0">
              <a:buNone/>
            </a:pPr>
            <a:r>
              <a:rPr lang="fr-FR" dirty="0">
                <a:solidFill>
                  <a:srgbClr val="FF0000"/>
                </a:solidFill>
              </a:rPr>
              <a:t>E – Une Pneumonectomie gauche </a:t>
            </a:r>
          </a:p>
          <a:p>
            <a:endParaRPr lang="fr-FR" dirty="0"/>
          </a:p>
        </p:txBody>
      </p:sp>
    </p:spTree>
    <p:extLst>
      <p:ext uri="{BB962C8B-B14F-4D97-AF65-F5344CB8AC3E}">
        <p14:creationId xmlns:p14="http://schemas.microsoft.com/office/powerpoint/2010/main" val="24883636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C42A07-27C2-3C31-75A8-E7C09C6911F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C662173-0085-712C-086C-B48D3A62E5C0}"/>
              </a:ext>
            </a:extLst>
          </p:cNvPr>
          <p:cNvSpPr>
            <a:spLocks noGrp="1"/>
          </p:cNvSpPr>
          <p:nvPr>
            <p:ph idx="1"/>
          </p:nvPr>
        </p:nvSpPr>
        <p:spPr/>
        <p:txBody>
          <a:bodyPr>
            <a:normAutofit lnSpcReduction="10000"/>
          </a:bodyPr>
          <a:lstStyle/>
          <a:p>
            <a:pPr marL="0" indent="0">
              <a:buNone/>
            </a:pPr>
            <a:r>
              <a:rPr lang="fr-FR" b="1" dirty="0"/>
              <a:t>Le traitement optimal d’un carcinome pulmonaire à petite cellule localisé repose sur: </a:t>
            </a:r>
            <a:endParaRPr lang="fr-FR" dirty="0"/>
          </a:p>
          <a:p>
            <a:pPr marL="514350" lvl="0" indent="-514350">
              <a:buFont typeface="+mj-lt"/>
              <a:buAutoNum type="alphaUcPeriod"/>
            </a:pPr>
            <a:r>
              <a:rPr lang="fr-FR" dirty="0"/>
              <a:t>Une radiothérapie thoracique seule </a:t>
            </a:r>
          </a:p>
          <a:p>
            <a:pPr marL="514350" lvl="0" indent="-514350">
              <a:buFont typeface="+mj-lt"/>
              <a:buAutoNum type="alphaUcPeriod"/>
            </a:pPr>
            <a:r>
              <a:rPr lang="fr-FR" dirty="0"/>
              <a:t>Une chimio-radiothérapie thoracique séquentielle avec radiothérapie cérébrale prophylactique </a:t>
            </a:r>
          </a:p>
          <a:p>
            <a:pPr marL="514350" lvl="0" indent="-514350">
              <a:buFont typeface="+mj-lt"/>
              <a:buAutoNum type="alphaUcPeriod"/>
            </a:pPr>
            <a:r>
              <a:rPr lang="fr-FR" dirty="0"/>
              <a:t>Une chimiothérapie +immunothérapie </a:t>
            </a:r>
          </a:p>
          <a:p>
            <a:pPr marL="514350" lvl="0" indent="-514350">
              <a:buFont typeface="+mj-lt"/>
              <a:buAutoNum type="alphaUcPeriod"/>
            </a:pPr>
            <a:r>
              <a:rPr lang="fr-FR" dirty="0"/>
              <a:t>Une chimio-radiothérapie thoracique concomitante avec radiothérapie cérébrale prophylactique </a:t>
            </a:r>
          </a:p>
          <a:p>
            <a:pPr marL="514350" lvl="0" indent="-514350">
              <a:buFont typeface="+mj-lt"/>
              <a:buAutoNum type="alphaUcPeriod"/>
            </a:pPr>
            <a:r>
              <a:rPr lang="fr-FR" dirty="0"/>
              <a:t>Une chimiothérapie avec une radiothérapie cérébrale prophylactique </a:t>
            </a:r>
          </a:p>
          <a:p>
            <a:endParaRPr lang="fr-FR" dirty="0"/>
          </a:p>
        </p:txBody>
      </p:sp>
    </p:spTree>
    <p:extLst>
      <p:ext uri="{BB962C8B-B14F-4D97-AF65-F5344CB8AC3E}">
        <p14:creationId xmlns:p14="http://schemas.microsoft.com/office/powerpoint/2010/main" val="2178116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0C7C-128B-EDCD-3CAE-11EE983609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92D8E1-5A0A-E522-3E1C-9D02C29D673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05AB727-9CF7-1CFA-D6A8-B6B7627796B5}"/>
              </a:ext>
            </a:extLst>
          </p:cNvPr>
          <p:cNvSpPr>
            <a:spLocks noGrp="1"/>
          </p:cNvSpPr>
          <p:nvPr>
            <p:ph idx="1"/>
          </p:nvPr>
        </p:nvSpPr>
        <p:spPr/>
        <p:txBody>
          <a:bodyPr>
            <a:normAutofit lnSpcReduction="10000"/>
          </a:bodyPr>
          <a:lstStyle/>
          <a:p>
            <a:pPr marL="0" indent="0">
              <a:buNone/>
            </a:pPr>
            <a:r>
              <a:rPr lang="fr-FR" b="1" dirty="0"/>
              <a:t>Le traitement optimal d’un carcinome pulmonaire à petite cellule localisé repose sur: </a:t>
            </a:r>
            <a:endParaRPr lang="fr-FR" dirty="0"/>
          </a:p>
          <a:p>
            <a:pPr marL="514350" lvl="0" indent="-514350">
              <a:buFont typeface="+mj-lt"/>
              <a:buAutoNum type="alphaUcPeriod"/>
            </a:pPr>
            <a:r>
              <a:rPr lang="fr-FR" dirty="0"/>
              <a:t>Une radiothérapie thoracique seule </a:t>
            </a:r>
          </a:p>
          <a:p>
            <a:pPr marL="514350" lvl="0" indent="-514350">
              <a:buFont typeface="+mj-lt"/>
              <a:buAutoNum type="alphaUcPeriod"/>
            </a:pPr>
            <a:r>
              <a:rPr lang="fr-FR" dirty="0"/>
              <a:t>Une chimio-radiothérapie thoracique séquentielle avec radiothérapie cérébrale prophylactique </a:t>
            </a:r>
          </a:p>
          <a:p>
            <a:pPr marL="514350" lvl="0" indent="-514350">
              <a:buFont typeface="+mj-lt"/>
              <a:buAutoNum type="alphaUcPeriod"/>
            </a:pPr>
            <a:r>
              <a:rPr lang="fr-FR" dirty="0"/>
              <a:t>Une chimiothérapie +immunothérapie </a:t>
            </a:r>
          </a:p>
          <a:p>
            <a:pPr marL="514350" lvl="0" indent="-514350">
              <a:buFont typeface="+mj-lt"/>
              <a:buAutoNum type="alphaUcPeriod"/>
            </a:pPr>
            <a:r>
              <a:rPr lang="fr-FR" dirty="0">
                <a:solidFill>
                  <a:srgbClr val="FF0000"/>
                </a:solidFill>
              </a:rPr>
              <a:t>Une chimio-radiothérapie thoracique concomitante avec radiothérapie cérébrale prophylactique </a:t>
            </a:r>
          </a:p>
          <a:p>
            <a:pPr marL="514350" lvl="0" indent="-514350">
              <a:buFont typeface="+mj-lt"/>
              <a:buAutoNum type="alphaUcPeriod"/>
            </a:pPr>
            <a:r>
              <a:rPr lang="fr-FR" dirty="0"/>
              <a:t>Une chimiothérapie avec une radiothérapie cérébrale prophylactique </a:t>
            </a:r>
          </a:p>
          <a:p>
            <a:endParaRPr lang="fr-FR" dirty="0"/>
          </a:p>
        </p:txBody>
      </p:sp>
    </p:spTree>
    <p:extLst>
      <p:ext uri="{BB962C8B-B14F-4D97-AF65-F5344CB8AC3E}">
        <p14:creationId xmlns:p14="http://schemas.microsoft.com/office/powerpoint/2010/main" val="2891712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96CBCE-BD96-4893-391B-04D867F2713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981DF95-75F8-73C1-FA89-E27BEDED32E0}"/>
              </a:ext>
            </a:extLst>
          </p:cNvPr>
          <p:cNvSpPr>
            <a:spLocks noGrp="1"/>
          </p:cNvSpPr>
          <p:nvPr>
            <p:ph idx="1"/>
          </p:nvPr>
        </p:nvSpPr>
        <p:spPr/>
        <p:txBody>
          <a:bodyPr/>
          <a:lstStyle/>
          <a:p>
            <a:pPr marL="0" indent="0">
              <a:buNone/>
            </a:pPr>
            <a:r>
              <a:rPr lang="fr-FR" b="1" dirty="0"/>
              <a:t>Le traitement à visée curative d’un adénocarcinome primitif du poumon de 3 cm de diamètre du lobe supérieur droit avec expression du PDL1&gt;50% ; sans adénopathies ni métastases à distance est : </a:t>
            </a:r>
            <a:endParaRPr lang="fr-FR" dirty="0"/>
          </a:p>
          <a:p>
            <a:pPr marL="514350" lvl="0" indent="-514350">
              <a:buFont typeface="+mj-lt"/>
              <a:buAutoNum type="alphaUcPeriod"/>
            </a:pPr>
            <a:r>
              <a:rPr lang="fr-FR" dirty="0"/>
              <a:t>Une chirurgie d’exérèse </a:t>
            </a:r>
          </a:p>
          <a:p>
            <a:pPr marL="514350" lvl="0" indent="-514350">
              <a:buFont typeface="+mj-lt"/>
              <a:buAutoNum type="alphaUcPeriod"/>
            </a:pPr>
            <a:r>
              <a:rPr lang="fr-FR" dirty="0"/>
              <a:t>Une chimiothérapie et radiothérapie </a:t>
            </a:r>
          </a:p>
          <a:p>
            <a:pPr marL="514350" lvl="0" indent="-514350">
              <a:buFont typeface="+mj-lt"/>
              <a:buAutoNum type="alphaUcPeriod"/>
            </a:pPr>
            <a:r>
              <a:rPr lang="fr-FR" dirty="0"/>
              <a:t>Une radiothérapie </a:t>
            </a:r>
          </a:p>
          <a:p>
            <a:pPr marL="514350" lvl="0" indent="-514350">
              <a:buFont typeface="+mj-lt"/>
              <a:buAutoNum type="alphaUcPeriod"/>
            </a:pPr>
            <a:r>
              <a:rPr lang="fr-FR" dirty="0"/>
              <a:t>Une </a:t>
            </a:r>
            <a:r>
              <a:rPr lang="fr-FR" dirty="0" err="1"/>
              <a:t>curithérapie</a:t>
            </a:r>
            <a:r>
              <a:rPr lang="fr-FR" dirty="0"/>
              <a:t> </a:t>
            </a:r>
          </a:p>
          <a:p>
            <a:pPr marL="514350" lvl="0" indent="-514350">
              <a:buFont typeface="+mj-lt"/>
              <a:buAutoNum type="alphaUcPeriod"/>
            </a:pPr>
            <a:r>
              <a:rPr lang="fr-FR" dirty="0"/>
              <a:t>Une immunothérapie </a:t>
            </a:r>
          </a:p>
          <a:p>
            <a:endParaRPr lang="fr-FR" dirty="0"/>
          </a:p>
        </p:txBody>
      </p:sp>
    </p:spTree>
    <p:extLst>
      <p:ext uri="{BB962C8B-B14F-4D97-AF65-F5344CB8AC3E}">
        <p14:creationId xmlns:p14="http://schemas.microsoft.com/office/powerpoint/2010/main" val="15720765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B7D4C-C05E-3C26-5F08-DA990821F2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B93B88-BA06-907F-3CB9-8939A89B3C4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1FEF00B-2D68-7E72-CDB0-25D0E75379BF}"/>
              </a:ext>
            </a:extLst>
          </p:cNvPr>
          <p:cNvSpPr>
            <a:spLocks noGrp="1"/>
          </p:cNvSpPr>
          <p:nvPr>
            <p:ph idx="1"/>
          </p:nvPr>
        </p:nvSpPr>
        <p:spPr/>
        <p:txBody>
          <a:bodyPr/>
          <a:lstStyle/>
          <a:p>
            <a:pPr marL="0" indent="0">
              <a:buNone/>
            </a:pPr>
            <a:r>
              <a:rPr lang="fr-FR" b="1" dirty="0"/>
              <a:t>Le traitement à visée curative d’un adénocarcinome primitif du poumon de 3 cm de diamètre du lobe supérieur droit avec expression du PDL1&gt;50% ; sans adénopathies ni métastases à distance est : </a:t>
            </a:r>
            <a:endParaRPr lang="fr-FR" dirty="0"/>
          </a:p>
          <a:p>
            <a:pPr marL="514350" lvl="0" indent="-514350">
              <a:buFont typeface="+mj-lt"/>
              <a:buAutoNum type="alphaUcPeriod"/>
            </a:pPr>
            <a:r>
              <a:rPr lang="fr-FR" dirty="0">
                <a:solidFill>
                  <a:srgbClr val="FF0000"/>
                </a:solidFill>
              </a:rPr>
              <a:t>Une chirurgie d’exérèse </a:t>
            </a:r>
          </a:p>
          <a:p>
            <a:pPr marL="514350" lvl="0" indent="-514350">
              <a:buFont typeface="+mj-lt"/>
              <a:buAutoNum type="alphaUcPeriod"/>
            </a:pPr>
            <a:r>
              <a:rPr lang="fr-FR" dirty="0"/>
              <a:t>Une chimiothérapie et radiothérapie </a:t>
            </a:r>
          </a:p>
          <a:p>
            <a:pPr marL="514350" lvl="0" indent="-514350">
              <a:buFont typeface="+mj-lt"/>
              <a:buAutoNum type="alphaUcPeriod"/>
            </a:pPr>
            <a:r>
              <a:rPr lang="fr-FR" dirty="0"/>
              <a:t>Une radiothérapie </a:t>
            </a:r>
          </a:p>
          <a:p>
            <a:pPr marL="514350" lvl="0" indent="-514350">
              <a:buFont typeface="+mj-lt"/>
              <a:buAutoNum type="alphaUcPeriod"/>
            </a:pPr>
            <a:r>
              <a:rPr lang="fr-FR" dirty="0"/>
              <a:t>Une </a:t>
            </a:r>
            <a:r>
              <a:rPr lang="fr-FR" dirty="0" err="1"/>
              <a:t>curithérapie</a:t>
            </a:r>
            <a:r>
              <a:rPr lang="fr-FR" dirty="0"/>
              <a:t> </a:t>
            </a:r>
          </a:p>
          <a:p>
            <a:pPr marL="514350" lvl="0" indent="-514350">
              <a:buFont typeface="+mj-lt"/>
              <a:buAutoNum type="alphaUcPeriod"/>
            </a:pPr>
            <a:r>
              <a:rPr lang="fr-FR" dirty="0"/>
              <a:t>Une immunothérapie </a:t>
            </a:r>
          </a:p>
          <a:p>
            <a:endParaRPr lang="fr-FR" dirty="0"/>
          </a:p>
        </p:txBody>
      </p:sp>
    </p:spTree>
    <p:extLst>
      <p:ext uri="{BB962C8B-B14F-4D97-AF65-F5344CB8AC3E}">
        <p14:creationId xmlns:p14="http://schemas.microsoft.com/office/powerpoint/2010/main" val="3284251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6EEABF-D6A7-A7B6-344A-7FD2319951E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A3FF86D-0D09-CD2B-85AC-AFE69C4F0BD0}"/>
              </a:ext>
            </a:extLst>
          </p:cNvPr>
          <p:cNvSpPr>
            <a:spLocks noGrp="1"/>
          </p:cNvSpPr>
          <p:nvPr>
            <p:ph idx="1"/>
          </p:nvPr>
        </p:nvSpPr>
        <p:spPr/>
        <p:txBody>
          <a:bodyPr>
            <a:normAutofit fontScale="92500" lnSpcReduction="10000"/>
          </a:bodyPr>
          <a:lstStyle/>
          <a:p>
            <a:pPr marL="0" indent="0">
              <a:buNone/>
            </a:pPr>
            <a:r>
              <a:rPr lang="fr-FR" b="1" dirty="0"/>
              <a:t>Un patient âgé de 45 ans, non tabagique est hospitalisé pour douleur thoracique droite avec syndrome cave supérieur</a:t>
            </a:r>
            <a:endParaRPr lang="fr-FR" dirty="0"/>
          </a:p>
          <a:p>
            <a:pPr marL="0" indent="0">
              <a:buNone/>
            </a:pPr>
            <a:r>
              <a:rPr lang="fr-FR" b="1" dirty="0"/>
              <a:t>L’exploration a conclu à un ADK primitif pulmonaire stade </a:t>
            </a:r>
            <a:r>
              <a:rPr lang="fr-FR" b="1" dirty="0" err="1"/>
              <a:t>IVb</a:t>
            </a:r>
            <a:r>
              <a:rPr lang="fr-FR" b="1" dirty="0"/>
              <a:t>.</a:t>
            </a:r>
            <a:endParaRPr lang="fr-FR" dirty="0"/>
          </a:p>
          <a:p>
            <a:pPr marL="0" indent="0">
              <a:buNone/>
            </a:pPr>
            <a:r>
              <a:rPr lang="fr-FR" b="1" dirty="0"/>
              <a:t>L’étude moléculaire a montré une mutation de l’EGFR.</a:t>
            </a:r>
            <a:endParaRPr lang="fr-FR" dirty="0"/>
          </a:p>
          <a:p>
            <a:pPr marL="0" indent="0">
              <a:buNone/>
            </a:pPr>
            <a:r>
              <a:rPr lang="fr-FR" b="1" dirty="0"/>
              <a:t>Le traitement de première ligne indiqué pour ce patient est :</a:t>
            </a:r>
            <a:endParaRPr lang="fr-FR" dirty="0"/>
          </a:p>
          <a:p>
            <a:pPr marL="514350" lvl="0" indent="-514350">
              <a:buFont typeface="+mj-lt"/>
              <a:buAutoNum type="alphaUcPeriod"/>
            </a:pPr>
            <a:r>
              <a:rPr lang="fr-FR" dirty="0"/>
              <a:t>Chimiothérapie</a:t>
            </a:r>
          </a:p>
          <a:p>
            <a:pPr marL="514350" lvl="0" indent="-514350">
              <a:buFont typeface="+mj-lt"/>
              <a:buAutoNum type="alphaUcPeriod"/>
            </a:pPr>
            <a:r>
              <a:rPr lang="fr-FR" dirty="0"/>
              <a:t>Association radiothérapie chimiothérapie</a:t>
            </a:r>
          </a:p>
          <a:p>
            <a:pPr marL="514350" lvl="0" indent="-514350">
              <a:buFont typeface="+mj-lt"/>
              <a:buAutoNum type="alphaUcPeriod"/>
            </a:pPr>
            <a:r>
              <a:rPr lang="fr-FR" dirty="0"/>
              <a:t>Thérapie ciblée</a:t>
            </a:r>
          </a:p>
          <a:p>
            <a:pPr marL="514350" lvl="0" indent="-514350">
              <a:buFont typeface="+mj-lt"/>
              <a:buAutoNum type="alphaUcPeriod"/>
            </a:pPr>
            <a:r>
              <a:rPr lang="fr-FR" dirty="0"/>
              <a:t>Immunothérapie</a:t>
            </a:r>
          </a:p>
          <a:p>
            <a:pPr marL="514350" lvl="0" indent="-514350">
              <a:buFont typeface="+mj-lt"/>
              <a:buAutoNum type="alphaUcPeriod"/>
            </a:pPr>
            <a:r>
              <a:rPr lang="fr-FR" dirty="0"/>
              <a:t>Association thérapie ciblée immunothérapie</a:t>
            </a:r>
          </a:p>
          <a:p>
            <a:endParaRPr lang="fr-FR" dirty="0"/>
          </a:p>
        </p:txBody>
      </p:sp>
    </p:spTree>
    <p:extLst>
      <p:ext uri="{BB962C8B-B14F-4D97-AF65-F5344CB8AC3E}">
        <p14:creationId xmlns:p14="http://schemas.microsoft.com/office/powerpoint/2010/main" val="2060558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6E16-B851-D3BA-09B6-FF2131FAC8F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CBED01-11F7-E859-A981-8FD34AC55D1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08776E5-6B57-B726-D9D3-E18CA6D1F04B}"/>
              </a:ext>
            </a:extLst>
          </p:cNvPr>
          <p:cNvSpPr>
            <a:spLocks noGrp="1"/>
          </p:cNvSpPr>
          <p:nvPr>
            <p:ph idx="1"/>
          </p:nvPr>
        </p:nvSpPr>
        <p:spPr/>
        <p:txBody>
          <a:bodyPr>
            <a:normAutofit fontScale="92500" lnSpcReduction="10000"/>
          </a:bodyPr>
          <a:lstStyle/>
          <a:p>
            <a:pPr marL="0" indent="0">
              <a:buNone/>
            </a:pPr>
            <a:r>
              <a:rPr lang="fr-FR" b="1" dirty="0"/>
              <a:t>Un patient âgé de 45 ans, non tabagique est hospitalisé pour douleur thoracique droite avec syndrome cave supérieur</a:t>
            </a:r>
            <a:endParaRPr lang="fr-FR" dirty="0"/>
          </a:p>
          <a:p>
            <a:pPr marL="0" indent="0">
              <a:buNone/>
            </a:pPr>
            <a:r>
              <a:rPr lang="fr-FR" b="1" dirty="0"/>
              <a:t>L’exploration a conclu à un ADK primitif pulmonaire stade </a:t>
            </a:r>
            <a:r>
              <a:rPr lang="fr-FR" b="1" dirty="0" err="1"/>
              <a:t>IVb</a:t>
            </a:r>
            <a:r>
              <a:rPr lang="fr-FR" b="1" dirty="0"/>
              <a:t>.</a:t>
            </a:r>
            <a:endParaRPr lang="fr-FR" dirty="0"/>
          </a:p>
          <a:p>
            <a:pPr marL="0" indent="0">
              <a:buNone/>
            </a:pPr>
            <a:r>
              <a:rPr lang="fr-FR" b="1" dirty="0"/>
              <a:t>L’étude moléculaire a montré une mutation de l’EGFR.</a:t>
            </a:r>
            <a:endParaRPr lang="fr-FR" dirty="0"/>
          </a:p>
          <a:p>
            <a:pPr marL="0" indent="0">
              <a:buNone/>
            </a:pPr>
            <a:r>
              <a:rPr lang="fr-FR" b="1" dirty="0"/>
              <a:t>Le traitement de première ligne indiqué pour ce patient est :</a:t>
            </a:r>
            <a:endParaRPr lang="fr-FR" dirty="0"/>
          </a:p>
          <a:p>
            <a:pPr marL="514350" lvl="0" indent="-514350">
              <a:buFont typeface="+mj-lt"/>
              <a:buAutoNum type="alphaUcPeriod"/>
            </a:pPr>
            <a:r>
              <a:rPr lang="fr-FR" dirty="0"/>
              <a:t>Chimiothérapie</a:t>
            </a:r>
          </a:p>
          <a:p>
            <a:pPr marL="514350" lvl="0" indent="-514350">
              <a:buFont typeface="+mj-lt"/>
              <a:buAutoNum type="alphaUcPeriod"/>
            </a:pPr>
            <a:r>
              <a:rPr lang="fr-FR" dirty="0"/>
              <a:t>Association radiothérapie chimiothérapie</a:t>
            </a:r>
          </a:p>
          <a:p>
            <a:pPr marL="514350" lvl="0" indent="-514350">
              <a:buFont typeface="+mj-lt"/>
              <a:buAutoNum type="alphaUcPeriod"/>
            </a:pPr>
            <a:r>
              <a:rPr lang="fr-FR" dirty="0">
                <a:solidFill>
                  <a:srgbClr val="FF0000"/>
                </a:solidFill>
              </a:rPr>
              <a:t>Thérapie ciblée</a:t>
            </a:r>
          </a:p>
          <a:p>
            <a:pPr marL="514350" lvl="0" indent="-514350">
              <a:buFont typeface="+mj-lt"/>
              <a:buAutoNum type="alphaUcPeriod"/>
            </a:pPr>
            <a:r>
              <a:rPr lang="fr-FR" dirty="0"/>
              <a:t>Immunothérapie</a:t>
            </a:r>
          </a:p>
          <a:p>
            <a:pPr marL="514350" lvl="0" indent="-514350">
              <a:buFont typeface="+mj-lt"/>
              <a:buAutoNum type="alphaUcPeriod"/>
            </a:pPr>
            <a:r>
              <a:rPr lang="fr-FR" dirty="0"/>
              <a:t>Association thérapie ciblée immunothérapie</a:t>
            </a:r>
          </a:p>
          <a:p>
            <a:endParaRPr lang="fr-FR" dirty="0"/>
          </a:p>
        </p:txBody>
      </p:sp>
    </p:spTree>
    <p:extLst>
      <p:ext uri="{BB962C8B-B14F-4D97-AF65-F5344CB8AC3E}">
        <p14:creationId xmlns:p14="http://schemas.microsoft.com/office/powerpoint/2010/main" val="3999761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ABDB79-7B65-C56E-244B-CA005B519EE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70A46DD-5DBC-B436-1F1C-56C80511BFB0}"/>
              </a:ext>
            </a:extLst>
          </p:cNvPr>
          <p:cNvSpPr>
            <a:spLocks noGrp="1"/>
          </p:cNvSpPr>
          <p:nvPr>
            <p:ph idx="1"/>
          </p:nvPr>
        </p:nvSpPr>
        <p:spPr/>
        <p:txBody>
          <a:bodyPr/>
          <a:lstStyle/>
          <a:p>
            <a:pPr marL="0" indent="0">
              <a:buNone/>
            </a:pPr>
            <a:r>
              <a:rPr lang="fr-FR" b="1" dirty="0"/>
              <a:t>La survie à 5 ans pour le CNPC tous stades confondus est inférieure à :</a:t>
            </a:r>
            <a:endParaRPr lang="fr-FR" dirty="0"/>
          </a:p>
          <a:p>
            <a:pPr marL="514350" lvl="0" indent="-514350">
              <a:buFont typeface="+mj-lt"/>
              <a:buAutoNum type="alphaUcPeriod"/>
            </a:pPr>
            <a:r>
              <a:rPr lang="fr-FR" dirty="0"/>
              <a:t>10%</a:t>
            </a:r>
          </a:p>
          <a:p>
            <a:pPr marL="514350" lvl="0" indent="-514350">
              <a:buFont typeface="+mj-lt"/>
              <a:buAutoNum type="alphaUcPeriod"/>
            </a:pPr>
            <a:r>
              <a:rPr lang="fr-FR" dirty="0"/>
              <a:t>15%</a:t>
            </a:r>
          </a:p>
          <a:p>
            <a:pPr marL="514350" lvl="0" indent="-514350">
              <a:buFont typeface="+mj-lt"/>
              <a:buAutoNum type="alphaUcPeriod"/>
            </a:pPr>
            <a:r>
              <a:rPr lang="fr-FR" dirty="0"/>
              <a:t>30%</a:t>
            </a:r>
          </a:p>
          <a:p>
            <a:pPr marL="514350" lvl="0" indent="-514350">
              <a:buFont typeface="+mj-lt"/>
              <a:buAutoNum type="alphaUcPeriod"/>
            </a:pPr>
            <a:r>
              <a:rPr lang="fr-FR" dirty="0"/>
              <a:t>40%</a:t>
            </a:r>
          </a:p>
          <a:p>
            <a:pPr marL="514350" lvl="0" indent="-514350">
              <a:buFont typeface="+mj-lt"/>
              <a:buAutoNum type="alphaUcPeriod"/>
            </a:pPr>
            <a:r>
              <a:rPr lang="fr-FR" dirty="0"/>
              <a:t>50%</a:t>
            </a:r>
          </a:p>
          <a:p>
            <a:endParaRPr lang="fr-FR" dirty="0"/>
          </a:p>
        </p:txBody>
      </p:sp>
    </p:spTree>
    <p:extLst>
      <p:ext uri="{BB962C8B-B14F-4D97-AF65-F5344CB8AC3E}">
        <p14:creationId xmlns:p14="http://schemas.microsoft.com/office/powerpoint/2010/main" val="27644901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B74CA-74E4-58F3-75F3-0D073FBAEE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A62B95-634F-1D45-5866-FEC17A5A9CF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FE6F536-3665-E82A-1C72-4D1FBBCA62AB}"/>
              </a:ext>
            </a:extLst>
          </p:cNvPr>
          <p:cNvSpPr>
            <a:spLocks noGrp="1"/>
          </p:cNvSpPr>
          <p:nvPr>
            <p:ph idx="1"/>
          </p:nvPr>
        </p:nvSpPr>
        <p:spPr/>
        <p:txBody>
          <a:bodyPr/>
          <a:lstStyle/>
          <a:p>
            <a:pPr marL="0" indent="0">
              <a:buNone/>
            </a:pPr>
            <a:r>
              <a:rPr lang="fr-FR" b="1" dirty="0"/>
              <a:t>La survie à 5 ans pour le CNPC tous stades confondus est inférieure à :</a:t>
            </a:r>
            <a:endParaRPr lang="fr-FR" dirty="0"/>
          </a:p>
          <a:p>
            <a:pPr marL="514350" lvl="0" indent="-514350">
              <a:buFont typeface="+mj-lt"/>
              <a:buAutoNum type="alphaUcPeriod"/>
            </a:pPr>
            <a:r>
              <a:rPr lang="fr-FR" dirty="0"/>
              <a:t>10%</a:t>
            </a:r>
          </a:p>
          <a:p>
            <a:pPr marL="514350" lvl="0" indent="-514350">
              <a:buFont typeface="+mj-lt"/>
              <a:buAutoNum type="alphaUcPeriod"/>
            </a:pPr>
            <a:r>
              <a:rPr lang="fr-FR" dirty="0">
                <a:solidFill>
                  <a:srgbClr val="FF0000"/>
                </a:solidFill>
              </a:rPr>
              <a:t>15%</a:t>
            </a:r>
          </a:p>
          <a:p>
            <a:pPr marL="514350" lvl="0" indent="-514350">
              <a:buFont typeface="+mj-lt"/>
              <a:buAutoNum type="alphaUcPeriod"/>
            </a:pPr>
            <a:r>
              <a:rPr lang="fr-FR" dirty="0"/>
              <a:t>30%</a:t>
            </a:r>
          </a:p>
          <a:p>
            <a:pPr marL="514350" lvl="0" indent="-514350">
              <a:buFont typeface="+mj-lt"/>
              <a:buAutoNum type="alphaUcPeriod"/>
            </a:pPr>
            <a:r>
              <a:rPr lang="fr-FR" dirty="0"/>
              <a:t>40%</a:t>
            </a:r>
          </a:p>
          <a:p>
            <a:pPr marL="514350" lvl="0" indent="-514350">
              <a:buFont typeface="+mj-lt"/>
              <a:buAutoNum type="alphaUcPeriod"/>
            </a:pPr>
            <a:r>
              <a:rPr lang="fr-FR" dirty="0"/>
              <a:t>50%</a:t>
            </a:r>
          </a:p>
          <a:p>
            <a:endParaRPr lang="fr-FR" dirty="0"/>
          </a:p>
        </p:txBody>
      </p:sp>
    </p:spTree>
    <p:extLst>
      <p:ext uri="{BB962C8B-B14F-4D97-AF65-F5344CB8AC3E}">
        <p14:creationId xmlns:p14="http://schemas.microsoft.com/office/powerpoint/2010/main" val="1948362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DA99B-FA89-A44A-722A-1A518256AF5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3F75D04-79A0-863D-F49F-DDC18850852D}"/>
              </a:ext>
            </a:extLst>
          </p:cNvPr>
          <p:cNvSpPr>
            <a:spLocks noGrp="1"/>
          </p:cNvSpPr>
          <p:nvPr>
            <p:ph idx="1"/>
          </p:nvPr>
        </p:nvSpPr>
        <p:spPr/>
        <p:txBody>
          <a:bodyPr/>
          <a:lstStyle/>
          <a:p>
            <a:pPr marL="0" indent="0">
              <a:buNone/>
            </a:pPr>
            <a:r>
              <a:rPr lang="fr-FR" b="1" dirty="0"/>
              <a:t>Mr HG âgé de 58 ans, tabagique à 40 PA consulte pour des douleurs thoraciques gauches avec un amaigrissement de 8 kg en 3mois. L’examen physique est sans anomalies. Le </a:t>
            </a:r>
            <a:r>
              <a:rPr lang="fr-FR" b="1" dirty="0" err="1"/>
              <a:t>performans</a:t>
            </a:r>
            <a:r>
              <a:rPr lang="fr-FR" b="1" dirty="0"/>
              <a:t> </a:t>
            </a:r>
            <a:r>
              <a:rPr lang="fr-FR" b="1" dirty="0" err="1"/>
              <a:t>status</a:t>
            </a:r>
            <a:r>
              <a:rPr lang="fr-FR" b="1" dirty="0"/>
              <a:t> est à 1. La fibroscopie bronchique montre une infiltration de la bronche lobaire inférieure gauche. La biopsie bronchique conclut à un adénocarcinome pulmonaire. Le scanner thoracique met en évidence une masse lobaire inferieure gauche de 6 cm associée à 1 nodule pulmonaires droits suspects de 2 cm avec adénopathies médiastinales homolatérales.</a:t>
            </a:r>
            <a:endParaRPr lang="fr-FR" dirty="0"/>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39561051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F5FF6A-62BC-BF9B-3394-F184321D99B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6D5C534-7199-966D-9252-C97051EEC469}"/>
              </a:ext>
            </a:extLst>
          </p:cNvPr>
          <p:cNvSpPr>
            <a:spLocks noGrp="1"/>
          </p:cNvSpPr>
          <p:nvPr>
            <p:ph idx="1"/>
          </p:nvPr>
        </p:nvSpPr>
        <p:spPr/>
        <p:txBody>
          <a:bodyPr/>
          <a:lstStyle/>
          <a:p>
            <a:pPr marL="0" indent="0">
              <a:buNone/>
            </a:pPr>
            <a:r>
              <a:rPr lang="fr-FR" b="1" dirty="0"/>
              <a:t>Le reste du bilan d’extension comporte :</a:t>
            </a:r>
            <a:endParaRPr lang="fr-FR" dirty="0"/>
          </a:p>
          <a:p>
            <a:pPr marL="514350" lvl="0" indent="-514350">
              <a:buFont typeface="+mj-lt"/>
              <a:buAutoNum type="alphaUcPeriod"/>
            </a:pPr>
            <a:r>
              <a:rPr lang="fr-FR" dirty="0"/>
              <a:t>Un scanner cérébral</a:t>
            </a:r>
          </a:p>
          <a:p>
            <a:pPr marL="514350" lvl="0" indent="-514350">
              <a:buFont typeface="+mj-lt"/>
              <a:buAutoNum type="alphaUcPeriod"/>
            </a:pPr>
            <a:r>
              <a:rPr lang="fr-FR" dirty="0"/>
              <a:t>Une scintigraphie osseuse</a:t>
            </a:r>
          </a:p>
          <a:p>
            <a:pPr marL="514350" lvl="0" indent="-514350">
              <a:buFont typeface="+mj-lt"/>
              <a:buAutoNum type="alphaUcPeriod"/>
            </a:pPr>
            <a:r>
              <a:rPr lang="fr-FR" dirty="0"/>
              <a:t>Un Pet scanner</a:t>
            </a:r>
          </a:p>
          <a:p>
            <a:pPr marL="514350" lvl="0" indent="-514350">
              <a:buFont typeface="+mj-lt"/>
              <a:buAutoNum type="alphaUcPeriod"/>
            </a:pPr>
            <a:r>
              <a:rPr lang="fr-FR" dirty="0"/>
              <a:t>Une </a:t>
            </a:r>
            <a:r>
              <a:rPr lang="fr-FR" dirty="0" err="1"/>
              <a:t>echo</a:t>
            </a:r>
            <a:r>
              <a:rPr lang="fr-FR" dirty="0"/>
              <a:t> </a:t>
            </a:r>
            <a:r>
              <a:rPr lang="fr-FR" dirty="0" err="1"/>
              <a:t>vésicoprostatique</a:t>
            </a:r>
            <a:endParaRPr lang="fr-FR" dirty="0"/>
          </a:p>
          <a:p>
            <a:pPr marL="514350" lvl="0" indent="-514350">
              <a:buFont typeface="+mj-lt"/>
              <a:buAutoNum type="alphaUcPeriod"/>
            </a:pPr>
            <a:r>
              <a:rPr lang="fr-FR" dirty="0"/>
              <a:t>Un scanner abdominal</a:t>
            </a:r>
          </a:p>
          <a:p>
            <a:endParaRPr lang="fr-FR" dirty="0"/>
          </a:p>
        </p:txBody>
      </p:sp>
    </p:spTree>
    <p:extLst>
      <p:ext uri="{BB962C8B-B14F-4D97-AF65-F5344CB8AC3E}">
        <p14:creationId xmlns:p14="http://schemas.microsoft.com/office/powerpoint/2010/main" val="39853874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F14FF-47E6-4143-80E4-206954BCB2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474C609-3FF3-0049-A9E5-5C11AE3DB25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FD5879A-9482-1054-F2EA-7A9DDF662585}"/>
              </a:ext>
            </a:extLst>
          </p:cNvPr>
          <p:cNvSpPr>
            <a:spLocks noGrp="1"/>
          </p:cNvSpPr>
          <p:nvPr>
            <p:ph idx="1"/>
          </p:nvPr>
        </p:nvSpPr>
        <p:spPr/>
        <p:txBody>
          <a:bodyPr/>
          <a:lstStyle/>
          <a:p>
            <a:pPr marL="0" indent="0">
              <a:buNone/>
            </a:pPr>
            <a:r>
              <a:rPr lang="fr-FR" b="1" dirty="0"/>
              <a:t>Le reste du bilan d’extension comporte :</a:t>
            </a:r>
            <a:endParaRPr lang="fr-FR" dirty="0"/>
          </a:p>
          <a:p>
            <a:pPr marL="514350" lvl="0" indent="-514350">
              <a:buFont typeface="+mj-lt"/>
              <a:buAutoNum type="alphaUcPeriod"/>
            </a:pPr>
            <a:r>
              <a:rPr lang="fr-FR" dirty="0">
                <a:solidFill>
                  <a:srgbClr val="FF0000"/>
                </a:solidFill>
              </a:rPr>
              <a:t>Un scanner cérébral</a:t>
            </a:r>
          </a:p>
          <a:p>
            <a:pPr marL="514350" lvl="0" indent="-514350">
              <a:buFont typeface="+mj-lt"/>
              <a:buAutoNum type="alphaUcPeriod"/>
            </a:pPr>
            <a:r>
              <a:rPr lang="fr-FR" dirty="0"/>
              <a:t>Une scintigraphie osseuse</a:t>
            </a:r>
          </a:p>
          <a:p>
            <a:pPr marL="514350" lvl="0" indent="-514350">
              <a:buFont typeface="+mj-lt"/>
              <a:buAutoNum type="alphaUcPeriod"/>
            </a:pPr>
            <a:r>
              <a:rPr lang="fr-FR" dirty="0"/>
              <a:t>Un Pet scanner</a:t>
            </a:r>
          </a:p>
          <a:p>
            <a:pPr marL="514350" lvl="0" indent="-514350">
              <a:buFont typeface="+mj-lt"/>
              <a:buAutoNum type="alphaUcPeriod"/>
            </a:pPr>
            <a:r>
              <a:rPr lang="fr-FR" dirty="0"/>
              <a:t>Une </a:t>
            </a:r>
            <a:r>
              <a:rPr lang="fr-FR" dirty="0" err="1"/>
              <a:t>echo</a:t>
            </a:r>
            <a:r>
              <a:rPr lang="fr-FR" dirty="0"/>
              <a:t> </a:t>
            </a:r>
            <a:r>
              <a:rPr lang="fr-FR" dirty="0" err="1"/>
              <a:t>vésicoprostatique</a:t>
            </a:r>
            <a:endParaRPr lang="fr-FR" dirty="0"/>
          </a:p>
          <a:p>
            <a:pPr marL="514350" lvl="0" indent="-514350">
              <a:buFont typeface="+mj-lt"/>
              <a:buAutoNum type="alphaUcPeriod"/>
            </a:pPr>
            <a:r>
              <a:rPr lang="fr-FR" dirty="0">
                <a:solidFill>
                  <a:srgbClr val="FF0000"/>
                </a:solidFill>
              </a:rPr>
              <a:t>Un scanner abdominal</a:t>
            </a:r>
          </a:p>
          <a:p>
            <a:endParaRPr lang="fr-FR" dirty="0"/>
          </a:p>
        </p:txBody>
      </p:sp>
    </p:spTree>
    <p:extLst>
      <p:ext uri="{BB962C8B-B14F-4D97-AF65-F5344CB8AC3E}">
        <p14:creationId xmlns:p14="http://schemas.microsoft.com/office/powerpoint/2010/main" val="14304296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8EF24-D7FD-F720-AECE-BEEA660AAA2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8264D5-77A8-D98A-1A77-D5592980D8C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0784D83-2E0B-EBEC-21F1-1BCE9307704F}"/>
              </a:ext>
            </a:extLst>
          </p:cNvPr>
          <p:cNvSpPr>
            <a:spLocks noGrp="1"/>
          </p:cNvSpPr>
          <p:nvPr>
            <p:ph idx="1"/>
          </p:nvPr>
        </p:nvSpPr>
        <p:spPr/>
        <p:txBody>
          <a:bodyPr/>
          <a:lstStyle/>
          <a:p>
            <a:pPr marL="0" indent="0">
              <a:buNone/>
            </a:pPr>
            <a:r>
              <a:rPr lang="fr-FR" b="1" dirty="0"/>
              <a:t>Ce bilan n’a pas objectivé de métastases à distance. L’ADK est classé :</a:t>
            </a:r>
            <a:endParaRPr lang="fr-FR" dirty="0"/>
          </a:p>
          <a:p>
            <a:pPr marL="514350" lvl="0" indent="-514350">
              <a:buFont typeface="+mj-lt"/>
              <a:buAutoNum type="alphaUcPeriod"/>
            </a:pPr>
            <a:r>
              <a:rPr lang="fr-FR" dirty="0"/>
              <a:t>T3N1M1b</a:t>
            </a:r>
          </a:p>
          <a:p>
            <a:pPr marL="514350" lvl="0" indent="-514350">
              <a:buFont typeface="+mj-lt"/>
              <a:buAutoNum type="alphaUcPeriod"/>
            </a:pPr>
            <a:r>
              <a:rPr lang="fr-FR" dirty="0"/>
              <a:t>T3N2bM1a</a:t>
            </a:r>
          </a:p>
          <a:p>
            <a:pPr marL="514350" lvl="0" indent="-514350">
              <a:buFont typeface="+mj-lt"/>
              <a:buAutoNum type="alphaUcPeriod"/>
            </a:pPr>
            <a:r>
              <a:rPr lang="fr-FR" dirty="0"/>
              <a:t>T2N2bM0</a:t>
            </a:r>
          </a:p>
          <a:p>
            <a:pPr marL="514350" lvl="0" indent="-514350">
              <a:buFont typeface="+mj-lt"/>
              <a:buAutoNum type="alphaUcPeriod"/>
            </a:pPr>
            <a:r>
              <a:rPr lang="fr-FR" dirty="0"/>
              <a:t>T4N3M1c</a:t>
            </a:r>
          </a:p>
          <a:p>
            <a:pPr marL="514350" lvl="0" indent="-514350">
              <a:buFont typeface="+mj-lt"/>
              <a:buAutoNum type="alphaUcPeriod"/>
            </a:pPr>
            <a:r>
              <a:rPr lang="fr-FR" dirty="0"/>
              <a:t>T4N2bM0</a:t>
            </a:r>
            <a:r>
              <a:rPr lang="fr-FR" b="1" dirty="0"/>
              <a:t> </a:t>
            </a:r>
            <a:endParaRPr lang="fr-FR" dirty="0"/>
          </a:p>
          <a:p>
            <a:endParaRPr lang="fr-FR" dirty="0"/>
          </a:p>
        </p:txBody>
      </p:sp>
    </p:spTree>
    <p:extLst>
      <p:ext uri="{BB962C8B-B14F-4D97-AF65-F5344CB8AC3E}">
        <p14:creationId xmlns:p14="http://schemas.microsoft.com/office/powerpoint/2010/main" val="7419843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33D74-8FE8-C516-D492-D7E3F97A1BA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DA9052C-EDB7-48D2-DE41-A1E9A79E72E8}"/>
              </a:ext>
            </a:extLst>
          </p:cNvPr>
          <p:cNvSpPr>
            <a:spLocks noGrp="1"/>
          </p:cNvSpPr>
          <p:nvPr>
            <p:ph idx="1"/>
          </p:nvPr>
        </p:nvSpPr>
        <p:spPr/>
        <p:txBody>
          <a:bodyPr/>
          <a:lstStyle/>
          <a:p>
            <a:pPr marL="0" indent="0">
              <a:buNone/>
            </a:pPr>
            <a:r>
              <a:rPr lang="fr-FR" b="1" dirty="0"/>
              <a:t>Ce bilan n’a pas objectivé de métastases à distance. L’ADK est classé :</a:t>
            </a:r>
            <a:endParaRPr lang="fr-FR" dirty="0"/>
          </a:p>
          <a:p>
            <a:pPr marL="514350" lvl="0" indent="-514350">
              <a:buFont typeface="+mj-lt"/>
              <a:buAutoNum type="alphaUcPeriod"/>
            </a:pPr>
            <a:r>
              <a:rPr lang="fr-FR" dirty="0"/>
              <a:t>T3N1M1b</a:t>
            </a:r>
          </a:p>
          <a:p>
            <a:pPr marL="514350" lvl="0" indent="-514350">
              <a:buFont typeface="+mj-lt"/>
              <a:buAutoNum type="alphaUcPeriod"/>
            </a:pPr>
            <a:r>
              <a:rPr lang="fr-FR" dirty="0">
                <a:solidFill>
                  <a:srgbClr val="FF0000"/>
                </a:solidFill>
              </a:rPr>
              <a:t>T3N2bM1a</a:t>
            </a:r>
          </a:p>
          <a:p>
            <a:pPr marL="514350" lvl="0" indent="-514350">
              <a:buFont typeface="+mj-lt"/>
              <a:buAutoNum type="alphaUcPeriod"/>
            </a:pPr>
            <a:r>
              <a:rPr lang="fr-FR" dirty="0"/>
              <a:t>T2N2bM0</a:t>
            </a:r>
          </a:p>
          <a:p>
            <a:pPr marL="514350" lvl="0" indent="-514350">
              <a:buFont typeface="+mj-lt"/>
              <a:buAutoNum type="alphaUcPeriod"/>
            </a:pPr>
            <a:r>
              <a:rPr lang="fr-FR" dirty="0"/>
              <a:t>T4N3M1c</a:t>
            </a:r>
          </a:p>
          <a:p>
            <a:pPr marL="514350" lvl="0" indent="-514350">
              <a:buFont typeface="+mj-lt"/>
              <a:buAutoNum type="alphaUcPeriod"/>
            </a:pPr>
            <a:r>
              <a:rPr lang="fr-FR" dirty="0"/>
              <a:t>T4N2bM0</a:t>
            </a:r>
            <a:r>
              <a:rPr lang="fr-FR" b="1" dirty="0"/>
              <a:t> </a:t>
            </a:r>
            <a:endParaRPr lang="fr-FR" dirty="0"/>
          </a:p>
          <a:p>
            <a:endParaRPr lang="fr-FR" dirty="0"/>
          </a:p>
        </p:txBody>
      </p:sp>
    </p:spTree>
    <p:extLst>
      <p:ext uri="{BB962C8B-B14F-4D97-AF65-F5344CB8AC3E}">
        <p14:creationId xmlns:p14="http://schemas.microsoft.com/office/powerpoint/2010/main" val="40849847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CB4AB3-73F3-8B9D-DF56-4B3CE2C9229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3195F52-CA5D-CEE6-BB10-0CF826BD6E1E}"/>
              </a:ext>
            </a:extLst>
          </p:cNvPr>
          <p:cNvSpPr>
            <a:spLocks noGrp="1"/>
          </p:cNvSpPr>
          <p:nvPr>
            <p:ph idx="1"/>
          </p:nvPr>
        </p:nvSpPr>
        <p:spPr/>
        <p:txBody>
          <a:bodyPr/>
          <a:lstStyle/>
          <a:p>
            <a:pPr marL="0" indent="0">
              <a:buNone/>
            </a:pPr>
            <a:r>
              <a:rPr lang="fr-FR" b="1" dirty="0"/>
              <a:t>Le traitement de ce patient repose sur :</a:t>
            </a:r>
            <a:endParaRPr lang="fr-FR" dirty="0"/>
          </a:p>
          <a:p>
            <a:pPr marL="514350" lvl="0" indent="-514350">
              <a:buFont typeface="+mj-lt"/>
              <a:buAutoNum type="alphaUcPeriod"/>
            </a:pPr>
            <a:r>
              <a:rPr lang="fr-FR" dirty="0"/>
              <a:t>La radiothérapie thoracique</a:t>
            </a:r>
          </a:p>
          <a:p>
            <a:pPr marL="514350" lvl="0" indent="-514350">
              <a:buFont typeface="+mj-lt"/>
              <a:buAutoNum type="alphaUcPeriod"/>
            </a:pPr>
            <a:r>
              <a:rPr lang="fr-FR" dirty="0"/>
              <a:t>La chimiothérapie</a:t>
            </a:r>
          </a:p>
          <a:p>
            <a:pPr marL="514350" lvl="0" indent="-514350">
              <a:buFont typeface="+mj-lt"/>
              <a:buAutoNum type="alphaUcPeriod"/>
            </a:pPr>
            <a:r>
              <a:rPr lang="fr-FR" dirty="0"/>
              <a:t>Une lobectomie inferieure gauche</a:t>
            </a:r>
          </a:p>
          <a:p>
            <a:pPr marL="514350" lvl="0" indent="-514350">
              <a:buFont typeface="+mj-lt"/>
              <a:buAutoNum type="alphaUcPeriod"/>
            </a:pPr>
            <a:r>
              <a:rPr lang="fr-FR" dirty="0"/>
              <a:t>Une irradiation cérébrale prophylactique</a:t>
            </a:r>
          </a:p>
          <a:p>
            <a:pPr marL="514350" lvl="0" indent="-514350">
              <a:buFont typeface="+mj-lt"/>
              <a:buAutoNum type="alphaUcPeriod"/>
            </a:pPr>
            <a:r>
              <a:rPr lang="fr-FR" dirty="0"/>
              <a:t>Une hormonothérapie</a:t>
            </a:r>
          </a:p>
          <a:p>
            <a:endParaRPr lang="fr-FR" dirty="0"/>
          </a:p>
        </p:txBody>
      </p:sp>
    </p:spTree>
    <p:extLst>
      <p:ext uri="{BB962C8B-B14F-4D97-AF65-F5344CB8AC3E}">
        <p14:creationId xmlns:p14="http://schemas.microsoft.com/office/powerpoint/2010/main" val="24582353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62B52-4670-A21C-100C-8CFB0022A8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3481F3-DBEE-C9C1-B9D2-052B970E50F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98A4219-A2D0-ECFE-9B6E-B0C0DD42CF3E}"/>
              </a:ext>
            </a:extLst>
          </p:cNvPr>
          <p:cNvSpPr>
            <a:spLocks noGrp="1"/>
          </p:cNvSpPr>
          <p:nvPr>
            <p:ph idx="1"/>
          </p:nvPr>
        </p:nvSpPr>
        <p:spPr/>
        <p:txBody>
          <a:bodyPr/>
          <a:lstStyle/>
          <a:p>
            <a:pPr marL="0" indent="0">
              <a:buNone/>
            </a:pPr>
            <a:r>
              <a:rPr lang="fr-FR" b="1" dirty="0"/>
              <a:t>Le traitement de ce patient repose sur :</a:t>
            </a:r>
            <a:endParaRPr lang="fr-FR" dirty="0"/>
          </a:p>
          <a:p>
            <a:pPr marL="514350" lvl="0" indent="-514350">
              <a:buFont typeface="+mj-lt"/>
              <a:buAutoNum type="alphaUcPeriod"/>
            </a:pPr>
            <a:r>
              <a:rPr lang="fr-FR" dirty="0"/>
              <a:t>La radiothérapie thoracique</a:t>
            </a:r>
          </a:p>
          <a:p>
            <a:pPr marL="514350" lvl="0" indent="-514350">
              <a:buFont typeface="+mj-lt"/>
              <a:buAutoNum type="alphaUcPeriod"/>
            </a:pPr>
            <a:r>
              <a:rPr lang="fr-FR" dirty="0">
                <a:solidFill>
                  <a:srgbClr val="FF0000"/>
                </a:solidFill>
              </a:rPr>
              <a:t>La chimiothérapie</a:t>
            </a:r>
          </a:p>
          <a:p>
            <a:pPr marL="514350" lvl="0" indent="-514350">
              <a:buFont typeface="+mj-lt"/>
              <a:buAutoNum type="alphaUcPeriod"/>
            </a:pPr>
            <a:r>
              <a:rPr lang="fr-FR" dirty="0"/>
              <a:t>Une lobectomie inferieure gauche</a:t>
            </a:r>
          </a:p>
          <a:p>
            <a:pPr marL="514350" lvl="0" indent="-514350">
              <a:buFont typeface="+mj-lt"/>
              <a:buAutoNum type="alphaUcPeriod"/>
            </a:pPr>
            <a:r>
              <a:rPr lang="fr-FR" dirty="0"/>
              <a:t>Une irradiation cérébrale prophylactique</a:t>
            </a:r>
          </a:p>
          <a:p>
            <a:pPr marL="514350" lvl="0" indent="-514350">
              <a:buFont typeface="+mj-lt"/>
              <a:buAutoNum type="alphaUcPeriod"/>
            </a:pPr>
            <a:r>
              <a:rPr lang="fr-FR" dirty="0"/>
              <a:t>Une hormonothérapie</a:t>
            </a:r>
          </a:p>
          <a:p>
            <a:endParaRPr lang="fr-FR" dirty="0"/>
          </a:p>
        </p:txBody>
      </p:sp>
    </p:spTree>
    <p:extLst>
      <p:ext uri="{BB962C8B-B14F-4D97-AF65-F5344CB8AC3E}">
        <p14:creationId xmlns:p14="http://schemas.microsoft.com/office/powerpoint/2010/main" val="720834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00ACDA-1FC9-B499-0017-DA5085018FE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D804DEC-D8E8-A01B-54D2-A123761F9689}"/>
              </a:ext>
            </a:extLst>
          </p:cNvPr>
          <p:cNvSpPr>
            <a:spLocks noGrp="1"/>
          </p:cNvSpPr>
          <p:nvPr>
            <p:ph idx="1"/>
          </p:nvPr>
        </p:nvSpPr>
        <p:spPr/>
        <p:txBody>
          <a:bodyPr/>
          <a:lstStyle/>
          <a:p>
            <a:pPr marL="0" indent="0">
              <a:buNone/>
            </a:pPr>
            <a:r>
              <a:rPr lang="fr-FR" b="1" u="sng" dirty="0"/>
              <a:t>Cas Clinique</a:t>
            </a:r>
            <a:r>
              <a:rPr lang="fr-FR" dirty="0"/>
              <a:t>: Mr MK, âgé de 56 ans, tabagique à 60 PA, ancien ouvrier dans une mine de silice, sans ATCD pathologique consulte pour douleurs thoraciques droites évoluant depuis 5 mois, devenant très intenses, insomniantes depuis 3 semaines. L’examen physique trouve : P= 71 kg; PS=1. Examen </a:t>
            </a:r>
            <a:r>
              <a:rPr lang="fr-FR" dirty="0" err="1"/>
              <a:t>pleuro-pulmonaire</a:t>
            </a:r>
            <a:r>
              <a:rPr lang="fr-FR" dirty="0"/>
              <a:t> : normal. </a:t>
            </a:r>
          </a:p>
          <a:p>
            <a:pPr marL="0" indent="0">
              <a:buNone/>
            </a:pPr>
            <a:r>
              <a:rPr lang="fr-FR" dirty="0"/>
              <a:t>La radiographie du thorax montre une opacité hétérogène périphérique de 5 cm de grand axe siégeant au niveau du 1/3 inférieur droit. </a:t>
            </a:r>
          </a:p>
        </p:txBody>
      </p:sp>
    </p:spTree>
    <p:extLst>
      <p:ext uri="{BB962C8B-B14F-4D97-AF65-F5344CB8AC3E}">
        <p14:creationId xmlns:p14="http://schemas.microsoft.com/office/powerpoint/2010/main" val="9643310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FF6853-5481-DE1E-50A6-A28A4A1667B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753DA4B-9F9D-2B9B-110B-4B42634D052B}"/>
              </a:ext>
            </a:extLst>
          </p:cNvPr>
          <p:cNvSpPr>
            <a:spLocks noGrp="1"/>
          </p:cNvSpPr>
          <p:nvPr>
            <p:ph idx="1"/>
          </p:nvPr>
        </p:nvSpPr>
        <p:spPr/>
        <p:txBody>
          <a:bodyPr/>
          <a:lstStyle/>
          <a:p>
            <a:pPr marL="0" indent="0">
              <a:buNone/>
            </a:pPr>
            <a:r>
              <a:rPr lang="fr-FR" dirty="0"/>
              <a:t>La fibroscopie bronchique est normale. La cytologie du liquide bronchique est inflammatoire</a:t>
            </a:r>
          </a:p>
          <a:p>
            <a:pPr marL="0" indent="0">
              <a:buNone/>
            </a:pPr>
            <a:r>
              <a:rPr lang="fr-FR" dirty="0"/>
              <a:t> Le scanner thoracique montre une masse tissulaire lobaire inférieure droite de 58 mm de grand axe, partiellement nécrosée avec une extension pariétale en regard responsable de la lyse de l’arc moyen de la 6 et 7 </a:t>
            </a:r>
            <a:r>
              <a:rPr lang="fr-FR" baseline="30000" dirty="0" err="1"/>
              <a:t>ème</a:t>
            </a:r>
            <a:r>
              <a:rPr lang="fr-FR" dirty="0"/>
              <a:t> côte associée à des adénopathies inter-bronchiques homolatérales. </a:t>
            </a:r>
          </a:p>
          <a:p>
            <a:endParaRPr lang="fr-FR" dirty="0"/>
          </a:p>
        </p:txBody>
      </p:sp>
    </p:spTree>
    <p:extLst>
      <p:ext uri="{BB962C8B-B14F-4D97-AF65-F5344CB8AC3E}">
        <p14:creationId xmlns:p14="http://schemas.microsoft.com/office/powerpoint/2010/main" val="25756833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05C4D-1717-558E-FFC9-A6BADC6D434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2E31B14-B38E-79F8-F093-7E8290D494A8}"/>
              </a:ext>
            </a:extLst>
          </p:cNvPr>
          <p:cNvSpPr>
            <a:spLocks noGrp="1"/>
          </p:cNvSpPr>
          <p:nvPr>
            <p:ph idx="1"/>
          </p:nvPr>
        </p:nvSpPr>
        <p:spPr/>
        <p:txBody>
          <a:bodyPr/>
          <a:lstStyle/>
          <a:p>
            <a:pPr marL="0" indent="0">
              <a:buNone/>
            </a:pPr>
            <a:r>
              <a:rPr lang="fr-FR" b="1" dirty="0"/>
              <a:t>Pour confirmer le diagnostic vous demandez : </a:t>
            </a:r>
            <a:endParaRPr lang="fr-FR" dirty="0"/>
          </a:p>
          <a:p>
            <a:pPr marL="0" indent="0">
              <a:buNone/>
            </a:pPr>
            <a:r>
              <a:rPr lang="fr-FR" dirty="0"/>
              <a:t>A- Une biopsie ganglionnaire par </a:t>
            </a:r>
            <a:r>
              <a:rPr lang="fr-FR" dirty="0" err="1"/>
              <a:t>médiastinoscopie</a:t>
            </a:r>
            <a:r>
              <a:rPr lang="fr-FR" dirty="0"/>
              <a:t> </a:t>
            </a:r>
          </a:p>
          <a:p>
            <a:pPr marL="0" indent="0">
              <a:buNone/>
            </a:pPr>
            <a:r>
              <a:rPr lang="fr-FR" dirty="0"/>
              <a:t>B- Une biopsie ganglionnaire par écho-endoscopie bronchique </a:t>
            </a:r>
          </a:p>
          <a:p>
            <a:pPr marL="0" indent="0">
              <a:buNone/>
            </a:pPr>
            <a:r>
              <a:rPr lang="fr-FR" dirty="0"/>
              <a:t>C- Une thoracotomie </a:t>
            </a:r>
          </a:p>
          <a:p>
            <a:pPr marL="0" indent="0">
              <a:buNone/>
            </a:pPr>
            <a:r>
              <a:rPr lang="fr-FR" dirty="0"/>
              <a:t>D- Une tomographie par émission des positrons </a:t>
            </a:r>
          </a:p>
          <a:p>
            <a:pPr marL="0" indent="0">
              <a:buNone/>
            </a:pPr>
            <a:r>
              <a:rPr lang="fr-FR" dirty="0"/>
              <a:t>E- Une biopsie pulmonaire </a:t>
            </a:r>
            <a:r>
              <a:rPr lang="fr-FR" dirty="0" err="1"/>
              <a:t>trans-pariétale</a:t>
            </a:r>
            <a:r>
              <a:rPr lang="fr-FR" dirty="0"/>
              <a:t> </a:t>
            </a:r>
            <a:r>
              <a:rPr lang="fr-FR" dirty="0" err="1"/>
              <a:t>scannoguidée</a:t>
            </a:r>
            <a:r>
              <a:rPr lang="fr-FR" dirty="0"/>
              <a:t> </a:t>
            </a:r>
          </a:p>
          <a:p>
            <a:endParaRPr lang="fr-FR" dirty="0"/>
          </a:p>
        </p:txBody>
      </p:sp>
    </p:spTree>
    <p:extLst>
      <p:ext uri="{BB962C8B-B14F-4D97-AF65-F5344CB8AC3E}">
        <p14:creationId xmlns:p14="http://schemas.microsoft.com/office/powerpoint/2010/main" val="35604965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4691-4085-CC6E-BAED-525D48355D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40408C5-F6DB-FD79-CE23-4F2B2959CA8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22F30EB-CEB1-6A93-EA4F-C095815CEFD4}"/>
              </a:ext>
            </a:extLst>
          </p:cNvPr>
          <p:cNvSpPr>
            <a:spLocks noGrp="1"/>
          </p:cNvSpPr>
          <p:nvPr>
            <p:ph idx="1"/>
          </p:nvPr>
        </p:nvSpPr>
        <p:spPr/>
        <p:txBody>
          <a:bodyPr/>
          <a:lstStyle/>
          <a:p>
            <a:pPr marL="0" indent="0">
              <a:buNone/>
            </a:pPr>
            <a:r>
              <a:rPr lang="fr-FR" b="1" dirty="0"/>
              <a:t>Pour confirmer le diagnostic vous demandez : </a:t>
            </a:r>
            <a:endParaRPr lang="fr-FR" dirty="0"/>
          </a:p>
          <a:p>
            <a:pPr marL="0" indent="0">
              <a:buNone/>
            </a:pPr>
            <a:r>
              <a:rPr lang="fr-FR" dirty="0"/>
              <a:t>A- Une biopsie ganglionnaire par </a:t>
            </a:r>
            <a:r>
              <a:rPr lang="fr-FR" dirty="0" err="1"/>
              <a:t>médiastinoscopie</a:t>
            </a:r>
            <a:r>
              <a:rPr lang="fr-FR" dirty="0"/>
              <a:t> </a:t>
            </a:r>
          </a:p>
          <a:p>
            <a:pPr marL="0" indent="0">
              <a:buNone/>
            </a:pPr>
            <a:r>
              <a:rPr lang="fr-FR" dirty="0"/>
              <a:t>B- Une biopsie ganglionnaire par écho-endoscopie bronchique </a:t>
            </a:r>
          </a:p>
          <a:p>
            <a:pPr marL="0" indent="0">
              <a:buNone/>
            </a:pPr>
            <a:r>
              <a:rPr lang="fr-FR" dirty="0"/>
              <a:t>C- Une thoracotomie </a:t>
            </a:r>
          </a:p>
          <a:p>
            <a:pPr marL="0" indent="0">
              <a:buNone/>
            </a:pPr>
            <a:r>
              <a:rPr lang="fr-FR" dirty="0"/>
              <a:t>D- Une tomographie par émission des positrons </a:t>
            </a:r>
          </a:p>
          <a:p>
            <a:pPr marL="0" indent="0">
              <a:buNone/>
            </a:pPr>
            <a:r>
              <a:rPr lang="fr-FR" dirty="0">
                <a:solidFill>
                  <a:srgbClr val="FF0000"/>
                </a:solidFill>
              </a:rPr>
              <a:t>E- Une biopsie pulmonaire </a:t>
            </a:r>
            <a:r>
              <a:rPr lang="fr-FR" dirty="0" err="1">
                <a:solidFill>
                  <a:srgbClr val="FF0000"/>
                </a:solidFill>
              </a:rPr>
              <a:t>trans-pariétale</a:t>
            </a:r>
            <a:r>
              <a:rPr lang="fr-FR" dirty="0">
                <a:solidFill>
                  <a:srgbClr val="FF0000"/>
                </a:solidFill>
              </a:rPr>
              <a:t> </a:t>
            </a:r>
            <a:r>
              <a:rPr lang="fr-FR" dirty="0" err="1">
                <a:solidFill>
                  <a:srgbClr val="FF0000"/>
                </a:solidFill>
              </a:rPr>
              <a:t>scannoguidée</a:t>
            </a:r>
            <a:r>
              <a:rPr lang="fr-FR" dirty="0">
                <a:solidFill>
                  <a:srgbClr val="FF0000"/>
                </a:solidFill>
              </a:rPr>
              <a:t> </a:t>
            </a:r>
          </a:p>
          <a:p>
            <a:endParaRPr lang="fr-FR" dirty="0"/>
          </a:p>
        </p:txBody>
      </p:sp>
    </p:spTree>
    <p:extLst>
      <p:ext uri="{BB962C8B-B14F-4D97-AF65-F5344CB8AC3E}">
        <p14:creationId xmlns:p14="http://schemas.microsoft.com/office/powerpoint/2010/main" val="40000142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1138A3-62DD-A6FA-C2D0-E8F6418A310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471A563-A864-8682-7FD4-55F5B712CFD0}"/>
              </a:ext>
            </a:extLst>
          </p:cNvPr>
          <p:cNvSpPr>
            <a:spLocks noGrp="1"/>
          </p:cNvSpPr>
          <p:nvPr>
            <p:ph idx="1"/>
          </p:nvPr>
        </p:nvSpPr>
        <p:spPr/>
        <p:txBody>
          <a:bodyPr/>
          <a:lstStyle/>
          <a:p>
            <a:pPr marL="0" indent="0">
              <a:buNone/>
            </a:pPr>
            <a:r>
              <a:rPr lang="fr-FR" b="1" dirty="0"/>
              <a:t>Vous complétez dans le cadre du bilan d’extension chez ce patient par : </a:t>
            </a:r>
            <a:endParaRPr lang="fr-FR" dirty="0"/>
          </a:p>
          <a:p>
            <a:pPr marL="0" indent="0">
              <a:buNone/>
            </a:pPr>
            <a:r>
              <a:rPr lang="fr-FR" dirty="0"/>
              <a:t>A- Une TDM cérébrale</a:t>
            </a:r>
          </a:p>
          <a:p>
            <a:pPr marL="0" indent="0">
              <a:buNone/>
            </a:pPr>
            <a:r>
              <a:rPr lang="fr-FR" dirty="0"/>
              <a:t>B- Une TEP-TDM d’emblée </a:t>
            </a:r>
          </a:p>
          <a:p>
            <a:pPr marL="0" indent="0">
              <a:buNone/>
            </a:pPr>
            <a:r>
              <a:rPr lang="fr-FR" dirty="0"/>
              <a:t>C- Une TDM </a:t>
            </a:r>
            <a:r>
              <a:rPr lang="fr-FR" dirty="0" err="1"/>
              <a:t>abdomino</a:t>
            </a:r>
            <a:r>
              <a:rPr lang="fr-FR" dirty="0"/>
              <a:t> pelvienne</a:t>
            </a:r>
          </a:p>
          <a:p>
            <a:pPr marL="0" indent="0">
              <a:buNone/>
            </a:pPr>
            <a:r>
              <a:rPr lang="fr-FR" dirty="0"/>
              <a:t>D- Une </a:t>
            </a:r>
            <a:r>
              <a:rPr lang="fr-FR" dirty="0" err="1"/>
              <a:t>médiastinoscopie</a:t>
            </a:r>
            <a:r>
              <a:rPr lang="fr-FR" dirty="0"/>
              <a:t> </a:t>
            </a:r>
          </a:p>
          <a:p>
            <a:pPr marL="0" indent="0">
              <a:buNone/>
            </a:pPr>
            <a:r>
              <a:rPr lang="fr-FR" dirty="0"/>
              <a:t>E- Une IRM thoracique </a:t>
            </a:r>
          </a:p>
          <a:p>
            <a:endParaRPr lang="fr-FR" dirty="0"/>
          </a:p>
        </p:txBody>
      </p:sp>
    </p:spTree>
    <p:extLst>
      <p:ext uri="{BB962C8B-B14F-4D97-AF65-F5344CB8AC3E}">
        <p14:creationId xmlns:p14="http://schemas.microsoft.com/office/powerpoint/2010/main" val="41420478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32166-F0DD-F9A2-5B14-6460B3BE17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9D79DC9-8DBE-2BDE-ABC4-E2A10B4F9AF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45914C3-318E-7345-16BD-D00981DA1104}"/>
              </a:ext>
            </a:extLst>
          </p:cNvPr>
          <p:cNvSpPr>
            <a:spLocks noGrp="1"/>
          </p:cNvSpPr>
          <p:nvPr>
            <p:ph idx="1"/>
          </p:nvPr>
        </p:nvSpPr>
        <p:spPr/>
        <p:txBody>
          <a:bodyPr/>
          <a:lstStyle/>
          <a:p>
            <a:pPr marL="0" indent="0">
              <a:buNone/>
            </a:pPr>
            <a:r>
              <a:rPr lang="fr-FR" b="1" dirty="0"/>
              <a:t>Vous complétez dans le cadre du bilan d’extension chez ce patient par : </a:t>
            </a:r>
            <a:endParaRPr lang="fr-FR" dirty="0"/>
          </a:p>
          <a:p>
            <a:pPr marL="0" indent="0">
              <a:buNone/>
            </a:pPr>
            <a:r>
              <a:rPr lang="fr-FR" dirty="0">
                <a:solidFill>
                  <a:srgbClr val="FF0000"/>
                </a:solidFill>
              </a:rPr>
              <a:t>A- Une TDM cérébrale</a:t>
            </a:r>
          </a:p>
          <a:p>
            <a:pPr marL="0" indent="0">
              <a:buNone/>
            </a:pPr>
            <a:r>
              <a:rPr lang="fr-FR" dirty="0"/>
              <a:t>B- Une TEP-TDM d’emblée </a:t>
            </a:r>
          </a:p>
          <a:p>
            <a:pPr marL="0" indent="0">
              <a:buNone/>
            </a:pPr>
            <a:r>
              <a:rPr lang="fr-FR" dirty="0">
                <a:solidFill>
                  <a:srgbClr val="FF0000"/>
                </a:solidFill>
              </a:rPr>
              <a:t>C- Une TDM </a:t>
            </a:r>
            <a:r>
              <a:rPr lang="fr-FR" dirty="0" err="1">
                <a:solidFill>
                  <a:srgbClr val="FF0000"/>
                </a:solidFill>
              </a:rPr>
              <a:t>abdomino</a:t>
            </a:r>
            <a:r>
              <a:rPr lang="fr-FR" dirty="0">
                <a:solidFill>
                  <a:srgbClr val="FF0000"/>
                </a:solidFill>
              </a:rPr>
              <a:t> pelvienne</a:t>
            </a:r>
          </a:p>
          <a:p>
            <a:pPr marL="0" indent="0">
              <a:buNone/>
            </a:pPr>
            <a:r>
              <a:rPr lang="fr-FR" dirty="0"/>
              <a:t>D- Une </a:t>
            </a:r>
            <a:r>
              <a:rPr lang="fr-FR" dirty="0" err="1"/>
              <a:t>médiastinoscopie</a:t>
            </a:r>
            <a:r>
              <a:rPr lang="fr-FR" dirty="0"/>
              <a:t> </a:t>
            </a:r>
          </a:p>
          <a:p>
            <a:pPr marL="0" indent="0">
              <a:buNone/>
            </a:pPr>
            <a:r>
              <a:rPr lang="fr-FR" dirty="0"/>
              <a:t>E- Une IRM thoracique </a:t>
            </a:r>
          </a:p>
          <a:p>
            <a:endParaRPr lang="fr-FR" dirty="0"/>
          </a:p>
        </p:txBody>
      </p:sp>
    </p:spTree>
    <p:extLst>
      <p:ext uri="{BB962C8B-B14F-4D97-AF65-F5344CB8AC3E}">
        <p14:creationId xmlns:p14="http://schemas.microsoft.com/office/powerpoint/2010/main" val="22371580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A08560-2D68-EE67-FA9A-9B6EB9FF464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BD5FF1C-BB1F-9100-808F-7567D1025122}"/>
              </a:ext>
            </a:extLst>
          </p:cNvPr>
          <p:cNvSpPr>
            <a:spLocks noGrp="1"/>
          </p:cNvSpPr>
          <p:nvPr>
            <p:ph idx="1"/>
          </p:nvPr>
        </p:nvSpPr>
        <p:spPr/>
        <p:txBody>
          <a:bodyPr/>
          <a:lstStyle/>
          <a:p>
            <a:pPr marL="0" indent="0">
              <a:buNone/>
            </a:pPr>
            <a:r>
              <a:rPr lang="fr-FR" b="1" dirty="0"/>
              <a:t>Le diagnostic d’un adénocarcinome du poumon est confirmé et il n’y a pas de métastase à distance, comment classez- vous cette tumeur ? </a:t>
            </a:r>
            <a:endParaRPr lang="fr-FR" dirty="0"/>
          </a:p>
          <a:p>
            <a:pPr marL="0" indent="0">
              <a:buNone/>
            </a:pPr>
            <a:r>
              <a:rPr lang="fr-FR" dirty="0"/>
              <a:t>A- T2bN1M0 </a:t>
            </a:r>
          </a:p>
          <a:p>
            <a:pPr marL="0" indent="0">
              <a:buNone/>
            </a:pPr>
            <a:r>
              <a:rPr lang="fr-FR" dirty="0"/>
              <a:t>B- T3N1M0 </a:t>
            </a:r>
          </a:p>
          <a:p>
            <a:pPr marL="0" indent="0">
              <a:buNone/>
            </a:pPr>
            <a:r>
              <a:rPr lang="fr-FR" dirty="0"/>
              <a:t>C- T4N2M0 </a:t>
            </a:r>
          </a:p>
          <a:p>
            <a:pPr marL="0" indent="0">
              <a:buNone/>
            </a:pPr>
            <a:r>
              <a:rPr lang="fr-FR" dirty="0"/>
              <a:t>D- T2aN1M0 </a:t>
            </a:r>
          </a:p>
          <a:p>
            <a:pPr marL="0" indent="0">
              <a:buNone/>
            </a:pPr>
            <a:r>
              <a:rPr lang="fr-FR" dirty="0"/>
              <a:t>E- T1aN2M0 </a:t>
            </a:r>
          </a:p>
          <a:p>
            <a:endParaRPr lang="fr-FR" dirty="0"/>
          </a:p>
        </p:txBody>
      </p:sp>
    </p:spTree>
    <p:extLst>
      <p:ext uri="{BB962C8B-B14F-4D97-AF65-F5344CB8AC3E}">
        <p14:creationId xmlns:p14="http://schemas.microsoft.com/office/powerpoint/2010/main" val="34608528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B6C1-D76D-0BE3-9101-8672CB2CA4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7C294E-54F0-FA5E-02ED-B4E736C7EB5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593E670-7440-F647-944A-8BEE8E3767E5}"/>
              </a:ext>
            </a:extLst>
          </p:cNvPr>
          <p:cNvSpPr>
            <a:spLocks noGrp="1"/>
          </p:cNvSpPr>
          <p:nvPr>
            <p:ph idx="1"/>
          </p:nvPr>
        </p:nvSpPr>
        <p:spPr/>
        <p:txBody>
          <a:bodyPr/>
          <a:lstStyle/>
          <a:p>
            <a:pPr marL="0" indent="0">
              <a:buNone/>
            </a:pPr>
            <a:r>
              <a:rPr lang="fr-FR" b="1" dirty="0"/>
              <a:t>Le diagnostic d’un adénocarcinome du poumon est confirmé et il n’y a pas de métastase à distance, comment classez- vous cette tumeur ? </a:t>
            </a:r>
            <a:endParaRPr lang="fr-FR" dirty="0"/>
          </a:p>
          <a:p>
            <a:pPr marL="0" indent="0">
              <a:buNone/>
            </a:pPr>
            <a:r>
              <a:rPr lang="fr-FR" dirty="0"/>
              <a:t>A- T2bN1M0 </a:t>
            </a:r>
          </a:p>
          <a:p>
            <a:pPr marL="0" indent="0">
              <a:buNone/>
            </a:pPr>
            <a:r>
              <a:rPr lang="fr-FR" dirty="0">
                <a:solidFill>
                  <a:srgbClr val="FF0000"/>
                </a:solidFill>
              </a:rPr>
              <a:t>B- T3N1M0 </a:t>
            </a:r>
          </a:p>
          <a:p>
            <a:pPr marL="0" indent="0">
              <a:buNone/>
            </a:pPr>
            <a:r>
              <a:rPr lang="fr-FR" dirty="0"/>
              <a:t>C- T4N2M0 </a:t>
            </a:r>
          </a:p>
          <a:p>
            <a:pPr marL="0" indent="0">
              <a:buNone/>
            </a:pPr>
            <a:r>
              <a:rPr lang="fr-FR" dirty="0"/>
              <a:t>D- T2aN1M0 </a:t>
            </a:r>
          </a:p>
          <a:p>
            <a:pPr marL="0" indent="0">
              <a:buNone/>
            </a:pPr>
            <a:r>
              <a:rPr lang="fr-FR" dirty="0"/>
              <a:t>E- T1aN2M0 </a:t>
            </a:r>
          </a:p>
          <a:p>
            <a:endParaRPr lang="fr-FR" dirty="0"/>
          </a:p>
        </p:txBody>
      </p:sp>
    </p:spTree>
    <p:extLst>
      <p:ext uri="{BB962C8B-B14F-4D97-AF65-F5344CB8AC3E}">
        <p14:creationId xmlns:p14="http://schemas.microsoft.com/office/powerpoint/2010/main" val="37684700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752C54-496F-CF7E-534D-1F0FFBA603C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1F8CF84-6391-F7B8-3699-D2C6CF3C8D77}"/>
              </a:ext>
            </a:extLst>
          </p:cNvPr>
          <p:cNvSpPr>
            <a:spLocks noGrp="1"/>
          </p:cNvSpPr>
          <p:nvPr>
            <p:ph idx="1"/>
          </p:nvPr>
        </p:nvSpPr>
        <p:spPr/>
        <p:txBody>
          <a:bodyPr/>
          <a:lstStyle/>
          <a:p>
            <a:pPr marL="0" indent="0">
              <a:buNone/>
            </a:pPr>
            <a:r>
              <a:rPr lang="fr-FR" b="1" dirty="0"/>
              <a:t>Quel traitement proposez-vous chez ce patient ? </a:t>
            </a:r>
            <a:endParaRPr lang="fr-FR" dirty="0"/>
          </a:p>
          <a:p>
            <a:pPr marL="0" indent="0">
              <a:buNone/>
            </a:pPr>
            <a:r>
              <a:rPr lang="fr-FR" dirty="0"/>
              <a:t>A- Une radiothérapie thoracique seule </a:t>
            </a:r>
          </a:p>
          <a:p>
            <a:pPr marL="0" indent="0">
              <a:buNone/>
            </a:pPr>
            <a:r>
              <a:rPr lang="fr-FR" dirty="0"/>
              <a:t>B- Une thérapie ciblée </a:t>
            </a:r>
          </a:p>
          <a:p>
            <a:pPr marL="0" indent="0">
              <a:buNone/>
            </a:pPr>
            <a:r>
              <a:rPr lang="fr-FR" dirty="0"/>
              <a:t>C- Une chimiothérapie seule </a:t>
            </a:r>
          </a:p>
          <a:p>
            <a:pPr marL="0" indent="0">
              <a:buNone/>
            </a:pPr>
            <a:r>
              <a:rPr lang="fr-FR" dirty="0"/>
              <a:t>D- Une chirurgie avec un traitement adjuvant </a:t>
            </a:r>
          </a:p>
          <a:p>
            <a:pPr marL="0" indent="0">
              <a:buNone/>
            </a:pPr>
            <a:r>
              <a:rPr lang="fr-FR" dirty="0"/>
              <a:t>E- Une chirurgie seule</a:t>
            </a:r>
          </a:p>
          <a:p>
            <a:endParaRPr lang="fr-FR" dirty="0"/>
          </a:p>
        </p:txBody>
      </p:sp>
    </p:spTree>
    <p:extLst>
      <p:ext uri="{BB962C8B-B14F-4D97-AF65-F5344CB8AC3E}">
        <p14:creationId xmlns:p14="http://schemas.microsoft.com/office/powerpoint/2010/main" val="31418952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1873-1A27-78BA-8CA2-2790BCC6C1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278B6D-DBE7-9920-84DC-A9880304A15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D8A3C59-0D27-EFAD-2612-D9495C418156}"/>
              </a:ext>
            </a:extLst>
          </p:cNvPr>
          <p:cNvSpPr>
            <a:spLocks noGrp="1"/>
          </p:cNvSpPr>
          <p:nvPr>
            <p:ph idx="1"/>
          </p:nvPr>
        </p:nvSpPr>
        <p:spPr/>
        <p:txBody>
          <a:bodyPr/>
          <a:lstStyle/>
          <a:p>
            <a:pPr marL="0" indent="0">
              <a:buNone/>
            </a:pPr>
            <a:r>
              <a:rPr lang="fr-FR" b="1" dirty="0"/>
              <a:t>Quel traitement proposez-vous chez ce patient ? </a:t>
            </a:r>
            <a:endParaRPr lang="fr-FR" dirty="0"/>
          </a:p>
          <a:p>
            <a:pPr marL="0" indent="0">
              <a:buNone/>
            </a:pPr>
            <a:r>
              <a:rPr lang="fr-FR" dirty="0"/>
              <a:t>A- Une radiothérapie thoracique seule </a:t>
            </a:r>
          </a:p>
          <a:p>
            <a:pPr marL="0" indent="0">
              <a:buNone/>
            </a:pPr>
            <a:r>
              <a:rPr lang="fr-FR" dirty="0"/>
              <a:t>B- Une thérapie ciblée </a:t>
            </a:r>
          </a:p>
          <a:p>
            <a:pPr marL="0" indent="0">
              <a:buNone/>
            </a:pPr>
            <a:r>
              <a:rPr lang="fr-FR" dirty="0"/>
              <a:t>C- Une chimiothérapie seule </a:t>
            </a:r>
          </a:p>
          <a:p>
            <a:pPr marL="0" indent="0">
              <a:buNone/>
            </a:pPr>
            <a:r>
              <a:rPr lang="fr-FR" dirty="0">
                <a:solidFill>
                  <a:srgbClr val="FF0000"/>
                </a:solidFill>
              </a:rPr>
              <a:t>D- Une chirurgie avec un traitement adjuvant </a:t>
            </a:r>
          </a:p>
          <a:p>
            <a:pPr marL="0" indent="0">
              <a:buNone/>
            </a:pPr>
            <a:r>
              <a:rPr lang="fr-FR" dirty="0"/>
              <a:t>E- Une chirurgie seule</a:t>
            </a:r>
          </a:p>
          <a:p>
            <a:endParaRPr lang="fr-FR" dirty="0"/>
          </a:p>
        </p:txBody>
      </p:sp>
    </p:spTree>
    <p:extLst>
      <p:ext uri="{BB962C8B-B14F-4D97-AF65-F5344CB8AC3E}">
        <p14:creationId xmlns:p14="http://schemas.microsoft.com/office/powerpoint/2010/main" val="3117915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86C0B8-B95C-9EE4-DD01-E99372EE60D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142EDB4-C6F4-2FE0-6623-2D29A5EDE238}"/>
              </a:ext>
            </a:extLst>
          </p:cNvPr>
          <p:cNvSpPr>
            <a:spLocks noGrp="1"/>
          </p:cNvSpPr>
          <p:nvPr>
            <p:ph idx="1"/>
          </p:nvPr>
        </p:nvSpPr>
        <p:spPr/>
        <p:txBody>
          <a:bodyPr>
            <a:normAutofit fontScale="92500" lnSpcReduction="20000"/>
          </a:bodyPr>
          <a:lstStyle/>
          <a:p>
            <a:pPr marL="0" indent="0">
              <a:buNone/>
            </a:pPr>
            <a:r>
              <a:rPr lang="fr-FR" b="1" dirty="0"/>
              <a:t>Une femme âgée de 65 ans, non tabagique, ATCD cancer du colon opéré avec CT adjuvante il y a 5 ans, consulte pour hémoptysie récidivante avec AEG et fièvre.</a:t>
            </a:r>
          </a:p>
          <a:p>
            <a:pPr marL="0" indent="0">
              <a:buNone/>
            </a:pPr>
            <a:r>
              <a:rPr lang="fr-FR" b="1" dirty="0"/>
              <a:t>La radiographie thoracique montre une opacité peu dense mal limitée  hétérogène au niveau du 1/3 supérieur du CP droit</a:t>
            </a:r>
          </a:p>
          <a:p>
            <a:pPr marL="0" indent="0">
              <a:buNone/>
            </a:pPr>
            <a:r>
              <a:rPr lang="fr-FR" b="1" dirty="0"/>
              <a:t>Le(s) diagnostic(s) à évoquer chez cette patiente:</a:t>
            </a:r>
          </a:p>
          <a:p>
            <a:pPr marL="0" indent="0">
              <a:buNone/>
            </a:pPr>
            <a:r>
              <a:rPr lang="fr-FR" dirty="0"/>
              <a:t>A- cancer primitif pulmonaire</a:t>
            </a:r>
          </a:p>
          <a:p>
            <a:pPr marL="0" indent="0">
              <a:buNone/>
            </a:pPr>
            <a:r>
              <a:rPr lang="fr-FR" dirty="0"/>
              <a:t>B- PFLA</a:t>
            </a:r>
          </a:p>
          <a:p>
            <a:pPr marL="0" indent="0">
              <a:buNone/>
            </a:pPr>
            <a:r>
              <a:rPr lang="fr-FR" dirty="0"/>
              <a:t>C- métastase pulmonaire du cancer colique</a:t>
            </a:r>
          </a:p>
          <a:p>
            <a:pPr marL="0" indent="0">
              <a:buNone/>
            </a:pPr>
            <a:r>
              <a:rPr lang="fr-FR" dirty="0"/>
              <a:t>D- TBC pulmonaire</a:t>
            </a:r>
          </a:p>
          <a:p>
            <a:pPr marL="0" indent="0">
              <a:buNone/>
            </a:pPr>
            <a:r>
              <a:rPr lang="fr-FR" dirty="0"/>
              <a:t>E- abcès du poumon</a:t>
            </a:r>
          </a:p>
        </p:txBody>
      </p:sp>
    </p:spTree>
    <p:extLst>
      <p:ext uri="{BB962C8B-B14F-4D97-AF65-F5344CB8AC3E}">
        <p14:creationId xmlns:p14="http://schemas.microsoft.com/office/powerpoint/2010/main" val="2156555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F583-B61D-B7D7-4059-A9F75190B1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208005-FDE5-D440-1756-C945FB4C2E5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1DCC9DF-677A-94CB-11A0-591D1FB17ECA}"/>
              </a:ext>
            </a:extLst>
          </p:cNvPr>
          <p:cNvSpPr>
            <a:spLocks noGrp="1"/>
          </p:cNvSpPr>
          <p:nvPr>
            <p:ph idx="1"/>
          </p:nvPr>
        </p:nvSpPr>
        <p:spPr/>
        <p:txBody>
          <a:bodyPr>
            <a:normAutofit fontScale="92500" lnSpcReduction="20000"/>
          </a:bodyPr>
          <a:lstStyle/>
          <a:p>
            <a:pPr marL="0" indent="0">
              <a:buNone/>
            </a:pPr>
            <a:r>
              <a:rPr lang="fr-FR" b="1" dirty="0"/>
              <a:t>Une femme âgée de 65 ans, non tabagique, ATCD cancer du colon opéré avec CT adjuvante il y a 5 ans, consulte pour hémoptysie récidivante avec AEG et fièvre.</a:t>
            </a:r>
          </a:p>
          <a:p>
            <a:pPr marL="0" indent="0">
              <a:buNone/>
            </a:pPr>
            <a:r>
              <a:rPr lang="fr-FR" b="1" dirty="0"/>
              <a:t>La radiographie thoracique montre une opacité peu dense mal limitée  hétérogène au niveau du 1/3 supérieur du CP droit</a:t>
            </a:r>
          </a:p>
          <a:p>
            <a:pPr marL="0" indent="0">
              <a:buNone/>
            </a:pPr>
            <a:r>
              <a:rPr lang="fr-FR" b="1" dirty="0"/>
              <a:t>Le(s) diagnostic(s) à évoquer chez cette patiente:</a:t>
            </a:r>
          </a:p>
          <a:p>
            <a:pPr marL="0" indent="0">
              <a:buNone/>
            </a:pPr>
            <a:r>
              <a:rPr lang="fr-FR" dirty="0">
                <a:solidFill>
                  <a:srgbClr val="FF0000"/>
                </a:solidFill>
              </a:rPr>
              <a:t>A- cancer primitif pulmonaire</a:t>
            </a:r>
          </a:p>
          <a:p>
            <a:pPr marL="0" indent="0">
              <a:buNone/>
            </a:pPr>
            <a:r>
              <a:rPr lang="fr-FR" dirty="0"/>
              <a:t>B- PFLA</a:t>
            </a:r>
          </a:p>
          <a:p>
            <a:pPr marL="0" indent="0">
              <a:buNone/>
            </a:pPr>
            <a:r>
              <a:rPr lang="fr-FR" dirty="0">
                <a:solidFill>
                  <a:srgbClr val="FF0000"/>
                </a:solidFill>
              </a:rPr>
              <a:t>C- métastase pulmonaire du cancer colique</a:t>
            </a:r>
          </a:p>
          <a:p>
            <a:pPr marL="0" indent="0">
              <a:buNone/>
            </a:pPr>
            <a:r>
              <a:rPr lang="fr-FR" dirty="0">
                <a:solidFill>
                  <a:srgbClr val="FF0000"/>
                </a:solidFill>
              </a:rPr>
              <a:t>D- TBC pulmonaire</a:t>
            </a:r>
          </a:p>
          <a:p>
            <a:pPr marL="0" indent="0">
              <a:buNone/>
            </a:pPr>
            <a:r>
              <a:rPr lang="fr-FR" dirty="0">
                <a:solidFill>
                  <a:schemeClr val="accent4">
                    <a:lumMod val="75000"/>
                  </a:schemeClr>
                </a:solidFill>
              </a:rPr>
              <a:t>E- abcès du poumon</a:t>
            </a:r>
          </a:p>
        </p:txBody>
      </p:sp>
    </p:spTree>
    <p:extLst>
      <p:ext uri="{BB962C8B-B14F-4D97-AF65-F5344CB8AC3E}">
        <p14:creationId xmlns:p14="http://schemas.microsoft.com/office/powerpoint/2010/main" val="26385751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08226D-4F9E-0C29-1620-F898944F9BA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5BE8E2D-F8B6-E2C3-17B7-0AFFD33B9D4D}"/>
              </a:ext>
            </a:extLst>
          </p:cNvPr>
          <p:cNvSpPr>
            <a:spLocks noGrp="1"/>
          </p:cNvSpPr>
          <p:nvPr>
            <p:ph idx="1"/>
          </p:nvPr>
        </p:nvSpPr>
        <p:spPr/>
        <p:txBody>
          <a:bodyPr>
            <a:normAutofit lnSpcReduction="10000"/>
          </a:bodyPr>
          <a:lstStyle/>
          <a:p>
            <a:pPr marL="0" indent="0">
              <a:buNone/>
            </a:pPr>
            <a:r>
              <a:rPr lang="fr-FR" b="1" dirty="0"/>
              <a:t>Bilan biologique normal(NFS, CRP, Fonction rénale et hépatique, recherche de BAAR)</a:t>
            </a:r>
          </a:p>
          <a:p>
            <a:pPr marL="0" indent="0">
              <a:buNone/>
            </a:pPr>
            <a:r>
              <a:rPr lang="fr-FR" b="1" dirty="0"/>
              <a:t>Vous complétez l’exploration par:</a:t>
            </a:r>
          </a:p>
          <a:p>
            <a:pPr marL="0" indent="0">
              <a:buNone/>
            </a:pPr>
            <a:r>
              <a:rPr lang="fr-FR" dirty="0">
                <a:solidFill>
                  <a:srgbClr val="FF0000"/>
                </a:solidFill>
              </a:rPr>
              <a:t>A- fibroscopie bronchique</a:t>
            </a:r>
          </a:p>
          <a:p>
            <a:pPr marL="0" indent="0">
              <a:buNone/>
            </a:pPr>
            <a:r>
              <a:rPr lang="fr-FR" dirty="0">
                <a:solidFill>
                  <a:srgbClr val="FF0000"/>
                </a:solidFill>
              </a:rPr>
              <a:t>B- TDM thoraco-abdominale</a:t>
            </a:r>
          </a:p>
          <a:p>
            <a:pPr marL="0" indent="0">
              <a:buNone/>
            </a:pPr>
            <a:r>
              <a:rPr lang="fr-FR" dirty="0">
                <a:solidFill>
                  <a:srgbClr val="FF0000"/>
                </a:solidFill>
              </a:rPr>
              <a:t>C- coloscopie</a:t>
            </a:r>
          </a:p>
          <a:p>
            <a:pPr marL="0" indent="0">
              <a:buNone/>
            </a:pPr>
            <a:r>
              <a:rPr lang="fr-FR" dirty="0"/>
              <a:t>D- dosage de PSA</a:t>
            </a:r>
          </a:p>
          <a:p>
            <a:pPr marL="0" indent="0">
              <a:buNone/>
            </a:pPr>
            <a:r>
              <a:rPr lang="fr-FR" dirty="0"/>
              <a:t>E- dosage ACE</a:t>
            </a:r>
          </a:p>
          <a:p>
            <a:pPr marL="0" indent="0">
              <a:buNone/>
            </a:pPr>
            <a:r>
              <a:rPr lang="fr-FR" dirty="0"/>
              <a:t>   </a:t>
            </a:r>
          </a:p>
        </p:txBody>
      </p:sp>
    </p:spTree>
    <p:extLst>
      <p:ext uri="{BB962C8B-B14F-4D97-AF65-F5344CB8AC3E}">
        <p14:creationId xmlns:p14="http://schemas.microsoft.com/office/powerpoint/2010/main" val="828403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77F09-2B8B-C2CF-F543-F6B43DB8FCB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ED39E05-BFE1-B186-9A1D-79386671E262}"/>
              </a:ext>
            </a:extLst>
          </p:cNvPr>
          <p:cNvSpPr>
            <a:spLocks noGrp="1"/>
          </p:cNvSpPr>
          <p:nvPr>
            <p:ph idx="1"/>
          </p:nvPr>
        </p:nvSpPr>
        <p:spPr/>
        <p:txBody>
          <a:bodyPr/>
          <a:lstStyle/>
          <a:p>
            <a:pPr marL="0" indent="0">
              <a:buNone/>
            </a:pPr>
            <a:r>
              <a:rPr lang="fr-FR" b="1" dirty="0"/>
              <a:t>Ce bilan complété par une biopsie pulmonaire a conclu à un ADK primitif pulmonaire stade IIA exprimant le PDL1</a:t>
            </a:r>
          </a:p>
          <a:p>
            <a:pPr marL="0" indent="0">
              <a:buNone/>
            </a:pPr>
            <a:r>
              <a:rPr lang="fr-FR" b="1" dirty="0"/>
              <a:t>Le bilan pré thérapeutique comprend:</a:t>
            </a:r>
          </a:p>
          <a:p>
            <a:pPr marL="0" indent="0">
              <a:buNone/>
            </a:pPr>
            <a:r>
              <a:rPr lang="fr-FR" dirty="0"/>
              <a:t>A- évaluation de l’état général</a:t>
            </a:r>
          </a:p>
          <a:p>
            <a:pPr marL="0" indent="0">
              <a:buNone/>
            </a:pPr>
            <a:r>
              <a:rPr lang="fr-FR" dirty="0"/>
              <a:t>B- une spirométrie </a:t>
            </a:r>
          </a:p>
          <a:p>
            <a:pPr marL="0" indent="0">
              <a:buNone/>
            </a:pPr>
            <a:r>
              <a:rPr lang="fr-FR" dirty="0"/>
              <a:t>C- une échographie cardiaque</a:t>
            </a:r>
          </a:p>
          <a:p>
            <a:pPr marL="0" indent="0">
              <a:buNone/>
            </a:pPr>
            <a:r>
              <a:rPr lang="fr-FR" dirty="0"/>
              <a:t>D- une scintigraphie de ventilation perfusion</a:t>
            </a:r>
          </a:p>
          <a:p>
            <a:pPr marL="0" indent="0">
              <a:buNone/>
            </a:pPr>
            <a:r>
              <a:rPr lang="fr-FR" dirty="0"/>
              <a:t>E- une épreuve d’effort</a:t>
            </a:r>
          </a:p>
        </p:txBody>
      </p:sp>
    </p:spTree>
    <p:extLst>
      <p:ext uri="{BB962C8B-B14F-4D97-AF65-F5344CB8AC3E}">
        <p14:creationId xmlns:p14="http://schemas.microsoft.com/office/powerpoint/2010/main" val="39126394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ACDF6-A319-EE88-9E3F-186EBBB1C3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442F145-3DB8-5D43-8647-6316CC4027A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AE933BC-95BA-3E1F-8574-978D768D4E3B}"/>
              </a:ext>
            </a:extLst>
          </p:cNvPr>
          <p:cNvSpPr>
            <a:spLocks noGrp="1"/>
          </p:cNvSpPr>
          <p:nvPr>
            <p:ph idx="1"/>
          </p:nvPr>
        </p:nvSpPr>
        <p:spPr/>
        <p:txBody>
          <a:bodyPr/>
          <a:lstStyle/>
          <a:p>
            <a:pPr marL="0" indent="0">
              <a:buNone/>
            </a:pPr>
            <a:r>
              <a:rPr lang="fr-FR" b="1" dirty="0"/>
              <a:t>Ce bilan complété par une biopsie pulmonaire a conclu à un ADK primitif pulmonaire stade IIA exprimant le PDL1</a:t>
            </a:r>
          </a:p>
          <a:p>
            <a:pPr marL="0" indent="0">
              <a:buNone/>
            </a:pPr>
            <a:r>
              <a:rPr lang="fr-FR" b="1" dirty="0"/>
              <a:t>Le bilan pré thérapeutique comprend:</a:t>
            </a:r>
          </a:p>
          <a:p>
            <a:pPr marL="0" indent="0">
              <a:buNone/>
            </a:pPr>
            <a:r>
              <a:rPr lang="fr-FR" dirty="0">
                <a:solidFill>
                  <a:srgbClr val="FF0000"/>
                </a:solidFill>
              </a:rPr>
              <a:t>A- évaluation de l’état général</a:t>
            </a:r>
          </a:p>
          <a:p>
            <a:pPr marL="0" indent="0">
              <a:buNone/>
            </a:pPr>
            <a:r>
              <a:rPr lang="fr-FR" dirty="0">
                <a:solidFill>
                  <a:srgbClr val="FF0000"/>
                </a:solidFill>
              </a:rPr>
              <a:t>B- une spirométrie </a:t>
            </a:r>
          </a:p>
          <a:p>
            <a:pPr marL="0" indent="0">
              <a:buNone/>
            </a:pPr>
            <a:r>
              <a:rPr lang="fr-FR" dirty="0">
                <a:solidFill>
                  <a:srgbClr val="FF0000"/>
                </a:solidFill>
              </a:rPr>
              <a:t>C- une échographie cardiaque</a:t>
            </a:r>
          </a:p>
          <a:p>
            <a:pPr marL="0" indent="0">
              <a:buNone/>
            </a:pPr>
            <a:r>
              <a:rPr lang="fr-FR" dirty="0"/>
              <a:t>D- une scintigraphie de ventilation perfusion</a:t>
            </a:r>
          </a:p>
          <a:p>
            <a:pPr marL="0" indent="0">
              <a:buNone/>
            </a:pPr>
            <a:r>
              <a:rPr lang="fr-FR" dirty="0"/>
              <a:t>E- une épreuve d’effort</a:t>
            </a:r>
          </a:p>
        </p:txBody>
      </p:sp>
    </p:spTree>
    <p:extLst>
      <p:ext uri="{BB962C8B-B14F-4D97-AF65-F5344CB8AC3E}">
        <p14:creationId xmlns:p14="http://schemas.microsoft.com/office/powerpoint/2010/main" val="11121276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C2584-86EB-D164-E71F-FFC29067693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DCCB217-C173-4168-4074-4E284B7CFD27}"/>
              </a:ext>
            </a:extLst>
          </p:cNvPr>
          <p:cNvSpPr>
            <a:spLocks noGrp="1"/>
          </p:cNvSpPr>
          <p:nvPr>
            <p:ph idx="1"/>
          </p:nvPr>
        </p:nvSpPr>
        <p:spPr/>
        <p:txBody>
          <a:bodyPr/>
          <a:lstStyle/>
          <a:p>
            <a:pPr marL="0" indent="0">
              <a:buNone/>
            </a:pPr>
            <a:r>
              <a:rPr lang="fr-FR" b="1" dirty="0"/>
              <a:t>En l’absence de CI, le traitement indiqué chez cette patiente se base sur:</a:t>
            </a:r>
          </a:p>
          <a:p>
            <a:pPr marL="0" indent="0">
              <a:buNone/>
            </a:pPr>
            <a:r>
              <a:rPr lang="fr-FR" dirty="0"/>
              <a:t>A- la chirurgie </a:t>
            </a:r>
          </a:p>
          <a:p>
            <a:pPr marL="0" indent="0">
              <a:buNone/>
            </a:pPr>
            <a:r>
              <a:rPr lang="fr-FR" dirty="0"/>
              <a:t>B- la radiothérapie curative</a:t>
            </a:r>
          </a:p>
          <a:p>
            <a:pPr marL="0" indent="0">
              <a:buNone/>
            </a:pPr>
            <a:r>
              <a:rPr lang="fr-FR" dirty="0"/>
              <a:t>C- la chimiothérapie</a:t>
            </a:r>
          </a:p>
          <a:p>
            <a:pPr marL="0" indent="0">
              <a:buNone/>
            </a:pPr>
            <a:r>
              <a:rPr lang="fr-FR" dirty="0"/>
              <a:t>D- l’immunothérapie</a:t>
            </a:r>
          </a:p>
          <a:p>
            <a:pPr marL="0" indent="0">
              <a:buNone/>
            </a:pPr>
            <a:r>
              <a:rPr lang="fr-FR" dirty="0"/>
              <a:t>E- la radiothérapie stéréotaxique </a:t>
            </a:r>
          </a:p>
        </p:txBody>
      </p:sp>
    </p:spTree>
    <p:extLst>
      <p:ext uri="{BB962C8B-B14F-4D97-AF65-F5344CB8AC3E}">
        <p14:creationId xmlns:p14="http://schemas.microsoft.com/office/powerpoint/2010/main" val="33704183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1F5E5-F342-3ECE-3CDA-163449C6E7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6D1749-16CF-D6F0-F82E-E2E4AAFDDA3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A094C83-3219-8EB0-8A76-57547CF4479A}"/>
              </a:ext>
            </a:extLst>
          </p:cNvPr>
          <p:cNvSpPr>
            <a:spLocks noGrp="1"/>
          </p:cNvSpPr>
          <p:nvPr>
            <p:ph idx="1"/>
          </p:nvPr>
        </p:nvSpPr>
        <p:spPr/>
        <p:txBody>
          <a:bodyPr/>
          <a:lstStyle/>
          <a:p>
            <a:pPr marL="0" indent="0">
              <a:buNone/>
            </a:pPr>
            <a:r>
              <a:rPr lang="fr-FR" b="1" dirty="0"/>
              <a:t>En l’absence de CI, le traitement indiqué chez cette patiente se base sur:</a:t>
            </a:r>
          </a:p>
          <a:p>
            <a:pPr marL="0" indent="0">
              <a:buNone/>
            </a:pPr>
            <a:r>
              <a:rPr lang="fr-FR" dirty="0">
                <a:solidFill>
                  <a:srgbClr val="FF0000"/>
                </a:solidFill>
              </a:rPr>
              <a:t>A- la chirurgie </a:t>
            </a:r>
          </a:p>
          <a:p>
            <a:pPr marL="0" indent="0">
              <a:buNone/>
            </a:pPr>
            <a:r>
              <a:rPr lang="fr-FR" dirty="0"/>
              <a:t>B- la radiothérapie curative</a:t>
            </a:r>
          </a:p>
          <a:p>
            <a:pPr marL="0" indent="0">
              <a:buNone/>
            </a:pPr>
            <a:r>
              <a:rPr lang="fr-FR" dirty="0"/>
              <a:t>C- la chimiothérapie</a:t>
            </a:r>
          </a:p>
          <a:p>
            <a:pPr marL="0" indent="0">
              <a:buNone/>
            </a:pPr>
            <a:r>
              <a:rPr lang="fr-FR" dirty="0">
                <a:solidFill>
                  <a:srgbClr val="FF0000"/>
                </a:solidFill>
              </a:rPr>
              <a:t>D- l’immunothérapie</a:t>
            </a:r>
          </a:p>
          <a:p>
            <a:pPr marL="0" indent="0">
              <a:buNone/>
            </a:pPr>
            <a:r>
              <a:rPr lang="fr-FR" dirty="0"/>
              <a:t>E- la radiothérapie stéréotaxique </a:t>
            </a:r>
          </a:p>
        </p:txBody>
      </p:sp>
    </p:spTree>
    <p:extLst>
      <p:ext uri="{BB962C8B-B14F-4D97-AF65-F5344CB8AC3E}">
        <p14:creationId xmlns:p14="http://schemas.microsoft.com/office/powerpoint/2010/main" val="3438384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7DDB5-389D-1E77-D8EC-EE6C608286D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9A1B545-8C4B-E8FD-4560-CA42DEE015B6}"/>
              </a:ext>
            </a:extLst>
          </p:cNvPr>
          <p:cNvSpPr>
            <a:spLocks noGrp="1"/>
          </p:cNvSpPr>
          <p:nvPr>
            <p:ph idx="1"/>
          </p:nvPr>
        </p:nvSpPr>
        <p:spPr/>
        <p:txBody>
          <a:bodyPr>
            <a:normAutofit/>
          </a:bodyPr>
          <a:lstStyle/>
          <a:p>
            <a:pPr marL="0" indent="0">
              <a:buNone/>
            </a:pPr>
            <a:r>
              <a:rPr lang="fr-FR" b="1" dirty="0"/>
              <a:t>Mr R, homme âgé de 46 ans, fumeur à 15 PA sevré, sans antécédents. Consulte pour une toux apparue depuis plusieurs mois qui le  gêne de plus en plus. Pas d’altération de l’état général.  Pas de perte de poids. Performance </a:t>
            </a:r>
            <a:r>
              <a:rPr lang="fr-FR" b="1" dirty="0" err="1"/>
              <a:t>status</a:t>
            </a:r>
            <a:r>
              <a:rPr lang="fr-FR" b="1" dirty="0"/>
              <a:t> OMS = 0</a:t>
            </a:r>
          </a:p>
          <a:p>
            <a:pPr marL="0" indent="0">
              <a:buNone/>
            </a:pPr>
            <a:r>
              <a:rPr lang="fr-FR" b="1" dirty="0"/>
              <a:t>Examen physique est normal</a:t>
            </a:r>
          </a:p>
          <a:p>
            <a:pPr marL="0" indent="0">
              <a:buNone/>
            </a:pPr>
            <a:r>
              <a:rPr lang="fr-FR" b="1" dirty="0"/>
              <a:t>Endoscopie bronchique: lésion bourgeonnante de la  bronche lobaire inférieure droite</a:t>
            </a:r>
          </a:p>
          <a:p>
            <a:pPr marL="0" indent="0">
              <a:buNone/>
            </a:pPr>
            <a:r>
              <a:rPr lang="fr-FR" b="1" dirty="0"/>
              <a:t>Biopsie: adénocarcinome pulmonaire primitif . </a:t>
            </a:r>
          </a:p>
          <a:p>
            <a:pPr marL="0" indent="0">
              <a:buNone/>
            </a:pPr>
            <a:r>
              <a:rPr lang="fr-FR" i="1" dirty="0"/>
              <a:t> </a:t>
            </a:r>
            <a:endParaRPr lang="fr-FR" dirty="0"/>
          </a:p>
          <a:p>
            <a:endParaRPr lang="fr-FR" dirty="0"/>
          </a:p>
        </p:txBody>
      </p:sp>
    </p:spTree>
    <p:extLst>
      <p:ext uri="{BB962C8B-B14F-4D97-AF65-F5344CB8AC3E}">
        <p14:creationId xmlns:p14="http://schemas.microsoft.com/office/powerpoint/2010/main" val="35700602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C82690-DE24-165A-8D50-BF92A1BAA2E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3DAD2DC-A8F7-FF33-824C-278B323ABC91}"/>
              </a:ext>
            </a:extLst>
          </p:cNvPr>
          <p:cNvSpPr>
            <a:spLocks noGrp="1"/>
          </p:cNvSpPr>
          <p:nvPr>
            <p:ph idx="1"/>
          </p:nvPr>
        </p:nvSpPr>
        <p:spPr/>
        <p:txBody>
          <a:bodyPr/>
          <a:lstStyle/>
          <a:p>
            <a:pPr marL="0" indent="0">
              <a:buNone/>
            </a:pPr>
            <a:r>
              <a:rPr lang="fr-FR" b="1" dirty="0"/>
              <a:t>IRM cérébrale normale</a:t>
            </a:r>
          </a:p>
          <a:p>
            <a:pPr marL="0" indent="0">
              <a:buNone/>
            </a:pPr>
            <a:r>
              <a:rPr lang="fr-FR" b="1" dirty="0"/>
              <a:t>Exploration fonctionnelle respiratoire normale </a:t>
            </a:r>
          </a:p>
          <a:p>
            <a:pPr marL="0" indent="0">
              <a:buNone/>
            </a:pPr>
            <a:r>
              <a:rPr lang="fr-FR" b="1" dirty="0"/>
              <a:t>Pet scanner au 18 </a:t>
            </a:r>
            <a:r>
              <a:rPr lang="fr-FR" b="1" dirty="0" err="1"/>
              <a:t>Fluoro</a:t>
            </a:r>
            <a:r>
              <a:rPr lang="fr-FR" b="1" dirty="0"/>
              <a:t>-</a:t>
            </a:r>
            <a:r>
              <a:rPr lang="fr-FR" b="1" dirty="0" err="1"/>
              <a:t>deoxy</a:t>
            </a:r>
            <a:r>
              <a:rPr lang="fr-FR" b="1" dirty="0"/>
              <a:t>-glucose: Tumeur pulmonaire du lobe inférieure droit  mesurée à 75 mm de plus grand diamètre. Adénopathie hilaire droite (11R), sous </a:t>
            </a:r>
            <a:r>
              <a:rPr lang="fr-FR" b="1" dirty="0" err="1"/>
              <a:t>carénaire</a:t>
            </a:r>
            <a:r>
              <a:rPr lang="fr-FR" b="1" dirty="0"/>
              <a:t> (7), para trachéale droite (4R et 2R). Pas de lésions métastatiques à distance.</a:t>
            </a:r>
          </a:p>
          <a:p>
            <a:pPr marL="0" indent="0">
              <a:buNone/>
            </a:pPr>
            <a:endParaRPr lang="fr-FR" dirty="0"/>
          </a:p>
        </p:txBody>
      </p:sp>
    </p:spTree>
    <p:extLst>
      <p:ext uri="{BB962C8B-B14F-4D97-AF65-F5344CB8AC3E}">
        <p14:creationId xmlns:p14="http://schemas.microsoft.com/office/powerpoint/2010/main" val="20767123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33AF5F-8823-A4EB-80C8-C23A869369A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9304203-3482-EACD-77B8-D6D13C46B4C4}"/>
              </a:ext>
            </a:extLst>
          </p:cNvPr>
          <p:cNvSpPr>
            <a:spLocks noGrp="1"/>
          </p:cNvSpPr>
          <p:nvPr>
            <p:ph idx="1"/>
          </p:nvPr>
        </p:nvSpPr>
        <p:spPr/>
        <p:txBody>
          <a:bodyPr/>
          <a:lstStyle/>
          <a:p>
            <a:pPr marL="0" indent="0">
              <a:buNone/>
            </a:pPr>
            <a:r>
              <a:rPr lang="fr-FR" b="1" dirty="0"/>
              <a:t>Selon la classification TNM, l’ADK est classé:</a:t>
            </a:r>
          </a:p>
          <a:p>
            <a:pPr marL="0" indent="0">
              <a:buNone/>
            </a:pPr>
            <a:r>
              <a:rPr lang="fr-FR" dirty="0"/>
              <a:t>A- T3N2aM0</a:t>
            </a:r>
          </a:p>
          <a:p>
            <a:pPr marL="0" indent="0">
              <a:buNone/>
            </a:pPr>
            <a:r>
              <a:rPr lang="fr-FR" dirty="0"/>
              <a:t>B- T4N2bM0</a:t>
            </a:r>
          </a:p>
          <a:p>
            <a:pPr marL="0" indent="0">
              <a:buNone/>
            </a:pPr>
            <a:r>
              <a:rPr lang="fr-FR" dirty="0"/>
              <a:t>C- T4N3M0</a:t>
            </a:r>
          </a:p>
          <a:p>
            <a:pPr marL="0" indent="0">
              <a:buNone/>
            </a:pPr>
            <a:r>
              <a:rPr lang="fr-FR" dirty="0"/>
              <a:t>D- T3N3M0</a:t>
            </a:r>
          </a:p>
          <a:p>
            <a:pPr marL="0" indent="0">
              <a:buNone/>
            </a:pPr>
            <a:r>
              <a:rPr lang="fr-FR" dirty="0"/>
              <a:t>E- T4N2aM0 </a:t>
            </a:r>
          </a:p>
        </p:txBody>
      </p:sp>
    </p:spTree>
    <p:extLst>
      <p:ext uri="{BB962C8B-B14F-4D97-AF65-F5344CB8AC3E}">
        <p14:creationId xmlns:p14="http://schemas.microsoft.com/office/powerpoint/2010/main" val="34359199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63EF-ED16-2EAA-D2DC-69630C4DF0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76004F4-D36F-3D4B-0BB2-5599011FAAE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4AA10CF-61BF-9C38-C0B7-757FFE0FF9E6}"/>
              </a:ext>
            </a:extLst>
          </p:cNvPr>
          <p:cNvSpPr>
            <a:spLocks noGrp="1"/>
          </p:cNvSpPr>
          <p:nvPr>
            <p:ph idx="1"/>
          </p:nvPr>
        </p:nvSpPr>
        <p:spPr/>
        <p:txBody>
          <a:bodyPr/>
          <a:lstStyle/>
          <a:p>
            <a:pPr marL="0" indent="0">
              <a:buNone/>
            </a:pPr>
            <a:r>
              <a:rPr lang="fr-FR" b="1" dirty="0"/>
              <a:t>Selon la classification TNM, l’ADK est classé:</a:t>
            </a:r>
          </a:p>
          <a:p>
            <a:pPr marL="0" indent="0">
              <a:buNone/>
            </a:pPr>
            <a:r>
              <a:rPr lang="fr-FR" dirty="0"/>
              <a:t>A- T3N2aM0</a:t>
            </a:r>
          </a:p>
          <a:p>
            <a:pPr marL="0" indent="0">
              <a:buNone/>
            </a:pPr>
            <a:r>
              <a:rPr lang="fr-FR" dirty="0">
                <a:solidFill>
                  <a:srgbClr val="FF0000"/>
                </a:solidFill>
              </a:rPr>
              <a:t>B- T4N2bM0</a:t>
            </a:r>
          </a:p>
          <a:p>
            <a:pPr marL="0" indent="0">
              <a:buNone/>
            </a:pPr>
            <a:r>
              <a:rPr lang="fr-FR" dirty="0"/>
              <a:t>C- T4N3M0</a:t>
            </a:r>
          </a:p>
          <a:p>
            <a:pPr marL="0" indent="0">
              <a:buNone/>
            </a:pPr>
            <a:r>
              <a:rPr lang="fr-FR" dirty="0"/>
              <a:t>D- T3N3M0</a:t>
            </a:r>
          </a:p>
          <a:p>
            <a:pPr marL="0" indent="0">
              <a:buNone/>
            </a:pPr>
            <a:r>
              <a:rPr lang="fr-FR" dirty="0"/>
              <a:t>E- T4N2aM0 </a:t>
            </a:r>
          </a:p>
        </p:txBody>
      </p:sp>
    </p:spTree>
    <p:extLst>
      <p:ext uri="{BB962C8B-B14F-4D97-AF65-F5344CB8AC3E}">
        <p14:creationId xmlns:p14="http://schemas.microsoft.com/office/powerpoint/2010/main" val="2586539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A83AA8-C942-B9D2-38D7-FD0193309EE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C82A2EC-0647-7186-C990-54470E56A11F}"/>
              </a:ext>
            </a:extLst>
          </p:cNvPr>
          <p:cNvSpPr>
            <a:spLocks noGrp="1"/>
          </p:cNvSpPr>
          <p:nvPr>
            <p:ph idx="1"/>
          </p:nvPr>
        </p:nvSpPr>
        <p:spPr/>
        <p:txBody>
          <a:bodyPr/>
          <a:lstStyle/>
          <a:p>
            <a:pPr marL="0" indent="0">
              <a:buNone/>
            </a:pPr>
            <a:r>
              <a:rPr lang="fr-FR" b="1" dirty="0"/>
              <a:t>Quel est le stade de l’ADK  diagnostiqué chez Mr R?</a:t>
            </a:r>
            <a:endParaRPr lang="fr-FR" dirty="0"/>
          </a:p>
          <a:p>
            <a:pPr marL="0" indent="0">
              <a:buNone/>
            </a:pPr>
            <a:r>
              <a:rPr lang="fr-FR" dirty="0"/>
              <a:t>A- IIB</a:t>
            </a:r>
          </a:p>
          <a:p>
            <a:pPr marL="0" indent="0">
              <a:buNone/>
            </a:pPr>
            <a:r>
              <a:rPr lang="fr-FR" dirty="0"/>
              <a:t>B- IIIA</a:t>
            </a:r>
          </a:p>
          <a:p>
            <a:pPr marL="0" indent="0">
              <a:buNone/>
            </a:pPr>
            <a:r>
              <a:rPr lang="fr-FR" dirty="0"/>
              <a:t>C-IIIB</a:t>
            </a:r>
          </a:p>
          <a:p>
            <a:pPr marL="0" indent="0">
              <a:buNone/>
            </a:pPr>
            <a:r>
              <a:rPr lang="fr-FR" dirty="0"/>
              <a:t>D- IIIC</a:t>
            </a:r>
          </a:p>
          <a:p>
            <a:pPr marL="0" indent="0">
              <a:buNone/>
            </a:pPr>
            <a:r>
              <a:rPr lang="fr-FR" dirty="0"/>
              <a:t>E- IVA</a:t>
            </a:r>
          </a:p>
          <a:p>
            <a:pPr marL="0" indent="0">
              <a:buNone/>
            </a:pPr>
            <a:endParaRPr lang="fr-FR" dirty="0"/>
          </a:p>
        </p:txBody>
      </p:sp>
    </p:spTree>
    <p:extLst>
      <p:ext uri="{BB962C8B-B14F-4D97-AF65-F5344CB8AC3E}">
        <p14:creationId xmlns:p14="http://schemas.microsoft.com/office/powerpoint/2010/main" val="35854135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0E11-F97F-BB81-34B2-771E776745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BB6E06-A3A7-9C16-16F7-DF1B9BA6974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B74B491-EA54-6DA5-4EDF-EB4FF8538562}"/>
              </a:ext>
            </a:extLst>
          </p:cNvPr>
          <p:cNvSpPr>
            <a:spLocks noGrp="1"/>
          </p:cNvSpPr>
          <p:nvPr>
            <p:ph idx="1"/>
          </p:nvPr>
        </p:nvSpPr>
        <p:spPr/>
        <p:txBody>
          <a:bodyPr/>
          <a:lstStyle/>
          <a:p>
            <a:pPr marL="0" indent="0">
              <a:buNone/>
            </a:pPr>
            <a:r>
              <a:rPr lang="fr-FR" b="1" dirty="0"/>
              <a:t>Quel est le stade de l’ADK  diagnostiqué chez Mr R?</a:t>
            </a:r>
            <a:endParaRPr lang="fr-FR" dirty="0"/>
          </a:p>
          <a:p>
            <a:pPr marL="0" indent="0">
              <a:buNone/>
            </a:pPr>
            <a:r>
              <a:rPr lang="fr-FR" dirty="0"/>
              <a:t>A- IIB</a:t>
            </a:r>
          </a:p>
          <a:p>
            <a:pPr marL="0" indent="0">
              <a:buNone/>
            </a:pPr>
            <a:r>
              <a:rPr lang="fr-FR" dirty="0"/>
              <a:t>B- IIIA</a:t>
            </a:r>
          </a:p>
          <a:p>
            <a:pPr marL="0" indent="0">
              <a:buNone/>
            </a:pPr>
            <a:r>
              <a:rPr lang="fr-FR" dirty="0">
                <a:solidFill>
                  <a:srgbClr val="FF0000"/>
                </a:solidFill>
              </a:rPr>
              <a:t>C-IIIB</a:t>
            </a:r>
          </a:p>
          <a:p>
            <a:pPr marL="0" indent="0">
              <a:buNone/>
            </a:pPr>
            <a:r>
              <a:rPr lang="fr-FR" dirty="0"/>
              <a:t>D- IIIC</a:t>
            </a:r>
          </a:p>
          <a:p>
            <a:pPr marL="0" indent="0">
              <a:buNone/>
            </a:pPr>
            <a:r>
              <a:rPr lang="fr-FR" dirty="0"/>
              <a:t>E- IVA</a:t>
            </a:r>
          </a:p>
          <a:p>
            <a:pPr marL="0" indent="0">
              <a:buNone/>
            </a:pPr>
            <a:endParaRPr lang="fr-FR" dirty="0"/>
          </a:p>
        </p:txBody>
      </p:sp>
    </p:spTree>
    <p:extLst>
      <p:ext uri="{BB962C8B-B14F-4D97-AF65-F5344CB8AC3E}">
        <p14:creationId xmlns:p14="http://schemas.microsoft.com/office/powerpoint/2010/main" val="34942884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EB0997-1338-1235-B793-26406C6E6E4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5D24FD8-3C09-A17D-38B9-7E438D786142}"/>
              </a:ext>
            </a:extLst>
          </p:cNvPr>
          <p:cNvSpPr>
            <a:spLocks noGrp="1"/>
          </p:cNvSpPr>
          <p:nvPr>
            <p:ph idx="1"/>
          </p:nvPr>
        </p:nvSpPr>
        <p:spPr/>
        <p:txBody>
          <a:bodyPr/>
          <a:lstStyle/>
          <a:p>
            <a:pPr marL="0" indent="0">
              <a:buNone/>
            </a:pPr>
            <a:r>
              <a:rPr lang="fr-FR" b="1" dirty="0"/>
              <a:t>Quel traitement proposez-vous?</a:t>
            </a:r>
            <a:endParaRPr lang="fr-FR" dirty="0"/>
          </a:p>
          <a:p>
            <a:pPr marL="0" indent="0">
              <a:buNone/>
            </a:pPr>
            <a:r>
              <a:rPr lang="fr-FR" dirty="0"/>
              <a:t>A- Radio-chimiothérapie séquentielle</a:t>
            </a:r>
          </a:p>
          <a:p>
            <a:pPr marL="0" indent="0">
              <a:buNone/>
            </a:pPr>
            <a:r>
              <a:rPr lang="fr-FR" dirty="0"/>
              <a:t>B- Radio-chimiothérapie concomitante à visée curative</a:t>
            </a:r>
          </a:p>
          <a:p>
            <a:pPr marL="0" indent="0">
              <a:buNone/>
            </a:pPr>
            <a:r>
              <a:rPr lang="fr-FR" dirty="0"/>
              <a:t>C- Chimiothérapie d'induction suivie de chirurgie à visée curative</a:t>
            </a:r>
          </a:p>
          <a:p>
            <a:pPr marL="0" indent="0">
              <a:buNone/>
            </a:pPr>
            <a:r>
              <a:rPr lang="fr-FR" dirty="0"/>
              <a:t>D- Radio-chimiothérapie concomitante puis chirurgie </a:t>
            </a:r>
          </a:p>
          <a:p>
            <a:pPr marL="0" indent="0">
              <a:buNone/>
            </a:pPr>
            <a:r>
              <a:rPr lang="fr-FR" dirty="0"/>
              <a:t>E- Chirurgie suivie d’une chimiothérapie</a:t>
            </a:r>
          </a:p>
          <a:p>
            <a:pPr marL="0" indent="0">
              <a:buNone/>
            </a:pPr>
            <a:r>
              <a:rPr lang="fr-FR" dirty="0"/>
              <a:t> </a:t>
            </a:r>
          </a:p>
          <a:p>
            <a:endParaRPr lang="fr-FR" dirty="0"/>
          </a:p>
        </p:txBody>
      </p:sp>
    </p:spTree>
    <p:extLst>
      <p:ext uri="{BB962C8B-B14F-4D97-AF65-F5344CB8AC3E}">
        <p14:creationId xmlns:p14="http://schemas.microsoft.com/office/powerpoint/2010/main" val="30294527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5658-423E-C44B-06FE-FAB2EB2813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BF98F0C-699C-FD90-C414-DE431BC80AC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F69B145-3BEB-2212-10DC-C1F5422E00E0}"/>
              </a:ext>
            </a:extLst>
          </p:cNvPr>
          <p:cNvSpPr>
            <a:spLocks noGrp="1"/>
          </p:cNvSpPr>
          <p:nvPr>
            <p:ph idx="1"/>
          </p:nvPr>
        </p:nvSpPr>
        <p:spPr/>
        <p:txBody>
          <a:bodyPr/>
          <a:lstStyle/>
          <a:p>
            <a:pPr marL="0" indent="0">
              <a:buNone/>
            </a:pPr>
            <a:r>
              <a:rPr lang="fr-FR" b="1" dirty="0"/>
              <a:t>Quel traitement proposez-vous?</a:t>
            </a:r>
            <a:endParaRPr lang="fr-FR" dirty="0"/>
          </a:p>
          <a:p>
            <a:pPr marL="0" indent="0">
              <a:buNone/>
            </a:pPr>
            <a:r>
              <a:rPr lang="fr-FR" dirty="0"/>
              <a:t>A- Radio-chimiothérapie séquentielle</a:t>
            </a:r>
          </a:p>
          <a:p>
            <a:pPr marL="0" indent="0">
              <a:buNone/>
            </a:pPr>
            <a:r>
              <a:rPr lang="fr-FR" dirty="0">
                <a:solidFill>
                  <a:srgbClr val="FF0000"/>
                </a:solidFill>
              </a:rPr>
              <a:t>B- Radio-chimiothérapie concomitante à visée curative</a:t>
            </a:r>
          </a:p>
          <a:p>
            <a:pPr marL="0" indent="0">
              <a:buNone/>
            </a:pPr>
            <a:r>
              <a:rPr lang="fr-FR" dirty="0"/>
              <a:t>C- Chimiothérapie d'induction suivie de chirurgie à visée curative</a:t>
            </a:r>
          </a:p>
          <a:p>
            <a:pPr marL="0" indent="0">
              <a:buNone/>
            </a:pPr>
            <a:r>
              <a:rPr lang="fr-FR" dirty="0"/>
              <a:t>D- Radio-chimiothérapie concomitante puis chirurgie </a:t>
            </a:r>
          </a:p>
          <a:p>
            <a:pPr marL="0" indent="0">
              <a:buNone/>
            </a:pPr>
            <a:r>
              <a:rPr lang="fr-FR" dirty="0"/>
              <a:t>E- Chirurgie suivie d’une chimiothérapie</a:t>
            </a:r>
          </a:p>
          <a:p>
            <a:pPr marL="0" indent="0">
              <a:buNone/>
            </a:pPr>
            <a:r>
              <a:rPr lang="fr-FR" dirty="0"/>
              <a:t> </a:t>
            </a:r>
          </a:p>
          <a:p>
            <a:endParaRPr lang="fr-FR" dirty="0"/>
          </a:p>
        </p:txBody>
      </p:sp>
    </p:spTree>
    <p:extLst>
      <p:ext uri="{BB962C8B-B14F-4D97-AF65-F5344CB8AC3E}">
        <p14:creationId xmlns:p14="http://schemas.microsoft.com/office/powerpoint/2010/main" val="117758033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3746</Words>
  <Application>Microsoft Office PowerPoint</Application>
  <PresentationFormat>Grand écran</PresentationFormat>
  <Paragraphs>552</Paragraphs>
  <Slides>91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91</vt:i4>
      </vt:variant>
    </vt:vector>
  </HeadingPairs>
  <TitlesOfParts>
    <vt:vector size="97" baseType="lpstr">
      <vt:lpstr>Agency FB</vt:lpstr>
      <vt:lpstr>Arabic Typesetting</vt:lpstr>
      <vt:lpstr>Arial</vt:lpstr>
      <vt:lpstr>Calibri</vt:lpstr>
      <vt:lpstr>Calibri Light</vt:lpstr>
      <vt:lpstr>Thème Office</vt:lpstr>
      <vt:lpstr>     Préparation au concours de résidanat 2025 11/ cancers bronchopulmonaires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Préparation au concours de résidanat 2025 11/ cancers bronchopulmonaires</dc:title>
  <dc:creator>R I B</dc:creator>
  <cp:lastModifiedBy>fmm bitriraed</cp:lastModifiedBy>
  <cp:revision>55</cp:revision>
  <dcterms:created xsi:type="dcterms:W3CDTF">2025-09-17T16:45:50Z</dcterms:created>
  <dcterms:modified xsi:type="dcterms:W3CDTF">2025-09-18T11:18:27Z</dcterms:modified>
</cp:coreProperties>
</file>
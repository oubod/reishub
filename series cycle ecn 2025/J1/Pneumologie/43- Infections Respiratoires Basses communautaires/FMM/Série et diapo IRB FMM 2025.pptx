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3"/>
  </p:notesMasterIdLst>
  <p:sldIdLst>
    <p:sldId id="256" r:id="rId2"/>
    <p:sldId id="257" r:id="rId3"/>
    <p:sldId id="292" r:id="rId4"/>
    <p:sldId id="461" r:id="rId5"/>
    <p:sldId id="462" r:id="rId6"/>
    <p:sldId id="293" r:id="rId7"/>
    <p:sldId id="463" r:id="rId8"/>
    <p:sldId id="297" r:id="rId9"/>
    <p:sldId id="466" r:id="rId10"/>
    <p:sldId id="464" r:id="rId11"/>
    <p:sldId id="465" r:id="rId12"/>
    <p:sldId id="456" r:id="rId13"/>
    <p:sldId id="468" r:id="rId14"/>
    <p:sldId id="467" r:id="rId15"/>
    <p:sldId id="457" r:id="rId16"/>
    <p:sldId id="458" r:id="rId17"/>
    <p:sldId id="459" r:id="rId18"/>
    <p:sldId id="460" r:id="rId19"/>
    <p:sldId id="258" r:id="rId20"/>
    <p:sldId id="259" r:id="rId21"/>
    <p:sldId id="261" r:id="rId22"/>
    <p:sldId id="328" r:id="rId23"/>
    <p:sldId id="260" r:id="rId24"/>
    <p:sldId id="329" r:id="rId25"/>
    <p:sldId id="330" r:id="rId26"/>
    <p:sldId id="332" r:id="rId27"/>
    <p:sldId id="333" r:id="rId28"/>
    <p:sldId id="334" r:id="rId29"/>
    <p:sldId id="335" r:id="rId30"/>
    <p:sldId id="336" r:id="rId31"/>
    <p:sldId id="337" r:id="rId32"/>
    <p:sldId id="338" r:id="rId33"/>
    <p:sldId id="339" r:id="rId34"/>
    <p:sldId id="340" r:id="rId35"/>
    <p:sldId id="342" r:id="rId36"/>
    <p:sldId id="343" r:id="rId37"/>
    <p:sldId id="347" r:id="rId38"/>
    <p:sldId id="348" r:id="rId39"/>
    <p:sldId id="283" r:id="rId40"/>
    <p:sldId id="344" r:id="rId41"/>
    <p:sldId id="345" r:id="rId42"/>
    <p:sldId id="346" r:id="rId43"/>
    <p:sldId id="350" r:id="rId44"/>
    <p:sldId id="351" r:id="rId45"/>
    <p:sldId id="352" r:id="rId46"/>
    <p:sldId id="285" r:id="rId47"/>
    <p:sldId id="353" r:id="rId48"/>
    <p:sldId id="354" r:id="rId49"/>
    <p:sldId id="356" r:id="rId50"/>
    <p:sldId id="357" r:id="rId51"/>
    <p:sldId id="287" r:id="rId52"/>
    <p:sldId id="360" r:id="rId53"/>
    <p:sldId id="358" r:id="rId54"/>
    <p:sldId id="359" r:id="rId55"/>
    <p:sldId id="361" r:id="rId56"/>
    <p:sldId id="362" r:id="rId57"/>
    <p:sldId id="294" r:id="rId58"/>
    <p:sldId id="389" r:id="rId59"/>
    <p:sldId id="469" r:id="rId60"/>
    <p:sldId id="289" r:id="rId61"/>
    <p:sldId id="290" r:id="rId62"/>
    <p:sldId id="364" r:id="rId63"/>
    <p:sldId id="365" r:id="rId64"/>
    <p:sldId id="366" r:id="rId65"/>
    <p:sldId id="367" r:id="rId66"/>
    <p:sldId id="368" r:id="rId67"/>
    <p:sldId id="369" r:id="rId68"/>
    <p:sldId id="370" r:id="rId69"/>
    <p:sldId id="371" r:id="rId70"/>
    <p:sldId id="372" r:id="rId71"/>
    <p:sldId id="373" r:id="rId72"/>
    <p:sldId id="374" r:id="rId73"/>
    <p:sldId id="267" r:id="rId74"/>
    <p:sldId id="390" r:id="rId75"/>
    <p:sldId id="376" r:id="rId76"/>
    <p:sldId id="375" r:id="rId77"/>
    <p:sldId id="296" r:id="rId78"/>
    <p:sldId id="393" r:id="rId79"/>
    <p:sldId id="377" r:id="rId80"/>
    <p:sldId id="378" r:id="rId81"/>
    <p:sldId id="394" r:id="rId82"/>
    <p:sldId id="395" r:id="rId83"/>
    <p:sldId id="381" r:id="rId84"/>
    <p:sldId id="382" r:id="rId85"/>
    <p:sldId id="379" r:id="rId86"/>
    <p:sldId id="380" r:id="rId87"/>
    <p:sldId id="298" r:id="rId88"/>
    <p:sldId id="396" r:id="rId89"/>
    <p:sldId id="299" r:id="rId90"/>
    <p:sldId id="397" r:id="rId91"/>
    <p:sldId id="383" r:id="rId92"/>
    <p:sldId id="384" r:id="rId93"/>
    <p:sldId id="387" r:id="rId94"/>
    <p:sldId id="388" r:id="rId95"/>
    <p:sldId id="391" r:id="rId96"/>
    <p:sldId id="392" r:id="rId97"/>
    <p:sldId id="398" r:id="rId98"/>
    <p:sldId id="399" r:id="rId99"/>
    <p:sldId id="400" r:id="rId100"/>
    <p:sldId id="401" r:id="rId101"/>
    <p:sldId id="402" r:id="rId102"/>
    <p:sldId id="403" r:id="rId103"/>
    <p:sldId id="406" r:id="rId104"/>
    <p:sldId id="427" r:id="rId105"/>
    <p:sldId id="270" r:id="rId106"/>
    <p:sldId id="407" r:id="rId107"/>
    <p:sldId id="302" r:id="rId108"/>
    <p:sldId id="408" r:id="rId109"/>
    <p:sldId id="303" r:id="rId110"/>
    <p:sldId id="409" r:id="rId111"/>
    <p:sldId id="271" r:id="rId112"/>
    <p:sldId id="410" r:id="rId113"/>
    <p:sldId id="304" r:id="rId114"/>
    <p:sldId id="363" r:id="rId115"/>
    <p:sldId id="305" r:id="rId116"/>
    <p:sldId id="411" r:id="rId117"/>
    <p:sldId id="272" r:id="rId118"/>
    <p:sldId id="412" r:id="rId119"/>
    <p:sldId id="306" r:id="rId120"/>
    <p:sldId id="413" r:id="rId121"/>
    <p:sldId id="309" r:id="rId122"/>
    <p:sldId id="414" r:id="rId123"/>
    <p:sldId id="415" r:id="rId124"/>
    <p:sldId id="416" r:id="rId125"/>
    <p:sldId id="310" r:id="rId126"/>
    <p:sldId id="417" r:id="rId127"/>
    <p:sldId id="418" r:id="rId128"/>
    <p:sldId id="419" r:id="rId129"/>
    <p:sldId id="470" r:id="rId130"/>
    <p:sldId id="421" r:id="rId131"/>
    <p:sldId id="275" r:id="rId132"/>
    <p:sldId id="422" r:id="rId133"/>
    <p:sldId id="423" r:id="rId134"/>
    <p:sldId id="424" r:id="rId135"/>
    <p:sldId id="425" r:id="rId136"/>
    <p:sldId id="426" r:id="rId137"/>
    <p:sldId id="428" r:id="rId138"/>
    <p:sldId id="429" r:id="rId139"/>
    <p:sldId id="317" r:id="rId140"/>
    <p:sldId id="278" r:id="rId141"/>
    <p:sldId id="430" r:id="rId142"/>
    <p:sldId id="318" r:id="rId143"/>
    <p:sldId id="431" r:id="rId144"/>
    <p:sldId id="319" r:id="rId145"/>
    <p:sldId id="432" r:id="rId146"/>
    <p:sldId id="279" r:id="rId147"/>
    <p:sldId id="320" r:id="rId148"/>
    <p:sldId id="433" r:id="rId149"/>
    <p:sldId id="280" r:id="rId150"/>
    <p:sldId id="385" r:id="rId151"/>
    <p:sldId id="321" r:id="rId152"/>
    <p:sldId id="386" r:id="rId153"/>
    <p:sldId id="322" r:id="rId154"/>
    <p:sldId id="281" r:id="rId155"/>
    <p:sldId id="434" r:id="rId156"/>
    <p:sldId id="323" r:id="rId157"/>
    <p:sldId id="435" r:id="rId158"/>
    <p:sldId id="436" r:id="rId159"/>
    <p:sldId id="324" r:id="rId160"/>
    <p:sldId id="437" r:id="rId161"/>
    <p:sldId id="282" r:id="rId162"/>
    <p:sldId id="325" r:id="rId163"/>
    <p:sldId id="438" r:id="rId164"/>
    <p:sldId id="326" r:id="rId165"/>
    <p:sldId id="439" r:id="rId166"/>
    <p:sldId id="327" r:id="rId167"/>
    <p:sldId id="440" r:id="rId168"/>
    <p:sldId id="441" r:id="rId169"/>
    <p:sldId id="442" r:id="rId170"/>
    <p:sldId id="443" r:id="rId171"/>
    <p:sldId id="444" r:id="rId172"/>
    <p:sldId id="445" r:id="rId173"/>
    <p:sldId id="446" r:id="rId174"/>
    <p:sldId id="447" r:id="rId175"/>
    <p:sldId id="448" r:id="rId176"/>
    <p:sldId id="450" r:id="rId177"/>
    <p:sldId id="451" r:id="rId178"/>
    <p:sldId id="452" r:id="rId179"/>
    <p:sldId id="453" r:id="rId180"/>
    <p:sldId id="454" r:id="rId181"/>
    <p:sldId id="455" r:id="rId18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45" autoAdjust="0"/>
    <p:restoredTop sz="94660"/>
  </p:normalViewPr>
  <p:slideViewPr>
    <p:cSldViewPr snapToGrid="0">
      <p:cViewPr varScale="1">
        <p:scale>
          <a:sx n="120" d="100"/>
          <a:sy n="120" d="100"/>
        </p:scale>
        <p:origin x="30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ableStyles" Target="tableStyle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2144F-886E-4A96-993F-DDEE241CBCE2}" type="datetimeFigureOut">
              <a:rPr lang="fr-FR" smtClean="0"/>
              <a:t>16/09/2025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25676-18AE-41F6-99A1-22E11BE72DE1}" type="slidenum">
              <a:rPr lang="fr-FR" smtClean="0"/>
              <a:t>‹N°›</a:t>
            </a:fld>
            <a:endParaRPr lang="fr-FR" dirty="0"/>
          </a:p>
        </p:txBody>
      </p:sp>
    </p:spTree>
    <p:extLst>
      <p:ext uri="{BB962C8B-B14F-4D97-AF65-F5344CB8AC3E}">
        <p14:creationId xmlns:p14="http://schemas.microsoft.com/office/powerpoint/2010/main" val="4022650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Ces signes s’associent généralement à une rhinopharyngite avec catarrhe nasal </a:t>
            </a:r>
            <a:r>
              <a:rPr lang="fr-FR" dirty="0" err="1"/>
              <a:t>etodynophagie</a:t>
            </a:r>
            <a:r>
              <a:rPr lang="fr-FR" dirty="0"/>
              <a:t>.</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23</a:t>
            </a:fld>
            <a:endParaRPr lang="fr-FR"/>
          </a:p>
        </p:txBody>
      </p:sp>
    </p:spTree>
    <p:extLst>
      <p:ext uri="{BB962C8B-B14F-4D97-AF65-F5344CB8AC3E}">
        <p14:creationId xmlns:p14="http://schemas.microsoft.com/office/powerpoint/2010/main" val="374853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C4334-34B0-324B-B668-31C626572BF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9650DC-F783-8D5C-1094-F1599D28A2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04669F6-2260-32C8-15F0-48A35668DBBC}"/>
              </a:ext>
            </a:extLst>
          </p:cNvPr>
          <p:cNvSpPr>
            <a:spLocks noGrp="1"/>
          </p:cNvSpPr>
          <p:nvPr>
            <p:ph type="body" idx="1"/>
          </p:nvPr>
        </p:nvSpPr>
        <p:spPr/>
        <p:txBody>
          <a:bodyPr/>
          <a:lstStyle/>
          <a:p>
            <a:r>
              <a:rPr lang="fr-FR" dirty="0"/>
              <a:t>Ces signes s’associent généralement à une rhinopharyngite avec catarrhe nasal </a:t>
            </a:r>
            <a:r>
              <a:rPr lang="fr-FR" dirty="0" err="1"/>
              <a:t>etodynophagie</a:t>
            </a:r>
            <a:r>
              <a:rPr lang="fr-FR" dirty="0"/>
              <a:t>.</a:t>
            </a:r>
          </a:p>
        </p:txBody>
      </p:sp>
      <p:sp>
        <p:nvSpPr>
          <p:cNvPr id="4" name="Espace réservé du numéro de diapositive 3">
            <a:extLst>
              <a:ext uri="{FF2B5EF4-FFF2-40B4-BE49-F238E27FC236}">
                <a16:creationId xmlns:a16="http://schemas.microsoft.com/office/drawing/2014/main" id="{66B8D542-CFE8-E784-511B-FA3585F4F0C4}"/>
              </a:ext>
            </a:extLst>
          </p:cNvPr>
          <p:cNvSpPr>
            <a:spLocks noGrp="1"/>
          </p:cNvSpPr>
          <p:nvPr>
            <p:ph type="sldNum" sz="quarter" idx="5"/>
          </p:nvPr>
        </p:nvSpPr>
        <p:spPr/>
        <p:txBody>
          <a:bodyPr/>
          <a:lstStyle/>
          <a:p>
            <a:fld id="{1CA25676-18AE-41F6-99A1-22E11BE72DE1}" type="slidenum">
              <a:rPr lang="fr-FR" smtClean="0"/>
              <a:t>24</a:t>
            </a:fld>
            <a:endParaRPr lang="fr-FR"/>
          </a:p>
        </p:txBody>
      </p:sp>
    </p:spTree>
    <p:extLst>
      <p:ext uri="{BB962C8B-B14F-4D97-AF65-F5344CB8AC3E}">
        <p14:creationId xmlns:p14="http://schemas.microsoft.com/office/powerpoint/2010/main" val="1039150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Elle n’est indiquée chez le sujet sain qu’en cas de suspicion d’une pneumonie (importance du syndrome infectieux, persistance de la fièvre, signes auscultatoires en foyer) surtout chez le fumeur</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28</a:t>
            </a:fld>
            <a:endParaRPr lang="fr-FR"/>
          </a:p>
        </p:txBody>
      </p:sp>
    </p:spTree>
    <p:extLst>
      <p:ext uri="{BB962C8B-B14F-4D97-AF65-F5344CB8AC3E}">
        <p14:creationId xmlns:p14="http://schemas.microsoft.com/office/powerpoint/2010/main" val="1649032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traitement préconisé chez le sujet sain est une mono-antibiothérapie par une </a:t>
            </a:r>
            <a:r>
              <a:rPr lang="fr-FR" dirty="0" err="1"/>
              <a:t>amoxcilline</a:t>
            </a:r>
            <a:r>
              <a:rPr lang="fr-FR" dirty="0"/>
              <a:t>, ou un macrolide</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30</a:t>
            </a:fld>
            <a:endParaRPr lang="fr-FR"/>
          </a:p>
        </p:txBody>
      </p:sp>
    </p:spTree>
    <p:extLst>
      <p:ext uri="{BB962C8B-B14F-4D97-AF65-F5344CB8AC3E}">
        <p14:creationId xmlns:p14="http://schemas.microsoft.com/office/powerpoint/2010/main" val="124144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syndrome de condensation pneumonique qui associe une matité non déclive, des vibrations vocales augmentées, un murmure vésiculaire diminué, un souffle tubaire et une couronne de râles crépitants </a:t>
            </a:r>
            <a:r>
              <a:rPr lang="fr-FR" dirty="0" err="1"/>
              <a:t>toutautour</a:t>
            </a:r>
            <a:endParaRPr lang="fr-FR" dirty="0"/>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44</a:t>
            </a:fld>
            <a:endParaRPr lang="fr-FR"/>
          </a:p>
        </p:txBody>
      </p:sp>
    </p:spTree>
    <p:extLst>
      <p:ext uri="{BB962C8B-B14F-4D97-AF65-F5344CB8AC3E}">
        <p14:creationId xmlns:p14="http://schemas.microsoft.com/office/powerpoint/2010/main" val="3607404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es portes d’entrées et les localisations septiques secondaires éventuelles doivent être prélevées</a:t>
            </a:r>
          </a:p>
          <a:p>
            <a:r>
              <a:rPr lang="fr-FR" dirty="0"/>
              <a:t>Les prélèvements directs sont plus fiables mais réservés aux formes graves ainsi qu’à celles qui s’aggravent après une antibiothérapie probabiliste : aspiration bronchique, LBA, prélèvement distal protégé.</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50</a:t>
            </a:fld>
            <a:endParaRPr lang="fr-FR" dirty="0"/>
          </a:p>
        </p:txBody>
      </p:sp>
    </p:spTree>
    <p:extLst>
      <p:ext uri="{BB962C8B-B14F-4D97-AF65-F5344CB8AC3E}">
        <p14:creationId xmlns:p14="http://schemas.microsoft.com/office/powerpoint/2010/main" val="1742254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C0DB6-CC8E-6BA4-4CE0-88D5B87CA4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34C3C31-E8FC-0AD4-24FF-274B8D29332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666D50F-CE3B-5577-B701-B5911D1AFF21}"/>
              </a:ext>
            </a:extLst>
          </p:cNvPr>
          <p:cNvSpPr>
            <a:spLocks noGrp="1"/>
          </p:cNvSpPr>
          <p:nvPr>
            <p:ph type="body" idx="1"/>
          </p:nvPr>
        </p:nvSpPr>
        <p:spPr/>
        <p:txBody>
          <a:bodyPr/>
          <a:lstStyle/>
          <a:p>
            <a:r>
              <a:rPr lang="fr-FR" dirty="0"/>
              <a:t>En cas d’antigénurie négative, le diagnostic peut être fait par culture du prélèvement respiratoire sur milieu spécifique, par biologie moléculaire (PCR sur prélèvement respiratoire peut être demandée), par immunofluorescence directe ou par les tests sérologiques (dans ce dernier cas, le diagnostic est rétrospectif). </a:t>
            </a:r>
          </a:p>
        </p:txBody>
      </p:sp>
      <p:sp>
        <p:nvSpPr>
          <p:cNvPr id="4" name="Espace réservé du numéro de diapositive 3">
            <a:extLst>
              <a:ext uri="{FF2B5EF4-FFF2-40B4-BE49-F238E27FC236}">
                <a16:creationId xmlns:a16="http://schemas.microsoft.com/office/drawing/2014/main" id="{1C8A6D68-9F9C-C4DA-2F9D-3AA0EA45DB44}"/>
              </a:ext>
            </a:extLst>
          </p:cNvPr>
          <p:cNvSpPr>
            <a:spLocks noGrp="1"/>
          </p:cNvSpPr>
          <p:nvPr>
            <p:ph type="sldNum" sz="quarter" idx="5"/>
          </p:nvPr>
        </p:nvSpPr>
        <p:spPr/>
        <p:txBody>
          <a:bodyPr/>
          <a:lstStyle/>
          <a:p>
            <a:fld id="{1CA25676-18AE-41F6-99A1-22E11BE72DE1}" type="slidenum">
              <a:rPr lang="fr-FR" smtClean="0"/>
              <a:t>75</a:t>
            </a:fld>
            <a:endParaRPr lang="fr-FR" dirty="0"/>
          </a:p>
        </p:txBody>
      </p:sp>
    </p:spTree>
    <p:extLst>
      <p:ext uri="{BB962C8B-B14F-4D97-AF65-F5344CB8AC3E}">
        <p14:creationId xmlns:p14="http://schemas.microsoft.com/office/powerpoint/2010/main" val="3698554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cas d’antigénurie négative, le diagnostic peut être fait par culture du prélèvement respiratoire sur milieu spécifique, par biologie moléculaire (PCR sur prélèvement respiratoire peut être demandée), par immunofluorescence directe ou par les tests sérologiques (dans ce dernier cas, le diagnostic est rétrospectif). </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76</a:t>
            </a:fld>
            <a:endParaRPr lang="fr-FR" dirty="0"/>
          </a:p>
        </p:txBody>
      </p:sp>
    </p:spTree>
    <p:extLst>
      <p:ext uri="{BB962C8B-B14F-4D97-AF65-F5344CB8AC3E}">
        <p14:creationId xmlns:p14="http://schemas.microsoft.com/office/powerpoint/2010/main" val="3334907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diagnostic positif est confirmé par les prélèvements nasopharyngés (RT-PCR ou test antigénique).</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77</a:t>
            </a:fld>
            <a:endParaRPr lang="fr-FR" dirty="0"/>
          </a:p>
        </p:txBody>
      </p:sp>
    </p:spTree>
    <p:extLst>
      <p:ext uri="{BB962C8B-B14F-4D97-AF65-F5344CB8AC3E}">
        <p14:creationId xmlns:p14="http://schemas.microsoft.com/office/powerpoint/2010/main" val="2928031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0761C-854D-44E5-8EBA-BAA946B4371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083CB2-9B28-F7C9-27BA-CE62818830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8C7E8BF-8F56-E163-5190-F5307D77A83D}"/>
              </a:ext>
            </a:extLst>
          </p:cNvPr>
          <p:cNvSpPr>
            <a:spLocks noGrp="1"/>
          </p:cNvSpPr>
          <p:nvPr>
            <p:ph type="body" idx="1"/>
          </p:nvPr>
        </p:nvSpPr>
        <p:spPr/>
        <p:txBody>
          <a:bodyPr/>
          <a:lstStyle/>
          <a:p>
            <a:r>
              <a:rPr lang="fr-FR" dirty="0"/>
              <a:t>Le diagnostic positif est confirmé par les prélèvements nasopharyngés (RT-PCR ou test antigénique).</a:t>
            </a:r>
          </a:p>
        </p:txBody>
      </p:sp>
      <p:sp>
        <p:nvSpPr>
          <p:cNvPr id="4" name="Espace réservé du numéro de diapositive 3">
            <a:extLst>
              <a:ext uri="{FF2B5EF4-FFF2-40B4-BE49-F238E27FC236}">
                <a16:creationId xmlns:a16="http://schemas.microsoft.com/office/drawing/2014/main" id="{6C682FD9-6D37-FCE6-D545-FCBCEFBDFB9B}"/>
              </a:ext>
            </a:extLst>
          </p:cNvPr>
          <p:cNvSpPr>
            <a:spLocks noGrp="1"/>
          </p:cNvSpPr>
          <p:nvPr>
            <p:ph type="sldNum" sz="quarter" idx="5"/>
          </p:nvPr>
        </p:nvSpPr>
        <p:spPr/>
        <p:txBody>
          <a:bodyPr/>
          <a:lstStyle/>
          <a:p>
            <a:fld id="{1CA25676-18AE-41F6-99A1-22E11BE72DE1}" type="slidenum">
              <a:rPr lang="fr-FR" smtClean="0"/>
              <a:t>78</a:t>
            </a:fld>
            <a:endParaRPr lang="fr-FR" dirty="0"/>
          </a:p>
        </p:txBody>
      </p:sp>
    </p:spTree>
    <p:extLst>
      <p:ext uri="{BB962C8B-B14F-4D97-AF65-F5344CB8AC3E}">
        <p14:creationId xmlns:p14="http://schemas.microsoft.com/office/powerpoint/2010/main" val="3764225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ORL. La fibroscopie bronchique à la recherche d’une tumeur, d’une sténose, d’un corps étranger est indiquée chez les fumeurs, en cas d’opacité rétractile mais aussi en cas de pneumonies trainantes ou récidivantes dans le même ter</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89</a:t>
            </a:fld>
            <a:endParaRPr lang="fr-FR" dirty="0"/>
          </a:p>
        </p:txBody>
      </p:sp>
    </p:spTree>
    <p:extLst>
      <p:ext uri="{BB962C8B-B14F-4D97-AF65-F5344CB8AC3E}">
        <p14:creationId xmlns:p14="http://schemas.microsoft.com/office/powerpoint/2010/main" val="3186392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3B03E-BF6F-66B7-D19A-5885B493707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9CA0266-50E0-0A04-5401-6CE7C69EA9E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507C5F2-6126-2621-B543-3DE8BB4B4567}"/>
              </a:ext>
            </a:extLst>
          </p:cNvPr>
          <p:cNvSpPr>
            <a:spLocks noGrp="1"/>
          </p:cNvSpPr>
          <p:nvPr>
            <p:ph type="body" idx="1"/>
          </p:nvPr>
        </p:nvSpPr>
        <p:spPr/>
        <p:txBody>
          <a:bodyPr/>
          <a:lstStyle/>
          <a:p>
            <a:r>
              <a:rPr lang="fr-FR" dirty="0"/>
              <a:t>ORL. La fibroscopie bronchique à la recherche d’une tumeur, d’une sténose, d’un corps étranger est indiquée chez les fumeurs, en cas d’opacité rétractile mais aussi en cas de pneumonies trainantes ou récidivantes dans le même ter</a:t>
            </a:r>
          </a:p>
        </p:txBody>
      </p:sp>
      <p:sp>
        <p:nvSpPr>
          <p:cNvPr id="4" name="Espace réservé du numéro de diapositive 3">
            <a:extLst>
              <a:ext uri="{FF2B5EF4-FFF2-40B4-BE49-F238E27FC236}">
                <a16:creationId xmlns:a16="http://schemas.microsoft.com/office/drawing/2014/main" id="{27AB0599-1B39-96E3-C031-4321D74BA970}"/>
              </a:ext>
            </a:extLst>
          </p:cNvPr>
          <p:cNvSpPr>
            <a:spLocks noGrp="1"/>
          </p:cNvSpPr>
          <p:nvPr>
            <p:ph type="sldNum" sz="quarter" idx="5"/>
          </p:nvPr>
        </p:nvSpPr>
        <p:spPr/>
        <p:txBody>
          <a:bodyPr/>
          <a:lstStyle/>
          <a:p>
            <a:fld id="{1CA25676-18AE-41F6-99A1-22E11BE72DE1}" type="slidenum">
              <a:rPr lang="fr-FR" smtClean="0"/>
              <a:t>90</a:t>
            </a:fld>
            <a:endParaRPr lang="fr-FR" dirty="0"/>
          </a:p>
        </p:txBody>
      </p:sp>
    </p:spTree>
    <p:extLst>
      <p:ext uri="{BB962C8B-B14F-4D97-AF65-F5344CB8AC3E}">
        <p14:creationId xmlns:p14="http://schemas.microsoft.com/office/powerpoint/2010/main" val="374192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diagnostic de gravité repose sur la recherche de signes de gravité. - Signes cliniques : Fréquence respiratoire &gt; 30/min, SpO2 120b/min… - Signes biologiques : leucopénie ou hyperleucocytose &gt; 30 000/mm3 , thrombopénie, anémie, Insuffisance rénale aigue, hypoxémie &lt; 60 </a:t>
            </a:r>
            <a:r>
              <a:rPr lang="fr-FR" dirty="0" err="1"/>
              <a:t>mmHg</a:t>
            </a:r>
            <a:r>
              <a:rPr lang="fr-FR" dirty="0"/>
              <a:t>… - Signes radiologiques : atteinte </a:t>
            </a:r>
            <a:r>
              <a:rPr lang="fr-FR" dirty="0" err="1"/>
              <a:t>bilobaire</a:t>
            </a:r>
            <a:r>
              <a:rPr lang="fr-FR" dirty="0"/>
              <a:t>, présence d’épanchement pleural, opacité excavée, extension rapide des lésions</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92</a:t>
            </a:fld>
            <a:endParaRPr lang="fr-FR" dirty="0"/>
          </a:p>
        </p:txBody>
      </p:sp>
    </p:spTree>
    <p:extLst>
      <p:ext uri="{BB962C8B-B14F-4D97-AF65-F5344CB8AC3E}">
        <p14:creationId xmlns:p14="http://schemas.microsoft.com/office/powerpoint/2010/main" val="2827440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Ceci implique : Une réévaluation clinique et radiologique La pratique d’un nouveau bilan inflammatoire Une nouvelle enquête bactériologique La recherche de la cause de cette évolution défavorable telles que la résistance aux antibiotiques, une pleurésie associée qu’il faut évacuer, la persistance d’un foyer à distance ou d’une porte d’entrée qu’il faut éradiquer, une veinite, une allergie aux antibiotiques, une surinfection nosocomiale, une maladie thromboembolique </a:t>
            </a:r>
            <a:r>
              <a:rPr lang="fr-FR" dirty="0" err="1"/>
              <a:t>ouuneerreur</a:t>
            </a:r>
            <a:r>
              <a:rPr lang="fr-FR" dirty="0"/>
              <a:t> </a:t>
            </a:r>
            <a:r>
              <a:rPr lang="fr-FR" dirty="0" err="1"/>
              <a:t>diagnosti</a:t>
            </a:r>
            <a:endParaRPr lang="fr-FR" dirty="0"/>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102</a:t>
            </a:fld>
            <a:endParaRPr lang="fr-FR" dirty="0"/>
          </a:p>
        </p:txBody>
      </p:sp>
    </p:spTree>
    <p:extLst>
      <p:ext uri="{BB962C8B-B14F-4D97-AF65-F5344CB8AC3E}">
        <p14:creationId xmlns:p14="http://schemas.microsoft.com/office/powerpoint/2010/main" val="1631743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Et </a:t>
            </a:r>
            <a:r>
              <a:rPr lang="fr-FR" dirty="0" err="1"/>
              <a:t>lévofloxacine</a:t>
            </a:r>
            <a:endParaRPr lang="fr-FR" dirty="0"/>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110</a:t>
            </a:fld>
            <a:endParaRPr lang="fr-FR" dirty="0"/>
          </a:p>
        </p:txBody>
      </p:sp>
    </p:spTree>
    <p:extLst>
      <p:ext uri="{BB962C8B-B14F-4D97-AF65-F5344CB8AC3E}">
        <p14:creationId xmlns:p14="http://schemas.microsoft.com/office/powerpoint/2010/main" val="1006871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Et pristinamycine</a:t>
            </a:r>
          </a:p>
        </p:txBody>
      </p:sp>
      <p:sp>
        <p:nvSpPr>
          <p:cNvPr id="4" name="Espace réservé du numéro de diapositive 3"/>
          <p:cNvSpPr>
            <a:spLocks noGrp="1"/>
          </p:cNvSpPr>
          <p:nvPr>
            <p:ph type="sldNum" sz="quarter" idx="5"/>
          </p:nvPr>
        </p:nvSpPr>
        <p:spPr/>
        <p:txBody>
          <a:bodyPr/>
          <a:lstStyle/>
          <a:p>
            <a:fld id="{1CA25676-18AE-41F6-99A1-22E11BE72DE1}" type="slidenum">
              <a:rPr lang="fr-FR" smtClean="0"/>
              <a:t>112</a:t>
            </a:fld>
            <a:endParaRPr lang="fr-FR" dirty="0"/>
          </a:p>
        </p:txBody>
      </p:sp>
    </p:spTree>
    <p:extLst>
      <p:ext uri="{BB962C8B-B14F-4D97-AF65-F5344CB8AC3E}">
        <p14:creationId xmlns:p14="http://schemas.microsoft.com/office/powerpoint/2010/main" val="3670458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A4CDA1-6F1C-C2A1-44C9-8B630131E5B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B7B25F0-8918-50E6-89D4-ADADA85413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4960EF9-4000-B9AF-25F2-152754981B33}"/>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5" name="Espace réservé du pied de page 4">
            <a:extLst>
              <a:ext uri="{FF2B5EF4-FFF2-40B4-BE49-F238E27FC236}">
                <a16:creationId xmlns:a16="http://schemas.microsoft.com/office/drawing/2014/main" id="{25CD1027-8C99-7CBA-F7CC-C191683837E2}"/>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845CC9B8-7A3F-B465-25FA-DB6C2F8408AE}"/>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475164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4E6139-193E-6017-E5B1-6F3B746794E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38C0EEE-6809-54F9-E3FD-3E518B610E3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5E6141C-F789-5493-C1A1-ED779130133F}"/>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5" name="Espace réservé du pied de page 4">
            <a:extLst>
              <a:ext uri="{FF2B5EF4-FFF2-40B4-BE49-F238E27FC236}">
                <a16:creationId xmlns:a16="http://schemas.microsoft.com/office/drawing/2014/main" id="{835AB5FD-1CA2-E6C3-35BC-B1773FFD5038}"/>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12768B20-E3FE-93B0-4DD2-6E17B916C6FC}"/>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3203012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43D3A6-0DCD-0D54-BD37-59E4367C254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B188CA5-5808-0E36-FCA8-295E95634D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B63BBC1-01C1-9FB4-CD14-154C7AD55C96}"/>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5" name="Espace réservé du pied de page 4">
            <a:extLst>
              <a:ext uri="{FF2B5EF4-FFF2-40B4-BE49-F238E27FC236}">
                <a16:creationId xmlns:a16="http://schemas.microsoft.com/office/drawing/2014/main" id="{ED513000-6DCE-B8E9-68BD-8D2E95227B79}"/>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854D0A44-648E-A4C2-C19D-8A15032ACCE0}"/>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232544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E01FC1-3402-34AD-7FD4-FD589736ECA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005FB49-DE69-2ABC-9CE5-93B1D8D11D1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08D6638-3867-8FC8-E084-4FD159959EA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583DE00-F18F-AF0E-F9A3-2F9C9E6F28E2}"/>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6" name="Espace réservé du pied de page 5">
            <a:extLst>
              <a:ext uri="{FF2B5EF4-FFF2-40B4-BE49-F238E27FC236}">
                <a16:creationId xmlns:a16="http://schemas.microsoft.com/office/drawing/2014/main" id="{065FC24F-A312-E9A6-1AF8-2C7FB98D2E02}"/>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66F6AE3C-D264-AFA8-467D-8893C5721193}"/>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5730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0444AC-88C9-2668-5C0F-6D28BAAB93E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2CC58BC-CB49-756C-D912-FC65BE1E42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1F23369-628A-CA19-1A3F-701D52049AE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65873B8-422E-9DF7-4DEF-5B3DE5C8BB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0D0C68E-C413-7943-D14A-7B27EF6EE04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DE4D326-DDBB-997F-79C4-987D3F1CA699}"/>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8" name="Espace réservé du pied de page 7">
            <a:extLst>
              <a:ext uri="{FF2B5EF4-FFF2-40B4-BE49-F238E27FC236}">
                <a16:creationId xmlns:a16="http://schemas.microsoft.com/office/drawing/2014/main" id="{F33A2180-9CF2-2CDF-1175-F24E8577FE11}"/>
              </a:ext>
            </a:extLst>
          </p:cNvPr>
          <p:cNvSpPr>
            <a:spLocks noGrp="1"/>
          </p:cNvSpPr>
          <p:nvPr>
            <p:ph type="ftr" sz="quarter" idx="11"/>
          </p:nvPr>
        </p:nvSpPr>
        <p:spPr/>
        <p:txBody>
          <a:bodyPr/>
          <a:lstStyle/>
          <a:p>
            <a:endParaRPr lang="fr-FR" dirty="0"/>
          </a:p>
        </p:txBody>
      </p:sp>
      <p:sp>
        <p:nvSpPr>
          <p:cNvPr id="9" name="Espace réservé du numéro de diapositive 8">
            <a:extLst>
              <a:ext uri="{FF2B5EF4-FFF2-40B4-BE49-F238E27FC236}">
                <a16:creationId xmlns:a16="http://schemas.microsoft.com/office/drawing/2014/main" id="{3CF7A60C-1FFF-932B-4312-EEB300D46F28}"/>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58872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EA665B-A2F4-6E90-9674-0B5D0C59CD4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5EEED67-69B2-E6FD-6645-928150B50068}"/>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4" name="Espace réservé du pied de page 3">
            <a:extLst>
              <a:ext uri="{FF2B5EF4-FFF2-40B4-BE49-F238E27FC236}">
                <a16:creationId xmlns:a16="http://schemas.microsoft.com/office/drawing/2014/main" id="{F66406DD-5EF7-813F-83B5-8A26247FE78F}"/>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a16="http://schemas.microsoft.com/office/drawing/2014/main" id="{ECFBA38A-7545-2991-6206-9CEFA24388A1}"/>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3593700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40C99D8-3E99-1D27-5B73-B8EBA9850F5F}"/>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3" name="Espace réservé du pied de page 2">
            <a:extLst>
              <a:ext uri="{FF2B5EF4-FFF2-40B4-BE49-F238E27FC236}">
                <a16:creationId xmlns:a16="http://schemas.microsoft.com/office/drawing/2014/main" id="{F4163014-D139-7CBC-B5CD-A0FD31BB508D}"/>
              </a:ext>
            </a:extLst>
          </p:cNvPr>
          <p:cNvSpPr>
            <a:spLocks noGrp="1"/>
          </p:cNvSpPr>
          <p:nvPr>
            <p:ph type="ftr" sz="quarter" idx="1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8702567-C219-0060-F91A-F255F23C1A28}"/>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655498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EC7F67-49AF-9C66-EE1F-5DD2A8AA29E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CB6F972-8699-6B6F-E7E1-58CED34EC9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6881825-A5B2-2EA5-B0BE-47A2ED6357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AB38402-D54E-ED80-CC5D-3F7CF56E81D1}"/>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6" name="Espace réservé du pied de page 5">
            <a:extLst>
              <a:ext uri="{FF2B5EF4-FFF2-40B4-BE49-F238E27FC236}">
                <a16:creationId xmlns:a16="http://schemas.microsoft.com/office/drawing/2014/main" id="{85BFCD91-7613-18A6-0820-6DD39502282D}"/>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EB502E45-DE7E-E9E5-4D81-130838121C1D}"/>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356136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CE89F6-4586-7978-3D3A-0D520D71D52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C080D0F-2148-47E1-5909-A960F694F9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49E1B3D-5227-4FD2-1DBC-5D5605872B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154C2FD-0F98-6367-1702-B212BF01730E}"/>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6" name="Espace réservé du pied de page 5">
            <a:extLst>
              <a:ext uri="{FF2B5EF4-FFF2-40B4-BE49-F238E27FC236}">
                <a16:creationId xmlns:a16="http://schemas.microsoft.com/office/drawing/2014/main" id="{27E543C0-75A9-A3C2-CCE0-C6EF8D0A7CB1}"/>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F5B1F81A-ED29-B3E5-73F9-11CEB2B9B10F}"/>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3617012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BB53F3-C409-1E4E-1A29-4110479365E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C9D5BD8-2EE2-AB68-EAF0-8C704C1CC6E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46C6DC0-E476-B81A-A2C4-490929A2C086}"/>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5" name="Espace réservé du pied de page 4">
            <a:extLst>
              <a:ext uri="{FF2B5EF4-FFF2-40B4-BE49-F238E27FC236}">
                <a16:creationId xmlns:a16="http://schemas.microsoft.com/office/drawing/2014/main" id="{297330EE-4155-A9C1-58A0-466447D281B2}"/>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8A26EBCB-7389-238B-735C-0E07009120D3}"/>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3834962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473D40C-AEE7-41CE-FB17-0F4EB890061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8F9AA0D-9F17-B93F-D5C4-E7737E47174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B5437E7-AAEE-F7C8-7F83-7BF10F969B80}"/>
              </a:ext>
            </a:extLst>
          </p:cNvPr>
          <p:cNvSpPr>
            <a:spLocks noGrp="1"/>
          </p:cNvSpPr>
          <p:nvPr>
            <p:ph type="dt" sz="half" idx="10"/>
          </p:nvPr>
        </p:nvSpPr>
        <p:spPr/>
        <p:txBody>
          <a:bodyPr/>
          <a:lstStyle/>
          <a:p>
            <a:fld id="{291BF198-FD5E-4809-AA9C-428E8A3CE1B2}" type="datetimeFigureOut">
              <a:rPr lang="fr-FR" smtClean="0"/>
              <a:t>16/09/2025</a:t>
            </a:fld>
            <a:endParaRPr lang="fr-FR" dirty="0"/>
          </a:p>
        </p:txBody>
      </p:sp>
      <p:sp>
        <p:nvSpPr>
          <p:cNvPr id="5" name="Espace réservé du pied de page 4">
            <a:extLst>
              <a:ext uri="{FF2B5EF4-FFF2-40B4-BE49-F238E27FC236}">
                <a16:creationId xmlns:a16="http://schemas.microsoft.com/office/drawing/2014/main" id="{AAF16768-CFC4-3523-525B-ED1ED1FE475C}"/>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7FDA0EDF-768B-6BB7-13B1-7EBF9A24CB29}"/>
              </a:ext>
            </a:extLst>
          </p:cNvPr>
          <p:cNvSpPr>
            <a:spLocks noGrp="1"/>
          </p:cNvSpPr>
          <p:nvPr>
            <p:ph type="sldNum" sz="quarter" idx="12"/>
          </p:nvPr>
        </p:nvSpPr>
        <p:spPr/>
        <p:txBody>
          <a:bodyPr/>
          <a:lstStyle/>
          <a:p>
            <a:fld id="{CD13F394-DBAB-46EC-9D5F-C25E9D8738D8}" type="slidenum">
              <a:rPr lang="fr-FR" smtClean="0"/>
              <a:t>‹N°›</a:t>
            </a:fld>
            <a:endParaRPr lang="fr-FR" dirty="0"/>
          </a:p>
        </p:txBody>
      </p:sp>
    </p:spTree>
    <p:extLst>
      <p:ext uri="{BB962C8B-B14F-4D97-AF65-F5344CB8AC3E}">
        <p14:creationId xmlns:p14="http://schemas.microsoft.com/office/powerpoint/2010/main" val="747227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2DE3A00-0928-501D-6D93-019F4EE21A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F27A3F7-38AE-6331-A588-D193724C13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8FFAB82-E8FC-0AEF-5770-2F3540FDDC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1BF198-FD5E-4809-AA9C-428E8A3CE1B2}" type="datetimeFigureOut">
              <a:rPr lang="fr-FR" smtClean="0"/>
              <a:t>16/09/2025</a:t>
            </a:fld>
            <a:endParaRPr lang="fr-FR" dirty="0"/>
          </a:p>
        </p:txBody>
      </p:sp>
      <p:sp>
        <p:nvSpPr>
          <p:cNvPr id="5" name="Espace réservé du pied de page 4">
            <a:extLst>
              <a:ext uri="{FF2B5EF4-FFF2-40B4-BE49-F238E27FC236}">
                <a16:creationId xmlns:a16="http://schemas.microsoft.com/office/drawing/2014/main" id="{C198784E-9ED2-2642-E7CC-EE6CB10EB0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DE3C406B-EDB2-A148-739B-AA5AF8823B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13F394-DBAB-46EC-9D5F-C25E9D8738D8}" type="slidenum">
              <a:rPr lang="fr-FR" smtClean="0"/>
              <a:t>‹N°›</a:t>
            </a:fld>
            <a:endParaRPr lang="fr-FR" dirty="0"/>
          </a:p>
        </p:txBody>
      </p:sp>
    </p:spTree>
    <p:extLst>
      <p:ext uri="{BB962C8B-B14F-4D97-AF65-F5344CB8AC3E}">
        <p14:creationId xmlns:p14="http://schemas.microsoft.com/office/powerpoint/2010/main" val="19492591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059873-084E-4070-C933-6327983D2C00}"/>
              </a:ext>
            </a:extLst>
          </p:cNvPr>
          <p:cNvSpPr>
            <a:spLocks noGrp="1"/>
          </p:cNvSpPr>
          <p:nvPr>
            <p:ph type="ctrTitle"/>
          </p:nvPr>
        </p:nvSpPr>
        <p:spPr/>
        <p:txBody>
          <a:bodyPr/>
          <a:lstStyle/>
          <a:p>
            <a:r>
              <a:rPr lang="fr-FR" dirty="0"/>
              <a:t>Les infections respiratoires basses</a:t>
            </a:r>
          </a:p>
        </p:txBody>
      </p:sp>
      <p:sp>
        <p:nvSpPr>
          <p:cNvPr id="3" name="Sous-titre 2">
            <a:extLst>
              <a:ext uri="{FF2B5EF4-FFF2-40B4-BE49-F238E27FC236}">
                <a16:creationId xmlns:a16="http://schemas.microsoft.com/office/drawing/2014/main" id="{772046BF-09F5-7012-91B2-4A65227FEAE7}"/>
              </a:ext>
            </a:extLst>
          </p:cNvPr>
          <p:cNvSpPr>
            <a:spLocks noGrp="1"/>
          </p:cNvSpPr>
          <p:nvPr>
            <p:ph type="subTitle" idx="1"/>
          </p:nvPr>
        </p:nvSpPr>
        <p:spPr/>
        <p:txBody>
          <a:bodyPr/>
          <a:lstStyle/>
          <a:p>
            <a:r>
              <a:rPr lang="fr-FR" dirty="0"/>
              <a:t>Dr Rania Kaddoussi</a:t>
            </a:r>
          </a:p>
          <a:p>
            <a:r>
              <a:rPr lang="fr-FR" dirty="0"/>
              <a:t>PR AG en pneumologie </a:t>
            </a:r>
          </a:p>
        </p:txBody>
      </p:sp>
    </p:spTree>
    <p:extLst>
      <p:ext uri="{BB962C8B-B14F-4D97-AF65-F5344CB8AC3E}">
        <p14:creationId xmlns:p14="http://schemas.microsoft.com/office/powerpoint/2010/main" val="38359537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57E9B5-F0D7-E4EC-143B-D68BE36154C3}"/>
              </a:ext>
            </a:extLst>
          </p:cNvPr>
          <p:cNvSpPr>
            <a:spLocks noGrp="1"/>
          </p:cNvSpPr>
          <p:nvPr>
            <p:ph type="title"/>
          </p:nvPr>
        </p:nvSpPr>
        <p:spPr/>
        <p:txBody>
          <a:bodyPr/>
          <a:lstStyle/>
          <a:p>
            <a:r>
              <a:rPr lang="fr-FR" dirty="0"/>
              <a:t>Bronchite </a:t>
            </a:r>
          </a:p>
        </p:txBody>
      </p:sp>
      <p:sp>
        <p:nvSpPr>
          <p:cNvPr id="3" name="Espace réservé du contenu 2">
            <a:extLst>
              <a:ext uri="{FF2B5EF4-FFF2-40B4-BE49-F238E27FC236}">
                <a16:creationId xmlns:a16="http://schemas.microsoft.com/office/drawing/2014/main" id="{8DE3574E-41BA-F38C-085F-827F645E8D36}"/>
              </a:ext>
            </a:extLst>
          </p:cNvPr>
          <p:cNvSpPr>
            <a:spLocks noGrp="1"/>
          </p:cNvSpPr>
          <p:nvPr>
            <p:ph idx="1"/>
          </p:nvPr>
        </p:nvSpPr>
        <p:spPr/>
        <p:txBody>
          <a:bodyPr/>
          <a:lstStyle/>
          <a:p>
            <a:endParaRPr lang="fr-FR" dirty="0"/>
          </a:p>
        </p:txBody>
      </p:sp>
      <p:pic>
        <p:nvPicPr>
          <p:cNvPr id="5" name="Image 4">
            <a:extLst>
              <a:ext uri="{FF2B5EF4-FFF2-40B4-BE49-F238E27FC236}">
                <a16:creationId xmlns:a16="http://schemas.microsoft.com/office/drawing/2014/main" id="{1AC2D06F-E3E8-765F-006B-34102C247617}"/>
              </a:ext>
            </a:extLst>
          </p:cNvPr>
          <p:cNvPicPr>
            <a:picLocks noChangeAspect="1"/>
          </p:cNvPicPr>
          <p:nvPr/>
        </p:nvPicPr>
        <p:blipFill>
          <a:blip r:embed="rId2"/>
          <a:stretch>
            <a:fillRect/>
          </a:stretch>
        </p:blipFill>
        <p:spPr>
          <a:xfrm>
            <a:off x="381000" y="1825625"/>
            <a:ext cx="11811000" cy="4743450"/>
          </a:xfrm>
          <a:prstGeom prst="rect">
            <a:avLst/>
          </a:prstGeom>
        </p:spPr>
      </p:pic>
    </p:spTree>
    <p:extLst>
      <p:ext uri="{BB962C8B-B14F-4D97-AF65-F5344CB8AC3E}">
        <p14:creationId xmlns:p14="http://schemas.microsoft.com/office/powerpoint/2010/main" val="23458185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D0353205-8D3A-B773-E5BE-EB2AE9599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1364" y="912813"/>
            <a:ext cx="5407025" cy="539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CF4AC46B-FF74-C148-FEB2-CBA351D896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064" y="1357313"/>
            <a:ext cx="7508875"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5">
            <a:extLst>
              <a:ext uri="{FF2B5EF4-FFF2-40B4-BE49-F238E27FC236}">
                <a16:creationId xmlns:a16="http://schemas.microsoft.com/office/drawing/2014/main" id="{96169EA8-EE05-F2DA-0E12-D583AB6F06F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87714" y="731838"/>
            <a:ext cx="5507037" cy="5434012"/>
          </a:xfr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5">
            <a:extLst>
              <a:ext uri="{FF2B5EF4-FFF2-40B4-BE49-F238E27FC236}">
                <a16:creationId xmlns:a16="http://schemas.microsoft.com/office/drawing/2014/main" id="{948ADC77-BA17-FBE3-F936-ED6B8EE689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60700" y="404814"/>
            <a:ext cx="5988050" cy="6048375"/>
          </a:xfr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RÃ©sultat de recherche d'images pour &quot;PFLA RADIOLOGIE&quot;">
            <a:extLst>
              <a:ext uri="{FF2B5EF4-FFF2-40B4-BE49-F238E27FC236}">
                <a16:creationId xmlns:a16="http://schemas.microsoft.com/office/drawing/2014/main" id="{3365B6E2-891D-1BE2-425B-40D1E4F882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490" t="18500" r="15031" b="4111"/>
          <a:stretch>
            <a:fillRect/>
          </a:stretch>
        </p:blipFill>
        <p:spPr bwMode="auto">
          <a:xfrm>
            <a:off x="1852613" y="1341439"/>
            <a:ext cx="5357812"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6" descr="601 PNEUMONIE BRONCHOGRAMME">
            <a:extLst>
              <a:ext uri="{FF2B5EF4-FFF2-40B4-BE49-F238E27FC236}">
                <a16:creationId xmlns:a16="http://schemas.microsoft.com/office/drawing/2014/main" id="{9FB3F0D9-C4B9-DD77-FB9E-870580507A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7865"/>
          <a:stretch>
            <a:fillRect/>
          </a:stretch>
        </p:blipFill>
        <p:spPr bwMode="auto">
          <a:xfrm>
            <a:off x="7210425" y="1117600"/>
            <a:ext cx="3486150" cy="50244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5">
            <a:extLst>
              <a:ext uri="{FF2B5EF4-FFF2-40B4-BE49-F238E27FC236}">
                <a16:creationId xmlns:a16="http://schemas.microsoft.com/office/drawing/2014/main" id="{75784BC3-57FA-605D-4764-091C1ACC2D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16300" y="620713"/>
            <a:ext cx="5487988" cy="5688012"/>
          </a:xfrm>
          <a:noFill/>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a:extLst>
              <a:ext uri="{FF2B5EF4-FFF2-40B4-BE49-F238E27FC236}">
                <a16:creationId xmlns:a16="http://schemas.microsoft.com/office/drawing/2014/main" id="{3611B773-0FF7-E98F-330E-0706ADDD6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551" t="33176" r="51024" b="12178"/>
          <a:stretch>
            <a:fillRect/>
          </a:stretch>
        </p:blipFill>
        <p:spPr bwMode="auto">
          <a:xfrm>
            <a:off x="3952875" y="1285876"/>
            <a:ext cx="4330700" cy="468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B6152D5D-B8E7-8643-663D-6CA6C7B5F12E}"/>
              </a:ext>
            </a:extLst>
          </p:cNvPr>
          <p:cNvGraphicFramePr>
            <a:graphicFrameLocks noGrp="1"/>
          </p:cNvGraphicFramePr>
          <p:nvPr>
            <p:ph idx="1"/>
          </p:nvPr>
        </p:nvGraphicFramePr>
        <p:xfrm>
          <a:off x="2424113" y="1254125"/>
          <a:ext cx="7772400" cy="5603876"/>
        </p:xfrm>
        <a:graphic>
          <a:graphicData uri="http://schemas.openxmlformats.org/drawingml/2006/table">
            <a:tbl>
              <a:tblPr firstRow="1" bandRow="1">
                <a:tableStyleId>{5C22544A-7EE6-4342-B048-85BDC9FD1C3A}</a:tableStyleId>
              </a:tblPr>
              <a:tblGrid>
                <a:gridCol w="2286016">
                  <a:extLst>
                    <a:ext uri="{9D8B030D-6E8A-4147-A177-3AD203B41FA5}">
                      <a16:colId xmlns:a16="http://schemas.microsoft.com/office/drawing/2014/main" val="20000"/>
                    </a:ext>
                  </a:extLst>
                </a:gridCol>
                <a:gridCol w="2928958">
                  <a:extLst>
                    <a:ext uri="{9D8B030D-6E8A-4147-A177-3AD203B41FA5}">
                      <a16:colId xmlns:a16="http://schemas.microsoft.com/office/drawing/2014/main" val="20001"/>
                    </a:ext>
                  </a:extLst>
                </a:gridCol>
                <a:gridCol w="2557426">
                  <a:extLst>
                    <a:ext uri="{9D8B030D-6E8A-4147-A177-3AD203B41FA5}">
                      <a16:colId xmlns:a16="http://schemas.microsoft.com/office/drawing/2014/main" val="20002"/>
                    </a:ext>
                  </a:extLst>
                </a:gridCol>
              </a:tblGrid>
              <a:tr h="640163">
                <a:tc>
                  <a:txBody>
                    <a:bodyPr/>
                    <a:lstStyle/>
                    <a:p>
                      <a:endParaRPr lang="fr-FR" sz="1800" dirty="0"/>
                    </a:p>
                  </a:txBody>
                  <a:tcPr marT="45723" marB="45723"/>
                </a:tc>
                <a:tc>
                  <a:txBody>
                    <a:bodyPr/>
                    <a:lstStyle/>
                    <a:p>
                      <a:pPr algn="ctr"/>
                      <a:r>
                        <a:rPr lang="fr-FR" sz="1800" dirty="0"/>
                        <a:t>PFLA</a:t>
                      </a:r>
                    </a:p>
                  </a:txBody>
                  <a:tcPr marT="45723" marB="45723"/>
                </a:tc>
                <a:tc>
                  <a:txBody>
                    <a:bodyPr/>
                    <a:lstStyle/>
                    <a:p>
                      <a:pPr algn="ctr"/>
                      <a:r>
                        <a:rPr lang="fr-FR" sz="1800" dirty="0"/>
                        <a:t>Pneumopathie atypique</a:t>
                      </a:r>
                    </a:p>
                  </a:txBody>
                  <a:tcPr marT="45723" marB="45723"/>
                </a:tc>
                <a:extLst>
                  <a:ext uri="{0D108BD9-81ED-4DB2-BD59-A6C34878D82A}">
                    <a16:rowId xmlns:a16="http://schemas.microsoft.com/office/drawing/2014/main" val="10000"/>
                  </a:ext>
                </a:extLst>
              </a:tr>
              <a:tr h="370869">
                <a:tc>
                  <a:txBody>
                    <a:bodyPr/>
                    <a:lstStyle/>
                    <a:p>
                      <a:r>
                        <a:rPr lang="fr-FR" sz="1800" b="1" dirty="0"/>
                        <a:t>Début</a:t>
                      </a:r>
                    </a:p>
                  </a:txBody>
                  <a:tcPr marT="45723" marB="45723"/>
                </a:tc>
                <a:tc>
                  <a:txBody>
                    <a:bodyPr/>
                    <a:lstStyle/>
                    <a:p>
                      <a:r>
                        <a:rPr lang="fr-FR" sz="1800" dirty="0"/>
                        <a:t>Brutal</a:t>
                      </a:r>
                    </a:p>
                  </a:txBody>
                  <a:tcPr marT="45723" marB="45723"/>
                </a:tc>
                <a:tc>
                  <a:txBody>
                    <a:bodyPr/>
                    <a:lstStyle/>
                    <a:p>
                      <a:r>
                        <a:rPr lang="fr-FR" sz="1800" dirty="0"/>
                        <a:t>Progressif</a:t>
                      </a:r>
                    </a:p>
                  </a:txBody>
                  <a:tcPr marT="45723" marB="45723"/>
                </a:tc>
                <a:extLst>
                  <a:ext uri="{0D108BD9-81ED-4DB2-BD59-A6C34878D82A}">
                    <a16:rowId xmlns:a16="http://schemas.microsoft.com/office/drawing/2014/main" val="10001"/>
                  </a:ext>
                </a:extLst>
              </a:tr>
              <a:tr h="370869">
                <a:tc>
                  <a:txBody>
                    <a:bodyPr/>
                    <a:lstStyle/>
                    <a:p>
                      <a:r>
                        <a:rPr lang="fr-FR" sz="1800" b="1" dirty="0"/>
                        <a:t>Frisson</a:t>
                      </a:r>
                    </a:p>
                  </a:txBody>
                  <a:tcPr marT="45723" marB="45723"/>
                </a:tc>
                <a:tc>
                  <a:txBody>
                    <a:bodyPr/>
                    <a:lstStyle/>
                    <a:p>
                      <a:r>
                        <a:rPr lang="fr-FR" sz="1800" dirty="0"/>
                        <a:t>Présents</a:t>
                      </a:r>
                    </a:p>
                  </a:txBody>
                  <a:tcPr marT="45723" marB="45723"/>
                </a:tc>
                <a:tc>
                  <a:txBody>
                    <a:bodyPr/>
                    <a:lstStyle/>
                    <a:p>
                      <a:r>
                        <a:rPr lang="fr-FR" sz="1800" dirty="0"/>
                        <a:t>Absents</a:t>
                      </a:r>
                    </a:p>
                  </a:txBody>
                  <a:tcPr marT="45723" marB="45723"/>
                </a:tc>
                <a:extLst>
                  <a:ext uri="{0D108BD9-81ED-4DB2-BD59-A6C34878D82A}">
                    <a16:rowId xmlns:a16="http://schemas.microsoft.com/office/drawing/2014/main" val="10002"/>
                  </a:ext>
                </a:extLst>
              </a:tr>
              <a:tr h="370869">
                <a:tc>
                  <a:txBody>
                    <a:bodyPr/>
                    <a:lstStyle/>
                    <a:p>
                      <a:r>
                        <a:rPr lang="fr-FR" sz="1800" b="1" dirty="0"/>
                        <a:t>Température</a:t>
                      </a:r>
                    </a:p>
                  </a:txBody>
                  <a:tcPr marT="45723" marB="45723"/>
                </a:tc>
                <a:tc>
                  <a:txBody>
                    <a:bodyPr/>
                    <a:lstStyle/>
                    <a:p>
                      <a:r>
                        <a:rPr lang="fr-FR" sz="1800" dirty="0"/>
                        <a:t>39-40°</a:t>
                      </a:r>
                    </a:p>
                  </a:txBody>
                  <a:tcPr marT="45723" marB="45723"/>
                </a:tc>
                <a:tc>
                  <a:txBody>
                    <a:bodyPr/>
                    <a:lstStyle/>
                    <a:p>
                      <a:r>
                        <a:rPr lang="fr-FR" sz="1800" dirty="0"/>
                        <a:t>38-38,5°</a:t>
                      </a:r>
                    </a:p>
                  </a:txBody>
                  <a:tcPr marT="45723" marB="45723"/>
                </a:tc>
                <a:extLst>
                  <a:ext uri="{0D108BD9-81ED-4DB2-BD59-A6C34878D82A}">
                    <a16:rowId xmlns:a16="http://schemas.microsoft.com/office/drawing/2014/main" val="10003"/>
                  </a:ext>
                </a:extLst>
              </a:tr>
              <a:tr h="640163">
                <a:tc>
                  <a:txBody>
                    <a:bodyPr/>
                    <a:lstStyle/>
                    <a:p>
                      <a:r>
                        <a:rPr lang="fr-FR" sz="1800" b="1" dirty="0"/>
                        <a:t>Douleur thoracique</a:t>
                      </a:r>
                    </a:p>
                  </a:txBody>
                  <a:tcPr marT="45723" marB="45723"/>
                </a:tc>
                <a:tc>
                  <a:txBody>
                    <a:bodyPr/>
                    <a:lstStyle/>
                    <a:p>
                      <a:r>
                        <a:rPr lang="fr-FR" sz="1800" dirty="0"/>
                        <a:t>Présente</a:t>
                      </a:r>
                    </a:p>
                  </a:txBody>
                  <a:tcPr marT="45723" marB="45723"/>
                </a:tc>
                <a:tc>
                  <a:txBody>
                    <a:bodyPr/>
                    <a:lstStyle/>
                    <a:p>
                      <a:r>
                        <a:rPr lang="fr-FR" sz="1800" dirty="0"/>
                        <a:t>Absente</a:t>
                      </a:r>
                    </a:p>
                  </a:txBody>
                  <a:tcPr marT="45723" marB="45723"/>
                </a:tc>
                <a:extLst>
                  <a:ext uri="{0D108BD9-81ED-4DB2-BD59-A6C34878D82A}">
                    <a16:rowId xmlns:a16="http://schemas.microsoft.com/office/drawing/2014/main" val="10004"/>
                  </a:ext>
                </a:extLst>
              </a:tr>
              <a:tr h="640163">
                <a:tc>
                  <a:txBody>
                    <a:bodyPr/>
                    <a:lstStyle/>
                    <a:p>
                      <a:r>
                        <a:rPr lang="fr-FR" sz="1800" b="1" dirty="0"/>
                        <a:t>Expectoration</a:t>
                      </a:r>
                    </a:p>
                  </a:txBody>
                  <a:tcPr marT="45723" marB="45723"/>
                </a:tc>
                <a:tc>
                  <a:txBody>
                    <a:bodyPr/>
                    <a:lstStyle/>
                    <a:p>
                      <a:r>
                        <a:rPr lang="fr-FR" sz="1800" dirty="0"/>
                        <a:t>Rouillée</a:t>
                      </a:r>
                    </a:p>
                  </a:txBody>
                  <a:tcPr marT="45723" marB="45723"/>
                </a:tc>
                <a:tc>
                  <a:txBody>
                    <a:bodyPr/>
                    <a:lstStyle/>
                    <a:p>
                      <a:r>
                        <a:rPr lang="fr-FR" sz="1800" dirty="0"/>
                        <a:t>Absente</a:t>
                      </a:r>
                      <a:r>
                        <a:rPr lang="fr-FR" sz="1800" baseline="0" dirty="0"/>
                        <a:t> ou muqueuse</a:t>
                      </a:r>
                      <a:endParaRPr lang="fr-FR" sz="1800" dirty="0"/>
                    </a:p>
                  </a:txBody>
                  <a:tcPr marT="45723" marB="45723"/>
                </a:tc>
                <a:extLst>
                  <a:ext uri="{0D108BD9-81ED-4DB2-BD59-A6C34878D82A}">
                    <a16:rowId xmlns:a16="http://schemas.microsoft.com/office/drawing/2014/main" val="10005"/>
                  </a:ext>
                </a:extLst>
              </a:tr>
              <a:tr h="370869">
                <a:tc>
                  <a:txBody>
                    <a:bodyPr/>
                    <a:lstStyle/>
                    <a:p>
                      <a:r>
                        <a:rPr lang="fr-FR" sz="1800" b="1" dirty="0"/>
                        <a:t>Herpes labial</a:t>
                      </a:r>
                    </a:p>
                  </a:txBody>
                  <a:tcPr marT="45723" marB="45723"/>
                </a:tc>
                <a:tc>
                  <a:txBody>
                    <a:bodyPr/>
                    <a:lstStyle/>
                    <a:p>
                      <a:r>
                        <a:rPr lang="fr-FR" sz="1800" dirty="0"/>
                        <a:t>Présent</a:t>
                      </a:r>
                    </a:p>
                  </a:txBody>
                  <a:tcPr marT="45723" marB="45723"/>
                </a:tc>
                <a:tc>
                  <a:txBody>
                    <a:bodyPr/>
                    <a:lstStyle/>
                    <a:p>
                      <a:r>
                        <a:rPr lang="fr-FR" sz="1800" dirty="0"/>
                        <a:t>Absent</a:t>
                      </a:r>
                    </a:p>
                  </a:txBody>
                  <a:tcPr marT="45723" marB="45723"/>
                </a:tc>
                <a:extLst>
                  <a:ext uri="{0D108BD9-81ED-4DB2-BD59-A6C34878D82A}">
                    <a16:rowId xmlns:a16="http://schemas.microsoft.com/office/drawing/2014/main" val="10006"/>
                  </a:ext>
                </a:extLst>
              </a:tr>
              <a:tr h="1188879">
                <a:tc>
                  <a:txBody>
                    <a:bodyPr/>
                    <a:lstStyle/>
                    <a:p>
                      <a:r>
                        <a:rPr lang="fr-FR" sz="1800" b="1" dirty="0"/>
                        <a:t>Signes physiques</a:t>
                      </a:r>
                    </a:p>
                  </a:txBody>
                  <a:tcPr marT="45723" marB="45723"/>
                </a:tc>
                <a:tc>
                  <a:txBody>
                    <a:bodyPr/>
                    <a:lstStyle/>
                    <a:p>
                      <a:r>
                        <a:rPr lang="fr-FR" sz="1800" dirty="0"/>
                        <a:t>Syndrome de condensation</a:t>
                      </a:r>
                    </a:p>
                    <a:p>
                      <a:r>
                        <a:rPr lang="fr-FR" sz="1800" dirty="0"/>
                        <a:t>Non rétractile,</a:t>
                      </a:r>
                      <a:r>
                        <a:rPr lang="fr-FR" sz="1800" baseline="0" dirty="0"/>
                        <a:t> souffle tubaire</a:t>
                      </a:r>
                      <a:endParaRPr lang="fr-FR" sz="1800" dirty="0"/>
                    </a:p>
                  </a:txBody>
                  <a:tcPr marT="45723" marB="45723"/>
                </a:tc>
                <a:tc>
                  <a:txBody>
                    <a:bodyPr/>
                    <a:lstStyle/>
                    <a:p>
                      <a:r>
                        <a:rPr lang="fr-FR" sz="1800" dirty="0"/>
                        <a:t>Râles discrets</a:t>
                      </a:r>
                    </a:p>
                  </a:txBody>
                  <a:tcPr marT="45723" marB="45723"/>
                </a:tc>
                <a:extLst>
                  <a:ext uri="{0D108BD9-81ED-4DB2-BD59-A6C34878D82A}">
                    <a16:rowId xmlns:a16="http://schemas.microsoft.com/office/drawing/2014/main" val="10007"/>
                  </a:ext>
                </a:extLst>
              </a:tr>
              <a:tr h="640163">
                <a:tc>
                  <a:txBody>
                    <a:bodyPr/>
                    <a:lstStyle/>
                    <a:p>
                      <a:r>
                        <a:rPr lang="fr-FR" sz="1800" b="1" dirty="0"/>
                        <a:t>Signes extra-respiratoires</a:t>
                      </a:r>
                    </a:p>
                  </a:txBody>
                  <a:tcPr marT="45723" marB="45723"/>
                </a:tc>
                <a:tc>
                  <a:txBody>
                    <a:bodyPr/>
                    <a:lstStyle/>
                    <a:p>
                      <a:r>
                        <a:rPr lang="fr-FR" sz="1800" dirty="0"/>
                        <a:t>Variables</a:t>
                      </a:r>
                    </a:p>
                  </a:txBody>
                  <a:tcPr marT="45723" marB="45723"/>
                </a:tc>
                <a:tc>
                  <a:txBody>
                    <a:bodyPr/>
                    <a:lstStyle/>
                    <a:p>
                      <a:r>
                        <a:rPr lang="fr-FR" sz="1800" dirty="0"/>
                        <a:t>Présents (myalgies,</a:t>
                      </a:r>
                      <a:r>
                        <a:rPr lang="fr-FR" sz="1800" baseline="0" dirty="0"/>
                        <a:t> ...)</a:t>
                      </a:r>
                      <a:endParaRPr lang="fr-FR" sz="1800" dirty="0"/>
                    </a:p>
                  </a:txBody>
                  <a:tcPr marT="45723" marB="45723"/>
                </a:tc>
                <a:extLst>
                  <a:ext uri="{0D108BD9-81ED-4DB2-BD59-A6C34878D82A}">
                    <a16:rowId xmlns:a16="http://schemas.microsoft.com/office/drawing/2014/main" val="10008"/>
                  </a:ext>
                </a:extLst>
              </a:tr>
              <a:tr h="370869">
                <a:tc>
                  <a:txBody>
                    <a:bodyPr/>
                    <a:lstStyle/>
                    <a:p>
                      <a:r>
                        <a:rPr lang="fr-FR" sz="1800" b="1" dirty="0" err="1"/>
                        <a:t>Rx</a:t>
                      </a:r>
                      <a:endParaRPr lang="fr-FR" sz="1800" b="1" dirty="0"/>
                    </a:p>
                  </a:txBody>
                  <a:tcPr marT="45723" marB="45723"/>
                </a:tc>
                <a:tc>
                  <a:txBody>
                    <a:bodyPr/>
                    <a:lstStyle/>
                    <a:p>
                      <a:r>
                        <a:rPr lang="fr-FR" sz="1800" dirty="0"/>
                        <a:t>Opacité</a:t>
                      </a:r>
                      <a:r>
                        <a:rPr lang="fr-FR" sz="1800" baseline="0" dirty="0"/>
                        <a:t> systématisée</a:t>
                      </a:r>
                      <a:endParaRPr lang="fr-FR" sz="1800" dirty="0"/>
                    </a:p>
                  </a:txBody>
                  <a:tcPr marT="45723" marB="45723"/>
                </a:tc>
                <a:tc>
                  <a:txBody>
                    <a:bodyPr/>
                    <a:lstStyle/>
                    <a:p>
                      <a:r>
                        <a:rPr lang="fr-FR" sz="1800" dirty="0"/>
                        <a:t>Infiltrat</a:t>
                      </a:r>
                      <a:r>
                        <a:rPr lang="fr-FR" sz="1800" baseline="0" dirty="0"/>
                        <a:t> interstitiel</a:t>
                      </a:r>
                      <a:endParaRPr lang="fr-FR" sz="1800" dirty="0"/>
                    </a:p>
                  </a:txBody>
                  <a:tcPr marT="45723" marB="45723"/>
                </a:tc>
                <a:extLst>
                  <a:ext uri="{0D108BD9-81ED-4DB2-BD59-A6C34878D82A}">
                    <a16:rowId xmlns:a16="http://schemas.microsoft.com/office/drawing/2014/main" val="10009"/>
                  </a:ext>
                </a:extLst>
              </a:tr>
            </a:tbl>
          </a:graphicData>
        </a:graphic>
      </p:graphicFrame>
      <p:sp>
        <p:nvSpPr>
          <p:cNvPr id="38960" name="ZoneTexte 4">
            <a:extLst>
              <a:ext uri="{FF2B5EF4-FFF2-40B4-BE49-F238E27FC236}">
                <a16:creationId xmlns:a16="http://schemas.microsoft.com/office/drawing/2014/main" id="{66A2AE6B-0D3F-8E12-02E9-E085B15206EF}"/>
              </a:ext>
            </a:extLst>
          </p:cNvPr>
          <p:cNvSpPr txBox="1">
            <a:spLocks noChangeArrowheads="1"/>
          </p:cNvSpPr>
          <p:nvPr/>
        </p:nvSpPr>
        <p:spPr bwMode="auto">
          <a:xfrm>
            <a:off x="2782888" y="765175"/>
            <a:ext cx="7677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eaLnBrk="1" hangingPunct="1">
              <a:lnSpc>
                <a:spcPct val="100000"/>
              </a:lnSpc>
              <a:spcBef>
                <a:spcPct val="0"/>
              </a:spcBef>
              <a:spcAft>
                <a:spcPct val="0"/>
              </a:spcAft>
              <a:buClrTx/>
              <a:buSzTx/>
              <a:buFontTx/>
              <a:buNone/>
            </a:pPr>
            <a:r>
              <a:rPr lang="fr-FR" altLang="fr-FR" b="1">
                <a:solidFill>
                  <a:schemeClr val="accent1"/>
                </a:solidFill>
                <a:latin typeface="Tahoma" panose="020B0604030504040204" pitchFamily="34" charset="0"/>
              </a:rPr>
              <a:t>Tableau comparatif entre PFLA et pneumopathie atypique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80A00E-1CB3-C62F-6B02-F280ADEF8FE5}"/>
              </a:ext>
            </a:extLst>
          </p:cNvPr>
          <p:cNvSpPr>
            <a:spLocks noGrp="1"/>
          </p:cNvSpPr>
          <p:nvPr>
            <p:ph type="title"/>
          </p:nvPr>
        </p:nvSpPr>
        <p:spPr/>
        <p:txBody>
          <a:bodyPr/>
          <a:lstStyle/>
          <a:p>
            <a:pPr>
              <a:defRPr/>
            </a:pPr>
            <a:endParaRPr lang="fr-FR">
              <a:solidFill>
                <a:schemeClr val="tx1">
                  <a:lumMod val="75000"/>
                  <a:lumOff val="25000"/>
                </a:schemeClr>
              </a:solidFill>
            </a:endParaRPr>
          </a:p>
        </p:txBody>
      </p:sp>
      <p:sp>
        <p:nvSpPr>
          <p:cNvPr id="43011" name="Espace réservé du contenu 2">
            <a:extLst>
              <a:ext uri="{FF2B5EF4-FFF2-40B4-BE49-F238E27FC236}">
                <a16:creationId xmlns:a16="http://schemas.microsoft.com/office/drawing/2014/main" id="{7E91F9CC-5602-4C57-1A5C-38FF3C6D7E01}"/>
              </a:ext>
            </a:extLst>
          </p:cNvPr>
          <p:cNvSpPr>
            <a:spLocks noGrp="1" noChangeArrowheads="1"/>
          </p:cNvSpPr>
          <p:nvPr>
            <p:ph idx="1"/>
          </p:nvPr>
        </p:nvSpPr>
        <p:spPr/>
        <p:txBody>
          <a:bodyPr/>
          <a:lstStyle/>
          <a:p>
            <a:pPr eaLnBrk="1" hangingPunct="1"/>
            <a:endParaRPr lang="fr-FR" altLang="fr-FR" dirty="0"/>
          </a:p>
        </p:txBody>
      </p:sp>
      <p:pic>
        <p:nvPicPr>
          <p:cNvPr id="43012" name="Image 4">
            <a:extLst>
              <a:ext uri="{FF2B5EF4-FFF2-40B4-BE49-F238E27FC236}">
                <a16:creationId xmlns:a16="http://schemas.microsoft.com/office/drawing/2014/main" id="{1598A2F9-1D14-272B-6793-A464B66F4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461964"/>
            <a:ext cx="5067300"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1"/>
            <a:ext cx="8229600" cy="785813"/>
          </a:xfrm>
        </p:spPr>
        <p:txBody>
          <a:bodyPr>
            <a:normAutofit/>
          </a:bodyPr>
          <a:lstStyle/>
          <a:p>
            <a:pPr>
              <a:defRPr/>
            </a:pPr>
            <a:endParaRPr lang="fr-FR" sz="2000" b="1" dirty="0">
              <a:solidFill>
                <a:srgbClr val="FF0000"/>
              </a:solidFill>
            </a:endParaRP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4119284318"/>
              </p:ext>
            </p:extLst>
          </p:nvPr>
        </p:nvGraphicFramePr>
        <p:xfrm>
          <a:off x="1981200" y="882017"/>
          <a:ext cx="8229600" cy="4785360"/>
        </p:xfrm>
        <a:graphic>
          <a:graphicData uri="http://schemas.openxmlformats.org/drawingml/2006/table">
            <a:tbl>
              <a:tblPr firstRow="1" bandRow="1">
                <a:tableStyleId>{5C22544A-7EE6-4342-B048-85BDC9FD1C3A}</a:tableStyleId>
              </a:tblPr>
              <a:tblGrid>
                <a:gridCol w="4900618">
                  <a:extLst>
                    <a:ext uri="{9D8B030D-6E8A-4147-A177-3AD203B41FA5}">
                      <a16:colId xmlns:a16="http://schemas.microsoft.com/office/drawing/2014/main" val="20000"/>
                    </a:ext>
                  </a:extLst>
                </a:gridCol>
                <a:gridCol w="1571636">
                  <a:extLst>
                    <a:ext uri="{9D8B030D-6E8A-4147-A177-3AD203B41FA5}">
                      <a16:colId xmlns:a16="http://schemas.microsoft.com/office/drawing/2014/main" val="20001"/>
                    </a:ext>
                  </a:extLst>
                </a:gridCol>
                <a:gridCol w="1757346">
                  <a:extLst>
                    <a:ext uri="{9D8B030D-6E8A-4147-A177-3AD203B41FA5}">
                      <a16:colId xmlns:a16="http://schemas.microsoft.com/office/drawing/2014/main" val="20002"/>
                    </a:ext>
                  </a:extLst>
                </a:gridCol>
              </a:tblGrid>
              <a:tr h="386513">
                <a:tc>
                  <a:txBody>
                    <a:bodyPr/>
                    <a:lstStyle/>
                    <a:p>
                      <a:r>
                        <a:rPr lang="fr-FR" sz="2000" dirty="0"/>
                        <a:t>Antibiotiques</a:t>
                      </a:r>
                    </a:p>
                  </a:txBody>
                  <a:tcPr/>
                </a:tc>
                <a:tc>
                  <a:txBody>
                    <a:bodyPr/>
                    <a:lstStyle/>
                    <a:p>
                      <a:pPr algn="ctr"/>
                      <a:r>
                        <a:rPr lang="fr-FR" sz="1600" dirty="0"/>
                        <a:t>Pneumocoque</a:t>
                      </a:r>
                    </a:p>
                  </a:txBody>
                  <a:tcPr/>
                </a:tc>
                <a:tc>
                  <a:txBody>
                    <a:bodyPr/>
                    <a:lstStyle/>
                    <a:p>
                      <a:pPr algn="ctr"/>
                      <a:r>
                        <a:rPr lang="fr-FR" sz="1600" dirty="0"/>
                        <a:t>MP+Chlamydia</a:t>
                      </a:r>
                    </a:p>
                  </a:txBody>
                  <a:tcPr/>
                </a:tc>
                <a:extLst>
                  <a:ext uri="{0D108BD9-81ED-4DB2-BD59-A6C34878D82A}">
                    <a16:rowId xmlns:a16="http://schemas.microsoft.com/office/drawing/2014/main" val="10000"/>
                  </a:ext>
                </a:extLst>
              </a:tr>
              <a:tr h="356781">
                <a:tc>
                  <a:txBody>
                    <a:bodyPr/>
                    <a:lstStyle/>
                    <a:p>
                      <a:r>
                        <a:rPr lang="fr-FR" b="1" dirty="0" err="1"/>
                        <a:t>Amoxicilline</a:t>
                      </a:r>
                      <a:endParaRPr lang="fr-FR" b="1" dirty="0"/>
                    </a:p>
                  </a:txBody>
                  <a:tcPr/>
                </a:tc>
                <a:tc>
                  <a:txBody>
                    <a:bodyPr/>
                    <a:lstStyle/>
                    <a:p>
                      <a:pPr algn="ctr"/>
                      <a:r>
                        <a:rPr lang="fr-FR" b="1" dirty="0"/>
                        <a:t>+</a:t>
                      </a:r>
                      <a:r>
                        <a:rPr lang="fr-FR" b="1" baseline="0" dirty="0"/>
                        <a:t> + + </a:t>
                      </a:r>
                      <a:endParaRPr lang="fr-FR" b="1" dirty="0"/>
                    </a:p>
                  </a:txBody>
                  <a:tcPr/>
                </a:tc>
                <a:tc>
                  <a:txBody>
                    <a:bodyPr/>
                    <a:lstStyle/>
                    <a:p>
                      <a:pPr algn="ctr"/>
                      <a:r>
                        <a:rPr lang="fr-FR" b="1" dirty="0"/>
                        <a:t>-</a:t>
                      </a:r>
                    </a:p>
                  </a:txBody>
                  <a:tcPr/>
                </a:tc>
                <a:extLst>
                  <a:ext uri="{0D108BD9-81ED-4DB2-BD59-A6C34878D82A}">
                    <a16:rowId xmlns:a16="http://schemas.microsoft.com/office/drawing/2014/main" val="10001"/>
                  </a:ext>
                </a:extLst>
              </a:tr>
              <a:tr h="356781">
                <a:tc>
                  <a:txBody>
                    <a:bodyPr/>
                    <a:lstStyle/>
                    <a:p>
                      <a:r>
                        <a:rPr lang="fr-FR" b="1" dirty="0" err="1"/>
                        <a:t>Amox</a:t>
                      </a:r>
                      <a:r>
                        <a:rPr lang="fr-FR" b="1" dirty="0"/>
                        <a:t> – acide </a:t>
                      </a:r>
                      <a:r>
                        <a:rPr lang="fr-FR" b="1" dirty="0" err="1"/>
                        <a:t>clavulanique</a:t>
                      </a:r>
                      <a:r>
                        <a:rPr lang="fr-FR" b="1" dirty="0"/>
                        <a:t> (</a:t>
                      </a:r>
                      <a:r>
                        <a:rPr lang="fr-FR" b="1" dirty="0" err="1"/>
                        <a:t>Augmentin</a:t>
                      </a:r>
                      <a:r>
                        <a:rPr lang="fr-FR" b="1" dirty="0"/>
                        <a:t>)</a:t>
                      </a:r>
                    </a:p>
                  </a:txBody>
                  <a:tcPr/>
                </a:tc>
                <a:tc>
                  <a:txBody>
                    <a:bodyPr/>
                    <a:lstStyle/>
                    <a:p>
                      <a:pPr algn="ctr"/>
                      <a:r>
                        <a:rPr lang="fr-FR" b="1" dirty="0"/>
                        <a:t>+ + + </a:t>
                      </a:r>
                    </a:p>
                  </a:txBody>
                  <a:tcPr/>
                </a:tc>
                <a:tc>
                  <a:txBody>
                    <a:bodyPr/>
                    <a:lstStyle/>
                    <a:p>
                      <a:pPr algn="ctr"/>
                      <a:r>
                        <a:rPr lang="fr-FR" b="1" dirty="0"/>
                        <a:t>-</a:t>
                      </a:r>
                    </a:p>
                  </a:txBody>
                  <a:tcPr/>
                </a:tc>
                <a:extLst>
                  <a:ext uri="{0D108BD9-81ED-4DB2-BD59-A6C34878D82A}">
                    <a16:rowId xmlns:a16="http://schemas.microsoft.com/office/drawing/2014/main" val="10002"/>
                  </a:ext>
                </a:extLst>
              </a:tr>
              <a:tr h="624367">
                <a:tc>
                  <a:txBody>
                    <a:bodyPr/>
                    <a:lstStyle/>
                    <a:p>
                      <a:r>
                        <a:rPr lang="fr-FR" b="1" dirty="0"/>
                        <a:t>CG3 injectable  </a:t>
                      </a:r>
                      <a:r>
                        <a:rPr lang="fr-FR" dirty="0"/>
                        <a:t>(</a:t>
                      </a:r>
                      <a:r>
                        <a:rPr lang="fr-FR" dirty="0" err="1"/>
                        <a:t>Ceftazidime</a:t>
                      </a:r>
                      <a:r>
                        <a:rPr lang="fr-FR" baseline="0" dirty="0"/>
                        <a:t> : </a:t>
                      </a:r>
                      <a:r>
                        <a:rPr lang="fr-FR" b="0" baseline="0" dirty="0" err="1"/>
                        <a:t>Fortum</a:t>
                      </a:r>
                      <a:r>
                        <a:rPr lang="fr-FR" baseline="0" dirty="0"/>
                        <a:t>, </a:t>
                      </a:r>
                      <a:r>
                        <a:rPr lang="fr-FR" baseline="0" dirty="0" err="1"/>
                        <a:t>Cefotaxime</a:t>
                      </a:r>
                      <a:r>
                        <a:rPr lang="fr-FR" baseline="0" dirty="0"/>
                        <a:t> : </a:t>
                      </a:r>
                      <a:r>
                        <a:rPr lang="fr-FR" b="0" baseline="0" dirty="0" err="1"/>
                        <a:t>Claforan</a:t>
                      </a:r>
                      <a:r>
                        <a:rPr lang="fr-FR" baseline="0" dirty="0"/>
                        <a:t>)</a:t>
                      </a:r>
                      <a:endParaRPr lang="fr-FR" dirty="0"/>
                    </a:p>
                  </a:txBody>
                  <a:tcPr/>
                </a:tc>
                <a:tc>
                  <a:txBody>
                    <a:bodyPr/>
                    <a:lstStyle/>
                    <a:p>
                      <a:pPr algn="ctr"/>
                      <a:r>
                        <a:rPr lang="fr-FR" b="1" dirty="0"/>
                        <a:t>+ + </a:t>
                      </a:r>
                    </a:p>
                  </a:txBody>
                  <a:tcPr/>
                </a:tc>
                <a:tc>
                  <a:txBody>
                    <a:bodyPr/>
                    <a:lstStyle/>
                    <a:p>
                      <a:pPr algn="ctr"/>
                      <a:r>
                        <a:rPr lang="fr-FR" b="1" dirty="0"/>
                        <a:t>-</a:t>
                      </a:r>
                    </a:p>
                  </a:txBody>
                  <a:tcPr/>
                </a:tc>
                <a:extLst>
                  <a:ext uri="{0D108BD9-81ED-4DB2-BD59-A6C34878D82A}">
                    <a16:rowId xmlns:a16="http://schemas.microsoft.com/office/drawing/2014/main" val="10003"/>
                  </a:ext>
                </a:extLst>
              </a:tr>
              <a:tr h="624367">
                <a:tc>
                  <a:txBody>
                    <a:bodyPr/>
                    <a:lstStyle/>
                    <a:p>
                      <a:r>
                        <a:rPr lang="fr-FR" b="1" dirty="0"/>
                        <a:t>Macrolide</a:t>
                      </a:r>
                      <a:r>
                        <a:rPr lang="fr-FR" b="1" baseline="0" dirty="0"/>
                        <a:t>s </a:t>
                      </a:r>
                      <a:r>
                        <a:rPr lang="fr-FR" baseline="0" dirty="0"/>
                        <a:t>(</a:t>
                      </a:r>
                      <a:r>
                        <a:rPr lang="fr-FR" baseline="0" dirty="0" err="1"/>
                        <a:t>Clarithromycine</a:t>
                      </a:r>
                      <a:r>
                        <a:rPr lang="fr-FR" baseline="0" dirty="0"/>
                        <a:t> : </a:t>
                      </a:r>
                      <a:r>
                        <a:rPr lang="fr-FR" baseline="0" dirty="0" err="1"/>
                        <a:t>Zeclar</a:t>
                      </a:r>
                      <a:r>
                        <a:rPr lang="fr-FR" baseline="0" dirty="0"/>
                        <a:t>, </a:t>
                      </a:r>
                      <a:r>
                        <a:rPr lang="fr-FR" baseline="0" dirty="0" err="1"/>
                        <a:t>Azithromycine</a:t>
                      </a:r>
                      <a:r>
                        <a:rPr lang="fr-FR" baseline="0" dirty="0"/>
                        <a:t> : </a:t>
                      </a:r>
                      <a:r>
                        <a:rPr lang="fr-FR" baseline="0" dirty="0" err="1"/>
                        <a:t>Zithromax</a:t>
                      </a:r>
                      <a:r>
                        <a:rPr lang="fr-FR" baseline="0" dirty="0"/>
                        <a:t>)</a:t>
                      </a:r>
                      <a:endParaRPr lang="fr-FR" dirty="0"/>
                    </a:p>
                  </a:txBody>
                  <a:tcPr/>
                </a:tc>
                <a:tc>
                  <a:txBody>
                    <a:bodyPr/>
                    <a:lstStyle/>
                    <a:p>
                      <a:pPr algn="ctr"/>
                      <a:r>
                        <a:rPr lang="fr-FR" b="1" dirty="0"/>
                        <a:t>+</a:t>
                      </a:r>
                    </a:p>
                  </a:txBody>
                  <a:tcPr/>
                </a:tc>
                <a:tc>
                  <a:txBody>
                    <a:bodyPr/>
                    <a:lstStyle/>
                    <a:p>
                      <a:pPr algn="ctr"/>
                      <a:r>
                        <a:rPr lang="fr-FR" b="1" dirty="0"/>
                        <a:t>+ + + </a:t>
                      </a:r>
                    </a:p>
                  </a:txBody>
                  <a:tcPr/>
                </a:tc>
                <a:extLst>
                  <a:ext uri="{0D108BD9-81ED-4DB2-BD59-A6C34878D82A}">
                    <a16:rowId xmlns:a16="http://schemas.microsoft.com/office/drawing/2014/main" val="10004"/>
                  </a:ext>
                </a:extLst>
              </a:tr>
              <a:tr h="624367">
                <a:tc>
                  <a:txBody>
                    <a:bodyPr/>
                    <a:lstStyle/>
                    <a:p>
                      <a:r>
                        <a:rPr lang="fr-FR" b="1" dirty="0" err="1"/>
                        <a:t>Fluoroquinolones</a:t>
                      </a:r>
                      <a:r>
                        <a:rPr lang="fr-FR" b="1" dirty="0"/>
                        <a:t> non anti </a:t>
                      </a:r>
                      <a:r>
                        <a:rPr lang="fr-FR" b="1" dirty="0" err="1"/>
                        <a:t>pneumococciques</a:t>
                      </a:r>
                      <a:r>
                        <a:rPr lang="fr-FR" b="1" dirty="0"/>
                        <a:t> </a:t>
                      </a:r>
                      <a:r>
                        <a:rPr lang="fr-FR" dirty="0"/>
                        <a:t>(</a:t>
                      </a:r>
                      <a:r>
                        <a:rPr lang="fr-FR" dirty="0" err="1"/>
                        <a:t>Ofloxacine</a:t>
                      </a:r>
                      <a:r>
                        <a:rPr lang="fr-FR" dirty="0"/>
                        <a:t> : </a:t>
                      </a:r>
                      <a:r>
                        <a:rPr lang="fr-FR" dirty="0" err="1"/>
                        <a:t>Oflocet</a:t>
                      </a:r>
                      <a:r>
                        <a:rPr lang="fr-FR" dirty="0"/>
                        <a:t>)  </a:t>
                      </a:r>
                    </a:p>
                  </a:txBody>
                  <a:tcPr/>
                </a:tc>
                <a:tc>
                  <a:txBody>
                    <a:bodyPr/>
                    <a:lstStyle/>
                    <a:p>
                      <a:pPr algn="ctr"/>
                      <a:r>
                        <a:rPr lang="fr-FR" b="1" dirty="0"/>
                        <a:t>- </a:t>
                      </a:r>
                    </a:p>
                  </a:txBody>
                  <a:tcPr/>
                </a:tc>
                <a:tc>
                  <a:txBody>
                    <a:bodyPr/>
                    <a:lstStyle/>
                    <a:p>
                      <a:pPr algn="ctr"/>
                      <a:r>
                        <a:rPr lang="fr-FR" b="1" dirty="0"/>
                        <a:t>+ + + </a:t>
                      </a:r>
                    </a:p>
                  </a:txBody>
                  <a:tcPr/>
                </a:tc>
                <a:extLst>
                  <a:ext uri="{0D108BD9-81ED-4DB2-BD59-A6C34878D82A}">
                    <a16:rowId xmlns:a16="http://schemas.microsoft.com/office/drawing/2014/main" val="10005"/>
                  </a:ext>
                </a:extLst>
              </a:tr>
              <a:tr h="6243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1" dirty="0" err="1"/>
                        <a:t>Fluoroquinolones</a:t>
                      </a:r>
                      <a:r>
                        <a:rPr lang="fr-FR" b="1" dirty="0"/>
                        <a:t> anti </a:t>
                      </a:r>
                      <a:r>
                        <a:rPr lang="fr-FR" b="1" dirty="0" err="1"/>
                        <a:t>pneumococciques</a:t>
                      </a:r>
                      <a:r>
                        <a:rPr lang="fr-FR" b="1" dirty="0"/>
                        <a:t> </a:t>
                      </a:r>
                      <a:r>
                        <a:rPr lang="fr-FR" dirty="0"/>
                        <a:t>(</a:t>
                      </a:r>
                      <a:r>
                        <a:rPr lang="fr-FR" dirty="0" err="1"/>
                        <a:t>Levofloxacine</a:t>
                      </a:r>
                      <a:r>
                        <a:rPr lang="fr-FR" dirty="0"/>
                        <a:t>, </a:t>
                      </a:r>
                      <a:r>
                        <a:rPr lang="fr-FR" dirty="0" err="1"/>
                        <a:t>Moxifloxacine</a:t>
                      </a:r>
                      <a:r>
                        <a:rPr lang="fr-FR" dirty="0"/>
                        <a:t>) </a:t>
                      </a:r>
                    </a:p>
                  </a:txBody>
                  <a:tcPr/>
                </a:tc>
                <a:tc>
                  <a:txBody>
                    <a:bodyPr/>
                    <a:lstStyle/>
                    <a:p>
                      <a:pPr algn="ctr"/>
                      <a:r>
                        <a:rPr lang="fr-FR" b="1" dirty="0"/>
                        <a:t>+ + </a:t>
                      </a:r>
                    </a:p>
                  </a:txBody>
                  <a:tcPr/>
                </a:tc>
                <a:tc>
                  <a:txBody>
                    <a:bodyPr/>
                    <a:lstStyle/>
                    <a:p>
                      <a:pPr algn="ctr"/>
                      <a:r>
                        <a:rPr lang="fr-FR" b="1" dirty="0"/>
                        <a:t>+ + +</a:t>
                      </a:r>
                    </a:p>
                  </a:txBody>
                  <a:tcPr/>
                </a:tc>
                <a:extLst>
                  <a:ext uri="{0D108BD9-81ED-4DB2-BD59-A6C34878D82A}">
                    <a16:rowId xmlns:a16="http://schemas.microsoft.com/office/drawing/2014/main" val="10006"/>
                  </a:ext>
                </a:extLst>
              </a:tr>
              <a:tr h="356781">
                <a:tc>
                  <a:txBody>
                    <a:bodyPr/>
                    <a:lstStyle/>
                    <a:p>
                      <a:r>
                        <a:rPr lang="fr-FR" b="1" dirty="0"/>
                        <a:t>Aminosides</a:t>
                      </a:r>
                      <a:r>
                        <a:rPr lang="fr-FR" dirty="0"/>
                        <a:t> (</a:t>
                      </a:r>
                      <a:r>
                        <a:rPr lang="fr-FR" dirty="0" err="1"/>
                        <a:t>Amikacyne</a:t>
                      </a:r>
                      <a:r>
                        <a:rPr lang="fr-FR" baseline="0" dirty="0"/>
                        <a:t> : </a:t>
                      </a:r>
                      <a:r>
                        <a:rPr lang="fr-FR" baseline="0" dirty="0" err="1"/>
                        <a:t>Amiklin</a:t>
                      </a:r>
                      <a:r>
                        <a:rPr lang="fr-FR" baseline="0" dirty="0"/>
                        <a:t>)</a:t>
                      </a:r>
                      <a:r>
                        <a:rPr lang="fr-FR" dirty="0"/>
                        <a:t> </a:t>
                      </a:r>
                    </a:p>
                  </a:txBody>
                  <a:tcPr/>
                </a:tc>
                <a:tc>
                  <a:txBody>
                    <a:bodyPr/>
                    <a:lstStyle/>
                    <a:p>
                      <a:pPr algn="ctr"/>
                      <a:r>
                        <a:rPr lang="fr-FR" b="1" dirty="0"/>
                        <a:t>- </a:t>
                      </a:r>
                    </a:p>
                  </a:txBody>
                  <a:tcPr/>
                </a:tc>
                <a:tc>
                  <a:txBody>
                    <a:bodyPr/>
                    <a:lstStyle/>
                    <a:p>
                      <a:pPr algn="ctr"/>
                      <a:r>
                        <a:rPr lang="fr-FR" b="1" dirty="0"/>
                        <a:t>-</a:t>
                      </a:r>
                    </a:p>
                  </a:txBody>
                  <a:tcPr/>
                </a:tc>
                <a:extLst>
                  <a:ext uri="{0D108BD9-81ED-4DB2-BD59-A6C34878D82A}">
                    <a16:rowId xmlns:a16="http://schemas.microsoft.com/office/drawing/2014/main" val="10007"/>
                  </a:ext>
                </a:extLst>
              </a:tr>
              <a:tr h="356781">
                <a:tc>
                  <a:txBody>
                    <a:bodyPr/>
                    <a:lstStyle/>
                    <a:p>
                      <a:r>
                        <a:rPr lang="fr-FR" b="1" dirty="0" err="1"/>
                        <a:t>Synergistines</a:t>
                      </a:r>
                      <a:r>
                        <a:rPr lang="fr-FR" b="1" baseline="0" dirty="0"/>
                        <a:t> (</a:t>
                      </a:r>
                      <a:r>
                        <a:rPr lang="fr-FR" b="1" baseline="0" dirty="0" err="1"/>
                        <a:t>Pristinamycine</a:t>
                      </a:r>
                      <a:r>
                        <a:rPr lang="fr-FR" b="1" baseline="0" dirty="0"/>
                        <a:t> : </a:t>
                      </a:r>
                      <a:r>
                        <a:rPr lang="fr-FR" b="1" baseline="0" dirty="0" err="1"/>
                        <a:t>pyostacyne</a:t>
                      </a:r>
                      <a:r>
                        <a:rPr lang="fr-FR" baseline="0" dirty="0"/>
                        <a:t>)</a:t>
                      </a:r>
                      <a:endParaRPr lang="fr-FR" dirty="0"/>
                    </a:p>
                  </a:txBody>
                  <a:tcPr/>
                </a:tc>
                <a:tc>
                  <a:txBody>
                    <a:bodyPr/>
                    <a:lstStyle/>
                    <a:p>
                      <a:pPr algn="ctr"/>
                      <a:r>
                        <a:rPr lang="fr-FR" b="1" dirty="0"/>
                        <a:t>+ + +</a:t>
                      </a:r>
                    </a:p>
                  </a:txBody>
                  <a:tcPr/>
                </a:tc>
                <a:tc>
                  <a:txBody>
                    <a:bodyPr/>
                    <a:lstStyle/>
                    <a:p>
                      <a:pPr algn="ctr"/>
                      <a:r>
                        <a:rPr lang="fr-FR" b="1" dirty="0"/>
                        <a:t>+ +</a:t>
                      </a:r>
                    </a:p>
                  </a:txBody>
                  <a:tcPr/>
                </a:tc>
                <a:extLst>
                  <a:ext uri="{0D108BD9-81ED-4DB2-BD59-A6C34878D82A}">
                    <a16:rowId xmlns:a16="http://schemas.microsoft.com/office/drawing/2014/main" val="10008"/>
                  </a:ext>
                </a:extLst>
              </a:tr>
              <a:tr h="356781">
                <a:tc>
                  <a:txBody>
                    <a:bodyPr/>
                    <a:lstStyle/>
                    <a:p>
                      <a:r>
                        <a:rPr lang="fr-FR" b="1" dirty="0"/>
                        <a:t>Cyclines</a:t>
                      </a:r>
                      <a:r>
                        <a:rPr lang="fr-FR" baseline="0" dirty="0"/>
                        <a:t> (</a:t>
                      </a:r>
                      <a:r>
                        <a:rPr lang="fr-FR" baseline="0" dirty="0" err="1"/>
                        <a:t>Vibramycine</a:t>
                      </a:r>
                      <a:r>
                        <a:rPr lang="fr-FR" baseline="0" dirty="0"/>
                        <a:t>)</a:t>
                      </a:r>
                      <a:endParaRPr lang="fr-FR" dirty="0"/>
                    </a:p>
                  </a:txBody>
                  <a:tcPr/>
                </a:tc>
                <a:tc>
                  <a:txBody>
                    <a:bodyPr/>
                    <a:lstStyle/>
                    <a:p>
                      <a:pPr algn="ctr"/>
                      <a:r>
                        <a:rPr lang="fr-FR" b="1" dirty="0"/>
                        <a:t>+/-</a:t>
                      </a:r>
                    </a:p>
                  </a:txBody>
                  <a:tcPr/>
                </a:tc>
                <a:tc>
                  <a:txBody>
                    <a:bodyPr/>
                    <a:lstStyle/>
                    <a:p>
                      <a:pPr algn="ctr"/>
                      <a:r>
                        <a:rPr lang="fr-FR" b="1" dirty="0"/>
                        <a:t>+ + + </a:t>
                      </a:r>
                    </a:p>
                  </a:txBody>
                  <a:tcPr/>
                </a:tc>
                <a:extLst>
                  <a:ext uri="{0D108BD9-81ED-4DB2-BD59-A6C34878D82A}">
                    <a16:rowId xmlns:a16="http://schemas.microsoft.com/office/drawing/2014/main" val="10009"/>
                  </a:ext>
                </a:extLst>
              </a:tr>
            </a:tbl>
          </a:graphicData>
        </a:graphic>
      </p:graphicFrame>
      <p:sp>
        <p:nvSpPr>
          <p:cNvPr id="8245" name="ZoneTexte 5"/>
          <p:cNvSpPr txBox="1">
            <a:spLocks noChangeArrowheads="1"/>
          </p:cNvSpPr>
          <p:nvPr/>
        </p:nvSpPr>
        <p:spPr bwMode="auto">
          <a:xfrm>
            <a:off x="2124106" y="5667377"/>
            <a:ext cx="8429625" cy="522287"/>
          </a:xfrm>
          <a:prstGeom prst="rect">
            <a:avLst/>
          </a:prstGeom>
          <a:noFill/>
          <a:ln w="9525">
            <a:noFill/>
            <a:miter lim="800000"/>
            <a:headEnd/>
            <a:tailEnd/>
          </a:ln>
        </p:spPr>
        <p:txBody>
          <a:bodyPr>
            <a:spAutoFit/>
          </a:bodyPr>
          <a:lstStyle/>
          <a:p>
            <a:r>
              <a:rPr lang="fr-FR" sz="1400" b="1" dirty="0" err="1">
                <a:solidFill>
                  <a:schemeClr val="tx2"/>
                </a:solidFill>
              </a:rPr>
              <a:t>Légionnelle</a:t>
            </a:r>
            <a:r>
              <a:rPr lang="fr-FR" sz="1400" b="1" dirty="0">
                <a:solidFill>
                  <a:schemeClr val="tx2"/>
                </a:solidFill>
              </a:rPr>
              <a:t> </a:t>
            </a:r>
            <a:r>
              <a:rPr lang="fr-FR" sz="1400" b="1" dirty="0"/>
              <a:t>: sensible aux macrolides, cyclines, </a:t>
            </a:r>
            <a:r>
              <a:rPr lang="fr-FR" sz="1400" b="1" dirty="0" err="1"/>
              <a:t>fluoroquinolones</a:t>
            </a:r>
            <a:r>
              <a:rPr lang="fr-FR" sz="1400" b="1" dirty="0"/>
              <a:t>                  </a:t>
            </a:r>
            <a:r>
              <a:rPr lang="fr-FR" sz="1400" b="1" dirty="0">
                <a:solidFill>
                  <a:srgbClr val="FF99FF"/>
                </a:solidFill>
              </a:rPr>
              <a:t>Sensible si : </a:t>
            </a:r>
            <a:r>
              <a:rPr lang="fr-FR" sz="1400" b="1" u="sng" dirty="0">
                <a:solidFill>
                  <a:srgbClr val="FF99FF"/>
                </a:solidFill>
              </a:rPr>
              <a:t>&gt;</a:t>
            </a:r>
            <a:r>
              <a:rPr lang="fr-FR" sz="1400" b="1" dirty="0">
                <a:solidFill>
                  <a:srgbClr val="FF99FF"/>
                </a:solidFill>
              </a:rPr>
              <a:t> ++</a:t>
            </a:r>
          </a:p>
          <a:p>
            <a:r>
              <a:rPr lang="fr-FR" sz="1400" b="1" dirty="0"/>
              <a:t>                        résistante: béta </a:t>
            </a:r>
            <a:r>
              <a:rPr lang="fr-FR" sz="1400" b="1" dirty="0" err="1"/>
              <a:t>lactamines</a:t>
            </a:r>
            <a:r>
              <a:rPr lang="fr-FR" sz="1400" b="1" dirty="0"/>
              <a:t>                                                               </a:t>
            </a:r>
            <a:r>
              <a:rPr lang="fr-FR" sz="1400" b="1" dirty="0">
                <a:solidFill>
                  <a:srgbClr val="FF99FF"/>
                </a:solidFill>
              </a:rPr>
              <a:t>Résistant si :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26CE17-005C-9F2F-94AF-6DFBD54DC020}"/>
              </a:ext>
            </a:extLst>
          </p:cNvPr>
          <p:cNvSpPr>
            <a:spLocks noGrp="1"/>
          </p:cNvSpPr>
          <p:nvPr>
            <p:ph type="title"/>
          </p:nvPr>
        </p:nvSpPr>
        <p:spPr/>
        <p:txBody>
          <a:bodyPr/>
          <a:lstStyle/>
          <a:p>
            <a:pPr>
              <a:defRPr/>
            </a:pPr>
            <a:endParaRPr lang="fr-FR">
              <a:solidFill>
                <a:schemeClr val="tx1">
                  <a:lumMod val="75000"/>
                  <a:lumOff val="25000"/>
                </a:schemeClr>
              </a:solidFill>
            </a:endParaRPr>
          </a:p>
        </p:txBody>
      </p:sp>
      <p:sp>
        <p:nvSpPr>
          <p:cNvPr id="53251" name="Espace réservé du contenu 2">
            <a:extLst>
              <a:ext uri="{FF2B5EF4-FFF2-40B4-BE49-F238E27FC236}">
                <a16:creationId xmlns:a16="http://schemas.microsoft.com/office/drawing/2014/main" id="{DA0125DF-DEA1-83F2-C055-84D56B97A463}"/>
              </a:ext>
            </a:extLst>
          </p:cNvPr>
          <p:cNvSpPr>
            <a:spLocks noGrp="1" noChangeArrowheads="1"/>
          </p:cNvSpPr>
          <p:nvPr>
            <p:ph idx="1"/>
          </p:nvPr>
        </p:nvSpPr>
        <p:spPr/>
        <p:txBody>
          <a:bodyPr/>
          <a:lstStyle/>
          <a:p>
            <a:pPr eaLnBrk="1" hangingPunct="1"/>
            <a:endParaRPr lang="fr-FR" altLang="fr-FR"/>
          </a:p>
        </p:txBody>
      </p:sp>
      <p:pic>
        <p:nvPicPr>
          <p:cNvPr id="53252" name="Image 4">
            <a:extLst>
              <a:ext uri="{FF2B5EF4-FFF2-40B4-BE49-F238E27FC236}">
                <a16:creationId xmlns:a16="http://schemas.microsoft.com/office/drawing/2014/main" id="{16E830E8-631C-B32F-7083-DB779D8236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0" y="1474789"/>
            <a:ext cx="86360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C8C1B3-BEBD-B0A6-008E-015DDE03584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C42C9CC-3CE4-0ACC-4B33-9AED05245E0A}"/>
              </a:ext>
            </a:extLst>
          </p:cNvPr>
          <p:cNvSpPr>
            <a:spLocks noGrp="1"/>
          </p:cNvSpPr>
          <p:nvPr>
            <p:ph idx="1"/>
          </p:nvPr>
        </p:nvSpPr>
        <p:spPr/>
        <p:txBody>
          <a:bodyPr/>
          <a:lstStyle/>
          <a:p>
            <a:pPr marL="91440" indent="-91440">
              <a:lnSpc>
                <a:spcPct val="120000"/>
              </a:lnSpc>
              <a:buNone/>
              <a:defRPr/>
            </a:pPr>
            <a:r>
              <a:rPr lang="fr-FR" altLang="fr-FR" b="1" u="sng" dirty="0">
                <a:solidFill>
                  <a:srgbClr val="FF0000"/>
                </a:solidFill>
              </a:rPr>
              <a:t>L ’examen cytobactériologique des crachats</a:t>
            </a:r>
            <a:r>
              <a:rPr lang="fr-FR" altLang="fr-FR" b="1" dirty="0">
                <a:solidFill>
                  <a:srgbClr val="FF0000"/>
                </a:solidFill>
              </a:rPr>
              <a:t> (ECBC)</a:t>
            </a:r>
          </a:p>
          <a:p>
            <a:pPr marL="91440" indent="-91440">
              <a:lnSpc>
                <a:spcPct val="120000"/>
              </a:lnSpc>
              <a:buNone/>
              <a:defRPr/>
            </a:pPr>
            <a:r>
              <a:rPr lang="fr-FR" altLang="fr-FR" b="1" dirty="0">
                <a:solidFill>
                  <a:schemeClr val="tx1">
                    <a:lumMod val="75000"/>
                    <a:lumOff val="25000"/>
                  </a:schemeClr>
                </a:solidFill>
              </a:rPr>
              <a:t>   </a:t>
            </a:r>
            <a:r>
              <a:rPr lang="fr-FR" altLang="fr-FR" dirty="0">
                <a:solidFill>
                  <a:schemeClr val="tx1">
                    <a:lumMod val="75000"/>
                    <a:lumOff val="25000"/>
                  </a:schemeClr>
                </a:solidFill>
              </a:rPr>
              <a:t>l’ inconvénient majeur et la souillure inévitable du prélèvement par la flore commensale de l ’oropharynx.</a:t>
            </a:r>
          </a:p>
          <a:p>
            <a:pPr marL="91440" indent="-91440">
              <a:lnSpc>
                <a:spcPct val="120000"/>
              </a:lnSpc>
              <a:buNone/>
              <a:defRPr/>
            </a:pPr>
            <a:r>
              <a:rPr lang="fr-FR" altLang="fr-FR" dirty="0">
                <a:solidFill>
                  <a:schemeClr val="tx1">
                    <a:lumMod val="75000"/>
                    <a:lumOff val="25000"/>
                  </a:schemeClr>
                </a:solidFill>
              </a:rPr>
              <a:t>	Le contage cellulaire doit montrer/</a:t>
            </a:r>
          </a:p>
          <a:p>
            <a:pPr marL="91440" indent="-91440">
              <a:lnSpc>
                <a:spcPct val="120000"/>
              </a:lnSpc>
              <a:buFontTx/>
              <a:buChar char="-"/>
              <a:defRPr/>
            </a:pPr>
            <a:r>
              <a:rPr lang="fr-FR" altLang="fr-FR" dirty="0">
                <a:solidFill>
                  <a:schemeClr val="tx1">
                    <a:lumMod val="75000"/>
                    <a:lumOff val="25000"/>
                  </a:schemeClr>
                </a:solidFill>
              </a:rPr>
              <a:t>un nombre &gt; 25 PNN </a:t>
            </a:r>
          </a:p>
          <a:p>
            <a:pPr marL="91440" indent="-91440">
              <a:lnSpc>
                <a:spcPct val="120000"/>
              </a:lnSpc>
              <a:buFontTx/>
              <a:buChar char="-"/>
              <a:defRPr/>
            </a:pPr>
            <a:r>
              <a:rPr lang="fr-FR" altLang="fr-FR" dirty="0">
                <a:solidFill>
                  <a:schemeClr val="tx1">
                    <a:lumMod val="75000"/>
                    <a:lumOff val="25000"/>
                  </a:schemeClr>
                </a:solidFill>
              </a:rPr>
              <a:t>&lt; 10 cellules épithéliales par champ, </a:t>
            </a:r>
          </a:p>
          <a:p>
            <a:pPr marL="91440" indent="-91440">
              <a:lnSpc>
                <a:spcPct val="120000"/>
              </a:lnSpc>
              <a:buFontTx/>
              <a:buChar char="-"/>
              <a:defRPr/>
            </a:pPr>
            <a:r>
              <a:rPr lang="fr-FR" altLang="fr-FR" dirty="0">
                <a:solidFill>
                  <a:schemeClr val="tx1">
                    <a:lumMod val="75000"/>
                    <a:lumOff val="25000"/>
                  </a:schemeClr>
                </a:solidFill>
              </a:rPr>
              <a:t>le Nb de germes à la culture </a:t>
            </a:r>
            <a:r>
              <a:rPr lang="fr-FR" altLang="fr-FR" u="sng" dirty="0">
                <a:solidFill>
                  <a:schemeClr val="tx1">
                    <a:lumMod val="75000"/>
                    <a:lumOff val="25000"/>
                  </a:schemeClr>
                </a:solidFill>
              </a:rPr>
              <a:t>&gt;</a:t>
            </a:r>
            <a:r>
              <a:rPr lang="fr-FR" altLang="fr-FR" dirty="0">
                <a:solidFill>
                  <a:schemeClr val="tx1">
                    <a:lumMod val="75000"/>
                    <a:lumOff val="25000"/>
                  </a:schemeClr>
                </a:solidFill>
              </a:rPr>
              <a:t> 10</a:t>
            </a:r>
            <a:r>
              <a:rPr lang="fr-FR" altLang="fr-FR" baseline="30000" dirty="0">
                <a:solidFill>
                  <a:schemeClr val="tx1">
                    <a:lumMod val="75000"/>
                    <a:lumOff val="25000"/>
                  </a:schemeClr>
                </a:solidFill>
              </a:rPr>
              <a:t>7</a:t>
            </a:r>
            <a:r>
              <a:rPr lang="fr-FR" altLang="fr-FR" dirty="0">
                <a:solidFill>
                  <a:schemeClr val="tx1">
                    <a:lumMod val="75000"/>
                    <a:lumOff val="25000"/>
                  </a:schemeClr>
                </a:solidFill>
              </a:rPr>
              <a:t> CFU/ml</a:t>
            </a:r>
            <a:endParaRPr lang="fr-FR" dirty="0"/>
          </a:p>
        </p:txBody>
      </p:sp>
    </p:spTree>
    <p:extLst>
      <p:ext uri="{BB962C8B-B14F-4D97-AF65-F5344CB8AC3E}">
        <p14:creationId xmlns:p14="http://schemas.microsoft.com/office/powerpoint/2010/main" val="26809721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F8A7283-84AC-F244-A6AF-E6B607C4C73E}"/>
              </a:ext>
            </a:extLst>
          </p:cNvPr>
          <p:cNvSpPr txBox="1"/>
          <p:nvPr/>
        </p:nvSpPr>
        <p:spPr>
          <a:xfrm>
            <a:off x="1738314" y="757238"/>
            <a:ext cx="4357687" cy="1200150"/>
          </a:xfrm>
          <a:prstGeom prst="rect">
            <a:avLst/>
          </a:prstGeom>
          <a:noFill/>
          <a:ln>
            <a:solidFill>
              <a:schemeClr val="bg2">
                <a:lumMod val="50000"/>
              </a:schemeClr>
            </a:solidFill>
          </a:ln>
        </p:spPr>
        <p:txBody>
          <a:bodyPr>
            <a:spAutoFit/>
          </a:bodyPr>
          <a:lstStyle/>
          <a:p>
            <a:pPr algn="ctr" rtl="1" eaLnBrk="1" hangingPunct="1">
              <a:defRPr/>
            </a:pPr>
            <a:r>
              <a:rPr lang="fr-FR" dirty="0">
                <a:latin typeface="Arial" charset="0"/>
                <a:cs typeface="Arial" charset="0"/>
              </a:rPr>
              <a:t>Âge  </a:t>
            </a:r>
            <a:r>
              <a:rPr lang="fr-FR" u="sng" dirty="0">
                <a:latin typeface="Arial" charset="0"/>
                <a:cs typeface="Arial" charset="0"/>
              </a:rPr>
              <a:t>&lt;</a:t>
            </a:r>
            <a:r>
              <a:rPr lang="fr-FR" dirty="0">
                <a:latin typeface="Arial" charset="0"/>
                <a:cs typeface="Arial" charset="0"/>
              </a:rPr>
              <a:t> 65 ans sans ou avec un seul facteur de risque </a:t>
            </a:r>
          </a:p>
          <a:p>
            <a:pPr algn="ctr" rtl="1" eaLnBrk="1" hangingPunct="1">
              <a:defRPr/>
            </a:pPr>
            <a:r>
              <a:rPr lang="fr-FR" dirty="0">
                <a:latin typeface="Arial" charset="0"/>
                <a:cs typeface="Arial" charset="0"/>
              </a:rPr>
              <a:t>Ou</a:t>
            </a:r>
          </a:p>
          <a:p>
            <a:pPr algn="ctr" rtl="1" eaLnBrk="1" hangingPunct="1">
              <a:defRPr/>
            </a:pPr>
            <a:r>
              <a:rPr lang="fr-FR" dirty="0">
                <a:latin typeface="Arial" charset="0"/>
                <a:cs typeface="Arial" charset="0"/>
              </a:rPr>
              <a:t>Age &gt; 65 ans sans facteurs de risque</a:t>
            </a:r>
          </a:p>
        </p:txBody>
      </p:sp>
      <p:sp>
        <p:nvSpPr>
          <p:cNvPr id="3" name="ZoneTexte 2">
            <a:extLst>
              <a:ext uri="{FF2B5EF4-FFF2-40B4-BE49-F238E27FC236}">
                <a16:creationId xmlns:a16="http://schemas.microsoft.com/office/drawing/2014/main" id="{E2CAE98E-180F-B2E6-8A89-2034EE4EE9DE}"/>
              </a:ext>
            </a:extLst>
          </p:cNvPr>
          <p:cNvSpPr txBox="1"/>
          <p:nvPr/>
        </p:nvSpPr>
        <p:spPr>
          <a:xfrm>
            <a:off x="7092950" y="1173164"/>
            <a:ext cx="2928938" cy="369887"/>
          </a:xfrm>
          <a:prstGeom prst="rect">
            <a:avLst/>
          </a:prstGeom>
          <a:noFill/>
          <a:ln>
            <a:solidFill>
              <a:schemeClr val="bg2">
                <a:lumMod val="50000"/>
              </a:schemeClr>
            </a:solidFill>
          </a:ln>
        </p:spPr>
        <p:txBody>
          <a:bodyPr>
            <a:spAutoFit/>
          </a:bodyPr>
          <a:lstStyle/>
          <a:p>
            <a:pPr algn="ctr" rtl="1" eaLnBrk="1" hangingPunct="1">
              <a:defRPr/>
            </a:pPr>
            <a:r>
              <a:rPr lang="fr-FR" dirty="0">
                <a:latin typeface="Arial" charset="0"/>
                <a:cs typeface="Arial" charset="0"/>
              </a:rPr>
              <a:t>Traitement ambulatoire</a:t>
            </a:r>
          </a:p>
        </p:txBody>
      </p:sp>
      <p:sp>
        <p:nvSpPr>
          <p:cNvPr id="4" name="ZoneTexte 3">
            <a:extLst>
              <a:ext uri="{FF2B5EF4-FFF2-40B4-BE49-F238E27FC236}">
                <a16:creationId xmlns:a16="http://schemas.microsoft.com/office/drawing/2014/main" id="{8E54A1F1-1C99-5BCB-6897-27E4F6879140}"/>
              </a:ext>
            </a:extLst>
          </p:cNvPr>
          <p:cNvSpPr txBox="1"/>
          <p:nvPr/>
        </p:nvSpPr>
        <p:spPr>
          <a:xfrm>
            <a:off x="1738313" y="3086100"/>
            <a:ext cx="4500562" cy="1200150"/>
          </a:xfrm>
          <a:prstGeom prst="rect">
            <a:avLst/>
          </a:prstGeom>
          <a:noFill/>
          <a:ln>
            <a:solidFill>
              <a:schemeClr val="bg2">
                <a:lumMod val="50000"/>
              </a:schemeClr>
            </a:solidFill>
          </a:ln>
        </p:spPr>
        <p:txBody>
          <a:bodyPr>
            <a:spAutoFit/>
          </a:bodyPr>
          <a:lstStyle/>
          <a:p>
            <a:pPr algn="ctr" rtl="1" eaLnBrk="1" hangingPunct="1">
              <a:defRPr/>
            </a:pPr>
            <a:r>
              <a:rPr lang="fr-FR" dirty="0">
                <a:latin typeface="Arial" charset="0"/>
                <a:cs typeface="Arial" charset="0"/>
              </a:rPr>
              <a:t>Âge  </a:t>
            </a:r>
            <a:r>
              <a:rPr lang="fr-FR" u="sng" dirty="0">
                <a:latin typeface="Arial" charset="0"/>
                <a:cs typeface="Arial" charset="0"/>
              </a:rPr>
              <a:t>&lt;</a:t>
            </a:r>
            <a:r>
              <a:rPr lang="fr-FR" dirty="0">
                <a:latin typeface="Arial" charset="0"/>
                <a:cs typeface="Arial" charset="0"/>
              </a:rPr>
              <a:t> 65 ans et  deux  facteurs de risque </a:t>
            </a:r>
          </a:p>
          <a:p>
            <a:pPr algn="ctr" rtl="1" eaLnBrk="1" hangingPunct="1">
              <a:defRPr/>
            </a:pPr>
            <a:r>
              <a:rPr lang="fr-FR" dirty="0">
                <a:latin typeface="Arial" charset="0"/>
                <a:cs typeface="Arial" charset="0"/>
              </a:rPr>
              <a:t>Ou</a:t>
            </a:r>
          </a:p>
          <a:p>
            <a:pPr algn="ctr" rtl="1" eaLnBrk="1" hangingPunct="1">
              <a:defRPr/>
            </a:pPr>
            <a:r>
              <a:rPr lang="fr-FR" dirty="0">
                <a:latin typeface="Arial" charset="0"/>
                <a:cs typeface="Arial" charset="0"/>
              </a:rPr>
              <a:t>Age &gt; 65 ans  et au moins un  facteur de risque</a:t>
            </a:r>
          </a:p>
        </p:txBody>
      </p:sp>
      <p:sp>
        <p:nvSpPr>
          <p:cNvPr id="5" name="ZoneTexte 4">
            <a:extLst>
              <a:ext uri="{FF2B5EF4-FFF2-40B4-BE49-F238E27FC236}">
                <a16:creationId xmlns:a16="http://schemas.microsoft.com/office/drawing/2014/main" id="{7108C8C6-89F7-5C58-D778-ADA3C5C3FECF}"/>
              </a:ext>
            </a:extLst>
          </p:cNvPr>
          <p:cNvSpPr txBox="1"/>
          <p:nvPr/>
        </p:nvSpPr>
        <p:spPr>
          <a:xfrm>
            <a:off x="7167564" y="3416300"/>
            <a:ext cx="3286125" cy="369888"/>
          </a:xfrm>
          <a:prstGeom prst="rect">
            <a:avLst/>
          </a:prstGeom>
          <a:noFill/>
          <a:ln>
            <a:solidFill>
              <a:schemeClr val="bg2">
                <a:lumMod val="50000"/>
              </a:schemeClr>
            </a:solidFill>
          </a:ln>
        </p:spPr>
        <p:txBody>
          <a:bodyPr>
            <a:spAutoFit/>
          </a:bodyPr>
          <a:lstStyle/>
          <a:p>
            <a:pPr algn="ctr" rtl="1" eaLnBrk="1" hangingPunct="1">
              <a:defRPr/>
            </a:pPr>
            <a:r>
              <a:rPr lang="fr-FR" dirty="0">
                <a:latin typeface="Arial" charset="0"/>
                <a:cs typeface="Arial" charset="0"/>
              </a:rPr>
              <a:t>Hospitalisation recommandée </a:t>
            </a:r>
          </a:p>
        </p:txBody>
      </p:sp>
      <p:sp>
        <p:nvSpPr>
          <p:cNvPr id="23558" name="Flèche droite 5">
            <a:extLst>
              <a:ext uri="{FF2B5EF4-FFF2-40B4-BE49-F238E27FC236}">
                <a16:creationId xmlns:a16="http://schemas.microsoft.com/office/drawing/2014/main" id="{A9D0B735-E3F6-BF32-C87C-0B318E2EA1C2}"/>
              </a:ext>
            </a:extLst>
          </p:cNvPr>
          <p:cNvSpPr>
            <a:spLocks noChangeArrowheads="1"/>
          </p:cNvSpPr>
          <p:nvPr/>
        </p:nvSpPr>
        <p:spPr bwMode="auto">
          <a:xfrm>
            <a:off x="6167438" y="1250951"/>
            <a:ext cx="857250" cy="214313"/>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1" eaLnBrk="1" hangingPunct="1"/>
            <a:endParaRPr lang="fr-FR" altLang="fr-FR"/>
          </a:p>
        </p:txBody>
      </p:sp>
      <p:sp>
        <p:nvSpPr>
          <p:cNvPr id="23559" name="Flèche droite 6">
            <a:extLst>
              <a:ext uri="{FF2B5EF4-FFF2-40B4-BE49-F238E27FC236}">
                <a16:creationId xmlns:a16="http://schemas.microsoft.com/office/drawing/2014/main" id="{9AFB32DB-5744-B208-5CF6-D61AA46F0401}"/>
              </a:ext>
            </a:extLst>
          </p:cNvPr>
          <p:cNvSpPr>
            <a:spLocks noChangeArrowheads="1"/>
          </p:cNvSpPr>
          <p:nvPr/>
        </p:nvSpPr>
        <p:spPr bwMode="auto">
          <a:xfrm>
            <a:off x="6391275" y="3500438"/>
            <a:ext cx="704850" cy="214312"/>
          </a:xfrm>
          <a:prstGeom prst="rightArrow">
            <a:avLst>
              <a:gd name="adj1" fmla="val 50000"/>
              <a:gd name="adj2" fmla="val 50003"/>
            </a:avLst>
          </a:prstGeom>
          <a:solidFill>
            <a:schemeClr val="accent1"/>
          </a:solidFill>
          <a:ln w="9525" algn="ctr">
            <a:solidFill>
              <a:schemeClr val="tx1"/>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1" eaLnBrk="1" hangingPunct="1"/>
            <a:endParaRPr lang="fr-FR" altLang="fr-F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B7500B-46EC-D989-68FB-EFDA1323F55B}"/>
              </a:ext>
            </a:extLst>
          </p:cNvPr>
          <p:cNvSpPr>
            <a:spLocks noGrp="1"/>
          </p:cNvSpPr>
          <p:nvPr>
            <p:ph type="title"/>
          </p:nvPr>
        </p:nvSpPr>
        <p:spPr/>
        <p:txBody>
          <a:bodyPr/>
          <a:lstStyle/>
          <a:p>
            <a:endParaRPr lang="fr-FR"/>
          </a:p>
        </p:txBody>
      </p:sp>
      <p:pic>
        <p:nvPicPr>
          <p:cNvPr id="4" name="Espace réservé du contenu 3">
            <a:extLst>
              <a:ext uri="{FF2B5EF4-FFF2-40B4-BE49-F238E27FC236}">
                <a16:creationId xmlns:a16="http://schemas.microsoft.com/office/drawing/2014/main" id="{A4D60415-1F12-A28A-82AF-4FB6275567BD}"/>
              </a:ext>
            </a:extLst>
          </p:cNvPr>
          <p:cNvPicPr>
            <a:picLocks noGrp="1" noChangeAspect="1"/>
          </p:cNvPicPr>
          <p:nvPr>
            <p:ph idx="1"/>
          </p:nvPr>
        </p:nvPicPr>
        <p:blipFill>
          <a:blip r:embed="rId2"/>
          <a:stretch>
            <a:fillRect/>
          </a:stretch>
        </p:blipFill>
        <p:spPr>
          <a:xfrm>
            <a:off x="1775971" y="1066904"/>
            <a:ext cx="5820661" cy="2565114"/>
          </a:xfrm>
          <a:prstGeom prst="rect">
            <a:avLst/>
          </a:prstGeom>
        </p:spPr>
      </p:pic>
      <p:pic>
        <p:nvPicPr>
          <p:cNvPr id="5" name="Image 4">
            <a:extLst>
              <a:ext uri="{FF2B5EF4-FFF2-40B4-BE49-F238E27FC236}">
                <a16:creationId xmlns:a16="http://schemas.microsoft.com/office/drawing/2014/main" id="{F6A608B8-BF6A-CF89-729A-C0A04A51FBD3}"/>
              </a:ext>
            </a:extLst>
          </p:cNvPr>
          <p:cNvPicPr>
            <a:picLocks noChangeAspect="1"/>
          </p:cNvPicPr>
          <p:nvPr/>
        </p:nvPicPr>
        <p:blipFill>
          <a:blip r:embed="rId3"/>
          <a:stretch>
            <a:fillRect/>
          </a:stretch>
        </p:blipFill>
        <p:spPr>
          <a:xfrm>
            <a:off x="6423661" y="3660837"/>
            <a:ext cx="4045237" cy="2357453"/>
          </a:xfrm>
          <a:prstGeom prst="rect">
            <a:avLst/>
          </a:prstGeom>
        </p:spPr>
      </p:pic>
      <p:pic>
        <p:nvPicPr>
          <p:cNvPr id="6" name="Image 5">
            <a:extLst>
              <a:ext uri="{FF2B5EF4-FFF2-40B4-BE49-F238E27FC236}">
                <a16:creationId xmlns:a16="http://schemas.microsoft.com/office/drawing/2014/main" id="{54549BDB-381F-3B77-DCEA-92EF92B783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0646" y="5220106"/>
            <a:ext cx="3283085" cy="780645"/>
          </a:xfrm>
          <a:prstGeom prst="rect">
            <a:avLst/>
          </a:prstGeom>
        </p:spPr>
      </p:pic>
    </p:spTree>
    <p:extLst>
      <p:ext uri="{BB962C8B-B14F-4D97-AF65-F5344CB8AC3E}">
        <p14:creationId xmlns:p14="http://schemas.microsoft.com/office/powerpoint/2010/main" val="192468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0C1A677-9E42-129B-2E31-BBE16B050EEA}"/>
              </a:ext>
            </a:extLst>
          </p:cNvPr>
          <p:cNvPicPr>
            <a:picLocks noChangeAspect="1"/>
          </p:cNvPicPr>
          <p:nvPr/>
        </p:nvPicPr>
        <p:blipFill>
          <a:blip r:embed="rId2"/>
          <a:stretch>
            <a:fillRect/>
          </a:stretch>
        </p:blipFill>
        <p:spPr>
          <a:xfrm>
            <a:off x="1766284" y="85259"/>
            <a:ext cx="8659433" cy="6687483"/>
          </a:xfrm>
          <a:prstGeom prst="rect">
            <a:avLst/>
          </a:prstGeom>
        </p:spPr>
      </p:pic>
    </p:spTree>
    <p:extLst>
      <p:ext uri="{BB962C8B-B14F-4D97-AF65-F5344CB8AC3E}">
        <p14:creationId xmlns:p14="http://schemas.microsoft.com/office/powerpoint/2010/main" val="9847139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8AD8A0D-E39A-0141-62C2-65A918784461}"/>
              </a:ext>
            </a:extLst>
          </p:cNvPr>
          <p:cNvPicPr>
            <a:picLocks noChangeAspect="1"/>
          </p:cNvPicPr>
          <p:nvPr/>
        </p:nvPicPr>
        <p:blipFill>
          <a:blip r:embed="rId2"/>
          <a:stretch>
            <a:fillRect/>
          </a:stretch>
        </p:blipFill>
        <p:spPr>
          <a:xfrm>
            <a:off x="1524000" y="1179592"/>
            <a:ext cx="9144000" cy="4498817"/>
          </a:xfrm>
          <a:prstGeom prst="rect">
            <a:avLst/>
          </a:prstGeom>
        </p:spPr>
      </p:pic>
    </p:spTree>
    <p:extLst>
      <p:ext uri="{BB962C8B-B14F-4D97-AF65-F5344CB8AC3E}">
        <p14:creationId xmlns:p14="http://schemas.microsoft.com/office/powerpoint/2010/main" val="3318443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BD522B-B784-BFB3-DE30-7A4876492038}"/>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E3F22209-FB3E-0773-6FB9-5DB08547EFEE}"/>
              </a:ext>
            </a:extLst>
          </p:cNvPr>
          <p:cNvSpPr>
            <a:spLocks noGrp="1"/>
          </p:cNvSpPr>
          <p:nvPr>
            <p:ph idx="1"/>
          </p:nvPr>
        </p:nvSpPr>
        <p:spPr/>
        <p:txBody>
          <a:bodyPr/>
          <a:lstStyle/>
          <a:p>
            <a:r>
              <a:rPr lang="fr-FR" dirty="0"/>
              <a:t>Les virus suivants, peuvent être responsable de la bronchite aiguë chez l’adulte sain ?</a:t>
            </a:r>
            <a:br>
              <a:rPr lang="fr-FR" dirty="0"/>
            </a:br>
            <a:r>
              <a:rPr lang="fr-FR" dirty="0"/>
              <a:t>A. Virus respiratoire syncytial</a:t>
            </a:r>
            <a:br>
              <a:rPr lang="fr-FR" dirty="0"/>
            </a:br>
            <a:r>
              <a:rPr lang="fr-FR" dirty="0"/>
              <a:t>B. virus de la grippe </a:t>
            </a:r>
            <a:br>
              <a:rPr lang="fr-FR" dirty="0"/>
            </a:br>
            <a:r>
              <a:rPr lang="fr-FR" dirty="0"/>
              <a:t>C. Adénovirus</a:t>
            </a:r>
            <a:br>
              <a:rPr lang="fr-FR" dirty="0"/>
            </a:br>
            <a:r>
              <a:rPr lang="fr-FR" dirty="0"/>
              <a:t>D. Rhinovirus</a:t>
            </a:r>
            <a:br>
              <a:rPr lang="fr-FR" dirty="0"/>
            </a:br>
            <a:r>
              <a:rPr lang="fr-FR" dirty="0"/>
              <a:t>E. Myxovirus influenza</a:t>
            </a:r>
            <a:br>
              <a:rPr lang="fr-FR" dirty="0"/>
            </a:br>
            <a:endParaRPr lang="fr-FR" dirty="0"/>
          </a:p>
        </p:txBody>
      </p:sp>
    </p:spTree>
    <p:extLst>
      <p:ext uri="{BB962C8B-B14F-4D97-AF65-F5344CB8AC3E}">
        <p14:creationId xmlns:p14="http://schemas.microsoft.com/office/powerpoint/2010/main" val="3578450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8C25F-615D-6F7E-B7CB-B90BA91697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62568CF-D12B-FA09-DBF3-19328AAC6AA0}"/>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A1BFAD3F-6F56-CBA6-2AAF-30A073746948}"/>
              </a:ext>
            </a:extLst>
          </p:cNvPr>
          <p:cNvSpPr>
            <a:spLocks noGrp="1"/>
          </p:cNvSpPr>
          <p:nvPr>
            <p:ph idx="1"/>
          </p:nvPr>
        </p:nvSpPr>
        <p:spPr/>
        <p:txBody>
          <a:bodyPr/>
          <a:lstStyle/>
          <a:p>
            <a:r>
              <a:rPr lang="fr-FR" dirty="0"/>
              <a:t>Les virus suivants, peuvent être responsable de la bronchite aiguë chez l’adulte sain ?</a:t>
            </a:r>
            <a:br>
              <a:rPr lang="fr-FR" dirty="0"/>
            </a:br>
            <a:r>
              <a:rPr lang="fr-FR" dirty="0"/>
              <a:t>A. Virus respiratoire syncytial</a:t>
            </a:r>
            <a:br>
              <a:rPr lang="fr-FR" dirty="0"/>
            </a:br>
            <a:r>
              <a:rPr lang="fr-FR" dirty="0">
                <a:solidFill>
                  <a:srgbClr val="FF0000"/>
                </a:solidFill>
              </a:rPr>
              <a:t>B. virus de la grippe </a:t>
            </a:r>
            <a:br>
              <a:rPr lang="fr-FR" dirty="0">
                <a:solidFill>
                  <a:srgbClr val="FF0000"/>
                </a:solidFill>
              </a:rPr>
            </a:br>
            <a:r>
              <a:rPr lang="fr-FR" dirty="0">
                <a:solidFill>
                  <a:srgbClr val="FF0000"/>
                </a:solidFill>
              </a:rPr>
              <a:t>C. Adénovirus</a:t>
            </a:r>
            <a:br>
              <a:rPr lang="fr-FR" dirty="0">
                <a:solidFill>
                  <a:srgbClr val="FF0000"/>
                </a:solidFill>
              </a:rPr>
            </a:br>
            <a:r>
              <a:rPr lang="fr-FR" dirty="0">
                <a:solidFill>
                  <a:srgbClr val="FF0000"/>
                </a:solidFill>
              </a:rPr>
              <a:t>D. Rhinovirus</a:t>
            </a:r>
            <a:br>
              <a:rPr lang="fr-FR" dirty="0">
                <a:solidFill>
                  <a:srgbClr val="FF0000"/>
                </a:solidFill>
              </a:rPr>
            </a:br>
            <a:r>
              <a:rPr lang="fr-FR" dirty="0"/>
              <a:t>E. Myxovirus influenza</a:t>
            </a:r>
            <a:br>
              <a:rPr lang="fr-FR" dirty="0"/>
            </a:br>
            <a:endParaRPr lang="fr-FR" dirty="0"/>
          </a:p>
        </p:txBody>
      </p:sp>
    </p:spTree>
    <p:extLst>
      <p:ext uri="{BB962C8B-B14F-4D97-AF65-F5344CB8AC3E}">
        <p14:creationId xmlns:p14="http://schemas.microsoft.com/office/powerpoint/2010/main" val="35414709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a:bodyPr>
          <a:lstStyle/>
          <a:p>
            <a:endParaRPr lang="fr-FR" dirty="0"/>
          </a:p>
          <a:p>
            <a:pPr marL="0" indent="0">
              <a:buNone/>
            </a:pPr>
            <a:r>
              <a:rPr lang="fr-FR" b="1" dirty="0"/>
              <a:t> Les virus les plus fréquemment responsables de bronchite virale de l’enfant sont :</a:t>
            </a:r>
            <a:endParaRPr lang="fr-FR" dirty="0"/>
          </a:p>
          <a:p>
            <a:pPr marL="514350" indent="-514350">
              <a:buFont typeface="+mj-lt"/>
              <a:buAutoNum type="alphaUcPeriod"/>
            </a:pPr>
            <a:r>
              <a:rPr lang="fr-FR" dirty="0"/>
              <a:t>Adénovirus</a:t>
            </a:r>
          </a:p>
          <a:p>
            <a:pPr marL="514350" indent="-514350">
              <a:buFont typeface="+mj-lt"/>
              <a:buAutoNum type="alphaUcPeriod"/>
            </a:pPr>
            <a:r>
              <a:rPr lang="fr-FR" dirty="0"/>
              <a:t>Rhinovirus</a:t>
            </a:r>
          </a:p>
          <a:p>
            <a:pPr marL="514350" indent="-514350">
              <a:buFont typeface="+mj-lt"/>
              <a:buAutoNum type="alphaUcPeriod"/>
            </a:pPr>
            <a:r>
              <a:rPr lang="fr-FR" dirty="0"/>
              <a:t>Virus respiratoire syncytial</a:t>
            </a:r>
          </a:p>
          <a:p>
            <a:pPr marL="514350" indent="-514350">
              <a:buFont typeface="+mj-lt"/>
              <a:buAutoNum type="alphaUcPeriod"/>
            </a:pPr>
            <a:r>
              <a:rPr lang="fr-FR" dirty="0"/>
              <a:t>Virus </a:t>
            </a:r>
            <a:r>
              <a:rPr lang="fr-FR" dirty="0" err="1"/>
              <a:t>parainfluenzae</a:t>
            </a:r>
            <a:endParaRPr lang="fr-FR" dirty="0"/>
          </a:p>
          <a:p>
            <a:pPr marL="514350" indent="-514350">
              <a:buFont typeface="+mj-lt"/>
              <a:buAutoNum type="alphaUcPeriod"/>
            </a:pPr>
            <a:r>
              <a:rPr lang="fr-FR" dirty="0"/>
              <a:t>Virus de la grippe </a:t>
            </a:r>
          </a:p>
          <a:p>
            <a:endParaRPr lang="fr-FR" dirty="0"/>
          </a:p>
        </p:txBody>
      </p:sp>
    </p:spTree>
    <p:extLst>
      <p:ext uri="{BB962C8B-B14F-4D97-AF65-F5344CB8AC3E}">
        <p14:creationId xmlns:p14="http://schemas.microsoft.com/office/powerpoint/2010/main" val="23762751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a:bodyPr>
          <a:lstStyle/>
          <a:p>
            <a:endParaRPr lang="fr-FR" dirty="0"/>
          </a:p>
          <a:p>
            <a:pPr marL="0" indent="0">
              <a:buNone/>
            </a:pPr>
            <a:r>
              <a:rPr lang="fr-FR" b="1" dirty="0"/>
              <a:t> Les virus les plus fréquemment responsables de bronchite virale de l’enfant sont :</a:t>
            </a:r>
            <a:endParaRPr lang="fr-FR" dirty="0"/>
          </a:p>
          <a:p>
            <a:pPr marL="514350" indent="-514350">
              <a:buFont typeface="+mj-lt"/>
              <a:buAutoNum type="alphaUcPeriod"/>
            </a:pPr>
            <a:r>
              <a:rPr lang="fr-FR" dirty="0"/>
              <a:t>Adénovirus</a:t>
            </a:r>
          </a:p>
          <a:p>
            <a:pPr marL="514350" indent="-514350">
              <a:buFont typeface="+mj-lt"/>
              <a:buAutoNum type="alphaUcPeriod"/>
            </a:pPr>
            <a:r>
              <a:rPr lang="fr-FR" dirty="0"/>
              <a:t>Rhinovirus</a:t>
            </a:r>
          </a:p>
          <a:p>
            <a:pPr marL="514350" indent="-514350">
              <a:buFont typeface="+mj-lt"/>
              <a:buAutoNum type="alphaUcPeriod"/>
            </a:pPr>
            <a:r>
              <a:rPr lang="fr-FR" dirty="0">
                <a:solidFill>
                  <a:srgbClr val="C00000"/>
                </a:solidFill>
              </a:rPr>
              <a:t>Virus respiratoire </a:t>
            </a:r>
            <a:r>
              <a:rPr lang="fr-FR" dirty="0" err="1">
                <a:solidFill>
                  <a:srgbClr val="C00000"/>
                </a:solidFill>
              </a:rPr>
              <a:t>syncytial</a:t>
            </a:r>
            <a:endParaRPr lang="fr-FR" dirty="0">
              <a:solidFill>
                <a:srgbClr val="C00000"/>
              </a:solidFill>
            </a:endParaRPr>
          </a:p>
          <a:p>
            <a:pPr marL="514350" indent="-514350">
              <a:buFont typeface="+mj-lt"/>
              <a:buAutoNum type="alphaUcPeriod"/>
            </a:pPr>
            <a:r>
              <a:rPr lang="fr-FR" dirty="0">
                <a:solidFill>
                  <a:srgbClr val="C00000"/>
                </a:solidFill>
              </a:rPr>
              <a:t>Virus </a:t>
            </a:r>
            <a:r>
              <a:rPr lang="fr-FR" dirty="0" err="1">
                <a:solidFill>
                  <a:srgbClr val="C00000"/>
                </a:solidFill>
              </a:rPr>
              <a:t>parainfluenzae</a:t>
            </a:r>
            <a:endParaRPr lang="fr-FR" dirty="0">
              <a:solidFill>
                <a:srgbClr val="C00000"/>
              </a:solidFill>
            </a:endParaRPr>
          </a:p>
          <a:p>
            <a:pPr marL="514350" indent="-514350">
              <a:buFont typeface="+mj-lt"/>
              <a:buAutoNum type="alphaUcPeriod"/>
            </a:pPr>
            <a:r>
              <a:rPr lang="fr-FR" dirty="0"/>
              <a:t>Virus de la grippe </a:t>
            </a:r>
          </a:p>
          <a:p>
            <a:endParaRPr lang="fr-FR" dirty="0"/>
          </a:p>
        </p:txBody>
      </p:sp>
    </p:spTree>
    <p:extLst>
      <p:ext uri="{BB962C8B-B14F-4D97-AF65-F5344CB8AC3E}">
        <p14:creationId xmlns:p14="http://schemas.microsoft.com/office/powerpoint/2010/main" val="18906726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CC6456-0F12-BF07-BBEA-0CA30DC2B41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DDBE2F6-E8C5-76B8-B84C-D808FBB9ADD7}"/>
              </a:ext>
            </a:extLst>
          </p:cNvPr>
          <p:cNvSpPr>
            <a:spLocks noGrp="1"/>
          </p:cNvSpPr>
          <p:nvPr>
            <p:ph idx="1"/>
          </p:nvPr>
        </p:nvSpPr>
        <p:spPr/>
        <p:txBody>
          <a:bodyPr/>
          <a:lstStyle/>
          <a:p>
            <a:r>
              <a:rPr lang="fr-FR" dirty="0"/>
              <a:t>La phase initiale de la bronchite virale est caractérisée par la présence de : </a:t>
            </a:r>
            <a:br>
              <a:rPr lang="fr-FR" dirty="0"/>
            </a:br>
            <a:r>
              <a:rPr lang="fr-FR" dirty="0"/>
              <a:t>A. Toux sèche quinteuse</a:t>
            </a:r>
            <a:br>
              <a:rPr lang="fr-FR" dirty="0"/>
            </a:br>
            <a:r>
              <a:rPr lang="fr-FR" dirty="0"/>
              <a:t>B. Fièvre élevée</a:t>
            </a:r>
            <a:br>
              <a:rPr lang="fr-FR" dirty="0"/>
            </a:br>
            <a:r>
              <a:rPr lang="fr-FR" dirty="0"/>
              <a:t>C. Douleurs rétrosternales</a:t>
            </a:r>
            <a:br>
              <a:rPr lang="fr-FR" dirty="0"/>
            </a:br>
            <a:r>
              <a:rPr lang="fr-FR" dirty="0"/>
              <a:t>D. Expectoration muco-purulente</a:t>
            </a:r>
            <a:br>
              <a:rPr lang="fr-FR" dirty="0"/>
            </a:br>
            <a:r>
              <a:rPr lang="fr-FR" dirty="0"/>
              <a:t>E. Coryza</a:t>
            </a:r>
            <a:br>
              <a:rPr lang="fr-FR" dirty="0"/>
            </a:br>
            <a:endParaRPr lang="fr-FR" dirty="0"/>
          </a:p>
        </p:txBody>
      </p:sp>
    </p:spTree>
    <p:extLst>
      <p:ext uri="{BB962C8B-B14F-4D97-AF65-F5344CB8AC3E}">
        <p14:creationId xmlns:p14="http://schemas.microsoft.com/office/powerpoint/2010/main" val="27620847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7F89B-C568-E24C-C3D0-3330D50F55B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C2B8AD1-7B28-0A79-CD1D-A6731D85075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D12CBE9-A1A5-6983-1985-2F419BBBAFA8}"/>
              </a:ext>
            </a:extLst>
          </p:cNvPr>
          <p:cNvSpPr>
            <a:spLocks noGrp="1"/>
          </p:cNvSpPr>
          <p:nvPr>
            <p:ph idx="1"/>
          </p:nvPr>
        </p:nvSpPr>
        <p:spPr/>
        <p:txBody>
          <a:bodyPr/>
          <a:lstStyle/>
          <a:p>
            <a:r>
              <a:rPr lang="fr-FR" dirty="0"/>
              <a:t>La phase initiale de la bronchite virale est caractérisée par la présence de : </a:t>
            </a:r>
            <a:br>
              <a:rPr lang="fr-FR" dirty="0"/>
            </a:br>
            <a:r>
              <a:rPr lang="fr-FR" dirty="0">
                <a:solidFill>
                  <a:srgbClr val="FF0000"/>
                </a:solidFill>
              </a:rPr>
              <a:t>A. Toux sèche quinteuse</a:t>
            </a:r>
            <a:br>
              <a:rPr lang="fr-FR" dirty="0">
                <a:solidFill>
                  <a:srgbClr val="FF0000"/>
                </a:solidFill>
              </a:rPr>
            </a:br>
            <a:r>
              <a:rPr lang="fr-FR" dirty="0"/>
              <a:t>B. Fièvre élevée</a:t>
            </a:r>
            <a:br>
              <a:rPr lang="fr-FR" dirty="0"/>
            </a:br>
            <a:r>
              <a:rPr lang="fr-FR" dirty="0">
                <a:solidFill>
                  <a:srgbClr val="FF0000"/>
                </a:solidFill>
              </a:rPr>
              <a:t>C. Douleurs rétrosternales</a:t>
            </a:r>
            <a:br>
              <a:rPr lang="fr-FR" dirty="0">
                <a:solidFill>
                  <a:srgbClr val="FF0000"/>
                </a:solidFill>
              </a:rPr>
            </a:br>
            <a:r>
              <a:rPr lang="fr-FR" dirty="0"/>
              <a:t>D. Expectoration muco-purulente</a:t>
            </a:r>
            <a:br>
              <a:rPr lang="fr-FR" dirty="0"/>
            </a:br>
            <a:r>
              <a:rPr lang="fr-FR" dirty="0">
                <a:solidFill>
                  <a:srgbClr val="FF0000"/>
                </a:solidFill>
              </a:rPr>
              <a:t>E. Coryza</a:t>
            </a:r>
            <a:r>
              <a:rPr lang="fr-FR" dirty="0"/>
              <a:t/>
            </a:r>
            <a:br>
              <a:rPr lang="fr-FR" dirty="0"/>
            </a:br>
            <a:endParaRPr lang="fr-FR" dirty="0"/>
          </a:p>
        </p:txBody>
      </p:sp>
    </p:spTree>
    <p:extLst>
      <p:ext uri="{BB962C8B-B14F-4D97-AF65-F5344CB8AC3E}">
        <p14:creationId xmlns:p14="http://schemas.microsoft.com/office/powerpoint/2010/main" val="10822355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a:bodyPr>
          <a:lstStyle/>
          <a:p>
            <a:pPr marL="0" indent="0">
              <a:buNone/>
            </a:pPr>
            <a:r>
              <a:rPr lang="fr-FR" b="1" dirty="0"/>
              <a:t>L’élément  qui permet de trancher entre pneumonie et bronchite aigue est :</a:t>
            </a:r>
            <a:endParaRPr lang="fr-FR" dirty="0"/>
          </a:p>
          <a:p>
            <a:pPr marL="514350" indent="-514350">
              <a:buFont typeface="+mj-lt"/>
              <a:buAutoNum type="alphaUcPeriod"/>
            </a:pPr>
            <a:r>
              <a:rPr lang="fr-FR" dirty="0"/>
              <a:t>L’auscultation pulmonaire</a:t>
            </a:r>
          </a:p>
          <a:p>
            <a:pPr marL="514350" indent="-514350">
              <a:buFont typeface="+mj-lt"/>
              <a:buAutoNum type="alphaUcPeriod"/>
            </a:pPr>
            <a:r>
              <a:rPr lang="fr-FR" dirty="0"/>
              <a:t>La réalisation de PCR </a:t>
            </a:r>
          </a:p>
          <a:p>
            <a:pPr marL="514350" indent="-514350">
              <a:buFont typeface="+mj-lt"/>
              <a:buAutoNum type="alphaUcPeriod"/>
            </a:pPr>
            <a:r>
              <a:rPr lang="fr-FR" dirty="0"/>
              <a:t>La mesure de la température </a:t>
            </a:r>
          </a:p>
          <a:p>
            <a:pPr marL="514350" indent="-514350">
              <a:buFont typeface="+mj-lt"/>
              <a:buAutoNum type="alphaUcPeriod"/>
            </a:pPr>
            <a:r>
              <a:rPr lang="fr-FR" dirty="0"/>
              <a:t>La radiographie du thorax</a:t>
            </a:r>
          </a:p>
          <a:p>
            <a:pPr marL="514350" indent="-514350">
              <a:buFont typeface="+mj-lt"/>
              <a:buAutoNum type="alphaUcPeriod"/>
            </a:pPr>
            <a:r>
              <a:rPr lang="fr-FR" dirty="0"/>
              <a:t>Les examens microbiologiques des crachats</a:t>
            </a:r>
          </a:p>
          <a:p>
            <a:pPr marL="0" indent="0">
              <a:buNone/>
            </a:pPr>
            <a:endParaRPr lang="fr-FR" dirty="0"/>
          </a:p>
          <a:p>
            <a:endParaRPr lang="fr-FR" dirty="0"/>
          </a:p>
        </p:txBody>
      </p:sp>
    </p:spTree>
    <p:extLst>
      <p:ext uri="{BB962C8B-B14F-4D97-AF65-F5344CB8AC3E}">
        <p14:creationId xmlns:p14="http://schemas.microsoft.com/office/powerpoint/2010/main" val="29024973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C5CBB-4351-E509-F8AB-324B997FE5D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CAAE46F-D68B-FBCE-A29B-5A1CE222E34E}"/>
              </a:ext>
            </a:extLst>
          </p:cNvPr>
          <p:cNvSpPr>
            <a:spLocks noGrp="1"/>
          </p:cNvSpPr>
          <p:nvPr>
            <p:ph idx="1"/>
          </p:nvPr>
        </p:nvSpPr>
        <p:spPr>
          <a:xfrm>
            <a:off x="1981200" y="764705"/>
            <a:ext cx="8229600" cy="5361459"/>
          </a:xfrm>
        </p:spPr>
        <p:txBody>
          <a:bodyPr>
            <a:normAutofit/>
          </a:bodyPr>
          <a:lstStyle/>
          <a:p>
            <a:pPr marL="0" indent="0">
              <a:buNone/>
            </a:pPr>
            <a:r>
              <a:rPr lang="fr-FR" b="1" dirty="0"/>
              <a:t>L’élément  qui permet de trancher entre pneumonie et bronchite aigue est :</a:t>
            </a:r>
            <a:endParaRPr lang="fr-FR" dirty="0"/>
          </a:p>
          <a:p>
            <a:pPr marL="514350" indent="-514350">
              <a:buFont typeface="+mj-lt"/>
              <a:buAutoNum type="alphaUcPeriod"/>
            </a:pPr>
            <a:r>
              <a:rPr lang="fr-FR" dirty="0"/>
              <a:t>L’auscultation pulmonaire</a:t>
            </a:r>
          </a:p>
          <a:p>
            <a:pPr marL="514350" indent="-514350">
              <a:buFont typeface="+mj-lt"/>
              <a:buAutoNum type="alphaUcPeriod"/>
            </a:pPr>
            <a:r>
              <a:rPr lang="fr-FR" dirty="0"/>
              <a:t>La réalisation de PCR </a:t>
            </a:r>
          </a:p>
          <a:p>
            <a:pPr marL="514350" indent="-514350">
              <a:buFont typeface="+mj-lt"/>
              <a:buAutoNum type="alphaUcPeriod"/>
            </a:pPr>
            <a:r>
              <a:rPr lang="fr-FR" dirty="0"/>
              <a:t>La mesure de la température </a:t>
            </a:r>
          </a:p>
          <a:p>
            <a:pPr marL="514350" indent="-514350">
              <a:buFont typeface="+mj-lt"/>
              <a:buAutoNum type="alphaUcPeriod"/>
            </a:pPr>
            <a:r>
              <a:rPr lang="fr-FR" dirty="0">
                <a:solidFill>
                  <a:srgbClr val="FF0000"/>
                </a:solidFill>
              </a:rPr>
              <a:t>La radiographie du thorax</a:t>
            </a:r>
          </a:p>
          <a:p>
            <a:pPr marL="514350" indent="-514350">
              <a:buFont typeface="+mj-lt"/>
              <a:buAutoNum type="alphaUcPeriod"/>
            </a:pPr>
            <a:r>
              <a:rPr lang="fr-FR" dirty="0"/>
              <a:t>Les examens microbiologiques des crachats</a:t>
            </a:r>
          </a:p>
          <a:p>
            <a:pPr marL="0" indent="0">
              <a:buNone/>
            </a:pPr>
            <a:endParaRPr lang="fr-FR" dirty="0"/>
          </a:p>
          <a:p>
            <a:endParaRPr lang="fr-FR" dirty="0"/>
          </a:p>
        </p:txBody>
      </p:sp>
    </p:spTree>
    <p:extLst>
      <p:ext uri="{BB962C8B-B14F-4D97-AF65-F5344CB8AC3E}">
        <p14:creationId xmlns:p14="http://schemas.microsoft.com/office/powerpoint/2010/main" val="4265721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F4B3D8-5E0B-0333-DD36-CAC979F300C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F224840-E5F2-F92A-2FCC-CAB99A7AF5B0}"/>
              </a:ext>
            </a:extLst>
          </p:cNvPr>
          <p:cNvSpPr>
            <a:spLocks noGrp="1"/>
          </p:cNvSpPr>
          <p:nvPr>
            <p:ph idx="1"/>
          </p:nvPr>
        </p:nvSpPr>
        <p:spPr/>
        <p:txBody>
          <a:bodyPr/>
          <a:lstStyle/>
          <a:p>
            <a:pPr marL="0" indent="0">
              <a:buNone/>
            </a:pPr>
            <a:r>
              <a:rPr lang="fr-FR" dirty="0"/>
              <a:t>Chez l’adulte sain, l’indication d’une radiographie thoracique en cas de bronchite aiguë est :</a:t>
            </a:r>
            <a:br>
              <a:rPr lang="fr-FR" dirty="0"/>
            </a:br>
            <a:r>
              <a:rPr lang="fr-FR" dirty="0"/>
              <a:t>A. Systématique</a:t>
            </a:r>
            <a:br>
              <a:rPr lang="fr-FR" dirty="0"/>
            </a:br>
            <a:r>
              <a:rPr lang="fr-FR" dirty="0"/>
              <a:t>B. Devant toute toux &gt; 3 jours</a:t>
            </a:r>
            <a:br>
              <a:rPr lang="fr-FR" dirty="0"/>
            </a:br>
            <a:r>
              <a:rPr lang="fr-FR" dirty="0"/>
              <a:t>C. En cas de suspicion de pneumonie</a:t>
            </a:r>
            <a:br>
              <a:rPr lang="fr-FR" dirty="0"/>
            </a:br>
            <a:r>
              <a:rPr lang="fr-FR" dirty="0"/>
              <a:t>D. Devant tout sujet tabagique</a:t>
            </a:r>
            <a:br>
              <a:rPr lang="fr-FR" dirty="0"/>
            </a:br>
            <a:r>
              <a:rPr lang="fr-FR" dirty="0"/>
              <a:t>E. Toujours inutile</a:t>
            </a:r>
            <a:br>
              <a:rPr lang="fr-FR" dirty="0"/>
            </a:br>
            <a:endParaRPr lang="fr-FR" dirty="0"/>
          </a:p>
        </p:txBody>
      </p:sp>
    </p:spTree>
    <p:extLst>
      <p:ext uri="{BB962C8B-B14F-4D97-AF65-F5344CB8AC3E}">
        <p14:creationId xmlns:p14="http://schemas.microsoft.com/office/powerpoint/2010/main" val="412063535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00A8-53E6-6DFA-CDBB-3F2BB2E2183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813AAC-07A1-F89A-C932-F91CB169AE5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7B13499-2E9C-7E4C-1882-DB31262504DE}"/>
              </a:ext>
            </a:extLst>
          </p:cNvPr>
          <p:cNvSpPr>
            <a:spLocks noGrp="1"/>
          </p:cNvSpPr>
          <p:nvPr>
            <p:ph idx="1"/>
          </p:nvPr>
        </p:nvSpPr>
        <p:spPr/>
        <p:txBody>
          <a:bodyPr/>
          <a:lstStyle/>
          <a:p>
            <a:pPr marL="0" indent="0">
              <a:buNone/>
            </a:pPr>
            <a:r>
              <a:rPr lang="fr-FR" dirty="0"/>
              <a:t>Chez l’adulte sain, l’indication d’une radiographie thoracique en cas de bronchite aiguë est :</a:t>
            </a:r>
            <a:br>
              <a:rPr lang="fr-FR" dirty="0"/>
            </a:br>
            <a:r>
              <a:rPr lang="fr-FR" dirty="0"/>
              <a:t>A. Systématique</a:t>
            </a:r>
            <a:br>
              <a:rPr lang="fr-FR" dirty="0"/>
            </a:br>
            <a:r>
              <a:rPr lang="fr-FR" dirty="0"/>
              <a:t>B. Devant une toux &gt; 3 jours</a:t>
            </a:r>
            <a:br>
              <a:rPr lang="fr-FR" dirty="0"/>
            </a:br>
            <a:r>
              <a:rPr lang="fr-FR" dirty="0">
                <a:solidFill>
                  <a:srgbClr val="FF0000"/>
                </a:solidFill>
              </a:rPr>
              <a:t>C. En cas de suspicion de pneumonie</a:t>
            </a:r>
            <a:r>
              <a:rPr lang="fr-FR" dirty="0"/>
              <a:t/>
            </a:r>
            <a:br>
              <a:rPr lang="fr-FR" dirty="0"/>
            </a:br>
            <a:r>
              <a:rPr lang="fr-FR" dirty="0"/>
              <a:t>D. Devant tout sujet tabagique</a:t>
            </a:r>
            <a:br>
              <a:rPr lang="fr-FR" dirty="0"/>
            </a:br>
            <a:r>
              <a:rPr lang="fr-FR" dirty="0"/>
              <a:t>E. Toujours inutile</a:t>
            </a:r>
            <a:br>
              <a:rPr lang="fr-FR" dirty="0"/>
            </a:br>
            <a:endParaRPr lang="fr-FR" dirty="0"/>
          </a:p>
        </p:txBody>
      </p:sp>
    </p:spTree>
    <p:extLst>
      <p:ext uri="{BB962C8B-B14F-4D97-AF65-F5344CB8AC3E}">
        <p14:creationId xmlns:p14="http://schemas.microsoft.com/office/powerpoint/2010/main" val="581691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5AA121-7328-0D73-08E3-92009967437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BA331C7-08D7-6F7F-BDBD-93513946257A}"/>
              </a:ext>
            </a:extLst>
          </p:cNvPr>
          <p:cNvSpPr>
            <a:spLocks noGrp="1"/>
          </p:cNvSpPr>
          <p:nvPr>
            <p:ph idx="1"/>
          </p:nvPr>
        </p:nvSpPr>
        <p:spPr/>
        <p:txBody>
          <a:bodyPr/>
          <a:lstStyle/>
          <a:p>
            <a:r>
              <a:rPr lang="fr-FR" dirty="0"/>
              <a:t>Au cours de la bronchite aiguë, une antibiothérapie systématique est indiquée chez :</a:t>
            </a:r>
            <a:br>
              <a:rPr lang="fr-FR" dirty="0"/>
            </a:br>
            <a:r>
              <a:rPr lang="fr-FR" dirty="0"/>
              <a:t>A. Un sujet de 30 ans sans comorbidité</a:t>
            </a:r>
            <a:br>
              <a:rPr lang="fr-FR" dirty="0"/>
            </a:br>
            <a:r>
              <a:rPr lang="fr-FR" dirty="0"/>
              <a:t>B. Un sujet tabagique avec fièvre modérée</a:t>
            </a:r>
            <a:br>
              <a:rPr lang="fr-FR" dirty="0"/>
            </a:br>
            <a:r>
              <a:rPr lang="fr-FR" dirty="0"/>
              <a:t>C. Un sujet de 70 ans BPCO avec toux purulente prolongée</a:t>
            </a:r>
            <a:br>
              <a:rPr lang="fr-FR" dirty="0"/>
            </a:br>
            <a:r>
              <a:rPr lang="fr-FR" dirty="0"/>
              <a:t>D. Un sujet jeune avec coryza</a:t>
            </a:r>
            <a:br>
              <a:rPr lang="fr-FR" dirty="0"/>
            </a:br>
            <a:r>
              <a:rPr lang="fr-FR" dirty="0"/>
              <a:t>E. Un sujet avec douleurs thoraciques persistantes </a:t>
            </a:r>
            <a:br>
              <a:rPr lang="fr-FR" dirty="0"/>
            </a:br>
            <a:endParaRPr lang="fr-FR" dirty="0"/>
          </a:p>
        </p:txBody>
      </p:sp>
    </p:spTree>
    <p:extLst>
      <p:ext uri="{BB962C8B-B14F-4D97-AF65-F5344CB8AC3E}">
        <p14:creationId xmlns:p14="http://schemas.microsoft.com/office/powerpoint/2010/main" val="37457215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DB5F-1A47-EDA0-6783-ACC6BC2C0DD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1E1207A-DEFB-A483-9591-82F13635448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FD0E682-F3BD-2934-21DD-AAC607B3785C}"/>
              </a:ext>
            </a:extLst>
          </p:cNvPr>
          <p:cNvSpPr>
            <a:spLocks noGrp="1"/>
          </p:cNvSpPr>
          <p:nvPr>
            <p:ph idx="1"/>
          </p:nvPr>
        </p:nvSpPr>
        <p:spPr/>
        <p:txBody>
          <a:bodyPr/>
          <a:lstStyle/>
          <a:p>
            <a:r>
              <a:rPr lang="fr-FR" dirty="0"/>
              <a:t>Au cours de la bronchite aiguë, une antibiothérapie systématique est indiquée chez :</a:t>
            </a:r>
            <a:br>
              <a:rPr lang="fr-FR" dirty="0"/>
            </a:br>
            <a:r>
              <a:rPr lang="fr-FR" dirty="0"/>
              <a:t>A. Un sujet de 30 ans sans comorbidité</a:t>
            </a:r>
            <a:br>
              <a:rPr lang="fr-FR" dirty="0"/>
            </a:br>
            <a:r>
              <a:rPr lang="fr-FR" dirty="0"/>
              <a:t>B. Un sujet tabagique avec fièvre modérée</a:t>
            </a:r>
            <a:br>
              <a:rPr lang="fr-FR" dirty="0"/>
            </a:br>
            <a:r>
              <a:rPr lang="fr-FR" dirty="0">
                <a:solidFill>
                  <a:srgbClr val="FF0000"/>
                </a:solidFill>
              </a:rPr>
              <a:t>C. Un sujet de 70 ans BPCO avec toux purulente prolongée</a:t>
            </a:r>
            <a:r>
              <a:rPr lang="fr-FR" dirty="0"/>
              <a:t/>
            </a:r>
            <a:br>
              <a:rPr lang="fr-FR" dirty="0"/>
            </a:br>
            <a:r>
              <a:rPr lang="fr-FR" dirty="0"/>
              <a:t>D. Un sujet jeune avec coryza</a:t>
            </a:r>
            <a:br>
              <a:rPr lang="fr-FR" dirty="0"/>
            </a:br>
            <a:r>
              <a:rPr lang="fr-FR" dirty="0"/>
              <a:t>E. Un sujet avec douleurs thoraciques persistantes </a:t>
            </a:r>
            <a:br>
              <a:rPr lang="fr-FR" dirty="0"/>
            </a:br>
            <a:endParaRPr lang="fr-FR" dirty="0"/>
          </a:p>
        </p:txBody>
      </p:sp>
    </p:spTree>
    <p:extLst>
      <p:ext uri="{BB962C8B-B14F-4D97-AF65-F5344CB8AC3E}">
        <p14:creationId xmlns:p14="http://schemas.microsoft.com/office/powerpoint/2010/main" val="37197044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67CF8C-D06C-A591-628F-8241E7BF844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83C4A2F-A5CD-D7B2-29CA-6D72151C181F}"/>
              </a:ext>
            </a:extLst>
          </p:cNvPr>
          <p:cNvSpPr>
            <a:spLocks noGrp="1"/>
          </p:cNvSpPr>
          <p:nvPr>
            <p:ph idx="1"/>
          </p:nvPr>
        </p:nvSpPr>
        <p:spPr/>
        <p:txBody>
          <a:bodyPr/>
          <a:lstStyle/>
          <a:p>
            <a:r>
              <a:rPr lang="fr-FR" dirty="0"/>
              <a:t>Le traitement symptomatique de la bronchite aiguë comprend :</a:t>
            </a:r>
            <a:br>
              <a:rPr lang="fr-FR" dirty="0"/>
            </a:br>
            <a:r>
              <a:rPr lang="fr-FR" dirty="0"/>
              <a:t>A. Paracétamol</a:t>
            </a:r>
            <a:br>
              <a:rPr lang="fr-FR" dirty="0"/>
            </a:br>
            <a:r>
              <a:rPr lang="fr-FR" dirty="0"/>
              <a:t>B. Corticoïdes oraux </a:t>
            </a:r>
            <a:br>
              <a:rPr lang="fr-FR" dirty="0"/>
            </a:br>
            <a:r>
              <a:rPr lang="fr-FR" dirty="0"/>
              <a:t>C. Antibiotiques</a:t>
            </a:r>
            <a:br>
              <a:rPr lang="fr-FR" dirty="0"/>
            </a:br>
            <a:r>
              <a:rPr lang="fr-FR" dirty="0"/>
              <a:t>D. Antitussifs codéinés</a:t>
            </a:r>
            <a:br>
              <a:rPr lang="fr-FR" dirty="0"/>
            </a:br>
            <a:r>
              <a:rPr lang="fr-FR" dirty="0"/>
              <a:t>E. Antiviraux spécifiques</a:t>
            </a:r>
            <a:br>
              <a:rPr lang="fr-FR" dirty="0"/>
            </a:br>
            <a:endParaRPr lang="fr-FR" dirty="0"/>
          </a:p>
        </p:txBody>
      </p:sp>
    </p:spTree>
    <p:extLst>
      <p:ext uri="{BB962C8B-B14F-4D97-AF65-F5344CB8AC3E}">
        <p14:creationId xmlns:p14="http://schemas.microsoft.com/office/powerpoint/2010/main" val="32004628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002E-7CEB-855E-3B98-14190C50B4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EDD9093-9901-74CA-8113-772DCAD8D12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5078450-9425-9199-E6A9-E25F35548702}"/>
              </a:ext>
            </a:extLst>
          </p:cNvPr>
          <p:cNvSpPr>
            <a:spLocks noGrp="1"/>
          </p:cNvSpPr>
          <p:nvPr>
            <p:ph idx="1"/>
          </p:nvPr>
        </p:nvSpPr>
        <p:spPr/>
        <p:txBody>
          <a:bodyPr/>
          <a:lstStyle/>
          <a:p>
            <a:r>
              <a:rPr lang="fr-FR" dirty="0"/>
              <a:t>Le traitement symptomatique de la bronchite aiguë comprend :</a:t>
            </a:r>
            <a:br>
              <a:rPr lang="fr-FR" dirty="0"/>
            </a:br>
            <a:r>
              <a:rPr lang="fr-FR" dirty="0">
                <a:solidFill>
                  <a:srgbClr val="FF0000"/>
                </a:solidFill>
              </a:rPr>
              <a:t>A. Paracétamol</a:t>
            </a:r>
            <a:r>
              <a:rPr lang="fr-FR" dirty="0"/>
              <a:t/>
            </a:r>
            <a:br>
              <a:rPr lang="fr-FR" dirty="0"/>
            </a:br>
            <a:r>
              <a:rPr lang="fr-FR" dirty="0"/>
              <a:t>B. Corticoïdes oraux </a:t>
            </a:r>
            <a:br>
              <a:rPr lang="fr-FR" dirty="0"/>
            </a:br>
            <a:r>
              <a:rPr lang="fr-FR" dirty="0"/>
              <a:t>C. Antibiotiques</a:t>
            </a:r>
            <a:br>
              <a:rPr lang="fr-FR" dirty="0"/>
            </a:br>
            <a:r>
              <a:rPr lang="fr-FR" dirty="0"/>
              <a:t>D. Antitussifs codéinés</a:t>
            </a:r>
            <a:br>
              <a:rPr lang="fr-FR" dirty="0"/>
            </a:br>
            <a:r>
              <a:rPr lang="fr-FR" dirty="0"/>
              <a:t>E. Antiviraux spécifiques</a:t>
            </a:r>
            <a:br>
              <a:rPr lang="fr-FR" dirty="0"/>
            </a:br>
            <a:endParaRPr lang="fr-FR" dirty="0"/>
          </a:p>
        </p:txBody>
      </p:sp>
    </p:spTree>
    <p:extLst>
      <p:ext uri="{BB962C8B-B14F-4D97-AF65-F5344CB8AC3E}">
        <p14:creationId xmlns:p14="http://schemas.microsoft.com/office/powerpoint/2010/main" val="28178376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0FC1D-151B-12B1-243F-F213EF41E19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034AD19-65B8-6B8D-704C-5FC86688427F}"/>
              </a:ext>
            </a:extLst>
          </p:cNvPr>
          <p:cNvSpPr>
            <a:spLocks noGrp="1"/>
          </p:cNvSpPr>
          <p:nvPr>
            <p:ph idx="1"/>
          </p:nvPr>
        </p:nvSpPr>
        <p:spPr/>
        <p:txBody>
          <a:bodyPr/>
          <a:lstStyle/>
          <a:p>
            <a:r>
              <a:rPr lang="fr-FR" dirty="0"/>
              <a:t>La prévention de la bronchite aiguë repose sur :</a:t>
            </a:r>
            <a:br>
              <a:rPr lang="fr-FR" dirty="0"/>
            </a:br>
            <a:r>
              <a:rPr lang="fr-FR" dirty="0"/>
              <a:t>A. Arrêt du tabac</a:t>
            </a:r>
            <a:br>
              <a:rPr lang="fr-FR" dirty="0"/>
            </a:br>
            <a:r>
              <a:rPr lang="fr-FR" dirty="0"/>
              <a:t>B. Vaccination antigrippale</a:t>
            </a:r>
            <a:br>
              <a:rPr lang="fr-FR" dirty="0"/>
            </a:br>
            <a:r>
              <a:rPr lang="fr-FR" dirty="0"/>
              <a:t>C. Vaccination anti-pneumocoque</a:t>
            </a:r>
            <a:br>
              <a:rPr lang="fr-FR" dirty="0"/>
            </a:br>
            <a:r>
              <a:rPr lang="fr-FR" dirty="0"/>
              <a:t>D. Prise de macrolides chaque hiver</a:t>
            </a:r>
            <a:br>
              <a:rPr lang="fr-FR" dirty="0"/>
            </a:br>
            <a:r>
              <a:rPr lang="fr-FR" dirty="0"/>
              <a:t>E. vaccination anti COVID </a:t>
            </a:r>
            <a:br>
              <a:rPr lang="fr-FR" dirty="0"/>
            </a:br>
            <a:endParaRPr lang="fr-FR" dirty="0"/>
          </a:p>
        </p:txBody>
      </p:sp>
    </p:spTree>
    <p:extLst>
      <p:ext uri="{BB962C8B-B14F-4D97-AF65-F5344CB8AC3E}">
        <p14:creationId xmlns:p14="http://schemas.microsoft.com/office/powerpoint/2010/main" val="41379989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A619-B738-C0EF-265D-07305B9A6F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1F1088F-74B9-AC08-99B2-E4939C90886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9FABB9D-6A86-DD4E-6EF4-B2F119561261}"/>
              </a:ext>
            </a:extLst>
          </p:cNvPr>
          <p:cNvSpPr>
            <a:spLocks noGrp="1"/>
          </p:cNvSpPr>
          <p:nvPr>
            <p:ph idx="1"/>
          </p:nvPr>
        </p:nvSpPr>
        <p:spPr/>
        <p:txBody>
          <a:bodyPr/>
          <a:lstStyle/>
          <a:p>
            <a:r>
              <a:rPr lang="fr-FR" dirty="0"/>
              <a:t>La prévention de la bronchite aiguë repose sur :</a:t>
            </a:r>
            <a:br>
              <a:rPr lang="fr-FR" dirty="0"/>
            </a:br>
            <a:r>
              <a:rPr lang="fr-FR" dirty="0">
                <a:solidFill>
                  <a:srgbClr val="FF0000"/>
                </a:solidFill>
              </a:rPr>
              <a:t>A. Arrêt du tabac</a:t>
            </a:r>
            <a:br>
              <a:rPr lang="fr-FR" dirty="0">
                <a:solidFill>
                  <a:srgbClr val="FF0000"/>
                </a:solidFill>
              </a:rPr>
            </a:br>
            <a:r>
              <a:rPr lang="fr-FR" dirty="0">
                <a:solidFill>
                  <a:srgbClr val="FF0000"/>
                </a:solidFill>
              </a:rPr>
              <a:t>B. Vaccination antigrippale</a:t>
            </a:r>
            <a:r>
              <a:rPr lang="fr-FR" dirty="0"/>
              <a:t/>
            </a:r>
            <a:br>
              <a:rPr lang="fr-FR" dirty="0"/>
            </a:br>
            <a:r>
              <a:rPr lang="fr-FR" dirty="0"/>
              <a:t>C. Vaccination anti-pneumocoque</a:t>
            </a:r>
            <a:br>
              <a:rPr lang="fr-FR" dirty="0"/>
            </a:br>
            <a:r>
              <a:rPr lang="fr-FR" dirty="0"/>
              <a:t>D. Prise de macrolides chaque hiver</a:t>
            </a:r>
            <a:br>
              <a:rPr lang="fr-FR" dirty="0"/>
            </a:br>
            <a:r>
              <a:rPr lang="fr-FR" dirty="0"/>
              <a:t>E. vaccination anti COVID </a:t>
            </a:r>
            <a:br>
              <a:rPr lang="fr-FR" dirty="0"/>
            </a:br>
            <a:endParaRPr lang="fr-FR" dirty="0"/>
          </a:p>
        </p:txBody>
      </p:sp>
    </p:spTree>
    <p:extLst>
      <p:ext uri="{BB962C8B-B14F-4D97-AF65-F5344CB8AC3E}">
        <p14:creationId xmlns:p14="http://schemas.microsoft.com/office/powerpoint/2010/main" val="17254520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6D7283-F99D-D830-4B72-7F0CA2C6796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355C5C5-2F1E-8B93-CA47-EAC962C02E2D}"/>
              </a:ext>
            </a:extLst>
          </p:cNvPr>
          <p:cNvSpPr>
            <a:spLocks noGrp="1"/>
          </p:cNvSpPr>
          <p:nvPr>
            <p:ph idx="1"/>
          </p:nvPr>
        </p:nvSpPr>
        <p:spPr/>
        <p:txBody>
          <a:bodyPr/>
          <a:lstStyle/>
          <a:p>
            <a:r>
              <a:rPr lang="fr-FR" dirty="0"/>
              <a:t>Le mécanisme de contamination le plus fréquent dans les pneumonies communautaires est :</a:t>
            </a:r>
            <a:br>
              <a:rPr lang="fr-FR" dirty="0"/>
            </a:br>
            <a:r>
              <a:rPr lang="fr-FR" dirty="0"/>
              <a:t>A. Voie hématogène</a:t>
            </a:r>
            <a:br>
              <a:rPr lang="fr-FR" dirty="0"/>
            </a:br>
            <a:r>
              <a:rPr lang="fr-FR" dirty="0"/>
              <a:t>B. Contamination par contiguïté</a:t>
            </a:r>
            <a:br>
              <a:rPr lang="fr-FR" dirty="0"/>
            </a:br>
            <a:r>
              <a:rPr lang="fr-FR" dirty="0"/>
              <a:t>C. Inhalation de germes oropharyngés</a:t>
            </a:r>
            <a:br>
              <a:rPr lang="fr-FR" dirty="0"/>
            </a:br>
            <a:r>
              <a:rPr lang="fr-FR" dirty="0"/>
              <a:t>D. Inoculation directe post-traumatique</a:t>
            </a:r>
            <a:br>
              <a:rPr lang="fr-FR" dirty="0"/>
            </a:br>
            <a:r>
              <a:rPr lang="fr-FR" dirty="0"/>
              <a:t>E. Transmission transplacentaire</a:t>
            </a:r>
            <a:br>
              <a:rPr lang="fr-FR" dirty="0"/>
            </a:br>
            <a:endParaRPr lang="fr-FR" dirty="0"/>
          </a:p>
        </p:txBody>
      </p:sp>
    </p:spTree>
    <p:extLst>
      <p:ext uri="{BB962C8B-B14F-4D97-AF65-F5344CB8AC3E}">
        <p14:creationId xmlns:p14="http://schemas.microsoft.com/office/powerpoint/2010/main" val="20739472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8DCF1-69A3-7D3E-2CD4-E632843E63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9F09A7-13AF-A1DB-654D-C75723A996C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A88FE00-77BA-B088-A619-4617C75E55D2}"/>
              </a:ext>
            </a:extLst>
          </p:cNvPr>
          <p:cNvSpPr>
            <a:spLocks noGrp="1"/>
          </p:cNvSpPr>
          <p:nvPr>
            <p:ph idx="1"/>
          </p:nvPr>
        </p:nvSpPr>
        <p:spPr/>
        <p:txBody>
          <a:bodyPr/>
          <a:lstStyle/>
          <a:p>
            <a:r>
              <a:rPr lang="fr-FR" dirty="0"/>
              <a:t>Le mécanisme de contamination le plus fréquent dans les pneumonies communautaires est :</a:t>
            </a:r>
            <a:br>
              <a:rPr lang="fr-FR" dirty="0"/>
            </a:br>
            <a:r>
              <a:rPr lang="fr-FR" dirty="0"/>
              <a:t>A. Voie hématogène</a:t>
            </a:r>
            <a:br>
              <a:rPr lang="fr-FR" dirty="0"/>
            </a:br>
            <a:r>
              <a:rPr lang="fr-FR" dirty="0"/>
              <a:t>B. Contamination par contiguïté</a:t>
            </a:r>
            <a:br>
              <a:rPr lang="fr-FR" dirty="0"/>
            </a:br>
            <a:r>
              <a:rPr lang="fr-FR" dirty="0">
                <a:solidFill>
                  <a:srgbClr val="FF0000"/>
                </a:solidFill>
              </a:rPr>
              <a:t>C. Inhalation de germes oropharyngés</a:t>
            </a:r>
            <a:br>
              <a:rPr lang="fr-FR" dirty="0">
                <a:solidFill>
                  <a:srgbClr val="FF0000"/>
                </a:solidFill>
              </a:rPr>
            </a:br>
            <a:r>
              <a:rPr lang="fr-FR" dirty="0"/>
              <a:t>D. Inoculation directe post-traumatique</a:t>
            </a:r>
            <a:br>
              <a:rPr lang="fr-FR" dirty="0"/>
            </a:br>
            <a:r>
              <a:rPr lang="fr-FR" dirty="0"/>
              <a:t>E. Transmission transplacentaire</a:t>
            </a:r>
            <a:br>
              <a:rPr lang="fr-FR" dirty="0"/>
            </a:br>
            <a:endParaRPr lang="fr-FR" dirty="0"/>
          </a:p>
        </p:txBody>
      </p:sp>
    </p:spTree>
    <p:extLst>
      <p:ext uri="{BB962C8B-B14F-4D97-AF65-F5344CB8AC3E}">
        <p14:creationId xmlns:p14="http://schemas.microsoft.com/office/powerpoint/2010/main" val="21228861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E052B-9878-0E5C-F45E-A10B837B6A3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F00C324-87DD-035E-6A2A-B2989E935E89}"/>
              </a:ext>
            </a:extLst>
          </p:cNvPr>
          <p:cNvSpPr>
            <a:spLocks noGrp="1"/>
          </p:cNvSpPr>
          <p:nvPr>
            <p:ph idx="1"/>
          </p:nvPr>
        </p:nvSpPr>
        <p:spPr/>
        <p:txBody>
          <a:bodyPr/>
          <a:lstStyle/>
          <a:p>
            <a:r>
              <a:rPr lang="fr-FR" dirty="0"/>
              <a:t>La lésion anatomopathologique typique d’une pneumonie lobaire est :</a:t>
            </a:r>
            <a:br>
              <a:rPr lang="fr-FR" dirty="0"/>
            </a:br>
            <a:r>
              <a:rPr lang="fr-FR" dirty="0"/>
              <a:t>A. Pneumonie interstitielle diffuse</a:t>
            </a:r>
            <a:br>
              <a:rPr lang="fr-FR" dirty="0"/>
            </a:br>
            <a:r>
              <a:rPr lang="fr-FR" dirty="0"/>
              <a:t>B. Alvéolite </a:t>
            </a:r>
            <a:r>
              <a:rPr lang="fr-FR" dirty="0" err="1"/>
              <a:t>fibrino</a:t>
            </a:r>
            <a:r>
              <a:rPr lang="fr-FR" dirty="0"/>
              <a:t>-leucocytaire </a:t>
            </a:r>
            <a:br>
              <a:rPr lang="fr-FR" dirty="0"/>
            </a:br>
            <a:r>
              <a:rPr lang="fr-FR" dirty="0"/>
              <a:t>C. Abcès pulmonaire nécrosant</a:t>
            </a:r>
            <a:br>
              <a:rPr lang="fr-FR" dirty="0"/>
            </a:br>
            <a:r>
              <a:rPr lang="fr-FR" dirty="0"/>
              <a:t>D. Broncho-alvéolite disséminée</a:t>
            </a:r>
            <a:br>
              <a:rPr lang="fr-FR" dirty="0"/>
            </a:br>
            <a:r>
              <a:rPr lang="fr-FR" dirty="0"/>
              <a:t>E. Pneumatocèle avec destruction pariétale</a:t>
            </a:r>
            <a:br>
              <a:rPr lang="fr-FR" dirty="0"/>
            </a:br>
            <a:endParaRPr lang="fr-FR" dirty="0"/>
          </a:p>
          <a:p>
            <a:endParaRPr lang="fr-FR" dirty="0"/>
          </a:p>
        </p:txBody>
      </p:sp>
    </p:spTree>
    <p:extLst>
      <p:ext uri="{BB962C8B-B14F-4D97-AF65-F5344CB8AC3E}">
        <p14:creationId xmlns:p14="http://schemas.microsoft.com/office/powerpoint/2010/main" val="25066323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B9A72-C5A1-9240-CBE0-64CDD3071C4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44649D5-9236-0EB6-0E75-55A77982677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CE60ED1-2EFA-D727-0747-3A68B75F4872}"/>
              </a:ext>
            </a:extLst>
          </p:cNvPr>
          <p:cNvSpPr>
            <a:spLocks noGrp="1"/>
          </p:cNvSpPr>
          <p:nvPr>
            <p:ph idx="1"/>
          </p:nvPr>
        </p:nvSpPr>
        <p:spPr/>
        <p:txBody>
          <a:bodyPr/>
          <a:lstStyle/>
          <a:p>
            <a:r>
              <a:rPr lang="fr-FR" dirty="0"/>
              <a:t>La lésion anatomopathologique typique d’une pneumonie lobaire est :</a:t>
            </a:r>
            <a:br>
              <a:rPr lang="fr-FR" dirty="0"/>
            </a:br>
            <a:r>
              <a:rPr lang="fr-FR" dirty="0"/>
              <a:t>A. Pneumonie interstitielle diffuse</a:t>
            </a:r>
            <a:br>
              <a:rPr lang="fr-FR" dirty="0"/>
            </a:br>
            <a:r>
              <a:rPr lang="fr-FR" dirty="0">
                <a:solidFill>
                  <a:srgbClr val="FF0000"/>
                </a:solidFill>
              </a:rPr>
              <a:t>B. Alvéolite </a:t>
            </a:r>
            <a:r>
              <a:rPr lang="fr-FR" dirty="0" err="1">
                <a:solidFill>
                  <a:srgbClr val="FF0000"/>
                </a:solidFill>
              </a:rPr>
              <a:t>fibrino</a:t>
            </a:r>
            <a:r>
              <a:rPr lang="fr-FR" dirty="0">
                <a:solidFill>
                  <a:srgbClr val="FF0000"/>
                </a:solidFill>
              </a:rPr>
              <a:t>-leucocytaire </a:t>
            </a:r>
            <a:r>
              <a:rPr lang="fr-FR" dirty="0"/>
              <a:t/>
            </a:r>
            <a:br>
              <a:rPr lang="fr-FR" dirty="0"/>
            </a:br>
            <a:r>
              <a:rPr lang="fr-FR" dirty="0"/>
              <a:t>C. Abcès pulmonaire nécrosant</a:t>
            </a:r>
            <a:br>
              <a:rPr lang="fr-FR" dirty="0"/>
            </a:br>
            <a:r>
              <a:rPr lang="fr-FR" dirty="0"/>
              <a:t>D. Broncho-alvéolite disséminée</a:t>
            </a:r>
            <a:br>
              <a:rPr lang="fr-FR" dirty="0"/>
            </a:br>
            <a:r>
              <a:rPr lang="fr-FR" dirty="0"/>
              <a:t>E. Pneumatocèle avec destruction pariétale</a:t>
            </a:r>
            <a:br>
              <a:rPr lang="fr-FR" dirty="0"/>
            </a:br>
            <a:endParaRPr lang="fr-FR" dirty="0"/>
          </a:p>
          <a:p>
            <a:endParaRPr lang="fr-FR" dirty="0"/>
          </a:p>
        </p:txBody>
      </p:sp>
    </p:spTree>
    <p:extLst>
      <p:ext uri="{BB962C8B-B14F-4D97-AF65-F5344CB8AC3E}">
        <p14:creationId xmlns:p14="http://schemas.microsoft.com/office/powerpoint/2010/main" val="129470333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579296" cy="5505475"/>
          </a:xfrm>
        </p:spPr>
        <p:txBody>
          <a:bodyPr>
            <a:normAutofit fontScale="92500"/>
          </a:bodyPr>
          <a:lstStyle/>
          <a:p>
            <a:pPr marL="0" indent="0">
              <a:buNone/>
            </a:pPr>
            <a:r>
              <a:rPr lang="fr-FR" b="1" dirty="0"/>
              <a:t>Concernant les lésions anatomo-pathologiques observées au cours des pneumopathies aigues bactériennes communautaires (PABC), les propositions exactes sont :</a:t>
            </a:r>
            <a:endParaRPr lang="fr-FR" dirty="0"/>
          </a:p>
          <a:p>
            <a:pPr marL="514350" indent="-514350">
              <a:buFont typeface="+mj-lt"/>
              <a:buAutoNum type="alphaUcPeriod"/>
            </a:pPr>
            <a:r>
              <a:rPr lang="fr-FR" dirty="0"/>
              <a:t>Dans la pneumopathie atypique, le siège de l’inflammation est surtout alvéolaire</a:t>
            </a:r>
          </a:p>
          <a:p>
            <a:pPr marL="514350" indent="-514350">
              <a:buFont typeface="+mj-lt"/>
              <a:buAutoNum type="alphaUcPeriod"/>
            </a:pPr>
            <a:r>
              <a:rPr lang="fr-FR" dirty="0"/>
              <a:t>Dans la bronchopneumonie, le point de départ de l’infection est </a:t>
            </a:r>
            <a:r>
              <a:rPr lang="fr-FR" dirty="0" err="1"/>
              <a:t>bronchiolaire</a:t>
            </a:r>
            <a:endParaRPr lang="fr-FR" dirty="0"/>
          </a:p>
          <a:p>
            <a:pPr marL="514350" indent="-514350">
              <a:buFont typeface="+mj-lt"/>
              <a:buAutoNum type="alphaUcPeriod"/>
            </a:pPr>
            <a:r>
              <a:rPr lang="fr-FR" dirty="0"/>
              <a:t>Dans la pneumonie alvéolaire, il existe un exsudat interstitiel intense </a:t>
            </a:r>
          </a:p>
          <a:p>
            <a:pPr marL="514350" indent="-514350">
              <a:buFont typeface="+mj-lt"/>
              <a:buAutoNum type="alphaUcPeriod"/>
            </a:pPr>
            <a:r>
              <a:rPr lang="fr-FR" dirty="0"/>
              <a:t>Dans la pneumonie alvéolaire, la multiplication du germe est intra alvéolaire</a:t>
            </a:r>
          </a:p>
          <a:p>
            <a:pPr marL="514350" indent="-514350">
              <a:buFont typeface="+mj-lt"/>
              <a:buAutoNum type="alphaUcPeriod"/>
            </a:pPr>
            <a:r>
              <a:rPr lang="fr-FR" dirty="0"/>
              <a:t>Dans la bronchopneumonie, il existe un exsudat au niveau de bronchioles et des alvéoles adjacentes</a:t>
            </a:r>
          </a:p>
          <a:p>
            <a:pPr marL="514350" indent="-514350">
              <a:buFont typeface="+mj-lt"/>
              <a:buAutoNum type="alphaUcPeriod"/>
            </a:pPr>
            <a:endParaRPr lang="fr-FR" dirty="0"/>
          </a:p>
          <a:p>
            <a:endParaRPr lang="fr-FR" dirty="0"/>
          </a:p>
        </p:txBody>
      </p:sp>
    </p:spTree>
    <p:extLst>
      <p:ext uri="{BB962C8B-B14F-4D97-AF65-F5344CB8AC3E}">
        <p14:creationId xmlns:p14="http://schemas.microsoft.com/office/powerpoint/2010/main" val="11458535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579296" cy="5505475"/>
          </a:xfrm>
        </p:spPr>
        <p:txBody>
          <a:bodyPr>
            <a:normAutofit fontScale="92500"/>
          </a:bodyPr>
          <a:lstStyle/>
          <a:p>
            <a:pPr marL="0" indent="0">
              <a:buNone/>
            </a:pPr>
            <a:r>
              <a:rPr lang="fr-FR" b="1" dirty="0"/>
              <a:t> Concernant les lésions anatomo-pathologiques observées au cours des pneumopathies aigues bactériennes communautaires (PABC), les propositions exactes sont :</a:t>
            </a:r>
            <a:endParaRPr lang="fr-FR" dirty="0"/>
          </a:p>
          <a:p>
            <a:pPr marL="514350" indent="-514350">
              <a:buFont typeface="+mj-lt"/>
              <a:buAutoNum type="alphaUcPeriod"/>
            </a:pPr>
            <a:r>
              <a:rPr lang="fr-FR" dirty="0"/>
              <a:t>Dans la pneumopathie atypique, le siège de l’inflammation est surtout alvéolaire</a:t>
            </a:r>
          </a:p>
          <a:p>
            <a:pPr marL="514350" indent="-514350">
              <a:buFont typeface="+mj-lt"/>
              <a:buAutoNum type="alphaUcPeriod"/>
            </a:pPr>
            <a:r>
              <a:rPr lang="fr-FR" dirty="0">
                <a:solidFill>
                  <a:srgbClr val="C00000"/>
                </a:solidFill>
              </a:rPr>
              <a:t>Dans la bronchopneumonie, le point de départ de l’infection est </a:t>
            </a:r>
            <a:r>
              <a:rPr lang="fr-FR" dirty="0" err="1">
                <a:solidFill>
                  <a:srgbClr val="C00000"/>
                </a:solidFill>
              </a:rPr>
              <a:t>bronchiolaire</a:t>
            </a:r>
            <a:endParaRPr lang="fr-FR" dirty="0">
              <a:solidFill>
                <a:srgbClr val="C00000"/>
              </a:solidFill>
            </a:endParaRPr>
          </a:p>
          <a:p>
            <a:pPr marL="514350" indent="-514350">
              <a:buFont typeface="+mj-lt"/>
              <a:buAutoNum type="alphaUcPeriod"/>
            </a:pPr>
            <a:r>
              <a:rPr lang="fr-FR" dirty="0"/>
              <a:t>Dans la pneumonie alvéolaire, il existe un exsudat interstitiel intense </a:t>
            </a:r>
          </a:p>
          <a:p>
            <a:pPr marL="514350" indent="-514350">
              <a:buFont typeface="+mj-lt"/>
              <a:buAutoNum type="alphaUcPeriod"/>
            </a:pPr>
            <a:r>
              <a:rPr lang="fr-FR" dirty="0">
                <a:solidFill>
                  <a:srgbClr val="C00000"/>
                </a:solidFill>
              </a:rPr>
              <a:t>Dans la pneumonie alvéolaire, la multiplication du germe est intra alvéolaire</a:t>
            </a:r>
          </a:p>
          <a:p>
            <a:pPr marL="514350" indent="-514350">
              <a:buFont typeface="+mj-lt"/>
              <a:buAutoNum type="alphaUcPeriod"/>
            </a:pPr>
            <a:r>
              <a:rPr lang="fr-FR" dirty="0">
                <a:solidFill>
                  <a:srgbClr val="C00000"/>
                </a:solidFill>
              </a:rPr>
              <a:t>Dans la bronchopneumonie, il existe un exsudat au niveau de bronchioles et des alvéoles adjacentes</a:t>
            </a:r>
          </a:p>
          <a:p>
            <a:pPr marL="514350" indent="-514350">
              <a:buFont typeface="+mj-lt"/>
              <a:buAutoNum type="alphaUcPeriod"/>
            </a:pPr>
            <a:endParaRPr lang="fr-FR" dirty="0"/>
          </a:p>
          <a:p>
            <a:endParaRPr lang="fr-FR" dirty="0"/>
          </a:p>
        </p:txBody>
      </p:sp>
    </p:spTree>
    <p:extLst>
      <p:ext uri="{BB962C8B-B14F-4D97-AF65-F5344CB8AC3E}">
        <p14:creationId xmlns:p14="http://schemas.microsoft.com/office/powerpoint/2010/main" val="1059817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5ADB3-8E77-5F22-62C7-5255155C926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CAC85D6-A00F-F254-2C4C-B29115771A64}"/>
              </a:ext>
            </a:extLst>
          </p:cNvPr>
          <p:cNvSpPr>
            <a:spLocks noGrp="1"/>
          </p:cNvSpPr>
          <p:nvPr>
            <p:ph idx="1"/>
          </p:nvPr>
        </p:nvSpPr>
        <p:spPr/>
        <p:txBody>
          <a:bodyPr/>
          <a:lstStyle/>
          <a:p>
            <a:r>
              <a:rPr lang="fr-FR" dirty="0"/>
              <a:t>Au cours de la phase initiale , les signes cliniques en faveur  de la pneumonie lobaire aiguë  sont:</a:t>
            </a:r>
            <a:br>
              <a:rPr lang="fr-FR" dirty="0"/>
            </a:br>
            <a:r>
              <a:rPr lang="fr-FR" dirty="0"/>
              <a:t>A. Début brutal avec frissons intenses</a:t>
            </a:r>
            <a:br>
              <a:rPr lang="fr-FR" dirty="0"/>
            </a:br>
            <a:r>
              <a:rPr lang="fr-FR" dirty="0"/>
              <a:t>B. Douleur en point de côté inhibant l’inspiration</a:t>
            </a:r>
            <a:br>
              <a:rPr lang="fr-FR" dirty="0"/>
            </a:br>
            <a:r>
              <a:rPr lang="fr-FR" dirty="0"/>
              <a:t>C. Expectoration rouillée</a:t>
            </a:r>
            <a:br>
              <a:rPr lang="fr-FR" dirty="0"/>
            </a:br>
            <a:r>
              <a:rPr lang="fr-FR" dirty="0"/>
              <a:t>D. Toux sèche persistante sans fièvre</a:t>
            </a:r>
            <a:br>
              <a:rPr lang="fr-FR" dirty="0"/>
            </a:br>
            <a:r>
              <a:rPr lang="fr-FR" dirty="0"/>
              <a:t>E. expectorations purulentes </a:t>
            </a:r>
          </a:p>
        </p:txBody>
      </p:sp>
    </p:spTree>
    <p:extLst>
      <p:ext uri="{BB962C8B-B14F-4D97-AF65-F5344CB8AC3E}">
        <p14:creationId xmlns:p14="http://schemas.microsoft.com/office/powerpoint/2010/main" val="244794130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E857-EF29-BFA9-BAD9-4207841129D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37CA713-202A-224D-614E-13C2FFF7A74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97AB05C-68CA-5679-7A6D-D64197551E27}"/>
              </a:ext>
            </a:extLst>
          </p:cNvPr>
          <p:cNvSpPr>
            <a:spLocks noGrp="1"/>
          </p:cNvSpPr>
          <p:nvPr>
            <p:ph idx="1"/>
          </p:nvPr>
        </p:nvSpPr>
        <p:spPr/>
        <p:txBody>
          <a:bodyPr/>
          <a:lstStyle/>
          <a:p>
            <a:r>
              <a:rPr lang="fr-FR" dirty="0"/>
              <a:t>Au cours de la phase initiale , les signes cliniques en faveur  de la pneumonie lobaire aiguë  sont:</a:t>
            </a:r>
            <a:br>
              <a:rPr lang="fr-FR" dirty="0"/>
            </a:br>
            <a:r>
              <a:rPr lang="fr-FR" dirty="0"/>
              <a:t>A. </a:t>
            </a:r>
            <a:r>
              <a:rPr lang="fr-FR" dirty="0">
                <a:solidFill>
                  <a:srgbClr val="FF0000"/>
                </a:solidFill>
              </a:rPr>
              <a:t>Début brutal avec frissons intenses</a:t>
            </a:r>
            <a:br>
              <a:rPr lang="fr-FR" dirty="0">
                <a:solidFill>
                  <a:srgbClr val="FF0000"/>
                </a:solidFill>
              </a:rPr>
            </a:br>
            <a:r>
              <a:rPr lang="fr-FR" dirty="0">
                <a:solidFill>
                  <a:srgbClr val="FF0000"/>
                </a:solidFill>
              </a:rPr>
              <a:t>B. Douleur en point de côté inhibant l’inspiration</a:t>
            </a:r>
            <a:r>
              <a:rPr lang="fr-FR" dirty="0"/>
              <a:t/>
            </a:r>
            <a:br>
              <a:rPr lang="fr-FR" dirty="0"/>
            </a:br>
            <a:r>
              <a:rPr lang="fr-FR" dirty="0"/>
              <a:t>C. Expectoration rouillée</a:t>
            </a:r>
            <a:br>
              <a:rPr lang="fr-FR" dirty="0"/>
            </a:br>
            <a:r>
              <a:rPr lang="fr-FR" dirty="0"/>
              <a:t>D. Toux sèche persistante sans fièvre</a:t>
            </a:r>
            <a:br>
              <a:rPr lang="fr-FR" dirty="0"/>
            </a:br>
            <a:r>
              <a:rPr lang="fr-FR" dirty="0"/>
              <a:t>E. expectorations purulentes </a:t>
            </a:r>
          </a:p>
        </p:txBody>
      </p:sp>
    </p:spTree>
    <p:extLst>
      <p:ext uri="{BB962C8B-B14F-4D97-AF65-F5344CB8AC3E}">
        <p14:creationId xmlns:p14="http://schemas.microsoft.com/office/powerpoint/2010/main" val="27183793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7CFAC2-CD85-5D1E-0136-DFE528BA8A3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31A2BE1-AA41-D9E3-6DE5-276F6AF62495}"/>
              </a:ext>
            </a:extLst>
          </p:cNvPr>
          <p:cNvSpPr>
            <a:spLocks noGrp="1"/>
          </p:cNvSpPr>
          <p:nvPr>
            <p:ph idx="1"/>
          </p:nvPr>
        </p:nvSpPr>
        <p:spPr/>
        <p:txBody>
          <a:bodyPr/>
          <a:lstStyle/>
          <a:p>
            <a:r>
              <a:rPr lang="fr-FR" dirty="0"/>
              <a:t>Le syndrome de condensation pneumonique associe :</a:t>
            </a:r>
            <a:br>
              <a:rPr lang="fr-FR" dirty="0"/>
            </a:br>
            <a:r>
              <a:rPr lang="fr-FR" dirty="0"/>
              <a:t>A. Râles sibilants et  tympanisme </a:t>
            </a:r>
            <a:br>
              <a:rPr lang="fr-FR" dirty="0"/>
            </a:br>
            <a:r>
              <a:rPr lang="fr-FR" dirty="0"/>
              <a:t>B. Matité avec  souffle tubaire</a:t>
            </a:r>
            <a:br>
              <a:rPr lang="fr-FR" dirty="0"/>
            </a:br>
            <a:r>
              <a:rPr lang="fr-FR" dirty="0"/>
              <a:t>C. Murmure vésiculaire normal, crépitants fugaces</a:t>
            </a:r>
            <a:br>
              <a:rPr lang="fr-FR" dirty="0"/>
            </a:br>
            <a:r>
              <a:rPr lang="fr-FR" dirty="0"/>
              <a:t>D. </a:t>
            </a:r>
            <a:r>
              <a:rPr lang="fr-FR" dirty="0" err="1"/>
              <a:t>dimunition</a:t>
            </a:r>
            <a:r>
              <a:rPr lang="fr-FR" dirty="0"/>
              <a:t> des vibrations vocales</a:t>
            </a:r>
            <a:br>
              <a:rPr lang="fr-FR" dirty="0"/>
            </a:br>
            <a:r>
              <a:rPr lang="fr-FR" dirty="0"/>
              <a:t>E. Râles crépitants  diffus </a:t>
            </a:r>
            <a:br>
              <a:rPr lang="fr-FR" dirty="0"/>
            </a:br>
            <a:endParaRPr lang="fr-FR" dirty="0"/>
          </a:p>
        </p:txBody>
      </p:sp>
    </p:spTree>
    <p:extLst>
      <p:ext uri="{BB962C8B-B14F-4D97-AF65-F5344CB8AC3E}">
        <p14:creationId xmlns:p14="http://schemas.microsoft.com/office/powerpoint/2010/main" val="3979135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35C-5C86-13BB-F8F0-1DBFECFD5F4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1CA1EFD-A709-6CD1-98E7-FFAF73A7F43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09CD6E2-F56F-6817-734F-BE04AB6533BD}"/>
              </a:ext>
            </a:extLst>
          </p:cNvPr>
          <p:cNvSpPr>
            <a:spLocks noGrp="1"/>
          </p:cNvSpPr>
          <p:nvPr>
            <p:ph idx="1"/>
          </p:nvPr>
        </p:nvSpPr>
        <p:spPr/>
        <p:txBody>
          <a:bodyPr/>
          <a:lstStyle/>
          <a:p>
            <a:r>
              <a:rPr lang="fr-FR" dirty="0"/>
              <a:t>Le syndrome de condensation pneumonique associe :</a:t>
            </a:r>
            <a:br>
              <a:rPr lang="fr-FR" dirty="0"/>
            </a:br>
            <a:r>
              <a:rPr lang="fr-FR" dirty="0"/>
              <a:t>A. Râles sibilants et  tympanisme </a:t>
            </a:r>
            <a:br>
              <a:rPr lang="fr-FR" dirty="0"/>
            </a:br>
            <a:r>
              <a:rPr lang="fr-FR" dirty="0">
                <a:solidFill>
                  <a:srgbClr val="FF0000"/>
                </a:solidFill>
              </a:rPr>
              <a:t>B. Matité avec  souffle tubaire</a:t>
            </a:r>
            <a:r>
              <a:rPr lang="fr-FR" dirty="0"/>
              <a:t/>
            </a:r>
            <a:br>
              <a:rPr lang="fr-FR" dirty="0"/>
            </a:br>
            <a:r>
              <a:rPr lang="fr-FR" dirty="0"/>
              <a:t>C. Murmure vésiculaire normal, crépitants fugaces</a:t>
            </a:r>
            <a:br>
              <a:rPr lang="fr-FR" dirty="0"/>
            </a:br>
            <a:r>
              <a:rPr lang="fr-FR" dirty="0"/>
              <a:t>D. </a:t>
            </a:r>
            <a:r>
              <a:rPr lang="fr-FR" dirty="0" err="1"/>
              <a:t>dimunition</a:t>
            </a:r>
            <a:r>
              <a:rPr lang="fr-FR" dirty="0"/>
              <a:t> des vibrations vocales</a:t>
            </a:r>
            <a:br>
              <a:rPr lang="fr-FR" dirty="0"/>
            </a:br>
            <a:r>
              <a:rPr lang="fr-FR" dirty="0"/>
              <a:t>E. Râles crépitants  diffus </a:t>
            </a:r>
            <a:br>
              <a:rPr lang="fr-FR" dirty="0"/>
            </a:br>
            <a:endParaRPr lang="fr-FR" dirty="0"/>
          </a:p>
        </p:txBody>
      </p:sp>
    </p:spTree>
    <p:extLst>
      <p:ext uri="{BB962C8B-B14F-4D97-AF65-F5344CB8AC3E}">
        <p14:creationId xmlns:p14="http://schemas.microsoft.com/office/powerpoint/2010/main" val="35528415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B1B8-DF41-3C2D-4BF2-EA41F4EEDC5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3B00D6F-FC3F-69C3-ECA9-972D29730018}"/>
              </a:ext>
            </a:extLst>
          </p:cNvPr>
          <p:cNvSpPr>
            <a:spLocks noGrp="1"/>
          </p:cNvSpPr>
          <p:nvPr>
            <p:ph idx="1"/>
          </p:nvPr>
        </p:nvSpPr>
        <p:spPr>
          <a:xfrm>
            <a:off x="1981200" y="908721"/>
            <a:ext cx="8435280" cy="5217443"/>
          </a:xfrm>
        </p:spPr>
        <p:txBody>
          <a:bodyPr>
            <a:normAutofit/>
          </a:bodyPr>
          <a:lstStyle/>
          <a:p>
            <a:pPr marL="0" indent="0">
              <a:buNone/>
            </a:pPr>
            <a:r>
              <a:rPr lang="fr-FR" b="1" dirty="0"/>
              <a:t> les éléments cliniques suivants orientent vers l’origine pneumococcique de une pneumonie:</a:t>
            </a:r>
            <a:endParaRPr lang="fr-FR" dirty="0"/>
          </a:p>
          <a:p>
            <a:pPr marL="514350" indent="-514350">
              <a:buFont typeface="+mj-lt"/>
              <a:buAutoNum type="alphaUcPeriod"/>
            </a:pPr>
            <a:r>
              <a:rPr lang="fr-FR" dirty="0"/>
              <a:t>Rougeur unilatérale de la pommette</a:t>
            </a:r>
          </a:p>
          <a:p>
            <a:pPr marL="514350" indent="-514350">
              <a:buFont typeface="+mj-lt"/>
              <a:buAutoNum type="alphaUcPeriod"/>
            </a:pPr>
            <a:r>
              <a:rPr lang="fr-FR" dirty="0"/>
              <a:t>Toux sèche </a:t>
            </a:r>
          </a:p>
          <a:p>
            <a:pPr marL="514350" indent="-514350">
              <a:buFont typeface="+mj-lt"/>
              <a:buAutoNum type="alphaUcPeriod"/>
            </a:pPr>
            <a:r>
              <a:rPr lang="fr-FR" dirty="0"/>
              <a:t>Fièvre à 40°C en plateau</a:t>
            </a:r>
          </a:p>
          <a:p>
            <a:pPr marL="514350" indent="-514350">
              <a:buFont typeface="+mj-lt"/>
              <a:buAutoNum type="alphaUcPeriod"/>
            </a:pPr>
            <a:r>
              <a:rPr lang="fr-FR" dirty="0"/>
              <a:t>Voix rauque </a:t>
            </a:r>
          </a:p>
          <a:p>
            <a:pPr marL="514350" indent="-514350">
              <a:buFont typeface="+mj-lt"/>
              <a:buAutoNum type="alphaUcPeriod"/>
            </a:pPr>
            <a:r>
              <a:rPr lang="fr-FR" dirty="0"/>
              <a:t>Herpes </a:t>
            </a:r>
            <a:r>
              <a:rPr lang="fr-FR" dirty="0" err="1"/>
              <a:t>nasolabial</a:t>
            </a:r>
            <a:endParaRPr lang="fr-FR" dirty="0"/>
          </a:p>
          <a:p>
            <a:pPr marL="514350" indent="-514350">
              <a:buFont typeface="+mj-lt"/>
              <a:buAutoNum type="alphaUcPeriod"/>
            </a:pPr>
            <a:endParaRPr lang="fr-FR" dirty="0"/>
          </a:p>
          <a:p>
            <a:endParaRPr lang="fr-FR" dirty="0"/>
          </a:p>
        </p:txBody>
      </p:sp>
    </p:spTree>
    <p:extLst>
      <p:ext uri="{BB962C8B-B14F-4D97-AF65-F5344CB8AC3E}">
        <p14:creationId xmlns:p14="http://schemas.microsoft.com/office/powerpoint/2010/main" val="27754479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908721"/>
            <a:ext cx="8435280" cy="5217443"/>
          </a:xfrm>
        </p:spPr>
        <p:txBody>
          <a:bodyPr>
            <a:normAutofit/>
          </a:bodyPr>
          <a:lstStyle/>
          <a:p>
            <a:pPr marL="0" indent="0">
              <a:buNone/>
            </a:pPr>
            <a:r>
              <a:rPr lang="fr-FR" b="1" dirty="0"/>
              <a:t> les éléments cliniques suivants orientent vers l’origine pneumococcique de une pneumonie:</a:t>
            </a:r>
            <a:endParaRPr lang="fr-FR" dirty="0"/>
          </a:p>
          <a:p>
            <a:pPr marL="514350" indent="-514350">
              <a:buFont typeface="+mj-lt"/>
              <a:buAutoNum type="alphaUcPeriod"/>
            </a:pPr>
            <a:r>
              <a:rPr lang="fr-FR" dirty="0">
                <a:solidFill>
                  <a:srgbClr val="FF0000"/>
                </a:solidFill>
              </a:rPr>
              <a:t>Rougeur unilatérale de la pommette</a:t>
            </a:r>
          </a:p>
          <a:p>
            <a:pPr marL="514350" indent="-514350">
              <a:buFont typeface="+mj-lt"/>
              <a:buAutoNum type="alphaUcPeriod"/>
            </a:pPr>
            <a:r>
              <a:rPr lang="fr-FR" dirty="0"/>
              <a:t>Toux sèche </a:t>
            </a:r>
          </a:p>
          <a:p>
            <a:pPr marL="514350" indent="-514350">
              <a:buFont typeface="+mj-lt"/>
              <a:buAutoNum type="alphaUcPeriod"/>
            </a:pPr>
            <a:r>
              <a:rPr lang="fr-FR" dirty="0"/>
              <a:t>Fièvre à 40°C en plateau</a:t>
            </a:r>
          </a:p>
          <a:p>
            <a:pPr marL="514350" indent="-514350">
              <a:buFont typeface="+mj-lt"/>
              <a:buAutoNum type="alphaUcPeriod"/>
            </a:pPr>
            <a:r>
              <a:rPr lang="fr-FR" dirty="0"/>
              <a:t>Voix rauque </a:t>
            </a:r>
          </a:p>
          <a:p>
            <a:pPr marL="514350" indent="-514350">
              <a:buFont typeface="+mj-lt"/>
              <a:buAutoNum type="alphaUcPeriod"/>
            </a:pPr>
            <a:r>
              <a:rPr lang="fr-FR" dirty="0">
                <a:solidFill>
                  <a:srgbClr val="FF0000"/>
                </a:solidFill>
              </a:rPr>
              <a:t>Herpes </a:t>
            </a:r>
            <a:r>
              <a:rPr lang="fr-FR" dirty="0" err="1">
                <a:solidFill>
                  <a:srgbClr val="FF0000"/>
                </a:solidFill>
              </a:rPr>
              <a:t>nasolabial</a:t>
            </a:r>
            <a:endParaRPr lang="fr-FR" dirty="0">
              <a:solidFill>
                <a:srgbClr val="FF0000"/>
              </a:solidFill>
            </a:endParaRPr>
          </a:p>
          <a:p>
            <a:pPr marL="514350" indent="-514350">
              <a:buFont typeface="+mj-lt"/>
              <a:buAutoNum type="alphaUcPeriod"/>
            </a:pPr>
            <a:endParaRPr lang="fr-FR" dirty="0"/>
          </a:p>
          <a:p>
            <a:endParaRPr lang="fr-FR" dirty="0"/>
          </a:p>
        </p:txBody>
      </p:sp>
    </p:spTree>
    <p:extLst>
      <p:ext uri="{BB962C8B-B14F-4D97-AF65-F5344CB8AC3E}">
        <p14:creationId xmlns:p14="http://schemas.microsoft.com/office/powerpoint/2010/main" val="212952503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8487F2-0DD4-40E8-0F4E-197D72896A8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7BEE139-1504-70BE-2A3A-52988A9BA6F8}"/>
              </a:ext>
            </a:extLst>
          </p:cNvPr>
          <p:cNvSpPr>
            <a:spLocks noGrp="1"/>
          </p:cNvSpPr>
          <p:nvPr>
            <p:ph idx="1"/>
          </p:nvPr>
        </p:nvSpPr>
        <p:spPr/>
        <p:txBody>
          <a:bodyPr/>
          <a:lstStyle/>
          <a:p>
            <a:r>
              <a:rPr lang="fr-FR" dirty="0"/>
              <a:t>Le test diagnostique le plus spécifique pour Legionella pneumophila est :</a:t>
            </a:r>
            <a:br>
              <a:rPr lang="fr-FR" dirty="0"/>
            </a:br>
            <a:r>
              <a:rPr lang="fr-FR" dirty="0"/>
              <a:t>A. Sérologie</a:t>
            </a:r>
            <a:br>
              <a:rPr lang="fr-FR" dirty="0"/>
            </a:br>
            <a:r>
              <a:rPr lang="fr-FR" dirty="0"/>
              <a:t>B. Hémoculture</a:t>
            </a:r>
            <a:br>
              <a:rPr lang="fr-FR" dirty="0"/>
            </a:br>
            <a:r>
              <a:rPr lang="fr-FR" dirty="0"/>
              <a:t>C. Antigénurie</a:t>
            </a:r>
            <a:br>
              <a:rPr lang="fr-FR" dirty="0"/>
            </a:br>
            <a:r>
              <a:rPr lang="fr-FR" dirty="0"/>
              <a:t>D. Radiographie thoracique</a:t>
            </a:r>
            <a:br>
              <a:rPr lang="fr-FR" dirty="0"/>
            </a:br>
            <a:r>
              <a:rPr lang="fr-FR" dirty="0"/>
              <a:t>E. PCR</a:t>
            </a:r>
            <a:br>
              <a:rPr lang="fr-FR" dirty="0"/>
            </a:br>
            <a:endParaRPr lang="fr-FR" dirty="0"/>
          </a:p>
        </p:txBody>
      </p:sp>
    </p:spTree>
    <p:extLst>
      <p:ext uri="{BB962C8B-B14F-4D97-AF65-F5344CB8AC3E}">
        <p14:creationId xmlns:p14="http://schemas.microsoft.com/office/powerpoint/2010/main" val="216777613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BDB78-DC14-4C35-4CE8-A668ADEC498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4B0A47-E89C-BA82-0F9D-B5F96837C2EC}"/>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618B2590-3FC3-6041-7218-C33D0383883E}"/>
              </a:ext>
            </a:extLst>
          </p:cNvPr>
          <p:cNvSpPr>
            <a:spLocks noGrp="1"/>
          </p:cNvSpPr>
          <p:nvPr>
            <p:ph idx="1"/>
          </p:nvPr>
        </p:nvSpPr>
        <p:spPr/>
        <p:txBody>
          <a:bodyPr/>
          <a:lstStyle/>
          <a:p>
            <a:r>
              <a:rPr lang="fr-FR" dirty="0"/>
              <a:t>Le test diagnostique le plus spécifique pour Legionella pneumophila est :</a:t>
            </a:r>
            <a:br>
              <a:rPr lang="fr-FR" dirty="0"/>
            </a:br>
            <a:r>
              <a:rPr lang="fr-FR" dirty="0"/>
              <a:t>A. Sérologie</a:t>
            </a:r>
            <a:br>
              <a:rPr lang="fr-FR" dirty="0"/>
            </a:br>
            <a:r>
              <a:rPr lang="fr-FR" dirty="0"/>
              <a:t>B. Hémoculture</a:t>
            </a:r>
            <a:br>
              <a:rPr lang="fr-FR" dirty="0"/>
            </a:br>
            <a:r>
              <a:rPr lang="fr-FR" dirty="0">
                <a:solidFill>
                  <a:srgbClr val="C00000"/>
                </a:solidFill>
              </a:rPr>
              <a:t>C. Antigénurie</a:t>
            </a:r>
            <a:r>
              <a:rPr lang="fr-FR" dirty="0"/>
              <a:t/>
            </a:r>
            <a:br>
              <a:rPr lang="fr-FR" dirty="0"/>
            </a:br>
            <a:r>
              <a:rPr lang="fr-FR" dirty="0"/>
              <a:t>D. Radiographie thoracique</a:t>
            </a:r>
            <a:br>
              <a:rPr lang="fr-FR" dirty="0"/>
            </a:br>
            <a:r>
              <a:rPr lang="fr-FR" dirty="0"/>
              <a:t>E. PCR</a:t>
            </a:r>
            <a:br>
              <a:rPr lang="fr-FR" dirty="0"/>
            </a:br>
            <a:endParaRPr lang="fr-FR" dirty="0"/>
          </a:p>
        </p:txBody>
      </p:sp>
    </p:spTree>
    <p:extLst>
      <p:ext uri="{BB962C8B-B14F-4D97-AF65-F5344CB8AC3E}">
        <p14:creationId xmlns:p14="http://schemas.microsoft.com/office/powerpoint/2010/main" val="363287122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C7AA9-4884-BC1E-3ACD-1543A5D6772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483B2C-688F-7DCD-6CAF-A5B726482DC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4C43447-69EA-3A27-02E7-A8724C0B4623}"/>
              </a:ext>
            </a:extLst>
          </p:cNvPr>
          <p:cNvSpPr>
            <a:spLocks noGrp="1"/>
          </p:cNvSpPr>
          <p:nvPr>
            <p:ph idx="1"/>
          </p:nvPr>
        </p:nvSpPr>
        <p:spPr/>
        <p:txBody>
          <a:bodyPr/>
          <a:lstStyle/>
          <a:p>
            <a:r>
              <a:rPr lang="fr-FR" dirty="0"/>
              <a:t>Chez un patient hospitalisé pour pneumonie non compliquée , les examens microbiologiques qu’on peut demander sont:</a:t>
            </a:r>
            <a:br>
              <a:rPr lang="fr-FR" dirty="0"/>
            </a:br>
            <a:r>
              <a:rPr lang="fr-FR" dirty="0"/>
              <a:t>A. Hémocultures</a:t>
            </a:r>
            <a:br>
              <a:rPr lang="fr-FR" dirty="0"/>
            </a:br>
            <a:r>
              <a:rPr lang="fr-FR" dirty="0"/>
              <a:t>B. Antigénurie pneumocoque et Legionella</a:t>
            </a:r>
            <a:br>
              <a:rPr lang="fr-FR" dirty="0"/>
            </a:br>
            <a:r>
              <a:rPr lang="fr-FR" dirty="0"/>
              <a:t>C. PCR multiplex sur écouvillon nasopharyngé</a:t>
            </a:r>
            <a:br>
              <a:rPr lang="fr-FR" dirty="0"/>
            </a:br>
            <a:r>
              <a:rPr lang="fr-FR" dirty="0"/>
              <a:t>D. prélèvement distal protégé </a:t>
            </a:r>
            <a:br>
              <a:rPr lang="fr-FR" dirty="0"/>
            </a:br>
            <a:r>
              <a:rPr lang="fr-FR" dirty="0"/>
              <a:t>E. Ponction pleurale exploratrice en cas de pleurésie</a:t>
            </a:r>
          </a:p>
        </p:txBody>
      </p:sp>
    </p:spTree>
    <p:extLst>
      <p:ext uri="{BB962C8B-B14F-4D97-AF65-F5344CB8AC3E}">
        <p14:creationId xmlns:p14="http://schemas.microsoft.com/office/powerpoint/2010/main" val="203749102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CC9CF-7A41-A2E9-0055-7D449136D68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4545A7B-1AA0-71F3-0A7A-011AD797900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912E9A0-0FD2-195E-FBD7-D1CDCB4CF790}"/>
              </a:ext>
            </a:extLst>
          </p:cNvPr>
          <p:cNvSpPr>
            <a:spLocks noGrp="1"/>
          </p:cNvSpPr>
          <p:nvPr>
            <p:ph idx="1"/>
          </p:nvPr>
        </p:nvSpPr>
        <p:spPr/>
        <p:txBody>
          <a:bodyPr/>
          <a:lstStyle/>
          <a:p>
            <a:r>
              <a:rPr lang="fr-FR" dirty="0"/>
              <a:t>Chez un patient hospitalisé pour pneumonie non compliquée , les examens microbiologiques qu’on peut demander sont:</a:t>
            </a:r>
            <a:br>
              <a:rPr lang="fr-FR" dirty="0"/>
            </a:br>
            <a:r>
              <a:rPr lang="fr-FR" dirty="0"/>
              <a:t>A. </a:t>
            </a:r>
            <a:r>
              <a:rPr lang="fr-FR" dirty="0">
                <a:solidFill>
                  <a:srgbClr val="FF0000"/>
                </a:solidFill>
              </a:rPr>
              <a:t>Hémocultures</a:t>
            </a:r>
            <a:br>
              <a:rPr lang="fr-FR" dirty="0">
                <a:solidFill>
                  <a:srgbClr val="FF0000"/>
                </a:solidFill>
              </a:rPr>
            </a:br>
            <a:r>
              <a:rPr lang="fr-FR" dirty="0">
                <a:solidFill>
                  <a:srgbClr val="FF0000"/>
                </a:solidFill>
              </a:rPr>
              <a:t>B. Antigénurie pneumocoque et Legionella</a:t>
            </a:r>
            <a:br>
              <a:rPr lang="fr-FR" dirty="0">
                <a:solidFill>
                  <a:srgbClr val="FF0000"/>
                </a:solidFill>
              </a:rPr>
            </a:br>
            <a:r>
              <a:rPr lang="fr-FR" dirty="0">
                <a:solidFill>
                  <a:srgbClr val="FF0000"/>
                </a:solidFill>
              </a:rPr>
              <a:t>C. PCR multiplex sur écouvillon nasopharyngé</a:t>
            </a:r>
            <a:r>
              <a:rPr lang="fr-FR" dirty="0"/>
              <a:t/>
            </a:r>
            <a:br>
              <a:rPr lang="fr-FR" dirty="0"/>
            </a:br>
            <a:r>
              <a:rPr lang="fr-FR" dirty="0"/>
              <a:t>D. prélèvement distal protégé </a:t>
            </a:r>
            <a:br>
              <a:rPr lang="fr-FR" dirty="0"/>
            </a:br>
            <a:r>
              <a:rPr lang="fr-FR" dirty="0">
                <a:solidFill>
                  <a:srgbClr val="FF0000"/>
                </a:solidFill>
              </a:rPr>
              <a:t>E. Ponction pleurale exploratrice en cas de pleurésie</a:t>
            </a:r>
          </a:p>
        </p:txBody>
      </p:sp>
    </p:spTree>
    <p:extLst>
      <p:ext uri="{BB962C8B-B14F-4D97-AF65-F5344CB8AC3E}">
        <p14:creationId xmlns:p14="http://schemas.microsoft.com/office/powerpoint/2010/main" val="286191014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 Concernant les examens microbiologiques chez les sujets porteurs de PFLA, les propositions justes sont :</a:t>
            </a:r>
            <a:endParaRPr lang="fr-FR" dirty="0"/>
          </a:p>
          <a:p>
            <a:pPr marL="514350" indent="-514350">
              <a:buFont typeface="+mj-lt"/>
              <a:buAutoNum type="alphaUcPeriod"/>
            </a:pPr>
            <a:r>
              <a:rPr lang="fr-FR" dirty="0"/>
              <a:t>Chez les malades traités en ambulatoire, on doit réaliser seulement l’examen cytobactériologique du crachat (ECBC)</a:t>
            </a:r>
          </a:p>
          <a:p>
            <a:pPr marL="514350" indent="-514350">
              <a:buFont typeface="+mj-lt"/>
              <a:buAutoNum type="alphaUcPeriod"/>
            </a:pPr>
            <a:r>
              <a:rPr lang="fr-FR" dirty="0"/>
              <a:t>La rentabilité des hémocultures est de 10%</a:t>
            </a:r>
          </a:p>
          <a:p>
            <a:pPr marL="514350" indent="-514350">
              <a:buFont typeface="+mj-lt"/>
              <a:buAutoNum type="alphaUcPeriod"/>
            </a:pPr>
            <a:r>
              <a:rPr lang="fr-FR" dirty="0"/>
              <a:t>Le prélèvement distal est plus fiable que l’ECBC</a:t>
            </a:r>
          </a:p>
          <a:p>
            <a:pPr marL="514350" indent="-514350">
              <a:buFont typeface="+mj-lt"/>
              <a:buAutoNum type="alphaUcPeriod"/>
            </a:pPr>
            <a:r>
              <a:rPr lang="fr-FR" dirty="0"/>
              <a:t>La recherche d’antigène urinaire est réalisable pour le mycoplasme </a:t>
            </a:r>
            <a:r>
              <a:rPr lang="fr-FR" dirty="0" err="1"/>
              <a:t>pneumoniae</a:t>
            </a:r>
            <a:endParaRPr lang="fr-FR" dirty="0"/>
          </a:p>
          <a:p>
            <a:pPr marL="514350" indent="-514350">
              <a:buFont typeface="+mj-lt"/>
              <a:buAutoNum type="alphaUcPeriod"/>
            </a:pPr>
            <a:r>
              <a:rPr lang="fr-FR" dirty="0"/>
              <a:t>Les localisations septiques secondaires doivent être prélevées.</a:t>
            </a:r>
          </a:p>
        </p:txBody>
      </p:sp>
    </p:spTree>
    <p:extLst>
      <p:ext uri="{BB962C8B-B14F-4D97-AF65-F5344CB8AC3E}">
        <p14:creationId xmlns:p14="http://schemas.microsoft.com/office/powerpoint/2010/main" val="33234552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EDEF1-65DE-5F2C-91AD-BAC13DA7152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0E8B4D3-3A7A-073C-3A0A-0CD618C153E7}"/>
              </a:ext>
            </a:extLst>
          </p:cNvPr>
          <p:cNvSpPr>
            <a:spLocks noGrp="1"/>
          </p:cNvSpPr>
          <p:nvPr>
            <p:ph idx="1"/>
          </p:nvPr>
        </p:nvSpPr>
        <p:spPr>
          <a:xfrm>
            <a:off x="1981200" y="692697"/>
            <a:ext cx="8229600" cy="5433467"/>
          </a:xfrm>
        </p:spPr>
        <p:txBody>
          <a:bodyPr>
            <a:normAutofit/>
          </a:bodyPr>
          <a:lstStyle/>
          <a:p>
            <a:pPr marL="0" indent="0">
              <a:buNone/>
            </a:pPr>
            <a:r>
              <a:rPr lang="fr-FR" b="1" dirty="0"/>
              <a:t> Concernant les examens microbiologiques chez les sujets porteurs de PFLA, les propositions justes sont :</a:t>
            </a:r>
            <a:endParaRPr lang="fr-FR" dirty="0"/>
          </a:p>
          <a:p>
            <a:pPr marL="514350" indent="-514350">
              <a:buFont typeface="+mj-lt"/>
              <a:buAutoNum type="alphaUcPeriod"/>
            </a:pPr>
            <a:r>
              <a:rPr lang="fr-FR" dirty="0"/>
              <a:t>Chez les malades traités en ambulatoire, on doit réaliser seulement l’examen cytobactériologique du crachat (ECBC)</a:t>
            </a:r>
          </a:p>
          <a:p>
            <a:pPr marL="514350" indent="-514350">
              <a:buFont typeface="+mj-lt"/>
              <a:buAutoNum type="alphaUcPeriod"/>
            </a:pPr>
            <a:r>
              <a:rPr lang="fr-FR" dirty="0">
                <a:solidFill>
                  <a:srgbClr val="FF0000"/>
                </a:solidFill>
              </a:rPr>
              <a:t>La rentabilité des hémocultures est de 10%</a:t>
            </a:r>
          </a:p>
          <a:p>
            <a:pPr marL="514350" indent="-514350">
              <a:buFont typeface="+mj-lt"/>
              <a:buAutoNum type="alphaUcPeriod"/>
            </a:pPr>
            <a:r>
              <a:rPr lang="fr-FR" dirty="0">
                <a:solidFill>
                  <a:srgbClr val="FF0000"/>
                </a:solidFill>
              </a:rPr>
              <a:t>Le prélèvement distal est plus fiable que l’ECBC</a:t>
            </a:r>
          </a:p>
          <a:p>
            <a:pPr marL="514350" indent="-514350">
              <a:buFont typeface="+mj-lt"/>
              <a:buAutoNum type="alphaUcPeriod"/>
            </a:pPr>
            <a:r>
              <a:rPr lang="fr-FR" dirty="0"/>
              <a:t>La recherche d’antigène urinaire est réalisable pour le mycoplasme </a:t>
            </a:r>
            <a:r>
              <a:rPr lang="fr-FR" dirty="0" err="1"/>
              <a:t>pneumoniae</a:t>
            </a:r>
            <a:endParaRPr lang="fr-FR" dirty="0"/>
          </a:p>
          <a:p>
            <a:pPr marL="514350" indent="-514350">
              <a:buFont typeface="+mj-lt"/>
              <a:buAutoNum type="alphaUcPeriod"/>
            </a:pPr>
            <a:r>
              <a:rPr lang="fr-FR" dirty="0">
                <a:solidFill>
                  <a:srgbClr val="FF0000"/>
                </a:solidFill>
              </a:rPr>
              <a:t>Les localisations septiques secondaires doivent être prélevées.</a:t>
            </a:r>
          </a:p>
        </p:txBody>
      </p:sp>
    </p:spTree>
    <p:extLst>
      <p:ext uri="{BB962C8B-B14F-4D97-AF65-F5344CB8AC3E}">
        <p14:creationId xmlns:p14="http://schemas.microsoft.com/office/powerpoint/2010/main" val="33060616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D67DC0-2094-C6E6-BCB7-0CF795BF446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C2A41C9-39A0-F734-7329-030E2414BB65}"/>
              </a:ext>
            </a:extLst>
          </p:cNvPr>
          <p:cNvSpPr>
            <a:spLocks noGrp="1"/>
          </p:cNvSpPr>
          <p:nvPr>
            <p:ph idx="1"/>
          </p:nvPr>
        </p:nvSpPr>
        <p:spPr/>
        <p:txBody>
          <a:bodyPr/>
          <a:lstStyle/>
          <a:p>
            <a:r>
              <a:rPr lang="fr-FR" dirty="0"/>
              <a:t>L’évaluation initiale de la gravité de la pneumonie a pour but : </a:t>
            </a:r>
          </a:p>
          <a:p>
            <a:pPr marL="514350" indent="-514350">
              <a:buAutoNum type="alphaUcPeriod"/>
            </a:pPr>
            <a:r>
              <a:rPr lang="fr-FR" dirty="0"/>
              <a:t>L’orientation du patient </a:t>
            </a:r>
          </a:p>
          <a:p>
            <a:pPr marL="514350" indent="-514350">
              <a:buAutoNum type="alphaUcPeriod"/>
            </a:pPr>
            <a:r>
              <a:rPr lang="fr-FR" dirty="0"/>
              <a:t>Déterminer la durée de l’antibiothérapie </a:t>
            </a:r>
          </a:p>
          <a:p>
            <a:pPr marL="0" indent="0">
              <a:buNone/>
            </a:pPr>
            <a:r>
              <a:rPr lang="fr-FR" dirty="0"/>
              <a:t>C. La réalisation de certains examens paracliniques</a:t>
            </a:r>
          </a:p>
          <a:p>
            <a:pPr marL="0" indent="0">
              <a:buNone/>
            </a:pPr>
            <a:r>
              <a:rPr lang="fr-FR" dirty="0"/>
              <a:t>D. Orientation de l’antibiothérapie</a:t>
            </a:r>
          </a:p>
          <a:p>
            <a:pPr marL="0" indent="0">
              <a:buNone/>
            </a:pPr>
            <a:r>
              <a:rPr lang="fr-FR" dirty="0"/>
              <a:t>E. Guider le rythme de surveillance </a:t>
            </a:r>
          </a:p>
        </p:txBody>
      </p:sp>
    </p:spTree>
    <p:extLst>
      <p:ext uri="{BB962C8B-B14F-4D97-AF65-F5344CB8AC3E}">
        <p14:creationId xmlns:p14="http://schemas.microsoft.com/office/powerpoint/2010/main" val="385937875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2CEB3-C0AB-2A3B-9533-A54CBAA4A4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9259F7-15C5-6C9B-C163-10B4567F998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E9A7DB7-54C3-718C-CCFD-D29AFD7811C8}"/>
              </a:ext>
            </a:extLst>
          </p:cNvPr>
          <p:cNvSpPr>
            <a:spLocks noGrp="1"/>
          </p:cNvSpPr>
          <p:nvPr>
            <p:ph idx="1"/>
          </p:nvPr>
        </p:nvSpPr>
        <p:spPr/>
        <p:txBody>
          <a:bodyPr/>
          <a:lstStyle/>
          <a:p>
            <a:r>
              <a:rPr lang="fr-FR" dirty="0"/>
              <a:t>L’évaluation initiale de la gravité de la pneumonie a pour but : </a:t>
            </a:r>
          </a:p>
          <a:p>
            <a:pPr marL="514350" indent="-514350">
              <a:buAutoNum type="alphaUcPeriod"/>
            </a:pPr>
            <a:r>
              <a:rPr lang="fr-FR" dirty="0">
                <a:solidFill>
                  <a:srgbClr val="FF0000"/>
                </a:solidFill>
              </a:rPr>
              <a:t>L’orientation du patient </a:t>
            </a:r>
          </a:p>
          <a:p>
            <a:pPr marL="514350" indent="-514350">
              <a:buAutoNum type="alphaUcPeriod"/>
            </a:pPr>
            <a:r>
              <a:rPr lang="fr-FR" dirty="0"/>
              <a:t>Déterminer la durée de l’antibiothérapie </a:t>
            </a:r>
          </a:p>
          <a:p>
            <a:pPr marL="0" indent="0">
              <a:buNone/>
            </a:pPr>
            <a:r>
              <a:rPr lang="fr-FR" dirty="0">
                <a:solidFill>
                  <a:srgbClr val="FF0000"/>
                </a:solidFill>
              </a:rPr>
              <a:t>C. La réalisation de certains examens paracliniques</a:t>
            </a:r>
          </a:p>
          <a:p>
            <a:pPr marL="0" indent="0">
              <a:buNone/>
            </a:pPr>
            <a:r>
              <a:rPr lang="fr-FR" dirty="0">
                <a:solidFill>
                  <a:srgbClr val="FF0000"/>
                </a:solidFill>
              </a:rPr>
              <a:t>D</a:t>
            </a:r>
            <a:r>
              <a:rPr lang="fr-FR" dirty="0"/>
              <a:t>. </a:t>
            </a:r>
            <a:r>
              <a:rPr lang="fr-FR" dirty="0">
                <a:solidFill>
                  <a:srgbClr val="FF0000"/>
                </a:solidFill>
              </a:rPr>
              <a:t>Orientation de l’antibiothérapie</a:t>
            </a:r>
          </a:p>
          <a:p>
            <a:pPr marL="0" indent="0">
              <a:buNone/>
            </a:pPr>
            <a:r>
              <a:rPr lang="fr-FR" dirty="0"/>
              <a:t>E. Guider le rythme de surveillance </a:t>
            </a:r>
          </a:p>
        </p:txBody>
      </p:sp>
    </p:spTree>
    <p:extLst>
      <p:ext uri="{BB962C8B-B14F-4D97-AF65-F5344CB8AC3E}">
        <p14:creationId xmlns:p14="http://schemas.microsoft.com/office/powerpoint/2010/main" val="297350321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359BB9-3D87-A43E-32D7-99A10146242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DFC5547-3F09-1668-D123-8D6684C2F4D2}"/>
              </a:ext>
            </a:extLst>
          </p:cNvPr>
          <p:cNvSpPr>
            <a:spLocks noGrp="1"/>
          </p:cNvSpPr>
          <p:nvPr>
            <p:ph idx="1"/>
          </p:nvPr>
        </p:nvSpPr>
        <p:spPr/>
        <p:txBody>
          <a:bodyPr/>
          <a:lstStyle/>
          <a:p>
            <a:r>
              <a:rPr lang="fr-FR" dirty="0"/>
              <a:t>La pneumonie staphylococcique peut se compliquer de:</a:t>
            </a:r>
            <a:br>
              <a:rPr lang="fr-FR" dirty="0"/>
            </a:br>
            <a:r>
              <a:rPr lang="fr-FR" dirty="0"/>
              <a:t>A. Pleurésie </a:t>
            </a:r>
            <a:r>
              <a:rPr lang="fr-FR" dirty="0" err="1"/>
              <a:t>sérofibrineuse</a:t>
            </a:r>
            <a:r>
              <a:rPr lang="fr-FR" dirty="0"/>
              <a:t> </a:t>
            </a:r>
            <a:br>
              <a:rPr lang="fr-FR" dirty="0"/>
            </a:br>
            <a:r>
              <a:rPr lang="fr-FR" dirty="0"/>
              <a:t>B. Pneumothorax et </a:t>
            </a:r>
            <a:r>
              <a:rPr lang="fr-FR" dirty="0" err="1"/>
              <a:t>pyopneumothorax</a:t>
            </a:r>
            <a:r>
              <a:rPr lang="fr-FR" dirty="0"/>
              <a:t/>
            </a:r>
            <a:br>
              <a:rPr lang="fr-FR" dirty="0"/>
            </a:br>
            <a:r>
              <a:rPr lang="fr-FR" dirty="0"/>
              <a:t>C. des lésions bulleuses</a:t>
            </a:r>
            <a:br>
              <a:rPr lang="fr-FR" dirty="0"/>
            </a:br>
            <a:r>
              <a:rPr lang="fr-FR" dirty="0"/>
              <a:t>D. Méningite</a:t>
            </a:r>
            <a:br>
              <a:rPr lang="fr-FR" dirty="0"/>
            </a:br>
            <a:r>
              <a:rPr lang="fr-FR" dirty="0"/>
              <a:t>E. Hyperréactivité bronchique post-infectieuse</a:t>
            </a:r>
            <a:br>
              <a:rPr lang="fr-FR" dirty="0"/>
            </a:br>
            <a:endParaRPr lang="fr-FR" dirty="0"/>
          </a:p>
        </p:txBody>
      </p:sp>
    </p:spTree>
    <p:extLst>
      <p:ext uri="{BB962C8B-B14F-4D97-AF65-F5344CB8AC3E}">
        <p14:creationId xmlns:p14="http://schemas.microsoft.com/office/powerpoint/2010/main" val="24272535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28A39-E5E1-D763-AB4B-5F9C378C65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8880D0-BFF1-B6DC-2D3F-12FDF35365A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49F16FE-56DF-A6F8-3CFF-89F1C6D2D04D}"/>
              </a:ext>
            </a:extLst>
          </p:cNvPr>
          <p:cNvSpPr>
            <a:spLocks noGrp="1"/>
          </p:cNvSpPr>
          <p:nvPr>
            <p:ph idx="1"/>
          </p:nvPr>
        </p:nvSpPr>
        <p:spPr/>
        <p:txBody>
          <a:bodyPr/>
          <a:lstStyle/>
          <a:p>
            <a:r>
              <a:rPr lang="fr-FR" dirty="0"/>
              <a:t>La pneumonie staphylococcique peut se compliquer de:</a:t>
            </a:r>
            <a:br>
              <a:rPr lang="fr-FR" dirty="0"/>
            </a:br>
            <a:r>
              <a:rPr lang="fr-FR" dirty="0"/>
              <a:t>A. Pleurésie </a:t>
            </a:r>
            <a:r>
              <a:rPr lang="fr-FR" dirty="0" err="1"/>
              <a:t>sérofibrineuse</a:t>
            </a:r>
            <a:r>
              <a:rPr lang="fr-FR" dirty="0"/>
              <a:t> </a:t>
            </a:r>
            <a:br>
              <a:rPr lang="fr-FR" dirty="0"/>
            </a:br>
            <a:r>
              <a:rPr lang="fr-FR" dirty="0">
                <a:solidFill>
                  <a:srgbClr val="FF0000"/>
                </a:solidFill>
              </a:rPr>
              <a:t>B. Pneumothorax et </a:t>
            </a:r>
            <a:r>
              <a:rPr lang="fr-FR" dirty="0" err="1">
                <a:solidFill>
                  <a:srgbClr val="FF0000"/>
                </a:solidFill>
              </a:rPr>
              <a:t>pyopneumothorax</a:t>
            </a:r>
            <a:r>
              <a:rPr lang="fr-FR" dirty="0">
                <a:solidFill>
                  <a:srgbClr val="FF0000"/>
                </a:solidFill>
              </a:rPr>
              <a:t/>
            </a:r>
            <a:br>
              <a:rPr lang="fr-FR" dirty="0">
                <a:solidFill>
                  <a:srgbClr val="FF0000"/>
                </a:solidFill>
              </a:rPr>
            </a:br>
            <a:r>
              <a:rPr lang="fr-FR" dirty="0">
                <a:solidFill>
                  <a:srgbClr val="FF0000"/>
                </a:solidFill>
              </a:rPr>
              <a:t>C. des lésions bulleuses</a:t>
            </a:r>
            <a:br>
              <a:rPr lang="fr-FR" dirty="0">
                <a:solidFill>
                  <a:srgbClr val="FF0000"/>
                </a:solidFill>
              </a:rPr>
            </a:br>
            <a:r>
              <a:rPr lang="fr-FR" dirty="0"/>
              <a:t>D. Méningite</a:t>
            </a:r>
            <a:br>
              <a:rPr lang="fr-FR" dirty="0"/>
            </a:br>
            <a:r>
              <a:rPr lang="fr-FR" dirty="0"/>
              <a:t>E. Hyperréactivité bronchique post-infectieuse</a:t>
            </a:r>
            <a:br>
              <a:rPr lang="fr-FR" dirty="0"/>
            </a:br>
            <a:endParaRPr lang="fr-FR" dirty="0"/>
          </a:p>
        </p:txBody>
      </p:sp>
    </p:spTree>
    <p:extLst>
      <p:ext uri="{BB962C8B-B14F-4D97-AF65-F5344CB8AC3E}">
        <p14:creationId xmlns:p14="http://schemas.microsoft.com/office/powerpoint/2010/main" val="19005640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Les aspects radiologiques qui peuvent être observés au cours des  pneumopathies aigues bactériennes à staphylocoque sont :</a:t>
            </a:r>
            <a:endParaRPr lang="fr-FR" dirty="0"/>
          </a:p>
          <a:p>
            <a:pPr marL="514350" indent="-514350">
              <a:buFont typeface="+mj-lt"/>
              <a:buAutoNum type="alphaUcPeriod"/>
            </a:pPr>
            <a:r>
              <a:rPr lang="fr-FR" dirty="0"/>
              <a:t>Miliaire radiologique</a:t>
            </a:r>
          </a:p>
          <a:p>
            <a:pPr marL="514350" indent="-514350">
              <a:buFont typeface="+mj-lt"/>
              <a:buAutoNum type="alphaUcPeriod"/>
            </a:pPr>
            <a:r>
              <a:rPr lang="fr-FR" dirty="0"/>
              <a:t>Images bulleuses</a:t>
            </a:r>
          </a:p>
          <a:p>
            <a:pPr marL="514350" indent="-514350">
              <a:buFont typeface="+mj-lt"/>
              <a:buAutoNum type="alphaUcPeriod"/>
            </a:pPr>
            <a:r>
              <a:rPr lang="fr-FR" dirty="0"/>
              <a:t>Opacités alvéolaires systématisées</a:t>
            </a:r>
          </a:p>
          <a:p>
            <a:pPr marL="514350" indent="-514350">
              <a:buFont typeface="+mj-lt"/>
              <a:buAutoNum type="alphaUcPeriod"/>
            </a:pPr>
            <a:r>
              <a:rPr lang="fr-FR" dirty="0"/>
              <a:t>Opacités excavées multiples avec niveau </a:t>
            </a:r>
            <a:r>
              <a:rPr lang="fr-FR" dirty="0" err="1"/>
              <a:t>hydroaérique</a:t>
            </a:r>
            <a:endParaRPr lang="fr-FR" dirty="0"/>
          </a:p>
          <a:p>
            <a:pPr marL="514350" indent="-514350">
              <a:buFont typeface="+mj-lt"/>
              <a:buAutoNum type="alphaUcPeriod"/>
            </a:pPr>
            <a:r>
              <a:rPr lang="fr-FR" dirty="0"/>
              <a:t>Opacités interstitielles bilatérales</a:t>
            </a:r>
          </a:p>
          <a:p>
            <a:pPr marL="0" indent="0">
              <a:buNone/>
            </a:pPr>
            <a:endParaRPr lang="fr-FR" dirty="0"/>
          </a:p>
          <a:p>
            <a:endParaRPr lang="fr-FR" dirty="0"/>
          </a:p>
        </p:txBody>
      </p:sp>
    </p:spTree>
    <p:extLst>
      <p:ext uri="{BB962C8B-B14F-4D97-AF65-F5344CB8AC3E}">
        <p14:creationId xmlns:p14="http://schemas.microsoft.com/office/powerpoint/2010/main" val="214741068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Les aspects radiologiques qui peuvent être observés au cours des  pneumopathies aigues bactériennes à staphylocoque sont :</a:t>
            </a:r>
            <a:endParaRPr lang="fr-FR" dirty="0"/>
          </a:p>
          <a:p>
            <a:pPr marL="514350" indent="-514350">
              <a:buFont typeface="+mj-lt"/>
              <a:buAutoNum type="alphaUcPeriod"/>
            </a:pPr>
            <a:r>
              <a:rPr lang="fr-FR" dirty="0">
                <a:solidFill>
                  <a:srgbClr val="FF0000"/>
                </a:solidFill>
              </a:rPr>
              <a:t>Miliaire radiologique</a:t>
            </a:r>
          </a:p>
          <a:p>
            <a:pPr marL="514350" indent="-514350">
              <a:buFont typeface="+mj-lt"/>
              <a:buAutoNum type="alphaUcPeriod"/>
            </a:pPr>
            <a:r>
              <a:rPr lang="fr-FR" dirty="0">
                <a:solidFill>
                  <a:srgbClr val="FF0000"/>
                </a:solidFill>
              </a:rPr>
              <a:t>Images bulleuses</a:t>
            </a:r>
          </a:p>
          <a:p>
            <a:pPr marL="514350" indent="-514350">
              <a:buFont typeface="+mj-lt"/>
              <a:buAutoNum type="alphaUcPeriod"/>
            </a:pPr>
            <a:r>
              <a:rPr lang="fr-FR" dirty="0"/>
              <a:t>Opacités alvéolaires systématisées</a:t>
            </a:r>
          </a:p>
          <a:p>
            <a:pPr marL="514350" indent="-514350">
              <a:buFont typeface="+mj-lt"/>
              <a:buAutoNum type="alphaUcPeriod"/>
            </a:pPr>
            <a:r>
              <a:rPr lang="fr-FR" dirty="0">
                <a:solidFill>
                  <a:srgbClr val="FF0000"/>
                </a:solidFill>
              </a:rPr>
              <a:t>Opacités excavées multiples avec niveau </a:t>
            </a:r>
            <a:r>
              <a:rPr lang="fr-FR" dirty="0" err="1">
                <a:solidFill>
                  <a:srgbClr val="FF0000"/>
                </a:solidFill>
              </a:rPr>
              <a:t>hydroaérique</a:t>
            </a:r>
            <a:endParaRPr lang="fr-FR" dirty="0">
              <a:solidFill>
                <a:srgbClr val="FF0000"/>
              </a:solidFill>
            </a:endParaRPr>
          </a:p>
          <a:p>
            <a:pPr marL="514350" indent="-514350">
              <a:buFont typeface="+mj-lt"/>
              <a:buAutoNum type="alphaUcPeriod"/>
            </a:pPr>
            <a:r>
              <a:rPr lang="fr-FR" dirty="0"/>
              <a:t>Opacités interstitielles bilatérales</a:t>
            </a:r>
          </a:p>
          <a:p>
            <a:pPr marL="0" indent="0">
              <a:buNone/>
            </a:pPr>
            <a:endParaRPr lang="fr-FR" dirty="0"/>
          </a:p>
          <a:p>
            <a:endParaRPr lang="fr-FR" dirty="0"/>
          </a:p>
        </p:txBody>
      </p:sp>
    </p:spTree>
    <p:extLst>
      <p:ext uri="{BB962C8B-B14F-4D97-AF65-F5344CB8AC3E}">
        <p14:creationId xmlns:p14="http://schemas.microsoft.com/office/powerpoint/2010/main" val="15104418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25D42-CB17-1D86-331A-6118A7ACB07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5B5AB5A-61ED-7032-2EF4-71E25021643F}"/>
              </a:ext>
            </a:extLst>
          </p:cNvPr>
          <p:cNvSpPr>
            <a:spLocks noGrp="1"/>
          </p:cNvSpPr>
          <p:nvPr>
            <p:ph idx="1"/>
          </p:nvPr>
        </p:nvSpPr>
        <p:spPr>
          <a:xfrm>
            <a:off x="1981200" y="548681"/>
            <a:ext cx="8229600" cy="5577483"/>
          </a:xfrm>
        </p:spPr>
        <p:txBody>
          <a:bodyPr/>
          <a:lstStyle/>
          <a:p>
            <a:pPr marL="0" indent="0">
              <a:buNone/>
            </a:pPr>
            <a:r>
              <a:rPr lang="fr-FR" b="1" dirty="0"/>
              <a:t> La recherche d’Ag urinaires solubles peut être réalisée pour les germes suivants :</a:t>
            </a:r>
            <a:endParaRPr lang="fr-FR" dirty="0"/>
          </a:p>
          <a:p>
            <a:pPr marL="514350" indent="-514350">
              <a:buFont typeface="+mj-lt"/>
              <a:buAutoNum type="alphaUcPeriod"/>
            </a:pPr>
            <a:r>
              <a:rPr lang="fr-FR" dirty="0"/>
              <a:t>Pneumocoque</a:t>
            </a:r>
          </a:p>
          <a:p>
            <a:pPr marL="514350" indent="-514350">
              <a:buFont typeface="+mj-lt"/>
              <a:buAutoNum type="alphaUcPeriod"/>
            </a:pPr>
            <a:r>
              <a:rPr lang="fr-FR" dirty="0" err="1"/>
              <a:t>Haemophilusinfluenzae</a:t>
            </a:r>
            <a:r>
              <a:rPr lang="fr-FR" dirty="0"/>
              <a:t> (HI)</a:t>
            </a:r>
          </a:p>
          <a:p>
            <a:pPr marL="514350" indent="-514350">
              <a:buFont typeface="+mj-lt"/>
              <a:buAutoNum type="alphaUcPeriod"/>
            </a:pPr>
            <a:r>
              <a:rPr lang="fr-FR" dirty="0" err="1"/>
              <a:t>Légionelle</a:t>
            </a:r>
            <a:endParaRPr lang="fr-FR" dirty="0"/>
          </a:p>
          <a:p>
            <a:pPr marL="514350" indent="-514350">
              <a:buFont typeface="+mj-lt"/>
              <a:buAutoNum type="alphaUcPeriod"/>
            </a:pPr>
            <a:r>
              <a:rPr lang="fr-FR" dirty="0"/>
              <a:t>Mycoplasme</a:t>
            </a:r>
          </a:p>
          <a:p>
            <a:pPr marL="514350" indent="-514350">
              <a:buFont typeface="+mj-lt"/>
              <a:buAutoNum type="alphaUcPeriod"/>
            </a:pPr>
            <a:r>
              <a:rPr lang="fr-FR" dirty="0"/>
              <a:t>Chlamydia</a:t>
            </a:r>
          </a:p>
          <a:p>
            <a:endParaRPr lang="fr-FR" dirty="0"/>
          </a:p>
        </p:txBody>
      </p:sp>
    </p:spTree>
    <p:extLst>
      <p:ext uri="{BB962C8B-B14F-4D97-AF65-F5344CB8AC3E}">
        <p14:creationId xmlns:p14="http://schemas.microsoft.com/office/powerpoint/2010/main" val="167186570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548681"/>
            <a:ext cx="8229600" cy="5577483"/>
          </a:xfrm>
        </p:spPr>
        <p:txBody>
          <a:bodyPr/>
          <a:lstStyle/>
          <a:p>
            <a:pPr marL="0" indent="0">
              <a:buNone/>
            </a:pPr>
            <a:r>
              <a:rPr lang="fr-FR" b="1" dirty="0"/>
              <a:t> La recherche d’Ag urinaires solubles peut être réalisée pour les germes suivants :</a:t>
            </a:r>
            <a:endParaRPr lang="fr-FR" dirty="0"/>
          </a:p>
          <a:p>
            <a:pPr marL="514350" indent="-514350">
              <a:buFont typeface="+mj-lt"/>
              <a:buAutoNum type="alphaUcPeriod"/>
            </a:pPr>
            <a:r>
              <a:rPr lang="fr-FR" dirty="0">
                <a:solidFill>
                  <a:srgbClr val="FF0000"/>
                </a:solidFill>
              </a:rPr>
              <a:t>Pneumocoque</a:t>
            </a:r>
          </a:p>
          <a:p>
            <a:pPr marL="514350" indent="-514350">
              <a:buFont typeface="+mj-lt"/>
              <a:buAutoNum type="alphaUcPeriod"/>
            </a:pPr>
            <a:r>
              <a:rPr lang="fr-FR" dirty="0" err="1"/>
              <a:t>Haemophilusinfluenzae</a:t>
            </a:r>
            <a:r>
              <a:rPr lang="fr-FR" dirty="0"/>
              <a:t> (HI)</a:t>
            </a:r>
          </a:p>
          <a:p>
            <a:pPr marL="514350" indent="-514350">
              <a:buFont typeface="+mj-lt"/>
              <a:buAutoNum type="alphaUcPeriod"/>
            </a:pPr>
            <a:r>
              <a:rPr lang="fr-FR" dirty="0" err="1">
                <a:solidFill>
                  <a:srgbClr val="FF0000"/>
                </a:solidFill>
              </a:rPr>
              <a:t>Légionelle</a:t>
            </a:r>
            <a:endParaRPr lang="fr-FR" dirty="0">
              <a:solidFill>
                <a:srgbClr val="FF0000"/>
              </a:solidFill>
            </a:endParaRPr>
          </a:p>
          <a:p>
            <a:pPr marL="514350" indent="-514350">
              <a:buFont typeface="+mj-lt"/>
              <a:buAutoNum type="alphaUcPeriod"/>
            </a:pPr>
            <a:r>
              <a:rPr lang="fr-FR" dirty="0"/>
              <a:t>Mycoplasme</a:t>
            </a:r>
          </a:p>
          <a:p>
            <a:pPr marL="514350" indent="-514350">
              <a:buFont typeface="+mj-lt"/>
              <a:buAutoNum type="alphaUcPeriod"/>
            </a:pPr>
            <a:r>
              <a:rPr lang="fr-FR" dirty="0"/>
              <a:t>Chlamydia</a:t>
            </a:r>
          </a:p>
          <a:p>
            <a:endParaRPr lang="fr-FR" dirty="0"/>
          </a:p>
        </p:txBody>
      </p:sp>
    </p:spTree>
    <p:extLst>
      <p:ext uri="{BB962C8B-B14F-4D97-AF65-F5344CB8AC3E}">
        <p14:creationId xmlns:p14="http://schemas.microsoft.com/office/powerpoint/2010/main" val="369501094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36713"/>
            <a:ext cx="8229600" cy="5289451"/>
          </a:xfrm>
        </p:spPr>
        <p:txBody>
          <a:bodyPr>
            <a:normAutofit/>
          </a:bodyPr>
          <a:lstStyle/>
          <a:p>
            <a:pPr marL="0" indent="0">
              <a:buNone/>
            </a:pPr>
            <a:r>
              <a:rPr lang="fr-FR" b="1" dirty="0"/>
              <a:t>Le diagnostic bactériologique se  fait par la sérologie au cours des PABC à :</a:t>
            </a:r>
            <a:endParaRPr lang="fr-FR" dirty="0"/>
          </a:p>
          <a:p>
            <a:pPr marL="514350" indent="-514350">
              <a:buFont typeface="+mj-lt"/>
              <a:buAutoNum type="alphaUcPeriod"/>
            </a:pPr>
            <a:r>
              <a:rPr lang="fr-FR" dirty="0" err="1"/>
              <a:t>Legionella</a:t>
            </a:r>
            <a:r>
              <a:rPr lang="fr-FR" dirty="0"/>
              <a:t> </a:t>
            </a:r>
            <a:r>
              <a:rPr lang="fr-FR" dirty="0" err="1"/>
              <a:t>pneumophila</a:t>
            </a:r>
            <a:endParaRPr lang="fr-FR" dirty="0"/>
          </a:p>
          <a:p>
            <a:pPr marL="514350" indent="-514350">
              <a:buFont typeface="+mj-lt"/>
              <a:buAutoNum type="alphaUcPeriod"/>
            </a:pPr>
            <a:r>
              <a:rPr lang="fr-FR" dirty="0"/>
              <a:t>Staphylocoque  Aureus</a:t>
            </a:r>
          </a:p>
          <a:p>
            <a:pPr marL="514350" indent="-514350">
              <a:buFont typeface="+mj-lt"/>
              <a:buAutoNum type="alphaUcPeriod"/>
            </a:pPr>
            <a:r>
              <a:rPr lang="fr-FR" dirty="0" err="1"/>
              <a:t>Haemophilus</a:t>
            </a:r>
            <a:r>
              <a:rPr lang="fr-FR" dirty="0"/>
              <a:t> </a:t>
            </a:r>
            <a:r>
              <a:rPr lang="fr-FR" dirty="0" err="1"/>
              <a:t>influenzae</a:t>
            </a:r>
            <a:endParaRPr lang="fr-FR" dirty="0"/>
          </a:p>
          <a:p>
            <a:pPr marL="514350" indent="-514350">
              <a:buFont typeface="+mj-lt"/>
              <a:buAutoNum type="alphaUcPeriod"/>
            </a:pPr>
            <a:r>
              <a:rPr lang="fr-FR" dirty="0"/>
              <a:t>Mycoplasme </a:t>
            </a:r>
            <a:r>
              <a:rPr lang="fr-FR" dirty="0" err="1"/>
              <a:t>pneumoniae</a:t>
            </a:r>
            <a:endParaRPr lang="fr-FR" dirty="0"/>
          </a:p>
          <a:p>
            <a:pPr marL="514350" indent="-514350">
              <a:buFont typeface="+mj-lt"/>
              <a:buAutoNum type="alphaUcPeriod"/>
            </a:pPr>
            <a:r>
              <a:rPr lang="fr-FR" dirty="0"/>
              <a:t>Chlamydia </a:t>
            </a:r>
            <a:r>
              <a:rPr lang="fr-FR" dirty="0" err="1"/>
              <a:t>pneumoniae</a:t>
            </a:r>
            <a:endParaRPr lang="fr-FR" dirty="0"/>
          </a:p>
          <a:p>
            <a:endParaRPr lang="fr-FR" dirty="0"/>
          </a:p>
        </p:txBody>
      </p:sp>
    </p:spTree>
    <p:extLst>
      <p:ext uri="{BB962C8B-B14F-4D97-AF65-F5344CB8AC3E}">
        <p14:creationId xmlns:p14="http://schemas.microsoft.com/office/powerpoint/2010/main" val="155675164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36713"/>
            <a:ext cx="8229600" cy="5289451"/>
          </a:xfrm>
        </p:spPr>
        <p:txBody>
          <a:bodyPr>
            <a:normAutofit/>
          </a:bodyPr>
          <a:lstStyle/>
          <a:p>
            <a:pPr marL="0" indent="0">
              <a:buNone/>
            </a:pPr>
            <a:r>
              <a:rPr lang="fr-FR" b="1" dirty="0"/>
              <a:t>Le diagnostic bactériologique se  fait par la sérologie au cours des PABC à :</a:t>
            </a:r>
            <a:endParaRPr lang="fr-FR" dirty="0"/>
          </a:p>
          <a:p>
            <a:pPr marL="514350" indent="-514350">
              <a:buFont typeface="+mj-lt"/>
              <a:buAutoNum type="alphaUcPeriod"/>
            </a:pPr>
            <a:r>
              <a:rPr lang="fr-FR" dirty="0" err="1">
                <a:solidFill>
                  <a:srgbClr val="FF0000"/>
                </a:solidFill>
              </a:rPr>
              <a:t>Legionella</a:t>
            </a:r>
            <a:r>
              <a:rPr lang="fr-FR" dirty="0">
                <a:solidFill>
                  <a:srgbClr val="FF0000"/>
                </a:solidFill>
              </a:rPr>
              <a:t> </a:t>
            </a:r>
            <a:r>
              <a:rPr lang="fr-FR" dirty="0" err="1">
                <a:solidFill>
                  <a:srgbClr val="FF0000"/>
                </a:solidFill>
              </a:rPr>
              <a:t>pneumophila</a:t>
            </a:r>
            <a:endParaRPr lang="fr-FR" dirty="0">
              <a:solidFill>
                <a:srgbClr val="FF0000"/>
              </a:solidFill>
            </a:endParaRPr>
          </a:p>
          <a:p>
            <a:pPr marL="514350" indent="-514350">
              <a:buFont typeface="+mj-lt"/>
              <a:buAutoNum type="alphaUcPeriod"/>
            </a:pPr>
            <a:r>
              <a:rPr lang="fr-FR" dirty="0"/>
              <a:t>Staphylocoque  Aureus</a:t>
            </a:r>
          </a:p>
          <a:p>
            <a:pPr marL="514350" indent="-514350">
              <a:buFont typeface="+mj-lt"/>
              <a:buAutoNum type="alphaUcPeriod"/>
            </a:pPr>
            <a:r>
              <a:rPr lang="fr-FR" dirty="0" err="1"/>
              <a:t>Haemophilus</a:t>
            </a:r>
            <a:r>
              <a:rPr lang="fr-FR" dirty="0"/>
              <a:t> </a:t>
            </a:r>
            <a:r>
              <a:rPr lang="fr-FR" dirty="0" err="1"/>
              <a:t>influenzae</a:t>
            </a:r>
            <a:endParaRPr lang="fr-FR" dirty="0"/>
          </a:p>
          <a:p>
            <a:pPr marL="514350" indent="-514350">
              <a:buFont typeface="+mj-lt"/>
              <a:buAutoNum type="alphaUcPeriod"/>
            </a:pPr>
            <a:r>
              <a:rPr lang="fr-FR" dirty="0">
                <a:solidFill>
                  <a:srgbClr val="FF0000"/>
                </a:solidFill>
              </a:rPr>
              <a:t>Mycoplasme </a:t>
            </a:r>
            <a:r>
              <a:rPr lang="fr-FR" dirty="0" err="1">
                <a:solidFill>
                  <a:srgbClr val="FF0000"/>
                </a:solidFill>
              </a:rPr>
              <a:t>pneumoniae</a:t>
            </a:r>
            <a:endParaRPr lang="fr-FR" dirty="0">
              <a:solidFill>
                <a:srgbClr val="FF0000"/>
              </a:solidFill>
            </a:endParaRPr>
          </a:p>
          <a:p>
            <a:pPr marL="514350" indent="-514350">
              <a:buFont typeface="+mj-lt"/>
              <a:buAutoNum type="alphaUcPeriod"/>
            </a:pPr>
            <a:r>
              <a:rPr lang="fr-FR" dirty="0">
                <a:solidFill>
                  <a:srgbClr val="FF0000"/>
                </a:solidFill>
              </a:rPr>
              <a:t>Chlamydia </a:t>
            </a:r>
            <a:r>
              <a:rPr lang="fr-FR" dirty="0" err="1">
                <a:solidFill>
                  <a:srgbClr val="FF0000"/>
                </a:solidFill>
              </a:rPr>
              <a:t>pneumoniae</a:t>
            </a:r>
            <a:endParaRPr lang="fr-FR" dirty="0">
              <a:solidFill>
                <a:srgbClr val="FF0000"/>
              </a:solidFill>
            </a:endParaRPr>
          </a:p>
          <a:p>
            <a:endParaRPr lang="fr-FR" dirty="0"/>
          </a:p>
        </p:txBody>
      </p:sp>
    </p:spTree>
    <p:extLst>
      <p:ext uri="{BB962C8B-B14F-4D97-AF65-F5344CB8AC3E}">
        <p14:creationId xmlns:p14="http://schemas.microsoft.com/office/powerpoint/2010/main" val="230459451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C977B4-B573-A765-4987-9B01346F093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D6A041E-1F4B-5DED-A327-2BD57A1862EB}"/>
              </a:ext>
            </a:extLst>
          </p:cNvPr>
          <p:cNvSpPr>
            <a:spLocks noGrp="1"/>
          </p:cNvSpPr>
          <p:nvPr>
            <p:ph idx="1"/>
          </p:nvPr>
        </p:nvSpPr>
        <p:spPr/>
        <p:txBody>
          <a:bodyPr/>
          <a:lstStyle/>
          <a:p>
            <a:r>
              <a:rPr lang="fr-FR" dirty="0"/>
              <a:t>La présentation clinique d’une pneumonie atypique est dominée par :</a:t>
            </a:r>
            <a:br>
              <a:rPr lang="fr-FR" dirty="0"/>
            </a:br>
            <a:r>
              <a:rPr lang="fr-FR" dirty="0"/>
              <a:t>A. Dyspnée sifflante sévère</a:t>
            </a:r>
            <a:br>
              <a:rPr lang="fr-FR" dirty="0"/>
            </a:br>
            <a:r>
              <a:rPr lang="fr-FR" dirty="0"/>
              <a:t>B. Syndrome grippal avec toux sèche persistante</a:t>
            </a:r>
            <a:br>
              <a:rPr lang="fr-FR" dirty="0"/>
            </a:br>
            <a:r>
              <a:rPr lang="fr-FR" dirty="0"/>
              <a:t>C. Expectoration rouillée et fièvre &gt; 40°C</a:t>
            </a:r>
            <a:br>
              <a:rPr lang="fr-FR" dirty="0"/>
            </a:br>
            <a:r>
              <a:rPr lang="fr-FR" dirty="0"/>
              <a:t>D. Syndrome de condensation pulmonaire franc</a:t>
            </a:r>
            <a:br>
              <a:rPr lang="fr-FR" dirty="0"/>
            </a:br>
            <a:r>
              <a:rPr lang="fr-FR" dirty="0"/>
              <a:t>E. Hémoptysie abondante</a:t>
            </a:r>
            <a:br>
              <a:rPr lang="fr-FR" dirty="0"/>
            </a:br>
            <a:endParaRPr lang="fr-FR" dirty="0"/>
          </a:p>
        </p:txBody>
      </p:sp>
    </p:spTree>
    <p:extLst>
      <p:ext uri="{BB962C8B-B14F-4D97-AF65-F5344CB8AC3E}">
        <p14:creationId xmlns:p14="http://schemas.microsoft.com/office/powerpoint/2010/main" val="69424822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B79270-BD8B-5789-83CE-6F3AB3A72F9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BE24A30-4189-EC15-8EBE-2F8FE9758CA6}"/>
              </a:ext>
            </a:extLst>
          </p:cNvPr>
          <p:cNvSpPr>
            <a:spLocks noGrp="1"/>
          </p:cNvSpPr>
          <p:nvPr>
            <p:ph idx="1"/>
          </p:nvPr>
        </p:nvSpPr>
        <p:spPr/>
        <p:txBody>
          <a:bodyPr/>
          <a:lstStyle/>
          <a:p>
            <a:r>
              <a:rPr lang="fr-FR" dirty="0"/>
              <a:t>La présentation clinique d’une pneumonie atypique est dominée par :</a:t>
            </a:r>
            <a:br>
              <a:rPr lang="fr-FR" dirty="0"/>
            </a:br>
            <a:r>
              <a:rPr lang="fr-FR" dirty="0"/>
              <a:t>A. Dyspnée sifflante sévère</a:t>
            </a:r>
            <a:br>
              <a:rPr lang="fr-FR" dirty="0"/>
            </a:br>
            <a:r>
              <a:rPr lang="fr-FR" dirty="0">
                <a:solidFill>
                  <a:srgbClr val="FF0000"/>
                </a:solidFill>
              </a:rPr>
              <a:t>B. Syndrome grippal avec toux sèche persistante</a:t>
            </a:r>
            <a:r>
              <a:rPr lang="fr-FR" dirty="0"/>
              <a:t/>
            </a:r>
            <a:br>
              <a:rPr lang="fr-FR" dirty="0"/>
            </a:br>
            <a:r>
              <a:rPr lang="fr-FR" dirty="0"/>
              <a:t>C. Expectoration rouillée et fièvre &gt; 40°C</a:t>
            </a:r>
            <a:br>
              <a:rPr lang="fr-FR" dirty="0"/>
            </a:br>
            <a:r>
              <a:rPr lang="fr-FR" dirty="0"/>
              <a:t>D. Syndrome de condensation pulmonaire franc</a:t>
            </a:r>
            <a:br>
              <a:rPr lang="fr-FR" dirty="0"/>
            </a:br>
            <a:r>
              <a:rPr lang="fr-FR" dirty="0"/>
              <a:t>E. Hémoptysie abondante</a:t>
            </a:r>
            <a:br>
              <a:rPr lang="fr-FR" dirty="0"/>
            </a:br>
            <a:endParaRPr lang="fr-FR" dirty="0"/>
          </a:p>
        </p:txBody>
      </p:sp>
    </p:spTree>
    <p:extLst>
      <p:ext uri="{BB962C8B-B14F-4D97-AF65-F5344CB8AC3E}">
        <p14:creationId xmlns:p14="http://schemas.microsoft.com/office/powerpoint/2010/main" val="10736051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CD354C-0D3B-0619-61CD-6505DCC2ECB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B5D9510-C9DE-CB37-2C15-21F1CF439AF5}"/>
              </a:ext>
            </a:extLst>
          </p:cNvPr>
          <p:cNvSpPr>
            <a:spLocks noGrp="1"/>
          </p:cNvSpPr>
          <p:nvPr>
            <p:ph idx="1"/>
          </p:nvPr>
        </p:nvSpPr>
        <p:spPr/>
        <p:txBody>
          <a:bodyPr/>
          <a:lstStyle/>
          <a:p>
            <a:r>
              <a:rPr lang="fr-FR" dirty="0"/>
              <a:t>L’agent le plus fréquemment responsable des pneumonies communautaires est :</a:t>
            </a:r>
            <a:br>
              <a:rPr lang="fr-FR" dirty="0"/>
            </a:br>
            <a:r>
              <a:rPr lang="fr-FR" dirty="0"/>
              <a:t>A. Legionella pneumophila</a:t>
            </a:r>
            <a:br>
              <a:rPr lang="fr-FR" dirty="0"/>
            </a:br>
            <a:r>
              <a:rPr lang="fr-FR" dirty="0"/>
              <a:t>B. Streptococcus </a:t>
            </a:r>
            <a:r>
              <a:rPr lang="fr-FR" dirty="0" err="1"/>
              <a:t>pneumoniae</a:t>
            </a:r>
            <a:r>
              <a:rPr lang="fr-FR" dirty="0"/>
              <a:t/>
            </a:r>
            <a:br>
              <a:rPr lang="fr-FR" dirty="0"/>
            </a:br>
            <a:r>
              <a:rPr lang="fr-FR" dirty="0"/>
              <a:t>C. Mycoplasma </a:t>
            </a:r>
            <a:r>
              <a:rPr lang="fr-FR" dirty="0" err="1"/>
              <a:t>pneumoniae</a:t>
            </a:r>
            <a:r>
              <a:rPr lang="fr-FR" dirty="0"/>
              <a:t/>
            </a:r>
            <a:br>
              <a:rPr lang="fr-FR" dirty="0"/>
            </a:br>
            <a:r>
              <a:rPr lang="fr-FR" dirty="0"/>
              <a:t>D. Haemophilus influenzae</a:t>
            </a:r>
            <a:br>
              <a:rPr lang="fr-FR" dirty="0"/>
            </a:br>
            <a:r>
              <a:rPr lang="fr-FR" dirty="0"/>
              <a:t>E. Staphylococcus aureus</a:t>
            </a:r>
          </a:p>
        </p:txBody>
      </p:sp>
    </p:spTree>
    <p:extLst>
      <p:ext uri="{BB962C8B-B14F-4D97-AF65-F5344CB8AC3E}">
        <p14:creationId xmlns:p14="http://schemas.microsoft.com/office/powerpoint/2010/main" val="72057282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8FA28-CA96-E795-9547-99BFA26EC9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F16E851-69B6-4709-AA5C-8B94A365DE4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1DEA7E5-56E8-77B1-D956-0EEFB1A66CC3}"/>
              </a:ext>
            </a:extLst>
          </p:cNvPr>
          <p:cNvSpPr>
            <a:spLocks noGrp="1"/>
          </p:cNvSpPr>
          <p:nvPr>
            <p:ph idx="1"/>
          </p:nvPr>
        </p:nvSpPr>
        <p:spPr/>
        <p:txBody>
          <a:bodyPr/>
          <a:lstStyle/>
          <a:p>
            <a:r>
              <a:rPr lang="fr-FR" dirty="0"/>
              <a:t>L’agent le plus fréquemment responsable des pneumonies communautaires est :</a:t>
            </a:r>
            <a:br>
              <a:rPr lang="fr-FR" dirty="0"/>
            </a:br>
            <a:r>
              <a:rPr lang="fr-FR" dirty="0"/>
              <a:t>A. Legionella pneumophila</a:t>
            </a:r>
            <a:br>
              <a:rPr lang="fr-FR" dirty="0"/>
            </a:br>
            <a:r>
              <a:rPr lang="fr-FR" dirty="0"/>
              <a:t>B</a:t>
            </a:r>
            <a:r>
              <a:rPr lang="fr-FR" dirty="0">
                <a:solidFill>
                  <a:srgbClr val="FF0000"/>
                </a:solidFill>
              </a:rPr>
              <a:t>. Streptococcus </a:t>
            </a:r>
            <a:r>
              <a:rPr lang="fr-FR" dirty="0" err="1">
                <a:solidFill>
                  <a:srgbClr val="FF0000"/>
                </a:solidFill>
              </a:rPr>
              <a:t>pneumoniae</a:t>
            </a:r>
            <a:r>
              <a:rPr lang="fr-FR" dirty="0"/>
              <a:t/>
            </a:r>
            <a:br>
              <a:rPr lang="fr-FR" dirty="0"/>
            </a:br>
            <a:r>
              <a:rPr lang="fr-FR" dirty="0"/>
              <a:t>C. Mycoplasma </a:t>
            </a:r>
            <a:r>
              <a:rPr lang="fr-FR" dirty="0" err="1"/>
              <a:t>pneumoniae</a:t>
            </a:r>
            <a:r>
              <a:rPr lang="fr-FR" dirty="0"/>
              <a:t/>
            </a:r>
            <a:br>
              <a:rPr lang="fr-FR" dirty="0"/>
            </a:br>
            <a:r>
              <a:rPr lang="fr-FR" dirty="0"/>
              <a:t>D. Haemophilus influenzae</a:t>
            </a:r>
            <a:br>
              <a:rPr lang="fr-FR" dirty="0"/>
            </a:br>
            <a:r>
              <a:rPr lang="fr-FR" dirty="0"/>
              <a:t>E. Staphylococcus aureus</a:t>
            </a:r>
          </a:p>
        </p:txBody>
      </p:sp>
    </p:spTree>
    <p:extLst>
      <p:ext uri="{BB962C8B-B14F-4D97-AF65-F5344CB8AC3E}">
        <p14:creationId xmlns:p14="http://schemas.microsoft.com/office/powerpoint/2010/main" val="216653466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F61DA8-20B0-DA3C-5022-681DDF9E02A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90CCA3F-3FCF-38CD-35A3-3C6FC7E23AC2}"/>
              </a:ext>
            </a:extLst>
          </p:cNvPr>
          <p:cNvSpPr>
            <a:spLocks noGrp="1"/>
          </p:cNvSpPr>
          <p:nvPr>
            <p:ph idx="1"/>
          </p:nvPr>
        </p:nvSpPr>
        <p:spPr/>
        <p:txBody>
          <a:bodyPr/>
          <a:lstStyle/>
          <a:p>
            <a:r>
              <a:rPr lang="fr-FR" dirty="0"/>
              <a:t>Une opacité excavée bilatérale, fluctuante d’un jour à l’autre, est très évocatrice de :</a:t>
            </a:r>
            <a:br>
              <a:rPr lang="fr-FR" dirty="0"/>
            </a:br>
            <a:r>
              <a:rPr lang="fr-FR" dirty="0"/>
              <a:t>A. Pneumonie à pneumocoque</a:t>
            </a:r>
            <a:br>
              <a:rPr lang="fr-FR" dirty="0"/>
            </a:br>
            <a:r>
              <a:rPr lang="fr-FR" dirty="0"/>
              <a:t>B. Pneumonie à staphylocoque</a:t>
            </a:r>
            <a:br>
              <a:rPr lang="fr-FR" dirty="0"/>
            </a:br>
            <a:r>
              <a:rPr lang="fr-FR" dirty="0"/>
              <a:t>C. Pneumonie à Haemophilus influenzae</a:t>
            </a:r>
            <a:br>
              <a:rPr lang="fr-FR" dirty="0"/>
            </a:br>
            <a:r>
              <a:rPr lang="fr-FR" dirty="0"/>
              <a:t>D. Pneumonie à mycoplasme</a:t>
            </a:r>
            <a:br>
              <a:rPr lang="fr-FR" dirty="0"/>
            </a:br>
            <a:r>
              <a:rPr lang="fr-FR" dirty="0"/>
              <a:t>E. Pneumonie virale</a:t>
            </a:r>
            <a:br>
              <a:rPr lang="fr-FR" dirty="0"/>
            </a:br>
            <a:endParaRPr lang="fr-FR" dirty="0"/>
          </a:p>
        </p:txBody>
      </p:sp>
    </p:spTree>
    <p:extLst>
      <p:ext uri="{BB962C8B-B14F-4D97-AF65-F5344CB8AC3E}">
        <p14:creationId xmlns:p14="http://schemas.microsoft.com/office/powerpoint/2010/main" val="158708714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1721C1-495B-B906-C90A-BDA3C15B27A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253ED00-D3C9-5531-294C-27112207A8A5}"/>
              </a:ext>
            </a:extLst>
          </p:cNvPr>
          <p:cNvSpPr>
            <a:spLocks noGrp="1"/>
          </p:cNvSpPr>
          <p:nvPr>
            <p:ph idx="1"/>
          </p:nvPr>
        </p:nvSpPr>
        <p:spPr/>
        <p:txBody>
          <a:bodyPr/>
          <a:lstStyle/>
          <a:p>
            <a:r>
              <a:rPr lang="fr-FR" dirty="0"/>
              <a:t>Une opacité excavée bilatérale, fluctuante d’un jour à l’autre, est très évocatrice de :</a:t>
            </a:r>
            <a:br>
              <a:rPr lang="fr-FR" dirty="0"/>
            </a:br>
            <a:r>
              <a:rPr lang="fr-FR" dirty="0"/>
              <a:t>A. Pneumonie à pneumocoque</a:t>
            </a:r>
            <a:br>
              <a:rPr lang="fr-FR" dirty="0"/>
            </a:br>
            <a:r>
              <a:rPr lang="fr-FR" dirty="0"/>
              <a:t>B. </a:t>
            </a:r>
            <a:r>
              <a:rPr lang="fr-FR" dirty="0">
                <a:solidFill>
                  <a:srgbClr val="FF0000"/>
                </a:solidFill>
              </a:rPr>
              <a:t>Pneumonie à staphylocoque</a:t>
            </a:r>
            <a:br>
              <a:rPr lang="fr-FR" dirty="0">
                <a:solidFill>
                  <a:srgbClr val="FF0000"/>
                </a:solidFill>
              </a:rPr>
            </a:br>
            <a:r>
              <a:rPr lang="fr-FR" dirty="0"/>
              <a:t>C. Pneumonie à Haemophilus influenzae</a:t>
            </a:r>
            <a:br>
              <a:rPr lang="fr-FR" dirty="0"/>
            </a:br>
            <a:r>
              <a:rPr lang="fr-FR" dirty="0"/>
              <a:t>D. Pneumonie à mycoplasme</a:t>
            </a:r>
            <a:br>
              <a:rPr lang="fr-FR" dirty="0"/>
            </a:br>
            <a:r>
              <a:rPr lang="fr-FR" dirty="0"/>
              <a:t>E. Pneumonie virale</a:t>
            </a:r>
            <a:br>
              <a:rPr lang="fr-FR" dirty="0"/>
            </a:br>
            <a:endParaRPr lang="fr-FR" dirty="0"/>
          </a:p>
        </p:txBody>
      </p:sp>
    </p:spTree>
    <p:extLst>
      <p:ext uri="{BB962C8B-B14F-4D97-AF65-F5344CB8AC3E}">
        <p14:creationId xmlns:p14="http://schemas.microsoft.com/office/powerpoint/2010/main" val="242438381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D6853F-0E7F-0288-478D-13F77EAB4AA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96BFB6B-EF38-34F9-0BB1-8D05DBBC85E9}"/>
              </a:ext>
            </a:extLst>
          </p:cNvPr>
          <p:cNvSpPr>
            <a:spLocks noGrp="1"/>
          </p:cNvSpPr>
          <p:nvPr>
            <p:ph idx="1"/>
          </p:nvPr>
        </p:nvSpPr>
        <p:spPr/>
        <p:txBody>
          <a:bodyPr/>
          <a:lstStyle/>
          <a:p>
            <a:r>
              <a:rPr lang="fr-FR" dirty="0"/>
              <a:t>La complication typique d’une pneumonie à pneumocoque est :</a:t>
            </a:r>
            <a:br>
              <a:rPr lang="fr-FR" dirty="0"/>
            </a:br>
            <a:r>
              <a:rPr lang="fr-FR" dirty="0"/>
              <a:t>A. Pleurésie purulente ou sepsis</a:t>
            </a:r>
            <a:br>
              <a:rPr lang="fr-FR" dirty="0"/>
            </a:br>
            <a:r>
              <a:rPr lang="fr-FR" dirty="0"/>
              <a:t>B. Pneumatocèles multiples</a:t>
            </a:r>
            <a:br>
              <a:rPr lang="fr-FR" dirty="0"/>
            </a:br>
            <a:r>
              <a:rPr lang="fr-FR" dirty="0"/>
              <a:t>C. Abcès hépatiques secondaires</a:t>
            </a:r>
            <a:br>
              <a:rPr lang="fr-FR" dirty="0"/>
            </a:br>
            <a:r>
              <a:rPr lang="fr-FR" dirty="0"/>
              <a:t>D. Mucoviscidose</a:t>
            </a:r>
            <a:br>
              <a:rPr lang="fr-FR" dirty="0"/>
            </a:br>
            <a:r>
              <a:rPr lang="fr-FR" dirty="0"/>
              <a:t>E. Éruption cutanée </a:t>
            </a:r>
            <a:r>
              <a:rPr lang="fr-FR" dirty="0" err="1"/>
              <a:t>maculo</a:t>
            </a:r>
            <a:r>
              <a:rPr lang="fr-FR" dirty="0"/>
              <a:t>-papuleuse</a:t>
            </a:r>
            <a:br>
              <a:rPr lang="fr-FR" dirty="0"/>
            </a:br>
            <a:endParaRPr lang="fr-FR" dirty="0"/>
          </a:p>
        </p:txBody>
      </p:sp>
    </p:spTree>
    <p:extLst>
      <p:ext uri="{BB962C8B-B14F-4D97-AF65-F5344CB8AC3E}">
        <p14:creationId xmlns:p14="http://schemas.microsoft.com/office/powerpoint/2010/main" val="242884116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12CE1A-3456-BC18-B3D6-C2C776E6FB7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F9C32CC-377B-4F10-1B1C-D9B41131ABF3}"/>
              </a:ext>
            </a:extLst>
          </p:cNvPr>
          <p:cNvSpPr>
            <a:spLocks noGrp="1"/>
          </p:cNvSpPr>
          <p:nvPr>
            <p:ph idx="1"/>
          </p:nvPr>
        </p:nvSpPr>
        <p:spPr/>
        <p:txBody>
          <a:bodyPr/>
          <a:lstStyle/>
          <a:p>
            <a:r>
              <a:rPr lang="fr-FR" dirty="0"/>
              <a:t>La complication typique d’une pneumonie à pneumocoque est :</a:t>
            </a:r>
            <a:br>
              <a:rPr lang="fr-FR" dirty="0"/>
            </a:br>
            <a:r>
              <a:rPr lang="fr-FR" dirty="0"/>
              <a:t>A. </a:t>
            </a:r>
            <a:r>
              <a:rPr lang="fr-FR" dirty="0">
                <a:solidFill>
                  <a:srgbClr val="FF0000"/>
                </a:solidFill>
              </a:rPr>
              <a:t>Pleurésie purulente ou sepsis</a:t>
            </a:r>
            <a:br>
              <a:rPr lang="fr-FR" dirty="0">
                <a:solidFill>
                  <a:srgbClr val="FF0000"/>
                </a:solidFill>
              </a:rPr>
            </a:br>
            <a:r>
              <a:rPr lang="fr-FR" dirty="0"/>
              <a:t>B. Pneumatocèles multiples</a:t>
            </a:r>
            <a:br>
              <a:rPr lang="fr-FR" dirty="0"/>
            </a:br>
            <a:r>
              <a:rPr lang="fr-FR" dirty="0"/>
              <a:t>C. Abcès hépatiques secondaires</a:t>
            </a:r>
            <a:br>
              <a:rPr lang="fr-FR" dirty="0"/>
            </a:br>
            <a:r>
              <a:rPr lang="fr-FR" dirty="0"/>
              <a:t>D. Mucoviscidose</a:t>
            </a:r>
            <a:br>
              <a:rPr lang="fr-FR" dirty="0"/>
            </a:br>
            <a:r>
              <a:rPr lang="fr-FR" dirty="0"/>
              <a:t>E. Éruption cutanée </a:t>
            </a:r>
            <a:r>
              <a:rPr lang="fr-FR" dirty="0" err="1"/>
              <a:t>maculo</a:t>
            </a:r>
            <a:r>
              <a:rPr lang="fr-FR" dirty="0"/>
              <a:t>-papuleuse</a:t>
            </a:r>
            <a:br>
              <a:rPr lang="fr-FR" dirty="0"/>
            </a:br>
            <a:endParaRPr lang="fr-FR" dirty="0"/>
          </a:p>
        </p:txBody>
      </p:sp>
    </p:spTree>
    <p:extLst>
      <p:ext uri="{BB962C8B-B14F-4D97-AF65-F5344CB8AC3E}">
        <p14:creationId xmlns:p14="http://schemas.microsoft.com/office/powerpoint/2010/main" val="345135392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2992BD-B61C-4B6E-B8E1-8F891D2B430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1F95888-E5C3-705A-3B4E-CC28F43D1F2F}"/>
              </a:ext>
            </a:extLst>
          </p:cNvPr>
          <p:cNvSpPr>
            <a:spLocks noGrp="1"/>
          </p:cNvSpPr>
          <p:nvPr>
            <p:ph idx="1"/>
          </p:nvPr>
        </p:nvSpPr>
        <p:spPr/>
        <p:txBody>
          <a:bodyPr/>
          <a:lstStyle/>
          <a:p>
            <a:r>
              <a:rPr lang="fr-FR" dirty="0"/>
              <a:t>La pneumonie atypique à Mycoplasma </a:t>
            </a:r>
            <a:r>
              <a:rPr lang="fr-FR" dirty="0" err="1"/>
              <a:t>pneumoniae</a:t>
            </a:r>
            <a:r>
              <a:rPr lang="fr-FR" dirty="0"/>
              <a:t> peut s’accompagner de :</a:t>
            </a:r>
            <a:br>
              <a:rPr lang="fr-FR" dirty="0"/>
            </a:br>
            <a:r>
              <a:rPr lang="fr-FR" dirty="0"/>
              <a:t>A. Méningite aseptique</a:t>
            </a:r>
            <a:br>
              <a:rPr lang="fr-FR" dirty="0"/>
            </a:br>
            <a:r>
              <a:rPr lang="fr-FR" dirty="0"/>
              <a:t>B. </a:t>
            </a:r>
            <a:r>
              <a:rPr lang="fr-FR" dirty="0" err="1"/>
              <a:t>Pyopneumothorax</a:t>
            </a:r>
            <a:r>
              <a:rPr lang="fr-FR" dirty="0"/>
              <a:t> et abcédation</a:t>
            </a:r>
            <a:br>
              <a:rPr lang="fr-FR" dirty="0"/>
            </a:br>
            <a:r>
              <a:rPr lang="fr-FR" dirty="0"/>
              <a:t>C. Anémie hémolytique</a:t>
            </a:r>
            <a:br>
              <a:rPr lang="fr-FR" dirty="0"/>
            </a:br>
            <a:r>
              <a:rPr lang="fr-FR" dirty="0"/>
              <a:t>D. Détresse respiratoire brutale</a:t>
            </a:r>
            <a:br>
              <a:rPr lang="fr-FR" dirty="0"/>
            </a:br>
            <a:r>
              <a:rPr lang="fr-FR" dirty="0"/>
              <a:t>E. Erythème noueux</a:t>
            </a:r>
          </a:p>
        </p:txBody>
      </p:sp>
    </p:spTree>
    <p:extLst>
      <p:ext uri="{BB962C8B-B14F-4D97-AF65-F5344CB8AC3E}">
        <p14:creationId xmlns:p14="http://schemas.microsoft.com/office/powerpoint/2010/main" val="101564160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15FC9-3E96-7EC5-F7D4-65952EAE255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4962C58-066C-4AE4-B6D0-8B96E8BB67A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1393F00-A3B3-F2C0-18EE-FEC47DF8490B}"/>
              </a:ext>
            </a:extLst>
          </p:cNvPr>
          <p:cNvSpPr>
            <a:spLocks noGrp="1"/>
          </p:cNvSpPr>
          <p:nvPr>
            <p:ph idx="1"/>
          </p:nvPr>
        </p:nvSpPr>
        <p:spPr/>
        <p:txBody>
          <a:bodyPr/>
          <a:lstStyle/>
          <a:p>
            <a:r>
              <a:rPr lang="fr-FR" dirty="0"/>
              <a:t>La pneumonie atypique à Mycoplasma </a:t>
            </a:r>
            <a:r>
              <a:rPr lang="fr-FR" dirty="0" err="1"/>
              <a:t>pneumoniae</a:t>
            </a:r>
            <a:r>
              <a:rPr lang="fr-FR" dirty="0"/>
              <a:t> peut s’accompagner de :</a:t>
            </a:r>
            <a:br>
              <a:rPr lang="fr-FR" dirty="0"/>
            </a:br>
            <a:r>
              <a:rPr lang="fr-FR" dirty="0"/>
              <a:t>A</a:t>
            </a:r>
            <a:r>
              <a:rPr lang="fr-FR" dirty="0">
                <a:solidFill>
                  <a:srgbClr val="FF0000"/>
                </a:solidFill>
              </a:rPr>
              <a:t>. Méningite aseptique</a:t>
            </a:r>
            <a:br>
              <a:rPr lang="fr-FR" dirty="0">
                <a:solidFill>
                  <a:srgbClr val="FF0000"/>
                </a:solidFill>
              </a:rPr>
            </a:br>
            <a:r>
              <a:rPr lang="fr-FR" dirty="0"/>
              <a:t>B. </a:t>
            </a:r>
            <a:r>
              <a:rPr lang="fr-FR" dirty="0" err="1"/>
              <a:t>Pyopneumothorax</a:t>
            </a:r>
            <a:r>
              <a:rPr lang="fr-FR" dirty="0"/>
              <a:t> et abcédation</a:t>
            </a:r>
            <a:br>
              <a:rPr lang="fr-FR" dirty="0"/>
            </a:br>
            <a:r>
              <a:rPr lang="fr-FR" dirty="0"/>
              <a:t>C</a:t>
            </a:r>
            <a:r>
              <a:rPr lang="fr-FR" dirty="0">
                <a:solidFill>
                  <a:srgbClr val="FF0000"/>
                </a:solidFill>
              </a:rPr>
              <a:t>. Anémie hémolytique</a:t>
            </a:r>
            <a:r>
              <a:rPr lang="fr-FR" dirty="0"/>
              <a:t/>
            </a:r>
            <a:br>
              <a:rPr lang="fr-FR" dirty="0"/>
            </a:br>
            <a:r>
              <a:rPr lang="fr-FR" dirty="0"/>
              <a:t>D. Détresse respiratoire brutale</a:t>
            </a:r>
            <a:br>
              <a:rPr lang="fr-FR" dirty="0"/>
            </a:br>
            <a:r>
              <a:rPr lang="fr-FR" dirty="0"/>
              <a:t>E. </a:t>
            </a:r>
            <a:r>
              <a:rPr lang="fr-FR" dirty="0">
                <a:solidFill>
                  <a:srgbClr val="FF0000"/>
                </a:solidFill>
              </a:rPr>
              <a:t>Erythème noueux</a:t>
            </a:r>
          </a:p>
        </p:txBody>
      </p:sp>
    </p:spTree>
    <p:extLst>
      <p:ext uri="{BB962C8B-B14F-4D97-AF65-F5344CB8AC3E}">
        <p14:creationId xmlns:p14="http://schemas.microsoft.com/office/powerpoint/2010/main" val="307566003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Devant une pneumopathie bactérienne alvéolaire bilatérale non systématisée avec des signes digestifs, neurologiques et articulaires, le germe en cause est :</a:t>
            </a:r>
            <a:endParaRPr lang="fr-FR" dirty="0"/>
          </a:p>
          <a:p>
            <a:pPr marL="514350" indent="-514350">
              <a:buFont typeface="+mj-lt"/>
              <a:buAutoNum type="alphaUcPeriod"/>
            </a:pPr>
            <a:r>
              <a:rPr lang="fr-FR" dirty="0"/>
              <a:t>Anaérobie</a:t>
            </a:r>
          </a:p>
          <a:p>
            <a:pPr marL="514350" indent="-514350">
              <a:buFont typeface="+mj-lt"/>
              <a:buAutoNum type="alphaUcPeriod"/>
            </a:pPr>
            <a:r>
              <a:rPr lang="fr-FR" dirty="0"/>
              <a:t>Mycoplasme </a:t>
            </a:r>
            <a:r>
              <a:rPr lang="fr-FR" dirty="0" err="1"/>
              <a:t>pneumoniae</a:t>
            </a:r>
            <a:endParaRPr lang="fr-FR" dirty="0"/>
          </a:p>
          <a:p>
            <a:pPr marL="514350" indent="-514350">
              <a:buFont typeface="+mj-lt"/>
              <a:buAutoNum type="alphaUcPeriod"/>
            </a:pPr>
            <a:r>
              <a:rPr lang="fr-FR" dirty="0"/>
              <a:t>Staphylocoque aureus</a:t>
            </a:r>
          </a:p>
          <a:p>
            <a:pPr marL="514350" indent="-514350">
              <a:buFont typeface="+mj-lt"/>
              <a:buAutoNum type="alphaUcPeriod"/>
            </a:pPr>
            <a:r>
              <a:rPr lang="fr-FR" dirty="0" err="1"/>
              <a:t>Légionella</a:t>
            </a:r>
            <a:r>
              <a:rPr lang="fr-FR" dirty="0"/>
              <a:t> </a:t>
            </a:r>
            <a:r>
              <a:rPr lang="fr-FR" dirty="0" err="1"/>
              <a:t>pneumophila</a:t>
            </a:r>
            <a:endParaRPr lang="fr-FR" dirty="0"/>
          </a:p>
          <a:p>
            <a:pPr marL="514350" indent="-514350">
              <a:buFont typeface="+mj-lt"/>
              <a:buAutoNum type="alphaUcPeriod"/>
            </a:pPr>
            <a:r>
              <a:rPr lang="fr-FR" dirty="0"/>
              <a:t>Chlamydia </a:t>
            </a:r>
            <a:r>
              <a:rPr lang="fr-FR" dirty="0" err="1"/>
              <a:t>pneumoniae</a:t>
            </a:r>
            <a:endParaRPr lang="fr-FR" dirty="0"/>
          </a:p>
          <a:p>
            <a:pPr marL="0" indent="0">
              <a:buNone/>
            </a:pPr>
            <a:endParaRPr lang="fr-FR" dirty="0"/>
          </a:p>
          <a:p>
            <a:endParaRPr lang="fr-FR" dirty="0"/>
          </a:p>
        </p:txBody>
      </p:sp>
    </p:spTree>
    <p:extLst>
      <p:ext uri="{BB962C8B-B14F-4D97-AF65-F5344CB8AC3E}">
        <p14:creationId xmlns:p14="http://schemas.microsoft.com/office/powerpoint/2010/main" val="308248693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 Devant une pneumopathie bactérienne alvéolaire bilatérale non systématisée avec des signes digestifs, neurologiques et articulaires, le germe en cause est :</a:t>
            </a:r>
            <a:endParaRPr lang="fr-FR" dirty="0"/>
          </a:p>
          <a:p>
            <a:pPr marL="514350" indent="-514350">
              <a:buFont typeface="+mj-lt"/>
              <a:buAutoNum type="alphaUcPeriod"/>
            </a:pPr>
            <a:r>
              <a:rPr lang="fr-FR" dirty="0"/>
              <a:t>Anaérobie</a:t>
            </a:r>
          </a:p>
          <a:p>
            <a:pPr marL="514350" indent="-514350">
              <a:buFont typeface="+mj-lt"/>
              <a:buAutoNum type="alphaUcPeriod"/>
            </a:pPr>
            <a:r>
              <a:rPr lang="fr-FR" dirty="0"/>
              <a:t>Mycoplasme </a:t>
            </a:r>
            <a:r>
              <a:rPr lang="fr-FR" dirty="0" err="1"/>
              <a:t>pneumoniae</a:t>
            </a:r>
            <a:endParaRPr lang="fr-FR" dirty="0"/>
          </a:p>
          <a:p>
            <a:pPr marL="514350" indent="-514350">
              <a:buFont typeface="+mj-lt"/>
              <a:buAutoNum type="alphaUcPeriod"/>
            </a:pPr>
            <a:r>
              <a:rPr lang="fr-FR" dirty="0"/>
              <a:t>Staphylocoque aureus</a:t>
            </a:r>
          </a:p>
          <a:p>
            <a:pPr marL="514350" indent="-514350">
              <a:buFont typeface="+mj-lt"/>
              <a:buAutoNum type="alphaUcPeriod"/>
            </a:pPr>
            <a:r>
              <a:rPr lang="fr-FR" dirty="0" err="1">
                <a:solidFill>
                  <a:srgbClr val="FF0000"/>
                </a:solidFill>
              </a:rPr>
              <a:t>Légionella</a:t>
            </a:r>
            <a:r>
              <a:rPr lang="fr-FR" dirty="0">
                <a:solidFill>
                  <a:srgbClr val="FF0000"/>
                </a:solidFill>
              </a:rPr>
              <a:t> </a:t>
            </a:r>
            <a:r>
              <a:rPr lang="fr-FR" dirty="0" err="1">
                <a:solidFill>
                  <a:srgbClr val="FF0000"/>
                </a:solidFill>
              </a:rPr>
              <a:t>pneumophila</a:t>
            </a:r>
            <a:endParaRPr lang="fr-FR" dirty="0">
              <a:solidFill>
                <a:srgbClr val="FF0000"/>
              </a:solidFill>
            </a:endParaRPr>
          </a:p>
          <a:p>
            <a:pPr marL="514350" indent="-514350">
              <a:buFont typeface="+mj-lt"/>
              <a:buAutoNum type="alphaUcPeriod"/>
            </a:pPr>
            <a:r>
              <a:rPr lang="fr-FR" dirty="0"/>
              <a:t>Chlamydia </a:t>
            </a:r>
            <a:r>
              <a:rPr lang="fr-FR" dirty="0" err="1"/>
              <a:t>pneumoniae</a:t>
            </a:r>
            <a:endParaRPr lang="fr-FR" dirty="0"/>
          </a:p>
          <a:p>
            <a:pPr marL="0" indent="0">
              <a:buNone/>
            </a:pPr>
            <a:endParaRPr lang="fr-FR" dirty="0"/>
          </a:p>
          <a:p>
            <a:endParaRPr lang="fr-FR" dirty="0"/>
          </a:p>
        </p:txBody>
      </p:sp>
    </p:spTree>
    <p:extLst>
      <p:ext uri="{BB962C8B-B14F-4D97-AF65-F5344CB8AC3E}">
        <p14:creationId xmlns:p14="http://schemas.microsoft.com/office/powerpoint/2010/main" val="322709290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9C632-528A-8152-66D8-B15AAC907E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46740F-505C-45D1-6089-52612120238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424A292-2697-FF66-D0B9-342FAA89352D}"/>
              </a:ext>
            </a:extLst>
          </p:cNvPr>
          <p:cNvSpPr>
            <a:spLocks noGrp="1"/>
          </p:cNvSpPr>
          <p:nvPr>
            <p:ph idx="1"/>
          </p:nvPr>
        </p:nvSpPr>
        <p:spPr/>
        <p:txBody>
          <a:bodyPr/>
          <a:lstStyle/>
          <a:p>
            <a:r>
              <a:rPr lang="fr-FR" dirty="0"/>
              <a:t>Concernant la pneumonie à Legionella :</a:t>
            </a:r>
            <a:br>
              <a:rPr lang="fr-FR" dirty="0"/>
            </a:br>
            <a:r>
              <a:rPr lang="fr-FR" dirty="0"/>
              <a:t>A. Elle se transmet par inhalation d’aérosols contaminés</a:t>
            </a:r>
            <a:br>
              <a:rPr lang="fr-FR" dirty="0"/>
            </a:br>
            <a:r>
              <a:rPr lang="fr-FR" dirty="0"/>
              <a:t>B. Le diagnostic repose sur l’antigénurie urinaire</a:t>
            </a:r>
            <a:br>
              <a:rPr lang="fr-FR" dirty="0"/>
            </a:br>
            <a:r>
              <a:rPr lang="fr-FR" dirty="0"/>
              <a:t>C. Elle se transmet fréquemment d’homme à homme</a:t>
            </a:r>
          </a:p>
          <a:p>
            <a:pPr marL="0" indent="0">
              <a:buNone/>
            </a:pPr>
            <a:r>
              <a:rPr lang="fr-FR" dirty="0"/>
              <a:t>   </a:t>
            </a:r>
            <a:r>
              <a:rPr lang="fr-FR" dirty="0" err="1"/>
              <a:t>D.Elle</a:t>
            </a:r>
            <a:r>
              <a:rPr lang="fr-FR" dirty="0"/>
              <a:t> donne souvent un tableau digestif et neurologique associé</a:t>
            </a:r>
            <a:br>
              <a:rPr lang="fr-FR" dirty="0"/>
            </a:br>
            <a:r>
              <a:rPr lang="fr-FR" dirty="0"/>
              <a:t>  E. c’est une pathologie à déclaration obligatoire </a:t>
            </a:r>
          </a:p>
        </p:txBody>
      </p:sp>
    </p:spTree>
    <p:extLst>
      <p:ext uri="{BB962C8B-B14F-4D97-AF65-F5344CB8AC3E}">
        <p14:creationId xmlns:p14="http://schemas.microsoft.com/office/powerpoint/2010/main" val="391392775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12EC74-310B-DE03-6E97-71B1835F381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094781E-634F-2E46-47EE-8BDA5B380B2F}"/>
              </a:ext>
            </a:extLst>
          </p:cNvPr>
          <p:cNvSpPr>
            <a:spLocks noGrp="1"/>
          </p:cNvSpPr>
          <p:nvPr>
            <p:ph idx="1"/>
          </p:nvPr>
        </p:nvSpPr>
        <p:spPr/>
        <p:txBody>
          <a:bodyPr/>
          <a:lstStyle/>
          <a:p>
            <a:r>
              <a:rPr lang="fr-FR" dirty="0"/>
              <a:t>Concernant la pneumonie à Legionella :</a:t>
            </a:r>
            <a:br>
              <a:rPr lang="fr-FR" dirty="0"/>
            </a:br>
            <a:r>
              <a:rPr lang="fr-FR" dirty="0">
                <a:solidFill>
                  <a:srgbClr val="FF0000"/>
                </a:solidFill>
              </a:rPr>
              <a:t>A. Elle se transmet par inhalation d’aérosols contaminés</a:t>
            </a:r>
            <a:br>
              <a:rPr lang="fr-FR" dirty="0">
                <a:solidFill>
                  <a:srgbClr val="FF0000"/>
                </a:solidFill>
              </a:rPr>
            </a:br>
            <a:r>
              <a:rPr lang="fr-FR" dirty="0">
                <a:solidFill>
                  <a:srgbClr val="FF0000"/>
                </a:solidFill>
              </a:rPr>
              <a:t>B. Le diagnostic repose sur l’antigénurie urinaire</a:t>
            </a:r>
            <a:r>
              <a:rPr lang="fr-FR" dirty="0"/>
              <a:t/>
            </a:r>
            <a:br>
              <a:rPr lang="fr-FR" dirty="0"/>
            </a:br>
            <a:r>
              <a:rPr lang="fr-FR" dirty="0"/>
              <a:t>C. Elle se transmet fréquemment d’homme à homme</a:t>
            </a:r>
          </a:p>
          <a:p>
            <a:pPr marL="0" indent="0">
              <a:buNone/>
            </a:pPr>
            <a:r>
              <a:rPr lang="fr-FR" dirty="0">
                <a:solidFill>
                  <a:srgbClr val="FF0000"/>
                </a:solidFill>
              </a:rPr>
              <a:t>   </a:t>
            </a:r>
            <a:r>
              <a:rPr lang="fr-FR" dirty="0" err="1">
                <a:solidFill>
                  <a:srgbClr val="FF0000"/>
                </a:solidFill>
              </a:rPr>
              <a:t>D.Elle</a:t>
            </a:r>
            <a:r>
              <a:rPr lang="fr-FR" dirty="0">
                <a:solidFill>
                  <a:srgbClr val="FF0000"/>
                </a:solidFill>
              </a:rPr>
              <a:t> donne souvent un tableau digestif et neurologique associé</a:t>
            </a:r>
            <a:br>
              <a:rPr lang="fr-FR" dirty="0">
                <a:solidFill>
                  <a:srgbClr val="FF0000"/>
                </a:solidFill>
              </a:rPr>
            </a:br>
            <a:r>
              <a:rPr lang="fr-FR" dirty="0">
                <a:solidFill>
                  <a:srgbClr val="FF0000"/>
                </a:solidFill>
              </a:rPr>
              <a:t>  E. c’est une pathologie à déclaration obligatoire </a:t>
            </a:r>
          </a:p>
        </p:txBody>
      </p:sp>
    </p:spTree>
    <p:extLst>
      <p:ext uri="{BB962C8B-B14F-4D97-AF65-F5344CB8AC3E}">
        <p14:creationId xmlns:p14="http://schemas.microsoft.com/office/powerpoint/2010/main" val="197611280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solidFill>
                  <a:prstClr val="black"/>
                </a:solidFill>
              </a:rPr>
              <a:t>concernant les pneumopathies COVID 19:</a:t>
            </a:r>
            <a:endParaRPr lang="fr-FR" dirty="0">
              <a:solidFill>
                <a:prstClr val="black"/>
              </a:solidFill>
            </a:endParaRPr>
          </a:p>
          <a:p>
            <a:pPr marL="514350" indent="-514350">
              <a:buFont typeface="+mj-lt"/>
              <a:buAutoNum type="alphaUcPeriod"/>
            </a:pPr>
            <a:r>
              <a:rPr lang="fr-FR" dirty="0">
                <a:solidFill>
                  <a:prstClr val="black"/>
                </a:solidFill>
              </a:rPr>
              <a:t>La radio montre Une pneumopathie alvéolo-interstitielle unilatérale </a:t>
            </a:r>
          </a:p>
          <a:p>
            <a:pPr marL="514350" indent="-514350">
              <a:buFont typeface="+mj-lt"/>
              <a:buAutoNum type="alphaUcPeriod"/>
            </a:pPr>
            <a:r>
              <a:rPr lang="fr-FR" dirty="0">
                <a:solidFill>
                  <a:prstClr val="black"/>
                </a:solidFill>
              </a:rPr>
              <a:t>Indique la prise en charge en milieu hospitalier </a:t>
            </a:r>
          </a:p>
          <a:p>
            <a:pPr marL="514350" indent="-514350">
              <a:buFont typeface="+mj-lt"/>
              <a:buAutoNum type="alphaUcPeriod"/>
            </a:pPr>
            <a:r>
              <a:rPr lang="fr-FR" dirty="0">
                <a:solidFill>
                  <a:prstClr val="black"/>
                </a:solidFill>
              </a:rPr>
              <a:t>Le scanner montre un aspect en verre dépoli bilatéral</a:t>
            </a:r>
          </a:p>
          <a:p>
            <a:pPr marL="514350" indent="-514350">
              <a:buFont typeface="+mj-lt"/>
              <a:buAutoNum type="alphaUcPeriod"/>
            </a:pPr>
            <a:r>
              <a:rPr lang="fr-FR" dirty="0">
                <a:solidFill>
                  <a:prstClr val="black"/>
                </a:solidFill>
              </a:rPr>
              <a:t>La confirmation est en premier lieu sérologique </a:t>
            </a:r>
          </a:p>
          <a:p>
            <a:pPr marL="514350" indent="-514350">
              <a:buFont typeface="+mj-lt"/>
              <a:buAutoNum type="alphaUcPeriod"/>
            </a:pPr>
            <a:r>
              <a:rPr lang="fr-FR" dirty="0"/>
              <a:t>C’est la plus fréquente des pneumonies virales</a:t>
            </a:r>
            <a:endParaRPr lang="fr-FR" sz="1300" dirty="0">
              <a:solidFill>
                <a:prstClr val="black"/>
              </a:solidFill>
            </a:endParaRPr>
          </a:p>
        </p:txBody>
      </p:sp>
    </p:spTree>
    <p:extLst>
      <p:ext uri="{BB962C8B-B14F-4D97-AF65-F5344CB8AC3E}">
        <p14:creationId xmlns:p14="http://schemas.microsoft.com/office/powerpoint/2010/main" val="72095936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22B3E-076E-2C0E-E271-CCE18AC5A0C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40092A7-37F0-9114-E238-EBFD0F7FCBE5}"/>
              </a:ext>
            </a:extLst>
          </p:cNvPr>
          <p:cNvSpPr>
            <a:spLocks noGrp="1"/>
          </p:cNvSpPr>
          <p:nvPr>
            <p:ph idx="1"/>
          </p:nvPr>
        </p:nvSpPr>
        <p:spPr>
          <a:xfrm>
            <a:off x="1981200" y="620689"/>
            <a:ext cx="8229600" cy="5505475"/>
          </a:xfrm>
        </p:spPr>
        <p:txBody>
          <a:bodyPr>
            <a:normAutofit/>
          </a:bodyPr>
          <a:lstStyle/>
          <a:p>
            <a:pPr marL="0" indent="0">
              <a:buNone/>
            </a:pPr>
            <a:r>
              <a:rPr lang="fr-FR" b="1" dirty="0">
                <a:solidFill>
                  <a:prstClr val="black"/>
                </a:solidFill>
              </a:rPr>
              <a:t>concernant les pneumopathies COVID 19:</a:t>
            </a:r>
            <a:endParaRPr lang="fr-FR" dirty="0">
              <a:solidFill>
                <a:prstClr val="black"/>
              </a:solidFill>
            </a:endParaRPr>
          </a:p>
          <a:p>
            <a:pPr marL="514350" indent="-514350">
              <a:buFont typeface="+mj-lt"/>
              <a:buAutoNum type="alphaUcPeriod"/>
            </a:pPr>
            <a:r>
              <a:rPr lang="fr-FR" dirty="0">
                <a:solidFill>
                  <a:prstClr val="black"/>
                </a:solidFill>
              </a:rPr>
              <a:t>La radio montre Une pneumopathie alvéolo-interstitielle unilatérale </a:t>
            </a:r>
          </a:p>
          <a:p>
            <a:pPr marL="514350" indent="-514350">
              <a:buFont typeface="+mj-lt"/>
              <a:buAutoNum type="alphaUcPeriod"/>
            </a:pPr>
            <a:r>
              <a:rPr lang="fr-FR" dirty="0">
                <a:solidFill>
                  <a:prstClr val="black"/>
                </a:solidFill>
              </a:rPr>
              <a:t>Indique la prise en charge en milieu hospitalier </a:t>
            </a:r>
          </a:p>
          <a:p>
            <a:pPr marL="514350" indent="-514350">
              <a:buFont typeface="+mj-lt"/>
              <a:buAutoNum type="alphaUcPeriod"/>
            </a:pPr>
            <a:r>
              <a:rPr lang="fr-FR" dirty="0">
                <a:solidFill>
                  <a:srgbClr val="FF0000"/>
                </a:solidFill>
              </a:rPr>
              <a:t>Le scanner montre un aspect en verre dépoli bilatéral</a:t>
            </a:r>
          </a:p>
          <a:p>
            <a:pPr marL="514350" indent="-514350">
              <a:buFont typeface="+mj-lt"/>
              <a:buAutoNum type="alphaUcPeriod"/>
            </a:pPr>
            <a:r>
              <a:rPr lang="fr-FR" dirty="0">
                <a:solidFill>
                  <a:prstClr val="black"/>
                </a:solidFill>
              </a:rPr>
              <a:t>La confirmation est en premier lieu sérologique </a:t>
            </a:r>
          </a:p>
          <a:p>
            <a:pPr marL="514350" indent="-514350">
              <a:buFont typeface="+mj-lt"/>
              <a:buAutoNum type="alphaUcPeriod"/>
            </a:pPr>
            <a:r>
              <a:rPr lang="fr-FR" dirty="0">
                <a:solidFill>
                  <a:srgbClr val="FF0000"/>
                </a:solidFill>
              </a:rPr>
              <a:t>C’est la plus fréquente des pneumonies virales</a:t>
            </a:r>
            <a:endParaRPr lang="fr-FR" sz="1300" dirty="0">
              <a:solidFill>
                <a:srgbClr val="FF0000"/>
              </a:solidFill>
            </a:endParaRPr>
          </a:p>
        </p:txBody>
      </p:sp>
    </p:spTree>
    <p:extLst>
      <p:ext uri="{BB962C8B-B14F-4D97-AF65-F5344CB8AC3E}">
        <p14:creationId xmlns:p14="http://schemas.microsoft.com/office/powerpoint/2010/main" val="256052700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BA59F6-BE45-1248-23DB-CFBE848322A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1C724A8-174F-C962-B3A4-868E6086622B}"/>
              </a:ext>
            </a:extLst>
          </p:cNvPr>
          <p:cNvSpPr>
            <a:spLocks noGrp="1"/>
          </p:cNvSpPr>
          <p:nvPr>
            <p:ph idx="1"/>
          </p:nvPr>
        </p:nvSpPr>
        <p:spPr/>
        <p:txBody>
          <a:bodyPr/>
          <a:lstStyle/>
          <a:p>
            <a:r>
              <a:rPr lang="fr-FR" b="1" dirty="0"/>
              <a:t>.</a:t>
            </a:r>
            <a:r>
              <a:rPr lang="fr-FR" dirty="0"/>
              <a:t> Pneumonie du sujet âgé :</a:t>
            </a:r>
            <a:br>
              <a:rPr lang="fr-FR" dirty="0"/>
            </a:br>
            <a:r>
              <a:rPr lang="fr-FR" dirty="0"/>
              <a:t>A. Peut être </a:t>
            </a:r>
            <a:r>
              <a:rPr lang="fr-FR" dirty="0" err="1"/>
              <a:t>pauci-symptomatique</a:t>
            </a:r>
            <a:r>
              <a:rPr lang="fr-FR" dirty="0"/>
              <a:t/>
            </a:r>
            <a:br>
              <a:rPr lang="fr-FR" dirty="0"/>
            </a:br>
            <a:r>
              <a:rPr lang="fr-FR" dirty="0"/>
              <a:t>B. S’accompagne souvent d’un syndrome pseudo-abdominal</a:t>
            </a:r>
            <a:br>
              <a:rPr lang="fr-FR" dirty="0"/>
            </a:br>
            <a:r>
              <a:rPr lang="fr-FR" dirty="0"/>
              <a:t>C. Est fréquemment due au pneumocoque</a:t>
            </a:r>
            <a:br>
              <a:rPr lang="fr-FR" dirty="0"/>
            </a:br>
            <a:r>
              <a:rPr lang="fr-FR" dirty="0"/>
              <a:t>D. A un pronostic globalement favorable</a:t>
            </a:r>
            <a:br>
              <a:rPr lang="fr-FR" dirty="0"/>
            </a:br>
            <a:r>
              <a:rPr lang="fr-FR" dirty="0"/>
              <a:t>E. Peut se manifester sans fièvre</a:t>
            </a:r>
            <a:br>
              <a:rPr lang="fr-FR" dirty="0"/>
            </a:br>
            <a:endParaRPr lang="fr-FR" dirty="0"/>
          </a:p>
        </p:txBody>
      </p:sp>
    </p:spTree>
    <p:extLst>
      <p:ext uri="{BB962C8B-B14F-4D97-AF65-F5344CB8AC3E}">
        <p14:creationId xmlns:p14="http://schemas.microsoft.com/office/powerpoint/2010/main" val="263291284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66E2AE-9162-F321-2B47-4F001B09D46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00C2F02-4AEC-4316-C199-8820F136570F}"/>
              </a:ext>
            </a:extLst>
          </p:cNvPr>
          <p:cNvSpPr>
            <a:spLocks noGrp="1"/>
          </p:cNvSpPr>
          <p:nvPr>
            <p:ph idx="1"/>
          </p:nvPr>
        </p:nvSpPr>
        <p:spPr/>
        <p:txBody>
          <a:bodyPr/>
          <a:lstStyle/>
          <a:p>
            <a:r>
              <a:rPr lang="fr-FR" b="1" dirty="0"/>
              <a:t>.</a:t>
            </a:r>
            <a:r>
              <a:rPr lang="fr-FR" dirty="0"/>
              <a:t> Pneumonie du sujet âgé :</a:t>
            </a:r>
            <a:br>
              <a:rPr lang="fr-FR" dirty="0"/>
            </a:br>
            <a:r>
              <a:rPr lang="fr-FR" dirty="0"/>
              <a:t>A. </a:t>
            </a:r>
            <a:r>
              <a:rPr lang="fr-FR" dirty="0">
                <a:solidFill>
                  <a:srgbClr val="FF0000"/>
                </a:solidFill>
              </a:rPr>
              <a:t>Peut être </a:t>
            </a:r>
            <a:r>
              <a:rPr lang="fr-FR" dirty="0" err="1">
                <a:solidFill>
                  <a:srgbClr val="FF0000"/>
                </a:solidFill>
              </a:rPr>
              <a:t>pauci-symptomatique</a:t>
            </a:r>
            <a:r>
              <a:rPr lang="fr-FR" dirty="0">
                <a:solidFill>
                  <a:srgbClr val="FF0000"/>
                </a:solidFill>
              </a:rPr>
              <a:t/>
            </a:r>
            <a:br>
              <a:rPr lang="fr-FR" dirty="0">
                <a:solidFill>
                  <a:srgbClr val="FF0000"/>
                </a:solidFill>
              </a:rPr>
            </a:br>
            <a:r>
              <a:rPr lang="fr-FR" dirty="0"/>
              <a:t>B. S’accompagne souvent d’un syndrome pseudo-abdominal</a:t>
            </a:r>
            <a:br>
              <a:rPr lang="fr-FR" dirty="0"/>
            </a:br>
            <a:r>
              <a:rPr lang="fr-FR" dirty="0"/>
              <a:t>C</a:t>
            </a:r>
            <a:r>
              <a:rPr lang="fr-FR" dirty="0">
                <a:solidFill>
                  <a:srgbClr val="FF0000"/>
                </a:solidFill>
              </a:rPr>
              <a:t>. Est fréquemment due au pneumocoque</a:t>
            </a:r>
            <a:r>
              <a:rPr lang="fr-FR" dirty="0"/>
              <a:t/>
            </a:r>
            <a:br>
              <a:rPr lang="fr-FR" dirty="0"/>
            </a:br>
            <a:r>
              <a:rPr lang="fr-FR" dirty="0"/>
              <a:t>D. A un pronostic globalement favorable</a:t>
            </a:r>
            <a:br>
              <a:rPr lang="fr-FR" dirty="0"/>
            </a:br>
            <a:r>
              <a:rPr lang="fr-FR" dirty="0"/>
              <a:t>E</a:t>
            </a:r>
            <a:r>
              <a:rPr lang="fr-FR" dirty="0">
                <a:solidFill>
                  <a:srgbClr val="FF0000"/>
                </a:solidFill>
              </a:rPr>
              <a:t>. Peut se manifester sans fièvre</a:t>
            </a:r>
            <a:br>
              <a:rPr lang="fr-FR" dirty="0">
                <a:solidFill>
                  <a:srgbClr val="FF0000"/>
                </a:solidFill>
              </a:rPr>
            </a:br>
            <a:endParaRPr lang="fr-FR" dirty="0">
              <a:solidFill>
                <a:srgbClr val="FF0000"/>
              </a:solidFill>
            </a:endParaRPr>
          </a:p>
        </p:txBody>
      </p:sp>
    </p:spTree>
    <p:extLst>
      <p:ext uri="{BB962C8B-B14F-4D97-AF65-F5344CB8AC3E}">
        <p14:creationId xmlns:p14="http://schemas.microsoft.com/office/powerpoint/2010/main" val="339070451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37CD95-A975-D112-39AF-F0E9D047C02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42B3038-090E-C010-D0A3-510055BD191F}"/>
              </a:ext>
            </a:extLst>
          </p:cNvPr>
          <p:cNvSpPr>
            <a:spLocks noGrp="1"/>
          </p:cNvSpPr>
          <p:nvPr>
            <p:ph idx="1"/>
          </p:nvPr>
        </p:nvSpPr>
        <p:spPr/>
        <p:txBody>
          <a:bodyPr/>
          <a:lstStyle/>
          <a:p>
            <a:r>
              <a:rPr lang="fr-FR" b="1" dirty="0"/>
              <a:t>.</a:t>
            </a:r>
            <a:r>
              <a:rPr lang="fr-FR" dirty="0"/>
              <a:t> La staphylococcie </a:t>
            </a:r>
            <a:r>
              <a:rPr lang="fr-FR" dirty="0" err="1"/>
              <a:t>pleuro-pulmonaire</a:t>
            </a:r>
            <a:r>
              <a:rPr lang="fr-FR" dirty="0"/>
              <a:t> du nourrisson est caractérisé par :</a:t>
            </a:r>
            <a:br>
              <a:rPr lang="fr-FR" dirty="0"/>
            </a:br>
            <a:r>
              <a:rPr lang="fr-FR" dirty="0"/>
              <a:t>A. l évolution vers la  chronicité</a:t>
            </a:r>
            <a:br>
              <a:rPr lang="fr-FR" dirty="0"/>
            </a:br>
            <a:r>
              <a:rPr lang="fr-FR" dirty="0"/>
              <a:t>B. le  risque de </a:t>
            </a:r>
            <a:r>
              <a:rPr lang="fr-FR" dirty="0" err="1"/>
              <a:t>pyopneumothorax</a:t>
            </a:r>
            <a:r>
              <a:rPr lang="fr-FR" dirty="0"/>
              <a:t> fatal</a:t>
            </a:r>
            <a:br>
              <a:rPr lang="fr-FR" dirty="0"/>
            </a:br>
            <a:r>
              <a:rPr lang="fr-FR" dirty="0"/>
              <a:t>C.  Un Syndrome infectieux sévère</a:t>
            </a:r>
            <a:br>
              <a:rPr lang="fr-FR" dirty="0"/>
            </a:br>
            <a:r>
              <a:rPr lang="fr-FR" dirty="0"/>
              <a:t>D. la présence d’une leucopénie</a:t>
            </a:r>
            <a:br>
              <a:rPr lang="fr-FR" dirty="0"/>
            </a:br>
            <a:r>
              <a:rPr lang="fr-FR" dirty="0"/>
              <a:t>E. Son évolution généralement favorable</a:t>
            </a:r>
            <a:br>
              <a:rPr lang="fr-FR" dirty="0"/>
            </a:br>
            <a:endParaRPr lang="fr-FR" dirty="0"/>
          </a:p>
        </p:txBody>
      </p:sp>
    </p:spTree>
    <p:extLst>
      <p:ext uri="{BB962C8B-B14F-4D97-AF65-F5344CB8AC3E}">
        <p14:creationId xmlns:p14="http://schemas.microsoft.com/office/powerpoint/2010/main" val="148913010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4891-4F14-D982-857A-C72E8D3CDA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D85CDA-1BF7-CBBB-B14F-E9BFAE8903A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2B341E0-FB51-F171-DEED-AAB14DB07185}"/>
              </a:ext>
            </a:extLst>
          </p:cNvPr>
          <p:cNvSpPr>
            <a:spLocks noGrp="1"/>
          </p:cNvSpPr>
          <p:nvPr>
            <p:ph idx="1"/>
          </p:nvPr>
        </p:nvSpPr>
        <p:spPr/>
        <p:txBody>
          <a:bodyPr/>
          <a:lstStyle/>
          <a:p>
            <a:r>
              <a:rPr lang="fr-FR" b="1" dirty="0"/>
              <a:t>.</a:t>
            </a:r>
            <a:r>
              <a:rPr lang="fr-FR" dirty="0"/>
              <a:t> La staphylococcie </a:t>
            </a:r>
            <a:r>
              <a:rPr lang="fr-FR" dirty="0" err="1"/>
              <a:t>pleuro-pulmonaire</a:t>
            </a:r>
            <a:r>
              <a:rPr lang="fr-FR" dirty="0"/>
              <a:t> du nourrisson est caractérisé par :</a:t>
            </a:r>
            <a:br>
              <a:rPr lang="fr-FR" dirty="0"/>
            </a:br>
            <a:r>
              <a:rPr lang="fr-FR" dirty="0"/>
              <a:t>A. l évolution vers la  chronicité</a:t>
            </a:r>
            <a:br>
              <a:rPr lang="fr-FR" dirty="0"/>
            </a:br>
            <a:r>
              <a:rPr lang="fr-FR" dirty="0">
                <a:solidFill>
                  <a:srgbClr val="FF0000"/>
                </a:solidFill>
              </a:rPr>
              <a:t>B. le  risque de </a:t>
            </a:r>
            <a:r>
              <a:rPr lang="fr-FR" dirty="0" err="1">
                <a:solidFill>
                  <a:srgbClr val="FF0000"/>
                </a:solidFill>
              </a:rPr>
              <a:t>pyopneumothorax</a:t>
            </a:r>
            <a:r>
              <a:rPr lang="fr-FR" dirty="0">
                <a:solidFill>
                  <a:srgbClr val="FF0000"/>
                </a:solidFill>
              </a:rPr>
              <a:t> fatal</a:t>
            </a:r>
            <a:r>
              <a:rPr lang="fr-FR" dirty="0"/>
              <a:t/>
            </a:r>
            <a:br>
              <a:rPr lang="fr-FR" dirty="0"/>
            </a:br>
            <a:r>
              <a:rPr lang="fr-FR" dirty="0"/>
              <a:t>C</a:t>
            </a:r>
            <a:r>
              <a:rPr lang="fr-FR" dirty="0">
                <a:solidFill>
                  <a:srgbClr val="FF0000"/>
                </a:solidFill>
              </a:rPr>
              <a:t>.  Un Syndrome infectieux sévère</a:t>
            </a:r>
            <a:r>
              <a:rPr lang="fr-FR" dirty="0"/>
              <a:t/>
            </a:r>
            <a:br>
              <a:rPr lang="fr-FR" dirty="0"/>
            </a:br>
            <a:r>
              <a:rPr lang="fr-FR" dirty="0"/>
              <a:t>D. la présence d’une leucopénie</a:t>
            </a:r>
            <a:br>
              <a:rPr lang="fr-FR" dirty="0"/>
            </a:br>
            <a:r>
              <a:rPr lang="fr-FR" dirty="0"/>
              <a:t>E. Son évolution généralement favorable</a:t>
            </a:r>
            <a:br>
              <a:rPr lang="fr-FR" dirty="0"/>
            </a:br>
            <a:endParaRPr lang="fr-FR" dirty="0"/>
          </a:p>
        </p:txBody>
      </p:sp>
    </p:spTree>
    <p:extLst>
      <p:ext uri="{BB962C8B-B14F-4D97-AF65-F5344CB8AC3E}">
        <p14:creationId xmlns:p14="http://schemas.microsoft.com/office/powerpoint/2010/main" val="30493075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08D43A-1D8E-0C51-DF59-4B5A0B68AF7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4FACDC5-CD11-3CCA-631C-E243FEC8CAEB}"/>
              </a:ext>
            </a:extLst>
          </p:cNvPr>
          <p:cNvSpPr>
            <a:spLocks noGrp="1"/>
          </p:cNvSpPr>
          <p:nvPr>
            <p:ph idx="1"/>
          </p:nvPr>
        </p:nvSpPr>
        <p:spPr/>
        <p:txBody>
          <a:bodyPr/>
          <a:lstStyle/>
          <a:p>
            <a:r>
              <a:rPr lang="fr-FR" dirty="0"/>
              <a:t>Germes responsables de pneumonies atypiques :</a:t>
            </a:r>
            <a:br>
              <a:rPr lang="fr-FR" dirty="0"/>
            </a:br>
            <a:r>
              <a:rPr lang="fr-FR" dirty="0"/>
              <a:t>A. Mycoplasma </a:t>
            </a:r>
            <a:r>
              <a:rPr lang="fr-FR" dirty="0" err="1"/>
              <a:t>pneumoniae</a:t>
            </a:r>
            <a:r>
              <a:rPr lang="fr-FR" dirty="0"/>
              <a:t/>
            </a:r>
            <a:br>
              <a:rPr lang="fr-FR" dirty="0"/>
            </a:br>
            <a:r>
              <a:rPr lang="fr-FR" dirty="0"/>
              <a:t>B. Chlamydia </a:t>
            </a:r>
            <a:r>
              <a:rPr lang="fr-FR" dirty="0" err="1"/>
              <a:t>pneumoniae</a:t>
            </a:r>
            <a:r>
              <a:rPr lang="fr-FR" dirty="0"/>
              <a:t/>
            </a:r>
            <a:br>
              <a:rPr lang="fr-FR" dirty="0"/>
            </a:br>
            <a:r>
              <a:rPr lang="fr-FR" dirty="0"/>
              <a:t>C. Legionella pneumophila</a:t>
            </a:r>
            <a:br>
              <a:rPr lang="fr-FR" dirty="0"/>
            </a:br>
            <a:r>
              <a:rPr lang="fr-FR" dirty="0"/>
              <a:t>D. Streptococcus </a:t>
            </a:r>
            <a:r>
              <a:rPr lang="fr-FR" dirty="0" err="1"/>
              <a:t>pneumoniae</a:t>
            </a:r>
            <a:r>
              <a:rPr lang="fr-FR" dirty="0"/>
              <a:t/>
            </a:r>
            <a:br>
              <a:rPr lang="fr-FR" dirty="0"/>
            </a:br>
            <a:r>
              <a:rPr lang="fr-FR" dirty="0"/>
              <a:t>E. Virus respiratoires</a:t>
            </a:r>
            <a:br>
              <a:rPr lang="fr-FR" dirty="0"/>
            </a:br>
            <a:endParaRPr lang="fr-FR" dirty="0"/>
          </a:p>
        </p:txBody>
      </p:sp>
    </p:spTree>
    <p:extLst>
      <p:ext uri="{BB962C8B-B14F-4D97-AF65-F5344CB8AC3E}">
        <p14:creationId xmlns:p14="http://schemas.microsoft.com/office/powerpoint/2010/main" val="419576057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B5AAA-168C-FBE3-C3A7-A122ACABEB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FEE115-3EC5-9A5B-1AB6-D96BCD687FA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95DC80D-C2E0-9DB4-C5A3-DE54DAB5A8EC}"/>
              </a:ext>
            </a:extLst>
          </p:cNvPr>
          <p:cNvSpPr>
            <a:spLocks noGrp="1"/>
          </p:cNvSpPr>
          <p:nvPr>
            <p:ph idx="1"/>
          </p:nvPr>
        </p:nvSpPr>
        <p:spPr/>
        <p:txBody>
          <a:bodyPr/>
          <a:lstStyle/>
          <a:p>
            <a:r>
              <a:rPr lang="fr-FR" dirty="0"/>
              <a:t>Germes responsables de pneumonies atypiques :</a:t>
            </a:r>
            <a:br>
              <a:rPr lang="fr-FR" dirty="0"/>
            </a:br>
            <a:r>
              <a:rPr lang="fr-FR" dirty="0"/>
              <a:t>A. </a:t>
            </a:r>
            <a:r>
              <a:rPr lang="fr-FR" dirty="0">
                <a:solidFill>
                  <a:srgbClr val="FF0000"/>
                </a:solidFill>
              </a:rPr>
              <a:t>Mycoplasma </a:t>
            </a:r>
            <a:r>
              <a:rPr lang="fr-FR" dirty="0" err="1">
                <a:solidFill>
                  <a:srgbClr val="FF0000"/>
                </a:solidFill>
              </a:rPr>
              <a:t>pneumoniae</a:t>
            </a:r>
            <a:r>
              <a:rPr lang="fr-FR" dirty="0">
                <a:solidFill>
                  <a:srgbClr val="FF0000"/>
                </a:solidFill>
              </a:rPr>
              <a:t/>
            </a:r>
            <a:br>
              <a:rPr lang="fr-FR" dirty="0">
                <a:solidFill>
                  <a:srgbClr val="FF0000"/>
                </a:solidFill>
              </a:rPr>
            </a:br>
            <a:r>
              <a:rPr lang="fr-FR" dirty="0">
                <a:solidFill>
                  <a:srgbClr val="FF0000"/>
                </a:solidFill>
              </a:rPr>
              <a:t>B. Chlamydia </a:t>
            </a:r>
            <a:r>
              <a:rPr lang="fr-FR" dirty="0" err="1">
                <a:solidFill>
                  <a:srgbClr val="FF0000"/>
                </a:solidFill>
              </a:rPr>
              <a:t>pneumoniae</a:t>
            </a:r>
            <a:r>
              <a:rPr lang="fr-FR" dirty="0">
                <a:solidFill>
                  <a:srgbClr val="FF0000"/>
                </a:solidFill>
              </a:rPr>
              <a:t/>
            </a:r>
            <a:br>
              <a:rPr lang="fr-FR" dirty="0">
                <a:solidFill>
                  <a:srgbClr val="FF0000"/>
                </a:solidFill>
              </a:rPr>
            </a:br>
            <a:r>
              <a:rPr lang="fr-FR" dirty="0">
                <a:solidFill>
                  <a:srgbClr val="FF0000"/>
                </a:solidFill>
              </a:rPr>
              <a:t>C. Legionella pneumophila</a:t>
            </a:r>
            <a:br>
              <a:rPr lang="fr-FR" dirty="0">
                <a:solidFill>
                  <a:srgbClr val="FF0000"/>
                </a:solidFill>
              </a:rPr>
            </a:br>
            <a:r>
              <a:rPr lang="fr-FR" dirty="0">
                <a:solidFill>
                  <a:srgbClr val="FF0000"/>
                </a:solidFill>
              </a:rPr>
              <a:t>D. </a:t>
            </a:r>
            <a:r>
              <a:rPr lang="fr-FR" dirty="0"/>
              <a:t>Streptococcus </a:t>
            </a:r>
            <a:r>
              <a:rPr lang="fr-FR" dirty="0" err="1"/>
              <a:t>pneumoniae</a:t>
            </a:r>
            <a:r>
              <a:rPr lang="fr-FR" dirty="0"/>
              <a:t/>
            </a:r>
            <a:br>
              <a:rPr lang="fr-FR" dirty="0"/>
            </a:br>
            <a:r>
              <a:rPr lang="fr-FR" dirty="0"/>
              <a:t>E. Virus respiratoires</a:t>
            </a:r>
            <a:br>
              <a:rPr lang="fr-FR" dirty="0"/>
            </a:br>
            <a:endParaRPr lang="fr-FR" dirty="0"/>
          </a:p>
        </p:txBody>
      </p:sp>
    </p:spTree>
    <p:extLst>
      <p:ext uri="{BB962C8B-B14F-4D97-AF65-F5344CB8AC3E}">
        <p14:creationId xmlns:p14="http://schemas.microsoft.com/office/powerpoint/2010/main" val="417080881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3A209D-9000-7800-C253-31A61724239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741F726-C51C-B377-C8D4-889335498284}"/>
              </a:ext>
            </a:extLst>
          </p:cNvPr>
          <p:cNvSpPr>
            <a:spLocks noGrp="1"/>
          </p:cNvSpPr>
          <p:nvPr>
            <p:ph idx="1"/>
          </p:nvPr>
        </p:nvSpPr>
        <p:spPr/>
        <p:txBody>
          <a:bodyPr/>
          <a:lstStyle/>
          <a:p>
            <a:r>
              <a:rPr lang="fr-FR" dirty="0"/>
              <a:t>Complications locales des PAC :</a:t>
            </a:r>
            <a:br>
              <a:rPr lang="fr-FR" dirty="0"/>
            </a:br>
            <a:r>
              <a:rPr lang="fr-FR" dirty="0"/>
              <a:t>A. Pleurésie purulente</a:t>
            </a:r>
            <a:br>
              <a:rPr lang="fr-FR" dirty="0"/>
            </a:br>
            <a:r>
              <a:rPr lang="fr-FR" dirty="0"/>
              <a:t>B. Abcédation</a:t>
            </a:r>
            <a:br>
              <a:rPr lang="fr-FR" dirty="0"/>
            </a:br>
            <a:r>
              <a:rPr lang="fr-FR" dirty="0"/>
              <a:t>C. </a:t>
            </a:r>
            <a:r>
              <a:rPr lang="fr-FR" dirty="0" err="1"/>
              <a:t>Pyopneumothorax</a:t>
            </a:r>
            <a:r>
              <a:rPr lang="fr-FR" dirty="0"/>
              <a:t/>
            </a:r>
            <a:br>
              <a:rPr lang="fr-FR" dirty="0"/>
            </a:br>
            <a:r>
              <a:rPr lang="fr-FR" dirty="0"/>
              <a:t>D. Fibrose cicatricielle</a:t>
            </a:r>
            <a:br>
              <a:rPr lang="fr-FR" dirty="0"/>
            </a:br>
            <a:r>
              <a:rPr lang="fr-FR" dirty="0"/>
              <a:t>E. Décompensation d’insuffisance cardiaque</a:t>
            </a:r>
            <a:br>
              <a:rPr lang="fr-FR" dirty="0"/>
            </a:br>
            <a:endParaRPr lang="fr-FR" dirty="0"/>
          </a:p>
        </p:txBody>
      </p:sp>
    </p:spTree>
    <p:extLst>
      <p:ext uri="{BB962C8B-B14F-4D97-AF65-F5344CB8AC3E}">
        <p14:creationId xmlns:p14="http://schemas.microsoft.com/office/powerpoint/2010/main" val="32273833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CB974B-6AA4-2A97-4FFA-ABD70614837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EAF6BC6-5BDA-47A1-6057-C39524AF6EE8}"/>
              </a:ext>
            </a:extLst>
          </p:cNvPr>
          <p:cNvSpPr>
            <a:spLocks noGrp="1"/>
          </p:cNvSpPr>
          <p:nvPr>
            <p:ph idx="1"/>
          </p:nvPr>
        </p:nvSpPr>
        <p:spPr/>
        <p:txBody>
          <a:bodyPr/>
          <a:lstStyle/>
          <a:p>
            <a:r>
              <a:rPr lang="fr-FR" dirty="0"/>
              <a:t>Complications locales des PAC :</a:t>
            </a:r>
            <a:br>
              <a:rPr lang="fr-FR" dirty="0"/>
            </a:br>
            <a:r>
              <a:rPr lang="fr-FR" dirty="0"/>
              <a:t>A</a:t>
            </a:r>
            <a:r>
              <a:rPr lang="fr-FR" dirty="0">
                <a:solidFill>
                  <a:srgbClr val="FF0000"/>
                </a:solidFill>
              </a:rPr>
              <a:t>. Pleurésie purulente</a:t>
            </a:r>
            <a:br>
              <a:rPr lang="fr-FR" dirty="0">
                <a:solidFill>
                  <a:srgbClr val="FF0000"/>
                </a:solidFill>
              </a:rPr>
            </a:br>
            <a:r>
              <a:rPr lang="fr-FR" dirty="0">
                <a:solidFill>
                  <a:srgbClr val="FF0000"/>
                </a:solidFill>
              </a:rPr>
              <a:t>B. Abcédation</a:t>
            </a:r>
            <a:br>
              <a:rPr lang="fr-FR" dirty="0">
                <a:solidFill>
                  <a:srgbClr val="FF0000"/>
                </a:solidFill>
              </a:rPr>
            </a:br>
            <a:r>
              <a:rPr lang="fr-FR" dirty="0">
                <a:solidFill>
                  <a:srgbClr val="FF0000"/>
                </a:solidFill>
              </a:rPr>
              <a:t>C. </a:t>
            </a:r>
            <a:r>
              <a:rPr lang="fr-FR" dirty="0" err="1">
                <a:solidFill>
                  <a:srgbClr val="FF0000"/>
                </a:solidFill>
              </a:rPr>
              <a:t>Pyopneumothorax</a:t>
            </a:r>
            <a:r>
              <a:rPr lang="fr-FR" dirty="0">
                <a:solidFill>
                  <a:srgbClr val="FF0000"/>
                </a:solidFill>
              </a:rPr>
              <a:t/>
            </a:r>
            <a:br>
              <a:rPr lang="fr-FR" dirty="0">
                <a:solidFill>
                  <a:srgbClr val="FF0000"/>
                </a:solidFill>
              </a:rPr>
            </a:br>
            <a:r>
              <a:rPr lang="fr-FR" dirty="0"/>
              <a:t>D. Fibrose cicatricielle</a:t>
            </a:r>
            <a:br>
              <a:rPr lang="fr-FR" dirty="0"/>
            </a:br>
            <a:r>
              <a:rPr lang="fr-FR" dirty="0"/>
              <a:t>E. Décompensation d’insuffisance cardiaque</a:t>
            </a:r>
            <a:br>
              <a:rPr lang="fr-FR" dirty="0"/>
            </a:br>
            <a:endParaRPr lang="fr-FR" dirty="0"/>
          </a:p>
        </p:txBody>
      </p:sp>
    </p:spTree>
    <p:extLst>
      <p:ext uri="{BB962C8B-B14F-4D97-AF65-F5344CB8AC3E}">
        <p14:creationId xmlns:p14="http://schemas.microsoft.com/office/powerpoint/2010/main" val="28174930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fontScale="92500"/>
          </a:bodyPr>
          <a:lstStyle/>
          <a:p>
            <a:pPr marL="0" indent="0">
              <a:buNone/>
            </a:pPr>
            <a:r>
              <a:rPr lang="fr-FR" b="1" dirty="0"/>
              <a:t> Les critères radiologiques suivants permettent de distinguer une opacité systématisée du PFLA d’une opacité systématisée secondaire à un cancer bronchopulmonaire :</a:t>
            </a:r>
            <a:endParaRPr lang="fr-FR" dirty="0"/>
          </a:p>
          <a:p>
            <a:pPr marL="514350" indent="-514350">
              <a:buFont typeface="+mj-lt"/>
              <a:buAutoNum type="alphaUcPeriod"/>
            </a:pPr>
            <a:r>
              <a:rPr lang="fr-FR" dirty="0"/>
              <a:t>L’aspect triangulaire de l’opacité est observé seulement dans la PFLA </a:t>
            </a:r>
          </a:p>
          <a:p>
            <a:pPr marL="514350" indent="-514350">
              <a:buFont typeface="+mj-lt"/>
              <a:buAutoNum type="alphaUcPeriod"/>
            </a:pPr>
            <a:r>
              <a:rPr lang="fr-FR" dirty="0"/>
              <a:t>La présence d’un pincement des espaces intercostaux en face de l’opacité est en faveur de cancer</a:t>
            </a:r>
          </a:p>
          <a:p>
            <a:pPr marL="514350" indent="-514350">
              <a:buFont typeface="+mj-lt"/>
              <a:buAutoNum type="alphaUcPeriod"/>
            </a:pPr>
            <a:r>
              <a:rPr lang="fr-FR" dirty="0"/>
              <a:t>La présence d’un </a:t>
            </a:r>
            <a:r>
              <a:rPr lang="fr-FR" dirty="0" err="1"/>
              <a:t>bronchogramme</a:t>
            </a:r>
            <a:r>
              <a:rPr lang="fr-FR" dirty="0"/>
              <a:t>  aérien est en faveur de PFLA</a:t>
            </a:r>
          </a:p>
          <a:p>
            <a:pPr marL="514350" indent="-514350">
              <a:buFont typeface="+mj-lt"/>
              <a:buAutoNum type="alphaUcPeriod"/>
            </a:pPr>
            <a:r>
              <a:rPr lang="fr-FR" dirty="0"/>
              <a:t>Une déviation </a:t>
            </a:r>
            <a:r>
              <a:rPr lang="fr-FR" dirty="0" err="1"/>
              <a:t>médiastinale</a:t>
            </a:r>
            <a:r>
              <a:rPr lang="fr-FR" dirty="0"/>
              <a:t> du côté de l’opacité est en faveur de PFLA</a:t>
            </a:r>
          </a:p>
          <a:p>
            <a:pPr marL="514350" indent="-514350">
              <a:buFont typeface="+mj-lt"/>
              <a:buAutoNum type="alphaUcPeriod"/>
            </a:pPr>
            <a:r>
              <a:rPr lang="fr-FR" dirty="0"/>
              <a:t>Une surélévation de la coupole diaphragmatique du côté de l’opacité est en faveur de cancer</a:t>
            </a:r>
          </a:p>
          <a:p>
            <a:endParaRPr lang="fr-FR" dirty="0"/>
          </a:p>
          <a:p>
            <a:endParaRPr lang="fr-FR" dirty="0"/>
          </a:p>
        </p:txBody>
      </p:sp>
    </p:spTree>
    <p:extLst>
      <p:ext uri="{BB962C8B-B14F-4D97-AF65-F5344CB8AC3E}">
        <p14:creationId xmlns:p14="http://schemas.microsoft.com/office/powerpoint/2010/main" val="35609318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fontScale="92500"/>
          </a:bodyPr>
          <a:lstStyle/>
          <a:p>
            <a:pPr marL="0" indent="0">
              <a:buNone/>
            </a:pPr>
            <a:r>
              <a:rPr lang="fr-FR" b="1" dirty="0"/>
              <a:t>Les critères radiologiques suivants permettent de distinguer une opacité systématisée du PFLA d’une opacité systématisée secondaire à un cancer bronchopulmonaire :</a:t>
            </a:r>
            <a:endParaRPr lang="fr-FR" dirty="0"/>
          </a:p>
          <a:p>
            <a:pPr marL="514350" indent="-514350">
              <a:buFont typeface="+mj-lt"/>
              <a:buAutoNum type="alphaUcPeriod"/>
            </a:pPr>
            <a:r>
              <a:rPr lang="fr-FR" dirty="0"/>
              <a:t>L’aspect triangulaire de l’opacité est observé seulement dans la PFLA </a:t>
            </a:r>
          </a:p>
          <a:p>
            <a:pPr marL="514350" indent="-514350">
              <a:buFont typeface="+mj-lt"/>
              <a:buAutoNum type="alphaUcPeriod"/>
            </a:pPr>
            <a:r>
              <a:rPr lang="fr-FR" dirty="0">
                <a:solidFill>
                  <a:srgbClr val="C00000"/>
                </a:solidFill>
              </a:rPr>
              <a:t>La présence d’un pincement des espaces intercostaux en face de l’opacité est en faveur de cancer</a:t>
            </a:r>
          </a:p>
          <a:p>
            <a:pPr marL="514350" indent="-514350">
              <a:buFont typeface="+mj-lt"/>
              <a:buAutoNum type="alphaUcPeriod"/>
            </a:pPr>
            <a:r>
              <a:rPr lang="fr-FR" dirty="0">
                <a:solidFill>
                  <a:srgbClr val="C00000"/>
                </a:solidFill>
              </a:rPr>
              <a:t>La présence d’un </a:t>
            </a:r>
            <a:r>
              <a:rPr lang="fr-FR" dirty="0" err="1">
                <a:solidFill>
                  <a:srgbClr val="C00000"/>
                </a:solidFill>
              </a:rPr>
              <a:t>bronchogramme</a:t>
            </a:r>
            <a:r>
              <a:rPr lang="fr-FR" dirty="0">
                <a:solidFill>
                  <a:srgbClr val="C00000"/>
                </a:solidFill>
              </a:rPr>
              <a:t>  aérien est en faveur de PFLA</a:t>
            </a:r>
          </a:p>
          <a:p>
            <a:pPr marL="514350" indent="-514350">
              <a:buFont typeface="+mj-lt"/>
              <a:buAutoNum type="alphaUcPeriod"/>
            </a:pPr>
            <a:r>
              <a:rPr lang="fr-FR" dirty="0"/>
              <a:t>Une déviation </a:t>
            </a:r>
            <a:r>
              <a:rPr lang="fr-FR" dirty="0" err="1"/>
              <a:t>médiastinale</a:t>
            </a:r>
            <a:r>
              <a:rPr lang="fr-FR" dirty="0"/>
              <a:t> du côté de l’opacité est en faveur de PFLA</a:t>
            </a:r>
          </a:p>
          <a:p>
            <a:pPr marL="514350" indent="-514350">
              <a:buFont typeface="+mj-lt"/>
              <a:buAutoNum type="alphaUcPeriod"/>
            </a:pPr>
            <a:r>
              <a:rPr lang="fr-FR" dirty="0">
                <a:solidFill>
                  <a:srgbClr val="C00000"/>
                </a:solidFill>
              </a:rPr>
              <a:t>Une surélévation de la coupole diaphragmatique du côté de l’opacité est en faveur de cancer</a:t>
            </a:r>
          </a:p>
          <a:p>
            <a:endParaRPr lang="fr-FR" dirty="0"/>
          </a:p>
          <a:p>
            <a:endParaRPr lang="fr-FR" dirty="0"/>
          </a:p>
        </p:txBody>
      </p:sp>
    </p:spTree>
    <p:extLst>
      <p:ext uri="{BB962C8B-B14F-4D97-AF65-F5344CB8AC3E}">
        <p14:creationId xmlns:p14="http://schemas.microsoft.com/office/powerpoint/2010/main" val="23512280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 La fibroscopie bronchique chez un patient porteur de PABC est indiquée dans les situations suivantes :</a:t>
            </a:r>
            <a:endParaRPr lang="fr-FR" dirty="0"/>
          </a:p>
          <a:p>
            <a:pPr marL="514350" indent="-514350">
              <a:buFont typeface="+mj-lt"/>
              <a:buAutoNum type="alphaUcPeriod"/>
            </a:pPr>
            <a:r>
              <a:rPr lang="fr-FR" dirty="0"/>
              <a:t>PFLA du lobe supérieur droit chez un sujet non tabagique avec nettoyage radiologique complet sous antibiotique</a:t>
            </a:r>
          </a:p>
          <a:p>
            <a:pPr marL="514350" indent="-514350">
              <a:buFont typeface="+mj-lt"/>
              <a:buAutoNum type="alphaUcPeriod"/>
            </a:pPr>
            <a:r>
              <a:rPr lang="fr-FR" dirty="0"/>
              <a:t>PFLA récidivante dans le même territoire avec nettoyage radiologique complet </a:t>
            </a:r>
          </a:p>
          <a:p>
            <a:pPr marL="514350" indent="-514350">
              <a:buFont typeface="+mj-lt"/>
              <a:buAutoNum type="alphaUcPeriod"/>
            </a:pPr>
            <a:r>
              <a:rPr lang="fr-FR" dirty="0"/>
              <a:t>PAB de tout un poumon chez un sujet jeune non fumeur avec opacité rétractile </a:t>
            </a:r>
          </a:p>
          <a:p>
            <a:pPr marL="514350" indent="-514350">
              <a:buFont typeface="+mj-lt"/>
              <a:buAutoNum type="alphaUcPeriod"/>
            </a:pPr>
            <a:r>
              <a:rPr lang="fr-FR" dirty="0"/>
              <a:t>PFLA avec absence de nettoyage radiologique à j 7</a:t>
            </a:r>
          </a:p>
          <a:p>
            <a:pPr marL="514350" indent="-514350">
              <a:buFont typeface="+mj-lt"/>
              <a:buAutoNum type="alphaUcPeriod"/>
            </a:pPr>
            <a:r>
              <a:rPr lang="fr-FR" dirty="0"/>
              <a:t>PAB abcédée chez un sujet de 50 ans avec nettoyage radiologique complet sous antibiotique</a:t>
            </a:r>
          </a:p>
          <a:p>
            <a:pPr marL="0" indent="0">
              <a:buNone/>
            </a:pPr>
            <a:endParaRPr lang="fr-FR" dirty="0"/>
          </a:p>
          <a:p>
            <a:endParaRPr lang="fr-FR" dirty="0"/>
          </a:p>
        </p:txBody>
      </p:sp>
    </p:spTree>
    <p:extLst>
      <p:ext uri="{BB962C8B-B14F-4D97-AF65-F5344CB8AC3E}">
        <p14:creationId xmlns:p14="http://schemas.microsoft.com/office/powerpoint/2010/main" val="41004929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46784-0CA9-AE64-DE73-8D583BC6B0E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52BB839-02BE-9563-299E-5D6E64CE158F}"/>
              </a:ext>
            </a:extLst>
          </p:cNvPr>
          <p:cNvSpPr>
            <a:spLocks noGrp="1"/>
          </p:cNvSpPr>
          <p:nvPr>
            <p:ph idx="1"/>
          </p:nvPr>
        </p:nvSpPr>
        <p:spPr>
          <a:xfrm>
            <a:off x="1981200" y="620689"/>
            <a:ext cx="8229600" cy="5505475"/>
          </a:xfrm>
        </p:spPr>
        <p:txBody>
          <a:bodyPr>
            <a:normAutofit/>
          </a:bodyPr>
          <a:lstStyle/>
          <a:p>
            <a:pPr marL="0" indent="0">
              <a:buNone/>
            </a:pPr>
            <a:r>
              <a:rPr lang="fr-FR" b="1" dirty="0"/>
              <a:t>La fibroscopie bronchique chez un patient porteur de PABC est indiquée dans les situations suivantes :</a:t>
            </a:r>
            <a:endParaRPr lang="fr-FR" dirty="0"/>
          </a:p>
          <a:p>
            <a:pPr marL="514350" indent="-514350">
              <a:buFont typeface="+mj-lt"/>
              <a:buAutoNum type="alphaUcPeriod"/>
            </a:pPr>
            <a:r>
              <a:rPr lang="fr-FR" dirty="0"/>
              <a:t>PFLA du lobe supérieur droit chez un sujet non tabagique avec nettoyage radiologique complet sous antibiotique</a:t>
            </a:r>
          </a:p>
          <a:p>
            <a:pPr marL="514350" indent="-514350">
              <a:buFont typeface="+mj-lt"/>
              <a:buAutoNum type="alphaUcPeriod"/>
            </a:pPr>
            <a:r>
              <a:rPr lang="fr-FR" dirty="0">
                <a:solidFill>
                  <a:srgbClr val="FF0000"/>
                </a:solidFill>
              </a:rPr>
              <a:t>PFLA récidivante dans le même territoire avec nettoyage radiologique complet </a:t>
            </a:r>
          </a:p>
          <a:p>
            <a:pPr marL="514350" indent="-514350">
              <a:buFont typeface="+mj-lt"/>
              <a:buAutoNum type="alphaUcPeriod"/>
            </a:pPr>
            <a:r>
              <a:rPr lang="fr-FR" dirty="0">
                <a:solidFill>
                  <a:srgbClr val="FF0000"/>
                </a:solidFill>
              </a:rPr>
              <a:t>PAB de tout un poumon chez un sujet jeune non fumeur avec opacité rétractile </a:t>
            </a:r>
          </a:p>
          <a:p>
            <a:pPr marL="514350" indent="-514350">
              <a:buFont typeface="+mj-lt"/>
              <a:buAutoNum type="alphaUcPeriod"/>
            </a:pPr>
            <a:r>
              <a:rPr lang="fr-FR" dirty="0"/>
              <a:t>PFLA avec absence de nettoyage radiologique à j 7</a:t>
            </a:r>
          </a:p>
          <a:p>
            <a:pPr marL="514350" indent="-514350">
              <a:buFont typeface="+mj-lt"/>
              <a:buAutoNum type="alphaUcPeriod"/>
            </a:pPr>
            <a:r>
              <a:rPr lang="fr-FR" dirty="0">
                <a:solidFill>
                  <a:srgbClr val="FF0000"/>
                </a:solidFill>
              </a:rPr>
              <a:t>PAB abcédée chez un sujet de 50 ans avec nettoyage radiologique complet sous antibiotique</a:t>
            </a:r>
          </a:p>
          <a:p>
            <a:pPr marL="0" indent="0">
              <a:buNone/>
            </a:pPr>
            <a:endParaRPr lang="fr-FR" dirty="0"/>
          </a:p>
          <a:p>
            <a:endParaRPr lang="fr-FR" dirty="0"/>
          </a:p>
        </p:txBody>
      </p:sp>
    </p:spTree>
    <p:extLst>
      <p:ext uri="{BB962C8B-B14F-4D97-AF65-F5344CB8AC3E}">
        <p14:creationId xmlns:p14="http://schemas.microsoft.com/office/powerpoint/2010/main" val="8135070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2D0911-0E7C-CEAC-813F-DDAE3654A08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316EB8A-6E59-81E4-4202-1FC3F0A79EEF}"/>
              </a:ext>
            </a:extLst>
          </p:cNvPr>
          <p:cNvSpPr>
            <a:spLocks noGrp="1"/>
          </p:cNvSpPr>
          <p:nvPr>
            <p:ph idx="1"/>
          </p:nvPr>
        </p:nvSpPr>
        <p:spPr/>
        <p:txBody>
          <a:bodyPr/>
          <a:lstStyle/>
          <a:p>
            <a:r>
              <a:rPr lang="fr-FR" dirty="0"/>
              <a:t>Les signes cliniques évocateurs de gravité d’une pneumonie :</a:t>
            </a:r>
            <a:br>
              <a:rPr lang="fr-FR" dirty="0"/>
            </a:br>
            <a:r>
              <a:rPr lang="fr-FR" dirty="0"/>
              <a:t>A. Fréquence respiratoire &gt; 30/min</a:t>
            </a:r>
            <a:br>
              <a:rPr lang="fr-FR" dirty="0"/>
            </a:br>
            <a:r>
              <a:rPr lang="fr-FR" dirty="0"/>
              <a:t>B. </a:t>
            </a:r>
            <a:r>
              <a:rPr lang="fr-FR" dirty="0" err="1"/>
              <a:t>SpO</a:t>
            </a:r>
            <a:r>
              <a:rPr lang="fr-FR" dirty="0"/>
              <a:t>₂ &lt; 90 %</a:t>
            </a:r>
            <a:br>
              <a:rPr lang="fr-FR" dirty="0"/>
            </a:br>
            <a:r>
              <a:rPr lang="fr-FR" dirty="0"/>
              <a:t>C. Hypotension artérielle</a:t>
            </a:r>
            <a:br>
              <a:rPr lang="fr-FR" dirty="0"/>
            </a:br>
            <a:r>
              <a:rPr lang="fr-FR" dirty="0"/>
              <a:t>D. Altération de la conscience</a:t>
            </a:r>
            <a:br>
              <a:rPr lang="fr-FR" dirty="0"/>
            </a:br>
            <a:r>
              <a:rPr lang="fr-FR" dirty="0"/>
              <a:t>E. tachycardie &gt;100 bpm</a:t>
            </a:r>
            <a:br>
              <a:rPr lang="fr-FR" dirty="0"/>
            </a:br>
            <a:endParaRPr lang="fr-FR" dirty="0"/>
          </a:p>
        </p:txBody>
      </p:sp>
    </p:spTree>
    <p:extLst>
      <p:ext uri="{BB962C8B-B14F-4D97-AF65-F5344CB8AC3E}">
        <p14:creationId xmlns:p14="http://schemas.microsoft.com/office/powerpoint/2010/main" val="29378948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AAF55-9ACB-CEAA-8115-5A06E02893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2F38D6F-795F-56FB-F715-39E6923EB1D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E8B9775-1342-F3FF-58BE-38A836752886}"/>
              </a:ext>
            </a:extLst>
          </p:cNvPr>
          <p:cNvSpPr>
            <a:spLocks noGrp="1"/>
          </p:cNvSpPr>
          <p:nvPr>
            <p:ph idx="1"/>
          </p:nvPr>
        </p:nvSpPr>
        <p:spPr/>
        <p:txBody>
          <a:bodyPr/>
          <a:lstStyle/>
          <a:p>
            <a:r>
              <a:rPr lang="fr-FR" dirty="0"/>
              <a:t>Les signes cliniques évocateurs de gravité d’une pneumonie :</a:t>
            </a:r>
            <a:br>
              <a:rPr lang="fr-FR" dirty="0"/>
            </a:br>
            <a:r>
              <a:rPr lang="fr-FR" dirty="0"/>
              <a:t>A. </a:t>
            </a:r>
            <a:r>
              <a:rPr lang="fr-FR" dirty="0">
                <a:solidFill>
                  <a:srgbClr val="FF0000"/>
                </a:solidFill>
              </a:rPr>
              <a:t>Fréquence respiratoire &gt; 30/min</a:t>
            </a:r>
            <a:br>
              <a:rPr lang="fr-FR" dirty="0">
                <a:solidFill>
                  <a:srgbClr val="FF0000"/>
                </a:solidFill>
              </a:rPr>
            </a:br>
            <a:r>
              <a:rPr lang="fr-FR" dirty="0">
                <a:solidFill>
                  <a:srgbClr val="FF0000"/>
                </a:solidFill>
              </a:rPr>
              <a:t>B. </a:t>
            </a:r>
            <a:r>
              <a:rPr lang="fr-FR" dirty="0" err="1">
                <a:solidFill>
                  <a:srgbClr val="FF0000"/>
                </a:solidFill>
              </a:rPr>
              <a:t>SpO</a:t>
            </a:r>
            <a:r>
              <a:rPr lang="fr-FR" dirty="0">
                <a:solidFill>
                  <a:srgbClr val="FF0000"/>
                </a:solidFill>
              </a:rPr>
              <a:t>₂ &lt; 90 %</a:t>
            </a:r>
            <a:br>
              <a:rPr lang="fr-FR" dirty="0">
                <a:solidFill>
                  <a:srgbClr val="FF0000"/>
                </a:solidFill>
              </a:rPr>
            </a:br>
            <a:r>
              <a:rPr lang="fr-FR" dirty="0">
                <a:solidFill>
                  <a:srgbClr val="FF0000"/>
                </a:solidFill>
              </a:rPr>
              <a:t>C. Hypotension artérielle</a:t>
            </a:r>
            <a:br>
              <a:rPr lang="fr-FR" dirty="0">
                <a:solidFill>
                  <a:srgbClr val="FF0000"/>
                </a:solidFill>
              </a:rPr>
            </a:br>
            <a:r>
              <a:rPr lang="fr-FR" dirty="0">
                <a:solidFill>
                  <a:srgbClr val="FF0000"/>
                </a:solidFill>
              </a:rPr>
              <a:t>D. Altération de la conscience</a:t>
            </a:r>
            <a:r>
              <a:rPr lang="fr-FR" dirty="0"/>
              <a:t/>
            </a:r>
            <a:br>
              <a:rPr lang="fr-FR" dirty="0"/>
            </a:br>
            <a:r>
              <a:rPr lang="fr-FR" dirty="0"/>
              <a:t>E. tachycardie &gt;100 bpm</a:t>
            </a:r>
            <a:br>
              <a:rPr lang="fr-FR" dirty="0"/>
            </a:br>
            <a:endParaRPr lang="fr-FR" dirty="0"/>
          </a:p>
        </p:txBody>
      </p:sp>
    </p:spTree>
    <p:extLst>
      <p:ext uri="{BB962C8B-B14F-4D97-AF65-F5344CB8AC3E}">
        <p14:creationId xmlns:p14="http://schemas.microsoft.com/office/powerpoint/2010/main" val="36493945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56B26-762D-F699-011F-967963274D4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FE15D1-0E07-7303-83E6-BB80126C441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0EB963D-2591-FB78-A2B5-9F57A58183E3}"/>
              </a:ext>
            </a:extLst>
          </p:cNvPr>
          <p:cNvSpPr>
            <a:spLocks noGrp="1"/>
          </p:cNvSpPr>
          <p:nvPr>
            <p:ph idx="1"/>
          </p:nvPr>
        </p:nvSpPr>
        <p:spPr/>
        <p:txBody>
          <a:bodyPr/>
          <a:lstStyle/>
          <a:p>
            <a:r>
              <a:rPr lang="fr-FR" b="1" dirty="0"/>
              <a:t>.</a:t>
            </a:r>
            <a:r>
              <a:rPr lang="fr-FR" dirty="0"/>
              <a:t> Parmi les critères d’admission en réanimation dans la PAC, on retrouve :</a:t>
            </a:r>
            <a:br>
              <a:rPr lang="fr-FR" dirty="0"/>
            </a:br>
            <a:r>
              <a:rPr lang="fr-FR" dirty="0"/>
              <a:t>A. </a:t>
            </a:r>
            <a:r>
              <a:rPr lang="fr-FR" dirty="0" err="1"/>
              <a:t>fievre</a:t>
            </a:r>
            <a:r>
              <a:rPr lang="fr-FR" dirty="0"/>
              <a:t> &gt; 40 degré </a:t>
            </a:r>
            <a:br>
              <a:rPr lang="fr-FR" dirty="0"/>
            </a:br>
            <a:r>
              <a:rPr lang="fr-FR" dirty="0"/>
              <a:t>B. Polypnée à 22/min</a:t>
            </a:r>
            <a:br>
              <a:rPr lang="fr-FR" dirty="0"/>
            </a:br>
            <a:r>
              <a:rPr lang="fr-FR" dirty="0"/>
              <a:t>C. </a:t>
            </a:r>
            <a:r>
              <a:rPr lang="fr-FR" dirty="0" err="1"/>
              <a:t>PaO</a:t>
            </a:r>
            <a:r>
              <a:rPr lang="fr-FR" dirty="0"/>
              <a:t>₂/</a:t>
            </a:r>
            <a:r>
              <a:rPr lang="fr-FR" dirty="0" err="1"/>
              <a:t>FiO</a:t>
            </a:r>
            <a:r>
              <a:rPr lang="fr-FR" dirty="0"/>
              <a:t>₂ &lt; 250 </a:t>
            </a:r>
            <a:r>
              <a:rPr lang="fr-FR" dirty="0" err="1"/>
              <a:t>mmHg</a:t>
            </a:r>
            <a:r>
              <a:rPr lang="fr-FR" dirty="0"/>
              <a:t/>
            </a:r>
            <a:br>
              <a:rPr lang="fr-FR" dirty="0"/>
            </a:br>
            <a:r>
              <a:rPr lang="fr-FR" dirty="0"/>
              <a:t>D. CRP &gt; 300mg/L</a:t>
            </a:r>
            <a:br>
              <a:rPr lang="fr-FR" dirty="0"/>
            </a:br>
            <a:r>
              <a:rPr lang="fr-FR" dirty="0"/>
              <a:t>E. Épanchement pleural bilatéral </a:t>
            </a:r>
            <a:br>
              <a:rPr lang="fr-FR" dirty="0"/>
            </a:br>
            <a:endParaRPr lang="fr-FR" dirty="0"/>
          </a:p>
        </p:txBody>
      </p:sp>
    </p:spTree>
    <p:extLst>
      <p:ext uri="{BB962C8B-B14F-4D97-AF65-F5344CB8AC3E}">
        <p14:creationId xmlns:p14="http://schemas.microsoft.com/office/powerpoint/2010/main" val="13817676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53D9-7A7C-B8DF-0B40-0F365BCC1F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43250CE-6B0A-7441-8795-71876B076B3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9AA8E10-438A-C7E8-CA7E-B7697C06AFE7}"/>
              </a:ext>
            </a:extLst>
          </p:cNvPr>
          <p:cNvSpPr>
            <a:spLocks noGrp="1"/>
          </p:cNvSpPr>
          <p:nvPr>
            <p:ph idx="1"/>
          </p:nvPr>
        </p:nvSpPr>
        <p:spPr/>
        <p:txBody>
          <a:bodyPr/>
          <a:lstStyle/>
          <a:p>
            <a:r>
              <a:rPr lang="fr-FR" b="1" dirty="0"/>
              <a:t>.</a:t>
            </a:r>
            <a:r>
              <a:rPr lang="fr-FR" dirty="0"/>
              <a:t> Parmi les critères d’admission en réanimation dans la PAC, on retrouve :</a:t>
            </a:r>
            <a:br>
              <a:rPr lang="fr-FR" dirty="0"/>
            </a:br>
            <a:r>
              <a:rPr lang="fr-FR" dirty="0"/>
              <a:t>A. fièvre &gt; 40 degré </a:t>
            </a:r>
            <a:br>
              <a:rPr lang="fr-FR" dirty="0"/>
            </a:br>
            <a:r>
              <a:rPr lang="fr-FR" dirty="0"/>
              <a:t>B. Polypnée à 22/min</a:t>
            </a:r>
            <a:br>
              <a:rPr lang="fr-FR" dirty="0"/>
            </a:br>
            <a:r>
              <a:rPr lang="fr-FR" dirty="0"/>
              <a:t>C</a:t>
            </a:r>
            <a:r>
              <a:rPr lang="fr-FR" dirty="0">
                <a:solidFill>
                  <a:srgbClr val="FF0000"/>
                </a:solidFill>
              </a:rPr>
              <a:t>. </a:t>
            </a:r>
            <a:r>
              <a:rPr lang="fr-FR" dirty="0" err="1">
                <a:solidFill>
                  <a:srgbClr val="FF0000"/>
                </a:solidFill>
              </a:rPr>
              <a:t>PaO</a:t>
            </a:r>
            <a:r>
              <a:rPr lang="fr-FR" dirty="0">
                <a:solidFill>
                  <a:srgbClr val="FF0000"/>
                </a:solidFill>
              </a:rPr>
              <a:t>₂/</a:t>
            </a:r>
            <a:r>
              <a:rPr lang="fr-FR" dirty="0" err="1">
                <a:solidFill>
                  <a:srgbClr val="FF0000"/>
                </a:solidFill>
              </a:rPr>
              <a:t>FiO</a:t>
            </a:r>
            <a:r>
              <a:rPr lang="fr-FR" dirty="0">
                <a:solidFill>
                  <a:srgbClr val="FF0000"/>
                </a:solidFill>
              </a:rPr>
              <a:t>₂ &lt; 250 </a:t>
            </a:r>
            <a:r>
              <a:rPr lang="fr-FR" dirty="0" err="1">
                <a:solidFill>
                  <a:srgbClr val="FF0000"/>
                </a:solidFill>
              </a:rPr>
              <a:t>mmHg</a:t>
            </a:r>
            <a:r>
              <a:rPr lang="fr-FR" dirty="0">
                <a:solidFill>
                  <a:srgbClr val="FF0000"/>
                </a:solidFill>
              </a:rPr>
              <a:t/>
            </a:r>
            <a:br>
              <a:rPr lang="fr-FR" dirty="0">
                <a:solidFill>
                  <a:srgbClr val="FF0000"/>
                </a:solidFill>
              </a:rPr>
            </a:br>
            <a:r>
              <a:rPr lang="fr-FR" dirty="0"/>
              <a:t>D. CRP &gt; 300mg/L</a:t>
            </a:r>
            <a:br>
              <a:rPr lang="fr-FR" dirty="0"/>
            </a:br>
            <a:r>
              <a:rPr lang="fr-FR" dirty="0"/>
              <a:t>E. Épanchement pleural bilatéral </a:t>
            </a:r>
            <a:br>
              <a:rPr lang="fr-FR" dirty="0"/>
            </a:br>
            <a:endParaRPr lang="fr-FR" dirty="0"/>
          </a:p>
        </p:txBody>
      </p:sp>
    </p:spTree>
    <p:extLst>
      <p:ext uri="{BB962C8B-B14F-4D97-AF65-F5344CB8AC3E}">
        <p14:creationId xmlns:p14="http://schemas.microsoft.com/office/powerpoint/2010/main" val="20058214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86EF5-6486-E342-9425-401007F7B68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5CE483F-2DA8-986F-285E-28E7F422EB7F}"/>
              </a:ext>
            </a:extLst>
          </p:cNvPr>
          <p:cNvSpPr>
            <a:spLocks noGrp="1"/>
          </p:cNvSpPr>
          <p:nvPr>
            <p:ph idx="1"/>
          </p:nvPr>
        </p:nvSpPr>
        <p:spPr/>
        <p:txBody>
          <a:bodyPr/>
          <a:lstStyle/>
          <a:p>
            <a:r>
              <a:rPr lang="fr-FR" b="1" dirty="0"/>
              <a:t>.</a:t>
            </a:r>
            <a:r>
              <a:rPr lang="fr-FR" dirty="0"/>
              <a:t> Une pneumonie communautaire avec </a:t>
            </a:r>
            <a:r>
              <a:rPr lang="fr-FR" dirty="0" err="1"/>
              <a:t>SpO</a:t>
            </a:r>
            <a:r>
              <a:rPr lang="fr-FR" dirty="0"/>
              <a:t>₂ &lt; 90%, leucocytes &gt; 30 000/mm³ et atteinte </a:t>
            </a:r>
            <a:r>
              <a:rPr lang="fr-FR" dirty="0" err="1"/>
              <a:t>multilobaire</a:t>
            </a:r>
            <a:r>
              <a:rPr lang="fr-FR" dirty="0"/>
              <a:t> doit être :</a:t>
            </a:r>
            <a:br>
              <a:rPr lang="fr-FR" dirty="0"/>
            </a:br>
            <a:r>
              <a:rPr lang="fr-FR" dirty="0"/>
              <a:t>A. Traitée en ambulatoire</a:t>
            </a:r>
            <a:br>
              <a:rPr lang="fr-FR" dirty="0"/>
            </a:br>
            <a:r>
              <a:rPr lang="fr-FR" dirty="0"/>
              <a:t>B. Orientée vers hospitalisation en soins intensifs</a:t>
            </a:r>
            <a:br>
              <a:rPr lang="fr-FR" dirty="0"/>
            </a:br>
            <a:r>
              <a:rPr lang="fr-FR" dirty="0"/>
              <a:t>C. Surveillée par le médecin traitant</a:t>
            </a:r>
            <a:br>
              <a:rPr lang="fr-FR" dirty="0"/>
            </a:br>
            <a:r>
              <a:rPr lang="fr-FR" dirty="0"/>
              <a:t>D. hospitalisée en pneumologie</a:t>
            </a:r>
            <a:br>
              <a:rPr lang="fr-FR" dirty="0"/>
            </a:br>
            <a:r>
              <a:rPr lang="fr-FR" dirty="0"/>
              <a:t>E. évaluée selon l'âge du patient </a:t>
            </a:r>
          </a:p>
          <a:p>
            <a:pPr marL="0" indent="0">
              <a:buNone/>
            </a:pPr>
            <a:r>
              <a:rPr lang="fr-FR" dirty="0"/>
              <a:t/>
            </a:r>
            <a:br>
              <a:rPr lang="fr-FR" dirty="0"/>
            </a:br>
            <a:endParaRPr lang="fr-FR" dirty="0"/>
          </a:p>
        </p:txBody>
      </p:sp>
    </p:spTree>
    <p:extLst>
      <p:ext uri="{BB962C8B-B14F-4D97-AF65-F5344CB8AC3E}">
        <p14:creationId xmlns:p14="http://schemas.microsoft.com/office/powerpoint/2010/main" val="41196645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E97C3-49D2-5500-C069-6853014456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2D901C-BF73-F471-B9E4-3C0A4D5B268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FAC80D3-9E3F-6154-DCA0-D773A45BAF03}"/>
              </a:ext>
            </a:extLst>
          </p:cNvPr>
          <p:cNvSpPr>
            <a:spLocks noGrp="1"/>
          </p:cNvSpPr>
          <p:nvPr>
            <p:ph idx="1"/>
          </p:nvPr>
        </p:nvSpPr>
        <p:spPr/>
        <p:txBody>
          <a:bodyPr/>
          <a:lstStyle/>
          <a:p>
            <a:r>
              <a:rPr lang="fr-FR" b="1" dirty="0"/>
              <a:t>.</a:t>
            </a:r>
            <a:r>
              <a:rPr lang="fr-FR" dirty="0"/>
              <a:t> Une pneumonie communautaire avec </a:t>
            </a:r>
            <a:r>
              <a:rPr lang="fr-FR" dirty="0" err="1"/>
              <a:t>SpO</a:t>
            </a:r>
            <a:r>
              <a:rPr lang="fr-FR" dirty="0"/>
              <a:t>₂ &lt; 90%, leucocytes &gt; 30 000/mm³ et atteinte </a:t>
            </a:r>
            <a:r>
              <a:rPr lang="fr-FR" dirty="0" err="1"/>
              <a:t>multilobaire</a:t>
            </a:r>
            <a:r>
              <a:rPr lang="fr-FR" dirty="0"/>
              <a:t> doit être :</a:t>
            </a:r>
            <a:br>
              <a:rPr lang="fr-FR" dirty="0"/>
            </a:br>
            <a:r>
              <a:rPr lang="fr-FR" dirty="0"/>
              <a:t>A. Traitée en ambulatoire</a:t>
            </a:r>
            <a:br>
              <a:rPr lang="fr-FR" dirty="0"/>
            </a:br>
            <a:r>
              <a:rPr lang="fr-FR" dirty="0">
                <a:solidFill>
                  <a:srgbClr val="FF0000"/>
                </a:solidFill>
              </a:rPr>
              <a:t>B. Orientée vers hospitalisation en soins intensifs</a:t>
            </a:r>
            <a:r>
              <a:rPr lang="fr-FR" dirty="0"/>
              <a:t/>
            </a:r>
            <a:br>
              <a:rPr lang="fr-FR" dirty="0"/>
            </a:br>
            <a:r>
              <a:rPr lang="fr-FR" dirty="0"/>
              <a:t>C. Surveillée par le médecin traitant</a:t>
            </a:r>
            <a:br>
              <a:rPr lang="fr-FR" dirty="0"/>
            </a:br>
            <a:r>
              <a:rPr lang="fr-FR" dirty="0"/>
              <a:t>D. hospitalisée en pneumologie</a:t>
            </a:r>
            <a:br>
              <a:rPr lang="fr-FR" dirty="0"/>
            </a:br>
            <a:r>
              <a:rPr lang="fr-FR" dirty="0"/>
              <a:t>E. évaluée selon l'âge du patient </a:t>
            </a:r>
          </a:p>
          <a:p>
            <a:pPr marL="0" indent="0">
              <a:buNone/>
            </a:pPr>
            <a:r>
              <a:rPr lang="fr-FR" dirty="0"/>
              <a:t/>
            </a:r>
            <a:br>
              <a:rPr lang="fr-FR" dirty="0"/>
            </a:br>
            <a:endParaRPr lang="fr-FR" dirty="0"/>
          </a:p>
        </p:txBody>
      </p:sp>
    </p:spTree>
    <p:extLst>
      <p:ext uri="{BB962C8B-B14F-4D97-AF65-F5344CB8AC3E}">
        <p14:creationId xmlns:p14="http://schemas.microsoft.com/office/powerpoint/2010/main" val="204126328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1643B7-A9D1-6E38-A426-74F5EBC96B7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01D44B3-B922-EC96-84D4-6305143BEBFB}"/>
              </a:ext>
            </a:extLst>
          </p:cNvPr>
          <p:cNvSpPr>
            <a:spLocks noGrp="1"/>
          </p:cNvSpPr>
          <p:nvPr>
            <p:ph idx="1"/>
          </p:nvPr>
        </p:nvSpPr>
        <p:spPr/>
        <p:txBody>
          <a:bodyPr/>
          <a:lstStyle/>
          <a:p>
            <a:r>
              <a:rPr lang="fr-FR" dirty="0"/>
              <a:t>L’antibiothérapie probabiliste de première intention dans une pneumonie lobaire aiguë sans gravité chez l’adulte sain est :</a:t>
            </a:r>
            <a:br>
              <a:rPr lang="fr-FR" dirty="0"/>
            </a:br>
            <a:r>
              <a:rPr lang="fr-FR" dirty="0"/>
              <a:t>A. Céphalosporine de 3e génération</a:t>
            </a:r>
            <a:br>
              <a:rPr lang="fr-FR" dirty="0"/>
            </a:br>
            <a:r>
              <a:rPr lang="fr-FR" dirty="0"/>
              <a:t>B. Amoxicilline per os</a:t>
            </a:r>
            <a:br>
              <a:rPr lang="fr-FR" dirty="0"/>
            </a:br>
            <a:r>
              <a:rPr lang="fr-FR" dirty="0"/>
              <a:t>C. Macrolide IV</a:t>
            </a:r>
            <a:br>
              <a:rPr lang="fr-FR" dirty="0"/>
            </a:br>
            <a:r>
              <a:rPr lang="fr-FR" dirty="0"/>
              <a:t>D. Fluoroquinolone antipneumococcique</a:t>
            </a:r>
            <a:br>
              <a:rPr lang="fr-FR" dirty="0"/>
            </a:br>
            <a:r>
              <a:rPr lang="fr-FR" dirty="0"/>
              <a:t>E. Amoxicilline + acide clavulanique systématiquement</a:t>
            </a:r>
            <a:br>
              <a:rPr lang="fr-FR" dirty="0"/>
            </a:br>
            <a:endParaRPr lang="fr-FR" dirty="0"/>
          </a:p>
        </p:txBody>
      </p:sp>
    </p:spTree>
    <p:extLst>
      <p:ext uri="{BB962C8B-B14F-4D97-AF65-F5344CB8AC3E}">
        <p14:creationId xmlns:p14="http://schemas.microsoft.com/office/powerpoint/2010/main" val="190042789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365DF-C6DC-C755-E863-300A77DAF6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060A45D-D467-B496-EE4F-9F40862FC84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9F1A4C1-80F2-623C-8AEC-897B5D2A96B3}"/>
              </a:ext>
            </a:extLst>
          </p:cNvPr>
          <p:cNvSpPr>
            <a:spLocks noGrp="1"/>
          </p:cNvSpPr>
          <p:nvPr>
            <p:ph idx="1"/>
          </p:nvPr>
        </p:nvSpPr>
        <p:spPr/>
        <p:txBody>
          <a:bodyPr/>
          <a:lstStyle/>
          <a:p>
            <a:r>
              <a:rPr lang="fr-FR" dirty="0"/>
              <a:t>L’antibiothérapie probabiliste de première intention dans une pneumonie lobaire aiguë sans gravité chez l’adulte sain est :</a:t>
            </a:r>
            <a:br>
              <a:rPr lang="fr-FR" dirty="0"/>
            </a:br>
            <a:r>
              <a:rPr lang="fr-FR" dirty="0"/>
              <a:t>A. Céphalosporine de 3e génération</a:t>
            </a:r>
            <a:br>
              <a:rPr lang="fr-FR" dirty="0"/>
            </a:br>
            <a:r>
              <a:rPr lang="fr-FR" dirty="0">
                <a:solidFill>
                  <a:srgbClr val="FF0000"/>
                </a:solidFill>
              </a:rPr>
              <a:t>B. Amoxicilline per os</a:t>
            </a:r>
            <a:br>
              <a:rPr lang="fr-FR" dirty="0">
                <a:solidFill>
                  <a:srgbClr val="FF0000"/>
                </a:solidFill>
              </a:rPr>
            </a:br>
            <a:r>
              <a:rPr lang="fr-FR" dirty="0"/>
              <a:t>C. Macrolide IV</a:t>
            </a:r>
            <a:br>
              <a:rPr lang="fr-FR" dirty="0"/>
            </a:br>
            <a:r>
              <a:rPr lang="fr-FR" dirty="0"/>
              <a:t>D. Fluoroquinolone antipneumococcique</a:t>
            </a:r>
            <a:br>
              <a:rPr lang="fr-FR" dirty="0"/>
            </a:br>
            <a:r>
              <a:rPr lang="fr-FR" dirty="0"/>
              <a:t>E. Amoxicilline + acide clavulanique systématiquement</a:t>
            </a:r>
            <a:br>
              <a:rPr lang="fr-FR" dirty="0"/>
            </a:br>
            <a:endParaRPr lang="fr-FR" dirty="0"/>
          </a:p>
        </p:txBody>
      </p:sp>
    </p:spTree>
    <p:extLst>
      <p:ext uri="{BB962C8B-B14F-4D97-AF65-F5344CB8AC3E}">
        <p14:creationId xmlns:p14="http://schemas.microsoft.com/office/powerpoint/2010/main" val="20602214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78327F-4BC4-0633-2660-DBC8B3C29C2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3BCBF96-E732-B244-CB3E-DAD0A357C4FE}"/>
              </a:ext>
            </a:extLst>
          </p:cNvPr>
          <p:cNvSpPr>
            <a:spLocks noGrp="1"/>
          </p:cNvSpPr>
          <p:nvPr>
            <p:ph idx="1"/>
          </p:nvPr>
        </p:nvSpPr>
        <p:spPr/>
        <p:txBody>
          <a:bodyPr/>
          <a:lstStyle/>
          <a:p>
            <a:r>
              <a:rPr lang="fr-FR" dirty="0"/>
              <a:t>En cas d’allergie aux β-lactamines dans une PAC chez un jeune sans facteur de risque ,  l’antibiotique de choix est :</a:t>
            </a:r>
            <a:br>
              <a:rPr lang="fr-FR" dirty="0"/>
            </a:br>
            <a:r>
              <a:rPr lang="fr-FR" dirty="0"/>
              <a:t>A. Ciprofloxacine</a:t>
            </a:r>
            <a:br>
              <a:rPr lang="fr-FR" dirty="0"/>
            </a:br>
            <a:r>
              <a:rPr lang="fr-FR" dirty="0"/>
              <a:t>B. Gentamicine</a:t>
            </a:r>
            <a:br>
              <a:rPr lang="fr-FR" dirty="0"/>
            </a:br>
            <a:r>
              <a:rPr lang="fr-FR" dirty="0"/>
              <a:t>C. Pristinamycine</a:t>
            </a:r>
            <a:br>
              <a:rPr lang="fr-FR" dirty="0"/>
            </a:br>
            <a:r>
              <a:rPr lang="fr-FR" dirty="0"/>
              <a:t>D. </a:t>
            </a:r>
            <a:r>
              <a:rPr lang="fr-FR" dirty="0" err="1"/>
              <a:t>Céfotaxime</a:t>
            </a:r>
            <a:r>
              <a:rPr lang="fr-FR" dirty="0"/>
              <a:t/>
            </a:r>
            <a:br>
              <a:rPr lang="fr-FR" dirty="0"/>
            </a:br>
            <a:r>
              <a:rPr lang="fr-FR" dirty="0"/>
              <a:t>E. Vancomycine</a:t>
            </a:r>
            <a:br>
              <a:rPr lang="fr-FR" dirty="0"/>
            </a:br>
            <a:endParaRPr lang="fr-FR" dirty="0"/>
          </a:p>
        </p:txBody>
      </p:sp>
    </p:spTree>
    <p:extLst>
      <p:ext uri="{BB962C8B-B14F-4D97-AF65-F5344CB8AC3E}">
        <p14:creationId xmlns:p14="http://schemas.microsoft.com/office/powerpoint/2010/main" val="20817481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1CA6D-D9F9-F652-EBC7-CACC7A6D11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770629-8D6B-D3C3-9794-832BA8A64AD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54D3F43-62D0-06A5-79C4-419F997A580D}"/>
              </a:ext>
            </a:extLst>
          </p:cNvPr>
          <p:cNvSpPr>
            <a:spLocks noGrp="1"/>
          </p:cNvSpPr>
          <p:nvPr>
            <p:ph idx="1"/>
          </p:nvPr>
        </p:nvSpPr>
        <p:spPr/>
        <p:txBody>
          <a:bodyPr/>
          <a:lstStyle/>
          <a:p>
            <a:r>
              <a:rPr lang="fr-FR" dirty="0"/>
              <a:t>En cas d’allergie aux β-lactamines dans une PAC chez un jeune sans facteur de risque ,  l’antibiotique de choix est :</a:t>
            </a:r>
            <a:br>
              <a:rPr lang="fr-FR" dirty="0"/>
            </a:br>
            <a:r>
              <a:rPr lang="fr-FR" dirty="0"/>
              <a:t>A. Ciprofloxacine</a:t>
            </a:r>
            <a:br>
              <a:rPr lang="fr-FR" dirty="0"/>
            </a:br>
            <a:r>
              <a:rPr lang="fr-FR" dirty="0"/>
              <a:t>B. Gentamicine</a:t>
            </a:r>
            <a:br>
              <a:rPr lang="fr-FR" dirty="0"/>
            </a:br>
            <a:r>
              <a:rPr lang="fr-FR" dirty="0">
                <a:solidFill>
                  <a:srgbClr val="FF0000"/>
                </a:solidFill>
              </a:rPr>
              <a:t>C. Pristinamycine</a:t>
            </a:r>
            <a:br>
              <a:rPr lang="fr-FR" dirty="0">
                <a:solidFill>
                  <a:srgbClr val="FF0000"/>
                </a:solidFill>
              </a:rPr>
            </a:br>
            <a:r>
              <a:rPr lang="fr-FR" dirty="0"/>
              <a:t>D. </a:t>
            </a:r>
            <a:r>
              <a:rPr lang="fr-FR" dirty="0" err="1"/>
              <a:t>Céfotaxime</a:t>
            </a:r>
            <a:r>
              <a:rPr lang="fr-FR" dirty="0"/>
              <a:t/>
            </a:r>
            <a:br>
              <a:rPr lang="fr-FR" dirty="0"/>
            </a:br>
            <a:r>
              <a:rPr lang="fr-FR" dirty="0"/>
              <a:t>E. Vancomycine</a:t>
            </a:r>
            <a:br>
              <a:rPr lang="fr-FR" dirty="0"/>
            </a:br>
            <a:endParaRPr lang="fr-FR" dirty="0"/>
          </a:p>
        </p:txBody>
      </p:sp>
    </p:spTree>
    <p:extLst>
      <p:ext uri="{BB962C8B-B14F-4D97-AF65-F5344CB8AC3E}">
        <p14:creationId xmlns:p14="http://schemas.microsoft.com/office/powerpoint/2010/main" val="325407434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3A8CBA-CDE5-2F9C-0126-20E8AE16FCF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A790BD3-261D-11F7-3867-ECF0B78C325D}"/>
              </a:ext>
            </a:extLst>
          </p:cNvPr>
          <p:cNvSpPr>
            <a:spLocks noGrp="1"/>
          </p:cNvSpPr>
          <p:nvPr>
            <p:ph idx="1"/>
          </p:nvPr>
        </p:nvSpPr>
        <p:spPr>
          <a:xfrm>
            <a:off x="838200" y="1847927"/>
            <a:ext cx="10515600" cy="4351338"/>
          </a:xfrm>
        </p:spPr>
        <p:txBody>
          <a:bodyPr/>
          <a:lstStyle/>
          <a:p>
            <a:r>
              <a:rPr lang="fr-FR" dirty="0"/>
              <a:t>L’absence d’amélioration après 72h d’antibiothérapie dans une PAC impose :</a:t>
            </a:r>
            <a:br>
              <a:rPr lang="fr-FR" dirty="0"/>
            </a:br>
            <a:r>
              <a:rPr lang="fr-FR" dirty="0"/>
              <a:t>A. D’augmenter la dose</a:t>
            </a:r>
            <a:br>
              <a:rPr lang="fr-FR" dirty="0"/>
            </a:br>
            <a:r>
              <a:rPr lang="fr-FR" dirty="0"/>
              <a:t>B. de réaliser des nouveaux prélèvements</a:t>
            </a:r>
            <a:br>
              <a:rPr lang="fr-FR" dirty="0"/>
            </a:br>
            <a:r>
              <a:rPr lang="fr-FR" dirty="0"/>
              <a:t>C. De poursuivre à l’identique encore 7 jours</a:t>
            </a:r>
            <a:br>
              <a:rPr lang="fr-FR" dirty="0"/>
            </a:br>
            <a:r>
              <a:rPr lang="fr-FR" dirty="0"/>
              <a:t>D. de rechercher une complication thromboembolique</a:t>
            </a:r>
            <a:br>
              <a:rPr lang="fr-FR" dirty="0"/>
            </a:br>
            <a:r>
              <a:rPr lang="fr-FR" dirty="0"/>
              <a:t>E. De suspecter une infection  virale</a:t>
            </a:r>
            <a:br>
              <a:rPr lang="fr-FR" dirty="0"/>
            </a:br>
            <a:endParaRPr lang="fr-FR" dirty="0"/>
          </a:p>
        </p:txBody>
      </p:sp>
    </p:spTree>
    <p:extLst>
      <p:ext uri="{BB962C8B-B14F-4D97-AF65-F5344CB8AC3E}">
        <p14:creationId xmlns:p14="http://schemas.microsoft.com/office/powerpoint/2010/main" val="39121534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6A9D9-F821-F3DF-3BCC-93C61D4E22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FEADEA-E84F-1032-FA80-E11DD737F5E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D17CCA2-B3F2-2D40-4E82-F817FAE950C3}"/>
              </a:ext>
            </a:extLst>
          </p:cNvPr>
          <p:cNvSpPr>
            <a:spLocks noGrp="1"/>
          </p:cNvSpPr>
          <p:nvPr>
            <p:ph idx="1"/>
          </p:nvPr>
        </p:nvSpPr>
        <p:spPr/>
        <p:txBody>
          <a:bodyPr/>
          <a:lstStyle/>
          <a:p>
            <a:r>
              <a:rPr lang="fr-FR" dirty="0"/>
              <a:t>L’absence d’amélioration après 72h d’antibiothérapie dans une PAC impose :</a:t>
            </a:r>
            <a:br>
              <a:rPr lang="fr-FR" dirty="0"/>
            </a:br>
            <a:r>
              <a:rPr lang="fr-FR" dirty="0"/>
              <a:t>A. D’augmenter la dose</a:t>
            </a:r>
            <a:br>
              <a:rPr lang="fr-FR" dirty="0"/>
            </a:br>
            <a:r>
              <a:rPr lang="fr-FR" dirty="0">
                <a:solidFill>
                  <a:srgbClr val="FF0000"/>
                </a:solidFill>
              </a:rPr>
              <a:t>B. de réaliser des nouveaux prélèvements</a:t>
            </a:r>
            <a:br>
              <a:rPr lang="fr-FR" dirty="0">
                <a:solidFill>
                  <a:srgbClr val="FF0000"/>
                </a:solidFill>
              </a:rPr>
            </a:br>
            <a:r>
              <a:rPr lang="fr-FR" dirty="0"/>
              <a:t>C. De poursuivre à l’identique encore 7 jours</a:t>
            </a:r>
            <a:br>
              <a:rPr lang="fr-FR" dirty="0"/>
            </a:br>
            <a:r>
              <a:rPr lang="fr-FR" dirty="0">
                <a:solidFill>
                  <a:srgbClr val="FF0000"/>
                </a:solidFill>
              </a:rPr>
              <a:t>D. de rechercher une complication thromboembolique</a:t>
            </a:r>
            <a:r>
              <a:rPr lang="fr-FR" dirty="0"/>
              <a:t/>
            </a:r>
            <a:br>
              <a:rPr lang="fr-FR" dirty="0"/>
            </a:br>
            <a:r>
              <a:rPr lang="fr-FR" dirty="0"/>
              <a:t>E. De suspecter une infection  virale</a:t>
            </a:r>
            <a:br>
              <a:rPr lang="fr-FR" dirty="0"/>
            </a:br>
            <a:endParaRPr lang="fr-FR" dirty="0"/>
          </a:p>
        </p:txBody>
      </p:sp>
    </p:spTree>
    <p:extLst>
      <p:ext uri="{BB962C8B-B14F-4D97-AF65-F5344CB8AC3E}">
        <p14:creationId xmlns:p14="http://schemas.microsoft.com/office/powerpoint/2010/main" val="6767038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BEEFB-8A1B-8D2D-0168-03727A18208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0845C5D-C9DC-59CB-FB90-A3F63BC4B007}"/>
              </a:ext>
            </a:extLst>
          </p:cNvPr>
          <p:cNvSpPr>
            <a:spLocks noGrp="1"/>
          </p:cNvSpPr>
          <p:nvPr>
            <p:ph idx="1"/>
          </p:nvPr>
        </p:nvSpPr>
        <p:spPr/>
        <p:txBody>
          <a:bodyPr/>
          <a:lstStyle/>
          <a:p>
            <a:r>
              <a:rPr lang="fr-FR" dirty="0"/>
              <a:t>L’évolution habituelle d’une PAC bien traitée se caractérise par :</a:t>
            </a:r>
            <a:br>
              <a:rPr lang="fr-FR" dirty="0"/>
            </a:br>
            <a:r>
              <a:rPr lang="fr-FR" dirty="0"/>
              <a:t>A. Disparition immédiate des anomalies à l’auscultation </a:t>
            </a:r>
            <a:br>
              <a:rPr lang="fr-FR" dirty="0"/>
            </a:br>
            <a:r>
              <a:rPr lang="fr-FR" dirty="0"/>
              <a:t>B. Apyrexie et amélioration clinique en 48–72 h</a:t>
            </a:r>
            <a:br>
              <a:rPr lang="fr-FR" dirty="0"/>
            </a:br>
            <a:r>
              <a:rPr lang="fr-FR" dirty="0"/>
              <a:t>C. Guérison sans contrôle clinique</a:t>
            </a:r>
            <a:br>
              <a:rPr lang="fr-FR" dirty="0"/>
            </a:br>
            <a:r>
              <a:rPr lang="fr-FR" dirty="0"/>
              <a:t>D. disparition des signes généraux</a:t>
            </a:r>
            <a:br>
              <a:rPr lang="fr-FR" dirty="0"/>
            </a:br>
            <a:r>
              <a:rPr lang="fr-FR" dirty="0"/>
              <a:t>E. Normalisation radiologique dans les 72 h </a:t>
            </a:r>
          </a:p>
        </p:txBody>
      </p:sp>
    </p:spTree>
    <p:extLst>
      <p:ext uri="{BB962C8B-B14F-4D97-AF65-F5344CB8AC3E}">
        <p14:creationId xmlns:p14="http://schemas.microsoft.com/office/powerpoint/2010/main" val="381056485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EC6DE-06F4-D8A8-325A-B7FA565E9F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1C388DF-AEA3-DAD3-319A-86037359418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D601F77-A045-18D7-E460-1826A636403D}"/>
              </a:ext>
            </a:extLst>
          </p:cNvPr>
          <p:cNvSpPr>
            <a:spLocks noGrp="1"/>
          </p:cNvSpPr>
          <p:nvPr>
            <p:ph idx="1"/>
          </p:nvPr>
        </p:nvSpPr>
        <p:spPr/>
        <p:txBody>
          <a:bodyPr/>
          <a:lstStyle/>
          <a:p>
            <a:r>
              <a:rPr lang="fr-FR" dirty="0"/>
              <a:t>L’évolution habituelle d’une PAC bien traitée se caractérise par :</a:t>
            </a:r>
            <a:br>
              <a:rPr lang="fr-FR" dirty="0"/>
            </a:br>
            <a:r>
              <a:rPr lang="fr-FR" dirty="0"/>
              <a:t>A. Disparition immédiate des anomalies à l’auscultation </a:t>
            </a:r>
            <a:br>
              <a:rPr lang="fr-FR" dirty="0"/>
            </a:br>
            <a:r>
              <a:rPr lang="fr-FR" dirty="0"/>
              <a:t>B. </a:t>
            </a:r>
            <a:r>
              <a:rPr lang="fr-FR" dirty="0">
                <a:solidFill>
                  <a:srgbClr val="C00000"/>
                </a:solidFill>
              </a:rPr>
              <a:t>Apyrexie et amélioration clinique en 48–72 h</a:t>
            </a:r>
            <a:br>
              <a:rPr lang="fr-FR" dirty="0">
                <a:solidFill>
                  <a:srgbClr val="C00000"/>
                </a:solidFill>
              </a:rPr>
            </a:br>
            <a:r>
              <a:rPr lang="fr-FR" dirty="0"/>
              <a:t>C. Guérison sans contrôle clinique</a:t>
            </a:r>
            <a:br>
              <a:rPr lang="fr-FR" dirty="0"/>
            </a:br>
            <a:r>
              <a:rPr lang="fr-FR" dirty="0"/>
              <a:t>D. disparition des signes </a:t>
            </a:r>
            <a:r>
              <a:rPr lang="fr-FR" dirty="0" err="1"/>
              <a:t>généaux</a:t>
            </a:r>
            <a:r>
              <a:rPr lang="fr-FR" dirty="0"/>
              <a:t/>
            </a:r>
            <a:br>
              <a:rPr lang="fr-FR" dirty="0"/>
            </a:br>
            <a:r>
              <a:rPr lang="fr-FR" dirty="0"/>
              <a:t>E. Normalisation radiologique dans les 72 h </a:t>
            </a:r>
          </a:p>
        </p:txBody>
      </p:sp>
    </p:spTree>
    <p:extLst>
      <p:ext uri="{BB962C8B-B14F-4D97-AF65-F5344CB8AC3E}">
        <p14:creationId xmlns:p14="http://schemas.microsoft.com/office/powerpoint/2010/main" val="21803872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36713"/>
            <a:ext cx="8229600" cy="5289451"/>
          </a:xfrm>
        </p:spPr>
        <p:txBody>
          <a:bodyPr>
            <a:normAutofit/>
          </a:bodyPr>
          <a:lstStyle/>
          <a:p>
            <a:pPr marL="0" indent="0">
              <a:buNone/>
            </a:pPr>
            <a:r>
              <a:rPr lang="fr-FR" b="1" dirty="0"/>
              <a:t>L’amoxicilline acide clavulanique est habituellement active sur les PABC à :</a:t>
            </a:r>
            <a:endParaRPr lang="fr-FR" dirty="0"/>
          </a:p>
          <a:p>
            <a:pPr marL="514350" indent="-514350">
              <a:buFont typeface="+mj-lt"/>
              <a:buAutoNum type="alphaUcPeriod"/>
            </a:pPr>
            <a:r>
              <a:rPr lang="fr-FR" dirty="0"/>
              <a:t>Pneumocoque</a:t>
            </a:r>
          </a:p>
          <a:p>
            <a:pPr marL="514350" indent="-514350">
              <a:buFont typeface="+mj-lt"/>
              <a:buAutoNum type="alphaUcPeriod"/>
            </a:pPr>
            <a:r>
              <a:rPr lang="fr-FR" dirty="0"/>
              <a:t>Pseudomonas</a:t>
            </a:r>
          </a:p>
          <a:p>
            <a:pPr marL="514350" indent="-514350">
              <a:buFont typeface="+mj-lt"/>
              <a:buAutoNum type="alphaUcPeriod"/>
            </a:pPr>
            <a:r>
              <a:rPr lang="fr-FR" dirty="0" err="1"/>
              <a:t>H.influenzae</a:t>
            </a:r>
            <a:endParaRPr lang="fr-FR" dirty="0"/>
          </a:p>
          <a:p>
            <a:pPr marL="514350" indent="-514350">
              <a:buFont typeface="+mj-lt"/>
              <a:buAutoNum type="alphaUcPeriod"/>
            </a:pPr>
            <a:r>
              <a:rPr lang="fr-FR" dirty="0"/>
              <a:t>Anaérobies</a:t>
            </a:r>
          </a:p>
          <a:p>
            <a:pPr marL="514350" indent="-514350">
              <a:buFont typeface="+mj-lt"/>
              <a:buAutoNum type="alphaUcPeriod"/>
            </a:pPr>
            <a:r>
              <a:rPr lang="fr-FR" dirty="0"/>
              <a:t>Staphylocoque </a:t>
            </a:r>
            <a:r>
              <a:rPr lang="fr-FR" dirty="0" err="1"/>
              <a:t>méticilline</a:t>
            </a:r>
            <a:r>
              <a:rPr lang="fr-FR" dirty="0"/>
              <a:t> sensible </a:t>
            </a:r>
          </a:p>
          <a:p>
            <a:pPr marL="0" indent="0">
              <a:buNone/>
            </a:pPr>
            <a:endParaRPr lang="fr-FR" dirty="0"/>
          </a:p>
          <a:p>
            <a:endParaRPr lang="fr-FR" dirty="0"/>
          </a:p>
        </p:txBody>
      </p:sp>
    </p:spTree>
    <p:extLst>
      <p:ext uri="{BB962C8B-B14F-4D97-AF65-F5344CB8AC3E}">
        <p14:creationId xmlns:p14="http://schemas.microsoft.com/office/powerpoint/2010/main" val="278278337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36713"/>
            <a:ext cx="8229600" cy="5289451"/>
          </a:xfrm>
        </p:spPr>
        <p:txBody>
          <a:bodyPr>
            <a:normAutofit/>
          </a:bodyPr>
          <a:lstStyle/>
          <a:p>
            <a:pPr marL="0" indent="0">
              <a:buNone/>
            </a:pPr>
            <a:r>
              <a:rPr lang="fr-FR" b="1" dirty="0"/>
              <a:t> L’amoxicilline acide clavulanique est habituellement active sur les PABC à :</a:t>
            </a:r>
            <a:endParaRPr lang="fr-FR" dirty="0"/>
          </a:p>
          <a:p>
            <a:pPr marL="514350" indent="-514350">
              <a:buFont typeface="+mj-lt"/>
              <a:buAutoNum type="alphaUcPeriod"/>
            </a:pPr>
            <a:r>
              <a:rPr lang="fr-FR" dirty="0">
                <a:solidFill>
                  <a:srgbClr val="C00000"/>
                </a:solidFill>
              </a:rPr>
              <a:t>Pneumocoque</a:t>
            </a:r>
          </a:p>
          <a:p>
            <a:pPr marL="514350" indent="-514350">
              <a:buFont typeface="+mj-lt"/>
              <a:buAutoNum type="alphaUcPeriod"/>
            </a:pPr>
            <a:r>
              <a:rPr lang="fr-FR" dirty="0"/>
              <a:t>Pseudomonas</a:t>
            </a:r>
          </a:p>
          <a:p>
            <a:pPr marL="514350" indent="-514350">
              <a:buFont typeface="+mj-lt"/>
              <a:buAutoNum type="alphaUcPeriod"/>
            </a:pPr>
            <a:r>
              <a:rPr lang="fr-FR" dirty="0" err="1">
                <a:solidFill>
                  <a:srgbClr val="C00000"/>
                </a:solidFill>
              </a:rPr>
              <a:t>H.influenzae</a:t>
            </a:r>
            <a:endParaRPr lang="fr-FR" dirty="0">
              <a:solidFill>
                <a:srgbClr val="C00000"/>
              </a:solidFill>
            </a:endParaRPr>
          </a:p>
          <a:p>
            <a:pPr marL="514350" indent="-514350">
              <a:buFont typeface="+mj-lt"/>
              <a:buAutoNum type="alphaUcPeriod"/>
            </a:pPr>
            <a:r>
              <a:rPr lang="fr-FR" dirty="0">
                <a:solidFill>
                  <a:srgbClr val="C00000"/>
                </a:solidFill>
              </a:rPr>
              <a:t>Anaérobies</a:t>
            </a:r>
          </a:p>
          <a:p>
            <a:pPr marL="514350" indent="-514350">
              <a:buFont typeface="+mj-lt"/>
              <a:buAutoNum type="alphaUcPeriod"/>
            </a:pPr>
            <a:r>
              <a:rPr lang="fr-FR" dirty="0">
                <a:solidFill>
                  <a:srgbClr val="C00000"/>
                </a:solidFill>
              </a:rPr>
              <a:t>Staphylocoque </a:t>
            </a:r>
            <a:r>
              <a:rPr lang="fr-FR" dirty="0" err="1">
                <a:solidFill>
                  <a:srgbClr val="C00000"/>
                </a:solidFill>
              </a:rPr>
              <a:t>méticilline</a:t>
            </a:r>
            <a:r>
              <a:rPr lang="fr-FR" dirty="0">
                <a:solidFill>
                  <a:srgbClr val="C00000"/>
                </a:solidFill>
              </a:rPr>
              <a:t> sensible </a:t>
            </a:r>
          </a:p>
          <a:p>
            <a:pPr marL="0" indent="0">
              <a:buNone/>
            </a:pPr>
            <a:endParaRPr lang="fr-FR" dirty="0"/>
          </a:p>
          <a:p>
            <a:endParaRPr lang="fr-FR" dirty="0"/>
          </a:p>
        </p:txBody>
      </p:sp>
    </p:spTree>
    <p:extLst>
      <p:ext uri="{BB962C8B-B14F-4D97-AF65-F5344CB8AC3E}">
        <p14:creationId xmlns:p14="http://schemas.microsoft.com/office/powerpoint/2010/main" val="364876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87007"/>
            <a:ext cx="8229600" cy="5361459"/>
          </a:xfrm>
        </p:spPr>
        <p:txBody>
          <a:bodyPr>
            <a:normAutofit/>
          </a:bodyPr>
          <a:lstStyle/>
          <a:p>
            <a:pPr marL="0" indent="0">
              <a:buNone/>
            </a:pPr>
            <a:r>
              <a:rPr lang="fr-FR" b="1" dirty="0"/>
              <a:t> La </a:t>
            </a:r>
            <a:r>
              <a:rPr lang="fr-FR" b="1" dirty="0" err="1"/>
              <a:t>cefotaxime</a:t>
            </a:r>
            <a:r>
              <a:rPr lang="fr-FR" b="1" dirty="0"/>
              <a:t> (Claforan) est active sur :</a:t>
            </a:r>
            <a:endParaRPr lang="fr-FR" dirty="0"/>
          </a:p>
          <a:p>
            <a:pPr marL="514350" indent="-514350">
              <a:buFont typeface="+mj-lt"/>
              <a:buAutoNum type="alphaUcPeriod"/>
            </a:pPr>
            <a:r>
              <a:rPr lang="fr-FR" dirty="0"/>
              <a:t>Le pneumocoque </a:t>
            </a:r>
          </a:p>
          <a:p>
            <a:pPr marL="514350" indent="-514350">
              <a:buFont typeface="+mj-lt"/>
              <a:buAutoNum type="alphaUcPeriod"/>
            </a:pPr>
            <a:r>
              <a:rPr lang="fr-FR" dirty="0"/>
              <a:t>Le mycoplasme</a:t>
            </a:r>
          </a:p>
          <a:p>
            <a:pPr marL="514350" indent="-514350">
              <a:buFont typeface="+mj-lt"/>
              <a:buAutoNum type="alphaUcPeriod"/>
            </a:pPr>
            <a:r>
              <a:rPr lang="fr-FR" dirty="0"/>
              <a:t>Staphylocoque </a:t>
            </a:r>
            <a:r>
              <a:rPr lang="fr-FR" dirty="0" err="1"/>
              <a:t>méticilline</a:t>
            </a:r>
            <a:r>
              <a:rPr lang="fr-FR" dirty="0"/>
              <a:t> résistant</a:t>
            </a:r>
          </a:p>
          <a:p>
            <a:pPr marL="514350" indent="-514350">
              <a:buFont typeface="+mj-lt"/>
              <a:buAutoNum type="alphaUcPeriod"/>
            </a:pPr>
            <a:r>
              <a:rPr lang="fr-FR" dirty="0"/>
              <a:t>L’</a:t>
            </a:r>
            <a:r>
              <a:rPr lang="fr-FR" dirty="0" err="1"/>
              <a:t>haemophilus</a:t>
            </a:r>
            <a:r>
              <a:rPr lang="fr-FR" dirty="0"/>
              <a:t> </a:t>
            </a:r>
            <a:r>
              <a:rPr lang="fr-FR" dirty="0" err="1"/>
              <a:t>influenzae</a:t>
            </a:r>
            <a:endParaRPr lang="fr-FR" dirty="0"/>
          </a:p>
          <a:p>
            <a:pPr marL="514350" indent="-514350">
              <a:buFont typeface="+mj-lt"/>
              <a:buAutoNum type="alphaUcPeriod"/>
            </a:pPr>
            <a:r>
              <a:rPr lang="fr-FR" dirty="0"/>
              <a:t>Les BGN</a:t>
            </a:r>
          </a:p>
          <a:p>
            <a:endParaRPr lang="fr-FR" dirty="0"/>
          </a:p>
        </p:txBody>
      </p:sp>
    </p:spTree>
    <p:extLst>
      <p:ext uri="{BB962C8B-B14F-4D97-AF65-F5344CB8AC3E}">
        <p14:creationId xmlns:p14="http://schemas.microsoft.com/office/powerpoint/2010/main" val="257990146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6DD30-30CD-CEAA-9C4A-04F2E824C5B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EDC215E-1EC4-58E4-A3C1-55B41750AFB9}"/>
              </a:ext>
            </a:extLst>
          </p:cNvPr>
          <p:cNvSpPr>
            <a:spLocks noGrp="1"/>
          </p:cNvSpPr>
          <p:nvPr>
            <p:ph idx="1"/>
          </p:nvPr>
        </p:nvSpPr>
        <p:spPr>
          <a:xfrm>
            <a:off x="1981200" y="764705"/>
            <a:ext cx="8229600" cy="5361459"/>
          </a:xfrm>
        </p:spPr>
        <p:txBody>
          <a:bodyPr>
            <a:normAutofit/>
          </a:bodyPr>
          <a:lstStyle/>
          <a:p>
            <a:pPr marL="0" indent="0">
              <a:buNone/>
            </a:pPr>
            <a:r>
              <a:rPr lang="fr-FR" b="1" dirty="0"/>
              <a:t>La </a:t>
            </a:r>
            <a:r>
              <a:rPr lang="fr-FR" b="1" dirty="0" err="1"/>
              <a:t>cefotaxime</a:t>
            </a:r>
            <a:r>
              <a:rPr lang="fr-FR" b="1" dirty="0"/>
              <a:t> (Claforan) est active sur :</a:t>
            </a:r>
            <a:endParaRPr lang="fr-FR" dirty="0"/>
          </a:p>
          <a:p>
            <a:pPr marL="514350" indent="-514350">
              <a:buFont typeface="+mj-lt"/>
              <a:buAutoNum type="alphaUcPeriod"/>
            </a:pPr>
            <a:r>
              <a:rPr lang="fr-FR" dirty="0">
                <a:solidFill>
                  <a:srgbClr val="FF0000"/>
                </a:solidFill>
              </a:rPr>
              <a:t>Le pneumocoque </a:t>
            </a:r>
          </a:p>
          <a:p>
            <a:pPr marL="514350" indent="-514350">
              <a:buFont typeface="+mj-lt"/>
              <a:buAutoNum type="alphaUcPeriod"/>
            </a:pPr>
            <a:r>
              <a:rPr lang="fr-FR" dirty="0"/>
              <a:t>Le mycoplasme</a:t>
            </a:r>
          </a:p>
          <a:p>
            <a:pPr marL="514350" indent="-514350">
              <a:buFont typeface="+mj-lt"/>
              <a:buAutoNum type="alphaUcPeriod"/>
            </a:pPr>
            <a:r>
              <a:rPr lang="fr-FR" dirty="0"/>
              <a:t>Staphylocoque </a:t>
            </a:r>
            <a:r>
              <a:rPr lang="fr-FR" dirty="0" err="1"/>
              <a:t>méticilline</a:t>
            </a:r>
            <a:r>
              <a:rPr lang="fr-FR" dirty="0"/>
              <a:t> résistant</a:t>
            </a:r>
          </a:p>
          <a:p>
            <a:pPr marL="514350" indent="-514350">
              <a:buFont typeface="+mj-lt"/>
              <a:buAutoNum type="alphaUcPeriod"/>
            </a:pPr>
            <a:r>
              <a:rPr lang="fr-FR" dirty="0">
                <a:solidFill>
                  <a:srgbClr val="FF0000"/>
                </a:solidFill>
              </a:rPr>
              <a:t>L’</a:t>
            </a:r>
            <a:r>
              <a:rPr lang="fr-FR" dirty="0" err="1">
                <a:solidFill>
                  <a:srgbClr val="FF0000"/>
                </a:solidFill>
              </a:rPr>
              <a:t>haemophilus</a:t>
            </a:r>
            <a:r>
              <a:rPr lang="fr-FR" dirty="0">
                <a:solidFill>
                  <a:srgbClr val="FF0000"/>
                </a:solidFill>
              </a:rPr>
              <a:t> </a:t>
            </a:r>
            <a:r>
              <a:rPr lang="fr-FR" dirty="0" err="1">
                <a:solidFill>
                  <a:srgbClr val="FF0000"/>
                </a:solidFill>
              </a:rPr>
              <a:t>influenzae</a:t>
            </a:r>
            <a:endParaRPr lang="fr-FR" dirty="0">
              <a:solidFill>
                <a:srgbClr val="FF0000"/>
              </a:solidFill>
            </a:endParaRPr>
          </a:p>
          <a:p>
            <a:pPr marL="514350" indent="-514350">
              <a:buFont typeface="+mj-lt"/>
              <a:buAutoNum type="alphaUcPeriod"/>
            </a:pPr>
            <a:r>
              <a:rPr lang="fr-FR" dirty="0">
                <a:solidFill>
                  <a:srgbClr val="FF0000"/>
                </a:solidFill>
              </a:rPr>
              <a:t>Les BGN</a:t>
            </a:r>
          </a:p>
          <a:p>
            <a:endParaRPr lang="fr-FR" dirty="0"/>
          </a:p>
        </p:txBody>
      </p:sp>
    </p:spTree>
    <p:extLst>
      <p:ext uri="{BB962C8B-B14F-4D97-AF65-F5344CB8AC3E}">
        <p14:creationId xmlns:p14="http://schemas.microsoft.com/office/powerpoint/2010/main" val="6033741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lstStyle/>
          <a:p>
            <a:pPr marL="0" indent="0">
              <a:buNone/>
            </a:pPr>
            <a:r>
              <a:rPr lang="fr-FR" b="1" dirty="0"/>
              <a:t> Les antibiotiques suivants sont habituellement actifs sur les PABC à pneumocoque :</a:t>
            </a:r>
            <a:endParaRPr lang="fr-FR" dirty="0"/>
          </a:p>
          <a:p>
            <a:pPr marL="514350" indent="-514350">
              <a:buFont typeface="+mj-lt"/>
              <a:buAutoNum type="alphaUcPeriod"/>
            </a:pPr>
            <a:r>
              <a:rPr lang="fr-FR" dirty="0" err="1"/>
              <a:t>Ofloxacine</a:t>
            </a:r>
            <a:endParaRPr lang="fr-FR" dirty="0"/>
          </a:p>
          <a:p>
            <a:pPr marL="514350" indent="-514350">
              <a:buFont typeface="+mj-lt"/>
              <a:buAutoNum type="alphaUcPeriod"/>
            </a:pPr>
            <a:r>
              <a:rPr lang="fr-FR" dirty="0"/>
              <a:t>Amoxicilline</a:t>
            </a:r>
          </a:p>
          <a:p>
            <a:pPr marL="514350" indent="-514350">
              <a:buFont typeface="+mj-lt"/>
              <a:buAutoNum type="alphaUcPeriod"/>
            </a:pPr>
            <a:r>
              <a:rPr lang="fr-FR" dirty="0"/>
              <a:t>Pristinamycine</a:t>
            </a:r>
          </a:p>
          <a:p>
            <a:pPr marL="514350" indent="-514350">
              <a:buFont typeface="+mj-lt"/>
              <a:buAutoNum type="alphaUcPeriod"/>
            </a:pPr>
            <a:r>
              <a:rPr lang="fr-FR" dirty="0" err="1"/>
              <a:t>Amikacine</a:t>
            </a:r>
            <a:endParaRPr lang="fr-FR" dirty="0"/>
          </a:p>
          <a:p>
            <a:pPr marL="514350" indent="-514350">
              <a:buFont typeface="+mj-lt"/>
              <a:buAutoNum type="alphaUcPeriod"/>
            </a:pPr>
            <a:r>
              <a:rPr lang="fr-FR" dirty="0" err="1"/>
              <a:t>Metronidazole</a:t>
            </a:r>
            <a:endParaRPr lang="fr-FR" dirty="0"/>
          </a:p>
          <a:p>
            <a:endParaRPr lang="fr-FR" dirty="0"/>
          </a:p>
        </p:txBody>
      </p:sp>
    </p:spTree>
    <p:extLst>
      <p:ext uri="{BB962C8B-B14F-4D97-AF65-F5344CB8AC3E}">
        <p14:creationId xmlns:p14="http://schemas.microsoft.com/office/powerpoint/2010/main" val="30897636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E070A-275A-469C-21B3-99D2BE4C071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D34548D-794F-5D22-44B4-FC4143AC8760}"/>
              </a:ext>
            </a:extLst>
          </p:cNvPr>
          <p:cNvSpPr>
            <a:spLocks noGrp="1"/>
          </p:cNvSpPr>
          <p:nvPr>
            <p:ph idx="1"/>
          </p:nvPr>
        </p:nvSpPr>
        <p:spPr>
          <a:xfrm>
            <a:off x="1981200" y="692697"/>
            <a:ext cx="8229600" cy="5433467"/>
          </a:xfrm>
        </p:spPr>
        <p:txBody>
          <a:bodyPr/>
          <a:lstStyle/>
          <a:p>
            <a:pPr marL="0" indent="0">
              <a:buNone/>
            </a:pPr>
            <a:r>
              <a:rPr lang="fr-FR" b="1" dirty="0"/>
              <a:t> Les antibiotiques suivants sont habituellement actifs sur les PABC à pneumocoque :</a:t>
            </a:r>
            <a:endParaRPr lang="fr-FR" dirty="0"/>
          </a:p>
          <a:p>
            <a:pPr marL="514350" indent="-514350">
              <a:buFont typeface="+mj-lt"/>
              <a:buAutoNum type="alphaUcPeriod"/>
            </a:pPr>
            <a:r>
              <a:rPr lang="fr-FR" dirty="0" err="1"/>
              <a:t>Ofloxacine</a:t>
            </a:r>
            <a:endParaRPr lang="fr-FR" dirty="0"/>
          </a:p>
          <a:p>
            <a:pPr marL="514350" indent="-514350">
              <a:buFont typeface="+mj-lt"/>
              <a:buAutoNum type="alphaUcPeriod"/>
            </a:pPr>
            <a:r>
              <a:rPr lang="fr-FR" dirty="0">
                <a:solidFill>
                  <a:srgbClr val="FF0000"/>
                </a:solidFill>
              </a:rPr>
              <a:t>Amoxicilline</a:t>
            </a:r>
          </a:p>
          <a:p>
            <a:pPr marL="514350" indent="-514350">
              <a:buFont typeface="+mj-lt"/>
              <a:buAutoNum type="alphaUcPeriod"/>
            </a:pPr>
            <a:r>
              <a:rPr lang="fr-FR" dirty="0">
                <a:solidFill>
                  <a:srgbClr val="FF0000"/>
                </a:solidFill>
              </a:rPr>
              <a:t>Pristinamycine</a:t>
            </a:r>
          </a:p>
          <a:p>
            <a:pPr marL="514350" indent="-514350">
              <a:buFont typeface="+mj-lt"/>
              <a:buAutoNum type="alphaUcPeriod"/>
            </a:pPr>
            <a:r>
              <a:rPr lang="fr-FR" dirty="0" err="1"/>
              <a:t>Amikacine</a:t>
            </a:r>
            <a:endParaRPr lang="fr-FR" dirty="0"/>
          </a:p>
          <a:p>
            <a:pPr marL="514350" indent="-514350">
              <a:buFont typeface="+mj-lt"/>
              <a:buAutoNum type="alphaUcPeriod"/>
            </a:pPr>
            <a:r>
              <a:rPr lang="fr-FR" dirty="0" err="1"/>
              <a:t>Metronidazole</a:t>
            </a:r>
            <a:endParaRPr lang="fr-FR" dirty="0"/>
          </a:p>
          <a:p>
            <a:endParaRPr lang="fr-FR" dirty="0"/>
          </a:p>
        </p:txBody>
      </p:sp>
    </p:spTree>
    <p:extLst>
      <p:ext uri="{BB962C8B-B14F-4D97-AF65-F5344CB8AC3E}">
        <p14:creationId xmlns:p14="http://schemas.microsoft.com/office/powerpoint/2010/main" val="246807625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36713"/>
            <a:ext cx="8229600" cy="5289451"/>
          </a:xfrm>
        </p:spPr>
        <p:txBody>
          <a:bodyPr>
            <a:normAutofit/>
          </a:bodyPr>
          <a:lstStyle/>
          <a:p>
            <a:pPr marL="0" indent="0">
              <a:buNone/>
            </a:pPr>
            <a:r>
              <a:rPr lang="fr-FR" b="1" dirty="0"/>
              <a:t> Les antibiotiques suivants sont habituellement actifs sur le mycoplasme </a:t>
            </a:r>
            <a:r>
              <a:rPr lang="fr-FR" b="1" dirty="0" err="1"/>
              <a:t>pneumoniae</a:t>
            </a:r>
            <a:r>
              <a:rPr lang="fr-FR" b="1" dirty="0"/>
              <a:t> :</a:t>
            </a:r>
            <a:endParaRPr lang="fr-FR" dirty="0"/>
          </a:p>
          <a:p>
            <a:pPr marL="514350" indent="-514350">
              <a:buFont typeface="+mj-lt"/>
              <a:buAutoNum type="alphaUcPeriod"/>
            </a:pPr>
            <a:r>
              <a:rPr lang="fr-FR" dirty="0" err="1"/>
              <a:t>lévofloxacine</a:t>
            </a:r>
            <a:endParaRPr lang="fr-FR" dirty="0"/>
          </a:p>
          <a:p>
            <a:pPr marL="514350" indent="-514350">
              <a:buFont typeface="+mj-lt"/>
              <a:buAutoNum type="alphaUcPeriod"/>
            </a:pPr>
            <a:r>
              <a:rPr lang="fr-FR" dirty="0" err="1"/>
              <a:t>Clarithromycine</a:t>
            </a:r>
            <a:endParaRPr lang="fr-FR" dirty="0"/>
          </a:p>
          <a:p>
            <a:pPr marL="514350" indent="-514350">
              <a:buFont typeface="+mj-lt"/>
              <a:buAutoNum type="alphaUcPeriod"/>
            </a:pPr>
            <a:r>
              <a:rPr lang="fr-FR" dirty="0" err="1"/>
              <a:t>Amikacine</a:t>
            </a:r>
            <a:endParaRPr lang="fr-FR" dirty="0"/>
          </a:p>
          <a:p>
            <a:pPr marL="514350" indent="-514350">
              <a:buFont typeface="+mj-lt"/>
              <a:buAutoNum type="alphaUcPeriod"/>
            </a:pPr>
            <a:r>
              <a:rPr lang="fr-FR" dirty="0" err="1"/>
              <a:t>Doxycycline</a:t>
            </a:r>
            <a:endParaRPr lang="fr-FR" dirty="0"/>
          </a:p>
          <a:p>
            <a:pPr marL="514350" indent="-514350">
              <a:buFont typeface="+mj-lt"/>
              <a:buAutoNum type="alphaUcPeriod"/>
            </a:pPr>
            <a:r>
              <a:rPr lang="fr-FR" dirty="0" err="1"/>
              <a:t>Imipénème</a:t>
            </a:r>
            <a:endParaRPr lang="fr-FR" dirty="0"/>
          </a:p>
          <a:p>
            <a:pPr marL="0" indent="0">
              <a:buNone/>
            </a:pPr>
            <a:endParaRPr lang="fr-FR" dirty="0"/>
          </a:p>
        </p:txBody>
      </p:sp>
    </p:spTree>
    <p:extLst>
      <p:ext uri="{BB962C8B-B14F-4D97-AF65-F5344CB8AC3E}">
        <p14:creationId xmlns:p14="http://schemas.microsoft.com/office/powerpoint/2010/main" val="257184983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36713"/>
            <a:ext cx="8229600" cy="5289451"/>
          </a:xfrm>
        </p:spPr>
        <p:txBody>
          <a:bodyPr>
            <a:normAutofit/>
          </a:bodyPr>
          <a:lstStyle/>
          <a:p>
            <a:pPr marL="0" indent="0">
              <a:buNone/>
            </a:pPr>
            <a:r>
              <a:rPr lang="fr-FR" b="1" dirty="0"/>
              <a:t>Les antibiotiques suivants sont habituellement actifs sur le mycoplasme </a:t>
            </a:r>
            <a:r>
              <a:rPr lang="fr-FR" b="1" dirty="0" err="1"/>
              <a:t>pneumoniae</a:t>
            </a:r>
            <a:r>
              <a:rPr lang="fr-FR" b="1" dirty="0"/>
              <a:t> :</a:t>
            </a:r>
            <a:endParaRPr lang="fr-FR" dirty="0"/>
          </a:p>
          <a:p>
            <a:pPr marL="514350" indent="-514350">
              <a:buFont typeface="+mj-lt"/>
              <a:buAutoNum type="alphaUcPeriod"/>
            </a:pPr>
            <a:r>
              <a:rPr lang="fr-FR" dirty="0" err="1">
                <a:solidFill>
                  <a:srgbClr val="FF0000"/>
                </a:solidFill>
              </a:rPr>
              <a:t>lévofloxacine</a:t>
            </a:r>
            <a:endParaRPr lang="fr-FR" dirty="0">
              <a:solidFill>
                <a:srgbClr val="FF0000"/>
              </a:solidFill>
            </a:endParaRPr>
          </a:p>
          <a:p>
            <a:pPr marL="514350" indent="-514350">
              <a:buFont typeface="+mj-lt"/>
              <a:buAutoNum type="alphaUcPeriod"/>
            </a:pPr>
            <a:r>
              <a:rPr lang="fr-FR" dirty="0" err="1">
                <a:solidFill>
                  <a:srgbClr val="FF0000"/>
                </a:solidFill>
              </a:rPr>
              <a:t>Clarithromycine</a:t>
            </a:r>
            <a:endParaRPr lang="fr-FR" dirty="0">
              <a:solidFill>
                <a:srgbClr val="FF0000"/>
              </a:solidFill>
            </a:endParaRPr>
          </a:p>
          <a:p>
            <a:pPr marL="514350" indent="-514350">
              <a:buFont typeface="+mj-lt"/>
              <a:buAutoNum type="alphaUcPeriod"/>
            </a:pPr>
            <a:r>
              <a:rPr lang="fr-FR" dirty="0" err="1"/>
              <a:t>Amikacine</a:t>
            </a:r>
            <a:endParaRPr lang="fr-FR" dirty="0"/>
          </a:p>
          <a:p>
            <a:pPr marL="514350" indent="-514350">
              <a:buFont typeface="+mj-lt"/>
              <a:buAutoNum type="alphaUcPeriod"/>
            </a:pPr>
            <a:r>
              <a:rPr lang="fr-FR" dirty="0" err="1">
                <a:solidFill>
                  <a:srgbClr val="FF0000"/>
                </a:solidFill>
              </a:rPr>
              <a:t>Doxycycline</a:t>
            </a:r>
            <a:endParaRPr lang="fr-FR" dirty="0">
              <a:solidFill>
                <a:srgbClr val="FF0000"/>
              </a:solidFill>
            </a:endParaRPr>
          </a:p>
          <a:p>
            <a:pPr marL="514350" indent="-514350">
              <a:buFont typeface="+mj-lt"/>
              <a:buAutoNum type="alphaUcPeriod"/>
            </a:pPr>
            <a:r>
              <a:rPr lang="fr-FR" dirty="0" err="1"/>
              <a:t>Imipénème</a:t>
            </a:r>
            <a:endParaRPr lang="fr-FR" dirty="0"/>
          </a:p>
          <a:p>
            <a:pPr marL="0" indent="0">
              <a:buNone/>
            </a:pPr>
            <a:endParaRPr lang="fr-FR" dirty="0"/>
          </a:p>
        </p:txBody>
      </p:sp>
    </p:spTree>
    <p:extLst>
      <p:ext uri="{BB962C8B-B14F-4D97-AF65-F5344CB8AC3E}">
        <p14:creationId xmlns:p14="http://schemas.microsoft.com/office/powerpoint/2010/main" val="5561225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a:bodyPr>
          <a:lstStyle/>
          <a:p>
            <a:pPr marL="0" indent="0">
              <a:buNone/>
            </a:pPr>
            <a:r>
              <a:rPr lang="fr-FR" b="1" dirty="0"/>
              <a:t>La </a:t>
            </a:r>
            <a:r>
              <a:rPr lang="fr-FR" b="1" dirty="0" err="1"/>
              <a:t>levofloxacine</a:t>
            </a:r>
            <a:r>
              <a:rPr lang="fr-FR" b="1" dirty="0"/>
              <a:t> est habituellement active sur les PABC à :</a:t>
            </a:r>
            <a:endParaRPr lang="fr-FR" dirty="0"/>
          </a:p>
          <a:p>
            <a:pPr marL="514350" indent="-514350">
              <a:buFont typeface="+mj-lt"/>
              <a:buAutoNum type="alphaUcPeriod"/>
            </a:pPr>
            <a:r>
              <a:rPr lang="fr-FR" dirty="0"/>
              <a:t>Pneumocoque</a:t>
            </a:r>
          </a:p>
          <a:p>
            <a:pPr marL="514350" indent="-514350">
              <a:buFont typeface="+mj-lt"/>
              <a:buAutoNum type="alphaUcPeriod"/>
            </a:pPr>
            <a:r>
              <a:rPr lang="fr-FR" dirty="0" err="1"/>
              <a:t>Morexella</a:t>
            </a:r>
            <a:r>
              <a:rPr lang="fr-FR" dirty="0"/>
              <a:t> </a:t>
            </a:r>
            <a:r>
              <a:rPr lang="fr-FR" dirty="0" err="1"/>
              <a:t>catarrhalis</a:t>
            </a:r>
            <a:endParaRPr lang="fr-FR" dirty="0"/>
          </a:p>
          <a:p>
            <a:pPr marL="514350" indent="-514350">
              <a:buFont typeface="+mj-lt"/>
              <a:buAutoNum type="alphaUcPeriod"/>
            </a:pPr>
            <a:r>
              <a:rPr lang="fr-FR" dirty="0" err="1"/>
              <a:t>Légionelle</a:t>
            </a:r>
            <a:endParaRPr lang="fr-FR" dirty="0"/>
          </a:p>
          <a:p>
            <a:pPr marL="514350" indent="-514350">
              <a:buFont typeface="+mj-lt"/>
              <a:buAutoNum type="alphaUcPeriod"/>
            </a:pPr>
            <a:r>
              <a:rPr lang="fr-FR" dirty="0"/>
              <a:t>Mycoplasme</a:t>
            </a:r>
          </a:p>
          <a:p>
            <a:pPr marL="514350" indent="-514350">
              <a:buFont typeface="+mj-lt"/>
              <a:buAutoNum type="alphaUcPeriod"/>
            </a:pPr>
            <a:r>
              <a:rPr lang="fr-FR" dirty="0"/>
              <a:t>Pseudomonas </a:t>
            </a:r>
            <a:r>
              <a:rPr lang="fr-FR" dirty="0" err="1"/>
              <a:t>aeruginosa</a:t>
            </a:r>
            <a:endParaRPr lang="fr-FR" dirty="0"/>
          </a:p>
          <a:p>
            <a:pPr marL="0" indent="0">
              <a:buNone/>
            </a:pPr>
            <a:endParaRPr lang="fr-FR" dirty="0"/>
          </a:p>
          <a:p>
            <a:endParaRPr lang="fr-FR" dirty="0"/>
          </a:p>
        </p:txBody>
      </p:sp>
    </p:spTree>
    <p:extLst>
      <p:ext uri="{BB962C8B-B14F-4D97-AF65-F5344CB8AC3E}">
        <p14:creationId xmlns:p14="http://schemas.microsoft.com/office/powerpoint/2010/main" val="91667581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a:bodyPr>
          <a:lstStyle/>
          <a:p>
            <a:pPr marL="0" indent="0">
              <a:buNone/>
            </a:pPr>
            <a:r>
              <a:rPr lang="fr-FR" b="1" dirty="0"/>
              <a:t>La </a:t>
            </a:r>
            <a:r>
              <a:rPr lang="fr-FR" b="1" dirty="0" err="1"/>
              <a:t>levofloxacine</a:t>
            </a:r>
            <a:r>
              <a:rPr lang="fr-FR" b="1" dirty="0"/>
              <a:t> est habituellement active sur les PABC à :</a:t>
            </a:r>
            <a:endParaRPr lang="fr-FR" dirty="0"/>
          </a:p>
          <a:p>
            <a:pPr marL="514350" indent="-514350">
              <a:buFont typeface="+mj-lt"/>
              <a:buAutoNum type="alphaUcPeriod"/>
            </a:pPr>
            <a:r>
              <a:rPr lang="fr-FR" dirty="0">
                <a:solidFill>
                  <a:srgbClr val="C00000"/>
                </a:solidFill>
              </a:rPr>
              <a:t>Pneumocoque</a:t>
            </a:r>
          </a:p>
          <a:p>
            <a:pPr marL="514350" indent="-514350">
              <a:buFont typeface="+mj-lt"/>
              <a:buAutoNum type="alphaUcPeriod"/>
            </a:pPr>
            <a:r>
              <a:rPr lang="fr-FR" dirty="0" err="1">
                <a:solidFill>
                  <a:srgbClr val="C00000"/>
                </a:solidFill>
              </a:rPr>
              <a:t>Morexella</a:t>
            </a:r>
            <a:r>
              <a:rPr lang="fr-FR" dirty="0">
                <a:solidFill>
                  <a:srgbClr val="C00000"/>
                </a:solidFill>
              </a:rPr>
              <a:t> </a:t>
            </a:r>
            <a:r>
              <a:rPr lang="fr-FR" dirty="0" err="1">
                <a:solidFill>
                  <a:srgbClr val="C00000"/>
                </a:solidFill>
              </a:rPr>
              <a:t>catarrhalis</a:t>
            </a:r>
            <a:endParaRPr lang="fr-FR" dirty="0">
              <a:solidFill>
                <a:srgbClr val="C00000"/>
              </a:solidFill>
            </a:endParaRPr>
          </a:p>
          <a:p>
            <a:pPr marL="514350" indent="-514350">
              <a:buFont typeface="+mj-lt"/>
              <a:buAutoNum type="alphaUcPeriod"/>
            </a:pPr>
            <a:r>
              <a:rPr lang="fr-FR" dirty="0" err="1">
                <a:solidFill>
                  <a:srgbClr val="C00000"/>
                </a:solidFill>
              </a:rPr>
              <a:t>Légionelle</a:t>
            </a:r>
            <a:endParaRPr lang="fr-FR" dirty="0">
              <a:solidFill>
                <a:srgbClr val="C00000"/>
              </a:solidFill>
            </a:endParaRPr>
          </a:p>
          <a:p>
            <a:pPr marL="514350" indent="-514350">
              <a:buFont typeface="+mj-lt"/>
              <a:buAutoNum type="alphaUcPeriod"/>
            </a:pPr>
            <a:r>
              <a:rPr lang="fr-FR" dirty="0">
                <a:solidFill>
                  <a:srgbClr val="C00000"/>
                </a:solidFill>
              </a:rPr>
              <a:t>Mycoplasme</a:t>
            </a:r>
          </a:p>
          <a:p>
            <a:pPr marL="514350" indent="-514350">
              <a:buFont typeface="+mj-lt"/>
              <a:buAutoNum type="alphaUcPeriod"/>
            </a:pPr>
            <a:r>
              <a:rPr lang="fr-FR" dirty="0"/>
              <a:t>Pseudomonas </a:t>
            </a:r>
            <a:r>
              <a:rPr lang="fr-FR" dirty="0" err="1"/>
              <a:t>aeruginosa</a:t>
            </a:r>
            <a:endParaRPr lang="fr-FR" dirty="0"/>
          </a:p>
          <a:p>
            <a:pPr marL="0" indent="0">
              <a:buNone/>
            </a:pPr>
            <a:endParaRPr lang="fr-FR" dirty="0"/>
          </a:p>
          <a:p>
            <a:endParaRPr lang="fr-FR" dirty="0"/>
          </a:p>
        </p:txBody>
      </p:sp>
    </p:spTree>
    <p:extLst>
      <p:ext uri="{BB962C8B-B14F-4D97-AF65-F5344CB8AC3E}">
        <p14:creationId xmlns:p14="http://schemas.microsoft.com/office/powerpoint/2010/main" val="41496057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lstStyle/>
          <a:p>
            <a:pPr marL="0" indent="0">
              <a:buNone/>
            </a:pPr>
            <a:r>
              <a:rPr lang="fr-FR" b="1" dirty="0"/>
              <a:t> Les antibiotiques suivants sont habituellement actifs sur les PABC à germes anaérobies :</a:t>
            </a:r>
            <a:endParaRPr lang="fr-FR" dirty="0"/>
          </a:p>
          <a:p>
            <a:pPr marL="514350" indent="-514350">
              <a:buFont typeface="+mj-lt"/>
              <a:buAutoNum type="alphaUcPeriod"/>
            </a:pPr>
            <a:r>
              <a:rPr lang="fr-FR" dirty="0"/>
              <a:t>Amoxicilline - acide clavulanique</a:t>
            </a:r>
          </a:p>
          <a:p>
            <a:pPr marL="514350" indent="-514350">
              <a:buFont typeface="+mj-lt"/>
              <a:buAutoNum type="alphaUcPeriod"/>
            </a:pPr>
            <a:r>
              <a:rPr lang="fr-FR" dirty="0"/>
              <a:t>Métronidazole </a:t>
            </a:r>
          </a:p>
          <a:p>
            <a:pPr marL="514350" indent="-514350">
              <a:buFont typeface="+mj-lt"/>
              <a:buAutoNum type="alphaUcPeriod"/>
            </a:pPr>
            <a:r>
              <a:rPr lang="fr-FR" dirty="0" err="1"/>
              <a:t>Céfotaxime</a:t>
            </a:r>
            <a:endParaRPr lang="fr-FR" dirty="0"/>
          </a:p>
          <a:p>
            <a:pPr marL="514350" indent="-514350">
              <a:buFont typeface="+mj-lt"/>
              <a:buAutoNum type="alphaUcPeriod"/>
            </a:pPr>
            <a:r>
              <a:rPr lang="fr-FR" dirty="0" err="1"/>
              <a:t>Amikacine</a:t>
            </a:r>
            <a:endParaRPr lang="fr-FR" dirty="0"/>
          </a:p>
          <a:p>
            <a:pPr marL="514350" indent="-514350">
              <a:buFont typeface="+mj-lt"/>
              <a:buAutoNum type="alphaUcPeriod"/>
            </a:pPr>
            <a:r>
              <a:rPr lang="fr-FR" dirty="0"/>
              <a:t>Gentamycine</a:t>
            </a:r>
          </a:p>
          <a:p>
            <a:endParaRPr lang="fr-FR" dirty="0"/>
          </a:p>
        </p:txBody>
      </p:sp>
    </p:spTree>
    <p:extLst>
      <p:ext uri="{BB962C8B-B14F-4D97-AF65-F5344CB8AC3E}">
        <p14:creationId xmlns:p14="http://schemas.microsoft.com/office/powerpoint/2010/main" val="39512082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lstStyle/>
          <a:p>
            <a:pPr marL="0" indent="0">
              <a:buNone/>
            </a:pPr>
            <a:r>
              <a:rPr lang="fr-FR" b="1" dirty="0"/>
              <a:t> Les antibiotiques suivants sont habituellement actifs sur les PABC à germes anaérobies :</a:t>
            </a:r>
            <a:endParaRPr lang="fr-FR" dirty="0"/>
          </a:p>
          <a:p>
            <a:pPr marL="514350" indent="-514350">
              <a:buFont typeface="+mj-lt"/>
              <a:buAutoNum type="alphaUcPeriod"/>
            </a:pPr>
            <a:r>
              <a:rPr lang="fr-FR" dirty="0">
                <a:solidFill>
                  <a:srgbClr val="FF0000"/>
                </a:solidFill>
              </a:rPr>
              <a:t>Amoxicilline - acide clavulanique</a:t>
            </a:r>
          </a:p>
          <a:p>
            <a:pPr marL="514350" indent="-514350">
              <a:buFont typeface="+mj-lt"/>
              <a:buAutoNum type="alphaUcPeriod"/>
            </a:pPr>
            <a:r>
              <a:rPr lang="fr-FR" dirty="0">
                <a:solidFill>
                  <a:srgbClr val="FF0000"/>
                </a:solidFill>
              </a:rPr>
              <a:t>Métronidazole </a:t>
            </a:r>
          </a:p>
          <a:p>
            <a:pPr marL="514350" indent="-514350">
              <a:buFont typeface="+mj-lt"/>
              <a:buAutoNum type="alphaUcPeriod"/>
            </a:pPr>
            <a:r>
              <a:rPr lang="fr-FR" dirty="0" err="1"/>
              <a:t>Céfotaxime</a:t>
            </a:r>
            <a:endParaRPr lang="fr-FR" dirty="0"/>
          </a:p>
          <a:p>
            <a:pPr marL="514350" indent="-514350">
              <a:buFont typeface="+mj-lt"/>
              <a:buAutoNum type="alphaUcPeriod"/>
            </a:pPr>
            <a:r>
              <a:rPr lang="fr-FR" dirty="0" err="1"/>
              <a:t>Amikacine</a:t>
            </a:r>
            <a:endParaRPr lang="fr-FR" dirty="0"/>
          </a:p>
          <a:p>
            <a:pPr marL="514350" indent="-514350">
              <a:buFont typeface="+mj-lt"/>
              <a:buAutoNum type="alphaUcPeriod"/>
            </a:pPr>
            <a:r>
              <a:rPr lang="fr-FR" dirty="0"/>
              <a:t>Gentamycine</a:t>
            </a:r>
          </a:p>
          <a:p>
            <a:endParaRPr lang="fr-FR" dirty="0"/>
          </a:p>
        </p:txBody>
      </p:sp>
    </p:spTree>
    <p:extLst>
      <p:ext uri="{BB962C8B-B14F-4D97-AF65-F5344CB8AC3E}">
        <p14:creationId xmlns:p14="http://schemas.microsoft.com/office/powerpoint/2010/main" val="93949924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548681"/>
            <a:ext cx="8229600" cy="5577483"/>
          </a:xfrm>
        </p:spPr>
        <p:txBody>
          <a:bodyPr>
            <a:normAutofit/>
          </a:bodyPr>
          <a:lstStyle/>
          <a:p>
            <a:pPr marL="0" indent="0">
              <a:buNone/>
            </a:pPr>
            <a:r>
              <a:rPr lang="fr-FR" b="1" dirty="0"/>
              <a:t> Les antibiotiques suivants sont actifs sur les PABC à staphylocoque méticilline résistant :</a:t>
            </a:r>
            <a:endParaRPr lang="fr-FR" dirty="0"/>
          </a:p>
          <a:p>
            <a:pPr marL="514350" indent="-514350">
              <a:buFont typeface="+mj-lt"/>
              <a:buAutoNum type="alphaUcPeriod"/>
            </a:pPr>
            <a:r>
              <a:rPr lang="fr-FR" dirty="0"/>
              <a:t>Vancomycine</a:t>
            </a:r>
          </a:p>
          <a:p>
            <a:pPr marL="514350" indent="-514350">
              <a:buFont typeface="+mj-lt"/>
              <a:buAutoNum type="alphaUcPeriod"/>
            </a:pPr>
            <a:r>
              <a:rPr lang="fr-FR" dirty="0"/>
              <a:t>Amoxicilline - acide clavulanique</a:t>
            </a:r>
          </a:p>
          <a:p>
            <a:pPr marL="514350" indent="-514350">
              <a:buFont typeface="+mj-lt"/>
              <a:buAutoNum type="alphaUcPeriod"/>
            </a:pPr>
            <a:r>
              <a:rPr lang="fr-FR" dirty="0" err="1"/>
              <a:t>Céfotaxime</a:t>
            </a:r>
            <a:endParaRPr lang="fr-FR" dirty="0"/>
          </a:p>
          <a:p>
            <a:pPr marL="514350" indent="-514350">
              <a:buFont typeface="+mj-lt"/>
              <a:buAutoNum type="alphaUcPeriod"/>
            </a:pPr>
            <a:r>
              <a:rPr lang="fr-FR" dirty="0" err="1"/>
              <a:t>Teicoplanine</a:t>
            </a:r>
            <a:endParaRPr lang="fr-FR" dirty="0"/>
          </a:p>
          <a:p>
            <a:pPr marL="514350" indent="-514350">
              <a:buFont typeface="+mj-lt"/>
              <a:buAutoNum type="alphaUcPeriod"/>
            </a:pPr>
            <a:r>
              <a:rPr lang="fr-FR" dirty="0" err="1"/>
              <a:t>Levofloxacine</a:t>
            </a:r>
            <a:endParaRPr lang="fr-FR" dirty="0"/>
          </a:p>
          <a:p>
            <a:endParaRPr lang="fr-FR" dirty="0"/>
          </a:p>
        </p:txBody>
      </p:sp>
    </p:spTree>
    <p:extLst>
      <p:ext uri="{BB962C8B-B14F-4D97-AF65-F5344CB8AC3E}">
        <p14:creationId xmlns:p14="http://schemas.microsoft.com/office/powerpoint/2010/main" val="20410092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548681"/>
            <a:ext cx="8229600" cy="5577483"/>
          </a:xfrm>
        </p:spPr>
        <p:txBody>
          <a:bodyPr>
            <a:normAutofit/>
          </a:bodyPr>
          <a:lstStyle/>
          <a:p>
            <a:pPr marL="0" indent="0">
              <a:buNone/>
            </a:pPr>
            <a:r>
              <a:rPr lang="fr-FR" b="1" dirty="0"/>
              <a:t> Les antibiotiques suivants sont actifs sur les PABC à staphylocoque méticilline résistant :</a:t>
            </a:r>
            <a:endParaRPr lang="fr-FR" dirty="0"/>
          </a:p>
          <a:p>
            <a:pPr marL="514350" indent="-514350">
              <a:buFont typeface="+mj-lt"/>
              <a:buAutoNum type="alphaUcPeriod"/>
            </a:pPr>
            <a:r>
              <a:rPr lang="fr-FR" dirty="0">
                <a:solidFill>
                  <a:srgbClr val="FF0000"/>
                </a:solidFill>
              </a:rPr>
              <a:t>Vancomycine</a:t>
            </a:r>
          </a:p>
          <a:p>
            <a:pPr marL="514350" indent="-514350">
              <a:buFont typeface="+mj-lt"/>
              <a:buAutoNum type="alphaUcPeriod"/>
            </a:pPr>
            <a:r>
              <a:rPr lang="fr-FR" dirty="0"/>
              <a:t>Amoxicilline - acide clavulanique</a:t>
            </a:r>
          </a:p>
          <a:p>
            <a:pPr marL="514350" indent="-514350">
              <a:buFont typeface="+mj-lt"/>
              <a:buAutoNum type="alphaUcPeriod"/>
            </a:pPr>
            <a:r>
              <a:rPr lang="fr-FR" dirty="0" err="1"/>
              <a:t>Céfotaxime</a:t>
            </a:r>
            <a:endParaRPr lang="fr-FR" dirty="0"/>
          </a:p>
          <a:p>
            <a:pPr marL="514350" indent="-514350">
              <a:buFont typeface="+mj-lt"/>
              <a:buAutoNum type="alphaUcPeriod"/>
            </a:pPr>
            <a:r>
              <a:rPr lang="fr-FR" dirty="0" err="1">
                <a:solidFill>
                  <a:srgbClr val="FF0000"/>
                </a:solidFill>
              </a:rPr>
              <a:t>Teicoplanine</a:t>
            </a:r>
            <a:endParaRPr lang="fr-FR" dirty="0">
              <a:solidFill>
                <a:srgbClr val="FF0000"/>
              </a:solidFill>
            </a:endParaRPr>
          </a:p>
          <a:p>
            <a:pPr marL="514350" indent="-514350">
              <a:buFont typeface="+mj-lt"/>
              <a:buAutoNum type="alphaUcPeriod"/>
            </a:pPr>
            <a:r>
              <a:rPr lang="fr-FR" dirty="0" err="1"/>
              <a:t>Levofloxacine</a:t>
            </a:r>
            <a:endParaRPr lang="fr-FR" dirty="0"/>
          </a:p>
          <a:p>
            <a:endParaRPr lang="fr-FR" dirty="0"/>
          </a:p>
        </p:txBody>
      </p:sp>
    </p:spTree>
    <p:extLst>
      <p:ext uri="{BB962C8B-B14F-4D97-AF65-F5344CB8AC3E}">
        <p14:creationId xmlns:p14="http://schemas.microsoft.com/office/powerpoint/2010/main" val="21367308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a:bodyPr>
          <a:lstStyle/>
          <a:p>
            <a:pPr marL="0" indent="0">
              <a:buNone/>
            </a:pPr>
            <a:r>
              <a:rPr lang="fr-FR" b="1" dirty="0"/>
              <a:t> La Clarithromycine peut être administrée en première intention dans les PABC  à :</a:t>
            </a:r>
            <a:endParaRPr lang="fr-FR" dirty="0"/>
          </a:p>
          <a:p>
            <a:pPr marL="514350" indent="-514350">
              <a:buFont typeface="+mj-lt"/>
              <a:buAutoNum type="alphaUcPeriod"/>
            </a:pPr>
            <a:r>
              <a:rPr lang="fr-FR" dirty="0" err="1"/>
              <a:t>Légionelle</a:t>
            </a:r>
            <a:endParaRPr lang="fr-FR" dirty="0"/>
          </a:p>
          <a:p>
            <a:pPr marL="514350" indent="-514350">
              <a:buFont typeface="+mj-lt"/>
              <a:buAutoNum type="alphaUcPeriod"/>
            </a:pPr>
            <a:r>
              <a:rPr lang="fr-FR" dirty="0"/>
              <a:t>Pneumocoque</a:t>
            </a:r>
          </a:p>
          <a:p>
            <a:pPr marL="514350" indent="-514350">
              <a:buFont typeface="+mj-lt"/>
              <a:buAutoNum type="alphaUcPeriod"/>
            </a:pPr>
            <a:r>
              <a:rPr lang="fr-FR" dirty="0" err="1"/>
              <a:t>Haemophilusinfluenzae</a:t>
            </a:r>
            <a:endParaRPr lang="fr-FR" dirty="0"/>
          </a:p>
          <a:p>
            <a:pPr marL="514350" indent="-514350">
              <a:buFont typeface="+mj-lt"/>
              <a:buAutoNum type="alphaUcPeriod"/>
            </a:pPr>
            <a:r>
              <a:rPr lang="fr-FR" dirty="0"/>
              <a:t>Mycoplasme </a:t>
            </a:r>
          </a:p>
          <a:p>
            <a:pPr marL="514350" indent="-514350">
              <a:buFont typeface="+mj-lt"/>
              <a:buAutoNum type="alphaUcPeriod"/>
            </a:pPr>
            <a:r>
              <a:rPr lang="fr-FR" dirty="0"/>
              <a:t>Chlamydia</a:t>
            </a:r>
          </a:p>
          <a:p>
            <a:pPr marL="0" indent="0">
              <a:buNone/>
            </a:pPr>
            <a:endParaRPr lang="fr-FR" dirty="0"/>
          </a:p>
        </p:txBody>
      </p:sp>
    </p:spTree>
    <p:extLst>
      <p:ext uri="{BB962C8B-B14F-4D97-AF65-F5344CB8AC3E}">
        <p14:creationId xmlns:p14="http://schemas.microsoft.com/office/powerpoint/2010/main" val="373878134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a:bodyPr>
          <a:lstStyle/>
          <a:p>
            <a:pPr marL="0" indent="0">
              <a:buNone/>
            </a:pPr>
            <a:r>
              <a:rPr lang="fr-FR" b="1" dirty="0"/>
              <a:t> La Clarithromycine peut être administrée en première intention dans les PABC  à :</a:t>
            </a:r>
            <a:endParaRPr lang="fr-FR" dirty="0"/>
          </a:p>
          <a:p>
            <a:pPr marL="514350" indent="-514350">
              <a:buFont typeface="+mj-lt"/>
              <a:buAutoNum type="alphaUcPeriod"/>
            </a:pPr>
            <a:r>
              <a:rPr lang="fr-FR" dirty="0" err="1">
                <a:solidFill>
                  <a:srgbClr val="FF0000"/>
                </a:solidFill>
              </a:rPr>
              <a:t>Légionelle</a:t>
            </a:r>
            <a:endParaRPr lang="fr-FR" dirty="0">
              <a:solidFill>
                <a:srgbClr val="FF0000"/>
              </a:solidFill>
            </a:endParaRPr>
          </a:p>
          <a:p>
            <a:pPr marL="514350" indent="-514350">
              <a:buFont typeface="+mj-lt"/>
              <a:buAutoNum type="alphaUcPeriod"/>
            </a:pPr>
            <a:r>
              <a:rPr lang="fr-FR" dirty="0"/>
              <a:t>Pneumocoque</a:t>
            </a:r>
          </a:p>
          <a:p>
            <a:pPr marL="514350" indent="-514350">
              <a:buFont typeface="+mj-lt"/>
              <a:buAutoNum type="alphaUcPeriod"/>
            </a:pPr>
            <a:r>
              <a:rPr lang="fr-FR" dirty="0" err="1"/>
              <a:t>Haemophilusinfluenzae</a:t>
            </a:r>
            <a:endParaRPr lang="fr-FR" dirty="0"/>
          </a:p>
          <a:p>
            <a:pPr marL="514350" indent="-514350">
              <a:buFont typeface="+mj-lt"/>
              <a:buAutoNum type="alphaUcPeriod"/>
            </a:pPr>
            <a:r>
              <a:rPr lang="fr-FR" dirty="0">
                <a:solidFill>
                  <a:srgbClr val="FF0000"/>
                </a:solidFill>
              </a:rPr>
              <a:t>Mycoplasme </a:t>
            </a:r>
          </a:p>
          <a:p>
            <a:pPr marL="514350" indent="-514350">
              <a:buFont typeface="+mj-lt"/>
              <a:buAutoNum type="alphaUcPeriod"/>
            </a:pPr>
            <a:r>
              <a:rPr lang="fr-FR" dirty="0">
                <a:solidFill>
                  <a:srgbClr val="FF0000"/>
                </a:solidFill>
              </a:rPr>
              <a:t>Chlamydia</a:t>
            </a:r>
          </a:p>
          <a:p>
            <a:pPr marL="0" indent="0">
              <a:buNone/>
            </a:pPr>
            <a:endParaRPr lang="fr-FR" dirty="0"/>
          </a:p>
        </p:txBody>
      </p:sp>
    </p:spTree>
    <p:extLst>
      <p:ext uri="{BB962C8B-B14F-4D97-AF65-F5344CB8AC3E}">
        <p14:creationId xmlns:p14="http://schemas.microsoft.com/office/powerpoint/2010/main" val="280407304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548681"/>
            <a:ext cx="8229600" cy="5577483"/>
          </a:xfrm>
        </p:spPr>
        <p:txBody>
          <a:bodyPr>
            <a:normAutofit/>
          </a:bodyPr>
          <a:lstStyle/>
          <a:p>
            <a:pPr marL="0" indent="0">
              <a:buNone/>
            </a:pPr>
            <a:r>
              <a:rPr lang="fr-FR" b="1" dirty="0"/>
              <a:t> Chez un patient diabétique âgé de 55 ans porteur de PABC l’hospitalisation est indiquée :</a:t>
            </a:r>
            <a:endParaRPr lang="fr-FR" dirty="0"/>
          </a:p>
          <a:p>
            <a:pPr marL="514350" indent="-514350">
              <a:buFont typeface="+mj-lt"/>
              <a:buAutoNum type="alphaUcPeriod"/>
            </a:pPr>
            <a:r>
              <a:rPr lang="fr-FR" dirty="0"/>
              <a:t>D’emblée dans un service de pneumologie</a:t>
            </a:r>
          </a:p>
          <a:p>
            <a:pPr marL="514350" indent="-514350">
              <a:buFont typeface="+mj-lt"/>
              <a:buAutoNum type="alphaUcPeriod"/>
            </a:pPr>
            <a:r>
              <a:rPr lang="fr-FR" dirty="0"/>
              <a:t>SI l’atteinte est </a:t>
            </a:r>
            <a:r>
              <a:rPr lang="fr-FR" dirty="0" err="1"/>
              <a:t>multilobaire</a:t>
            </a:r>
            <a:r>
              <a:rPr lang="fr-FR" dirty="0"/>
              <a:t> </a:t>
            </a:r>
          </a:p>
          <a:p>
            <a:pPr marL="514350" indent="-514350">
              <a:buFont typeface="+mj-lt"/>
              <a:buAutoNum type="alphaUcPeriod"/>
            </a:pPr>
            <a:r>
              <a:rPr lang="fr-FR" dirty="0"/>
              <a:t>Si le patient est porteur de BPCO</a:t>
            </a:r>
          </a:p>
          <a:p>
            <a:pPr marL="514350" indent="-514350">
              <a:buFont typeface="+mj-lt"/>
              <a:buAutoNum type="alphaUcPeriod"/>
            </a:pPr>
            <a:r>
              <a:rPr lang="fr-FR" dirty="0"/>
              <a:t>Si le patient est hospitalisé  pour une pneumonie il y a 3 mois</a:t>
            </a:r>
          </a:p>
          <a:p>
            <a:pPr marL="514350" indent="-514350">
              <a:buFont typeface="+mj-lt"/>
              <a:buAutoNum type="alphaUcPeriod"/>
            </a:pPr>
            <a:r>
              <a:rPr lang="fr-FR" dirty="0"/>
              <a:t>Si le patient est sous </a:t>
            </a:r>
            <a:r>
              <a:rPr lang="fr-FR" dirty="0" err="1"/>
              <a:t>immunosupresseur</a:t>
            </a:r>
            <a:r>
              <a:rPr lang="fr-FR" dirty="0"/>
              <a:t> </a:t>
            </a:r>
          </a:p>
          <a:p>
            <a:endParaRPr lang="fr-FR" dirty="0"/>
          </a:p>
        </p:txBody>
      </p:sp>
    </p:spTree>
    <p:extLst>
      <p:ext uri="{BB962C8B-B14F-4D97-AF65-F5344CB8AC3E}">
        <p14:creationId xmlns:p14="http://schemas.microsoft.com/office/powerpoint/2010/main" val="4082182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22EB9-E9ED-9D63-6F7F-A2F5F6C89E0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26A1FFA-EF2F-A13E-3AE9-1ECF3A7CD3DE}"/>
              </a:ext>
            </a:extLst>
          </p:cNvPr>
          <p:cNvSpPr>
            <a:spLocks noGrp="1"/>
          </p:cNvSpPr>
          <p:nvPr>
            <p:ph idx="1"/>
          </p:nvPr>
        </p:nvSpPr>
        <p:spPr>
          <a:xfrm>
            <a:off x="1981200" y="548681"/>
            <a:ext cx="8229600" cy="5577483"/>
          </a:xfrm>
        </p:spPr>
        <p:txBody>
          <a:bodyPr>
            <a:normAutofit/>
          </a:bodyPr>
          <a:lstStyle/>
          <a:p>
            <a:pPr marL="0" indent="0">
              <a:buNone/>
            </a:pPr>
            <a:r>
              <a:rPr lang="fr-FR" b="1" dirty="0"/>
              <a:t> Chez un patient diabétique âgé de 55 ans porteur de PABC l’hospitalisation est indiquée :</a:t>
            </a:r>
            <a:endParaRPr lang="fr-FR" dirty="0"/>
          </a:p>
          <a:p>
            <a:pPr marL="514350" indent="-514350">
              <a:buFont typeface="+mj-lt"/>
              <a:buAutoNum type="alphaUcPeriod"/>
            </a:pPr>
            <a:r>
              <a:rPr lang="fr-FR" dirty="0"/>
              <a:t>D’emblée dans un service de pneumologie</a:t>
            </a:r>
          </a:p>
          <a:p>
            <a:pPr marL="514350" indent="-514350">
              <a:buFont typeface="+mj-lt"/>
              <a:buAutoNum type="alphaUcPeriod"/>
            </a:pPr>
            <a:r>
              <a:rPr lang="fr-FR" dirty="0">
                <a:solidFill>
                  <a:srgbClr val="FF0000"/>
                </a:solidFill>
              </a:rPr>
              <a:t>SI l’atteinte est </a:t>
            </a:r>
            <a:r>
              <a:rPr lang="fr-FR" dirty="0" err="1">
                <a:solidFill>
                  <a:srgbClr val="FF0000"/>
                </a:solidFill>
              </a:rPr>
              <a:t>multilobaire</a:t>
            </a:r>
            <a:r>
              <a:rPr lang="fr-FR" dirty="0">
                <a:solidFill>
                  <a:srgbClr val="FF0000"/>
                </a:solidFill>
              </a:rPr>
              <a:t> </a:t>
            </a:r>
          </a:p>
          <a:p>
            <a:pPr marL="514350" indent="-514350">
              <a:buFont typeface="+mj-lt"/>
              <a:buAutoNum type="alphaUcPeriod"/>
            </a:pPr>
            <a:r>
              <a:rPr lang="fr-FR" dirty="0">
                <a:solidFill>
                  <a:srgbClr val="FF0000"/>
                </a:solidFill>
              </a:rPr>
              <a:t>Si le patient est porteur de BPCO</a:t>
            </a:r>
          </a:p>
          <a:p>
            <a:pPr marL="514350" indent="-514350">
              <a:buFont typeface="+mj-lt"/>
              <a:buAutoNum type="alphaUcPeriod"/>
            </a:pPr>
            <a:r>
              <a:rPr lang="fr-FR" dirty="0">
                <a:solidFill>
                  <a:srgbClr val="FF0000"/>
                </a:solidFill>
              </a:rPr>
              <a:t>Si le patient est hospitalisé  pour une pneumonie il y a 3 mois</a:t>
            </a:r>
          </a:p>
          <a:p>
            <a:pPr marL="514350" indent="-514350">
              <a:buFont typeface="+mj-lt"/>
              <a:buAutoNum type="alphaUcPeriod"/>
            </a:pPr>
            <a:r>
              <a:rPr lang="fr-FR" dirty="0">
                <a:solidFill>
                  <a:srgbClr val="FF0000"/>
                </a:solidFill>
              </a:rPr>
              <a:t>Si le patient est sous </a:t>
            </a:r>
            <a:r>
              <a:rPr lang="fr-FR" dirty="0" err="1">
                <a:solidFill>
                  <a:srgbClr val="FF0000"/>
                </a:solidFill>
              </a:rPr>
              <a:t>immunosupresseur</a:t>
            </a:r>
            <a:r>
              <a:rPr lang="fr-FR" dirty="0">
                <a:solidFill>
                  <a:srgbClr val="FF0000"/>
                </a:solidFill>
              </a:rPr>
              <a:t> </a:t>
            </a:r>
          </a:p>
          <a:p>
            <a:endParaRPr lang="fr-FR" dirty="0"/>
          </a:p>
        </p:txBody>
      </p:sp>
    </p:spTree>
    <p:extLst>
      <p:ext uri="{BB962C8B-B14F-4D97-AF65-F5344CB8AC3E}">
        <p14:creationId xmlns:p14="http://schemas.microsoft.com/office/powerpoint/2010/main" val="31101842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476673"/>
            <a:ext cx="8229600" cy="5649491"/>
          </a:xfrm>
        </p:spPr>
        <p:txBody>
          <a:bodyPr>
            <a:normAutofit/>
          </a:bodyPr>
          <a:lstStyle/>
          <a:p>
            <a:pPr marL="0" indent="0">
              <a:buNone/>
            </a:pPr>
            <a:r>
              <a:rPr lang="fr-FR" b="1" dirty="0"/>
              <a:t> chez un sujet âgé de 75 ans sain hospitalisé pour PAC à pneumocoque sans signes de gravité est :</a:t>
            </a:r>
            <a:endParaRPr lang="fr-FR" dirty="0"/>
          </a:p>
          <a:p>
            <a:pPr marL="514350" indent="-514350">
              <a:buFont typeface="+mj-lt"/>
              <a:buAutoNum type="alphaUcPeriod"/>
            </a:pPr>
            <a:r>
              <a:rPr lang="fr-FR" dirty="0"/>
              <a:t>Amoxicilline</a:t>
            </a:r>
          </a:p>
          <a:p>
            <a:pPr marL="514350" indent="-514350">
              <a:buFont typeface="+mj-lt"/>
              <a:buAutoNum type="alphaUcPeriod"/>
            </a:pPr>
            <a:r>
              <a:rPr lang="fr-FR" dirty="0"/>
              <a:t>Amoxicilline acide </a:t>
            </a:r>
            <a:r>
              <a:rPr lang="fr-FR" dirty="0" err="1"/>
              <a:t>clavunalique</a:t>
            </a:r>
            <a:endParaRPr lang="fr-FR" dirty="0"/>
          </a:p>
          <a:p>
            <a:pPr marL="514350" indent="-514350">
              <a:buFont typeface="+mj-lt"/>
              <a:buAutoNum type="alphaUcPeriod"/>
            </a:pPr>
            <a:r>
              <a:rPr lang="fr-FR" dirty="0" err="1"/>
              <a:t>Levofloxacine</a:t>
            </a:r>
            <a:endParaRPr lang="fr-FR" dirty="0"/>
          </a:p>
          <a:p>
            <a:pPr marL="514350" indent="-514350">
              <a:buFont typeface="+mj-lt"/>
              <a:buAutoNum type="alphaUcPeriod"/>
            </a:pPr>
            <a:r>
              <a:rPr lang="fr-FR" dirty="0"/>
              <a:t>Pristinamycine </a:t>
            </a:r>
          </a:p>
          <a:p>
            <a:pPr marL="514350" indent="-514350">
              <a:buFont typeface="+mj-lt"/>
              <a:buAutoNum type="alphaUcPeriod"/>
            </a:pPr>
            <a:r>
              <a:rPr lang="fr-FR" dirty="0" err="1"/>
              <a:t>Clarithromycine</a:t>
            </a:r>
            <a:endParaRPr lang="fr-FR" dirty="0"/>
          </a:p>
          <a:p>
            <a:pPr marL="0" indent="0">
              <a:buNone/>
            </a:pPr>
            <a:endParaRPr lang="fr-FR" dirty="0"/>
          </a:p>
          <a:p>
            <a:endParaRPr lang="fr-FR" dirty="0"/>
          </a:p>
        </p:txBody>
      </p:sp>
    </p:spTree>
    <p:extLst>
      <p:ext uri="{BB962C8B-B14F-4D97-AF65-F5344CB8AC3E}">
        <p14:creationId xmlns:p14="http://schemas.microsoft.com/office/powerpoint/2010/main" val="14956359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5EEA-D76B-E660-B9BC-6459A6AFF5E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8DCE51C-28E6-45B1-E9FB-F00B57DF0A3D}"/>
              </a:ext>
            </a:extLst>
          </p:cNvPr>
          <p:cNvSpPr>
            <a:spLocks noGrp="1"/>
          </p:cNvSpPr>
          <p:nvPr>
            <p:ph idx="1"/>
          </p:nvPr>
        </p:nvSpPr>
        <p:spPr>
          <a:xfrm>
            <a:off x="1981200" y="476673"/>
            <a:ext cx="8229600" cy="5649491"/>
          </a:xfrm>
        </p:spPr>
        <p:txBody>
          <a:bodyPr>
            <a:normAutofit/>
          </a:bodyPr>
          <a:lstStyle/>
          <a:p>
            <a:pPr marL="0" indent="0">
              <a:buNone/>
            </a:pPr>
            <a:r>
              <a:rPr lang="fr-FR" b="1" dirty="0"/>
              <a:t> chez un sujet âgé de 75 ans sain hospitalisé pour PAC à pneumocoque sans signes de gravité est :</a:t>
            </a:r>
            <a:endParaRPr lang="fr-FR" dirty="0"/>
          </a:p>
          <a:p>
            <a:pPr marL="514350" indent="-514350">
              <a:buFont typeface="+mj-lt"/>
              <a:buAutoNum type="alphaUcPeriod"/>
            </a:pPr>
            <a:r>
              <a:rPr lang="fr-FR" dirty="0">
                <a:solidFill>
                  <a:srgbClr val="C00000"/>
                </a:solidFill>
              </a:rPr>
              <a:t>Amoxicilline</a:t>
            </a:r>
          </a:p>
          <a:p>
            <a:pPr marL="514350" indent="-514350">
              <a:buFont typeface="+mj-lt"/>
              <a:buAutoNum type="alphaUcPeriod"/>
            </a:pPr>
            <a:r>
              <a:rPr lang="fr-FR" dirty="0"/>
              <a:t>Amoxicilline acide </a:t>
            </a:r>
            <a:r>
              <a:rPr lang="fr-FR" dirty="0" err="1"/>
              <a:t>clavunalique</a:t>
            </a:r>
            <a:endParaRPr lang="fr-FR" dirty="0"/>
          </a:p>
          <a:p>
            <a:pPr marL="514350" indent="-514350">
              <a:buFont typeface="+mj-lt"/>
              <a:buAutoNum type="alphaUcPeriod"/>
            </a:pPr>
            <a:r>
              <a:rPr lang="fr-FR" dirty="0" err="1"/>
              <a:t>Levofloxacine</a:t>
            </a:r>
            <a:endParaRPr lang="fr-FR" dirty="0"/>
          </a:p>
          <a:p>
            <a:pPr marL="514350" indent="-514350">
              <a:buFont typeface="+mj-lt"/>
              <a:buAutoNum type="alphaUcPeriod"/>
            </a:pPr>
            <a:r>
              <a:rPr lang="fr-FR" dirty="0"/>
              <a:t>Pristinamycine </a:t>
            </a:r>
          </a:p>
          <a:p>
            <a:pPr marL="514350" indent="-514350">
              <a:buFont typeface="+mj-lt"/>
              <a:buAutoNum type="alphaUcPeriod"/>
            </a:pPr>
            <a:r>
              <a:rPr lang="fr-FR" dirty="0" err="1"/>
              <a:t>Clarithromycine</a:t>
            </a:r>
            <a:endParaRPr lang="fr-FR" dirty="0"/>
          </a:p>
          <a:p>
            <a:pPr marL="0" indent="0">
              <a:buNone/>
            </a:pPr>
            <a:endParaRPr lang="fr-FR" dirty="0"/>
          </a:p>
          <a:p>
            <a:endParaRPr lang="fr-FR" dirty="0"/>
          </a:p>
        </p:txBody>
      </p:sp>
    </p:spTree>
    <p:extLst>
      <p:ext uri="{BB962C8B-B14F-4D97-AF65-F5344CB8AC3E}">
        <p14:creationId xmlns:p14="http://schemas.microsoft.com/office/powerpoint/2010/main" val="379020885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Chez un adulte avec comorbidité porteur de PAC, l’antibiothérapie probabiliste de première intention qui peut  être instaurée en ambulatoire est :</a:t>
            </a:r>
            <a:endParaRPr lang="fr-FR" dirty="0"/>
          </a:p>
          <a:p>
            <a:pPr marL="514350" indent="-514350">
              <a:buFont typeface="+mj-lt"/>
              <a:buAutoNum type="alphaUcPeriod"/>
            </a:pPr>
            <a:r>
              <a:rPr lang="fr-FR" dirty="0"/>
              <a:t>Amoxicilline</a:t>
            </a:r>
          </a:p>
          <a:p>
            <a:pPr marL="514350" indent="-514350">
              <a:buFont typeface="+mj-lt"/>
              <a:buAutoNum type="alphaUcPeriod"/>
            </a:pPr>
            <a:r>
              <a:rPr lang="fr-FR" dirty="0" err="1"/>
              <a:t>Lévofloxacine</a:t>
            </a:r>
            <a:r>
              <a:rPr lang="fr-FR" dirty="0"/>
              <a:t> </a:t>
            </a:r>
          </a:p>
          <a:p>
            <a:pPr marL="514350" indent="-514350">
              <a:buFont typeface="+mj-lt"/>
              <a:buAutoNum type="alphaUcPeriod"/>
            </a:pPr>
            <a:r>
              <a:rPr lang="fr-FR" dirty="0" err="1"/>
              <a:t>Clarithromycine</a:t>
            </a:r>
            <a:endParaRPr lang="fr-FR" dirty="0"/>
          </a:p>
          <a:p>
            <a:pPr marL="514350" indent="-514350">
              <a:buFont typeface="+mj-lt"/>
              <a:buAutoNum type="alphaUcPeriod"/>
            </a:pPr>
            <a:r>
              <a:rPr lang="fr-FR" dirty="0"/>
              <a:t>Amoxicilline- acide </a:t>
            </a:r>
            <a:r>
              <a:rPr lang="fr-FR" dirty="0" err="1"/>
              <a:t>clavunalique</a:t>
            </a:r>
            <a:endParaRPr lang="fr-FR" dirty="0"/>
          </a:p>
          <a:p>
            <a:pPr marL="514350" indent="-514350">
              <a:buFont typeface="+mj-lt"/>
              <a:buAutoNum type="alphaUcPeriod"/>
            </a:pPr>
            <a:r>
              <a:rPr lang="fr-FR" dirty="0"/>
              <a:t>Ceftriaxone</a:t>
            </a:r>
          </a:p>
          <a:p>
            <a:pPr marL="0" indent="0">
              <a:buNone/>
            </a:pPr>
            <a:endParaRPr lang="fr-FR" dirty="0"/>
          </a:p>
          <a:p>
            <a:endParaRPr lang="fr-FR" dirty="0"/>
          </a:p>
        </p:txBody>
      </p:sp>
    </p:spTree>
    <p:extLst>
      <p:ext uri="{BB962C8B-B14F-4D97-AF65-F5344CB8AC3E}">
        <p14:creationId xmlns:p14="http://schemas.microsoft.com/office/powerpoint/2010/main" val="40291503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8BE8E-7A2F-F1AB-7783-50353EBE270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3CEEF06-9AE6-4B8D-CAD6-B9E6CA0BA1DC}"/>
              </a:ext>
            </a:extLst>
          </p:cNvPr>
          <p:cNvSpPr>
            <a:spLocks noGrp="1"/>
          </p:cNvSpPr>
          <p:nvPr>
            <p:ph idx="1"/>
          </p:nvPr>
        </p:nvSpPr>
        <p:spPr>
          <a:xfrm>
            <a:off x="1981200" y="692697"/>
            <a:ext cx="8229600" cy="5433467"/>
          </a:xfrm>
        </p:spPr>
        <p:txBody>
          <a:bodyPr>
            <a:normAutofit/>
          </a:bodyPr>
          <a:lstStyle/>
          <a:p>
            <a:pPr marL="0" indent="0">
              <a:buNone/>
            </a:pPr>
            <a:r>
              <a:rPr lang="fr-FR" b="1" dirty="0"/>
              <a:t>- Chez un adulte avec comorbidité porteur de PAC, l’antibiothérapie probabiliste de première intention qui peut  être instaurée en ambulatoire est :</a:t>
            </a:r>
            <a:endParaRPr lang="fr-FR" dirty="0"/>
          </a:p>
          <a:p>
            <a:pPr marL="514350" indent="-514350">
              <a:buFont typeface="+mj-lt"/>
              <a:buAutoNum type="alphaUcPeriod"/>
            </a:pPr>
            <a:r>
              <a:rPr lang="fr-FR" dirty="0"/>
              <a:t>Amoxicilline</a:t>
            </a:r>
          </a:p>
          <a:p>
            <a:pPr marL="514350" indent="-514350">
              <a:buFont typeface="+mj-lt"/>
              <a:buAutoNum type="alphaUcPeriod"/>
            </a:pPr>
            <a:r>
              <a:rPr lang="fr-FR" dirty="0" err="1">
                <a:solidFill>
                  <a:srgbClr val="C00000"/>
                </a:solidFill>
              </a:rPr>
              <a:t>Lévofloxacine</a:t>
            </a:r>
            <a:r>
              <a:rPr lang="fr-FR" dirty="0">
                <a:solidFill>
                  <a:srgbClr val="C00000"/>
                </a:solidFill>
              </a:rPr>
              <a:t> </a:t>
            </a:r>
          </a:p>
          <a:p>
            <a:pPr marL="514350" indent="-514350">
              <a:buFont typeface="+mj-lt"/>
              <a:buAutoNum type="alphaUcPeriod"/>
            </a:pPr>
            <a:r>
              <a:rPr lang="fr-FR" dirty="0" err="1"/>
              <a:t>Clarithromycine</a:t>
            </a:r>
            <a:endParaRPr lang="fr-FR" dirty="0"/>
          </a:p>
          <a:p>
            <a:pPr marL="514350" indent="-514350">
              <a:buFont typeface="+mj-lt"/>
              <a:buAutoNum type="alphaUcPeriod"/>
            </a:pPr>
            <a:r>
              <a:rPr lang="fr-FR" dirty="0">
                <a:solidFill>
                  <a:srgbClr val="C00000"/>
                </a:solidFill>
              </a:rPr>
              <a:t>Amoxicilline- acide </a:t>
            </a:r>
            <a:r>
              <a:rPr lang="fr-FR" dirty="0" err="1">
                <a:solidFill>
                  <a:srgbClr val="C00000"/>
                </a:solidFill>
              </a:rPr>
              <a:t>clavunalique</a:t>
            </a:r>
            <a:endParaRPr lang="fr-FR" dirty="0">
              <a:solidFill>
                <a:srgbClr val="C00000"/>
              </a:solidFill>
            </a:endParaRPr>
          </a:p>
          <a:p>
            <a:pPr marL="514350" indent="-514350">
              <a:buFont typeface="+mj-lt"/>
              <a:buAutoNum type="alphaUcPeriod"/>
            </a:pPr>
            <a:r>
              <a:rPr lang="fr-FR" dirty="0">
                <a:solidFill>
                  <a:srgbClr val="C00000"/>
                </a:solidFill>
              </a:rPr>
              <a:t>Ceftriaxone</a:t>
            </a:r>
          </a:p>
          <a:p>
            <a:pPr marL="0" indent="0">
              <a:buNone/>
            </a:pPr>
            <a:endParaRPr lang="fr-FR" dirty="0"/>
          </a:p>
          <a:p>
            <a:endParaRPr lang="fr-FR" dirty="0"/>
          </a:p>
        </p:txBody>
      </p:sp>
    </p:spTree>
    <p:extLst>
      <p:ext uri="{BB962C8B-B14F-4D97-AF65-F5344CB8AC3E}">
        <p14:creationId xmlns:p14="http://schemas.microsoft.com/office/powerpoint/2010/main" val="241021286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08CE0E-BCBF-3161-64AB-841DF7B5F76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CC2332B-7A32-4AC3-075B-D6220A099FF7}"/>
              </a:ext>
            </a:extLst>
          </p:cNvPr>
          <p:cNvSpPr>
            <a:spLocks noGrp="1"/>
          </p:cNvSpPr>
          <p:nvPr>
            <p:ph idx="1"/>
          </p:nvPr>
        </p:nvSpPr>
        <p:spPr/>
        <p:txBody>
          <a:bodyPr/>
          <a:lstStyle/>
          <a:p>
            <a:r>
              <a:rPr lang="fr-FR" dirty="0"/>
              <a:t>En cas d’allergie aux β-lactamines dans une PAC, l’antibiotique de choix est :</a:t>
            </a:r>
            <a:br>
              <a:rPr lang="fr-FR" dirty="0"/>
            </a:br>
            <a:r>
              <a:rPr lang="fr-FR" dirty="0"/>
              <a:t>A. Ciprofloxacine</a:t>
            </a:r>
            <a:br>
              <a:rPr lang="fr-FR" dirty="0"/>
            </a:br>
            <a:r>
              <a:rPr lang="fr-FR" dirty="0"/>
              <a:t>B. Gentamicine</a:t>
            </a:r>
            <a:br>
              <a:rPr lang="fr-FR" dirty="0"/>
            </a:br>
            <a:r>
              <a:rPr lang="fr-FR" dirty="0"/>
              <a:t>C. Pristinamycine</a:t>
            </a:r>
            <a:br>
              <a:rPr lang="fr-FR" dirty="0"/>
            </a:br>
            <a:r>
              <a:rPr lang="fr-FR" dirty="0"/>
              <a:t>D. </a:t>
            </a:r>
            <a:r>
              <a:rPr lang="fr-FR" dirty="0" err="1"/>
              <a:t>Céfotaxime</a:t>
            </a:r>
            <a:r>
              <a:rPr lang="fr-FR" dirty="0"/>
              <a:t/>
            </a:r>
            <a:br>
              <a:rPr lang="fr-FR" dirty="0"/>
            </a:br>
            <a:r>
              <a:rPr lang="fr-FR" dirty="0"/>
              <a:t>E. Vancomycine</a:t>
            </a:r>
            <a:br>
              <a:rPr lang="fr-FR" dirty="0"/>
            </a:br>
            <a:endParaRPr lang="fr-FR" dirty="0"/>
          </a:p>
        </p:txBody>
      </p:sp>
    </p:spTree>
    <p:extLst>
      <p:ext uri="{BB962C8B-B14F-4D97-AF65-F5344CB8AC3E}">
        <p14:creationId xmlns:p14="http://schemas.microsoft.com/office/powerpoint/2010/main" val="327455565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045167-9175-B8E4-390E-0B4F194BFEF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E526475-F52B-AB7F-7865-987CBB200535}"/>
              </a:ext>
            </a:extLst>
          </p:cNvPr>
          <p:cNvSpPr>
            <a:spLocks noGrp="1"/>
          </p:cNvSpPr>
          <p:nvPr>
            <p:ph idx="1"/>
          </p:nvPr>
        </p:nvSpPr>
        <p:spPr/>
        <p:txBody>
          <a:bodyPr/>
          <a:lstStyle/>
          <a:p>
            <a:r>
              <a:rPr lang="fr-FR" dirty="0"/>
              <a:t>En cas d’allergie aux β-lactamines dans une PAC, l’antibiotique de choix est :</a:t>
            </a:r>
            <a:br>
              <a:rPr lang="fr-FR" dirty="0"/>
            </a:br>
            <a:r>
              <a:rPr lang="fr-FR" dirty="0"/>
              <a:t>A. Ciprofloxacine</a:t>
            </a:r>
            <a:br>
              <a:rPr lang="fr-FR" dirty="0"/>
            </a:br>
            <a:r>
              <a:rPr lang="fr-FR" dirty="0"/>
              <a:t>B. Gentamicine</a:t>
            </a:r>
            <a:br>
              <a:rPr lang="fr-FR" dirty="0"/>
            </a:br>
            <a:r>
              <a:rPr lang="fr-FR" dirty="0"/>
              <a:t>C. </a:t>
            </a:r>
            <a:r>
              <a:rPr lang="fr-FR" dirty="0">
                <a:solidFill>
                  <a:srgbClr val="C00000"/>
                </a:solidFill>
              </a:rPr>
              <a:t>Pristinamycine</a:t>
            </a:r>
            <a:br>
              <a:rPr lang="fr-FR" dirty="0">
                <a:solidFill>
                  <a:srgbClr val="C00000"/>
                </a:solidFill>
              </a:rPr>
            </a:br>
            <a:r>
              <a:rPr lang="fr-FR" dirty="0"/>
              <a:t>D. </a:t>
            </a:r>
            <a:r>
              <a:rPr lang="fr-FR" dirty="0" err="1"/>
              <a:t>Céfotaxime</a:t>
            </a:r>
            <a:r>
              <a:rPr lang="fr-FR" dirty="0"/>
              <a:t/>
            </a:r>
            <a:br>
              <a:rPr lang="fr-FR" dirty="0"/>
            </a:br>
            <a:r>
              <a:rPr lang="fr-FR" dirty="0"/>
              <a:t>E. Vancomycine</a:t>
            </a:r>
            <a:br>
              <a:rPr lang="fr-FR" dirty="0"/>
            </a:br>
            <a:endParaRPr lang="fr-FR" dirty="0"/>
          </a:p>
        </p:txBody>
      </p:sp>
    </p:spTree>
    <p:extLst>
      <p:ext uri="{BB962C8B-B14F-4D97-AF65-F5344CB8AC3E}">
        <p14:creationId xmlns:p14="http://schemas.microsoft.com/office/powerpoint/2010/main" val="260415319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1110-7019-2809-5D61-CC50ABB3AA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F17134-29BB-B334-EA98-AF78B953BB7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3DC518F-B2B0-6DFE-678F-86BAF4E4AAA7}"/>
              </a:ext>
            </a:extLst>
          </p:cNvPr>
          <p:cNvSpPr>
            <a:spLocks noGrp="1"/>
          </p:cNvSpPr>
          <p:nvPr>
            <p:ph idx="1"/>
          </p:nvPr>
        </p:nvSpPr>
        <p:spPr/>
        <p:txBody>
          <a:bodyPr/>
          <a:lstStyle/>
          <a:p>
            <a:r>
              <a:rPr lang="fr-FR" dirty="0"/>
              <a:t>La durée habituelle du traitement antibiotique d’une PAC à germes intracellulaires est :</a:t>
            </a:r>
            <a:br>
              <a:rPr lang="fr-FR" dirty="0"/>
            </a:br>
            <a:r>
              <a:rPr lang="fr-FR" dirty="0"/>
              <a:t>A. 5 jours</a:t>
            </a:r>
            <a:br>
              <a:rPr lang="fr-FR" dirty="0"/>
            </a:br>
            <a:r>
              <a:rPr lang="fr-FR" dirty="0"/>
              <a:t>B. 7 jours</a:t>
            </a:r>
            <a:br>
              <a:rPr lang="fr-FR" dirty="0"/>
            </a:br>
            <a:r>
              <a:rPr lang="fr-FR" dirty="0"/>
              <a:t>C. 10 jours</a:t>
            </a:r>
            <a:br>
              <a:rPr lang="fr-FR" dirty="0"/>
            </a:br>
            <a:r>
              <a:rPr lang="fr-FR" dirty="0"/>
              <a:t>D. 14 jours</a:t>
            </a:r>
            <a:br>
              <a:rPr lang="fr-FR" dirty="0"/>
            </a:br>
            <a:r>
              <a:rPr lang="fr-FR" dirty="0"/>
              <a:t>E. 21 jours</a:t>
            </a:r>
            <a:br>
              <a:rPr lang="fr-FR" dirty="0"/>
            </a:br>
            <a:endParaRPr lang="fr-FR" dirty="0"/>
          </a:p>
        </p:txBody>
      </p:sp>
    </p:spTree>
    <p:extLst>
      <p:ext uri="{BB962C8B-B14F-4D97-AF65-F5344CB8AC3E}">
        <p14:creationId xmlns:p14="http://schemas.microsoft.com/office/powerpoint/2010/main" val="349947665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B28EC2-8B08-D4CB-6C64-E900F08D26A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EE28A41-ED47-E189-611C-E2D7A1CD3962}"/>
              </a:ext>
            </a:extLst>
          </p:cNvPr>
          <p:cNvSpPr>
            <a:spLocks noGrp="1"/>
          </p:cNvSpPr>
          <p:nvPr>
            <p:ph idx="1"/>
          </p:nvPr>
        </p:nvSpPr>
        <p:spPr/>
        <p:txBody>
          <a:bodyPr/>
          <a:lstStyle/>
          <a:p>
            <a:r>
              <a:rPr lang="fr-FR" dirty="0"/>
              <a:t>La durée habituelle du traitement antibiotique d’une PAC à germes intracellulaires est :</a:t>
            </a:r>
            <a:br>
              <a:rPr lang="fr-FR" dirty="0"/>
            </a:br>
            <a:r>
              <a:rPr lang="fr-FR" dirty="0"/>
              <a:t>A. 5 jours</a:t>
            </a:r>
            <a:br>
              <a:rPr lang="fr-FR" dirty="0"/>
            </a:br>
            <a:r>
              <a:rPr lang="fr-FR" dirty="0"/>
              <a:t>B. 7 jours</a:t>
            </a:r>
            <a:br>
              <a:rPr lang="fr-FR" dirty="0"/>
            </a:br>
            <a:r>
              <a:rPr lang="fr-FR" dirty="0"/>
              <a:t>C. 10 jours</a:t>
            </a:r>
            <a:br>
              <a:rPr lang="fr-FR" dirty="0"/>
            </a:br>
            <a:r>
              <a:rPr lang="fr-FR" dirty="0"/>
              <a:t>D. </a:t>
            </a:r>
            <a:r>
              <a:rPr lang="fr-FR" dirty="0">
                <a:solidFill>
                  <a:srgbClr val="C00000"/>
                </a:solidFill>
              </a:rPr>
              <a:t>14 jours</a:t>
            </a:r>
            <a:r>
              <a:rPr lang="fr-FR" dirty="0"/>
              <a:t/>
            </a:r>
            <a:br>
              <a:rPr lang="fr-FR" dirty="0"/>
            </a:br>
            <a:r>
              <a:rPr lang="fr-FR" dirty="0"/>
              <a:t>E. 21 jours</a:t>
            </a:r>
            <a:br>
              <a:rPr lang="fr-FR" dirty="0"/>
            </a:br>
            <a:endParaRPr lang="fr-FR" dirty="0"/>
          </a:p>
        </p:txBody>
      </p:sp>
    </p:spTree>
    <p:extLst>
      <p:ext uri="{BB962C8B-B14F-4D97-AF65-F5344CB8AC3E}">
        <p14:creationId xmlns:p14="http://schemas.microsoft.com/office/powerpoint/2010/main" val="219361642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lnSpcReduction="10000"/>
          </a:bodyPr>
          <a:lstStyle/>
          <a:p>
            <a:pPr marL="0" indent="0">
              <a:buNone/>
            </a:pPr>
            <a:r>
              <a:rPr lang="fr-FR" b="1" dirty="0"/>
              <a:t>Les propositions justes concernant l’indication des macrolides dans le traitement des PABC de l’adulte sain sans signes de gravité sont :</a:t>
            </a:r>
            <a:endParaRPr lang="fr-FR" dirty="0"/>
          </a:p>
          <a:p>
            <a:pPr marL="514350" indent="-514350">
              <a:buFont typeface="+mj-lt"/>
              <a:buAutoNum type="alphaUcPeriod"/>
            </a:pPr>
            <a:r>
              <a:rPr lang="fr-FR" dirty="0"/>
              <a:t>En première intention  en cas de pneumopathie alvéolaire localisée à un segment pulmonaire</a:t>
            </a:r>
          </a:p>
          <a:p>
            <a:pPr marL="514350" indent="-514350">
              <a:buFont typeface="+mj-lt"/>
              <a:buAutoNum type="alphaUcPeriod"/>
            </a:pPr>
            <a:r>
              <a:rPr lang="fr-FR" dirty="0"/>
              <a:t>En première intention en cas de pneumopathie à mycoplasme </a:t>
            </a:r>
            <a:r>
              <a:rPr lang="fr-FR" dirty="0" err="1"/>
              <a:t>pneumoniae</a:t>
            </a:r>
            <a:endParaRPr lang="fr-FR" dirty="0"/>
          </a:p>
          <a:p>
            <a:pPr marL="514350" indent="-514350">
              <a:buFont typeface="+mj-lt"/>
              <a:buAutoNum type="alphaUcPeriod"/>
            </a:pPr>
            <a:r>
              <a:rPr lang="fr-FR" dirty="0"/>
              <a:t>En première intention en cas de pneumopathie alvéolaire chez un patient allergique aux pénicillines</a:t>
            </a:r>
          </a:p>
          <a:p>
            <a:pPr marL="514350" indent="-514350">
              <a:buFont typeface="+mj-lt"/>
              <a:buAutoNum type="alphaUcPeriod"/>
            </a:pPr>
            <a:r>
              <a:rPr lang="fr-FR" dirty="0"/>
              <a:t>En cas d’échec de l’antibiothérapie probabiliste à base d’amoxicilline</a:t>
            </a:r>
          </a:p>
          <a:p>
            <a:pPr marL="514350" indent="-514350">
              <a:buFont typeface="+mj-lt"/>
              <a:buAutoNum type="alphaUcPeriod"/>
            </a:pPr>
            <a:r>
              <a:rPr lang="fr-FR" dirty="0"/>
              <a:t>En première intention en cas de pneumopathie à chlamydia </a:t>
            </a:r>
            <a:r>
              <a:rPr lang="fr-FR" dirty="0" err="1"/>
              <a:t>pneumoniae</a:t>
            </a:r>
            <a:endParaRPr lang="fr-FR" dirty="0"/>
          </a:p>
          <a:p>
            <a:pPr marL="0" indent="0">
              <a:buNone/>
            </a:pPr>
            <a:endParaRPr lang="fr-FR" dirty="0"/>
          </a:p>
          <a:p>
            <a:endParaRPr lang="fr-FR" dirty="0"/>
          </a:p>
        </p:txBody>
      </p:sp>
    </p:spTree>
    <p:extLst>
      <p:ext uri="{BB962C8B-B14F-4D97-AF65-F5344CB8AC3E}">
        <p14:creationId xmlns:p14="http://schemas.microsoft.com/office/powerpoint/2010/main" val="337991513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lnSpcReduction="10000"/>
          </a:bodyPr>
          <a:lstStyle/>
          <a:p>
            <a:pPr marL="0" indent="0">
              <a:buNone/>
            </a:pPr>
            <a:r>
              <a:rPr lang="fr-FR" b="1" dirty="0"/>
              <a:t> Les propositions justes concernant l’indication des macrolides dans le traitement des PABC de l’adulte sain sans signes de gravité sont :</a:t>
            </a:r>
            <a:endParaRPr lang="fr-FR" dirty="0"/>
          </a:p>
          <a:p>
            <a:pPr marL="514350" indent="-514350">
              <a:buFont typeface="+mj-lt"/>
              <a:buAutoNum type="alphaUcPeriod"/>
            </a:pPr>
            <a:r>
              <a:rPr lang="fr-FR" dirty="0"/>
              <a:t>En première intention  en cas de pneumopathie alvéolaire localisée à un segment pulmonaire</a:t>
            </a:r>
          </a:p>
          <a:p>
            <a:pPr marL="514350" indent="-514350">
              <a:buFont typeface="+mj-lt"/>
              <a:buAutoNum type="alphaUcPeriod"/>
            </a:pPr>
            <a:r>
              <a:rPr lang="fr-FR" dirty="0">
                <a:solidFill>
                  <a:srgbClr val="C00000"/>
                </a:solidFill>
              </a:rPr>
              <a:t>En première intention en cas de pneumopathie à mycoplasme </a:t>
            </a:r>
            <a:r>
              <a:rPr lang="fr-FR" dirty="0" err="1">
                <a:solidFill>
                  <a:srgbClr val="C00000"/>
                </a:solidFill>
              </a:rPr>
              <a:t>pneumoniae</a:t>
            </a:r>
            <a:endParaRPr lang="fr-FR" dirty="0">
              <a:solidFill>
                <a:srgbClr val="C00000"/>
              </a:solidFill>
            </a:endParaRPr>
          </a:p>
          <a:p>
            <a:pPr marL="514350" indent="-514350">
              <a:buFont typeface="+mj-lt"/>
              <a:buAutoNum type="alphaUcPeriod"/>
            </a:pPr>
            <a:r>
              <a:rPr lang="fr-FR" dirty="0"/>
              <a:t>En première intention en cas de pneumopathie alvéolaire chez un patient allergique aux pénicillines</a:t>
            </a:r>
          </a:p>
          <a:p>
            <a:pPr marL="514350" indent="-514350">
              <a:buFont typeface="+mj-lt"/>
              <a:buAutoNum type="alphaUcPeriod"/>
            </a:pPr>
            <a:r>
              <a:rPr lang="fr-FR" dirty="0">
                <a:solidFill>
                  <a:srgbClr val="C00000"/>
                </a:solidFill>
              </a:rPr>
              <a:t>En cas d’échec de l’antibiothérapie probabiliste à base d’amoxicilline</a:t>
            </a:r>
          </a:p>
          <a:p>
            <a:pPr marL="514350" indent="-514350">
              <a:buFont typeface="+mj-lt"/>
              <a:buAutoNum type="alphaUcPeriod"/>
            </a:pPr>
            <a:r>
              <a:rPr lang="fr-FR" dirty="0">
                <a:solidFill>
                  <a:srgbClr val="C00000"/>
                </a:solidFill>
              </a:rPr>
              <a:t>En première intention en cas de pneumopathie à chlamydia </a:t>
            </a:r>
            <a:r>
              <a:rPr lang="fr-FR" dirty="0" err="1">
                <a:solidFill>
                  <a:srgbClr val="C00000"/>
                </a:solidFill>
              </a:rPr>
              <a:t>pneumoniae</a:t>
            </a:r>
            <a:endParaRPr lang="fr-FR" dirty="0">
              <a:solidFill>
                <a:srgbClr val="C00000"/>
              </a:solidFill>
            </a:endParaRPr>
          </a:p>
          <a:p>
            <a:pPr marL="0" indent="0">
              <a:buNone/>
            </a:pPr>
            <a:endParaRPr lang="fr-FR" dirty="0"/>
          </a:p>
          <a:p>
            <a:endParaRPr lang="fr-FR" dirty="0"/>
          </a:p>
        </p:txBody>
      </p:sp>
    </p:spTree>
    <p:extLst>
      <p:ext uri="{BB962C8B-B14F-4D97-AF65-F5344CB8AC3E}">
        <p14:creationId xmlns:p14="http://schemas.microsoft.com/office/powerpoint/2010/main" val="253707292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6E70DA-9CDB-47F8-0615-78BC166EEC0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886A2C9-F39C-5A32-35E5-7FB1E59D0A02}"/>
              </a:ext>
            </a:extLst>
          </p:cNvPr>
          <p:cNvSpPr>
            <a:spLocks noGrp="1"/>
          </p:cNvSpPr>
          <p:nvPr>
            <p:ph idx="1"/>
          </p:nvPr>
        </p:nvSpPr>
        <p:spPr/>
        <p:txBody>
          <a:bodyPr/>
          <a:lstStyle/>
          <a:p>
            <a:r>
              <a:rPr lang="fr-FR" dirty="0"/>
              <a:t>L’antibiothérapie à </a:t>
            </a:r>
            <a:r>
              <a:rPr lang="fr-FR" dirty="0" err="1"/>
              <a:t>prescire</a:t>
            </a:r>
            <a:r>
              <a:rPr lang="fr-FR" dirty="0"/>
              <a:t> dans une PAC grave en soins intensifs peut associer :</a:t>
            </a:r>
            <a:br>
              <a:rPr lang="fr-FR" dirty="0"/>
            </a:br>
            <a:r>
              <a:rPr lang="fr-FR" dirty="0"/>
              <a:t>A. Amoxicilline +acide clavulanique </a:t>
            </a:r>
            <a:br>
              <a:rPr lang="fr-FR" dirty="0"/>
            </a:br>
            <a:r>
              <a:rPr lang="fr-FR" dirty="0"/>
              <a:t>B. Macrolide + fluoroquinolone</a:t>
            </a:r>
            <a:br>
              <a:rPr lang="fr-FR" dirty="0"/>
            </a:br>
            <a:r>
              <a:rPr lang="fr-FR" dirty="0"/>
              <a:t>C. Céphalosporine de 3e génération + macrolide</a:t>
            </a:r>
            <a:br>
              <a:rPr lang="fr-FR" dirty="0"/>
            </a:br>
            <a:r>
              <a:rPr lang="fr-FR" dirty="0"/>
              <a:t>D. </a:t>
            </a:r>
            <a:r>
              <a:rPr lang="fr-FR" dirty="0" err="1"/>
              <a:t>teicoplanine</a:t>
            </a:r>
            <a:r>
              <a:rPr lang="fr-FR" dirty="0"/>
              <a:t>+ macrolides </a:t>
            </a:r>
            <a:br>
              <a:rPr lang="fr-FR" dirty="0"/>
            </a:br>
            <a:r>
              <a:rPr lang="fr-FR" dirty="0"/>
              <a:t>E. Céphalosporine de 3e génération + fluoroquinolone</a:t>
            </a:r>
          </a:p>
        </p:txBody>
      </p:sp>
    </p:spTree>
    <p:extLst>
      <p:ext uri="{BB962C8B-B14F-4D97-AF65-F5344CB8AC3E}">
        <p14:creationId xmlns:p14="http://schemas.microsoft.com/office/powerpoint/2010/main" val="24509421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FF9B6-4F41-C803-6635-144A4407888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48A172-3264-2F92-1E8D-318C652E521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5E5F4FA-AD47-63C2-BE4B-F16CACEFBB8E}"/>
              </a:ext>
            </a:extLst>
          </p:cNvPr>
          <p:cNvSpPr>
            <a:spLocks noGrp="1"/>
          </p:cNvSpPr>
          <p:nvPr>
            <p:ph idx="1"/>
          </p:nvPr>
        </p:nvSpPr>
        <p:spPr/>
        <p:txBody>
          <a:bodyPr/>
          <a:lstStyle/>
          <a:p>
            <a:r>
              <a:rPr lang="fr-FR" dirty="0"/>
              <a:t>L’antibiothérapie à </a:t>
            </a:r>
            <a:r>
              <a:rPr lang="fr-FR" dirty="0" err="1"/>
              <a:t>prescire</a:t>
            </a:r>
            <a:r>
              <a:rPr lang="fr-FR" dirty="0"/>
              <a:t> dans une PAC grave en soins intensifs peut associer :</a:t>
            </a:r>
            <a:br>
              <a:rPr lang="fr-FR" dirty="0"/>
            </a:br>
            <a:r>
              <a:rPr lang="fr-FR" dirty="0"/>
              <a:t>A. Amoxicilline +acide clavulanique </a:t>
            </a:r>
            <a:br>
              <a:rPr lang="fr-FR" dirty="0"/>
            </a:br>
            <a:r>
              <a:rPr lang="fr-FR" dirty="0"/>
              <a:t>B. Macrolide + fluoroquinolone</a:t>
            </a:r>
            <a:br>
              <a:rPr lang="fr-FR" dirty="0"/>
            </a:br>
            <a:r>
              <a:rPr lang="fr-FR" dirty="0"/>
              <a:t>C. </a:t>
            </a:r>
            <a:r>
              <a:rPr lang="fr-FR" dirty="0">
                <a:solidFill>
                  <a:srgbClr val="C00000"/>
                </a:solidFill>
              </a:rPr>
              <a:t>Céphalosporine de 3e génération + macrolide</a:t>
            </a:r>
            <a:r>
              <a:rPr lang="fr-FR" dirty="0"/>
              <a:t/>
            </a:r>
            <a:br>
              <a:rPr lang="fr-FR" dirty="0"/>
            </a:br>
            <a:r>
              <a:rPr lang="fr-FR" dirty="0"/>
              <a:t>D. </a:t>
            </a:r>
            <a:r>
              <a:rPr lang="fr-FR" dirty="0" err="1"/>
              <a:t>teicoplanine</a:t>
            </a:r>
            <a:r>
              <a:rPr lang="fr-FR" dirty="0"/>
              <a:t>+ macrolides </a:t>
            </a:r>
            <a:br>
              <a:rPr lang="fr-FR" dirty="0"/>
            </a:br>
            <a:r>
              <a:rPr lang="fr-FR" dirty="0"/>
              <a:t>E. </a:t>
            </a:r>
            <a:r>
              <a:rPr lang="fr-FR" dirty="0">
                <a:solidFill>
                  <a:srgbClr val="C00000"/>
                </a:solidFill>
              </a:rPr>
              <a:t>Céphalosporine de 3e génération + fluoroquinolone</a:t>
            </a:r>
          </a:p>
        </p:txBody>
      </p:sp>
    </p:spTree>
    <p:extLst>
      <p:ext uri="{BB962C8B-B14F-4D97-AF65-F5344CB8AC3E}">
        <p14:creationId xmlns:p14="http://schemas.microsoft.com/office/powerpoint/2010/main" val="209839837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96D2BB-7AE3-CD84-172D-1A9C4273A3F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D37EC57-7E43-CF63-C7B0-6319604C0394}"/>
              </a:ext>
            </a:extLst>
          </p:cNvPr>
          <p:cNvSpPr>
            <a:spLocks noGrp="1"/>
          </p:cNvSpPr>
          <p:nvPr>
            <p:ph idx="1"/>
          </p:nvPr>
        </p:nvSpPr>
        <p:spPr/>
        <p:txBody>
          <a:bodyPr/>
          <a:lstStyle/>
          <a:p>
            <a:r>
              <a:rPr lang="fr-FR" dirty="0"/>
              <a:t>Antibiotiques actifs sur les germes intracellulaires :</a:t>
            </a:r>
            <a:br>
              <a:rPr lang="fr-FR" dirty="0"/>
            </a:br>
            <a:r>
              <a:rPr lang="fr-FR" dirty="0"/>
              <a:t>A. Amoxicilline</a:t>
            </a:r>
            <a:br>
              <a:rPr lang="fr-FR" dirty="0"/>
            </a:br>
            <a:r>
              <a:rPr lang="fr-FR" dirty="0"/>
              <a:t>B. Macrolides</a:t>
            </a:r>
            <a:br>
              <a:rPr lang="fr-FR" dirty="0"/>
            </a:br>
            <a:r>
              <a:rPr lang="fr-FR" dirty="0"/>
              <a:t>C. Cyclines (doxycycline)</a:t>
            </a:r>
            <a:br>
              <a:rPr lang="fr-FR" dirty="0"/>
            </a:br>
            <a:r>
              <a:rPr lang="fr-FR" dirty="0"/>
              <a:t>D. Fluoroquinolones antipneumococciques</a:t>
            </a:r>
            <a:br>
              <a:rPr lang="fr-FR" dirty="0"/>
            </a:br>
            <a:r>
              <a:rPr lang="fr-FR" dirty="0"/>
              <a:t>E. Céphalosporines de 3e génération</a:t>
            </a:r>
            <a:br>
              <a:rPr lang="fr-FR" dirty="0"/>
            </a:br>
            <a:endParaRPr lang="fr-FR" dirty="0"/>
          </a:p>
        </p:txBody>
      </p:sp>
    </p:spTree>
    <p:extLst>
      <p:ext uri="{BB962C8B-B14F-4D97-AF65-F5344CB8AC3E}">
        <p14:creationId xmlns:p14="http://schemas.microsoft.com/office/powerpoint/2010/main" val="20908970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9B518-C01F-6C5B-B76C-3562289FDD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F7E4B4B-4F72-119A-C572-EF95F26DDBF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E00661A-F818-55C2-FB4F-3648E4DDFFF6}"/>
              </a:ext>
            </a:extLst>
          </p:cNvPr>
          <p:cNvSpPr>
            <a:spLocks noGrp="1"/>
          </p:cNvSpPr>
          <p:nvPr>
            <p:ph idx="1"/>
          </p:nvPr>
        </p:nvSpPr>
        <p:spPr/>
        <p:txBody>
          <a:bodyPr/>
          <a:lstStyle/>
          <a:p>
            <a:r>
              <a:rPr lang="fr-FR" dirty="0"/>
              <a:t>Antibiotiques actifs sur les germes intracellulaires :</a:t>
            </a:r>
            <a:br>
              <a:rPr lang="fr-FR" dirty="0"/>
            </a:br>
            <a:r>
              <a:rPr lang="fr-FR" dirty="0"/>
              <a:t>A. Amoxicilline</a:t>
            </a:r>
            <a:br>
              <a:rPr lang="fr-FR" dirty="0"/>
            </a:br>
            <a:r>
              <a:rPr lang="fr-FR" dirty="0"/>
              <a:t>B. </a:t>
            </a:r>
            <a:r>
              <a:rPr lang="fr-FR" dirty="0">
                <a:solidFill>
                  <a:srgbClr val="C00000"/>
                </a:solidFill>
              </a:rPr>
              <a:t>Macrolides</a:t>
            </a:r>
            <a:br>
              <a:rPr lang="fr-FR" dirty="0">
                <a:solidFill>
                  <a:srgbClr val="C00000"/>
                </a:solidFill>
              </a:rPr>
            </a:br>
            <a:r>
              <a:rPr lang="fr-FR" dirty="0">
                <a:solidFill>
                  <a:srgbClr val="C00000"/>
                </a:solidFill>
              </a:rPr>
              <a:t>C. Cyclines (doxycycline)</a:t>
            </a:r>
            <a:br>
              <a:rPr lang="fr-FR" dirty="0">
                <a:solidFill>
                  <a:srgbClr val="C00000"/>
                </a:solidFill>
              </a:rPr>
            </a:br>
            <a:r>
              <a:rPr lang="fr-FR" dirty="0">
                <a:solidFill>
                  <a:srgbClr val="C00000"/>
                </a:solidFill>
              </a:rPr>
              <a:t>D. Fluoroquinolones antipneumococciques</a:t>
            </a:r>
            <a:r>
              <a:rPr lang="fr-FR" dirty="0"/>
              <a:t/>
            </a:r>
            <a:br>
              <a:rPr lang="fr-FR" dirty="0"/>
            </a:br>
            <a:r>
              <a:rPr lang="fr-FR" dirty="0"/>
              <a:t>E. Céphalosporines de 3e génération</a:t>
            </a:r>
            <a:br>
              <a:rPr lang="fr-FR" dirty="0"/>
            </a:br>
            <a:endParaRPr lang="fr-FR" dirty="0"/>
          </a:p>
        </p:txBody>
      </p:sp>
    </p:spTree>
    <p:extLst>
      <p:ext uri="{BB962C8B-B14F-4D97-AF65-F5344CB8AC3E}">
        <p14:creationId xmlns:p14="http://schemas.microsoft.com/office/powerpoint/2010/main" val="39140450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0258C6-D0A6-2205-0E7A-50BB13BC08B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F243AF9-3A6C-1270-A39A-A1F92B7B9695}"/>
              </a:ext>
            </a:extLst>
          </p:cNvPr>
          <p:cNvSpPr>
            <a:spLocks noGrp="1"/>
          </p:cNvSpPr>
          <p:nvPr>
            <p:ph idx="1"/>
          </p:nvPr>
        </p:nvSpPr>
        <p:spPr/>
        <p:txBody>
          <a:bodyPr/>
          <a:lstStyle/>
          <a:p>
            <a:r>
              <a:rPr lang="fr-FR" dirty="0"/>
              <a:t>Concernant la prévention vaccinale :</a:t>
            </a:r>
            <a:br>
              <a:rPr lang="fr-FR" dirty="0"/>
            </a:br>
            <a:r>
              <a:rPr lang="fr-FR" dirty="0"/>
              <a:t>A. La vaccination antipneumococcique est recommandée tous les 5 ans avec le vaccin polysaccharidique</a:t>
            </a:r>
            <a:br>
              <a:rPr lang="fr-FR" dirty="0"/>
            </a:br>
            <a:r>
              <a:rPr lang="fr-FR" dirty="0"/>
              <a:t>B. Le vaccin conjugué 13 valences se fait une seule fois dans la vie adulte</a:t>
            </a:r>
            <a:br>
              <a:rPr lang="fr-FR" dirty="0"/>
            </a:br>
            <a:r>
              <a:rPr lang="fr-FR" dirty="0"/>
              <a:t>C. La vaccination antigrippale est annuelle</a:t>
            </a:r>
            <a:br>
              <a:rPr lang="fr-FR" dirty="0"/>
            </a:br>
            <a:r>
              <a:rPr lang="fr-FR" dirty="0"/>
              <a:t>D. La vaccination anti-COVID est indiquée chez les patients à risque</a:t>
            </a:r>
            <a:br>
              <a:rPr lang="fr-FR" dirty="0"/>
            </a:br>
            <a:r>
              <a:rPr lang="fr-FR" dirty="0"/>
              <a:t>E. L’efficacité est maximale après l’âge de 75 ans</a:t>
            </a:r>
            <a:br>
              <a:rPr lang="fr-FR" dirty="0"/>
            </a:br>
            <a:endParaRPr lang="fr-FR" dirty="0"/>
          </a:p>
        </p:txBody>
      </p:sp>
    </p:spTree>
    <p:extLst>
      <p:ext uri="{BB962C8B-B14F-4D97-AF65-F5344CB8AC3E}">
        <p14:creationId xmlns:p14="http://schemas.microsoft.com/office/powerpoint/2010/main" val="49841954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4527C-7C2C-1074-B486-AE9F4E7115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BABDC5B-E542-E5DC-F465-0BE394F8693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F37C8AB-39E4-3BE6-311E-5B4CD28F4F83}"/>
              </a:ext>
            </a:extLst>
          </p:cNvPr>
          <p:cNvSpPr>
            <a:spLocks noGrp="1"/>
          </p:cNvSpPr>
          <p:nvPr>
            <p:ph idx="1"/>
          </p:nvPr>
        </p:nvSpPr>
        <p:spPr/>
        <p:txBody>
          <a:bodyPr/>
          <a:lstStyle/>
          <a:p>
            <a:r>
              <a:rPr lang="fr-FR" dirty="0"/>
              <a:t>Concernant la prévention vaccinale :</a:t>
            </a:r>
            <a:br>
              <a:rPr lang="fr-FR" dirty="0"/>
            </a:br>
            <a:r>
              <a:rPr lang="fr-FR" dirty="0"/>
              <a:t>A. </a:t>
            </a:r>
            <a:r>
              <a:rPr lang="fr-FR" dirty="0">
                <a:solidFill>
                  <a:srgbClr val="C00000"/>
                </a:solidFill>
              </a:rPr>
              <a:t>La vaccination antipneumococcique est recommandée tous les 5 ans avec le vaccin polysaccharidique</a:t>
            </a:r>
            <a:br>
              <a:rPr lang="fr-FR" dirty="0">
                <a:solidFill>
                  <a:srgbClr val="C00000"/>
                </a:solidFill>
              </a:rPr>
            </a:br>
            <a:r>
              <a:rPr lang="fr-FR" dirty="0">
                <a:solidFill>
                  <a:srgbClr val="C00000"/>
                </a:solidFill>
              </a:rPr>
              <a:t>B. Le vaccin conjugué 13 valences se fait une seule fois dans la vie adulte</a:t>
            </a:r>
            <a:br>
              <a:rPr lang="fr-FR" dirty="0">
                <a:solidFill>
                  <a:srgbClr val="C00000"/>
                </a:solidFill>
              </a:rPr>
            </a:br>
            <a:r>
              <a:rPr lang="fr-FR" dirty="0">
                <a:solidFill>
                  <a:srgbClr val="C00000"/>
                </a:solidFill>
              </a:rPr>
              <a:t>C. La vaccination antigrippale est annuelle</a:t>
            </a:r>
            <a:br>
              <a:rPr lang="fr-FR" dirty="0">
                <a:solidFill>
                  <a:srgbClr val="C00000"/>
                </a:solidFill>
              </a:rPr>
            </a:br>
            <a:r>
              <a:rPr lang="fr-FR" dirty="0">
                <a:solidFill>
                  <a:srgbClr val="C00000"/>
                </a:solidFill>
              </a:rPr>
              <a:t>D. La vaccination anti-COVID est indiquée chez les patients à risque</a:t>
            </a:r>
            <a:r>
              <a:rPr lang="fr-FR" dirty="0"/>
              <a:t/>
            </a:r>
            <a:br>
              <a:rPr lang="fr-FR" dirty="0"/>
            </a:br>
            <a:r>
              <a:rPr lang="fr-FR" dirty="0"/>
              <a:t>E. L’efficacité est maximale après l’âge de 75 ans</a:t>
            </a:r>
            <a:br>
              <a:rPr lang="fr-FR" dirty="0"/>
            </a:br>
            <a:endParaRPr lang="fr-FR" dirty="0"/>
          </a:p>
        </p:txBody>
      </p:sp>
    </p:spTree>
    <p:extLst>
      <p:ext uri="{BB962C8B-B14F-4D97-AF65-F5344CB8AC3E}">
        <p14:creationId xmlns:p14="http://schemas.microsoft.com/office/powerpoint/2010/main" val="160793785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normAutofit fontScale="92500"/>
          </a:bodyPr>
          <a:lstStyle/>
          <a:p>
            <a:pPr marL="0" indent="0">
              <a:buNone/>
            </a:pPr>
            <a:r>
              <a:rPr lang="fr-FR" b="1" u="sng" dirty="0"/>
              <a:t>Cas clinique 1</a:t>
            </a:r>
            <a:r>
              <a:rPr lang="fr-FR" b="1" dirty="0"/>
              <a:t> :</a:t>
            </a:r>
          </a:p>
          <a:p>
            <a:pPr marL="0" indent="0">
              <a:buNone/>
            </a:pPr>
            <a:endParaRPr lang="fr-FR" dirty="0"/>
          </a:p>
          <a:p>
            <a:pPr marL="0" indent="0">
              <a:buNone/>
            </a:pPr>
            <a:r>
              <a:rPr lang="fr-FR" dirty="0"/>
              <a:t>Un homme âgé de 45 ans, alcoolo-tabagique, consulte pour symptomatologie évoluant depuis 3 jours faite de fièvre, toux sèche, douleur abdominale, diarrhée, céphalée, </a:t>
            </a:r>
            <a:r>
              <a:rPr lang="fr-FR" dirty="0" err="1"/>
              <a:t>arthralgi</a:t>
            </a:r>
            <a:r>
              <a:rPr lang="fr-FR" dirty="0"/>
              <a:t>. A l’examen : bon état général, quelques </a:t>
            </a:r>
            <a:r>
              <a:rPr lang="fr-FR" dirty="0" err="1"/>
              <a:t>crépitants</a:t>
            </a:r>
            <a:r>
              <a:rPr lang="fr-FR" dirty="0"/>
              <a:t> aux deux champs pulmonaires, température 39 °, fréquence cardiaque 80/mn, splénomégalie modérée. La Radiographie du thorax : opacité alvéolaire non systématisée intéressant la partie moyenne de deux champs pulmonaires. </a:t>
            </a:r>
            <a:r>
              <a:rPr lang="fr-FR" dirty="0" err="1"/>
              <a:t>Biolgie</a:t>
            </a:r>
            <a:r>
              <a:rPr lang="fr-FR" dirty="0"/>
              <a:t> : GB : 12 000/ml (95% PNN, 5% lymphocyte), ionogramme sanguin : Na+ : 125 </a:t>
            </a:r>
            <a:r>
              <a:rPr lang="fr-FR" dirty="0" err="1"/>
              <a:t>mmol</a:t>
            </a:r>
            <a:r>
              <a:rPr lang="fr-FR" dirty="0"/>
              <a:t>/L, K+ : 4,2mmol/L, ASAT : 150 UI/L(3 fois la normale), ALAT : 148UI/L (3 fois la normale), créatininémie normale, CRP : 140. </a:t>
            </a:r>
          </a:p>
          <a:p>
            <a:endParaRPr lang="fr-FR" dirty="0"/>
          </a:p>
          <a:p>
            <a:endParaRPr lang="fr-FR" dirty="0"/>
          </a:p>
        </p:txBody>
      </p:sp>
    </p:spTree>
    <p:extLst>
      <p:ext uri="{BB962C8B-B14F-4D97-AF65-F5344CB8AC3E}">
        <p14:creationId xmlns:p14="http://schemas.microsoft.com/office/powerpoint/2010/main" val="378767273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1019870"/>
            <a:ext cx="8229600" cy="5577483"/>
          </a:xfrm>
        </p:spPr>
        <p:txBody>
          <a:bodyPr>
            <a:normAutofit/>
          </a:bodyPr>
          <a:lstStyle/>
          <a:p>
            <a:pPr marL="0" indent="0">
              <a:buNone/>
            </a:pPr>
            <a:r>
              <a:rPr lang="fr-FR" b="1" dirty="0"/>
              <a:t> Ce tableau évoque :</a:t>
            </a:r>
          </a:p>
          <a:p>
            <a:pPr marL="514350" indent="-514350">
              <a:buFont typeface="+mj-lt"/>
              <a:buAutoNum type="alphaUcPeriod"/>
            </a:pPr>
            <a:r>
              <a:rPr lang="fr-FR" dirty="0"/>
              <a:t>Une pneumopathie grippale</a:t>
            </a:r>
          </a:p>
          <a:p>
            <a:pPr marL="514350" indent="-514350">
              <a:buFont typeface="+mj-lt"/>
              <a:buAutoNum type="alphaUcPeriod"/>
            </a:pPr>
            <a:r>
              <a:rPr lang="fr-FR" dirty="0"/>
              <a:t>Une pneumopathie à mycoplasme</a:t>
            </a:r>
          </a:p>
          <a:p>
            <a:pPr marL="514350" indent="-514350">
              <a:buFont typeface="+mj-lt"/>
              <a:buAutoNum type="alphaUcPeriod"/>
            </a:pPr>
            <a:r>
              <a:rPr lang="fr-FR" dirty="0"/>
              <a:t>Une bronchopneumonie</a:t>
            </a:r>
          </a:p>
          <a:p>
            <a:pPr marL="514350" indent="-514350">
              <a:buFont typeface="+mj-lt"/>
              <a:buAutoNum type="alphaUcPeriod"/>
            </a:pPr>
            <a:r>
              <a:rPr lang="fr-FR" dirty="0"/>
              <a:t>Une pneumopathie à </a:t>
            </a:r>
            <a:r>
              <a:rPr lang="fr-FR" dirty="0" err="1"/>
              <a:t>légionella</a:t>
            </a:r>
            <a:r>
              <a:rPr lang="fr-FR" dirty="0"/>
              <a:t> </a:t>
            </a:r>
            <a:r>
              <a:rPr lang="fr-FR" dirty="0" err="1"/>
              <a:t>pneumophila</a:t>
            </a:r>
            <a:endParaRPr lang="fr-FR" dirty="0"/>
          </a:p>
          <a:p>
            <a:pPr marL="514350" indent="-514350">
              <a:buFont typeface="+mj-lt"/>
              <a:buAutoNum type="alphaUcPeriod"/>
            </a:pPr>
            <a:r>
              <a:rPr lang="fr-FR" dirty="0"/>
              <a:t>Une pneumopathie à staphylocoque </a:t>
            </a:r>
          </a:p>
          <a:p>
            <a:pPr marL="0" indent="0">
              <a:buNone/>
            </a:pPr>
            <a:r>
              <a:rPr lang="fr-FR" dirty="0"/>
              <a:t> </a:t>
            </a:r>
          </a:p>
        </p:txBody>
      </p:sp>
    </p:spTree>
    <p:extLst>
      <p:ext uri="{BB962C8B-B14F-4D97-AF65-F5344CB8AC3E}">
        <p14:creationId xmlns:p14="http://schemas.microsoft.com/office/powerpoint/2010/main" val="67909358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1019870"/>
            <a:ext cx="8229600" cy="5577483"/>
          </a:xfrm>
        </p:spPr>
        <p:txBody>
          <a:bodyPr>
            <a:normAutofit/>
          </a:bodyPr>
          <a:lstStyle/>
          <a:p>
            <a:pPr marL="0" indent="0">
              <a:buNone/>
            </a:pPr>
            <a:r>
              <a:rPr lang="fr-FR" b="1" dirty="0"/>
              <a:t> Ce tableau évoque :</a:t>
            </a:r>
          </a:p>
          <a:p>
            <a:pPr marL="514350" indent="-514350">
              <a:buFont typeface="+mj-lt"/>
              <a:buAutoNum type="alphaUcPeriod"/>
            </a:pPr>
            <a:r>
              <a:rPr lang="fr-FR" dirty="0"/>
              <a:t>Une pneumopathie grippale</a:t>
            </a:r>
          </a:p>
          <a:p>
            <a:pPr marL="514350" indent="-514350">
              <a:buFont typeface="+mj-lt"/>
              <a:buAutoNum type="alphaUcPeriod"/>
            </a:pPr>
            <a:r>
              <a:rPr lang="fr-FR" dirty="0"/>
              <a:t>Une pneumopathie à mycoplasme</a:t>
            </a:r>
          </a:p>
          <a:p>
            <a:pPr marL="514350" indent="-514350">
              <a:buFont typeface="+mj-lt"/>
              <a:buAutoNum type="alphaUcPeriod"/>
            </a:pPr>
            <a:r>
              <a:rPr lang="fr-FR" dirty="0"/>
              <a:t>Une bronchopneumonie</a:t>
            </a:r>
          </a:p>
          <a:p>
            <a:pPr marL="514350" indent="-514350">
              <a:buFont typeface="+mj-lt"/>
              <a:buAutoNum type="alphaUcPeriod"/>
            </a:pPr>
            <a:r>
              <a:rPr lang="fr-FR" dirty="0">
                <a:solidFill>
                  <a:srgbClr val="C00000"/>
                </a:solidFill>
              </a:rPr>
              <a:t>Une pneumopathie à </a:t>
            </a:r>
            <a:r>
              <a:rPr lang="fr-FR" dirty="0" err="1">
                <a:solidFill>
                  <a:srgbClr val="C00000"/>
                </a:solidFill>
              </a:rPr>
              <a:t>légionella</a:t>
            </a:r>
            <a:r>
              <a:rPr lang="fr-FR" dirty="0">
                <a:solidFill>
                  <a:srgbClr val="C00000"/>
                </a:solidFill>
              </a:rPr>
              <a:t> </a:t>
            </a:r>
            <a:r>
              <a:rPr lang="fr-FR" dirty="0" err="1">
                <a:solidFill>
                  <a:srgbClr val="C00000"/>
                </a:solidFill>
              </a:rPr>
              <a:t>pneumophila</a:t>
            </a:r>
            <a:endParaRPr lang="fr-FR" dirty="0">
              <a:solidFill>
                <a:srgbClr val="C00000"/>
              </a:solidFill>
            </a:endParaRPr>
          </a:p>
          <a:p>
            <a:pPr marL="514350" indent="-514350">
              <a:buFont typeface="+mj-lt"/>
              <a:buAutoNum type="alphaUcPeriod"/>
            </a:pPr>
            <a:r>
              <a:rPr lang="fr-FR" dirty="0"/>
              <a:t>Une pneumopathie à staphylocoque </a:t>
            </a:r>
          </a:p>
          <a:p>
            <a:pPr marL="0" indent="0">
              <a:buNone/>
            </a:pPr>
            <a:r>
              <a:rPr lang="fr-FR" dirty="0"/>
              <a:t> </a:t>
            </a:r>
          </a:p>
        </p:txBody>
      </p:sp>
    </p:spTree>
    <p:extLst>
      <p:ext uri="{BB962C8B-B14F-4D97-AF65-F5344CB8AC3E}">
        <p14:creationId xmlns:p14="http://schemas.microsoft.com/office/powerpoint/2010/main" val="317630860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L’(es) examen(s) complémentaire(s) recommandé(s) pour isoler l’agent infectieux responsable est (sont) : </a:t>
            </a:r>
            <a:endParaRPr lang="fr-FR" dirty="0"/>
          </a:p>
          <a:p>
            <a:pPr marL="514350" indent="-514350">
              <a:buFont typeface="+mj-lt"/>
              <a:buAutoNum type="alphaUcPeriod"/>
            </a:pPr>
            <a:r>
              <a:rPr lang="fr-FR" dirty="0"/>
              <a:t>L’examen cytobactériologique du crachat</a:t>
            </a:r>
          </a:p>
          <a:p>
            <a:pPr marL="514350" indent="-514350">
              <a:buFont typeface="+mj-lt"/>
              <a:buAutoNum type="alphaUcPeriod"/>
            </a:pPr>
            <a:r>
              <a:rPr lang="fr-FR" dirty="0"/>
              <a:t>L’aspiration bronchique</a:t>
            </a:r>
          </a:p>
          <a:p>
            <a:pPr marL="514350" indent="-514350">
              <a:buFont typeface="+mj-lt"/>
              <a:buAutoNum type="alphaUcPeriod"/>
            </a:pPr>
            <a:r>
              <a:rPr lang="fr-FR" dirty="0"/>
              <a:t>Le prélèvement nasal</a:t>
            </a:r>
          </a:p>
          <a:p>
            <a:pPr marL="514350" indent="-514350">
              <a:buFont typeface="+mj-lt"/>
              <a:buAutoNum type="alphaUcPeriod"/>
            </a:pPr>
            <a:r>
              <a:rPr lang="fr-FR" dirty="0"/>
              <a:t>La sérologie</a:t>
            </a:r>
          </a:p>
          <a:p>
            <a:pPr marL="514350" indent="-514350">
              <a:buFont typeface="+mj-lt"/>
              <a:buAutoNum type="alphaUcPeriod"/>
            </a:pPr>
            <a:r>
              <a:rPr lang="fr-FR" dirty="0"/>
              <a:t>L’</a:t>
            </a:r>
            <a:r>
              <a:rPr lang="fr-FR" dirty="0" err="1"/>
              <a:t>antigènurie</a:t>
            </a:r>
            <a:endParaRPr lang="fr-FR" dirty="0"/>
          </a:p>
          <a:p>
            <a:pPr marL="0" indent="0">
              <a:buNone/>
            </a:pPr>
            <a:endParaRPr lang="fr-FR" dirty="0"/>
          </a:p>
          <a:p>
            <a:endParaRPr lang="fr-FR" dirty="0"/>
          </a:p>
          <a:p>
            <a:endParaRPr lang="fr-FR" dirty="0"/>
          </a:p>
        </p:txBody>
      </p:sp>
    </p:spTree>
    <p:extLst>
      <p:ext uri="{BB962C8B-B14F-4D97-AF65-F5344CB8AC3E}">
        <p14:creationId xmlns:p14="http://schemas.microsoft.com/office/powerpoint/2010/main" val="100537409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L’(es) examen(s) complémentaire(s) recommandé(s) pour isoler l’agent infectieux responsable est (sont) : </a:t>
            </a:r>
            <a:endParaRPr lang="fr-FR" dirty="0"/>
          </a:p>
          <a:p>
            <a:pPr marL="514350" indent="-514350">
              <a:buFont typeface="+mj-lt"/>
              <a:buAutoNum type="alphaUcPeriod"/>
            </a:pPr>
            <a:r>
              <a:rPr lang="fr-FR" dirty="0"/>
              <a:t>L’examen cytobactériologique du crachat</a:t>
            </a:r>
          </a:p>
          <a:p>
            <a:pPr marL="514350" indent="-514350">
              <a:buFont typeface="+mj-lt"/>
              <a:buAutoNum type="alphaUcPeriod"/>
            </a:pPr>
            <a:r>
              <a:rPr lang="fr-FR" dirty="0"/>
              <a:t>L’aspiration bronchique</a:t>
            </a:r>
          </a:p>
          <a:p>
            <a:pPr marL="514350" indent="-514350">
              <a:buFont typeface="+mj-lt"/>
              <a:buAutoNum type="alphaUcPeriod"/>
            </a:pPr>
            <a:r>
              <a:rPr lang="fr-FR" dirty="0"/>
              <a:t>Le prélèvement nasal</a:t>
            </a:r>
          </a:p>
          <a:p>
            <a:pPr marL="514350" indent="-514350">
              <a:buFont typeface="+mj-lt"/>
              <a:buAutoNum type="alphaUcPeriod"/>
            </a:pPr>
            <a:r>
              <a:rPr lang="fr-FR" dirty="0">
                <a:solidFill>
                  <a:srgbClr val="C00000"/>
                </a:solidFill>
              </a:rPr>
              <a:t>La sérologie</a:t>
            </a:r>
          </a:p>
          <a:p>
            <a:pPr marL="514350" indent="-514350">
              <a:buFont typeface="+mj-lt"/>
              <a:buAutoNum type="alphaUcPeriod"/>
            </a:pPr>
            <a:r>
              <a:rPr lang="fr-FR" dirty="0">
                <a:solidFill>
                  <a:srgbClr val="C00000"/>
                </a:solidFill>
              </a:rPr>
              <a:t>L’</a:t>
            </a:r>
            <a:r>
              <a:rPr lang="fr-FR" dirty="0" err="1">
                <a:solidFill>
                  <a:srgbClr val="C00000"/>
                </a:solidFill>
              </a:rPr>
              <a:t>antigènurie</a:t>
            </a:r>
            <a:endParaRPr lang="fr-FR" dirty="0">
              <a:solidFill>
                <a:srgbClr val="C00000"/>
              </a:solidFill>
            </a:endParaRPr>
          </a:p>
          <a:p>
            <a:pPr marL="0" indent="0">
              <a:buNone/>
            </a:pPr>
            <a:endParaRPr lang="fr-FR" dirty="0"/>
          </a:p>
          <a:p>
            <a:endParaRPr lang="fr-FR" dirty="0"/>
          </a:p>
          <a:p>
            <a:endParaRPr lang="fr-FR" dirty="0"/>
          </a:p>
        </p:txBody>
      </p:sp>
    </p:spTree>
    <p:extLst>
      <p:ext uri="{BB962C8B-B14F-4D97-AF65-F5344CB8AC3E}">
        <p14:creationId xmlns:p14="http://schemas.microsoft.com/office/powerpoint/2010/main" val="137496249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lstStyle/>
          <a:p>
            <a:pPr marL="0" indent="0">
              <a:buNone/>
            </a:pPr>
            <a:r>
              <a:rPr lang="fr-FR" b="1" dirty="0"/>
              <a:t>Le(s) traitement(s) habituellement efficace(s) sur cette pneumopathie est (sont) : </a:t>
            </a:r>
            <a:endParaRPr lang="fr-FR" dirty="0"/>
          </a:p>
          <a:p>
            <a:pPr marL="514350" indent="-514350">
              <a:buFont typeface="+mj-lt"/>
              <a:buAutoNum type="alphaUcPeriod"/>
            </a:pPr>
            <a:r>
              <a:rPr lang="fr-FR" dirty="0" err="1"/>
              <a:t>Fluoroquinolone</a:t>
            </a:r>
            <a:endParaRPr lang="fr-FR" dirty="0"/>
          </a:p>
          <a:p>
            <a:pPr marL="514350" indent="-514350">
              <a:buFont typeface="+mj-lt"/>
              <a:buAutoNum type="alphaUcPeriod"/>
            </a:pPr>
            <a:r>
              <a:rPr lang="fr-FR" dirty="0"/>
              <a:t>Macrolide</a:t>
            </a:r>
          </a:p>
          <a:p>
            <a:pPr marL="514350" indent="-514350">
              <a:buFont typeface="+mj-lt"/>
              <a:buAutoNum type="alphaUcPeriod"/>
            </a:pPr>
            <a:r>
              <a:rPr lang="fr-FR" dirty="0"/>
              <a:t>Amoxicilline</a:t>
            </a:r>
          </a:p>
          <a:p>
            <a:pPr marL="514350" indent="-514350">
              <a:buFont typeface="+mj-lt"/>
              <a:buAutoNum type="alphaUcPeriod"/>
            </a:pPr>
            <a:r>
              <a:rPr lang="fr-FR" dirty="0"/>
              <a:t>Amoxicilline- acide clavulanique</a:t>
            </a:r>
          </a:p>
          <a:p>
            <a:pPr marL="514350" indent="-514350">
              <a:buFont typeface="+mj-lt"/>
              <a:buAutoNum type="alphaUcPeriod"/>
            </a:pPr>
            <a:r>
              <a:rPr lang="fr-FR" dirty="0" err="1"/>
              <a:t>Doxycycline</a:t>
            </a:r>
            <a:endParaRPr lang="fr-FR" dirty="0"/>
          </a:p>
          <a:p>
            <a:endParaRPr lang="fr-FR" dirty="0"/>
          </a:p>
        </p:txBody>
      </p:sp>
    </p:spTree>
    <p:extLst>
      <p:ext uri="{BB962C8B-B14F-4D97-AF65-F5344CB8AC3E}">
        <p14:creationId xmlns:p14="http://schemas.microsoft.com/office/powerpoint/2010/main" val="419629096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64705"/>
            <a:ext cx="8229600" cy="5361459"/>
          </a:xfrm>
        </p:spPr>
        <p:txBody>
          <a:bodyPr/>
          <a:lstStyle/>
          <a:p>
            <a:pPr marL="0" indent="0">
              <a:buNone/>
            </a:pPr>
            <a:r>
              <a:rPr lang="fr-FR" b="1" dirty="0"/>
              <a:t> Le(s) traitement(s) habituellement efficace(s) sur cette pneumopathie est (sont) : </a:t>
            </a:r>
            <a:endParaRPr lang="fr-FR" dirty="0"/>
          </a:p>
          <a:p>
            <a:pPr marL="514350" indent="-514350">
              <a:buFont typeface="+mj-lt"/>
              <a:buAutoNum type="alphaUcPeriod"/>
            </a:pPr>
            <a:r>
              <a:rPr lang="fr-FR" dirty="0" err="1">
                <a:solidFill>
                  <a:srgbClr val="C00000"/>
                </a:solidFill>
              </a:rPr>
              <a:t>Fluoroquinolone</a:t>
            </a:r>
            <a:endParaRPr lang="fr-FR" dirty="0">
              <a:solidFill>
                <a:srgbClr val="C00000"/>
              </a:solidFill>
            </a:endParaRPr>
          </a:p>
          <a:p>
            <a:pPr marL="514350" indent="-514350">
              <a:buFont typeface="+mj-lt"/>
              <a:buAutoNum type="alphaUcPeriod"/>
            </a:pPr>
            <a:r>
              <a:rPr lang="fr-FR" dirty="0">
                <a:solidFill>
                  <a:srgbClr val="C00000"/>
                </a:solidFill>
              </a:rPr>
              <a:t>Macrolide</a:t>
            </a:r>
          </a:p>
          <a:p>
            <a:pPr marL="514350" indent="-514350">
              <a:buFont typeface="+mj-lt"/>
              <a:buAutoNum type="alphaUcPeriod"/>
            </a:pPr>
            <a:r>
              <a:rPr lang="fr-FR" dirty="0"/>
              <a:t>Amoxicilline</a:t>
            </a:r>
          </a:p>
          <a:p>
            <a:pPr marL="514350" indent="-514350">
              <a:buFont typeface="+mj-lt"/>
              <a:buAutoNum type="alphaUcPeriod"/>
            </a:pPr>
            <a:r>
              <a:rPr lang="fr-FR" dirty="0"/>
              <a:t>Amoxicilline- acide clavulanique</a:t>
            </a:r>
          </a:p>
          <a:p>
            <a:pPr marL="514350" indent="-514350">
              <a:buFont typeface="+mj-lt"/>
              <a:buAutoNum type="alphaUcPeriod"/>
            </a:pPr>
            <a:r>
              <a:rPr lang="fr-FR" dirty="0" err="1">
                <a:solidFill>
                  <a:srgbClr val="C00000"/>
                </a:solidFill>
              </a:rPr>
              <a:t>Doxycycline</a:t>
            </a:r>
            <a:endParaRPr lang="fr-FR" dirty="0">
              <a:solidFill>
                <a:srgbClr val="C00000"/>
              </a:solidFill>
            </a:endParaRPr>
          </a:p>
          <a:p>
            <a:endParaRPr lang="fr-FR" dirty="0"/>
          </a:p>
        </p:txBody>
      </p:sp>
    </p:spTree>
    <p:extLst>
      <p:ext uri="{BB962C8B-B14F-4D97-AF65-F5344CB8AC3E}">
        <p14:creationId xmlns:p14="http://schemas.microsoft.com/office/powerpoint/2010/main" val="327705666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lnSpcReduction="10000"/>
          </a:bodyPr>
          <a:lstStyle/>
          <a:p>
            <a:pPr marL="0" indent="0">
              <a:buNone/>
            </a:pPr>
            <a:r>
              <a:rPr lang="fr-FR" b="1" u="sng" dirty="0"/>
              <a:t>Cas clinique 2</a:t>
            </a:r>
            <a:r>
              <a:rPr lang="fr-FR" b="1" dirty="0"/>
              <a:t> :</a:t>
            </a:r>
            <a:endParaRPr lang="fr-FR" dirty="0"/>
          </a:p>
          <a:p>
            <a:pPr marL="0" indent="0">
              <a:buNone/>
            </a:pPr>
            <a:endParaRPr lang="fr-FR" dirty="0"/>
          </a:p>
          <a:p>
            <a:pPr marL="0" indent="0">
              <a:buNone/>
            </a:pPr>
            <a:r>
              <a:rPr lang="fr-FR" dirty="0"/>
              <a:t>Patiente âgée de 28 ans, consulte pour toux sèche évoluant depuis 6 jours dans un contexte de fièvre modérée associée à des signes extra respiratoires : myalgie, arthralgies et céphalées.</a:t>
            </a:r>
          </a:p>
          <a:p>
            <a:pPr marL="0" indent="0">
              <a:buNone/>
            </a:pPr>
            <a:r>
              <a:rPr lang="fr-FR" dirty="0"/>
              <a:t>A l’examen : état général conservé, température 38,5°, Tension artérielle 120/75, fréquence cardiaque 100 b/min, saturation au doigt à l’air ambiant 98%, fréquence respiratoire 20 cycles/min, auscultation pulmonaire normale.</a:t>
            </a:r>
          </a:p>
          <a:p>
            <a:pPr marL="0" indent="0">
              <a:buNone/>
            </a:pPr>
            <a:r>
              <a:rPr lang="fr-FR" dirty="0"/>
              <a:t>Radiographie du thorax : syndrome interstitiel bilatéral fait d’opacités réticulaires disséminées aux deux champs pulmonaires.</a:t>
            </a:r>
          </a:p>
          <a:p>
            <a:pPr marL="0" indent="0">
              <a:buNone/>
            </a:pPr>
            <a:endParaRPr lang="fr-FR" dirty="0"/>
          </a:p>
        </p:txBody>
      </p:sp>
    </p:spTree>
    <p:extLst>
      <p:ext uri="{BB962C8B-B14F-4D97-AF65-F5344CB8AC3E}">
        <p14:creationId xmlns:p14="http://schemas.microsoft.com/office/powerpoint/2010/main" val="285203045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31838"/>
            <a:ext cx="8229600" cy="6009531"/>
          </a:xfrm>
        </p:spPr>
        <p:txBody>
          <a:bodyPr/>
          <a:lstStyle/>
          <a:p>
            <a:pPr marL="0" indent="0">
              <a:buNone/>
            </a:pPr>
            <a:r>
              <a:rPr lang="fr-FR" b="1" dirty="0"/>
              <a:t> Ce tableau peut évoquer : </a:t>
            </a:r>
            <a:endParaRPr lang="fr-FR" dirty="0"/>
          </a:p>
          <a:p>
            <a:pPr marL="514350" indent="-514350">
              <a:buFont typeface="+mj-lt"/>
              <a:buAutoNum type="alphaUcPeriod"/>
            </a:pPr>
            <a:r>
              <a:rPr lang="fr-FR" dirty="0"/>
              <a:t>Une pneumonie franche lobaire aigue</a:t>
            </a:r>
          </a:p>
          <a:p>
            <a:pPr marL="514350" indent="-514350">
              <a:buFont typeface="+mj-lt"/>
              <a:buAutoNum type="alphaUcPeriod"/>
            </a:pPr>
            <a:r>
              <a:rPr lang="fr-FR" dirty="0"/>
              <a:t>Une pneumopathie à mycoplasme</a:t>
            </a:r>
          </a:p>
          <a:p>
            <a:pPr marL="514350" indent="-514350">
              <a:buFont typeface="+mj-lt"/>
              <a:buAutoNum type="alphaUcPeriod"/>
            </a:pPr>
            <a:r>
              <a:rPr lang="fr-FR" dirty="0"/>
              <a:t>Une pneumopathie à chlamydia</a:t>
            </a:r>
          </a:p>
          <a:p>
            <a:pPr marL="514350" indent="-514350">
              <a:buFont typeface="+mj-lt"/>
              <a:buAutoNum type="alphaUcPeriod"/>
            </a:pPr>
            <a:r>
              <a:rPr lang="fr-FR" dirty="0"/>
              <a:t>Une pneumopathie à germes anaérobies</a:t>
            </a:r>
          </a:p>
          <a:p>
            <a:pPr marL="514350" indent="-514350">
              <a:buFont typeface="+mj-lt"/>
              <a:buAutoNum type="alphaUcPeriod"/>
            </a:pPr>
            <a:r>
              <a:rPr lang="fr-FR" dirty="0"/>
              <a:t>Une bronchopneumonie</a:t>
            </a:r>
          </a:p>
          <a:p>
            <a:endParaRPr lang="fr-FR" dirty="0"/>
          </a:p>
        </p:txBody>
      </p:sp>
    </p:spTree>
    <p:extLst>
      <p:ext uri="{BB962C8B-B14F-4D97-AF65-F5344CB8AC3E}">
        <p14:creationId xmlns:p14="http://schemas.microsoft.com/office/powerpoint/2010/main" val="336103509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731838"/>
            <a:ext cx="8229600" cy="6009531"/>
          </a:xfrm>
        </p:spPr>
        <p:txBody>
          <a:bodyPr/>
          <a:lstStyle/>
          <a:p>
            <a:pPr marL="0" indent="0">
              <a:buNone/>
            </a:pPr>
            <a:r>
              <a:rPr lang="fr-FR" b="1" dirty="0"/>
              <a:t>Ce tableau peut évoquer : </a:t>
            </a:r>
            <a:endParaRPr lang="fr-FR" dirty="0"/>
          </a:p>
          <a:p>
            <a:pPr marL="514350" indent="-514350">
              <a:buFont typeface="+mj-lt"/>
              <a:buAutoNum type="alphaUcPeriod"/>
            </a:pPr>
            <a:r>
              <a:rPr lang="fr-FR" dirty="0"/>
              <a:t>Une pneumonie franche lobaire aigue</a:t>
            </a:r>
          </a:p>
          <a:p>
            <a:pPr marL="514350" indent="-514350">
              <a:buFont typeface="+mj-lt"/>
              <a:buAutoNum type="alphaUcPeriod"/>
            </a:pPr>
            <a:r>
              <a:rPr lang="fr-FR" dirty="0">
                <a:solidFill>
                  <a:srgbClr val="C00000"/>
                </a:solidFill>
              </a:rPr>
              <a:t>Une pneumopathie à mycoplasme</a:t>
            </a:r>
          </a:p>
          <a:p>
            <a:pPr marL="514350" indent="-514350">
              <a:buFont typeface="+mj-lt"/>
              <a:buAutoNum type="alphaUcPeriod"/>
            </a:pPr>
            <a:r>
              <a:rPr lang="fr-FR" dirty="0">
                <a:solidFill>
                  <a:srgbClr val="C00000"/>
                </a:solidFill>
              </a:rPr>
              <a:t>Une pneumopathie à chlamydia</a:t>
            </a:r>
          </a:p>
          <a:p>
            <a:pPr marL="514350" indent="-514350">
              <a:buFont typeface="+mj-lt"/>
              <a:buAutoNum type="alphaUcPeriod"/>
            </a:pPr>
            <a:r>
              <a:rPr lang="fr-FR" dirty="0"/>
              <a:t>Une pneumopathie à germes anaérobies</a:t>
            </a:r>
          </a:p>
          <a:p>
            <a:pPr marL="514350" indent="-514350">
              <a:buFont typeface="+mj-lt"/>
              <a:buAutoNum type="alphaUcPeriod"/>
            </a:pPr>
            <a:r>
              <a:rPr lang="fr-FR" dirty="0"/>
              <a:t>Une bronchopneumonie</a:t>
            </a:r>
          </a:p>
          <a:p>
            <a:endParaRPr lang="fr-FR" dirty="0"/>
          </a:p>
        </p:txBody>
      </p:sp>
    </p:spTree>
    <p:extLst>
      <p:ext uri="{BB962C8B-B14F-4D97-AF65-F5344CB8AC3E}">
        <p14:creationId xmlns:p14="http://schemas.microsoft.com/office/powerpoint/2010/main" val="306469249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l’ (es) examen (s) complémentaire (s) suivant (s)  permet (</a:t>
            </a:r>
            <a:r>
              <a:rPr lang="fr-FR" b="1" dirty="0" err="1"/>
              <a:t>tent</a:t>
            </a:r>
            <a:r>
              <a:rPr lang="fr-FR" b="1" dirty="0"/>
              <a:t>) d’isoler le (s) germe (s) responsable (s) : </a:t>
            </a:r>
            <a:endParaRPr lang="fr-FR" dirty="0"/>
          </a:p>
          <a:p>
            <a:pPr marL="514350" indent="-514350">
              <a:buFont typeface="+mj-lt"/>
              <a:buAutoNum type="alphaUcPeriod"/>
            </a:pPr>
            <a:r>
              <a:rPr lang="fr-FR" dirty="0"/>
              <a:t>Examen cytobactériologique de crachat</a:t>
            </a:r>
          </a:p>
          <a:p>
            <a:pPr marL="514350" indent="-514350">
              <a:buFont typeface="+mj-lt"/>
              <a:buAutoNum type="alphaUcPeriod"/>
            </a:pPr>
            <a:r>
              <a:rPr lang="fr-FR" dirty="0"/>
              <a:t>Hémoculture</a:t>
            </a:r>
          </a:p>
          <a:p>
            <a:pPr marL="514350" indent="-514350">
              <a:buFont typeface="+mj-lt"/>
              <a:buAutoNum type="alphaUcPeriod"/>
            </a:pPr>
            <a:r>
              <a:rPr lang="fr-FR" dirty="0" err="1"/>
              <a:t>Antigénurie</a:t>
            </a:r>
            <a:endParaRPr lang="fr-FR" dirty="0"/>
          </a:p>
          <a:p>
            <a:pPr marL="514350" indent="-514350">
              <a:buFont typeface="+mj-lt"/>
              <a:buAutoNum type="alphaUcPeriod"/>
            </a:pPr>
            <a:r>
              <a:rPr lang="fr-FR" dirty="0"/>
              <a:t>Sérologie </a:t>
            </a:r>
          </a:p>
          <a:p>
            <a:pPr marL="514350" indent="-514350">
              <a:buFont typeface="+mj-lt"/>
              <a:buAutoNum type="alphaUcPeriod"/>
            </a:pPr>
            <a:r>
              <a:rPr lang="fr-FR" dirty="0"/>
              <a:t>Prélèvement bronchique protégé</a:t>
            </a:r>
          </a:p>
          <a:p>
            <a:pPr marL="0" indent="0">
              <a:buNone/>
            </a:pPr>
            <a:endParaRPr lang="fr-FR" dirty="0"/>
          </a:p>
          <a:p>
            <a:endParaRPr lang="fr-FR" dirty="0"/>
          </a:p>
        </p:txBody>
      </p:sp>
    </p:spTree>
    <p:extLst>
      <p:ext uri="{BB962C8B-B14F-4D97-AF65-F5344CB8AC3E}">
        <p14:creationId xmlns:p14="http://schemas.microsoft.com/office/powerpoint/2010/main" val="139149479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92697"/>
            <a:ext cx="8229600" cy="5433467"/>
          </a:xfrm>
        </p:spPr>
        <p:txBody>
          <a:bodyPr>
            <a:normAutofit/>
          </a:bodyPr>
          <a:lstStyle/>
          <a:p>
            <a:pPr marL="0" indent="0">
              <a:buNone/>
            </a:pPr>
            <a:r>
              <a:rPr lang="fr-FR" b="1" dirty="0"/>
              <a:t> l’ (es) examen (s) complémentaire (s) suivant (s)  permet (</a:t>
            </a:r>
            <a:r>
              <a:rPr lang="fr-FR" b="1" dirty="0" err="1"/>
              <a:t>tent</a:t>
            </a:r>
            <a:r>
              <a:rPr lang="fr-FR" b="1" dirty="0"/>
              <a:t>) d’isoler le (s) germe (s) responsable (s) : </a:t>
            </a:r>
            <a:endParaRPr lang="fr-FR" dirty="0"/>
          </a:p>
          <a:p>
            <a:pPr marL="514350" indent="-514350">
              <a:buFont typeface="+mj-lt"/>
              <a:buAutoNum type="alphaUcPeriod"/>
            </a:pPr>
            <a:r>
              <a:rPr lang="fr-FR" dirty="0"/>
              <a:t>Examen cytobactériologique de crachat</a:t>
            </a:r>
          </a:p>
          <a:p>
            <a:pPr marL="514350" indent="-514350">
              <a:buFont typeface="+mj-lt"/>
              <a:buAutoNum type="alphaUcPeriod"/>
            </a:pPr>
            <a:r>
              <a:rPr lang="fr-FR" dirty="0"/>
              <a:t>Hémoculture</a:t>
            </a:r>
          </a:p>
          <a:p>
            <a:pPr marL="514350" indent="-514350">
              <a:buFont typeface="+mj-lt"/>
              <a:buAutoNum type="alphaUcPeriod"/>
            </a:pPr>
            <a:r>
              <a:rPr lang="fr-FR" dirty="0" err="1"/>
              <a:t>Antigénurie</a:t>
            </a:r>
            <a:endParaRPr lang="fr-FR" dirty="0"/>
          </a:p>
          <a:p>
            <a:pPr marL="514350" indent="-514350">
              <a:buFont typeface="+mj-lt"/>
              <a:buAutoNum type="alphaUcPeriod"/>
            </a:pPr>
            <a:r>
              <a:rPr lang="fr-FR" dirty="0">
                <a:solidFill>
                  <a:srgbClr val="C00000"/>
                </a:solidFill>
              </a:rPr>
              <a:t>Sérologie </a:t>
            </a:r>
          </a:p>
          <a:p>
            <a:pPr marL="514350" indent="-514350">
              <a:buFont typeface="+mj-lt"/>
              <a:buAutoNum type="alphaUcPeriod"/>
            </a:pPr>
            <a:r>
              <a:rPr lang="fr-FR" dirty="0"/>
              <a:t>Prélèvement bronchique protégé</a:t>
            </a:r>
          </a:p>
          <a:p>
            <a:pPr marL="0" indent="0">
              <a:buNone/>
            </a:pPr>
            <a:endParaRPr lang="fr-FR" dirty="0"/>
          </a:p>
          <a:p>
            <a:endParaRPr lang="fr-FR" dirty="0"/>
          </a:p>
        </p:txBody>
      </p:sp>
    </p:spTree>
    <p:extLst>
      <p:ext uri="{BB962C8B-B14F-4D97-AF65-F5344CB8AC3E}">
        <p14:creationId xmlns:p14="http://schemas.microsoft.com/office/powerpoint/2010/main" val="250749852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404665"/>
            <a:ext cx="8229600" cy="5721499"/>
          </a:xfrm>
        </p:spPr>
        <p:txBody>
          <a:bodyPr>
            <a:normAutofit/>
          </a:bodyPr>
          <a:lstStyle/>
          <a:p>
            <a:pPr marL="0" indent="0">
              <a:buNone/>
            </a:pPr>
            <a:r>
              <a:rPr lang="fr-FR" b="1" dirty="0"/>
              <a:t> le(s) antibiotique(s) suivant(s) est (sont) habituellement efficace(s) sur cette pneumopathie :</a:t>
            </a:r>
            <a:endParaRPr lang="fr-FR" dirty="0"/>
          </a:p>
          <a:p>
            <a:pPr marL="514350" indent="-514350">
              <a:buFont typeface="+mj-lt"/>
              <a:buAutoNum type="alphaUcPeriod"/>
            </a:pPr>
            <a:r>
              <a:rPr lang="fr-FR" dirty="0"/>
              <a:t>Amoxicilline</a:t>
            </a:r>
          </a:p>
          <a:p>
            <a:pPr marL="514350" indent="-514350">
              <a:buFont typeface="+mj-lt"/>
              <a:buAutoNum type="alphaUcPeriod"/>
            </a:pPr>
            <a:r>
              <a:rPr lang="fr-FR" dirty="0"/>
              <a:t>Amoxicilline - acide clavulanique</a:t>
            </a:r>
          </a:p>
          <a:p>
            <a:pPr marL="514350" indent="-514350">
              <a:buFont typeface="+mj-lt"/>
              <a:buAutoNum type="alphaUcPeriod"/>
            </a:pPr>
            <a:r>
              <a:rPr lang="fr-FR" dirty="0"/>
              <a:t>Céphalosporine 3</a:t>
            </a:r>
            <a:r>
              <a:rPr lang="fr-FR" baseline="30000" dirty="0"/>
              <a:t>ème</a:t>
            </a:r>
            <a:r>
              <a:rPr lang="fr-FR" dirty="0"/>
              <a:t> génération</a:t>
            </a:r>
          </a:p>
          <a:p>
            <a:pPr marL="514350" indent="-514350">
              <a:buFont typeface="+mj-lt"/>
              <a:buAutoNum type="alphaUcPeriod"/>
            </a:pPr>
            <a:r>
              <a:rPr lang="fr-FR" dirty="0" err="1"/>
              <a:t>Clarithromycine</a:t>
            </a:r>
            <a:endParaRPr lang="fr-FR" dirty="0"/>
          </a:p>
          <a:p>
            <a:pPr marL="514350" indent="-514350">
              <a:buFont typeface="+mj-lt"/>
              <a:buAutoNum type="alphaUcPeriod"/>
            </a:pPr>
            <a:r>
              <a:rPr lang="fr-FR" dirty="0"/>
              <a:t>Cycline </a:t>
            </a:r>
          </a:p>
          <a:p>
            <a:pPr marL="0" indent="0">
              <a:buNone/>
            </a:pPr>
            <a:endParaRPr lang="fr-FR" dirty="0"/>
          </a:p>
          <a:p>
            <a:endParaRPr lang="fr-FR" dirty="0"/>
          </a:p>
        </p:txBody>
      </p:sp>
    </p:spTree>
    <p:extLst>
      <p:ext uri="{BB962C8B-B14F-4D97-AF65-F5344CB8AC3E}">
        <p14:creationId xmlns:p14="http://schemas.microsoft.com/office/powerpoint/2010/main" val="281943881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404665"/>
            <a:ext cx="8229600" cy="5721499"/>
          </a:xfrm>
        </p:spPr>
        <p:txBody>
          <a:bodyPr>
            <a:normAutofit/>
          </a:bodyPr>
          <a:lstStyle/>
          <a:p>
            <a:pPr marL="0" indent="0">
              <a:buNone/>
            </a:pPr>
            <a:r>
              <a:rPr lang="fr-FR" b="1" dirty="0"/>
              <a:t> le(s) antibiotique(s) suivant(s) est (sont) habituellement efficace(s) sur cette pneumopathie :</a:t>
            </a:r>
            <a:endParaRPr lang="fr-FR" dirty="0"/>
          </a:p>
          <a:p>
            <a:pPr marL="514350" indent="-514350">
              <a:buFont typeface="+mj-lt"/>
              <a:buAutoNum type="alphaUcPeriod"/>
            </a:pPr>
            <a:r>
              <a:rPr lang="fr-FR" dirty="0"/>
              <a:t>Amoxicilline</a:t>
            </a:r>
          </a:p>
          <a:p>
            <a:pPr marL="514350" indent="-514350">
              <a:buFont typeface="+mj-lt"/>
              <a:buAutoNum type="alphaUcPeriod"/>
            </a:pPr>
            <a:r>
              <a:rPr lang="fr-FR" dirty="0"/>
              <a:t>Amoxicilline - acide clavulanique</a:t>
            </a:r>
          </a:p>
          <a:p>
            <a:pPr marL="514350" indent="-514350">
              <a:buFont typeface="+mj-lt"/>
              <a:buAutoNum type="alphaUcPeriod"/>
            </a:pPr>
            <a:r>
              <a:rPr lang="fr-FR" dirty="0"/>
              <a:t>Céphalosporine 3</a:t>
            </a:r>
            <a:r>
              <a:rPr lang="fr-FR" baseline="30000" dirty="0"/>
              <a:t>ème</a:t>
            </a:r>
            <a:r>
              <a:rPr lang="fr-FR" dirty="0"/>
              <a:t> génération</a:t>
            </a:r>
          </a:p>
          <a:p>
            <a:pPr marL="514350" indent="-514350">
              <a:buFont typeface="+mj-lt"/>
              <a:buAutoNum type="alphaUcPeriod"/>
            </a:pPr>
            <a:r>
              <a:rPr lang="fr-FR" dirty="0" err="1">
                <a:solidFill>
                  <a:srgbClr val="C00000"/>
                </a:solidFill>
              </a:rPr>
              <a:t>Clarithromycine</a:t>
            </a:r>
            <a:endParaRPr lang="fr-FR" dirty="0">
              <a:solidFill>
                <a:srgbClr val="C00000"/>
              </a:solidFill>
            </a:endParaRPr>
          </a:p>
          <a:p>
            <a:pPr marL="514350" indent="-514350">
              <a:buFont typeface="+mj-lt"/>
              <a:buAutoNum type="alphaUcPeriod"/>
            </a:pPr>
            <a:r>
              <a:rPr lang="fr-FR" dirty="0">
                <a:solidFill>
                  <a:srgbClr val="C00000"/>
                </a:solidFill>
              </a:rPr>
              <a:t>Cycline </a:t>
            </a:r>
          </a:p>
          <a:p>
            <a:pPr marL="0" indent="0">
              <a:buNone/>
            </a:pPr>
            <a:endParaRPr lang="fr-FR" dirty="0"/>
          </a:p>
          <a:p>
            <a:endParaRPr lang="fr-FR" dirty="0"/>
          </a:p>
        </p:txBody>
      </p:sp>
    </p:spTree>
    <p:extLst>
      <p:ext uri="{BB962C8B-B14F-4D97-AF65-F5344CB8AC3E}">
        <p14:creationId xmlns:p14="http://schemas.microsoft.com/office/powerpoint/2010/main" val="270754794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548680"/>
            <a:ext cx="8363272" cy="6048672"/>
          </a:xfrm>
        </p:spPr>
        <p:txBody>
          <a:bodyPr>
            <a:normAutofit fontScale="92500" lnSpcReduction="20000"/>
          </a:bodyPr>
          <a:lstStyle/>
          <a:p>
            <a:pPr marL="0" indent="0">
              <a:buNone/>
            </a:pPr>
            <a:r>
              <a:rPr lang="fr-FR" sz="3600" b="1" u="sng" dirty="0"/>
              <a:t>Cas clinique 3 </a:t>
            </a:r>
            <a:r>
              <a:rPr lang="fr-FR" b="1" dirty="0"/>
              <a:t>:</a:t>
            </a:r>
            <a:endParaRPr lang="fr-FR" dirty="0"/>
          </a:p>
          <a:p>
            <a:pPr marL="0" indent="0">
              <a:buNone/>
            </a:pPr>
            <a:endParaRPr lang="fr-FR" dirty="0"/>
          </a:p>
          <a:p>
            <a:pPr marL="0" indent="0">
              <a:buNone/>
            </a:pPr>
            <a:r>
              <a:rPr lang="fr-FR" dirty="0"/>
              <a:t>Un homme âgé de 48 ans, non tabagique, sans antécédents pathologiques, consulte pour toux, expectoration muqueuse, douleur thoracique droite et fièvre, le tout évoluant depuis 3 jours </a:t>
            </a:r>
          </a:p>
          <a:p>
            <a:pPr marL="0" indent="0">
              <a:buNone/>
            </a:pPr>
            <a:r>
              <a:rPr lang="fr-FR" dirty="0"/>
              <a:t>L’examen : FR : 20cycles/min, FC : 95 cycles/min, température : 39,5 , râles </a:t>
            </a:r>
            <a:r>
              <a:rPr lang="fr-FR" dirty="0" err="1"/>
              <a:t>crépitants</a:t>
            </a:r>
            <a:r>
              <a:rPr lang="fr-FR" dirty="0"/>
              <a:t> du côté droit, saturation à l’air ambiant 98%. Pas de tirage, pas de cyanose.</a:t>
            </a:r>
          </a:p>
          <a:p>
            <a:pPr marL="0" indent="0">
              <a:buNone/>
            </a:pPr>
            <a:r>
              <a:rPr lang="fr-FR" dirty="0"/>
              <a:t>La radiographie du thorax objective une opacité alvéolaire grossièrement triangulaire intéressant le 1/3 inférieur du l’hémi thorax droit ne comblant pas le cul du sac </a:t>
            </a:r>
            <a:r>
              <a:rPr lang="fr-FR" dirty="0" err="1"/>
              <a:t>costo</a:t>
            </a:r>
            <a:r>
              <a:rPr lang="fr-FR" dirty="0"/>
              <a:t>-diaphragmatique.</a:t>
            </a:r>
          </a:p>
          <a:p>
            <a:pPr marL="0" indent="0">
              <a:buNone/>
            </a:pPr>
            <a:r>
              <a:rPr lang="fr-FR" dirty="0"/>
              <a:t>Biologie : NFS : GB : 17400/mm</a:t>
            </a:r>
            <a:r>
              <a:rPr lang="fr-FR" baseline="30000" dirty="0"/>
              <a:t>3</a:t>
            </a:r>
            <a:r>
              <a:rPr lang="fr-FR" dirty="0"/>
              <a:t> (80% PNN), hémoglobine : 12 g/dl  ,CRP :300mg/L, </a:t>
            </a:r>
            <a:r>
              <a:rPr lang="fr-FR" dirty="0" err="1"/>
              <a:t>créat</a:t>
            </a:r>
            <a:r>
              <a:rPr lang="fr-FR" dirty="0"/>
              <a:t> : 56 micromole /l  , </a:t>
            </a:r>
            <a:r>
              <a:rPr lang="fr-FR" dirty="0" err="1"/>
              <a:t>iongramme</a:t>
            </a:r>
            <a:r>
              <a:rPr lang="fr-FR" dirty="0"/>
              <a:t> sanguin Na+ : 140 </a:t>
            </a:r>
            <a:r>
              <a:rPr lang="fr-FR" dirty="0" err="1"/>
              <a:t>mmole</a:t>
            </a:r>
            <a:r>
              <a:rPr lang="fr-FR" dirty="0"/>
              <a:t>/l  K+ : 4,2 </a:t>
            </a:r>
            <a:r>
              <a:rPr lang="fr-FR" dirty="0" err="1"/>
              <a:t>mmole</a:t>
            </a:r>
            <a:r>
              <a:rPr lang="fr-FR" dirty="0"/>
              <a:t>/l , glycémie : 5,6 </a:t>
            </a:r>
            <a:r>
              <a:rPr lang="fr-FR" dirty="0" err="1"/>
              <a:t>mmol</a:t>
            </a:r>
            <a:r>
              <a:rPr lang="fr-FR" dirty="0"/>
              <a:t>/L</a:t>
            </a:r>
          </a:p>
          <a:p>
            <a:endParaRPr lang="fr-FR" dirty="0"/>
          </a:p>
        </p:txBody>
      </p:sp>
    </p:spTree>
    <p:extLst>
      <p:ext uri="{BB962C8B-B14F-4D97-AF65-F5344CB8AC3E}">
        <p14:creationId xmlns:p14="http://schemas.microsoft.com/office/powerpoint/2010/main" val="141839623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Le diagnostic le plus probable devant ce tableau radio clinique est</a:t>
            </a:r>
            <a:r>
              <a:rPr lang="fr-FR" dirty="0"/>
              <a:t> :</a:t>
            </a:r>
          </a:p>
          <a:p>
            <a:pPr marL="514350" indent="-514350">
              <a:buFont typeface="+mj-lt"/>
              <a:buAutoNum type="alphaUcPeriod"/>
            </a:pPr>
            <a:r>
              <a:rPr lang="fr-FR" dirty="0"/>
              <a:t>Cancer </a:t>
            </a:r>
            <a:r>
              <a:rPr lang="fr-FR" dirty="0" err="1"/>
              <a:t>bronchopulmonaire</a:t>
            </a:r>
            <a:endParaRPr lang="fr-FR" dirty="0"/>
          </a:p>
          <a:p>
            <a:pPr marL="514350" indent="-514350">
              <a:buFont typeface="+mj-lt"/>
              <a:buAutoNum type="alphaUcPeriod"/>
            </a:pPr>
            <a:r>
              <a:rPr lang="fr-FR" dirty="0"/>
              <a:t>Kyste hydatique du poumon sain</a:t>
            </a:r>
          </a:p>
          <a:p>
            <a:pPr marL="514350" indent="-514350">
              <a:buFont typeface="+mj-lt"/>
              <a:buAutoNum type="alphaUcPeriod"/>
            </a:pPr>
            <a:r>
              <a:rPr lang="fr-FR" dirty="0"/>
              <a:t>Embolie pulmonaire</a:t>
            </a:r>
          </a:p>
          <a:p>
            <a:pPr marL="514350" indent="-514350">
              <a:buFont typeface="+mj-lt"/>
              <a:buAutoNum type="alphaUcPeriod"/>
            </a:pPr>
            <a:r>
              <a:rPr lang="fr-FR" dirty="0"/>
              <a:t>PFLA</a:t>
            </a:r>
          </a:p>
          <a:p>
            <a:pPr marL="514350" indent="-514350">
              <a:buFont typeface="+mj-lt"/>
              <a:buAutoNum type="alphaUcPeriod"/>
            </a:pPr>
            <a:r>
              <a:rPr lang="fr-FR" dirty="0"/>
              <a:t>Pneumopathie virale</a:t>
            </a:r>
          </a:p>
          <a:p>
            <a:pPr marL="0" indent="0">
              <a:buNone/>
            </a:pPr>
            <a:endParaRPr lang="fr-FR" dirty="0"/>
          </a:p>
          <a:p>
            <a:endParaRPr lang="fr-FR" dirty="0"/>
          </a:p>
        </p:txBody>
      </p:sp>
    </p:spTree>
    <p:extLst>
      <p:ext uri="{BB962C8B-B14F-4D97-AF65-F5344CB8AC3E}">
        <p14:creationId xmlns:p14="http://schemas.microsoft.com/office/powerpoint/2010/main" val="233509956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 Le diagnostic le plus probable devant ce tableau radio clinique est</a:t>
            </a:r>
            <a:r>
              <a:rPr lang="fr-FR" dirty="0"/>
              <a:t> :</a:t>
            </a:r>
          </a:p>
          <a:p>
            <a:pPr marL="514350" indent="-514350">
              <a:buFont typeface="+mj-lt"/>
              <a:buAutoNum type="alphaUcPeriod"/>
            </a:pPr>
            <a:r>
              <a:rPr lang="fr-FR" dirty="0"/>
              <a:t>Cancer </a:t>
            </a:r>
            <a:r>
              <a:rPr lang="fr-FR" dirty="0" err="1"/>
              <a:t>bronchopulmonaire</a:t>
            </a:r>
            <a:endParaRPr lang="fr-FR" dirty="0"/>
          </a:p>
          <a:p>
            <a:pPr marL="514350" indent="-514350">
              <a:buFont typeface="+mj-lt"/>
              <a:buAutoNum type="alphaUcPeriod"/>
            </a:pPr>
            <a:r>
              <a:rPr lang="fr-FR" dirty="0"/>
              <a:t>Kyste hydatique du poumon sain</a:t>
            </a:r>
          </a:p>
          <a:p>
            <a:pPr marL="514350" indent="-514350">
              <a:buFont typeface="+mj-lt"/>
              <a:buAutoNum type="alphaUcPeriod"/>
            </a:pPr>
            <a:r>
              <a:rPr lang="fr-FR" dirty="0"/>
              <a:t>Embolie pulmonaire</a:t>
            </a:r>
          </a:p>
          <a:p>
            <a:pPr marL="514350" indent="-514350">
              <a:buFont typeface="+mj-lt"/>
              <a:buAutoNum type="alphaUcPeriod"/>
            </a:pPr>
            <a:r>
              <a:rPr lang="fr-FR" dirty="0">
                <a:solidFill>
                  <a:srgbClr val="C00000"/>
                </a:solidFill>
              </a:rPr>
              <a:t>PFLA</a:t>
            </a:r>
          </a:p>
          <a:p>
            <a:pPr marL="514350" indent="-514350">
              <a:buFont typeface="+mj-lt"/>
              <a:buAutoNum type="alphaUcPeriod"/>
            </a:pPr>
            <a:r>
              <a:rPr lang="fr-FR" dirty="0"/>
              <a:t>Pneumopathie virale</a:t>
            </a:r>
          </a:p>
          <a:p>
            <a:pPr marL="0" indent="0">
              <a:buNone/>
            </a:pPr>
            <a:endParaRPr lang="fr-FR" dirty="0"/>
          </a:p>
          <a:p>
            <a:endParaRPr lang="fr-FR" dirty="0"/>
          </a:p>
        </p:txBody>
      </p:sp>
    </p:spTree>
    <p:extLst>
      <p:ext uri="{BB962C8B-B14F-4D97-AF65-F5344CB8AC3E}">
        <p14:creationId xmlns:p14="http://schemas.microsoft.com/office/powerpoint/2010/main" val="147469719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 La prise en charge de cette affection</a:t>
            </a:r>
            <a:r>
              <a:rPr lang="fr-FR" dirty="0"/>
              <a:t> :</a:t>
            </a:r>
          </a:p>
          <a:p>
            <a:pPr marL="514350" indent="-514350">
              <a:buFont typeface="+mj-lt"/>
              <a:buAutoNum type="alphaUcPeriod"/>
            </a:pPr>
            <a:r>
              <a:rPr lang="fr-FR" dirty="0"/>
              <a:t>Se fait en milieu hospitalier</a:t>
            </a:r>
          </a:p>
          <a:p>
            <a:pPr marL="514350" indent="-514350">
              <a:buFont typeface="+mj-lt"/>
              <a:buAutoNum type="alphaUcPeriod"/>
            </a:pPr>
            <a:r>
              <a:rPr lang="fr-FR" dirty="0"/>
              <a:t>Se fait à domicile</a:t>
            </a:r>
          </a:p>
          <a:p>
            <a:pPr marL="514350" indent="-514350">
              <a:buFont typeface="+mj-lt"/>
              <a:buAutoNum type="alphaUcPeriod"/>
            </a:pPr>
            <a:r>
              <a:rPr lang="fr-FR" dirty="0"/>
              <a:t>Comporte un traitement par amoxicilline-acide clavulanique</a:t>
            </a:r>
          </a:p>
          <a:p>
            <a:pPr marL="514350" indent="-514350">
              <a:buFont typeface="+mj-lt"/>
              <a:buAutoNum type="alphaUcPeriod"/>
            </a:pPr>
            <a:r>
              <a:rPr lang="fr-FR" dirty="0"/>
              <a:t>Comporte une antibiothérapie à base d’amoxicilline</a:t>
            </a:r>
          </a:p>
          <a:p>
            <a:pPr marL="514350" indent="-514350">
              <a:buFont typeface="+mj-lt"/>
              <a:buAutoNum type="alphaUcPeriod"/>
            </a:pPr>
            <a:r>
              <a:rPr lang="fr-FR" dirty="0"/>
              <a:t>Nécessite un contrôle radiologique systématique après 72 heures </a:t>
            </a:r>
          </a:p>
          <a:p>
            <a:endParaRPr lang="fr-FR" dirty="0"/>
          </a:p>
        </p:txBody>
      </p:sp>
    </p:spTree>
    <p:extLst>
      <p:ext uri="{BB962C8B-B14F-4D97-AF65-F5344CB8AC3E}">
        <p14:creationId xmlns:p14="http://schemas.microsoft.com/office/powerpoint/2010/main" val="235912846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 La prise en charge de cette affection</a:t>
            </a:r>
            <a:r>
              <a:rPr lang="fr-FR" dirty="0"/>
              <a:t> :</a:t>
            </a:r>
          </a:p>
          <a:p>
            <a:pPr marL="514350" indent="-514350">
              <a:buFont typeface="+mj-lt"/>
              <a:buAutoNum type="alphaUcPeriod"/>
            </a:pPr>
            <a:r>
              <a:rPr lang="fr-FR" dirty="0"/>
              <a:t>Se fait en milieu hospitalier</a:t>
            </a:r>
          </a:p>
          <a:p>
            <a:pPr marL="514350" indent="-514350">
              <a:buFont typeface="+mj-lt"/>
              <a:buAutoNum type="alphaUcPeriod"/>
            </a:pPr>
            <a:r>
              <a:rPr lang="fr-FR" dirty="0">
                <a:solidFill>
                  <a:srgbClr val="C00000"/>
                </a:solidFill>
              </a:rPr>
              <a:t>Se fait à domicile</a:t>
            </a:r>
          </a:p>
          <a:p>
            <a:pPr marL="514350" indent="-514350">
              <a:buFont typeface="+mj-lt"/>
              <a:buAutoNum type="alphaUcPeriod"/>
            </a:pPr>
            <a:r>
              <a:rPr lang="fr-FR" dirty="0"/>
              <a:t>Comporte un traitement par amoxicilline-acide clavulanique</a:t>
            </a:r>
          </a:p>
          <a:p>
            <a:pPr marL="514350" indent="-514350">
              <a:buFont typeface="+mj-lt"/>
              <a:buAutoNum type="alphaUcPeriod"/>
            </a:pPr>
            <a:r>
              <a:rPr lang="fr-FR" dirty="0">
                <a:solidFill>
                  <a:srgbClr val="C00000"/>
                </a:solidFill>
              </a:rPr>
              <a:t>Comporte une antibiothérapie à base d’amoxicilline</a:t>
            </a:r>
          </a:p>
          <a:p>
            <a:pPr marL="514350" indent="-514350">
              <a:buFont typeface="+mj-lt"/>
              <a:buAutoNum type="alphaUcPeriod"/>
            </a:pPr>
            <a:r>
              <a:rPr lang="fr-FR" dirty="0"/>
              <a:t>Nécessite un contrôle radiologique systématique après 72 heures </a:t>
            </a:r>
          </a:p>
          <a:p>
            <a:endParaRPr lang="fr-FR" dirty="0"/>
          </a:p>
        </p:txBody>
      </p:sp>
    </p:spTree>
    <p:extLst>
      <p:ext uri="{BB962C8B-B14F-4D97-AF65-F5344CB8AC3E}">
        <p14:creationId xmlns:p14="http://schemas.microsoft.com/office/powerpoint/2010/main" val="108814337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1196753"/>
            <a:ext cx="8229600" cy="4929411"/>
          </a:xfrm>
        </p:spPr>
        <p:txBody>
          <a:bodyPr>
            <a:normAutofit/>
          </a:bodyPr>
          <a:lstStyle/>
          <a:p>
            <a:pPr marL="0" indent="0">
              <a:buNone/>
            </a:pPr>
            <a:r>
              <a:rPr lang="fr-FR" sz="3600" dirty="0"/>
              <a:t>Un traitement approprié a été instauré, mais le nettoyage radiologique était incomplet à 2 semaines du traitement.</a:t>
            </a:r>
            <a:br>
              <a:rPr lang="fr-FR" sz="3600" dirty="0"/>
            </a:br>
            <a:endParaRPr lang="fr-FR" sz="3600" dirty="0"/>
          </a:p>
        </p:txBody>
      </p:sp>
    </p:spTree>
    <p:extLst>
      <p:ext uri="{BB962C8B-B14F-4D97-AF65-F5344CB8AC3E}">
        <p14:creationId xmlns:p14="http://schemas.microsoft.com/office/powerpoint/2010/main" val="325747218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1124745"/>
            <a:ext cx="8229600" cy="5184576"/>
          </a:xfrm>
        </p:spPr>
        <p:txBody>
          <a:bodyPr>
            <a:normAutofit/>
          </a:bodyPr>
          <a:lstStyle/>
          <a:p>
            <a:pPr marL="0" indent="0">
              <a:buNone/>
            </a:pPr>
            <a:r>
              <a:rPr lang="fr-FR" b="1" dirty="0"/>
              <a:t>L’examen de première intention qui doit être réalisé dans ce cas est :</a:t>
            </a:r>
            <a:endParaRPr lang="fr-FR" dirty="0"/>
          </a:p>
          <a:p>
            <a:pPr marL="514350" indent="-514350">
              <a:buFont typeface="+mj-lt"/>
              <a:buAutoNum type="alphaUcPeriod"/>
            </a:pPr>
            <a:r>
              <a:rPr lang="fr-FR" dirty="0"/>
              <a:t>Le dosage de D Dimère</a:t>
            </a:r>
          </a:p>
          <a:p>
            <a:pPr marL="514350" indent="-514350">
              <a:buFont typeface="+mj-lt"/>
              <a:buAutoNum type="alphaUcPeriod"/>
            </a:pPr>
            <a:r>
              <a:rPr lang="fr-FR" dirty="0"/>
              <a:t>La </a:t>
            </a:r>
            <a:r>
              <a:rPr lang="fr-FR" dirty="0" err="1"/>
              <a:t>thoracoscopie</a:t>
            </a:r>
            <a:endParaRPr lang="fr-FR" dirty="0"/>
          </a:p>
          <a:p>
            <a:pPr marL="514350" indent="-514350">
              <a:buFont typeface="+mj-lt"/>
              <a:buAutoNum type="alphaUcPeriod"/>
            </a:pPr>
            <a:r>
              <a:rPr lang="fr-FR" dirty="0"/>
              <a:t>La ponction </a:t>
            </a:r>
            <a:r>
              <a:rPr lang="fr-FR" dirty="0" err="1"/>
              <a:t>trans</a:t>
            </a:r>
            <a:r>
              <a:rPr lang="fr-FR" dirty="0"/>
              <a:t> pariétale thoracique </a:t>
            </a:r>
          </a:p>
          <a:p>
            <a:pPr marL="514350" indent="-514350">
              <a:buFont typeface="+mj-lt"/>
              <a:buAutoNum type="alphaUcPeriod"/>
            </a:pPr>
            <a:r>
              <a:rPr lang="fr-FR" dirty="0"/>
              <a:t>La fibroscopie bronchique</a:t>
            </a:r>
          </a:p>
          <a:p>
            <a:pPr marL="514350" indent="-514350">
              <a:buFont typeface="+mj-lt"/>
              <a:buAutoNum type="alphaUcPeriod"/>
            </a:pPr>
            <a:r>
              <a:rPr lang="fr-FR" dirty="0"/>
              <a:t>La biopsie pulmonaire chirurgicale</a:t>
            </a:r>
          </a:p>
          <a:p>
            <a:endParaRPr lang="fr-FR" dirty="0"/>
          </a:p>
        </p:txBody>
      </p:sp>
    </p:spTree>
    <p:extLst>
      <p:ext uri="{BB962C8B-B14F-4D97-AF65-F5344CB8AC3E}">
        <p14:creationId xmlns:p14="http://schemas.microsoft.com/office/powerpoint/2010/main" val="201802053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1124745"/>
            <a:ext cx="8229600" cy="5184576"/>
          </a:xfrm>
        </p:spPr>
        <p:txBody>
          <a:bodyPr>
            <a:normAutofit/>
          </a:bodyPr>
          <a:lstStyle/>
          <a:p>
            <a:pPr marL="0" indent="0">
              <a:buNone/>
            </a:pPr>
            <a:r>
              <a:rPr lang="fr-FR" b="1" dirty="0"/>
              <a:t>L’examen de première intention qui doit être réalisé dans ce cas est :</a:t>
            </a:r>
            <a:endParaRPr lang="fr-FR" dirty="0"/>
          </a:p>
          <a:p>
            <a:pPr marL="514350" indent="-514350">
              <a:buFont typeface="+mj-lt"/>
              <a:buAutoNum type="alphaUcPeriod"/>
            </a:pPr>
            <a:r>
              <a:rPr lang="fr-FR" dirty="0"/>
              <a:t>Le dosage de D Dimère</a:t>
            </a:r>
          </a:p>
          <a:p>
            <a:pPr marL="514350" indent="-514350">
              <a:buFont typeface="+mj-lt"/>
              <a:buAutoNum type="alphaUcPeriod"/>
            </a:pPr>
            <a:r>
              <a:rPr lang="fr-FR" dirty="0"/>
              <a:t>La </a:t>
            </a:r>
            <a:r>
              <a:rPr lang="fr-FR" dirty="0" err="1"/>
              <a:t>thoracoscopie</a:t>
            </a:r>
            <a:endParaRPr lang="fr-FR" dirty="0"/>
          </a:p>
          <a:p>
            <a:pPr marL="514350" indent="-514350">
              <a:buFont typeface="+mj-lt"/>
              <a:buAutoNum type="alphaUcPeriod"/>
            </a:pPr>
            <a:r>
              <a:rPr lang="fr-FR" dirty="0"/>
              <a:t>La ponction </a:t>
            </a:r>
            <a:r>
              <a:rPr lang="fr-FR" dirty="0" err="1"/>
              <a:t>trans</a:t>
            </a:r>
            <a:r>
              <a:rPr lang="fr-FR" dirty="0"/>
              <a:t> pariétale thoracique </a:t>
            </a:r>
          </a:p>
          <a:p>
            <a:pPr marL="514350" indent="-514350">
              <a:buFont typeface="+mj-lt"/>
              <a:buAutoNum type="alphaUcPeriod"/>
            </a:pPr>
            <a:r>
              <a:rPr lang="fr-FR" dirty="0">
                <a:solidFill>
                  <a:srgbClr val="C00000"/>
                </a:solidFill>
              </a:rPr>
              <a:t>La fibroscopie bronchique</a:t>
            </a:r>
          </a:p>
          <a:p>
            <a:pPr marL="514350" indent="-514350">
              <a:buFont typeface="+mj-lt"/>
              <a:buAutoNum type="alphaUcPeriod"/>
            </a:pPr>
            <a:r>
              <a:rPr lang="fr-FR" dirty="0"/>
              <a:t>La biopsie pulmonaire chirurgicale</a:t>
            </a:r>
          </a:p>
          <a:p>
            <a:endParaRPr lang="fr-FR" dirty="0"/>
          </a:p>
        </p:txBody>
      </p:sp>
    </p:spTree>
    <p:extLst>
      <p:ext uri="{BB962C8B-B14F-4D97-AF65-F5344CB8AC3E}">
        <p14:creationId xmlns:p14="http://schemas.microsoft.com/office/powerpoint/2010/main" val="281982651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476673"/>
            <a:ext cx="8229600" cy="5649491"/>
          </a:xfrm>
        </p:spPr>
        <p:txBody>
          <a:bodyPr>
            <a:normAutofit fontScale="62500" lnSpcReduction="20000"/>
          </a:bodyPr>
          <a:lstStyle/>
          <a:p>
            <a:pPr marL="0" indent="0">
              <a:buNone/>
            </a:pPr>
            <a:r>
              <a:rPr lang="fr-FR" sz="4500" b="1" u="sng" dirty="0"/>
              <a:t>Cas clinique 4</a:t>
            </a:r>
            <a:r>
              <a:rPr lang="fr-FR" b="1" dirty="0"/>
              <a:t> : </a:t>
            </a:r>
            <a:endParaRPr lang="fr-FR" dirty="0"/>
          </a:p>
          <a:p>
            <a:pPr marL="0" indent="0">
              <a:buNone/>
            </a:pPr>
            <a:endParaRPr lang="fr-FR" dirty="0"/>
          </a:p>
          <a:p>
            <a:pPr marL="0" indent="0">
              <a:buNone/>
            </a:pPr>
            <a:r>
              <a:rPr lang="fr-FR" sz="4000" dirty="0"/>
              <a:t>Un patient âgé de 72 ans, tabagique 40 PA, porteur de BPCO consulte pour fièvre, dyspnée, toux, expectorations purulentes abondantes et altération de l’état général évoluant depuis 4 jours sans autres plaintes extra respiratoires.</a:t>
            </a:r>
          </a:p>
          <a:p>
            <a:pPr marL="0" indent="0">
              <a:buNone/>
            </a:pPr>
            <a:r>
              <a:rPr lang="fr-FR" sz="4000" dirty="0"/>
              <a:t>A l’examen, teint infecté, polypnée à 27 cycles/mn, T° : 39,5, saturation à l’air ambiant à 94%, fréquence cardiaque : 110b/mn, TA : 120/80, auscultation : quelques  foyers de râles </a:t>
            </a:r>
            <a:r>
              <a:rPr lang="fr-FR" sz="4000" dirty="0" err="1"/>
              <a:t>crépitants</a:t>
            </a:r>
            <a:r>
              <a:rPr lang="fr-FR" sz="4000" dirty="0"/>
              <a:t> bilatéraux,</a:t>
            </a:r>
          </a:p>
          <a:p>
            <a:pPr marL="0" indent="0">
              <a:buNone/>
            </a:pPr>
            <a:r>
              <a:rPr lang="fr-FR" sz="4000" dirty="0"/>
              <a:t>Radio thorax : opacités alvéolaires non excavées et non systématisées bilatérales.</a:t>
            </a:r>
          </a:p>
          <a:p>
            <a:pPr marL="0" indent="0">
              <a:buNone/>
            </a:pPr>
            <a:r>
              <a:rPr lang="fr-FR" sz="4000" dirty="0"/>
              <a:t>Biologie : GB : 22000/mm3, CRP : 320mg/L, </a:t>
            </a:r>
            <a:r>
              <a:rPr lang="fr-FR" sz="4000" dirty="0" err="1"/>
              <a:t>créat</a:t>
            </a:r>
            <a:r>
              <a:rPr lang="fr-FR" sz="4000" dirty="0"/>
              <a:t> : 110 micromole /l  , glycémie : 1,1g/l, Na+/K+ : 127 </a:t>
            </a:r>
            <a:r>
              <a:rPr lang="fr-FR" sz="4000" dirty="0" err="1"/>
              <a:t>mmole</a:t>
            </a:r>
            <a:r>
              <a:rPr lang="fr-FR" sz="4000" dirty="0"/>
              <a:t>/l  /4,6 </a:t>
            </a:r>
            <a:r>
              <a:rPr lang="fr-FR" sz="4000" dirty="0" err="1"/>
              <a:t>mmole</a:t>
            </a:r>
            <a:r>
              <a:rPr lang="fr-FR" sz="4000" dirty="0"/>
              <a:t>/l  , bilan hépatique normal.</a:t>
            </a:r>
          </a:p>
          <a:p>
            <a:pPr marL="0" indent="0">
              <a:buNone/>
            </a:pPr>
            <a:r>
              <a:rPr lang="fr-FR" b="1" dirty="0"/>
              <a:t> </a:t>
            </a:r>
            <a:endParaRPr lang="fr-FR" dirty="0"/>
          </a:p>
          <a:p>
            <a:endParaRPr lang="fr-FR" dirty="0"/>
          </a:p>
        </p:txBody>
      </p:sp>
    </p:spTree>
    <p:extLst>
      <p:ext uri="{BB962C8B-B14F-4D97-AF65-F5344CB8AC3E}">
        <p14:creationId xmlns:p14="http://schemas.microsoft.com/office/powerpoint/2010/main" val="106505233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 Devant ce tableau radio-clinique, le diagnostic le plus probable est :</a:t>
            </a:r>
            <a:endParaRPr lang="fr-FR" dirty="0"/>
          </a:p>
          <a:p>
            <a:pPr marL="514350" indent="-514350">
              <a:buFont typeface="+mj-lt"/>
              <a:buAutoNum type="alphaUcPeriod"/>
            </a:pPr>
            <a:r>
              <a:rPr lang="fr-FR" dirty="0"/>
              <a:t>PFLA</a:t>
            </a:r>
          </a:p>
          <a:p>
            <a:pPr marL="514350" indent="-514350">
              <a:buFont typeface="+mj-lt"/>
              <a:buAutoNum type="alphaUcPeriod"/>
            </a:pPr>
            <a:r>
              <a:rPr lang="fr-FR" dirty="0"/>
              <a:t>Pneumopathie atypique</a:t>
            </a:r>
          </a:p>
          <a:p>
            <a:pPr marL="514350" indent="-514350">
              <a:buFont typeface="+mj-lt"/>
              <a:buAutoNum type="alphaUcPeriod"/>
            </a:pPr>
            <a:r>
              <a:rPr lang="fr-FR" dirty="0"/>
              <a:t>Bronchopneumonie</a:t>
            </a:r>
          </a:p>
          <a:p>
            <a:pPr marL="514350" indent="-514350">
              <a:buFont typeface="+mj-lt"/>
              <a:buAutoNum type="alphaUcPeriod"/>
            </a:pPr>
            <a:r>
              <a:rPr lang="fr-FR" dirty="0"/>
              <a:t>Pneumopathie grippale </a:t>
            </a:r>
          </a:p>
          <a:p>
            <a:pPr marL="514350" indent="-514350">
              <a:buFont typeface="+mj-lt"/>
              <a:buAutoNum type="alphaUcPeriod"/>
            </a:pPr>
            <a:r>
              <a:rPr lang="fr-FR" dirty="0"/>
              <a:t>Pneumopathie à </a:t>
            </a:r>
            <a:r>
              <a:rPr lang="fr-FR" dirty="0" err="1"/>
              <a:t>legionella</a:t>
            </a:r>
            <a:r>
              <a:rPr lang="fr-FR" dirty="0"/>
              <a:t> </a:t>
            </a:r>
            <a:r>
              <a:rPr lang="fr-FR" dirty="0" err="1"/>
              <a:t>pneumophila</a:t>
            </a:r>
            <a:endParaRPr lang="fr-FR" dirty="0"/>
          </a:p>
          <a:p>
            <a:pPr marL="0" indent="0">
              <a:buNone/>
            </a:pPr>
            <a:endParaRPr lang="fr-FR" dirty="0"/>
          </a:p>
          <a:p>
            <a:endParaRPr lang="fr-FR" dirty="0"/>
          </a:p>
        </p:txBody>
      </p:sp>
    </p:spTree>
    <p:extLst>
      <p:ext uri="{BB962C8B-B14F-4D97-AF65-F5344CB8AC3E}">
        <p14:creationId xmlns:p14="http://schemas.microsoft.com/office/powerpoint/2010/main" val="194325622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620689"/>
            <a:ext cx="8229600" cy="5505475"/>
          </a:xfrm>
        </p:spPr>
        <p:txBody>
          <a:bodyPr>
            <a:normAutofit/>
          </a:bodyPr>
          <a:lstStyle/>
          <a:p>
            <a:pPr marL="0" indent="0">
              <a:buNone/>
            </a:pPr>
            <a:r>
              <a:rPr lang="fr-FR" b="1" dirty="0"/>
              <a:t>Devant ce tableau radio-clinique, le diagnostic le plus probable est :</a:t>
            </a:r>
            <a:endParaRPr lang="fr-FR" dirty="0"/>
          </a:p>
          <a:p>
            <a:pPr marL="514350" indent="-514350">
              <a:buFont typeface="+mj-lt"/>
              <a:buAutoNum type="alphaUcPeriod"/>
            </a:pPr>
            <a:r>
              <a:rPr lang="fr-FR" dirty="0"/>
              <a:t>PFLA</a:t>
            </a:r>
          </a:p>
          <a:p>
            <a:pPr marL="514350" indent="-514350">
              <a:buFont typeface="+mj-lt"/>
              <a:buAutoNum type="alphaUcPeriod"/>
            </a:pPr>
            <a:r>
              <a:rPr lang="fr-FR" dirty="0"/>
              <a:t>Pneumopathie atypique</a:t>
            </a:r>
          </a:p>
          <a:p>
            <a:pPr marL="514350" indent="-514350">
              <a:buFont typeface="+mj-lt"/>
              <a:buAutoNum type="alphaUcPeriod"/>
            </a:pPr>
            <a:r>
              <a:rPr lang="fr-FR" dirty="0">
                <a:solidFill>
                  <a:srgbClr val="C00000"/>
                </a:solidFill>
              </a:rPr>
              <a:t>Bronchopneumonie</a:t>
            </a:r>
          </a:p>
          <a:p>
            <a:pPr marL="514350" indent="-514350">
              <a:buFont typeface="+mj-lt"/>
              <a:buAutoNum type="alphaUcPeriod"/>
            </a:pPr>
            <a:r>
              <a:rPr lang="fr-FR" dirty="0"/>
              <a:t>Pneumopathie grippale </a:t>
            </a:r>
          </a:p>
          <a:p>
            <a:pPr marL="514350" indent="-514350">
              <a:buFont typeface="+mj-lt"/>
              <a:buAutoNum type="alphaUcPeriod"/>
            </a:pPr>
            <a:r>
              <a:rPr lang="fr-FR" dirty="0"/>
              <a:t>Pneumopathie à </a:t>
            </a:r>
            <a:r>
              <a:rPr lang="fr-FR" dirty="0" err="1"/>
              <a:t>legionella</a:t>
            </a:r>
            <a:r>
              <a:rPr lang="fr-FR" dirty="0"/>
              <a:t> </a:t>
            </a:r>
            <a:r>
              <a:rPr lang="fr-FR" dirty="0" err="1"/>
              <a:t>pneumophila</a:t>
            </a:r>
            <a:endParaRPr lang="fr-FR" dirty="0"/>
          </a:p>
          <a:p>
            <a:pPr marL="0" indent="0">
              <a:buNone/>
            </a:pPr>
            <a:endParaRPr lang="fr-FR" dirty="0"/>
          </a:p>
          <a:p>
            <a:endParaRPr lang="fr-FR" dirty="0"/>
          </a:p>
        </p:txBody>
      </p:sp>
    </p:spTree>
    <p:extLst>
      <p:ext uri="{BB962C8B-B14F-4D97-AF65-F5344CB8AC3E}">
        <p14:creationId xmlns:p14="http://schemas.microsoft.com/office/powerpoint/2010/main" val="38193720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75854"/>
            <a:ext cx="8229600" cy="5577483"/>
          </a:xfrm>
        </p:spPr>
        <p:txBody>
          <a:bodyPr>
            <a:normAutofit/>
          </a:bodyPr>
          <a:lstStyle/>
          <a:p>
            <a:pPr marL="0" indent="0">
              <a:buNone/>
            </a:pPr>
            <a:r>
              <a:rPr lang="fr-FR" b="1" dirty="0"/>
              <a:t> Sur ce terrain, le germe le plus probable est :</a:t>
            </a:r>
            <a:endParaRPr lang="fr-FR" dirty="0"/>
          </a:p>
          <a:p>
            <a:pPr marL="514350" indent="-514350">
              <a:buFont typeface="+mj-lt"/>
              <a:buAutoNum type="alphaUcPeriod"/>
            </a:pPr>
            <a:r>
              <a:rPr lang="fr-FR" dirty="0"/>
              <a:t>Mycoplasme</a:t>
            </a:r>
          </a:p>
          <a:p>
            <a:pPr marL="514350" indent="-514350">
              <a:buFont typeface="+mj-lt"/>
              <a:buAutoNum type="alphaUcPeriod"/>
            </a:pPr>
            <a:r>
              <a:rPr lang="fr-FR" dirty="0"/>
              <a:t>Chlamydia</a:t>
            </a:r>
          </a:p>
          <a:p>
            <a:pPr marL="514350" indent="-514350">
              <a:buFont typeface="+mj-lt"/>
              <a:buAutoNum type="alphaUcPeriod"/>
            </a:pPr>
            <a:r>
              <a:rPr lang="fr-FR" dirty="0" err="1"/>
              <a:t>Légionella</a:t>
            </a:r>
            <a:r>
              <a:rPr lang="fr-FR" dirty="0"/>
              <a:t> </a:t>
            </a:r>
            <a:r>
              <a:rPr lang="fr-FR" dirty="0" err="1"/>
              <a:t>pneumophila</a:t>
            </a:r>
            <a:endParaRPr lang="fr-FR" dirty="0"/>
          </a:p>
          <a:p>
            <a:pPr marL="514350" indent="-514350">
              <a:buFont typeface="+mj-lt"/>
              <a:buAutoNum type="alphaUcPeriod"/>
            </a:pPr>
            <a:r>
              <a:rPr lang="fr-FR" dirty="0" err="1"/>
              <a:t>Hémophilus</a:t>
            </a:r>
            <a:r>
              <a:rPr lang="fr-FR" dirty="0"/>
              <a:t> </a:t>
            </a:r>
            <a:r>
              <a:rPr lang="fr-FR" dirty="0" err="1"/>
              <a:t>influenzae</a:t>
            </a:r>
            <a:endParaRPr lang="fr-FR" dirty="0"/>
          </a:p>
          <a:p>
            <a:pPr marL="514350" indent="-514350">
              <a:buFont typeface="+mj-lt"/>
              <a:buAutoNum type="alphaUcPeriod"/>
            </a:pPr>
            <a:r>
              <a:rPr lang="fr-FR" dirty="0"/>
              <a:t>Staphylocoque aureus</a:t>
            </a:r>
          </a:p>
          <a:p>
            <a:pPr marL="0" indent="0">
              <a:buNone/>
            </a:pPr>
            <a:endParaRPr lang="fr-FR" dirty="0"/>
          </a:p>
          <a:p>
            <a:pPr marL="0" indent="0">
              <a:buNone/>
            </a:pPr>
            <a:endParaRPr lang="fr-FR" dirty="0"/>
          </a:p>
          <a:p>
            <a:endParaRPr lang="fr-FR" dirty="0"/>
          </a:p>
        </p:txBody>
      </p:sp>
    </p:spTree>
    <p:extLst>
      <p:ext uri="{BB962C8B-B14F-4D97-AF65-F5344CB8AC3E}">
        <p14:creationId xmlns:p14="http://schemas.microsoft.com/office/powerpoint/2010/main" val="372733093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875854"/>
            <a:ext cx="8229600" cy="5577483"/>
          </a:xfrm>
        </p:spPr>
        <p:txBody>
          <a:bodyPr>
            <a:normAutofit/>
          </a:bodyPr>
          <a:lstStyle/>
          <a:p>
            <a:pPr marL="0" indent="0">
              <a:buNone/>
            </a:pPr>
            <a:r>
              <a:rPr lang="fr-FR" b="1" dirty="0"/>
              <a:t> Sur ce terrain, le germe le plus probable est :</a:t>
            </a:r>
            <a:endParaRPr lang="fr-FR" dirty="0"/>
          </a:p>
          <a:p>
            <a:pPr marL="514350" indent="-514350">
              <a:buFont typeface="+mj-lt"/>
              <a:buAutoNum type="alphaUcPeriod"/>
            </a:pPr>
            <a:r>
              <a:rPr lang="fr-FR" dirty="0"/>
              <a:t>Mycoplasme</a:t>
            </a:r>
          </a:p>
          <a:p>
            <a:pPr marL="514350" indent="-514350">
              <a:buFont typeface="+mj-lt"/>
              <a:buAutoNum type="alphaUcPeriod"/>
            </a:pPr>
            <a:r>
              <a:rPr lang="fr-FR" dirty="0"/>
              <a:t>Chlamydia</a:t>
            </a:r>
          </a:p>
          <a:p>
            <a:pPr marL="514350" indent="-514350">
              <a:buFont typeface="+mj-lt"/>
              <a:buAutoNum type="alphaUcPeriod"/>
            </a:pPr>
            <a:r>
              <a:rPr lang="fr-FR" dirty="0" err="1"/>
              <a:t>Légionella</a:t>
            </a:r>
            <a:r>
              <a:rPr lang="fr-FR" dirty="0"/>
              <a:t> </a:t>
            </a:r>
            <a:r>
              <a:rPr lang="fr-FR" dirty="0" err="1"/>
              <a:t>pneumophila</a:t>
            </a:r>
            <a:endParaRPr lang="fr-FR" dirty="0"/>
          </a:p>
          <a:p>
            <a:pPr marL="514350" indent="-514350">
              <a:buFont typeface="+mj-lt"/>
              <a:buAutoNum type="alphaUcPeriod"/>
            </a:pPr>
            <a:r>
              <a:rPr lang="fr-FR" dirty="0" err="1">
                <a:solidFill>
                  <a:srgbClr val="C00000"/>
                </a:solidFill>
              </a:rPr>
              <a:t>Hémophilus</a:t>
            </a:r>
            <a:r>
              <a:rPr lang="fr-FR" dirty="0">
                <a:solidFill>
                  <a:srgbClr val="C00000"/>
                </a:solidFill>
              </a:rPr>
              <a:t> </a:t>
            </a:r>
            <a:r>
              <a:rPr lang="fr-FR" dirty="0" err="1">
                <a:solidFill>
                  <a:srgbClr val="C00000"/>
                </a:solidFill>
              </a:rPr>
              <a:t>influenzae</a:t>
            </a:r>
            <a:endParaRPr lang="fr-FR" dirty="0">
              <a:solidFill>
                <a:srgbClr val="C00000"/>
              </a:solidFill>
            </a:endParaRPr>
          </a:p>
          <a:p>
            <a:pPr marL="514350" indent="-514350">
              <a:buFont typeface="+mj-lt"/>
              <a:buAutoNum type="alphaUcPeriod"/>
            </a:pPr>
            <a:r>
              <a:rPr lang="fr-FR" dirty="0"/>
              <a:t>Staphylocoque aureus</a:t>
            </a:r>
          </a:p>
          <a:p>
            <a:pPr marL="0" indent="0">
              <a:buNone/>
            </a:pPr>
            <a:endParaRPr lang="fr-FR" dirty="0"/>
          </a:p>
          <a:p>
            <a:pPr marL="0" indent="0">
              <a:buNone/>
            </a:pPr>
            <a:endParaRPr lang="fr-FR" dirty="0"/>
          </a:p>
          <a:p>
            <a:endParaRPr lang="fr-FR" dirty="0"/>
          </a:p>
        </p:txBody>
      </p:sp>
    </p:spTree>
    <p:extLst>
      <p:ext uri="{BB962C8B-B14F-4D97-AF65-F5344CB8AC3E}">
        <p14:creationId xmlns:p14="http://schemas.microsoft.com/office/powerpoint/2010/main" val="368186453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1019870"/>
            <a:ext cx="8229600" cy="5433467"/>
          </a:xfrm>
        </p:spPr>
        <p:txBody>
          <a:bodyPr/>
          <a:lstStyle/>
          <a:p>
            <a:pPr marL="0" indent="0">
              <a:buNone/>
            </a:pPr>
            <a:r>
              <a:rPr lang="fr-FR" b="1" dirty="0"/>
              <a:t> La prise en charge de cette affection :</a:t>
            </a:r>
            <a:endParaRPr lang="fr-FR" dirty="0"/>
          </a:p>
          <a:p>
            <a:pPr marL="514350" indent="-514350">
              <a:buFont typeface="+mj-lt"/>
              <a:buAutoNum type="alphaUcPeriod"/>
            </a:pPr>
            <a:r>
              <a:rPr lang="fr-FR" dirty="0"/>
              <a:t>Se fait en ambulatoire</a:t>
            </a:r>
          </a:p>
          <a:p>
            <a:pPr marL="514350" indent="-514350">
              <a:buFont typeface="+mj-lt"/>
              <a:buAutoNum type="alphaUcPeriod"/>
            </a:pPr>
            <a:r>
              <a:rPr lang="fr-FR" dirty="0"/>
              <a:t>Se fait en réanimation</a:t>
            </a:r>
          </a:p>
          <a:p>
            <a:pPr marL="514350" indent="-514350">
              <a:buFont typeface="+mj-lt"/>
              <a:buAutoNum type="alphaUcPeriod"/>
            </a:pPr>
            <a:r>
              <a:rPr lang="fr-FR" dirty="0"/>
              <a:t>Se fait en pneumologie</a:t>
            </a:r>
          </a:p>
          <a:p>
            <a:pPr marL="514350" indent="-514350">
              <a:buFont typeface="+mj-lt"/>
              <a:buAutoNum type="alphaUcPeriod"/>
            </a:pPr>
            <a:r>
              <a:rPr lang="fr-FR" dirty="0"/>
              <a:t>Nécessite un traitement par amoxicilline</a:t>
            </a:r>
          </a:p>
          <a:p>
            <a:pPr marL="514350" indent="-514350">
              <a:buFont typeface="+mj-lt"/>
              <a:buAutoNum type="alphaUcPeriod"/>
            </a:pPr>
            <a:r>
              <a:rPr lang="fr-FR" dirty="0"/>
              <a:t>Nécessite un traitement par Macrolide</a:t>
            </a:r>
          </a:p>
          <a:p>
            <a:endParaRPr lang="fr-FR" dirty="0"/>
          </a:p>
        </p:txBody>
      </p:sp>
    </p:spTree>
    <p:extLst>
      <p:ext uri="{BB962C8B-B14F-4D97-AF65-F5344CB8AC3E}">
        <p14:creationId xmlns:p14="http://schemas.microsoft.com/office/powerpoint/2010/main" val="256830310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81200" y="1019870"/>
            <a:ext cx="8229600" cy="5433467"/>
          </a:xfrm>
        </p:spPr>
        <p:txBody>
          <a:bodyPr/>
          <a:lstStyle/>
          <a:p>
            <a:pPr marL="0" indent="0">
              <a:buNone/>
            </a:pPr>
            <a:r>
              <a:rPr lang="fr-FR" b="1" dirty="0"/>
              <a:t>La prise en charge de cette affection :</a:t>
            </a:r>
            <a:endParaRPr lang="fr-FR" dirty="0"/>
          </a:p>
          <a:p>
            <a:pPr marL="514350" indent="-514350">
              <a:buFont typeface="+mj-lt"/>
              <a:buAutoNum type="alphaUcPeriod"/>
            </a:pPr>
            <a:r>
              <a:rPr lang="fr-FR" dirty="0"/>
              <a:t>Se fait en ambulatoire</a:t>
            </a:r>
          </a:p>
          <a:p>
            <a:pPr marL="514350" indent="-514350">
              <a:buFont typeface="+mj-lt"/>
              <a:buAutoNum type="alphaUcPeriod"/>
            </a:pPr>
            <a:r>
              <a:rPr lang="fr-FR" dirty="0"/>
              <a:t>Se fait en réanimation</a:t>
            </a:r>
          </a:p>
          <a:p>
            <a:pPr marL="514350" indent="-514350">
              <a:buFont typeface="+mj-lt"/>
              <a:buAutoNum type="alphaUcPeriod"/>
            </a:pPr>
            <a:r>
              <a:rPr lang="fr-FR" dirty="0">
                <a:solidFill>
                  <a:srgbClr val="C00000"/>
                </a:solidFill>
              </a:rPr>
              <a:t>Se fait en pneumologie</a:t>
            </a:r>
          </a:p>
          <a:p>
            <a:pPr marL="514350" indent="-514350">
              <a:buFont typeface="+mj-lt"/>
              <a:buAutoNum type="alphaUcPeriod"/>
            </a:pPr>
            <a:r>
              <a:rPr lang="fr-FR" dirty="0"/>
              <a:t>Nécessite un traitement par amoxicilline</a:t>
            </a:r>
          </a:p>
          <a:p>
            <a:pPr marL="514350" indent="-514350">
              <a:buFont typeface="+mj-lt"/>
              <a:buAutoNum type="alphaUcPeriod"/>
            </a:pPr>
            <a:r>
              <a:rPr lang="fr-FR" dirty="0"/>
              <a:t>Nécessite un traitement par Macrolide</a:t>
            </a:r>
          </a:p>
          <a:p>
            <a:endParaRPr lang="fr-FR" dirty="0"/>
          </a:p>
        </p:txBody>
      </p:sp>
    </p:spTree>
    <p:extLst>
      <p:ext uri="{BB962C8B-B14F-4D97-AF65-F5344CB8AC3E}">
        <p14:creationId xmlns:p14="http://schemas.microsoft.com/office/powerpoint/2010/main" val="143344249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309877-19E6-F37B-7407-0EEDCB0BDD2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A337246-E105-AA56-EF66-500B120DCE39}"/>
              </a:ext>
            </a:extLst>
          </p:cNvPr>
          <p:cNvSpPr>
            <a:spLocks noGrp="1"/>
          </p:cNvSpPr>
          <p:nvPr>
            <p:ph idx="1"/>
          </p:nvPr>
        </p:nvSpPr>
        <p:spPr/>
        <p:txBody>
          <a:bodyPr/>
          <a:lstStyle/>
          <a:p>
            <a:r>
              <a:rPr lang="fr-FR" dirty="0"/>
              <a:t>Homme de 28 ans, non fumeur, consulte pour toux sèche quinteuse évoluant depuis 3 jours avec fièvre modérée (38,3°C). Il décrit une rhinopharyngite initiale. L’examen est pauvre, auscultation normale.</a:t>
            </a:r>
          </a:p>
          <a:p>
            <a:r>
              <a:rPr lang="fr-FR" b="1" dirty="0"/>
              <a:t>QCM 1.</a:t>
            </a:r>
            <a:r>
              <a:rPr lang="fr-FR" dirty="0"/>
              <a:t> L’agent le plus probable en cause est :</a:t>
            </a:r>
            <a:br>
              <a:rPr lang="fr-FR" dirty="0"/>
            </a:br>
            <a:r>
              <a:rPr lang="fr-FR" dirty="0"/>
              <a:t>A. Streptococcus </a:t>
            </a:r>
            <a:r>
              <a:rPr lang="fr-FR" dirty="0" err="1"/>
              <a:t>pneumoniae</a:t>
            </a:r>
            <a:r>
              <a:rPr lang="fr-FR" dirty="0"/>
              <a:t/>
            </a:r>
            <a:br>
              <a:rPr lang="fr-FR" dirty="0"/>
            </a:br>
            <a:r>
              <a:rPr lang="fr-FR" dirty="0"/>
              <a:t>B. Adénovirus</a:t>
            </a:r>
            <a:br>
              <a:rPr lang="fr-FR" dirty="0"/>
            </a:br>
            <a:r>
              <a:rPr lang="fr-FR" dirty="0"/>
              <a:t>C. Mycoplasma </a:t>
            </a:r>
            <a:r>
              <a:rPr lang="fr-FR" dirty="0" err="1"/>
              <a:t>pneumoniae</a:t>
            </a:r>
            <a:r>
              <a:rPr lang="fr-FR" dirty="0"/>
              <a:t/>
            </a:r>
            <a:br>
              <a:rPr lang="fr-FR" dirty="0"/>
            </a:br>
            <a:r>
              <a:rPr lang="fr-FR" dirty="0"/>
              <a:t>D. Haemophilus influenzae</a:t>
            </a:r>
            <a:br>
              <a:rPr lang="fr-FR" dirty="0"/>
            </a:br>
            <a:r>
              <a:rPr lang="fr-FR" dirty="0"/>
              <a:t>E. Legionella pneumophila</a:t>
            </a:r>
            <a:br>
              <a:rPr lang="fr-FR" dirty="0"/>
            </a:br>
            <a:endParaRPr lang="fr-FR" dirty="0"/>
          </a:p>
        </p:txBody>
      </p:sp>
    </p:spTree>
    <p:extLst>
      <p:ext uri="{BB962C8B-B14F-4D97-AF65-F5344CB8AC3E}">
        <p14:creationId xmlns:p14="http://schemas.microsoft.com/office/powerpoint/2010/main" val="75190986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416A18-8B7D-83FA-3154-F78E5F95F26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85CDB55-752E-C85D-55DF-7930A2AB55A7}"/>
              </a:ext>
            </a:extLst>
          </p:cNvPr>
          <p:cNvSpPr>
            <a:spLocks noGrp="1"/>
          </p:cNvSpPr>
          <p:nvPr>
            <p:ph idx="1"/>
          </p:nvPr>
        </p:nvSpPr>
        <p:spPr/>
        <p:txBody>
          <a:bodyPr/>
          <a:lstStyle/>
          <a:p>
            <a:r>
              <a:rPr lang="fr-FR" dirty="0"/>
              <a:t>Homme de 28 ans, non fumeur, consulte pour toux sèche quinteuse évoluant depuis 3 jours avec fièvre modérée (38,3°C). Il décrit une rhinopharyngite initiale. L’examen est pauvre, auscultation normale.</a:t>
            </a:r>
          </a:p>
          <a:p>
            <a:r>
              <a:rPr lang="fr-FR" b="1" dirty="0"/>
              <a:t>QCM 1.</a:t>
            </a:r>
            <a:r>
              <a:rPr lang="fr-FR" dirty="0"/>
              <a:t> L’agent le plus probable en cause est :</a:t>
            </a:r>
            <a:br>
              <a:rPr lang="fr-FR" dirty="0"/>
            </a:br>
            <a:r>
              <a:rPr lang="fr-FR" dirty="0"/>
              <a:t>A. Streptococcus </a:t>
            </a:r>
            <a:r>
              <a:rPr lang="fr-FR" dirty="0" err="1"/>
              <a:t>pneumoniae</a:t>
            </a:r>
            <a:r>
              <a:rPr lang="fr-FR" dirty="0"/>
              <a:t/>
            </a:r>
            <a:br>
              <a:rPr lang="fr-FR" dirty="0"/>
            </a:br>
            <a:r>
              <a:rPr lang="fr-FR" dirty="0">
                <a:solidFill>
                  <a:srgbClr val="C00000"/>
                </a:solidFill>
              </a:rPr>
              <a:t>B. Adénovirus</a:t>
            </a:r>
            <a:r>
              <a:rPr lang="fr-FR" dirty="0"/>
              <a:t/>
            </a:r>
            <a:br>
              <a:rPr lang="fr-FR" dirty="0"/>
            </a:br>
            <a:r>
              <a:rPr lang="fr-FR" dirty="0"/>
              <a:t>C. Mycoplasma </a:t>
            </a:r>
            <a:r>
              <a:rPr lang="fr-FR" dirty="0" err="1"/>
              <a:t>pneumoniae</a:t>
            </a:r>
            <a:r>
              <a:rPr lang="fr-FR" dirty="0"/>
              <a:t/>
            </a:r>
            <a:br>
              <a:rPr lang="fr-FR" dirty="0"/>
            </a:br>
            <a:r>
              <a:rPr lang="fr-FR" dirty="0"/>
              <a:t>D. Haemophilus influenzae</a:t>
            </a:r>
            <a:br>
              <a:rPr lang="fr-FR" dirty="0"/>
            </a:br>
            <a:r>
              <a:rPr lang="fr-FR" dirty="0"/>
              <a:t>E. Legionella pneumophila</a:t>
            </a:r>
            <a:br>
              <a:rPr lang="fr-FR" dirty="0"/>
            </a:br>
            <a:endParaRPr lang="fr-FR" dirty="0"/>
          </a:p>
        </p:txBody>
      </p:sp>
    </p:spTree>
    <p:extLst>
      <p:ext uri="{BB962C8B-B14F-4D97-AF65-F5344CB8AC3E}">
        <p14:creationId xmlns:p14="http://schemas.microsoft.com/office/powerpoint/2010/main" val="310607322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5BAF30-C748-FE36-0A78-B1A4A056320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3CB2A9B-2D7F-B8F6-6AEF-9DEE76237C0C}"/>
              </a:ext>
            </a:extLst>
          </p:cNvPr>
          <p:cNvSpPr>
            <a:spLocks noGrp="1"/>
          </p:cNvSpPr>
          <p:nvPr>
            <p:ph idx="1"/>
          </p:nvPr>
        </p:nvSpPr>
        <p:spPr/>
        <p:txBody>
          <a:bodyPr/>
          <a:lstStyle/>
          <a:p>
            <a:r>
              <a:rPr lang="fr-FR" b="1" dirty="0"/>
              <a:t>CM 2.</a:t>
            </a:r>
            <a:r>
              <a:rPr lang="fr-FR" dirty="0"/>
              <a:t> La conduite diagnostique recommandée est :</a:t>
            </a:r>
            <a:br>
              <a:rPr lang="fr-FR" dirty="0"/>
            </a:br>
            <a:r>
              <a:rPr lang="fr-FR" dirty="0"/>
              <a:t>A. Radiographie thoracique systématique</a:t>
            </a:r>
            <a:br>
              <a:rPr lang="fr-FR" dirty="0"/>
            </a:br>
            <a:r>
              <a:rPr lang="fr-FR" dirty="0"/>
              <a:t>B. ECBC</a:t>
            </a:r>
            <a:br>
              <a:rPr lang="fr-FR" dirty="0"/>
            </a:br>
            <a:r>
              <a:rPr lang="fr-FR" dirty="0"/>
              <a:t>C. PCR virale</a:t>
            </a:r>
            <a:br>
              <a:rPr lang="fr-FR" dirty="0"/>
            </a:br>
            <a:r>
              <a:rPr lang="fr-FR" dirty="0"/>
              <a:t>D. Aucun examen complémentaire</a:t>
            </a:r>
            <a:br>
              <a:rPr lang="fr-FR" dirty="0"/>
            </a:br>
            <a:r>
              <a:rPr lang="fr-FR" dirty="0"/>
              <a:t>E. Fibroscopie bronchique</a:t>
            </a:r>
          </a:p>
        </p:txBody>
      </p:sp>
    </p:spTree>
    <p:extLst>
      <p:ext uri="{BB962C8B-B14F-4D97-AF65-F5344CB8AC3E}">
        <p14:creationId xmlns:p14="http://schemas.microsoft.com/office/powerpoint/2010/main" val="350594488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5C9C3-1D74-6996-68D9-CA105C287ED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4EADE2-F60E-4A9A-E3C7-0D57FDCB912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50543B8-57F7-59FB-58C3-618E097E2FA8}"/>
              </a:ext>
            </a:extLst>
          </p:cNvPr>
          <p:cNvSpPr>
            <a:spLocks noGrp="1"/>
          </p:cNvSpPr>
          <p:nvPr>
            <p:ph idx="1"/>
          </p:nvPr>
        </p:nvSpPr>
        <p:spPr/>
        <p:txBody>
          <a:bodyPr/>
          <a:lstStyle/>
          <a:p>
            <a:r>
              <a:rPr lang="fr-FR" b="1" dirty="0"/>
              <a:t>CM 2.</a:t>
            </a:r>
            <a:r>
              <a:rPr lang="fr-FR" dirty="0"/>
              <a:t> La conduite diagnostique recommandée est :</a:t>
            </a:r>
            <a:br>
              <a:rPr lang="fr-FR" dirty="0"/>
            </a:br>
            <a:r>
              <a:rPr lang="fr-FR" dirty="0"/>
              <a:t>A. Radiographie thoracique systématique</a:t>
            </a:r>
            <a:br>
              <a:rPr lang="fr-FR" dirty="0"/>
            </a:br>
            <a:r>
              <a:rPr lang="fr-FR" dirty="0"/>
              <a:t>B. ECBC</a:t>
            </a:r>
            <a:br>
              <a:rPr lang="fr-FR" dirty="0"/>
            </a:br>
            <a:r>
              <a:rPr lang="fr-FR" dirty="0"/>
              <a:t>C. PCR virale</a:t>
            </a:r>
            <a:br>
              <a:rPr lang="fr-FR" dirty="0"/>
            </a:br>
            <a:r>
              <a:rPr lang="fr-FR" dirty="0">
                <a:solidFill>
                  <a:srgbClr val="C00000"/>
                </a:solidFill>
              </a:rPr>
              <a:t>D. Aucun examen complémentaire</a:t>
            </a:r>
            <a:br>
              <a:rPr lang="fr-FR" dirty="0">
                <a:solidFill>
                  <a:srgbClr val="C00000"/>
                </a:solidFill>
              </a:rPr>
            </a:br>
            <a:r>
              <a:rPr lang="fr-FR" dirty="0"/>
              <a:t>E. Fibroscopie bronchique</a:t>
            </a:r>
          </a:p>
        </p:txBody>
      </p:sp>
    </p:spTree>
    <p:extLst>
      <p:ext uri="{BB962C8B-B14F-4D97-AF65-F5344CB8AC3E}">
        <p14:creationId xmlns:p14="http://schemas.microsoft.com/office/powerpoint/2010/main" val="98273184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D75C92-32BD-E272-263D-9B0A0094205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A5D7553-F5A2-E2D9-71FC-9E0AEF23FD45}"/>
              </a:ext>
            </a:extLst>
          </p:cNvPr>
          <p:cNvSpPr>
            <a:spLocks noGrp="1"/>
          </p:cNvSpPr>
          <p:nvPr>
            <p:ph idx="1"/>
          </p:nvPr>
        </p:nvSpPr>
        <p:spPr/>
        <p:txBody>
          <a:bodyPr/>
          <a:lstStyle/>
          <a:p>
            <a:r>
              <a:rPr lang="fr-FR" b="1" dirty="0"/>
              <a:t>QCM 3.</a:t>
            </a:r>
            <a:r>
              <a:rPr lang="fr-FR" dirty="0"/>
              <a:t> Le traitement recommandé est :</a:t>
            </a:r>
            <a:br>
              <a:rPr lang="fr-FR" dirty="0"/>
            </a:br>
            <a:r>
              <a:rPr lang="fr-FR" dirty="0"/>
              <a:t>A. Antibiotique systématique (amoxicilline)</a:t>
            </a:r>
            <a:br>
              <a:rPr lang="fr-FR" dirty="0"/>
            </a:br>
            <a:r>
              <a:rPr lang="fr-FR" dirty="0"/>
              <a:t>B. Antipyrétiques et traitement symptomatique</a:t>
            </a:r>
            <a:br>
              <a:rPr lang="fr-FR" dirty="0"/>
            </a:br>
            <a:r>
              <a:rPr lang="fr-FR" dirty="0"/>
              <a:t>C. Corticoïdes systémiques</a:t>
            </a:r>
            <a:br>
              <a:rPr lang="fr-FR" dirty="0"/>
            </a:br>
            <a:r>
              <a:rPr lang="fr-FR" dirty="0"/>
              <a:t>D. Macrolides obligatoires</a:t>
            </a:r>
            <a:br>
              <a:rPr lang="fr-FR" dirty="0"/>
            </a:br>
            <a:r>
              <a:rPr lang="fr-FR" dirty="0"/>
              <a:t>E. Fluoroquinolones antipneumococciques</a:t>
            </a:r>
          </a:p>
        </p:txBody>
      </p:sp>
    </p:spTree>
    <p:extLst>
      <p:ext uri="{BB962C8B-B14F-4D97-AF65-F5344CB8AC3E}">
        <p14:creationId xmlns:p14="http://schemas.microsoft.com/office/powerpoint/2010/main" val="78570622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BD8A-1361-56E7-96C5-BA3B9600679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8E8836B-F054-61D3-D4CB-A082BDB0AA1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7223600-85CD-0E0F-8F93-B96733E22BEA}"/>
              </a:ext>
            </a:extLst>
          </p:cNvPr>
          <p:cNvSpPr>
            <a:spLocks noGrp="1"/>
          </p:cNvSpPr>
          <p:nvPr>
            <p:ph idx="1"/>
          </p:nvPr>
        </p:nvSpPr>
        <p:spPr/>
        <p:txBody>
          <a:bodyPr/>
          <a:lstStyle/>
          <a:p>
            <a:r>
              <a:rPr lang="fr-FR" b="1" dirty="0"/>
              <a:t>QCM 3.</a:t>
            </a:r>
            <a:r>
              <a:rPr lang="fr-FR" dirty="0"/>
              <a:t> Le traitement recommandé est :</a:t>
            </a:r>
            <a:br>
              <a:rPr lang="fr-FR" dirty="0"/>
            </a:br>
            <a:r>
              <a:rPr lang="fr-FR" dirty="0"/>
              <a:t>A. Antibiotique systématique (amoxicilline)</a:t>
            </a:r>
            <a:br>
              <a:rPr lang="fr-FR" dirty="0"/>
            </a:br>
            <a:r>
              <a:rPr lang="fr-FR" dirty="0">
                <a:solidFill>
                  <a:srgbClr val="C00000"/>
                </a:solidFill>
              </a:rPr>
              <a:t>B. Antipyrétiques et traitement symptomatique</a:t>
            </a:r>
            <a:r>
              <a:rPr lang="fr-FR" dirty="0"/>
              <a:t/>
            </a:r>
            <a:br>
              <a:rPr lang="fr-FR" dirty="0"/>
            </a:br>
            <a:r>
              <a:rPr lang="fr-FR" dirty="0"/>
              <a:t>C. Corticoïdes systémiques</a:t>
            </a:r>
            <a:br>
              <a:rPr lang="fr-FR" dirty="0"/>
            </a:br>
            <a:r>
              <a:rPr lang="fr-FR" dirty="0"/>
              <a:t>D. Macrolides obligatoires</a:t>
            </a:r>
            <a:br>
              <a:rPr lang="fr-FR" dirty="0"/>
            </a:br>
            <a:r>
              <a:rPr lang="fr-FR" dirty="0"/>
              <a:t>E. Fluoroquinolones antipneumococciques</a:t>
            </a:r>
          </a:p>
        </p:txBody>
      </p:sp>
    </p:spTree>
    <p:extLst>
      <p:ext uri="{BB962C8B-B14F-4D97-AF65-F5344CB8AC3E}">
        <p14:creationId xmlns:p14="http://schemas.microsoft.com/office/powerpoint/2010/main" val="177167708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ED6A2-D89D-AB06-3210-94639C3FF41C}"/>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CF92B5EF-6478-2671-ADD4-1B58EDC121B5}"/>
              </a:ext>
            </a:extLst>
          </p:cNvPr>
          <p:cNvSpPr>
            <a:spLocks noGrp="1"/>
          </p:cNvSpPr>
          <p:nvPr>
            <p:ph idx="1"/>
          </p:nvPr>
        </p:nvSpPr>
        <p:spPr/>
        <p:txBody>
          <a:bodyPr/>
          <a:lstStyle/>
          <a:p>
            <a:r>
              <a:rPr lang="fr-FR" dirty="0"/>
              <a:t>La prévention pour réduire les récidives se base sur :</a:t>
            </a:r>
            <a:br>
              <a:rPr lang="fr-FR" dirty="0"/>
            </a:br>
            <a:r>
              <a:rPr lang="fr-FR" dirty="0"/>
              <a:t>A. Vaccination antipneumococcique</a:t>
            </a:r>
            <a:br>
              <a:rPr lang="fr-FR" dirty="0"/>
            </a:br>
            <a:r>
              <a:rPr lang="fr-FR" dirty="0"/>
              <a:t>B. Vaccination </a:t>
            </a:r>
            <a:r>
              <a:rPr lang="fr-FR" dirty="0" err="1"/>
              <a:t>anti-grippale</a:t>
            </a:r>
            <a:r>
              <a:rPr lang="fr-FR" dirty="0"/>
              <a:t/>
            </a:r>
            <a:br>
              <a:rPr lang="fr-FR" dirty="0"/>
            </a:br>
            <a:r>
              <a:rPr lang="fr-FR" dirty="0"/>
              <a:t>C. Arrêt du tabac</a:t>
            </a:r>
            <a:br>
              <a:rPr lang="fr-FR" dirty="0"/>
            </a:br>
            <a:r>
              <a:rPr lang="fr-FR" dirty="0"/>
              <a:t>D. Prise d’antioxydants</a:t>
            </a:r>
            <a:br>
              <a:rPr lang="fr-FR" dirty="0"/>
            </a:br>
            <a:r>
              <a:rPr lang="fr-FR" dirty="0"/>
              <a:t>E. Supplémentation en vitamine C</a:t>
            </a:r>
          </a:p>
        </p:txBody>
      </p:sp>
    </p:spTree>
    <p:extLst>
      <p:ext uri="{BB962C8B-B14F-4D97-AF65-F5344CB8AC3E}">
        <p14:creationId xmlns:p14="http://schemas.microsoft.com/office/powerpoint/2010/main" val="94595778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7C6B-C7ED-E1DA-DBB6-470B8164B5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84F8EF-0B88-4FC2-C456-35BD9C402468}"/>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C586E6A6-8799-1797-B45F-72D348125824}"/>
              </a:ext>
            </a:extLst>
          </p:cNvPr>
          <p:cNvSpPr>
            <a:spLocks noGrp="1"/>
          </p:cNvSpPr>
          <p:nvPr>
            <p:ph idx="1"/>
          </p:nvPr>
        </p:nvSpPr>
        <p:spPr/>
        <p:txBody>
          <a:bodyPr/>
          <a:lstStyle/>
          <a:p>
            <a:r>
              <a:rPr lang="fr-FR" dirty="0"/>
              <a:t>La prévention pour réduire les récidives se base sur :</a:t>
            </a:r>
            <a:br>
              <a:rPr lang="fr-FR" dirty="0"/>
            </a:br>
            <a:r>
              <a:rPr lang="fr-FR" dirty="0"/>
              <a:t>A. Vaccination antipneumococcique</a:t>
            </a:r>
            <a:br>
              <a:rPr lang="fr-FR" dirty="0"/>
            </a:br>
            <a:r>
              <a:rPr lang="fr-FR" dirty="0"/>
              <a:t>B. </a:t>
            </a:r>
            <a:r>
              <a:rPr lang="fr-FR" dirty="0">
                <a:solidFill>
                  <a:srgbClr val="C00000"/>
                </a:solidFill>
              </a:rPr>
              <a:t>Vaccination </a:t>
            </a:r>
            <a:r>
              <a:rPr lang="fr-FR" dirty="0" err="1">
                <a:solidFill>
                  <a:srgbClr val="C00000"/>
                </a:solidFill>
              </a:rPr>
              <a:t>anti-grippale</a:t>
            </a:r>
            <a:r>
              <a:rPr lang="fr-FR" dirty="0">
                <a:solidFill>
                  <a:srgbClr val="C00000"/>
                </a:solidFill>
              </a:rPr>
              <a:t/>
            </a:r>
            <a:br>
              <a:rPr lang="fr-FR" dirty="0">
                <a:solidFill>
                  <a:srgbClr val="C00000"/>
                </a:solidFill>
              </a:rPr>
            </a:br>
            <a:r>
              <a:rPr lang="fr-FR" dirty="0">
                <a:solidFill>
                  <a:srgbClr val="C00000"/>
                </a:solidFill>
              </a:rPr>
              <a:t>C. Arrêt du tabac</a:t>
            </a:r>
            <a:r>
              <a:rPr lang="fr-FR" dirty="0"/>
              <a:t/>
            </a:r>
            <a:br>
              <a:rPr lang="fr-FR" dirty="0"/>
            </a:br>
            <a:r>
              <a:rPr lang="fr-FR" dirty="0"/>
              <a:t>D. Prise d’antioxydants</a:t>
            </a:r>
            <a:br>
              <a:rPr lang="fr-FR" dirty="0"/>
            </a:br>
            <a:r>
              <a:rPr lang="fr-FR" dirty="0"/>
              <a:t>E. Supplémentation en vitamine C</a:t>
            </a:r>
          </a:p>
        </p:txBody>
      </p:sp>
    </p:spTree>
    <p:extLst>
      <p:ext uri="{BB962C8B-B14F-4D97-AF65-F5344CB8AC3E}">
        <p14:creationId xmlns:p14="http://schemas.microsoft.com/office/powerpoint/2010/main" val="49437981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D1D7-B748-3900-FBD3-8E43DD4ABB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1FF9AA-C5EA-C1D0-38E7-ADCBAE2BEC8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67C2D5F-C0B8-12D3-F036-406027729135}"/>
              </a:ext>
            </a:extLst>
          </p:cNvPr>
          <p:cNvSpPr>
            <a:spLocks noGrp="1"/>
          </p:cNvSpPr>
          <p:nvPr>
            <p:ph idx="1"/>
          </p:nvPr>
        </p:nvSpPr>
        <p:spPr/>
        <p:txBody>
          <a:bodyPr/>
          <a:lstStyle/>
          <a:p>
            <a:r>
              <a:rPr lang="fr-FR" dirty="0"/>
              <a:t>Homme de 67 ans, BPCO connu, fièvre à 39,5°C, polypnée à 35/min, </a:t>
            </a:r>
            <a:r>
              <a:rPr lang="fr-FR" dirty="0" err="1"/>
              <a:t>SpO</a:t>
            </a:r>
            <a:r>
              <a:rPr lang="fr-FR" dirty="0"/>
              <a:t>₂ 87 %, confusion et hypotension artérielle. Radiographie : opacités bilatérales étendues. Gazométrie : PaO2 à 62 </a:t>
            </a:r>
            <a:r>
              <a:rPr lang="fr-FR" dirty="0" err="1"/>
              <a:t>mmhg</a:t>
            </a:r>
            <a:endParaRPr lang="fr-FR" dirty="0"/>
          </a:p>
          <a:p>
            <a:r>
              <a:rPr lang="fr-FR" b="1" dirty="0"/>
              <a:t>QCM 3.</a:t>
            </a:r>
            <a:r>
              <a:rPr lang="fr-FR" dirty="0"/>
              <a:t> Les critères de gravité retrouvés sont :</a:t>
            </a:r>
            <a:br>
              <a:rPr lang="fr-FR" dirty="0"/>
            </a:br>
            <a:r>
              <a:rPr lang="fr-FR" dirty="0"/>
              <a:t>A. FR &gt; 30/min</a:t>
            </a:r>
            <a:br>
              <a:rPr lang="fr-FR" dirty="0"/>
            </a:br>
            <a:r>
              <a:rPr lang="fr-FR" dirty="0"/>
              <a:t>B. </a:t>
            </a:r>
            <a:r>
              <a:rPr lang="fr-FR" dirty="0" err="1"/>
              <a:t>SpO</a:t>
            </a:r>
            <a:r>
              <a:rPr lang="fr-FR" dirty="0"/>
              <a:t>₂ &lt; 90 %</a:t>
            </a:r>
            <a:br>
              <a:rPr lang="fr-FR" dirty="0"/>
            </a:br>
            <a:r>
              <a:rPr lang="fr-FR" dirty="0"/>
              <a:t>C. Hypotension artérielle</a:t>
            </a:r>
            <a:br>
              <a:rPr lang="fr-FR" dirty="0"/>
            </a:br>
            <a:r>
              <a:rPr lang="fr-FR" dirty="0"/>
              <a:t>D. Confusion</a:t>
            </a:r>
            <a:br>
              <a:rPr lang="fr-FR" dirty="0"/>
            </a:br>
            <a:r>
              <a:rPr lang="fr-FR" dirty="0"/>
              <a:t>E. PaO2 à 62 </a:t>
            </a:r>
            <a:r>
              <a:rPr lang="fr-FR" dirty="0" err="1"/>
              <a:t>mmhg</a:t>
            </a:r>
            <a:endParaRPr lang="fr-FR" dirty="0"/>
          </a:p>
          <a:p>
            <a:endParaRPr lang="fr-FR" dirty="0"/>
          </a:p>
        </p:txBody>
      </p:sp>
    </p:spTree>
    <p:extLst>
      <p:ext uri="{BB962C8B-B14F-4D97-AF65-F5344CB8AC3E}">
        <p14:creationId xmlns:p14="http://schemas.microsoft.com/office/powerpoint/2010/main" val="119947096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A6D5E-80C1-6B4F-8A1C-01C3C97EBB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D6E93F9-C7DF-8D94-230E-798EF791468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101F391-2754-9A08-6698-FFCDFDA5AFDC}"/>
              </a:ext>
            </a:extLst>
          </p:cNvPr>
          <p:cNvSpPr>
            <a:spLocks noGrp="1"/>
          </p:cNvSpPr>
          <p:nvPr>
            <p:ph idx="1"/>
          </p:nvPr>
        </p:nvSpPr>
        <p:spPr/>
        <p:txBody>
          <a:bodyPr/>
          <a:lstStyle/>
          <a:p>
            <a:r>
              <a:rPr lang="fr-FR" dirty="0"/>
              <a:t>Homme de 67 ans, BPCO connu, fièvre à 39,5°C, polypnée à 35/min, </a:t>
            </a:r>
            <a:r>
              <a:rPr lang="fr-FR" dirty="0" err="1"/>
              <a:t>SpO</a:t>
            </a:r>
            <a:r>
              <a:rPr lang="fr-FR" dirty="0"/>
              <a:t>₂ 87 %, confusion et hypotension artérielle. Radiographie : opacités bilatérales étendues. Gazométrie : PaO2 à 62 </a:t>
            </a:r>
            <a:r>
              <a:rPr lang="fr-FR" dirty="0" err="1"/>
              <a:t>mmhg</a:t>
            </a:r>
            <a:endParaRPr lang="fr-FR" dirty="0"/>
          </a:p>
          <a:p>
            <a:r>
              <a:rPr lang="fr-FR" b="1" dirty="0"/>
              <a:t>QCM 3.</a:t>
            </a:r>
            <a:r>
              <a:rPr lang="fr-FR" dirty="0"/>
              <a:t> Les critères de gravité retrouvés sont :</a:t>
            </a:r>
            <a:br>
              <a:rPr lang="fr-FR" dirty="0"/>
            </a:br>
            <a:r>
              <a:rPr lang="fr-FR" dirty="0"/>
              <a:t>A. </a:t>
            </a:r>
            <a:r>
              <a:rPr lang="fr-FR" dirty="0">
                <a:solidFill>
                  <a:srgbClr val="C00000"/>
                </a:solidFill>
              </a:rPr>
              <a:t>FR &gt; 30/min</a:t>
            </a:r>
            <a:br>
              <a:rPr lang="fr-FR" dirty="0">
                <a:solidFill>
                  <a:srgbClr val="C00000"/>
                </a:solidFill>
              </a:rPr>
            </a:br>
            <a:r>
              <a:rPr lang="fr-FR" dirty="0">
                <a:solidFill>
                  <a:srgbClr val="C00000"/>
                </a:solidFill>
              </a:rPr>
              <a:t>B. </a:t>
            </a:r>
            <a:r>
              <a:rPr lang="fr-FR" dirty="0" err="1">
                <a:solidFill>
                  <a:srgbClr val="C00000"/>
                </a:solidFill>
              </a:rPr>
              <a:t>SpO</a:t>
            </a:r>
            <a:r>
              <a:rPr lang="fr-FR" dirty="0">
                <a:solidFill>
                  <a:srgbClr val="C00000"/>
                </a:solidFill>
              </a:rPr>
              <a:t>₂ &lt; 90 %</a:t>
            </a:r>
            <a:br>
              <a:rPr lang="fr-FR" dirty="0">
                <a:solidFill>
                  <a:srgbClr val="C00000"/>
                </a:solidFill>
              </a:rPr>
            </a:br>
            <a:r>
              <a:rPr lang="fr-FR" dirty="0">
                <a:solidFill>
                  <a:srgbClr val="C00000"/>
                </a:solidFill>
              </a:rPr>
              <a:t>C. Hypotension artérielle</a:t>
            </a:r>
            <a:br>
              <a:rPr lang="fr-FR" dirty="0">
                <a:solidFill>
                  <a:srgbClr val="C00000"/>
                </a:solidFill>
              </a:rPr>
            </a:br>
            <a:r>
              <a:rPr lang="fr-FR" dirty="0">
                <a:solidFill>
                  <a:srgbClr val="C00000"/>
                </a:solidFill>
              </a:rPr>
              <a:t>D. Confusion</a:t>
            </a:r>
            <a:br>
              <a:rPr lang="fr-FR" dirty="0">
                <a:solidFill>
                  <a:srgbClr val="C00000"/>
                </a:solidFill>
              </a:rPr>
            </a:br>
            <a:r>
              <a:rPr lang="fr-FR" dirty="0"/>
              <a:t>E. PaO2 à 62 </a:t>
            </a:r>
            <a:r>
              <a:rPr lang="fr-FR" dirty="0" err="1"/>
              <a:t>mmhg</a:t>
            </a:r>
            <a:endParaRPr lang="fr-FR" dirty="0"/>
          </a:p>
          <a:p>
            <a:endParaRPr lang="fr-FR" dirty="0"/>
          </a:p>
        </p:txBody>
      </p:sp>
    </p:spTree>
    <p:extLst>
      <p:ext uri="{BB962C8B-B14F-4D97-AF65-F5344CB8AC3E}">
        <p14:creationId xmlns:p14="http://schemas.microsoft.com/office/powerpoint/2010/main" val="137078945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2CAC66-5328-6E05-7035-5FC9A54B4C6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BE8100D-C907-8BB1-CBCC-BD32790CBB25}"/>
              </a:ext>
            </a:extLst>
          </p:cNvPr>
          <p:cNvSpPr>
            <a:spLocks noGrp="1"/>
          </p:cNvSpPr>
          <p:nvPr>
            <p:ph idx="1"/>
          </p:nvPr>
        </p:nvSpPr>
        <p:spPr/>
        <p:txBody>
          <a:bodyPr/>
          <a:lstStyle/>
          <a:p>
            <a:r>
              <a:rPr lang="fr-FR" dirty="0"/>
              <a:t>La prise en charge initiale impose :</a:t>
            </a:r>
            <a:br>
              <a:rPr lang="fr-FR" dirty="0"/>
            </a:br>
            <a:r>
              <a:rPr lang="fr-FR" dirty="0"/>
              <a:t>A. Hospitalisation en soins intensifs</a:t>
            </a:r>
            <a:br>
              <a:rPr lang="fr-FR" dirty="0"/>
            </a:br>
            <a:r>
              <a:rPr lang="fr-FR" dirty="0"/>
              <a:t>B. Antibiothérapie probabiliste IV immédiate</a:t>
            </a:r>
            <a:br>
              <a:rPr lang="fr-FR" dirty="0"/>
            </a:br>
            <a:r>
              <a:rPr lang="fr-FR" dirty="0"/>
              <a:t>C. Attente du résultat des cultures avant traitement</a:t>
            </a:r>
            <a:br>
              <a:rPr lang="fr-FR" dirty="0"/>
            </a:br>
            <a:r>
              <a:rPr lang="fr-FR" dirty="0"/>
              <a:t>D. Surveillance simple à domicile</a:t>
            </a:r>
            <a:br>
              <a:rPr lang="fr-FR" dirty="0"/>
            </a:br>
            <a:r>
              <a:rPr lang="fr-FR" dirty="0"/>
              <a:t>E. Réhydratation, oxygénothérapie, traitement symptomatique associé</a:t>
            </a:r>
          </a:p>
        </p:txBody>
      </p:sp>
    </p:spTree>
    <p:extLst>
      <p:ext uri="{BB962C8B-B14F-4D97-AF65-F5344CB8AC3E}">
        <p14:creationId xmlns:p14="http://schemas.microsoft.com/office/powerpoint/2010/main" val="125163398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2CE-58C0-4B37-7265-15CFABD0CB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0DCDBA-4AAE-D114-5090-8B8F2F4456F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68147C9-FA55-D27C-D95B-AAABAC0D943C}"/>
              </a:ext>
            </a:extLst>
          </p:cNvPr>
          <p:cNvSpPr>
            <a:spLocks noGrp="1"/>
          </p:cNvSpPr>
          <p:nvPr>
            <p:ph idx="1"/>
          </p:nvPr>
        </p:nvSpPr>
        <p:spPr/>
        <p:txBody>
          <a:bodyPr/>
          <a:lstStyle/>
          <a:p>
            <a:r>
              <a:rPr lang="fr-FR" dirty="0"/>
              <a:t>La prise en charge initiale impose :</a:t>
            </a:r>
            <a:br>
              <a:rPr lang="fr-FR" dirty="0"/>
            </a:br>
            <a:r>
              <a:rPr lang="fr-FR" dirty="0"/>
              <a:t>A. </a:t>
            </a:r>
            <a:r>
              <a:rPr lang="fr-FR" dirty="0">
                <a:solidFill>
                  <a:srgbClr val="C00000"/>
                </a:solidFill>
              </a:rPr>
              <a:t>Hospitalisation en soins intensifs</a:t>
            </a:r>
            <a:br>
              <a:rPr lang="fr-FR" dirty="0">
                <a:solidFill>
                  <a:srgbClr val="C00000"/>
                </a:solidFill>
              </a:rPr>
            </a:br>
            <a:r>
              <a:rPr lang="fr-FR" dirty="0">
                <a:solidFill>
                  <a:srgbClr val="C00000"/>
                </a:solidFill>
              </a:rPr>
              <a:t>B. Antibiothérapie probabiliste IV immédiate</a:t>
            </a:r>
            <a:r>
              <a:rPr lang="fr-FR" dirty="0"/>
              <a:t/>
            </a:r>
            <a:br>
              <a:rPr lang="fr-FR" dirty="0"/>
            </a:br>
            <a:r>
              <a:rPr lang="fr-FR" dirty="0"/>
              <a:t>C. Attente du résultat des cultures avant traitement</a:t>
            </a:r>
            <a:br>
              <a:rPr lang="fr-FR" dirty="0"/>
            </a:br>
            <a:r>
              <a:rPr lang="fr-FR" dirty="0"/>
              <a:t>D. Surveillance simple à domicile</a:t>
            </a:r>
            <a:br>
              <a:rPr lang="fr-FR" dirty="0"/>
            </a:br>
            <a:r>
              <a:rPr lang="fr-FR" dirty="0"/>
              <a:t>E. </a:t>
            </a:r>
            <a:r>
              <a:rPr lang="fr-FR" dirty="0">
                <a:solidFill>
                  <a:srgbClr val="C00000"/>
                </a:solidFill>
              </a:rPr>
              <a:t>Réhydratation, oxygénothérapie, traitement symptomatique associé</a:t>
            </a:r>
          </a:p>
        </p:txBody>
      </p:sp>
    </p:spTree>
    <p:extLst>
      <p:ext uri="{BB962C8B-B14F-4D97-AF65-F5344CB8AC3E}">
        <p14:creationId xmlns:p14="http://schemas.microsoft.com/office/powerpoint/2010/main" val="269672428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E3E174-F5EB-8DA6-D971-B677AC776BD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0DB7F9F-4B61-5558-4F7B-1E3EC3711BEE}"/>
              </a:ext>
            </a:extLst>
          </p:cNvPr>
          <p:cNvSpPr>
            <a:spLocks noGrp="1"/>
          </p:cNvSpPr>
          <p:nvPr>
            <p:ph idx="1"/>
          </p:nvPr>
        </p:nvSpPr>
        <p:spPr/>
        <p:txBody>
          <a:bodyPr/>
          <a:lstStyle/>
          <a:p>
            <a:r>
              <a:rPr lang="fr-FR" dirty="0"/>
              <a:t>L’antibiothérapie probabiliste recommandée est :</a:t>
            </a:r>
            <a:br>
              <a:rPr lang="fr-FR" dirty="0"/>
            </a:br>
            <a:r>
              <a:rPr lang="fr-FR" dirty="0"/>
              <a:t>A. Amoxicilline seule</a:t>
            </a:r>
            <a:br>
              <a:rPr lang="fr-FR" dirty="0"/>
            </a:br>
            <a:r>
              <a:rPr lang="fr-FR" dirty="0"/>
              <a:t>B. Amoxicilline-acide clavulanique per os</a:t>
            </a:r>
            <a:br>
              <a:rPr lang="fr-FR" dirty="0"/>
            </a:br>
            <a:r>
              <a:rPr lang="fr-FR" dirty="0"/>
              <a:t>C. Céphalosporine de 3e génération + macrolide</a:t>
            </a:r>
            <a:br>
              <a:rPr lang="fr-FR" dirty="0"/>
            </a:br>
            <a:r>
              <a:rPr lang="fr-FR" dirty="0"/>
              <a:t>D. Pristinamycine seule</a:t>
            </a:r>
            <a:br>
              <a:rPr lang="fr-FR" dirty="0"/>
            </a:br>
            <a:r>
              <a:rPr lang="fr-FR" dirty="0"/>
              <a:t>E. Fluoroquinolone seule</a:t>
            </a:r>
          </a:p>
        </p:txBody>
      </p:sp>
    </p:spTree>
    <p:extLst>
      <p:ext uri="{BB962C8B-B14F-4D97-AF65-F5344CB8AC3E}">
        <p14:creationId xmlns:p14="http://schemas.microsoft.com/office/powerpoint/2010/main" val="368511541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9C027-C040-D065-DC12-3345CFA5A0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1C63E93-6E96-0BFB-4C92-B88E0B9FF8B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6A9414C-8E1C-7856-2FAC-1FF907F650A4}"/>
              </a:ext>
            </a:extLst>
          </p:cNvPr>
          <p:cNvSpPr>
            <a:spLocks noGrp="1"/>
          </p:cNvSpPr>
          <p:nvPr>
            <p:ph idx="1"/>
          </p:nvPr>
        </p:nvSpPr>
        <p:spPr/>
        <p:txBody>
          <a:bodyPr/>
          <a:lstStyle/>
          <a:p>
            <a:r>
              <a:rPr lang="fr-FR" dirty="0"/>
              <a:t>L’antibiothérapie probabiliste recommandée est :</a:t>
            </a:r>
            <a:br>
              <a:rPr lang="fr-FR" dirty="0"/>
            </a:br>
            <a:r>
              <a:rPr lang="fr-FR" dirty="0"/>
              <a:t>A. Amoxicilline seule</a:t>
            </a:r>
            <a:br>
              <a:rPr lang="fr-FR" dirty="0"/>
            </a:br>
            <a:r>
              <a:rPr lang="fr-FR" dirty="0"/>
              <a:t>B. Amoxicilline-acide clavulanique per os</a:t>
            </a:r>
            <a:br>
              <a:rPr lang="fr-FR" dirty="0"/>
            </a:br>
            <a:r>
              <a:rPr lang="fr-FR" dirty="0"/>
              <a:t>C. </a:t>
            </a:r>
            <a:r>
              <a:rPr lang="fr-FR" dirty="0">
                <a:solidFill>
                  <a:srgbClr val="C00000"/>
                </a:solidFill>
              </a:rPr>
              <a:t>Céphalosporine de 3e génération + macrolide</a:t>
            </a:r>
            <a:r>
              <a:rPr lang="fr-FR" dirty="0"/>
              <a:t/>
            </a:r>
            <a:br>
              <a:rPr lang="fr-FR" dirty="0"/>
            </a:br>
            <a:r>
              <a:rPr lang="fr-FR" dirty="0"/>
              <a:t>D. Pristinamycine seule</a:t>
            </a:r>
            <a:br>
              <a:rPr lang="fr-FR" dirty="0"/>
            </a:br>
            <a:r>
              <a:rPr lang="fr-FR" dirty="0"/>
              <a:t>E. Fluoroquinolone seule</a:t>
            </a:r>
          </a:p>
        </p:txBody>
      </p:sp>
    </p:spTree>
    <p:extLst>
      <p:ext uri="{BB962C8B-B14F-4D97-AF65-F5344CB8AC3E}">
        <p14:creationId xmlns:p14="http://schemas.microsoft.com/office/powerpoint/2010/main" val="201803297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3813</TotalTime>
  <Words>3189</Words>
  <Application>Microsoft Office PowerPoint</Application>
  <PresentationFormat>Grand écran</PresentationFormat>
  <Paragraphs>680</Paragraphs>
  <Slides>181</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181</vt:i4>
      </vt:variant>
    </vt:vector>
  </HeadingPairs>
  <TitlesOfParts>
    <vt:vector size="186" baseType="lpstr">
      <vt:lpstr>Arial</vt:lpstr>
      <vt:lpstr>Calibri</vt:lpstr>
      <vt:lpstr>Calibri Light</vt:lpstr>
      <vt:lpstr>Tahoma</vt:lpstr>
      <vt:lpstr>Thème Office</vt:lpstr>
      <vt:lpstr>Les infections respiratoires basses</vt:lpstr>
      <vt:lpstr>Bronchite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infections respiratoires basses</dc:title>
  <dc:creator>Rania Kaddoussi</dc:creator>
  <cp:lastModifiedBy>Amphi</cp:lastModifiedBy>
  <cp:revision>89</cp:revision>
  <dcterms:created xsi:type="dcterms:W3CDTF">2025-09-06T19:16:04Z</dcterms:created>
  <dcterms:modified xsi:type="dcterms:W3CDTF">2025-09-16T09:25:50Z</dcterms:modified>
</cp:coreProperties>
</file>
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sldIdLst>
    <p:sldId id="299" r:id="rId2"/>
    <p:sldId id="257" r:id="rId3"/>
    <p:sldId id="330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334" r:id="rId15"/>
    <p:sldId id="335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337" r:id="rId24"/>
    <p:sldId id="276" r:id="rId25"/>
    <p:sldId id="277" r:id="rId26"/>
    <p:sldId id="300" r:id="rId27"/>
    <p:sldId id="301" r:id="rId28"/>
    <p:sldId id="302" r:id="rId29"/>
    <p:sldId id="338" r:id="rId30"/>
    <p:sldId id="339" r:id="rId31"/>
    <p:sldId id="280" r:id="rId32"/>
    <p:sldId id="306" r:id="rId33"/>
    <p:sldId id="307" r:id="rId34"/>
    <p:sldId id="310" r:id="rId35"/>
    <p:sldId id="313" r:id="rId36"/>
    <p:sldId id="314" r:id="rId37"/>
    <p:sldId id="319" r:id="rId38"/>
    <p:sldId id="321" r:id="rId3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6614" autoAdjust="0"/>
    <p:restoredTop sz="94660"/>
  </p:normalViewPr>
  <p:slideViewPr>
    <p:cSldViewPr snapToGrid="0">
      <p:cViewPr varScale="1">
        <p:scale>
          <a:sx n="91" d="100"/>
          <a:sy n="91" d="100"/>
        </p:scale>
        <p:origin x="-930" y="-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3" name="Rectangle à coins arrondis 12"/>
          <p:cNvSpPr/>
          <p:nvPr/>
        </p:nvSpPr>
        <p:spPr>
          <a:xfrm>
            <a:off x="65313" y="69757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83A9-B7D4-47AE-AC01-6EBDBCF8FFD5}" type="datetimeFigureOut">
              <a:rPr lang="fr-FR" smtClean="0"/>
              <a:pPr/>
              <a:t>05/07/2025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A354AE3C-D53E-4BF1-AF16-24989C82456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62932" y="1449305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2932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62932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57200" y="1505932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xmlns="" val="3969026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83A9-B7D4-47AE-AC01-6EBDBCF8FFD5}" type="datetimeFigureOut">
              <a:rPr lang="fr-FR" smtClean="0"/>
              <a:pPr/>
              <a:t>05/07/2025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4AE3C-D53E-4BF1-AF16-24989C82456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xmlns="" val="349846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0" name="Rectangle à coins arrondis 9"/>
          <p:cNvSpPr/>
          <p:nvPr/>
        </p:nvSpPr>
        <p:spPr>
          <a:xfrm>
            <a:off x="65313" y="69757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952502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83A9-B7D4-47AE-AC01-6EBDBCF8FFD5}" type="datetimeFigureOut">
              <a:rPr lang="fr-FR" smtClean="0"/>
              <a:pPr/>
              <a:t>05/07/2025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fr-FR"/>
          </a:p>
        </p:txBody>
      </p:sp>
      <p:sp>
        <p:nvSpPr>
          <p:cNvPr id="7" name="Rectangle 6"/>
          <p:cNvSpPr/>
          <p:nvPr/>
        </p:nvSpPr>
        <p:spPr>
          <a:xfrm flipV="1">
            <a:off x="69413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69147" y="2341477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68307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A354AE3C-D53E-4BF1-AF16-24989C82456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166720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83A9-B7D4-47AE-AC01-6EBDBCF8FFD5}" type="datetimeFigureOut">
              <a:rPr lang="fr-FR" smtClean="0"/>
              <a:pPr/>
              <a:t>05/07/2025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4AE3C-D53E-4BF1-AF16-24989C82456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xmlns="" val="701657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83A9-B7D4-47AE-AC01-6EBDBCF8FFD5}" type="datetimeFigureOut">
              <a:rPr lang="fr-FR" smtClean="0"/>
              <a:pPr/>
              <a:t>05/07/2025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4AE3C-D53E-4BF1-AF16-24989C82456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xmlns="" val="3453483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83A9-B7D4-47AE-AC01-6EBDBCF8FFD5}" type="datetimeFigureOut">
              <a:rPr lang="fr-FR" smtClean="0"/>
              <a:pPr/>
              <a:t>05/07/2025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4AE3C-D53E-4BF1-AF16-24989C82456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4244109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83A9-B7D4-47AE-AC01-6EBDBCF8FFD5}" type="datetimeFigureOut">
              <a:rPr lang="fr-FR" smtClean="0"/>
              <a:pPr/>
              <a:t>05/07/2025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4AE3C-D53E-4BF1-AF16-24989C82456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4088626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9" name="Rectangle à coins arrondi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83A9-B7D4-47AE-AC01-6EBDBCF8FFD5}" type="datetimeFigureOut">
              <a:rPr lang="fr-FR" smtClean="0"/>
              <a:pPr/>
              <a:t>05/07/2025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4AE3C-D53E-4BF1-AF16-24989C82456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xmlns="" val="4222551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83A9-B7D4-47AE-AC01-6EBDBCF8FFD5}" type="datetimeFigureOut">
              <a:rPr lang="fr-FR" smtClean="0"/>
              <a:pPr/>
              <a:t>05/07/2025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A354AE3C-D53E-4BF1-AF16-24989C82456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Rectangle 11"/>
          <p:cNvSpPr/>
          <p:nvPr/>
        </p:nvSpPr>
        <p:spPr>
          <a:xfrm>
            <a:off x="68509" y="4650476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Rectangle 12"/>
          <p:cNvSpPr/>
          <p:nvPr/>
        </p:nvSpPr>
        <p:spPr>
          <a:xfrm>
            <a:off x="68511" y="4773226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8309" y="66677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xmlns="" val="2740558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83A9-B7D4-47AE-AC01-6EBDBCF8FFD5}" type="datetimeFigureOut">
              <a:rPr lang="fr-FR" smtClean="0"/>
              <a:pPr/>
              <a:t>05/07/2025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4AE3C-D53E-4BF1-AF16-24989C82456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49104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3"/>
            <a:ext cx="2011680" cy="5851525"/>
          </a:xfrm>
        </p:spPr>
        <p:txBody>
          <a:bodyPr vert="eaVert"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2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83A9-B7D4-47AE-AC01-6EBDBCF8FFD5}" type="datetimeFigureOut">
              <a:rPr lang="fr-FR" smtClean="0"/>
              <a:pPr/>
              <a:t>05/07/2025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4AE3C-D53E-4BF1-AF16-24989C82456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716390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8" name="Rectangle à coins arrondi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8F983A9-B7D4-47AE-AC01-6EBDBCF8FFD5}" type="datetimeFigureOut">
              <a:rPr lang="fr-FR" smtClean="0"/>
              <a:pPr/>
              <a:t>05/07/2025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A354AE3C-D53E-4BF1-AF16-24989C82456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24372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fr-FR" altLang="fr-FR" sz="1800" b="1" dirty="0" smtClean="0"/>
              <a:t>Pr AISSA Sana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fr-FR" altLang="fr-FR" sz="1800" b="1" dirty="0" smtClean="0"/>
              <a:t>Service de Pneumologie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fr-FR" altLang="fr-FR" sz="1800" b="1" dirty="0" smtClean="0"/>
              <a:t>CHU </a:t>
            </a:r>
            <a:r>
              <a:rPr lang="fr-FR" altLang="fr-FR" sz="1800" b="1" dirty="0" err="1" smtClean="0"/>
              <a:t>Farhat</a:t>
            </a:r>
            <a:r>
              <a:rPr lang="fr-FR" altLang="fr-FR" sz="1800" b="1" dirty="0" smtClean="0"/>
              <a:t> </a:t>
            </a:r>
            <a:r>
              <a:rPr lang="fr-FR" altLang="fr-FR" sz="1800" b="1" dirty="0" err="1" smtClean="0"/>
              <a:t>Hached</a:t>
            </a:r>
            <a:r>
              <a:rPr lang="fr-FR" altLang="fr-FR" sz="1800" b="1" dirty="0" smtClean="0"/>
              <a:t> de Sousse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fr-FR" altLang="fr-FR" sz="1800" b="1" dirty="0" smtClean="0"/>
              <a:t>7/7/2025</a:t>
            </a:r>
          </a:p>
        </p:txBody>
      </p:sp>
      <p:sp>
        <p:nvSpPr>
          <p:cNvPr id="7171" name="Titre 1"/>
          <p:cNvSpPr>
            <a:spLocks noGrp="1"/>
          </p:cNvSpPr>
          <p:nvPr>
            <p:ph type="ctrTitle"/>
          </p:nvPr>
        </p:nvSpPr>
        <p:spPr>
          <a:xfrm>
            <a:off x="457200" y="1506538"/>
            <a:ext cx="8229600" cy="14700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FR" altLang="fr-FR" sz="2800" b="1" dirty="0" smtClean="0"/>
              <a:t/>
            </a:r>
            <a:br>
              <a:rPr lang="fr-FR" altLang="fr-FR" sz="2800" b="1" dirty="0" smtClean="0"/>
            </a:br>
            <a:r>
              <a:rPr lang="fr-FR" altLang="fr-FR" sz="2800" b="1" dirty="0" smtClean="0"/>
              <a:t>Question 9: Bronchopneumopathie chronique obstructive (BPCO) : diagnostic, traitement</a:t>
            </a:r>
            <a:br>
              <a:rPr lang="fr-FR" altLang="fr-FR" sz="2800" b="1" dirty="0" smtClean="0"/>
            </a:br>
            <a:r>
              <a:rPr lang="fr-FR" altLang="fr-FR" sz="2800" b="1" dirty="0" smtClean="0"/>
              <a:t>EVALUATION </a:t>
            </a:r>
            <a:br>
              <a:rPr lang="fr-FR" altLang="fr-FR" sz="2800" b="1" dirty="0" smtClean="0"/>
            </a:br>
            <a:endParaRPr lang="fr-FR" altLang="fr-FR" sz="2800" b="1" dirty="0" smtClean="0"/>
          </a:p>
        </p:txBody>
      </p:sp>
    </p:spTree>
    <p:extLst>
      <p:ext uri="{BB962C8B-B14F-4D97-AF65-F5344CB8AC3E}">
        <p14:creationId xmlns:p14="http://schemas.microsoft.com/office/powerpoint/2010/main" xmlns="" val="2476418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Q1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fr-FR" sz="2400" dirty="0"/>
              <a:t>L’exacerbation aigue d’une broncho-pneumopathie chronique obstructive (BPCO) peut être due à :</a:t>
            </a:r>
          </a:p>
          <a:p>
            <a:pPr marL="777240" lvl="1" indent="-457200" algn="just">
              <a:buFont typeface="+mj-lt"/>
              <a:buAutoNum type="alphaUcPeriod"/>
            </a:pPr>
            <a:r>
              <a:rPr lang="fr-FR" sz="2000" dirty="0"/>
              <a:t>Une surinfection bronchique d’origine bactérienne </a:t>
            </a:r>
          </a:p>
          <a:p>
            <a:pPr marL="777240" lvl="1" indent="-457200" algn="just">
              <a:buFont typeface="+mj-lt"/>
              <a:buAutoNum type="alphaUcPeriod"/>
            </a:pPr>
            <a:r>
              <a:rPr lang="fr-FR" sz="2000" dirty="0"/>
              <a:t>Une exposition à des aérocontaminants domestiques</a:t>
            </a:r>
          </a:p>
          <a:p>
            <a:pPr marL="777240" lvl="1" indent="-457200" algn="just">
              <a:buFont typeface="+mj-lt"/>
              <a:buAutoNum type="alphaUcPeriod"/>
            </a:pPr>
            <a:r>
              <a:rPr lang="fr-FR" sz="2000" dirty="0"/>
              <a:t> Une pneumopathie aigue communautaire </a:t>
            </a:r>
          </a:p>
          <a:p>
            <a:pPr marL="777240" lvl="1" indent="-457200" algn="just">
              <a:buFont typeface="+mj-lt"/>
              <a:buAutoNum type="alphaUcPeriod"/>
            </a:pPr>
            <a:r>
              <a:rPr lang="fr-FR" sz="2000" dirty="0"/>
              <a:t>Un stress psychologique</a:t>
            </a:r>
          </a:p>
          <a:p>
            <a:pPr marL="777240" lvl="1" indent="-457200" algn="just">
              <a:buFont typeface="+mj-lt"/>
              <a:buAutoNum type="alphaUcPeriod"/>
            </a:pPr>
            <a:r>
              <a:rPr lang="fr-FR" sz="2000" dirty="0"/>
              <a:t>Une embolie pulmonaire</a:t>
            </a:r>
          </a:p>
          <a:p>
            <a:pPr marL="0" indent="0" algn="just">
              <a:buNone/>
            </a:pPr>
            <a:endParaRPr lang="fr-FR" sz="2400" dirty="0"/>
          </a:p>
          <a:p>
            <a:pPr algn="just"/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xmlns="" val="2772907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Lesquels parmi ces germes, sont incriminés dans l’exacerbation de BPCO sont: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L’adénovirus 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/>
              <a:t>L</a:t>
            </a:r>
            <a:r>
              <a:rPr lang="fr-FR" dirty="0" smtClean="0"/>
              <a:t>e </a:t>
            </a:r>
            <a:r>
              <a:rPr lang="fr-FR" dirty="0"/>
              <a:t>virus respiratoire </a:t>
            </a:r>
            <a:r>
              <a:rPr lang="fr-FR" dirty="0" err="1"/>
              <a:t>syncytial</a:t>
            </a:r>
            <a:r>
              <a:rPr lang="fr-FR" dirty="0"/>
              <a:t> (VRS</a:t>
            </a:r>
            <a:r>
              <a:rPr lang="fr-FR" dirty="0" smtClean="0"/>
              <a:t>)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Le virus de la grippe 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Le pneumocoque 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Chlamydiae </a:t>
            </a:r>
            <a:r>
              <a:rPr lang="fr-FR" dirty="0" err="1" smtClean="0"/>
              <a:t>pneumoniae</a:t>
            </a:r>
            <a:r>
              <a:rPr lang="fr-FR" dirty="0" smtClean="0"/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4040189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dirty="0"/>
              <a:t>Les maladies suivantes constituent des </a:t>
            </a:r>
            <a:r>
              <a:rPr lang="fr-FR" dirty="0" err="1"/>
              <a:t>co-morbidités</a:t>
            </a:r>
            <a:r>
              <a:rPr lang="fr-FR" dirty="0"/>
              <a:t> associées à la BPCO:</a:t>
            </a:r>
            <a:endParaRPr lang="fr-FR" sz="2000" dirty="0"/>
          </a:p>
          <a:p>
            <a:pPr marL="777240" lvl="1" indent="-457200">
              <a:buFont typeface="+mj-lt"/>
              <a:buAutoNum type="alphaUcPeriod"/>
            </a:pPr>
            <a:r>
              <a:rPr lang="fr-FR" dirty="0"/>
              <a:t>L’ostéoporose</a:t>
            </a:r>
            <a:endParaRPr lang="fr-FR" sz="1800" dirty="0"/>
          </a:p>
          <a:p>
            <a:pPr marL="777240" lvl="1" indent="-457200">
              <a:buFont typeface="+mj-lt"/>
              <a:buAutoNum type="alphaUcPeriod"/>
            </a:pPr>
            <a:r>
              <a:rPr lang="fr-FR" dirty="0"/>
              <a:t>Hypertension artérielle </a:t>
            </a:r>
            <a:endParaRPr lang="fr-FR" sz="1800" dirty="0"/>
          </a:p>
          <a:p>
            <a:pPr marL="777240" lvl="1" indent="-457200">
              <a:buFont typeface="+mj-lt"/>
              <a:buAutoNum type="alphaUcPeriod"/>
            </a:pPr>
            <a:r>
              <a:rPr lang="fr-FR" dirty="0"/>
              <a:t>L’insuffisance cardiaque gauche</a:t>
            </a:r>
            <a:endParaRPr lang="fr-FR" sz="1800" dirty="0"/>
          </a:p>
          <a:p>
            <a:pPr marL="777240" lvl="1" indent="-457200">
              <a:buFont typeface="+mj-lt"/>
              <a:buAutoNum type="alphaUcPeriod"/>
            </a:pPr>
            <a:r>
              <a:rPr lang="fr-FR" dirty="0"/>
              <a:t>L’insuffisance coronarienne</a:t>
            </a:r>
            <a:endParaRPr lang="fr-FR" sz="1800" dirty="0"/>
          </a:p>
          <a:p>
            <a:pPr marL="777240" lvl="1" indent="-457200">
              <a:buFont typeface="+mj-lt"/>
              <a:buAutoNum type="alphaUcPeriod"/>
            </a:pPr>
            <a:r>
              <a:rPr lang="fr-FR" dirty="0"/>
              <a:t>La schizophrénie</a:t>
            </a:r>
            <a:endParaRPr lang="fr-FR" sz="1800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701965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Q4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dirty="0"/>
              <a:t>La BPCO peut présenter les complications aigues suivantes:</a:t>
            </a:r>
            <a:endParaRPr lang="fr-FR" sz="2000" dirty="0"/>
          </a:p>
          <a:p>
            <a:pPr marL="777240" lvl="1" indent="-457200">
              <a:buFont typeface="+mj-lt"/>
              <a:buAutoNum type="alphaUcPeriod"/>
            </a:pPr>
            <a:r>
              <a:rPr lang="fr-FR" dirty="0"/>
              <a:t>Pneumothorax spontané idiopathique</a:t>
            </a:r>
            <a:endParaRPr lang="fr-FR" sz="1800" dirty="0"/>
          </a:p>
          <a:p>
            <a:pPr marL="777240" lvl="1" indent="-457200">
              <a:buFont typeface="+mj-lt"/>
              <a:buAutoNum type="alphaUcPeriod"/>
            </a:pPr>
            <a:r>
              <a:rPr lang="fr-FR" dirty="0"/>
              <a:t>Insuffisance respiratoire chronique</a:t>
            </a:r>
            <a:endParaRPr lang="fr-FR" sz="1800" dirty="0"/>
          </a:p>
          <a:p>
            <a:pPr marL="777240" lvl="1" indent="-457200">
              <a:buFont typeface="+mj-lt"/>
              <a:buAutoNum type="alphaUcPeriod"/>
            </a:pPr>
            <a:r>
              <a:rPr lang="fr-FR" dirty="0"/>
              <a:t>Cœur pulmonaire chronique </a:t>
            </a:r>
            <a:endParaRPr lang="fr-FR" sz="1800" dirty="0"/>
          </a:p>
          <a:p>
            <a:pPr marL="777240" lvl="1" indent="-457200">
              <a:buFont typeface="+mj-lt"/>
              <a:buAutoNum type="alphaUcPeriod"/>
            </a:pPr>
            <a:r>
              <a:rPr lang="fr-FR" dirty="0"/>
              <a:t>Exacerbation aigue</a:t>
            </a:r>
            <a:endParaRPr lang="fr-FR" sz="1800" dirty="0"/>
          </a:p>
          <a:p>
            <a:pPr marL="777240" lvl="1" indent="-457200">
              <a:buFont typeface="+mj-lt"/>
              <a:buAutoNum type="alphaUcPeriod"/>
            </a:pPr>
            <a:r>
              <a:rPr lang="fr-FR" dirty="0"/>
              <a:t>Embolie pulmonaire </a:t>
            </a:r>
            <a:endParaRPr lang="fr-FR" sz="1800" dirty="0"/>
          </a:p>
          <a:p>
            <a:pPr marL="0" indent="0">
              <a:buNone/>
            </a:pPr>
            <a:r>
              <a:rPr lang="fr-FR" dirty="0"/>
              <a:t/>
            </a:r>
            <a:br>
              <a:rPr lang="fr-FR" dirty="0"/>
            </a:br>
            <a:r>
              <a:rPr lang="fr-FR" dirty="0"/>
              <a:t> </a:t>
            </a:r>
            <a:endParaRPr lang="fr-FR" sz="2000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900731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Q5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 algn="just"/>
            <a:r>
              <a:rPr lang="fr-FR" dirty="0"/>
              <a:t>Une BPCO du groupe </a:t>
            </a:r>
            <a:r>
              <a:rPr lang="fr-FR" dirty="0" smtClean="0"/>
              <a:t>E Gold </a:t>
            </a:r>
            <a:r>
              <a:rPr lang="fr-FR" dirty="0"/>
              <a:t>2 :</a:t>
            </a:r>
            <a:endParaRPr lang="fr-FR" sz="2000" dirty="0"/>
          </a:p>
          <a:p>
            <a:pPr marL="777240" lvl="1" indent="-457200" algn="just">
              <a:buFont typeface="+mj-lt"/>
              <a:buAutoNum type="alphaUcPeriod"/>
            </a:pPr>
            <a:r>
              <a:rPr lang="fr-FR" dirty="0"/>
              <a:t>Est un groupe à faible risque </a:t>
            </a:r>
            <a:endParaRPr lang="fr-FR" sz="1800" dirty="0"/>
          </a:p>
          <a:p>
            <a:pPr marL="777240" lvl="1" indent="-457200" algn="just">
              <a:buFont typeface="+mj-lt"/>
              <a:buAutoNum type="alphaUcPeriod"/>
            </a:pPr>
            <a:r>
              <a:rPr lang="fr-FR" dirty="0"/>
              <a:t>Se caractérise par la présence d’une dyspnée invalidante</a:t>
            </a:r>
            <a:endParaRPr lang="fr-FR" sz="1800" dirty="0"/>
          </a:p>
          <a:p>
            <a:pPr marL="777240" lvl="1" indent="-457200" algn="just">
              <a:buFont typeface="+mj-lt"/>
              <a:buAutoNum type="alphaUcPeriod"/>
            </a:pPr>
            <a:r>
              <a:rPr lang="fr-FR" dirty="0"/>
              <a:t>Peut être associée à un VEMS post-</a:t>
            </a:r>
            <a:r>
              <a:rPr lang="fr-FR" dirty="0" err="1"/>
              <a:t>bronchodilatation</a:t>
            </a:r>
            <a:r>
              <a:rPr lang="fr-FR" dirty="0"/>
              <a:t> de 65%</a:t>
            </a:r>
            <a:endParaRPr lang="fr-FR" sz="1800" dirty="0"/>
          </a:p>
          <a:p>
            <a:pPr marL="777240" lvl="1" indent="-457200" algn="just">
              <a:buFont typeface="+mj-lt"/>
              <a:buAutoNum type="alphaUcPeriod"/>
            </a:pPr>
            <a:r>
              <a:rPr lang="fr-FR" dirty="0"/>
              <a:t>A un meilleur pronostic que celle du groupe A</a:t>
            </a:r>
            <a:endParaRPr lang="fr-FR" sz="1800" dirty="0"/>
          </a:p>
          <a:p>
            <a:pPr marL="777240" lvl="1" indent="-457200" algn="just">
              <a:buFont typeface="+mj-lt"/>
              <a:buAutoNum type="alphaUcPeriod"/>
            </a:pPr>
            <a:r>
              <a:rPr lang="fr-FR" dirty="0"/>
              <a:t>Se caractérise par la présence de plusieurs exacerbations par an</a:t>
            </a:r>
            <a:endParaRPr lang="fr-FR" sz="1800" dirty="0"/>
          </a:p>
          <a:p>
            <a:pPr algn="just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3233265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dirty="0"/>
              <a:t>Les examens complémentaires suivants font partie du bilan de retentissement d’une BPCO :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/>
              <a:t>Spirométrie avec test de réversibilité 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/>
              <a:t>Pléthysmographie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/>
              <a:t>Test de marche des 6 minutes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/>
              <a:t>TDM thoracique 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/>
              <a:t>NFS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1023026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Q7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fr-FR" sz="2400" dirty="0"/>
              <a:t>La prise en charge thérapeutique pharmacologique de la BPCO à l’état stable tient en compte de :</a:t>
            </a:r>
            <a:endParaRPr lang="fr-FR" sz="1800" dirty="0"/>
          </a:p>
          <a:p>
            <a:pPr marL="777240" lvl="1" indent="-457200" algn="just">
              <a:buFont typeface="+mj-lt"/>
              <a:buAutoNum type="alphaUcPeriod"/>
            </a:pPr>
            <a:r>
              <a:rPr lang="fr-FR" sz="2000" dirty="0"/>
              <a:t>La valeur de VEMS post-bronchodilatateur</a:t>
            </a:r>
            <a:endParaRPr lang="fr-FR" sz="1600" dirty="0"/>
          </a:p>
          <a:p>
            <a:pPr marL="777240" lvl="1" indent="-457200" algn="just">
              <a:buFont typeface="+mj-lt"/>
              <a:buAutoNum type="alphaUcPeriod"/>
            </a:pPr>
            <a:r>
              <a:rPr lang="fr-FR" sz="2000" dirty="0"/>
              <a:t>Rapport VEMS/CVF</a:t>
            </a:r>
            <a:endParaRPr lang="fr-FR" sz="1600" dirty="0"/>
          </a:p>
          <a:p>
            <a:pPr marL="777240" lvl="1" indent="-457200" algn="just">
              <a:buFont typeface="+mj-lt"/>
              <a:buAutoNum type="alphaUcPeriod"/>
            </a:pPr>
            <a:r>
              <a:rPr lang="fr-FR" sz="2000" dirty="0"/>
              <a:t>Le nombre d’exacerbations par an </a:t>
            </a:r>
            <a:endParaRPr lang="fr-FR" sz="1600" dirty="0"/>
          </a:p>
          <a:p>
            <a:pPr marL="777240" lvl="1" indent="-457200" algn="just">
              <a:buFont typeface="+mj-lt"/>
              <a:buAutoNum type="alphaUcPeriod"/>
            </a:pPr>
            <a:r>
              <a:rPr lang="fr-FR" sz="2000" dirty="0"/>
              <a:t>Le stade de la dyspnée d’effort de base </a:t>
            </a:r>
            <a:endParaRPr lang="fr-FR" sz="1600" dirty="0"/>
          </a:p>
          <a:p>
            <a:pPr marL="777240" lvl="1" indent="-457200" algn="just">
              <a:buFont typeface="+mj-lt"/>
              <a:buAutoNum type="alphaUcPeriod"/>
            </a:pPr>
            <a:r>
              <a:rPr lang="fr-FR" sz="2000" dirty="0"/>
              <a:t>Le taux de Polynucléaires neutrophiles dans le sang </a:t>
            </a:r>
            <a:endParaRPr lang="fr-FR" sz="1600" dirty="0"/>
          </a:p>
          <a:p>
            <a:pPr algn="just"/>
            <a:endParaRPr lang="fr-FR" sz="1800" dirty="0"/>
          </a:p>
          <a:p>
            <a:pPr algn="just"/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xmlns="" val="2661715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Q8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dirty="0"/>
              <a:t>Chez un patient </a:t>
            </a:r>
            <a:r>
              <a:rPr lang="fr-FR" dirty="0" smtClean="0"/>
              <a:t>BPCO </a:t>
            </a:r>
            <a:r>
              <a:rPr lang="fr-FR" dirty="0"/>
              <a:t>ayant un VEMS post BD à </a:t>
            </a:r>
            <a:r>
              <a:rPr lang="fr-FR" dirty="0" smtClean="0"/>
              <a:t>68% </a:t>
            </a:r>
            <a:r>
              <a:rPr lang="fr-FR" dirty="0"/>
              <a:t>de </a:t>
            </a:r>
            <a:r>
              <a:rPr lang="fr-FR" dirty="0" smtClean="0"/>
              <a:t>la Valeur </a:t>
            </a:r>
            <a:r>
              <a:rPr lang="fr-FR" dirty="0"/>
              <a:t>prédite :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Il </a:t>
            </a:r>
            <a:r>
              <a:rPr lang="fr-FR" dirty="0"/>
              <a:t>a une obstruction bronchique modérée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Il </a:t>
            </a:r>
            <a:r>
              <a:rPr lang="fr-FR" dirty="0"/>
              <a:t>a une obstruction bronchique sévère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Il </a:t>
            </a:r>
            <a:r>
              <a:rPr lang="fr-FR" dirty="0"/>
              <a:t>est classé Gold 2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Il </a:t>
            </a:r>
            <a:r>
              <a:rPr lang="fr-FR" dirty="0"/>
              <a:t>est classé Gold 3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Il </a:t>
            </a:r>
            <a:r>
              <a:rPr lang="fr-FR" dirty="0"/>
              <a:t>appartient au groupe </a:t>
            </a:r>
            <a:r>
              <a:rPr lang="fr-FR" dirty="0" smtClean="0"/>
              <a:t>E de </a:t>
            </a:r>
            <a:r>
              <a:rPr lang="fr-FR" dirty="0"/>
              <a:t>BPCO</a:t>
            </a:r>
          </a:p>
          <a:p>
            <a:pPr marL="777240" lvl="1" indent="-457200">
              <a:buFont typeface="+mj-lt"/>
              <a:buAutoNum type="alphaU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4013602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dirty="0"/>
              <a:t>L’</a:t>
            </a:r>
            <a:r>
              <a:rPr lang="fr-FR" dirty="0" err="1"/>
              <a:t>overlap</a:t>
            </a:r>
            <a:r>
              <a:rPr lang="fr-FR" dirty="0"/>
              <a:t> syndrome dans la BPCO désigne l’association BPCO et :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DDB</a:t>
            </a:r>
            <a:endParaRPr lang="fr-FR" dirty="0"/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Syndrome </a:t>
            </a:r>
            <a:r>
              <a:rPr lang="fr-FR" dirty="0"/>
              <a:t>métabolique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Reflux </a:t>
            </a:r>
            <a:r>
              <a:rPr lang="fr-FR" dirty="0" err="1"/>
              <a:t>gastro-oesophagien</a:t>
            </a:r>
            <a:endParaRPr lang="fr-FR" dirty="0"/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Fibrillation </a:t>
            </a:r>
            <a:r>
              <a:rPr lang="fr-FR" dirty="0"/>
              <a:t>atriale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Syndrome </a:t>
            </a:r>
            <a:r>
              <a:rPr lang="fr-FR" dirty="0"/>
              <a:t>d’apnées obstructives de sommeil (SAOS)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533432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Q10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dirty="0"/>
              <a:t>La classification de la BPCO en groupes </a:t>
            </a:r>
            <a:r>
              <a:rPr lang="fr-FR" dirty="0" smtClean="0"/>
              <a:t>ABE tient en compte : </a:t>
            </a:r>
            <a:endParaRPr lang="fr-FR" dirty="0"/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Nombre d’exacerbations/an</a:t>
            </a:r>
            <a:endParaRPr lang="fr-FR" dirty="0"/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Les </a:t>
            </a:r>
            <a:r>
              <a:rPr lang="fr-FR" dirty="0"/>
              <a:t>hospitalisations pour des exacerbations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 </a:t>
            </a:r>
            <a:r>
              <a:rPr lang="fr-FR" dirty="0"/>
              <a:t>sévérité du déficit ventilatoire à la spirométrie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 </a:t>
            </a:r>
            <a:r>
              <a:rPr lang="fr-FR" dirty="0"/>
              <a:t>sévérité des symptômes de la BPCO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Les </a:t>
            </a:r>
            <a:r>
              <a:rPr lang="fr-FR" dirty="0"/>
              <a:t>perturbations gazométriques</a:t>
            </a:r>
          </a:p>
        </p:txBody>
      </p:sp>
    </p:spTree>
    <p:extLst>
      <p:ext uri="{BB962C8B-B14F-4D97-AF65-F5344CB8AC3E}">
        <p14:creationId xmlns:p14="http://schemas.microsoft.com/office/powerpoint/2010/main" xmlns="" val="520424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Q11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dirty="0" smtClean="0"/>
              <a:t>Le traitement de fond initial d’un patient BPCO du groupe E peut être le ou les propositions suivantes:</a:t>
            </a:r>
            <a:endParaRPr lang="fr-FR" b="1" dirty="0">
              <a:solidFill>
                <a:srgbClr val="FF0000"/>
              </a:solidFill>
            </a:endParaRP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LAMA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LAMA+LABA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LABA+ICS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LABA+LAMA+ICS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SABA+SAMA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344433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Q12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dirty="0"/>
              <a:t>Le phénotype BPCO fréquent </a:t>
            </a:r>
            <a:r>
              <a:rPr lang="fr-FR" dirty="0" err="1"/>
              <a:t>exacerbateur</a:t>
            </a:r>
            <a:r>
              <a:rPr lang="fr-FR" dirty="0"/>
              <a:t> est caractérisé par :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Une </a:t>
            </a:r>
            <a:r>
              <a:rPr lang="fr-FR" dirty="0"/>
              <a:t>importante intoxication tabagique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Une </a:t>
            </a:r>
            <a:r>
              <a:rPr lang="fr-FR" dirty="0"/>
              <a:t>fréquence élevée d’évolution vers le cœur pulmonaire chronique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Une </a:t>
            </a:r>
            <a:r>
              <a:rPr lang="fr-FR" dirty="0"/>
              <a:t>fréquence faible de syndrome inflammatoire biologique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Des </a:t>
            </a:r>
            <a:r>
              <a:rPr lang="fr-FR" dirty="0"/>
              <a:t>rares comorbidités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Un </a:t>
            </a:r>
            <a:r>
              <a:rPr lang="fr-FR" dirty="0"/>
              <a:t>déclin rapide de la fonction respiratoire</a:t>
            </a:r>
          </a:p>
          <a:p>
            <a:pPr marL="274320" lvl="1" indent="0">
              <a:buNone/>
            </a:pP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2088730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Q13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 </a:t>
            </a:r>
            <a:r>
              <a:rPr lang="en-US" dirty="0" err="1" smtClean="0"/>
              <a:t>phénotype</a:t>
            </a:r>
            <a:r>
              <a:rPr lang="en-US" dirty="0" smtClean="0"/>
              <a:t> </a:t>
            </a:r>
            <a:r>
              <a:rPr lang="en-US" dirty="0" err="1" smtClean="0"/>
              <a:t>PRIsm</a:t>
            </a:r>
            <a:r>
              <a:rPr lang="en-US" dirty="0" smtClean="0"/>
              <a:t> </a:t>
            </a:r>
            <a:r>
              <a:rPr lang="en-US" dirty="0"/>
              <a:t>(Preserved Ratio </a:t>
            </a:r>
            <a:r>
              <a:rPr lang="en-US" dirty="0" err="1"/>
              <a:t>Impared</a:t>
            </a:r>
            <a:r>
              <a:rPr lang="en-US" dirty="0"/>
              <a:t> spirometry</a:t>
            </a:r>
            <a:r>
              <a:rPr lang="en-US" dirty="0" smtClean="0"/>
              <a:t>) se </a:t>
            </a:r>
            <a:r>
              <a:rPr lang="en-US" dirty="0" err="1" smtClean="0"/>
              <a:t>caractérise</a:t>
            </a:r>
            <a:r>
              <a:rPr lang="en-US" dirty="0" smtClean="0"/>
              <a:t> par:</a:t>
            </a:r>
          </a:p>
          <a:p>
            <a:pPr marL="777240" lvl="1" indent="-457200">
              <a:buFont typeface="+mj-lt"/>
              <a:buAutoNum type="alphaUcPeriod"/>
            </a:pPr>
            <a:r>
              <a:rPr lang="en-US" dirty="0" smtClean="0"/>
              <a:t>La </a:t>
            </a:r>
            <a:r>
              <a:rPr lang="en-US" dirty="0" err="1" smtClean="0"/>
              <a:t>présence</a:t>
            </a:r>
            <a:r>
              <a:rPr lang="en-US" dirty="0" smtClean="0"/>
              <a:t> </a:t>
            </a:r>
            <a:r>
              <a:rPr lang="en-US" dirty="0" err="1" smtClean="0"/>
              <a:t>d’une</a:t>
            </a:r>
            <a:r>
              <a:rPr lang="en-US" dirty="0" smtClean="0"/>
              <a:t> </a:t>
            </a:r>
            <a:r>
              <a:rPr lang="en-US" dirty="0" err="1" smtClean="0"/>
              <a:t>dyspnée</a:t>
            </a:r>
            <a:r>
              <a:rPr lang="en-US" dirty="0" smtClean="0"/>
              <a:t> </a:t>
            </a:r>
            <a:r>
              <a:rPr lang="en-US" dirty="0" err="1" smtClean="0"/>
              <a:t>invalidante</a:t>
            </a:r>
            <a:endParaRPr lang="en-US" dirty="0" smtClean="0"/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Un rapport VEMS/CVF &gt;70%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Une valeur normale du VEMS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Une diminution de la valeur du VEMS post-</a:t>
            </a:r>
            <a:r>
              <a:rPr lang="fr-FR" dirty="0" err="1" smtClean="0"/>
              <a:t>bronchodilatation</a:t>
            </a:r>
            <a:r>
              <a:rPr lang="fr-FR" dirty="0" smtClean="0"/>
              <a:t> 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Présence d’un déficit ventilatoire obstructif </a:t>
            </a:r>
          </a:p>
          <a:p>
            <a:endParaRPr lang="fr-FR" dirty="0" smtClean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3055967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Q14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Au cours d’une exacerbation </a:t>
            </a:r>
            <a:r>
              <a:rPr lang="fr-FR" dirty="0"/>
              <a:t>aiguë de BPCO, parmi les propositions suivantes, lesquelles correspondent à des signes de </a:t>
            </a:r>
            <a:r>
              <a:rPr lang="fr-FR" dirty="0" smtClean="0"/>
              <a:t>gravité clinique ?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/>
              <a:t>Une fréquence respiratoire à </a:t>
            </a:r>
            <a:r>
              <a:rPr lang="fr-FR" dirty="0" smtClean="0"/>
              <a:t>22/min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Une </a:t>
            </a:r>
            <a:r>
              <a:rPr lang="fr-FR" dirty="0"/>
              <a:t>fréquence cardiaque &gt; </a:t>
            </a:r>
            <a:r>
              <a:rPr lang="fr-FR" dirty="0" smtClean="0"/>
              <a:t>120/min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Une </a:t>
            </a:r>
            <a:r>
              <a:rPr lang="fr-FR" dirty="0"/>
              <a:t>SpO2 &lt; 90% en air </a:t>
            </a:r>
            <a:r>
              <a:rPr lang="fr-FR" dirty="0" smtClean="0"/>
              <a:t>ambiant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Un </a:t>
            </a:r>
            <a:r>
              <a:rPr lang="fr-FR" dirty="0"/>
              <a:t>tirage sus </a:t>
            </a:r>
            <a:r>
              <a:rPr lang="fr-FR" dirty="0" smtClean="0"/>
              <a:t>claviculaire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Une </a:t>
            </a:r>
            <a:r>
              <a:rPr lang="fr-FR" dirty="0"/>
              <a:t>dyspnée à l’effort</a:t>
            </a:r>
          </a:p>
        </p:txBody>
      </p:sp>
    </p:spTree>
    <p:extLst>
      <p:ext uri="{BB962C8B-B14F-4D97-AF65-F5344CB8AC3E}">
        <p14:creationId xmlns:p14="http://schemas.microsoft.com/office/powerpoint/2010/main" xmlns="" val="2612231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Q15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dirty="0"/>
              <a:t>La principale complication aigue observée au cours de l’évolution de </a:t>
            </a:r>
            <a:r>
              <a:rPr lang="fr-FR" dirty="0" smtClean="0"/>
              <a:t>la BPCO </a:t>
            </a:r>
            <a:r>
              <a:rPr lang="fr-FR" dirty="0"/>
              <a:t>est :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Le </a:t>
            </a:r>
            <a:r>
              <a:rPr lang="fr-FR" dirty="0"/>
              <a:t>pneumothorax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 </a:t>
            </a:r>
            <a:r>
              <a:rPr lang="fr-FR" dirty="0"/>
              <a:t>pleurésie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L’exacerbation </a:t>
            </a:r>
            <a:r>
              <a:rPr lang="fr-FR" dirty="0"/>
              <a:t>aigue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 </a:t>
            </a:r>
            <a:r>
              <a:rPr lang="fr-FR" dirty="0"/>
              <a:t>pneumonie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L’embolie </a:t>
            </a:r>
            <a:r>
              <a:rPr lang="fr-FR" dirty="0"/>
              <a:t>pulmonaire</a:t>
            </a:r>
          </a:p>
          <a:p>
            <a:pPr marL="731520" lvl="1" indent="-457200">
              <a:buFont typeface="+mj-lt"/>
              <a:buAutoNum type="alphaUcPeriod"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1534387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Q16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dirty="0"/>
              <a:t>L’insuffisance respiratoire chronique chez un patient porteur de BPCO est confirmée par :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 </a:t>
            </a:r>
            <a:r>
              <a:rPr lang="fr-FR" dirty="0"/>
              <a:t>sévérité de l’atteinte emphysémateuse à la TDM thoracique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 </a:t>
            </a:r>
            <a:r>
              <a:rPr lang="fr-FR" dirty="0"/>
              <a:t>gazométrie sanguine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le </a:t>
            </a:r>
            <a:r>
              <a:rPr lang="fr-FR" dirty="0"/>
              <a:t>test de marche de 6 minutes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 </a:t>
            </a:r>
            <a:r>
              <a:rPr lang="fr-FR" dirty="0"/>
              <a:t>présence de façon chronique d’une PAO2 à l’état stable inférieure à 70 </a:t>
            </a:r>
            <a:r>
              <a:rPr lang="fr-FR" dirty="0" err="1"/>
              <a:t>mmHg</a:t>
            </a:r>
            <a:endParaRPr lang="fr-FR" dirty="0"/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l’étude </a:t>
            </a:r>
            <a:r>
              <a:rPr lang="fr-FR" dirty="0"/>
              <a:t>de la diffusion alvéolo-capillaire de CO (DLCO)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3866158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Q17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dirty="0"/>
              <a:t>Les bactéries fréquemment responsables des </a:t>
            </a:r>
            <a:r>
              <a:rPr lang="fr-FR" dirty="0" smtClean="0"/>
              <a:t>exacerbations infectieuses </a:t>
            </a:r>
            <a:r>
              <a:rPr lang="fr-FR" dirty="0"/>
              <a:t>de la BPCO sont :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err="1" smtClean="0"/>
              <a:t>Hémophilus</a:t>
            </a:r>
            <a:r>
              <a:rPr lang="fr-FR" dirty="0" smtClean="0"/>
              <a:t> </a:t>
            </a:r>
            <a:r>
              <a:rPr lang="fr-FR" dirty="0"/>
              <a:t>influenzae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Pneumocoque</a:t>
            </a:r>
            <a:endParaRPr lang="fr-FR" dirty="0"/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Mycoplasme</a:t>
            </a:r>
            <a:endParaRPr lang="fr-FR" dirty="0"/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Légionnelle</a:t>
            </a:r>
            <a:endParaRPr lang="fr-FR" dirty="0"/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Pseudomonas </a:t>
            </a:r>
            <a:r>
              <a:rPr lang="fr-FR" dirty="0" err="1"/>
              <a:t>Aeruginosa</a:t>
            </a:r>
            <a:r>
              <a:rPr lang="fr-FR" dirty="0"/>
              <a:t> 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577812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Q18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dirty="0"/>
              <a:t>Les bronchodilatateurs inhalés de longue durée d’action chez les </a:t>
            </a:r>
            <a:r>
              <a:rPr lang="fr-FR" dirty="0" smtClean="0"/>
              <a:t>patients porteurs </a:t>
            </a:r>
            <a:r>
              <a:rPr lang="fr-FR" dirty="0"/>
              <a:t>de BPCO :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Améliorent </a:t>
            </a:r>
            <a:r>
              <a:rPr lang="fr-FR" dirty="0"/>
              <a:t>les symptômes de la maladie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Permettent </a:t>
            </a:r>
            <a:r>
              <a:rPr lang="fr-FR" dirty="0"/>
              <a:t>de freiner le déclin de VEMS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Permettent </a:t>
            </a:r>
            <a:r>
              <a:rPr lang="fr-FR" dirty="0"/>
              <a:t>d’améliorer la capacité à l’exercice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Sont </a:t>
            </a:r>
            <a:r>
              <a:rPr lang="fr-FR" dirty="0"/>
              <a:t>responsables d’une amélioration constante des </a:t>
            </a:r>
            <a:r>
              <a:rPr lang="fr-FR" dirty="0" smtClean="0"/>
              <a:t>paramètres Fonctionnels </a:t>
            </a:r>
            <a:r>
              <a:rPr lang="fr-FR" dirty="0"/>
              <a:t>et gazométriques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Permettent </a:t>
            </a:r>
            <a:r>
              <a:rPr lang="fr-FR" dirty="0"/>
              <a:t>de réduire le nombre des exacerbations</a:t>
            </a:r>
          </a:p>
          <a:p>
            <a:pPr marL="0" indent="0">
              <a:buNone/>
            </a:pP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3624789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Q19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fr-FR" dirty="0"/>
              <a:t>Les corticostéroïdes inhalés (CSI) dans la BPCO:</a:t>
            </a:r>
          </a:p>
          <a:p>
            <a:pPr marL="777240" lvl="1" indent="-457200" algn="just">
              <a:buFont typeface="+mj-lt"/>
              <a:buAutoNum type="alphaUcPeriod"/>
            </a:pPr>
            <a:r>
              <a:rPr lang="fr-FR" dirty="0" smtClean="0"/>
              <a:t>Peuvent </a:t>
            </a:r>
            <a:r>
              <a:rPr lang="fr-FR" dirty="0"/>
              <a:t>être utilisés seuls avec un beta </a:t>
            </a:r>
            <a:r>
              <a:rPr lang="fr-FR" dirty="0" smtClean="0"/>
              <a:t>2 adrénergique </a:t>
            </a:r>
            <a:r>
              <a:rPr lang="fr-FR" dirty="0"/>
              <a:t>de courte durée d’action à la demande</a:t>
            </a:r>
          </a:p>
          <a:p>
            <a:pPr marL="777240" lvl="1" indent="-457200" algn="just">
              <a:buFont typeface="+mj-lt"/>
              <a:buAutoNum type="alphaUcPeriod"/>
            </a:pPr>
            <a:r>
              <a:rPr lang="fr-FR" dirty="0" smtClean="0"/>
              <a:t>Peuvent </a:t>
            </a:r>
            <a:r>
              <a:rPr lang="fr-FR" dirty="0"/>
              <a:t>être indiqués en première intention chez les BPCO groupe </a:t>
            </a:r>
            <a:r>
              <a:rPr lang="fr-FR" dirty="0" smtClean="0"/>
              <a:t>E</a:t>
            </a:r>
            <a:endParaRPr lang="fr-FR" dirty="0"/>
          </a:p>
          <a:p>
            <a:pPr marL="777240" lvl="1" indent="-457200" algn="just">
              <a:buFont typeface="+mj-lt"/>
              <a:buAutoNum type="alphaUcPeriod"/>
            </a:pPr>
            <a:r>
              <a:rPr lang="fr-FR" dirty="0" smtClean="0"/>
              <a:t>Sont indiqués quand le </a:t>
            </a:r>
            <a:r>
              <a:rPr lang="fr-FR" dirty="0"/>
              <a:t>t</a:t>
            </a:r>
            <a:r>
              <a:rPr lang="fr-FR" dirty="0" smtClean="0"/>
              <a:t>aux des PNE &gt;500 </a:t>
            </a:r>
            <a:r>
              <a:rPr lang="fr-FR" dirty="0" err="1" smtClean="0"/>
              <a:t>elts</a:t>
            </a:r>
            <a:r>
              <a:rPr lang="fr-FR" dirty="0" smtClean="0"/>
              <a:t>/mm3</a:t>
            </a:r>
          </a:p>
          <a:p>
            <a:pPr marL="777240" lvl="1" indent="-457200" algn="just">
              <a:buFont typeface="+mj-lt"/>
              <a:buAutoNum type="alphaUcPeriod"/>
            </a:pPr>
            <a:r>
              <a:rPr lang="fr-FR" dirty="0" smtClean="0"/>
              <a:t>Permettent d’améliorer la capacité à l’exercice</a:t>
            </a:r>
          </a:p>
          <a:p>
            <a:pPr marL="777240" lvl="1" indent="-457200" algn="just">
              <a:buFont typeface="+mj-lt"/>
              <a:buAutoNum type="alphaUcPeriod"/>
            </a:pPr>
            <a:r>
              <a:rPr lang="fr-FR" dirty="0" smtClean="0"/>
              <a:t>Sont recommandés chez les BPCO du groupe B </a:t>
            </a:r>
            <a:endParaRPr lang="fr-FR" dirty="0"/>
          </a:p>
          <a:p>
            <a:pPr algn="just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287783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Q20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dirty="0"/>
              <a:t>Les médicaments suivants ont une action anti inflammatoire chez </a:t>
            </a:r>
            <a:r>
              <a:rPr lang="fr-FR" dirty="0" smtClean="0"/>
              <a:t>les patients </a:t>
            </a:r>
            <a:r>
              <a:rPr lang="fr-FR" dirty="0"/>
              <a:t>porteurs de BPCO :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err="1" smtClean="0"/>
              <a:t>Terbutaline</a:t>
            </a:r>
            <a:endParaRPr lang="fr-FR" dirty="0"/>
          </a:p>
          <a:p>
            <a:pPr marL="777240" lvl="1" indent="-457200">
              <a:buFont typeface="+mj-lt"/>
              <a:buAutoNum type="alphaUcPeriod"/>
            </a:pPr>
            <a:r>
              <a:rPr lang="fr-FR" dirty="0" err="1" smtClean="0"/>
              <a:t>Budésonide</a:t>
            </a:r>
            <a:endParaRPr lang="fr-FR" dirty="0"/>
          </a:p>
          <a:p>
            <a:pPr marL="777240" lvl="1" indent="-457200">
              <a:buFont typeface="+mj-lt"/>
              <a:buAutoNum type="alphaUcPeriod"/>
            </a:pPr>
            <a:r>
              <a:rPr lang="fr-FR" dirty="0" err="1" smtClean="0"/>
              <a:t>Roflumilast</a:t>
            </a:r>
            <a:endParaRPr lang="fr-FR" dirty="0"/>
          </a:p>
          <a:p>
            <a:pPr marL="777240" lvl="1" indent="-457200">
              <a:buFont typeface="+mj-lt"/>
              <a:buAutoNum type="alphaUcPeriod"/>
            </a:pPr>
            <a:r>
              <a:rPr lang="fr-FR" dirty="0" err="1" smtClean="0"/>
              <a:t>Fluticasone</a:t>
            </a:r>
            <a:endParaRPr lang="fr-FR" dirty="0"/>
          </a:p>
          <a:p>
            <a:pPr marL="777240" lvl="1" indent="-457200">
              <a:buFont typeface="+mj-lt"/>
              <a:buAutoNum type="alphaUcPeriod"/>
            </a:pPr>
            <a:r>
              <a:rPr lang="fr-FR" dirty="0" err="1" smtClean="0"/>
              <a:t>Montélukast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2797641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Q21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dirty="0"/>
              <a:t>Les traitements pharmacologiques suivants peuvent être administrés en 1ere intention dans la BPCO groupe </a:t>
            </a:r>
            <a:r>
              <a:rPr lang="fr-FR" dirty="0" smtClean="0"/>
              <a:t>A </a:t>
            </a:r>
            <a:r>
              <a:rPr lang="fr-FR" dirty="0"/>
              <a:t>: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LABA </a:t>
            </a:r>
            <a:r>
              <a:rPr lang="fr-FR" dirty="0"/>
              <a:t>seul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LAMA </a:t>
            </a:r>
            <a:r>
              <a:rPr lang="fr-FR" dirty="0"/>
              <a:t>seul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LABA</a:t>
            </a:r>
            <a:r>
              <a:rPr lang="fr-FR" dirty="0"/>
              <a:t>+ CSI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LABA </a:t>
            </a:r>
            <a:r>
              <a:rPr lang="fr-FR" dirty="0"/>
              <a:t>+LAMA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LABA+LAMA+CSI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1906402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Q21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dirty="0"/>
              <a:t>Les traitements pharmacologiques suivants peuvent être administrés en 1ere intention dans la BPCO groupe B</a:t>
            </a:r>
            <a:r>
              <a:rPr lang="fr-FR" dirty="0" smtClean="0"/>
              <a:t> </a:t>
            </a:r>
            <a:r>
              <a:rPr lang="fr-FR" dirty="0"/>
              <a:t>: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LABA </a:t>
            </a:r>
            <a:r>
              <a:rPr lang="fr-FR" dirty="0"/>
              <a:t>seul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LAMA </a:t>
            </a:r>
            <a:r>
              <a:rPr lang="fr-FR" dirty="0"/>
              <a:t>seul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LABA</a:t>
            </a:r>
            <a:r>
              <a:rPr lang="fr-FR" dirty="0"/>
              <a:t>+ CSI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LABA </a:t>
            </a:r>
            <a:r>
              <a:rPr lang="fr-FR" dirty="0"/>
              <a:t>+LAMA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LABA+LAMA+CSI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1288023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Q22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dirty="0"/>
              <a:t>Les traitements pharmacologiques suivants peuvent être administrés </a:t>
            </a:r>
            <a:r>
              <a:rPr lang="fr-FR" dirty="0" smtClean="0"/>
              <a:t>en 1ere </a:t>
            </a:r>
            <a:r>
              <a:rPr lang="fr-FR" dirty="0"/>
              <a:t>intention dans la BPCO groupe </a:t>
            </a:r>
            <a:r>
              <a:rPr lang="fr-FR" dirty="0" smtClean="0"/>
              <a:t>E:</a:t>
            </a:r>
            <a:endParaRPr lang="fr-FR" dirty="0"/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LABA </a:t>
            </a:r>
            <a:r>
              <a:rPr lang="fr-FR" dirty="0"/>
              <a:t>seul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LAMA </a:t>
            </a:r>
            <a:r>
              <a:rPr lang="fr-FR" dirty="0"/>
              <a:t>seul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LABA</a:t>
            </a:r>
            <a:r>
              <a:rPr lang="fr-FR" dirty="0"/>
              <a:t>+ CSI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LABA </a:t>
            </a:r>
            <a:r>
              <a:rPr lang="fr-FR" dirty="0"/>
              <a:t>+LAMA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LABA+LAMA+CSI</a:t>
            </a:r>
            <a:endParaRPr lang="fr-FR" dirty="0"/>
          </a:p>
          <a:p>
            <a:pPr marL="777240" lvl="1" indent="-457200">
              <a:buFont typeface="+mj-lt"/>
              <a:buAutoNum type="alphaU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171265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Q23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dirty="0"/>
              <a:t>Quel traitement pharmacologique vous préconisiez chez un </a:t>
            </a:r>
            <a:r>
              <a:rPr lang="fr-FR" dirty="0" smtClean="0"/>
              <a:t>patient porteur </a:t>
            </a:r>
            <a:r>
              <a:rPr lang="fr-FR" dirty="0"/>
              <a:t>de BPCO traité initialement par LABA en monothérapie et garde la dyspnée comme principale plainte au cours du suivi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Associer </a:t>
            </a:r>
            <a:r>
              <a:rPr lang="fr-FR" dirty="0"/>
              <a:t>de </a:t>
            </a:r>
            <a:r>
              <a:rPr lang="fr-FR" dirty="0" err="1"/>
              <a:t>Roflumilast</a:t>
            </a:r>
            <a:endParaRPr lang="fr-FR" dirty="0"/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Mettre </a:t>
            </a:r>
            <a:r>
              <a:rPr lang="fr-FR" dirty="0"/>
              <a:t>sous LABA et corticostéroïde inhalé (CSI)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Changer </a:t>
            </a:r>
            <a:r>
              <a:rPr lang="fr-FR" dirty="0"/>
              <a:t>le LABA par le LAMA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Mettre </a:t>
            </a:r>
            <a:r>
              <a:rPr lang="fr-FR" dirty="0"/>
              <a:t>sous LABA et LAMA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Donner </a:t>
            </a:r>
            <a:r>
              <a:rPr lang="fr-FR" dirty="0"/>
              <a:t>une cure courte de corticothérapie orale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724938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Q24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dirty="0"/>
              <a:t>Concernant la corticothérapie générale au cours des exacerbations de BPCO, quelle(s) est (sont) la (les) réponse(s) juste(s) ?</a:t>
            </a:r>
          </a:p>
          <a:p>
            <a:pPr marL="548640" lvl="2" indent="0">
              <a:buNone/>
            </a:pPr>
            <a:r>
              <a:rPr lang="fr-FR" dirty="0"/>
              <a:t>A. Elle est indiquée en première intention dans la prise en charge d'une EABPCO en ambulatoire </a:t>
            </a:r>
          </a:p>
          <a:p>
            <a:pPr marL="548640" lvl="2" indent="0">
              <a:buNone/>
            </a:pPr>
            <a:r>
              <a:rPr lang="fr-FR" dirty="0"/>
              <a:t>B. Sa posologie est de 1 mg/kg/j pendant 10 jours </a:t>
            </a:r>
          </a:p>
          <a:p>
            <a:pPr marL="548640" lvl="2" indent="0">
              <a:buNone/>
            </a:pPr>
            <a:r>
              <a:rPr lang="fr-FR" dirty="0"/>
              <a:t>C. Elle est prescrite systématiquement et de façon concomitante avec l'antibiothérapie pour améliorer la récupération sur le plan respiratoire </a:t>
            </a:r>
          </a:p>
          <a:p>
            <a:pPr marL="548640" lvl="2" indent="0">
              <a:buNone/>
            </a:pPr>
            <a:r>
              <a:rPr lang="fr-FR" dirty="0"/>
              <a:t>D. Elle améliore la survie au décours d'une Exacerbation sévère de BPCO  </a:t>
            </a:r>
          </a:p>
          <a:p>
            <a:pPr marL="548640" lvl="2" indent="0">
              <a:buNone/>
            </a:pPr>
            <a:r>
              <a:rPr lang="fr-FR" dirty="0"/>
              <a:t>E. Elle diminue la durée d'hospitalisation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3542485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Q25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dirty="0"/>
              <a:t>Concernant la BPCO, quelle(s) est (sont) la (les) proposition(s) correcte(s) ? </a:t>
            </a:r>
          </a:p>
          <a:p>
            <a:pPr marL="274320" lvl="1" indent="0">
              <a:buNone/>
            </a:pPr>
            <a:r>
              <a:rPr lang="fr-FR" dirty="0"/>
              <a:t>A. La bronchite chronique précède toujours la BPCO </a:t>
            </a:r>
          </a:p>
          <a:p>
            <a:pPr marL="274320" lvl="1" indent="0">
              <a:buNone/>
            </a:pPr>
            <a:r>
              <a:rPr lang="fr-FR" dirty="0"/>
              <a:t>B. La bronchite chronique est de diagnostic clinique </a:t>
            </a:r>
          </a:p>
          <a:p>
            <a:pPr marL="274320" lvl="1" indent="0">
              <a:buNone/>
            </a:pPr>
            <a:r>
              <a:rPr lang="fr-FR" dirty="0"/>
              <a:t>C. La définition de l'emphysème est anatomique </a:t>
            </a:r>
          </a:p>
          <a:p>
            <a:pPr marL="274320" lvl="1" indent="0">
              <a:buNone/>
            </a:pPr>
            <a:r>
              <a:rPr lang="fr-FR" dirty="0"/>
              <a:t>D. La dilatation des bronches fait partie de la BPCO si le trouble ventilatoire obstructif n'est pas réversible </a:t>
            </a:r>
          </a:p>
          <a:p>
            <a:pPr marL="274320" lvl="1" indent="0">
              <a:buNone/>
            </a:pPr>
            <a:r>
              <a:rPr lang="fr-FR" dirty="0"/>
              <a:t>E. L'hypercapnie est d'apparition tardive dans l'évolution d'une BPCO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730096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Q26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dirty="0"/>
              <a:t>Parmi les molécules suivantes, la(les) quelle(s) appartient (appartiennent) à la classe des β2 mimétiques longue durée d'action ? </a:t>
            </a:r>
          </a:p>
          <a:p>
            <a:pPr marL="274320" lvl="1" indent="0">
              <a:buNone/>
            </a:pPr>
            <a:r>
              <a:rPr lang="fr-FR" dirty="0"/>
              <a:t>A. </a:t>
            </a:r>
            <a:r>
              <a:rPr lang="fr-FR" dirty="0" err="1"/>
              <a:t>Salmétérol</a:t>
            </a:r>
            <a:r>
              <a:rPr lang="fr-FR" dirty="0"/>
              <a:t> </a:t>
            </a:r>
          </a:p>
          <a:p>
            <a:pPr marL="274320" lvl="1" indent="0">
              <a:buNone/>
            </a:pPr>
            <a:r>
              <a:rPr lang="fr-FR" dirty="0"/>
              <a:t>B. </a:t>
            </a:r>
            <a:r>
              <a:rPr lang="fr-FR" dirty="0" err="1"/>
              <a:t>Indacaterol</a:t>
            </a:r>
            <a:r>
              <a:rPr lang="fr-FR" dirty="0"/>
              <a:t> </a:t>
            </a:r>
          </a:p>
          <a:p>
            <a:pPr marL="274320" lvl="1" indent="0">
              <a:buNone/>
            </a:pPr>
            <a:r>
              <a:rPr lang="fr-FR" dirty="0"/>
              <a:t>C. Salbutamol </a:t>
            </a:r>
          </a:p>
          <a:p>
            <a:pPr marL="274320" lvl="1" indent="0">
              <a:buNone/>
            </a:pPr>
            <a:r>
              <a:rPr lang="fr-FR" dirty="0"/>
              <a:t>D. </a:t>
            </a:r>
            <a:r>
              <a:rPr lang="fr-FR" dirty="0" err="1"/>
              <a:t>Formoterol</a:t>
            </a:r>
            <a:r>
              <a:rPr lang="fr-FR" dirty="0"/>
              <a:t> </a:t>
            </a:r>
          </a:p>
          <a:p>
            <a:pPr marL="274320" lvl="1" indent="0">
              <a:buNone/>
            </a:pPr>
            <a:r>
              <a:rPr lang="fr-FR" dirty="0"/>
              <a:t>E. </a:t>
            </a:r>
            <a:r>
              <a:rPr lang="fr-FR" dirty="0" err="1" smtClean="0"/>
              <a:t>Tiotropium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 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300845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Q27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Les vaccins recommandés </a:t>
            </a:r>
            <a:r>
              <a:rPr lang="fr-FR" dirty="0"/>
              <a:t>chez les patients BPCO </a:t>
            </a:r>
            <a:r>
              <a:rPr lang="fr-FR" dirty="0" smtClean="0"/>
              <a:t>sont: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 rougeole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La grippe 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Le Sars-cov2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Coqueluche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Pneumocoque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34159892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Q28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/>
              <a:t>Une antibiothérapie est indiquée dans une exacerbation de BPCO si : 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Présence </a:t>
            </a:r>
            <a:r>
              <a:rPr lang="fr-FR" dirty="0"/>
              <a:t>de fièvre &gt; 38,5 °</a:t>
            </a:r>
            <a:r>
              <a:rPr lang="fr-FR" dirty="0" smtClean="0"/>
              <a:t>C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Présence </a:t>
            </a:r>
            <a:r>
              <a:rPr lang="fr-FR" dirty="0"/>
              <a:t>des 3 critères d’</a:t>
            </a:r>
            <a:r>
              <a:rPr lang="fr-FR" dirty="0" err="1"/>
              <a:t>Anthonisen</a:t>
            </a:r>
            <a:r>
              <a:rPr lang="fr-FR" dirty="0"/>
              <a:t> (dyspnée + volume + </a:t>
            </a:r>
            <a:r>
              <a:rPr lang="fr-FR" dirty="0" smtClean="0"/>
              <a:t>purulence)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Infection </a:t>
            </a:r>
            <a:r>
              <a:rPr lang="fr-FR" dirty="0"/>
              <a:t>virale </a:t>
            </a:r>
            <a:r>
              <a:rPr lang="fr-FR" dirty="0" smtClean="0"/>
              <a:t>confirmée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Expectorations </a:t>
            </a:r>
            <a:r>
              <a:rPr lang="fr-FR" dirty="0"/>
              <a:t>franchement </a:t>
            </a:r>
            <a:r>
              <a:rPr lang="fr-FR" dirty="0" smtClean="0"/>
              <a:t>purulentes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Recours à la ventilation non invasive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2889668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itr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Cas clinique QCM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5354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Cas clinique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sz="1600" dirty="0" smtClean="0"/>
              <a:t>Un homme âgé de 70 ans tabagique 70 PA non sevré, consulte pour une dyspnée d’effort stade 1 </a:t>
            </a:r>
            <a:r>
              <a:rPr lang="fr-FR" sz="1600" dirty="0" err="1" smtClean="0"/>
              <a:t>mMRC</a:t>
            </a:r>
            <a:r>
              <a:rPr lang="fr-FR" sz="1600" dirty="0" smtClean="0"/>
              <a:t> qui évolue depuis 2 ans associée à une toux chronique qui évolue depuis 5 ans.</a:t>
            </a:r>
          </a:p>
          <a:p>
            <a:endParaRPr lang="fr-FR" sz="1600" dirty="0" smtClean="0"/>
          </a:p>
          <a:p>
            <a:r>
              <a:rPr lang="fr-FR" sz="1600" dirty="0" smtClean="0"/>
              <a:t>Parmi ses antécédents : HTA bien équilibrée sous traitement, une cardiopathie ischémique, une dyslipidémie. Une histoire de 3 épisodes de surinfection bronchique traitées en ambulatoire.</a:t>
            </a:r>
          </a:p>
          <a:p>
            <a:endParaRPr lang="fr-FR" sz="1600" dirty="0" smtClean="0"/>
          </a:p>
          <a:p>
            <a:r>
              <a:rPr lang="fr-FR" sz="1600" dirty="0" smtClean="0"/>
              <a:t>A l’examen clinique  note un malade </a:t>
            </a:r>
            <a:r>
              <a:rPr lang="fr-FR" sz="1600" dirty="0" err="1" smtClean="0"/>
              <a:t>eupneique</a:t>
            </a:r>
            <a:r>
              <a:rPr lang="fr-FR" sz="1600" dirty="0" smtClean="0"/>
              <a:t> sans signes de lutte avec SpO2 Air Ambiant à 98%, l’auscultation pulmonaire montre une diminution du murmure vésiculaire des 2 Champs pulmonaires.</a:t>
            </a:r>
          </a:p>
          <a:p>
            <a:r>
              <a:rPr lang="fr-FR" sz="1600" dirty="0" smtClean="0"/>
              <a:t>Une BPCO post-tabagique est suspectée et une </a:t>
            </a:r>
            <a:r>
              <a:rPr lang="fr-FR" sz="1600" dirty="0" err="1" smtClean="0"/>
              <a:t>spiromètrie</a:t>
            </a:r>
            <a:r>
              <a:rPr lang="fr-FR" sz="1600" dirty="0" smtClean="0"/>
              <a:t> avec un test de réversibilité a été demandée :</a:t>
            </a:r>
          </a:p>
          <a:p>
            <a:endParaRPr lang="fr-FR" sz="1800" dirty="0"/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62049852"/>
              </p:ext>
            </p:extLst>
          </p:nvPr>
        </p:nvGraphicFramePr>
        <p:xfrm>
          <a:off x="1478732" y="5085184"/>
          <a:ext cx="6643735" cy="1140020"/>
        </p:xfrm>
        <a:graphic>
          <a:graphicData uri="http://schemas.openxmlformats.org/drawingml/2006/table">
            <a:tbl>
              <a:tblPr/>
              <a:tblGrid>
                <a:gridCol w="221409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148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148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5005">
                <a:tc>
                  <a:txBody>
                    <a:bodyPr/>
                    <a:lstStyle/>
                    <a:p>
                      <a:pPr marL="45720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16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latin typeface="Times New Roman"/>
                          <a:ea typeface="Calibri"/>
                          <a:cs typeface="Times New Roman"/>
                        </a:rPr>
                        <a:t>Avant B2</a:t>
                      </a:r>
                      <a:endParaRPr lang="fr-FR" sz="1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latin typeface="Times New Roman"/>
                          <a:ea typeface="Calibri"/>
                          <a:cs typeface="Times New Roman"/>
                        </a:rPr>
                        <a:t>Après B2</a:t>
                      </a:r>
                      <a:endParaRPr lang="fr-FR" sz="1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5005">
                <a:tc>
                  <a:txBody>
                    <a:bodyPr/>
                    <a:lstStyle/>
                    <a:p>
                      <a:pPr marL="45720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latin typeface="Times New Roman"/>
                          <a:ea typeface="Calibri"/>
                          <a:cs typeface="Times New Roman"/>
                        </a:rPr>
                        <a:t>VEMS(ml/%)</a:t>
                      </a:r>
                      <a:endParaRPr lang="fr-FR" sz="1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 smtClean="0">
                          <a:latin typeface="Times New Roman"/>
                          <a:ea typeface="Calibri"/>
                          <a:cs typeface="Times New Roman"/>
                        </a:rPr>
                        <a:t>1650 (53%)</a:t>
                      </a:r>
                      <a:endParaRPr lang="fr-FR" sz="1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 smtClean="0">
                          <a:solidFill>
                            <a:srgbClr val="FF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1780 (56%)</a:t>
                      </a:r>
                      <a:endParaRPr lang="fr-FR" sz="14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5005">
                <a:tc>
                  <a:txBody>
                    <a:bodyPr/>
                    <a:lstStyle/>
                    <a:p>
                      <a:pPr marL="45720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latin typeface="Times New Roman"/>
                          <a:ea typeface="Calibri"/>
                          <a:cs typeface="Times New Roman"/>
                        </a:rPr>
                        <a:t>CVF(ml/%)</a:t>
                      </a:r>
                      <a:endParaRPr lang="fr-FR" sz="1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latin typeface="Times New Roman"/>
                          <a:ea typeface="Calibri"/>
                          <a:cs typeface="Times New Roman"/>
                        </a:rPr>
                        <a:t>2890 (82%)</a:t>
                      </a:r>
                      <a:endParaRPr lang="fr-FR" sz="1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latin typeface="Times New Roman"/>
                          <a:ea typeface="Calibri"/>
                          <a:cs typeface="Times New Roman"/>
                        </a:rPr>
                        <a:t>2920 (84%)</a:t>
                      </a:r>
                      <a:endParaRPr lang="fr-FR" sz="1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85005">
                <a:tc>
                  <a:txBody>
                    <a:bodyPr/>
                    <a:lstStyle/>
                    <a:p>
                      <a:pPr marL="45720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latin typeface="Times New Roman"/>
                          <a:ea typeface="Calibri"/>
                          <a:cs typeface="Times New Roman"/>
                        </a:rPr>
                        <a:t>VEMS/CVF(%)</a:t>
                      </a:r>
                      <a:endParaRPr lang="fr-FR" sz="1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 smtClean="0">
                          <a:latin typeface="Times New Roman"/>
                          <a:ea typeface="Calibri"/>
                          <a:cs typeface="Times New Roman"/>
                        </a:rPr>
                        <a:t>52,25</a:t>
                      </a:r>
                      <a:endParaRPr lang="fr-FR" sz="1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 smtClean="0">
                          <a:latin typeface="Times New Roman"/>
                          <a:ea typeface="Calibri"/>
                          <a:cs typeface="Times New Roman"/>
                        </a:rPr>
                        <a:t>55,6</a:t>
                      </a:r>
                      <a:endParaRPr lang="fr-FR" sz="1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198472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 1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FR" sz="2800" dirty="0" smtClean="0"/>
              <a:t>Quelle est la classification de la BPCO selon les recommandations du GOLD :</a:t>
            </a:r>
            <a:endParaRPr lang="fr-FR" sz="2400" dirty="0" smtClean="0"/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Gold 3 groupe B</a:t>
            </a:r>
            <a:endParaRPr lang="fr-FR" sz="2000" dirty="0" smtClean="0"/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Gold 4 groupe A</a:t>
            </a:r>
            <a:endParaRPr lang="fr-FR" sz="2000" dirty="0" smtClean="0"/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Gold 1 groupe E</a:t>
            </a:r>
            <a:endParaRPr lang="fr-FR" sz="2000" dirty="0" smtClean="0"/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Gold 3 groupe E</a:t>
            </a:r>
            <a:endParaRPr lang="fr-FR" sz="2000" dirty="0" smtClean="0"/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Gold 2 groupe E</a:t>
            </a:r>
            <a:endParaRPr lang="fr-FR" sz="2000" dirty="0" smtClean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694561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 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fr-FR" sz="2400" dirty="0" smtClean="0"/>
              <a:t>La prise en charge thérapeutique au long cours de première intention comportera  les éléments suivants:</a:t>
            </a:r>
            <a:endParaRPr lang="fr-FR" sz="2000" dirty="0" smtClean="0"/>
          </a:p>
          <a:p>
            <a:pPr marL="777240" lvl="1" indent="-457200" algn="just">
              <a:buFont typeface="+mj-lt"/>
              <a:buAutoNum type="alphaUcPeriod"/>
            </a:pPr>
            <a:r>
              <a:rPr lang="fr-FR" sz="2000" dirty="0"/>
              <a:t>Vaccination anti grippale </a:t>
            </a:r>
            <a:endParaRPr lang="fr-FR" sz="1800" dirty="0"/>
          </a:p>
          <a:p>
            <a:pPr marL="777240" lvl="1" indent="-457200" algn="just">
              <a:buFont typeface="+mj-lt"/>
              <a:buAutoNum type="alphaUcPeriod"/>
            </a:pPr>
            <a:r>
              <a:rPr lang="fr-FR" sz="2000" dirty="0"/>
              <a:t>Des corticoïdes par voie générale</a:t>
            </a:r>
            <a:endParaRPr lang="fr-FR" sz="1800" dirty="0"/>
          </a:p>
          <a:p>
            <a:pPr marL="777240" lvl="1" indent="-457200" algn="just">
              <a:buFont typeface="+mj-lt"/>
              <a:buAutoNum type="alphaUcPeriod"/>
            </a:pPr>
            <a:r>
              <a:rPr lang="fr-FR" sz="2000" dirty="0"/>
              <a:t>Le sevrage tabagique</a:t>
            </a:r>
            <a:endParaRPr lang="fr-FR" sz="1800" dirty="0"/>
          </a:p>
          <a:p>
            <a:pPr marL="777240" lvl="1" indent="-457200" algn="just">
              <a:buFont typeface="+mj-lt"/>
              <a:buAutoNum type="alphaUcPeriod"/>
            </a:pPr>
            <a:r>
              <a:rPr lang="fr-FR" sz="2000" dirty="0"/>
              <a:t>Un anticholinergique de longue durée </a:t>
            </a:r>
            <a:r>
              <a:rPr lang="fr-FR" sz="2000" dirty="0" smtClean="0"/>
              <a:t>d’action associé à des corticoïdes inhalés </a:t>
            </a:r>
            <a:endParaRPr lang="fr-FR" sz="1800" dirty="0"/>
          </a:p>
          <a:p>
            <a:pPr marL="777240" lvl="1" indent="-457200" algn="just">
              <a:buFont typeface="+mj-lt"/>
              <a:buAutoNum type="alphaUcPeriod"/>
            </a:pPr>
            <a:r>
              <a:rPr lang="fr-FR" sz="2000" dirty="0" smtClean="0"/>
              <a:t>Un anticholinergique </a:t>
            </a:r>
            <a:r>
              <a:rPr lang="fr-FR" sz="2000" dirty="0"/>
              <a:t>de longue durée d’action associé à un </a:t>
            </a:r>
            <a:r>
              <a:rPr lang="fr-FR" sz="2000" dirty="0" smtClean="0"/>
              <a:t>B2 </a:t>
            </a:r>
            <a:r>
              <a:rPr lang="fr-FR" sz="2000" dirty="0"/>
              <a:t>Mimétique de longue durée d’action  </a:t>
            </a:r>
            <a:endParaRPr lang="fr-FR" sz="2000" dirty="0" smtClean="0"/>
          </a:p>
          <a:p>
            <a:pPr marL="777240" lvl="1" indent="-457200" algn="just">
              <a:buFont typeface="+mj-lt"/>
              <a:buAutoNum type="alphaUcPeriod"/>
            </a:pP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xmlns="" val="3336004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Evolution après 3 mois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lvl="0" algn="just"/>
            <a:r>
              <a:rPr lang="fr-FR" sz="2000" dirty="0" smtClean="0"/>
              <a:t>Après 3 mois de traitement par un </a:t>
            </a:r>
            <a:r>
              <a:rPr lang="fr-FR" sz="2000" b="1" dirty="0" smtClean="0"/>
              <a:t>LAMA (</a:t>
            </a:r>
            <a:r>
              <a:rPr lang="fr-FR" sz="2000" b="1" dirty="0" err="1" smtClean="0"/>
              <a:t>Tiotropium</a:t>
            </a:r>
            <a:r>
              <a:rPr lang="fr-FR" sz="2000" b="1" dirty="0" smtClean="0"/>
              <a:t>) + LABA (</a:t>
            </a:r>
            <a:r>
              <a:rPr lang="fr-FR" sz="2000" b="1" dirty="0" err="1" smtClean="0"/>
              <a:t>Formotérol</a:t>
            </a:r>
            <a:r>
              <a:rPr lang="fr-FR" sz="2000" b="1" dirty="0" smtClean="0"/>
              <a:t>)</a:t>
            </a:r>
            <a:r>
              <a:rPr lang="fr-FR" sz="2000" dirty="0" smtClean="0"/>
              <a:t>, le patient consulte les urgences pour une aggravation de sa dyspnée d’effort devenue stade 4 </a:t>
            </a:r>
            <a:r>
              <a:rPr lang="fr-FR" sz="2000" dirty="0" err="1" smtClean="0"/>
              <a:t>mMRC</a:t>
            </a:r>
            <a:r>
              <a:rPr lang="fr-FR" sz="2000" dirty="0" smtClean="0"/>
              <a:t> depuis 5 jours associée à une majoration de la toux avec augmentation de l’abondance des expectorations devenues verdâtres </a:t>
            </a:r>
          </a:p>
          <a:p>
            <a:pPr lvl="0" algn="just"/>
            <a:endParaRPr lang="fr-FR" sz="2000" dirty="0" smtClean="0"/>
          </a:p>
          <a:p>
            <a:pPr lvl="0" algn="just"/>
            <a:r>
              <a:rPr lang="fr-FR" sz="2000" dirty="0" smtClean="0"/>
              <a:t>L’examen clinique montre, FR : 22 </a:t>
            </a:r>
            <a:r>
              <a:rPr lang="fr-FR" sz="2000" dirty="0" err="1" smtClean="0"/>
              <a:t>cpm</a:t>
            </a:r>
            <a:r>
              <a:rPr lang="fr-FR" sz="2000" dirty="0" smtClean="0"/>
              <a:t> , SpO2 à l’air ambiant 89%, FC : 98 </a:t>
            </a:r>
            <a:r>
              <a:rPr lang="fr-FR" sz="2000" dirty="0" err="1" smtClean="0"/>
              <a:t>bpm</a:t>
            </a:r>
            <a:r>
              <a:rPr lang="fr-FR" sz="2000" dirty="0" smtClean="0"/>
              <a:t>, PA 140/90 </a:t>
            </a:r>
            <a:r>
              <a:rPr lang="fr-FR" sz="2000" dirty="0" err="1" smtClean="0"/>
              <a:t>mmHg</a:t>
            </a:r>
            <a:r>
              <a:rPr lang="fr-FR" sz="2000" dirty="0" smtClean="0"/>
              <a:t>, quelques sibilants bilatéraux à l’auscultation pulmonaire. </a:t>
            </a:r>
          </a:p>
          <a:p>
            <a:pPr lvl="0" algn="just"/>
            <a:r>
              <a:rPr lang="fr-FR" sz="2000" dirty="0" smtClean="0"/>
              <a:t>La gazométrie artérielle en air ambiant est la suivante : pH 7,32 ; PaCO2 62 </a:t>
            </a:r>
            <a:r>
              <a:rPr lang="fr-FR" sz="2000" dirty="0" err="1" smtClean="0"/>
              <a:t>mmHg</a:t>
            </a:r>
            <a:r>
              <a:rPr lang="fr-FR" sz="2000" dirty="0" smtClean="0"/>
              <a:t>  ; PaO2 54 </a:t>
            </a:r>
            <a:r>
              <a:rPr lang="fr-FR" sz="2000" dirty="0" err="1" smtClean="0"/>
              <a:t>mmHg</a:t>
            </a:r>
            <a:r>
              <a:rPr lang="fr-FR" sz="2000" dirty="0" smtClean="0"/>
              <a:t> , HCO3 - 30 </a:t>
            </a:r>
            <a:r>
              <a:rPr lang="fr-FR" sz="2000" dirty="0" err="1" smtClean="0"/>
              <a:t>mMol</a:t>
            </a:r>
            <a:r>
              <a:rPr lang="fr-FR" sz="2000" dirty="0" smtClean="0"/>
              <a:t>/L ; SaO2 88%. </a:t>
            </a:r>
          </a:p>
          <a:p>
            <a:pPr lvl="0" algn="just"/>
            <a:r>
              <a:rPr lang="fr-FR" sz="2000" dirty="0" smtClean="0"/>
              <a:t>La radiographie thoracique de face montre la présence de signes radiologiques de distension thoracique.</a:t>
            </a:r>
          </a:p>
          <a:p>
            <a:pPr algn="just"/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xmlns="" val="4279058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 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Ce  tableau clinique évoque le diagnostic suivant :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Un pneumothorax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Une pneumopathie aigue communautaire 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/>
              <a:t>Une exacerbation modérée de sa  BPCO 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Une pleurésie droite </a:t>
            </a:r>
          </a:p>
          <a:p>
            <a:pPr marL="777240" lvl="1" indent="-457200">
              <a:buFont typeface="+mj-lt"/>
              <a:buAutoNum type="alphaUcPeriod"/>
            </a:pPr>
            <a:r>
              <a:rPr lang="fr-FR" dirty="0" smtClean="0"/>
              <a:t>Une exacerbation sévère de sa BPCO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1374280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 4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fr-FR" sz="2400" dirty="0" smtClean="0"/>
              <a:t>Le patient a été hospitalisé en milieu de Pneumologie et la prise en charge thérapeutique comporte les éléments suivants:</a:t>
            </a:r>
            <a:endParaRPr lang="fr-FR" sz="2000" dirty="0" smtClean="0"/>
          </a:p>
          <a:p>
            <a:pPr marL="777240" lvl="1" indent="-457200" algn="just">
              <a:buFont typeface="+mj-lt"/>
              <a:buAutoNum type="alphaUcPeriod"/>
            </a:pPr>
            <a:r>
              <a:rPr lang="fr-FR" sz="2000" dirty="0" smtClean="0"/>
              <a:t>Une antibiothérapie par voie générale</a:t>
            </a:r>
            <a:endParaRPr lang="fr-FR" sz="1800" dirty="0" smtClean="0"/>
          </a:p>
          <a:p>
            <a:pPr marL="777240" lvl="1" indent="-457200" algn="just">
              <a:buFont typeface="+mj-lt"/>
              <a:buAutoNum type="alphaUcPeriod"/>
            </a:pPr>
            <a:r>
              <a:rPr lang="fr-FR" sz="2000" dirty="0" smtClean="0"/>
              <a:t>Une ventilation non invasive </a:t>
            </a:r>
            <a:endParaRPr lang="fr-FR" sz="1800" dirty="0" smtClean="0"/>
          </a:p>
          <a:p>
            <a:pPr marL="777240" lvl="1" indent="-457200" algn="just">
              <a:buFont typeface="+mj-lt"/>
              <a:buAutoNum type="alphaUcPeriod"/>
            </a:pPr>
            <a:r>
              <a:rPr lang="fr-FR" sz="2000" dirty="0" smtClean="0"/>
              <a:t>Des nébulisations de broncho-dilatateurs</a:t>
            </a:r>
            <a:endParaRPr lang="fr-FR" sz="1800" dirty="0" smtClean="0"/>
          </a:p>
          <a:p>
            <a:pPr marL="777240" lvl="1" indent="-457200" algn="just">
              <a:buFont typeface="+mj-lt"/>
              <a:buAutoNum type="alphaUcPeriod"/>
            </a:pPr>
            <a:r>
              <a:rPr lang="fr-FR" sz="2000" dirty="0" smtClean="0"/>
              <a:t>Une oxygénothérapie à haut débit pour un objectif de satO2 &gt; 92%</a:t>
            </a:r>
            <a:endParaRPr lang="fr-FR" sz="1800" dirty="0" smtClean="0"/>
          </a:p>
          <a:p>
            <a:pPr marL="777240" lvl="1" indent="-457200" algn="just">
              <a:buFont typeface="+mj-lt"/>
              <a:buAutoNum type="alphaUcPeriod"/>
            </a:pPr>
            <a:r>
              <a:rPr lang="fr-FR" sz="2000" dirty="0" smtClean="0"/>
              <a:t>Une anti coagulation préventive </a:t>
            </a:r>
            <a:endParaRPr lang="fr-FR" sz="1800" dirty="0" smtClean="0"/>
          </a:p>
          <a:p>
            <a:pPr algn="just">
              <a:buNone/>
            </a:pPr>
            <a:endParaRPr lang="fr-FR" sz="2000" dirty="0" smtClean="0"/>
          </a:p>
          <a:p>
            <a:pPr algn="just"/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xmlns="" val="250951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 5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sz="2400" dirty="0" smtClean="0"/>
              <a:t>L’évolution était favorable, avant sa sortie, la prise en charge thérapeutique au long cours va comporter:</a:t>
            </a:r>
          </a:p>
          <a:p>
            <a:pPr marL="662940" lvl="1" indent="-342900">
              <a:buFont typeface="+mj-lt"/>
              <a:buAutoNum type="alphaUcPeriod"/>
            </a:pPr>
            <a:r>
              <a:rPr lang="fr-FR" dirty="0" smtClean="0"/>
              <a:t>Bronchodilatateurs de courte durée si besoin</a:t>
            </a:r>
          </a:p>
          <a:p>
            <a:pPr marL="662940" lvl="1" indent="-342900">
              <a:buFont typeface="+mj-lt"/>
              <a:buAutoNum type="alphaUcPeriod"/>
            </a:pPr>
            <a:r>
              <a:rPr lang="fr-FR" dirty="0" smtClean="0"/>
              <a:t>Une faible dose de corticothérapie pendant 1 mois</a:t>
            </a:r>
          </a:p>
          <a:p>
            <a:pPr marL="662940" lvl="1" indent="-342900">
              <a:buFont typeface="+mj-lt"/>
              <a:buAutoNum type="alphaUcPeriod"/>
            </a:pPr>
            <a:r>
              <a:rPr lang="fr-FR" dirty="0" smtClean="0"/>
              <a:t>Garder l’association LAMA+LABA</a:t>
            </a:r>
          </a:p>
          <a:p>
            <a:pPr marL="662940" lvl="1" indent="-342900">
              <a:buFont typeface="+mj-lt"/>
              <a:buAutoNum type="alphaUcPeriod"/>
            </a:pPr>
            <a:r>
              <a:rPr lang="fr-FR" dirty="0" smtClean="0"/>
              <a:t>Ajouter des CSI si taux PNE &gt;300 </a:t>
            </a:r>
            <a:r>
              <a:rPr lang="fr-FR" dirty="0" err="1" smtClean="0"/>
              <a:t>elts</a:t>
            </a:r>
            <a:r>
              <a:rPr lang="fr-FR" dirty="0" smtClean="0"/>
              <a:t>/mm3</a:t>
            </a:r>
          </a:p>
          <a:p>
            <a:pPr marL="662940" lvl="1" indent="-342900">
              <a:buFont typeface="+mj-lt"/>
              <a:buAutoNum type="alphaUcPeriod"/>
            </a:pPr>
            <a:r>
              <a:rPr lang="fr-FR" dirty="0" smtClean="0"/>
              <a:t>Une réhabilitation respiratoire </a:t>
            </a:r>
          </a:p>
          <a:p>
            <a:pPr marL="662940" lvl="1" indent="-342900">
              <a:buFont typeface="+mj-lt"/>
              <a:buAutoNum type="alphaUcPeriod"/>
            </a:pPr>
            <a:endParaRPr lang="fr-FR" dirty="0"/>
          </a:p>
          <a:p>
            <a:pPr marL="662940" lvl="1" indent="-342900">
              <a:buFont typeface="+mj-lt"/>
              <a:buAutoNum type="alphaU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2569494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pitaux">
  <a:themeElements>
    <a:clrScheme name="Capitaux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pitaux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apitaux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Syndrome de chevauchement BPCO-SAOS</Template>
  <TotalTime>406</TotalTime>
  <Words>1411</Words>
  <Application>Microsoft Office PowerPoint</Application>
  <PresentationFormat>Affichage à l'écran (4:3)</PresentationFormat>
  <Paragraphs>271</Paragraphs>
  <Slides>38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39" baseType="lpstr">
      <vt:lpstr>Capitaux</vt:lpstr>
      <vt:lpstr> Question 9: Bronchopneumopathie chronique obstructive (BPCO) : diagnostic, traitement EVALUATION  </vt:lpstr>
      <vt:lpstr>Q1</vt:lpstr>
      <vt:lpstr>Q2</vt:lpstr>
      <vt:lpstr>Q3</vt:lpstr>
      <vt:lpstr>Q4</vt:lpstr>
      <vt:lpstr>Q5</vt:lpstr>
      <vt:lpstr>Q6</vt:lpstr>
      <vt:lpstr>Q7</vt:lpstr>
      <vt:lpstr>Q8</vt:lpstr>
      <vt:lpstr>Q9</vt:lpstr>
      <vt:lpstr>Q10</vt:lpstr>
      <vt:lpstr>Q11</vt:lpstr>
      <vt:lpstr>Q12</vt:lpstr>
      <vt:lpstr>Q13</vt:lpstr>
      <vt:lpstr>Q14</vt:lpstr>
      <vt:lpstr>Q15</vt:lpstr>
      <vt:lpstr>Q16</vt:lpstr>
      <vt:lpstr>Q17</vt:lpstr>
      <vt:lpstr>Q18</vt:lpstr>
      <vt:lpstr>Q19</vt:lpstr>
      <vt:lpstr>Q20</vt:lpstr>
      <vt:lpstr>Q21</vt:lpstr>
      <vt:lpstr>Q21</vt:lpstr>
      <vt:lpstr>Q22</vt:lpstr>
      <vt:lpstr>Q23</vt:lpstr>
      <vt:lpstr>Q24</vt:lpstr>
      <vt:lpstr>Q25</vt:lpstr>
      <vt:lpstr>Q26</vt:lpstr>
      <vt:lpstr>Q27</vt:lpstr>
      <vt:lpstr>Q28</vt:lpstr>
      <vt:lpstr>Cas clinique QCM</vt:lpstr>
      <vt:lpstr>Cas clinique </vt:lpstr>
      <vt:lpstr>Q 1</vt:lpstr>
      <vt:lpstr>Q 2</vt:lpstr>
      <vt:lpstr>Evolution après 3 mois </vt:lpstr>
      <vt:lpstr>Q 3</vt:lpstr>
      <vt:lpstr>Q 4</vt:lpstr>
      <vt:lpstr>Q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LENOVO</dc:creator>
  <cp:lastModifiedBy>DELL</cp:lastModifiedBy>
  <cp:revision>44</cp:revision>
  <dcterms:created xsi:type="dcterms:W3CDTF">2023-07-02T19:21:40Z</dcterms:created>
  <dcterms:modified xsi:type="dcterms:W3CDTF">2025-07-05T21:43:09Z</dcterms:modified>
</cp:coreProperties>
</file>
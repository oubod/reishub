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</p:sldMasterIdLst>
  <p:notesMasterIdLst>
    <p:notesMasterId r:id="rId60"/>
  </p:notesMasterIdLst>
  <p:sldIdLst>
    <p:sldId id="256" r:id="rId7"/>
    <p:sldId id="257" r:id="rId8"/>
    <p:sldId id="357" r:id="rId9"/>
    <p:sldId id="315" r:id="rId10"/>
    <p:sldId id="324" r:id="rId11"/>
    <p:sldId id="259" r:id="rId12"/>
    <p:sldId id="358" r:id="rId13"/>
    <p:sldId id="430" r:id="rId14"/>
    <p:sldId id="432" r:id="rId15"/>
    <p:sldId id="326" r:id="rId16"/>
    <p:sldId id="262" r:id="rId17"/>
    <p:sldId id="360" r:id="rId18"/>
    <p:sldId id="327" r:id="rId19"/>
    <p:sldId id="316" r:id="rId20"/>
    <p:sldId id="433" r:id="rId21"/>
    <p:sldId id="263" r:id="rId22"/>
    <p:sldId id="361" r:id="rId23"/>
    <p:sldId id="362" r:id="rId24"/>
    <p:sldId id="266" r:id="rId25"/>
    <p:sldId id="438" r:id="rId26"/>
    <p:sldId id="439" r:id="rId27"/>
    <p:sldId id="363" r:id="rId28"/>
    <p:sldId id="365" r:id="rId29"/>
    <p:sldId id="366" r:id="rId30"/>
    <p:sldId id="435" r:id="rId31"/>
    <p:sldId id="436" r:id="rId32"/>
    <p:sldId id="369" r:id="rId33"/>
    <p:sldId id="368" r:id="rId34"/>
    <p:sldId id="371" r:id="rId35"/>
    <p:sldId id="434" r:id="rId36"/>
    <p:sldId id="440" r:id="rId37"/>
    <p:sldId id="441" r:id="rId38"/>
    <p:sldId id="372" r:id="rId39"/>
    <p:sldId id="373" r:id="rId40"/>
    <p:sldId id="374" r:id="rId41"/>
    <p:sldId id="443" r:id="rId42"/>
    <p:sldId id="375" r:id="rId43"/>
    <p:sldId id="444" r:id="rId44"/>
    <p:sldId id="445" r:id="rId45"/>
    <p:sldId id="478" r:id="rId46"/>
    <p:sldId id="378" r:id="rId47"/>
    <p:sldId id="446" r:id="rId48"/>
    <p:sldId id="447" r:id="rId49"/>
    <p:sldId id="381" r:id="rId50"/>
    <p:sldId id="448" r:id="rId51"/>
    <p:sldId id="449" r:id="rId52"/>
    <p:sldId id="384" r:id="rId53"/>
    <p:sldId id="385" r:id="rId54"/>
    <p:sldId id="451" r:id="rId55"/>
    <p:sldId id="452" r:id="rId56"/>
    <p:sldId id="453" r:id="rId57"/>
    <p:sldId id="335" r:id="rId58"/>
    <p:sldId id="336" r:id="rId59"/>
    <p:sldId id="394" r:id="rId61"/>
    <p:sldId id="387" r:id="rId62"/>
    <p:sldId id="388" r:id="rId63"/>
    <p:sldId id="454" r:id="rId64"/>
    <p:sldId id="477" r:id="rId65"/>
    <p:sldId id="389" r:id="rId66"/>
    <p:sldId id="390" r:id="rId67"/>
    <p:sldId id="455" r:id="rId68"/>
    <p:sldId id="391" r:id="rId69"/>
    <p:sldId id="392" r:id="rId70"/>
    <p:sldId id="395" r:id="rId71"/>
    <p:sldId id="393" r:id="rId72"/>
    <p:sldId id="473" r:id="rId73"/>
    <p:sldId id="474" r:id="rId74"/>
    <p:sldId id="396" r:id="rId75"/>
    <p:sldId id="476" r:id="rId76"/>
    <p:sldId id="463" r:id="rId77"/>
    <p:sldId id="464" r:id="rId78"/>
    <p:sldId id="465" r:id="rId79"/>
    <p:sldId id="466" r:id="rId80"/>
    <p:sldId id="467" r:id="rId81"/>
    <p:sldId id="337" r:id="rId82"/>
    <p:sldId id="468" r:id="rId83"/>
    <p:sldId id="469" r:id="rId84"/>
    <p:sldId id="470" r:id="rId85"/>
    <p:sldId id="471" r:id="rId86"/>
    <p:sldId id="472" r:id="rId87"/>
    <p:sldId id="398" r:id="rId88"/>
    <p:sldId id="399" r:id="rId89"/>
    <p:sldId id="462" r:id="rId90"/>
    <p:sldId id="416" r:id="rId91"/>
    <p:sldId id="456" r:id="rId92"/>
    <p:sldId id="457" r:id="rId93"/>
    <p:sldId id="417" r:id="rId94"/>
    <p:sldId id="419" r:id="rId95"/>
    <p:sldId id="458" r:id="rId96"/>
    <p:sldId id="421" r:id="rId97"/>
    <p:sldId id="459" r:id="rId98"/>
    <p:sldId id="347" r:id="rId99"/>
    <p:sldId id="353" r:id="rId100"/>
    <p:sldId id="346" r:id="rId101"/>
    <p:sldId id="348" r:id="rId10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62" autoAdjust="0"/>
    <p:restoredTop sz="94624" autoAdjust="0"/>
  </p:normalViewPr>
  <p:slideViewPr>
    <p:cSldViewPr snapToGrid="0">
      <p:cViewPr varScale="1">
        <p:scale>
          <a:sx n="42" d="100"/>
          <a:sy n="42" d="100"/>
        </p:scale>
        <p:origin x="-120" y="-6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231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2.xml"/><Relationship Id="rId98" Type="http://schemas.openxmlformats.org/officeDocument/2006/relationships/slide" Target="slides/slide91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" Type="http://schemas.openxmlformats.org/officeDocument/2006/relationships/slide" Target="slides/slide3.xml"/><Relationship Id="rId89" Type="http://schemas.openxmlformats.org/officeDocument/2006/relationships/slide" Target="slides/slide82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80" Type="http://schemas.openxmlformats.org/officeDocument/2006/relationships/slide" Target="slides/slide73.xml"/><Relationship Id="rId8" Type="http://schemas.openxmlformats.org/officeDocument/2006/relationships/slide" Target="slides/slide2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7" Type="http://schemas.openxmlformats.org/officeDocument/2006/relationships/slide" Target="slides/slide1.xml"/><Relationship Id="rId69" Type="http://schemas.openxmlformats.org/officeDocument/2006/relationships/slide" Target="slides/slide62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0" Type="http://schemas.openxmlformats.org/officeDocument/2006/relationships/notesMaster" Target="notesMasters/notesMaster1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5" Type="http://schemas.openxmlformats.org/officeDocument/2006/relationships/tableStyles" Target="tableStyles.xml"/><Relationship Id="rId104" Type="http://schemas.openxmlformats.org/officeDocument/2006/relationships/viewProps" Target="viewProps.xml"/><Relationship Id="rId103" Type="http://schemas.openxmlformats.org/officeDocument/2006/relationships/presProps" Target="presProps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2A4CBE-3122-4F65-A767-C7A8D4A70370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4A454-875D-4D70-9915-9CCD36189AB2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34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fr-FR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fld id="{D50DCC56-0AD9-4B27-83BF-5C56A069793D}" type="slidenum">
              <a:rPr lang="fr-FR" smtClean="0">
                <a:cs typeface="Arial" panose="020B0604020202020204" pitchFamily="34" charset="0"/>
              </a:rPr>
            </a:fld>
            <a:endParaRPr lang="fr-FR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4A454-875D-4D70-9915-9CCD36189AB2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4A454-875D-4D70-9915-9CCD36189AB2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4A454-875D-4D70-9915-9CCD36189AB2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4A454-875D-4D70-9915-9CCD36189AB2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4A454-875D-4D70-9915-9CCD36189AB2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4A454-875D-4D70-9915-9CCD36189AB2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4A454-875D-4D70-9915-9CCD36189AB2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4A454-875D-4D70-9915-9CCD36189AB2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4A454-875D-4D70-9915-9CCD36189AB2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4A454-875D-4D70-9915-9CCD36189AB2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4A454-875D-4D70-9915-9CCD36189AB2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4A454-875D-4D70-9915-9CCD36189AB2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ADC5-4870-4E1C-8A6A-259FE84FB38E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46C0-7D06-4569-8A09-CE0A5EA5E753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ADC5-4870-4E1C-8A6A-259FE84FB38E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46C0-7D06-4569-8A09-CE0A5EA5E753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ADC5-4870-4E1C-8A6A-259FE84FB38E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46C0-7D06-4569-8A09-CE0A5EA5E753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ADC5-4870-4E1C-8A6A-259FE84FB38E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46C0-7D06-4569-8A09-CE0A5EA5E753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ADC5-4870-4E1C-8A6A-259FE84FB38E}" type="datetimeFigureOut">
              <a:rPr lang="fr-FR" smtClean="0"/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46C0-7D06-4569-8A09-CE0A5EA5E753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ADC5-4870-4E1C-8A6A-259FE84FB38E}" type="datetimeFigureOut">
              <a:rPr lang="fr-FR" smtClean="0"/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46C0-7D06-4569-8A09-CE0A5EA5E753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ADC5-4870-4E1C-8A6A-259FE84FB38E}" type="datetimeFigureOut">
              <a:rPr lang="fr-FR" smtClean="0"/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46C0-7D06-4569-8A09-CE0A5EA5E753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ADC5-4870-4E1C-8A6A-259FE84FB38E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46C0-7D06-4569-8A09-CE0A5EA5E753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ADC5-4870-4E1C-8A6A-259FE84FB38E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46C0-7D06-4569-8A09-CE0A5EA5E753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ADC5-4870-4E1C-8A6A-259FE84FB38E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46C0-7D06-4569-8A09-CE0A5EA5E753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ADC5-4870-4E1C-8A6A-259FE84FB38E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46C0-7D06-4569-8A09-CE0A5EA5E753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9BADC5-4870-4E1C-8A6A-259FE84FB38E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D46C0-7D06-4569-8A09-CE0A5EA5E753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CAD0F-DF58-45FD-B47C-32AA29A063E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3226D-3DF1-4B4C-8941-5BEFF5D4188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1" Type="http://schemas.openxmlformats.org/officeDocument/2006/relationships/image" Target="../media/image16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1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2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3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3.png"/><Relationship Id="rId1" Type="http://schemas.openxmlformats.org/officeDocument/2006/relationships/image" Target="../media/image24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3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6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7.jpe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image" Target="../media/image28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"/>
            <a:ext cx="2600325" cy="229772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1674" y="3976286"/>
            <a:ext cx="3230326" cy="2881714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133600" y="1898773"/>
            <a:ext cx="8698523" cy="15947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7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j-ea"/>
                <a:cs typeface="+mj-cs"/>
              </a:rPr>
              <a:t>Asthme de l’enfant</a:t>
            </a:r>
            <a:endParaRPr kumimoji="0" lang="fr-FR" sz="7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5884986" y="311394"/>
            <a:ext cx="6017968" cy="521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2800" b="1" dirty="0"/>
              <a:t>Concours de Résidanat </a:t>
            </a:r>
            <a:r>
              <a:rPr lang="fr-FR" sz="2800" b="1" dirty="0" smtClean="0"/>
              <a:t>2025-202</a:t>
            </a:r>
            <a:endParaRPr lang="fr-FR" sz="28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357188" y="6334780"/>
            <a:ext cx="3745889" cy="521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2800" b="1" dirty="0">
                <a:solidFill>
                  <a:schemeClr val="tx1">
                    <a:lumMod val="65000"/>
                  </a:schemeClr>
                </a:solidFill>
              </a:rPr>
              <a:t>Sousse, 10</a:t>
            </a:r>
            <a:r>
              <a:rPr lang="fr-FR" sz="2800" b="1" dirty="0" smtClean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fr-FR" sz="2800" b="1" dirty="0">
                <a:solidFill>
                  <a:schemeClr val="tx1">
                    <a:lumMod val="65000"/>
                  </a:schemeClr>
                </a:solidFill>
              </a:rPr>
              <a:t>Juillet </a:t>
            </a:r>
            <a:r>
              <a:rPr lang="fr-FR" sz="2800" b="1" dirty="0" smtClean="0">
                <a:solidFill>
                  <a:schemeClr val="tx1">
                    <a:lumMod val="65000"/>
                  </a:schemeClr>
                </a:solidFill>
              </a:rPr>
              <a:t>2025</a:t>
            </a:r>
            <a:endParaRPr lang="fr-FR" sz="28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2376854" y="3890229"/>
            <a:ext cx="7429500" cy="1713401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8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Pr. BOUGUILA </a:t>
            </a:r>
            <a:r>
              <a:rPr kumimoji="0" lang="fr-FR" sz="86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Jihene</a:t>
            </a:r>
            <a:endParaRPr kumimoji="0" lang="fr-FR" sz="8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8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 ABDELBARI </a:t>
            </a:r>
            <a:r>
              <a:rPr kumimoji="0" lang="fr-FR" sz="86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Marwa</a:t>
            </a:r>
            <a:endParaRPr kumimoji="0" lang="fr-FR" sz="8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fr-FR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6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Service Pédiatrie CHU </a:t>
            </a:r>
            <a:r>
              <a:rPr kumimoji="0" lang="fr-FR" sz="6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Farhat</a:t>
            </a:r>
            <a:r>
              <a:rPr kumimoji="0" lang="fr-FR" sz="6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6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Hached</a:t>
            </a:r>
            <a:r>
              <a:rPr kumimoji="0" lang="fr-FR" sz="6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Sousse</a:t>
            </a:r>
            <a:endParaRPr kumimoji="0" lang="fr-FR" sz="6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6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Faculté de Médecine de Sousse</a:t>
            </a:r>
            <a:endParaRPr kumimoji="0" lang="fr-FR" sz="6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8780" y="308610"/>
            <a:ext cx="10515600" cy="6781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+mn-lt"/>
              </a:rPr>
              <a:t>Question n°1: </a:t>
            </a:r>
            <a:endParaRPr lang="fr-FR" b="1" dirty="0"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75138" y="1266066"/>
            <a:ext cx="10856968" cy="50409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 smtClean="0"/>
          </a:p>
          <a:p>
            <a:pPr>
              <a:buNone/>
            </a:pPr>
            <a:r>
              <a:rPr lang="en-US" altLang="fr-FR" dirty="0"/>
              <a:t> </a:t>
            </a:r>
            <a:r>
              <a:rPr lang="en-US" altLang="fr-FR" b="1" dirty="0"/>
              <a:t>L’asthme chez le nourrisson se d</a:t>
            </a:r>
            <a:r>
              <a:rPr lang="en-US" altLang="en-US" b="1" dirty="0"/>
              <a:t>é</a:t>
            </a:r>
            <a:r>
              <a:rPr lang="en-US" altLang="fr-FR" b="1" dirty="0"/>
              <a:t>finit par</a:t>
            </a:r>
            <a:r>
              <a:rPr lang="" altLang="en-US" b="1" dirty="0"/>
              <a:t> </a:t>
            </a:r>
            <a:r>
              <a:rPr lang="en-US" altLang="fr-FR" b="1" dirty="0"/>
              <a:t>: </a:t>
            </a:r>
            <a:endParaRPr lang="en-US" altLang="fr-FR" dirty="0"/>
          </a:p>
          <a:p>
            <a:pPr>
              <a:buNone/>
            </a:pPr>
            <a:endParaRPr lang="en-US" altLang="fr-FR" dirty="0"/>
          </a:p>
          <a:p>
            <a:pPr>
              <a:buNone/>
            </a:pPr>
            <a:r>
              <a:rPr lang="en-US" altLang="fr-FR" dirty="0"/>
              <a:t>A)Une dyspn</a:t>
            </a:r>
            <a:r>
              <a:rPr lang="en-US" altLang="en-US" dirty="0"/>
              <a:t>é</a:t>
            </a:r>
            <a:r>
              <a:rPr lang="en-US" altLang="fr-FR" dirty="0"/>
              <a:t>e sifflante avec une distension a la radiographie de thorax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B)Une dyspn</a:t>
            </a:r>
            <a:r>
              <a:rPr lang="en-US" altLang="en-US" dirty="0"/>
              <a:t>é</a:t>
            </a:r>
            <a:r>
              <a:rPr lang="en-US" altLang="fr-FR" dirty="0"/>
              <a:t>e sifflante continue depuis la naissance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C)Toux persistante apr</a:t>
            </a:r>
            <a:r>
              <a:rPr lang="" altLang="en-US" dirty="0"/>
              <a:t>è</a:t>
            </a:r>
            <a:r>
              <a:rPr lang="en-US" altLang="fr-FR" dirty="0"/>
              <a:t>s une virose 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D)Une toux induite par l’effort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E)Le caract</a:t>
            </a:r>
            <a:r>
              <a:rPr lang="" altLang="en-US" dirty="0"/>
              <a:t>è</a:t>
            </a:r>
            <a:r>
              <a:rPr lang="en-US" altLang="fr-FR" dirty="0"/>
              <a:t>re constant du sifflement</a:t>
            </a:r>
            <a:endParaRPr lang="en-US" alt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8584" y="308785"/>
            <a:ext cx="10515600" cy="1325563"/>
          </a:xfrm>
        </p:spPr>
        <p:txBody>
          <a:bodyPr>
            <a:normAutofit/>
          </a:bodyPr>
          <a:lstStyle/>
          <a:p>
            <a:r>
              <a:rPr lang="fr-FR" b="1" dirty="0" smtClean="0">
                <a:latin typeface="+mn-lt"/>
              </a:rPr>
              <a:t>Question n°1: </a:t>
            </a:r>
            <a:endParaRPr lang="fr-FR" b="1" dirty="0"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75138" y="1266066"/>
            <a:ext cx="10856968" cy="50409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 smtClean="0"/>
          </a:p>
          <a:p>
            <a:pPr>
              <a:buNone/>
            </a:pPr>
            <a:r>
              <a:rPr lang="en-US" altLang="fr-FR" b="1" dirty="0"/>
              <a:t> L’asthme chez le nourrisson se d</a:t>
            </a:r>
            <a:r>
              <a:rPr lang="en-US" altLang="en-US" b="1" dirty="0"/>
              <a:t>é</a:t>
            </a:r>
            <a:r>
              <a:rPr lang="en-US" altLang="fr-FR" b="1" dirty="0"/>
              <a:t>finit par</a:t>
            </a:r>
            <a:r>
              <a:rPr lang="" altLang="en-US" b="1" dirty="0"/>
              <a:t> </a:t>
            </a:r>
            <a:r>
              <a:rPr lang="en-US" altLang="fr-FR" b="1" dirty="0"/>
              <a:t>: </a:t>
            </a:r>
            <a:endParaRPr lang="en-US" altLang="fr-FR" b="1" dirty="0"/>
          </a:p>
          <a:p>
            <a:pPr>
              <a:buNone/>
            </a:pPr>
            <a:endParaRPr lang="en-US" altLang="fr-FR" dirty="0"/>
          </a:p>
          <a:p>
            <a:pPr>
              <a:buNone/>
            </a:pPr>
            <a:r>
              <a:rPr lang="en-US" altLang="fr-FR" dirty="0"/>
              <a:t>A)Une dyspn</a:t>
            </a:r>
            <a:r>
              <a:rPr lang="en-US" altLang="en-US" dirty="0"/>
              <a:t>é</a:t>
            </a:r>
            <a:r>
              <a:rPr lang="en-US" altLang="fr-FR" dirty="0"/>
              <a:t>e sifflante avec une distension a la radiographie de thorax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B)Une dyspn</a:t>
            </a:r>
            <a:r>
              <a:rPr lang="en-US" altLang="en-US" dirty="0"/>
              <a:t>é</a:t>
            </a:r>
            <a:r>
              <a:rPr lang="en-US" altLang="fr-FR" dirty="0"/>
              <a:t>e sifflante continue depuis la naissance</a:t>
            </a:r>
            <a:endParaRPr lang="en-US" altLang="fr-FR" dirty="0"/>
          </a:p>
          <a:p>
            <a:pPr>
              <a:buNone/>
            </a:pPr>
            <a:r>
              <a:rPr lang="en-US" altLang="fr-FR" b="1" dirty="0"/>
              <a:t>C)Toux persistante apr</a:t>
            </a:r>
            <a:r>
              <a:rPr lang="" altLang="en-US" b="1" dirty="0"/>
              <a:t>è</a:t>
            </a:r>
            <a:r>
              <a:rPr lang="en-US" altLang="fr-FR" b="1" dirty="0"/>
              <a:t>s une virose </a:t>
            </a:r>
            <a:endParaRPr lang="en-US" altLang="fr-FR" b="1" dirty="0"/>
          </a:p>
          <a:p>
            <a:pPr>
              <a:buNone/>
            </a:pPr>
            <a:r>
              <a:rPr lang="en-US" altLang="fr-FR" b="1" dirty="0"/>
              <a:t>D)Une toux induite par l’effort</a:t>
            </a:r>
            <a:endParaRPr lang="en-US" altLang="fr-FR" b="1" dirty="0"/>
          </a:p>
          <a:p>
            <a:pPr>
              <a:buNone/>
            </a:pPr>
            <a:r>
              <a:rPr lang="en-US" altLang="fr-FR" dirty="0"/>
              <a:t>E)Le caract</a:t>
            </a:r>
            <a:r>
              <a:rPr lang="" altLang="en-US" dirty="0"/>
              <a:t>è</a:t>
            </a:r>
            <a:r>
              <a:rPr lang="en-US" altLang="fr-FR" dirty="0"/>
              <a:t>re constant du sifflement</a:t>
            </a:r>
            <a:endParaRPr lang="en-US" alt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4675" y="1745615"/>
            <a:ext cx="10515600" cy="4301490"/>
          </a:xfrm>
        </p:spPr>
        <p:txBody>
          <a:bodyPr>
            <a:normAutofit/>
          </a:bodyPr>
          <a:lstStyle/>
          <a:p>
            <a:r>
              <a:rPr lang="fr-FR" dirty="0"/>
              <a:t>T</a:t>
            </a:r>
            <a:r>
              <a:rPr lang="fr-FR" dirty="0" smtClean="0"/>
              <a:t>out épisode dyspnéique avec râles sibilants, qui s’est produit au moins </a:t>
            </a:r>
            <a:r>
              <a:rPr lang="fr-FR" dirty="0" smtClean="0">
                <a:solidFill>
                  <a:srgbClr val="FF0000"/>
                </a:solidFill>
              </a:rPr>
              <a:t>trois fois </a:t>
            </a:r>
            <a:r>
              <a:rPr lang="fr-FR" dirty="0" smtClean="0"/>
              <a:t>depuis la naissance, et cela quelques soient l'âge de début, la cause </a:t>
            </a:r>
            <a:r>
              <a:rPr lang="fr-FR" dirty="0" err="1" smtClean="0"/>
              <a:t>déclenchante</a:t>
            </a:r>
            <a:r>
              <a:rPr lang="fr-FR" dirty="0" smtClean="0"/>
              <a:t>, </a:t>
            </a:r>
            <a:r>
              <a:rPr lang="fr-FR" dirty="0" smtClean="0">
                <a:solidFill>
                  <a:srgbClr val="FF0000"/>
                </a:solidFill>
              </a:rPr>
              <a:t>l'existence ou non d'une </a:t>
            </a:r>
            <a:r>
              <a:rPr lang="fr-FR" dirty="0" err="1" smtClean="0">
                <a:solidFill>
                  <a:srgbClr val="FF0000"/>
                </a:solidFill>
              </a:rPr>
              <a:t>atopie</a:t>
            </a:r>
            <a:r>
              <a:rPr lang="fr-FR" dirty="0" smtClean="0">
                <a:solidFill>
                  <a:srgbClr val="FF0000"/>
                </a:solidFill>
              </a:rPr>
              <a:t>.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 smtClean="0"/>
              <a:t>Ces épisodes de sifflements sont </a:t>
            </a:r>
            <a:r>
              <a:rPr lang="fr-FR" dirty="0" smtClean="0">
                <a:solidFill>
                  <a:srgbClr val="FF0000"/>
                </a:solidFill>
              </a:rPr>
              <a:t>discontinus</a:t>
            </a:r>
            <a:r>
              <a:rPr lang="fr-FR" dirty="0" smtClean="0"/>
              <a:t>, avec des périodes pendant lesquelles l’enfant est </a:t>
            </a:r>
            <a:r>
              <a:rPr lang="fr-FR" u="sng" dirty="0" smtClean="0"/>
              <a:t>asymptomatique.</a:t>
            </a:r>
            <a:endParaRPr lang="fr-FR" u="sng" dirty="0" smtClean="0"/>
          </a:p>
          <a:p>
            <a:pPr marL="0" indent="0">
              <a:buNone/>
            </a:pPr>
            <a:endParaRPr lang="fr-FR" dirty="0" smtClean="0"/>
          </a:p>
          <a:p>
            <a:r>
              <a:rPr lang="fr-FR" dirty="0" smtClean="0"/>
              <a:t>D’autres tableaux cliniques doivent faire évoquer un asthme : </a:t>
            </a:r>
            <a:r>
              <a:rPr lang="fr-FR" dirty="0" smtClean="0">
                <a:solidFill>
                  <a:srgbClr val="FF0000"/>
                </a:solidFill>
              </a:rPr>
              <a:t>toux induite par l’exercice,</a:t>
            </a:r>
            <a:r>
              <a:rPr lang="fr-FR" dirty="0" smtClean="0"/>
              <a:t> toux nocturne, toux chronique ou récidivante, toux persistant après une bronchiolite, sifflements persistants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108" y="5441774"/>
            <a:ext cx="3094892" cy="1416226"/>
          </a:xfrm>
          <a:prstGeom prst="rect">
            <a:avLst/>
          </a:prstGeom>
        </p:spPr>
      </p:pic>
      <p:sp>
        <p:nvSpPr>
          <p:cNvPr id="5" name="Rectangle à coins arrondi 4"/>
          <p:cNvSpPr/>
          <p:nvPr/>
        </p:nvSpPr>
        <p:spPr>
          <a:xfrm>
            <a:off x="3859530" y="282575"/>
            <a:ext cx="4472940" cy="6261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 sz="4000" b="1">
                <a:solidFill>
                  <a:srgbClr val="7030A0"/>
                </a:solidFill>
              </a:rPr>
              <a:t>Définition</a:t>
            </a:r>
            <a:r>
              <a:rPr lang="fr-FR" altLang="en-US" sz="4000" b="1">
                <a:solidFill>
                  <a:srgbClr val="FFC000"/>
                </a:solidFill>
              </a:rPr>
              <a:t> </a:t>
            </a:r>
            <a:endParaRPr lang="fr-FR" altLang="en-US" sz="4000" b="1">
              <a:solidFill>
                <a:srgbClr val="FFC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60138" y="1099332"/>
            <a:ext cx="3126240" cy="646331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fr-FR" sz="3600" b="1" dirty="0" smtClean="0"/>
              <a:t>Age préscolaire</a:t>
            </a:r>
            <a:endParaRPr lang="fr-FR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5310505" cy="772795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>
              <a:defRPr/>
            </a:pPr>
            <a:r>
              <a:rPr lang="fr-FR" b="1" dirty="0" smtClean="0"/>
              <a:t>Asthme du nourrisson</a:t>
            </a:r>
            <a:endParaRPr lang="fr-FR" b="1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12985"/>
            <a:ext cx="10972800" cy="5545015"/>
          </a:xfrm>
        </p:spPr>
        <p:txBody>
          <a:bodyPr>
            <a:normAutofit/>
          </a:bodyPr>
          <a:lstStyle/>
          <a:p>
            <a:pPr marL="0" indent="0" algn="just">
              <a:buNone/>
              <a:defRPr/>
            </a:pPr>
            <a:r>
              <a:rPr lang="en-US" altLang="fr-FR" sz="3300" dirty="0" smtClean="0"/>
              <a:t>Les ph</a:t>
            </a:r>
            <a:r>
              <a:rPr lang="en-US" altLang="en-US" sz="3300" dirty="0" smtClean="0"/>
              <a:t>é</a:t>
            </a:r>
            <a:r>
              <a:rPr lang="en-US" altLang="fr-FR" sz="3300" dirty="0" smtClean="0"/>
              <a:t>notypes cliniques les plus facilement identifiables et relativement stables dans le temps sont : </a:t>
            </a:r>
            <a:endParaRPr lang="en-US" altLang="fr-FR" sz="3300" dirty="0" smtClean="0"/>
          </a:p>
          <a:p>
            <a:pPr algn="just">
              <a:defRPr/>
            </a:pPr>
            <a:r>
              <a:rPr lang="en-US" altLang="fr-FR" sz="3300" dirty="0" smtClean="0"/>
              <a:t>l’asthme l</a:t>
            </a:r>
            <a:r>
              <a:rPr lang="en-US" altLang="en-US" sz="3300" dirty="0" smtClean="0"/>
              <a:t>é</a:t>
            </a:r>
            <a:r>
              <a:rPr lang="en-US" altLang="fr-FR" sz="3300" dirty="0" smtClean="0"/>
              <a:t>ger allergique à d</a:t>
            </a:r>
            <a:r>
              <a:rPr lang="en-US" altLang="en-US" sz="3300" dirty="0" smtClean="0"/>
              <a:t>é</a:t>
            </a:r>
            <a:r>
              <a:rPr lang="en-US" altLang="fr-FR" sz="3300" dirty="0" smtClean="0"/>
              <a:t>but pr</a:t>
            </a:r>
            <a:r>
              <a:rPr lang="en-US" altLang="en-US" sz="3300" dirty="0" smtClean="0"/>
              <a:t>é</a:t>
            </a:r>
            <a:r>
              <a:rPr lang="en-US" altLang="fr-FR" sz="3300" dirty="0" smtClean="0"/>
              <a:t>coce</a:t>
            </a:r>
            <a:endParaRPr lang="en-US" altLang="fr-FR" sz="3300" dirty="0" smtClean="0"/>
          </a:p>
          <a:p>
            <a:pPr algn="just">
              <a:defRPr/>
            </a:pPr>
            <a:r>
              <a:rPr lang="en-US" altLang="fr-FR" sz="3300" dirty="0" smtClean="0"/>
              <a:t> l’asthme allergique mod</a:t>
            </a:r>
            <a:r>
              <a:rPr lang="en-US" altLang="en-US" sz="3300" dirty="0" smtClean="0"/>
              <a:t>é</a:t>
            </a:r>
            <a:r>
              <a:rPr lang="en-US" altLang="fr-FR" sz="3300" dirty="0" smtClean="0"/>
              <a:t>r</a:t>
            </a:r>
            <a:r>
              <a:rPr lang="en-US" altLang="en-US" sz="3300" dirty="0" smtClean="0"/>
              <a:t>é</a:t>
            </a:r>
            <a:r>
              <a:rPr lang="en-US" altLang="fr-FR" sz="3300" dirty="0" smtClean="0"/>
              <a:t> à s</a:t>
            </a:r>
            <a:r>
              <a:rPr lang="en-US" altLang="en-US" sz="3300" dirty="0" smtClean="0"/>
              <a:t>é</a:t>
            </a:r>
            <a:r>
              <a:rPr lang="en-US" altLang="fr-FR" sz="3300" dirty="0" smtClean="0"/>
              <a:t>v</a:t>
            </a:r>
            <a:r>
              <a:rPr lang="" altLang="en-US" sz="3300" dirty="0" smtClean="0"/>
              <a:t>è</a:t>
            </a:r>
            <a:r>
              <a:rPr lang="en-US" altLang="fr-FR" sz="3300" dirty="0" smtClean="0"/>
              <a:t>re à d</a:t>
            </a:r>
            <a:r>
              <a:rPr lang="en-US" altLang="en-US" sz="3300" dirty="0" smtClean="0"/>
              <a:t>é</a:t>
            </a:r>
            <a:r>
              <a:rPr lang="en-US" altLang="fr-FR" sz="3300" dirty="0" smtClean="0"/>
              <a:t>but pr</a:t>
            </a:r>
            <a:r>
              <a:rPr lang="en-US" altLang="en-US" sz="3300" dirty="0" smtClean="0"/>
              <a:t>é</a:t>
            </a:r>
            <a:r>
              <a:rPr lang="en-US" altLang="fr-FR" sz="3300" dirty="0" smtClean="0"/>
              <a:t>coce avec remodelage</a:t>
            </a:r>
            <a:endParaRPr lang="en-US" altLang="fr-FR" sz="3300" dirty="0" smtClean="0"/>
          </a:p>
          <a:p>
            <a:pPr algn="just">
              <a:defRPr/>
            </a:pPr>
            <a:r>
              <a:rPr lang="en-US" altLang="fr-FR" sz="3300" dirty="0" smtClean="0"/>
              <a:t> l’asthme </a:t>
            </a:r>
            <a:r>
              <a:rPr lang="en-US" altLang="en-US" sz="3300" dirty="0" smtClean="0"/>
              <a:t>é</a:t>
            </a:r>
            <a:r>
              <a:rPr lang="en-US" altLang="fr-FR" sz="3300" dirty="0" smtClean="0"/>
              <a:t>osinophilique non allergique à d</a:t>
            </a:r>
            <a:r>
              <a:rPr lang="en-US" altLang="en-US" sz="3300" dirty="0" smtClean="0"/>
              <a:t>é</a:t>
            </a:r>
            <a:r>
              <a:rPr lang="en-US" altLang="fr-FR" sz="3300" dirty="0" smtClean="0"/>
              <a:t>but tardif</a:t>
            </a:r>
            <a:endParaRPr lang="en-US" altLang="fr-FR" sz="3300" dirty="0" smtClean="0"/>
          </a:p>
          <a:p>
            <a:pPr algn="just">
              <a:defRPr/>
            </a:pPr>
            <a:r>
              <a:rPr lang="en-US" altLang="fr-FR" sz="3300" dirty="0" smtClean="0"/>
              <a:t> l’asthme tardif non </a:t>
            </a:r>
            <a:r>
              <a:rPr lang="en-US" altLang="en-US" sz="3300" dirty="0" smtClean="0"/>
              <a:t>é</a:t>
            </a:r>
            <a:r>
              <a:rPr lang="en-US" altLang="fr-FR" sz="3300" dirty="0" smtClean="0"/>
              <a:t>osinophilique non allergique</a:t>
            </a:r>
            <a:endParaRPr lang="en-US" altLang="fr-FR" sz="3300" dirty="0" smtClean="0"/>
          </a:p>
          <a:p>
            <a:pPr lvl="2">
              <a:buFont typeface="Arial" panose="020B0604020202020204" pitchFamily="34" charset="0"/>
              <a:buNone/>
              <a:defRPr/>
            </a:pPr>
            <a:endParaRPr lang="fr-FR" b="1" dirty="0" smtClean="0"/>
          </a:p>
          <a:p>
            <a:pPr>
              <a:defRPr/>
            </a:pPr>
            <a:endParaRPr lang="fr-FR" dirty="0"/>
          </a:p>
        </p:txBody>
      </p:sp>
      <p:sp>
        <p:nvSpPr>
          <p:cNvPr id="7172" name="ZoneTexte 3"/>
          <p:cNvSpPr txBox="1">
            <a:spLocks noChangeArrowheads="1"/>
          </p:cNvSpPr>
          <p:nvPr/>
        </p:nvSpPr>
        <p:spPr bwMode="auto">
          <a:xfrm>
            <a:off x="8585200" y="6364818"/>
            <a:ext cx="2766521" cy="400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121917" tIns="60958" rIns="121917" bIns="60958">
            <a:spAutoFit/>
          </a:bodyPr>
          <a:lstStyle/>
          <a:p>
            <a:r>
              <a:rPr lang="fr-FR"/>
              <a:t>J.Just . Rev Fr Allergol 2013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Question n°2: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fr-FR" sz="2800" b="1" dirty="0"/>
              <a:t>Concernant les caract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ristiques de l’asthme chez l’enfant, quelles affirmations sont justes?</a:t>
            </a:r>
            <a:r>
              <a:rPr lang="" altLang="en-US" sz="2800" b="1" dirty="0"/>
              <a:t> </a:t>
            </a:r>
            <a:r>
              <a:rPr lang="en-US" altLang="fr-FR" sz="2800" b="1" dirty="0"/>
              <a:t>: </a:t>
            </a:r>
            <a:endParaRPr lang="en-US" altLang="fr-FR" sz="2800" b="1" dirty="0"/>
          </a:p>
          <a:p>
            <a:pPr>
              <a:buNone/>
            </a:pPr>
            <a:endParaRPr lang="en-US" altLang="fr-FR" sz="2800" b="1" dirty="0"/>
          </a:p>
          <a:p>
            <a:pPr>
              <a:buNone/>
            </a:pPr>
            <a:r>
              <a:rPr lang="en-US" altLang="fr-FR" sz="2800" dirty="0"/>
              <a:t>A)Une variabilit</a:t>
            </a:r>
            <a:r>
              <a:rPr lang="en-US" altLang="en-US" sz="2800" dirty="0"/>
              <a:t>é</a:t>
            </a:r>
            <a:r>
              <a:rPr lang="en-US" altLang="fr-FR" sz="2800" dirty="0"/>
              <a:t> en intensit</a:t>
            </a:r>
            <a:r>
              <a:rPr lang="en-US" altLang="en-US" sz="2800" dirty="0"/>
              <a:t>é</a:t>
            </a:r>
            <a:r>
              <a:rPr lang="en-US" altLang="fr-FR" sz="2800" dirty="0"/>
              <a:t> des symptomes respiratoires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B)Le diagnostic n’est confirm</a:t>
            </a:r>
            <a:r>
              <a:rPr lang="en-US" altLang="en-US" sz="2800" dirty="0"/>
              <a:t>é</a:t>
            </a:r>
            <a:r>
              <a:rPr lang="en-US" altLang="fr-FR" sz="2800" dirty="0"/>
              <a:t>e qu’apr</a:t>
            </a:r>
            <a:r>
              <a:rPr lang="" altLang="en-US" sz="2800" dirty="0"/>
              <a:t>è</a:t>
            </a:r>
            <a:r>
              <a:rPr lang="en-US" altLang="fr-FR" sz="2800" dirty="0"/>
              <a:t>s une EFR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C)L’absence d’hypersensibilit</a:t>
            </a:r>
            <a:r>
              <a:rPr lang="en-US" altLang="en-US" sz="2800" dirty="0"/>
              <a:t>é</a:t>
            </a:r>
            <a:r>
              <a:rPr lang="en-US" altLang="fr-FR" sz="2800" dirty="0"/>
              <a:t> exclut le diagnostic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D)Il existe une limitation variable des d</a:t>
            </a:r>
            <a:r>
              <a:rPr lang="en-US" altLang="en-US" sz="2800" dirty="0"/>
              <a:t>é</a:t>
            </a:r>
            <a:r>
              <a:rPr lang="en-US" altLang="fr-FR" sz="2800" dirty="0"/>
              <a:t>bits expiratoires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E)Une exacerbation peut inaugurer la maladie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Question n°2: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fr-FR" sz="2800" b="1" dirty="0"/>
              <a:t>Concernant les caract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ristiques de l’asthme chez l’enfant, quelles affirmations sont justes?</a:t>
            </a:r>
            <a:r>
              <a:rPr lang="" altLang="en-US" sz="2800" b="1" dirty="0"/>
              <a:t> </a:t>
            </a:r>
            <a:r>
              <a:rPr lang="en-US" altLang="fr-FR" sz="2800" b="1" dirty="0"/>
              <a:t>: </a:t>
            </a:r>
            <a:endParaRPr lang="en-US" altLang="fr-FR" sz="2800" b="1" dirty="0"/>
          </a:p>
          <a:p>
            <a:pPr>
              <a:buNone/>
            </a:pPr>
            <a:endParaRPr lang="en-US" altLang="fr-FR" sz="2800" b="1" dirty="0"/>
          </a:p>
          <a:p>
            <a:pPr>
              <a:buNone/>
            </a:pPr>
            <a:r>
              <a:rPr lang="en-US" altLang="fr-FR" sz="2800" b="1" dirty="0"/>
              <a:t>A)Une variabilit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 en intensit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 des symptomes respiratoires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dirty="0"/>
              <a:t>B)Le diagnostic n’est confirm</a:t>
            </a:r>
            <a:r>
              <a:rPr lang="en-US" altLang="en-US" sz="2800" dirty="0"/>
              <a:t>é</a:t>
            </a:r>
            <a:r>
              <a:rPr lang="en-US" altLang="fr-FR" sz="2800" dirty="0"/>
              <a:t>e qu’apr</a:t>
            </a:r>
            <a:r>
              <a:rPr lang="" altLang="en-US" sz="2800" dirty="0"/>
              <a:t>è</a:t>
            </a:r>
            <a:r>
              <a:rPr lang="en-US" altLang="fr-FR" sz="2800" dirty="0"/>
              <a:t>s une EFR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C)L’absence d’hypersensibilit</a:t>
            </a:r>
            <a:r>
              <a:rPr lang="en-US" altLang="en-US" sz="2800" dirty="0"/>
              <a:t>é</a:t>
            </a:r>
            <a:r>
              <a:rPr lang="en-US" altLang="fr-FR" sz="2800" dirty="0"/>
              <a:t> exclut le diagnostic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b="1" dirty="0"/>
              <a:t>D)Il existe une limitation variable des d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bits expiratoires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b="1" dirty="0"/>
              <a:t>E)Une exacerbation peut inaugurer la maladie</a:t>
            </a:r>
            <a:endParaRPr lang="en-US" altLang="fr-FR" sz="28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28320" y="1760855"/>
            <a:ext cx="10515600" cy="5097145"/>
          </a:xfrm>
        </p:spPr>
        <p:txBody>
          <a:bodyPr>
            <a:normAutofit fontScale="90000"/>
          </a:bodyPr>
          <a:p>
            <a:pPr>
              <a:lnSpc>
                <a:spcPct val="200000"/>
              </a:lnSpc>
            </a:pPr>
            <a:r>
              <a:rPr lang="en-US" altLang="fr-FR"/>
              <a:t>Maladie </a:t>
            </a:r>
            <a:r>
              <a:rPr lang="en-US" altLang="fr-FR" b="1">
                <a:solidFill>
                  <a:srgbClr val="FF0000"/>
                </a:solidFill>
              </a:rPr>
              <a:t>h</a:t>
            </a:r>
            <a:r>
              <a:rPr lang="en-US" altLang="en-US" b="1">
                <a:solidFill>
                  <a:srgbClr val="FF0000"/>
                </a:solidFill>
              </a:rPr>
              <a:t>é</a:t>
            </a:r>
            <a:r>
              <a:rPr lang="en-US" altLang="fr-FR" b="1">
                <a:solidFill>
                  <a:srgbClr val="FF0000"/>
                </a:solidFill>
              </a:rPr>
              <a:t>t</a:t>
            </a:r>
            <a:r>
              <a:rPr lang="en-US" altLang="en-US" b="1">
                <a:solidFill>
                  <a:srgbClr val="FF0000"/>
                </a:solidFill>
              </a:rPr>
              <a:t>é</a:t>
            </a:r>
            <a:r>
              <a:rPr lang="en-US" altLang="fr-FR" b="1">
                <a:solidFill>
                  <a:srgbClr val="FF0000"/>
                </a:solidFill>
              </a:rPr>
              <a:t>rog</a:t>
            </a:r>
            <a:r>
              <a:rPr lang="" altLang="en-US" b="1">
                <a:solidFill>
                  <a:srgbClr val="FF0000"/>
                </a:solidFill>
              </a:rPr>
              <a:t>è</a:t>
            </a:r>
            <a:r>
              <a:rPr lang="en-US" altLang="fr-FR" b="1">
                <a:solidFill>
                  <a:srgbClr val="FF0000"/>
                </a:solidFill>
              </a:rPr>
              <a:t>ne</a:t>
            </a:r>
            <a:r>
              <a:rPr lang="en-US" altLang="fr-FR"/>
              <a:t>, habituellement caract</a:t>
            </a:r>
            <a:r>
              <a:rPr lang="en-US" altLang="en-US"/>
              <a:t>é</a:t>
            </a:r>
            <a:r>
              <a:rPr lang="en-US" altLang="fr-FR"/>
              <a:t>ris</a:t>
            </a:r>
            <a:r>
              <a:rPr lang="en-US" altLang="en-US"/>
              <a:t>é</a:t>
            </a:r>
            <a:r>
              <a:rPr lang="en-US" altLang="fr-FR"/>
              <a:t>e par une </a:t>
            </a:r>
            <a:r>
              <a:rPr lang="en-US" altLang="fr-FR" b="1">
                <a:solidFill>
                  <a:srgbClr val="FF0000"/>
                </a:solidFill>
              </a:rPr>
              <a:t>inflammation chronique </a:t>
            </a:r>
            <a:r>
              <a:rPr lang="en-US" altLang="fr-FR"/>
              <a:t>des voies </a:t>
            </a:r>
            <a:r>
              <a:rPr lang="fr-FR" altLang="en-US"/>
              <a:t> </a:t>
            </a:r>
            <a:r>
              <a:rPr lang="en-US" altLang="fr-FR"/>
              <a:t>a</a:t>
            </a:r>
            <a:r>
              <a:rPr lang="en-US" altLang="en-US"/>
              <a:t>é</a:t>
            </a:r>
            <a:r>
              <a:rPr lang="en-US" altLang="fr-FR"/>
              <a:t>riennes. </a:t>
            </a:r>
            <a:endParaRPr lang="en-US" altLang="fr-FR"/>
          </a:p>
          <a:p>
            <a:pPr>
              <a:lnSpc>
                <a:spcPct val="200000"/>
              </a:lnSpc>
            </a:pPr>
            <a:r>
              <a:rPr lang="en-US" altLang="fr-FR"/>
              <a:t>L’asthme est d</a:t>
            </a:r>
            <a:r>
              <a:rPr lang="en-US" altLang="en-US"/>
              <a:t>é</a:t>
            </a:r>
            <a:r>
              <a:rPr lang="en-US" altLang="fr-FR"/>
              <a:t>fini par une histoire de symptômes respiratoires tels que sifflements, </a:t>
            </a:r>
            <a:r>
              <a:rPr lang="fr-FR" altLang="en-US"/>
              <a:t> </a:t>
            </a:r>
            <a:r>
              <a:rPr lang="en-US" altLang="fr-FR"/>
              <a:t>essoufflement, oppression thoracique et toux qui </a:t>
            </a:r>
            <a:r>
              <a:rPr lang="en-US" altLang="fr-FR" b="1">
                <a:solidFill>
                  <a:srgbClr val="FF0000"/>
                </a:solidFill>
              </a:rPr>
              <a:t>varient dans le temps et en intensit</a:t>
            </a:r>
            <a:r>
              <a:rPr lang="en-US" altLang="en-US" b="1">
                <a:solidFill>
                  <a:srgbClr val="FF0000"/>
                </a:solidFill>
              </a:rPr>
              <a:t>é</a:t>
            </a:r>
            <a:r>
              <a:rPr lang="en-US" altLang="fr-FR"/>
              <a:t> et qui sont associ</a:t>
            </a:r>
            <a:r>
              <a:rPr lang="en-US" altLang="en-US"/>
              <a:t>é</a:t>
            </a:r>
            <a:r>
              <a:rPr lang="en-US" altLang="fr-FR"/>
              <a:t>s à une </a:t>
            </a:r>
            <a:r>
              <a:rPr lang="en-US" altLang="fr-FR" b="1">
                <a:solidFill>
                  <a:srgbClr val="FF0000"/>
                </a:solidFill>
              </a:rPr>
              <a:t>limitation variable des d</a:t>
            </a:r>
            <a:r>
              <a:rPr lang="en-US" altLang="en-US" b="1">
                <a:solidFill>
                  <a:srgbClr val="FF0000"/>
                </a:solidFill>
              </a:rPr>
              <a:t>é</a:t>
            </a:r>
            <a:r>
              <a:rPr lang="en-US" altLang="fr-FR" b="1">
                <a:solidFill>
                  <a:srgbClr val="FF0000"/>
                </a:solidFill>
              </a:rPr>
              <a:t>bits expiratoires.</a:t>
            </a:r>
            <a:endParaRPr lang="en-US" altLang="fr-FR" b="1">
              <a:solidFill>
                <a:srgbClr val="FF0000"/>
              </a:solidFill>
            </a:endParaRPr>
          </a:p>
        </p:txBody>
      </p:sp>
      <p:sp>
        <p:nvSpPr>
          <p:cNvPr id="5" name="Rectangle à coins arrondi 4"/>
          <p:cNvSpPr/>
          <p:nvPr/>
        </p:nvSpPr>
        <p:spPr>
          <a:xfrm>
            <a:off x="3859530" y="282575"/>
            <a:ext cx="4472940" cy="6261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 sz="4000" b="1">
                <a:solidFill>
                  <a:srgbClr val="7030A0"/>
                </a:solidFill>
              </a:rPr>
              <a:t>Définition</a:t>
            </a:r>
            <a:r>
              <a:rPr lang="fr-FR" altLang="en-US" sz="4000" b="1">
                <a:solidFill>
                  <a:srgbClr val="FFC000"/>
                </a:solidFill>
              </a:rPr>
              <a:t> </a:t>
            </a:r>
            <a:endParaRPr lang="fr-FR" altLang="en-US" sz="4000" b="1">
              <a:solidFill>
                <a:srgbClr val="FFC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8288" y="908832"/>
            <a:ext cx="2680335" cy="645160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none">
            <a:spAutoFit/>
          </a:bodyPr>
          <a:p>
            <a:r>
              <a:rPr lang="fr-FR" sz="3600" b="1" dirty="0" smtClean="0"/>
              <a:t>Grand enfant</a:t>
            </a:r>
            <a:endParaRPr lang="fr-FR" sz="3600" b="1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443" y="137619"/>
            <a:ext cx="3094892" cy="14162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Espace réservé du contenu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7850" y="1187450"/>
            <a:ext cx="11036300" cy="357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Age à partir de 6ans</a:t>
            </a:r>
            <a:endParaRPr lang="fr-FR" smtClean="0"/>
          </a:p>
        </p:txBody>
      </p:sp>
      <p:pic>
        <p:nvPicPr>
          <p:cNvPr id="15363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1524000"/>
            <a:ext cx="12236451" cy="238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Connecteur droit 6"/>
          <p:cNvCxnSpPr/>
          <p:nvPr/>
        </p:nvCxnSpPr>
        <p:spPr>
          <a:xfrm>
            <a:off x="6286501" y="2476500"/>
            <a:ext cx="2476500" cy="21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7810501" y="2857500"/>
            <a:ext cx="952500" cy="21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7715251" y="3143251"/>
            <a:ext cx="1905000" cy="21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6000751" y="3524251"/>
            <a:ext cx="2476500" cy="21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85751" y="3905251"/>
            <a:ext cx="11906249" cy="28469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fr-FR" dirty="0"/>
              <a:t>Essentiellement</a:t>
            </a:r>
            <a:r>
              <a:rPr lang="fr-FR" sz="3700" b="1" dirty="0"/>
              <a:t> clinique: </a:t>
            </a:r>
            <a:r>
              <a:rPr lang="fr-FR" dirty="0"/>
              <a:t>Généralement évident lorsqu’on assiste à l’exacerbation d’asthme qui </a:t>
            </a:r>
            <a:r>
              <a:rPr lang="fr-FR" sz="3200" dirty="0">
                <a:solidFill>
                  <a:srgbClr val="FF0000"/>
                </a:solidFill>
              </a:rPr>
              <a:t>répond aux ß2 mimétiques. </a:t>
            </a:r>
            <a:endParaRPr lang="fr-FR" sz="3200" dirty="0">
              <a:solidFill>
                <a:srgbClr val="FF0000"/>
              </a:solidFill>
            </a:endParaRPr>
          </a:p>
          <a:p>
            <a:endParaRPr lang="fr-FR" dirty="0"/>
          </a:p>
          <a:p>
            <a:r>
              <a:rPr lang="fr-FR" dirty="0"/>
              <a:t>A distance, le diagnostic repose sur :       </a:t>
            </a:r>
            <a:r>
              <a:rPr lang="fr-FR" b="1" dirty="0"/>
              <a:t>l’interrogatoire</a:t>
            </a:r>
            <a:endParaRPr lang="fr-FR" b="1" dirty="0"/>
          </a:p>
          <a:p>
            <a:r>
              <a:rPr lang="fr-FR" b="1" dirty="0"/>
              <a:t>	 l’auscultation pulmonaire, Examen clinique </a:t>
            </a:r>
            <a:endParaRPr lang="fr-FR" b="1" dirty="0"/>
          </a:p>
          <a:p>
            <a:r>
              <a:rPr lang="fr-FR" b="1" dirty="0"/>
              <a:t>	des examens complémentaires (Radio Thorax, exploration </a:t>
            </a:r>
            <a:r>
              <a:rPr lang="fr-FR" b="1" dirty="0" err="1"/>
              <a:t>allergologique</a:t>
            </a:r>
            <a:r>
              <a:rPr lang="fr-FR" b="1" dirty="0"/>
              <a:t> 							et les EFR)</a:t>
            </a: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0403" y="324182"/>
            <a:ext cx="10515600" cy="890469"/>
          </a:xfrm>
        </p:spPr>
        <p:txBody>
          <a:bodyPr>
            <a:normAutofit fontScale="90000"/>
          </a:bodyPr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Question n°3: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8640" y="1375249"/>
            <a:ext cx="11044871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b="1" dirty="0"/>
              <a:t> Les </a:t>
            </a:r>
            <a:r>
              <a:rPr lang="en-US" altLang="en-US" b="1" dirty="0"/>
              <a:t>é</a:t>
            </a:r>
            <a:r>
              <a:rPr lang="en-US" altLang="fr-FR" b="1" dirty="0"/>
              <a:t>l</a:t>
            </a:r>
            <a:r>
              <a:rPr lang="en-US" altLang="en-US" b="1" dirty="0"/>
              <a:t>é</a:t>
            </a:r>
            <a:r>
              <a:rPr lang="en-US" altLang="fr-FR" b="1" dirty="0"/>
              <a:t>ments cliniques suivants sont suggestifs de diagnostic de l’asthme chez l’adolescent</a:t>
            </a:r>
            <a:r>
              <a:rPr lang="" altLang="en-US" b="1" dirty="0"/>
              <a:t> </a:t>
            </a:r>
            <a:r>
              <a:rPr lang="en-US" altLang="fr-FR" b="1" dirty="0"/>
              <a:t>: </a:t>
            </a:r>
            <a:endParaRPr lang="en-US" altLang="fr-FR" b="1" dirty="0"/>
          </a:p>
          <a:p>
            <a:pPr>
              <a:buNone/>
            </a:pPr>
            <a:endParaRPr lang="en-US" altLang="fr-FR" dirty="0"/>
          </a:p>
          <a:p>
            <a:pPr>
              <a:buNone/>
            </a:pPr>
            <a:r>
              <a:rPr lang="en-US" altLang="fr-FR" dirty="0"/>
              <a:t>A)Accentuation des symptômes respiratoires en fin de journ</a:t>
            </a:r>
            <a:r>
              <a:rPr lang="en-US" altLang="en-US" dirty="0"/>
              <a:t>é</a:t>
            </a:r>
            <a:r>
              <a:rPr lang="en-US" altLang="fr-FR" dirty="0"/>
              <a:t>e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B)Une sensation d’oppression thoracique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C)La disparition des symptômes aigus sous cortico</a:t>
            </a:r>
            <a:r>
              <a:rPr lang="en-US" altLang="en-US" dirty="0"/>
              <a:t>ï</a:t>
            </a:r>
            <a:r>
              <a:rPr lang="en-US" altLang="fr-FR" dirty="0"/>
              <a:t>des inhal</a:t>
            </a:r>
            <a:r>
              <a:rPr lang="en-US" altLang="en-US" dirty="0"/>
              <a:t>é</a:t>
            </a:r>
            <a:r>
              <a:rPr lang="en-US" altLang="fr-FR" dirty="0"/>
              <a:t>s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D)Les </a:t>
            </a:r>
            <a:r>
              <a:rPr lang="en-US" altLang="en-US" dirty="0"/>
              <a:t>é</a:t>
            </a:r>
            <a:r>
              <a:rPr lang="en-US" altLang="fr-FR" dirty="0"/>
              <a:t>motions peuvent d</a:t>
            </a:r>
            <a:r>
              <a:rPr lang="en-US" altLang="en-US" dirty="0"/>
              <a:t>é</a:t>
            </a:r>
            <a:r>
              <a:rPr lang="en-US" altLang="fr-FR" dirty="0"/>
              <a:t>clencher des symptômes aigus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E)L’infection virale aggrave les symptomes pr</a:t>
            </a:r>
            <a:r>
              <a:rPr lang="en-US" altLang="en-US" dirty="0"/>
              <a:t>é</a:t>
            </a:r>
            <a:r>
              <a:rPr lang="en-US" altLang="fr-FR" dirty="0"/>
              <a:t> existants</a:t>
            </a:r>
            <a:endParaRPr lang="en-US" altLang="fr-F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0403" y="324182"/>
            <a:ext cx="10515600" cy="890469"/>
          </a:xfrm>
        </p:spPr>
        <p:txBody>
          <a:bodyPr>
            <a:normAutofit fontScale="90000"/>
          </a:bodyPr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Question n°3: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8640" y="1375249"/>
            <a:ext cx="11044871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" altLang="en-US" sz="2800" b="1" dirty="0" smtClean="0"/>
              <a:t> </a:t>
            </a:r>
            <a:r>
              <a:rPr lang="en-US" altLang="fr-FR" sz="2800" b="1" dirty="0" smtClean="0"/>
              <a:t> Les </a:t>
            </a:r>
            <a:r>
              <a:rPr lang="en-US" altLang="en-US" sz="2800" b="1" dirty="0" smtClean="0"/>
              <a:t>é</a:t>
            </a:r>
            <a:r>
              <a:rPr lang="en-US" altLang="fr-FR" sz="2800" b="1" dirty="0" smtClean="0"/>
              <a:t>l</a:t>
            </a:r>
            <a:r>
              <a:rPr lang="en-US" altLang="en-US" sz="2800" b="1" dirty="0" smtClean="0"/>
              <a:t>é</a:t>
            </a:r>
            <a:r>
              <a:rPr lang="en-US" altLang="fr-FR" sz="2800" b="1" dirty="0" smtClean="0"/>
              <a:t>ments cliniques suivants sont suggestifs de diagnostic de l’asthme chez l’adolescent</a:t>
            </a:r>
            <a:r>
              <a:rPr lang="" altLang="en-US" sz="2800" b="1" dirty="0" smtClean="0"/>
              <a:t> </a:t>
            </a:r>
            <a:r>
              <a:rPr lang="en-US" altLang="fr-FR" sz="2800" b="1" dirty="0" smtClean="0"/>
              <a:t>: </a:t>
            </a:r>
            <a:endParaRPr lang="en-US" altLang="fr-FR" sz="2800" b="1" dirty="0" smtClean="0"/>
          </a:p>
          <a:p>
            <a:pPr>
              <a:buNone/>
            </a:pPr>
            <a:r>
              <a:rPr lang="en-US" altLang="fr-FR" sz="2800" dirty="0" smtClean="0"/>
              <a:t>A)Accentuation des symptômes respiratoires en fin de journ</a:t>
            </a:r>
            <a:r>
              <a:rPr lang="en-US" altLang="en-US" sz="2800" dirty="0" smtClean="0"/>
              <a:t>é</a:t>
            </a:r>
            <a:r>
              <a:rPr lang="en-US" altLang="fr-FR" sz="2800" dirty="0" smtClean="0"/>
              <a:t>e</a:t>
            </a:r>
            <a:endParaRPr lang="en-US" altLang="fr-FR" sz="2800" dirty="0" smtClean="0"/>
          </a:p>
          <a:p>
            <a:pPr>
              <a:buNone/>
            </a:pPr>
            <a:r>
              <a:rPr lang="en-US" altLang="fr-FR" sz="2800" b="1" dirty="0" smtClean="0"/>
              <a:t>B)Une sensation d’oppression thoracique</a:t>
            </a:r>
            <a:endParaRPr lang="en-US" altLang="fr-FR" sz="2800" b="1" dirty="0" smtClean="0"/>
          </a:p>
          <a:p>
            <a:pPr>
              <a:buNone/>
            </a:pPr>
            <a:r>
              <a:rPr lang="en-US" altLang="fr-FR" sz="2800" dirty="0" smtClean="0"/>
              <a:t>C)La disparition des symptômes aigus sous cortico</a:t>
            </a:r>
            <a:r>
              <a:rPr lang="en-US" altLang="en-US" sz="2800" dirty="0" smtClean="0"/>
              <a:t>ï</a:t>
            </a:r>
            <a:r>
              <a:rPr lang="en-US" altLang="fr-FR" sz="2800" dirty="0" smtClean="0"/>
              <a:t>des inhal</a:t>
            </a:r>
            <a:r>
              <a:rPr lang="en-US" altLang="en-US" sz="2800" dirty="0" smtClean="0"/>
              <a:t>é</a:t>
            </a:r>
            <a:r>
              <a:rPr lang="en-US" altLang="fr-FR" sz="2800" dirty="0" smtClean="0"/>
              <a:t>s</a:t>
            </a:r>
            <a:endParaRPr lang="en-US" altLang="fr-FR" sz="2800" dirty="0" smtClean="0"/>
          </a:p>
          <a:p>
            <a:pPr>
              <a:buNone/>
            </a:pPr>
            <a:r>
              <a:rPr lang="en-US" altLang="fr-FR" sz="2800" b="1" dirty="0" smtClean="0"/>
              <a:t>D)Les </a:t>
            </a:r>
            <a:r>
              <a:rPr lang="en-US" altLang="en-US" sz="2800" b="1" dirty="0" smtClean="0"/>
              <a:t>é</a:t>
            </a:r>
            <a:r>
              <a:rPr lang="en-US" altLang="fr-FR" sz="2800" b="1" dirty="0" smtClean="0"/>
              <a:t>motions peuvent d</a:t>
            </a:r>
            <a:r>
              <a:rPr lang="en-US" altLang="en-US" sz="2800" b="1" dirty="0" smtClean="0"/>
              <a:t>é</a:t>
            </a:r>
            <a:r>
              <a:rPr lang="en-US" altLang="fr-FR" sz="2800" b="1" dirty="0" smtClean="0"/>
              <a:t>clencher des symptômes aigus</a:t>
            </a:r>
            <a:endParaRPr lang="en-US" altLang="fr-FR" sz="2800" b="1" dirty="0" smtClean="0"/>
          </a:p>
          <a:p>
            <a:pPr>
              <a:buNone/>
            </a:pPr>
            <a:r>
              <a:rPr lang="en-US" altLang="fr-FR" sz="2800" b="1" dirty="0" smtClean="0"/>
              <a:t>E)L’infection virale aggrave les symptomes pr</a:t>
            </a:r>
            <a:r>
              <a:rPr lang="en-US" altLang="en-US" sz="2800" b="1" dirty="0" smtClean="0"/>
              <a:t>é</a:t>
            </a:r>
            <a:r>
              <a:rPr lang="en-US" altLang="fr-FR" sz="2800" b="1" dirty="0" smtClean="0"/>
              <a:t> existants</a:t>
            </a:r>
            <a:r>
              <a:rPr lang="fr-FR" sz="2800" b="1" dirty="0" smtClean="0"/>
              <a:t>né</a:t>
            </a:r>
            <a:r>
              <a:rPr lang="fr-FR" sz="2800" dirty="0" smtClean="0"/>
              <a:t> </a:t>
            </a:r>
            <a:endParaRPr lang="fr-FR" sz="2800" dirty="0" smtClean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381001"/>
            <a:ext cx="10972800" cy="133350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defRPr/>
            </a:pPr>
            <a:r>
              <a:rPr lang="fr-FR" sz="4800" b="1" dirty="0" smtClean="0"/>
              <a:t>Age Scolaire (&gt;6ans)</a:t>
            </a:r>
            <a:br>
              <a:rPr lang="fr-FR" sz="4800" b="1" dirty="0" smtClean="0"/>
            </a:br>
            <a:r>
              <a:rPr lang="fr-FR" sz="4800" b="1" dirty="0" smtClean="0"/>
              <a:t>Asthme: Quand y penser?</a:t>
            </a:r>
            <a:endParaRPr lang="fr-FR" sz="48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095500"/>
            <a:ext cx="4438651" cy="4030133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fr-FR" sz="3200" b="1" dirty="0" smtClean="0"/>
              <a:t>Symptômes évocateurs:</a:t>
            </a:r>
            <a:endParaRPr lang="fr-FR" sz="3200" b="1" dirty="0" smtClean="0"/>
          </a:p>
          <a:p>
            <a:pPr>
              <a:defRPr/>
            </a:pPr>
            <a:r>
              <a:rPr lang="fr-FR" sz="3200" dirty="0" smtClean="0"/>
              <a:t>Respiration sifflante</a:t>
            </a:r>
            <a:endParaRPr lang="fr-FR" sz="3200" dirty="0" smtClean="0"/>
          </a:p>
          <a:p>
            <a:pPr>
              <a:defRPr/>
            </a:pPr>
            <a:r>
              <a:rPr lang="fr-FR" sz="3200" dirty="0" smtClean="0"/>
              <a:t>Toux</a:t>
            </a:r>
            <a:endParaRPr lang="fr-FR" sz="3200" dirty="0" smtClean="0"/>
          </a:p>
          <a:p>
            <a:pPr>
              <a:defRPr/>
            </a:pPr>
            <a:r>
              <a:rPr lang="fr-FR" sz="3200" dirty="0" smtClean="0"/>
              <a:t>Essoufflement</a:t>
            </a:r>
            <a:endParaRPr lang="fr-FR" sz="3200" dirty="0" smtClean="0"/>
          </a:p>
          <a:p>
            <a:pPr>
              <a:defRPr/>
            </a:pPr>
            <a:r>
              <a:rPr lang="fr-FR" sz="3200" dirty="0" smtClean="0"/>
              <a:t>Oppression thoracique</a:t>
            </a:r>
            <a:endParaRPr lang="fr-FR" sz="3200" dirty="0"/>
          </a:p>
        </p:txBody>
      </p:sp>
      <p:sp>
        <p:nvSpPr>
          <p:cNvPr id="4" name="Espace réservé du contenu 2"/>
          <p:cNvSpPr txBox="1"/>
          <p:nvPr/>
        </p:nvSpPr>
        <p:spPr>
          <a:xfrm>
            <a:off x="5429252" y="2000251"/>
            <a:ext cx="6343649" cy="42396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21917" tIns="60958" rIns="121917" bIns="60958">
            <a:normAutofit lnSpcReduction="10000"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fr-FR" sz="3200" b="1" dirty="0"/>
              <a:t>Modalités évocatrices:</a:t>
            </a:r>
            <a:endParaRPr lang="fr-FR" sz="3200" b="1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fr-FR" sz="3200" dirty="0"/>
              <a:t>Association des symptômes</a:t>
            </a:r>
            <a:endParaRPr lang="fr-FR" sz="32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fr-FR" sz="3200" dirty="0">
                <a:solidFill>
                  <a:srgbClr val="C00000"/>
                </a:solidFill>
              </a:rPr>
              <a:t>Recrudescence nocturne</a:t>
            </a:r>
            <a:endParaRPr lang="fr-FR" sz="3200" dirty="0">
              <a:solidFill>
                <a:srgbClr val="C00000"/>
              </a:solidFill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fr-FR" sz="3200" dirty="0">
                <a:solidFill>
                  <a:schemeClr val="tx1"/>
                </a:solidFill>
              </a:rPr>
              <a:t>Variation</a:t>
            </a:r>
            <a:r>
              <a:rPr lang="fr-FR" sz="3200" dirty="0"/>
              <a:t> en temps et intensité</a:t>
            </a:r>
            <a:endParaRPr lang="fr-FR" sz="32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fr-FR" sz="3200" dirty="0"/>
              <a:t>Déclenchement par les infections virale, exercice, rires/pleurs, allergènes, polluant, changement météorologique</a:t>
            </a:r>
            <a:endParaRPr lang="fr-FR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74822" y="849280"/>
            <a:ext cx="11079480" cy="6361612"/>
          </a:xfrm>
        </p:spPr>
        <p:txBody>
          <a:bodyPr/>
          <a:lstStyle/>
          <a:p>
            <a:pPr marL="0" indent="0">
              <a:buNone/>
            </a:pPr>
            <a:r>
              <a:rPr lang="fr-FR" b="1" dirty="0" smtClean="0">
                <a:solidFill>
                  <a:srgbClr val="7030A0"/>
                </a:solidFill>
              </a:rPr>
              <a:t>Les tableaux cliniques devant faire évoquer un asthme :</a:t>
            </a:r>
            <a:endParaRPr lang="fr-FR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fr-FR" b="1" dirty="0" smtClean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 toux induite par l’exercice</a:t>
            </a:r>
            <a:endParaRPr lang="fr-FR" dirty="0" smtClean="0"/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 toux nocturne</a:t>
            </a:r>
            <a:endParaRPr lang="fr-FR" dirty="0" smtClean="0"/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 toux chronique ou récidivante</a:t>
            </a:r>
            <a:endParaRPr lang="fr-FR" dirty="0" smtClean="0"/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 toux persistant après une bronchiolite</a:t>
            </a:r>
            <a:endParaRPr lang="fr-FR" dirty="0" smtClean="0"/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 sifflements persistants</a:t>
            </a:r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670105" y="849280"/>
            <a:ext cx="9940834" cy="416819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134" y="217714"/>
            <a:ext cx="4809066" cy="481533"/>
          </a:xfrm>
          <a:solidFill>
            <a:srgbClr val="FFFFCC"/>
          </a:solidFill>
        </p:spPr>
        <p:txBody>
          <a:bodyPr>
            <a:normAutofit/>
          </a:bodyPr>
          <a:lstStyle/>
          <a:p>
            <a:r>
              <a:rPr lang="fr-FR" sz="2400" b="1" dirty="0" smtClean="0">
                <a:solidFill>
                  <a:schemeClr val="tx1"/>
                </a:solidFill>
              </a:rPr>
              <a:t>Facteurs </a:t>
            </a:r>
            <a:r>
              <a:rPr lang="fr-FR" sz="2400" b="1" dirty="0" err="1" smtClean="0">
                <a:solidFill>
                  <a:schemeClr val="tx1"/>
                </a:solidFill>
              </a:rPr>
              <a:t>déclenchants</a:t>
            </a:r>
            <a:r>
              <a:rPr lang="fr-FR" sz="2400" b="1" dirty="0" smtClean="0">
                <a:solidFill>
                  <a:schemeClr val="tx1"/>
                </a:solidFill>
              </a:rPr>
              <a:t>:  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0134" y="1071155"/>
            <a:ext cx="11788090" cy="4970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b="1" dirty="0" smtClean="0">
                <a:solidFill>
                  <a:srgbClr val="FF0000"/>
                </a:solidFill>
              </a:rPr>
              <a:t>Valeur </a:t>
            </a:r>
            <a:r>
              <a:rPr lang="fr-FR" sz="2400" b="1" dirty="0" err="1" smtClean="0">
                <a:solidFill>
                  <a:srgbClr val="FF0000"/>
                </a:solidFill>
              </a:rPr>
              <a:t>diagostique</a:t>
            </a:r>
            <a:r>
              <a:rPr lang="fr-FR" sz="2400" b="1" dirty="0" smtClean="0">
                <a:solidFill>
                  <a:srgbClr val="FF0000"/>
                </a:solidFill>
              </a:rPr>
              <a:t> +++</a:t>
            </a:r>
            <a:endParaRPr lang="fr-FR" sz="2400" b="1" dirty="0" smtClean="0">
              <a:solidFill>
                <a:srgbClr val="FF0000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 </a:t>
            </a:r>
            <a:r>
              <a:rPr lang="fr-FR" sz="2400" dirty="0">
                <a:solidFill>
                  <a:schemeClr val="tx1"/>
                </a:solidFill>
              </a:rPr>
              <a:t>Une infection virale 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 </a:t>
            </a:r>
            <a:r>
              <a:rPr lang="fr-FR" sz="2400" dirty="0">
                <a:solidFill>
                  <a:schemeClr val="tx1"/>
                </a:solidFill>
              </a:rPr>
              <a:t>Une exposition à un allergène </a:t>
            </a:r>
            <a:r>
              <a:rPr lang="fr-FR" sz="2400" dirty="0" smtClean="0">
                <a:solidFill>
                  <a:schemeClr val="tx1"/>
                </a:solidFill>
              </a:rPr>
              <a:t>, moisissure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L'exercice , air froid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L'émotion, le stress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Le </a:t>
            </a:r>
            <a:r>
              <a:rPr lang="fr-FR" sz="2400" dirty="0">
                <a:solidFill>
                  <a:schemeClr val="tx1"/>
                </a:solidFill>
              </a:rPr>
              <a:t>jeu, le rire, les pleurs (chez le jeune enfant</a:t>
            </a:r>
            <a:r>
              <a:rPr lang="fr-FR" sz="2400" dirty="0" smtClean="0">
                <a:solidFill>
                  <a:schemeClr val="tx1"/>
                </a:solidFill>
              </a:rPr>
              <a:t>)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 La </a:t>
            </a:r>
            <a:r>
              <a:rPr lang="fr-FR" sz="2400" dirty="0">
                <a:solidFill>
                  <a:schemeClr val="tx1"/>
                </a:solidFill>
              </a:rPr>
              <a:t>prise d'anti-inflammatoires non stéroïdiens 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 </a:t>
            </a:r>
            <a:r>
              <a:rPr lang="fr-FR" sz="2400" dirty="0">
                <a:solidFill>
                  <a:schemeClr val="tx1"/>
                </a:solidFill>
              </a:rPr>
              <a:t>Les fumées : tabac, </a:t>
            </a:r>
            <a:r>
              <a:rPr lang="fr-FR" sz="2400" dirty="0" err="1">
                <a:solidFill>
                  <a:schemeClr val="tx1"/>
                </a:solidFill>
              </a:rPr>
              <a:t>vapotage</a:t>
            </a:r>
            <a:r>
              <a:rPr lang="fr-FR" sz="2400" dirty="0">
                <a:solidFill>
                  <a:schemeClr val="tx1"/>
                </a:solidFill>
              </a:rPr>
              <a:t>, feux, </a:t>
            </a:r>
            <a:r>
              <a:rPr lang="fr-FR" sz="2400" dirty="0" smtClean="0">
                <a:solidFill>
                  <a:schemeClr val="tx1"/>
                </a:solidFill>
              </a:rPr>
              <a:t>, </a:t>
            </a:r>
            <a:r>
              <a:rPr lang="fr-FR" sz="2400" dirty="0" err="1">
                <a:solidFill>
                  <a:schemeClr val="tx1"/>
                </a:solidFill>
              </a:rPr>
              <a:t>canoun</a:t>
            </a:r>
            <a:r>
              <a:rPr lang="fr-FR" sz="2400" dirty="0">
                <a:solidFill>
                  <a:schemeClr val="tx1"/>
                </a:solidFill>
              </a:rPr>
              <a:t>, </a:t>
            </a:r>
            <a:r>
              <a:rPr lang="fr-FR" sz="2400" dirty="0" smtClean="0">
                <a:solidFill>
                  <a:schemeClr val="tx1"/>
                </a:solidFill>
              </a:rPr>
              <a:t>polluants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>
                <a:solidFill>
                  <a:schemeClr val="tx1"/>
                </a:solidFill>
              </a:rPr>
              <a:t>Autres irritants : produits ménagers, poussière, odeurs fortes, peintures ; vernis, huiles </a:t>
            </a:r>
            <a:r>
              <a:rPr lang="fr-FR" sz="2400" dirty="0" smtClean="0">
                <a:solidFill>
                  <a:schemeClr val="tx1"/>
                </a:solidFill>
              </a:rPr>
              <a:t>essentielles</a:t>
            </a:r>
            <a:endParaRPr lang="fr-FR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4051" y="255943"/>
            <a:ext cx="10515600" cy="931412"/>
          </a:xfrm>
        </p:spPr>
        <p:txBody>
          <a:bodyPr>
            <a:normAutofit fontScale="90000"/>
          </a:bodyPr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Question n°4: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80544" y="1210800"/>
            <a:ext cx="10515600" cy="5075699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fr-FR" b="1" dirty="0"/>
              <a:t> Ces propositions concernant le diagnostic positif de l’asthme sont vraies</a:t>
            </a:r>
            <a:r>
              <a:rPr lang="" altLang="en-US" b="1" dirty="0"/>
              <a:t> </a:t>
            </a:r>
            <a:r>
              <a:rPr lang="en-US" altLang="fr-FR" b="1" dirty="0"/>
              <a:t>: </a:t>
            </a:r>
            <a:endParaRPr lang="en-US" altLang="fr-FR" b="1" dirty="0"/>
          </a:p>
          <a:p>
            <a:pPr>
              <a:buNone/>
            </a:pPr>
            <a:endParaRPr lang="en-US" altLang="fr-FR" b="1" dirty="0"/>
          </a:p>
          <a:p>
            <a:pPr>
              <a:buNone/>
            </a:pPr>
            <a:r>
              <a:rPr lang="en-US" altLang="fr-FR" dirty="0"/>
              <a:t>A)L’absence de r</a:t>
            </a:r>
            <a:r>
              <a:rPr lang="en-US" altLang="en-US" dirty="0"/>
              <a:t>â</a:t>
            </a:r>
            <a:r>
              <a:rPr lang="en-US" altLang="fr-FR" dirty="0"/>
              <a:t>les sibilants à l’auscultation pulmonaire exclut le diagnostic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B)L’association de plusieurs symptômes respiratoires remet en doute le diagnostic d’asthme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C)L’anomalie radiologique typique est la distension thoracique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D)Un syndrome obstructif à la spirom</a:t>
            </a:r>
            <a:r>
              <a:rPr lang="en-US" altLang="en-US" dirty="0"/>
              <a:t>é</a:t>
            </a:r>
            <a:r>
              <a:rPr lang="en-US" altLang="fr-FR" dirty="0"/>
              <a:t>trie confirme le diagnostic chez l’enfant d’age pr</a:t>
            </a:r>
            <a:r>
              <a:rPr lang="en-US" altLang="en-US" dirty="0"/>
              <a:t>é</a:t>
            </a:r>
            <a:r>
              <a:rPr lang="en-US" altLang="fr-FR" dirty="0"/>
              <a:t>scolaire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E)La positivit</a:t>
            </a:r>
            <a:r>
              <a:rPr lang="en-US" altLang="en-US" dirty="0"/>
              <a:t>é</a:t>
            </a:r>
            <a:r>
              <a:rPr lang="en-US" altLang="fr-FR" dirty="0"/>
              <a:t> des prick test confirme le diagnostic de l’asthme </a:t>
            </a:r>
            <a:endParaRPr lang="en-US" altLang="fr-F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4051" y="255943"/>
            <a:ext cx="10515600" cy="931412"/>
          </a:xfrm>
        </p:spPr>
        <p:txBody>
          <a:bodyPr>
            <a:normAutofit fontScale="90000"/>
          </a:bodyPr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Question n°4: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4335" y="1210945"/>
            <a:ext cx="11002010" cy="507555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fr-FR" b="1" dirty="0"/>
              <a:t>Ces propositions concernant le diagnostic positif de l’asthme sont vraies</a:t>
            </a:r>
            <a:r>
              <a:rPr lang="" altLang="en-US" b="1" dirty="0"/>
              <a:t> </a:t>
            </a:r>
            <a:r>
              <a:rPr lang="en-US" altLang="fr-FR" b="1" dirty="0"/>
              <a:t>: </a:t>
            </a:r>
            <a:endParaRPr lang="en-US" altLang="fr-FR" b="1" dirty="0"/>
          </a:p>
          <a:p>
            <a:pPr>
              <a:buNone/>
            </a:pPr>
            <a:endParaRPr lang="en-US" altLang="fr-FR" b="1" dirty="0"/>
          </a:p>
          <a:p>
            <a:pPr>
              <a:buNone/>
            </a:pPr>
            <a:r>
              <a:rPr lang="en-US" altLang="fr-FR" dirty="0"/>
              <a:t>A)L’absence de r</a:t>
            </a:r>
            <a:r>
              <a:rPr lang="en-US" altLang="en-US" dirty="0"/>
              <a:t>â</a:t>
            </a:r>
            <a:r>
              <a:rPr lang="en-US" altLang="fr-FR" dirty="0"/>
              <a:t>les sibilants à l’auscultation pulmonaire exclut le diagnostic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B)L’association de plusieurs symptômes respiratoires remet en doute le diagnostic d’asthme</a:t>
            </a:r>
            <a:endParaRPr lang="en-US" altLang="fr-FR" dirty="0"/>
          </a:p>
          <a:p>
            <a:pPr>
              <a:buNone/>
            </a:pPr>
            <a:r>
              <a:rPr lang="en-US" altLang="fr-FR" b="1" dirty="0"/>
              <a:t>C)L’anomalie radiologique typique est la distension thoracique</a:t>
            </a:r>
            <a:endParaRPr lang="en-US" altLang="fr-FR" b="1" dirty="0"/>
          </a:p>
          <a:p>
            <a:pPr>
              <a:buNone/>
            </a:pPr>
            <a:r>
              <a:rPr lang="en-US" altLang="fr-FR" dirty="0"/>
              <a:t>D)Un syndrome obstructif à la spirom</a:t>
            </a:r>
            <a:r>
              <a:rPr lang="en-US" altLang="en-US" dirty="0"/>
              <a:t>é</a:t>
            </a:r>
            <a:r>
              <a:rPr lang="en-US" altLang="fr-FR" dirty="0"/>
              <a:t>trie confirme le diagnostic chez l’enfant d’age pr</a:t>
            </a:r>
            <a:r>
              <a:rPr lang="en-US" altLang="en-US" dirty="0"/>
              <a:t>é</a:t>
            </a:r>
            <a:r>
              <a:rPr lang="en-US" altLang="fr-FR" dirty="0"/>
              <a:t>scolaire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E)La positivit</a:t>
            </a:r>
            <a:r>
              <a:rPr lang="en-US" altLang="en-US" dirty="0"/>
              <a:t>é</a:t>
            </a:r>
            <a:r>
              <a:rPr lang="en-US" altLang="fr-FR" dirty="0"/>
              <a:t> des prick test confirme le diagnostic de l’asthme </a:t>
            </a:r>
            <a:endParaRPr lang="en-US" altLang="fr-F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Question n°5: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b="1" dirty="0"/>
              <a:t>Concernant l’exploration fonctionnelle respiratoire chez l’enfant au cours de l’asthme</a:t>
            </a:r>
            <a:r>
              <a:rPr lang="" altLang="en-US" b="1" dirty="0"/>
              <a:t> </a:t>
            </a:r>
            <a:r>
              <a:rPr lang="en-US" altLang="fr-FR" dirty="0"/>
              <a:t>: 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A)Le seuil de d</a:t>
            </a:r>
            <a:r>
              <a:rPr lang="en-US" altLang="en-US" dirty="0"/>
              <a:t>é</a:t>
            </a:r>
            <a:r>
              <a:rPr lang="en-US" altLang="fr-FR" dirty="0"/>
              <a:t>finition du syndrome obstructif est un rapport VEMS/CVF &lt; 0.7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B)Le test de reversibilit</a:t>
            </a:r>
            <a:r>
              <a:rPr lang="en-US" altLang="en-US" dirty="0"/>
              <a:t>é</a:t>
            </a:r>
            <a:r>
              <a:rPr lang="en-US" altLang="fr-FR" dirty="0"/>
              <a:t> se fait avec la m</a:t>
            </a:r>
            <a:r>
              <a:rPr lang="en-US" altLang="en-US" dirty="0"/>
              <a:t>é</a:t>
            </a:r>
            <a:r>
              <a:rPr lang="en-US" altLang="fr-FR" dirty="0"/>
              <a:t>tacholine 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C)Se pratique avec la mesure des r</a:t>
            </a:r>
            <a:r>
              <a:rPr lang="en-US" altLang="en-US" dirty="0"/>
              <a:t>é</a:t>
            </a:r>
            <a:r>
              <a:rPr lang="en-US" altLang="fr-FR" dirty="0"/>
              <a:t>sistances sp</a:t>
            </a:r>
            <a:r>
              <a:rPr lang="en-US" altLang="en-US" dirty="0"/>
              <a:t>é</a:t>
            </a:r>
            <a:r>
              <a:rPr lang="en-US" altLang="fr-FR" dirty="0"/>
              <a:t>cifiques chez l’enfant de &lt;  6 ans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D)La courbe d</a:t>
            </a:r>
            <a:r>
              <a:rPr lang="en-US" altLang="en-US" dirty="0"/>
              <a:t>é</a:t>
            </a:r>
            <a:r>
              <a:rPr lang="en-US" altLang="fr-FR" dirty="0"/>
              <a:t>bit volume a une valeur diagnostique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E)Un syndrome restrictif t</a:t>
            </a:r>
            <a:r>
              <a:rPr lang="en-US" altLang="en-US" dirty="0"/>
              <a:t>é</a:t>
            </a:r>
            <a:r>
              <a:rPr lang="en-US" altLang="fr-FR" dirty="0"/>
              <a:t>moigne d’un asthme l</a:t>
            </a:r>
            <a:r>
              <a:rPr lang="en-US" altLang="en-US" dirty="0"/>
              <a:t>é</a:t>
            </a:r>
            <a:r>
              <a:rPr lang="en-US" altLang="fr-FR" dirty="0"/>
              <a:t>ger</a:t>
            </a:r>
            <a:endParaRPr lang="en-US" altLang="fr-F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Question n°5: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029970"/>
            <a:ext cx="11344910" cy="51473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b="1" dirty="0"/>
              <a:t>Concernant l’exploration fonctionnelle respiratoire chez l’enfant au cours de l’asthme</a:t>
            </a:r>
            <a:r>
              <a:rPr lang="" altLang="en-US" b="1" dirty="0"/>
              <a:t> </a:t>
            </a:r>
            <a:r>
              <a:rPr lang="en-US" altLang="fr-FR" b="1" dirty="0"/>
              <a:t>: </a:t>
            </a:r>
            <a:endParaRPr lang="en-US" altLang="fr-FR" b="1" dirty="0"/>
          </a:p>
          <a:p>
            <a:pPr>
              <a:buNone/>
            </a:pPr>
            <a:r>
              <a:rPr lang="en-US" altLang="fr-FR" dirty="0"/>
              <a:t>A)Le seuil de d</a:t>
            </a:r>
            <a:r>
              <a:rPr lang="en-US" altLang="en-US" dirty="0"/>
              <a:t>é</a:t>
            </a:r>
            <a:r>
              <a:rPr lang="en-US" altLang="fr-FR" dirty="0"/>
              <a:t>finition du syndrome obstructif est un rapport VEMS/CVF &lt; 0.7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B)Le test de reversibilit</a:t>
            </a:r>
            <a:r>
              <a:rPr lang="en-US" altLang="en-US" dirty="0"/>
              <a:t>é</a:t>
            </a:r>
            <a:r>
              <a:rPr lang="en-US" altLang="fr-FR" dirty="0"/>
              <a:t> se fait avec la m</a:t>
            </a:r>
            <a:r>
              <a:rPr lang="en-US" altLang="en-US" dirty="0"/>
              <a:t>é</a:t>
            </a:r>
            <a:r>
              <a:rPr lang="en-US" altLang="fr-FR" dirty="0"/>
              <a:t>tacholine </a:t>
            </a:r>
            <a:endParaRPr lang="en-US" altLang="fr-FR" dirty="0"/>
          </a:p>
          <a:p>
            <a:pPr>
              <a:buNone/>
            </a:pPr>
            <a:r>
              <a:rPr lang="en-US" altLang="fr-FR" b="1" dirty="0"/>
              <a:t>C)Se pratique avec la mesure des r</a:t>
            </a:r>
            <a:r>
              <a:rPr lang="en-US" altLang="en-US" b="1" dirty="0"/>
              <a:t>é</a:t>
            </a:r>
            <a:r>
              <a:rPr lang="en-US" altLang="fr-FR" b="1" dirty="0"/>
              <a:t>sistances sp</a:t>
            </a:r>
            <a:r>
              <a:rPr lang="en-US" altLang="en-US" b="1" dirty="0"/>
              <a:t>é</a:t>
            </a:r>
            <a:r>
              <a:rPr lang="en-US" altLang="fr-FR" b="1" dirty="0"/>
              <a:t>cifiques chez l’enfant de &lt;  6 ans</a:t>
            </a:r>
            <a:endParaRPr lang="en-US" altLang="fr-FR" b="1" dirty="0"/>
          </a:p>
          <a:p>
            <a:pPr>
              <a:buNone/>
            </a:pPr>
            <a:r>
              <a:rPr lang="en-US" altLang="fr-FR" b="1" dirty="0"/>
              <a:t>D)La courbe d</a:t>
            </a:r>
            <a:r>
              <a:rPr lang="en-US" altLang="en-US" b="1" dirty="0"/>
              <a:t>é</a:t>
            </a:r>
            <a:r>
              <a:rPr lang="en-US" altLang="fr-FR" b="1" dirty="0"/>
              <a:t>bit volume a une valeur diagnostique</a:t>
            </a:r>
            <a:endParaRPr lang="en-US" altLang="fr-FR" b="1" dirty="0"/>
          </a:p>
          <a:p>
            <a:pPr>
              <a:buNone/>
            </a:pPr>
            <a:r>
              <a:rPr lang="en-US" altLang="fr-FR" dirty="0"/>
              <a:t>E)Un syndrome restrictif t</a:t>
            </a:r>
            <a:r>
              <a:rPr lang="en-US" altLang="en-US" dirty="0"/>
              <a:t>é</a:t>
            </a:r>
            <a:r>
              <a:rPr lang="en-US" altLang="fr-FR" dirty="0"/>
              <a:t>moigne d’un asthme l</a:t>
            </a:r>
            <a:r>
              <a:rPr lang="en-US" altLang="en-US" dirty="0"/>
              <a:t>é</a:t>
            </a:r>
            <a:r>
              <a:rPr lang="en-US" altLang="fr-FR" dirty="0"/>
              <a:t>ger</a:t>
            </a:r>
            <a:endParaRPr lang="en-US" altLang="fr-F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6985" y="1069617"/>
            <a:ext cx="2795849" cy="618309"/>
          </a:xfrm>
          <a:solidFill>
            <a:srgbClr val="FFFFCC"/>
          </a:solidFill>
        </p:spPr>
        <p:txBody>
          <a:bodyPr>
            <a:normAutofit fontScale="90000"/>
          </a:bodyPr>
          <a:lstStyle/>
          <a:p>
            <a:pPr marL="0" indent="0"/>
            <a:r>
              <a:rPr lang="fr-FR" dirty="0" smtClean="0"/>
              <a:t> </a:t>
            </a:r>
            <a:r>
              <a:rPr lang="fr-FR" sz="2700" b="1" dirty="0" err="1" smtClean="0">
                <a:solidFill>
                  <a:schemeClr val="tx1"/>
                </a:solidFill>
              </a:rPr>
              <a:t>Spirométrie</a:t>
            </a:r>
            <a:r>
              <a:rPr lang="fr-FR" sz="2700" b="1" dirty="0" smtClean="0">
                <a:solidFill>
                  <a:schemeClr val="tx1"/>
                </a:solidFill>
              </a:rPr>
              <a:t>: </a:t>
            </a:r>
            <a:endParaRPr lang="fr-FR" sz="2700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1115" y="2061243"/>
            <a:ext cx="10703858" cy="5820655"/>
          </a:xfrm>
        </p:spPr>
        <p:txBody>
          <a:bodyPr>
            <a:normAutofit/>
          </a:bodyPr>
          <a:lstStyle/>
          <a:p>
            <a:r>
              <a:rPr lang="fr-FR" sz="2400" dirty="0" smtClean="0">
                <a:solidFill>
                  <a:schemeClr val="tx1"/>
                </a:solidFill>
              </a:rPr>
              <a:t> </a:t>
            </a:r>
            <a:r>
              <a:rPr lang="fr-FR" sz="2400" dirty="0">
                <a:solidFill>
                  <a:schemeClr val="tx1"/>
                </a:solidFill>
              </a:rPr>
              <a:t>U</a:t>
            </a:r>
            <a:r>
              <a:rPr lang="fr-FR" sz="2400" dirty="0" smtClean="0">
                <a:solidFill>
                  <a:schemeClr val="tx1"/>
                </a:solidFill>
              </a:rPr>
              <a:t>tile </a:t>
            </a:r>
            <a:r>
              <a:rPr lang="fr-FR" sz="2400" dirty="0">
                <a:solidFill>
                  <a:schemeClr val="tx1"/>
                </a:solidFill>
              </a:rPr>
              <a:t>pour confirmer le diagnostic d'asthme, mais n'est pas suffisamment sensible pour l'écarter</a:t>
            </a:r>
            <a:endParaRPr lang="fr-FR" sz="2400" dirty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Le </a:t>
            </a:r>
            <a:r>
              <a:rPr lang="fr-FR" sz="2400" dirty="0">
                <a:solidFill>
                  <a:schemeClr val="tx1"/>
                </a:solidFill>
              </a:rPr>
              <a:t>rapport VEMS/CVF définit l’obstruction bronchique. 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Une </a:t>
            </a:r>
            <a:r>
              <a:rPr lang="fr-FR" sz="2400" dirty="0">
                <a:solidFill>
                  <a:schemeClr val="tx1"/>
                </a:solidFill>
              </a:rPr>
              <a:t>obstruction bronchique est retenue devant </a:t>
            </a:r>
            <a:r>
              <a:rPr lang="fr-FR" sz="2400" b="1" dirty="0">
                <a:solidFill>
                  <a:srgbClr val="FF0000"/>
                </a:solidFill>
              </a:rPr>
              <a:t>un z-score du </a:t>
            </a:r>
            <a:r>
              <a:rPr lang="fr-FR" sz="2400" b="1" dirty="0" smtClean="0">
                <a:solidFill>
                  <a:srgbClr val="FF0000"/>
                </a:solidFill>
              </a:rPr>
              <a:t>rapport </a:t>
            </a:r>
            <a:r>
              <a:rPr lang="fr-FR" sz="2400" b="1" dirty="0">
                <a:solidFill>
                  <a:srgbClr val="FF0000"/>
                </a:solidFill>
              </a:rPr>
              <a:t>VEMS/ CVF &lt; -1,64</a:t>
            </a:r>
            <a:endParaRPr lang="fr-FR" sz="2400" b="1" dirty="0">
              <a:solidFill>
                <a:srgbClr val="FF0000"/>
              </a:solidFill>
            </a:endParaRPr>
          </a:p>
          <a:p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b="1" dirty="0" smtClean="0">
                <a:solidFill>
                  <a:schemeClr val="tx1"/>
                </a:solidFill>
              </a:rPr>
              <a:t>Test de réversibilité aux bronchodilatateurs:</a:t>
            </a:r>
            <a:endParaRPr lang="fr-FR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2400" b="1" dirty="0" smtClean="0">
                <a:solidFill>
                  <a:srgbClr val="FF0000"/>
                </a:solidFill>
              </a:rPr>
              <a:t>         Test positif:  </a:t>
            </a:r>
            <a:r>
              <a:rPr lang="fr-FR" sz="2400" dirty="0">
                <a:solidFill>
                  <a:schemeClr val="tx1"/>
                </a:solidFill>
              </a:rPr>
              <a:t>A</a:t>
            </a:r>
            <a:r>
              <a:rPr lang="fr-FR" sz="2400" dirty="0" smtClean="0">
                <a:solidFill>
                  <a:schemeClr val="tx1"/>
                </a:solidFill>
              </a:rPr>
              <a:t>mélioration </a:t>
            </a:r>
            <a:r>
              <a:rPr lang="fr-FR" sz="2400" dirty="0">
                <a:solidFill>
                  <a:schemeClr val="tx1"/>
                </a:solidFill>
              </a:rPr>
              <a:t>du VEMS de 12 % ou </a:t>
            </a:r>
            <a:r>
              <a:rPr lang="fr-FR" sz="2400" dirty="0" smtClean="0">
                <a:solidFill>
                  <a:schemeClr val="tx1"/>
                </a:solidFill>
              </a:rPr>
              <a:t>plus</a:t>
            </a:r>
            <a:endParaRPr lang="fr-FR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2400" dirty="0" smtClean="0">
                <a:solidFill>
                  <a:schemeClr val="tx1"/>
                </a:solidFill>
              </a:rPr>
              <a:t>                             Augmentation de </a:t>
            </a:r>
            <a:r>
              <a:rPr lang="fr-FR" sz="2400" dirty="0" smtClean="0">
                <a:solidFill>
                  <a:srgbClr val="0070C0"/>
                </a:solidFill>
              </a:rPr>
              <a:t>volume de 200 ml </a:t>
            </a:r>
            <a:endParaRPr lang="fr-FR" sz="24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smtClean="0">
                <a:solidFill>
                  <a:schemeClr val="tx1"/>
                </a:solidFill>
              </a:rPr>
              <a:t>                           </a:t>
            </a:r>
            <a:r>
              <a:rPr lang="fr-FR" sz="2400" strike="sngStrike" dirty="0" smtClean="0">
                <a:solidFill>
                  <a:schemeClr val="tx1"/>
                </a:solidFill>
              </a:rPr>
              <a:t> Amélioration du DEP&gt;15%</a:t>
            </a:r>
            <a:endParaRPr lang="fr-FR" strike="sngStrike" dirty="0"/>
          </a:p>
        </p:txBody>
      </p:sp>
      <p:sp>
        <p:nvSpPr>
          <p:cNvPr id="4" name="Titre 1"/>
          <p:cNvSpPr txBox="1"/>
          <p:nvPr/>
        </p:nvSpPr>
        <p:spPr>
          <a:xfrm>
            <a:off x="1584048" y="126274"/>
            <a:ext cx="8084387" cy="693997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dirty="0" smtClean="0"/>
              <a:t>Diagnostic positif : Examens complémentaires</a:t>
            </a:r>
            <a:endParaRPr lang="fr-FR" sz="2800" b="1" dirty="0"/>
          </a:p>
        </p:txBody>
      </p:sp>
      <p:sp>
        <p:nvSpPr>
          <p:cNvPr id="5" name="Ellipse 4"/>
          <p:cNvSpPr/>
          <p:nvPr/>
        </p:nvSpPr>
        <p:spPr>
          <a:xfrm>
            <a:off x="8480611" y="4971570"/>
            <a:ext cx="3711389" cy="1613646"/>
          </a:xfrm>
          <a:prstGeom prst="ellipse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/ valeur initiale</a:t>
            </a:r>
            <a:endParaRPr lang="fr-FR" b="1" dirty="0" smtClean="0">
              <a:solidFill>
                <a:schemeClr val="tx1"/>
              </a:solidFill>
            </a:endParaRPr>
          </a:p>
          <a:p>
            <a:pPr algn="ctr"/>
            <a:r>
              <a:rPr lang="fr-FR" b="1" dirty="0" smtClean="0">
                <a:solidFill>
                  <a:schemeClr val="tx1"/>
                </a:solidFill>
              </a:rPr>
              <a:t>10 à 15 min après inhalation de 200 à 400 </a:t>
            </a:r>
            <a:r>
              <a:rPr lang="fr-FR" b="1" dirty="0" err="1" smtClean="0">
                <a:solidFill>
                  <a:schemeClr val="tx1"/>
                </a:solidFill>
              </a:rPr>
              <a:t>mcg</a:t>
            </a:r>
            <a:r>
              <a:rPr lang="fr-FR" b="1" dirty="0" smtClean="0">
                <a:solidFill>
                  <a:schemeClr val="tx1"/>
                </a:solidFill>
              </a:rPr>
              <a:t> de </a:t>
            </a:r>
            <a:r>
              <a:rPr lang="fr-FR" b="1" dirty="0" err="1" smtClean="0">
                <a:solidFill>
                  <a:schemeClr val="tx1"/>
                </a:solidFill>
              </a:rPr>
              <a:t>salbutamol</a:t>
            </a:r>
            <a:endParaRPr lang="fr-FR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5835" y="1773757"/>
            <a:ext cx="1189751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 smtClean="0"/>
              <a:t>Mesure </a:t>
            </a:r>
            <a:r>
              <a:rPr lang="fr-FR" sz="2400" dirty="0"/>
              <a:t>de la variabilité du VEMS après inhalation de concentrations croissantes de </a:t>
            </a:r>
            <a:r>
              <a:rPr lang="fr-FR" sz="2400" b="1" dirty="0" err="1"/>
              <a:t>métacholine</a:t>
            </a:r>
            <a:endParaRPr lang="fr-FR" sz="2400" b="1" dirty="0" smtClean="0"/>
          </a:p>
          <a:p>
            <a:pPr algn="just"/>
            <a:r>
              <a:rPr lang="fr-FR" sz="2400" dirty="0"/>
              <a:t>La réponse est quantifiée par la concentration (PC20) ou la dose (PD20) de broncho-constricteur nécessaire pour entrainer une chute de 20% du VEMS.</a:t>
            </a:r>
            <a:endParaRPr lang="fr-FR" sz="2400" dirty="0"/>
          </a:p>
          <a:p>
            <a:pPr algn="just"/>
            <a:endParaRPr lang="fr-FR" sz="2400" b="1" dirty="0" smtClean="0"/>
          </a:p>
          <a:p>
            <a:pPr algn="just"/>
            <a:r>
              <a:rPr lang="fr-FR" sz="2400" b="1" dirty="0" smtClean="0"/>
              <a:t>Test positif :</a:t>
            </a:r>
            <a:r>
              <a:rPr lang="fr-FR" sz="2400" dirty="0" smtClean="0"/>
              <a:t> </a:t>
            </a:r>
            <a:r>
              <a:rPr lang="fr-FR" sz="2400" dirty="0">
                <a:solidFill>
                  <a:srgbClr val="FF0000"/>
                </a:solidFill>
              </a:rPr>
              <a:t>Une PC20 ≤ 8 </a:t>
            </a:r>
            <a:r>
              <a:rPr lang="fr-FR" sz="2400" dirty="0" smtClean="0">
                <a:solidFill>
                  <a:srgbClr val="FF0000"/>
                </a:solidFill>
              </a:rPr>
              <a:t>mg/ml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5" name="Titre 1"/>
          <p:cNvSpPr txBox="1"/>
          <p:nvPr/>
        </p:nvSpPr>
        <p:spPr>
          <a:xfrm>
            <a:off x="1584048" y="126274"/>
            <a:ext cx="8084387" cy="693997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dirty="0" smtClean="0"/>
              <a:t>Diagnostic positif : Examens complémentaires</a:t>
            </a:r>
            <a:endParaRPr lang="fr-FR" sz="28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551330" y="4518212"/>
            <a:ext cx="5903258" cy="10156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2000" dirty="0"/>
              <a:t>Une spirométrie normale avec une forte probabilité </a:t>
            </a:r>
            <a:r>
              <a:rPr lang="fr-FR" sz="2000" dirty="0" smtClean="0"/>
              <a:t>clinique + </a:t>
            </a:r>
            <a:r>
              <a:rPr lang="fr-FR" sz="2000" dirty="0"/>
              <a:t>un test positif à la </a:t>
            </a:r>
            <a:r>
              <a:rPr lang="fr-FR" sz="2000" dirty="0" err="1"/>
              <a:t>métacholine</a:t>
            </a:r>
            <a:endParaRPr lang="fr-FR" sz="2000" dirty="0"/>
          </a:p>
        </p:txBody>
      </p:sp>
      <p:sp>
        <p:nvSpPr>
          <p:cNvPr id="6" name="ZoneTexte 5"/>
          <p:cNvSpPr txBox="1"/>
          <p:nvPr/>
        </p:nvSpPr>
        <p:spPr>
          <a:xfrm>
            <a:off x="551330" y="5809129"/>
            <a:ext cx="5903258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fr-FR" sz="2000" dirty="0"/>
              <a:t>Un test négatif chez un patient ne prenant pas de corticostéroïdes inhalés (CSI)</a:t>
            </a:r>
            <a:endParaRPr lang="fr-FR" sz="2000" dirty="0"/>
          </a:p>
        </p:txBody>
      </p:sp>
      <p:sp>
        <p:nvSpPr>
          <p:cNvPr id="7" name="ZoneTexte 6"/>
          <p:cNvSpPr txBox="1"/>
          <p:nvPr/>
        </p:nvSpPr>
        <p:spPr>
          <a:xfrm>
            <a:off x="7631205" y="4514619"/>
            <a:ext cx="4074459" cy="10156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fr-FR" sz="2000" dirty="0" smtClean="0"/>
          </a:p>
          <a:p>
            <a:r>
              <a:rPr lang="fr-FR" sz="2000" b="1" dirty="0" smtClean="0"/>
              <a:t>Diagnostic d’asthme retenu</a:t>
            </a:r>
            <a:endParaRPr lang="fr-FR" sz="2000" b="1" dirty="0" smtClean="0"/>
          </a:p>
          <a:p>
            <a:endParaRPr lang="fr-FR" sz="2000" dirty="0"/>
          </a:p>
        </p:txBody>
      </p:sp>
      <p:sp>
        <p:nvSpPr>
          <p:cNvPr id="8" name="ZoneTexte 7"/>
          <p:cNvSpPr txBox="1"/>
          <p:nvPr/>
        </p:nvSpPr>
        <p:spPr>
          <a:xfrm>
            <a:off x="7631205" y="5809129"/>
            <a:ext cx="4074459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Diagnostic d’asthme exclu</a:t>
            </a:r>
            <a:endParaRPr lang="fr-FR" sz="2000" b="1" dirty="0" smtClean="0"/>
          </a:p>
          <a:p>
            <a:endParaRPr lang="fr-FR" sz="2000" dirty="0"/>
          </a:p>
        </p:txBody>
      </p:sp>
      <p:sp>
        <p:nvSpPr>
          <p:cNvPr id="9" name="Flèche droite 8"/>
          <p:cNvSpPr/>
          <p:nvPr/>
        </p:nvSpPr>
        <p:spPr>
          <a:xfrm>
            <a:off x="6589059" y="5022450"/>
            <a:ext cx="833717" cy="248797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 droite 9"/>
          <p:cNvSpPr/>
          <p:nvPr/>
        </p:nvSpPr>
        <p:spPr>
          <a:xfrm>
            <a:off x="6589059" y="6038673"/>
            <a:ext cx="833717" cy="248797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7303" y="5820812"/>
            <a:ext cx="904710" cy="696203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7303" y="4635643"/>
            <a:ext cx="1107951" cy="997156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95835" y="1021976"/>
            <a:ext cx="6293224" cy="73866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fr-FR" sz="2400" b="1" dirty="0"/>
              <a:t>Tests d’hyperréactivité bronchique </a:t>
            </a:r>
            <a:r>
              <a:rPr lang="fr-FR" b="1" dirty="0"/>
              <a:t>: </a:t>
            </a:r>
            <a:endParaRPr lang="fr-FR" b="1" dirty="0"/>
          </a:p>
          <a:p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3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Exploration fonctionnelle respiratoire    (EFR):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20895"/>
          </a:xfrm>
        </p:spPr>
        <p:txBody>
          <a:bodyPr/>
          <a:lstStyle/>
          <a:p>
            <a:pPr marL="514350" indent="-514350" algn="ctr">
              <a:buNone/>
              <a:defRPr/>
            </a:pPr>
            <a:r>
              <a:rPr lang="fr-FR" sz="4000" dirty="0" smtClean="0">
                <a:latin typeface="Arabic Typesetting" pitchFamily="66" charset="-78"/>
                <a:cs typeface="Arabic Typesetting" pitchFamily="66" charset="-78"/>
              </a:rPr>
              <a:t>Evaluation </a:t>
            </a:r>
            <a:r>
              <a:rPr lang="fr-FR" sz="4000" dirty="0" smtClean="0">
                <a:latin typeface="Arabic Typesetting" pitchFamily="66" charset="-78"/>
                <a:cs typeface="Arabic Typesetting" pitchFamily="66" charset="-78"/>
              </a:rPr>
              <a:t>du degrés </a:t>
            </a:r>
            <a:r>
              <a:rPr lang="fr-FR" sz="4000" b="1" dirty="0" smtClean="0">
                <a:latin typeface="Arabic Typesetting" pitchFamily="66" charset="-78"/>
                <a:cs typeface="Arabic Typesetting" pitchFamily="66" charset="-78"/>
              </a:rPr>
              <a:t>d’obstruction bronchique</a:t>
            </a:r>
            <a:endParaRPr lang="fr-FR" sz="4000" b="1" dirty="0" smtClean="0">
              <a:latin typeface="Arabic Typesetting" pitchFamily="66" charset="-78"/>
              <a:cs typeface="Arabic Typesetting" pitchFamily="66" charset="-78"/>
            </a:endParaRPr>
          </a:p>
          <a:p>
            <a:pPr>
              <a:defRPr/>
            </a:pPr>
            <a:r>
              <a:rPr lang="fr-FR" b="1" dirty="0" smtClean="0"/>
              <a:t>un syndrome obstructif</a:t>
            </a:r>
            <a:r>
              <a:rPr lang="fr-FR" dirty="0" smtClean="0"/>
              <a:t> définit par un rapport VEMS/ CVL inférieur à la limite inférieure de la normale (LIN) ou </a:t>
            </a:r>
            <a:r>
              <a:rPr lang="fr-FR" dirty="0" smtClean="0"/>
              <a:t>&lt;0,9 ou un </a:t>
            </a:r>
            <a:r>
              <a:rPr lang="fr-FR" dirty="0" smtClean="0"/>
              <a:t>Z Score &lt; -1,64</a:t>
            </a:r>
            <a:r>
              <a:rPr lang="fr-FR" dirty="0" smtClean="0"/>
              <a:t>.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Le syndrome obstructif est dit </a:t>
            </a:r>
            <a:r>
              <a:rPr lang="fr-FR" b="1" dirty="0" smtClean="0"/>
              <a:t>réversible</a:t>
            </a:r>
            <a:r>
              <a:rPr lang="fr-FR" dirty="0" smtClean="0"/>
              <a:t> lorsque le VEMS augmente &gt; 12% et &gt; 200 ml par rapport à la valeur initiale, 10 à 15 minutes après inhalation de 200 à 400 </a:t>
            </a:r>
            <a:r>
              <a:rPr lang="fr-FR" dirty="0" err="1" smtClean="0"/>
              <a:t>ug</a:t>
            </a:r>
            <a:r>
              <a:rPr lang="fr-FR" dirty="0" smtClean="0"/>
              <a:t> </a:t>
            </a:r>
            <a:r>
              <a:rPr lang="fr-FR" dirty="0" smtClean="0"/>
              <a:t>de </a:t>
            </a:r>
            <a:r>
              <a:rPr lang="fr-FR" dirty="0" err="1" smtClean="0"/>
              <a:t>Salbutamol</a:t>
            </a:r>
            <a:r>
              <a:rPr lang="fr-FR" dirty="0" smtClean="0"/>
              <a:t>.</a:t>
            </a:r>
            <a:endParaRPr lang="fr-FR" dirty="0" smtClean="0"/>
          </a:p>
          <a:p>
            <a:endParaRPr lang="fr-F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/>
          <a:srcRect r="44552"/>
          <a:stretch>
            <a:fillRect/>
          </a:stretch>
        </p:blipFill>
        <p:spPr bwMode="auto">
          <a:xfrm>
            <a:off x="9699171" y="4821237"/>
            <a:ext cx="2492829" cy="203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n°6: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b="1" dirty="0"/>
              <a:t> L’association de ces </a:t>
            </a:r>
            <a:r>
              <a:rPr lang="en-US" altLang="en-US" b="1" dirty="0"/>
              <a:t>é</a:t>
            </a:r>
            <a:r>
              <a:rPr lang="en-US" altLang="fr-FR" b="1" dirty="0"/>
              <a:t>l</a:t>
            </a:r>
            <a:r>
              <a:rPr lang="en-US" altLang="en-US" b="1" dirty="0"/>
              <a:t>é</a:t>
            </a:r>
            <a:r>
              <a:rPr lang="en-US" altLang="fr-FR" b="1" dirty="0"/>
              <a:t>ments cliniques fait </a:t>
            </a:r>
            <a:r>
              <a:rPr lang="en-US" altLang="en-US" b="1" dirty="0"/>
              <a:t>é</a:t>
            </a:r>
            <a:r>
              <a:rPr lang="en-US" altLang="fr-FR" b="1" dirty="0"/>
              <a:t>voquer le diagnostic de l’asthme chez le grand enfant</a:t>
            </a:r>
            <a:r>
              <a:rPr lang="" altLang="en-US" b="1" dirty="0"/>
              <a:t> </a:t>
            </a:r>
            <a:r>
              <a:rPr lang="en-US" altLang="fr-FR" b="1" dirty="0"/>
              <a:t>: </a:t>
            </a:r>
            <a:endParaRPr lang="en-US" altLang="fr-FR" b="1" dirty="0"/>
          </a:p>
          <a:p>
            <a:pPr>
              <a:buNone/>
            </a:pPr>
            <a:r>
              <a:rPr lang="en-US" altLang="fr-FR" dirty="0"/>
              <a:t>A)Une m</a:t>
            </a:r>
            <a:r>
              <a:rPr lang="" altLang="en-US" dirty="0"/>
              <a:t>è</a:t>
            </a:r>
            <a:r>
              <a:rPr lang="en-US" altLang="fr-FR" dirty="0"/>
              <a:t>re suivie pour une rhinite allergique 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B) Une exposition permanente au tabac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C)Une hypersensibilit</a:t>
            </a:r>
            <a:r>
              <a:rPr lang="en-US" altLang="en-US" dirty="0"/>
              <a:t>é</a:t>
            </a:r>
            <a:r>
              <a:rPr lang="en-US" altLang="fr-FR" dirty="0"/>
              <a:t> aux acariens 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D)La pr</a:t>
            </a:r>
            <a:r>
              <a:rPr lang="en-US" altLang="en-US" dirty="0"/>
              <a:t>é</a:t>
            </a:r>
            <a:r>
              <a:rPr lang="en-US" altLang="fr-FR" dirty="0"/>
              <a:t>sence d’une ob</a:t>
            </a:r>
            <a:r>
              <a:rPr lang="en-US" altLang="en-US" dirty="0"/>
              <a:t>é</a:t>
            </a:r>
            <a:r>
              <a:rPr lang="en-US" altLang="fr-FR" dirty="0"/>
              <a:t>sit</a:t>
            </a:r>
            <a:r>
              <a:rPr lang="en-US" altLang="en-US" dirty="0"/>
              <a:t>é</a:t>
            </a:r>
            <a:r>
              <a:rPr lang="en-US" altLang="fr-FR" dirty="0"/>
              <a:t> 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E)Le d</a:t>
            </a:r>
            <a:r>
              <a:rPr lang="en-US" altLang="en-US" dirty="0"/>
              <a:t>é</a:t>
            </a:r>
            <a:r>
              <a:rPr lang="en-US" altLang="fr-FR" dirty="0"/>
              <a:t>clenchement de symptômes  l’occasion d’une virose</a:t>
            </a:r>
            <a:endParaRPr lang="en-US" altLang="fr-F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n°6: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b="1" dirty="0"/>
              <a:t>L’association de ces </a:t>
            </a:r>
            <a:r>
              <a:rPr lang="en-US" altLang="en-US" b="1" dirty="0"/>
              <a:t>é</a:t>
            </a:r>
            <a:r>
              <a:rPr lang="en-US" altLang="fr-FR" b="1" dirty="0"/>
              <a:t>l</a:t>
            </a:r>
            <a:r>
              <a:rPr lang="en-US" altLang="en-US" b="1" dirty="0"/>
              <a:t>é</a:t>
            </a:r>
            <a:r>
              <a:rPr lang="en-US" altLang="fr-FR" b="1" dirty="0"/>
              <a:t>ments cliniques fait </a:t>
            </a:r>
            <a:r>
              <a:rPr lang="en-US" altLang="en-US" b="1" dirty="0"/>
              <a:t>é</a:t>
            </a:r>
            <a:r>
              <a:rPr lang="en-US" altLang="fr-FR" b="1" dirty="0"/>
              <a:t>voquer le diagnostic de l’asthme chez le grand enfant</a:t>
            </a:r>
            <a:r>
              <a:rPr lang="" altLang="en-US" b="1" dirty="0"/>
              <a:t> </a:t>
            </a:r>
            <a:r>
              <a:rPr lang="en-US" altLang="fr-FR" b="1" dirty="0"/>
              <a:t>:</a:t>
            </a:r>
            <a:r>
              <a:rPr lang="en-US" altLang="fr-FR" dirty="0"/>
              <a:t> </a:t>
            </a:r>
            <a:endParaRPr lang="en-US" altLang="fr-FR" dirty="0"/>
          </a:p>
          <a:p>
            <a:pPr>
              <a:buNone/>
            </a:pPr>
            <a:endParaRPr lang="en-US" altLang="fr-FR" dirty="0"/>
          </a:p>
          <a:p>
            <a:pPr>
              <a:buNone/>
            </a:pPr>
            <a:r>
              <a:rPr lang="en-US" altLang="fr-FR" b="1" dirty="0"/>
              <a:t>A)Une m</a:t>
            </a:r>
            <a:r>
              <a:rPr lang="" altLang="en-US" b="1" dirty="0"/>
              <a:t>è</a:t>
            </a:r>
            <a:r>
              <a:rPr lang="en-US" altLang="fr-FR" b="1" dirty="0"/>
              <a:t>re suivie pour une rhinite allergique </a:t>
            </a:r>
            <a:endParaRPr lang="en-US" altLang="fr-FR" b="1" dirty="0"/>
          </a:p>
          <a:p>
            <a:pPr>
              <a:buNone/>
            </a:pPr>
            <a:r>
              <a:rPr lang="en-US" altLang="fr-FR" b="1" dirty="0"/>
              <a:t>B) Une exposition permanente au tabac</a:t>
            </a:r>
            <a:endParaRPr lang="en-US" altLang="fr-FR" b="1" dirty="0"/>
          </a:p>
          <a:p>
            <a:pPr>
              <a:buNone/>
            </a:pPr>
            <a:r>
              <a:rPr lang="en-US" altLang="fr-FR" b="1" dirty="0"/>
              <a:t>C)Une hypersensibilit</a:t>
            </a:r>
            <a:r>
              <a:rPr lang="en-US" altLang="en-US" b="1" dirty="0"/>
              <a:t>é</a:t>
            </a:r>
            <a:r>
              <a:rPr lang="en-US" altLang="fr-FR" b="1" dirty="0"/>
              <a:t> aux acariens </a:t>
            </a:r>
            <a:endParaRPr lang="en-US" altLang="fr-FR" b="1" dirty="0"/>
          </a:p>
          <a:p>
            <a:pPr>
              <a:buNone/>
            </a:pPr>
            <a:r>
              <a:rPr lang="en-US" altLang="fr-FR" dirty="0"/>
              <a:t>D)La pr</a:t>
            </a:r>
            <a:r>
              <a:rPr lang="en-US" altLang="en-US" dirty="0"/>
              <a:t>é</a:t>
            </a:r>
            <a:r>
              <a:rPr lang="en-US" altLang="fr-FR" dirty="0"/>
              <a:t>sence d’une ob</a:t>
            </a:r>
            <a:r>
              <a:rPr lang="en-US" altLang="en-US" dirty="0"/>
              <a:t>é</a:t>
            </a:r>
            <a:r>
              <a:rPr lang="en-US" altLang="fr-FR" dirty="0"/>
              <a:t>sit</a:t>
            </a:r>
            <a:r>
              <a:rPr lang="en-US" altLang="en-US" dirty="0"/>
              <a:t>é</a:t>
            </a:r>
            <a:r>
              <a:rPr lang="en-US" altLang="fr-FR" dirty="0"/>
              <a:t> </a:t>
            </a:r>
            <a:endParaRPr lang="en-US" altLang="fr-FR" dirty="0"/>
          </a:p>
          <a:p>
            <a:pPr>
              <a:buNone/>
            </a:pPr>
            <a:r>
              <a:rPr lang="en-US" altLang="fr-FR" b="1" dirty="0"/>
              <a:t>E)Le d</a:t>
            </a:r>
            <a:r>
              <a:rPr lang="en-US" altLang="en-US" b="1" dirty="0"/>
              <a:t>é</a:t>
            </a:r>
            <a:r>
              <a:rPr lang="en-US" altLang="fr-FR" b="1" dirty="0"/>
              <a:t>clenchement de symptômes  l’occasion d’une virose</a:t>
            </a:r>
            <a:endParaRPr lang="en-US" altLang="fr-FR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754" y="1932354"/>
            <a:ext cx="4293192" cy="4756776"/>
          </a:xfrm>
          <a:prstGeom prst="rect">
            <a:avLst/>
          </a:prstGeom>
        </p:spPr>
      </p:pic>
      <p:sp>
        <p:nvSpPr>
          <p:cNvPr id="4" name="Ellipse 3"/>
          <p:cNvSpPr/>
          <p:nvPr/>
        </p:nvSpPr>
        <p:spPr>
          <a:xfrm>
            <a:off x="1460735" y="822960"/>
            <a:ext cx="2899954" cy="2952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err="1" smtClean="0">
                <a:solidFill>
                  <a:schemeClr val="tx1"/>
                </a:solidFill>
              </a:rPr>
              <a:t>Symptomes</a:t>
            </a:r>
            <a:r>
              <a:rPr lang="fr-FR" sz="2400" b="1" dirty="0" smtClean="0">
                <a:solidFill>
                  <a:schemeClr val="tx1"/>
                </a:solidFill>
              </a:rPr>
              <a:t> suggestifs avec variabilité 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2020515" y="3429000"/>
            <a:ext cx="3239588" cy="176348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Terrain d’</a:t>
            </a:r>
            <a:r>
              <a:rPr lang="fr-FR" sz="2400" b="1" dirty="0" err="1" smtClean="0">
                <a:solidFill>
                  <a:schemeClr val="tx1"/>
                </a:solidFill>
              </a:rPr>
              <a:t>atopie</a:t>
            </a:r>
            <a:r>
              <a:rPr lang="fr-FR" sz="2400" b="1" dirty="0" smtClean="0">
                <a:solidFill>
                  <a:schemeClr val="tx1"/>
                </a:solidFill>
              </a:rPr>
              <a:t>: clinique/PT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7" name="Ellipse 6"/>
          <p:cNvSpPr/>
          <p:nvPr/>
        </p:nvSpPr>
        <p:spPr>
          <a:xfrm>
            <a:off x="5734594" y="833983"/>
            <a:ext cx="3826265" cy="259501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Absence d’éléments suggestifs de diagnostic différentiel 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3864684" y="2495006"/>
            <a:ext cx="2664823" cy="128016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accent1">
                    <a:lumMod val="50000"/>
                  </a:schemeClr>
                </a:solidFill>
              </a:rPr>
              <a:t>Diagnostic positif</a:t>
            </a:r>
            <a:endParaRPr lang="fr-F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09283" y="125131"/>
            <a:ext cx="2891118" cy="46166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Enfant &lt; 5 ans </a:t>
            </a:r>
            <a:endParaRPr lang="fr-FR" sz="2400" b="1" dirty="0"/>
          </a:p>
        </p:txBody>
      </p:sp>
      <p:sp>
        <p:nvSpPr>
          <p:cNvPr id="10" name="Ellipse 9"/>
          <p:cNvSpPr/>
          <p:nvPr/>
        </p:nvSpPr>
        <p:spPr>
          <a:xfrm>
            <a:off x="4364914" y="3505264"/>
            <a:ext cx="3826265" cy="259501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Test thérapeutique au moins 2 à 3mois</a:t>
            </a:r>
            <a:endParaRPr lang="fr-FR" sz="2400" b="1" dirty="0">
              <a:solidFill>
                <a:schemeClr val="tx1"/>
              </a:solidFill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877" y="89789"/>
            <a:ext cx="1583649" cy="14663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7" grpId="0" bldLvl="0" animBg="1"/>
      <p:bldP spid="8" grpId="0" bldLvl="0" animBg="1"/>
      <p:bldP spid="10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/>
          <p:cNvSpPr/>
          <p:nvPr/>
        </p:nvSpPr>
        <p:spPr>
          <a:xfrm>
            <a:off x="0" y="588598"/>
            <a:ext cx="3609578" cy="2952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Symptômes suggestifs avec variabilité dans le temps et en intensité 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7" name="Ellipse 6"/>
          <p:cNvSpPr/>
          <p:nvPr/>
        </p:nvSpPr>
        <p:spPr>
          <a:xfrm>
            <a:off x="4793299" y="310640"/>
            <a:ext cx="3826265" cy="259501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Variabilité de la limitation du débit expiratoire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2771278" y="586796"/>
            <a:ext cx="2664823" cy="128016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accent1">
                    <a:lumMod val="50000"/>
                  </a:schemeClr>
                </a:solidFill>
              </a:rPr>
              <a:t>Diagnostic positif</a:t>
            </a:r>
            <a:endParaRPr lang="fr-F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09282" y="125131"/>
            <a:ext cx="3913093" cy="46166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Enfant entre 6 et 11 ans </a:t>
            </a:r>
            <a:endParaRPr lang="fr-FR" sz="2400" b="1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6430" y="0"/>
            <a:ext cx="1583649" cy="1466341"/>
          </a:xfrm>
          <a:prstGeom prst="rect">
            <a:avLst/>
          </a:prstGeom>
        </p:spPr>
      </p:pic>
      <p:sp>
        <p:nvSpPr>
          <p:cNvPr id="12" name="Ellipse 11"/>
          <p:cNvSpPr/>
          <p:nvPr/>
        </p:nvSpPr>
        <p:spPr>
          <a:xfrm>
            <a:off x="8942294" y="1667435"/>
            <a:ext cx="3249706" cy="133279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Test positif au bronchodilatateur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8559885" y="2982764"/>
            <a:ext cx="3300422" cy="172538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Variabilité de la mesure 2 fois/jour du DEP sur 2 semaines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7130430" y="4516654"/>
            <a:ext cx="3247210" cy="1950713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Amélioration de la fonction respiratoire après 4 semaines de traitement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4483314" y="5492010"/>
            <a:ext cx="2599474" cy="116944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Test de provocation positif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578225" y="5230907"/>
            <a:ext cx="3719008" cy="162709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Variation </a:t>
            </a:r>
            <a:r>
              <a:rPr lang="fr-FR" sz="2000" b="1" dirty="0">
                <a:solidFill>
                  <a:schemeClr val="tx1"/>
                </a:solidFill>
              </a:rPr>
              <a:t>e</a:t>
            </a:r>
            <a:r>
              <a:rPr lang="fr-FR" sz="2000" b="1" dirty="0" smtClean="0">
                <a:solidFill>
                  <a:schemeClr val="tx1"/>
                </a:solidFill>
              </a:rPr>
              <a:t>xcessive des fonctions respiratoires entre les consultations </a:t>
            </a:r>
            <a:endParaRPr lang="fr-FR" sz="2000" b="1" dirty="0">
              <a:solidFill>
                <a:schemeClr val="tx1"/>
              </a:solidFill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8417859" y="1866956"/>
            <a:ext cx="806823" cy="2038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8228192" y="2528047"/>
            <a:ext cx="714102" cy="6357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>
            <a:off x="7441746" y="2932773"/>
            <a:ext cx="656218" cy="16795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7" idx="4"/>
          </p:cNvCxnSpPr>
          <p:nvPr/>
        </p:nvCxnSpPr>
        <p:spPr>
          <a:xfrm flipH="1">
            <a:off x="6145306" y="2905657"/>
            <a:ext cx="561126" cy="24328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 flipH="1">
            <a:off x="3227293" y="2905657"/>
            <a:ext cx="2358944" cy="24328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4537" y="5010117"/>
            <a:ext cx="1515945" cy="1457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n°7: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b="1" dirty="0">
                <a:sym typeface="+mn-ea"/>
              </a:rPr>
              <a:t> Ces affirmations concernant le diagnostic </a:t>
            </a:r>
            <a:r>
              <a:rPr lang="en-US" altLang="en-US" b="1" dirty="0">
                <a:sym typeface="+mn-ea"/>
              </a:rPr>
              <a:t>é</a:t>
            </a:r>
            <a:r>
              <a:rPr lang="en-US" altLang="fr-FR" b="1" dirty="0">
                <a:sym typeface="+mn-ea"/>
              </a:rPr>
              <a:t>tiologique de l’asthme sont vraies</a:t>
            </a:r>
            <a:r>
              <a:rPr lang="en-US" altLang="en-US" b="1" dirty="0">
                <a:sym typeface="+mn-ea"/>
              </a:rPr>
              <a:t> </a:t>
            </a:r>
            <a:r>
              <a:rPr lang="en-US" altLang="fr-FR" b="1" dirty="0">
                <a:sym typeface="+mn-ea"/>
              </a:rPr>
              <a:t>: </a:t>
            </a:r>
            <a:endParaRPr lang="en-US" altLang="fr-FR" dirty="0"/>
          </a:p>
          <a:p>
            <a:pPr>
              <a:buNone/>
            </a:pPr>
            <a:r>
              <a:rPr lang="en-US" altLang="fr-FR" dirty="0">
                <a:sym typeface="+mn-ea"/>
              </a:rPr>
              <a:t>A)Une allergie aux acariens est attest</a:t>
            </a:r>
            <a:r>
              <a:rPr lang="en-US" altLang="en-US" dirty="0">
                <a:sym typeface="+mn-ea"/>
              </a:rPr>
              <a:t>é</a:t>
            </a:r>
            <a:r>
              <a:rPr lang="en-US" altLang="fr-FR" dirty="0">
                <a:sym typeface="+mn-ea"/>
              </a:rPr>
              <a:t>e par une papule &lt; 50% du diam</a:t>
            </a:r>
            <a:r>
              <a:rPr lang="en-US" altLang="en-US" dirty="0">
                <a:sym typeface="+mn-ea"/>
              </a:rPr>
              <a:t>è</a:t>
            </a:r>
            <a:r>
              <a:rPr lang="en-US" altLang="fr-FR" dirty="0">
                <a:sym typeface="+mn-ea"/>
              </a:rPr>
              <a:t>tre du t</a:t>
            </a:r>
            <a:r>
              <a:rPr lang="en-US" altLang="en-US" dirty="0">
                <a:sym typeface="+mn-ea"/>
              </a:rPr>
              <a:t>é</a:t>
            </a:r>
            <a:r>
              <a:rPr lang="en-US" altLang="fr-FR" dirty="0">
                <a:sym typeface="+mn-ea"/>
              </a:rPr>
              <a:t>moin positif au Prick test</a:t>
            </a:r>
            <a:endParaRPr lang="en-US" altLang="fr-FR" dirty="0"/>
          </a:p>
          <a:p>
            <a:pPr>
              <a:buNone/>
            </a:pPr>
            <a:r>
              <a:rPr lang="en-US" altLang="fr-FR" dirty="0">
                <a:sym typeface="+mn-ea"/>
              </a:rPr>
              <a:t>B)La prise d’un anti histaminique fausse les tests cutan</a:t>
            </a:r>
            <a:r>
              <a:rPr lang="en-US" altLang="en-US" dirty="0">
                <a:sym typeface="+mn-ea"/>
              </a:rPr>
              <a:t>é</a:t>
            </a:r>
            <a:r>
              <a:rPr lang="en-US" altLang="fr-FR" dirty="0">
                <a:sym typeface="+mn-ea"/>
              </a:rPr>
              <a:t>s </a:t>
            </a:r>
            <a:endParaRPr lang="en-US" altLang="fr-FR" dirty="0"/>
          </a:p>
          <a:p>
            <a:pPr>
              <a:buNone/>
            </a:pPr>
            <a:r>
              <a:rPr lang="en-US" altLang="fr-FR" dirty="0">
                <a:sym typeface="+mn-ea"/>
              </a:rPr>
              <a:t>C)Un taux des IgE totaux normal </a:t>
            </a:r>
            <a:r>
              <a:rPr lang="en-US" altLang="en-US" dirty="0">
                <a:sym typeface="+mn-ea"/>
              </a:rPr>
              <a:t>é</a:t>
            </a:r>
            <a:r>
              <a:rPr lang="en-US" altLang="fr-FR" dirty="0">
                <a:sym typeface="+mn-ea"/>
              </a:rPr>
              <a:t>limine l’origine allergique</a:t>
            </a:r>
            <a:endParaRPr lang="en-US" altLang="fr-FR" dirty="0"/>
          </a:p>
          <a:p>
            <a:pPr>
              <a:buNone/>
            </a:pPr>
            <a:r>
              <a:rPr lang="en-US" altLang="fr-FR" dirty="0">
                <a:sym typeface="+mn-ea"/>
              </a:rPr>
              <a:t>D)Un RGO est a la fois une cause et cons</a:t>
            </a:r>
            <a:r>
              <a:rPr lang="en-US" altLang="en-US" dirty="0">
                <a:sym typeface="+mn-ea"/>
              </a:rPr>
              <a:t>é</a:t>
            </a:r>
            <a:r>
              <a:rPr lang="en-US" altLang="fr-FR" dirty="0">
                <a:sym typeface="+mn-ea"/>
              </a:rPr>
              <a:t>quence de l’asthme </a:t>
            </a:r>
            <a:endParaRPr lang="en-US" altLang="fr-FR" dirty="0"/>
          </a:p>
          <a:p>
            <a:pPr>
              <a:buNone/>
            </a:pPr>
            <a:r>
              <a:rPr lang="en-US" altLang="fr-FR" dirty="0">
                <a:sym typeface="+mn-ea"/>
              </a:rPr>
              <a:t>L’asthme viro -induit est souvent de bon pronostic</a:t>
            </a:r>
            <a:endParaRPr lang="en-US" alt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n°7: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dirty="0"/>
              <a:t> </a:t>
            </a:r>
            <a:r>
              <a:rPr lang="en-US" altLang="fr-FR" b="1" dirty="0"/>
              <a:t> Ces affirmations concernant le diagnostic </a:t>
            </a:r>
            <a:r>
              <a:rPr lang="en-US" altLang="en-US" b="1" dirty="0"/>
              <a:t>é</a:t>
            </a:r>
            <a:r>
              <a:rPr lang="en-US" altLang="fr-FR" b="1" dirty="0"/>
              <a:t>tiologique de l’asthme sont vraies</a:t>
            </a:r>
            <a:r>
              <a:rPr lang="" altLang="en-US" b="1" dirty="0"/>
              <a:t> </a:t>
            </a:r>
            <a:r>
              <a:rPr lang="en-US" altLang="fr-FR" b="1" dirty="0"/>
              <a:t>: </a:t>
            </a:r>
            <a:endParaRPr lang="en-US" altLang="fr-FR" dirty="0"/>
          </a:p>
          <a:p>
            <a:pPr>
              <a:buNone/>
            </a:pPr>
            <a:r>
              <a:rPr lang="en-US" altLang="fr-FR" dirty="0"/>
              <a:t>A)Une allergie aux acariens est attest</a:t>
            </a:r>
            <a:r>
              <a:rPr lang="en-US" altLang="en-US" dirty="0"/>
              <a:t>é</a:t>
            </a:r>
            <a:r>
              <a:rPr lang="en-US" altLang="fr-FR" dirty="0"/>
              <a:t>e par une papule &lt; 50% du diam</a:t>
            </a:r>
            <a:r>
              <a:rPr lang="" altLang="en-US" dirty="0"/>
              <a:t>è</a:t>
            </a:r>
            <a:r>
              <a:rPr lang="en-US" altLang="fr-FR" dirty="0"/>
              <a:t>tre du t</a:t>
            </a:r>
            <a:r>
              <a:rPr lang="en-US" altLang="en-US" dirty="0"/>
              <a:t>é</a:t>
            </a:r>
            <a:r>
              <a:rPr lang="en-US" altLang="fr-FR" dirty="0"/>
              <a:t>moin positif au Prick test</a:t>
            </a:r>
            <a:endParaRPr lang="en-US" altLang="fr-FR" dirty="0"/>
          </a:p>
          <a:p>
            <a:pPr>
              <a:buNone/>
            </a:pPr>
            <a:r>
              <a:rPr lang="en-US" altLang="fr-FR" b="1" dirty="0"/>
              <a:t>B)La prise d’un anti histaminique fausse les tests cutan</a:t>
            </a:r>
            <a:r>
              <a:rPr lang="en-US" altLang="en-US" b="1" dirty="0"/>
              <a:t>é</a:t>
            </a:r>
            <a:r>
              <a:rPr lang="en-US" altLang="fr-FR" b="1" dirty="0"/>
              <a:t>s </a:t>
            </a:r>
            <a:endParaRPr lang="en-US" altLang="fr-FR" b="1" dirty="0"/>
          </a:p>
          <a:p>
            <a:pPr>
              <a:buNone/>
            </a:pPr>
            <a:r>
              <a:rPr lang="en-US" altLang="fr-FR" dirty="0"/>
              <a:t>C)Un taux des IgE totaux normal </a:t>
            </a:r>
            <a:r>
              <a:rPr lang="en-US" altLang="en-US" dirty="0"/>
              <a:t>é</a:t>
            </a:r>
            <a:r>
              <a:rPr lang="en-US" altLang="fr-FR" dirty="0"/>
              <a:t>limine l’origine allergique</a:t>
            </a:r>
            <a:endParaRPr lang="en-US" altLang="fr-FR" dirty="0"/>
          </a:p>
          <a:p>
            <a:pPr>
              <a:buNone/>
            </a:pPr>
            <a:r>
              <a:rPr lang="en-US" altLang="fr-FR" b="1" dirty="0"/>
              <a:t>D)Un RGO est a la fois une cause et cons</a:t>
            </a:r>
            <a:r>
              <a:rPr lang="en-US" altLang="en-US" b="1" dirty="0"/>
              <a:t>é</a:t>
            </a:r>
            <a:r>
              <a:rPr lang="en-US" altLang="fr-FR" b="1" dirty="0"/>
              <a:t>quence de l’asthme </a:t>
            </a:r>
            <a:endParaRPr lang="en-US" altLang="fr-FR" b="1" dirty="0"/>
          </a:p>
          <a:p>
            <a:pPr>
              <a:buNone/>
            </a:pPr>
            <a:r>
              <a:rPr lang="fr-FR" altLang="en-US" b="1" dirty="0"/>
              <a:t>E) </a:t>
            </a:r>
            <a:r>
              <a:rPr lang="en-US" altLang="fr-FR" b="1" dirty="0"/>
              <a:t>L’asthme viro -induit est souvent de bon pronostic</a:t>
            </a:r>
            <a:endParaRPr lang="en-US" altLang="fr-FR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274638"/>
            <a:ext cx="9956800" cy="58261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fr-FR" b="1" u="sng" dirty="0" smtClean="0"/>
              <a:t>Enquête </a:t>
            </a:r>
            <a:r>
              <a:rPr lang="fr-FR" b="1" u="sng" dirty="0" err="1" smtClean="0"/>
              <a:t>allergologique</a:t>
            </a:r>
            <a:r>
              <a:rPr lang="fr-FR" b="1" u="sng" dirty="0" smtClean="0"/>
              <a:t>:</a:t>
            </a:r>
            <a:endParaRPr lang="fr-FR" dirty="0" smtClean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76252" y="1285874"/>
            <a:ext cx="11144249" cy="5572125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fr-FR" b="1" i="1" dirty="0" smtClean="0"/>
              <a:t>Interrogatoire</a:t>
            </a:r>
            <a:r>
              <a:rPr lang="fr-FR" b="1" i="1" dirty="0" smtClean="0"/>
              <a:t>:</a:t>
            </a:r>
            <a:r>
              <a:rPr lang="fr-FR" dirty="0" smtClean="0"/>
              <a:t> antécédents d’allergie familiaux et personnels</a:t>
            </a:r>
            <a:endParaRPr lang="fr-FR" dirty="0" smtClean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fr-FR" dirty="0" smtClean="0"/>
              <a:t>			   Facteurs déclenchant: saison, poussière, animaux</a:t>
            </a:r>
            <a:endParaRPr lang="fr-FR" dirty="0" smtClean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fr-FR" b="1" i="1" dirty="0" smtClean="0"/>
              <a:t>Examen clinique:</a:t>
            </a:r>
            <a:r>
              <a:rPr lang="fr-FR" dirty="0" smtClean="0"/>
              <a:t> eczéma, conjonctivite, rhinite….</a:t>
            </a:r>
            <a:endParaRPr lang="fr-FR" b="1" i="1" dirty="0" smtClean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fr-FR" b="1" i="1" dirty="0" smtClean="0"/>
              <a:t>Examens complémentaires: </a:t>
            </a:r>
            <a:r>
              <a:rPr lang="fr-FR" b="1" dirty="0" smtClean="0"/>
              <a:t>base de l’enquête</a:t>
            </a:r>
            <a:endParaRPr lang="fr-FR" b="1" dirty="0" smtClean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fr-FR" b="1" dirty="0" smtClean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fr-FR" b="1" i="1" dirty="0" smtClean="0"/>
              <a:t>- Signes de sensibilisation: +++</a:t>
            </a:r>
            <a:endParaRPr lang="fr-FR" b="1" i="1" dirty="0" smtClean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fr-FR" dirty="0" smtClean="0"/>
              <a:t>		Les tests cutanées: </a:t>
            </a:r>
            <a:r>
              <a:rPr lang="fr-FR" dirty="0" err="1" smtClean="0"/>
              <a:t>prick</a:t>
            </a:r>
            <a:r>
              <a:rPr lang="fr-FR" dirty="0" smtClean="0"/>
              <a:t>-test</a:t>
            </a:r>
            <a:endParaRPr lang="fr-FR" dirty="0" smtClean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fr-FR" dirty="0" smtClean="0"/>
              <a:t>Et/ou </a:t>
            </a:r>
            <a:endParaRPr lang="fr-FR" dirty="0" smtClean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fr-FR" dirty="0" smtClean="0"/>
              <a:t>		Les </a:t>
            </a:r>
            <a:r>
              <a:rPr lang="fr-FR" dirty="0" err="1" smtClean="0"/>
              <a:t>IgE</a:t>
            </a:r>
            <a:r>
              <a:rPr lang="fr-FR" dirty="0" smtClean="0"/>
              <a:t> spécifiques (alimentaires et respiratoires)</a:t>
            </a:r>
            <a:endParaRPr lang="fr-FR" dirty="0" smtClean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fr-FR" dirty="0" smtClean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fr-FR" b="1" i="1" dirty="0" smtClean="0"/>
              <a:t>- Signes d’</a:t>
            </a:r>
            <a:r>
              <a:rPr lang="fr-FR" b="1" i="1" dirty="0" err="1" smtClean="0"/>
              <a:t>atopie</a:t>
            </a:r>
            <a:r>
              <a:rPr lang="fr-FR" b="1" i="1" dirty="0" smtClean="0"/>
              <a:t>: </a:t>
            </a:r>
            <a:r>
              <a:rPr lang="fr-FR" dirty="0" smtClean="0"/>
              <a:t>(</a:t>
            </a:r>
            <a:r>
              <a:rPr lang="fr-FR" dirty="0" err="1" smtClean="0"/>
              <a:t>IgE</a:t>
            </a:r>
            <a:r>
              <a:rPr lang="fr-FR" dirty="0" smtClean="0"/>
              <a:t> totaux, </a:t>
            </a:r>
            <a:r>
              <a:rPr lang="fr-FR" dirty="0" err="1" smtClean="0"/>
              <a:t>Hyperéosinophilie</a:t>
            </a:r>
            <a:r>
              <a:rPr lang="fr-FR" dirty="0" smtClean="0"/>
              <a:t> (&gt;400) </a:t>
            </a:r>
            <a:r>
              <a:rPr lang="fr-FR" b="1" dirty="0" smtClean="0"/>
              <a:t>non spécifique</a:t>
            </a:r>
            <a:r>
              <a:rPr lang="fr-FR" dirty="0" smtClean="0"/>
              <a:t>)</a:t>
            </a:r>
            <a:endParaRPr lang="fr-FR" dirty="0" smtClean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fr-FR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9416" y="1228165"/>
            <a:ext cx="3760196" cy="560294"/>
          </a:xfrm>
          <a:solidFill>
            <a:srgbClr val="FFFFCC"/>
          </a:solidFill>
        </p:spPr>
        <p:txBody>
          <a:bodyPr>
            <a:normAutofit/>
          </a:bodyPr>
          <a:lstStyle/>
          <a:p>
            <a:r>
              <a:rPr lang="fr-FR" sz="2400" b="1" dirty="0" smtClean="0">
                <a:solidFill>
                  <a:schemeClr val="tx1"/>
                </a:solidFill>
              </a:rPr>
              <a:t> Histoire d’</a:t>
            </a:r>
            <a:r>
              <a:rPr lang="fr-FR" sz="2400" b="1" dirty="0" err="1" smtClean="0">
                <a:solidFill>
                  <a:schemeClr val="tx1"/>
                </a:solidFill>
              </a:rPr>
              <a:t>atopie</a:t>
            </a:r>
            <a:r>
              <a:rPr lang="fr-FR" sz="2400" b="1" dirty="0" smtClean="0">
                <a:solidFill>
                  <a:schemeClr val="tx1"/>
                </a:solidFill>
              </a:rPr>
              <a:t>:  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3" y="2160589"/>
            <a:ext cx="5658153" cy="3880773"/>
          </a:xfrm>
        </p:spPr>
        <p:txBody>
          <a:bodyPr>
            <a:normAutofit/>
          </a:bodyPr>
          <a:lstStyle/>
          <a:p>
            <a:r>
              <a:rPr lang="fr-FR" sz="2400" dirty="0">
                <a:solidFill>
                  <a:schemeClr val="tx1"/>
                </a:solidFill>
              </a:rPr>
              <a:t>Les antécédents personnels ou familiaux d’</a:t>
            </a:r>
            <a:r>
              <a:rPr lang="fr-FR" sz="2400" dirty="0" err="1">
                <a:solidFill>
                  <a:schemeClr val="tx1"/>
                </a:solidFill>
              </a:rPr>
              <a:t>atopie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smtClean="0">
                <a:solidFill>
                  <a:schemeClr val="tx1"/>
                </a:solidFill>
              </a:rPr>
              <a:t>:</a:t>
            </a:r>
            <a:endParaRPr lang="fr-FR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2400" dirty="0" smtClean="0">
                <a:solidFill>
                  <a:schemeClr val="tx1"/>
                </a:solidFill>
              </a:rPr>
              <a:t> </a:t>
            </a:r>
            <a:r>
              <a:rPr lang="fr-FR" sz="2400" dirty="0">
                <a:solidFill>
                  <a:schemeClr val="tx1"/>
                </a:solidFill>
              </a:rPr>
              <a:t>D</a:t>
            </a:r>
            <a:r>
              <a:rPr lang="fr-FR" sz="2400" dirty="0" smtClean="0">
                <a:solidFill>
                  <a:schemeClr val="tx1"/>
                </a:solidFill>
              </a:rPr>
              <a:t>ermatite </a:t>
            </a:r>
            <a:r>
              <a:rPr lang="fr-FR" sz="2400" dirty="0" err="1">
                <a:solidFill>
                  <a:schemeClr val="tx1"/>
                </a:solidFill>
              </a:rPr>
              <a:t>atopique</a:t>
            </a:r>
            <a:r>
              <a:rPr lang="fr-FR" sz="2400" dirty="0">
                <a:solidFill>
                  <a:schemeClr val="tx1"/>
                </a:solidFill>
              </a:rPr>
              <a:t>, rhinite </a:t>
            </a:r>
            <a:r>
              <a:rPr lang="fr-FR" sz="2400" dirty="0" smtClean="0">
                <a:solidFill>
                  <a:schemeClr val="tx1"/>
                </a:solidFill>
              </a:rPr>
              <a:t>allergique, allergie </a:t>
            </a:r>
            <a:r>
              <a:rPr lang="fr-FR" sz="2400" dirty="0">
                <a:solidFill>
                  <a:schemeClr val="tx1"/>
                </a:solidFill>
              </a:rPr>
              <a:t>alimentaire, </a:t>
            </a:r>
            <a:r>
              <a:rPr lang="fr-FR" sz="2400" dirty="0" err="1" smtClean="0">
                <a:solidFill>
                  <a:schemeClr val="tx1"/>
                </a:solidFill>
              </a:rPr>
              <a:t>etc</a:t>
            </a:r>
            <a:r>
              <a:rPr lang="fr-FR" sz="2400" dirty="0" smtClean="0">
                <a:solidFill>
                  <a:schemeClr val="tx1"/>
                </a:solidFill>
              </a:rPr>
              <a:t>, </a:t>
            </a:r>
            <a:r>
              <a:rPr lang="fr-FR" sz="2400" dirty="0">
                <a:solidFill>
                  <a:schemeClr val="tx1"/>
                </a:solidFill>
              </a:rPr>
              <a:t>ou d'asthme familial 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Résultats antérieurs de tests cutanés (</a:t>
            </a:r>
            <a:r>
              <a:rPr lang="fr-FR" sz="2400" dirty="0" err="1" smtClean="0">
                <a:solidFill>
                  <a:schemeClr val="tx1"/>
                </a:solidFill>
              </a:rPr>
              <a:t>Prick</a:t>
            </a:r>
            <a:r>
              <a:rPr lang="fr-FR" sz="2400" dirty="0" smtClean="0">
                <a:solidFill>
                  <a:schemeClr val="tx1"/>
                </a:solidFill>
              </a:rPr>
              <a:t> </a:t>
            </a:r>
            <a:r>
              <a:rPr lang="fr-FR" sz="2400" dirty="0">
                <a:solidFill>
                  <a:schemeClr val="tx1"/>
                </a:solidFill>
              </a:rPr>
              <a:t>test) allergéniques </a:t>
            </a:r>
            <a:r>
              <a:rPr lang="fr-FR" sz="2400" dirty="0" smtClean="0">
                <a:solidFill>
                  <a:schemeClr val="tx1"/>
                </a:solidFill>
              </a:rPr>
              <a:t>positifs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1" y="2066230"/>
            <a:ext cx="5105399" cy="34724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34243" y="268941"/>
            <a:ext cx="6886828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fr-FR" sz="2400" b="1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 smtClean="0"/>
              <a:t>Méthode simple, rapide et peu couteuse </a:t>
            </a:r>
            <a:endParaRPr lang="fr-FR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 smtClean="0"/>
              <a:t>La </a:t>
            </a:r>
            <a:r>
              <a:rPr lang="fr-FR" sz="2400" dirty="0"/>
              <a:t>présence d’une sensibilisation augmente la probabilité </a:t>
            </a:r>
            <a:r>
              <a:rPr lang="fr-FR" sz="2400" dirty="0" smtClean="0"/>
              <a:t>d’asthme </a:t>
            </a:r>
            <a:endParaRPr lang="fr-FR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 smtClean="0"/>
              <a:t>Si allergie alimentaire , test cutané aux </a:t>
            </a:r>
            <a:r>
              <a:rPr lang="fr-FR" sz="2400" dirty="0" err="1" smtClean="0"/>
              <a:t>trophallergène</a:t>
            </a:r>
            <a:r>
              <a:rPr lang="fr-FR" sz="2400" dirty="0" smtClean="0"/>
              <a:t> </a:t>
            </a:r>
            <a:endParaRPr lang="fr-FR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 smtClean="0"/>
              <a:t>Lecture 15 min après injection de l’</a:t>
            </a:r>
            <a:r>
              <a:rPr lang="fr-FR" sz="2400" dirty="0" err="1" smtClean="0"/>
              <a:t>allèrgène</a:t>
            </a:r>
            <a:r>
              <a:rPr lang="fr-FR" sz="2400" dirty="0" smtClean="0"/>
              <a:t> : </a:t>
            </a:r>
            <a:r>
              <a:rPr lang="fr-FR" sz="2400" b="1" dirty="0" smtClean="0">
                <a:solidFill>
                  <a:srgbClr val="FF0000"/>
                </a:solidFill>
              </a:rPr>
              <a:t>papule &gt; de 3 mm le </a:t>
            </a:r>
            <a:r>
              <a:rPr lang="el-GR" sz="2400" b="1" dirty="0" smtClean="0">
                <a:solidFill>
                  <a:srgbClr val="FF0000"/>
                </a:solidFill>
                <a:latin typeface="Franklin Gothic Book" panose="020B0503020102020204" pitchFamily="34" charset="0"/>
              </a:rPr>
              <a:t>Φ</a:t>
            </a:r>
            <a:r>
              <a:rPr lang="fr-FR" sz="2400" b="1" dirty="0" smtClean="0">
                <a:solidFill>
                  <a:srgbClr val="FF0000"/>
                </a:solidFill>
                <a:latin typeface="Franklin Gothic Book" panose="020B0503020102020204" pitchFamily="34" charset="0"/>
              </a:rPr>
              <a:t> du </a:t>
            </a:r>
            <a:r>
              <a:rPr lang="fr-FR" sz="2400" b="1" dirty="0" smtClean="0">
                <a:solidFill>
                  <a:srgbClr val="FF0000"/>
                </a:solidFill>
              </a:rPr>
              <a:t>témoin négatif </a:t>
            </a:r>
            <a:r>
              <a:rPr lang="fr-FR" sz="2400" b="1" u="sng" dirty="0" smtClean="0">
                <a:solidFill>
                  <a:srgbClr val="FF0000"/>
                </a:solidFill>
              </a:rPr>
              <a:t>ou  </a:t>
            </a:r>
            <a:r>
              <a:rPr lang="fr-FR" sz="2400" b="1" dirty="0" smtClean="0">
                <a:solidFill>
                  <a:srgbClr val="FF0000"/>
                </a:solidFill>
              </a:rPr>
              <a:t>&gt; à 50% du </a:t>
            </a:r>
            <a:r>
              <a:rPr lang="el-GR" sz="2400" b="1" dirty="0" smtClean="0">
                <a:solidFill>
                  <a:srgbClr val="FF0000"/>
                </a:solidFill>
                <a:latin typeface="Franklin Gothic Book" panose="020B0503020102020204" pitchFamily="34" charset="0"/>
              </a:rPr>
              <a:t>Φ</a:t>
            </a:r>
            <a:r>
              <a:rPr lang="fr-FR" sz="2400" b="1" dirty="0" smtClean="0">
                <a:solidFill>
                  <a:srgbClr val="FF0000"/>
                </a:solidFill>
                <a:latin typeface="Franklin Gothic Book" panose="020B0503020102020204" pitchFamily="34" charset="0"/>
              </a:rPr>
              <a:t> du témoin positif</a:t>
            </a:r>
            <a:endParaRPr lang="fr-FR" sz="2400" b="1" dirty="0" smtClean="0">
              <a:solidFill>
                <a:srgbClr val="FF0000"/>
              </a:solidFill>
            </a:endParaRPr>
          </a:p>
          <a:p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564775" y="268941"/>
            <a:ext cx="4222377" cy="46166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fr-FR" sz="2400" b="1" dirty="0"/>
              <a:t>Test aux </a:t>
            </a:r>
            <a:r>
              <a:rPr lang="fr-FR" sz="2400" b="1" dirty="0" err="1"/>
              <a:t>aéroallèrgènes</a:t>
            </a:r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341" y="52234"/>
            <a:ext cx="3972486" cy="444094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159" y="4829810"/>
            <a:ext cx="2628900" cy="173355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285" y="4714875"/>
            <a:ext cx="2143125" cy="2143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42045" y="524452"/>
            <a:ext cx="5422039" cy="46166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fr-FR" sz="2400" b="1" dirty="0"/>
              <a:t>La mesure des </a:t>
            </a:r>
            <a:r>
              <a:rPr lang="fr-FR" sz="2400" b="1" dirty="0" err="1"/>
              <a:t>IgE</a:t>
            </a:r>
            <a:r>
              <a:rPr lang="fr-FR" sz="2400" b="1" dirty="0"/>
              <a:t> spécifiques (</a:t>
            </a:r>
            <a:r>
              <a:rPr lang="fr-FR" sz="2400" b="1" dirty="0" err="1"/>
              <a:t>IgEs</a:t>
            </a:r>
            <a:r>
              <a:rPr lang="fr-FR" sz="2400" b="1" dirty="0"/>
              <a:t>)</a:t>
            </a:r>
            <a:endParaRPr lang="fr-FR" sz="24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242045" y="1319669"/>
            <a:ext cx="11322426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 smtClean="0"/>
              <a:t> moins fiable </a:t>
            </a:r>
            <a:r>
              <a:rPr lang="fr-FR" sz="2400" dirty="0"/>
              <a:t>que les </a:t>
            </a:r>
            <a:r>
              <a:rPr lang="fr-FR" sz="2400" dirty="0" err="1"/>
              <a:t>TCs</a:t>
            </a:r>
            <a:r>
              <a:rPr lang="fr-FR" sz="2400" dirty="0"/>
              <a:t> </a:t>
            </a:r>
            <a:endParaRPr lang="fr-FR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 smtClean="0"/>
              <a:t>  </a:t>
            </a:r>
            <a:r>
              <a:rPr lang="fr-FR" sz="2400" dirty="0"/>
              <a:t>U</a:t>
            </a:r>
            <a:r>
              <a:rPr lang="fr-FR" sz="2400" dirty="0" smtClean="0"/>
              <a:t>tile </a:t>
            </a:r>
            <a:r>
              <a:rPr lang="fr-FR" sz="2400" dirty="0"/>
              <a:t>en cas de dermographisme, d’anergie cutanée, de lésions cutanées, d’impossibilité d’arrêter les </a:t>
            </a:r>
            <a:r>
              <a:rPr lang="fr-FR" sz="2400" dirty="0" smtClean="0"/>
              <a:t>antihistaminiques ou risque </a:t>
            </a:r>
            <a:r>
              <a:rPr lang="fr-FR" sz="2400" dirty="0" err="1" smtClean="0"/>
              <a:t>elevé</a:t>
            </a:r>
            <a:r>
              <a:rPr lang="fr-FR" sz="2400" dirty="0" smtClean="0"/>
              <a:t> d’anaphylaxie </a:t>
            </a:r>
            <a:endParaRPr lang="fr-FR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 smtClean="0"/>
              <a:t>Pas d’</a:t>
            </a:r>
            <a:r>
              <a:rPr lang="fr-FR" sz="2400" dirty="0" err="1" smtClean="0"/>
              <a:t>interet</a:t>
            </a:r>
            <a:r>
              <a:rPr lang="fr-FR" sz="2400" dirty="0" smtClean="0"/>
              <a:t> pour le diagnostic positif chez l’enfant</a:t>
            </a:r>
            <a:endParaRPr lang="fr-FR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n°8: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altLang="fr-FR" sz="2800" b="1" dirty="0"/>
              <a:t>Vous recevez aux urgences un enfant de 4 ans asthmatique qui pr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sente une exacerbation, quels sont parmi ces signes cliniques ceux qui cadrent avec une crise s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v</a:t>
            </a:r>
            <a:r>
              <a:rPr lang="" altLang="en-US" sz="2800" b="1" dirty="0"/>
              <a:t>è</a:t>
            </a:r>
            <a:r>
              <a:rPr lang="en-US" altLang="fr-FR" sz="2800" b="1" dirty="0"/>
              <a:t>re</a:t>
            </a:r>
            <a:r>
              <a:rPr lang="" altLang="en-US" sz="2800" b="1" dirty="0"/>
              <a:t> </a:t>
            </a:r>
            <a:r>
              <a:rPr lang="en-US" altLang="fr-FR" sz="2800" b="1" dirty="0"/>
              <a:t>: </a:t>
            </a:r>
            <a:endParaRPr lang="en-US" altLang="fr-FR" sz="2800" b="1" dirty="0"/>
          </a:p>
          <a:p>
            <a:pPr>
              <a:buNone/>
            </a:pP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A)Une tachycadie a 120 bpm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B)Une SpO2≤ 92%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C)L’utilisation des muscles respiratoires accessoires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D)Les troubles de l’</a:t>
            </a:r>
            <a:r>
              <a:rPr lang="en-US" altLang="en-US" sz="2800" dirty="0"/>
              <a:t>é</a:t>
            </a:r>
            <a:r>
              <a:rPr lang="en-US" altLang="fr-FR" sz="2800" dirty="0"/>
              <a:t>locution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E)L’absence d’am</a:t>
            </a:r>
            <a:r>
              <a:rPr lang="en-US" altLang="en-US" sz="2800" dirty="0"/>
              <a:t>é</a:t>
            </a:r>
            <a:r>
              <a:rPr lang="en-US" altLang="fr-FR" sz="2800" dirty="0"/>
              <a:t>lioration apr</a:t>
            </a:r>
            <a:r>
              <a:rPr lang="" altLang="en-US" sz="2800" dirty="0"/>
              <a:t>è</a:t>
            </a:r>
            <a:r>
              <a:rPr lang="en-US" altLang="fr-FR" sz="2800" dirty="0"/>
              <a:t>s deux bouff</a:t>
            </a:r>
            <a:r>
              <a:rPr lang="en-US" altLang="en-US" sz="2800" dirty="0"/>
              <a:t>é</a:t>
            </a:r>
            <a:r>
              <a:rPr lang="en-US" altLang="fr-FR" sz="2800" dirty="0"/>
              <a:t>es de BDCA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n°8: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altLang="fr-FR" sz="2800" b="1" dirty="0"/>
              <a:t>Vous recevez aux urgences un enfant de 4 ans asthmatique qui pr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sente une exacerbation, quels sont parmi ces signes cliniques ceux qui cadrent avec une crise s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v</a:t>
            </a:r>
            <a:r>
              <a:rPr lang="" altLang="en-US" sz="2800" b="1" dirty="0"/>
              <a:t>è</a:t>
            </a:r>
            <a:r>
              <a:rPr lang="en-US" altLang="fr-FR" sz="2800" b="1" dirty="0"/>
              <a:t>re</a:t>
            </a:r>
            <a:r>
              <a:rPr lang="" altLang="en-US" sz="2800" b="1" dirty="0"/>
              <a:t> </a:t>
            </a:r>
            <a:r>
              <a:rPr lang="en-US" altLang="fr-FR" sz="2800" b="1" dirty="0"/>
              <a:t>: </a:t>
            </a:r>
            <a:endParaRPr lang="en-US" altLang="fr-FR" sz="2800" b="1" dirty="0"/>
          </a:p>
          <a:p>
            <a:pPr>
              <a:buNone/>
            </a:pP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A)Une tachycadie a 120 bpm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B)Une SpO2≤ 92%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b="1" dirty="0"/>
              <a:t>C)L’utilisation des muscles respiratoires accessoires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b="1" dirty="0"/>
              <a:t>D)Les troubles de l’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locution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dirty="0"/>
              <a:t>E)L’absence d’am</a:t>
            </a:r>
            <a:r>
              <a:rPr lang="en-US" altLang="en-US" sz="2800" dirty="0"/>
              <a:t>é</a:t>
            </a:r>
            <a:r>
              <a:rPr lang="en-US" altLang="fr-FR" sz="2800" dirty="0"/>
              <a:t>lioration apr</a:t>
            </a:r>
            <a:r>
              <a:rPr lang="" altLang="en-US" sz="2800" dirty="0"/>
              <a:t>è</a:t>
            </a:r>
            <a:r>
              <a:rPr lang="en-US" altLang="fr-FR" sz="2800" dirty="0"/>
              <a:t>s deux bouff</a:t>
            </a:r>
            <a:r>
              <a:rPr lang="en-US" altLang="en-US" sz="2800" dirty="0"/>
              <a:t>é</a:t>
            </a:r>
            <a:r>
              <a:rPr lang="en-US" altLang="fr-FR" sz="2800" dirty="0"/>
              <a:t>es de BDCA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2200"/>
          </a:xfrm>
          <a:solidFill>
            <a:schemeClr val="accent5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fr-FR" b="1" dirty="0" smtClean="0">
                <a:latin typeface="+mn-lt"/>
              </a:rPr>
            </a:br>
            <a:r>
              <a:rPr lang="fr-FR" b="1" dirty="0" smtClean="0">
                <a:solidFill>
                  <a:srgbClr val="C00000"/>
                </a:solidFill>
                <a:latin typeface="+mn-lt"/>
              </a:rPr>
              <a:t>Exacerbation d’asthme</a:t>
            </a:r>
            <a:endParaRPr lang="fr-FR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251" y="2143126"/>
            <a:ext cx="11252200" cy="442912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fr-FR" sz="2800" dirty="0" smtClean="0"/>
              <a:t>L’exacerbation d’asthme est une </a:t>
            </a:r>
            <a:r>
              <a:rPr lang="fr-FR" sz="2800" b="1" dirty="0" smtClean="0">
                <a:solidFill>
                  <a:srgbClr val="FF0000"/>
                </a:solidFill>
              </a:rPr>
              <a:t>aggravation aiguë ou subaiguë </a:t>
            </a:r>
            <a:r>
              <a:rPr lang="fr-FR" sz="2800" dirty="0" smtClean="0"/>
              <a:t>des symptômes (toux, dyspnée, oppression thoracique, sifflements) </a:t>
            </a:r>
            <a:endParaRPr lang="fr-FR" sz="2800" dirty="0" smtClean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fr-FR" sz="2800" dirty="0" smtClean="0"/>
              <a:t>	et </a:t>
            </a:r>
            <a:endParaRPr lang="fr-FR" sz="2800" dirty="0" smtClean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fr-FR" sz="2800" b="1" dirty="0" smtClean="0"/>
              <a:t>	une détérioration de la fonction pulmonaire </a:t>
            </a:r>
            <a:r>
              <a:rPr lang="fr-FR" sz="2800" dirty="0" smtClean="0"/>
              <a:t>par rapport à l'état habituel du patient </a:t>
            </a:r>
            <a:endParaRPr lang="fr-FR" sz="2800" dirty="0" smtClean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fr-FR" sz="2800" dirty="0" smtClean="0"/>
              <a:t>	</a:t>
            </a:r>
            <a:endParaRPr lang="fr-FR" sz="2800" dirty="0" smtClean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fr-FR" sz="2800" dirty="0" smtClean="0"/>
              <a:t>	suffisante pour </a:t>
            </a:r>
            <a:r>
              <a:rPr lang="fr-FR" sz="2800" b="1" dirty="0" smtClean="0"/>
              <a:t>renforcer le traitement. </a:t>
            </a:r>
            <a:endParaRPr lang="fr-FR" sz="2800" b="1" dirty="0" smtClean="0"/>
          </a:p>
          <a:p>
            <a:pPr>
              <a:buFont typeface="Arial" panose="020B0604020202020204" pitchFamily="34" charset="0"/>
              <a:buNone/>
              <a:defRPr/>
            </a:pPr>
            <a:endParaRPr lang="fr-FR" sz="2800" b="1" dirty="0" smtClean="0"/>
          </a:p>
          <a:p>
            <a:pPr>
              <a:defRPr/>
            </a:pPr>
            <a:r>
              <a:rPr lang="fr-FR" sz="2800" dirty="0" smtClean="0"/>
              <a:t>Elle peut être la première présentation de l’asthme.</a:t>
            </a:r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484093" y="926212"/>
          <a:ext cx="10757648" cy="54208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5378824"/>
                <a:gridCol w="5378824"/>
              </a:tblGrid>
              <a:tr h="5933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</a:rPr>
                        <a:t>Crise d’asthme modérée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</a:rPr>
                        <a:t>Crise d’asthme sévère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</a:tr>
              <a:tr h="48274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</a:rPr>
                        <a:t>Parole normale (capable de dire une phrase)</a:t>
                      </a:r>
                      <a:endParaRPr lang="fr-FR" sz="2000" dirty="0" smtClean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</a:rPr>
                        <a:t>Fréquence respiratoire</a:t>
                      </a:r>
                      <a:endParaRPr lang="fr-FR" sz="2000" dirty="0" smtClean="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"/>
                      </a:pPr>
                      <a:r>
                        <a:rPr lang="fr-FR" sz="2400" dirty="0" smtClean="0">
                          <a:effectLst/>
                        </a:rPr>
                        <a:t>≤ 40/min : enfant de 1 à 5 ans </a:t>
                      </a:r>
                      <a:endParaRPr lang="fr-FR" sz="2000" dirty="0" smtClean="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"/>
                      </a:pPr>
                      <a:r>
                        <a:rPr lang="fr-FR" sz="2400" dirty="0" smtClean="0">
                          <a:effectLst/>
                        </a:rPr>
                        <a:t>≤30/min : enfant &gt;5 ans </a:t>
                      </a:r>
                      <a:endParaRPr lang="fr-FR" sz="2000" dirty="0" smtClean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</a:rPr>
                        <a:t>Fréquence cardiaque </a:t>
                      </a:r>
                      <a:endParaRPr lang="fr-FR" sz="2000" dirty="0" smtClean="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"/>
                      </a:pPr>
                      <a:r>
                        <a:rPr lang="fr-FR" sz="2400" dirty="0" smtClean="0">
                          <a:effectLst/>
                        </a:rPr>
                        <a:t>≤ 140/min: enfant de 1 à 5 ans </a:t>
                      </a:r>
                      <a:endParaRPr lang="fr-FR" sz="2000" dirty="0" smtClean="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"/>
                      </a:pPr>
                      <a:r>
                        <a:rPr lang="fr-FR" sz="2400" dirty="0" smtClean="0">
                          <a:effectLst/>
                        </a:rPr>
                        <a:t>≤125/min: enfant &gt;5 ans</a:t>
                      </a:r>
                      <a:endParaRPr lang="fr-FR" sz="2000" dirty="0" smtClean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</a:rPr>
                        <a:t>Sp02 ≥92%</a:t>
                      </a:r>
                      <a:endParaRPr lang="fr-FR" sz="2000" dirty="0" smtClean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</a:rPr>
                        <a:t>DEP ≥50% Meilleur ou prévu (enfant de plus de 5 ans)</a:t>
                      </a:r>
                      <a:endParaRPr lang="fr-FR" sz="20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</a:rPr>
                        <a:t>Incapable de terminer une phrase d’un seul tenant</a:t>
                      </a:r>
                      <a:endParaRPr lang="fr-FR" sz="2000" dirty="0" smtClean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</a:rPr>
                        <a:t>Utilisation des muscles respiratoires accessoires</a:t>
                      </a:r>
                      <a:endParaRPr lang="fr-FR" sz="2000" dirty="0" smtClean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</a:rPr>
                        <a:t>Fréquence respiratoire</a:t>
                      </a:r>
                      <a:endParaRPr lang="fr-FR" sz="2000" dirty="0" smtClean="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"/>
                      </a:pPr>
                      <a:r>
                        <a:rPr lang="fr-FR" sz="2400" dirty="0" smtClean="0">
                          <a:effectLst/>
                        </a:rPr>
                        <a:t>&gt;40/min : enfant de 1 à 5 ans </a:t>
                      </a:r>
                      <a:endParaRPr lang="fr-FR" sz="2000" dirty="0" smtClean="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"/>
                      </a:pPr>
                      <a:r>
                        <a:rPr lang="fr-FR" sz="2400" dirty="0" smtClean="0">
                          <a:effectLst/>
                        </a:rPr>
                        <a:t>&gt;30/min : enfant &gt;5 ans </a:t>
                      </a:r>
                      <a:endParaRPr lang="fr-FR" sz="2000" dirty="0" smtClean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</a:rPr>
                        <a:t>Fréquence cardiaque </a:t>
                      </a:r>
                      <a:endParaRPr lang="fr-FR" sz="2000" dirty="0" smtClean="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"/>
                      </a:pPr>
                      <a:r>
                        <a:rPr lang="fr-FR" sz="2400" dirty="0" smtClean="0">
                          <a:effectLst/>
                        </a:rPr>
                        <a:t>140/min : enfant de 1 à 5 ans </a:t>
                      </a:r>
                      <a:endParaRPr lang="fr-FR" sz="2000" dirty="0" smtClean="0">
                        <a:effectLst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"/>
                      </a:pPr>
                      <a:r>
                        <a:rPr lang="fr-FR" sz="2400" dirty="0" smtClean="0">
                          <a:effectLst/>
                        </a:rPr>
                        <a:t>&gt;125/min : enfant &gt;5 ans</a:t>
                      </a:r>
                      <a:endParaRPr lang="fr-FR" sz="2000" dirty="0" smtClean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</a:rPr>
                        <a:t>Spo2&lt;92%</a:t>
                      </a:r>
                      <a:endParaRPr lang="fr-FR" sz="2000" dirty="0" smtClean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</a:rPr>
                        <a:t>DEP 33-50% Meilleur ou prévu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itre 1"/>
          <p:cNvSpPr txBox="1"/>
          <p:nvPr/>
        </p:nvSpPr>
        <p:spPr>
          <a:xfrm>
            <a:off x="193625" y="127584"/>
            <a:ext cx="9810986" cy="655960"/>
          </a:xfrm>
          <a:prstGeom prst="rect">
            <a:avLst/>
          </a:prstGeom>
          <a:solidFill>
            <a:srgbClr val="FFFFCC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400" b="1" dirty="0" smtClean="0">
                <a:solidFill>
                  <a:schemeClr val="tx1"/>
                </a:solidFill>
              </a:rPr>
              <a:t>Classification de l’exacerbation de l’asthme: Age préscolaire</a:t>
            </a:r>
            <a:endParaRPr lang="fr-FR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n°9: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altLang="fr-FR" sz="2800" dirty="0"/>
          </a:p>
          <a:p>
            <a:pPr>
              <a:buNone/>
            </a:pPr>
            <a:r>
              <a:rPr lang="en-US" altLang="fr-FR" sz="2800" b="1" dirty="0"/>
              <a:t> L’asthme aigu grave chez l’enfant est favoris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 par</a:t>
            </a:r>
            <a:r>
              <a:rPr lang="" altLang="en-US" sz="2800" b="1" dirty="0"/>
              <a:t> </a:t>
            </a:r>
            <a:r>
              <a:rPr lang="en-US" altLang="fr-FR" sz="2800" b="1" dirty="0"/>
              <a:t>:</a:t>
            </a:r>
            <a:r>
              <a:rPr lang="en-US" altLang="fr-FR" sz="2800" dirty="0"/>
              <a:t> </a:t>
            </a:r>
            <a:endParaRPr lang="en-US" altLang="fr-FR" sz="2800" dirty="0"/>
          </a:p>
          <a:p>
            <a:pPr>
              <a:buNone/>
            </a:pP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A)Un ant</a:t>
            </a:r>
            <a:r>
              <a:rPr lang="en-US" altLang="en-US" sz="2800" dirty="0"/>
              <a:t>é</a:t>
            </a:r>
            <a:r>
              <a:rPr lang="en-US" altLang="fr-FR" sz="2800" dirty="0"/>
              <a:t>c</a:t>
            </a:r>
            <a:r>
              <a:rPr lang="en-US" altLang="en-US" sz="2800" dirty="0"/>
              <a:t>é</a:t>
            </a:r>
            <a:r>
              <a:rPr lang="en-US" altLang="fr-FR" sz="2800" dirty="0"/>
              <a:t>dent de ventilation m</a:t>
            </a:r>
            <a:r>
              <a:rPr lang="en-US" altLang="en-US" sz="2800" dirty="0"/>
              <a:t>é</a:t>
            </a:r>
            <a:r>
              <a:rPr lang="en-US" altLang="fr-FR" sz="2800" dirty="0"/>
              <a:t>canique au cours d’une crise d’asthme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B)Des exacerbations fr</a:t>
            </a:r>
            <a:r>
              <a:rPr lang="en-US" altLang="en-US" sz="2800" dirty="0"/>
              <a:t>é</a:t>
            </a:r>
            <a:r>
              <a:rPr lang="en-US" altLang="fr-FR" sz="2800" dirty="0"/>
              <a:t>quentes d’asthme 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C)Un traitement de fond qui ne comporte pas de cortico</a:t>
            </a:r>
            <a:r>
              <a:rPr lang="en-US" altLang="en-US" sz="2800" dirty="0"/>
              <a:t>ï</a:t>
            </a:r>
            <a:r>
              <a:rPr lang="en-US" altLang="fr-FR" sz="2800" dirty="0"/>
              <a:t>des inhal</a:t>
            </a:r>
            <a:r>
              <a:rPr lang="en-US" altLang="en-US" sz="2800" dirty="0"/>
              <a:t>é</a:t>
            </a:r>
            <a:r>
              <a:rPr lang="en-US" altLang="fr-FR" sz="2800" dirty="0"/>
              <a:t>s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D)Une allergie aux acariens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Un arr</a:t>
            </a:r>
            <a:r>
              <a:rPr lang="en-US" altLang="en-US" sz="2800" dirty="0"/>
              <a:t>ê</a:t>
            </a:r>
            <a:r>
              <a:rPr lang="en-US" altLang="fr-FR" sz="2800" dirty="0"/>
              <a:t>t temporaire durant l’</a:t>
            </a:r>
            <a:r>
              <a:rPr lang="en-US" altLang="en-US" sz="2800" dirty="0"/>
              <a:t>é</a:t>
            </a:r>
            <a:r>
              <a:rPr lang="en-US" altLang="fr-FR" sz="2800" dirty="0"/>
              <a:t>t</a:t>
            </a:r>
            <a:r>
              <a:rPr lang="en-US" altLang="en-US" sz="2800" dirty="0"/>
              <a:t>é</a:t>
            </a:r>
            <a:r>
              <a:rPr lang="en-US" altLang="fr-FR" sz="2800" dirty="0"/>
              <a:t> du traitement de fon</a:t>
            </a:r>
            <a:r>
              <a:rPr lang="fr-FR" altLang="en-US" sz="2800" dirty="0"/>
              <a:t>d</a:t>
            </a:r>
            <a:endParaRPr lang="fr-FR" altLang="en-US" sz="2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n°9: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975"/>
            <a:ext cx="11360785" cy="4853305"/>
          </a:xfrm>
        </p:spPr>
        <p:txBody>
          <a:bodyPr>
            <a:normAutofit/>
          </a:bodyPr>
          <a:lstStyle/>
          <a:p>
            <a:pPr>
              <a:buNone/>
            </a:pPr>
            <a:endParaRPr lang="en-US" altLang="fr-FR" sz="2800" dirty="0"/>
          </a:p>
          <a:p>
            <a:pPr>
              <a:buNone/>
            </a:pPr>
            <a:r>
              <a:rPr lang="en-US" altLang="fr-FR" sz="2800" b="1" dirty="0"/>
              <a:t> L’asthme aigu grave chez l’enfant est favoris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 par</a:t>
            </a:r>
            <a:r>
              <a:rPr lang="en-US" altLang="en-US" sz="2800" b="1" dirty="0"/>
              <a:t> </a:t>
            </a:r>
            <a:r>
              <a:rPr lang="en-US" altLang="fr-FR" sz="2800" b="1" dirty="0"/>
              <a:t>:</a:t>
            </a:r>
            <a:r>
              <a:rPr lang="en-US" altLang="fr-FR" sz="2800" dirty="0"/>
              <a:t> </a:t>
            </a:r>
            <a:endParaRPr lang="en-US" altLang="fr-FR" sz="2800" dirty="0"/>
          </a:p>
          <a:p>
            <a:pPr>
              <a:buNone/>
            </a:pPr>
            <a:endParaRPr lang="en-US" altLang="fr-FR" sz="2800" dirty="0"/>
          </a:p>
          <a:p>
            <a:pPr>
              <a:buNone/>
            </a:pPr>
            <a:r>
              <a:rPr lang="en-US" altLang="fr-FR" sz="2800" b="1" dirty="0"/>
              <a:t>A)Un ant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c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dent de ventilation m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canique au cours d’une crise d’asthme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b="1" dirty="0"/>
              <a:t>B)Des exacerbations fr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quentes d’asthme 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b="1" dirty="0"/>
              <a:t>C)Un traitement de fond qui ne comporte pas de cortico</a:t>
            </a:r>
            <a:r>
              <a:rPr lang="en-US" altLang="en-US" sz="2800" b="1" dirty="0"/>
              <a:t>ï</a:t>
            </a:r>
            <a:r>
              <a:rPr lang="en-US" altLang="fr-FR" sz="2800" b="1" dirty="0"/>
              <a:t>des inhal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s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dirty="0"/>
              <a:t>D)Une allergie aux acariens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Un arr</a:t>
            </a:r>
            <a:r>
              <a:rPr lang="en-US" altLang="en-US" sz="2800" dirty="0"/>
              <a:t>ê</a:t>
            </a:r>
            <a:r>
              <a:rPr lang="en-US" altLang="fr-FR" sz="2800" dirty="0"/>
              <a:t>t temporaire durant l’</a:t>
            </a:r>
            <a:r>
              <a:rPr lang="en-US" altLang="en-US" sz="2800" dirty="0"/>
              <a:t>é</a:t>
            </a:r>
            <a:r>
              <a:rPr lang="en-US" altLang="fr-FR" sz="2800" dirty="0"/>
              <a:t>t</a:t>
            </a:r>
            <a:r>
              <a:rPr lang="en-US" altLang="en-US" sz="2800" dirty="0"/>
              <a:t>é</a:t>
            </a:r>
            <a:r>
              <a:rPr lang="en-US" altLang="fr-FR" sz="2800" dirty="0"/>
              <a:t> du traitement de fon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746" y="1370064"/>
            <a:ext cx="10702997" cy="520401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979" y="0"/>
            <a:ext cx="249555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Espace réservé du contenu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1335" y="121920"/>
            <a:ext cx="11670665" cy="60553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n°10: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altLang="fr-FR" sz="2800" b="1" dirty="0"/>
              <a:t> La pr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sence des signes radiologiques suivants est contre le diagnostic de l’asthme</a:t>
            </a:r>
            <a:r>
              <a:rPr lang="" altLang="en-US" sz="2800" b="1" dirty="0"/>
              <a:t> </a:t>
            </a:r>
            <a:r>
              <a:rPr lang="en-US" altLang="fr-FR" sz="2800" b="1" dirty="0"/>
              <a:t>: </a:t>
            </a:r>
            <a:endParaRPr lang="en-US" altLang="fr-FR" sz="2800" b="1" dirty="0"/>
          </a:p>
          <a:p>
            <a:pPr>
              <a:buNone/>
            </a:pP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A)Des bases pulmonaires emphys</a:t>
            </a:r>
            <a:r>
              <a:rPr lang="en-US" altLang="en-US" sz="2800" dirty="0"/>
              <a:t>é</a:t>
            </a:r>
            <a:r>
              <a:rPr lang="en-US" altLang="fr-FR" sz="2800" dirty="0"/>
              <a:t>mateuses en bilat</a:t>
            </a:r>
            <a:r>
              <a:rPr lang="en-US" altLang="en-US" sz="2800" dirty="0"/>
              <a:t>é</a:t>
            </a:r>
            <a:r>
              <a:rPr lang="en-US" altLang="fr-FR" sz="2800" dirty="0"/>
              <a:t>ral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B)La pr</a:t>
            </a:r>
            <a:r>
              <a:rPr lang="en-US" altLang="en-US" sz="2800" dirty="0"/>
              <a:t>é</a:t>
            </a:r>
            <a:r>
              <a:rPr lang="en-US" altLang="fr-FR" sz="2800" dirty="0"/>
              <a:t>sence d’un situs inversus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C)Une dilatation des bronches bilat</a:t>
            </a:r>
            <a:r>
              <a:rPr lang="en-US" altLang="en-US" sz="2800" dirty="0"/>
              <a:t>é</a:t>
            </a:r>
            <a:r>
              <a:rPr lang="en-US" altLang="fr-FR" sz="2800" dirty="0"/>
              <a:t>rales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D)Une hyperclaret</a:t>
            </a:r>
            <a:r>
              <a:rPr lang="en-US" altLang="en-US" sz="2800" dirty="0"/>
              <a:t>é</a:t>
            </a:r>
            <a:r>
              <a:rPr lang="en-US" altLang="fr-FR" sz="2800" dirty="0"/>
              <a:t> des champs pulmonaires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E)Un aspect de coeur en goutte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n°10: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altLang="fr-FR" sz="2800" b="1" dirty="0"/>
              <a:t> La pr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sence des signes radiologiques suivants est contre le diagnostic de l’asthme</a:t>
            </a:r>
            <a:r>
              <a:rPr lang="en-US" altLang="en-US" sz="2800" b="1" dirty="0"/>
              <a:t> </a:t>
            </a:r>
            <a:r>
              <a:rPr lang="en-US" altLang="fr-FR" sz="2800" b="1" dirty="0"/>
              <a:t>: </a:t>
            </a:r>
            <a:endParaRPr lang="en-US" altLang="fr-FR" sz="2800" b="1" dirty="0"/>
          </a:p>
          <a:p>
            <a:pPr>
              <a:buNone/>
            </a:pP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A)Des bases pulmonaires emphys</a:t>
            </a:r>
            <a:r>
              <a:rPr lang="en-US" altLang="en-US" sz="2800" dirty="0"/>
              <a:t>é</a:t>
            </a:r>
            <a:r>
              <a:rPr lang="en-US" altLang="fr-FR" sz="2800" dirty="0"/>
              <a:t>mateuses en bilat</a:t>
            </a:r>
            <a:r>
              <a:rPr lang="en-US" altLang="en-US" sz="2800" dirty="0"/>
              <a:t>é</a:t>
            </a:r>
            <a:r>
              <a:rPr lang="en-US" altLang="fr-FR" sz="2800" dirty="0"/>
              <a:t>ral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b="1" dirty="0"/>
              <a:t>B)La pr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sence d’un situs inversus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b="1" dirty="0"/>
              <a:t>C)Une dilatation des bronches bilat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rales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dirty="0"/>
              <a:t>D)Une hyperclaret</a:t>
            </a:r>
            <a:r>
              <a:rPr lang="en-US" altLang="en-US" sz="2800" dirty="0"/>
              <a:t>é</a:t>
            </a:r>
            <a:r>
              <a:rPr lang="en-US" altLang="fr-FR" sz="2800" dirty="0"/>
              <a:t> des champs pulmonaires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E)Un aspect de coeur en goutte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3715" y="365125"/>
            <a:ext cx="10515600" cy="559435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0000"/>
          </a:bodyPr>
          <a:p>
            <a:r>
              <a:rPr lang="fr-FR" altLang="en-US" b="1"/>
              <a:t>Radiologie : Quand s’inquiéter?</a:t>
            </a:r>
            <a:endParaRPr lang="fr-FR" altLang="en-US" b="1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248410"/>
            <a:ext cx="10515600" cy="492887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fr-FR" altLang="en-US" sz="2300"/>
              <a:t>B</a:t>
            </a:r>
            <a:r>
              <a:rPr lang="en-US" altLang="fr-FR" sz="2300"/>
              <a:t>outon aortique à droite, d</a:t>
            </a:r>
            <a:r>
              <a:rPr lang="en-US" altLang="en-US" sz="2300"/>
              <a:t>é</a:t>
            </a:r>
            <a:r>
              <a:rPr lang="en-US" altLang="fr-FR" sz="2300"/>
              <a:t>viation trach</a:t>
            </a:r>
            <a:r>
              <a:rPr lang="en-US" altLang="en-US" sz="2300"/>
              <a:t>é</a:t>
            </a:r>
            <a:r>
              <a:rPr lang="en-US" altLang="fr-FR" sz="2300"/>
              <a:t>ale à gauche</a:t>
            </a:r>
            <a:endParaRPr lang="en-US" altLang="fr-FR" sz="2300"/>
          </a:p>
          <a:p>
            <a:pPr>
              <a:lnSpc>
                <a:spcPct val="150000"/>
              </a:lnSpc>
            </a:pPr>
            <a:r>
              <a:rPr lang="en-US" altLang="fr-FR" sz="2300"/>
              <a:t> Effacement des bords de la trach</a:t>
            </a:r>
            <a:r>
              <a:rPr lang="en-US" altLang="en-US" sz="2300"/>
              <a:t>é</a:t>
            </a:r>
            <a:r>
              <a:rPr lang="en-US" altLang="fr-FR" sz="2300"/>
              <a:t>e</a:t>
            </a:r>
            <a:endParaRPr lang="en-US" altLang="fr-FR" sz="2300"/>
          </a:p>
          <a:p>
            <a:pPr>
              <a:lnSpc>
                <a:spcPct val="150000"/>
              </a:lnSpc>
            </a:pPr>
            <a:r>
              <a:rPr lang="en-US" altLang="fr-FR" sz="2300"/>
              <a:t> R</a:t>
            </a:r>
            <a:r>
              <a:rPr lang="en-US" altLang="en-US" sz="2300"/>
              <a:t>é</a:t>
            </a:r>
            <a:r>
              <a:rPr lang="en-US" altLang="fr-FR" sz="2300"/>
              <a:t>tr</a:t>
            </a:r>
            <a:r>
              <a:rPr lang="en-US" altLang="en-US" sz="2300"/>
              <a:t>é</a:t>
            </a:r>
            <a:r>
              <a:rPr lang="en-US" altLang="fr-FR" sz="2300"/>
              <a:t>cissement d’une bronche souche ou de la trach</a:t>
            </a:r>
            <a:r>
              <a:rPr lang="en-US" altLang="en-US" sz="2300"/>
              <a:t>é</a:t>
            </a:r>
            <a:r>
              <a:rPr lang="en-US" altLang="fr-FR" sz="2300"/>
              <a:t>e dans sa partie distale</a:t>
            </a:r>
            <a:endParaRPr lang="en-US" altLang="fr-FR" sz="2300"/>
          </a:p>
          <a:p>
            <a:pPr>
              <a:lnSpc>
                <a:spcPct val="150000"/>
              </a:lnSpc>
            </a:pPr>
            <a:r>
              <a:rPr lang="en-US" altLang="fr-FR" sz="2300"/>
              <a:t>Trouble de ventilation (emphys</a:t>
            </a:r>
            <a:r>
              <a:rPr lang="" altLang="en-US" sz="2300"/>
              <a:t>è</a:t>
            </a:r>
            <a:r>
              <a:rPr lang="en-US" altLang="fr-FR" sz="2300"/>
              <a:t>me ou at</a:t>
            </a:r>
            <a:r>
              <a:rPr lang="en-US" altLang="en-US" sz="2300"/>
              <a:t>é</a:t>
            </a:r>
            <a:r>
              <a:rPr lang="en-US" altLang="fr-FR" sz="2300"/>
              <a:t>lectasie)</a:t>
            </a:r>
            <a:endParaRPr lang="en-US" altLang="fr-FR" sz="2300"/>
          </a:p>
          <a:p>
            <a:pPr>
              <a:lnSpc>
                <a:spcPct val="150000"/>
              </a:lnSpc>
            </a:pPr>
            <a:r>
              <a:rPr lang="en-US" altLang="fr-FR" sz="2300"/>
              <a:t> Image de bronchoc</a:t>
            </a:r>
            <a:r>
              <a:rPr lang="" altLang="en-US" sz="2300"/>
              <a:t>è</a:t>
            </a:r>
            <a:r>
              <a:rPr lang="en-US" altLang="fr-FR" sz="2300"/>
              <a:t>le ou de dilatation bronchique</a:t>
            </a:r>
            <a:endParaRPr lang="en-US" altLang="fr-FR" sz="2300"/>
          </a:p>
          <a:p>
            <a:pPr>
              <a:lnSpc>
                <a:spcPct val="150000"/>
              </a:lnSpc>
            </a:pPr>
            <a:r>
              <a:rPr lang="en-US" altLang="fr-FR" sz="2300"/>
              <a:t> Syndrome interstitiel</a:t>
            </a:r>
            <a:endParaRPr lang="en-US" altLang="fr-FR" sz="2300"/>
          </a:p>
          <a:p>
            <a:pPr>
              <a:lnSpc>
                <a:spcPct val="150000"/>
              </a:lnSpc>
            </a:pPr>
            <a:r>
              <a:rPr lang="en-US" altLang="fr-FR" sz="2300"/>
              <a:t> Situs inversu</a:t>
            </a:r>
            <a:r>
              <a:rPr lang="fr-FR" altLang="en-US" sz="2300"/>
              <a:t>s</a:t>
            </a:r>
            <a:endParaRPr lang="fr-FR" altLang="en-US" sz="2300"/>
          </a:p>
        </p:txBody>
      </p:sp>
      <p:pic>
        <p:nvPicPr>
          <p:cNvPr id="4" name="Image 3" descr="atten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0710" y="3922395"/>
            <a:ext cx="2324100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n°11: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altLang="fr-FR" sz="2800" b="1" dirty="0"/>
              <a:t>Farah, </a:t>
            </a:r>
            <a:r>
              <a:rPr lang="en-US" altLang="en-US" sz="2800" b="1" dirty="0"/>
              <a:t>â</a:t>
            </a:r>
            <a:r>
              <a:rPr lang="en-US" altLang="fr-FR" sz="2800" b="1" dirty="0"/>
              <a:t>g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e de 8 ans, s’est pr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sent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e aux urgences pour une crise d’asthme s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v</a:t>
            </a:r>
            <a:r>
              <a:rPr lang="" altLang="en-US" sz="2800" b="1" dirty="0"/>
              <a:t>è</a:t>
            </a:r>
            <a:r>
              <a:rPr lang="en-US" altLang="fr-FR" sz="2800" b="1" dirty="0"/>
              <a:t>re, relevez parmi ces 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l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ments ceux pr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dicteurs d’un asthme aigu grave</a:t>
            </a:r>
            <a:r>
              <a:rPr lang="" altLang="en-US" sz="2800" b="1" dirty="0"/>
              <a:t> </a:t>
            </a:r>
            <a:r>
              <a:rPr lang="en-US" altLang="fr-FR" sz="2800" b="1" dirty="0"/>
              <a:t>: </a:t>
            </a:r>
            <a:endParaRPr lang="en-US" altLang="fr-FR" sz="2800" b="1" dirty="0"/>
          </a:p>
          <a:p>
            <a:pPr algn="just">
              <a:buNone/>
            </a:pPr>
            <a:endParaRPr lang="en-US" altLang="fr-FR" sz="2800" b="1" dirty="0"/>
          </a:p>
          <a:p>
            <a:pPr>
              <a:buNone/>
            </a:pPr>
            <a:r>
              <a:rPr lang="en-US" altLang="fr-FR" sz="2800" dirty="0"/>
              <a:t>A)Une polypn</a:t>
            </a:r>
            <a:r>
              <a:rPr lang="en-US" altLang="en-US" sz="2800" dirty="0"/>
              <a:t>é</a:t>
            </a:r>
            <a:r>
              <a:rPr lang="en-US" altLang="fr-FR" sz="2800" dirty="0"/>
              <a:t>e à 25 c/min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B)Un pic hypertensif 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C)La pr</a:t>
            </a:r>
            <a:r>
              <a:rPr lang="en-US" altLang="en-US" sz="2800" dirty="0"/>
              <a:t>é</a:t>
            </a:r>
            <a:r>
              <a:rPr lang="en-US" altLang="fr-FR" sz="2800" dirty="0"/>
              <a:t>sence de signes de pr</a:t>
            </a:r>
            <a:r>
              <a:rPr lang="en-US" altLang="en-US" sz="2800" dirty="0"/>
              <a:t>é</a:t>
            </a:r>
            <a:r>
              <a:rPr lang="en-US" altLang="fr-FR" sz="2800" dirty="0"/>
              <a:t> </a:t>
            </a:r>
            <a:r>
              <a:rPr lang="en-US" altLang="en-US" sz="2800" dirty="0"/>
              <a:t>é</a:t>
            </a:r>
            <a:r>
              <a:rPr lang="en-US" altLang="fr-FR" sz="2800" dirty="0"/>
              <a:t>puisement respiratoire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D)La pr</a:t>
            </a:r>
            <a:r>
              <a:rPr lang="en-US" altLang="en-US" sz="2800" dirty="0"/>
              <a:t>é</a:t>
            </a:r>
            <a:r>
              <a:rPr lang="en-US" altLang="fr-FR" sz="2800" dirty="0"/>
              <a:t>sence d’un tirage sus sternal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E)La pr</a:t>
            </a:r>
            <a:r>
              <a:rPr lang="en-US" altLang="en-US" sz="2800" dirty="0"/>
              <a:t>é</a:t>
            </a:r>
            <a:r>
              <a:rPr lang="en-US" altLang="fr-FR" sz="2800" dirty="0"/>
              <a:t>sence d’un silence à l’auscultation pulmonaire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n°11: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altLang="fr-FR" sz="2800" b="1" dirty="0"/>
              <a:t>Farah, </a:t>
            </a:r>
            <a:r>
              <a:rPr lang="en-US" altLang="en-US" sz="2800" b="1" dirty="0"/>
              <a:t>â</a:t>
            </a:r>
            <a:r>
              <a:rPr lang="en-US" altLang="fr-FR" sz="2800" b="1" dirty="0"/>
              <a:t>g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e de 8 ans, s’est pr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sent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e aux urgences pour une crise d’asthme s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v</a:t>
            </a:r>
            <a:r>
              <a:rPr lang="en-US" altLang="en-US" sz="2800" b="1" dirty="0"/>
              <a:t>è</a:t>
            </a:r>
            <a:r>
              <a:rPr lang="en-US" altLang="fr-FR" sz="2800" b="1" dirty="0"/>
              <a:t>re, relevez parmi ces 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l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ments ceux pr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dicteurs d’un asthme aigu grave</a:t>
            </a:r>
            <a:r>
              <a:rPr lang="en-US" altLang="en-US" sz="2800" b="1" dirty="0"/>
              <a:t> </a:t>
            </a:r>
            <a:r>
              <a:rPr lang="en-US" altLang="fr-FR" sz="2800" b="1" dirty="0"/>
              <a:t>: </a:t>
            </a:r>
            <a:endParaRPr lang="en-US" altLang="fr-FR" sz="2800" b="1" dirty="0"/>
          </a:p>
          <a:p>
            <a:pPr algn="just">
              <a:buNone/>
            </a:pPr>
            <a:endParaRPr lang="en-US" altLang="fr-FR" sz="2800" b="1" dirty="0"/>
          </a:p>
          <a:p>
            <a:pPr>
              <a:buNone/>
            </a:pPr>
            <a:r>
              <a:rPr lang="en-US" altLang="fr-FR" sz="2800" dirty="0"/>
              <a:t>A)Une polypn</a:t>
            </a:r>
            <a:r>
              <a:rPr lang="en-US" altLang="en-US" sz="2800" dirty="0"/>
              <a:t>é</a:t>
            </a:r>
            <a:r>
              <a:rPr lang="en-US" altLang="fr-FR" sz="2800" dirty="0"/>
              <a:t>e à 25 c/min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B)Un pic hypertensif 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b="1" dirty="0"/>
              <a:t>C)La pr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sence de signes de pr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 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puisement respiratoire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dirty="0"/>
              <a:t>D)La pr</a:t>
            </a:r>
            <a:r>
              <a:rPr lang="en-US" altLang="en-US" sz="2800" dirty="0"/>
              <a:t>é</a:t>
            </a:r>
            <a:r>
              <a:rPr lang="en-US" altLang="fr-FR" sz="2800" dirty="0"/>
              <a:t>sence d’un tirage sus sternal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b="1" dirty="0"/>
              <a:t>E)La pr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sence d’un silence à l’auscultation pulmonaire</a:t>
            </a:r>
            <a:endParaRPr lang="en-US" altLang="fr-FR" sz="2800" b="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300" y="1329055"/>
            <a:ext cx="4263390" cy="70675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0000"/>
          </a:bodyPr>
          <a:p>
            <a:r>
              <a:rPr lang="fr-FR" altLang="en-US" b="1">
                <a:solidFill>
                  <a:srgbClr val="C00000"/>
                </a:solidFill>
              </a:rPr>
              <a:t>Signes cliniques</a:t>
            </a:r>
            <a:endParaRPr lang="fr-FR" altLang="en-US" b="1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13610"/>
            <a:ext cx="4263390" cy="4351655"/>
          </a:xfrm>
        </p:spPr>
        <p:txBody>
          <a:bodyPr/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fr-FR"/>
              <a:t> Troubles de la conscience confusion</a:t>
            </a:r>
            <a:endParaRPr lang="en-US" altLang="fr-FR"/>
          </a:p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fr-FR"/>
              <a:t> Pauses respiratoires, respiration superficielle</a:t>
            </a:r>
            <a:endParaRPr lang="en-US" altLang="fr-FR"/>
          </a:p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fr-FR"/>
              <a:t> Collapsus, hypotension</a:t>
            </a:r>
            <a:endParaRPr lang="en-US" altLang="fr-FR"/>
          </a:p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fr-FR"/>
              <a:t> Silence auscultatoire</a:t>
            </a:r>
            <a:endParaRPr lang="en-US" altLang="fr-FR"/>
          </a:p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fr-FR"/>
              <a:t> Cyanose</a:t>
            </a:r>
            <a:endParaRPr lang="en-US" altLang="fr-FR"/>
          </a:p>
          <a:p>
            <a:pPr marL="0" indent="0">
              <a:buNone/>
            </a:pPr>
            <a:endParaRPr lang="en-US" altLang="fr-FR"/>
          </a:p>
        </p:txBody>
      </p:sp>
      <p:sp>
        <p:nvSpPr>
          <p:cNvPr id="4" name="Titre 1"/>
          <p:cNvSpPr>
            <a:spLocks noGrp="1"/>
          </p:cNvSpPr>
          <p:nvPr/>
        </p:nvSpPr>
        <p:spPr>
          <a:xfrm>
            <a:off x="6861810" y="1329055"/>
            <a:ext cx="4263390" cy="574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7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en-US" b="1">
                <a:solidFill>
                  <a:srgbClr val="C00000"/>
                </a:solidFill>
              </a:rPr>
              <a:t>Signes para-cliniques</a:t>
            </a:r>
            <a:endParaRPr lang="fr-FR" altLang="en-US" b="1">
              <a:solidFill>
                <a:srgbClr val="C00000"/>
              </a:solidFill>
            </a:endParaRPr>
          </a:p>
        </p:txBody>
      </p:sp>
      <p:sp>
        <p:nvSpPr>
          <p:cNvPr id="5" name="Titre 1"/>
          <p:cNvSpPr>
            <a:spLocks noGrp="1"/>
          </p:cNvSpPr>
          <p:nvPr/>
        </p:nvSpPr>
        <p:spPr>
          <a:xfrm>
            <a:off x="609600" y="324485"/>
            <a:ext cx="10515600" cy="82677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fr-FR" b="1" dirty="0" smtClean="0"/>
              <a:t>Signes cliniques en faveur d’un AAG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6" name="Zone de texte 5"/>
          <p:cNvSpPr txBox="1"/>
          <p:nvPr/>
        </p:nvSpPr>
        <p:spPr>
          <a:xfrm>
            <a:off x="6096635" y="1903730"/>
            <a:ext cx="5533390" cy="447865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fr-FR" sz="2800">
                <a:solidFill>
                  <a:schemeClr val="tx1"/>
                </a:solidFill>
              </a:rPr>
              <a:t>• Une valeur de DEP impossible à obtenir ou &lt;33%</a:t>
            </a:r>
            <a:r>
              <a:rPr lang="en-US" altLang="fr-FR" sz="2800"/>
              <a:t> </a:t>
            </a:r>
            <a:endParaRPr lang="en-US" altLang="fr-FR" sz="2800"/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fr-FR" sz="2800"/>
              <a:t>• GDS : souvent alcalose respiratoire avec hypoxémie et hypocapnie.</a:t>
            </a:r>
            <a:endParaRPr lang="en-US" altLang="fr-FR" sz="2800"/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fr-FR" sz="2800"/>
              <a:t> Une normocapnie </a:t>
            </a:r>
            <a:r>
              <a:rPr lang="fr-FR" altLang="en-US" sz="2800"/>
              <a:t>:</a:t>
            </a:r>
            <a:r>
              <a:rPr lang="en-US" altLang="fr-FR" sz="2800"/>
              <a:t>signe d’alarm</a:t>
            </a:r>
            <a:r>
              <a:rPr lang="fr-FR" altLang="en-US" sz="2800"/>
              <a:t>e</a:t>
            </a:r>
            <a:r>
              <a:rPr lang="en-US" altLang="fr-FR" sz="2800"/>
              <a:t> Une acidose métabolique peut parfois survenir chez les patients les plus sévères par acidose lactique.</a:t>
            </a:r>
            <a:endParaRPr lang="en-US" altLang="fr-FR" sz="2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n°12: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sz="2800" b="1" dirty="0"/>
              <a:t>Ces 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l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ments cliniques font redouter un diagnostic diff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rentiel de l’asthme chez l’enfant</a:t>
            </a:r>
            <a:r>
              <a:rPr lang="" altLang="en-US" sz="2800" b="1" dirty="0"/>
              <a:t> </a:t>
            </a:r>
            <a:r>
              <a:rPr lang="en-US" altLang="fr-FR" sz="2800" b="1" dirty="0"/>
              <a:t>: </a:t>
            </a:r>
            <a:endParaRPr lang="en-US" altLang="fr-FR" sz="2800" b="1" dirty="0"/>
          </a:p>
          <a:p>
            <a:pPr>
              <a:buNone/>
            </a:pPr>
            <a:endParaRPr lang="en-US" altLang="fr-FR" sz="2800" b="1" dirty="0"/>
          </a:p>
          <a:p>
            <a:pPr>
              <a:buNone/>
            </a:pPr>
            <a:r>
              <a:rPr lang="en-US" altLang="fr-FR" sz="2800" dirty="0"/>
              <a:t>A)Une toux grasse matinale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B)Une otite à r</a:t>
            </a:r>
            <a:r>
              <a:rPr lang="en-US" altLang="en-US" sz="2800" dirty="0"/>
              <a:t>é</a:t>
            </a:r>
            <a:r>
              <a:rPr lang="en-US" altLang="fr-FR" sz="2800" dirty="0"/>
              <a:t>p</a:t>
            </a:r>
            <a:r>
              <a:rPr lang="en-US" altLang="en-US" sz="2800" dirty="0"/>
              <a:t>é</a:t>
            </a:r>
            <a:r>
              <a:rPr lang="en-US" altLang="fr-FR" sz="2800" dirty="0"/>
              <a:t>tition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C)Un retard de croissance s</a:t>
            </a:r>
            <a:r>
              <a:rPr lang="en-US" altLang="en-US" sz="2800" dirty="0"/>
              <a:t>é</a:t>
            </a:r>
            <a:r>
              <a:rPr lang="en-US" altLang="fr-FR" sz="2800" dirty="0"/>
              <a:t>v</a:t>
            </a:r>
            <a:r>
              <a:rPr lang="" altLang="en-US" sz="2800" dirty="0"/>
              <a:t>è</a:t>
            </a:r>
            <a:r>
              <a:rPr lang="en-US" altLang="fr-FR" sz="2800" dirty="0"/>
              <a:t>re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D)Une exacerbation des symptômes respiratoires aux efforts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E)La pr</a:t>
            </a:r>
            <a:r>
              <a:rPr lang="en-US" altLang="en-US" sz="2800" dirty="0"/>
              <a:t>é</a:t>
            </a:r>
            <a:r>
              <a:rPr lang="en-US" altLang="fr-FR" sz="2800" dirty="0"/>
              <a:t>sence d’une allergie aux proteines de lait de vache associ</a:t>
            </a:r>
            <a:r>
              <a:rPr lang="en-US" altLang="en-US" sz="2800" dirty="0"/>
              <a:t>é</a:t>
            </a:r>
            <a:r>
              <a:rPr lang="en-US" altLang="fr-FR" sz="2800" dirty="0"/>
              <a:t>e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1775" y="501015"/>
            <a:ext cx="10515600" cy="677545"/>
          </a:xfrm>
        </p:spPr>
        <p:txBody>
          <a:bodyPr>
            <a:normAutofit/>
          </a:bodyPr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n°12: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altLang="fr-FR" sz="2800" b="1" dirty="0"/>
              <a:t> Ces 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l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ments cliniques font redouter un diagnostic diff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rentiel de l’asthme chez l’enfant</a:t>
            </a:r>
            <a:r>
              <a:rPr lang="" altLang="en-US" sz="2800" b="1" dirty="0"/>
              <a:t> </a:t>
            </a:r>
            <a:r>
              <a:rPr lang="en-US" altLang="fr-FR" sz="2800" b="1" dirty="0"/>
              <a:t>:</a:t>
            </a:r>
            <a:endParaRPr lang="en-US" altLang="fr-FR" sz="2800" b="1" dirty="0"/>
          </a:p>
          <a:p>
            <a:pPr algn="just">
              <a:buNone/>
            </a:pPr>
            <a:r>
              <a:rPr lang="en-US" altLang="fr-FR" sz="2800" b="1" dirty="0"/>
              <a:t> 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b="1" dirty="0"/>
              <a:t>A)Une toux grasse matinale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b="1" dirty="0"/>
              <a:t>B)Une otite à 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p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tition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b="1" dirty="0"/>
              <a:t>C)Un retard de croissance s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v</a:t>
            </a:r>
            <a:r>
              <a:rPr lang="" altLang="en-US" sz="2800" b="1" dirty="0"/>
              <a:t>è</a:t>
            </a:r>
            <a:r>
              <a:rPr lang="en-US" altLang="fr-FR" sz="2800" b="1" dirty="0"/>
              <a:t>re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dirty="0"/>
              <a:t>D)Une exacerbation des symptômes respiratoires aux efforts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E)La pr</a:t>
            </a:r>
            <a:r>
              <a:rPr lang="en-US" altLang="en-US" sz="2800" dirty="0"/>
              <a:t>é</a:t>
            </a:r>
            <a:r>
              <a:rPr lang="en-US" altLang="fr-FR" sz="2800" dirty="0"/>
              <a:t>sence d’une allergie aux proteines de lait de vache associ</a:t>
            </a:r>
            <a:r>
              <a:rPr lang="en-US" altLang="en-US" sz="2800" dirty="0"/>
              <a:t>é</a:t>
            </a:r>
            <a:r>
              <a:rPr lang="en-US" altLang="fr-FR" sz="2800" dirty="0"/>
              <a:t>e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793" y="206189"/>
            <a:ext cx="11344336" cy="721659"/>
          </a:xfrm>
          <a:solidFill>
            <a:srgbClr val="FFFFCC"/>
          </a:solidFill>
        </p:spPr>
        <p:txBody>
          <a:bodyPr>
            <a:normAutofit/>
          </a:bodyPr>
          <a:lstStyle/>
          <a:p>
            <a:r>
              <a:rPr lang="fr-FR" sz="2400" b="1" dirty="0">
                <a:solidFill>
                  <a:schemeClr val="tx1"/>
                </a:solidFill>
              </a:rPr>
              <a:t> Symptômes ou d'antécédents cliniques suggérant d'autres diagnostics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14263" y="1286531"/>
            <a:ext cx="10935546" cy="3880773"/>
          </a:xfrm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tx1"/>
                </a:solidFill>
              </a:rPr>
              <a:t>Début précoce : symptômes présents en période néonatale ou pathologie respiratoire néonatale 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Histoire </a:t>
            </a:r>
            <a:r>
              <a:rPr lang="fr-FR" sz="2400" dirty="0">
                <a:solidFill>
                  <a:schemeClr val="tx1"/>
                </a:solidFill>
              </a:rPr>
              <a:t>familiale de pathologie respiratoire rare 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 </a:t>
            </a:r>
            <a:r>
              <a:rPr lang="fr-FR" sz="2400" dirty="0">
                <a:solidFill>
                  <a:schemeClr val="tx1"/>
                </a:solidFill>
              </a:rPr>
              <a:t>Toux grasse </a:t>
            </a:r>
            <a:r>
              <a:rPr lang="fr-FR" sz="2400" dirty="0" smtClean="0">
                <a:solidFill>
                  <a:schemeClr val="tx1"/>
                </a:solidFill>
              </a:rPr>
              <a:t>persistante, 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Vomissements </a:t>
            </a:r>
            <a:r>
              <a:rPr lang="fr-FR" sz="2400" dirty="0">
                <a:solidFill>
                  <a:schemeClr val="tx1"/>
                </a:solidFill>
              </a:rPr>
              <a:t>récidivants 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 </a:t>
            </a:r>
            <a:r>
              <a:rPr lang="fr-FR" sz="2400" dirty="0">
                <a:solidFill>
                  <a:schemeClr val="tx1"/>
                </a:solidFill>
              </a:rPr>
              <a:t>Toux paroxystique quinteuse 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Souffle cardiaque 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Dysphagie 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Stridor inspiratoire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Hippocratisme digital 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Retard staturopondéral</a:t>
            </a:r>
            <a:endParaRPr lang="fr-FR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9076" y="464756"/>
            <a:ext cx="8596668" cy="579120"/>
          </a:xfrm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fr-FR" sz="2800" b="1" dirty="0"/>
              <a:t>Les diagnostics différentiels : </a:t>
            </a:r>
            <a:r>
              <a:rPr lang="fr-FR" sz="2800" b="1" dirty="0" smtClean="0"/>
              <a:t>Enfant &lt; </a:t>
            </a:r>
            <a:r>
              <a:rPr lang="fr-FR" sz="2800" b="1" dirty="0"/>
              <a:t>5 ans </a:t>
            </a:r>
            <a:endParaRPr lang="fr-FR" sz="2800" b="1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384573" y="1580606"/>
          <a:ext cx="11351623" cy="4868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8493"/>
                <a:gridCol w="7093130"/>
              </a:tblGrid>
              <a:tr h="243841">
                <a:tc>
                  <a:txBody>
                    <a:bodyPr/>
                    <a:lstStyle/>
                    <a:p>
                      <a:r>
                        <a:rPr lang="fr-FR" sz="2000" b="1" dirty="0" smtClean="0">
                          <a:solidFill>
                            <a:schemeClr val="tx1"/>
                          </a:solidFill>
                        </a:rPr>
                        <a:t>Viroses récurrentes</a:t>
                      </a:r>
                      <a:endParaRPr lang="fr-F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smtClean="0">
                          <a:solidFill>
                            <a:schemeClr val="tx1"/>
                          </a:solidFill>
                        </a:rPr>
                        <a:t>Toux++, écoulement nasal&lt;</a:t>
                      </a:r>
                      <a:r>
                        <a:rPr lang="fr-FR" sz="2000" b="0" baseline="0" smtClean="0">
                          <a:solidFill>
                            <a:schemeClr val="tx1"/>
                          </a:solidFill>
                        </a:rPr>
                        <a:t> 10 jours, pas de symptomes en intercritique </a:t>
                      </a:r>
                      <a:endParaRPr lang="fr-FR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smtClean="0"/>
                        <a:t>Reflux gastro-oesophagien</a:t>
                      </a:r>
                      <a:endParaRPr lang="fr-FR" sz="20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Toux avec les repas, pneumopathie à </a:t>
                      </a:r>
                      <a:r>
                        <a:rPr lang="fr-FR" sz="2000" dirty="0" err="1" smtClean="0"/>
                        <a:t>répition</a:t>
                      </a:r>
                      <a:r>
                        <a:rPr lang="fr-FR" sz="2000" dirty="0" smtClean="0"/>
                        <a:t>, vomissement</a:t>
                      </a:r>
                      <a:endParaRPr lang="fr-FR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lang="fr-FR" sz="2000" b="1" smtClean="0"/>
                        <a:t>Corps étranger intrabronchique</a:t>
                      </a:r>
                      <a:r>
                        <a:rPr lang="fr-FR" sz="2000" b="1" baseline="0" smtClean="0"/>
                        <a:t> </a:t>
                      </a:r>
                      <a:endParaRPr lang="fr-FR" sz="20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smtClean="0"/>
                        <a:t>Brutalité de l’épisode, toux /stridor aux efforts , signes focaux à la radiographie de thorax</a:t>
                      </a:r>
                      <a:endParaRPr lang="fr-FR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smtClean="0"/>
                        <a:t>Coqueluche </a:t>
                      </a:r>
                      <a:endParaRPr lang="fr-FR" sz="20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smtClean="0"/>
                        <a:t>Toux paroxystique</a:t>
                      </a:r>
                      <a:r>
                        <a:rPr lang="fr-FR" sz="2000" baseline="0" smtClean="0"/>
                        <a:t> </a:t>
                      </a:r>
                      <a:endParaRPr lang="fr-FR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smtClean="0"/>
                        <a:t>Bronchite bactérienne persistante </a:t>
                      </a:r>
                      <a:endParaRPr lang="fr-FR" sz="20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smtClean="0"/>
                        <a:t>Toux grasse persistante</a:t>
                      </a:r>
                      <a:endParaRPr lang="fr-FR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smtClean="0"/>
                        <a:t>Trachéomalacie </a:t>
                      </a:r>
                      <a:endParaRPr lang="fr-FR" sz="20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smtClean="0"/>
                        <a:t>Respiration bruyante,</a:t>
                      </a:r>
                      <a:r>
                        <a:rPr lang="fr-FR" sz="2000" baseline="0" smtClean="0"/>
                        <a:t> bruit inspiratoire </a:t>
                      </a:r>
                      <a:endParaRPr lang="fr-FR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83771">
                <a:tc>
                  <a:txBody>
                    <a:bodyPr/>
                    <a:lstStyle/>
                    <a:p>
                      <a:r>
                        <a:rPr lang="fr-FR" sz="2000" b="1" smtClean="0"/>
                        <a:t>Tuberulose</a:t>
                      </a:r>
                      <a:endParaRPr lang="fr-FR" sz="20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smtClean="0"/>
                        <a:t>Fièvre, adénopathie</a:t>
                      </a:r>
                      <a:r>
                        <a:rPr lang="fr-FR" sz="2000" baseline="0" smtClean="0"/>
                        <a:t> , absence d’amélioration sous traitement, contage </a:t>
                      </a:r>
                      <a:endParaRPr lang="fr-FR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lang="fr-FR" sz="2000" b="1" smtClean="0"/>
                        <a:t>Mucoviscidose</a:t>
                      </a:r>
                      <a:endParaRPr lang="fr-FR" sz="20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smtClean="0"/>
                        <a:t>Toux persistante,</a:t>
                      </a:r>
                      <a:r>
                        <a:rPr lang="fr-FR" sz="2000" baseline="0" smtClean="0"/>
                        <a:t> encombrement, Retard de croissance, selles graisseuse</a:t>
                      </a:r>
                      <a:endParaRPr lang="fr-FR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smtClean="0"/>
                        <a:t>Cardiopathie congénitale </a:t>
                      </a:r>
                      <a:endParaRPr lang="fr-FR" sz="20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Souffle , cyanose, hépatomégalie, retard de croissance</a:t>
                      </a:r>
                      <a:endParaRPr lang="fr-FR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" name="Imag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5767" y="58655"/>
            <a:ext cx="2324100" cy="13913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/>
          <p:nvPr/>
        </p:nvSpPr>
        <p:spPr>
          <a:xfrm>
            <a:off x="572831" y="515855"/>
            <a:ext cx="8988028" cy="5791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800" b="1" dirty="0" smtClean="0"/>
              <a:t>Les diagnostics différentiels : Enfant entre 6 et 12 ans </a:t>
            </a:r>
            <a:endParaRPr lang="fr-FR" sz="2800" b="1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677333" y="2160589"/>
            <a:ext cx="9972737" cy="41191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400" dirty="0" smtClean="0">
                <a:solidFill>
                  <a:schemeClr val="tx1"/>
                </a:solidFill>
              </a:rPr>
              <a:t>Corps étranger intra bronchique </a:t>
            </a:r>
            <a:endParaRPr lang="fr-FR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2400" dirty="0" smtClean="0">
                <a:solidFill>
                  <a:schemeClr val="tx1"/>
                </a:solidFill>
              </a:rPr>
              <a:t>Dyskinésie ciliaire primitive </a:t>
            </a:r>
            <a:endParaRPr lang="fr-FR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2400" dirty="0" smtClean="0">
                <a:solidFill>
                  <a:schemeClr val="tx1"/>
                </a:solidFill>
              </a:rPr>
              <a:t>Cardiopathie congénitale </a:t>
            </a:r>
            <a:endParaRPr lang="fr-FR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2400" dirty="0" smtClean="0">
                <a:solidFill>
                  <a:schemeClr val="tx1"/>
                </a:solidFill>
              </a:rPr>
              <a:t>Mucoviscidose</a:t>
            </a:r>
            <a:endParaRPr lang="fr-FR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2400" dirty="0" smtClean="0">
                <a:solidFill>
                  <a:schemeClr val="tx1"/>
                </a:solidFill>
              </a:rPr>
              <a:t>Dilatation des bronches 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5337" y="0"/>
            <a:ext cx="2051637" cy="1899663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2874" y="2069102"/>
            <a:ext cx="2324100" cy="1962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1094741" y="142876"/>
          <a:ext cx="9715500" cy="3079751"/>
        </p:xfrm>
        <a:graphic>
          <a:graphicData uri="http://schemas.openxmlformats.org/drawingml/2006/table">
            <a:tbl>
              <a:tblPr/>
              <a:tblGrid>
                <a:gridCol w="3500967"/>
                <a:gridCol w="6214533"/>
              </a:tblGrid>
              <a:tr h="3365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fr-FR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fr-FR" sz="15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Symptômes  Respiratoires</a:t>
                      </a:r>
                      <a:endParaRPr kumimoji="0" lang="fr-FR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Persistent </a:t>
                      </a: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entre les épisodes (toux, encombrement)</a:t>
                      </a:r>
                      <a:endParaRPr kumimoji="0" lang="fr-F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Persistent même pendant l’été</a:t>
                      </a:r>
                      <a:endParaRPr kumimoji="0" lang="fr-F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Chronologie des symptômes</a:t>
                      </a:r>
                      <a:endParaRPr kumimoji="0" lang="fr-FR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Début</a:t>
                      </a: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brutal</a:t>
                      </a:r>
                      <a:endParaRPr kumimoji="0" lang="fr-F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Pas de corrélation évidente avec </a:t>
                      </a: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les infections </a:t>
                      </a: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VAS</a:t>
                      </a:r>
                      <a:endParaRPr kumimoji="0" lang="fr-F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Survenue lors de l’alimentation</a:t>
                      </a:r>
                      <a:endParaRPr kumimoji="0" lang="fr-F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1094740" y="3222625"/>
          <a:ext cx="97608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7185"/>
                <a:gridCol w="6243695"/>
              </a:tblGrid>
              <a:tr h="155448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fr-FR" sz="24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2400" b="1" dirty="0" smtClean="0">
                          <a:solidFill>
                            <a:schemeClr val="tx1"/>
                          </a:solidFill>
                        </a:rPr>
                        <a:t>Symptômes non respiratoires</a:t>
                      </a:r>
                      <a:endParaRPr lang="fr-FR" sz="2400" b="1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fr-FR" sz="2400" b="1" dirty="0"/>
                    </a:p>
                  </a:txBody>
                  <a:tcPr marL="121920" marR="12192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fr-FR" sz="2400" b="0" dirty="0" smtClean="0">
                        <a:solidFill>
                          <a:srgbClr val="000000"/>
                        </a:solidFill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2400" b="0" dirty="0" smtClean="0">
                          <a:solidFill>
                            <a:srgbClr val="000000"/>
                          </a:solidFill>
                        </a:rPr>
                        <a:t>Ralentissement de la </a:t>
                      </a:r>
                      <a:r>
                        <a:rPr lang="fr-FR" sz="2400" b="0" dirty="0" smtClean="0">
                          <a:solidFill>
                            <a:srgbClr val="FF0000"/>
                          </a:solidFill>
                        </a:rPr>
                        <a:t>courbe de poids</a:t>
                      </a:r>
                      <a:endParaRPr lang="fr-FR" sz="2400" b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2400" b="0" dirty="0" smtClean="0">
                          <a:solidFill>
                            <a:srgbClr val="000000"/>
                          </a:solidFill>
                        </a:rPr>
                        <a:t>Troubles du transit, difficultés</a:t>
                      </a:r>
                      <a:r>
                        <a:rPr lang="fr-FR" sz="2400" b="0" baseline="0" dirty="0" smtClean="0">
                          <a:solidFill>
                            <a:srgbClr val="000000"/>
                          </a:solidFill>
                        </a:rPr>
                        <a:t> aux solides, </a:t>
                      </a:r>
                      <a:r>
                        <a:rPr lang="fr-FR" sz="2400" b="0" dirty="0" smtClean="0">
                          <a:solidFill>
                            <a:srgbClr val="000000"/>
                          </a:solidFill>
                        </a:rPr>
                        <a:t>vomissements</a:t>
                      </a:r>
                      <a:endParaRPr lang="fr-FR" sz="2400" b="0" dirty="0" smtClean="0">
                        <a:solidFill>
                          <a:srgbClr val="000000"/>
                        </a:solidFill>
                      </a:endParaRPr>
                    </a:p>
                  </a:txBody>
                  <a:tcPr marL="121920" marR="12192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1094740" y="4777106"/>
          <a:ext cx="9810819" cy="1518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180"/>
                <a:gridCol w="6275639"/>
              </a:tblGrid>
              <a:tr h="633265">
                <a:tc>
                  <a:txBody>
                    <a:bodyPr/>
                    <a:lstStyle/>
                    <a:p>
                      <a:r>
                        <a:rPr lang="fr-FR" sz="2400" b="1" dirty="0" smtClean="0">
                          <a:solidFill>
                            <a:srgbClr val="000000"/>
                          </a:solidFill>
                        </a:rPr>
                        <a:t>Antécédents </a:t>
                      </a:r>
                      <a:endParaRPr lang="fr-FR" sz="2400" b="1" dirty="0">
                        <a:solidFill>
                          <a:srgbClr val="000000"/>
                        </a:solidFill>
                      </a:endParaRPr>
                    </a:p>
                  </a:txBody>
                  <a:tcPr marL="121920" marR="121920" anchor="ctr"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2400" b="0" dirty="0" smtClean="0">
                          <a:solidFill>
                            <a:srgbClr val="FF0000"/>
                          </a:solidFill>
                        </a:rPr>
                        <a:t>Pathologie néonatale</a:t>
                      </a:r>
                      <a:endParaRPr lang="fr-FR" sz="2400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121920" marR="121920" anchor="ctr">
                    <a:solidFill>
                      <a:srgbClr val="C6D9F1"/>
                    </a:solidFill>
                  </a:tcPr>
                </a:tc>
              </a:tr>
              <a:tr h="884787">
                <a:tc>
                  <a:txBody>
                    <a:bodyPr/>
                    <a:lstStyle/>
                    <a:p>
                      <a:r>
                        <a:rPr lang="fr-FR" sz="2400" b="1" dirty="0" smtClean="0"/>
                        <a:t>Traitements</a:t>
                      </a:r>
                      <a:r>
                        <a:rPr lang="fr-FR" sz="2400" b="1" baseline="0" dirty="0" smtClean="0"/>
                        <a:t> </a:t>
                      </a:r>
                      <a:endParaRPr lang="fr-FR" sz="2400" b="1" dirty="0"/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r>
                        <a:rPr lang="fr-FR" sz="2400" b="0" dirty="0" smtClean="0">
                          <a:solidFill>
                            <a:srgbClr val="FF0000"/>
                          </a:solidFill>
                        </a:rPr>
                        <a:t>Inefficacité </a:t>
                      </a:r>
                      <a:r>
                        <a:rPr lang="fr-FR" sz="2400" b="0" dirty="0" smtClean="0">
                          <a:solidFill>
                            <a:schemeClr val="tx1"/>
                          </a:solidFill>
                        </a:rPr>
                        <a:t>des traitements</a:t>
                      </a:r>
                      <a:r>
                        <a:rPr lang="fr-FR" sz="24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sz="2400" b="0" baseline="0" dirty="0" smtClean="0"/>
                        <a:t>anti asthmatiques</a:t>
                      </a:r>
                      <a:endParaRPr lang="fr-FR" sz="2400" b="0" dirty="0"/>
                    </a:p>
                  </a:txBody>
                  <a:tcPr marL="121920" marR="12192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smtClean="0"/>
          </a:p>
        </p:txBody>
      </p:sp>
      <p:sp>
        <p:nvSpPr>
          <p:cNvPr id="4096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smtClean="0"/>
          </a:p>
        </p:txBody>
      </p:sp>
      <p:pic>
        <p:nvPicPr>
          <p:cNvPr id="4096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10574" y="0"/>
            <a:ext cx="11803112" cy="6631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9349" y="5"/>
            <a:ext cx="6142403" cy="1273693"/>
          </a:xfrm>
          <a:solidFill>
            <a:schemeClr val="accent1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anose="020F0502020204030204" pitchFamily="34" charset="0"/>
              </a:rPr>
              <a:t>Principaux Dg Différentiels</a:t>
            </a:r>
            <a:endParaRPr lang="fr-F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" panose="020F0502020204030204" pitchFamily="34" charset="0"/>
            </a:endParaRPr>
          </a:p>
        </p:txBody>
      </p:sp>
      <p:sp>
        <p:nvSpPr>
          <p:cNvPr id="58373" name="Espace réservé du contenu 2"/>
          <p:cNvSpPr>
            <a:spLocks noGrp="1"/>
          </p:cNvSpPr>
          <p:nvPr>
            <p:ph idx="1"/>
          </p:nvPr>
        </p:nvSpPr>
        <p:spPr>
          <a:xfrm>
            <a:off x="239184" y="1347788"/>
            <a:ext cx="6710256" cy="5394325"/>
          </a:xfrm>
          <a:ln w="28575">
            <a:solidFill>
              <a:schemeClr val="tx2"/>
            </a:solidFill>
          </a:ln>
        </p:spPr>
        <p:txBody>
          <a:bodyPr rtlCol="0">
            <a:noAutofit/>
          </a:bodyPr>
          <a:lstStyle/>
          <a:p>
            <a:pPr algn="just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/>
            </a:pPr>
            <a:r>
              <a:rPr lang="fr-CA" sz="2400" b="1" dirty="0" smtClean="0">
                <a:cs typeface="Calibri" panose="020F0502020204030204" pitchFamily="34" charset="0"/>
              </a:rPr>
              <a:t>Obstruction proximale</a:t>
            </a:r>
            <a:r>
              <a:rPr lang="fr-CA" sz="2400" dirty="0" smtClean="0">
                <a:cs typeface="Calibri" panose="020F0502020204030204" pitchFamily="34" charset="0"/>
              </a:rPr>
              <a:t> : Corps étranger, anomalies des arcs aortiques, </a:t>
            </a:r>
            <a:r>
              <a:rPr lang="fr-CA" sz="2400" dirty="0" err="1" smtClean="0">
                <a:cs typeface="Calibri" panose="020F0502020204030204" pitchFamily="34" charset="0"/>
              </a:rPr>
              <a:t>trachéo</a:t>
            </a:r>
            <a:r>
              <a:rPr lang="fr-CA" sz="2400" dirty="0" smtClean="0">
                <a:cs typeface="Calibri" panose="020F0502020204030204" pitchFamily="34" charset="0"/>
              </a:rPr>
              <a:t>-</a:t>
            </a:r>
            <a:r>
              <a:rPr lang="fr-CA" sz="2400" dirty="0" err="1" smtClean="0">
                <a:cs typeface="Calibri" panose="020F0502020204030204" pitchFamily="34" charset="0"/>
              </a:rPr>
              <a:t>bronchomalacie</a:t>
            </a:r>
            <a:r>
              <a:rPr lang="fr-CA" sz="2400" dirty="0" smtClean="0">
                <a:cs typeface="Calibri" panose="020F0502020204030204" pitchFamily="34" charset="0"/>
              </a:rPr>
              <a:t>.</a:t>
            </a:r>
            <a:endParaRPr lang="en-US" sz="2400" dirty="0" smtClean="0">
              <a:cs typeface="Calibri" panose="020F0502020204030204" pitchFamily="34" charset="0"/>
            </a:endParaRPr>
          </a:p>
          <a:p>
            <a:pPr algn="just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/>
            </a:pPr>
            <a:r>
              <a:rPr lang="fr-CA" sz="2400" b="1" dirty="0" smtClean="0">
                <a:cs typeface="Calibri" panose="020F0502020204030204" pitchFamily="34" charset="0"/>
              </a:rPr>
              <a:t>Obstruction distale</a:t>
            </a:r>
            <a:r>
              <a:rPr lang="fr-CA" sz="2400" dirty="0" smtClean="0">
                <a:cs typeface="Calibri" panose="020F0502020204030204" pitchFamily="34" charset="0"/>
              </a:rPr>
              <a:t> : mucoviscidose, DBP, dyskinésie ciliaire primitive, séquelles de pneumopathies virales.</a:t>
            </a:r>
            <a:endParaRPr lang="en-US" sz="2400" dirty="0" smtClean="0">
              <a:cs typeface="Calibri" panose="020F0502020204030204" pitchFamily="34" charset="0"/>
            </a:endParaRPr>
          </a:p>
          <a:p>
            <a:pPr algn="just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/>
            </a:pPr>
            <a:r>
              <a:rPr lang="fr-CA" sz="2400" b="1" dirty="0" smtClean="0">
                <a:cs typeface="Calibri" panose="020F0502020204030204" pitchFamily="34" charset="0"/>
              </a:rPr>
              <a:t>Pathologies </a:t>
            </a:r>
            <a:r>
              <a:rPr lang="fr-CA" sz="2400" b="1" dirty="0" smtClean="0">
                <a:cs typeface="Calibri" panose="020F0502020204030204" pitchFamily="34" charset="0"/>
              </a:rPr>
              <a:t>d’inhalation</a:t>
            </a:r>
            <a:r>
              <a:rPr lang="fr-CA" sz="2400" dirty="0" smtClean="0">
                <a:cs typeface="Calibri" panose="020F0502020204030204" pitchFamily="34" charset="0"/>
              </a:rPr>
              <a:t> : RGO, Fistule </a:t>
            </a:r>
            <a:r>
              <a:rPr lang="fr-CA" sz="2400" dirty="0" err="1" smtClean="0">
                <a:cs typeface="Calibri" panose="020F0502020204030204" pitchFamily="34" charset="0"/>
              </a:rPr>
              <a:t>oeso</a:t>
            </a:r>
            <a:r>
              <a:rPr lang="fr-CA" sz="2400" dirty="0" smtClean="0">
                <a:cs typeface="Calibri" panose="020F0502020204030204" pitchFamily="34" charset="0"/>
              </a:rPr>
              <a:t>-</a:t>
            </a:r>
            <a:r>
              <a:rPr lang="fr-CA" sz="2400" dirty="0" err="1" smtClean="0">
                <a:cs typeface="Calibri" panose="020F0502020204030204" pitchFamily="34" charset="0"/>
              </a:rPr>
              <a:t>tracheale</a:t>
            </a:r>
            <a:endParaRPr lang="fr-CA" sz="2400" dirty="0" smtClean="0">
              <a:cs typeface="Calibri" panose="020F0502020204030204" pitchFamily="34" charset="0"/>
            </a:endParaRPr>
          </a:p>
          <a:p>
            <a:pPr algn="just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None/>
              <a:defRPr/>
            </a:pPr>
            <a:endParaRPr lang="en-US" sz="2400" dirty="0" smtClean="0">
              <a:cs typeface="Calibri" panose="020F0502020204030204" pitchFamily="34" charset="0"/>
            </a:endParaRPr>
          </a:p>
          <a:p>
            <a:pPr algn="just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/>
            </a:pPr>
            <a:r>
              <a:rPr lang="fr-CA" sz="2400" b="1" dirty="0" smtClean="0">
                <a:cs typeface="Calibri" panose="020F0502020204030204" pitchFamily="34" charset="0"/>
              </a:rPr>
              <a:t>Cardiopathies congénitales</a:t>
            </a:r>
            <a:r>
              <a:rPr lang="fr-CA" sz="2400" dirty="0" smtClean="0">
                <a:cs typeface="Calibri" panose="020F0502020204030204" pitchFamily="34" charset="0"/>
              </a:rPr>
              <a:t> avec shunt gauche-droit,</a:t>
            </a:r>
            <a:endParaRPr lang="en-US" sz="2400" dirty="0" smtClean="0">
              <a:cs typeface="Calibri" panose="020F0502020204030204" pitchFamily="34" charset="0"/>
            </a:endParaRPr>
          </a:p>
          <a:p>
            <a:pPr algn="just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/>
            </a:pPr>
            <a:r>
              <a:rPr lang="fr-CA" sz="2400" b="1" dirty="0" smtClean="0">
                <a:cs typeface="Calibri" panose="020F0502020204030204" pitchFamily="34" charset="0"/>
              </a:rPr>
              <a:t>Déficit immunitaire</a:t>
            </a:r>
            <a:r>
              <a:rPr lang="fr-CA" sz="2400" dirty="0" smtClean="0">
                <a:cs typeface="Calibri" panose="020F0502020204030204" pitchFamily="34" charset="0"/>
              </a:rPr>
              <a:t> (humoral essentiellement)</a:t>
            </a:r>
            <a:endParaRPr lang="fr-CA" sz="2400" dirty="0" smtClean="0">
              <a:cs typeface="Calibri" panose="020F0502020204030204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858006" y="0"/>
            <a:ext cx="4807373" cy="1077218"/>
          </a:xfrm>
          <a:prstGeom prst="rect">
            <a:avLst/>
          </a:prstGeom>
          <a:solidFill>
            <a:schemeClr val="accent1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Examens utiles</a:t>
            </a:r>
            <a:endParaRPr lang="fr-FR" sz="36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1" name="ZoneTexte 4"/>
          <p:cNvSpPr txBox="1">
            <a:spLocks noChangeArrowheads="1"/>
          </p:cNvSpPr>
          <p:nvPr/>
        </p:nvSpPr>
        <p:spPr bwMode="auto">
          <a:xfrm>
            <a:off x="7048501" y="1238250"/>
            <a:ext cx="4476751" cy="544764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Endoscopie bronchique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Tomodensitométrie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de la sueur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Examen ORL spécialisé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pH-métrie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Echo cœur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Bilan immunitaire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 examen orienté</a:t>
            </a:r>
            <a:endParaRPr lang="fr-FR" sz="2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n°13: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altLang="fr-FR" sz="2800" b="1" dirty="0"/>
              <a:t>L’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valuation globale du contrôle de l’asthme chez l’enfant fait intervenir</a:t>
            </a:r>
            <a:r>
              <a:rPr lang="" altLang="en-US" sz="2800" b="1" dirty="0"/>
              <a:t> </a:t>
            </a:r>
            <a:r>
              <a:rPr lang="en-US" altLang="fr-FR" sz="2800" b="1" dirty="0"/>
              <a:t>:</a:t>
            </a:r>
            <a:endParaRPr lang="en-US" altLang="fr-FR" sz="2800" b="1" dirty="0"/>
          </a:p>
          <a:p>
            <a:pPr>
              <a:buNone/>
            </a:pP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A)</a:t>
            </a:r>
            <a:r>
              <a:rPr lang="" altLang="en-US" sz="2800" dirty="0"/>
              <a:t>É</a:t>
            </a:r>
            <a:r>
              <a:rPr lang="en-US" altLang="fr-FR" sz="2800" dirty="0"/>
              <a:t>valuation du risque d’exacerbation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B)</a:t>
            </a:r>
            <a:r>
              <a:rPr lang="" altLang="en-US" sz="2800" dirty="0"/>
              <a:t>É</a:t>
            </a:r>
            <a:r>
              <a:rPr lang="en-US" altLang="fr-FR" sz="2800" dirty="0"/>
              <a:t>valuation du degr</a:t>
            </a:r>
            <a:r>
              <a:rPr lang="en-US" altLang="en-US" sz="2800" dirty="0"/>
              <a:t>é</a:t>
            </a:r>
            <a:r>
              <a:rPr lang="en-US" altLang="fr-FR" sz="2800" dirty="0"/>
              <a:t> d’adh</a:t>
            </a:r>
            <a:r>
              <a:rPr lang="en-US" altLang="en-US" sz="2800" dirty="0"/>
              <a:t>é</a:t>
            </a:r>
            <a:r>
              <a:rPr lang="en-US" altLang="fr-FR" sz="2800" dirty="0"/>
              <a:t>sion th</a:t>
            </a:r>
            <a:r>
              <a:rPr lang="en-US" altLang="en-US" sz="2800" dirty="0"/>
              <a:t>é</a:t>
            </a:r>
            <a:r>
              <a:rPr lang="en-US" altLang="fr-FR" sz="2800" dirty="0"/>
              <a:t>rapeutique 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C)Une EFR deux fois /an, tous les ans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D)R</a:t>
            </a:r>
            <a:r>
              <a:rPr lang="en-US" altLang="en-US" sz="2800" dirty="0"/>
              <a:t>é</a:t>
            </a:r>
            <a:r>
              <a:rPr lang="en-US" altLang="fr-FR" sz="2800" dirty="0"/>
              <a:t>pitition de l’enqu</a:t>
            </a:r>
            <a:r>
              <a:rPr lang="" altLang="en-US" sz="2800" dirty="0"/>
              <a:t>è</a:t>
            </a:r>
            <a:r>
              <a:rPr lang="en-US" altLang="fr-FR" sz="2800" dirty="0"/>
              <a:t>te allergologique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E)La pratique d’une radiographie de thorax une fois/an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n°13: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altLang="fr-FR" sz="2800" b="1" dirty="0"/>
              <a:t>L’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valuation globale du contrôle de l’asthme chez l’enfant fait intervenir</a:t>
            </a:r>
            <a:r>
              <a:rPr lang="" altLang="en-US" sz="2800" b="1" dirty="0"/>
              <a:t> </a:t>
            </a:r>
            <a:r>
              <a:rPr lang="en-US" altLang="fr-FR" sz="2800" b="1" dirty="0"/>
              <a:t>:</a:t>
            </a:r>
            <a:endParaRPr lang="en-US" altLang="fr-FR" sz="2800" b="1" dirty="0"/>
          </a:p>
          <a:p>
            <a:pPr>
              <a:buNone/>
            </a:pPr>
            <a:endParaRPr lang="en-US" altLang="fr-FR" sz="2800" dirty="0"/>
          </a:p>
          <a:p>
            <a:pPr>
              <a:buNone/>
            </a:pPr>
            <a:r>
              <a:rPr lang="en-US" altLang="fr-FR" sz="2800" b="1" dirty="0"/>
              <a:t>A)</a:t>
            </a:r>
            <a:r>
              <a:rPr lang="" altLang="en-US" sz="2800" b="1" dirty="0"/>
              <a:t>É</a:t>
            </a:r>
            <a:r>
              <a:rPr lang="en-US" altLang="fr-FR" sz="2800" b="1" dirty="0"/>
              <a:t>valuation du risque d’exacerbation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b="1" dirty="0"/>
              <a:t>B)</a:t>
            </a:r>
            <a:r>
              <a:rPr lang="" altLang="en-US" sz="2800" b="1" dirty="0"/>
              <a:t>É</a:t>
            </a:r>
            <a:r>
              <a:rPr lang="en-US" altLang="fr-FR" sz="2800" b="1" dirty="0"/>
              <a:t>valuation du degr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 d’adh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sion th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rapeutique 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dirty="0"/>
              <a:t>C)Une EFR deux fois /an, tous les ans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D)R</a:t>
            </a:r>
            <a:r>
              <a:rPr lang="en-US" altLang="en-US" sz="2800" dirty="0"/>
              <a:t>é</a:t>
            </a:r>
            <a:r>
              <a:rPr lang="en-US" altLang="fr-FR" sz="2800" dirty="0"/>
              <a:t>pitition de l’enqu</a:t>
            </a:r>
            <a:r>
              <a:rPr lang="" altLang="en-US" sz="2800" dirty="0"/>
              <a:t>è</a:t>
            </a:r>
            <a:r>
              <a:rPr lang="en-US" altLang="fr-FR" sz="2800" dirty="0"/>
              <a:t>te allergologique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E)La pratique d’une radiographie de thorax une fois/an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3525" y="467360"/>
            <a:ext cx="11090275" cy="570992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fr-FR" sz="3555" b="1"/>
              <a:t>L’</a:t>
            </a:r>
            <a:r>
              <a:rPr lang="en-US" altLang="en-US" sz="3555" b="1"/>
              <a:t>é</a:t>
            </a:r>
            <a:r>
              <a:rPr lang="en-US" altLang="fr-FR" sz="3555" b="1"/>
              <a:t>valuation du contrôle de l’asthme comporte plusieurs volets  :</a:t>
            </a:r>
            <a:endParaRPr lang="en-US" altLang="fr-FR" sz="3555" b="1"/>
          </a:p>
          <a:p>
            <a:pPr marL="0" indent="0">
              <a:lnSpc>
                <a:spcPct val="150000"/>
              </a:lnSpc>
              <a:buNone/>
            </a:pPr>
            <a:endParaRPr lang="en-US" altLang="fr-FR"/>
          </a:p>
          <a:p>
            <a:pPr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fr-FR">
                <a:cs typeface="+mn-lt"/>
              </a:rPr>
              <a:t>Le niveau de contrôle des symptômes d’asthme</a:t>
            </a:r>
            <a:endParaRPr lang="en-US" altLang="fr-FR">
              <a:cs typeface="+mn-lt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fr-FR">
                <a:cs typeface="+mn-lt"/>
              </a:rPr>
              <a:t>Le risque d’exacerbation</a:t>
            </a:r>
            <a:endParaRPr lang="en-US" altLang="fr-FR">
              <a:cs typeface="+mn-lt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fr-FR">
                <a:cs typeface="+mn-lt"/>
              </a:rPr>
              <a:t> Les facteurs de risque d’obstruction fix</a:t>
            </a:r>
            <a:r>
              <a:rPr lang="en-US" altLang="en-US">
                <a:cs typeface="+mn-lt"/>
              </a:rPr>
              <a:t>é</a:t>
            </a:r>
            <a:r>
              <a:rPr lang="en-US" altLang="fr-FR">
                <a:cs typeface="+mn-lt"/>
              </a:rPr>
              <a:t>e et les effets secondaires du traitement </a:t>
            </a:r>
            <a:endParaRPr lang="en-US" altLang="fr-FR">
              <a:cs typeface="+mn-lt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fr-FR">
                <a:cs typeface="+mn-lt"/>
              </a:rPr>
              <a:t> Les comorbidit</a:t>
            </a:r>
            <a:r>
              <a:rPr lang="en-US" altLang="en-US">
                <a:cs typeface="+mn-lt"/>
              </a:rPr>
              <a:t>é</a:t>
            </a:r>
            <a:r>
              <a:rPr lang="en-US" altLang="fr-FR">
                <a:cs typeface="+mn-lt"/>
              </a:rPr>
              <a:t>s, la technique d’inhalation et l’observance du traitement </a:t>
            </a:r>
            <a:endParaRPr lang="en-US" altLang="fr-FR">
              <a:cs typeface="+mn-lt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fr-FR">
                <a:cs typeface="+mn-lt"/>
              </a:rPr>
              <a:t> Les EFR : au moment du diagnostic et apr</a:t>
            </a:r>
            <a:r>
              <a:rPr lang="" altLang="en-US">
                <a:cs typeface="+mn-lt"/>
              </a:rPr>
              <a:t>è</a:t>
            </a:r>
            <a:r>
              <a:rPr lang="en-US" altLang="fr-FR">
                <a:cs typeface="+mn-lt"/>
              </a:rPr>
              <a:t>s 3 à 6 mois du traitement puis p</a:t>
            </a:r>
            <a:r>
              <a:rPr lang="en-US" altLang="en-US">
                <a:cs typeface="+mn-lt"/>
              </a:rPr>
              <a:t>é</a:t>
            </a:r>
            <a:r>
              <a:rPr lang="en-US" altLang="fr-FR">
                <a:cs typeface="+mn-lt"/>
              </a:rPr>
              <a:t>riodiquement (une fois tous les 1 à 2 ans, plus fr</a:t>
            </a:r>
            <a:r>
              <a:rPr lang="en-US" altLang="en-US">
                <a:cs typeface="+mn-lt"/>
              </a:rPr>
              <a:t>é</a:t>
            </a:r>
            <a:r>
              <a:rPr lang="en-US" altLang="fr-FR">
                <a:cs typeface="+mn-lt"/>
              </a:rPr>
              <a:t>quent en cas d'asthme s</a:t>
            </a:r>
            <a:r>
              <a:rPr lang="en-US" altLang="en-US">
                <a:cs typeface="+mn-lt"/>
              </a:rPr>
              <a:t>é</a:t>
            </a:r>
            <a:r>
              <a:rPr lang="en-US" altLang="fr-FR">
                <a:cs typeface="+mn-lt"/>
              </a:rPr>
              <a:t>v</a:t>
            </a:r>
            <a:r>
              <a:rPr lang="" altLang="en-US">
                <a:cs typeface="+mn-lt"/>
              </a:rPr>
              <a:t>è</a:t>
            </a:r>
            <a:r>
              <a:rPr lang="en-US" altLang="fr-FR">
                <a:cs typeface="+mn-lt"/>
              </a:rPr>
              <a:t>re)</a:t>
            </a:r>
            <a:endParaRPr lang="en-US" altLang="fr-FR">
              <a:cs typeface="+mn-l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smtClean="0"/>
          </a:p>
        </p:txBody>
      </p:sp>
      <p:sp>
        <p:nvSpPr>
          <p:cNvPr id="72707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smtClean="0"/>
          </a:p>
        </p:txBody>
      </p:sp>
      <p:sp>
        <p:nvSpPr>
          <p:cNvPr id="5" name="ZoneTexte 4"/>
          <p:cNvSpPr txBox="1">
            <a:spLocks noChangeArrowheads="1"/>
          </p:cNvSpPr>
          <p:nvPr/>
        </p:nvSpPr>
        <p:spPr bwMode="auto">
          <a:xfrm>
            <a:off x="6477001" y="4857751"/>
            <a:ext cx="3635482" cy="6463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rgbClr val="C00000"/>
                </a:solidFill>
              </a:rPr>
              <a:t>Evaluation du risque d’exacerbation</a:t>
            </a:r>
            <a:endParaRPr lang="fr-FR">
              <a:solidFill>
                <a:srgbClr val="C00000"/>
              </a:solidFill>
            </a:endParaRPr>
          </a:p>
          <a:p>
            <a:r>
              <a:rPr lang="fr-FR">
                <a:solidFill>
                  <a:srgbClr val="C00000"/>
                </a:solidFill>
              </a:rPr>
              <a:t>Evaluation de la fonction respiratoire</a:t>
            </a:r>
            <a:endParaRPr lang="fr-FR">
              <a:solidFill>
                <a:srgbClr val="C00000"/>
              </a:solidFill>
            </a:endParaRPr>
          </a:p>
        </p:txBody>
      </p:sp>
      <p:sp>
        <p:nvSpPr>
          <p:cNvPr id="6" name="ZoneTexte 5"/>
          <p:cNvSpPr txBox="1">
            <a:spLocks noChangeArrowheads="1"/>
          </p:cNvSpPr>
          <p:nvPr/>
        </p:nvSpPr>
        <p:spPr bwMode="auto">
          <a:xfrm>
            <a:off x="6381751" y="1333500"/>
            <a:ext cx="380379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rgbClr val="C00000"/>
                </a:solidFill>
              </a:rPr>
              <a:t>Evaluation du contrôle des symptomes</a:t>
            </a:r>
            <a:endParaRPr lang="fr-FR">
              <a:solidFill>
                <a:srgbClr val="C00000"/>
              </a:solidFill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381000" y="476250"/>
            <a:ext cx="11144251" cy="6000750"/>
            <a:chOff x="285720" y="357172"/>
            <a:chExt cx="8358246" cy="4500594"/>
          </a:xfrm>
        </p:grpSpPr>
        <p:pic>
          <p:nvPicPr>
            <p:cNvPr id="72713" name="Picture 2"/>
            <p:cNvPicPr>
              <a:picLocks noChangeAspect="1" noChangeArrowheads="1"/>
            </p:cNvPicPr>
            <p:nvPr/>
          </p:nvPicPr>
          <p:blipFill>
            <a:blip r:embed="rId1"/>
            <a:srcRect l="19217" t="18555" r="20387" b="38477"/>
            <a:stretch>
              <a:fillRect/>
            </a:stretch>
          </p:blipFill>
          <p:spPr bwMode="auto">
            <a:xfrm>
              <a:off x="285720" y="357172"/>
              <a:ext cx="8358246" cy="4500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" name="Rectangle 3"/>
            <p:cNvSpPr/>
            <p:nvPr/>
          </p:nvSpPr>
          <p:spPr>
            <a:xfrm>
              <a:off x="5940434" y="4516055"/>
              <a:ext cx="1079507" cy="34052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5724533" y="4853003"/>
              <a:ext cx="1511310" cy="0"/>
            </a:xfrm>
            <a:prstGeom prst="line">
              <a:avLst/>
            </a:prstGeom>
            <a:ln>
              <a:solidFill>
                <a:srgbClr val="8AB1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Connecteur droit 9"/>
          <p:cNvCxnSpPr/>
          <p:nvPr/>
        </p:nvCxnSpPr>
        <p:spPr>
          <a:xfrm>
            <a:off x="952500" y="1714500"/>
            <a:ext cx="22860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952500" y="5143500"/>
            <a:ext cx="22860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build="allAtOnce"/>
      <p:bldP spid="6" grpId="0" animBg="1" build="allAtOnce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n°14: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sz="2800" b="1" dirty="0"/>
              <a:t>L’obstruction fix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e dans l’asthme est favoris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e par</a:t>
            </a:r>
            <a:r>
              <a:rPr lang="" altLang="en-US" sz="2800" b="1" dirty="0"/>
              <a:t> </a:t>
            </a:r>
            <a:r>
              <a:rPr lang="en-US" altLang="fr-FR" sz="2800" b="1" dirty="0"/>
              <a:t>: </a:t>
            </a:r>
            <a:endParaRPr lang="en-US" altLang="fr-FR" sz="2800" b="1" dirty="0"/>
          </a:p>
          <a:p>
            <a:pPr>
              <a:buNone/>
            </a:pPr>
            <a:endParaRPr lang="en-US" altLang="fr-FR" sz="2800" b="1" dirty="0"/>
          </a:p>
          <a:p>
            <a:pPr>
              <a:buNone/>
            </a:pPr>
            <a:r>
              <a:rPr lang="en-US" altLang="fr-FR" sz="2800" dirty="0"/>
              <a:t>A)Un asthme de ph</a:t>
            </a:r>
            <a:r>
              <a:rPr lang="en-US" altLang="en-US" sz="2800" dirty="0"/>
              <a:t>é</a:t>
            </a:r>
            <a:r>
              <a:rPr lang="en-US" altLang="fr-FR" sz="2800" dirty="0"/>
              <a:t>notype allergique 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B)Une exposition permanente au tabac 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C)Un ant</a:t>
            </a:r>
            <a:r>
              <a:rPr lang="en-US" altLang="en-US" sz="2800" dirty="0"/>
              <a:t>é</a:t>
            </a:r>
            <a:r>
              <a:rPr lang="en-US" altLang="fr-FR" sz="2800" dirty="0"/>
              <a:t>c</a:t>
            </a:r>
            <a:r>
              <a:rPr lang="en-US" altLang="en-US" sz="2800" dirty="0"/>
              <a:t>é</a:t>
            </a:r>
            <a:r>
              <a:rPr lang="en-US" altLang="fr-FR" sz="2800" dirty="0"/>
              <a:t>dent de faible poids de naissance 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D)Une utilisation fr</a:t>
            </a:r>
            <a:r>
              <a:rPr lang="en-US" altLang="en-US" sz="2800" dirty="0"/>
              <a:t>é</a:t>
            </a:r>
            <a:r>
              <a:rPr lang="en-US" altLang="fr-FR" sz="2800" dirty="0"/>
              <a:t>quente de BDCA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E)Une utilisation de fortes doses de cortico</a:t>
            </a:r>
            <a:r>
              <a:rPr lang="en-US" altLang="en-US" sz="2800" dirty="0"/>
              <a:t>ï</a:t>
            </a:r>
            <a:r>
              <a:rPr lang="en-US" altLang="fr-FR" sz="2800" dirty="0"/>
              <a:t>des inhal</a:t>
            </a:r>
            <a:r>
              <a:rPr lang="en-US" altLang="en-US" sz="2800" dirty="0"/>
              <a:t>é</a:t>
            </a:r>
            <a:r>
              <a:rPr lang="en-US" altLang="fr-FR" sz="2800" dirty="0"/>
              <a:t>s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0060" y="382270"/>
            <a:ext cx="10515600" cy="662940"/>
          </a:xfrm>
        </p:spPr>
        <p:txBody>
          <a:bodyPr>
            <a:normAutofit/>
          </a:bodyPr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n°14: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sz="2800" b="1" dirty="0"/>
              <a:t> L’obstruction fix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e dans l’asthme est favoris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e par</a:t>
            </a:r>
            <a:r>
              <a:rPr lang="" altLang="en-US" sz="2800" b="1" dirty="0"/>
              <a:t> </a:t>
            </a:r>
            <a:r>
              <a:rPr lang="en-US" altLang="fr-FR" sz="2800" b="1" dirty="0"/>
              <a:t>: </a:t>
            </a:r>
            <a:endParaRPr lang="en-US" altLang="fr-FR" sz="2800" b="1" dirty="0"/>
          </a:p>
          <a:p>
            <a:pPr>
              <a:buNone/>
            </a:pP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A)Un asthme de ph</a:t>
            </a:r>
            <a:r>
              <a:rPr lang="en-US" altLang="en-US" sz="2800" dirty="0"/>
              <a:t>é</a:t>
            </a:r>
            <a:r>
              <a:rPr lang="en-US" altLang="fr-FR" sz="2800" dirty="0"/>
              <a:t>notype allergique 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b="1" dirty="0"/>
              <a:t>B)Une exposition permanente au tabac 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b="1" dirty="0"/>
              <a:t>C)Un ant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c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dent de faible poids de naissance 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dirty="0"/>
              <a:t>D)Une utilisation fr</a:t>
            </a:r>
            <a:r>
              <a:rPr lang="en-US" altLang="en-US" sz="2800" dirty="0"/>
              <a:t>é</a:t>
            </a:r>
            <a:r>
              <a:rPr lang="en-US" altLang="fr-FR" sz="2800" dirty="0"/>
              <a:t>quente de BDCA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E)Une utilisation de fortes doses de cortico</a:t>
            </a:r>
            <a:r>
              <a:rPr lang="en-US" altLang="en-US" sz="2800" dirty="0"/>
              <a:t>ï</a:t>
            </a:r>
            <a:r>
              <a:rPr lang="en-US" altLang="fr-FR" sz="2800" dirty="0"/>
              <a:t>des inhal</a:t>
            </a:r>
            <a:r>
              <a:rPr lang="en-US" altLang="en-US" sz="2800" dirty="0"/>
              <a:t>é</a:t>
            </a:r>
            <a:r>
              <a:rPr lang="en-US" altLang="fr-FR" sz="2800" dirty="0"/>
              <a:t>s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311900" cy="942340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p>
            <a:r>
              <a:rPr lang="en-US" altLang="fr-FR" b="1">
                <a:sym typeface="+mn-ea"/>
              </a:rPr>
              <a:t>Risque d’obstruction fix</a:t>
            </a:r>
            <a:r>
              <a:rPr lang="en-US" altLang="en-US" b="1">
                <a:sym typeface="+mn-ea"/>
              </a:rPr>
              <a:t>é</a:t>
            </a:r>
            <a:r>
              <a:rPr lang="en-US" altLang="fr-FR" b="1">
                <a:sym typeface="+mn-ea"/>
              </a:rPr>
              <a:t>e</a:t>
            </a:r>
            <a:endParaRPr lang="fr-FR" altLang="en-US" b="1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 algn="just">
              <a:lnSpc>
                <a:spcPct val="200000"/>
              </a:lnSpc>
              <a:buNone/>
            </a:pPr>
            <a:r>
              <a:rPr lang="en-US" altLang="fr-FR"/>
              <a:t>• Ant</a:t>
            </a:r>
            <a:r>
              <a:rPr lang="en-US" altLang="en-US"/>
              <a:t>é</a:t>
            </a:r>
            <a:r>
              <a:rPr lang="en-US" altLang="fr-FR"/>
              <a:t>c</a:t>
            </a:r>
            <a:r>
              <a:rPr lang="en-US" altLang="en-US"/>
              <a:t>é</a:t>
            </a:r>
            <a:r>
              <a:rPr lang="en-US" altLang="fr-FR"/>
              <a:t>dents : pr</a:t>
            </a:r>
            <a:r>
              <a:rPr lang="en-US" altLang="en-US"/>
              <a:t>é</a:t>
            </a:r>
            <a:r>
              <a:rPr lang="en-US" altLang="fr-FR"/>
              <a:t>maturit</a:t>
            </a:r>
            <a:r>
              <a:rPr lang="en-US" altLang="en-US"/>
              <a:t>é</a:t>
            </a:r>
            <a:r>
              <a:rPr lang="en-US" altLang="fr-FR"/>
              <a:t>, faible poids de naissance, asthme hyper s</a:t>
            </a:r>
            <a:r>
              <a:rPr lang="en-US" altLang="en-US"/>
              <a:t>é</a:t>
            </a:r>
            <a:r>
              <a:rPr lang="en-US" altLang="fr-FR"/>
              <a:t>cr</a:t>
            </a:r>
            <a:r>
              <a:rPr lang="en-US" altLang="en-US"/>
              <a:t>é</a:t>
            </a:r>
            <a:r>
              <a:rPr lang="en-US" altLang="fr-FR"/>
              <a:t>tant</a:t>
            </a:r>
            <a:endParaRPr lang="en-US" altLang="fr-FR"/>
          </a:p>
          <a:p>
            <a:pPr marL="0" indent="0" algn="just">
              <a:lnSpc>
                <a:spcPct val="200000"/>
              </a:lnSpc>
              <a:buNone/>
            </a:pPr>
            <a:r>
              <a:rPr lang="en-US" altLang="fr-FR"/>
              <a:t>•D</a:t>
            </a:r>
            <a:r>
              <a:rPr lang="en-US" altLang="en-US"/>
              <a:t>é</a:t>
            </a:r>
            <a:r>
              <a:rPr lang="en-US" altLang="fr-FR"/>
              <a:t>faut de traitement par CSI</a:t>
            </a:r>
            <a:endParaRPr lang="en-US" altLang="fr-FR"/>
          </a:p>
          <a:p>
            <a:pPr marL="0" indent="0" algn="just">
              <a:lnSpc>
                <a:spcPct val="200000"/>
              </a:lnSpc>
              <a:buNone/>
            </a:pPr>
            <a:r>
              <a:rPr lang="en-US" altLang="fr-FR"/>
              <a:t>•Exposition au tabac, vapeur chimique nocive</a:t>
            </a:r>
            <a:endParaRPr lang="en-US" altLang="fr-FR"/>
          </a:p>
          <a:p>
            <a:pPr marL="0" indent="0" algn="just">
              <a:lnSpc>
                <a:spcPct val="200000"/>
              </a:lnSpc>
              <a:buNone/>
            </a:pPr>
            <a:r>
              <a:rPr lang="en-US" altLang="fr-FR"/>
              <a:t>•VEMS initial bas, </a:t>
            </a:r>
            <a:r>
              <a:rPr lang="en-US" altLang="en-US"/>
              <a:t>é</a:t>
            </a:r>
            <a:r>
              <a:rPr lang="en-US" altLang="fr-FR"/>
              <a:t>osinophilie sanguine ou expectoration</a:t>
            </a:r>
            <a:endParaRPr lang="en-US" altLang="fr-F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n°15: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sz="2800" b="1" dirty="0"/>
              <a:t> Le traitement de fond de l’asthme chez l’enfant:</a:t>
            </a:r>
            <a:endParaRPr lang="en-US" altLang="fr-FR" sz="2800" b="1" dirty="0"/>
          </a:p>
          <a:p>
            <a:pPr>
              <a:buNone/>
            </a:pP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A)Inclut une corticoth</a:t>
            </a:r>
            <a:r>
              <a:rPr lang="en-US" altLang="en-US" sz="2800" dirty="0"/>
              <a:t>é</a:t>
            </a:r>
            <a:r>
              <a:rPr lang="en-US" altLang="fr-FR" sz="2800" dirty="0"/>
              <a:t>rapie orale et inhal</a:t>
            </a:r>
            <a:r>
              <a:rPr lang="en-US" altLang="en-US" sz="2800" dirty="0"/>
              <a:t>é</a:t>
            </a:r>
            <a:r>
              <a:rPr lang="en-US" altLang="fr-FR" sz="2800" dirty="0"/>
              <a:t>e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B)Associe les BDLA chez le grand enfant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C)La corticoth</a:t>
            </a:r>
            <a:r>
              <a:rPr lang="en-US" altLang="en-US" sz="2800" dirty="0"/>
              <a:t>é</a:t>
            </a:r>
            <a:r>
              <a:rPr lang="en-US" altLang="fr-FR" sz="2800" dirty="0"/>
              <a:t>rapie est ajust</a:t>
            </a:r>
            <a:r>
              <a:rPr lang="en-US" altLang="en-US" sz="2800" dirty="0"/>
              <a:t>é</a:t>
            </a:r>
            <a:r>
              <a:rPr lang="en-US" altLang="fr-FR" sz="2800" dirty="0"/>
              <a:t>e a la plus faible dose efficace 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D) Est administr</a:t>
            </a:r>
            <a:r>
              <a:rPr lang="en-US" altLang="en-US" sz="2800" dirty="0"/>
              <a:t>é</a:t>
            </a:r>
            <a:r>
              <a:rPr lang="en-US" altLang="fr-FR" sz="2800" dirty="0"/>
              <a:t>  via une chambre d’inhalation + masque chez le grand enfant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 </a:t>
            </a:r>
            <a:r>
              <a:rPr lang="fr-FR" altLang="en-US" sz="2800" dirty="0"/>
              <a:t>E) </a:t>
            </a:r>
            <a:r>
              <a:rPr lang="en-US" altLang="fr-FR" sz="2800" dirty="0"/>
              <a:t>Le palier est a changer en cas de nouvelle exacerbation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n°15: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sz="2800" dirty="0"/>
              <a:t> </a:t>
            </a:r>
            <a:r>
              <a:rPr lang="en-US" altLang="fr-FR" sz="2800" b="1" dirty="0"/>
              <a:t>Le traitement de fond de l’asthme chez l’enfant:</a:t>
            </a:r>
            <a:endParaRPr lang="en-US" altLang="fr-FR" sz="2800" b="1" dirty="0"/>
          </a:p>
          <a:p>
            <a:pPr>
              <a:buNone/>
            </a:pPr>
            <a:endParaRPr lang="en-US" altLang="fr-FR" sz="2800" dirty="0"/>
          </a:p>
          <a:p>
            <a:pPr>
              <a:buNone/>
            </a:pPr>
            <a:r>
              <a:rPr lang="en-US" altLang="fr-FR" sz="2800" dirty="0"/>
              <a:t>A)Inclut une corticoth</a:t>
            </a:r>
            <a:r>
              <a:rPr lang="en-US" altLang="en-US" sz="2800" dirty="0"/>
              <a:t>é</a:t>
            </a:r>
            <a:r>
              <a:rPr lang="en-US" altLang="fr-FR" sz="2800" dirty="0"/>
              <a:t>rapie orale et inhal</a:t>
            </a:r>
            <a:r>
              <a:rPr lang="en-US" altLang="en-US" sz="2800" dirty="0"/>
              <a:t>é</a:t>
            </a:r>
            <a:r>
              <a:rPr lang="en-US" altLang="fr-FR" sz="2800" dirty="0"/>
              <a:t>e</a:t>
            </a:r>
            <a:endParaRPr lang="en-US" altLang="fr-FR" sz="2800" dirty="0"/>
          </a:p>
          <a:p>
            <a:pPr>
              <a:buNone/>
            </a:pPr>
            <a:r>
              <a:rPr lang="en-US" altLang="fr-FR" sz="2800" b="1" dirty="0"/>
              <a:t>B)Associe les BDLA chez le grand enfant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b="1" dirty="0"/>
              <a:t>C)La corticoth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rapie est ajust</a:t>
            </a:r>
            <a:r>
              <a:rPr lang="en-US" altLang="en-US" sz="2800" b="1" dirty="0"/>
              <a:t>é</a:t>
            </a:r>
            <a:r>
              <a:rPr lang="en-US" altLang="fr-FR" sz="2800" b="1" dirty="0"/>
              <a:t>e a la plus faible dose efficace </a:t>
            </a:r>
            <a:endParaRPr lang="en-US" altLang="fr-FR" sz="2800" b="1" dirty="0"/>
          </a:p>
          <a:p>
            <a:pPr>
              <a:buNone/>
            </a:pPr>
            <a:r>
              <a:rPr lang="en-US" altLang="fr-FR" sz="2800" dirty="0"/>
              <a:t>D) Est administr</a:t>
            </a:r>
            <a:r>
              <a:rPr lang="en-US" altLang="en-US" sz="2800" dirty="0"/>
              <a:t>é</a:t>
            </a:r>
            <a:r>
              <a:rPr lang="en-US" altLang="fr-FR" sz="2800" dirty="0"/>
              <a:t>  via une chambre d’inhalation + masque chez le grand enfant</a:t>
            </a:r>
            <a:endParaRPr lang="en-US" altLang="fr-FR" sz="2800" dirty="0"/>
          </a:p>
          <a:p>
            <a:pPr>
              <a:buNone/>
            </a:pPr>
            <a:r>
              <a:rPr lang="fr-FR" altLang="en-US" sz="2800" dirty="0"/>
              <a:t>E)</a:t>
            </a:r>
            <a:r>
              <a:rPr lang="en-US" altLang="fr-FR" sz="2800" dirty="0"/>
              <a:t> Le palier est a changer en cas de nouvelle exacerbation</a:t>
            </a:r>
            <a:endParaRPr lang="en-US" altLang="fr-FR" sz="2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n°16: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sz="2800" b="1" dirty="0" smtClean="0"/>
              <a:t>Le traitement de fond chez un enfant </a:t>
            </a:r>
            <a:r>
              <a:rPr lang="en-US" altLang="en-US" sz="2800" b="1" dirty="0" smtClean="0"/>
              <a:t>â</a:t>
            </a:r>
            <a:r>
              <a:rPr lang="en-US" altLang="fr-FR" sz="2800" b="1" dirty="0" smtClean="0"/>
              <a:t>g</a:t>
            </a:r>
            <a:r>
              <a:rPr lang="en-US" altLang="en-US" sz="2800" b="1" dirty="0" smtClean="0"/>
              <a:t>é</a:t>
            </a:r>
            <a:r>
              <a:rPr lang="en-US" altLang="fr-FR" sz="2800" b="1" dirty="0" smtClean="0"/>
              <a:t> de moins de 5 ans</a:t>
            </a:r>
            <a:r>
              <a:rPr lang="" altLang="en-US" sz="2800" b="1" dirty="0" smtClean="0"/>
              <a:t> </a:t>
            </a:r>
            <a:r>
              <a:rPr lang="en-US" altLang="fr-FR" sz="2800" b="1" dirty="0" smtClean="0"/>
              <a:t>:</a:t>
            </a:r>
            <a:endParaRPr lang="en-US" altLang="fr-FR" sz="2800" b="1" dirty="0" smtClean="0"/>
          </a:p>
          <a:p>
            <a:pPr>
              <a:buNone/>
            </a:pPr>
            <a:endParaRPr lang="en-US" altLang="fr-FR" sz="2800" dirty="0" smtClean="0"/>
          </a:p>
          <a:p>
            <a:pPr>
              <a:buNone/>
            </a:pPr>
            <a:r>
              <a:rPr lang="en-US" altLang="fr-FR" sz="2800" dirty="0" smtClean="0"/>
              <a:t>A) Associe une faible dose de corticoide inhal</a:t>
            </a:r>
            <a:r>
              <a:rPr lang="en-US" altLang="en-US" sz="2800" dirty="0" smtClean="0"/>
              <a:t>é</a:t>
            </a:r>
            <a:r>
              <a:rPr lang="en-US" altLang="fr-FR" sz="2800" dirty="0" smtClean="0"/>
              <a:t> aux BDLA tr</a:t>
            </a:r>
            <a:r>
              <a:rPr lang="" altLang="en-US" sz="2800" dirty="0" smtClean="0"/>
              <a:t>è</a:t>
            </a:r>
            <a:r>
              <a:rPr lang="en-US" altLang="fr-FR" sz="2800" dirty="0" smtClean="0"/>
              <a:t>s faible dose au</a:t>
            </a:r>
            <a:r>
              <a:rPr lang="fr-FR" altLang="en-US" sz="2800" dirty="0" smtClean="0"/>
              <a:t> </a:t>
            </a:r>
            <a:r>
              <a:rPr lang="en-US" altLang="fr-FR" sz="2800" dirty="0" smtClean="0"/>
              <a:t>palier 3</a:t>
            </a:r>
            <a:endParaRPr lang="en-US" altLang="fr-FR" sz="2800" dirty="0" smtClean="0"/>
          </a:p>
          <a:p>
            <a:pPr>
              <a:buNone/>
            </a:pPr>
            <a:r>
              <a:rPr lang="en-US" altLang="fr-FR" sz="2800" dirty="0" smtClean="0"/>
              <a:t>B) Comporte une corticoth</a:t>
            </a:r>
            <a:r>
              <a:rPr lang="en-US" altLang="en-US" sz="2800" dirty="0" smtClean="0"/>
              <a:t>é</a:t>
            </a:r>
            <a:r>
              <a:rPr lang="en-US" altLang="fr-FR" sz="2800" dirty="0" smtClean="0"/>
              <a:t>rapie inhal</a:t>
            </a:r>
            <a:r>
              <a:rPr lang="en-US" altLang="en-US" sz="2800" dirty="0" smtClean="0"/>
              <a:t>é</a:t>
            </a:r>
            <a:r>
              <a:rPr lang="en-US" altLang="fr-FR" sz="2800" dirty="0" smtClean="0"/>
              <a:t>e intermittente</a:t>
            </a:r>
            <a:endParaRPr lang="en-US" altLang="fr-FR" sz="2800" dirty="0" smtClean="0"/>
          </a:p>
          <a:p>
            <a:pPr>
              <a:buNone/>
            </a:pPr>
            <a:r>
              <a:rPr lang="en-US" altLang="fr-FR" sz="2800" dirty="0" smtClean="0"/>
              <a:t>C) Doit faire </a:t>
            </a:r>
            <a:r>
              <a:rPr lang="en-US" altLang="en-US" sz="2800" dirty="0" smtClean="0"/>
              <a:t>é</a:t>
            </a:r>
            <a:r>
              <a:rPr lang="en-US" altLang="fr-FR" sz="2800" dirty="0" smtClean="0"/>
              <a:t>viter les fortes doses de cortico</a:t>
            </a:r>
            <a:r>
              <a:rPr lang="en-US" altLang="en-US" sz="2800" dirty="0" smtClean="0"/>
              <a:t>ï</a:t>
            </a:r>
            <a:r>
              <a:rPr lang="en-US" altLang="fr-FR" sz="2800" dirty="0" smtClean="0"/>
              <a:t>des inhal</a:t>
            </a:r>
            <a:r>
              <a:rPr lang="en-US" altLang="en-US" sz="2800" dirty="0" smtClean="0"/>
              <a:t>é</a:t>
            </a:r>
            <a:r>
              <a:rPr lang="en-US" altLang="fr-FR" sz="2800" dirty="0" smtClean="0"/>
              <a:t>s</a:t>
            </a:r>
            <a:endParaRPr lang="en-US" altLang="fr-FR" sz="2800" dirty="0" smtClean="0"/>
          </a:p>
          <a:p>
            <a:pPr>
              <a:buNone/>
            </a:pPr>
            <a:r>
              <a:rPr lang="en-US" altLang="fr-FR" sz="2800" dirty="0" smtClean="0"/>
              <a:t>D) Est administr</a:t>
            </a:r>
            <a:r>
              <a:rPr lang="en-US" altLang="en-US" sz="2800" dirty="0" smtClean="0"/>
              <a:t>é</a:t>
            </a:r>
            <a:r>
              <a:rPr lang="en-US" altLang="fr-FR" sz="2800" dirty="0" smtClean="0"/>
              <a:t> a travers des inhalateurs de poudre</a:t>
            </a:r>
            <a:endParaRPr lang="en-US" altLang="fr-FR" sz="2800" dirty="0" smtClean="0"/>
          </a:p>
          <a:p>
            <a:pPr>
              <a:buNone/>
            </a:pPr>
            <a:r>
              <a:rPr lang="en-US" altLang="fr-FR" sz="2800" dirty="0" smtClean="0"/>
              <a:t>E) Se base sur une immunoth</a:t>
            </a:r>
            <a:r>
              <a:rPr lang="en-US" altLang="en-US" sz="2800" dirty="0" smtClean="0"/>
              <a:t>é</a:t>
            </a:r>
            <a:r>
              <a:rPr lang="en-US" altLang="fr-FR" sz="2800" dirty="0" smtClean="0"/>
              <a:t>rapie si allergie document</a:t>
            </a:r>
            <a:r>
              <a:rPr lang="en-US" altLang="en-US" sz="2800" dirty="0" smtClean="0"/>
              <a:t>é</a:t>
            </a:r>
            <a:r>
              <a:rPr lang="en-US" altLang="fr-FR" sz="2800" dirty="0" smtClean="0"/>
              <a:t>e</a:t>
            </a:r>
            <a:endParaRPr lang="en-US" altLang="fr-FR" sz="2800" dirty="0" smtClean="0"/>
          </a:p>
          <a:p>
            <a:pPr marL="1428750" lvl="2" indent="-514350">
              <a:buFont typeface="+mj-lt"/>
              <a:buAutoNum type="alphaUcPeriod"/>
            </a:pPr>
            <a:endParaRPr lang="fr-FR" sz="2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n°16: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 </a:t>
            </a:r>
            <a:r>
              <a:rPr lang="en-US" altLang="fr-FR" sz="2800" b="1" dirty="0" smtClean="0"/>
              <a:t> Le traitement de fond chez un enfant </a:t>
            </a:r>
            <a:r>
              <a:rPr lang="en-US" altLang="en-US" sz="2800" b="1" dirty="0" smtClean="0"/>
              <a:t>â</a:t>
            </a:r>
            <a:r>
              <a:rPr lang="en-US" altLang="fr-FR" sz="2800" b="1" dirty="0" smtClean="0"/>
              <a:t>g</a:t>
            </a:r>
            <a:r>
              <a:rPr lang="en-US" altLang="en-US" sz="2800" b="1" dirty="0" smtClean="0"/>
              <a:t>é</a:t>
            </a:r>
            <a:r>
              <a:rPr lang="en-US" altLang="fr-FR" sz="2800" b="1" dirty="0" smtClean="0"/>
              <a:t> de moins de 5 ans</a:t>
            </a:r>
            <a:r>
              <a:rPr lang="" altLang="en-US" sz="2800" b="1" dirty="0" smtClean="0"/>
              <a:t> </a:t>
            </a:r>
            <a:r>
              <a:rPr lang="en-US" altLang="fr-FR" sz="2800" b="1" dirty="0" smtClean="0"/>
              <a:t>:</a:t>
            </a:r>
            <a:endParaRPr lang="en-US" altLang="fr-FR" sz="2800" b="1" dirty="0" smtClean="0"/>
          </a:p>
          <a:p>
            <a:pPr>
              <a:buNone/>
            </a:pPr>
            <a:endParaRPr lang="en-US" altLang="fr-FR" sz="2800" b="1" dirty="0" smtClean="0"/>
          </a:p>
          <a:p>
            <a:pPr>
              <a:buNone/>
            </a:pPr>
            <a:r>
              <a:rPr lang="en-US" altLang="fr-FR" sz="2800" dirty="0" smtClean="0"/>
              <a:t>A) Associe une faible dose de corticoide inhal</a:t>
            </a:r>
            <a:r>
              <a:rPr lang="en-US" altLang="en-US" sz="2800" dirty="0" smtClean="0"/>
              <a:t>é</a:t>
            </a:r>
            <a:r>
              <a:rPr lang="en-US" altLang="fr-FR" sz="2800" dirty="0" smtClean="0"/>
              <a:t> aux BDLA tr</a:t>
            </a:r>
            <a:r>
              <a:rPr lang="" altLang="en-US" sz="2800" dirty="0" smtClean="0"/>
              <a:t>è</a:t>
            </a:r>
            <a:r>
              <a:rPr lang="en-US" altLang="fr-FR" sz="2800" dirty="0" smtClean="0"/>
              <a:t>s faible dose au</a:t>
            </a:r>
            <a:r>
              <a:rPr lang="fr-FR" altLang="en-US" sz="2800" dirty="0" smtClean="0"/>
              <a:t> </a:t>
            </a:r>
            <a:r>
              <a:rPr lang="en-US" altLang="fr-FR" sz="2800" dirty="0" smtClean="0"/>
              <a:t>palier 3</a:t>
            </a:r>
            <a:endParaRPr lang="en-US" altLang="fr-FR" sz="2800" dirty="0" smtClean="0"/>
          </a:p>
          <a:p>
            <a:pPr>
              <a:buNone/>
            </a:pPr>
            <a:r>
              <a:rPr lang="en-US" altLang="fr-FR" sz="2800" b="1" dirty="0" smtClean="0"/>
              <a:t>B) Comporte une corticoth</a:t>
            </a:r>
            <a:r>
              <a:rPr lang="en-US" altLang="en-US" sz="2800" b="1" dirty="0" smtClean="0"/>
              <a:t>é</a:t>
            </a:r>
            <a:r>
              <a:rPr lang="en-US" altLang="fr-FR" sz="2800" b="1" dirty="0" smtClean="0"/>
              <a:t>rapie inhal</a:t>
            </a:r>
            <a:r>
              <a:rPr lang="en-US" altLang="en-US" sz="2800" b="1" dirty="0" smtClean="0"/>
              <a:t>é</a:t>
            </a:r>
            <a:r>
              <a:rPr lang="en-US" altLang="fr-FR" sz="2800" b="1" dirty="0" smtClean="0"/>
              <a:t>e intermittente</a:t>
            </a:r>
            <a:endParaRPr lang="en-US" altLang="fr-FR" sz="2800" b="1" dirty="0" smtClean="0"/>
          </a:p>
          <a:p>
            <a:pPr>
              <a:buNone/>
            </a:pPr>
            <a:r>
              <a:rPr lang="en-US" altLang="fr-FR" sz="2800" b="1" dirty="0" smtClean="0"/>
              <a:t>C) Doit faire </a:t>
            </a:r>
            <a:r>
              <a:rPr lang="en-US" altLang="en-US" sz="2800" b="1" dirty="0" smtClean="0"/>
              <a:t>é</a:t>
            </a:r>
            <a:r>
              <a:rPr lang="en-US" altLang="fr-FR" sz="2800" b="1" dirty="0" smtClean="0"/>
              <a:t>viter les fortes doses de cortico</a:t>
            </a:r>
            <a:r>
              <a:rPr lang="en-US" altLang="en-US" sz="2800" b="1" dirty="0" smtClean="0"/>
              <a:t>ï</a:t>
            </a:r>
            <a:r>
              <a:rPr lang="en-US" altLang="fr-FR" sz="2800" b="1" dirty="0" smtClean="0"/>
              <a:t>des inhal</a:t>
            </a:r>
            <a:r>
              <a:rPr lang="en-US" altLang="en-US" sz="2800" b="1" dirty="0" smtClean="0"/>
              <a:t>é</a:t>
            </a:r>
            <a:r>
              <a:rPr lang="en-US" altLang="fr-FR" sz="2800" b="1" dirty="0" smtClean="0"/>
              <a:t>s</a:t>
            </a:r>
            <a:endParaRPr lang="en-US" altLang="fr-FR" sz="2800" b="1" dirty="0" smtClean="0"/>
          </a:p>
          <a:p>
            <a:pPr>
              <a:buNone/>
            </a:pPr>
            <a:r>
              <a:rPr lang="en-US" altLang="fr-FR" sz="2800" dirty="0" smtClean="0"/>
              <a:t>D) Est administr</a:t>
            </a:r>
            <a:r>
              <a:rPr lang="en-US" altLang="en-US" sz="2800" dirty="0" smtClean="0"/>
              <a:t>é</a:t>
            </a:r>
            <a:r>
              <a:rPr lang="en-US" altLang="fr-FR" sz="2800" dirty="0" smtClean="0"/>
              <a:t> a travers des inhalateurs de poudre</a:t>
            </a:r>
            <a:endParaRPr lang="en-US" altLang="fr-FR" sz="2800" dirty="0" smtClean="0"/>
          </a:p>
          <a:p>
            <a:pPr>
              <a:buNone/>
            </a:pPr>
            <a:r>
              <a:rPr lang="en-US" altLang="fr-FR" sz="2800" dirty="0" smtClean="0"/>
              <a:t>E) Se base sur une immunoth</a:t>
            </a:r>
            <a:r>
              <a:rPr lang="en-US" altLang="en-US" sz="2800" dirty="0" smtClean="0"/>
              <a:t>é</a:t>
            </a:r>
            <a:r>
              <a:rPr lang="en-US" altLang="fr-FR" sz="2800" dirty="0" smtClean="0"/>
              <a:t>rapie si allergie document</a:t>
            </a:r>
            <a:r>
              <a:rPr lang="en-US" altLang="en-US" sz="2800" dirty="0" smtClean="0"/>
              <a:t>é</a:t>
            </a:r>
            <a:r>
              <a:rPr lang="en-US" altLang="fr-FR" sz="2800" dirty="0" smtClean="0"/>
              <a:t>e</a:t>
            </a:r>
            <a:endParaRPr lang="en-US" altLang="fr-FR" sz="2800" dirty="0" smtClean="0"/>
          </a:p>
          <a:p>
            <a:pPr marL="1428750" lvl="2" indent="-514350">
              <a:buFont typeface="+mj-lt"/>
              <a:buAutoNum type="alphaUcPeriod"/>
            </a:pPr>
            <a:endParaRPr lang="fr-FR" sz="2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0365" y="372110"/>
            <a:ext cx="11090910" cy="659130"/>
          </a:xfr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fr-FR" b="1" smtClean="0">
                <a:solidFill>
                  <a:schemeClr val="tx1"/>
                </a:solidFill>
              </a:rPr>
              <a:t>Traitement de fond de l’asthme: Enfant 1 à 5 ans </a:t>
            </a:r>
            <a:endParaRPr lang="fr-FR" b="1">
              <a:solidFill>
                <a:schemeClr val="tx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27177" y="3399528"/>
            <a:ext cx="2182709" cy="19389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/>
              <a:t>Sifflements épisodiques de courte durée avec une fréquence &lt;</a:t>
            </a:r>
            <a:r>
              <a:rPr lang="fr-FR" sz="2000" smtClean="0"/>
              <a:t>  </a:t>
            </a:r>
            <a:r>
              <a:rPr lang="fr-FR" sz="2000"/>
              <a:t>3 épisodes/an.</a:t>
            </a:r>
            <a:endParaRPr lang="fr-FR" sz="2000"/>
          </a:p>
        </p:txBody>
      </p:sp>
      <p:sp>
        <p:nvSpPr>
          <p:cNvPr id="5" name="ZoneTexte 4"/>
          <p:cNvSpPr txBox="1"/>
          <p:nvPr/>
        </p:nvSpPr>
        <p:spPr>
          <a:xfrm>
            <a:off x="340847" y="5576867"/>
            <a:ext cx="2155371" cy="10156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smtClean="0"/>
              <a:t>CSI intermittent</a:t>
            </a:r>
            <a:endParaRPr lang="fr-FR" sz="2000" smtClean="0"/>
          </a:p>
          <a:p>
            <a:endParaRPr lang="fr-FR" sz="2000"/>
          </a:p>
          <a:p>
            <a:endParaRPr lang="fr-FR" sz="2000"/>
          </a:p>
        </p:txBody>
      </p:sp>
      <p:sp>
        <p:nvSpPr>
          <p:cNvPr id="6" name="ZoneTexte 5"/>
          <p:cNvSpPr txBox="1"/>
          <p:nvPr/>
        </p:nvSpPr>
        <p:spPr>
          <a:xfrm>
            <a:off x="2734131" y="3091751"/>
            <a:ext cx="2354703" cy="22467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/>
              <a:t>Asthme probable (Symptômes indiquant un traitement de fond ou </a:t>
            </a:r>
            <a:r>
              <a:rPr lang="fr-FR" sz="2000" smtClean="0"/>
              <a:t>épisodes sévères</a:t>
            </a:r>
            <a:endParaRPr lang="fr-FR" sz="2000" smtClean="0"/>
          </a:p>
          <a:p>
            <a:endParaRPr lang="fr-FR" sz="2000"/>
          </a:p>
        </p:txBody>
      </p:sp>
      <p:sp>
        <p:nvSpPr>
          <p:cNvPr id="7" name="ZoneTexte 6"/>
          <p:cNvSpPr txBox="1"/>
          <p:nvPr/>
        </p:nvSpPr>
        <p:spPr>
          <a:xfrm>
            <a:off x="2735399" y="5569351"/>
            <a:ext cx="2388326" cy="10156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smtClean="0"/>
              <a:t>CSI faible dose </a:t>
            </a:r>
            <a:endParaRPr lang="fr-FR" sz="2000" smtClean="0"/>
          </a:p>
          <a:p>
            <a:r>
              <a:rPr lang="fr-FR" sz="2000" smtClean="0"/>
              <a:t> ou</a:t>
            </a:r>
            <a:endParaRPr lang="fr-FR" sz="2000" smtClean="0"/>
          </a:p>
          <a:p>
            <a:r>
              <a:rPr lang="fr-FR" sz="2000" smtClean="0"/>
              <a:t> antileucotriene</a:t>
            </a:r>
            <a:endParaRPr lang="fr-FR" sz="2000"/>
          </a:p>
        </p:txBody>
      </p:sp>
      <p:sp>
        <p:nvSpPr>
          <p:cNvPr id="8" name="ZoneTexte 7"/>
          <p:cNvSpPr txBox="1"/>
          <p:nvPr/>
        </p:nvSpPr>
        <p:spPr>
          <a:xfrm>
            <a:off x="5262700" y="1968366"/>
            <a:ext cx="2420495" cy="22467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smtClean="0"/>
              <a:t>Diagnostic d’asthme et absence de contrôle sous CSI faible dose</a:t>
            </a:r>
            <a:endParaRPr lang="fr-FR" sz="2000" smtClean="0"/>
          </a:p>
          <a:p>
            <a:endParaRPr lang="fr-FR" sz="2000"/>
          </a:p>
          <a:p>
            <a:endParaRPr lang="fr-FR" sz="2000"/>
          </a:p>
        </p:txBody>
      </p:sp>
      <p:sp>
        <p:nvSpPr>
          <p:cNvPr id="9" name="ZoneTexte 8"/>
          <p:cNvSpPr txBox="1"/>
          <p:nvPr/>
        </p:nvSpPr>
        <p:spPr>
          <a:xfrm>
            <a:off x="5262700" y="4599855"/>
            <a:ext cx="2420495" cy="19389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smtClean="0"/>
              <a:t> CSI moyenne dose</a:t>
            </a:r>
            <a:endParaRPr lang="fr-FR" sz="2000" smtClean="0"/>
          </a:p>
          <a:p>
            <a:r>
              <a:rPr lang="fr-FR" sz="2000" smtClean="0"/>
              <a:t> ou </a:t>
            </a:r>
            <a:endParaRPr lang="fr-FR" sz="2000" smtClean="0"/>
          </a:p>
          <a:p>
            <a:r>
              <a:rPr lang="fr-FR" sz="2000" smtClean="0"/>
              <a:t>CSI faible dose +antileucotriene</a:t>
            </a:r>
            <a:endParaRPr lang="fr-FR" sz="2000" smtClean="0"/>
          </a:p>
          <a:p>
            <a:endParaRPr lang="fr-FR" sz="2000"/>
          </a:p>
          <a:p>
            <a:endParaRPr lang="fr-FR" sz="2000"/>
          </a:p>
        </p:txBody>
      </p:sp>
      <p:sp>
        <p:nvSpPr>
          <p:cNvPr id="10" name="ZoneTexte 9"/>
          <p:cNvSpPr txBox="1"/>
          <p:nvPr/>
        </p:nvSpPr>
        <p:spPr>
          <a:xfrm>
            <a:off x="7896251" y="1546747"/>
            <a:ext cx="2162148" cy="25545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sz="2000" smtClean="0"/>
          </a:p>
          <a:p>
            <a:pPr algn="ctr"/>
            <a:r>
              <a:rPr lang="fr-FR" sz="2000" smtClean="0"/>
              <a:t>Diagnostic d’asthme et absence de contrôle sous doses moyenne</a:t>
            </a:r>
            <a:endParaRPr lang="fr-FR" sz="2000" smtClean="0"/>
          </a:p>
          <a:p>
            <a:endParaRPr lang="fr-FR" sz="2000" smtClean="0"/>
          </a:p>
          <a:p>
            <a:endParaRPr lang="fr-FR" sz="2000"/>
          </a:p>
        </p:txBody>
      </p:sp>
      <p:sp>
        <p:nvSpPr>
          <p:cNvPr id="11" name="ZoneTexte 10"/>
          <p:cNvSpPr txBox="1"/>
          <p:nvPr/>
        </p:nvSpPr>
        <p:spPr>
          <a:xfrm>
            <a:off x="7896252" y="4369024"/>
            <a:ext cx="2162148" cy="22467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smtClean="0"/>
              <a:t>CSI moyenne dose +Antileucotriene</a:t>
            </a:r>
            <a:endParaRPr lang="fr-FR" sz="2000" smtClean="0"/>
          </a:p>
          <a:p>
            <a:endParaRPr lang="fr-FR" sz="2000"/>
          </a:p>
          <a:p>
            <a:endParaRPr lang="fr-FR" sz="2000" smtClean="0"/>
          </a:p>
          <a:p>
            <a:endParaRPr lang="fr-FR" sz="2000"/>
          </a:p>
          <a:p>
            <a:endParaRPr lang="fr-FR" sz="2000"/>
          </a:p>
        </p:txBody>
      </p:sp>
      <p:sp>
        <p:nvSpPr>
          <p:cNvPr id="12" name="ZoneTexte 11"/>
          <p:cNvSpPr txBox="1"/>
          <p:nvPr/>
        </p:nvSpPr>
        <p:spPr>
          <a:xfrm>
            <a:off x="10166289" y="1031239"/>
            <a:ext cx="1946366" cy="193899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sz="2000" smtClean="0"/>
          </a:p>
          <a:p>
            <a:pPr algn="ctr"/>
            <a:r>
              <a:rPr lang="fr-FR" sz="2000" smtClean="0"/>
              <a:t>Contrôle non obtenu</a:t>
            </a:r>
            <a:endParaRPr lang="fr-FR" sz="2000" smtClean="0"/>
          </a:p>
          <a:p>
            <a:endParaRPr lang="fr-FR" sz="2000"/>
          </a:p>
          <a:p>
            <a:endParaRPr lang="fr-FR" sz="2000" smtClean="0"/>
          </a:p>
          <a:p>
            <a:endParaRPr lang="fr-FR" sz="2000"/>
          </a:p>
        </p:txBody>
      </p:sp>
      <p:sp>
        <p:nvSpPr>
          <p:cNvPr id="13" name="ZoneTexte 12"/>
          <p:cNvSpPr txBox="1"/>
          <p:nvPr/>
        </p:nvSpPr>
        <p:spPr>
          <a:xfrm>
            <a:off x="10168218" y="3753470"/>
            <a:ext cx="1946366" cy="28315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smtClean="0"/>
          </a:p>
          <a:p>
            <a:endParaRPr lang="fr-FR" sz="2000" smtClean="0"/>
          </a:p>
          <a:p>
            <a:endParaRPr lang="fr-FR" sz="2000"/>
          </a:p>
          <a:p>
            <a:r>
              <a:rPr lang="fr-FR" sz="2000" smtClean="0"/>
              <a:t>Avis spécialisé</a:t>
            </a:r>
            <a:endParaRPr lang="fr-FR" sz="2000" smtClean="0"/>
          </a:p>
          <a:p>
            <a:endParaRPr lang="fr-FR" sz="2000"/>
          </a:p>
          <a:p>
            <a:r>
              <a:rPr lang="fr-FR" sz="2000" smtClean="0"/>
              <a:t> </a:t>
            </a:r>
            <a:endParaRPr lang="fr-FR" sz="2000" smtClean="0"/>
          </a:p>
          <a:p>
            <a:endParaRPr lang="fr-FR" sz="2000"/>
          </a:p>
          <a:p>
            <a:endParaRPr lang="fr-FR" sz="2000" smtClean="0"/>
          </a:p>
          <a:p>
            <a:endParaRPr lang="fr-FR" sz="2000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5181"/>
            <a:ext cx="1874282" cy="9763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0365" y="372110"/>
            <a:ext cx="11093450" cy="659130"/>
          </a:xfr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fr-FR" b="1" smtClean="0">
                <a:solidFill>
                  <a:schemeClr val="tx1"/>
                </a:solidFill>
              </a:rPr>
              <a:t>Traitement de fond de l’asthme: Enfant 5 a 12 ans </a:t>
            </a:r>
            <a:endParaRPr lang="fr-FR" b="1">
              <a:solidFill>
                <a:schemeClr val="tx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86170" y="3297143"/>
            <a:ext cx="2182709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smtClean="0"/>
              <a:t>Sifflements épisodiques de courte durée</a:t>
            </a:r>
            <a:endParaRPr lang="fr-FR" sz="2000"/>
          </a:p>
        </p:txBody>
      </p:sp>
      <p:sp>
        <p:nvSpPr>
          <p:cNvPr id="5" name="ZoneTexte 4"/>
          <p:cNvSpPr txBox="1"/>
          <p:nvPr/>
        </p:nvSpPr>
        <p:spPr>
          <a:xfrm>
            <a:off x="313509" y="4646022"/>
            <a:ext cx="2155371" cy="19389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smtClean="0"/>
              <a:t>CSI faible dose en continu </a:t>
            </a:r>
            <a:endParaRPr lang="fr-FR" sz="2000" smtClean="0"/>
          </a:p>
          <a:p>
            <a:r>
              <a:rPr lang="fr-FR" sz="2000" b="1" smtClean="0"/>
              <a:t>ou</a:t>
            </a:r>
            <a:r>
              <a:rPr lang="fr-FR" sz="2000" smtClean="0"/>
              <a:t> </a:t>
            </a:r>
            <a:endParaRPr lang="fr-FR" sz="2000" smtClean="0"/>
          </a:p>
          <a:p>
            <a:r>
              <a:rPr lang="fr-FR" sz="2000" smtClean="0"/>
              <a:t>CSI faible dose/ SABA à la demande</a:t>
            </a:r>
            <a:endParaRPr lang="fr-FR" sz="2000"/>
          </a:p>
        </p:txBody>
      </p:sp>
      <p:sp>
        <p:nvSpPr>
          <p:cNvPr id="6" name="ZoneTexte 5"/>
          <p:cNvSpPr txBox="1"/>
          <p:nvPr/>
        </p:nvSpPr>
        <p:spPr>
          <a:xfrm>
            <a:off x="2748519" y="2046902"/>
            <a:ext cx="2354703" cy="22467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smtClean="0"/>
              <a:t>Symptomes peu fréquents </a:t>
            </a:r>
            <a:endParaRPr lang="fr-FR" sz="2000" smtClean="0"/>
          </a:p>
          <a:p>
            <a:r>
              <a:rPr lang="fr-FR" sz="2000" smtClean="0"/>
              <a:t>Pas d’exacerbation sévère</a:t>
            </a:r>
            <a:endParaRPr lang="fr-FR" sz="2000" smtClean="0"/>
          </a:p>
          <a:p>
            <a:r>
              <a:rPr lang="fr-FR" sz="2000" smtClean="0"/>
              <a:t>Bonne fonction respiratoire (VEMS &gt; 80%)</a:t>
            </a:r>
            <a:endParaRPr lang="fr-FR" sz="2000"/>
          </a:p>
        </p:txBody>
      </p:sp>
      <p:sp>
        <p:nvSpPr>
          <p:cNvPr id="7" name="ZoneTexte 6"/>
          <p:cNvSpPr txBox="1"/>
          <p:nvPr/>
        </p:nvSpPr>
        <p:spPr>
          <a:xfrm>
            <a:off x="2714896" y="4655567"/>
            <a:ext cx="2388326" cy="19389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smtClean="0"/>
              <a:t>CSI faible dose en continu </a:t>
            </a:r>
            <a:endParaRPr lang="fr-FR" sz="2000" smtClean="0"/>
          </a:p>
          <a:p>
            <a:r>
              <a:rPr lang="fr-FR" sz="2000" smtClean="0"/>
              <a:t>ou </a:t>
            </a:r>
            <a:endParaRPr lang="fr-FR" sz="2000" smtClean="0"/>
          </a:p>
          <a:p>
            <a:r>
              <a:rPr lang="fr-FR" sz="2000" smtClean="0"/>
              <a:t>CSI faible dose/ SABA à la demande ou antileucotriene</a:t>
            </a:r>
            <a:endParaRPr lang="fr-FR" sz="2000"/>
          </a:p>
        </p:txBody>
      </p:sp>
      <p:sp>
        <p:nvSpPr>
          <p:cNvPr id="8" name="ZoneTexte 7"/>
          <p:cNvSpPr txBox="1"/>
          <p:nvPr/>
        </p:nvSpPr>
        <p:spPr>
          <a:xfrm>
            <a:off x="5367866" y="1828798"/>
            <a:ext cx="2420495" cy="22467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smtClean="0"/>
              <a:t>Symptomes fréquents </a:t>
            </a:r>
            <a:endParaRPr lang="fr-FR" sz="2000" smtClean="0"/>
          </a:p>
          <a:p>
            <a:r>
              <a:rPr lang="fr-FR" sz="2000" smtClean="0"/>
              <a:t>ou exacerbation sévère ou </a:t>
            </a:r>
            <a:endParaRPr lang="fr-FR" sz="2000" smtClean="0"/>
          </a:p>
          <a:p>
            <a:r>
              <a:rPr lang="fr-FR" sz="2000" smtClean="0"/>
              <a:t>Mauvaise fonction respiratoire ( VEMS &lt; 80%)</a:t>
            </a:r>
            <a:endParaRPr lang="fr-FR" sz="2000"/>
          </a:p>
        </p:txBody>
      </p:sp>
      <p:sp>
        <p:nvSpPr>
          <p:cNvPr id="9" name="ZoneTexte 8"/>
          <p:cNvSpPr txBox="1"/>
          <p:nvPr/>
        </p:nvSpPr>
        <p:spPr>
          <a:xfrm>
            <a:off x="5349238" y="4353634"/>
            <a:ext cx="2547013" cy="22467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smtClean="0"/>
              <a:t>CSI faible dose +LABA </a:t>
            </a:r>
            <a:endParaRPr lang="fr-FR" sz="2000" smtClean="0"/>
          </a:p>
          <a:p>
            <a:r>
              <a:rPr lang="fr-FR" sz="2000" smtClean="0"/>
              <a:t>ou CSI moyenne dose</a:t>
            </a:r>
            <a:endParaRPr lang="fr-FR" sz="2000" smtClean="0"/>
          </a:p>
          <a:p>
            <a:r>
              <a:rPr lang="fr-FR" sz="2000" smtClean="0"/>
              <a:t> ou </a:t>
            </a:r>
            <a:r>
              <a:rPr lang="fr-FR" sz="2000"/>
              <a:t>CSI moyenne dose </a:t>
            </a:r>
            <a:r>
              <a:rPr lang="fr-FR" sz="2000" smtClean="0"/>
              <a:t>+antileucotriene</a:t>
            </a:r>
            <a:endParaRPr lang="fr-FR" sz="2000"/>
          </a:p>
        </p:txBody>
      </p:sp>
      <p:sp>
        <p:nvSpPr>
          <p:cNvPr id="10" name="ZoneTexte 9"/>
          <p:cNvSpPr txBox="1"/>
          <p:nvPr/>
        </p:nvSpPr>
        <p:spPr>
          <a:xfrm>
            <a:off x="7896251" y="1546747"/>
            <a:ext cx="2162148" cy="25545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sz="2000" smtClean="0"/>
          </a:p>
          <a:p>
            <a:pPr algn="ctr"/>
            <a:r>
              <a:rPr lang="fr-FR" sz="2000" smtClean="0"/>
              <a:t>Mauvais contrôle à l’étape précédente</a:t>
            </a:r>
            <a:endParaRPr lang="fr-FR" sz="2000" smtClean="0"/>
          </a:p>
          <a:p>
            <a:endParaRPr lang="fr-FR" sz="2000"/>
          </a:p>
          <a:p>
            <a:endParaRPr lang="fr-FR" sz="2000" smtClean="0"/>
          </a:p>
          <a:p>
            <a:endParaRPr lang="fr-FR" sz="2000" smtClean="0"/>
          </a:p>
          <a:p>
            <a:endParaRPr lang="fr-FR" sz="2000"/>
          </a:p>
        </p:txBody>
      </p:sp>
      <p:sp>
        <p:nvSpPr>
          <p:cNvPr id="11" name="ZoneTexte 10"/>
          <p:cNvSpPr txBox="1"/>
          <p:nvPr/>
        </p:nvSpPr>
        <p:spPr>
          <a:xfrm>
            <a:off x="7983580" y="4369024"/>
            <a:ext cx="2074819" cy="22467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smtClean="0"/>
              <a:t>CSI moyenne dose +LABA ± Antileucotriene</a:t>
            </a:r>
            <a:endParaRPr lang="fr-FR" sz="2000" smtClean="0"/>
          </a:p>
          <a:p>
            <a:r>
              <a:rPr lang="fr-FR" sz="2000" smtClean="0"/>
              <a:t>ou </a:t>
            </a:r>
            <a:endParaRPr lang="fr-FR" sz="2000" smtClean="0"/>
          </a:p>
          <a:p>
            <a:r>
              <a:rPr lang="fr-FR" sz="2000" smtClean="0"/>
              <a:t>CSI moyenne dose +antileucotriene</a:t>
            </a:r>
            <a:endParaRPr lang="fr-FR" sz="2000"/>
          </a:p>
        </p:txBody>
      </p:sp>
      <p:sp>
        <p:nvSpPr>
          <p:cNvPr id="12" name="ZoneTexte 11"/>
          <p:cNvSpPr txBox="1"/>
          <p:nvPr/>
        </p:nvSpPr>
        <p:spPr>
          <a:xfrm>
            <a:off x="10166289" y="1031239"/>
            <a:ext cx="1946366" cy="255454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sz="2000" smtClean="0"/>
          </a:p>
          <a:p>
            <a:endParaRPr lang="fr-FR" sz="2000"/>
          </a:p>
          <a:p>
            <a:pPr algn="ctr"/>
            <a:r>
              <a:rPr lang="fr-FR" sz="2000" smtClean="0"/>
              <a:t>Asthme difficile et sévère</a:t>
            </a:r>
            <a:endParaRPr lang="fr-FR" sz="2000" smtClean="0"/>
          </a:p>
          <a:p>
            <a:endParaRPr lang="fr-FR" sz="2000"/>
          </a:p>
          <a:p>
            <a:endParaRPr lang="fr-FR" sz="2000" smtClean="0"/>
          </a:p>
          <a:p>
            <a:endParaRPr lang="fr-FR" sz="2000"/>
          </a:p>
        </p:txBody>
      </p:sp>
      <p:sp>
        <p:nvSpPr>
          <p:cNvPr id="13" name="ZoneTexte 12"/>
          <p:cNvSpPr txBox="1"/>
          <p:nvPr/>
        </p:nvSpPr>
        <p:spPr>
          <a:xfrm>
            <a:off x="10168218" y="3753470"/>
            <a:ext cx="1946366" cy="28315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smtClean="0"/>
          </a:p>
          <a:p>
            <a:r>
              <a:rPr lang="fr-FR" sz="2000" smtClean="0"/>
              <a:t>Avis spécialisé </a:t>
            </a:r>
            <a:endParaRPr lang="fr-FR" sz="2000" smtClean="0"/>
          </a:p>
          <a:p>
            <a:r>
              <a:rPr lang="fr-FR" sz="2000" smtClean="0"/>
              <a:t>CSI forte dose +LABA ± Antileucotriene ou tiotropium</a:t>
            </a:r>
            <a:endParaRPr lang="fr-FR" sz="2000" smtClean="0"/>
          </a:p>
          <a:p>
            <a:r>
              <a:rPr lang="fr-FR" sz="2000" smtClean="0"/>
              <a:t>Si non controlé : Discussion avec expert</a:t>
            </a:r>
            <a:endParaRPr lang="fr-FR" sz="2000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12" y="1251850"/>
            <a:ext cx="1874282" cy="9763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n°17: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b="1" dirty="0" smtClean="0"/>
              <a:t>Le traitement de l’exacerbation de l’asthme inclut</a:t>
            </a:r>
            <a:r>
              <a:rPr lang="" altLang="en-US" b="1" dirty="0" smtClean="0"/>
              <a:t> </a:t>
            </a:r>
            <a:r>
              <a:rPr lang="en-US" altLang="fr-FR" b="1" dirty="0" smtClean="0"/>
              <a:t>:</a:t>
            </a:r>
            <a:endParaRPr lang="en-US" altLang="fr-FR" b="1" dirty="0" smtClean="0"/>
          </a:p>
          <a:p>
            <a:pPr>
              <a:buNone/>
            </a:pPr>
            <a:endParaRPr lang="en-US" altLang="fr-FR" dirty="0" smtClean="0"/>
          </a:p>
          <a:p>
            <a:pPr>
              <a:buNone/>
            </a:pPr>
            <a:r>
              <a:rPr lang="en-US" altLang="fr-FR" dirty="0" smtClean="0"/>
              <a:t>A) L’utilisation en urgence des BDCA par voie inhal</a:t>
            </a:r>
            <a:r>
              <a:rPr lang="en-US" altLang="en-US" dirty="0" smtClean="0"/>
              <a:t>é</a:t>
            </a:r>
            <a:r>
              <a:rPr lang="en-US" altLang="fr-FR" dirty="0" smtClean="0"/>
              <a:t>e</a:t>
            </a:r>
            <a:endParaRPr lang="en-US" altLang="fr-FR" dirty="0" smtClean="0"/>
          </a:p>
          <a:p>
            <a:pPr>
              <a:buNone/>
            </a:pPr>
            <a:r>
              <a:rPr lang="en-US" altLang="fr-FR" dirty="0" smtClean="0"/>
              <a:t>B) Le recours au sulfate de magn</a:t>
            </a:r>
            <a:r>
              <a:rPr lang="en-US" altLang="en-US" dirty="0" smtClean="0"/>
              <a:t>é</a:t>
            </a:r>
            <a:r>
              <a:rPr lang="en-US" altLang="fr-FR" dirty="0" smtClean="0"/>
              <a:t>sium si crise mod</a:t>
            </a:r>
            <a:r>
              <a:rPr lang="en-US" altLang="en-US" dirty="0" smtClean="0"/>
              <a:t>é</a:t>
            </a:r>
            <a:r>
              <a:rPr lang="en-US" altLang="fr-FR" dirty="0" smtClean="0"/>
              <a:t>r</a:t>
            </a:r>
            <a:r>
              <a:rPr lang="en-US" altLang="en-US" dirty="0" smtClean="0"/>
              <a:t>é</a:t>
            </a:r>
            <a:r>
              <a:rPr lang="en-US" altLang="fr-FR" dirty="0" smtClean="0"/>
              <a:t>e</a:t>
            </a:r>
            <a:endParaRPr lang="en-US" altLang="fr-FR" dirty="0" smtClean="0"/>
          </a:p>
          <a:p>
            <a:pPr>
              <a:buNone/>
            </a:pPr>
            <a:r>
              <a:rPr lang="en-US" altLang="fr-FR" dirty="0" smtClean="0"/>
              <a:t>C) L’utilisation de cortico</a:t>
            </a:r>
            <a:r>
              <a:rPr lang="en-US" altLang="en-US" dirty="0" smtClean="0"/>
              <a:t>ï</a:t>
            </a:r>
            <a:r>
              <a:rPr lang="en-US" altLang="fr-FR" dirty="0" smtClean="0"/>
              <a:t>des en IV en cas de crise mod</a:t>
            </a:r>
            <a:r>
              <a:rPr lang="en-US" altLang="en-US" dirty="0" smtClean="0"/>
              <a:t>é</a:t>
            </a:r>
            <a:r>
              <a:rPr lang="en-US" altLang="fr-FR" dirty="0" smtClean="0"/>
              <a:t>r</a:t>
            </a:r>
            <a:r>
              <a:rPr lang="en-US" altLang="en-US" dirty="0" smtClean="0"/>
              <a:t>é</a:t>
            </a:r>
            <a:r>
              <a:rPr lang="en-US" altLang="fr-FR" dirty="0" smtClean="0"/>
              <a:t>e</a:t>
            </a:r>
            <a:endParaRPr lang="en-US" altLang="fr-FR" dirty="0" smtClean="0"/>
          </a:p>
          <a:p>
            <a:pPr>
              <a:buNone/>
            </a:pPr>
            <a:r>
              <a:rPr lang="en-US" altLang="fr-FR" dirty="0" smtClean="0"/>
              <a:t>D) Le recours aux anti-leucotri</a:t>
            </a:r>
            <a:r>
              <a:rPr lang="" altLang="en-US" dirty="0" smtClean="0"/>
              <a:t>è</a:t>
            </a:r>
            <a:r>
              <a:rPr lang="en-US" altLang="fr-FR" dirty="0" smtClean="0"/>
              <a:t>nes si crise l</a:t>
            </a:r>
            <a:r>
              <a:rPr lang="en-US" altLang="en-US" dirty="0" smtClean="0"/>
              <a:t>é</a:t>
            </a:r>
            <a:r>
              <a:rPr lang="en-US" altLang="fr-FR" dirty="0" smtClean="0"/>
              <a:t>g</a:t>
            </a:r>
            <a:r>
              <a:rPr lang="" altLang="en-US" dirty="0" smtClean="0"/>
              <a:t>è</a:t>
            </a:r>
            <a:r>
              <a:rPr lang="en-US" altLang="fr-FR" dirty="0" smtClean="0"/>
              <a:t>re a mod</a:t>
            </a:r>
            <a:r>
              <a:rPr lang="en-US" altLang="en-US" dirty="0" smtClean="0"/>
              <a:t>é</a:t>
            </a:r>
            <a:r>
              <a:rPr lang="en-US" altLang="fr-FR" dirty="0" smtClean="0"/>
              <a:t>r</a:t>
            </a:r>
            <a:r>
              <a:rPr lang="en-US" altLang="en-US" dirty="0" smtClean="0"/>
              <a:t>é</a:t>
            </a:r>
            <a:r>
              <a:rPr lang="en-US" altLang="fr-FR" dirty="0" smtClean="0"/>
              <a:t>e</a:t>
            </a:r>
            <a:endParaRPr lang="en-US" altLang="fr-FR" dirty="0" smtClean="0"/>
          </a:p>
          <a:p>
            <a:pPr>
              <a:buNone/>
            </a:pPr>
            <a:r>
              <a:rPr lang="en-US" altLang="fr-FR" dirty="0" smtClean="0"/>
              <a:t>E) Le recours aux bromures d’ipratropium si crise l</a:t>
            </a:r>
            <a:r>
              <a:rPr lang="en-US" altLang="en-US" dirty="0" smtClean="0"/>
              <a:t>é</a:t>
            </a:r>
            <a:r>
              <a:rPr lang="en-US" altLang="fr-FR" dirty="0" smtClean="0"/>
              <a:t>g</a:t>
            </a:r>
            <a:r>
              <a:rPr lang="" altLang="en-US" dirty="0" smtClean="0"/>
              <a:t>è</a:t>
            </a:r>
            <a:r>
              <a:rPr lang="en-US" altLang="fr-FR" dirty="0" smtClean="0"/>
              <a:t>re</a:t>
            </a:r>
            <a:endParaRPr lang="en-US" altLang="fr-FR" dirty="0" smtClean="0"/>
          </a:p>
          <a:p>
            <a:pPr marL="971550" lvl="1" indent="-514350">
              <a:buFont typeface="+mj-lt"/>
              <a:buAutoNum type="alphaUcPeriod"/>
            </a:pPr>
            <a:endParaRPr lang="fr-FR" sz="2800" dirty="0" smtClean="0"/>
          </a:p>
          <a:p>
            <a:pPr marL="1428750" lvl="2" indent="-514350">
              <a:buFont typeface="+mj-lt"/>
              <a:buAutoNum type="alphaUcPeriod"/>
            </a:pPr>
            <a:endParaRPr lang="fr-FR" sz="2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n°17: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b="1" dirty="0" smtClean="0"/>
              <a:t>Le traitement de l’exacerbation de l’asthme inclut</a:t>
            </a:r>
            <a:r>
              <a:rPr lang="en-US" altLang="en-US" b="1" dirty="0" smtClean="0"/>
              <a:t> </a:t>
            </a:r>
            <a:r>
              <a:rPr lang="en-US" altLang="fr-FR" b="1" dirty="0" smtClean="0"/>
              <a:t>:</a:t>
            </a:r>
            <a:endParaRPr lang="en-US" altLang="fr-FR" b="1" dirty="0" smtClean="0"/>
          </a:p>
          <a:p>
            <a:pPr>
              <a:buNone/>
            </a:pPr>
            <a:endParaRPr lang="en-US" altLang="fr-FR" dirty="0" smtClean="0"/>
          </a:p>
          <a:p>
            <a:pPr>
              <a:buNone/>
            </a:pPr>
            <a:r>
              <a:rPr lang="en-US" altLang="fr-FR" b="1" dirty="0" smtClean="0"/>
              <a:t>A) L’utilisation en urgence des BDCA par voie inhal</a:t>
            </a:r>
            <a:r>
              <a:rPr lang="en-US" altLang="en-US" b="1" dirty="0" smtClean="0"/>
              <a:t>é</a:t>
            </a:r>
            <a:r>
              <a:rPr lang="en-US" altLang="fr-FR" b="1" dirty="0" smtClean="0"/>
              <a:t>e</a:t>
            </a:r>
            <a:endParaRPr lang="en-US" altLang="fr-FR" b="1" dirty="0" smtClean="0"/>
          </a:p>
          <a:p>
            <a:pPr>
              <a:buNone/>
            </a:pPr>
            <a:r>
              <a:rPr lang="en-US" altLang="fr-FR" dirty="0" smtClean="0"/>
              <a:t>B) Le recours au sulfate de magn</a:t>
            </a:r>
            <a:r>
              <a:rPr lang="en-US" altLang="en-US" dirty="0" smtClean="0"/>
              <a:t>é</a:t>
            </a:r>
            <a:r>
              <a:rPr lang="en-US" altLang="fr-FR" dirty="0" smtClean="0"/>
              <a:t>sium si crise mod</a:t>
            </a:r>
            <a:r>
              <a:rPr lang="en-US" altLang="en-US" dirty="0" smtClean="0"/>
              <a:t>é</a:t>
            </a:r>
            <a:r>
              <a:rPr lang="en-US" altLang="fr-FR" dirty="0" smtClean="0"/>
              <a:t>r</a:t>
            </a:r>
            <a:r>
              <a:rPr lang="en-US" altLang="en-US" dirty="0" smtClean="0"/>
              <a:t>é</a:t>
            </a:r>
            <a:r>
              <a:rPr lang="en-US" altLang="fr-FR" dirty="0" smtClean="0"/>
              <a:t>e</a:t>
            </a:r>
            <a:endParaRPr lang="en-US" altLang="fr-FR" dirty="0" smtClean="0"/>
          </a:p>
          <a:p>
            <a:pPr>
              <a:buNone/>
            </a:pPr>
            <a:r>
              <a:rPr lang="en-US" altLang="fr-FR" dirty="0" smtClean="0"/>
              <a:t>C) L’utilisation de cortico</a:t>
            </a:r>
            <a:r>
              <a:rPr lang="en-US" altLang="en-US" dirty="0" smtClean="0"/>
              <a:t>ï</a:t>
            </a:r>
            <a:r>
              <a:rPr lang="en-US" altLang="fr-FR" dirty="0" smtClean="0"/>
              <a:t>des en IV en cas de crise mod</a:t>
            </a:r>
            <a:r>
              <a:rPr lang="en-US" altLang="en-US" dirty="0" smtClean="0"/>
              <a:t>é</a:t>
            </a:r>
            <a:r>
              <a:rPr lang="en-US" altLang="fr-FR" dirty="0" smtClean="0"/>
              <a:t>r</a:t>
            </a:r>
            <a:r>
              <a:rPr lang="en-US" altLang="en-US" dirty="0" smtClean="0"/>
              <a:t>é</a:t>
            </a:r>
            <a:r>
              <a:rPr lang="en-US" altLang="fr-FR" dirty="0" smtClean="0"/>
              <a:t>e</a:t>
            </a:r>
            <a:endParaRPr lang="en-US" altLang="fr-FR" dirty="0" smtClean="0"/>
          </a:p>
          <a:p>
            <a:pPr>
              <a:buNone/>
            </a:pPr>
            <a:r>
              <a:rPr lang="en-US" altLang="fr-FR" dirty="0" smtClean="0"/>
              <a:t>D) Le recours aux anti-leucotri</a:t>
            </a:r>
            <a:r>
              <a:rPr lang="en-US" altLang="en-US" dirty="0" smtClean="0"/>
              <a:t>è</a:t>
            </a:r>
            <a:r>
              <a:rPr lang="en-US" altLang="fr-FR" dirty="0" smtClean="0"/>
              <a:t>nes si crise l</a:t>
            </a:r>
            <a:r>
              <a:rPr lang="en-US" altLang="en-US" dirty="0" smtClean="0"/>
              <a:t>é</a:t>
            </a:r>
            <a:r>
              <a:rPr lang="en-US" altLang="fr-FR" dirty="0" smtClean="0"/>
              <a:t>g</a:t>
            </a:r>
            <a:r>
              <a:rPr lang="en-US" altLang="en-US" dirty="0" smtClean="0"/>
              <a:t>è</a:t>
            </a:r>
            <a:r>
              <a:rPr lang="en-US" altLang="fr-FR" dirty="0" smtClean="0"/>
              <a:t>re a mod</a:t>
            </a:r>
            <a:r>
              <a:rPr lang="en-US" altLang="en-US" dirty="0" smtClean="0"/>
              <a:t>é</a:t>
            </a:r>
            <a:r>
              <a:rPr lang="en-US" altLang="fr-FR" dirty="0" smtClean="0"/>
              <a:t>r</a:t>
            </a:r>
            <a:r>
              <a:rPr lang="en-US" altLang="en-US" dirty="0" smtClean="0"/>
              <a:t>é</a:t>
            </a:r>
            <a:r>
              <a:rPr lang="en-US" altLang="fr-FR" dirty="0" smtClean="0"/>
              <a:t>e</a:t>
            </a:r>
            <a:endParaRPr lang="en-US" altLang="fr-FR" dirty="0" smtClean="0"/>
          </a:p>
          <a:p>
            <a:pPr>
              <a:buNone/>
            </a:pPr>
            <a:r>
              <a:rPr lang="en-US" altLang="fr-FR" dirty="0" smtClean="0"/>
              <a:t>E) Le recours aux bromure d’ipratropium si crise l</a:t>
            </a:r>
            <a:r>
              <a:rPr lang="en-US" altLang="en-US" dirty="0" smtClean="0"/>
              <a:t>é</a:t>
            </a:r>
            <a:r>
              <a:rPr lang="en-US" altLang="fr-FR" dirty="0" smtClean="0"/>
              <a:t>g</a:t>
            </a:r>
            <a:r>
              <a:rPr lang="en-US" altLang="en-US" dirty="0" smtClean="0"/>
              <a:t>è</a:t>
            </a:r>
            <a:r>
              <a:rPr lang="en-US" altLang="fr-FR" dirty="0" smtClean="0"/>
              <a:t>re</a:t>
            </a:r>
            <a:endParaRPr lang="en-US" altLang="fr-FR" dirty="0" smtClean="0"/>
          </a:p>
          <a:p>
            <a:pPr marL="971550" lvl="1" indent="-514350">
              <a:buFont typeface="+mj-lt"/>
              <a:buAutoNum type="alphaUcPeriod"/>
            </a:pPr>
            <a:endParaRPr lang="fr-FR" sz="2800" dirty="0" smtClean="0"/>
          </a:p>
          <a:p>
            <a:pPr marL="1428750" lvl="2" indent="-514350">
              <a:buFont typeface="+mj-lt"/>
              <a:buAutoNum type="alphaUcPeriod"/>
            </a:pPr>
            <a:endParaRPr lang="fr-FR" sz="2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10845644" cy="3880773"/>
          </a:xfrm>
        </p:spPr>
        <p:txBody>
          <a:bodyPr/>
          <a:lstStyle/>
          <a:p>
            <a:r>
              <a:rPr lang="fr-FR" sz="2400" b="1" dirty="0">
                <a:solidFill>
                  <a:schemeClr val="tx1"/>
                </a:solidFill>
              </a:rPr>
              <a:t>B2 agoniste courte durée d’action: </a:t>
            </a:r>
            <a:endParaRPr lang="fr-FR" sz="2400" b="1" dirty="0">
              <a:solidFill>
                <a:schemeClr val="tx1"/>
              </a:solidFill>
            </a:endParaRPr>
          </a:p>
          <a:p>
            <a:r>
              <a:rPr lang="fr-FR" sz="2400" dirty="0">
                <a:solidFill>
                  <a:schemeClr val="tx1"/>
                </a:solidFill>
              </a:rPr>
              <a:t>La monothérapie par B2 agonistes n’est plus recommandé en cas d’asthme léger</a:t>
            </a:r>
            <a:endParaRPr lang="fr-FR" sz="2400" dirty="0">
              <a:solidFill>
                <a:schemeClr val="tx1"/>
              </a:solidFill>
            </a:endParaRPr>
          </a:p>
          <a:p>
            <a:r>
              <a:rPr lang="fr-FR" sz="2400" dirty="0">
                <a:solidFill>
                  <a:schemeClr val="tx1"/>
                </a:solidFill>
              </a:rPr>
              <a:t>Effet sur le bronchospasme , pas sur l’inflammation</a:t>
            </a:r>
            <a:endParaRPr lang="fr-FR" sz="2400" dirty="0">
              <a:solidFill>
                <a:schemeClr val="tx1"/>
              </a:solidFill>
            </a:endParaRPr>
          </a:p>
          <a:p>
            <a:r>
              <a:rPr lang="fr-FR" sz="2400" dirty="0">
                <a:solidFill>
                  <a:schemeClr val="tx1"/>
                </a:solidFill>
              </a:rPr>
              <a:t>Utilisation </a:t>
            </a:r>
            <a:r>
              <a:rPr lang="fr-FR" sz="2400" dirty="0" smtClean="0">
                <a:solidFill>
                  <a:schemeClr val="tx1"/>
                </a:solidFill>
              </a:rPr>
              <a:t>trop </a:t>
            </a:r>
            <a:r>
              <a:rPr lang="fr-FR" sz="2400" dirty="0">
                <a:solidFill>
                  <a:schemeClr val="tx1"/>
                </a:solidFill>
              </a:rPr>
              <a:t>fréquente est </a:t>
            </a:r>
            <a:r>
              <a:rPr lang="fr-FR" sz="2400" dirty="0" smtClean="0">
                <a:solidFill>
                  <a:schemeClr val="tx1"/>
                </a:solidFill>
              </a:rPr>
              <a:t>associée </a:t>
            </a:r>
            <a:r>
              <a:rPr lang="fr-FR" sz="2400" dirty="0">
                <a:solidFill>
                  <a:schemeClr val="tx1"/>
                </a:solidFill>
              </a:rPr>
              <a:t>au risque d’exacerbation et de mortalité </a:t>
            </a:r>
            <a:endParaRPr lang="fr-FR" sz="2400" dirty="0">
              <a:solidFill>
                <a:schemeClr val="tx1"/>
              </a:solidFill>
            </a:endParaRPr>
          </a:p>
          <a:p>
            <a:r>
              <a:rPr lang="fr-FR" sz="2400" b="1" dirty="0" smtClean="0">
                <a:solidFill>
                  <a:schemeClr val="tx1"/>
                </a:solidFill>
              </a:rPr>
              <a:t>BDCA+ </a:t>
            </a:r>
            <a:r>
              <a:rPr lang="fr-FR" sz="2400" b="1" dirty="0" err="1">
                <a:solidFill>
                  <a:schemeClr val="tx1"/>
                </a:solidFill>
              </a:rPr>
              <a:t>corticoide</a:t>
            </a:r>
            <a:r>
              <a:rPr lang="fr-FR" sz="2400" b="1" dirty="0">
                <a:solidFill>
                  <a:schemeClr val="tx1"/>
                </a:solidFill>
              </a:rPr>
              <a:t> inhalée </a:t>
            </a:r>
            <a:endParaRPr lang="fr-FR" sz="2400" b="1" dirty="0">
              <a:solidFill>
                <a:schemeClr val="tx1"/>
              </a:solidFill>
            </a:endParaRPr>
          </a:p>
          <a:p>
            <a:r>
              <a:rPr lang="fr-FR" sz="2400" b="1" dirty="0" smtClean="0">
                <a:solidFill>
                  <a:schemeClr val="tx1"/>
                </a:solidFill>
              </a:rPr>
              <a:t>BDCA+ </a:t>
            </a:r>
            <a:r>
              <a:rPr lang="fr-FR" sz="2400" b="1" dirty="0" err="1">
                <a:solidFill>
                  <a:schemeClr val="tx1"/>
                </a:solidFill>
              </a:rPr>
              <a:t>formotérol</a:t>
            </a:r>
            <a:r>
              <a:rPr lang="fr-FR" sz="2400" b="1" dirty="0">
                <a:solidFill>
                  <a:schemeClr val="tx1"/>
                </a:solidFill>
              </a:rPr>
              <a:t> &gt; 12 ans </a:t>
            </a:r>
            <a:endParaRPr lang="fr-FR" sz="2400" b="1" dirty="0">
              <a:solidFill>
                <a:schemeClr val="tx1"/>
              </a:solidFill>
            </a:endParaRPr>
          </a:p>
          <a:p>
            <a:endParaRPr lang="fr-FR" dirty="0"/>
          </a:p>
        </p:txBody>
      </p:sp>
      <p:sp>
        <p:nvSpPr>
          <p:cNvPr id="4" name="Titre 1"/>
          <p:cNvSpPr txBox="1"/>
          <p:nvPr/>
        </p:nvSpPr>
        <p:spPr>
          <a:xfrm>
            <a:off x="1147211" y="420537"/>
            <a:ext cx="9623883" cy="69668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400" b="1" dirty="0" smtClean="0"/>
              <a:t>Prise en charge thérapeutique : Traitement de l’exacerbation</a:t>
            </a:r>
            <a:endParaRPr lang="fr-FR" sz="2400" b="1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260860" y="1310926"/>
            <a:ext cx="7211094" cy="655960"/>
          </a:xfrm>
          <a:solidFill>
            <a:srgbClr val="FFFFCC"/>
          </a:solidFill>
        </p:spPr>
        <p:txBody>
          <a:bodyPr>
            <a:normAutofit/>
          </a:bodyPr>
          <a:lstStyle/>
          <a:p>
            <a:r>
              <a:rPr lang="fr-FR" sz="2400" b="1" dirty="0" smtClean="0">
                <a:solidFill>
                  <a:schemeClr val="tx1"/>
                </a:solidFill>
              </a:rPr>
              <a:t>Les </a:t>
            </a:r>
            <a:r>
              <a:rPr lang="el-GR" sz="2400" b="1" dirty="0" smtClean="0">
                <a:solidFill>
                  <a:schemeClr val="tx1"/>
                </a:solidFill>
              </a:rPr>
              <a:t>β</a:t>
            </a:r>
            <a:r>
              <a:rPr lang="fr-FR" sz="2400" b="1" dirty="0" smtClean="0">
                <a:solidFill>
                  <a:schemeClr val="tx1"/>
                </a:solidFill>
              </a:rPr>
              <a:t>2 agonistes courte durée d’action (BDCA) :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7733211" y="1438851"/>
            <a:ext cx="1815738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</a:rPr>
              <a:t>1 </a:t>
            </a:r>
            <a:r>
              <a:rPr lang="fr-FR" sz="2000" b="1" dirty="0" err="1" smtClean="0">
                <a:solidFill>
                  <a:schemeClr val="bg1"/>
                </a:solidFill>
              </a:rPr>
              <a:t>ere</a:t>
            </a:r>
            <a:r>
              <a:rPr lang="fr-FR" sz="2000" b="1" dirty="0" smtClean="0">
                <a:solidFill>
                  <a:schemeClr val="bg1"/>
                </a:solidFill>
              </a:rPr>
              <a:t> ligne 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308" y="1158989"/>
            <a:ext cx="840786" cy="8407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0860" y="2160589"/>
            <a:ext cx="11262118" cy="4562940"/>
          </a:xfrm>
        </p:spPr>
        <p:txBody>
          <a:bodyPr>
            <a:normAutofit/>
          </a:bodyPr>
          <a:lstStyle/>
          <a:p>
            <a:pPr algn="just"/>
            <a:r>
              <a:rPr lang="fr-FR" sz="2600" dirty="0" smtClean="0">
                <a:solidFill>
                  <a:schemeClr val="tx1"/>
                </a:solidFill>
              </a:rPr>
              <a:t>C’est le traitement de première intention </a:t>
            </a:r>
            <a:endParaRPr lang="fr-FR" sz="2600" dirty="0" smtClean="0">
              <a:solidFill>
                <a:schemeClr val="tx1"/>
              </a:solidFill>
            </a:endParaRPr>
          </a:p>
          <a:p>
            <a:pPr algn="just"/>
            <a:r>
              <a:rPr lang="fr-FR" sz="2600" dirty="0" smtClean="0">
                <a:solidFill>
                  <a:schemeClr val="tx1"/>
                </a:solidFill>
              </a:rPr>
              <a:t>La chambre </a:t>
            </a:r>
            <a:r>
              <a:rPr lang="fr-FR" sz="2600" dirty="0">
                <a:solidFill>
                  <a:schemeClr val="tx1"/>
                </a:solidFill>
              </a:rPr>
              <a:t>d’inhalation </a:t>
            </a:r>
            <a:r>
              <a:rPr lang="fr-FR" sz="2600" dirty="0" smtClean="0">
                <a:solidFill>
                  <a:schemeClr val="tx1"/>
                </a:solidFill>
              </a:rPr>
              <a:t>est utilisée </a:t>
            </a:r>
            <a:r>
              <a:rPr lang="fr-FR" sz="2600" dirty="0">
                <a:solidFill>
                  <a:schemeClr val="tx1"/>
                </a:solidFill>
              </a:rPr>
              <a:t>de façon préférentielle au cours du traitement des crises légères à modérées chez </a:t>
            </a:r>
            <a:r>
              <a:rPr lang="fr-FR" sz="2600" dirty="0" smtClean="0">
                <a:solidFill>
                  <a:schemeClr val="tx1"/>
                </a:solidFill>
              </a:rPr>
              <a:t>l’enfant</a:t>
            </a:r>
            <a:endParaRPr lang="fr-FR" sz="2600" dirty="0">
              <a:solidFill>
                <a:schemeClr val="tx1"/>
              </a:solidFill>
            </a:endParaRPr>
          </a:p>
          <a:p>
            <a:pPr algn="just"/>
            <a:r>
              <a:rPr lang="fr-FR" sz="2600" dirty="0">
                <a:solidFill>
                  <a:schemeClr val="tx1"/>
                </a:solidFill>
              </a:rPr>
              <a:t>crises d'asthme </a:t>
            </a:r>
            <a:r>
              <a:rPr lang="fr-FR" sz="2600" dirty="0" smtClean="0">
                <a:solidFill>
                  <a:schemeClr val="tx1"/>
                </a:solidFill>
              </a:rPr>
              <a:t>légère: Deux </a:t>
            </a:r>
            <a:r>
              <a:rPr lang="fr-FR" sz="2600" dirty="0">
                <a:solidFill>
                  <a:schemeClr val="tx1"/>
                </a:solidFill>
              </a:rPr>
              <a:t>à quatre bouffées de </a:t>
            </a:r>
            <a:r>
              <a:rPr lang="fr-FR" sz="2600" dirty="0" err="1">
                <a:solidFill>
                  <a:schemeClr val="tx1"/>
                </a:solidFill>
              </a:rPr>
              <a:t>salbutamol</a:t>
            </a:r>
            <a:r>
              <a:rPr lang="fr-FR" sz="2600" dirty="0">
                <a:solidFill>
                  <a:schemeClr val="tx1"/>
                </a:solidFill>
              </a:rPr>
              <a:t> (100 microgrammes via un aérosol doseur + chambre </a:t>
            </a:r>
            <a:r>
              <a:rPr lang="fr-FR" sz="2600" dirty="0" smtClean="0">
                <a:solidFill>
                  <a:schemeClr val="tx1"/>
                </a:solidFill>
              </a:rPr>
              <a:t>d’inhalation)</a:t>
            </a:r>
            <a:endParaRPr lang="fr-FR" sz="2600" dirty="0" smtClean="0">
              <a:solidFill>
                <a:schemeClr val="tx1"/>
              </a:solidFill>
            </a:endParaRPr>
          </a:p>
          <a:p>
            <a:pPr algn="just"/>
            <a:r>
              <a:rPr lang="fr-FR" sz="2600" dirty="0" smtClean="0">
                <a:solidFill>
                  <a:schemeClr val="tx1"/>
                </a:solidFill>
              </a:rPr>
              <a:t>Crises plus sévère: un </a:t>
            </a:r>
            <a:r>
              <a:rPr lang="fr-FR" sz="2600" dirty="0">
                <a:solidFill>
                  <a:schemeClr val="tx1"/>
                </a:solidFill>
              </a:rPr>
              <a:t>total de 10 bouffées peut être </a:t>
            </a:r>
            <a:r>
              <a:rPr lang="fr-FR" sz="2600" dirty="0" smtClean="0">
                <a:solidFill>
                  <a:schemeClr val="tx1"/>
                </a:solidFill>
              </a:rPr>
              <a:t>nécessaire</a:t>
            </a:r>
            <a:endParaRPr lang="fr-FR" sz="2600" dirty="0" smtClean="0">
              <a:solidFill>
                <a:schemeClr val="tx1"/>
              </a:solidFill>
            </a:endParaRPr>
          </a:p>
          <a:p>
            <a:pPr algn="just"/>
            <a:r>
              <a:rPr lang="fr-FR" sz="2600" dirty="0">
                <a:solidFill>
                  <a:schemeClr val="tx1"/>
                </a:solidFill>
              </a:rPr>
              <a:t>Ces bouffées peuvent être renouvelées toutes les 20 min si besoin pendant la 1ere heure. </a:t>
            </a:r>
            <a:endParaRPr lang="fr-FR" sz="2600" dirty="0">
              <a:solidFill>
                <a:schemeClr val="tx1"/>
              </a:solidFill>
            </a:endParaRPr>
          </a:p>
          <a:p>
            <a:pPr algn="just"/>
            <a:r>
              <a:rPr lang="fr-FR" sz="2600" dirty="0">
                <a:solidFill>
                  <a:schemeClr val="tx1"/>
                </a:solidFill>
              </a:rPr>
              <a:t>Le soulagement des symptômes devrait durer 3 à 4 heures</a:t>
            </a:r>
            <a:endParaRPr lang="fr-FR" sz="2600" dirty="0" smtClean="0">
              <a:solidFill>
                <a:schemeClr val="tx1"/>
              </a:solidFill>
            </a:endParaRPr>
          </a:p>
          <a:p>
            <a:endParaRPr lang="fr-FR" dirty="0"/>
          </a:p>
        </p:txBody>
      </p:sp>
      <p:sp>
        <p:nvSpPr>
          <p:cNvPr id="4" name="Titre 1"/>
          <p:cNvSpPr txBox="1"/>
          <p:nvPr/>
        </p:nvSpPr>
        <p:spPr>
          <a:xfrm>
            <a:off x="551329" y="420537"/>
            <a:ext cx="9520517" cy="69668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400" b="1" dirty="0" smtClean="0"/>
              <a:t>Prise en charge thérapeutique : Traitement de l’exacerbation</a:t>
            </a:r>
            <a:endParaRPr lang="fr-FR" sz="2400" b="1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260860" y="1310926"/>
            <a:ext cx="6074626" cy="655960"/>
          </a:xfrm>
          <a:solidFill>
            <a:srgbClr val="FFFFCC"/>
          </a:solidFill>
        </p:spPr>
        <p:txBody>
          <a:bodyPr>
            <a:normAutofit/>
          </a:bodyPr>
          <a:lstStyle/>
          <a:p>
            <a:r>
              <a:rPr lang="fr-FR" sz="2400" b="1" dirty="0" smtClean="0">
                <a:solidFill>
                  <a:schemeClr val="tx1"/>
                </a:solidFill>
              </a:rPr>
              <a:t>Les </a:t>
            </a:r>
            <a:r>
              <a:rPr lang="el-GR" sz="2400" b="1" dirty="0" smtClean="0">
                <a:solidFill>
                  <a:schemeClr val="tx1"/>
                </a:solidFill>
              </a:rPr>
              <a:t>β</a:t>
            </a:r>
            <a:r>
              <a:rPr lang="fr-FR" sz="2400" b="1" dirty="0" smtClean="0">
                <a:solidFill>
                  <a:schemeClr val="tx1"/>
                </a:solidFill>
              </a:rPr>
              <a:t>2 agonistes courte durée d’action :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6" name="Organigramme : Bande perforée 5"/>
          <p:cNvSpPr/>
          <p:nvPr/>
        </p:nvSpPr>
        <p:spPr>
          <a:xfrm>
            <a:off x="9380669" y="3168126"/>
            <a:ext cx="2142309" cy="470263"/>
          </a:xfrm>
          <a:prstGeom prst="flowChartPunchedTap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Recommandation 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386" y="1388477"/>
            <a:ext cx="736283" cy="736283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6596742" y="1438851"/>
            <a:ext cx="1815738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</a:rPr>
              <a:t>1 </a:t>
            </a:r>
            <a:r>
              <a:rPr lang="fr-FR" sz="2000" b="1" dirty="0" err="1" smtClean="0">
                <a:solidFill>
                  <a:schemeClr val="bg1"/>
                </a:solidFill>
              </a:rPr>
              <a:t>ere</a:t>
            </a:r>
            <a:r>
              <a:rPr lang="fr-FR" sz="2000" b="1" dirty="0" smtClean="0">
                <a:solidFill>
                  <a:schemeClr val="bg1"/>
                </a:solidFill>
              </a:rPr>
              <a:t> ligne 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254719"/>
            <a:ext cx="10845644" cy="4199870"/>
          </a:xfrm>
        </p:spPr>
        <p:txBody>
          <a:bodyPr>
            <a:normAutofit lnSpcReduction="10000"/>
          </a:bodyPr>
          <a:lstStyle/>
          <a:p>
            <a:pPr algn="just"/>
            <a:r>
              <a:rPr lang="fr-FR" sz="2400" dirty="0" smtClean="0">
                <a:solidFill>
                  <a:schemeClr val="tx1"/>
                </a:solidFill>
              </a:rPr>
              <a:t>Une crise </a:t>
            </a:r>
            <a:r>
              <a:rPr lang="fr-FR" sz="2400" dirty="0">
                <a:solidFill>
                  <a:schemeClr val="tx1"/>
                </a:solidFill>
              </a:rPr>
              <a:t>sévère ou un asthme aigu grave (SpO2 &lt;92 </a:t>
            </a:r>
            <a:r>
              <a:rPr lang="fr-FR" sz="2400" dirty="0" smtClean="0">
                <a:solidFill>
                  <a:schemeClr val="tx1"/>
                </a:solidFill>
              </a:rPr>
              <a:t>%):  </a:t>
            </a:r>
            <a:endParaRPr lang="fr-FR" sz="2400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400" dirty="0" smtClean="0">
                <a:solidFill>
                  <a:schemeClr val="tx1"/>
                </a:solidFill>
              </a:rPr>
              <a:t>des </a:t>
            </a:r>
            <a:r>
              <a:rPr lang="fr-FR" sz="2400" dirty="0">
                <a:solidFill>
                  <a:schemeClr val="tx1"/>
                </a:solidFill>
              </a:rPr>
              <a:t>doses fréquentes de SABA nébulisés sous </a:t>
            </a:r>
            <a:r>
              <a:rPr lang="fr-FR" sz="2400" dirty="0" smtClean="0">
                <a:solidFill>
                  <a:schemeClr val="tx1"/>
                </a:solidFill>
              </a:rPr>
              <a:t>oxygène</a:t>
            </a:r>
            <a:endParaRPr lang="fr-FR" sz="2400" dirty="0" smtClean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fr-FR" sz="2400" dirty="0" err="1">
                <a:solidFill>
                  <a:schemeClr val="tx1"/>
                </a:solidFill>
              </a:rPr>
              <a:t>S</a:t>
            </a:r>
            <a:r>
              <a:rPr lang="fr-FR" sz="2400" dirty="0" err="1" smtClean="0">
                <a:solidFill>
                  <a:schemeClr val="tx1"/>
                </a:solidFill>
              </a:rPr>
              <a:t>albutamol</a:t>
            </a:r>
            <a:r>
              <a:rPr lang="fr-FR" sz="2400" dirty="0" smtClean="0">
                <a:solidFill>
                  <a:schemeClr val="tx1"/>
                </a:solidFill>
              </a:rPr>
              <a:t> : 2,5 </a:t>
            </a:r>
            <a:r>
              <a:rPr lang="fr-FR" sz="2400" dirty="0">
                <a:solidFill>
                  <a:schemeClr val="tx1"/>
                </a:solidFill>
              </a:rPr>
              <a:t>mg pour les &lt; 5ans </a:t>
            </a:r>
            <a:endParaRPr lang="fr-FR" sz="2400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400" dirty="0" smtClean="0">
                <a:solidFill>
                  <a:schemeClr val="tx1"/>
                </a:solidFill>
              </a:rPr>
              <a:t>                    5 </a:t>
            </a:r>
            <a:r>
              <a:rPr lang="fr-FR" sz="2400" dirty="0">
                <a:solidFill>
                  <a:schemeClr val="tx1"/>
                </a:solidFill>
              </a:rPr>
              <a:t>mg pour les &gt; 5ans </a:t>
            </a:r>
            <a:endParaRPr lang="fr-FR" sz="2400" dirty="0" smtClean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fr-FR" sz="2400" dirty="0" err="1" smtClean="0">
                <a:solidFill>
                  <a:schemeClr val="tx1"/>
                </a:solidFill>
              </a:rPr>
              <a:t>Terbutaline</a:t>
            </a:r>
            <a:r>
              <a:rPr lang="fr-FR" sz="2400" dirty="0" smtClean="0">
                <a:solidFill>
                  <a:schemeClr val="tx1"/>
                </a:solidFill>
              </a:rPr>
              <a:t> </a:t>
            </a:r>
            <a:r>
              <a:rPr lang="fr-FR" sz="2400" dirty="0">
                <a:solidFill>
                  <a:schemeClr val="tx1"/>
                </a:solidFill>
              </a:rPr>
              <a:t>0.2mg/kg </a:t>
            </a:r>
            <a:r>
              <a:rPr lang="fr-FR" sz="2400" dirty="0" smtClean="0">
                <a:solidFill>
                  <a:schemeClr val="tx1"/>
                </a:solidFill>
              </a:rPr>
              <a:t>soit: ( Ampoule 5 mg/2ml)</a:t>
            </a:r>
            <a:endParaRPr lang="fr-FR" sz="2400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400" dirty="0" smtClean="0">
                <a:solidFill>
                  <a:schemeClr val="tx1"/>
                </a:solidFill>
              </a:rPr>
              <a:t>           2,5 </a:t>
            </a:r>
            <a:r>
              <a:rPr lang="fr-FR" sz="2400" dirty="0">
                <a:solidFill>
                  <a:schemeClr val="tx1"/>
                </a:solidFill>
              </a:rPr>
              <a:t>mg pour les &lt; 20 kg </a:t>
            </a:r>
            <a:endParaRPr lang="fr-FR" sz="24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400" dirty="0" smtClean="0">
                <a:solidFill>
                  <a:schemeClr val="tx1"/>
                </a:solidFill>
              </a:rPr>
              <a:t>           5 </a:t>
            </a:r>
            <a:r>
              <a:rPr lang="fr-FR" sz="2400" dirty="0">
                <a:solidFill>
                  <a:schemeClr val="tx1"/>
                </a:solidFill>
              </a:rPr>
              <a:t>mg pour les &gt; 20 </a:t>
            </a:r>
            <a:r>
              <a:rPr lang="fr-FR" sz="2400" dirty="0" smtClean="0">
                <a:solidFill>
                  <a:schemeClr val="tx1"/>
                </a:solidFill>
              </a:rPr>
              <a:t>kg</a:t>
            </a:r>
            <a:endParaRPr lang="fr-FR" sz="2400" dirty="0" smtClean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2400" dirty="0" smtClean="0">
                <a:solidFill>
                  <a:schemeClr val="tx1"/>
                </a:solidFill>
              </a:rPr>
              <a:t>A répéter toutes les 20 a 30 minutes </a:t>
            </a:r>
            <a:endParaRPr lang="fr-FR" sz="2400" dirty="0" smtClean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2400" dirty="0" smtClean="0">
                <a:solidFill>
                  <a:schemeClr val="tx1"/>
                </a:solidFill>
              </a:rPr>
              <a:t>Pas de supériorité des B2 nébulisé en continu/ </a:t>
            </a:r>
            <a:r>
              <a:rPr lang="fr-FR" sz="2400" dirty="0" err="1" smtClean="0">
                <a:solidFill>
                  <a:schemeClr val="tx1"/>
                </a:solidFill>
              </a:rPr>
              <a:t>nébu</a:t>
            </a:r>
            <a:r>
              <a:rPr lang="fr-FR" sz="2400" dirty="0" smtClean="0">
                <a:solidFill>
                  <a:schemeClr val="tx1"/>
                </a:solidFill>
              </a:rPr>
              <a:t> intermittente</a:t>
            </a:r>
            <a:endParaRPr lang="fr-FR" sz="2400" dirty="0">
              <a:solidFill>
                <a:schemeClr val="tx1"/>
              </a:solidFill>
            </a:endParaRPr>
          </a:p>
          <a:p>
            <a:endParaRPr lang="fr-FR" dirty="0"/>
          </a:p>
        </p:txBody>
      </p:sp>
      <p:sp>
        <p:nvSpPr>
          <p:cNvPr id="4" name="Titre 1"/>
          <p:cNvSpPr txBox="1"/>
          <p:nvPr/>
        </p:nvSpPr>
        <p:spPr>
          <a:xfrm>
            <a:off x="1147211" y="420537"/>
            <a:ext cx="8924635" cy="69668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400" b="1" dirty="0" smtClean="0"/>
              <a:t>Prise en charge thérapeutique : Traitement de l’exacerbation</a:t>
            </a:r>
            <a:endParaRPr lang="fr-FR" sz="2400" b="1" dirty="0"/>
          </a:p>
        </p:txBody>
      </p:sp>
      <p:sp>
        <p:nvSpPr>
          <p:cNvPr id="5" name="Titre 1"/>
          <p:cNvSpPr txBox="1"/>
          <p:nvPr/>
        </p:nvSpPr>
        <p:spPr>
          <a:xfrm>
            <a:off x="260860" y="1310926"/>
            <a:ext cx="6103976" cy="655960"/>
          </a:xfrm>
          <a:prstGeom prst="rect">
            <a:avLst/>
          </a:prstGeom>
          <a:solidFill>
            <a:srgbClr val="FFFFCC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400" b="1" dirty="0" smtClean="0">
                <a:solidFill>
                  <a:schemeClr val="tx1"/>
                </a:solidFill>
              </a:rPr>
              <a:t>Les </a:t>
            </a:r>
            <a:r>
              <a:rPr lang="el-GR" sz="2400" b="1" dirty="0" smtClean="0">
                <a:solidFill>
                  <a:schemeClr val="tx1"/>
                </a:solidFill>
              </a:rPr>
              <a:t>β</a:t>
            </a:r>
            <a:r>
              <a:rPr lang="fr-FR" sz="2400" b="1" dirty="0" smtClean="0">
                <a:solidFill>
                  <a:schemeClr val="tx1"/>
                </a:solidFill>
              </a:rPr>
              <a:t>2 agonistes courte durée d’action :</a:t>
            </a:r>
            <a:endParaRPr lang="fr-FR" sz="2400" b="1" dirty="0">
              <a:solidFill>
                <a:schemeClr val="tx1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412" y="2254719"/>
            <a:ext cx="2743200" cy="166687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7449" y="1270764"/>
            <a:ext cx="736283" cy="736283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6505302" y="1388477"/>
            <a:ext cx="1815738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</a:rPr>
              <a:t>1 </a:t>
            </a:r>
            <a:r>
              <a:rPr lang="fr-FR" sz="2000" b="1" dirty="0" err="1" smtClean="0">
                <a:solidFill>
                  <a:schemeClr val="bg1"/>
                </a:solidFill>
              </a:rPr>
              <a:t>ere</a:t>
            </a:r>
            <a:r>
              <a:rPr lang="fr-FR" sz="2000" b="1" dirty="0" smtClean="0">
                <a:solidFill>
                  <a:schemeClr val="bg1"/>
                </a:solidFill>
              </a:rPr>
              <a:t> ligne 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1452282"/>
            <a:ext cx="3907729" cy="478118"/>
          </a:xfrm>
          <a:solidFill>
            <a:srgbClr val="FFFFCC"/>
          </a:solidFill>
        </p:spPr>
        <p:txBody>
          <a:bodyPr>
            <a:noAutofit/>
          </a:bodyPr>
          <a:lstStyle/>
          <a:p>
            <a:r>
              <a:rPr lang="fr-FR" sz="2400" b="1" dirty="0" smtClean="0">
                <a:solidFill>
                  <a:schemeClr val="tx1"/>
                </a:solidFill>
              </a:rPr>
              <a:t>Bromure d’</a:t>
            </a:r>
            <a:r>
              <a:rPr lang="fr-FR" sz="2400" b="1" dirty="0" err="1" smtClean="0">
                <a:solidFill>
                  <a:schemeClr val="tx1"/>
                </a:solidFill>
              </a:rPr>
              <a:t>ipratropium</a:t>
            </a:r>
            <a:r>
              <a:rPr lang="fr-FR" sz="2400" b="1" dirty="0" smtClean="0">
                <a:solidFill>
                  <a:schemeClr val="tx1"/>
                </a:solidFill>
              </a:rPr>
              <a:t>: 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3" y="2160589"/>
            <a:ext cx="11277101" cy="3880773"/>
          </a:xfrm>
        </p:spPr>
        <p:txBody>
          <a:bodyPr/>
          <a:lstStyle/>
          <a:p>
            <a:endParaRPr lang="fr-FR" dirty="0" smtClean="0"/>
          </a:p>
          <a:p>
            <a:pPr algn="just"/>
            <a:r>
              <a:rPr lang="fr-FR" sz="2400" dirty="0" smtClean="0">
                <a:solidFill>
                  <a:schemeClr val="tx1"/>
                </a:solidFill>
              </a:rPr>
              <a:t>A associer aux BDCA si mauvaise réponse aux doses initiales</a:t>
            </a:r>
            <a:endParaRPr lang="fr-FR" sz="2400" dirty="0" smtClean="0">
              <a:solidFill>
                <a:schemeClr val="tx1"/>
              </a:solidFill>
            </a:endParaRPr>
          </a:p>
          <a:p>
            <a:pPr algn="just"/>
            <a:r>
              <a:rPr lang="fr-FR" sz="2400" dirty="0" smtClean="0">
                <a:solidFill>
                  <a:schemeClr val="tx1"/>
                </a:solidFill>
              </a:rPr>
              <a:t>Posologie : ( Ampoule 2ml/250 ou 500)</a:t>
            </a:r>
            <a:endParaRPr lang="fr-FR" sz="2400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smtClean="0">
                <a:solidFill>
                  <a:schemeClr val="tx1"/>
                </a:solidFill>
              </a:rPr>
              <a:t>                 2 a 6 ans:  250 microgrammes</a:t>
            </a:r>
            <a:endParaRPr lang="fr-FR" sz="2400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smtClean="0">
                <a:solidFill>
                  <a:schemeClr val="tx1"/>
                </a:solidFill>
              </a:rPr>
              <a:t>                &gt; 6 ans:     </a:t>
            </a:r>
            <a:r>
              <a:rPr lang="fr-FR" sz="2400" dirty="0">
                <a:solidFill>
                  <a:schemeClr val="tx1"/>
                </a:solidFill>
              </a:rPr>
              <a:t>500 </a:t>
            </a:r>
            <a:r>
              <a:rPr lang="fr-FR" sz="2400" dirty="0" smtClean="0">
                <a:solidFill>
                  <a:schemeClr val="tx1"/>
                </a:solidFill>
              </a:rPr>
              <a:t>microgrammes</a:t>
            </a:r>
            <a:endParaRPr lang="fr-FR" sz="2400" dirty="0" smtClean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2400" dirty="0" smtClean="0">
                <a:solidFill>
                  <a:schemeClr val="tx1"/>
                </a:solidFill>
              </a:rPr>
              <a:t>En mélange avec les BDCA </a:t>
            </a:r>
            <a:endParaRPr lang="fr-FR" sz="2400" dirty="0">
              <a:solidFill>
                <a:schemeClr val="tx1"/>
              </a:solidFill>
            </a:endParaRPr>
          </a:p>
          <a:p>
            <a:pPr algn="just"/>
            <a:r>
              <a:rPr lang="fr-FR" sz="2400" dirty="0" smtClean="0">
                <a:solidFill>
                  <a:schemeClr val="tx1"/>
                </a:solidFill>
              </a:rPr>
              <a:t>A administrer dans </a:t>
            </a:r>
            <a:r>
              <a:rPr lang="fr-FR" sz="2400" dirty="0">
                <a:solidFill>
                  <a:schemeClr val="tx1"/>
                </a:solidFill>
              </a:rPr>
              <a:t>les 2 premières heures de prise en charge. </a:t>
            </a:r>
            <a:endParaRPr lang="fr-FR" sz="2400" dirty="0" smtClean="0">
              <a:solidFill>
                <a:schemeClr val="tx1"/>
              </a:solidFill>
            </a:endParaRPr>
          </a:p>
          <a:p>
            <a:pPr algn="just"/>
            <a:r>
              <a:rPr lang="fr-FR" sz="2400" dirty="0" smtClean="0">
                <a:solidFill>
                  <a:schemeClr val="tx1"/>
                </a:solidFill>
              </a:rPr>
              <a:t>La </a:t>
            </a:r>
            <a:r>
              <a:rPr lang="fr-FR" sz="2400" dirty="0">
                <a:solidFill>
                  <a:schemeClr val="tx1"/>
                </a:solidFill>
              </a:rPr>
              <a:t>répétition </a:t>
            </a:r>
            <a:r>
              <a:rPr lang="fr-FR" sz="2400" dirty="0" smtClean="0">
                <a:solidFill>
                  <a:schemeClr val="tx1"/>
                </a:solidFill>
              </a:rPr>
              <a:t>au-delà </a:t>
            </a:r>
            <a:r>
              <a:rPr lang="fr-FR" sz="2400" dirty="0">
                <a:solidFill>
                  <a:schemeClr val="tx1"/>
                </a:solidFill>
              </a:rPr>
              <a:t>des </a:t>
            </a:r>
            <a:r>
              <a:rPr lang="fr-FR" sz="2400" dirty="0" smtClean="0">
                <a:solidFill>
                  <a:schemeClr val="tx1"/>
                </a:solidFill>
              </a:rPr>
              <a:t>2premières </a:t>
            </a:r>
            <a:r>
              <a:rPr lang="fr-FR" sz="2400" dirty="0">
                <a:solidFill>
                  <a:schemeClr val="tx1"/>
                </a:solidFill>
              </a:rPr>
              <a:t>heures </a:t>
            </a:r>
            <a:r>
              <a:rPr lang="fr-FR" sz="2400" dirty="0" smtClean="0">
                <a:solidFill>
                  <a:schemeClr val="tx1"/>
                </a:solidFill>
              </a:rPr>
              <a:t>n’a </a:t>
            </a:r>
            <a:r>
              <a:rPr lang="fr-FR" sz="2400" dirty="0">
                <a:solidFill>
                  <a:schemeClr val="tx1"/>
                </a:solidFill>
              </a:rPr>
              <a:t>pas montré son efficacité</a:t>
            </a:r>
            <a:endParaRPr lang="fr-FR" sz="2400" dirty="0">
              <a:solidFill>
                <a:schemeClr val="tx1"/>
              </a:solidFill>
            </a:endParaRPr>
          </a:p>
        </p:txBody>
      </p:sp>
      <p:sp>
        <p:nvSpPr>
          <p:cNvPr id="4" name="Titre 1"/>
          <p:cNvSpPr txBox="1"/>
          <p:nvPr/>
        </p:nvSpPr>
        <p:spPr>
          <a:xfrm>
            <a:off x="1147211" y="420537"/>
            <a:ext cx="8924635" cy="69668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400" b="1" dirty="0" smtClean="0"/>
              <a:t>Prise en charge thérapeutique : Traitement de l’exacerbation</a:t>
            </a:r>
            <a:endParaRPr lang="fr-FR" sz="24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4976948" y="1452282"/>
            <a:ext cx="1815738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</a:rPr>
              <a:t>1 </a:t>
            </a:r>
            <a:r>
              <a:rPr lang="fr-FR" sz="2000" b="1" dirty="0" err="1" smtClean="0">
                <a:solidFill>
                  <a:schemeClr val="bg1"/>
                </a:solidFill>
              </a:rPr>
              <a:t>ere</a:t>
            </a:r>
            <a:r>
              <a:rPr lang="fr-FR" sz="2000" b="1" dirty="0" smtClean="0">
                <a:solidFill>
                  <a:schemeClr val="bg1"/>
                </a:solidFill>
              </a:rPr>
              <a:t> ligne 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71" y="1270764"/>
            <a:ext cx="736283" cy="7362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0944" y="1399847"/>
            <a:ext cx="2692885" cy="478118"/>
          </a:xfrm>
          <a:solidFill>
            <a:srgbClr val="FFFFCC"/>
          </a:solidFill>
        </p:spPr>
        <p:txBody>
          <a:bodyPr>
            <a:noAutofit/>
          </a:bodyPr>
          <a:lstStyle/>
          <a:p>
            <a:r>
              <a:rPr lang="fr-FR" sz="2400" b="1" dirty="0" err="1" smtClean="0">
                <a:solidFill>
                  <a:schemeClr val="tx1"/>
                </a:solidFill>
              </a:rPr>
              <a:t>Corticohérapie</a:t>
            </a:r>
            <a:r>
              <a:rPr lang="fr-FR" sz="2400" b="1" dirty="0" smtClean="0">
                <a:solidFill>
                  <a:schemeClr val="tx1"/>
                </a:solidFill>
              </a:rPr>
              <a:t>: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3" y="2160589"/>
            <a:ext cx="11277101" cy="3880773"/>
          </a:xfrm>
        </p:spPr>
        <p:txBody>
          <a:bodyPr/>
          <a:lstStyle/>
          <a:p>
            <a:r>
              <a:rPr lang="fr-FR" b="1" dirty="0"/>
              <a:t> </a:t>
            </a:r>
            <a:r>
              <a:rPr lang="fr-FR" sz="2400" dirty="0">
                <a:solidFill>
                  <a:schemeClr val="tx1"/>
                </a:solidFill>
              </a:rPr>
              <a:t>A</a:t>
            </a:r>
            <a:r>
              <a:rPr lang="fr-FR" sz="2400" dirty="0" smtClean="0">
                <a:solidFill>
                  <a:schemeClr val="tx1"/>
                </a:solidFill>
              </a:rPr>
              <a:t> administrer </a:t>
            </a:r>
            <a:r>
              <a:rPr lang="fr-FR" sz="2400" dirty="0">
                <a:solidFill>
                  <a:schemeClr val="tx1"/>
                </a:solidFill>
              </a:rPr>
              <a:t>dès le début du traitement des crises d'asthme modérées à sévères chez l'enfant</a:t>
            </a:r>
            <a:r>
              <a:rPr lang="fr-FR" sz="2400" dirty="0" smtClean="0">
                <a:solidFill>
                  <a:schemeClr val="tx1"/>
                </a:solidFill>
              </a:rPr>
              <a:t>.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Molécule : La </a:t>
            </a:r>
            <a:r>
              <a:rPr lang="fr-FR" sz="2400" dirty="0" err="1" smtClean="0">
                <a:solidFill>
                  <a:schemeClr val="tx1"/>
                </a:solidFill>
              </a:rPr>
              <a:t>prednisolone</a:t>
            </a:r>
            <a:r>
              <a:rPr lang="fr-FR" sz="2400" dirty="0" smtClean="0">
                <a:solidFill>
                  <a:schemeClr val="tx1"/>
                </a:solidFill>
              </a:rPr>
              <a:t> </a:t>
            </a:r>
            <a:r>
              <a:rPr lang="fr-FR" sz="2400" dirty="0">
                <a:solidFill>
                  <a:schemeClr val="tx1"/>
                </a:solidFill>
              </a:rPr>
              <a:t>orale est le stéroïde de </a:t>
            </a:r>
            <a:r>
              <a:rPr lang="fr-FR" sz="2400" dirty="0" smtClean="0">
                <a:solidFill>
                  <a:schemeClr val="tx1"/>
                </a:solidFill>
              </a:rPr>
              <a:t>choix</a:t>
            </a:r>
            <a:endParaRPr lang="fr-FR" sz="2400" dirty="0" smtClean="0">
              <a:solidFill>
                <a:schemeClr val="tx1"/>
              </a:solidFill>
            </a:endParaRPr>
          </a:p>
          <a:p>
            <a:r>
              <a:rPr lang="fr-FR" sz="2400" dirty="0" smtClean="0">
                <a:solidFill>
                  <a:schemeClr val="tx1"/>
                </a:solidFill>
              </a:rPr>
              <a:t> </a:t>
            </a:r>
            <a:r>
              <a:rPr lang="fr-FR" sz="2400" dirty="0">
                <a:solidFill>
                  <a:schemeClr val="tx1"/>
                </a:solidFill>
              </a:rPr>
              <a:t>P</a:t>
            </a:r>
            <a:r>
              <a:rPr lang="fr-FR" sz="2400" dirty="0" smtClean="0">
                <a:solidFill>
                  <a:schemeClr val="tx1"/>
                </a:solidFill>
              </a:rPr>
              <a:t>osologie : 1 </a:t>
            </a:r>
            <a:r>
              <a:rPr lang="fr-FR" sz="2400" dirty="0">
                <a:solidFill>
                  <a:schemeClr val="tx1"/>
                </a:solidFill>
              </a:rPr>
              <a:t>mg/kg avec un maximum de 40 </a:t>
            </a:r>
            <a:r>
              <a:rPr lang="fr-FR" sz="2400" dirty="0" smtClean="0">
                <a:solidFill>
                  <a:schemeClr val="tx1"/>
                </a:solidFill>
              </a:rPr>
              <a:t>mg</a:t>
            </a:r>
            <a:endParaRPr lang="fr-FR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smtClean="0">
                <a:solidFill>
                  <a:schemeClr val="tx1"/>
                </a:solidFill>
              </a:rPr>
              <a:t>                 10 </a:t>
            </a:r>
            <a:r>
              <a:rPr lang="fr-FR" sz="2400" dirty="0">
                <a:solidFill>
                  <a:schemeClr val="tx1"/>
                </a:solidFill>
              </a:rPr>
              <a:t>mg de </a:t>
            </a:r>
            <a:r>
              <a:rPr lang="fr-FR" sz="2400" dirty="0" err="1">
                <a:solidFill>
                  <a:schemeClr val="tx1"/>
                </a:solidFill>
              </a:rPr>
              <a:t>prednisolone</a:t>
            </a:r>
            <a:r>
              <a:rPr lang="fr-FR" sz="2400" dirty="0">
                <a:solidFill>
                  <a:schemeClr val="tx1"/>
                </a:solidFill>
              </a:rPr>
              <a:t> pour </a:t>
            </a:r>
            <a:r>
              <a:rPr lang="fr-FR" sz="2400" dirty="0" smtClean="0">
                <a:solidFill>
                  <a:schemeClr val="tx1"/>
                </a:solidFill>
              </a:rPr>
              <a:t>les&lt; 2 ans</a:t>
            </a:r>
            <a:endParaRPr lang="fr-FR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2400" dirty="0" smtClean="0">
                <a:solidFill>
                  <a:schemeClr val="tx1"/>
                </a:solidFill>
              </a:rPr>
              <a:t>                  </a:t>
            </a:r>
            <a:r>
              <a:rPr lang="fr-FR" sz="2400" dirty="0">
                <a:solidFill>
                  <a:schemeClr val="tx1"/>
                </a:solidFill>
              </a:rPr>
              <a:t>20 mg pour </a:t>
            </a:r>
            <a:r>
              <a:rPr lang="fr-FR" sz="2400" dirty="0" smtClean="0">
                <a:solidFill>
                  <a:schemeClr val="tx1"/>
                </a:solidFill>
              </a:rPr>
              <a:t>2 </a:t>
            </a:r>
            <a:r>
              <a:rPr lang="fr-FR" sz="2400" dirty="0">
                <a:solidFill>
                  <a:schemeClr val="tx1"/>
                </a:solidFill>
              </a:rPr>
              <a:t>à 5 ans </a:t>
            </a:r>
            <a:endParaRPr lang="fr-FR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smtClean="0">
                <a:solidFill>
                  <a:schemeClr val="tx1"/>
                </a:solidFill>
              </a:rPr>
              <a:t>                 </a:t>
            </a:r>
            <a:r>
              <a:rPr lang="fr-FR" sz="2400" dirty="0">
                <a:solidFill>
                  <a:schemeClr val="tx1"/>
                </a:solidFill>
              </a:rPr>
              <a:t>30 à 40 mg pour </a:t>
            </a:r>
            <a:r>
              <a:rPr lang="fr-FR" sz="2400" dirty="0" smtClean="0">
                <a:solidFill>
                  <a:schemeClr val="tx1"/>
                </a:solidFill>
              </a:rPr>
              <a:t>&gt; 5 ans </a:t>
            </a:r>
            <a:endParaRPr lang="fr-FR" sz="2400" dirty="0">
              <a:solidFill>
                <a:schemeClr val="tx1"/>
              </a:solidFill>
            </a:endParaRPr>
          </a:p>
        </p:txBody>
      </p:sp>
      <p:sp>
        <p:nvSpPr>
          <p:cNvPr id="4" name="Titre 1"/>
          <p:cNvSpPr txBox="1"/>
          <p:nvPr/>
        </p:nvSpPr>
        <p:spPr>
          <a:xfrm>
            <a:off x="1147211" y="420537"/>
            <a:ext cx="8924635" cy="69668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400" b="1" dirty="0" smtClean="0"/>
              <a:t>Prise en charge thérapeutique : Traitement de l’exacerbation</a:t>
            </a:r>
            <a:endParaRPr lang="fr-FR" sz="2400" b="1" dirty="0"/>
          </a:p>
        </p:txBody>
      </p:sp>
      <p:sp>
        <p:nvSpPr>
          <p:cNvPr id="15" name="Organigramme : Bande perforée 14"/>
          <p:cNvSpPr/>
          <p:nvPr/>
        </p:nvSpPr>
        <p:spPr>
          <a:xfrm>
            <a:off x="9676504" y="2657138"/>
            <a:ext cx="2142309" cy="470263"/>
          </a:xfrm>
          <a:prstGeom prst="flowChartPunchedTap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Recommandation 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477" y="1259822"/>
            <a:ext cx="736283" cy="736283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3420855" y="1451080"/>
            <a:ext cx="1815738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</a:rPr>
              <a:t>1 </a:t>
            </a:r>
            <a:r>
              <a:rPr lang="fr-FR" sz="2000" b="1" dirty="0" err="1" smtClean="0">
                <a:solidFill>
                  <a:schemeClr val="bg1"/>
                </a:solidFill>
              </a:rPr>
              <a:t>ere</a:t>
            </a:r>
            <a:r>
              <a:rPr lang="fr-FR" sz="2000" b="1" dirty="0" smtClean="0">
                <a:solidFill>
                  <a:schemeClr val="bg1"/>
                </a:solidFill>
              </a:rPr>
              <a:t> ligne 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smtClean="0"/>
          </a:p>
        </p:txBody>
      </p:sp>
      <p:sp>
        <p:nvSpPr>
          <p:cNvPr id="69635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smtClean="0"/>
          </a:p>
        </p:txBody>
      </p:sp>
      <p:pic>
        <p:nvPicPr>
          <p:cNvPr id="69636" name="Picture 2"/>
          <p:cNvPicPr>
            <a:picLocks noChangeAspect="1" noChangeArrowheads="1"/>
          </p:cNvPicPr>
          <p:nvPr/>
        </p:nvPicPr>
        <p:blipFill>
          <a:blip r:embed="rId1"/>
          <a:srcRect l="20316" t="18230" r="19839" b="44553"/>
          <a:stretch>
            <a:fillRect/>
          </a:stretch>
        </p:blipFill>
        <p:spPr bwMode="auto">
          <a:xfrm>
            <a:off x="285751" y="476251"/>
            <a:ext cx="11430000" cy="5053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4944534" y="4954589"/>
            <a:ext cx="2112433" cy="473075"/>
          </a:xfrm>
          <a:prstGeom prst="rect">
            <a:avLst/>
          </a:prstGeom>
          <a:solidFill>
            <a:srgbClr val="C6D9F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412318" y="4456114"/>
            <a:ext cx="670983" cy="471487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496300" y="628651"/>
            <a:ext cx="670984" cy="550863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247467" y="2373314"/>
            <a:ext cx="673100" cy="630237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64351" y="2755901"/>
            <a:ext cx="383116" cy="430213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73434" y="1892300"/>
            <a:ext cx="347133" cy="192088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517218" y="3429000"/>
            <a:ext cx="347133" cy="433388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977467" y="4097338"/>
            <a:ext cx="347133" cy="33020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3" name="Connecteur droit 12"/>
          <p:cNvCxnSpPr/>
          <p:nvPr/>
        </p:nvCxnSpPr>
        <p:spPr>
          <a:xfrm>
            <a:off x="857251" y="3143250"/>
            <a:ext cx="22860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3048000" y="4191000"/>
            <a:ext cx="22860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10725772" cy="3880773"/>
          </a:xfrm>
        </p:spPr>
        <p:txBody>
          <a:bodyPr>
            <a:normAutofit/>
          </a:bodyPr>
          <a:lstStyle/>
          <a:p>
            <a:pPr algn="just"/>
            <a:r>
              <a:rPr lang="fr-FR" sz="2400" dirty="0">
                <a:solidFill>
                  <a:schemeClr val="tx1"/>
                </a:solidFill>
              </a:rPr>
              <a:t>Les corticoïdes oraux et intraveineux ont une efficacité similaire </a:t>
            </a:r>
            <a:endParaRPr lang="fr-FR" sz="2400" dirty="0" smtClean="0">
              <a:solidFill>
                <a:schemeClr val="tx1"/>
              </a:solidFill>
            </a:endParaRPr>
          </a:p>
          <a:p>
            <a:pPr algn="just"/>
            <a:r>
              <a:rPr lang="fr-FR" sz="2400" dirty="0" smtClean="0">
                <a:solidFill>
                  <a:schemeClr val="tx1"/>
                </a:solidFill>
              </a:rPr>
              <a:t>Si AAG : </a:t>
            </a:r>
            <a:r>
              <a:rPr lang="fr-FR" sz="2400" b="1" dirty="0" smtClean="0">
                <a:solidFill>
                  <a:schemeClr val="tx1"/>
                </a:solidFill>
              </a:rPr>
              <a:t>L'hydrocortisone </a:t>
            </a:r>
            <a:r>
              <a:rPr lang="fr-FR" sz="2400" b="1" dirty="0">
                <a:solidFill>
                  <a:schemeClr val="tx1"/>
                </a:solidFill>
              </a:rPr>
              <a:t>en intraveineux </a:t>
            </a:r>
            <a:r>
              <a:rPr lang="fr-FR" sz="2400" b="1" dirty="0" smtClean="0">
                <a:solidFill>
                  <a:schemeClr val="tx1"/>
                </a:solidFill>
              </a:rPr>
              <a:t>: </a:t>
            </a:r>
            <a:endParaRPr lang="fr-FR" sz="2400" b="1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smtClean="0">
                <a:solidFill>
                  <a:schemeClr val="tx1"/>
                </a:solidFill>
              </a:rPr>
              <a:t>        4 </a:t>
            </a:r>
            <a:r>
              <a:rPr lang="fr-FR" sz="2400" dirty="0">
                <a:solidFill>
                  <a:schemeClr val="tx1"/>
                </a:solidFill>
              </a:rPr>
              <a:t>mg/kg </a:t>
            </a:r>
            <a:r>
              <a:rPr lang="fr-FR" sz="2400" dirty="0" smtClean="0">
                <a:solidFill>
                  <a:schemeClr val="tx1"/>
                </a:solidFill>
              </a:rPr>
              <a:t>/</a:t>
            </a:r>
            <a:r>
              <a:rPr lang="fr-FR" sz="2400" dirty="0">
                <a:solidFill>
                  <a:schemeClr val="tx1"/>
                </a:solidFill>
              </a:rPr>
              <a:t>4</a:t>
            </a:r>
            <a:r>
              <a:rPr lang="fr-FR" sz="2400" dirty="0" smtClean="0">
                <a:solidFill>
                  <a:schemeClr val="tx1"/>
                </a:solidFill>
              </a:rPr>
              <a:t> </a:t>
            </a:r>
            <a:r>
              <a:rPr lang="fr-FR" sz="2400" dirty="0">
                <a:solidFill>
                  <a:schemeClr val="tx1"/>
                </a:solidFill>
              </a:rPr>
              <a:t>heures sans dépasser 400mg/24 </a:t>
            </a:r>
            <a:r>
              <a:rPr lang="fr-FR" sz="2400" dirty="0" smtClean="0">
                <a:solidFill>
                  <a:schemeClr val="tx1"/>
                </a:solidFill>
              </a:rPr>
              <a:t>H</a:t>
            </a:r>
            <a:endParaRPr lang="fr-FR" sz="2400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400" dirty="0" smtClean="0">
                <a:solidFill>
                  <a:schemeClr val="tx1"/>
                </a:solidFill>
              </a:rPr>
              <a:t>                </a:t>
            </a:r>
            <a:r>
              <a:rPr lang="fr-FR" sz="2400" dirty="0">
                <a:solidFill>
                  <a:schemeClr val="tx1"/>
                </a:solidFill>
              </a:rPr>
              <a:t>ou la </a:t>
            </a:r>
            <a:r>
              <a:rPr lang="fr-FR" sz="2400" b="1" dirty="0" err="1" smtClean="0">
                <a:solidFill>
                  <a:schemeClr val="tx1"/>
                </a:solidFill>
              </a:rPr>
              <a:t>méthylprednisolone</a:t>
            </a:r>
            <a:endParaRPr lang="fr-FR" sz="2400" b="1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400" dirty="0" smtClean="0">
                <a:solidFill>
                  <a:schemeClr val="tx1"/>
                </a:solidFill>
              </a:rPr>
              <a:t> 1mg</a:t>
            </a:r>
            <a:r>
              <a:rPr lang="fr-FR" sz="2400" dirty="0">
                <a:solidFill>
                  <a:schemeClr val="tx1"/>
                </a:solidFill>
              </a:rPr>
              <a:t> /kg </a:t>
            </a:r>
            <a:r>
              <a:rPr lang="fr-FR" sz="2400" dirty="0" smtClean="0">
                <a:solidFill>
                  <a:schemeClr val="tx1"/>
                </a:solidFill>
              </a:rPr>
              <a:t>/les </a:t>
            </a:r>
            <a:r>
              <a:rPr lang="fr-FR" sz="2400" dirty="0">
                <a:solidFill>
                  <a:schemeClr val="tx1"/>
                </a:solidFill>
              </a:rPr>
              <a:t>6 heures sans dépasser 80mg/24 </a:t>
            </a:r>
            <a:r>
              <a:rPr lang="fr-FR" sz="2400" dirty="0" smtClean="0">
                <a:solidFill>
                  <a:schemeClr val="tx1"/>
                </a:solidFill>
              </a:rPr>
              <a:t>H</a:t>
            </a:r>
            <a:endParaRPr lang="fr-FR" sz="2400" dirty="0">
              <a:solidFill>
                <a:schemeClr val="tx1"/>
              </a:solidFill>
            </a:endParaRPr>
          </a:p>
          <a:p>
            <a:pPr algn="just"/>
            <a:r>
              <a:rPr lang="fr-FR" sz="2400" dirty="0">
                <a:solidFill>
                  <a:schemeClr val="tx1"/>
                </a:solidFill>
              </a:rPr>
              <a:t>Il n’est pas recommandé d’utiliser les corticoïdes inhalés comme alternative à la corticothérapie </a:t>
            </a:r>
            <a:r>
              <a:rPr lang="fr-FR" sz="2400" dirty="0" smtClean="0">
                <a:solidFill>
                  <a:schemeClr val="tx1"/>
                </a:solidFill>
              </a:rPr>
              <a:t>systémique</a:t>
            </a:r>
            <a:endParaRPr lang="fr-FR" sz="2400" dirty="0">
              <a:solidFill>
                <a:schemeClr val="tx1"/>
              </a:solidFill>
            </a:endParaRPr>
          </a:p>
        </p:txBody>
      </p:sp>
      <p:sp>
        <p:nvSpPr>
          <p:cNvPr id="8" name="Titre 1"/>
          <p:cNvSpPr txBox="1"/>
          <p:nvPr/>
        </p:nvSpPr>
        <p:spPr>
          <a:xfrm>
            <a:off x="1147211" y="420537"/>
            <a:ext cx="8924635" cy="69668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400" b="1" dirty="0" smtClean="0"/>
              <a:t>Prise en charge thérapeutique : Traitement de l’exacerbation</a:t>
            </a:r>
            <a:endParaRPr lang="fr-FR" sz="2400" b="1" dirty="0"/>
          </a:p>
        </p:txBody>
      </p:sp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677334" y="1452282"/>
            <a:ext cx="3097832" cy="478118"/>
          </a:xfrm>
          <a:solidFill>
            <a:srgbClr val="FFFFCC"/>
          </a:solidFill>
        </p:spPr>
        <p:txBody>
          <a:bodyPr>
            <a:noAutofit/>
          </a:bodyPr>
          <a:lstStyle/>
          <a:p>
            <a:r>
              <a:rPr lang="fr-FR" sz="2400" b="1" dirty="0" smtClean="0">
                <a:solidFill>
                  <a:schemeClr val="tx1"/>
                </a:solidFill>
              </a:rPr>
              <a:t>La corticothérapie: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420855" y="1451080"/>
            <a:ext cx="1815738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</a:rPr>
              <a:t>1 </a:t>
            </a:r>
            <a:r>
              <a:rPr lang="fr-FR" sz="2000" b="1" dirty="0" err="1" smtClean="0">
                <a:solidFill>
                  <a:schemeClr val="bg1"/>
                </a:solidFill>
              </a:rPr>
              <a:t>ere</a:t>
            </a:r>
            <a:r>
              <a:rPr lang="fr-FR" sz="2000" b="1" dirty="0" smtClean="0">
                <a:solidFill>
                  <a:schemeClr val="bg1"/>
                </a:solidFill>
              </a:rPr>
              <a:t> ligne 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477" y="1259822"/>
            <a:ext cx="736283" cy="7362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2863" y="3237062"/>
            <a:ext cx="10927478" cy="3880773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</a:rPr>
              <a:t>Il est de bonne pratique que les enfants qui reçoivent déjà des corticoïdes inhalés</a:t>
            </a:r>
            <a:r>
              <a:rPr lang="fr-FR" sz="2400" b="1" dirty="0">
                <a:solidFill>
                  <a:schemeClr val="tx1"/>
                </a:solidFill>
              </a:rPr>
              <a:t> </a:t>
            </a:r>
            <a:r>
              <a:rPr lang="fr-FR" sz="2400" dirty="0">
                <a:solidFill>
                  <a:schemeClr val="tx1"/>
                </a:solidFill>
              </a:rPr>
              <a:t>continuent à prendre leur dose d'entretien habituelle pendant une crise d'asthme, tout en recevant un traitement supplémentaire.</a:t>
            </a:r>
            <a:endParaRPr lang="fr-FR" sz="2400" dirty="0">
              <a:solidFill>
                <a:schemeClr val="tx1"/>
              </a:solidFill>
              <a:effectLst/>
            </a:endParaRPr>
          </a:p>
        </p:txBody>
      </p:sp>
      <p:sp>
        <p:nvSpPr>
          <p:cNvPr id="4" name="Titre 1"/>
          <p:cNvSpPr txBox="1"/>
          <p:nvPr/>
        </p:nvSpPr>
        <p:spPr>
          <a:xfrm>
            <a:off x="1147211" y="420537"/>
            <a:ext cx="8924635" cy="69668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400" b="1" dirty="0" smtClean="0"/>
              <a:t>Prise en charge thérapeutique : Traitement de l’exacerbation</a:t>
            </a:r>
            <a:endParaRPr lang="fr-FR" sz="2400" b="1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731122" y="2184825"/>
            <a:ext cx="3020607" cy="478118"/>
          </a:xfrm>
          <a:solidFill>
            <a:srgbClr val="FFFFCC"/>
          </a:solidFill>
        </p:spPr>
        <p:txBody>
          <a:bodyPr>
            <a:noAutofit/>
          </a:bodyPr>
          <a:lstStyle/>
          <a:p>
            <a:r>
              <a:rPr lang="fr-FR" sz="2400" b="1" dirty="0" smtClean="0">
                <a:solidFill>
                  <a:schemeClr val="tx1"/>
                </a:solidFill>
              </a:rPr>
              <a:t>La corticothérapie</a:t>
            </a:r>
            <a:r>
              <a:rPr lang="fr-FR" sz="2400" b="1" dirty="0" smtClean="0">
                <a:solidFill>
                  <a:schemeClr val="tx1"/>
                </a:solidFill>
              </a:rPr>
              <a:t>:</a:t>
            </a:r>
            <a:endParaRPr lang="fr-FR" sz="2400" b="1" dirty="0">
              <a:solidFill>
                <a:schemeClr val="tx1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705" y="1515928"/>
            <a:ext cx="2590800" cy="1762125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972184" y="2184825"/>
            <a:ext cx="1815738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</a:rPr>
              <a:t>1 </a:t>
            </a:r>
            <a:r>
              <a:rPr lang="fr-FR" sz="2000" b="1" dirty="0" err="1" smtClean="0">
                <a:solidFill>
                  <a:schemeClr val="bg1"/>
                </a:solidFill>
              </a:rPr>
              <a:t>ere</a:t>
            </a:r>
            <a:r>
              <a:rPr lang="fr-FR" sz="2000" b="1" dirty="0" smtClean="0">
                <a:solidFill>
                  <a:schemeClr val="bg1"/>
                </a:solidFill>
              </a:rPr>
              <a:t> ligne 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1304364"/>
            <a:ext cx="6207560" cy="645460"/>
          </a:xfrm>
          <a:solidFill>
            <a:srgbClr val="FFFFCC"/>
          </a:solidFill>
        </p:spPr>
        <p:txBody>
          <a:bodyPr>
            <a:normAutofit/>
          </a:bodyPr>
          <a:lstStyle/>
          <a:p>
            <a:r>
              <a:rPr lang="fr-FR" sz="2400" b="1" dirty="0" smtClean="0">
                <a:solidFill>
                  <a:schemeClr val="tx1"/>
                </a:solidFill>
              </a:rPr>
              <a:t>Sulfate de magnésium : 2 </a:t>
            </a:r>
            <a:r>
              <a:rPr lang="fr-FR" sz="2400" b="1" dirty="0" err="1" smtClean="0">
                <a:solidFill>
                  <a:schemeClr val="tx1"/>
                </a:solidFill>
              </a:rPr>
              <a:t>eme</a:t>
            </a:r>
            <a:r>
              <a:rPr lang="fr-FR" sz="2400" b="1" dirty="0" smtClean="0">
                <a:solidFill>
                  <a:schemeClr val="tx1"/>
                </a:solidFill>
              </a:rPr>
              <a:t> ligne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10671984" cy="3880773"/>
          </a:xfrm>
        </p:spPr>
        <p:txBody>
          <a:bodyPr>
            <a:normAutofit/>
          </a:bodyPr>
          <a:lstStyle/>
          <a:p>
            <a:pPr algn="just"/>
            <a:r>
              <a:rPr lang="fr-FR" sz="2400" dirty="0">
                <a:solidFill>
                  <a:schemeClr val="tx1"/>
                </a:solidFill>
              </a:rPr>
              <a:t>Pour les enfants ayant une réponse insuffisante au traitement de première </a:t>
            </a:r>
            <a:r>
              <a:rPr lang="fr-FR" sz="2400" dirty="0" smtClean="0">
                <a:solidFill>
                  <a:schemeClr val="tx1"/>
                </a:solidFill>
              </a:rPr>
              <a:t>intention</a:t>
            </a:r>
            <a:endParaRPr lang="fr-FR" sz="2400" dirty="0">
              <a:solidFill>
                <a:schemeClr val="tx1"/>
              </a:solidFill>
            </a:endParaRPr>
          </a:p>
          <a:p>
            <a:pPr algn="just"/>
            <a:r>
              <a:rPr lang="fr-FR" sz="2400" dirty="0" smtClean="0">
                <a:solidFill>
                  <a:schemeClr val="tx1"/>
                </a:solidFill>
              </a:rPr>
              <a:t>A administrer en intra veineux </a:t>
            </a:r>
            <a:endParaRPr lang="fr-FR" sz="2400" dirty="0" smtClean="0">
              <a:solidFill>
                <a:schemeClr val="tx1"/>
              </a:solidFill>
            </a:endParaRPr>
          </a:p>
          <a:p>
            <a:pPr algn="just"/>
            <a:r>
              <a:rPr lang="fr-FR" sz="2400" dirty="0" smtClean="0">
                <a:solidFill>
                  <a:schemeClr val="tx1"/>
                </a:solidFill>
              </a:rPr>
              <a:t>Dose: 40 </a:t>
            </a:r>
            <a:r>
              <a:rPr lang="fr-FR" sz="2400" dirty="0">
                <a:solidFill>
                  <a:schemeClr val="tx1"/>
                </a:solidFill>
              </a:rPr>
              <a:t>mg/kg en IV sur 20min (1 à 2 doses le 1</a:t>
            </a:r>
            <a:r>
              <a:rPr lang="fr-FR" sz="2400" baseline="30000" dirty="0">
                <a:solidFill>
                  <a:schemeClr val="tx1"/>
                </a:solidFill>
              </a:rPr>
              <a:t>er</a:t>
            </a:r>
            <a:r>
              <a:rPr lang="fr-FR" sz="2400" dirty="0">
                <a:solidFill>
                  <a:schemeClr val="tx1"/>
                </a:solidFill>
              </a:rPr>
              <a:t> jour</a:t>
            </a:r>
            <a:r>
              <a:rPr lang="fr-FR" sz="2400" dirty="0" smtClean="0">
                <a:solidFill>
                  <a:schemeClr val="tx1"/>
                </a:solidFill>
              </a:rPr>
              <a:t>), jusqu’à  </a:t>
            </a:r>
            <a:r>
              <a:rPr lang="fr-FR" sz="2400" dirty="0">
                <a:solidFill>
                  <a:schemeClr val="tx1"/>
                </a:solidFill>
              </a:rPr>
              <a:t>75 mg/kg/jour (maximum 2 g) </a:t>
            </a:r>
            <a:endParaRPr lang="fr-FR" sz="2400" dirty="0" smtClean="0">
              <a:solidFill>
                <a:schemeClr val="tx1"/>
              </a:solidFill>
            </a:endParaRPr>
          </a:p>
          <a:p>
            <a:pPr algn="just"/>
            <a:r>
              <a:rPr lang="fr-FR" sz="2400" dirty="0" smtClean="0">
                <a:solidFill>
                  <a:schemeClr val="tx1"/>
                </a:solidFill>
              </a:rPr>
              <a:t>Effet indésirable : principalement l’hypotension ( rare avec une dose unique)</a:t>
            </a:r>
            <a:endParaRPr lang="fr-FR" sz="2400" dirty="0">
              <a:solidFill>
                <a:schemeClr val="tx1"/>
              </a:solidFill>
            </a:endParaRPr>
          </a:p>
        </p:txBody>
      </p:sp>
      <p:sp>
        <p:nvSpPr>
          <p:cNvPr id="4" name="Titre 1"/>
          <p:cNvSpPr txBox="1"/>
          <p:nvPr/>
        </p:nvSpPr>
        <p:spPr>
          <a:xfrm>
            <a:off x="677335" y="420537"/>
            <a:ext cx="9394512" cy="69668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400" b="1" dirty="0" smtClean="0"/>
              <a:t>Prise en charge thérapeutique : Traitement de l’exacerbation</a:t>
            </a:r>
            <a:endParaRPr lang="fr-FR" sz="2400" b="1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8"/>
          <a:stretch>
            <a:fillRect/>
          </a:stretch>
        </p:blipFill>
        <p:spPr>
          <a:xfrm>
            <a:off x="6884894" y="1209972"/>
            <a:ext cx="964202" cy="9506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768839" y="166968"/>
            <a:ext cx="6515725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Crise d’asthme chez l’enfant aux urgences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8784236" y="564868"/>
            <a:ext cx="3057994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de la sévérité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861811" y="757540"/>
            <a:ext cx="1898753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Crise modérée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649573" y="1409169"/>
            <a:ext cx="4377128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BDCA: 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Aerosol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doseur + chambre 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 Prednisone oral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9930" y="2750517"/>
            <a:ext cx="1793821" cy="646331"/>
          </a:xfrm>
          <a:prstGeom prst="rect">
            <a:avLst/>
          </a:prstGeom>
          <a:solidFill>
            <a:srgbClr val="FFFFCC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Réévaluation après une heure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2838137" y="2269540"/>
            <a:ext cx="2133600" cy="400110"/>
          </a:xfrm>
          <a:prstGeom prst="rect">
            <a:avLst/>
          </a:prstGeom>
          <a:solidFill>
            <a:srgbClr val="FFFFCC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Bonne réponse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2878112" y="2822135"/>
            <a:ext cx="5406452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BDCA pendant 1 à 4 heures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Sortie si stable après une surveillance de 4 h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Prednisone pendant 3 à 5 jours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882985" y="4167264"/>
            <a:ext cx="5251557" cy="252376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de sortie :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Discuter le traitement régulier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Revoir la technique d’inhalation 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d’action écrit pour les futures crises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Organiser un suivi dans les 48 heures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récidive , organiser un avis spécialisé dans les 4 à 6 semaines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cxnSp>
        <p:nvCxnSpPr>
          <p:cNvPr id="16" name="Connecteur : en arc 15"/>
          <p:cNvCxnSpPr/>
          <p:nvPr/>
        </p:nvCxnSpPr>
        <p:spPr>
          <a:xfrm rot="16200000" flipH="1">
            <a:off x="5080966" y="2024372"/>
            <a:ext cx="750909" cy="539646"/>
          </a:xfrm>
          <a:prstGeom prst="curved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 : en arc 16"/>
          <p:cNvCxnSpPr/>
          <p:nvPr/>
        </p:nvCxnSpPr>
        <p:spPr>
          <a:xfrm rot="16200000" flipH="1">
            <a:off x="8291360" y="3435598"/>
            <a:ext cx="750909" cy="539646"/>
          </a:xfrm>
          <a:prstGeom prst="curved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768839" y="166968"/>
            <a:ext cx="6515725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Crise d’asthme chez l’enfant aux urgences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8784236" y="564868"/>
            <a:ext cx="3057994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de la sévérité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861811" y="757540"/>
            <a:ext cx="1898753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Crise sévère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2770683" y="1403618"/>
            <a:ext cx="6650634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BDCA+ bromure d’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ipratropium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/20 min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Oxygénothérapie pour maintenir SaO2:94%-98%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Prednisone oral ou Hydrocortisone IV si vomissement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0" y="1957616"/>
            <a:ext cx="2168575" cy="923330"/>
          </a:xfrm>
          <a:prstGeom prst="rect">
            <a:avLst/>
          </a:prstGeom>
          <a:solidFill>
            <a:srgbClr val="FFFFCC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Admission/ Réévaluation après une heure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2168575" y="2927112"/>
            <a:ext cx="2133600" cy="400110"/>
          </a:xfrm>
          <a:prstGeom prst="rect">
            <a:avLst/>
          </a:prstGeom>
          <a:solidFill>
            <a:srgbClr val="FFFFCC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Bonne réponse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404735" y="3930888"/>
            <a:ext cx="5406452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BDCA / 4 heures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Prednisone pendant 3 à 5 jours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Sortie si stable avec un plan de sortie 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Connecteur : en arc 15"/>
          <p:cNvCxnSpPr/>
          <p:nvPr/>
        </p:nvCxnSpPr>
        <p:spPr>
          <a:xfrm rot="5400000">
            <a:off x="3781527" y="2955536"/>
            <a:ext cx="1286140" cy="664564"/>
          </a:xfrm>
          <a:prstGeom prst="curved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 : en arc 16"/>
          <p:cNvCxnSpPr/>
          <p:nvPr/>
        </p:nvCxnSpPr>
        <p:spPr>
          <a:xfrm rot="16200000" flipH="1">
            <a:off x="7427113" y="2835335"/>
            <a:ext cx="1275188" cy="719529"/>
          </a:xfrm>
          <a:prstGeom prst="curved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8349521" y="2909894"/>
            <a:ext cx="2463384" cy="400110"/>
          </a:xfrm>
          <a:prstGeom prst="rect">
            <a:avLst/>
          </a:prstGeom>
          <a:solidFill>
            <a:srgbClr val="FFFFCC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Mauvaise réponse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270887" y="3930888"/>
            <a:ext cx="5406452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Bolus de sulfate de Magnésium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Discuter Salbutamol IV  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n°18: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b="1" dirty="0" smtClean="0"/>
              <a:t>Les facteurs associ</a:t>
            </a:r>
            <a:r>
              <a:rPr lang="en-US" altLang="en-US" b="1" dirty="0" smtClean="0"/>
              <a:t>é</a:t>
            </a:r>
            <a:r>
              <a:rPr lang="en-US" altLang="fr-FR" b="1" dirty="0" smtClean="0"/>
              <a:t>s au mauvais pronostic au cours de l’asthme chez l’enfant sont</a:t>
            </a:r>
            <a:r>
              <a:rPr lang="" altLang="en-US" b="1" dirty="0" smtClean="0"/>
              <a:t> </a:t>
            </a:r>
            <a:r>
              <a:rPr lang="en-US" altLang="fr-FR" b="1" dirty="0" smtClean="0"/>
              <a:t>:</a:t>
            </a:r>
            <a:endParaRPr lang="en-US" altLang="fr-FR" b="1" dirty="0" smtClean="0"/>
          </a:p>
          <a:p>
            <a:pPr>
              <a:buNone/>
            </a:pPr>
            <a:endParaRPr lang="en-US" altLang="fr-FR" b="1" dirty="0" smtClean="0"/>
          </a:p>
          <a:p>
            <a:pPr>
              <a:buNone/>
            </a:pPr>
            <a:r>
              <a:rPr lang="en-US" altLang="fr-FR" dirty="0" smtClean="0"/>
              <a:t>A)L’utilisation de moins de 1 flacon / mois de bronchodilatateur rapide</a:t>
            </a:r>
            <a:endParaRPr lang="en-US" altLang="fr-FR" dirty="0" smtClean="0"/>
          </a:p>
          <a:p>
            <a:pPr>
              <a:buNone/>
            </a:pPr>
            <a:r>
              <a:rPr lang="en-US" altLang="fr-FR" dirty="0" smtClean="0"/>
              <a:t>B)Des symptômes d’asthme non contrôl</a:t>
            </a:r>
            <a:r>
              <a:rPr lang="en-US" altLang="en-US" dirty="0" smtClean="0"/>
              <a:t>é</a:t>
            </a:r>
            <a:r>
              <a:rPr lang="en-US" altLang="fr-FR" dirty="0" smtClean="0"/>
              <a:t>s</a:t>
            </a:r>
            <a:endParaRPr lang="en-US" altLang="fr-FR" dirty="0" smtClean="0"/>
          </a:p>
          <a:p>
            <a:pPr>
              <a:buNone/>
            </a:pPr>
            <a:r>
              <a:rPr lang="en-US" altLang="fr-FR" dirty="0" smtClean="0"/>
              <a:t>C)Une allergie alimentaire associ</a:t>
            </a:r>
            <a:r>
              <a:rPr lang="en-US" altLang="en-US" dirty="0" smtClean="0"/>
              <a:t>é</a:t>
            </a:r>
            <a:r>
              <a:rPr lang="en-US" altLang="fr-FR" dirty="0" smtClean="0"/>
              <a:t>e </a:t>
            </a:r>
            <a:endParaRPr lang="en-US" altLang="fr-FR" dirty="0" smtClean="0"/>
          </a:p>
          <a:p>
            <a:pPr>
              <a:buNone/>
            </a:pPr>
            <a:r>
              <a:rPr lang="en-US" altLang="fr-FR" dirty="0" smtClean="0"/>
              <a:t>D)Un ant</a:t>
            </a:r>
            <a:r>
              <a:rPr lang="en-US" altLang="en-US" dirty="0" smtClean="0"/>
              <a:t>é</a:t>
            </a:r>
            <a:r>
              <a:rPr lang="en-US" altLang="fr-FR" dirty="0" smtClean="0"/>
              <a:t>c</a:t>
            </a:r>
            <a:r>
              <a:rPr lang="en-US" altLang="en-US" dirty="0" smtClean="0"/>
              <a:t>é</a:t>
            </a:r>
            <a:r>
              <a:rPr lang="en-US" altLang="fr-FR" dirty="0" smtClean="0"/>
              <a:t>dent d’exacerbation mod</a:t>
            </a:r>
            <a:r>
              <a:rPr lang="en-US" altLang="en-US" dirty="0" smtClean="0"/>
              <a:t>é</a:t>
            </a:r>
            <a:r>
              <a:rPr lang="en-US" altLang="fr-FR" dirty="0" smtClean="0"/>
              <a:t>r</a:t>
            </a:r>
            <a:r>
              <a:rPr lang="en-US" altLang="en-US" dirty="0" smtClean="0"/>
              <a:t>é</a:t>
            </a:r>
            <a:r>
              <a:rPr lang="en-US" altLang="fr-FR" dirty="0" smtClean="0"/>
              <a:t>e l’an pr</a:t>
            </a:r>
            <a:r>
              <a:rPr lang="en-US" altLang="en-US" dirty="0" smtClean="0"/>
              <a:t>é</a:t>
            </a:r>
            <a:r>
              <a:rPr lang="en-US" altLang="fr-FR" dirty="0" smtClean="0"/>
              <a:t>c</a:t>
            </a:r>
            <a:r>
              <a:rPr lang="en-US" altLang="en-US" dirty="0" smtClean="0"/>
              <a:t>é</a:t>
            </a:r>
            <a:r>
              <a:rPr lang="en-US" altLang="fr-FR" dirty="0" smtClean="0"/>
              <a:t>dent</a:t>
            </a:r>
            <a:endParaRPr lang="en-US" altLang="fr-FR" dirty="0" smtClean="0"/>
          </a:p>
          <a:p>
            <a:pPr>
              <a:buNone/>
            </a:pPr>
            <a:r>
              <a:rPr lang="en-US" altLang="fr-FR" dirty="0" smtClean="0"/>
              <a:t>E)L’association a une rhinosinusite</a:t>
            </a:r>
            <a:endParaRPr lang="en-US" altLang="fr-FR" dirty="0" smtClean="0"/>
          </a:p>
          <a:p>
            <a:pPr marL="971550" lvl="1" indent="-514350">
              <a:buFont typeface="+mj-lt"/>
              <a:buAutoNum type="alphaUcPeriod"/>
            </a:pPr>
            <a:endParaRPr lang="fr-FR" sz="2800" dirty="0" smtClean="0"/>
          </a:p>
          <a:p>
            <a:pPr marL="1428750" lvl="2" indent="-514350">
              <a:buFont typeface="+mj-lt"/>
              <a:buAutoNum type="alphaUcPeriod"/>
            </a:pPr>
            <a:endParaRPr lang="fr-FR" sz="2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012" y="146761"/>
            <a:ext cx="10515600" cy="1325563"/>
          </a:xfrm>
        </p:spPr>
        <p:txBody>
          <a:bodyPr/>
          <a:lstStyle/>
          <a:p>
            <a:r>
              <a:rPr lang="fr-FR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Question n°18: </a:t>
            </a:r>
            <a:br>
              <a:rPr lang="fr-FR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060" y="1323833"/>
            <a:ext cx="10873739" cy="4853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fr-FR" b="1" dirty="0" smtClean="0"/>
              <a:t> Les facteurs associ</a:t>
            </a:r>
            <a:r>
              <a:rPr lang="en-US" altLang="en-US" b="1" dirty="0" smtClean="0"/>
              <a:t>é</a:t>
            </a:r>
            <a:r>
              <a:rPr lang="en-US" altLang="fr-FR" b="1" dirty="0" smtClean="0"/>
              <a:t>s au mauvais pronostic au cours de l’asthme chez l’enfant sont</a:t>
            </a:r>
            <a:r>
              <a:rPr lang="" altLang="en-US" b="1" dirty="0" smtClean="0"/>
              <a:t> </a:t>
            </a:r>
            <a:r>
              <a:rPr lang="en-US" altLang="fr-FR" b="1" dirty="0" smtClean="0"/>
              <a:t>:</a:t>
            </a:r>
            <a:endParaRPr lang="en-US" altLang="fr-FR" b="1" dirty="0" smtClean="0"/>
          </a:p>
          <a:p>
            <a:pPr>
              <a:buNone/>
            </a:pPr>
            <a:endParaRPr lang="en-US" altLang="fr-FR" b="1" dirty="0" smtClean="0"/>
          </a:p>
          <a:p>
            <a:pPr>
              <a:buNone/>
            </a:pPr>
            <a:r>
              <a:rPr lang="en-US" altLang="fr-FR" b="1" dirty="0" smtClean="0"/>
              <a:t>A)L’utilisation de moins de 1 flacon / mois de bronchodilatateur rapide</a:t>
            </a:r>
            <a:endParaRPr lang="en-US" altLang="fr-FR" b="1" dirty="0" smtClean="0"/>
          </a:p>
          <a:p>
            <a:pPr>
              <a:buNone/>
            </a:pPr>
            <a:r>
              <a:rPr lang="en-US" altLang="fr-FR" b="1" dirty="0" smtClean="0"/>
              <a:t>B)Des symptômes d’asthme non contrôl</a:t>
            </a:r>
            <a:r>
              <a:rPr lang="en-US" altLang="en-US" b="1" dirty="0" smtClean="0"/>
              <a:t>é</a:t>
            </a:r>
            <a:r>
              <a:rPr lang="en-US" altLang="fr-FR" b="1" dirty="0" smtClean="0"/>
              <a:t>s</a:t>
            </a:r>
            <a:endParaRPr lang="en-US" altLang="fr-FR" b="1" dirty="0" smtClean="0"/>
          </a:p>
          <a:p>
            <a:pPr>
              <a:buNone/>
            </a:pPr>
            <a:r>
              <a:rPr lang="en-US" altLang="fr-FR" dirty="0" smtClean="0"/>
              <a:t>C)Une allergie alimentaire associ</a:t>
            </a:r>
            <a:r>
              <a:rPr lang="en-US" altLang="en-US" dirty="0" smtClean="0"/>
              <a:t>é</a:t>
            </a:r>
            <a:r>
              <a:rPr lang="en-US" altLang="fr-FR" dirty="0" smtClean="0"/>
              <a:t>e </a:t>
            </a:r>
            <a:endParaRPr lang="en-US" altLang="fr-FR" dirty="0" smtClean="0"/>
          </a:p>
          <a:p>
            <a:pPr>
              <a:buNone/>
            </a:pPr>
            <a:r>
              <a:rPr lang="en-US" altLang="fr-FR" dirty="0" smtClean="0"/>
              <a:t>D)Un ant</a:t>
            </a:r>
            <a:r>
              <a:rPr lang="en-US" altLang="en-US" dirty="0" smtClean="0"/>
              <a:t>é</a:t>
            </a:r>
            <a:r>
              <a:rPr lang="en-US" altLang="fr-FR" dirty="0" smtClean="0"/>
              <a:t>c</a:t>
            </a:r>
            <a:r>
              <a:rPr lang="en-US" altLang="en-US" dirty="0" smtClean="0"/>
              <a:t>é</a:t>
            </a:r>
            <a:r>
              <a:rPr lang="en-US" altLang="fr-FR" dirty="0" smtClean="0"/>
              <a:t>dent d’exacerbation mod</a:t>
            </a:r>
            <a:r>
              <a:rPr lang="en-US" altLang="en-US" dirty="0" smtClean="0"/>
              <a:t>é</a:t>
            </a:r>
            <a:r>
              <a:rPr lang="en-US" altLang="fr-FR" dirty="0" smtClean="0"/>
              <a:t>r</a:t>
            </a:r>
            <a:r>
              <a:rPr lang="en-US" altLang="en-US" dirty="0" smtClean="0"/>
              <a:t>é</a:t>
            </a:r>
            <a:r>
              <a:rPr lang="en-US" altLang="fr-FR" dirty="0" smtClean="0"/>
              <a:t>e l’an pr</a:t>
            </a:r>
            <a:r>
              <a:rPr lang="en-US" altLang="en-US" dirty="0" smtClean="0"/>
              <a:t>é</a:t>
            </a:r>
            <a:r>
              <a:rPr lang="en-US" altLang="fr-FR" dirty="0" smtClean="0"/>
              <a:t>c</a:t>
            </a:r>
            <a:r>
              <a:rPr lang="en-US" altLang="en-US" dirty="0" smtClean="0"/>
              <a:t>é</a:t>
            </a:r>
            <a:r>
              <a:rPr lang="en-US" altLang="fr-FR" dirty="0" smtClean="0"/>
              <a:t>dent</a:t>
            </a:r>
            <a:endParaRPr lang="en-US" altLang="fr-FR" dirty="0" smtClean="0"/>
          </a:p>
          <a:p>
            <a:pPr>
              <a:buNone/>
            </a:pPr>
            <a:r>
              <a:rPr lang="en-US" altLang="fr-FR" b="1" dirty="0" smtClean="0"/>
              <a:t>E)L’association a une rhinosinusite</a:t>
            </a:r>
            <a:endParaRPr lang="en-US" altLang="fr-FR" b="1" dirty="0" smtClean="0"/>
          </a:p>
          <a:p>
            <a:pPr marL="971550" lvl="1" indent="-514350">
              <a:buFont typeface="+mj-lt"/>
              <a:buAutoNum type="alphaUcPeriod"/>
            </a:pPr>
            <a:endParaRPr lang="fr-FR" sz="2800" dirty="0" smtClean="0"/>
          </a:p>
          <a:p>
            <a:pPr marL="1428750" lvl="2" indent="-514350">
              <a:buFont typeface="+mj-lt"/>
              <a:buAutoNum type="alphaUcPeriod"/>
            </a:pPr>
            <a:endParaRPr lang="fr-FR" sz="2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4660" y="425450"/>
            <a:ext cx="10899140" cy="5751830"/>
          </a:xfrm>
        </p:spPr>
        <p:txBody>
          <a:bodyPr>
            <a:normAutofit lnSpcReduction="10000"/>
          </a:bodyPr>
          <a:p>
            <a:pPr marL="0" indent="0" algn="just">
              <a:buNone/>
            </a:pPr>
            <a:r>
              <a:rPr lang="en-US" altLang="fr-FR" b="1"/>
              <a:t>Risque d’exacerbations dans les mois à venir : La pr</a:t>
            </a:r>
            <a:r>
              <a:rPr lang="en-US" altLang="en-US" b="1"/>
              <a:t>é</a:t>
            </a:r>
            <a:r>
              <a:rPr lang="en-US" altLang="fr-FR" b="1"/>
              <a:t>sence de l'un de ces facteurs de risque augmente le risque d'exacerbation du patient m</a:t>
            </a:r>
            <a:r>
              <a:rPr lang="en-US" altLang="en-US" b="1"/>
              <a:t>ê</a:t>
            </a:r>
            <a:r>
              <a:rPr lang="en-US" altLang="fr-FR" b="1"/>
              <a:t>me s'il pr</a:t>
            </a:r>
            <a:r>
              <a:rPr lang="en-US" altLang="en-US" b="1"/>
              <a:t>é</a:t>
            </a:r>
            <a:r>
              <a:rPr lang="en-US" altLang="fr-FR" b="1"/>
              <a:t>sente peu de symptômes d'asthme</a:t>
            </a:r>
            <a:endParaRPr lang="en-US" altLang="fr-FR" b="1"/>
          </a:p>
          <a:p>
            <a:pPr marL="0" indent="0" algn="just">
              <a:buNone/>
            </a:pPr>
            <a:r>
              <a:rPr lang="en-US" altLang="fr-FR"/>
              <a:t>•M</a:t>
            </a:r>
            <a:r>
              <a:rPr lang="en-US" altLang="en-US"/>
              <a:t>é</a:t>
            </a:r>
            <a:r>
              <a:rPr lang="en-US" altLang="fr-FR"/>
              <a:t>dicaments : Consommation excessive de BD (1 AD/mois), d</a:t>
            </a:r>
            <a:r>
              <a:rPr lang="en-US" altLang="en-US"/>
              <a:t>é</a:t>
            </a:r>
            <a:r>
              <a:rPr lang="en-US" altLang="fr-FR"/>
              <a:t>faut de traitement par les CSI, </a:t>
            </a:r>
            <a:endParaRPr lang="en-US" altLang="fr-FR"/>
          </a:p>
          <a:p>
            <a:pPr algn="just"/>
            <a:r>
              <a:rPr lang="en-US" altLang="fr-FR"/>
              <a:t>technique d’inhalation d</a:t>
            </a:r>
            <a:r>
              <a:rPr lang="en-US" altLang="en-US"/>
              <a:t>é</a:t>
            </a:r>
            <a:r>
              <a:rPr lang="en-US" altLang="fr-FR"/>
              <a:t>fectueuse, mauvaise observance au traitement</a:t>
            </a:r>
            <a:endParaRPr lang="en-US" altLang="fr-FR"/>
          </a:p>
          <a:p>
            <a:pPr marL="0" indent="0" algn="just">
              <a:buNone/>
            </a:pPr>
            <a:r>
              <a:rPr lang="en-US" altLang="fr-FR"/>
              <a:t>•Comorbidit</a:t>
            </a:r>
            <a:r>
              <a:rPr lang="en-US" altLang="en-US"/>
              <a:t>é</a:t>
            </a:r>
            <a:r>
              <a:rPr lang="en-US" altLang="fr-FR"/>
              <a:t>s : ob</a:t>
            </a:r>
            <a:r>
              <a:rPr lang="en-US" altLang="en-US"/>
              <a:t>é</a:t>
            </a:r>
            <a:r>
              <a:rPr lang="en-US" altLang="fr-FR"/>
              <a:t>sit</a:t>
            </a:r>
            <a:r>
              <a:rPr lang="en-US" altLang="en-US"/>
              <a:t>é</a:t>
            </a:r>
            <a:r>
              <a:rPr lang="en-US" altLang="fr-FR"/>
              <a:t>, rhino-sinusite, allergie alimentaire</a:t>
            </a:r>
            <a:endParaRPr lang="en-US" altLang="fr-FR"/>
          </a:p>
          <a:p>
            <a:pPr marL="0" indent="0" algn="just">
              <a:buNone/>
            </a:pPr>
            <a:r>
              <a:rPr lang="en-US" altLang="fr-FR"/>
              <a:t>•Tabagisme passif ou actif, persistance d’allerg</a:t>
            </a:r>
            <a:r>
              <a:rPr lang="" altLang="en-US"/>
              <a:t>è</a:t>
            </a:r>
            <a:r>
              <a:rPr lang="en-US" altLang="fr-FR"/>
              <a:t>nes</a:t>
            </a:r>
            <a:endParaRPr lang="en-US" altLang="fr-FR"/>
          </a:p>
          <a:p>
            <a:pPr marL="0" indent="0" algn="just">
              <a:buNone/>
            </a:pPr>
            <a:r>
              <a:rPr lang="en-US" altLang="fr-FR"/>
              <a:t>•Probl</a:t>
            </a:r>
            <a:r>
              <a:rPr lang="" altLang="en-US"/>
              <a:t>è</a:t>
            </a:r>
            <a:r>
              <a:rPr lang="en-US" altLang="fr-FR"/>
              <a:t>mes psychosociaux ou </a:t>
            </a:r>
            <a:r>
              <a:rPr lang="en-US" altLang="en-US"/>
              <a:t>é</a:t>
            </a:r>
            <a:r>
              <a:rPr lang="en-US" altLang="fr-FR"/>
              <a:t>conomiques</a:t>
            </a:r>
            <a:endParaRPr lang="en-US" altLang="fr-FR"/>
          </a:p>
          <a:p>
            <a:pPr marL="0" indent="0" algn="just">
              <a:buNone/>
            </a:pPr>
            <a:r>
              <a:rPr lang="en-US" altLang="fr-FR"/>
              <a:t>•VEMS bas (surtout si &lt;60%)</a:t>
            </a:r>
            <a:endParaRPr lang="en-US" altLang="fr-FR"/>
          </a:p>
          <a:p>
            <a:pPr marL="0" indent="0" algn="just">
              <a:buNone/>
            </a:pPr>
            <a:r>
              <a:rPr lang="en-US" altLang="fr-FR"/>
              <a:t>•Exacerbation s</a:t>
            </a:r>
            <a:r>
              <a:rPr lang="en-US" altLang="en-US"/>
              <a:t>é</a:t>
            </a:r>
            <a:r>
              <a:rPr lang="en-US" altLang="fr-FR"/>
              <a:t>v</a:t>
            </a:r>
            <a:r>
              <a:rPr lang="" altLang="en-US"/>
              <a:t>è</a:t>
            </a:r>
            <a:r>
              <a:rPr lang="en-US" altLang="fr-FR"/>
              <a:t>re dans l’ann</a:t>
            </a:r>
            <a:r>
              <a:rPr lang="en-US" altLang="en-US"/>
              <a:t>é</a:t>
            </a:r>
            <a:r>
              <a:rPr lang="en-US" altLang="fr-FR"/>
              <a:t>e pr</a:t>
            </a:r>
            <a:r>
              <a:rPr lang="en-US" altLang="en-US"/>
              <a:t>é</a:t>
            </a:r>
            <a:r>
              <a:rPr lang="en-US" altLang="fr-FR"/>
              <a:t>c</a:t>
            </a:r>
            <a:r>
              <a:rPr lang="en-US" altLang="en-US"/>
              <a:t>é</a:t>
            </a:r>
            <a:r>
              <a:rPr lang="en-US" altLang="fr-FR"/>
              <a:t>dente (≥ 1), ant</a:t>
            </a:r>
            <a:r>
              <a:rPr lang="en-US" altLang="en-US"/>
              <a:t>é</a:t>
            </a:r>
            <a:r>
              <a:rPr lang="en-US" altLang="fr-FR"/>
              <a:t>c</a:t>
            </a:r>
            <a:r>
              <a:rPr lang="en-US" altLang="en-US"/>
              <a:t>é</a:t>
            </a:r>
            <a:r>
              <a:rPr lang="en-US" altLang="fr-FR"/>
              <a:t>dent d’intubation</a:t>
            </a:r>
            <a:endParaRPr lang="en-US" altLang="fr-FR"/>
          </a:p>
          <a:p>
            <a:pPr algn="just">
              <a:buFont typeface="Wingdings" panose="05000000000000000000" charset="0"/>
              <a:buChar char="§"/>
            </a:pPr>
            <a:r>
              <a:rPr lang="fr-FR" altLang="en-US"/>
              <a:t>Symptomes non controlés</a:t>
            </a:r>
            <a:endParaRPr lang="fr-FR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251460"/>
            <a:ext cx="10515600" cy="457835"/>
          </a:xfrm>
        </p:spPr>
        <p:txBody>
          <a:bodyPr>
            <a:noAutofit/>
          </a:bodyPr>
          <a:lstStyle/>
          <a:p>
            <a:br>
              <a:rPr lang="fr-FR" sz="3200" b="1" dirty="0" smtClean="0"/>
            </a:br>
            <a:br>
              <a:rPr lang="fr-FR" sz="3200" b="1" dirty="0" smtClean="0"/>
            </a:br>
            <a:r>
              <a:rPr lang="fr-FR" sz="2800" b="1" dirty="0" smtClean="0">
                <a:solidFill>
                  <a:srgbClr val="FF0000"/>
                </a:solidFill>
              </a:rPr>
              <a:t>Cas clinique </a:t>
            </a:r>
            <a:r>
              <a:rPr lang="fr-FR" sz="3200" b="1" dirty="0" smtClean="0">
                <a:solidFill>
                  <a:srgbClr val="FF0000"/>
                </a:solidFill>
              </a:rPr>
              <a:t> </a:t>
            </a:r>
            <a:br>
              <a:rPr lang="fr-FR" sz="3200" dirty="0" smtClean="0"/>
            </a:b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1000" y="1057275"/>
            <a:ext cx="10972800" cy="5120005"/>
          </a:xfrm>
        </p:spPr>
        <p:txBody>
          <a:bodyPr>
            <a:normAutofit fontScale="80000"/>
          </a:bodyPr>
          <a:lstStyle/>
          <a:p>
            <a:pPr algn="just">
              <a:lnSpc>
                <a:spcPct val="150000"/>
              </a:lnSpc>
            </a:pPr>
            <a:r>
              <a:rPr lang="en-US" altLang="fr-FR" dirty="0"/>
              <a:t>Youssef  10 ans .</a:t>
            </a:r>
            <a:endParaRPr lang="en-US" altLang="fr-FR" dirty="0"/>
          </a:p>
          <a:p>
            <a:pPr algn="just">
              <a:lnSpc>
                <a:spcPct val="150000"/>
              </a:lnSpc>
            </a:pPr>
            <a:r>
              <a:rPr lang="en-US" altLang="fr-FR" dirty="0"/>
              <a:t> Il est suivi pour un asthme depuis l’age de 6 ans, le diagnostic </a:t>
            </a:r>
            <a:r>
              <a:rPr lang="en-US" altLang="en-US" dirty="0"/>
              <a:t>é</a:t>
            </a:r>
            <a:r>
              <a:rPr lang="en-US" altLang="fr-FR" dirty="0"/>
              <a:t>tait retenu devant deux crises d’asthme à l’age de 6 ans.  </a:t>
            </a:r>
            <a:endParaRPr lang="en-US" altLang="fr-FR" dirty="0"/>
          </a:p>
          <a:p>
            <a:pPr algn="just">
              <a:lnSpc>
                <a:spcPct val="150000"/>
              </a:lnSpc>
            </a:pPr>
            <a:r>
              <a:rPr lang="en-US" altLang="fr-FR" dirty="0"/>
              <a:t>Il re</a:t>
            </a:r>
            <a:r>
              <a:rPr lang="" altLang="en-US" dirty="0"/>
              <a:t>ç</a:t>
            </a:r>
            <a:r>
              <a:rPr lang="en-US" altLang="fr-FR" dirty="0"/>
              <a:t>oit un traitement à base de fluticasone inhal</a:t>
            </a:r>
            <a:r>
              <a:rPr lang="en-US" altLang="en-US" dirty="0"/>
              <a:t>é</a:t>
            </a:r>
            <a:r>
              <a:rPr lang="en-US" altLang="fr-FR" dirty="0"/>
              <a:t>e faible dose + un antileucotri</a:t>
            </a:r>
            <a:r>
              <a:rPr lang="" altLang="en-US" dirty="0"/>
              <a:t>è</a:t>
            </a:r>
            <a:r>
              <a:rPr lang="en-US" altLang="fr-FR" dirty="0"/>
              <a:t>ne avec des BDCA à la demande.</a:t>
            </a:r>
            <a:endParaRPr lang="en-US" altLang="fr-FR" dirty="0"/>
          </a:p>
          <a:p>
            <a:pPr algn="just">
              <a:lnSpc>
                <a:spcPct val="150000"/>
              </a:lnSpc>
            </a:pPr>
            <a:r>
              <a:rPr lang="en-US" altLang="fr-FR" dirty="0"/>
              <a:t> Il pr</a:t>
            </a:r>
            <a:r>
              <a:rPr lang="en-US" altLang="en-US" dirty="0"/>
              <a:t>é</a:t>
            </a:r>
            <a:r>
              <a:rPr lang="en-US" altLang="fr-FR" dirty="0"/>
              <a:t>sente des symptômes diurnes une fois /mois, un r</a:t>
            </a:r>
            <a:r>
              <a:rPr lang="en-US" altLang="en-US" dirty="0"/>
              <a:t>é</a:t>
            </a:r>
            <a:r>
              <a:rPr lang="en-US" altLang="fr-FR" dirty="0"/>
              <a:t>veil nocturne plus que deux fois /semaine. Sa maman rapporte qu’il est g</a:t>
            </a:r>
            <a:r>
              <a:rPr lang="en-US" altLang="en-US" dirty="0"/>
              <a:t>ê</a:t>
            </a:r>
            <a:r>
              <a:rPr lang="en-US" altLang="fr-FR" dirty="0"/>
              <a:t>n</a:t>
            </a:r>
            <a:r>
              <a:rPr lang="en-US" altLang="en-US" dirty="0"/>
              <a:t>é</a:t>
            </a:r>
            <a:r>
              <a:rPr lang="en-US" altLang="fr-FR" dirty="0"/>
              <a:t> à la s</a:t>
            </a:r>
            <a:r>
              <a:rPr lang="en-US" altLang="en-US" dirty="0"/>
              <a:t>é</a:t>
            </a:r>
            <a:r>
              <a:rPr lang="en-US" altLang="fr-FR" dirty="0"/>
              <a:t>ance d’</a:t>
            </a:r>
            <a:r>
              <a:rPr lang="en-US" altLang="en-US" dirty="0"/>
              <a:t>é</a:t>
            </a:r>
            <a:r>
              <a:rPr lang="en-US" altLang="fr-FR" dirty="0"/>
              <a:t>ducation sportive </a:t>
            </a:r>
            <a:endParaRPr lang="en-US" altLang="fr-FR" dirty="0"/>
          </a:p>
          <a:p>
            <a:pPr algn="just">
              <a:lnSpc>
                <a:spcPct val="150000"/>
              </a:lnSpc>
            </a:pPr>
            <a:r>
              <a:rPr lang="fr-FR" altLang="en-US" dirty="0"/>
              <a:t>Il consomme </a:t>
            </a:r>
            <a:r>
              <a:rPr lang="en-US" altLang="fr-FR" dirty="0"/>
              <a:t>un flacon de BDCA/mois sans chambre d’inhalation. </a:t>
            </a:r>
            <a:endParaRPr lang="en-US" altLang="fr-FR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fr-FR" dirty="0">
                <a:sym typeface="+mn-ea"/>
              </a:rPr>
              <a:t>Il vous consulte aux urgences pour une dyspn</a:t>
            </a:r>
            <a:r>
              <a:rPr lang="en-US" altLang="en-US" dirty="0">
                <a:sym typeface="+mn-ea"/>
              </a:rPr>
              <a:t>é</a:t>
            </a:r>
            <a:r>
              <a:rPr lang="en-US" altLang="fr-FR" dirty="0">
                <a:sym typeface="+mn-ea"/>
              </a:rPr>
              <a:t>e f</a:t>
            </a:r>
            <a:r>
              <a:rPr lang="en-US" altLang="en-US" dirty="0">
                <a:sym typeface="+mn-ea"/>
              </a:rPr>
              <a:t>é</a:t>
            </a:r>
            <a:r>
              <a:rPr lang="en-US" altLang="fr-FR" dirty="0">
                <a:sym typeface="+mn-ea"/>
              </a:rPr>
              <a:t>brile.</a:t>
            </a:r>
            <a:endParaRPr lang="en-US" altLang="fr-FR" dirty="0"/>
          </a:p>
          <a:p>
            <a:pPr marL="0" indent="0">
              <a:buNone/>
            </a:pPr>
            <a:endParaRPr lang="en-US" altLang="fr-FR"/>
          </a:p>
          <a:p>
            <a:r>
              <a:rPr lang="en-US" altLang="fr-FR"/>
              <a:t>A l’examen ,  T</a:t>
            </a:r>
            <a:r>
              <a:rPr lang="" altLang="en-US"/>
              <a:t>°</a:t>
            </a:r>
            <a:r>
              <a:rPr lang="en-US" altLang="fr-FR"/>
              <a:t> 38.2 , poids = 60 Kg, il pr</a:t>
            </a:r>
            <a:r>
              <a:rPr lang="en-US" altLang="en-US"/>
              <a:t>é</a:t>
            </a:r>
            <a:r>
              <a:rPr lang="en-US" altLang="fr-FR"/>
              <a:t>sente une crise d’asthme mod</a:t>
            </a:r>
            <a:r>
              <a:rPr lang="en-US" altLang="en-US"/>
              <a:t>é</a:t>
            </a:r>
            <a:r>
              <a:rPr lang="en-US" altLang="fr-FR"/>
              <a:t>r</a:t>
            </a:r>
            <a:r>
              <a:rPr lang="en-US" altLang="en-US"/>
              <a:t>é</a:t>
            </a:r>
            <a:r>
              <a:rPr lang="en-US" altLang="fr-FR"/>
              <a:t>e.</a:t>
            </a:r>
            <a:endParaRPr lang="en-US" altLang="fr-FR"/>
          </a:p>
          <a:p>
            <a:endParaRPr lang="en-US" altLang="fr-FR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020"/>
          </a:xfrm>
        </p:spPr>
        <p:txBody>
          <a:bodyPr/>
          <a:lstStyle/>
          <a:p>
            <a:r>
              <a:rPr lang="fr-FR" b="1" dirty="0" smtClean="0"/>
              <a:t>Cas clinique  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n-US" altLang="fr-FR" b="1" dirty="0"/>
              <a:t>1)Quels sont les </a:t>
            </a:r>
            <a:r>
              <a:rPr lang="en-US" altLang="en-US" b="1" dirty="0"/>
              <a:t>é</a:t>
            </a:r>
            <a:r>
              <a:rPr lang="en-US" altLang="fr-FR" b="1" dirty="0"/>
              <a:t>l</a:t>
            </a:r>
            <a:r>
              <a:rPr lang="en-US" altLang="en-US" b="1" dirty="0"/>
              <a:t>é</a:t>
            </a:r>
            <a:r>
              <a:rPr lang="en-US" altLang="fr-FR" b="1" dirty="0"/>
              <a:t>ments en faveur d’un asthme mal contrôl</a:t>
            </a:r>
            <a:r>
              <a:rPr lang="en-US" altLang="en-US" b="1" dirty="0"/>
              <a:t>é</a:t>
            </a:r>
            <a:r>
              <a:rPr lang="en-US" altLang="fr-FR" b="1" dirty="0"/>
              <a:t> chez cet enfant</a:t>
            </a:r>
            <a:endParaRPr lang="en-US" altLang="fr-FR" b="1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A)La pr</a:t>
            </a:r>
            <a:r>
              <a:rPr lang="en-US" altLang="en-US" dirty="0"/>
              <a:t>é</a:t>
            </a:r>
            <a:r>
              <a:rPr lang="en-US" altLang="fr-FR" dirty="0"/>
              <a:t>sence de symptômes diurnes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B)La pr</a:t>
            </a:r>
            <a:r>
              <a:rPr lang="en-US" altLang="en-US" dirty="0"/>
              <a:t>é</a:t>
            </a:r>
            <a:r>
              <a:rPr lang="en-US" altLang="fr-FR" dirty="0"/>
              <a:t>sence de symptômes nocturnes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C)L’utilisation fr</a:t>
            </a:r>
            <a:r>
              <a:rPr lang="en-US" altLang="en-US" dirty="0"/>
              <a:t>é</a:t>
            </a:r>
            <a:r>
              <a:rPr lang="en-US" altLang="fr-FR" dirty="0"/>
              <a:t>quente de BDCA 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D)L’anciennet</a:t>
            </a:r>
            <a:r>
              <a:rPr lang="en-US" altLang="en-US" dirty="0"/>
              <a:t>é</a:t>
            </a:r>
            <a:r>
              <a:rPr lang="en-US" altLang="fr-FR" dirty="0"/>
              <a:t> de l’asthme 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E)La bith</a:t>
            </a:r>
            <a:r>
              <a:rPr lang="en-US" altLang="en-US" dirty="0"/>
              <a:t>é</a:t>
            </a:r>
            <a:r>
              <a:rPr lang="en-US" altLang="fr-FR" dirty="0"/>
              <a:t>rapie au traitement de fond</a:t>
            </a:r>
            <a:endParaRPr lang="en-US" altLang="fr-FR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020"/>
          </a:xfrm>
        </p:spPr>
        <p:txBody>
          <a:bodyPr/>
          <a:lstStyle/>
          <a:p>
            <a:r>
              <a:rPr lang="fr-FR" b="1" dirty="0" smtClean="0"/>
              <a:t>Cas clinique  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n-US" altLang="fr-FR" b="1" dirty="0"/>
              <a:t>1)Quels sont les </a:t>
            </a:r>
            <a:r>
              <a:rPr lang="en-US" altLang="en-US" b="1" dirty="0"/>
              <a:t>é</a:t>
            </a:r>
            <a:r>
              <a:rPr lang="en-US" altLang="fr-FR" b="1" dirty="0"/>
              <a:t>l</a:t>
            </a:r>
            <a:r>
              <a:rPr lang="en-US" altLang="en-US" b="1" dirty="0"/>
              <a:t>é</a:t>
            </a:r>
            <a:r>
              <a:rPr lang="en-US" altLang="fr-FR" b="1" dirty="0"/>
              <a:t>ments en faveur d’un asthme mal contrôl</a:t>
            </a:r>
            <a:r>
              <a:rPr lang="en-US" altLang="en-US" b="1" dirty="0"/>
              <a:t>é</a:t>
            </a:r>
            <a:r>
              <a:rPr lang="en-US" altLang="fr-FR" b="1" dirty="0"/>
              <a:t> chez cet enfant</a:t>
            </a:r>
            <a:endParaRPr lang="en-US" altLang="fr-FR" b="1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A)La pr</a:t>
            </a:r>
            <a:r>
              <a:rPr lang="en-US" altLang="en-US" dirty="0"/>
              <a:t>é</a:t>
            </a:r>
            <a:r>
              <a:rPr lang="en-US" altLang="fr-FR" dirty="0"/>
              <a:t>sence de symptômes diurnes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b="1" dirty="0"/>
              <a:t>B)La pr</a:t>
            </a:r>
            <a:r>
              <a:rPr lang="en-US" altLang="en-US" b="1" dirty="0"/>
              <a:t>é</a:t>
            </a:r>
            <a:r>
              <a:rPr lang="en-US" altLang="fr-FR" b="1" dirty="0"/>
              <a:t>sence de symptômes nocturnes</a:t>
            </a:r>
            <a:endParaRPr lang="en-US" altLang="fr-FR" b="1" dirty="0"/>
          </a:p>
          <a:p>
            <a:pPr marL="0" lvl="0" indent="0">
              <a:buFont typeface="+mj-lt"/>
              <a:buNone/>
            </a:pPr>
            <a:r>
              <a:rPr lang="en-US" altLang="fr-FR" b="1" dirty="0"/>
              <a:t>C)L’utilisation fr</a:t>
            </a:r>
            <a:r>
              <a:rPr lang="en-US" altLang="en-US" b="1" dirty="0"/>
              <a:t>é</a:t>
            </a:r>
            <a:r>
              <a:rPr lang="en-US" altLang="fr-FR" b="1" dirty="0"/>
              <a:t>quente de BDCA </a:t>
            </a:r>
            <a:endParaRPr lang="en-US" altLang="fr-FR" b="1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D)L’anciennet</a:t>
            </a:r>
            <a:r>
              <a:rPr lang="en-US" altLang="en-US" dirty="0"/>
              <a:t>é</a:t>
            </a:r>
            <a:r>
              <a:rPr lang="en-US" altLang="fr-FR" dirty="0"/>
              <a:t> de l’asthme 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E)La bith</a:t>
            </a:r>
            <a:r>
              <a:rPr lang="en-US" altLang="en-US" dirty="0"/>
              <a:t>é</a:t>
            </a:r>
            <a:r>
              <a:rPr lang="en-US" altLang="fr-FR" dirty="0"/>
              <a:t>rapie au traitement de fond</a:t>
            </a:r>
            <a:endParaRPr lang="en-US" altLang="fr-FR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7890"/>
          </a:xfrm>
        </p:spPr>
        <p:txBody>
          <a:bodyPr/>
          <a:lstStyle/>
          <a:p>
            <a:r>
              <a:rPr lang="fr-FR" b="1" dirty="0" smtClean="0"/>
              <a:t>Cas clinique  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n-US" altLang="fr-FR" b="1" dirty="0"/>
              <a:t>2)Quels sont les facteurs de risque d’</a:t>
            </a:r>
            <a:r>
              <a:rPr lang="en-US" altLang="en-US" b="1" dirty="0"/>
              <a:t>é</a:t>
            </a:r>
            <a:r>
              <a:rPr lang="en-US" altLang="fr-FR" b="1" dirty="0"/>
              <a:t>volution d</a:t>
            </a:r>
            <a:r>
              <a:rPr lang="en-US" altLang="en-US" b="1" dirty="0"/>
              <a:t>é</a:t>
            </a:r>
            <a:r>
              <a:rPr lang="en-US" altLang="fr-FR" b="1" dirty="0"/>
              <a:t>favorable chez cet enfant ?</a:t>
            </a:r>
            <a:r>
              <a:rPr lang="" altLang="en-US" b="1" dirty="0"/>
              <a:t> </a:t>
            </a:r>
            <a:r>
              <a:rPr lang="en-US" altLang="fr-FR" b="1" dirty="0"/>
              <a:t>: </a:t>
            </a:r>
            <a:endParaRPr lang="en-US" altLang="fr-FR" b="1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A)Une consommation excessive de bronchodilatateur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B)Le terrain d’ob</a:t>
            </a:r>
            <a:r>
              <a:rPr lang="en-US" altLang="en-US" dirty="0"/>
              <a:t>é</a:t>
            </a:r>
            <a:r>
              <a:rPr lang="en-US" altLang="fr-FR" dirty="0"/>
              <a:t>sit</a:t>
            </a:r>
            <a:r>
              <a:rPr lang="en-US" altLang="en-US" dirty="0"/>
              <a:t>é</a:t>
            </a:r>
            <a:r>
              <a:rPr lang="en-US" altLang="fr-FR" dirty="0"/>
              <a:t> 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C)La mauvaise technique d’administration de traitement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D)Les doses faibles de corticosteroides inhal</a:t>
            </a:r>
            <a:r>
              <a:rPr lang="en-US" altLang="en-US" dirty="0"/>
              <a:t>é</a:t>
            </a:r>
            <a:r>
              <a:rPr lang="en-US" altLang="fr-FR" dirty="0"/>
              <a:t>s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E)La n</a:t>
            </a:r>
            <a:r>
              <a:rPr lang="en-US" altLang="en-US" dirty="0"/>
              <a:t>é</a:t>
            </a:r>
            <a:r>
              <a:rPr lang="en-US" altLang="fr-FR" dirty="0"/>
              <a:t>cessit</a:t>
            </a:r>
            <a:r>
              <a:rPr lang="en-US" altLang="en-US" dirty="0"/>
              <a:t>é</a:t>
            </a:r>
            <a:r>
              <a:rPr lang="en-US" altLang="fr-FR" dirty="0"/>
              <a:t> d’un anti leucotri</a:t>
            </a:r>
            <a:r>
              <a:rPr lang="" altLang="en-US" dirty="0"/>
              <a:t>è</a:t>
            </a:r>
            <a:r>
              <a:rPr lang="en-US" altLang="fr-FR" dirty="0"/>
              <a:t>ne </a:t>
            </a:r>
            <a:endParaRPr lang="en-US" altLang="fr-FR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7890"/>
          </a:xfrm>
        </p:spPr>
        <p:txBody>
          <a:bodyPr/>
          <a:lstStyle/>
          <a:p>
            <a:r>
              <a:rPr lang="fr-FR" b="1" dirty="0" smtClean="0"/>
              <a:t>Cas clinique  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n-US" altLang="fr-FR" b="1" dirty="0"/>
              <a:t>2)Quels sont les facteurs de risque d’</a:t>
            </a:r>
            <a:r>
              <a:rPr lang="en-US" altLang="en-US" b="1" dirty="0"/>
              <a:t>é</a:t>
            </a:r>
            <a:r>
              <a:rPr lang="en-US" altLang="fr-FR" b="1" dirty="0"/>
              <a:t>volution d</a:t>
            </a:r>
            <a:r>
              <a:rPr lang="en-US" altLang="en-US" b="1" dirty="0"/>
              <a:t>é</a:t>
            </a:r>
            <a:r>
              <a:rPr lang="en-US" altLang="fr-FR" b="1" dirty="0"/>
              <a:t>favorable chez cet enfant ?</a:t>
            </a:r>
            <a:r>
              <a:rPr lang="en-US" altLang="en-US" b="1" dirty="0"/>
              <a:t> </a:t>
            </a:r>
            <a:r>
              <a:rPr lang="en-US" altLang="fr-FR" b="1" dirty="0"/>
              <a:t>: </a:t>
            </a:r>
            <a:endParaRPr lang="en-US" altLang="fr-FR" b="1" dirty="0"/>
          </a:p>
          <a:p>
            <a:pPr marL="0" lvl="0" indent="0">
              <a:buFont typeface="+mj-lt"/>
              <a:buNone/>
            </a:pPr>
            <a:r>
              <a:rPr lang="en-US" altLang="fr-FR" b="1" dirty="0"/>
              <a:t>A)Une consommation excessive de bronchodilatateur</a:t>
            </a:r>
            <a:endParaRPr lang="en-US" altLang="fr-FR" b="1" dirty="0"/>
          </a:p>
          <a:p>
            <a:pPr marL="0" lvl="0" indent="0">
              <a:buFont typeface="+mj-lt"/>
              <a:buNone/>
            </a:pPr>
            <a:r>
              <a:rPr lang="en-US" altLang="fr-FR" b="1" dirty="0"/>
              <a:t>B)Le terrain d’ob</a:t>
            </a:r>
            <a:r>
              <a:rPr lang="en-US" altLang="en-US" b="1" dirty="0"/>
              <a:t>é</a:t>
            </a:r>
            <a:r>
              <a:rPr lang="en-US" altLang="fr-FR" b="1" dirty="0"/>
              <a:t>sit</a:t>
            </a:r>
            <a:r>
              <a:rPr lang="en-US" altLang="en-US" b="1" dirty="0"/>
              <a:t>é</a:t>
            </a:r>
            <a:r>
              <a:rPr lang="en-US" altLang="fr-FR" b="1" dirty="0"/>
              <a:t> </a:t>
            </a:r>
            <a:endParaRPr lang="en-US" altLang="fr-FR" b="1" dirty="0"/>
          </a:p>
          <a:p>
            <a:pPr marL="0" lvl="0" indent="0">
              <a:buFont typeface="+mj-lt"/>
              <a:buNone/>
            </a:pPr>
            <a:r>
              <a:rPr lang="en-US" altLang="fr-FR" b="1" dirty="0"/>
              <a:t>C)La mauvaise technique d’administration de traitement</a:t>
            </a:r>
            <a:endParaRPr lang="en-US" altLang="fr-FR" b="1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D)Les doses faibles de corticosteroides inhal</a:t>
            </a:r>
            <a:r>
              <a:rPr lang="en-US" altLang="en-US" dirty="0"/>
              <a:t>é</a:t>
            </a:r>
            <a:r>
              <a:rPr lang="en-US" altLang="fr-FR" dirty="0"/>
              <a:t>s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E)La n</a:t>
            </a:r>
            <a:r>
              <a:rPr lang="en-US" altLang="en-US" dirty="0"/>
              <a:t>é</a:t>
            </a:r>
            <a:r>
              <a:rPr lang="en-US" altLang="fr-FR" dirty="0"/>
              <a:t>cessit</a:t>
            </a:r>
            <a:r>
              <a:rPr lang="en-US" altLang="en-US" dirty="0"/>
              <a:t>é</a:t>
            </a:r>
            <a:r>
              <a:rPr lang="en-US" altLang="fr-FR" dirty="0"/>
              <a:t> d’un anti leucotri</a:t>
            </a:r>
            <a:r>
              <a:rPr lang="en-US" altLang="en-US" dirty="0"/>
              <a:t>è</a:t>
            </a:r>
            <a:r>
              <a:rPr lang="en-US" altLang="fr-FR" dirty="0"/>
              <a:t>ne </a:t>
            </a:r>
            <a:endParaRPr lang="en-US" altLang="fr-FR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6600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Cas clinique 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101725"/>
            <a:ext cx="10824845" cy="5459095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fr-FR" dirty="0" smtClean="0"/>
          </a:p>
          <a:p>
            <a:pPr lvl="0">
              <a:buNone/>
            </a:pPr>
            <a:r>
              <a:rPr lang="en-US" altLang="fr-FR" b="1" dirty="0" smtClean="0"/>
              <a:t>Q3</a:t>
            </a:r>
            <a:r>
              <a:rPr lang="" altLang="en-US" b="1" dirty="0" smtClean="0"/>
              <a:t> </a:t>
            </a:r>
            <a:r>
              <a:rPr lang="en-US" altLang="fr-FR" b="1" dirty="0" smtClean="0"/>
              <a:t>: Que proposeriez vous pour la  prise en charge à moyen terme de youssef</a:t>
            </a:r>
            <a:r>
              <a:rPr lang="" altLang="en-US" b="1" dirty="0" smtClean="0"/>
              <a:t> </a:t>
            </a:r>
            <a:r>
              <a:rPr lang="en-US" altLang="fr-FR" b="1" dirty="0" smtClean="0"/>
              <a:t>? </a:t>
            </a:r>
            <a:r>
              <a:rPr lang="fr-FR" b="1" dirty="0" smtClean="0"/>
              <a:t> </a:t>
            </a:r>
            <a:endParaRPr lang="fr-FR" b="1" dirty="0" smtClean="0"/>
          </a:p>
          <a:p>
            <a:pPr lvl="0">
              <a:buNone/>
            </a:pPr>
            <a:endParaRPr lang="fr-FR" dirty="0" smtClean="0"/>
          </a:p>
          <a:p>
            <a:pPr marL="0" lvl="0" indent="0">
              <a:buFont typeface="+mj-lt"/>
              <a:buNone/>
            </a:pPr>
            <a:r>
              <a:rPr lang="en-US" altLang="fr-FR" dirty="0"/>
              <a:t>A)Des prick tests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B)Programmer une EFR dans les jours suivants 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C)R</a:t>
            </a:r>
            <a:r>
              <a:rPr lang="en-US" altLang="en-US" dirty="0"/>
              <a:t>é</a:t>
            </a:r>
            <a:r>
              <a:rPr lang="en-US" altLang="fr-FR" dirty="0"/>
              <a:t>vision de l’observance th</a:t>
            </a:r>
            <a:r>
              <a:rPr lang="en-US" altLang="en-US" dirty="0"/>
              <a:t>é</a:t>
            </a:r>
            <a:r>
              <a:rPr lang="en-US" altLang="fr-FR" dirty="0"/>
              <a:t>rapeutique 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D)Augmentation du palier de traitement 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E)Proscrire l’activit</a:t>
            </a:r>
            <a:r>
              <a:rPr lang="en-US" altLang="en-US" dirty="0"/>
              <a:t>é</a:t>
            </a:r>
            <a:r>
              <a:rPr lang="en-US" altLang="fr-FR" dirty="0"/>
              <a:t> sportive </a:t>
            </a:r>
            <a:endParaRPr lang="en-US" altLang="fr-FR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6600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Cas clinique 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101725"/>
            <a:ext cx="10824845" cy="5459095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fr-FR" dirty="0" smtClean="0"/>
          </a:p>
          <a:p>
            <a:pPr lvl="0">
              <a:buNone/>
            </a:pPr>
            <a:r>
              <a:rPr lang="en-US" altLang="fr-FR" b="1" dirty="0" smtClean="0"/>
              <a:t>Q3</a:t>
            </a:r>
            <a:r>
              <a:rPr lang="en-US" altLang="en-US" b="1" dirty="0" smtClean="0"/>
              <a:t> </a:t>
            </a:r>
            <a:r>
              <a:rPr lang="en-US" altLang="fr-FR" b="1" dirty="0" smtClean="0"/>
              <a:t>: Que proposeriez vous pour la  prise en charge à moyen terme de youssef</a:t>
            </a:r>
            <a:r>
              <a:rPr lang="en-US" altLang="en-US" b="1" dirty="0" smtClean="0"/>
              <a:t> </a:t>
            </a:r>
            <a:r>
              <a:rPr lang="en-US" altLang="fr-FR" b="1" dirty="0" smtClean="0"/>
              <a:t>? </a:t>
            </a:r>
            <a:r>
              <a:rPr lang="fr-FR" b="1" dirty="0" smtClean="0"/>
              <a:t> </a:t>
            </a:r>
            <a:endParaRPr lang="fr-FR" b="1" dirty="0" smtClean="0"/>
          </a:p>
          <a:p>
            <a:pPr lvl="0">
              <a:buNone/>
            </a:pPr>
            <a:endParaRPr lang="fr-FR" dirty="0" smtClean="0"/>
          </a:p>
          <a:p>
            <a:pPr marL="0" lvl="0" indent="0">
              <a:buFont typeface="+mj-lt"/>
              <a:buNone/>
            </a:pPr>
            <a:r>
              <a:rPr lang="en-US" altLang="fr-FR" b="1" dirty="0"/>
              <a:t>A)Des prick tests</a:t>
            </a:r>
            <a:endParaRPr lang="en-US" altLang="fr-FR" b="1" dirty="0"/>
          </a:p>
          <a:p>
            <a:pPr marL="0" lvl="0" indent="0">
              <a:buFont typeface="+mj-lt"/>
              <a:buNone/>
            </a:pPr>
            <a:r>
              <a:rPr lang="en-US" altLang="fr-FR" b="1" dirty="0"/>
              <a:t>B)Programmer une EFR dans les jours suivants </a:t>
            </a:r>
            <a:endParaRPr lang="en-US" altLang="fr-FR" b="1" dirty="0"/>
          </a:p>
          <a:p>
            <a:pPr marL="0" lvl="0" indent="0">
              <a:buFont typeface="+mj-lt"/>
              <a:buNone/>
            </a:pPr>
            <a:r>
              <a:rPr lang="en-US" altLang="fr-FR" b="1" dirty="0"/>
              <a:t>C)R</a:t>
            </a:r>
            <a:r>
              <a:rPr lang="en-US" altLang="en-US" b="1" dirty="0"/>
              <a:t>é</a:t>
            </a:r>
            <a:r>
              <a:rPr lang="en-US" altLang="fr-FR" b="1" dirty="0"/>
              <a:t>vision de l’observance th</a:t>
            </a:r>
            <a:r>
              <a:rPr lang="en-US" altLang="en-US" b="1" dirty="0"/>
              <a:t>é</a:t>
            </a:r>
            <a:r>
              <a:rPr lang="en-US" altLang="fr-FR" b="1" dirty="0"/>
              <a:t>rapeutique </a:t>
            </a:r>
            <a:endParaRPr lang="en-US" altLang="fr-FR" b="1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D)Augmentation du palier de traitement </a:t>
            </a:r>
            <a:endParaRPr lang="en-US" altLang="fr-FR" dirty="0"/>
          </a:p>
          <a:p>
            <a:pPr marL="0" lvl="0" indent="0">
              <a:buFont typeface="+mj-lt"/>
              <a:buNone/>
            </a:pPr>
            <a:r>
              <a:rPr lang="en-US" altLang="fr-FR" dirty="0"/>
              <a:t>E)Proscrire l’activit</a:t>
            </a:r>
            <a:r>
              <a:rPr lang="en-US" altLang="en-US" dirty="0"/>
              <a:t>é</a:t>
            </a:r>
            <a:r>
              <a:rPr lang="en-US" altLang="fr-FR" dirty="0"/>
              <a:t> sportive </a:t>
            </a:r>
            <a:endParaRPr lang="en-US" altLang="fr-FR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084" y="264584"/>
            <a:ext cx="10877549" cy="2233090"/>
          </a:xfrm>
        </p:spPr>
        <p:txBody>
          <a:bodyPr lIns="0" tIns="16933" rIns="0" bIns="0" rtlCol="0">
            <a:spAutoFit/>
          </a:bodyPr>
          <a:lstStyle/>
          <a:p>
            <a:pPr marL="17145" indent="86995" algn="just">
              <a:lnSpc>
                <a:spcPct val="150000"/>
              </a:lnSpc>
              <a:spcBef>
                <a:spcPts val="135"/>
              </a:spcBef>
              <a:defRPr/>
            </a:pPr>
            <a:r>
              <a:rPr lang="fr-FR" sz="3200" b="1" dirty="0" smtClean="0">
                <a:latin typeface="+mn-lt"/>
                <a:cs typeface="Arial" panose="020B0604020202020204" pitchFamily="34" charset="0"/>
              </a:rPr>
              <a:t>La prise en charge thérapeutique doit</a:t>
            </a:r>
            <a:r>
              <a:rPr lang="fr-FR" sz="3200" b="1" spc="320" dirty="0" smtClean="0">
                <a:latin typeface="+mn-lt"/>
                <a:cs typeface="Arial" panose="020B0604020202020204" pitchFamily="34" charset="0"/>
              </a:rPr>
              <a:t> </a:t>
            </a:r>
            <a:r>
              <a:rPr lang="fr-FR" sz="3200" b="1" dirty="0" smtClean="0">
                <a:latin typeface="+mn-lt"/>
                <a:cs typeface="Arial" panose="020B0604020202020204" pitchFamily="34" charset="0"/>
              </a:rPr>
              <a:t>être adaptée en fonction d’un cycle continu basé  sur le contrôle de la</a:t>
            </a:r>
            <a:r>
              <a:rPr lang="fr-FR" sz="3200" b="1" spc="173" dirty="0" smtClean="0">
                <a:latin typeface="+mn-lt"/>
                <a:cs typeface="Arial" panose="020B0604020202020204" pitchFamily="34" charset="0"/>
              </a:rPr>
              <a:t> </a:t>
            </a:r>
            <a:r>
              <a:rPr lang="fr-FR" sz="3200" b="1" dirty="0" smtClean="0">
                <a:latin typeface="+mn-lt"/>
                <a:cs typeface="Arial" panose="020B0604020202020204" pitchFamily="34" charset="0"/>
              </a:rPr>
              <a:t>maladie : </a:t>
            </a:r>
            <a:r>
              <a:rPr lang="fr-FR" sz="3200" b="1" dirty="0" smtClean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Evaluer –traiter –revoir la réponse</a:t>
            </a:r>
            <a:endParaRPr lang="fr-FR" sz="3200" b="1" dirty="0">
              <a:solidFill>
                <a:srgbClr val="C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9331" name="object 3"/>
          <p:cNvSpPr>
            <a:spLocks noChangeArrowheads="1"/>
          </p:cNvSpPr>
          <p:nvPr/>
        </p:nvSpPr>
        <p:spPr bwMode="auto">
          <a:xfrm>
            <a:off x="550333" y="2810934"/>
            <a:ext cx="2889251" cy="1384300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99332" name="object 4"/>
          <p:cNvSpPr>
            <a:spLocks noChangeArrowheads="1"/>
          </p:cNvSpPr>
          <p:nvPr/>
        </p:nvSpPr>
        <p:spPr bwMode="auto">
          <a:xfrm>
            <a:off x="3416301" y="2669118"/>
            <a:ext cx="4959351" cy="3202516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99333" name="object 5"/>
          <p:cNvSpPr>
            <a:spLocks noChangeArrowheads="1"/>
          </p:cNvSpPr>
          <p:nvPr/>
        </p:nvSpPr>
        <p:spPr bwMode="auto">
          <a:xfrm>
            <a:off x="7213601" y="1900768"/>
            <a:ext cx="3873500" cy="194521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noFill/>
            <a:miter lim="800000"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99334" name="object 6"/>
          <p:cNvSpPr>
            <a:spLocks noChangeArrowheads="1"/>
          </p:cNvSpPr>
          <p:nvPr/>
        </p:nvSpPr>
        <p:spPr bwMode="auto">
          <a:xfrm>
            <a:off x="7518401" y="4519084"/>
            <a:ext cx="3263900" cy="1352549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solidFill>
              <a:srgbClr val="C00000"/>
            </a:solidFill>
            <a:miter lim="800000"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99335" name="object 7"/>
          <p:cNvSpPr txBox="1">
            <a:spLocks noChangeArrowheads="1"/>
          </p:cNvSpPr>
          <p:nvPr/>
        </p:nvSpPr>
        <p:spPr bwMode="auto">
          <a:xfrm>
            <a:off x="11161185" y="5871633"/>
            <a:ext cx="171449" cy="3094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6933" rIns="0" bIns="0">
            <a:spAutoFit/>
          </a:bodyPr>
          <a:lstStyle/>
          <a:p>
            <a:pPr marL="17145">
              <a:spcBef>
                <a:spcPts val="135"/>
              </a:spcBef>
            </a:pPr>
            <a:r>
              <a:rPr lang="fr-FR" sz="1900" b="1" dirty="0">
                <a:solidFill>
                  <a:srgbClr val="FFFFFF"/>
                </a:solidFill>
                <a:latin typeface="Century Schoolbook" panose="02040604050505020304" pitchFamily="18" charset="0"/>
              </a:rPr>
              <a:t>7</a:t>
            </a:r>
            <a:endParaRPr lang="fr-FR" sz="19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6"/>
          <p:cNvSpPr>
            <a:spLocks noChangeArrowheads="1"/>
          </p:cNvSpPr>
          <p:nvPr/>
        </p:nvSpPr>
        <p:spPr bwMode="auto">
          <a:xfrm>
            <a:off x="2309285" y="3071814"/>
            <a:ext cx="2321983" cy="72072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68580" tIns="34290" rIns="68580" bIns="34290" anchor="ctr"/>
          <a:lstStyle/>
          <a:p>
            <a:pPr algn="ctr">
              <a:defRPr/>
            </a:pPr>
            <a:r>
              <a:rPr lang="fr-FR" sz="1500" b="1" dirty="0">
                <a:solidFill>
                  <a:schemeClr val="bg2"/>
                </a:solidFill>
              </a:rPr>
              <a:t>Observance++</a:t>
            </a:r>
            <a:endParaRPr lang="fr-FR" sz="1500" b="1" dirty="0">
              <a:solidFill>
                <a:schemeClr val="bg2"/>
              </a:solidFill>
            </a:endParaRPr>
          </a:p>
        </p:txBody>
      </p:sp>
      <p:sp>
        <p:nvSpPr>
          <p:cNvPr id="44036" name="Rectangle 7"/>
          <p:cNvSpPr>
            <a:spLocks noChangeArrowheads="1"/>
          </p:cNvSpPr>
          <p:nvPr/>
        </p:nvSpPr>
        <p:spPr bwMode="auto">
          <a:xfrm>
            <a:off x="1737784" y="1857376"/>
            <a:ext cx="3858683" cy="1008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68580" tIns="34290" rIns="68580" bIns="34290" anchor="ctr"/>
          <a:lstStyle/>
          <a:p>
            <a:pPr algn="ctr">
              <a:defRPr/>
            </a:pPr>
            <a:r>
              <a:rPr lang="fr-FR" b="1" dirty="0">
                <a:solidFill>
                  <a:schemeClr val="tx1"/>
                </a:solidFill>
              </a:rPr>
              <a:t>Appréciation de la prise </a:t>
            </a:r>
            <a:endParaRPr lang="fr-FR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fr-FR" b="1" dirty="0">
                <a:solidFill>
                  <a:schemeClr val="tx1"/>
                </a:solidFill>
              </a:rPr>
              <a:t>en charge globale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44037" name="Rectangle 8"/>
          <p:cNvSpPr>
            <a:spLocks noChangeArrowheads="1"/>
          </p:cNvSpPr>
          <p:nvPr/>
        </p:nvSpPr>
        <p:spPr bwMode="auto">
          <a:xfrm>
            <a:off x="4095752" y="214313"/>
            <a:ext cx="4144433" cy="7937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68580" tIns="34290" rIns="68580" bIns="34290" anchor="ctr"/>
          <a:lstStyle/>
          <a:p>
            <a:pPr algn="ctr">
              <a:defRPr/>
            </a:pPr>
            <a:r>
              <a:rPr lang="fr-FR" sz="2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Asthme non contrôlé</a:t>
            </a:r>
            <a:endParaRPr lang="fr-FR" sz="21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4757" name="Rectangle 9"/>
          <p:cNvSpPr>
            <a:spLocks noChangeArrowheads="1"/>
          </p:cNvSpPr>
          <p:nvPr/>
        </p:nvSpPr>
        <p:spPr bwMode="auto">
          <a:xfrm>
            <a:off x="1524001" y="5715000"/>
            <a:ext cx="4358217" cy="863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lIns="68580" tIns="34290" rIns="68580" bIns="34290" anchor="ctr"/>
          <a:lstStyle/>
          <a:p>
            <a:pPr algn="ctr"/>
            <a:r>
              <a:rPr lang="fr-FR" sz="1500" b="1">
                <a:solidFill>
                  <a:schemeClr val="bg2"/>
                </a:solidFill>
              </a:rPr>
              <a:t>Renforcer le traitement</a:t>
            </a:r>
            <a:endParaRPr lang="fr-FR" sz="1500" b="1">
              <a:solidFill>
                <a:schemeClr val="bg2"/>
              </a:solidFill>
            </a:endParaRPr>
          </a:p>
          <a:p>
            <a:pPr algn="ctr"/>
            <a:r>
              <a:rPr lang="fr-FR" sz="1500" b="1">
                <a:solidFill>
                  <a:schemeClr val="bg2"/>
                </a:solidFill>
              </a:rPr>
              <a:t>Palier supérieur</a:t>
            </a:r>
            <a:endParaRPr lang="fr-FR" sz="1500" b="1">
              <a:solidFill>
                <a:schemeClr val="bg2"/>
              </a:solidFill>
            </a:endParaRPr>
          </a:p>
        </p:txBody>
      </p:sp>
      <p:sp>
        <p:nvSpPr>
          <p:cNvPr id="74758" name="Rectangle 10"/>
          <p:cNvSpPr>
            <a:spLocks noChangeArrowheads="1"/>
          </p:cNvSpPr>
          <p:nvPr/>
        </p:nvSpPr>
        <p:spPr bwMode="auto">
          <a:xfrm>
            <a:off x="1881718" y="3929063"/>
            <a:ext cx="3136900" cy="863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lIns="68580" tIns="34290" rIns="68580" bIns="34290" anchor="ctr"/>
          <a:lstStyle/>
          <a:p>
            <a:pPr algn="ctr"/>
            <a:r>
              <a:rPr lang="fr-FR" sz="1500" b="1">
                <a:solidFill>
                  <a:schemeClr val="bg2"/>
                </a:solidFill>
              </a:rPr>
              <a:t>Revoir la technique </a:t>
            </a:r>
            <a:endParaRPr lang="fr-FR" sz="1500" b="1">
              <a:solidFill>
                <a:schemeClr val="bg2"/>
              </a:solidFill>
            </a:endParaRPr>
          </a:p>
          <a:p>
            <a:pPr algn="ctr"/>
            <a:r>
              <a:rPr lang="fr-FR" sz="1500" b="1">
                <a:solidFill>
                  <a:schemeClr val="bg2"/>
                </a:solidFill>
              </a:rPr>
              <a:t>d’inhalation</a:t>
            </a:r>
            <a:endParaRPr lang="fr-FR" sz="1500" b="1">
              <a:solidFill>
                <a:schemeClr val="bg2"/>
              </a:solidFill>
            </a:endParaRPr>
          </a:p>
        </p:txBody>
      </p:sp>
      <p:sp>
        <p:nvSpPr>
          <p:cNvPr id="44040" name="Rectangle 12"/>
          <p:cNvSpPr>
            <a:spLocks noChangeArrowheads="1"/>
          </p:cNvSpPr>
          <p:nvPr/>
        </p:nvSpPr>
        <p:spPr bwMode="auto">
          <a:xfrm>
            <a:off x="6309784" y="1857375"/>
            <a:ext cx="4358216" cy="863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68580" tIns="34290" rIns="68580" bIns="34290" anchor="ctr"/>
          <a:lstStyle/>
          <a:p>
            <a:pPr algn="ctr">
              <a:defRPr/>
            </a:pPr>
            <a:r>
              <a:rPr lang="fr-FR" b="1" dirty="0">
                <a:solidFill>
                  <a:schemeClr val="tx1"/>
                </a:solidFill>
              </a:rPr>
              <a:t>Diagnostic différentiel</a:t>
            </a:r>
            <a:endParaRPr lang="fr-FR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fr-FR" b="1" dirty="0">
                <a:solidFill>
                  <a:schemeClr val="tx1"/>
                </a:solidFill>
              </a:rPr>
              <a:t>Examens complémentaires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74760" name="Line 13"/>
          <p:cNvSpPr>
            <a:spLocks noChangeShapeType="1"/>
          </p:cNvSpPr>
          <p:nvPr/>
        </p:nvSpPr>
        <p:spPr bwMode="auto">
          <a:xfrm flipH="1">
            <a:off x="3666067" y="1000126"/>
            <a:ext cx="1786467" cy="785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endParaRPr lang="fr-FR"/>
          </a:p>
        </p:txBody>
      </p:sp>
      <p:sp>
        <p:nvSpPr>
          <p:cNvPr id="74761" name="Line 17"/>
          <p:cNvSpPr>
            <a:spLocks noChangeShapeType="1"/>
          </p:cNvSpPr>
          <p:nvPr/>
        </p:nvSpPr>
        <p:spPr bwMode="auto">
          <a:xfrm>
            <a:off x="6381751" y="1071563"/>
            <a:ext cx="1500716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endParaRPr lang="fr-FR"/>
          </a:p>
        </p:txBody>
      </p:sp>
      <p:sp>
        <p:nvSpPr>
          <p:cNvPr id="74762" name="Rectangle 19"/>
          <p:cNvSpPr>
            <a:spLocks noChangeArrowheads="1"/>
          </p:cNvSpPr>
          <p:nvPr/>
        </p:nvSpPr>
        <p:spPr bwMode="auto">
          <a:xfrm>
            <a:off x="1737785" y="4929188"/>
            <a:ext cx="4000500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lIns="68580" tIns="34290" rIns="68580" bIns="34290" anchor="ctr"/>
          <a:lstStyle/>
          <a:p>
            <a:pPr algn="ctr"/>
            <a:r>
              <a:rPr lang="fr-FR" sz="1500" b="1">
                <a:solidFill>
                  <a:schemeClr val="bg2"/>
                </a:solidFill>
              </a:rPr>
              <a:t>Environnement non contrôlé</a:t>
            </a:r>
            <a:endParaRPr lang="fr-FR" sz="1500" b="1">
              <a:solidFill>
                <a:schemeClr val="bg2"/>
              </a:solidFill>
            </a:endParaRPr>
          </a:p>
          <a:p>
            <a:pPr algn="ctr"/>
            <a:r>
              <a:rPr lang="fr-FR" sz="1500" b="1">
                <a:solidFill>
                  <a:schemeClr val="bg2"/>
                </a:solidFill>
              </a:rPr>
              <a:t>comorbidités </a:t>
            </a:r>
            <a:endParaRPr lang="fr-FR" sz="1500" b="1">
              <a:solidFill>
                <a:schemeClr val="bg2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7310967" y="3071813"/>
            <a:ext cx="3160184" cy="1731962"/>
          </a:xfrm>
          <a:prstGeom prst="rect">
            <a:avLst/>
          </a:prstGeom>
          <a:solidFill>
            <a:schemeClr val="accent1"/>
          </a:solidFill>
        </p:spPr>
        <p:txBody>
          <a:bodyPr lIns="68580" tIns="34290" rIns="68580" bIns="34290">
            <a:spAutoFit/>
          </a:bodyPr>
          <a:lstStyle/>
          <a:p>
            <a:pPr>
              <a:defRPr/>
            </a:pPr>
            <a:r>
              <a:rPr lang="fr-FR" b="1" dirty="0">
                <a:solidFill>
                  <a:schemeClr val="bg2">
                    <a:lumMod val="90000"/>
                  </a:schemeClr>
                </a:solidFill>
                <a:cs typeface="Arial" panose="020B0604020202020204" pitchFamily="34" charset="0"/>
              </a:rPr>
              <a:t>Immunologie </a:t>
            </a:r>
            <a:endParaRPr lang="fr-FR" b="1" dirty="0">
              <a:solidFill>
                <a:schemeClr val="bg2">
                  <a:lumMod val="90000"/>
                </a:schemeClr>
              </a:solidFill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b="1" dirty="0">
                <a:solidFill>
                  <a:schemeClr val="bg2">
                    <a:lumMod val="90000"/>
                  </a:schemeClr>
                </a:solidFill>
                <a:cs typeface="Arial" panose="020B0604020202020204" pitchFamily="34" charset="0"/>
              </a:rPr>
              <a:t>TDM </a:t>
            </a:r>
            <a:endParaRPr lang="fr-FR" b="1" dirty="0">
              <a:solidFill>
                <a:schemeClr val="bg2">
                  <a:lumMod val="90000"/>
                </a:schemeClr>
              </a:solidFill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b="1" dirty="0">
                <a:solidFill>
                  <a:schemeClr val="bg2">
                    <a:lumMod val="90000"/>
                  </a:schemeClr>
                </a:solidFill>
                <a:cs typeface="Arial" panose="020B0604020202020204" pitchFamily="34" charset="0"/>
              </a:rPr>
              <a:t>Fibroscopie avec LBA </a:t>
            </a:r>
            <a:endParaRPr lang="fr-FR" b="1" dirty="0">
              <a:solidFill>
                <a:schemeClr val="bg2">
                  <a:lumMod val="90000"/>
                </a:schemeClr>
              </a:solidFill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b="1" dirty="0">
                <a:solidFill>
                  <a:schemeClr val="bg2">
                    <a:lumMod val="90000"/>
                  </a:schemeClr>
                </a:solidFill>
                <a:cs typeface="Arial" panose="020B0604020202020204" pitchFamily="34" charset="0"/>
              </a:rPr>
              <a:t>Test de la sueur</a:t>
            </a:r>
            <a:endParaRPr lang="fr-FR" b="1" dirty="0">
              <a:solidFill>
                <a:schemeClr val="bg2">
                  <a:lumMod val="90000"/>
                </a:schemeClr>
              </a:solidFill>
              <a:cs typeface="Arial" panose="020B0604020202020204" pitchFamily="34" charset="0"/>
            </a:endParaRPr>
          </a:p>
          <a:p>
            <a:pPr>
              <a:defRPr/>
            </a:pPr>
            <a:endParaRPr lang="fr-FR" b="1" dirty="0">
              <a:solidFill>
                <a:schemeClr val="bg2">
                  <a:lumMod val="90000"/>
                </a:schemeClr>
              </a:solidFill>
              <a:cs typeface="Arial" panose="020B0604020202020204" pitchFamily="34" charset="0"/>
            </a:endParaRPr>
          </a:p>
          <a:p>
            <a:pPr>
              <a:defRPr/>
            </a:pPr>
            <a:endParaRPr lang="fr-FR" dirty="0">
              <a:solidFill>
                <a:schemeClr val="bg2">
                  <a:lumMod val="90000"/>
                </a:schemeClr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/>
              <a:t>Observance et Technique d’inhalation</a:t>
            </a:r>
            <a:endParaRPr lang="fr-FR" dirty="0"/>
          </a:p>
        </p:txBody>
      </p:sp>
      <p:sp>
        <p:nvSpPr>
          <p:cNvPr id="9728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86001"/>
            <a:ext cx="10972800" cy="3839633"/>
          </a:xfrm>
        </p:spPr>
        <p:txBody>
          <a:bodyPr/>
          <a:lstStyle/>
          <a:p>
            <a:r>
              <a:rPr lang="fr-FR" smtClean="0"/>
              <a:t>Choix du bon dispositif</a:t>
            </a:r>
            <a:endParaRPr lang="fr-FR" smtClean="0"/>
          </a:p>
          <a:p>
            <a:r>
              <a:rPr lang="fr-FR" smtClean="0"/>
              <a:t>Education thérapeutique</a:t>
            </a:r>
            <a:endParaRPr lang="fr-FR" smtClean="0"/>
          </a:p>
          <a:p>
            <a:r>
              <a:rPr lang="fr-FR" smtClean="0"/>
              <a:t>Toujours l’évaluer</a:t>
            </a:r>
            <a:endParaRPr lang="fr-FR" smtClean="0"/>
          </a:p>
          <a:p>
            <a:endParaRPr lang="fr-FR" smtClean="0"/>
          </a:p>
        </p:txBody>
      </p:sp>
      <p:pic>
        <p:nvPicPr>
          <p:cNvPr id="97284" name="Picture 2" descr="C:\Users\Jihen\Desktop\EPU 2019_2020\EPU Sfax 2020\Educatio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905751" y="2571751"/>
            <a:ext cx="3619500" cy="2713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7" descr="http://2.bp.blogspot.com/-wQgGgDe62aA/VYuSU_uJzeI/AAAAAAAAAkM/UeMvRy3Qc08/s1600/questions%2Br%25C3%25A9ponsesjpeg.jpe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095751" y="4142317"/>
            <a:ext cx="4442883" cy="2715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035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6751" y="381000"/>
            <a:ext cx="106934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32891</Words>
  <Application>WPS Presentation</Application>
  <PresentationFormat>Personnalisé</PresentationFormat>
  <Paragraphs>1112</Paragraphs>
  <Slides>95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95</vt:i4>
      </vt:variant>
    </vt:vector>
  </HeadingPairs>
  <TitlesOfParts>
    <vt:vector size="121" baseType="lpstr">
      <vt:lpstr>Arial</vt:lpstr>
      <vt:lpstr>SimSun</vt:lpstr>
      <vt:lpstr>Wingdings</vt:lpstr>
      <vt:lpstr>Calibri Light</vt:lpstr>
      <vt:lpstr>Calibri</vt:lpstr>
      <vt:lpstr>Arial</vt:lpstr>
      <vt:lpstr>Century Schoolbook</vt:lpstr>
      <vt:lpstr>Microsoft YaHei</vt:lpstr>
      <vt:lpstr>Arial Unicode MS</vt:lpstr>
      <vt:lpstr>Arabic Typesetting</vt:lpstr>
      <vt:lpstr>Segoe Print</vt:lpstr>
      <vt:lpstr>Century Schoolbook</vt:lpstr>
      <vt:lpstr>Times New Roman</vt:lpstr>
      <vt:lpstr>Wingdings 2</vt:lpstr>
      <vt:lpstr>Calibri</vt:lpstr>
      <vt:lpstr>Times New Roman</vt:lpstr>
      <vt:lpstr>Franklin Gothic Book</vt:lpstr>
      <vt:lpstr>Symbol</vt:lpstr>
      <vt:lpstr>Symbol</vt:lpstr>
      <vt:lpstr>Algerian</vt:lpstr>
      <vt:lpstr>Wingdings</vt:lpstr>
      <vt:lpstr>Thème Office</vt:lpstr>
      <vt:lpstr>1_Thème Office</vt:lpstr>
      <vt:lpstr>2_Thème Office</vt:lpstr>
      <vt:lpstr>3_Thème Office</vt:lpstr>
      <vt:lpstr>4_Thème Office</vt:lpstr>
      <vt:lpstr>PowerPoint 演示文稿</vt:lpstr>
      <vt:lpstr>Question n°1: </vt:lpstr>
      <vt:lpstr>Question n°1: </vt:lpstr>
      <vt:lpstr>PowerPoint 演示文稿</vt:lpstr>
      <vt:lpstr>Asthme du nourrisson</vt:lpstr>
      <vt:lpstr>Question n°2: </vt:lpstr>
      <vt:lpstr>Question n°2: </vt:lpstr>
      <vt:lpstr>PowerPoint 演示文稿</vt:lpstr>
      <vt:lpstr>PowerPoint 演示文稿</vt:lpstr>
      <vt:lpstr>Age à partir de 6ans</vt:lpstr>
      <vt:lpstr>Question n°3: </vt:lpstr>
      <vt:lpstr>Question n°3: </vt:lpstr>
      <vt:lpstr>Age Scolaire (&gt;6ans) Asthme: Quand y penser?</vt:lpstr>
      <vt:lpstr>PowerPoint 演示文稿</vt:lpstr>
      <vt:lpstr>2-Facteurs déclenchants:  </vt:lpstr>
      <vt:lpstr>Question n°4:  </vt:lpstr>
      <vt:lpstr>Question n°4:  </vt:lpstr>
      <vt:lpstr>Question n°5:  </vt:lpstr>
      <vt:lpstr>Question n°5:  </vt:lpstr>
      <vt:lpstr> Spirométrie: </vt:lpstr>
      <vt:lpstr>PowerPoint 演示文稿</vt:lpstr>
      <vt:lpstr>Exploration fonctionnelle respiratoire    (EFR): </vt:lpstr>
      <vt:lpstr> Question n°6:  </vt:lpstr>
      <vt:lpstr> Question n°6:  </vt:lpstr>
      <vt:lpstr>PowerPoint 演示文稿</vt:lpstr>
      <vt:lpstr>PowerPoint 演示文稿</vt:lpstr>
      <vt:lpstr> Question n°7:  </vt:lpstr>
      <vt:lpstr> Question n°7:  </vt:lpstr>
      <vt:lpstr>Enquête allergologique:</vt:lpstr>
      <vt:lpstr>3- Histoire d’atopie:  </vt:lpstr>
      <vt:lpstr>PowerPoint 演示文稿</vt:lpstr>
      <vt:lpstr>PowerPoint 演示文稿</vt:lpstr>
      <vt:lpstr> Question n°8:  </vt:lpstr>
      <vt:lpstr> Question n°8:  </vt:lpstr>
      <vt:lpstr> Exacerbation d’asthme</vt:lpstr>
      <vt:lpstr>PowerPoint 演示文稿</vt:lpstr>
      <vt:lpstr> Question n°9:  </vt:lpstr>
      <vt:lpstr> Question n°9:  </vt:lpstr>
      <vt:lpstr>PowerPoint 演示文稿</vt:lpstr>
      <vt:lpstr>PowerPoint 演示文稿</vt:lpstr>
      <vt:lpstr> Question n°10:  </vt:lpstr>
      <vt:lpstr> Question n°10:  </vt:lpstr>
      <vt:lpstr>PowerPoint 演示文稿</vt:lpstr>
      <vt:lpstr> Question n°11:  </vt:lpstr>
      <vt:lpstr> Question n°11:  </vt:lpstr>
      <vt:lpstr>Signes cliniques en faveur d’un AAG </vt:lpstr>
      <vt:lpstr> Question n°12:  </vt:lpstr>
      <vt:lpstr> Question n°12:  </vt:lpstr>
      <vt:lpstr>4- Absence de symptômes ou d'antécédents cliniques suggérant d'autres diagnostics</vt:lpstr>
      <vt:lpstr>Les diagnostics différentiels : Enfant &lt; 5 ans </vt:lpstr>
      <vt:lpstr>PowerPoint 演示文稿</vt:lpstr>
      <vt:lpstr>PowerPoint 演示文稿</vt:lpstr>
      <vt:lpstr>PowerPoint 演示文稿</vt:lpstr>
      <vt:lpstr>Principaux Dg Différentiels</vt:lpstr>
      <vt:lpstr> Question n°13:  </vt:lpstr>
      <vt:lpstr> Question n°13:  </vt:lpstr>
      <vt:lpstr>PowerPoint 演示文稿</vt:lpstr>
      <vt:lpstr>PowerPoint 演示文稿</vt:lpstr>
      <vt:lpstr> Question n°14:  </vt:lpstr>
      <vt:lpstr> Question n°14:  </vt:lpstr>
      <vt:lpstr>PowerPoint 演示文稿</vt:lpstr>
      <vt:lpstr> Question n°15:  </vt:lpstr>
      <vt:lpstr> Question n°15:  </vt:lpstr>
      <vt:lpstr> Question n°16:  </vt:lpstr>
      <vt:lpstr> Question n°16:  </vt:lpstr>
      <vt:lpstr>Traitement de fond de l’asthme: Enfant 1 à 5 ans </vt:lpstr>
      <vt:lpstr>Traitement de fond de l’asthme: Enfant 6 a 12 ans </vt:lpstr>
      <vt:lpstr> Question n°17:  </vt:lpstr>
      <vt:lpstr> Question n°17:  </vt:lpstr>
      <vt:lpstr>Les β2 agonistes courte durée d’action (BDCA) :</vt:lpstr>
      <vt:lpstr>Les β2 agonistes courte durée d’action :</vt:lpstr>
      <vt:lpstr>PowerPoint 演示文稿</vt:lpstr>
      <vt:lpstr>Bromure d’ipratropium: </vt:lpstr>
      <vt:lpstr>Corticohérapie:</vt:lpstr>
      <vt:lpstr>PowerPoint 演示文稿</vt:lpstr>
      <vt:lpstr>La corticothérapie:</vt:lpstr>
      <vt:lpstr>La corticothérapie:</vt:lpstr>
      <vt:lpstr>Sulfate de magnésium : 2 eme ligne</vt:lpstr>
      <vt:lpstr>PowerPoint 演示文稿</vt:lpstr>
      <vt:lpstr>PowerPoint 演示文稿</vt:lpstr>
      <vt:lpstr> Question n°18:  </vt:lpstr>
      <vt:lpstr> Question n°18:  </vt:lpstr>
      <vt:lpstr>PowerPoint 演示文稿</vt:lpstr>
      <vt:lpstr>  Cas clinique 1 :  </vt:lpstr>
      <vt:lpstr>PowerPoint 演示文稿</vt:lpstr>
      <vt:lpstr>Cas clinique  :</vt:lpstr>
      <vt:lpstr>Cas clinique 1 :</vt:lpstr>
      <vt:lpstr>Cas clinique 1 :</vt:lpstr>
      <vt:lpstr>Cas clinique  :</vt:lpstr>
      <vt:lpstr>Cas clinique 1 :</vt:lpstr>
      <vt:lpstr>Cas clinique :</vt:lpstr>
      <vt:lpstr>La prise en charge thérapeutique doit être adaptée en fonction d’un cycle continu basé  sur le contrôle de la maladie : Evaluer –traiter –revoir la réponse</vt:lpstr>
      <vt:lpstr>PowerPoint 演示文稿</vt:lpstr>
      <vt:lpstr>Observance et Technique d’inhalation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Asthme chez l’enfant</dc:title>
  <dc:creator>Tech Master</dc:creator>
  <cp:lastModifiedBy>Tech Master</cp:lastModifiedBy>
  <cp:revision>32</cp:revision>
  <dcterms:created xsi:type="dcterms:W3CDTF">2023-07-01T06:20:00Z</dcterms:created>
  <dcterms:modified xsi:type="dcterms:W3CDTF">2025-07-10T12:02:03Z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52236E26B01C488FB03257BC1F926DBE_12</vt:lpwstr>
  </property>
  <property fmtid="{D5CDD505-2E9C-101B-9397-08002B2CF9AE}" pid="3" name="KSOProductBuildVer">
    <vt:lpwstr>1036-12.2.0.21546</vt:lpwstr>
  </property>
</Properties>
</file>
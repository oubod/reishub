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345" r:id="rId2"/>
    <p:sldId id="315" r:id="rId3"/>
    <p:sldId id="324" r:id="rId4"/>
    <p:sldId id="316" r:id="rId5"/>
    <p:sldId id="317" r:id="rId6"/>
    <p:sldId id="318" r:id="rId7"/>
    <p:sldId id="319" r:id="rId8"/>
    <p:sldId id="327" r:id="rId9"/>
    <p:sldId id="320" r:id="rId10"/>
    <p:sldId id="321" r:id="rId11"/>
    <p:sldId id="328" r:id="rId12"/>
    <p:sldId id="329" r:id="rId13"/>
    <p:sldId id="330" r:id="rId14"/>
    <p:sldId id="331" r:id="rId15"/>
    <p:sldId id="332" r:id="rId16"/>
    <p:sldId id="333" r:id="rId17"/>
    <p:sldId id="334" r:id="rId18"/>
    <p:sldId id="335" r:id="rId19"/>
    <p:sldId id="336" r:id="rId20"/>
    <p:sldId id="337" r:id="rId21"/>
    <p:sldId id="338" r:id="rId22"/>
    <p:sldId id="339" r:id="rId23"/>
    <p:sldId id="343" r:id="rId24"/>
    <p:sldId id="344" r:id="rId25"/>
    <p:sldId id="309" r:id="rId26"/>
    <p:sldId id="307" r:id="rId27"/>
    <p:sldId id="310" r:id="rId28"/>
    <p:sldId id="341" r:id="rId29"/>
    <p:sldId id="342" r:id="rId30"/>
    <p:sldId id="346" r:id="rId31"/>
    <p:sldId id="347" r:id="rId32"/>
    <p:sldId id="349" r:id="rId33"/>
  </p:sldIdLst>
  <p:sldSz cx="12192000" cy="6858000"/>
  <p:notesSz cx="6858000" cy="9144000"/>
  <p:custDataLst>
    <p:tags r:id="rId35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9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BA32D0-4205-4AB4-808E-13EB52EDAE16}" type="datetimeFigureOut">
              <a:rPr lang="fr-FR" smtClean="0"/>
              <a:t>19/06/2025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DB91D-3C43-414C-A1FF-FE47C6F652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6343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DB91D-3C43-414C-A1FF-FE47C6F6525C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1513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8F67F8-EDC3-C404-887E-2F473DA62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2B25F89-DDE6-01FE-9B0D-9378E044F5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D2F2C5-FD7D-2409-C68B-DF3475A9F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939F1-0F39-4C58-8635-0D48FB68EB29}" type="datetimeFigureOut">
              <a:rPr lang="fr-FR" smtClean="0"/>
              <a:t>19/06/2025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8B544A-B247-B0BA-A731-B442E87B5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1569F7-CC6A-7B37-0F0A-FAE42D2BF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82CC-62F4-4834-B5D8-A945882E68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846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169492-1D3A-87A6-3494-01C1FED26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8036"/>
            <a:ext cx="10515600" cy="5608927"/>
          </a:xfr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dirty="0"/>
              <a:t>Deuxième niveau</a:t>
            </a:r>
          </a:p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dirty="0"/>
              <a:t>Deuxième niveau</a:t>
            </a:r>
          </a:p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dirty="0"/>
              <a:t>Deuxième niveau</a:t>
            </a:r>
          </a:p>
          <a:p>
            <a:pPr marL="685800" marR="0" lvl="1" indent="-22860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dirty="0"/>
              <a:t>Deuxième niveau</a:t>
            </a:r>
          </a:p>
          <a:p>
            <a:pPr lvl="1"/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035BD3-21BC-B10F-07C3-4DEAED6C3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939F1-0F39-4C58-8635-0D48FB68EB29}" type="datetimeFigureOut">
              <a:rPr lang="fr-FR" smtClean="0"/>
              <a:t>19/06/2025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F737F1-6472-7F81-D0E5-348C00767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ACAADE5-2602-C7E0-E52A-B6D8788F3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82CC-62F4-4834-B5D8-A945882E68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439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EB8D31-963C-B2B8-4E47-8468CBD68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7EFFA1-FA2B-9B39-58C5-72E7FDDD0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F58F4D-78F2-CA31-ED71-8010F06B9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939F1-0F39-4C58-8635-0D48FB68EB29}" type="datetimeFigureOut">
              <a:rPr lang="fr-FR" smtClean="0"/>
              <a:t>19/06/2025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150D5B-1973-565A-3DEB-AEF41066F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CABDBD-2A51-8248-CFB5-18279480F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82CC-62F4-4834-B5D8-A945882E68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1358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08804E-C74A-C996-87D6-AF54607BA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488789-4B14-B7C7-06BC-B4BAD67EA4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1E6BEF6-5902-E72C-F922-901C9571F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72BC22E-CAD5-9ADC-AB98-FFA29C3BA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939F1-0F39-4C58-8635-0D48FB68EB29}" type="datetimeFigureOut">
              <a:rPr lang="fr-FR" smtClean="0"/>
              <a:t>19/06/2025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F0EB11-10C7-200F-E7E4-F50AFDFCB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22CB184-D430-FE41-BED5-5D811186E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82CC-62F4-4834-B5D8-A945882E68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5652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D63E48-3E69-85EA-E6AD-9A061CB60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38E1C87-EABE-3B62-64B1-2819F8AE0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123E253-87D1-AB9E-9956-0B2FECBB9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FA121BF-7846-0DD7-713D-614A38282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58F5222-F65E-9292-7243-9158771A97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976B5D1-4955-920D-E972-546936BB2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939F1-0F39-4C58-8635-0D48FB68EB29}" type="datetimeFigureOut">
              <a:rPr lang="fr-FR" smtClean="0"/>
              <a:t>19/06/2025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3F23A97-7936-0AD6-1FCF-3A5C8CA19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C4CB048-B940-3539-DD71-9040172F3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82CC-62F4-4834-B5D8-A945882E68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5577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1F1E43-784B-B188-DE61-11B3CF759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8236E12-0B5C-CF94-B401-91A203195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939F1-0F39-4C58-8635-0D48FB68EB29}" type="datetimeFigureOut">
              <a:rPr lang="fr-FR" smtClean="0"/>
              <a:t>19/06/2025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8DA098C-546C-1F33-5E62-8EF737E9C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A49209C-94DC-285E-AD8E-E84D0B1D5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82CC-62F4-4834-B5D8-A945882E68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4256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B81B804-BB52-D779-8E8B-74D56C757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939F1-0F39-4C58-8635-0D48FB68EB29}" type="datetimeFigureOut">
              <a:rPr lang="fr-FR" smtClean="0"/>
              <a:t>19/06/2025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A87E4A-1014-6526-F9C9-CD7FD2CAF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11ACEB6-155F-C401-3192-6EE548D8D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82CC-62F4-4834-B5D8-A945882E68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2404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ACBFFD-6B19-FD45-6A9A-7737CEEF6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12D595-D295-8E59-0F99-A080463B2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41D5E2A-9843-7B96-480D-F152ABAB3D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00083E9-E732-0FD3-EDBF-3525CE1BC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939F1-0F39-4C58-8635-0D48FB68EB29}" type="datetimeFigureOut">
              <a:rPr lang="fr-FR" smtClean="0"/>
              <a:t>19/06/2025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CCA3AE-2FFD-D4BC-D3C5-11B1DE90C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5012534-BE6E-4225-BB1D-B4977A0C7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82CC-62F4-4834-B5D8-A945882E68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4481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B7C911-F620-0BA3-A346-41C25F85F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15B60ED-4EE6-99D7-6E04-41254AA681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315E40E-96E1-74A0-B4A6-7D99A29BA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FEBA05E-B067-575D-37AA-0CCBDE3B7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939F1-0F39-4C58-8635-0D48FB68EB29}" type="datetimeFigureOut">
              <a:rPr lang="fr-FR" smtClean="0"/>
              <a:t>19/06/2025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14B2F39-0284-86BD-C666-4C32C7D95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1FDD4D8-FEE6-74B3-5D20-B6FFAF1F8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82CC-62F4-4834-B5D8-A945882E68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7386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1BF400-7847-51DE-3357-C2F1C12FC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27B14C3-484D-0778-833A-9446455FF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61B6C8-656C-A23E-66F5-2831F24B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939F1-0F39-4C58-8635-0D48FB68EB29}" type="datetimeFigureOut">
              <a:rPr lang="fr-FR" smtClean="0"/>
              <a:t>19/06/2025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C7A142-8344-BB67-CFD7-416EACACE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CF2DA8-3FDA-200A-210A-483238860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82CC-62F4-4834-B5D8-A945882E68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9441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34C0FE8-7B97-C6FA-4179-F085AE758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0BC0B3B-44EC-63E6-EF40-2C1069B8F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014C00-7FEF-F21C-448F-5419D6AF6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939F1-0F39-4C58-8635-0D48FB68EB29}" type="datetimeFigureOut">
              <a:rPr lang="fr-FR" smtClean="0"/>
              <a:t>19/06/2025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A9BA46-7F5D-A5EB-53E9-8708A8EC8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1CF277-FA97-B81C-E89C-149014D12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82CC-62F4-4834-B5D8-A945882E68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1205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0BA465-45F7-86DC-1D4F-6B171094F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38F25DB-F47C-90D7-CA30-0FE3676513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A3163C-A47D-8AA2-2E2D-AC587D95C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939F1-0F39-4C58-8635-0D48FB68EB29}" type="datetimeFigureOut">
              <a:rPr lang="fr-FR" smtClean="0"/>
              <a:t>19/06/2025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AEE394-D665-6159-4120-8F871343C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273C13-0898-CB06-3920-4CEFEB516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F82CC-62F4-4834-B5D8-A945882E68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07571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478783-F175-FD42-6CD5-990FAB5DB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53800E-3F75-CDBA-D91F-7ABD8AEFF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07F2AA-8F4E-94C4-4017-F37DDE4AD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69AB8-44F8-470F-8706-0C972F6B0041}" type="datetimeFigureOut">
              <a:rPr lang="fr-FR" smtClean="0"/>
              <a:t>19/06/2025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4D4C41-EC2B-23A7-0361-453C27D96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879C57-0E0A-2000-1195-49987A8FD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3D2B3-D795-4C39-9E9D-547BA3F173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8537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A3AE68F-982F-F9CA-208A-B2D72F8CF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97FB1A6-94B4-E155-5D6A-6023B332C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9C9B828-2657-5A8F-C4BF-053654CD53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939F1-0F39-4C58-8635-0D48FB68EB29}" type="datetimeFigureOut">
              <a:rPr lang="fr-FR" smtClean="0"/>
              <a:t>19/06/2025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58E5F5-923F-457E-1CA8-ABF6B1FF7F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389FA7C-87B8-DE3F-25F1-A67287EB8A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F82CC-62F4-4834-B5D8-A945882E68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6419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accent4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fr-FR" sz="6600" b="1" dirty="0">
                <a:ln/>
                <a:solidFill>
                  <a:schemeClr val="accent4"/>
                </a:solidFill>
              </a:rPr>
              <a:t>Question 13: LE CANCER DU COL DE L’UTERUS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fr-FR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Evaluation 2025</a:t>
            </a:r>
          </a:p>
          <a:p>
            <a:r>
              <a:rPr lang="fr-FR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Dr Khaled Trigui</a:t>
            </a:r>
          </a:p>
        </p:txBody>
      </p:sp>
    </p:spTree>
    <p:extLst>
      <p:ext uri="{BB962C8B-B14F-4D97-AF65-F5344CB8AC3E}">
        <p14:creationId xmlns:p14="http://schemas.microsoft.com/office/powerpoint/2010/main" val="738176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fr-FR" dirty="0"/>
              <a:t>Le cancer invasif du col: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Est une maladie sexuellement transmissible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Commence au niveau l’</a:t>
            </a:r>
            <a:r>
              <a:rPr lang="fr-FR" dirty="0" err="1"/>
              <a:t>exocol</a:t>
            </a:r>
            <a:r>
              <a:rPr lang="fr-FR" dirty="0"/>
              <a:t> quand le cancer est de type épidermoïde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Passe obligatoirement par une dysplasie cervicale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Peut être causé par une infection génitale basse par HPV 16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Est d’évolution lente</a:t>
            </a:r>
          </a:p>
        </p:txBody>
      </p:sp>
    </p:spTree>
    <p:extLst>
      <p:ext uri="{BB962C8B-B14F-4D97-AF65-F5344CB8AC3E}">
        <p14:creationId xmlns:p14="http://schemas.microsoft.com/office/powerpoint/2010/main" val="3091198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fr-FR" dirty="0"/>
              <a:t>La transmission du </a:t>
            </a:r>
            <a:r>
              <a:rPr lang="fr-FR" dirty="0" err="1"/>
              <a:t>Papilloma</a:t>
            </a:r>
            <a:r>
              <a:rPr lang="fr-FR" dirty="0"/>
              <a:t> Virus Humain (HPV) est favorisée par: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dirty="0"/>
              <a:t>Les rapports sexuels non protégés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dirty="0"/>
              <a:t>Le tabac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dirty="0"/>
              <a:t>la corticothérapie de longue durée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dirty="0"/>
              <a:t>Les partenaires sexuels multiples</a:t>
            </a:r>
          </a:p>
          <a:p>
            <a:pPr marL="914400" lvl="1" indent="-457200">
              <a:buFont typeface="+mj-lt"/>
              <a:buAutoNum type="alphaUcPeriod"/>
            </a:pPr>
            <a:r>
              <a:rPr lang="fr-FR" dirty="0"/>
              <a:t>La co-infection par VIH</a:t>
            </a:r>
          </a:p>
        </p:txBody>
      </p:sp>
    </p:spTree>
    <p:extLst>
      <p:ext uri="{BB962C8B-B14F-4D97-AF65-F5344CB8AC3E}">
        <p14:creationId xmlns:p14="http://schemas.microsoft.com/office/powerpoint/2010/main" val="3138611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3"/>
            </a:pPr>
            <a:r>
              <a:rPr lang="fr-FR" dirty="0"/>
              <a:t>L’infection à HPV 16 peut être responsable de: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Verrues vulvo-vaginales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Cervicite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Cancer invasif du col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Condylomes anaux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Endométrite</a:t>
            </a:r>
          </a:p>
          <a:p>
            <a:pPr marL="457200" lvl="1" indent="0">
              <a:buNone/>
            </a:pPr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3332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4"/>
            </a:pPr>
            <a:r>
              <a:rPr lang="fr-FR" dirty="0"/>
              <a:t>Les sérotypes HPV à haut risque oncogène sont: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HPV 11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HPV 48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HPV 45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HPV 16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HPV 18</a:t>
            </a:r>
          </a:p>
        </p:txBody>
      </p:sp>
    </p:spTree>
    <p:extLst>
      <p:ext uri="{BB962C8B-B14F-4D97-AF65-F5344CB8AC3E}">
        <p14:creationId xmlns:p14="http://schemas.microsoft.com/office/powerpoint/2010/main" val="484586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568036"/>
            <a:ext cx="10515600" cy="5967675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5"/>
            </a:pPr>
            <a:r>
              <a:rPr lang="fr-FR" dirty="0"/>
              <a:t>Concernant le processus de l’</a:t>
            </a:r>
            <a:r>
              <a:rPr lang="fr-FR" dirty="0" err="1"/>
              <a:t>oncogénèse</a:t>
            </a:r>
            <a:r>
              <a:rPr lang="fr-FR" dirty="0"/>
              <a:t> du cancer du col: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Sa durée ne dépasse pas 5 ans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Il inclut une intégration du matériel génétique viral au niveau des cellules cervicales infectées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Les cofacteurs jouent un rôle secondaire 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Les anomalies cellulaires débutent au niveau de la couche basale de la jonction </a:t>
            </a:r>
            <a:r>
              <a:rPr lang="fr-FR" dirty="0" err="1"/>
              <a:t>pavimento</a:t>
            </a:r>
            <a:r>
              <a:rPr lang="fr-FR" dirty="0"/>
              <a:t>-cylindrique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Le HPV joue un rôle dans l’initiation du processus</a:t>
            </a:r>
          </a:p>
        </p:txBody>
      </p:sp>
    </p:spTree>
    <p:extLst>
      <p:ext uri="{BB962C8B-B14F-4D97-AF65-F5344CB8AC3E}">
        <p14:creationId xmlns:p14="http://schemas.microsoft.com/office/powerpoint/2010/main" val="1614283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6"/>
            </a:pPr>
            <a:r>
              <a:rPr lang="fr-FR" dirty="0"/>
              <a:t>Les lésions cervicales à HPV visibles macroscopiquement: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Dysplasie sévère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Carcinome in situ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Dysplasie légère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Carcinome invasif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Condylomes acuminés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3454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60000"/>
              </a:lnSpc>
              <a:buFont typeface="+mj-lt"/>
              <a:buAutoNum type="arabicPeriod" startAt="7"/>
            </a:pPr>
            <a:r>
              <a:rPr lang="fr-FR" dirty="0"/>
              <a:t>La colposcopie permet de visualiser: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CIN1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CIN3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Carcinome in situ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Infection à HPV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Carcinome invasif</a:t>
            </a:r>
          </a:p>
        </p:txBody>
      </p:sp>
    </p:spTree>
    <p:extLst>
      <p:ext uri="{BB962C8B-B14F-4D97-AF65-F5344CB8AC3E}">
        <p14:creationId xmlns:p14="http://schemas.microsoft.com/office/powerpoint/2010/main" val="2296033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60000"/>
              </a:lnSpc>
              <a:buFont typeface="+mj-lt"/>
              <a:buAutoNum type="arabicPeriod" startAt="8"/>
            </a:pPr>
            <a:r>
              <a:rPr lang="fr-FR" dirty="0"/>
              <a:t>Les Lésions malpighiennes intraépithéliales de haut grade sont: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Dysplasie modérée 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Dysplasie sévère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Carcinome invasif 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Carcinome épidermoïde in situ</a:t>
            </a: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Dysplasie légère</a:t>
            </a:r>
          </a:p>
        </p:txBody>
      </p:sp>
    </p:spTree>
    <p:extLst>
      <p:ext uri="{BB962C8B-B14F-4D97-AF65-F5344CB8AC3E}">
        <p14:creationId xmlns:p14="http://schemas.microsoft.com/office/powerpoint/2010/main" val="780059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lnSpc>
                <a:spcPct val="170000"/>
              </a:lnSpc>
              <a:buFont typeface="+mj-lt"/>
              <a:buAutoNum type="arabicPeriod" startAt="9"/>
            </a:pPr>
            <a:r>
              <a:rPr lang="fr-FR" dirty="0"/>
              <a:t>Un carcinome classé micro-invasif peut présenter les caractéristiques suivantes: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Infiltration de la membrane basale de 2 mm de profondeur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Présence d’emboles lymphatiques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Présence d’adénopathies iliaques externes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Présence de lésion de carcinome in situ associée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Présence de métastase à distance</a:t>
            </a:r>
          </a:p>
        </p:txBody>
      </p:sp>
    </p:spTree>
    <p:extLst>
      <p:ext uri="{BB962C8B-B14F-4D97-AF65-F5344CB8AC3E}">
        <p14:creationId xmlns:p14="http://schemas.microsoft.com/office/powerpoint/2010/main" val="1880871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10"/>
            </a:pPr>
            <a:r>
              <a:rPr lang="fr-FR" dirty="0"/>
              <a:t>Parmi ces propositions, les facteurs de risque d’un cancer du col sont: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L’activité sexuelle non protégée 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La cervicite à chlamydiae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La candidose vaginale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La ménopause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L’utilisation prolongée de la pilule microprogestative</a:t>
            </a:r>
          </a:p>
        </p:txBody>
      </p:sp>
    </p:spTree>
    <p:extLst>
      <p:ext uri="{BB962C8B-B14F-4D97-AF65-F5344CB8AC3E}">
        <p14:creationId xmlns:p14="http://schemas.microsoft.com/office/powerpoint/2010/main" val="242053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11"/>
            </a:pPr>
            <a:r>
              <a:rPr lang="fr-FR" dirty="0"/>
              <a:t>Le saignement d’un cancer du col est habituellement: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Abondant 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Provoqué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Douloureux 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Continu 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Malodorant </a:t>
            </a:r>
          </a:p>
        </p:txBody>
      </p:sp>
    </p:spTree>
    <p:extLst>
      <p:ext uri="{BB962C8B-B14F-4D97-AF65-F5344CB8AC3E}">
        <p14:creationId xmlns:p14="http://schemas.microsoft.com/office/powerpoint/2010/main" val="4041622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12"/>
            </a:pPr>
            <a:r>
              <a:rPr lang="fr-FR" dirty="0"/>
              <a:t>Le diagnostic positif d’une lésion intraépithéliale de haut grade du col peut être fait par: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 FCU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Une pièce de conisation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Une pièce d’hystérectomie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Une biopsie dirigée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 typage HPV oncogène positif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0732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13"/>
            </a:pPr>
            <a:r>
              <a:rPr lang="fr-FR" dirty="0"/>
              <a:t>Lors de l’examen d’un cancer du col, le toucher vaginal permet d’apprécier 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L’atteinte paramétriale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L’atteinte des culs de sac vaginaux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L’envahissement de la muqueuse rectale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L’extension utérine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L’extension vésicale</a:t>
            </a:r>
          </a:p>
        </p:txBody>
      </p:sp>
    </p:spTree>
    <p:extLst>
      <p:ext uri="{BB962C8B-B14F-4D97-AF65-F5344CB8AC3E}">
        <p14:creationId xmlns:p14="http://schemas.microsoft.com/office/powerpoint/2010/main" val="1548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14"/>
            </a:pPr>
            <a:r>
              <a:rPr lang="fr-FR" dirty="0"/>
              <a:t>Le bilan pré-thérapeutique d’un carcinome épidermoïde in situ du col comprend: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 examen gynécologique sous AG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Une hystéroscopie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 TDM pelvien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Une consultation pré-anesthésie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Une lymphographie pelvienne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6161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15"/>
            </a:pPr>
            <a:r>
              <a:rPr lang="fr-FR" dirty="0"/>
              <a:t>Le bilan d’extension radiologique d’un cancer du col stade IB3 consiste en  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Une radio thorax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Une échographie hépatique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Une scintigraphie osseuse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Une IRM pelvienne et lombo-aortique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Une échographie pelvienne</a:t>
            </a:r>
          </a:p>
        </p:txBody>
      </p:sp>
    </p:spTree>
    <p:extLst>
      <p:ext uri="{BB962C8B-B14F-4D97-AF65-F5344CB8AC3E}">
        <p14:creationId xmlns:p14="http://schemas.microsoft.com/office/powerpoint/2010/main" val="3753878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16"/>
            </a:pPr>
            <a:r>
              <a:rPr lang="fr-FR" dirty="0"/>
              <a:t>Le « </a:t>
            </a:r>
            <a:r>
              <a:rPr lang="fr-FR" dirty="0" err="1"/>
              <a:t>Squamous</a:t>
            </a:r>
            <a:r>
              <a:rPr lang="fr-FR" dirty="0"/>
              <a:t> </a:t>
            </a:r>
            <a:r>
              <a:rPr lang="fr-FR" dirty="0" err="1"/>
              <a:t>Cell</a:t>
            </a:r>
            <a:r>
              <a:rPr lang="fr-FR" dirty="0"/>
              <a:t> </a:t>
            </a:r>
            <a:r>
              <a:rPr lang="fr-FR" dirty="0" err="1"/>
              <a:t>Carcinoma</a:t>
            </a:r>
            <a:r>
              <a:rPr lang="fr-FR" dirty="0"/>
              <a:t> </a:t>
            </a:r>
            <a:r>
              <a:rPr lang="fr-FR" dirty="0" err="1"/>
              <a:t>antigen</a:t>
            </a:r>
            <a:r>
              <a:rPr lang="fr-FR" dirty="0"/>
              <a:t> » dans le cancer du col: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Est un marqueur tumoral des adénocarcinomes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Lorsqu’il élevé il indique une radiothérapie première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Est un moyen de surveillance de l’efficacité thérapeutique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Est positif dans les cancers épidermoïdes in situ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Est un facteur de mauvais pronostic quand il est positif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80888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17"/>
            </a:pPr>
            <a:r>
              <a:rPr lang="fr-FR" dirty="0"/>
              <a:t>Le cancer du col micro invasif stade IA :</a:t>
            </a:r>
          </a:p>
          <a:p>
            <a:pPr marL="971550" lvl="1" indent="-51435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Est généralement asymptomatique</a:t>
            </a:r>
          </a:p>
          <a:p>
            <a:pPr marL="971550" lvl="1" indent="-51435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Peut être associé à un test HPV négatif</a:t>
            </a:r>
          </a:p>
          <a:p>
            <a:pPr marL="971550" lvl="1" indent="-51435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donne des métastases ganglionnaires</a:t>
            </a:r>
          </a:p>
          <a:p>
            <a:pPr marL="971550" lvl="1" indent="-51435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Survient chez la femme très jeune</a:t>
            </a:r>
          </a:p>
          <a:p>
            <a:pPr marL="971550" lvl="1" indent="-51435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Peut être traité par une radiothérapie seule</a:t>
            </a:r>
          </a:p>
        </p:txBody>
      </p:sp>
    </p:spTree>
    <p:extLst>
      <p:ext uri="{BB962C8B-B14F-4D97-AF65-F5344CB8AC3E}">
        <p14:creationId xmlns:p14="http://schemas.microsoft.com/office/powerpoint/2010/main" val="2682019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lnSpc>
                <a:spcPct val="170000"/>
              </a:lnSpc>
              <a:buFont typeface="+mj-lt"/>
              <a:buAutoNum type="arabicPeriod" startAt="18"/>
            </a:pPr>
            <a:r>
              <a:rPr lang="fr-FR" dirty="0"/>
              <a:t>Une tumeur de 2 cm limitée au col, avec des adénopathies pelviennes associées, est classée: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IB1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IIIC1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IB2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IB 3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IIA1</a:t>
            </a:r>
          </a:p>
          <a:p>
            <a:pPr marL="45720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5641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19"/>
            </a:pPr>
            <a:r>
              <a:rPr lang="fr-FR" dirty="0"/>
              <a:t>Devant une CIN1 à la biopsie partiellement visible, la conduite à tenir est: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Une conisation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Une cryothérapie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 FCU après 12 mois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 traitement antiseptique local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Une hystérectomie</a:t>
            </a:r>
          </a:p>
        </p:txBody>
      </p:sp>
    </p:spTree>
    <p:extLst>
      <p:ext uri="{BB962C8B-B14F-4D97-AF65-F5344CB8AC3E}">
        <p14:creationId xmlns:p14="http://schemas.microsoft.com/office/powerpoint/2010/main" val="3893308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20"/>
            </a:pPr>
            <a:r>
              <a:rPr lang="fr-FR" dirty="0"/>
              <a:t>La trachélectomie élargie peut être indiquée en cas de stade: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IB1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IB2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IA1 avec emboles lymphatiques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IA2 sans lymphatiques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IA2 avec emboles lymphatiques</a:t>
            </a:r>
          </a:p>
        </p:txBody>
      </p:sp>
    </p:spTree>
    <p:extLst>
      <p:ext uri="{BB962C8B-B14F-4D97-AF65-F5344CB8AC3E}">
        <p14:creationId xmlns:p14="http://schemas.microsoft.com/office/powerpoint/2010/main" val="4134059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21"/>
            </a:pPr>
            <a:r>
              <a:rPr lang="fr-FR" dirty="0"/>
              <a:t>Le traitement du stade IB1 est: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Colpohystérectomie élargie et une lymphadénectomie pelvienne (CHEL)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Curiethérapie suivie CHEL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Radiothérapie et curiethérapie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Hystérectomie simple avec annexectomie bilatérale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 err="1"/>
              <a:t>Trachélectomie</a:t>
            </a:r>
            <a:r>
              <a:rPr lang="fr-FR" dirty="0"/>
              <a:t> élargie</a:t>
            </a:r>
          </a:p>
        </p:txBody>
      </p:sp>
    </p:spTree>
    <p:extLst>
      <p:ext uri="{BB962C8B-B14F-4D97-AF65-F5344CB8AC3E}">
        <p14:creationId xmlns:p14="http://schemas.microsoft.com/office/powerpoint/2010/main" val="970422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22"/>
            </a:pPr>
            <a:r>
              <a:rPr lang="fr-FR" dirty="0"/>
              <a:t>La conisation du col utérin: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Consiste en une amputation du col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Est l’ablation de la jonction </a:t>
            </a:r>
            <a:r>
              <a:rPr lang="fr-FR" dirty="0" err="1"/>
              <a:t>pavimento</a:t>
            </a:r>
            <a:r>
              <a:rPr lang="fr-FR" dirty="0"/>
              <a:t>-cylindrique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Est un moyen de diagnostic dans les stades avancés du cancer du col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Peut être indiquée dans le traitement de certains carcinomes invasifs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Est un moyen thérapeutique pour les cancers micro invasifs</a:t>
            </a:r>
          </a:p>
        </p:txBody>
      </p:sp>
    </p:spTree>
    <p:extLst>
      <p:ext uri="{BB962C8B-B14F-4D97-AF65-F5344CB8AC3E}">
        <p14:creationId xmlns:p14="http://schemas.microsoft.com/office/powerpoint/2010/main" val="18148476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23"/>
            </a:pPr>
            <a:r>
              <a:rPr lang="fr-FR" dirty="0"/>
              <a:t>La radio-chimiothérapie de première intention peut être  indiquée dans le traitement des cancers du col suivants: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Cancer invasif de 4 cm limité au col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Cancer avec envahissement jusqu'au tiers supérieur du vagin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Cancer invasif avec atteinte ganglionnaire pelvienne 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Cancer avec métastase à distance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Cancer invasif de 1,5 cm limité au col sans adénopathies </a:t>
            </a:r>
          </a:p>
        </p:txBody>
      </p:sp>
    </p:spTree>
    <p:extLst>
      <p:ext uri="{BB962C8B-B14F-4D97-AF65-F5344CB8AC3E}">
        <p14:creationId xmlns:p14="http://schemas.microsoft.com/office/powerpoint/2010/main" val="36724980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9BEED4-E499-DD4C-9247-8E728C22C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3683"/>
            <a:ext cx="10515600" cy="5483280"/>
          </a:xfrm>
        </p:spPr>
        <p:txBody>
          <a:bodyPr>
            <a:normAutofit/>
          </a:bodyPr>
          <a:lstStyle/>
          <a:p>
            <a:pPr marL="514350" lvl="0" indent="-514350" algn="just">
              <a:lnSpc>
                <a:spcPct val="150000"/>
              </a:lnSpc>
              <a:buFont typeface="+mj-lt"/>
              <a:buAutoNum type="arabicPeriod" startAt="24"/>
            </a:pPr>
            <a:r>
              <a:rPr lang="fr-FR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La curiethérapie utéro-vaginale pour un cancer invasif du col :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 néoadjuvant, a pour but la réduction du volume tumoral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Stérilise les ganglions pelviens atteints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Est indiquée en première intention dans le stade IB1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Est indiquée dans le stade IIIC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Diminue le risque de récidive local</a:t>
            </a:r>
          </a:p>
          <a:p>
            <a:pPr marL="0" indent="0">
              <a:buNone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839057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99D7E4-E36A-B42A-0675-2DF832501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510"/>
            <a:ext cx="10515600" cy="5404453"/>
          </a:xfrm>
        </p:spPr>
        <p:txBody>
          <a:bodyPr>
            <a:normAutofit/>
          </a:bodyPr>
          <a:lstStyle/>
          <a:p>
            <a:pPr marL="514350" lvl="0" indent="-514350" algn="just">
              <a:lnSpc>
                <a:spcPct val="150000"/>
              </a:lnSpc>
              <a:buFont typeface="+mj-lt"/>
              <a:buAutoNum type="arabicPeriod" startAt="25"/>
            </a:pPr>
            <a:r>
              <a:rPr lang="fr-FR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La vaccination contre le HPV :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Concerne les jeunes filles de 12 ans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Elimine une infection en cours à HPV 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Comporte 3 doses pour les adolescents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Diminue le risque de lésions malpighiennes de haut grade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Offre une immunité définitive</a:t>
            </a:r>
          </a:p>
        </p:txBody>
      </p:sp>
    </p:spTree>
    <p:extLst>
      <p:ext uri="{BB962C8B-B14F-4D97-AF65-F5344CB8AC3E}">
        <p14:creationId xmlns:p14="http://schemas.microsoft.com/office/powerpoint/2010/main" val="1530974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C37D30-2C0A-59CB-197A-E983F8618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4041"/>
            <a:ext cx="10515600" cy="5372922"/>
          </a:xfrm>
        </p:spPr>
        <p:txBody>
          <a:bodyPr>
            <a:normAutofit/>
          </a:bodyPr>
          <a:lstStyle/>
          <a:p>
            <a:pPr marL="514350" lvl="0" indent="-514350" algn="just">
              <a:lnSpc>
                <a:spcPct val="150000"/>
              </a:lnSpc>
              <a:buFont typeface="+mj-lt"/>
              <a:buAutoNum type="arabicPeriod" startAt="26"/>
            </a:pPr>
            <a:r>
              <a:rPr lang="fr-FR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La colposcopie :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Est un examen du col au microscope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Permet de visualiser le jonction </a:t>
            </a:r>
            <a:r>
              <a:rPr lang="fr-FR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pavimento</a:t>
            </a: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-cylindrique pour optimiser la réalisation d’un FCU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Evalue l’architecture du col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Recherche une infection à HPV</a:t>
            </a: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fr-FR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Est indiquée en cas de test HPV positif avec FCU normal</a:t>
            </a:r>
          </a:p>
        </p:txBody>
      </p:sp>
    </p:spTree>
    <p:extLst>
      <p:ext uri="{BB962C8B-B14F-4D97-AF65-F5344CB8AC3E}">
        <p14:creationId xmlns:p14="http://schemas.microsoft.com/office/powerpoint/2010/main" val="21189523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lnSpc>
                <a:spcPct val="170000"/>
              </a:lnSpc>
              <a:buFont typeface="+mj-lt"/>
              <a:buAutoNum type="arabicPeriod" startAt="27"/>
            </a:pPr>
            <a:r>
              <a:rPr lang="fr-FR" dirty="0"/>
              <a:t>Devant un FCU montrant des anomalies malpighiennes de signification indéterminée chez une femme de 32 ans, vous devez faire: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Une conisation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 FCU de contrôle dans 06 mois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Une colposcopie et biopsie d’emblée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 traitement antiseptique local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Un test HPV</a:t>
            </a:r>
          </a:p>
        </p:txBody>
      </p:sp>
    </p:spTree>
    <p:extLst>
      <p:ext uri="{BB962C8B-B14F-4D97-AF65-F5344CB8AC3E}">
        <p14:creationId xmlns:p14="http://schemas.microsoft.com/office/powerpoint/2010/main" val="25127605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28"/>
            </a:pPr>
            <a:r>
              <a:rPr lang="fr-FR" dirty="0"/>
              <a:t>Le dépistage organisé du cancer du col: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Peut se faire pour les femmes qui n’ont jamais eu d’activité sexuelle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Est à vie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Commence par deux FCU consécutifs à 1an d’intervalle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Doit intéresser la jonction </a:t>
            </a:r>
            <a:r>
              <a:rPr lang="fr-FR" dirty="0" err="1"/>
              <a:t>glandulo</a:t>
            </a:r>
            <a:r>
              <a:rPr lang="fr-FR" dirty="0"/>
              <a:t>-malpighienne</a:t>
            </a:r>
          </a:p>
          <a:p>
            <a:pPr marL="914400" lvl="1" indent="-457200">
              <a:lnSpc>
                <a:spcPct val="170000"/>
              </a:lnSpc>
              <a:buFont typeface="+mj-lt"/>
              <a:buAutoNum type="alphaUcPeriod"/>
            </a:pPr>
            <a:r>
              <a:rPr lang="fr-FR" dirty="0"/>
              <a:t>Peut montrer une infection génitale basse</a:t>
            </a:r>
          </a:p>
        </p:txBody>
      </p:sp>
    </p:spTree>
    <p:extLst>
      <p:ext uri="{BB962C8B-B14F-4D97-AF65-F5344CB8AC3E}">
        <p14:creationId xmlns:p14="http://schemas.microsoft.com/office/powerpoint/2010/main" val="4137161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37C5B6B-8159-4B27-A788-A095C0338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9"/>
            </a:pPr>
            <a:r>
              <a:rPr lang="fr-FR" dirty="0"/>
              <a:t>Le dépistage du cancer du col utérin recommandé pour une femme de 22 ans, nouvelle mariée: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 test HPV à l'âge de 22 ans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 FCU à 22 ans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 FCU à 24 ans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 test HPV à 30 ans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dirty="0"/>
              <a:t>Un FCU à 30 ANS</a:t>
            </a:r>
          </a:p>
          <a:p>
            <a:pPr marL="0" indent="0">
              <a:buNone/>
            </a:pP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08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AD6D6C0-C38E-6F72-91E2-31DF2D871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60000"/>
              </a:lnSpc>
              <a:buFont typeface="+mj-lt"/>
              <a:buAutoNum type="arabicPeriod" startAt="30"/>
            </a:pPr>
            <a:r>
              <a:rPr lang="fr-FR" dirty="0"/>
              <a:t>Le test HPV:</a:t>
            </a:r>
          </a:p>
          <a:p>
            <a:pPr marL="971550" lvl="1" indent="-51435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Recherche les anomalies cellulaires cervicales en rapport avec  une  infection HPV</a:t>
            </a:r>
          </a:p>
          <a:p>
            <a:pPr marL="971550" lvl="1" indent="-51435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Cible l’ADN viral du HPV dans le sang</a:t>
            </a:r>
          </a:p>
          <a:p>
            <a:pPr marL="971550" lvl="1" indent="-51435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Indique une colposcopie quand il est positif</a:t>
            </a:r>
          </a:p>
          <a:p>
            <a:pPr marL="971550" lvl="1" indent="-51435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Est recommandé pour les femmes à partir de 30 ans</a:t>
            </a:r>
          </a:p>
          <a:p>
            <a:pPr marL="971550" lvl="1" indent="-514350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Est un frottis cervical et vaginal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090569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E3B2AA28-560F-373B-5928-61F26A8A8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lnSpc>
                <a:spcPct val="160000"/>
              </a:lnSpc>
              <a:buFont typeface="+mj-lt"/>
              <a:buAutoNum type="arabicPeriod" startAt="31"/>
            </a:pPr>
            <a:r>
              <a:rPr lang="fr-FR" dirty="0"/>
              <a:t>Madame S, 54 ans, présente des atypies des cellules glandulaires au frottis de dépistage , votre conduite est:</a:t>
            </a:r>
          </a:p>
          <a:p>
            <a:pPr marL="971550" lvl="1" indent="-514350" algn="just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Colposcopie</a:t>
            </a:r>
          </a:p>
          <a:p>
            <a:pPr marL="971550" lvl="1" indent="-514350" algn="just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Conisation </a:t>
            </a:r>
          </a:p>
          <a:p>
            <a:pPr marL="971550" lvl="1" indent="-514350" algn="just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Test HPV</a:t>
            </a:r>
          </a:p>
          <a:p>
            <a:pPr marL="971550" lvl="1" indent="-514350" algn="just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Curetage de l’endocol</a:t>
            </a:r>
          </a:p>
          <a:p>
            <a:pPr marL="971550" lvl="1" indent="-514350" algn="just">
              <a:lnSpc>
                <a:spcPct val="160000"/>
              </a:lnSpc>
              <a:buFont typeface="+mj-lt"/>
              <a:buAutoNum type="alphaUcPeriod"/>
            </a:pPr>
            <a:r>
              <a:rPr lang="fr-FR" dirty="0"/>
              <a:t>Curetage biopsie de l’endomètre</a:t>
            </a:r>
          </a:p>
        </p:txBody>
      </p:sp>
    </p:spTree>
    <p:extLst>
      <p:ext uri="{BB962C8B-B14F-4D97-AF65-F5344CB8AC3E}">
        <p14:creationId xmlns:p14="http://schemas.microsoft.com/office/powerpoint/2010/main" val="29393572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ab46ac1f-54d6-4854-9238-4d2e8cc7e448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816</TotalTime>
  <Words>1091</Words>
  <Application>Microsoft Office PowerPoint</Application>
  <PresentationFormat>Grand écran</PresentationFormat>
  <Paragraphs>195</Paragraphs>
  <Slides>32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7" baseType="lpstr">
      <vt:lpstr>Aptos</vt:lpstr>
      <vt:lpstr>Arial</vt:lpstr>
      <vt:lpstr>Calibri</vt:lpstr>
      <vt:lpstr>Calibri Light</vt:lpstr>
      <vt:lpstr>Thème Office</vt:lpstr>
      <vt:lpstr>Question 13: LE CANCER DU COL DE L’UTERUS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 13: LE CANCER DU COL DE L’UTERUS</dc:title>
  <dc:creator>Trigui khaled</dc:creator>
  <cp:lastModifiedBy>Khaled Trigui</cp:lastModifiedBy>
  <cp:revision>99</cp:revision>
  <dcterms:created xsi:type="dcterms:W3CDTF">2022-06-15T15:57:05Z</dcterms:created>
  <dcterms:modified xsi:type="dcterms:W3CDTF">2025-06-19T10:39:16Z</dcterms:modified>
</cp:coreProperties>
</file>
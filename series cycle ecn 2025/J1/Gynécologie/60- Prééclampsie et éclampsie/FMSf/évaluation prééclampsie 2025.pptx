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320" r:id="rId3"/>
    <p:sldId id="321" r:id="rId4"/>
    <p:sldId id="322" r:id="rId5"/>
    <p:sldId id="323" r:id="rId6"/>
    <p:sldId id="324" r:id="rId7"/>
    <p:sldId id="325" r:id="rId8"/>
    <p:sldId id="326" r:id="rId9"/>
    <p:sldId id="327" r:id="rId10"/>
    <p:sldId id="328" r:id="rId11"/>
    <p:sldId id="329" r:id="rId12"/>
    <p:sldId id="330" r:id="rId13"/>
    <p:sldId id="331" r:id="rId14"/>
    <p:sldId id="314" r:id="rId15"/>
    <p:sldId id="315" r:id="rId16"/>
    <p:sldId id="316" r:id="rId17"/>
    <p:sldId id="317" r:id="rId18"/>
    <p:sldId id="318" r:id="rId19"/>
    <p:sldId id="319" r:id="rId20"/>
    <p:sldId id="332" r:id="rId21"/>
    <p:sldId id="333" r:id="rId22"/>
    <p:sldId id="336" r:id="rId23"/>
    <p:sldId id="334" r:id="rId24"/>
    <p:sldId id="335" r:id="rId25"/>
    <p:sldId id="337" r:id="rId26"/>
  </p:sldIdLst>
  <p:sldSz cx="12192000" cy="6858000"/>
  <p:notesSz cx="6858000" cy="9144000"/>
  <p:custDataLst>
    <p:tags r:id="rId28"/>
  </p:custData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9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DD4F12-B280-4AF0-A1A6-24698D2E2996}" type="datetimeFigureOut">
              <a:rPr lang="fr-FR" smtClean="0"/>
              <a:t>23/06/2025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1D90EA-D87C-4772-A5CF-5383C751B8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9846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66EC9-8DD8-4C31-B923-A70000E25948}" type="datetimeFigureOut">
              <a:rPr lang="fr-FR" smtClean="0"/>
              <a:t>23/06/2025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297C-697B-4A03-8941-DCBE46103E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6772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665018"/>
            <a:ext cx="10515600" cy="5511945"/>
          </a:xfrm>
        </p:spPr>
        <p:txBody>
          <a:bodyPr/>
          <a:lstStyle>
            <a:lvl1pPr>
              <a:lnSpc>
                <a:spcPct val="150000"/>
              </a:lnSpc>
              <a:defRPr sz="3200"/>
            </a:lvl1pPr>
            <a:lvl2pPr>
              <a:lnSpc>
                <a:spcPct val="150000"/>
              </a:lnSpc>
              <a:defRPr sz="2800"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984393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66EC9-8DD8-4C31-B923-A70000E25948}" type="datetimeFigureOut">
              <a:rPr lang="fr-FR" smtClean="0"/>
              <a:t>23/06/2025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297C-697B-4A03-8941-DCBE46103E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1833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66EC9-8DD8-4C31-B923-A70000E25948}" type="datetimeFigureOut">
              <a:rPr lang="fr-FR" smtClean="0"/>
              <a:t>23/06/2025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297C-697B-4A03-8941-DCBE46103E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2460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66EC9-8DD8-4C31-B923-A70000E25948}" type="datetimeFigureOut">
              <a:rPr lang="fr-FR" smtClean="0"/>
              <a:t>23/06/2025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297C-697B-4A03-8941-DCBE46103E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1862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66EC9-8DD8-4C31-B923-A70000E25948}" type="datetimeFigureOut">
              <a:rPr lang="fr-FR" smtClean="0"/>
              <a:t>23/06/2025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297C-697B-4A03-8941-DCBE46103E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1457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66EC9-8DD8-4C31-B923-A70000E25948}" type="datetimeFigureOut">
              <a:rPr lang="fr-FR" smtClean="0"/>
              <a:t>23/06/2025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297C-697B-4A03-8941-DCBE46103E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331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66EC9-8DD8-4C31-B923-A70000E25948}" type="datetimeFigureOut">
              <a:rPr lang="fr-FR" smtClean="0"/>
              <a:t>23/06/2025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297C-697B-4A03-8941-DCBE46103E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4868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66EC9-8DD8-4C31-B923-A70000E25948}" type="datetimeFigureOut">
              <a:rPr lang="fr-FR" smtClean="0"/>
              <a:t>23/06/2025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297C-697B-4A03-8941-DCBE46103E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8434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66EC9-8DD8-4C31-B923-A70000E25948}" type="datetimeFigureOut">
              <a:rPr lang="fr-FR" smtClean="0"/>
              <a:t>23/06/2025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297C-697B-4A03-8941-DCBE46103E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1022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66EC9-8DD8-4C31-B923-A70000E25948}" type="datetimeFigureOut">
              <a:rPr lang="fr-FR" smtClean="0"/>
              <a:t>23/06/2025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3297C-697B-4A03-8941-DCBE46103E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6120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266EC9-8DD8-4C31-B923-A70000E25948}" type="datetimeFigureOut">
              <a:rPr lang="fr-FR" smtClean="0"/>
              <a:t>23/06/2025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93297C-697B-4A03-8941-DCBE46103E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8592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fr-FR" sz="6600" b="1" dirty="0">
                <a:ln/>
                <a:solidFill>
                  <a:schemeClr val="accent4"/>
                </a:solidFill>
              </a:rPr>
              <a:t>Question 60: Prééclampsie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fr-FR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Evaluation 2025</a:t>
            </a:r>
          </a:p>
          <a:p>
            <a:r>
              <a:rPr lang="fr-FR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Dr Khaled Trigui</a:t>
            </a:r>
          </a:p>
        </p:txBody>
      </p:sp>
    </p:spTree>
    <p:extLst>
      <p:ext uri="{BB962C8B-B14F-4D97-AF65-F5344CB8AC3E}">
        <p14:creationId xmlns:p14="http://schemas.microsoft.com/office/powerpoint/2010/main" val="2447644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C028AE07-09DC-059B-2E65-2E1C54258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fr-FR" dirty="0"/>
              <a:t>La prééclampsie s’accompagne de: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Augmentation des résistances vasculaires utérines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Hyperperméabilité vasculaire maternelle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Stress oxydatif trophoblastique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Diminution de la libération du VEGF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Hémolyse intra vasculaire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90391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A80E146A-0F52-0FA6-3DD6-337E5DCEC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fr-FR" dirty="0"/>
              <a:t>L’hypertension artérielle gravidique :</a:t>
            </a:r>
          </a:p>
          <a:p>
            <a:pPr marL="914400" lvl="1" indent="-457200">
              <a:buFont typeface="+mj-lt"/>
              <a:buAutoNum type="alphaUcPeriod"/>
            </a:pPr>
            <a:r>
              <a:rPr lang="fr-FR" dirty="0"/>
              <a:t>Évolue vers une prééclampsie en absence de traitement</a:t>
            </a:r>
          </a:p>
          <a:p>
            <a:pPr marL="914400" lvl="1" indent="-457200">
              <a:buFont typeface="+mj-lt"/>
              <a:buAutoNum type="alphaUcPeriod"/>
            </a:pPr>
            <a:r>
              <a:rPr lang="fr-FR" dirty="0"/>
              <a:t>Fait suite à une ischémie placentaire</a:t>
            </a:r>
          </a:p>
          <a:p>
            <a:pPr marL="914400" lvl="1" indent="-457200">
              <a:buFont typeface="+mj-lt"/>
              <a:buAutoNum type="alphaUcPeriod"/>
            </a:pPr>
            <a:r>
              <a:rPr lang="fr-FR" dirty="0"/>
              <a:t>Peut apparaitre avant 20 SA</a:t>
            </a:r>
          </a:p>
          <a:p>
            <a:pPr marL="914400" lvl="1" indent="-457200">
              <a:buFont typeface="+mj-lt"/>
              <a:buAutoNum type="alphaUcPeriod"/>
            </a:pPr>
            <a:r>
              <a:rPr lang="fr-FR" dirty="0"/>
              <a:t>Se complique d’un retard de croissance intra-utérin en cas de survenue précoce</a:t>
            </a:r>
          </a:p>
          <a:p>
            <a:pPr marL="914400" lvl="1" indent="-457200">
              <a:buFont typeface="+mj-lt"/>
              <a:buAutoNum type="alphaUcPeriod"/>
            </a:pPr>
            <a:r>
              <a:rPr lang="fr-FR" dirty="0"/>
              <a:t>Est un facteur de risque de prééclampsie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27116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942C4C34-4914-F99A-6741-2781974F8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fr-FR" dirty="0"/>
              <a:t>Une douleur épigastrique chez une femme présentant  une prééclampsie peut être en rapport avec: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Une HELLP syndrome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 signe prodrome d’une crise d’éclampsie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 hématome sous capsulaire de foie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 hématome rétro placentaire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Une cytolyse hépatique importante</a:t>
            </a:r>
          </a:p>
        </p:txBody>
      </p:sp>
    </p:spTree>
    <p:extLst>
      <p:ext uri="{BB962C8B-B14F-4D97-AF65-F5344CB8AC3E}">
        <p14:creationId xmlns:p14="http://schemas.microsoft.com/office/powerpoint/2010/main" val="2967884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3D0F0F9F-45CC-3DE1-1C13-DD02F093C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fr-FR" dirty="0"/>
              <a:t>L’hématome rétro placentaire:</a:t>
            </a:r>
          </a:p>
          <a:p>
            <a:pPr marL="971550" lvl="1" indent="-514350" algn="just">
              <a:buFont typeface="+mj-lt"/>
              <a:buAutoNum type="alphaUcPeriod"/>
            </a:pPr>
            <a:r>
              <a:rPr lang="fr-FR" dirty="0"/>
              <a:t>Est une complication imprévisible</a:t>
            </a:r>
          </a:p>
          <a:p>
            <a:pPr marL="971550" lvl="1" indent="-514350" algn="just">
              <a:buFont typeface="+mj-lt"/>
              <a:buAutoNum type="alphaUcPeriod"/>
            </a:pPr>
            <a:r>
              <a:rPr lang="fr-FR" dirty="0"/>
              <a:t>Peut être précédée par des signes prodromes</a:t>
            </a:r>
          </a:p>
          <a:p>
            <a:pPr marL="971550" lvl="1" indent="-514350" algn="just">
              <a:buFont typeface="+mj-lt"/>
              <a:buAutoNum type="alphaUcPeriod"/>
            </a:pPr>
            <a:r>
              <a:rPr lang="fr-FR" dirty="0"/>
              <a:t>Peut simuler une urgence chirurgicale</a:t>
            </a:r>
          </a:p>
          <a:p>
            <a:pPr marL="971550" lvl="1" indent="-514350" algn="just">
              <a:buFont typeface="+mj-lt"/>
              <a:buAutoNum type="alphaUcPeriod"/>
            </a:pPr>
            <a:r>
              <a:rPr lang="fr-FR" dirty="0"/>
              <a:t>Les anomalies du rythme cardiaque fœtal sont la circonstance de découverte la plus fréquente</a:t>
            </a:r>
          </a:p>
          <a:p>
            <a:pPr marL="971550" lvl="1" indent="-514350" algn="just">
              <a:buFont typeface="+mj-lt"/>
              <a:buAutoNum type="alphaUcPeriod"/>
            </a:pPr>
            <a:r>
              <a:rPr lang="fr-FR" dirty="0"/>
              <a:t>Peut survenir sur un placenta prævia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26122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F27F363E-4569-E674-3D0B-B10DA5B48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 algn="just">
              <a:buFont typeface="+mj-lt"/>
              <a:buAutoNum type="arabicPeriod" startAt="5"/>
            </a:pPr>
            <a:r>
              <a:rPr lang="fr-FR" dirty="0"/>
              <a:t>L’insuffisance rénale aigue au cours d’une prééclampsie sévère:</a:t>
            </a:r>
          </a:p>
          <a:p>
            <a:pPr marL="971550" lvl="1" indent="-514350" algn="just">
              <a:buFont typeface="+mj-lt"/>
              <a:buAutoNum type="alphaUcPeriod"/>
            </a:pPr>
            <a:r>
              <a:rPr lang="fr-FR" dirty="0"/>
              <a:t>Est un signe de gravité</a:t>
            </a:r>
          </a:p>
          <a:p>
            <a:pPr marL="971550" lvl="1" indent="-514350" algn="just">
              <a:buFont typeface="+mj-lt"/>
              <a:buAutoNum type="alphaUcPeriod"/>
            </a:pPr>
            <a:r>
              <a:rPr lang="fr-FR" dirty="0"/>
              <a:t>Impose une évacuation fœtale immédiate</a:t>
            </a:r>
          </a:p>
          <a:p>
            <a:pPr marL="971550" lvl="1" indent="-514350" algn="just">
              <a:buFont typeface="+mj-lt"/>
              <a:buAutoNum type="alphaUcPeriod"/>
            </a:pPr>
            <a:r>
              <a:rPr lang="fr-FR" dirty="0"/>
              <a:t>Est associée à une diurèse conservée</a:t>
            </a:r>
          </a:p>
          <a:p>
            <a:pPr marL="971550" lvl="1" indent="-514350" algn="just">
              <a:buFont typeface="+mj-lt"/>
              <a:buAutoNum type="alphaUcPeriod"/>
            </a:pPr>
            <a:r>
              <a:rPr lang="fr-FR" dirty="0"/>
              <a:t>Contre indique la prescription du sulfate de magnésium</a:t>
            </a:r>
          </a:p>
          <a:p>
            <a:pPr marL="971550" lvl="1" indent="-514350" algn="just">
              <a:buFont typeface="+mj-lt"/>
              <a:buAutoNum type="alphaUcPeriod"/>
            </a:pPr>
            <a:r>
              <a:rPr lang="fr-FR" dirty="0"/>
              <a:t>Est un définie par une créatinémie&gt;90umol/l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74394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5EA684EF-77F4-43CA-E3BD-6A2B926AB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 algn="just">
              <a:buFont typeface="+mj-lt"/>
              <a:buAutoNum type="arabicPeriod" startAt="6"/>
            </a:pPr>
            <a:r>
              <a:rPr lang="fr-FR" dirty="0"/>
              <a:t>Une extraction fœtale en urgence pour RCIU dans un contexte de prééclampsie est indiquée:</a:t>
            </a:r>
          </a:p>
          <a:p>
            <a:pPr marL="971550" lvl="1" indent="-514350" algn="just">
              <a:buFont typeface="+mj-lt"/>
              <a:buAutoNum type="alphaUcPeriod"/>
            </a:pPr>
            <a:r>
              <a:rPr lang="fr-FR" dirty="0"/>
              <a:t>Anomalie du rythme cardiaque fœtal</a:t>
            </a:r>
          </a:p>
          <a:p>
            <a:pPr marL="971550" lvl="1" indent="-514350" algn="just">
              <a:buFont typeface="+mj-lt"/>
              <a:buAutoNum type="alphaUcPeriod"/>
            </a:pPr>
            <a:r>
              <a:rPr lang="fr-FR" dirty="0"/>
              <a:t>Altération du doppler veineux fœtal</a:t>
            </a:r>
          </a:p>
          <a:p>
            <a:pPr marL="971550" lvl="1" indent="-514350" algn="just">
              <a:buFont typeface="+mj-lt"/>
              <a:buAutoNum type="alphaUcPeriod"/>
            </a:pPr>
            <a:r>
              <a:rPr lang="fr-FR" dirty="0"/>
              <a:t>Un oligoamnios modéré</a:t>
            </a:r>
          </a:p>
          <a:p>
            <a:pPr marL="971550" lvl="1" indent="-514350" algn="just">
              <a:buFont typeface="+mj-lt"/>
              <a:buAutoNum type="alphaUcPeriod"/>
            </a:pPr>
            <a:r>
              <a:rPr lang="fr-FR" dirty="0"/>
              <a:t>Un indice de résistance élevé au doppler ombilical</a:t>
            </a:r>
          </a:p>
          <a:p>
            <a:pPr marL="971550" lvl="1" indent="-514350" algn="just">
              <a:buFont typeface="+mj-lt"/>
              <a:buAutoNum type="alphaUcPeriod"/>
            </a:pPr>
            <a:r>
              <a:rPr lang="fr-FR" dirty="0"/>
              <a:t>Une biométrie fœtale &lt;5</a:t>
            </a:r>
            <a:r>
              <a:rPr lang="fr-FR" baseline="30000" dirty="0"/>
              <a:t>ème</a:t>
            </a:r>
            <a:r>
              <a:rPr lang="fr-FR" dirty="0"/>
              <a:t> percentile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45271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5774F503-00C8-FC5F-AF11-0714B89B9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7"/>
            </a:pPr>
            <a:r>
              <a:rPr lang="fr-FR" dirty="0"/>
              <a:t>Le HELLP syndrome comporte les anomalies biologiques suivantes: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Une anémie arégénérative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Une cytolyse hépatique 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Une chute de l’haptoglobine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La présence de schizocytes au frottis sanguin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Une thrombopénie</a:t>
            </a:r>
          </a:p>
        </p:txBody>
      </p:sp>
    </p:spTree>
    <p:extLst>
      <p:ext uri="{BB962C8B-B14F-4D97-AF65-F5344CB8AC3E}">
        <p14:creationId xmlns:p14="http://schemas.microsoft.com/office/powerpoint/2010/main" val="1753255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B40F22FD-2C39-C521-C808-E9A7C53602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514350" indent="-514350">
              <a:buFont typeface="+mj-lt"/>
              <a:buAutoNum type="arabicPeriod" startAt="8"/>
            </a:pPr>
            <a:r>
              <a:rPr lang="fr-FR" dirty="0"/>
              <a:t>Le traitement anti-hypertenseur chez une femme enceinte à 33SA présentant une prééclampsie 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Peut prévenir certaines complications viscérales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Est une source de souffrance fœtale quand il dépasse les objectifs thérapeutiques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Est administré par voie intraveineuse en présence de signes de gravité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Est contre indiqué en cas d’anurie maternelle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N’a pas d’indication dans la prééclampsie légère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34404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9767A3E7-D9BF-C4CA-B52F-E2E381AB9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9"/>
            </a:pPr>
            <a:r>
              <a:rPr lang="fr-FR" dirty="0"/>
              <a:t>Une extraction après une maturation pulmonaire fœtale par corticothérapie est indiquée: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HELLP syndrome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Hématome rétro placentaire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RCIU sévère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Crise d’éclampsie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Œdème aigu du poumon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81506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455578B2-8187-2CC8-F9BB-24103B3C1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10"/>
            </a:pPr>
            <a:r>
              <a:rPr lang="fr-FR" dirty="0"/>
              <a:t>Devant une prééclampsie modérée à 35 SA, vous indiquez: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Une hospitalisation jusqu’à accouchement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Une maturation pulmonaire fœtale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 antihypertenseur par voie orale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Une surveillance biologique quotidienne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 accouchement à partir de 36SA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12440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B9D20001-9F2C-A3F8-303E-DBA0D2D0F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11"/>
            </a:pPr>
            <a:r>
              <a:rPr lang="fr-FR" dirty="0"/>
              <a:t>La prise en charge d’une crise d’éclampsie comporte: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Une intubation et ventilation en cas d’échec du traitement anti convulsivant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La prescription d’un antihypertenseur par voie orale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La prescription du sulfate magnésium par voie intraveineuse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L’extraction fœtale après réanimation maternelle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La restriction du remplissage vasculaire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77828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278EC489-D698-EBDD-CA8F-77929313D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12"/>
            </a:pPr>
            <a:r>
              <a:rPr lang="fr-FR" dirty="0"/>
              <a:t>Le dépistage de la prééclampsie :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Se fait au début du 2</a:t>
            </a:r>
            <a:r>
              <a:rPr lang="fr-FR" baseline="30000" dirty="0"/>
              <a:t>ème</a:t>
            </a:r>
            <a:r>
              <a:rPr lang="fr-FR" dirty="0"/>
              <a:t> trimestre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Inclut la mesure de l’indice de pulsatilité des artères utérines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Aide à la prévention des complications de la prééclampsie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Est recommandé chez toute femme enceinte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Permet de poser l’indication de la prescription de l’aspirine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44517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B9F94B48-E60A-E33E-2D7A-FA95C79FA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fr-FR" b="1" dirty="0">
                <a:solidFill>
                  <a:srgbClr val="0070C0"/>
                </a:solidFill>
              </a:rPr>
              <a:t>CAS CLINIQUE 1</a:t>
            </a:r>
          </a:p>
          <a:p>
            <a:pPr marL="0" indent="0" algn="just">
              <a:buNone/>
            </a:pPr>
            <a:r>
              <a:rPr lang="fr-FR" dirty="0"/>
              <a:t>Une femme âgée de 22 ans, primipare, consulte pour des céphalées intenses et un flou visuel à un terme 30 semaines d’aménorrhée (SA). </a:t>
            </a:r>
          </a:p>
          <a:p>
            <a:pPr marL="0" indent="0" algn="just">
              <a:buNone/>
            </a:pPr>
            <a:r>
              <a:rPr lang="fr-FR" dirty="0"/>
              <a:t>L’examen à l’admission trouve une tension artérielle à 170/100 mm hg et une protéinurie à la bandelette réactive à trois croix.</a:t>
            </a:r>
          </a:p>
          <a:p>
            <a:pPr marL="0" indent="0" algn="just">
              <a:buNone/>
            </a:pPr>
            <a:r>
              <a:rPr lang="fr-FR" dirty="0"/>
              <a:t>La patiente rapporte une diminution des mouvements actifs fœtaux.</a:t>
            </a:r>
          </a:p>
        </p:txBody>
      </p:sp>
    </p:spTree>
    <p:extLst>
      <p:ext uri="{BB962C8B-B14F-4D97-AF65-F5344CB8AC3E}">
        <p14:creationId xmlns:p14="http://schemas.microsoft.com/office/powerpoint/2010/main" val="10806576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00CA45E2-38C3-D30F-4670-F593A4EC5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fr-FR" dirty="0"/>
              <a:t>Parmi les critères suivants, ceux qui sont en rapport avec une prééclampsie sévère :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Une tension artérielle à 170/100 mm hg 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Une protéinurie à la bandelette réactive à trois croix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Des céphalées intenses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 flou visuel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Une diminution des mouvements actifs fœtaux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834692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D430A90-79BC-69BB-5797-A13E712D9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fr-FR" dirty="0"/>
              <a:t>La prise en charge thérapeutique symptomatique pour prévenir les complications de la prééclampsie sévère chez cette patiente comporte :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Une perfusion de Sulfate de magnésium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 Inhibiteur calcique par voie intra veineuse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Une bithérapie antihypertensive par voie orale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Des antalgiques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Une héparine de bas poids moléculaire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489021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00B99102-BD41-F65A-E515-B85A0FCF0F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fr-FR" dirty="0"/>
              <a:t>La complication la plus redoutée dans ce contexte clinique est: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 hématome rétro placentaire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 HELLP syndrome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Une crise d’éclampsie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Une insuffisance rénale aigue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Une hémorragie méningée </a:t>
            </a:r>
          </a:p>
        </p:txBody>
      </p:sp>
    </p:spTree>
    <p:extLst>
      <p:ext uri="{BB962C8B-B14F-4D97-AF65-F5344CB8AC3E}">
        <p14:creationId xmlns:p14="http://schemas.microsoft.com/office/powerpoint/2010/main" val="5647124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5B8B6915-8461-2DB8-B654-1010837E8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fr-FR" dirty="0"/>
              <a:t>Les explorations à demander chez cette patiente devant la prééclampsie sévère :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Une imagerie cérébrale 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Une protéinurie de 24 heures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 dosage de l’uricémie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 enregistrement du rythme cardiaque fœtal 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 bilan d’hémostase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819442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0749B6EC-786E-5944-DABC-56223E25E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fr-FR" dirty="0"/>
              <a:t>Le bilan de retentissement </a:t>
            </a:r>
            <a:r>
              <a:rPr lang="fr-FR" dirty="0" err="1"/>
              <a:t>materno</a:t>
            </a:r>
            <a:r>
              <a:rPr lang="fr-FR" dirty="0"/>
              <a:t>-fœtal est sans anomalie, la conduite à tenir obstétricale sera :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Une expectative jusqu’à 34 SA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 déclenchement du travail à 32 SA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 déclenchement du travail à 30 SA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Une césarienne en urgence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Une césarienne après maturation pulmonaire fœtale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604157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7E6DE47D-83EE-5B2A-BD2E-832E74603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fr-FR" b="1" dirty="0">
                <a:solidFill>
                  <a:srgbClr val="0070C0"/>
                </a:solidFill>
              </a:rPr>
              <a:t>Cas clinique 2</a:t>
            </a:r>
          </a:p>
          <a:p>
            <a:pPr marL="0" indent="0" algn="just">
              <a:buNone/>
            </a:pPr>
            <a:r>
              <a:rPr lang="fr-FR" dirty="0"/>
              <a:t>Une femme enceinte à 26 SA, adressée pour des chiffres tensionnels à 145/95 mm hg et une protéinurie de 24h de 200mg. Le reste de l’examen est sans anomalie. Les mouvements actifs fœtaux sont présents.</a:t>
            </a:r>
          </a:p>
          <a:p>
            <a:pPr marL="0" indent="0" algn="just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628306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6F08AFCE-E4FD-94AC-C62E-09B22E4D5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fr-FR" dirty="0"/>
              <a:t>Votre conduite initiale sera: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Une échographie obstétricale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 bilan biologique de prééclampsie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Une nouvelle mesure des chiffres tensionnels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 ECBU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 enregistrement du rythme cardiaque fœtal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41597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CD6FD0A7-2D96-E346-1AC8-F19660D1E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 algn="just">
              <a:buFont typeface="+mj-lt"/>
              <a:buAutoNum type="arabicPeriod" startAt="2"/>
            </a:pPr>
            <a:r>
              <a:rPr lang="fr-FR" dirty="0"/>
              <a:t>Le explorations ne montrent pas d’anomalie, la prise en charge thérapeutique pour cette femme comporte: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Une hospitalisation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Une surveillance en ambulatoire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Une maturation pulmonaire fœtale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 antihypertenseur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Une prescription de l’aspirine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858821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F3F7C967-8825-2395-3FAE-4A849A09D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514350" indent="-514350" algn="just">
              <a:buFont typeface="+mj-lt"/>
              <a:buAutoNum type="arabicPeriod" startAt="3"/>
            </a:pPr>
            <a:r>
              <a:rPr lang="fr-FR" dirty="0"/>
              <a:t>À 28 SA, la patiente présente des douleurs pelviennes légères, la tension artérielle à 165/100mm hg, l’examen clinique devant ce contexte, doit rechercher les signes pathologiques suivants: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Des reflexes ostéotendineux abolis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Des râles crépitants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 œdème du visage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Une hauteur utérine augmentée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Des ecchymoses cutanées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056467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04089C18-77AE-A51E-3931-8E392606D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514350" indent="-514350" algn="just">
              <a:buFont typeface="+mj-lt"/>
              <a:buAutoNum type="arabicPeriod" startAt="4"/>
            </a:pPr>
            <a:r>
              <a:rPr lang="fr-FR" dirty="0"/>
              <a:t>La patiente signale une douleur abdominale intense et brutale, le diagnostic d’un hématome rétro placentaire est suspecté:</a:t>
            </a:r>
          </a:p>
          <a:p>
            <a:pPr marL="971550" lvl="1" indent="-514350" algn="just">
              <a:buFont typeface="+mj-lt"/>
              <a:buAutoNum type="alphaUcPeriod"/>
            </a:pPr>
            <a:r>
              <a:rPr lang="fr-FR" dirty="0"/>
              <a:t>La patiente doit être acheminée au bloc opératoire</a:t>
            </a:r>
          </a:p>
          <a:p>
            <a:pPr marL="971550" lvl="1" indent="-514350" algn="just">
              <a:buFont typeface="+mj-lt"/>
              <a:buAutoNum type="alphaUcPeriod"/>
            </a:pPr>
            <a:r>
              <a:rPr lang="fr-FR" dirty="0"/>
              <a:t>Une échographie sera faite pour évaluer la vitalité fœtale</a:t>
            </a:r>
          </a:p>
          <a:p>
            <a:pPr marL="971550" lvl="1" indent="-514350" algn="just">
              <a:buFont typeface="+mj-lt"/>
              <a:buAutoNum type="alphaUcPeriod"/>
            </a:pPr>
            <a:r>
              <a:rPr lang="fr-FR" dirty="0"/>
              <a:t>Une maturation pulmonaire fœtale sera prescrite en urgence</a:t>
            </a:r>
          </a:p>
          <a:p>
            <a:pPr marL="971550" lvl="1" indent="-514350" algn="just">
              <a:buFont typeface="+mj-lt"/>
              <a:buAutoNum type="alphaUcPeriod"/>
            </a:pPr>
            <a:r>
              <a:rPr lang="fr-FR" dirty="0"/>
              <a:t>La césarienne est la voie d’accouchement recommandée</a:t>
            </a:r>
          </a:p>
          <a:p>
            <a:pPr marL="971550" lvl="1" indent="-514350" algn="just">
              <a:buFont typeface="+mj-lt"/>
              <a:buAutoNum type="alphaUcPeriod"/>
            </a:pPr>
            <a:r>
              <a:rPr lang="fr-FR" dirty="0"/>
              <a:t>Le sulfate de magnésium est indiqué pour diminuer le risque d’une crise d’éclampsie associée</a:t>
            </a:r>
          </a:p>
          <a:p>
            <a:pPr algn="just"/>
            <a:endParaRPr lang="fr-FR" dirty="0"/>
          </a:p>
          <a:p>
            <a:pPr algn="just"/>
            <a:endParaRPr lang="fr-FR" dirty="0"/>
          </a:p>
          <a:p>
            <a:pPr algn="just"/>
            <a:endParaRPr lang="fr-FR" dirty="0"/>
          </a:p>
          <a:p>
            <a:pPr algn="just"/>
            <a:endParaRPr lang="fr-FR" dirty="0"/>
          </a:p>
          <a:p>
            <a:pPr algn="just"/>
            <a:endParaRPr lang="fr-FR" dirty="0"/>
          </a:p>
          <a:p>
            <a:pPr algn="just"/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927952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BFD6F6C9-9422-2D35-A769-E84F4571B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fr-FR" dirty="0"/>
              <a:t>La prise en charge en post partum de cette femme comporte: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Une protéinurie de 24 h à 3 mois après l’accouchement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 bilan de thrombophilie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La mise sous traitement antihypertenseur pendant une durée minimale de 1 mois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Une contraception par pilule oestroprogestative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Une prescription d’aspirine lors de la grossesse ultérieure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285153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54198465-0283-4b88-908b-0f581edf1a05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1315</TotalTime>
  <Words>997</Words>
  <Application>Microsoft Office PowerPoint</Application>
  <PresentationFormat>Grand écran</PresentationFormat>
  <Paragraphs>154</Paragraphs>
  <Slides>25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30" baseType="lpstr">
      <vt:lpstr>Aptos</vt:lpstr>
      <vt:lpstr>Arial</vt:lpstr>
      <vt:lpstr>Calibri</vt:lpstr>
      <vt:lpstr>Calibri Light</vt:lpstr>
      <vt:lpstr>Thème Office</vt:lpstr>
      <vt:lpstr>Question 60: Prééclampsie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Windows User</dc:creator>
  <cp:lastModifiedBy>Khaled Trigui</cp:lastModifiedBy>
  <cp:revision>235</cp:revision>
  <dcterms:created xsi:type="dcterms:W3CDTF">2021-09-12T12:56:35Z</dcterms:created>
  <dcterms:modified xsi:type="dcterms:W3CDTF">2025-06-23T11:57:07Z</dcterms:modified>
</cp:coreProperties>
</file>